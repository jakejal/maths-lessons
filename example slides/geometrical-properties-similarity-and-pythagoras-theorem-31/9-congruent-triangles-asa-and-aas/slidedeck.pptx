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</p:sldIdLst>
  <p:sldSz cx="9144000" cy="5143500"/>
  <p:notesSz cx="6858000" cy="9144000"/>
  <p:embeddedFontLst>
    <p:embeddedFont>
      <p:font typeface="Lexend" panose="00000000000000000000"/>
      <p:regular r:id="rId47"/>
    </p:embeddedFont>
    <p:embeddedFont>
      <p:font typeface="Lexend Medium" panose="00000000000000000000"/>
      <p:regular r:id="rId48"/>
    </p:embeddedFont>
    <p:embeddedFont>
      <p:font typeface="Kalam" panose="02000000000000000000"/>
      <p:regular r:id="rId49"/>
    </p:embeddedFont>
    <p:embeddedFont>
      <p:font typeface="Lexend Light" panose="00000000000000000000"/>
      <p:regular r:id="rId50"/>
    </p:embeddedFont>
  </p:embeddedFontLst>
  <p:custDataLst>
    <p:tags r:id="rId4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slide" Target="slides/slide43.xml" /><Relationship Id="rId46" Type="http://schemas.openxmlformats.org/officeDocument/2006/relationships/tags" Target="tags/tag1.xml" /><Relationship Id="rId47" Type="http://schemas.openxmlformats.org/officeDocument/2006/relationships/font" Target="fonts/font1.fntdata" /><Relationship Id="rId48" Type="http://schemas.openxmlformats.org/officeDocument/2006/relationships/font" Target="fonts/font2.fntdata" /><Relationship Id="rId49" Type="http://schemas.openxmlformats.org/officeDocument/2006/relationships/font" Target="fonts/font3.fntdata" /><Relationship Id="rId5" Type="http://schemas.openxmlformats.org/officeDocument/2006/relationships/slide" Target="slides/slide3.xml" /><Relationship Id="rId50" Type="http://schemas.openxmlformats.org/officeDocument/2006/relationships/font" Target="fonts/font4.fntdata" /><Relationship Id="rId51" Type="http://schemas.openxmlformats.org/officeDocument/2006/relationships/presProps" Target="presProps.xml" /><Relationship Id="rId52" Type="http://schemas.openxmlformats.org/officeDocument/2006/relationships/viewProps" Target="viewProps.xml" /><Relationship Id="rId53" Type="http://schemas.openxmlformats.org/officeDocument/2006/relationships/theme" Target="theme/theme1.xml" /><Relationship Id="rId54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1" name="Shape 751"/>
        <p:cNvGrpSpPr/>
        <p:nvPr/>
      </p:nvGrpSpPr>
      <p:grpSpPr>
        <a:xfrm>
          <a:off x="0" y="0"/>
          <a:ext cx="0" cy="0"/>
        </a:xfrm>
      </p:grpSpPr>
      <p:sp>
        <p:nvSpPr>
          <p:cNvPr id="752" name="Google Shape;752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7" name="Shape 767"/>
        <p:cNvGrpSpPr/>
        <p:nvPr/>
      </p:nvGrpSpPr>
      <p:grpSpPr>
        <a:xfrm>
          <a:off x="0" y="0"/>
          <a:ext cx="0" cy="0"/>
        </a:xfrm>
      </p:grpSpPr>
      <p:sp>
        <p:nvSpPr>
          <p:cNvPr id="768" name="Google Shape;768;g1ee5bea0789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ee5bea0789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4" name="Shape 774"/>
        <p:cNvGrpSpPr/>
        <p:nvPr/>
      </p:nvGrpSpPr>
      <p:grpSpPr>
        <a:xfrm>
          <a:off x="0" y="0"/>
          <a:ext cx="0" cy="0"/>
        </a:xfrm>
      </p:grpSpPr>
      <p:sp>
        <p:nvSpPr>
          <p:cNvPr id="775" name="Google Shape;775;g1ee5bea0789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ee5bea0789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2" name="Shape 782"/>
        <p:cNvGrpSpPr/>
        <p:nvPr/>
      </p:nvGrpSpPr>
      <p:grpSpPr>
        <a:xfrm>
          <a:off x="0" y="0"/>
          <a:ext cx="0" cy="0"/>
        </a:xfrm>
      </p:grpSpPr>
      <p:sp>
        <p:nvSpPr>
          <p:cNvPr id="783" name="Google Shape;783;g1ee5bea0789_0_7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ee5bea0789_0_7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9" name="Shape 799"/>
        <p:cNvGrpSpPr/>
        <p:nvPr/>
      </p:nvGrpSpPr>
      <p:grpSpPr>
        <a:xfrm>
          <a:off x="0" y="0"/>
          <a:ext cx="0" cy="0"/>
        </a:xfrm>
      </p:grpSpPr>
      <p:sp>
        <p:nvSpPr>
          <p:cNvPr id="800" name="Google Shape;800;g2b02c0cdfaf_0_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2b02c0cdfaf_0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6" name="Shape 816"/>
        <p:cNvGrpSpPr/>
        <p:nvPr/>
      </p:nvGrpSpPr>
      <p:grpSpPr>
        <a:xfrm>
          <a:off x="0" y="0"/>
          <a:ext cx="0" cy="0"/>
        </a:xfrm>
      </p:grpSpPr>
      <p:sp>
        <p:nvSpPr>
          <p:cNvPr id="817" name="Google Shape;817;g2b02c0cdfaf_0_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b02c0cdfaf_0_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2" name="Shape 842"/>
        <p:cNvGrpSpPr/>
        <p:nvPr/>
      </p:nvGrpSpPr>
      <p:grpSpPr>
        <a:xfrm>
          <a:off x="0" y="0"/>
          <a:ext cx="0" cy="0"/>
        </a:xfrm>
      </p:grpSpPr>
      <p:sp>
        <p:nvSpPr>
          <p:cNvPr id="843" name="Google Shape;843;g2b02c0cdfaf_0_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b02c0cdfaf_0_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8" name="Shape 878"/>
        <p:cNvGrpSpPr/>
        <p:nvPr/>
      </p:nvGrpSpPr>
      <p:grpSpPr>
        <a:xfrm>
          <a:off x="0" y="0"/>
          <a:ext cx="0" cy="0"/>
        </a:xfrm>
      </p:grpSpPr>
      <p:sp>
        <p:nvSpPr>
          <p:cNvPr id="879" name="Google Shape;879;g1ee5bea0789_0_7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1ee5bea0789_0_7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9" name="Shape 889"/>
        <p:cNvGrpSpPr/>
        <p:nvPr/>
      </p:nvGrpSpPr>
      <p:grpSpPr>
        <a:xfrm>
          <a:off x="0" y="0"/>
          <a:ext cx="0" cy="0"/>
        </a:xfrm>
      </p:grpSpPr>
      <p:sp>
        <p:nvSpPr>
          <p:cNvPr id="890" name="Google Shape;890;g2b02c0cdfaf_0_1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b02c0cdfaf_0_1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9" name="Shape 919"/>
        <p:cNvGrpSpPr/>
        <p:nvPr/>
      </p:nvGrpSpPr>
      <p:grpSpPr>
        <a:xfrm>
          <a:off x="0" y="0"/>
          <a:ext cx="0" cy="0"/>
        </a:xfrm>
      </p:grpSpPr>
      <p:sp>
        <p:nvSpPr>
          <p:cNvPr id="920" name="Google Shape;920;g2b02c0cdfaf_0_1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2b02c0cdfaf_0_1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5" name="Shape 945"/>
        <p:cNvGrpSpPr/>
        <p:nvPr/>
      </p:nvGrpSpPr>
      <p:grpSpPr>
        <a:xfrm>
          <a:off x="0" y="0"/>
          <a:ext cx="0" cy="0"/>
        </a:xfrm>
      </p:grpSpPr>
      <p:sp>
        <p:nvSpPr>
          <p:cNvPr id="946" name="Google Shape;946;g2b02c0cdfaf_0_2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b02c0cdfaf_0_2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1" name="Shape 971"/>
        <p:cNvGrpSpPr/>
        <p:nvPr/>
      </p:nvGrpSpPr>
      <p:grpSpPr>
        <a:xfrm>
          <a:off x="0" y="0"/>
          <a:ext cx="0" cy="0"/>
        </a:xfrm>
      </p:grpSpPr>
      <p:sp>
        <p:nvSpPr>
          <p:cNvPr id="972" name="Google Shape;972;g2b1f3a29852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2b1f3a29852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6" name="Shape 1006"/>
        <p:cNvGrpSpPr/>
        <p:nvPr/>
      </p:nvGrpSpPr>
      <p:grpSpPr>
        <a:xfrm>
          <a:off x="0" y="0"/>
          <a:ext cx="0" cy="0"/>
        </a:xfrm>
      </p:grpSpPr>
      <p:sp>
        <p:nvSpPr>
          <p:cNvPr id="1007" name="Google Shape;1007;g2b1b0e574bf_0_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b1b0e574bf_0_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9" name="Shape 1029"/>
        <p:cNvGrpSpPr/>
        <p:nvPr/>
      </p:nvGrpSpPr>
      <p:grpSpPr>
        <a:xfrm>
          <a:off x="0" y="0"/>
          <a:ext cx="0" cy="0"/>
        </a:xfrm>
      </p:grpSpPr>
      <p:sp>
        <p:nvSpPr>
          <p:cNvPr id="1030" name="Google Shape;1030;g2b02c0cdfaf_0_3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b02c0cdfaf_0_3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5" name="Shape 1075"/>
        <p:cNvGrpSpPr/>
        <p:nvPr/>
      </p:nvGrpSpPr>
      <p:grpSpPr>
        <a:xfrm>
          <a:off x="0" y="0"/>
          <a:ext cx="0" cy="0"/>
        </a:xfrm>
      </p:grpSpPr>
      <p:sp>
        <p:nvSpPr>
          <p:cNvPr id="1076" name="Google Shape;1076;g1ee5bea0789_0_7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1ee5bea0789_0_7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1" name="Shape 1081"/>
        <p:cNvGrpSpPr/>
        <p:nvPr/>
      </p:nvGrpSpPr>
      <p:grpSpPr>
        <a:xfrm>
          <a:off x="0" y="0"/>
          <a:ext cx="0" cy="0"/>
        </a:xfrm>
      </p:grpSpPr>
      <p:sp>
        <p:nvSpPr>
          <p:cNvPr id="1082" name="Google Shape;1082;g2ae8f7ef2d8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ae8f7ef2d8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6" name="Shape 1096"/>
        <p:cNvGrpSpPr/>
        <p:nvPr/>
      </p:nvGrpSpPr>
      <p:grpSpPr>
        <a:xfrm>
          <a:off x="0" y="0"/>
          <a:ext cx="0" cy="0"/>
        </a:xfrm>
      </p:grpSpPr>
      <p:sp>
        <p:nvSpPr>
          <p:cNvPr id="1097" name="Google Shape;1097;g2ae8f7ef2d8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ae8f7ef2d8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1" name="Shape 1111"/>
        <p:cNvGrpSpPr/>
        <p:nvPr/>
      </p:nvGrpSpPr>
      <p:grpSpPr>
        <a:xfrm>
          <a:off x="0" y="0"/>
          <a:ext cx="0" cy="0"/>
        </a:xfrm>
      </p:grpSpPr>
      <p:sp>
        <p:nvSpPr>
          <p:cNvPr id="1112" name="Google Shape;1112;g2ae8f7ef2d8_0_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ae8f7ef2d8_0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7" name="Shape 1127"/>
        <p:cNvGrpSpPr/>
        <p:nvPr/>
      </p:nvGrpSpPr>
      <p:grpSpPr>
        <a:xfrm>
          <a:off x="0" y="0"/>
          <a:ext cx="0" cy="0"/>
        </a:xfrm>
      </p:grpSpPr>
      <p:sp>
        <p:nvSpPr>
          <p:cNvPr id="1128" name="Google Shape;1128;g2ae8f7ef2d8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ae8f7ef2d8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2" name="Shape 1142"/>
        <p:cNvGrpSpPr/>
        <p:nvPr/>
      </p:nvGrpSpPr>
      <p:grpSpPr>
        <a:xfrm>
          <a:off x="0" y="0"/>
          <a:ext cx="0" cy="0"/>
        </a:xfrm>
      </p:grpSpPr>
      <p:sp>
        <p:nvSpPr>
          <p:cNvPr id="1143" name="Google Shape;1143;g1ee5bea0789_0_7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1ee5bea0789_0_7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0" name="Shape 1150"/>
        <p:cNvGrpSpPr/>
        <p:nvPr/>
      </p:nvGrpSpPr>
      <p:grpSpPr>
        <a:xfrm>
          <a:off x="0" y="0"/>
          <a:ext cx="0" cy="0"/>
        </a:xfrm>
      </p:grpSpPr>
      <p:sp>
        <p:nvSpPr>
          <p:cNvPr id="1151" name="Google Shape;1151;g2b0caf3b22b_0_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2b0caf3b22b_0_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3" name="Shape 1193"/>
        <p:cNvGrpSpPr/>
        <p:nvPr/>
      </p:nvGrpSpPr>
      <p:grpSpPr>
        <a:xfrm>
          <a:off x="0" y="0"/>
          <a:ext cx="0" cy="0"/>
        </a:xfrm>
      </p:grpSpPr>
      <p:sp>
        <p:nvSpPr>
          <p:cNvPr id="1194" name="Google Shape;1194;g2b0caf3b22b_0_1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2b0caf3b22b_0_1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25" name="Shape 1225"/>
        <p:cNvGrpSpPr/>
        <p:nvPr/>
      </p:nvGrpSpPr>
      <p:grpSpPr>
        <a:xfrm>
          <a:off x="0" y="0"/>
          <a:ext cx="0" cy="0"/>
        </a:xfrm>
      </p:grpSpPr>
      <p:sp>
        <p:nvSpPr>
          <p:cNvPr id="1226" name="Google Shape;1226;g2b02c0cdfaf_0_3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b02c0cdfaf_0_3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1" name="Shape 1271"/>
        <p:cNvGrpSpPr/>
        <p:nvPr/>
      </p:nvGrpSpPr>
      <p:grpSpPr>
        <a:xfrm>
          <a:off x="0" y="0"/>
          <a:ext cx="0" cy="0"/>
        </a:xfrm>
      </p:grpSpPr>
      <p:sp>
        <p:nvSpPr>
          <p:cNvPr id="1272" name="Google Shape;1272;g1ee5bea0789_0_8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1ee5bea0789_0_8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1" name="Shape 1281"/>
        <p:cNvGrpSpPr/>
        <p:nvPr/>
      </p:nvGrpSpPr>
      <p:grpSpPr>
        <a:xfrm>
          <a:off x="0" y="0"/>
          <a:ext cx="0" cy="0"/>
        </a:xfrm>
      </p:grpSpPr>
      <p:sp>
        <p:nvSpPr>
          <p:cNvPr id="1282" name="Google Shape;1282;g2b02c0cdfaf_0_4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2b02c0cdfaf_0_4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9" name="Shape 1309"/>
        <p:cNvGrpSpPr/>
        <p:nvPr/>
      </p:nvGrpSpPr>
      <p:grpSpPr>
        <a:xfrm>
          <a:off x="0" y="0"/>
          <a:ext cx="0" cy="0"/>
        </a:xfrm>
      </p:grpSpPr>
      <p:sp>
        <p:nvSpPr>
          <p:cNvPr id="1310" name="Google Shape;1310;g2b02c0cdfaf_0_5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2b02c0cdfaf_0_5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40" name="Shape 1340"/>
        <p:cNvGrpSpPr/>
        <p:nvPr/>
      </p:nvGrpSpPr>
      <p:grpSpPr>
        <a:xfrm>
          <a:off x="0" y="0"/>
          <a:ext cx="0" cy="0"/>
        </a:xfrm>
      </p:grpSpPr>
      <p:sp>
        <p:nvSpPr>
          <p:cNvPr id="1341" name="Google Shape;1341;g2b02c0cdfaf_0_5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2b02c0cdfaf_0_5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0" name="Shape 1350"/>
        <p:cNvGrpSpPr/>
        <p:nvPr/>
      </p:nvGrpSpPr>
      <p:grpSpPr>
        <a:xfrm>
          <a:off x="0" y="0"/>
          <a:ext cx="0" cy="0"/>
        </a:xfrm>
      </p:grpSpPr>
      <p:sp>
        <p:nvSpPr>
          <p:cNvPr id="1351" name="Google Shape;1351;g2b02c0cdfaf_0_5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2b02c0cdfaf_0_5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86" name="Shape 1386"/>
        <p:cNvGrpSpPr/>
        <p:nvPr/>
      </p:nvGrpSpPr>
      <p:grpSpPr>
        <a:xfrm>
          <a:off x="0" y="0"/>
          <a:ext cx="0" cy="0"/>
        </a:xfrm>
      </p:grpSpPr>
      <p:sp>
        <p:nvSpPr>
          <p:cNvPr id="1387" name="Google Shape;1387;g2b02c0cdfaf_0_6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2b02c0cdfaf_0_6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32" name="Shape 1432"/>
        <p:cNvGrpSpPr/>
        <p:nvPr/>
      </p:nvGrpSpPr>
      <p:grpSpPr>
        <a:xfrm>
          <a:off x="0" y="0"/>
          <a:ext cx="0" cy="0"/>
        </a:xfrm>
      </p:grpSpPr>
      <p:sp>
        <p:nvSpPr>
          <p:cNvPr id="1433" name="Google Shape;1433;g2b02c0cdfaf_0_7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2b02c0cdfaf_0_7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5" name="Shape 1455"/>
        <p:cNvGrpSpPr/>
        <p:nvPr/>
      </p:nvGrpSpPr>
      <p:grpSpPr>
        <a:xfrm>
          <a:off x="0" y="0"/>
          <a:ext cx="0" cy="0"/>
        </a:xfrm>
      </p:grpSpPr>
      <p:sp>
        <p:nvSpPr>
          <p:cNvPr id="1456" name="Google Shape;1456;g1ee5bea0789_0_8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1ee5bea0789_0_8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3" name="Shape 1503"/>
        <p:cNvGrpSpPr/>
        <p:nvPr/>
      </p:nvGrpSpPr>
      <p:grpSpPr>
        <a:xfrm>
          <a:off x="0" y="0"/>
          <a:ext cx="0" cy="0"/>
        </a:xfrm>
      </p:grpSpPr>
      <p:sp>
        <p:nvSpPr>
          <p:cNvPr id="1504" name="Google Shape;1504;g2b02c0cdfaf_0_7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b02c0cdfaf_0_7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0" name="Shape 1530"/>
        <p:cNvGrpSpPr/>
        <p:nvPr/>
      </p:nvGrpSpPr>
      <p:grpSpPr>
        <a:xfrm>
          <a:off x="0" y="0"/>
          <a:ext cx="0" cy="0"/>
        </a:xfrm>
      </p:grpSpPr>
      <p:sp>
        <p:nvSpPr>
          <p:cNvPr id="1531" name="Google Shape;1531;g2ae8f7ef2d8_0_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2ae8f7ef2d8_0_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0" name="Shape 1550"/>
        <p:cNvGrpSpPr/>
        <p:nvPr/>
      </p:nvGrpSpPr>
      <p:grpSpPr>
        <a:xfrm>
          <a:off x="0" y="0"/>
          <a:ext cx="0" cy="0"/>
        </a:xfrm>
      </p:grpSpPr>
      <p:sp>
        <p:nvSpPr>
          <p:cNvPr id="1551" name="Google Shape;1551;g2b02c0cdfaf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2b02c0cdfaf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8" name="Shape 1578"/>
        <p:cNvGrpSpPr/>
        <p:nvPr/>
      </p:nvGrpSpPr>
      <p:grpSpPr>
        <a:xfrm>
          <a:off x="0" y="0"/>
          <a:ext cx="0" cy="0"/>
        </a:xfrm>
      </p:grpSpPr>
      <p:sp>
        <p:nvSpPr>
          <p:cNvPr id="1579" name="Google Shape;1579;g2b02c0cdfaf_0_9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2b02c0cdfaf_0_9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6" name="Shape 1606"/>
        <p:cNvGrpSpPr/>
        <p:nvPr/>
      </p:nvGrpSpPr>
      <p:grpSpPr>
        <a:xfrm>
          <a:off x="0" y="0"/>
          <a:ext cx="0" cy="0"/>
        </a:xfrm>
      </p:grpSpPr>
      <p:sp>
        <p:nvSpPr>
          <p:cNvPr id="1607" name="Google Shape;1607;g2b02c0cdfaf_0_8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8" name="Google Shape;1608;g2b02c0cdfaf_0_8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33" name="Shape 1633"/>
        <p:cNvGrpSpPr/>
        <p:nvPr/>
      </p:nvGrpSpPr>
      <p:grpSpPr>
        <a:xfrm>
          <a:off x="0" y="0"/>
          <a:ext cx="0" cy="0"/>
        </a:xfrm>
      </p:grpSpPr>
      <p:sp>
        <p:nvSpPr>
          <p:cNvPr id="1634" name="Google Shape;1634;g2ae8f7ef2d8_0_1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ae8f7ef2d8_0_1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60" name="Shape 1660"/>
        <p:cNvGrpSpPr/>
        <p:nvPr/>
      </p:nvGrpSpPr>
      <p:grpSpPr>
        <a:xfrm>
          <a:off x="0" y="0"/>
          <a:ext cx="0" cy="0"/>
        </a:xfrm>
      </p:grpSpPr>
      <p:sp>
        <p:nvSpPr>
          <p:cNvPr id="1661" name="Google Shape;1661;g2ae8f7ef2d8_0_1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2" name="Google Shape;1662;g2ae8f7ef2d8_0_1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88" name="Shape 1688"/>
        <p:cNvGrpSpPr/>
        <p:nvPr/>
      </p:nvGrpSpPr>
      <p:grpSpPr>
        <a:xfrm>
          <a:off x="0" y="0"/>
          <a:ext cx="0" cy="0"/>
        </a:xfrm>
      </p:grpSpPr>
      <p:sp>
        <p:nvSpPr>
          <p:cNvPr id="1689" name="Google Shape;1689;g2ae8f7ef2d8_0_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2ae8f7ef2d8_0_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22" name="Shape 1722"/>
        <p:cNvGrpSpPr/>
        <p:nvPr/>
      </p:nvGrpSpPr>
      <p:grpSpPr>
        <a:xfrm>
          <a:off x="0" y="0"/>
          <a:ext cx="0" cy="0"/>
        </a:xfrm>
      </p:grpSpPr>
      <p:sp>
        <p:nvSpPr>
          <p:cNvPr id="1723" name="Google Shape;1723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28" name="Shape 1728"/>
        <p:cNvGrpSpPr/>
        <p:nvPr/>
      </p:nvGrpSpPr>
      <p:grpSpPr>
        <a:xfrm>
          <a:off x="0" y="0"/>
          <a:ext cx="0" cy="0"/>
        </a:xfrm>
      </p:grpSpPr>
      <p:sp>
        <p:nvSpPr>
          <p:cNvPr id="1729" name="Google Shape;1729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</a:xfrm>
      </p:grpSpPr>
      <p:pic>
        <p:nvPicPr>
          <p:cNvPr id="166" name="Google Shape;166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pic>
        <p:nvPicPr>
          <p:cNvPr id="184" name="Google Shape;184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pic>
        <p:nvPicPr>
          <p:cNvPr id="213" name="Google Shape;213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pic>
        <p:nvPicPr>
          <p:cNvPr id="220" name="Google Shape;220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" name="Google Shape;222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pic>
        <p:nvPicPr>
          <p:cNvPr id="227" name="Google Shape;227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0" name="Google Shape;250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6" name="Google Shape;276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</a:xfrm>
      </p:grpSpPr>
      <p:pic>
        <p:nvPicPr>
          <p:cNvPr id="309" name="Google Shape;309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</a:xfrm>
      </p:grpSpPr>
      <p:pic>
        <p:nvPicPr>
          <p:cNvPr id="332" name="Google Shape;332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</a:xfrm>
      </p:grpSpPr>
      <p:pic>
        <p:nvPicPr>
          <p:cNvPr id="355" name="Google Shape;355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</a:xfrm>
      </p:grpSpPr>
      <p:pic>
        <p:nvPicPr>
          <p:cNvPr id="397" name="Google Shape;397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</a:xfrm>
      </p:grpSpPr>
      <p:pic>
        <p:nvPicPr>
          <p:cNvPr id="416" name="Google Shape;416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</a:xfrm>
      </p:grpSpPr>
      <p:pic>
        <p:nvPicPr>
          <p:cNvPr id="435" name="Google Shape;435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</a:xfrm>
      </p:grpSpPr>
      <p:pic>
        <p:nvPicPr>
          <p:cNvPr id="477" name="Google Shape;477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</a:xfrm>
      </p:grpSpPr>
      <p:pic>
        <p:nvPicPr>
          <p:cNvPr id="500" name="Google Shape;500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</a:xfrm>
      </p:grpSpPr>
      <p:pic>
        <p:nvPicPr>
          <p:cNvPr id="523" name="Google Shape;523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4" name="Google Shape;554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</a:xfrm>
      </p:grpSpPr>
      <p:pic>
        <p:nvPicPr>
          <p:cNvPr id="565" name="Google Shape;565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3" name="Google Shape;573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</a:xfrm>
      </p:grpSpPr>
      <p:pic>
        <p:nvPicPr>
          <p:cNvPr id="584" name="Google Shape;584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2" name="Google Shape;592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</a:xfrm>
      </p:grpSpPr>
      <p:pic>
        <p:nvPicPr>
          <p:cNvPr id="603" name="Google Shape;603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1" name="Google Shape;611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4" name="Google Shape;624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</a:xfrm>
      </p:grpSpPr>
      <p:pic>
        <p:nvPicPr>
          <p:cNvPr id="629" name="Google Shape;629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1" name="Google Shape;631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</a:xfrm>
      </p:grpSpPr>
      <p:pic>
        <p:nvPicPr>
          <p:cNvPr id="636" name="Google Shape;636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8" name="Google Shape;638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</a:xfrm>
      </p:grpSpPr>
      <p:pic>
        <p:nvPicPr>
          <p:cNvPr id="643" name="Google Shape;643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5" name="Google Shape;645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2" name="Google Shape;652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</a:xfrm>
      </p:grpSpPr>
      <p:pic>
        <p:nvPicPr>
          <p:cNvPr id="658" name="Google Shape;658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0" name="Google Shape;660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</a:xfrm>
      </p:grpSpPr>
      <p:pic>
        <p:nvPicPr>
          <p:cNvPr id="666" name="Google Shape;666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8" name="Google Shape;668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</a:xfrm>
      </p:grpSpPr>
      <p:pic>
        <p:nvPicPr>
          <p:cNvPr id="674" name="Google Shape;674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6" name="Google Shape;676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4" name="Google Shape;684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</a:xfrm>
      </p:grpSpPr>
      <p:pic>
        <p:nvPicPr>
          <p:cNvPr id="690" name="Google Shape;690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2" name="Google Shape;692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</a:xfrm>
      </p:grpSpPr>
      <p:pic>
        <p:nvPicPr>
          <p:cNvPr id="698" name="Google Shape;698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0" name="Google Shape;700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</a:xfrm>
      </p:grpSpPr>
      <p:pic>
        <p:nvPicPr>
          <p:cNvPr id="706" name="Google Shape;706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8" name="Google Shape;708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743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6.png" /><Relationship Id="rId4" Type="http://schemas.openxmlformats.org/officeDocument/2006/relationships/image" Target="../media/image45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7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4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Relationship Id="rId6" Type="http://schemas.openxmlformats.org/officeDocument/2006/relationships/image" Target="../media/image50.png" /><Relationship Id="rId7" Type="http://schemas.openxmlformats.org/officeDocument/2006/relationships/image" Target="../media/image5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8.png" /><Relationship Id="rId4" Type="http://schemas.openxmlformats.org/officeDocument/2006/relationships/image" Target="../media/image44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2.png" /><Relationship Id="rId4" Type="http://schemas.openxmlformats.org/officeDocument/2006/relationships/image" Target="../media/image50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6.png" /><Relationship Id="rId4" Type="http://schemas.openxmlformats.org/officeDocument/2006/relationships/image" Target="../media/image45.png" /><Relationship Id="rId5" Type="http://schemas.openxmlformats.org/officeDocument/2006/relationships/hyperlink" Target="https://www.google.com/url?q=https://www.geogebra.org/m/buuummxx&amp;sa=D&amp;source=editors&amp;ust=1705844613308820&amp;usg=AOvVaw39yMSj7iGwHATpUxb_1mTm" TargetMode="Externa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3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39.png" /><Relationship Id="rId4" Type="http://schemas.openxmlformats.org/officeDocument/2006/relationships/image" Target="../media/image54.png" /><Relationship Id="rId5" Type="http://schemas.openxmlformats.org/officeDocument/2006/relationships/image" Target="../media/image55.png" /><Relationship Id="rId6" Type="http://schemas.openxmlformats.org/officeDocument/2006/relationships/image" Target="../media/image56.png" /><Relationship Id="rId7" Type="http://schemas.openxmlformats.org/officeDocument/2006/relationships/image" Target="../media/image57.png" /><Relationship Id="rId8" Type="http://schemas.openxmlformats.org/officeDocument/2006/relationships/image" Target="../media/image58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9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60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61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62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43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8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58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63.png" /><Relationship Id="rId4" Type="http://schemas.openxmlformats.org/officeDocument/2006/relationships/image" Target="../media/image64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65.png" /><Relationship Id="rId4" Type="http://schemas.openxmlformats.org/officeDocument/2006/relationships/image" Target="../media/image66.png" /><Relationship Id="rId5" Type="http://schemas.openxmlformats.org/officeDocument/2006/relationships/image" Target="../media/image67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65.png" /><Relationship Id="rId4" Type="http://schemas.openxmlformats.org/officeDocument/2006/relationships/image" Target="../media/image66.png" /><Relationship Id="rId5" Type="http://schemas.openxmlformats.org/officeDocument/2006/relationships/image" Target="../media/image67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68.png" /><Relationship Id="rId4" Type="http://schemas.openxmlformats.org/officeDocument/2006/relationships/image" Target="../media/image67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1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42.xml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3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4" name="Shape 754"/>
        <p:cNvGrpSpPr/>
        <p:nvPr/>
      </p:nvGrpSpPr>
      <p:grpSpPr>
        <a:xfrm>
          <a:off x="0" y="0"/>
          <a:ext cx="0" cy="0"/>
        </a:xfrm>
      </p:grpSpPr>
      <p:sp>
        <p:nvSpPr>
          <p:cNvPr id="755" name="Google Shape;755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(ASA and AAS)</a:t>
            </a:r>
            <a:endParaRPr/>
          </a:p>
        </p:txBody>
      </p:sp>
      <p:sp>
        <p:nvSpPr>
          <p:cNvPr id="756" name="Google Shape;756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Geometrical properties: similarity and Pythagoras' theorem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appreciate and use the criteria by which triangles are congruent (ASA and AAS).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sp>
        <p:nvSpPr>
          <p:cNvPr id="771" name="Google Shape;771;p6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772" name="Google Shape;772;p66"/>
          <p:cNvSpPr txBox="1"/>
          <p:nvPr>
            <p:ph type="subTitle" idx="3"/>
          </p:nvPr>
        </p:nvSpPr>
        <p:spPr>
          <a:xfrm>
            <a:off x="324000" y="28492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773" name="Google Shape;773;p66"/>
          <p:cNvSpPr txBox="1"/>
          <p:nvPr/>
        </p:nvSpPr>
        <p:spPr>
          <a:xfrm>
            <a:off x="324000" y="885150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If one shape can fit exactly on top of another using rotation, reflection or translation, then the shapes are congruent.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7" name="Shape 777"/>
        <p:cNvGrpSpPr/>
        <p:nvPr/>
      </p:nvGrpSpPr>
      <p:grpSpPr>
        <a:xfrm>
          <a:off x="0" y="0"/>
          <a:ext cx="0" cy="0"/>
        </a:xfrm>
      </p:grpSpPr>
      <p:sp>
        <p:nvSpPr>
          <p:cNvPr id="778" name="Google Shape;778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 </a:t>
            </a:r>
            <a:endParaRPr/>
          </a:p>
        </p:txBody>
      </p:sp>
      <p:sp>
        <p:nvSpPr>
          <p:cNvPr id="779" name="Google Shape;779;p6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  <p:sp>
        <p:nvSpPr>
          <p:cNvPr id="780" name="Google Shape;780;p6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(ASA and AAS)</a:t>
            </a:r>
            <a:endParaRPr/>
          </a:p>
        </p:txBody>
      </p:sp>
      <p:pic>
        <p:nvPicPr>
          <p:cNvPr id="781" name="Google Shape;78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58" y="205964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5" name="Shape 785"/>
        <p:cNvGrpSpPr/>
        <p:nvPr/>
      </p:nvGrpSpPr>
      <p:grpSpPr>
        <a:xfrm>
          <a:off x="0" y="0"/>
          <a:ext cx="0" cy="0"/>
        </a:xfrm>
      </p:grpSpPr>
      <p:pic>
        <p:nvPicPr>
          <p:cNvPr id="786" name="Google Shape;78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0149" y="1563868"/>
            <a:ext cx="3922875" cy="21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171" y="2189889"/>
            <a:ext cx="3922875" cy="214857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8"/>
          <p:cNvSpPr txBox="1"/>
          <p:nvPr>
            <p:ph type="body" idx="1"/>
          </p:nvPr>
        </p:nvSpPr>
        <p:spPr>
          <a:xfrm>
            <a:off x="324000" y="759300"/>
            <a:ext cx="82377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we want to construct a triangle with an angle of 50° and an angle of 35°, how can we do it? </a:t>
            </a:r>
            <a:endParaRPr sz="1800"/>
          </a:p>
        </p:txBody>
      </p:sp>
      <p:sp>
        <p:nvSpPr>
          <p:cNvPr id="789" name="Google Shape;789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pic>
        <p:nvPicPr>
          <p:cNvPr id="790" name="Google Shape;790;p68" descr="&lt;math xmlns=&quot;http://www.w3.org/1998/Math/MathML&quot; data-is-equatio=&quot;1&quot; data-equatio-url=&quot;https://equatio-api.texthelp.com/desmos/get/17-01-2024/4ddd5ce9-bc02-4aca-9fcf-db6ad4ff9b8a&quot; data-equatio-type=&quot;image&quot;&gt;&lt;mglyph src=&quot;https://equatio-api.texthelp.com/desmos/get/17-01-2024/4ddd5ce9-bc02-4aca-9fcf-db6ad4ff9b8a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825" y="3123150"/>
            <a:ext cx="1355026" cy="1040125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8"/>
          <p:cNvSpPr txBox="1"/>
          <p:nvPr/>
        </p:nvSpPr>
        <p:spPr>
          <a:xfrm>
            <a:off x="324000" y="1522950"/>
            <a:ext cx="3210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create the two angles using a protractor.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2" name="Google Shape;792;p68"/>
          <p:cNvCxnSpPr/>
          <p:nvPr/>
        </p:nvCxnSpPr>
        <p:spPr>
          <a:xfrm>
            <a:off x="2343675" y="4139325"/>
            <a:ext cx="1393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3" name="Google Shape;793;p68"/>
          <p:cNvCxnSpPr/>
          <p:nvPr/>
        </p:nvCxnSpPr>
        <p:spPr>
          <a:xfrm rot="10800000" flipH="1">
            <a:off x="2343675" y="3018825"/>
            <a:ext cx="933900" cy="1120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4" name="Google Shape;794;p68"/>
          <p:cNvCxnSpPr/>
          <p:nvPr/>
        </p:nvCxnSpPr>
        <p:spPr>
          <a:xfrm>
            <a:off x="5026075" y="3502875"/>
            <a:ext cx="1426500" cy="13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5" name="Google Shape;795;p68"/>
          <p:cNvCxnSpPr/>
          <p:nvPr/>
        </p:nvCxnSpPr>
        <p:spPr>
          <a:xfrm>
            <a:off x="4951575" y="2489900"/>
            <a:ext cx="1536900" cy="1019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6" name="Google Shape;796;p68"/>
          <p:cNvSpPr txBox="1"/>
          <p:nvPr>
            <p:ph type="body" idx="1"/>
          </p:nvPr>
        </p:nvSpPr>
        <p:spPr>
          <a:xfrm>
            <a:off x="2861961" y="3713344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50°</a:t>
            </a:r>
            <a:endParaRPr sz="1800"/>
          </a:p>
        </p:txBody>
      </p:sp>
      <p:sp>
        <p:nvSpPr>
          <p:cNvPr id="797" name="Google Shape;797;p68"/>
          <p:cNvSpPr txBox="1"/>
          <p:nvPr>
            <p:ph type="body" idx="1"/>
          </p:nvPr>
        </p:nvSpPr>
        <p:spPr>
          <a:xfrm>
            <a:off x="5579246" y="3139663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35°</a:t>
            </a:r>
            <a:endParaRPr sz="1800"/>
          </a:p>
        </p:txBody>
      </p:sp>
      <p:pic>
        <p:nvPicPr>
          <p:cNvPr id="798" name="Google Shape;798;p68" descr="&lt;math xmlns=&quot;http://www.w3.org/1998/Math/MathML&quot; data-is-equatio=&quot;1&quot; data-equatio-url=&quot;https://equatio-api.texthelp.com/desmos/get/17-01-2024/0b37ead6-2675-4867-bde7-17dede06cb58&quot; data-equatio-type=&quot;image&quot;&gt;&lt;mglyph src=&quot;https://equatio-api.texthelp.com/desmos/get/17-01-2024/0b37ead6-2675-4867-bde7-17dede06cb58&quot; alt=&quot;Equatio Image&quot;/&gt;&lt;/math&gt;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102125" y="2735750"/>
            <a:ext cx="1438550" cy="79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2" name="Shape 802"/>
        <p:cNvGrpSpPr/>
        <p:nvPr/>
      </p:nvGrpSpPr>
      <p:grpSpPr>
        <a:xfrm>
          <a:off x="0" y="0"/>
          <a:ext cx="0" cy="0"/>
        </a:xfrm>
      </p:grpSpPr>
      <p:sp>
        <p:nvSpPr>
          <p:cNvPr id="803" name="Google Shape;803;p69"/>
          <p:cNvSpPr txBox="1"/>
          <p:nvPr>
            <p:ph type="body" idx="1"/>
          </p:nvPr>
        </p:nvSpPr>
        <p:spPr>
          <a:xfrm>
            <a:off x="324000" y="759300"/>
            <a:ext cx="82377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we want to construct a triangle with an angle of 50° and an angle of 35°, how can we do it? </a:t>
            </a:r>
            <a:endParaRPr sz="1800"/>
          </a:p>
        </p:txBody>
      </p:sp>
      <p:sp>
        <p:nvSpPr>
          <p:cNvPr id="804" name="Google Shape;80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grpSp>
        <p:nvGrpSpPr>
          <p:cNvPr id="805" name="Google Shape;805;p69"/>
          <p:cNvGrpSpPr/>
          <p:nvPr/>
        </p:nvGrpSpPr>
        <p:grpSpPr>
          <a:xfrm>
            <a:off x="2286825" y="1142325"/>
            <a:ext cx="5478750" cy="3020950"/>
            <a:chOff x="2286825" y="1142325"/>
            <a:chExt cx="5478750" cy="3020950"/>
          </a:xfrm>
        </p:grpSpPr>
        <p:cxnSp>
          <p:nvCxnSpPr>
            <p:cNvPr id="806" name="Google Shape;806;p69"/>
            <p:cNvCxnSpPr/>
            <p:nvPr/>
          </p:nvCxnSpPr>
          <p:spPr>
            <a:xfrm>
              <a:off x="2343675" y="4132141"/>
              <a:ext cx="54219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807" name="Google Shape;807;p69"/>
            <p:cNvCxnSpPr/>
            <p:nvPr/>
          </p:nvCxnSpPr>
          <p:spPr>
            <a:xfrm rot="10800000" flipH="1">
              <a:off x="2343675" y="1142325"/>
              <a:ext cx="2498100" cy="2997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pic>
          <p:nvPicPr>
            <p:cNvPr id="808" name="Google Shape;808;p69" descr="&lt;math xmlns=&quot;http://www.w3.org/1998/Math/MathML&quot; data-is-equatio=&quot;1&quot; data-equatio-url=&quot;https://equatio-api.texthelp.com/desmos/get/17-01-2024/4ddd5ce9-bc02-4aca-9fcf-db6ad4ff9b8a&quot; data-equatio-type=&quot;image&quot;&gt;&lt;mglyph src=&quot;https://equatio-api.texthelp.com/desmos/get/17-01-2024/4ddd5ce9-bc02-4aca-9fcf-db6ad4ff9b8a&quot; alt=&quot;Equatio Image&quot;/&gt;&lt;/math&gt;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86825" y="3123150"/>
              <a:ext cx="1355026" cy="104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9" name="Google Shape;809;p69"/>
          <p:cNvSpPr txBox="1"/>
          <p:nvPr/>
        </p:nvSpPr>
        <p:spPr>
          <a:xfrm>
            <a:off x="324000" y="1522950"/>
            <a:ext cx="3210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legs of the angle, are rays from the vertex.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9"/>
          <p:cNvSpPr txBox="1"/>
          <p:nvPr>
            <p:ph type="body" idx="1"/>
          </p:nvPr>
        </p:nvSpPr>
        <p:spPr>
          <a:xfrm>
            <a:off x="2861961" y="3713344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50°</a:t>
            </a:r>
            <a:endParaRPr sz="1800"/>
          </a:p>
        </p:txBody>
      </p:sp>
      <p:grpSp>
        <p:nvGrpSpPr>
          <p:cNvPr id="811" name="Google Shape;811;p69"/>
          <p:cNvGrpSpPr/>
          <p:nvPr/>
        </p:nvGrpSpPr>
        <p:grpSpPr>
          <a:xfrm>
            <a:off x="1585304" y="1174215"/>
            <a:ext cx="4965669" cy="2360018"/>
            <a:chOff x="1530125" y="1144935"/>
            <a:chExt cx="5041800" cy="2396200"/>
          </a:xfrm>
        </p:grpSpPr>
        <p:cxnSp>
          <p:nvCxnSpPr>
            <p:cNvPr id="812" name="Google Shape;812;p69"/>
            <p:cNvCxnSpPr/>
            <p:nvPr/>
          </p:nvCxnSpPr>
          <p:spPr>
            <a:xfrm>
              <a:off x="3057273" y="1144935"/>
              <a:ext cx="3432600" cy="23607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pic>
          <p:nvPicPr>
            <p:cNvPr id="813" name="Google Shape;813;p69" descr="&lt;math xmlns=&quot;http://www.w3.org/1998/Math/MathML&quot; data-is-equatio=&quot;1&quot; data-equatio-url=&quot;https://equatio-api.texthelp.com/desmos/get/17-01-2024/0b37ead6-2675-4867-bde7-17dede06cb58&quot; data-equatio-type=&quot;image&quot;&gt;&lt;mglyph src=&quot;https://equatio-api.texthelp.com/desmos/get/17-01-2024/0b37ead6-2675-4867-bde7-17dede06cb58&quot; alt=&quot;Equatio Image&quot;/&gt;&lt;/math&gt;" title="Equatio Imag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5100861" y="2697090"/>
              <a:ext cx="1460612" cy="84404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14" name="Google Shape;814;p69"/>
            <p:cNvCxnSpPr/>
            <p:nvPr/>
          </p:nvCxnSpPr>
          <p:spPr>
            <a:xfrm>
              <a:off x="1530125" y="3511071"/>
              <a:ext cx="504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815" name="Google Shape;815;p69"/>
          <p:cNvSpPr txBox="1"/>
          <p:nvPr>
            <p:ph type="body" idx="1"/>
          </p:nvPr>
        </p:nvSpPr>
        <p:spPr>
          <a:xfrm>
            <a:off x="5579246" y="3139663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35°</a:t>
            </a:r>
            <a:endParaRPr sz="1800"/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9" name="Shape 819"/>
        <p:cNvGrpSpPr/>
        <p:nvPr/>
      </p:nvGrpSpPr>
      <p:grpSpPr>
        <a:xfrm>
          <a:off x="0" y="0"/>
          <a:ext cx="0" cy="0"/>
        </a:xfrm>
      </p:grpSpPr>
      <p:grpSp>
        <p:nvGrpSpPr>
          <p:cNvPr id="820" name="Google Shape;820;p70"/>
          <p:cNvGrpSpPr/>
          <p:nvPr/>
        </p:nvGrpSpPr>
        <p:grpSpPr>
          <a:xfrm>
            <a:off x="1585304" y="1174215"/>
            <a:ext cx="4965669" cy="2360018"/>
            <a:chOff x="1530125" y="1144935"/>
            <a:chExt cx="5041800" cy="2396200"/>
          </a:xfrm>
        </p:grpSpPr>
        <p:cxnSp>
          <p:nvCxnSpPr>
            <p:cNvPr id="821" name="Google Shape;821;p70"/>
            <p:cNvCxnSpPr/>
            <p:nvPr/>
          </p:nvCxnSpPr>
          <p:spPr>
            <a:xfrm>
              <a:off x="3057273" y="1144935"/>
              <a:ext cx="3432600" cy="23607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pic>
          <p:nvPicPr>
            <p:cNvPr id="822" name="Google Shape;822;p70" descr="&lt;math xmlns=&quot;http://www.w3.org/1998/Math/MathML&quot; data-is-equatio=&quot;1&quot; data-equatio-url=&quot;https://equatio-api.texthelp.com/desmos/get/17-01-2024/0b37ead6-2675-4867-bde7-17dede06cb58&quot; data-equatio-type=&quot;image&quot;&gt;&lt;mglyph src=&quot;https://equatio-api.texthelp.com/desmos/get/17-01-2024/0b37ead6-2675-4867-bde7-17dede06cb58&quot; alt=&quot;Equatio Image&quot;/&gt;&lt;/math&gt;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100861" y="2697090"/>
              <a:ext cx="1460612" cy="84404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23" name="Google Shape;823;p70"/>
            <p:cNvCxnSpPr/>
            <p:nvPr/>
          </p:nvCxnSpPr>
          <p:spPr>
            <a:xfrm>
              <a:off x="1530125" y="3511071"/>
              <a:ext cx="504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824" name="Google Shape;824;p70"/>
          <p:cNvSpPr txBox="1"/>
          <p:nvPr>
            <p:ph type="body" idx="1"/>
          </p:nvPr>
        </p:nvSpPr>
        <p:spPr>
          <a:xfrm>
            <a:off x="324000" y="759300"/>
            <a:ext cx="82377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we want to construct a triangle with an angle of 50° and an angle of 35°, how can we do it? </a:t>
            </a:r>
            <a:endParaRPr sz="1800"/>
          </a:p>
        </p:txBody>
      </p:sp>
      <p:sp>
        <p:nvSpPr>
          <p:cNvPr id="825" name="Google Shape;82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grpSp>
        <p:nvGrpSpPr>
          <p:cNvPr id="826" name="Google Shape;826;p70"/>
          <p:cNvGrpSpPr/>
          <p:nvPr/>
        </p:nvGrpSpPr>
        <p:grpSpPr>
          <a:xfrm>
            <a:off x="2286825" y="1142325"/>
            <a:ext cx="5478750" cy="3020950"/>
            <a:chOff x="2286825" y="1142325"/>
            <a:chExt cx="5478750" cy="3020950"/>
          </a:xfrm>
        </p:grpSpPr>
        <p:cxnSp>
          <p:nvCxnSpPr>
            <p:cNvPr id="827" name="Google Shape;827;p70"/>
            <p:cNvCxnSpPr/>
            <p:nvPr/>
          </p:nvCxnSpPr>
          <p:spPr>
            <a:xfrm>
              <a:off x="2343675" y="4132141"/>
              <a:ext cx="54219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828" name="Google Shape;828;p70"/>
            <p:cNvCxnSpPr/>
            <p:nvPr/>
          </p:nvCxnSpPr>
          <p:spPr>
            <a:xfrm rot="10800000" flipH="1">
              <a:off x="2343675" y="1142325"/>
              <a:ext cx="2498100" cy="2997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pic>
          <p:nvPicPr>
            <p:cNvPr id="829" name="Google Shape;829;p70" descr="&lt;math xmlns=&quot;http://www.w3.org/1998/Math/MathML&quot; data-is-equatio=&quot;1&quot; data-equatio-url=&quot;https://equatio-api.texthelp.com/desmos/get/17-01-2024/4ddd5ce9-bc02-4aca-9fcf-db6ad4ff9b8a&quot; data-equatio-type=&quot;image&quot;&gt;&lt;mglyph src=&quot;https://equatio-api.texthelp.com/desmos/get/17-01-2024/4ddd5ce9-bc02-4aca-9fcf-db6ad4ff9b8a&quot; alt=&quot;Equatio Image&quot;/&gt;&lt;/math&gt;" title="Equatio Imag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86825" y="3123150"/>
              <a:ext cx="1355026" cy="104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0" name="Google Shape;830;p70"/>
          <p:cNvSpPr txBox="1"/>
          <p:nvPr/>
        </p:nvSpPr>
        <p:spPr>
          <a:xfrm>
            <a:off x="324000" y="1522950"/>
            <a:ext cx="3210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lining up one of the rays of each angle, this forms a side of the triangle.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1" name="Google Shape;831;p70"/>
          <p:cNvGrpSpPr/>
          <p:nvPr/>
        </p:nvGrpSpPr>
        <p:grpSpPr>
          <a:xfrm>
            <a:off x="63882" y="1805300"/>
            <a:ext cx="4965669" cy="2360018"/>
            <a:chOff x="1530125" y="1144935"/>
            <a:chExt cx="5041800" cy="2396200"/>
          </a:xfrm>
        </p:grpSpPr>
        <p:cxnSp>
          <p:nvCxnSpPr>
            <p:cNvPr id="832" name="Google Shape;832;p70"/>
            <p:cNvCxnSpPr/>
            <p:nvPr/>
          </p:nvCxnSpPr>
          <p:spPr>
            <a:xfrm>
              <a:off x="3057273" y="1144935"/>
              <a:ext cx="3432600" cy="23607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pic>
          <p:nvPicPr>
            <p:cNvPr id="833" name="Google Shape;833;p70" descr="&lt;math xmlns=&quot;http://www.w3.org/1998/Math/MathML&quot; data-is-equatio=&quot;1&quot; data-equatio-url=&quot;https://equatio-api.texthelp.com/desmos/get/17-01-2024/0b37ead6-2675-4867-bde7-17dede06cb58&quot; data-equatio-type=&quot;image&quot;&gt;&lt;mglyph src=&quot;https://equatio-api.texthelp.com/desmos/get/17-01-2024/0b37ead6-2675-4867-bde7-17dede06cb58&quot; alt=&quot;Equatio Image&quot;/&gt;&lt;/math&gt;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100861" y="2697090"/>
              <a:ext cx="1460612" cy="84404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34" name="Google Shape;834;p70"/>
            <p:cNvCxnSpPr/>
            <p:nvPr/>
          </p:nvCxnSpPr>
          <p:spPr>
            <a:xfrm>
              <a:off x="1530125" y="3511071"/>
              <a:ext cx="504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835" name="Google Shape;835;p70"/>
          <p:cNvSpPr txBox="1"/>
          <p:nvPr>
            <p:ph type="body" idx="1"/>
          </p:nvPr>
        </p:nvSpPr>
        <p:spPr>
          <a:xfrm>
            <a:off x="2861961" y="3713344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50°</a:t>
            </a:r>
            <a:endParaRPr sz="1800"/>
          </a:p>
        </p:txBody>
      </p:sp>
      <p:sp>
        <p:nvSpPr>
          <p:cNvPr id="836" name="Google Shape;836;p70"/>
          <p:cNvSpPr txBox="1"/>
          <p:nvPr>
            <p:ph type="body" idx="1"/>
          </p:nvPr>
        </p:nvSpPr>
        <p:spPr>
          <a:xfrm>
            <a:off x="4037846" y="3743088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35°</a:t>
            </a:r>
            <a:endParaRPr sz="1800"/>
          </a:p>
        </p:txBody>
      </p:sp>
      <p:sp>
        <p:nvSpPr>
          <p:cNvPr id="837" name="Google Shape;837;p70"/>
          <p:cNvSpPr txBox="1"/>
          <p:nvPr>
            <p:ph type="body" idx="1"/>
          </p:nvPr>
        </p:nvSpPr>
        <p:spPr>
          <a:xfrm>
            <a:off x="5579246" y="3139663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35°</a:t>
            </a:r>
            <a:endParaRPr sz="1800"/>
          </a:p>
        </p:txBody>
      </p:sp>
      <p:sp>
        <p:nvSpPr>
          <p:cNvPr id="838" name="Google Shape;838;p70"/>
          <p:cNvSpPr txBox="1"/>
          <p:nvPr/>
        </p:nvSpPr>
        <p:spPr>
          <a:xfrm>
            <a:off x="5609700" y="1522950"/>
            <a:ext cx="3210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other rays, intersect at the third vertex.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9" name="Google Shape;839;p70"/>
          <p:cNvGrpSpPr/>
          <p:nvPr/>
        </p:nvGrpSpPr>
        <p:grpSpPr>
          <a:xfrm>
            <a:off x="3233101" y="2923542"/>
            <a:ext cx="144000" cy="144000"/>
            <a:chOff x="962600" y="2801625"/>
            <a:chExt cx="144000" cy="144000"/>
          </a:xfrm>
        </p:grpSpPr>
        <p:cxnSp>
          <p:nvCxnSpPr>
            <p:cNvPr id="840" name="Google Shape;840;p70"/>
            <p:cNvCxnSpPr/>
            <p:nvPr/>
          </p:nvCxnSpPr>
          <p:spPr>
            <a:xfrm>
              <a:off x="962600" y="2801625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1" name="Google Shape;841;p70"/>
            <p:cNvCxnSpPr/>
            <p:nvPr/>
          </p:nvCxnSpPr>
          <p:spPr>
            <a:xfrm rot="5400000">
              <a:off x="962600" y="2801625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5" name="Shape 845"/>
        <p:cNvGrpSpPr/>
        <p:nvPr/>
      </p:nvGrpSpPr>
      <p:grpSpPr>
        <a:xfrm>
          <a:off x="0" y="0"/>
          <a:ext cx="0" cy="0"/>
        </a:xfrm>
      </p:grpSpPr>
      <p:sp>
        <p:nvSpPr>
          <p:cNvPr id="846" name="Google Shape;846;p71"/>
          <p:cNvSpPr txBox="1"/>
          <p:nvPr>
            <p:ph type="body" idx="1"/>
          </p:nvPr>
        </p:nvSpPr>
        <p:spPr>
          <a:xfrm>
            <a:off x="324000" y="759300"/>
            <a:ext cx="82377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we want to construct a triangle with an angle of 50° and an angle of 35°, how can we do it? </a:t>
            </a:r>
            <a:endParaRPr sz="1800"/>
          </a:p>
        </p:txBody>
      </p:sp>
      <p:sp>
        <p:nvSpPr>
          <p:cNvPr id="847" name="Google Shape;84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grpSp>
        <p:nvGrpSpPr>
          <p:cNvPr id="848" name="Google Shape;848;p71"/>
          <p:cNvGrpSpPr/>
          <p:nvPr/>
        </p:nvGrpSpPr>
        <p:grpSpPr>
          <a:xfrm>
            <a:off x="2286825" y="1142325"/>
            <a:ext cx="5478750" cy="3020950"/>
            <a:chOff x="2286825" y="1142325"/>
            <a:chExt cx="5478750" cy="3020950"/>
          </a:xfrm>
        </p:grpSpPr>
        <p:cxnSp>
          <p:nvCxnSpPr>
            <p:cNvPr id="849" name="Google Shape;849;p71"/>
            <p:cNvCxnSpPr/>
            <p:nvPr/>
          </p:nvCxnSpPr>
          <p:spPr>
            <a:xfrm>
              <a:off x="2343675" y="4132141"/>
              <a:ext cx="54219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850" name="Google Shape;850;p71"/>
            <p:cNvCxnSpPr/>
            <p:nvPr/>
          </p:nvCxnSpPr>
          <p:spPr>
            <a:xfrm rot="10800000" flipH="1">
              <a:off x="2343675" y="1142325"/>
              <a:ext cx="2498100" cy="2997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pic>
          <p:nvPicPr>
            <p:cNvPr id="851" name="Google Shape;851;p71" descr="&lt;math xmlns=&quot;http://www.w3.org/1998/Math/MathML&quot; data-is-equatio=&quot;1&quot; data-equatio-url=&quot;https://equatio-api.texthelp.com/desmos/get/17-01-2024/4ddd5ce9-bc02-4aca-9fcf-db6ad4ff9b8a&quot; data-equatio-type=&quot;image&quot;&gt;&lt;mglyph src=&quot;https://equatio-api.texthelp.com/desmos/get/17-01-2024/4ddd5ce9-bc02-4aca-9fcf-db6ad4ff9b8a&quot; alt=&quot;Equatio Image&quot;/&gt;&lt;/math&gt;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86825" y="3123150"/>
              <a:ext cx="1355026" cy="104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2" name="Google Shape;852;p71"/>
          <p:cNvSpPr txBox="1"/>
          <p:nvPr/>
        </p:nvSpPr>
        <p:spPr>
          <a:xfrm>
            <a:off x="5854050" y="1436700"/>
            <a:ext cx="3210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different triangle can be formed by moving the two angles further apart or closer together.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3" name="Google Shape;853;p71"/>
          <p:cNvGrpSpPr/>
          <p:nvPr/>
        </p:nvGrpSpPr>
        <p:grpSpPr>
          <a:xfrm>
            <a:off x="1892682" y="1805300"/>
            <a:ext cx="4965669" cy="2360018"/>
            <a:chOff x="1530125" y="1144935"/>
            <a:chExt cx="5041800" cy="2396200"/>
          </a:xfrm>
        </p:grpSpPr>
        <p:cxnSp>
          <p:nvCxnSpPr>
            <p:cNvPr id="854" name="Google Shape;854;p71"/>
            <p:cNvCxnSpPr/>
            <p:nvPr/>
          </p:nvCxnSpPr>
          <p:spPr>
            <a:xfrm>
              <a:off x="3057273" y="1144935"/>
              <a:ext cx="3432600" cy="23607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pic>
          <p:nvPicPr>
            <p:cNvPr id="855" name="Google Shape;855;p71" descr="&lt;math xmlns=&quot;http://www.w3.org/1998/Math/MathML&quot; data-is-equatio=&quot;1&quot; data-equatio-url=&quot;https://equatio-api.texthelp.com/desmos/get/17-01-2024/0b37ead6-2675-4867-bde7-17dede06cb58&quot; data-equatio-type=&quot;image&quot;&gt;&lt;mglyph src=&quot;https://equatio-api.texthelp.com/desmos/get/17-01-2024/0b37ead6-2675-4867-bde7-17dede06cb58&quot; alt=&quot;Equatio Image&quot;/&gt;&lt;/math&gt;" title="Equatio Imag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5100861" y="2697090"/>
              <a:ext cx="1460612" cy="84404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56" name="Google Shape;856;p71"/>
            <p:cNvCxnSpPr/>
            <p:nvPr/>
          </p:nvCxnSpPr>
          <p:spPr>
            <a:xfrm>
              <a:off x="1530125" y="3511071"/>
              <a:ext cx="504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57" name="Google Shape;857;p71"/>
          <p:cNvGrpSpPr/>
          <p:nvPr/>
        </p:nvGrpSpPr>
        <p:grpSpPr>
          <a:xfrm>
            <a:off x="3901013" y="2120615"/>
            <a:ext cx="144000" cy="144000"/>
            <a:chOff x="962600" y="2801625"/>
            <a:chExt cx="144000" cy="144000"/>
          </a:xfrm>
        </p:grpSpPr>
        <p:cxnSp>
          <p:nvCxnSpPr>
            <p:cNvPr id="858" name="Google Shape;858;p71"/>
            <p:cNvCxnSpPr/>
            <p:nvPr/>
          </p:nvCxnSpPr>
          <p:spPr>
            <a:xfrm>
              <a:off x="962600" y="2801625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9" name="Google Shape;859;p71"/>
            <p:cNvCxnSpPr/>
            <p:nvPr/>
          </p:nvCxnSpPr>
          <p:spPr>
            <a:xfrm rot="5400000">
              <a:off x="962600" y="2801625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60" name="Google Shape;860;p71"/>
          <p:cNvGrpSpPr/>
          <p:nvPr/>
        </p:nvGrpSpPr>
        <p:grpSpPr>
          <a:xfrm>
            <a:off x="216282" y="1805300"/>
            <a:ext cx="4965669" cy="2360018"/>
            <a:chOff x="1530125" y="1144935"/>
            <a:chExt cx="5041800" cy="2396200"/>
          </a:xfrm>
        </p:grpSpPr>
        <p:cxnSp>
          <p:nvCxnSpPr>
            <p:cNvPr id="861" name="Google Shape;861;p71"/>
            <p:cNvCxnSpPr/>
            <p:nvPr/>
          </p:nvCxnSpPr>
          <p:spPr>
            <a:xfrm>
              <a:off x="3057273" y="1144935"/>
              <a:ext cx="3432600" cy="23607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pic>
          <p:nvPicPr>
            <p:cNvPr id="862" name="Google Shape;862;p71" descr="&lt;math xmlns=&quot;http://www.w3.org/1998/Math/MathML&quot; data-is-equatio=&quot;1&quot; data-equatio-url=&quot;https://equatio-api.texthelp.com/desmos/get/17-01-2024/0b37ead6-2675-4867-bde7-17dede06cb58&quot; data-equatio-type=&quot;image&quot;&gt;&lt;mglyph src=&quot;https://equatio-api.texthelp.com/desmos/get/17-01-2024/0b37ead6-2675-4867-bde7-17dede06cb58&quot; alt=&quot;Equatio Image&quot;/&gt;&lt;/math&gt;" title="Equatio Imag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5100861" y="2697090"/>
              <a:ext cx="1460612" cy="84404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63" name="Google Shape;863;p71"/>
            <p:cNvCxnSpPr/>
            <p:nvPr/>
          </p:nvCxnSpPr>
          <p:spPr>
            <a:xfrm>
              <a:off x="1530125" y="3511071"/>
              <a:ext cx="504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864" name="Google Shape;864;p71"/>
          <p:cNvSpPr txBox="1"/>
          <p:nvPr>
            <p:ph type="body" idx="1"/>
          </p:nvPr>
        </p:nvSpPr>
        <p:spPr>
          <a:xfrm>
            <a:off x="4190246" y="3743088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35°</a:t>
            </a:r>
            <a:endParaRPr sz="1800"/>
          </a:p>
        </p:txBody>
      </p:sp>
      <p:grpSp>
        <p:nvGrpSpPr>
          <p:cNvPr id="865" name="Google Shape;865;p71"/>
          <p:cNvGrpSpPr/>
          <p:nvPr/>
        </p:nvGrpSpPr>
        <p:grpSpPr>
          <a:xfrm>
            <a:off x="3284251" y="2868292"/>
            <a:ext cx="144000" cy="144000"/>
            <a:chOff x="962600" y="2801625"/>
            <a:chExt cx="144000" cy="144000"/>
          </a:xfrm>
        </p:grpSpPr>
        <p:cxnSp>
          <p:nvCxnSpPr>
            <p:cNvPr id="866" name="Google Shape;866;p71"/>
            <p:cNvCxnSpPr/>
            <p:nvPr/>
          </p:nvCxnSpPr>
          <p:spPr>
            <a:xfrm>
              <a:off x="962600" y="2801625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7" name="Google Shape;867;p71"/>
            <p:cNvCxnSpPr/>
            <p:nvPr/>
          </p:nvCxnSpPr>
          <p:spPr>
            <a:xfrm rot="5400000">
              <a:off x="962600" y="2801625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68" name="Google Shape;868;p71"/>
          <p:cNvSpPr txBox="1"/>
          <p:nvPr>
            <p:ph type="body" idx="1"/>
          </p:nvPr>
        </p:nvSpPr>
        <p:spPr>
          <a:xfrm>
            <a:off x="5866646" y="3743088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35°</a:t>
            </a:r>
            <a:endParaRPr sz="1800"/>
          </a:p>
        </p:txBody>
      </p:sp>
      <p:sp>
        <p:nvSpPr>
          <p:cNvPr id="869" name="Google Shape;869;p71"/>
          <p:cNvSpPr txBox="1"/>
          <p:nvPr>
            <p:ph type="body" idx="1"/>
          </p:nvPr>
        </p:nvSpPr>
        <p:spPr>
          <a:xfrm>
            <a:off x="2861961" y="3713344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50°</a:t>
            </a:r>
            <a:endParaRPr sz="1800"/>
          </a:p>
        </p:txBody>
      </p:sp>
      <p:grpSp>
        <p:nvGrpSpPr>
          <p:cNvPr id="870" name="Google Shape;870;p71"/>
          <p:cNvGrpSpPr/>
          <p:nvPr/>
        </p:nvGrpSpPr>
        <p:grpSpPr>
          <a:xfrm>
            <a:off x="-774318" y="1805300"/>
            <a:ext cx="4965669" cy="2360018"/>
            <a:chOff x="1530125" y="1144935"/>
            <a:chExt cx="5041800" cy="2396200"/>
          </a:xfrm>
        </p:grpSpPr>
        <p:cxnSp>
          <p:nvCxnSpPr>
            <p:cNvPr id="871" name="Google Shape;871;p71"/>
            <p:cNvCxnSpPr/>
            <p:nvPr/>
          </p:nvCxnSpPr>
          <p:spPr>
            <a:xfrm>
              <a:off x="3057273" y="1144935"/>
              <a:ext cx="3432600" cy="23607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pic>
          <p:nvPicPr>
            <p:cNvPr id="872" name="Google Shape;872;p71" descr="&lt;math xmlns=&quot;http://www.w3.org/1998/Math/MathML&quot; data-is-equatio=&quot;1&quot; data-equatio-url=&quot;https://equatio-api.texthelp.com/desmos/get/17-01-2024/0b37ead6-2675-4867-bde7-17dede06cb58&quot; data-equatio-type=&quot;image&quot;&gt;&lt;mglyph src=&quot;https://equatio-api.texthelp.com/desmos/get/17-01-2024/0b37ead6-2675-4867-bde7-17dede06cb58&quot; alt=&quot;Equatio Image&quot;/&gt;&lt;/math&gt;" title="Equatio Imag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5100861" y="2697090"/>
              <a:ext cx="1460612" cy="84404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73" name="Google Shape;873;p71"/>
            <p:cNvCxnSpPr/>
            <p:nvPr/>
          </p:nvCxnSpPr>
          <p:spPr>
            <a:xfrm>
              <a:off x="1530125" y="3511071"/>
              <a:ext cx="504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74" name="Google Shape;874;p71"/>
          <p:cNvGrpSpPr/>
          <p:nvPr/>
        </p:nvGrpSpPr>
        <p:grpSpPr>
          <a:xfrm>
            <a:off x="2924163" y="3287977"/>
            <a:ext cx="144000" cy="144000"/>
            <a:chOff x="962600" y="2801625"/>
            <a:chExt cx="144000" cy="144000"/>
          </a:xfrm>
        </p:grpSpPr>
        <p:cxnSp>
          <p:nvCxnSpPr>
            <p:cNvPr id="875" name="Google Shape;875;p71"/>
            <p:cNvCxnSpPr/>
            <p:nvPr/>
          </p:nvCxnSpPr>
          <p:spPr>
            <a:xfrm>
              <a:off x="962600" y="2801625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6" name="Google Shape;876;p71"/>
            <p:cNvCxnSpPr/>
            <p:nvPr/>
          </p:nvCxnSpPr>
          <p:spPr>
            <a:xfrm rot="5400000">
              <a:off x="962600" y="2801625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77" name="Google Shape;877;p71"/>
          <p:cNvSpPr txBox="1"/>
          <p:nvPr>
            <p:ph type="body" idx="1"/>
          </p:nvPr>
        </p:nvSpPr>
        <p:spPr>
          <a:xfrm>
            <a:off x="3199646" y="3743088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35°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1" name="Shape 881"/>
        <p:cNvGrpSpPr/>
        <p:nvPr/>
      </p:nvGrpSpPr>
      <p:grpSpPr>
        <a:xfrm>
          <a:off x="0" y="0"/>
          <a:ext cx="0" cy="0"/>
        </a:xfrm>
      </p:grpSpPr>
      <p:sp>
        <p:nvSpPr>
          <p:cNvPr id="882" name="Google Shape;882;p72"/>
          <p:cNvSpPr txBox="1"/>
          <p:nvPr>
            <p:ph type="body" idx="1"/>
          </p:nvPr>
        </p:nvSpPr>
        <p:spPr>
          <a:xfrm>
            <a:off x="324000" y="759300"/>
            <a:ext cx="8237700" cy="80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many different triangles can be created using these two angles?</a:t>
            </a:r>
            <a:endParaRPr/>
          </a:p>
        </p:txBody>
      </p:sp>
      <p:sp>
        <p:nvSpPr>
          <p:cNvPr id="883" name="Google Shape;88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pic>
        <p:nvPicPr>
          <p:cNvPr id="884" name="Google Shape;884;p72" descr="&lt;math xmlns=&quot;http://www.w3.org/1998/Math/MathML&quot; data-is-equatio=&quot;1&quot; data-equatio-url=&quot;https://equatio-api.texthelp.com/desmos/get/17-01-2024/109c359d-08d5-4f52-adbc-d6e266836e8b&quot; data-equatio-type=&quot;image&quot;&gt;&lt;mglyph src=&quot;https://equatio-api.texthelp.com/desmos/get/17-01-2024/109c359d-08d5-4f52-adbc-d6e266836e8b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rcRect r="53486"/>
          <a:stretch>
            <a:fillRect/>
          </a:stretch>
        </p:blipFill>
        <p:spPr>
          <a:xfrm>
            <a:off x="1835623" y="1530100"/>
            <a:ext cx="2043525" cy="158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72" descr="&lt;math xmlns=&quot;http://www.w3.org/1998/Math/MathML&quot; data-is-equatio=&quot;1&quot; data-equatio-url=&quot;https://equatio-api.texthelp.com/desmos/get/17-01-2024/109c359d-08d5-4f52-adbc-d6e266836e8b&quot; data-equatio-type=&quot;image&quot;&gt;&lt;mglyph src=&quot;https://equatio-api.texthelp.com/desmos/get/17-01-2024/109c359d-08d5-4f52-adbc-d6e266836e8b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rcRect l="54816" t="25727"/>
          <a:stretch>
            <a:fillRect/>
          </a:stretch>
        </p:blipFill>
        <p:spPr>
          <a:xfrm flipH="1">
            <a:off x="5053298" y="1938024"/>
            <a:ext cx="1985050" cy="11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2"/>
          <p:cNvSpPr txBox="1"/>
          <p:nvPr>
            <p:ph type="body" idx="1"/>
          </p:nvPr>
        </p:nvSpPr>
        <p:spPr>
          <a:xfrm>
            <a:off x="2658461" y="2513669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55°</a:t>
            </a:r>
            <a:endParaRPr sz="1800"/>
          </a:p>
        </p:txBody>
      </p:sp>
      <p:sp>
        <p:nvSpPr>
          <p:cNvPr id="887" name="Google Shape;887;p72"/>
          <p:cNvSpPr txBox="1"/>
          <p:nvPr>
            <p:ph type="body" idx="1"/>
          </p:nvPr>
        </p:nvSpPr>
        <p:spPr>
          <a:xfrm>
            <a:off x="5684336" y="2699994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30°</a:t>
            </a:r>
            <a:endParaRPr sz="1800"/>
          </a:p>
        </p:txBody>
      </p:sp>
      <p:sp>
        <p:nvSpPr>
          <p:cNvPr id="888" name="Google Shape;888;p72"/>
          <p:cNvSpPr txBox="1"/>
          <p:nvPr>
            <p:ph type="body" idx="1"/>
          </p:nvPr>
        </p:nvSpPr>
        <p:spPr>
          <a:xfrm>
            <a:off x="3879150" y="3721625"/>
            <a:ext cx="2118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 infinite number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2" name="Shape 892"/>
        <p:cNvGrpSpPr/>
        <p:nvPr/>
      </p:nvGrpSpPr>
      <p:grpSpPr>
        <a:xfrm>
          <a:off x="0" y="0"/>
          <a:ext cx="0" cy="0"/>
        </a:xfrm>
      </p:grpSpPr>
      <p:cxnSp>
        <p:nvCxnSpPr>
          <p:cNvPr id="893" name="Google Shape;893;p73"/>
          <p:cNvCxnSpPr/>
          <p:nvPr/>
        </p:nvCxnSpPr>
        <p:spPr>
          <a:xfrm rot="10800000">
            <a:off x="2550300" y="2169550"/>
            <a:ext cx="2593200" cy="1810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894" name="Google Shape;89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8538" y="2013317"/>
            <a:ext cx="3922875" cy="21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194" y="2023130"/>
            <a:ext cx="3922875" cy="2148575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73"/>
          <p:cNvSpPr txBox="1"/>
          <p:nvPr>
            <p:ph type="body" idx="1"/>
          </p:nvPr>
        </p:nvSpPr>
        <p:spPr>
          <a:xfrm>
            <a:off x="324000" y="759300"/>
            <a:ext cx="82377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If the side length between the two vertices is also known, then only one triangle will be constructed.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For example, the edge between the two angles 50° and 35° is 6 cm.</a:t>
            </a:r>
            <a:endParaRPr sz="1800"/>
          </a:p>
        </p:txBody>
      </p:sp>
      <p:sp>
        <p:nvSpPr>
          <p:cNvPr id="897" name="Google Shape;89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cxnSp>
        <p:nvCxnSpPr>
          <p:cNvPr id="898" name="Google Shape;898;p73"/>
          <p:cNvCxnSpPr/>
          <p:nvPr/>
        </p:nvCxnSpPr>
        <p:spPr>
          <a:xfrm>
            <a:off x="2729800" y="3972575"/>
            <a:ext cx="2421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9" name="Google Shape;899;p73"/>
          <p:cNvSpPr txBox="1"/>
          <p:nvPr>
            <p:ph type="body" idx="1"/>
          </p:nvPr>
        </p:nvSpPr>
        <p:spPr>
          <a:xfrm>
            <a:off x="3721618" y="4012200"/>
            <a:ext cx="739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 cm</a:t>
            </a:r>
            <a:endParaRPr sz="1800"/>
          </a:p>
        </p:txBody>
      </p:sp>
      <p:sp>
        <p:nvSpPr>
          <p:cNvPr id="900" name="Google Shape;900;p73"/>
          <p:cNvSpPr txBox="1"/>
          <p:nvPr>
            <p:ph type="body" idx="1"/>
          </p:nvPr>
        </p:nvSpPr>
        <p:spPr>
          <a:xfrm>
            <a:off x="3269348" y="3555294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50°</a:t>
            </a:r>
            <a:endParaRPr sz="1800"/>
          </a:p>
        </p:txBody>
      </p:sp>
      <p:sp>
        <p:nvSpPr>
          <p:cNvPr id="901" name="Google Shape;901;p73"/>
          <p:cNvSpPr txBox="1"/>
          <p:nvPr>
            <p:ph type="body" idx="1"/>
          </p:nvPr>
        </p:nvSpPr>
        <p:spPr>
          <a:xfrm>
            <a:off x="4212483" y="3602760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35°</a:t>
            </a:r>
            <a:endParaRPr sz="1800"/>
          </a:p>
        </p:txBody>
      </p:sp>
      <p:pic>
        <p:nvPicPr>
          <p:cNvPr id="902" name="Google Shape;90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">
            <a:off x="2533023" y="4004940"/>
            <a:ext cx="6419656" cy="613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3" name="Google Shape;903;p73"/>
          <p:cNvCxnSpPr/>
          <p:nvPr/>
        </p:nvCxnSpPr>
        <p:spPr>
          <a:xfrm rot="10800000" flipH="1">
            <a:off x="2729800" y="1889289"/>
            <a:ext cx="1760100" cy="2087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04" name="Google Shape;904;p73"/>
          <p:cNvSpPr/>
          <p:nvPr/>
        </p:nvSpPr>
        <p:spPr>
          <a:xfrm>
            <a:off x="2224438" y="3455375"/>
            <a:ext cx="1034400" cy="1034400"/>
          </a:xfrm>
          <a:prstGeom prst="arc">
            <a:avLst>
              <a:gd name="adj1" fmla="val 18570371"/>
              <a:gd name="adj2" fmla="val 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3"/>
          <p:cNvSpPr/>
          <p:nvPr/>
        </p:nvSpPr>
        <p:spPr>
          <a:xfrm>
            <a:off x="4622775" y="3455375"/>
            <a:ext cx="1034400" cy="1034400"/>
          </a:xfrm>
          <a:prstGeom prst="arc">
            <a:avLst>
              <a:gd name="adj1" fmla="val 10833943"/>
              <a:gd name="adj2" fmla="val 12871161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6" name="Google Shape;906;p73"/>
          <p:cNvGrpSpPr/>
          <p:nvPr/>
        </p:nvGrpSpPr>
        <p:grpSpPr>
          <a:xfrm>
            <a:off x="3553133" y="2846741"/>
            <a:ext cx="144000" cy="144000"/>
            <a:chOff x="962600" y="2801625"/>
            <a:chExt cx="144000" cy="144000"/>
          </a:xfrm>
        </p:grpSpPr>
        <p:cxnSp>
          <p:nvCxnSpPr>
            <p:cNvPr id="907" name="Google Shape;907;p73"/>
            <p:cNvCxnSpPr/>
            <p:nvPr/>
          </p:nvCxnSpPr>
          <p:spPr>
            <a:xfrm>
              <a:off x="962600" y="2801625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8" name="Google Shape;908;p73"/>
            <p:cNvCxnSpPr/>
            <p:nvPr/>
          </p:nvCxnSpPr>
          <p:spPr>
            <a:xfrm rot="5400000">
              <a:off x="962600" y="2801625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909" name="Google Shape;909;p73"/>
          <p:cNvCxnSpPr/>
          <p:nvPr/>
        </p:nvCxnSpPr>
        <p:spPr>
          <a:xfrm rot="10800000" flipH="1">
            <a:off x="2729800" y="2916489"/>
            <a:ext cx="890700" cy="1060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0" name="Google Shape;910;p73"/>
          <p:cNvCxnSpPr/>
          <p:nvPr/>
        </p:nvCxnSpPr>
        <p:spPr>
          <a:xfrm rot="10800000">
            <a:off x="3620400" y="2923750"/>
            <a:ext cx="1523100" cy="1056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1" name="Google Shape;911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75765" y="25345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3"/>
          <p:cNvSpPr txBox="1"/>
          <p:nvPr/>
        </p:nvSpPr>
        <p:spPr>
          <a:xfrm>
            <a:off x="7837000" y="34791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3" name="Google Shape;913;p73"/>
          <p:cNvPicPr preferRelativeResize="0"/>
          <p:nvPr/>
        </p:nvPicPr>
        <p:blipFill>
          <a:blip r:embed="rId6">
            <a:alphaModFix/>
          </a:blip>
          <a:srcRect t="56280" r="70143"/>
          <a:stretch>
            <a:fillRect/>
          </a:stretch>
        </p:blipFill>
        <p:spPr>
          <a:xfrm>
            <a:off x="5774400" y="1805600"/>
            <a:ext cx="2062602" cy="1286837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73"/>
          <p:cNvSpPr txBox="1"/>
          <p:nvPr>
            <p:ph type="body" idx="1"/>
          </p:nvPr>
        </p:nvSpPr>
        <p:spPr>
          <a:xfrm>
            <a:off x="5874700" y="1941750"/>
            <a:ext cx="18882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Doesn’t it matter which end the angles are?</a:t>
            </a:r>
            <a:endParaRPr sz="1800"/>
          </a:p>
        </p:txBody>
      </p:sp>
      <p:pic>
        <p:nvPicPr>
          <p:cNvPr id="915" name="Google Shape;915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452" y="34499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3"/>
          <p:cNvSpPr txBox="1"/>
          <p:nvPr/>
        </p:nvSpPr>
        <p:spPr>
          <a:xfrm>
            <a:off x="281675" y="44439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7" name="Google Shape;917;p73"/>
          <p:cNvPicPr preferRelativeResize="0"/>
          <p:nvPr/>
        </p:nvPicPr>
        <p:blipFill>
          <a:blip r:embed="rId6">
            <a:alphaModFix/>
          </a:blip>
          <a:srcRect t="56280" r="70143"/>
          <a:stretch>
            <a:fillRect/>
          </a:stretch>
        </p:blipFill>
        <p:spPr>
          <a:xfrm flipH="1">
            <a:off x="958300" y="2488425"/>
            <a:ext cx="2062602" cy="1286837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3"/>
          <p:cNvSpPr txBox="1"/>
          <p:nvPr>
            <p:ph type="body" idx="1"/>
          </p:nvPr>
        </p:nvSpPr>
        <p:spPr>
          <a:xfrm flipH="1">
            <a:off x="1032402" y="2624575"/>
            <a:ext cx="18882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No, it would just be a reflection of this triangle.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2" name="Shape 922"/>
        <p:cNvGrpSpPr/>
        <p:nvPr/>
      </p:nvGrpSpPr>
      <p:grpSpPr>
        <a:xfrm>
          <a:off x="0" y="0"/>
          <a:ext cx="0" cy="0"/>
        </a:xfrm>
      </p:grpSpPr>
      <p:sp>
        <p:nvSpPr>
          <p:cNvPr id="923" name="Google Shape;923;p74"/>
          <p:cNvSpPr txBox="1"/>
          <p:nvPr>
            <p:ph type="body" idx="1"/>
          </p:nvPr>
        </p:nvSpPr>
        <p:spPr>
          <a:xfrm>
            <a:off x="324000" y="759300"/>
            <a:ext cx="82377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triangle can be constructed, if we know the angles at either end of a known edge length. </a:t>
            </a:r>
            <a:endParaRPr sz="1800"/>
          </a:p>
        </p:txBody>
      </p:sp>
      <p:sp>
        <p:nvSpPr>
          <p:cNvPr id="924" name="Google Shape;92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sp>
        <p:nvSpPr>
          <p:cNvPr id="925" name="Google Shape;925;p74"/>
          <p:cNvSpPr txBox="1"/>
          <p:nvPr>
            <p:ph type="body" idx="1"/>
          </p:nvPr>
        </p:nvSpPr>
        <p:spPr>
          <a:xfrm>
            <a:off x="324000" y="1551025"/>
            <a:ext cx="82377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Construct triangle MNO, where MN = 7 cm, ∠OMN = 72° and ∠ONM = 43°.  </a:t>
            </a:r>
            <a:endParaRPr sz="1800"/>
          </a:p>
        </p:txBody>
      </p:sp>
      <p:pic>
        <p:nvPicPr>
          <p:cNvPr id="926" name="Google Shape;92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">
            <a:off x="2533023" y="4004940"/>
            <a:ext cx="6419656" cy="613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7" name="Google Shape;927;p74"/>
          <p:cNvCxnSpPr/>
          <p:nvPr/>
        </p:nvCxnSpPr>
        <p:spPr>
          <a:xfrm>
            <a:off x="2736975" y="4001275"/>
            <a:ext cx="28089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8" name="Google Shape;928;p74"/>
          <p:cNvSpPr txBox="1"/>
          <p:nvPr>
            <p:ph type="body" idx="1"/>
          </p:nvPr>
        </p:nvSpPr>
        <p:spPr>
          <a:xfrm>
            <a:off x="3795250" y="4019100"/>
            <a:ext cx="608400" cy="3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 cm</a:t>
            </a:r>
            <a:endParaRPr sz="1800"/>
          </a:p>
        </p:txBody>
      </p:sp>
      <p:sp>
        <p:nvSpPr>
          <p:cNvPr id="929" name="Google Shape;929;p74"/>
          <p:cNvSpPr txBox="1"/>
          <p:nvPr>
            <p:ph type="body" idx="1"/>
          </p:nvPr>
        </p:nvSpPr>
        <p:spPr>
          <a:xfrm>
            <a:off x="2533025" y="4001275"/>
            <a:ext cx="197400" cy="3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</a:t>
            </a:r>
            <a:endParaRPr sz="1800"/>
          </a:p>
        </p:txBody>
      </p:sp>
      <p:sp>
        <p:nvSpPr>
          <p:cNvPr id="930" name="Google Shape;930;p74"/>
          <p:cNvSpPr txBox="1"/>
          <p:nvPr>
            <p:ph type="body" idx="1"/>
          </p:nvPr>
        </p:nvSpPr>
        <p:spPr>
          <a:xfrm>
            <a:off x="5504825" y="4001275"/>
            <a:ext cx="197400" cy="3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</a:t>
            </a:r>
            <a:endParaRPr sz="1800"/>
          </a:p>
        </p:txBody>
      </p:sp>
      <p:pic>
        <p:nvPicPr>
          <p:cNvPr id="931" name="Google Shape;931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194" y="2044681"/>
            <a:ext cx="3922875" cy="2148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2" name="Google Shape;932;p74"/>
          <p:cNvCxnSpPr/>
          <p:nvPr/>
        </p:nvCxnSpPr>
        <p:spPr>
          <a:xfrm rot="10800000" flipH="1">
            <a:off x="2758525" y="1795975"/>
            <a:ext cx="704100" cy="2212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933" name="Google Shape;93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9908" y="2044681"/>
            <a:ext cx="3922875" cy="2148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4" name="Google Shape;934;p74"/>
          <p:cNvCxnSpPr/>
          <p:nvPr/>
        </p:nvCxnSpPr>
        <p:spPr>
          <a:xfrm rot="10800000">
            <a:off x="3168000" y="1796000"/>
            <a:ext cx="2370600" cy="2205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35" name="Google Shape;935;p74"/>
          <p:cNvSpPr txBox="1"/>
          <p:nvPr>
            <p:ph type="body" idx="1"/>
          </p:nvPr>
        </p:nvSpPr>
        <p:spPr>
          <a:xfrm>
            <a:off x="3167998" y="3484069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72°</a:t>
            </a:r>
            <a:endParaRPr sz="1800"/>
          </a:p>
        </p:txBody>
      </p:sp>
      <p:sp>
        <p:nvSpPr>
          <p:cNvPr id="936" name="Google Shape;936;p74"/>
          <p:cNvSpPr/>
          <p:nvPr/>
        </p:nvSpPr>
        <p:spPr>
          <a:xfrm>
            <a:off x="2224425" y="3484075"/>
            <a:ext cx="1034400" cy="1034400"/>
          </a:xfrm>
          <a:prstGeom prst="arc">
            <a:avLst>
              <a:gd name="adj1" fmla="val 17321329"/>
              <a:gd name="adj2" fmla="val 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4"/>
          <p:cNvSpPr/>
          <p:nvPr/>
        </p:nvSpPr>
        <p:spPr>
          <a:xfrm>
            <a:off x="5014138" y="3484075"/>
            <a:ext cx="1034400" cy="1034400"/>
          </a:xfrm>
          <a:prstGeom prst="arc">
            <a:avLst>
              <a:gd name="adj1" fmla="val 10799871"/>
              <a:gd name="adj2" fmla="val 13402082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4"/>
          <p:cNvSpPr txBox="1"/>
          <p:nvPr>
            <p:ph type="body" idx="1"/>
          </p:nvPr>
        </p:nvSpPr>
        <p:spPr>
          <a:xfrm>
            <a:off x="4677089" y="3622080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43°</a:t>
            </a:r>
            <a:endParaRPr sz="1800"/>
          </a:p>
        </p:txBody>
      </p:sp>
      <p:grpSp>
        <p:nvGrpSpPr>
          <p:cNvPr id="939" name="Google Shape;939;p74"/>
          <p:cNvGrpSpPr/>
          <p:nvPr/>
        </p:nvGrpSpPr>
        <p:grpSpPr>
          <a:xfrm>
            <a:off x="3324533" y="1932341"/>
            <a:ext cx="144000" cy="144000"/>
            <a:chOff x="962600" y="2801625"/>
            <a:chExt cx="144000" cy="144000"/>
          </a:xfrm>
        </p:grpSpPr>
        <p:cxnSp>
          <p:nvCxnSpPr>
            <p:cNvPr id="940" name="Google Shape;940;p74"/>
            <p:cNvCxnSpPr/>
            <p:nvPr/>
          </p:nvCxnSpPr>
          <p:spPr>
            <a:xfrm>
              <a:off x="962600" y="2801625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1" name="Google Shape;941;p74"/>
            <p:cNvCxnSpPr/>
            <p:nvPr/>
          </p:nvCxnSpPr>
          <p:spPr>
            <a:xfrm rot="5400000">
              <a:off x="962600" y="2801625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942" name="Google Shape;942;p74"/>
          <p:cNvCxnSpPr/>
          <p:nvPr/>
        </p:nvCxnSpPr>
        <p:spPr>
          <a:xfrm rot="10800000" flipH="1">
            <a:off x="2758525" y="2004125"/>
            <a:ext cx="646500" cy="1993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3" name="Google Shape;943;p74"/>
          <p:cNvCxnSpPr/>
          <p:nvPr/>
        </p:nvCxnSpPr>
        <p:spPr>
          <a:xfrm rot="10800000">
            <a:off x="3397800" y="2018575"/>
            <a:ext cx="2140800" cy="1986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4" name="Google Shape;944;p74"/>
          <p:cNvSpPr txBox="1"/>
          <p:nvPr>
            <p:ph type="body" idx="1"/>
          </p:nvPr>
        </p:nvSpPr>
        <p:spPr>
          <a:xfrm>
            <a:off x="3468525" y="1796000"/>
            <a:ext cx="197400" cy="3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8" name="Shape 948"/>
        <p:cNvGrpSpPr/>
        <p:nvPr/>
      </p:nvGrpSpPr>
      <p:grpSpPr>
        <a:xfrm>
          <a:off x="0" y="0"/>
          <a:ext cx="0" cy="0"/>
        </a:xfrm>
      </p:grpSpPr>
      <p:sp>
        <p:nvSpPr>
          <p:cNvPr id="949" name="Google Shape;949;p75"/>
          <p:cNvSpPr txBox="1"/>
          <p:nvPr>
            <p:ph type="body" idx="1"/>
          </p:nvPr>
        </p:nvSpPr>
        <p:spPr>
          <a:xfrm>
            <a:off x="324000" y="759300"/>
            <a:ext cx="8237700" cy="80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Jun has tried to construct the triangle PQR, where PQ = 9 cm, ∠RPQ = 135° and ∠RQP = 20°. </a:t>
            </a:r>
            <a:endParaRPr sz="1800"/>
          </a:p>
        </p:txBody>
      </p:sp>
      <p:sp>
        <p:nvSpPr>
          <p:cNvPr id="950" name="Google Shape;95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cxnSp>
        <p:nvCxnSpPr>
          <p:cNvPr id="951" name="Google Shape;951;p75"/>
          <p:cNvCxnSpPr/>
          <p:nvPr/>
        </p:nvCxnSpPr>
        <p:spPr>
          <a:xfrm>
            <a:off x="3045875" y="3812975"/>
            <a:ext cx="360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2" name="Google Shape;952;p75"/>
          <p:cNvCxnSpPr/>
          <p:nvPr/>
        </p:nvCxnSpPr>
        <p:spPr>
          <a:xfrm rot="10800000">
            <a:off x="617950" y="1406366"/>
            <a:ext cx="2442300" cy="2413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53" name="Google Shape;953;p75"/>
          <p:cNvCxnSpPr/>
          <p:nvPr/>
        </p:nvCxnSpPr>
        <p:spPr>
          <a:xfrm rot="10800000">
            <a:off x="3914950" y="2835875"/>
            <a:ext cx="2701200" cy="977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54" name="Google Shape;954;p75"/>
          <p:cNvSpPr/>
          <p:nvPr/>
        </p:nvSpPr>
        <p:spPr>
          <a:xfrm>
            <a:off x="2511800" y="3295775"/>
            <a:ext cx="1034400" cy="1034400"/>
          </a:xfrm>
          <a:prstGeom prst="arc">
            <a:avLst>
              <a:gd name="adj1" fmla="val 13546930"/>
              <a:gd name="adj2" fmla="val 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5"/>
          <p:cNvSpPr/>
          <p:nvPr/>
        </p:nvSpPr>
        <p:spPr>
          <a:xfrm>
            <a:off x="6076432" y="3295775"/>
            <a:ext cx="1034400" cy="1034400"/>
          </a:xfrm>
          <a:prstGeom prst="arc">
            <a:avLst>
              <a:gd name="adj1" fmla="val 10876405"/>
              <a:gd name="adj2" fmla="val 12093623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5"/>
          <p:cNvSpPr txBox="1"/>
          <p:nvPr>
            <p:ph type="body" idx="1"/>
          </p:nvPr>
        </p:nvSpPr>
        <p:spPr>
          <a:xfrm>
            <a:off x="3218275" y="3044350"/>
            <a:ext cx="5244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135°</a:t>
            </a:r>
            <a:endParaRPr sz="1800"/>
          </a:p>
        </p:txBody>
      </p:sp>
      <p:sp>
        <p:nvSpPr>
          <p:cNvPr id="957" name="Google Shape;957;p75"/>
          <p:cNvSpPr txBox="1"/>
          <p:nvPr>
            <p:ph type="body" idx="1"/>
          </p:nvPr>
        </p:nvSpPr>
        <p:spPr>
          <a:xfrm>
            <a:off x="5425201" y="3516802"/>
            <a:ext cx="5244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20°</a:t>
            </a:r>
            <a:endParaRPr sz="1800"/>
          </a:p>
        </p:txBody>
      </p:sp>
      <p:sp>
        <p:nvSpPr>
          <p:cNvPr id="958" name="Google Shape;958;p75"/>
          <p:cNvSpPr txBox="1"/>
          <p:nvPr>
            <p:ph type="body" idx="1"/>
          </p:nvPr>
        </p:nvSpPr>
        <p:spPr>
          <a:xfrm>
            <a:off x="4650926" y="3859802"/>
            <a:ext cx="5244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 cm</a:t>
            </a:r>
            <a:endParaRPr sz="1800"/>
          </a:p>
        </p:txBody>
      </p:sp>
      <p:pic>
        <p:nvPicPr>
          <p:cNvPr id="959" name="Google Shape;95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756646" y="116533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75"/>
          <p:cNvPicPr preferRelativeResize="0"/>
          <p:nvPr/>
        </p:nvPicPr>
        <p:blipFill>
          <a:blip r:embed="rId4">
            <a:alphaModFix/>
          </a:blip>
          <a:srcRect t="56280" r="69082"/>
          <a:stretch>
            <a:fillRect/>
          </a:stretch>
        </p:blipFill>
        <p:spPr>
          <a:xfrm rot="10800000" flipH="1">
            <a:off x="5761300" y="1820174"/>
            <a:ext cx="2103798" cy="995826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75"/>
          <p:cNvSpPr txBox="1"/>
          <p:nvPr>
            <p:ph type="body" idx="1"/>
          </p:nvPr>
        </p:nvSpPr>
        <p:spPr>
          <a:xfrm>
            <a:off x="5884095" y="2020357"/>
            <a:ext cx="1851600" cy="80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It hasn’t formed a triangle.</a:t>
            </a:r>
            <a:endParaRPr sz="1800"/>
          </a:p>
        </p:txBody>
      </p:sp>
      <p:sp>
        <p:nvSpPr>
          <p:cNvPr id="962" name="Google Shape;962;p75"/>
          <p:cNvSpPr txBox="1"/>
          <p:nvPr>
            <p:ph type="body" idx="1"/>
          </p:nvPr>
        </p:nvSpPr>
        <p:spPr>
          <a:xfrm>
            <a:off x="2928651" y="3859800"/>
            <a:ext cx="2007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</a:t>
            </a:r>
            <a:endParaRPr sz="1800"/>
          </a:p>
        </p:txBody>
      </p:sp>
      <p:sp>
        <p:nvSpPr>
          <p:cNvPr id="963" name="Google Shape;963;p75"/>
          <p:cNvSpPr txBox="1"/>
          <p:nvPr>
            <p:ph type="body" idx="1"/>
          </p:nvPr>
        </p:nvSpPr>
        <p:spPr>
          <a:xfrm>
            <a:off x="6652176" y="3965375"/>
            <a:ext cx="2007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Q</a:t>
            </a:r>
            <a:endParaRPr sz="1800"/>
          </a:p>
        </p:txBody>
      </p:sp>
      <p:sp>
        <p:nvSpPr>
          <p:cNvPr id="964" name="Google Shape;964;p75"/>
          <p:cNvSpPr txBox="1"/>
          <p:nvPr>
            <p:ph type="body" idx="1"/>
          </p:nvPr>
        </p:nvSpPr>
        <p:spPr>
          <a:xfrm>
            <a:off x="324000" y="4167600"/>
            <a:ext cx="3222300" cy="42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has Jun done wrong?</a:t>
            </a:r>
            <a:endParaRPr sz="1800"/>
          </a:p>
        </p:txBody>
      </p:sp>
      <p:sp>
        <p:nvSpPr>
          <p:cNvPr id="965" name="Google Shape;965;p75"/>
          <p:cNvSpPr txBox="1"/>
          <p:nvPr>
            <p:ph type="body" idx="1"/>
          </p:nvPr>
        </p:nvSpPr>
        <p:spPr>
          <a:xfrm>
            <a:off x="3484075" y="4167600"/>
            <a:ext cx="5077500" cy="42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needs to extend his ray lines, so they intersect to find 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66" name="Google Shape;966;p75"/>
          <p:cNvCxnSpPr/>
          <p:nvPr/>
        </p:nvCxnSpPr>
        <p:spPr>
          <a:xfrm rot="10800000">
            <a:off x="524457" y="1609046"/>
            <a:ext cx="6091800" cy="2207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967" name="Google Shape;967;p75"/>
          <p:cNvGrpSpPr/>
          <p:nvPr/>
        </p:nvGrpSpPr>
        <p:grpSpPr>
          <a:xfrm>
            <a:off x="922051" y="1703741"/>
            <a:ext cx="144000" cy="144000"/>
            <a:chOff x="962600" y="2801625"/>
            <a:chExt cx="144000" cy="144000"/>
          </a:xfrm>
        </p:grpSpPr>
        <p:cxnSp>
          <p:nvCxnSpPr>
            <p:cNvPr id="968" name="Google Shape;968;p75"/>
            <p:cNvCxnSpPr/>
            <p:nvPr/>
          </p:nvCxnSpPr>
          <p:spPr>
            <a:xfrm>
              <a:off x="962600" y="2801625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9" name="Google Shape;969;p75"/>
            <p:cNvCxnSpPr/>
            <p:nvPr/>
          </p:nvCxnSpPr>
          <p:spPr>
            <a:xfrm rot="5400000">
              <a:off x="962600" y="2801625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70" name="Google Shape;970;p75"/>
          <p:cNvSpPr txBox="1"/>
          <p:nvPr>
            <p:ph type="body" idx="1"/>
          </p:nvPr>
        </p:nvSpPr>
        <p:spPr>
          <a:xfrm>
            <a:off x="1066043" y="1567400"/>
            <a:ext cx="197400" cy="3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4" name="Shape 974"/>
        <p:cNvGrpSpPr/>
        <p:nvPr/>
      </p:nvGrpSpPr>
      <p:grpSpPr>
        <a:xfrm>
          <a:off x="0" y="0"/>
          <a:ext cx="0" cy="0"/>
        </a:xfrm>
      </p:grpSpPr>
      <p:grpSp>
        <p:nvGrpSpPr>
          <p:cNvPr id="975" name="Google Shape;975;p76"/>
          <p:cNvGrpSpPr/>
          <p:nvPr/>
        </p:nvGrpSpPr>
        <p:grpSpPr>
          <a:xfrm rot="7800086" flipH="1">
            <a:off x="4858413" y="1259465"/>
            <a:ext cx="2935012" cy="3130657"/>
            <a:chOff x="2256029" y="1023870"/>
            <a:chExt cx="4305444" cy="4592440"/>
          </a:xfrm>
        </p:grpSpPr>
        <p:cxnSp>
          <p:nvCxnSpPr>
            <p:cNvPr id="976" name="Google Shape;976;p76"/>
            <p:cNvCxnSpPr/>
            <p:nvPr/>
          </p:nvCxnSpPr>
          <p:spPr>
            <a:xfrm rot="-2998875">
              <a:off x="4648140" y="483348"/>
              <a:ext cx="320043" cy="3712643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977" name="Google Shape;977;p76" descr="&lt;math xmlns=&quot;http://www.w3.org/1998/Math/MathML&quot; data-is-equatio=&quot;1&quot; data-equatio-url=&quot;https://equatio-api.texthelp.com/desmos/get/17-01-2024/0b37ead6-2675-4867-bde7-17dede06cb58&quot; data-equatio-type=&quot;image&quot;&gt;&lt;mglyph src=&quot;https://equatio-api.texthelp.com/desmos/get/17-01-2024/0b37ead6-2675-4867-bde7-17dede06cb58&quot; alt=&quot;Equatio Image&quot;/&gt;&lt;/math&gt;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100861" y="2697090"/>
              <a:ext cx="1460612" cy="84404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78" name="Google Shape;978;p76"/>
            <p:cNvCxnSpPr/>
            <p:nvPr/>
          </p:nvCxnSpPr>
          <p:spPr>
            <a:xfrm rot="-3000101">
              <a:off x="3021648" y="1866168"/>
              <a:ext cx="2751861" cy="3282283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79" name="Google Shape;979;p76"/>
          <p:cNvGrpSpPr/>
          <p:nvPr/>
        </p:nvGrpSpPr>
        <p:grpSpPr>
          <a:xfrm>
            <a:off x="4872525" y="2334650"/>
            <a:ext cx="2025150" cy="1999750"/>
            <a:chOff x="3125025" y="2163525"/>
            <a:chExt cx="2025150" cy="1999750"/>
          </a:xfrm>
        </p:grpSpPr>
        <p:cxnSp>
          <p:nvCxnSpPr>
            <p:cNvPr id="980" name="Google Shape;980;p76"/>
            <p:cNvCxnSpPr/>
            <p:nvPr/>
          </p:nvCxnSpPr>
          <p:spPr>
            <a:xfrm rot="10800000" flipH="1">
              <a:off x="3171112" y="2163525"/>
              <a:ext cx="1648800" cy="1975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pic>
          <p:nvPicPr>
            <p:cNvPr id="981" name="Google Shape;981;p76" descr="&lt;math xmlns=&quot;http://www.w3.org/1998/Math/MathML&quot; data-is-equatio=&quot;1&quot; data-equatio-url=&quot;https://equatio-api.texthelp.com/desmos/get/17-01-2024/4ddd5ce9-bc02-4aca-9fcf-db6ad4ff9b8a&quot; data-equatio-type=&quot;image&quot;&gt;&lt;mglyph src=&quot;https://equatio-api.texthelp.com/desmos/get/17-01-2024/4ddd5ce9-bc02-4aca-9fcf-db6ad4ff9b8a&quot; alt=&quot;Equatio Image&quot;/&gt;&lt;/math&gt;" title="Equatio Imag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25025" y="3431725"/>
              <a:ext cx="953025" cy="731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82" name="Google Shape;982;p76"/>
            <p:cNvCxnSpPr/>
            <p:nvPr/>
          </p:nvCxnSpPr>
          <p:spPr>
            <a:xfrm>
              <a:off x="3181875" y="4139325"/>
              <a:ext cx="1968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83" name="Google Shape;98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sp>
        <p:nvSpPr>
          <p:cNvPr id="984" name="Google Shape;984;p76"/>
          <p:cNvSpPr txBox="1"/>
          <p:nvPr/>
        </p:nvSpPr>
        <p:spPr>
          <a:xfrm>
            <a:off x="324000" y="1846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🖇 </a:t>
            </a: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5"/>
              </a:rPr>
              <a:t>Fixing two angles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6"/>
          <p:cNvSpPr txBox="1"/>
          <p:nvPr>
            <p:ph type="body" idx="1"/>
          </p:nvPr>
        </p:nvSpPr>
        <p:spPr>
          <a:xfrm>
            <a:off x="324000" y="759300"/>
            <a:ext cx="5078700" cy="677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Can a triangle be constructed, if we know the length of an edge and two angles that aren’t at either end of that line AAS?</a:t>
            </a:r>
            <a:endParaRPr sz="1800"/>
          </a:p>
        </p:txBody>
      </p:sp>
      <p:sp>
        <p:nvSpPr>
          <p:cNvPr id="986" name="Google Shape;986;p76"/>
          <p:cNvSpPr txBox="1"/>
          <p:nvPr>
            <p:ph type="body" idx="1"/>
          </p:nvPr>
        </p:nvSpPr>
        <p:spPr>
          <a:xfrm>
            <a:off x="5274611" y="3929744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50°</a:t>
            </a:r>
            <a:endParaRPr sz="1800"/>
          </a:p>
        </p:txBody>
      </p:sp>
      <p:grpSp>
        <p:nvGrpSpPr>
          <p:cNvPr id="987" name="Google Shape;987;p76"/>
          <p:cNvGrpSpPr/>
          <p:nvPr/>
        </p:nvGrpSpPr>
        <p:grpSpPr>
          <a:xfrm rot="7800086" flipH="1">
            <a:off x="5834398" y="1586186"/>
            <a:ext cx="3452404" cy="2606677"/>
            <a:chOff x="1497054" y="-45524"/>
            <a:chExt cx="5064419" cy="3823800"/>
          </a:xfrm>
        </p:grpSpPr>
        <p:cxnSp>
          <p:nvCxnSpPr>
            <p:cNvPr id="988" name="Google Shape;988;p76"/>
            <p:cNvCxnSpPr/>
            <p:nvPr/>
          </p:nvCxnSpPr>
          <p:spPr>
            <a:xfrm rot="-2999566">
              <a:off x="3879254" y="-821800"/>
              <a:ext cx="480180" cy="5376351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pic>
          <p:nvPicPr>
            <p:cNvPr id="989" name="Google Shape;989;p76" descr="&lt;math xmlns=&quot;http://www.w3.org/1998/Math/MathML&quot; data-is-equatio=&quot;1&quot; data-equatio-url=&quot;https://equatio-api.texthelp.com/desmos/get/17-01-2024/0b37ead6-2675-4867-bde7-17dede06cb58&quot; data-equatio-type=&quot;image&quot;&gt;&lt;mglyph src=&quot;https://equatio-api.texthelp.com/desmos/get/17-01-2024/0b37ead6-2675-4867-bde7-17dede06cb58&quot; alt=&quot;Equatio Image&quot;/&gt;&lt;/math&gt;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100861" y="2697090"/>
              <a:ext cx="1460612" cy="84404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90" name="Google Shape;990;p76"/>
            <p:cNvCxnSpPr/>
            <p:nvPr/>
          </p:nvCxnSpPr>
          <p:spPr>
            <a:xfrm>
              <a:off x="1497054" y="3507829"/>
              <a:ext cx="5041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991" name="Google Shape;991;p76"/>
          <p:cNvSpPr txBox="1"/>
          <p:nvPr>
            <p:ph type="body" idx="1"/>
          </p:nvPr>
        </p:nvSpPr>
        <p:spPr>
          <a:xfrm>
            <a:off x="7243058" y="1461041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35°</a:t>
            </a:r>
            <a:endParaRPr sz="1800"/>
          </a:p>
        </p:txBody>
      </p:sp>
      <p:sp>
        <p:nvSpPr>
          <p:cNvPr id="992" name="Google Shape;992;p76"/>
          <p:cNvSpPr txBox="1"/>
          <p:nvPr>
            <p:ph type="body" idx="1"/>
          </p:nvPr>
        </p:nvSpPr>
        <p:spPr>
          <a:xfrm>
            <a:off x="4666625" y="4229875"/>
            <a:ext cx="197400" cy="3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</a:t>
            </a:r>
            <a:endParaRPr sz="1800"/>
          </a:p>
        </p:txBody>
      </p:sp>
      <p:sp>
        <p:nvSpPr>
          <p:cNvPr id="993" name="Google Shape;993;p76"/>
          <p:cNvSpPr txBox="1"/>
          <p:nvPr>
            <p:ph type="body" idx="1"/>
          </p:nvPr>
        </p:nvSpPr>
        <p:spPr>
          <a:xfrm>
            <a:off x="6952625" y="4229875"/>
            <a:ext cx="197400" cy="3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</a:t>
            </a:r>
            <a:endParaRPr sz="1800"/>
          </a:p>
        </p:txBody>
      </p:sp>
      <p:sp>
        <p:nvSpPr>
          <p:cNvPr id="994" name="Google Shape;994;p76"/>
          <p:cNvSpPr txBox="1"/>
          <p:nvPr>
            <p:ph type="body" idx="1"/>
          </p:nvPr>
        </p:nvSpPr>
        <p:spPr>
          <a:xfrm>
            <a:off x="7790825" y="648475"/>
            <a:ext cx="247800" cy="3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</a:t>
            </a:r>
            <a:endParaRPr sz="1800"/>
          </a:p>
        </p:txBody>
      </p:sp>
      <p:grpSp>
        <p:nvGrpSpPr>
          <p:cNvPr id="995" name="Google Shape;995;p76"/>
          <p:cNvGrpSpPr/>
          <p:nvPr/>
        </p:nvGrpSpPr>
        <p:grpSpPr>
          <a:xfrm rot="7800086" flipH="1">
            <a:off x="4571263" y="2060337"/>
            <a:ext cx="3173766" cy="3539169"/>
            <a:chOff x="1905794" y="-45524"/>
            <a:chExt cx="4655679" cy="5191696"/>
          </a:xfrm>
        </p:grpSpPr>
        <p:cxnSp>
          <p:nvCxnSpPr>
            <p:cNvPr id="996" name="Google Shape;996;p76"/>
            <p:cNvCxnSpPr/>
            <p:nvPr/>
          </p:nvCxnSpPr>
          <p:spPr>
            <a:xfrm rot="-2999566">
              <a:off x="3879254" y="-821800"/>
              <a:ext cx="480180" cy="5376351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pic>
          <p:nvPicPr>
            <p:cNvPr id="997" name="Google Shape;997;p76" descr="&lt;math xmlns=&quot;http://www.w3.org/1998/Math/MathML&quot; data-is-equatio=&quot;1&quot; data-equatio-url=&quot;https://equatio-api.texthelp.com/desmos/get/17-01-2024/0b37ead6-2675-4867-bde7-17dede06cb58&quot; data-equatio-type=&quot;image&quot;&gt;&lt;mglyph src=&quot;https://equatio-api.texthelp.com/desmos/get/17-01-2024/0b37ead6-2675-4867-bde7-17dede06cb58&quot; alt=&quot;Equatio Image&quot;/&gt;&lt;/math&gt;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100861" y="2697090"/>
              <a:ext cx="1460612" cy="84404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98" name="Google Shape;998;p76"/>
            <p:cNvCxnSpPr/>
            <p:nvPr/>
          </p:nvCxnSpPr>
          <p:spPr>
            <a:xfrm rot="-2999809">
              <a:off x="3797643" y="2214931"/>
              <a:ext cx="2138357" cy="2571482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999" name="Google Shape;999;p76"/>
          <p:cNvSpPr txBox="1"/>
          <p:nvPr>
            <p:ph type="body" idx="1"/>
          </p:nvPr>
        </p:nvSpPr>
        <p:spPr>
          <a:xfrm>
            <a:off x="6164711" y="2739253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35°</a:t>
            </a:r>
            <a:endParaRPr sz="1800"/>
          </a:p>
        </p:txBody>
      </p:sp>
      <p:sp>
        <p:nvSpPr>
          <p:cNvPr id="1000" name="Google Shape;1000;p76"/>
          <p:cNvSpPr txBox="1"/>
          <p:nvPr>
            <p:ph type="body" idx="1"/>
          </p:nvPr>
        </p:nvSpPr>
        <p:spPr>
          <a:xfrm>
            <a:off x="6712478" y="2002887"/>
            <a:ext cx="247800" cy="3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</a:t>
            </a:r>
            <a:endParaRPr sz="1800"/>
          </a:p>
        </p:txBody>
      </p:sp>
      <p:sp>
        <p:nvSpPr>
          <p:cNvPr id="1001" name="Google Shape;1001;p76"/>
          <p:cNvSpPr txBox="1"/>
          <p:nvPr>
            <p:ph type="body" idx="1"/>
          </p:nvPr>
        </p:nvSpPr>
        <p:spPr>
          <a:xfrm>
            <a:off x="7150025" y="1509875"/>
            <a:ext cx="247800" cy="3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</a:t>
            </a:r>
            <a:endParaRPr sz="1800"/>
          </a:p>
        </p:txBody>
      </p:sp>
      <p:sp>
        <p:nvSpPr>
          <p:cNvPr id="1002" name="Google Shape;1002;p76"/>
          <p:cNvSpPr txBox="1"/>
          <p:nvPr>
            <p:ph type="body" idx="1"/>
          </p:nvPr>
        </p:nvSpPr>
        <p:spPr>
          <a:xfrm>
            <a:off x="6686454" y="2107591"/>
            <a:ext cx="4575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35°</a:t>
            </a:r>
            <a:endParaRPr sz="1800"/>
          </a:p>
        </p:txBody>
      </p:sp>
      <p:sp>
        <p:nvSpPr>
          <p:cNvPr id="1003" name="Google Shape;1003;p76"/>
          <p:cNvSpPr txBox="1"/>
          <p:nvPr>
            <p:ph type="body" idx="1"/>
          </p:nvPr>
        </p:nvSpPr>
        <p:spPr>
          <a:xfrm>
            <a:off x="5793925" y="4317000"/>
            <a:ext cx="6300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 cm</a:t>
            </a:r>
            <a:endParaRPr sz="1800"/>
          </a:p>
        </p:txBody>
      </p:sp>
      <p:sp>
        <p:nvSpPr>
          <p:cNvPr id="1004" name="Google Shape;1004;p76"/>
          <p:cNvSpPr/>
          <p:nvPr/>
        </p:nvSpPr>
        <p:spPr>
          <a:xfrm>
            <a:off x="6506907" y="3911414"/>
            <a:ext cx="794100" cy="794100"/>
          </a:xfrm>
          <a:prstGeom prst="pie">
            <a:avLst>
              <a:gd name="adj1" fmla="val 10815776"/>
              <a:gd name="adj2" fmla="val 16487554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6"/>
          <p:cNvSpPr/>
          <p:nvPr/>
        </p:nvSpPr>
        <p:spPr>
          <a:xfrm>
            <a:off x="0" y="4809025"/>
            <a:ext cx="9144000" cy="46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9" name="Shape 1009"/>
        <p:cNvGrpSpPr/>
        <p:nvPr/>
      </p:nvGrpSpPr>
      <p:grpSpPr>
        <a:xfrm>
          <a:off x="0" y="0"/>
          <a:ext cx="0" cy="0"/>
        </a:xfrm>
      </p:grpSpPr>
      <p:sp>
        <p:nvSpPr>
          <p:cNvPr id="1010" name="Google Shape;1010;p77"/>
          <p:cNvSpPr txBox="1"/>
          <p:nvPr>
            <p:ph type="body" idx="1"/>
          </p:nvPr>
        </p:nvSpPr>
        <p:spPr>
          <a:xfrm>
            <a:off x="324000" y="759300"/>
            <a:ext cx="82377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Can a triangle be constructed, if we know AAS?</a:t>
            </a:r>
            <a:endParaRPr sz="1800"/>
          </a:p>
        </p:txBody>
      </p:sp>
      <p:sp>
        <p:nvSpPr>
          <p:cNvPr id="1011" name="Google Shape;1011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sp>
        <p:nvSpPr>
          <p:cNvPr id="1012" name="Google Shape;1012;p77"/>
          <p:cNvSpPr txBox="1"/>
          <p:nvPr>
            <p:ph type="body" idx="1"/>
          </p:nvPr>
        </p:nvSpPr>
        <p:spPr>
          <a:xfrm>
            <a:off x="324000" y="1093825"/>
            <a:ext cx="8237700" cy="40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as we can calculate the third angle.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3" name="Google Shape;1013;p77"/>
          <p:cNvSpPr txBox="1"/>
          <p:nvPr>
            <p:ph type="body" idx="1"/>
          </p:nvPr>
        </p:nvSpPr>
        <p:spPr>
          <a:xfrm>
            <a:off x="324000" y="2126746"/>
            <a:ext cx="8237700" cy="53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For example:</a:t>
            </a:r>
            <a:br>
              <a:rPr lang="en-GB" sz="1800"/>
            </a:br>
            <a:r>
              <a:rPr lang="en-GB" sz="1800"/>
              <a:t>Construct triangle MNO, where MN = 7 cm, ∠MON = 70° and ∠ONM = 45°.  </a:t>
            </a:r>
            <a:endParaRPr sz="1800"/>
          </a:p>
        </p:txBody>
      </p:sp>
      <p:pic>
        <p:nvPicPr>
          <p:cNvPr id="1014" name="Google Shape;10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150" y="3426849"/>
            <a:ext cx="1179799" cy="10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77"/>
          <p:cNvSpPr txBox="1"/>
          <p:nvPr/>
        </p:nvSpPr>
        <p:spPr>
          <a:xfrm>
            <a:off x="324000" y="2810400"/>
            <a:ext cx="102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sketch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7"/>
          <p:cNvSpPr txBox="1"/>
          <p:nvPr>
            <p:ph type="body" idx="1"/>
          </p:nvPr>
        </p:nvSpPr>
        <p:spPr>
          <a:xfrm>
            <a:off x="1196250" y="3703800"/>
            <a:ext cx="5244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70°</a:t>
            </a:r>
            <a:endParaRPr sz="1800"/>
          </a:p>
        </p:txBody>
      </p:sp>
      <p:sp>
        <p:nvSpPr>
          <p:cNvPr id="1017" name="Google Shape;1017;p77"/>
          <p:cNvSpPr txBox="1"/>
          <p:nvPr>
            <p:ph type="body" idx="1"/>
          </p:nvPr>
        </p:nvSpPr>
        <p:spPr>
          <a:xfrm>
            <a:off x="1387851" y="4473227"/>
            <a:ext cx="5244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 cm</a:t>
            </a:r>
            <a:endParaRPr sz="1800"/>
          </a:p>
        </p:txBody>
      </p:sp>
      <p:sp>
        <p:nvSpPr>
          <p:cNvPr id="1018" name="Google Shape;1018;p77"/>
          <p:cNvSpPr txBox="1"/>
          <p:nvPr>
            <p:ph type="body" idx="1"/>
          </p:nvPr>
        </p:nvSpPr>
        <p:spPr>
          <a:xfrm>
            <a:off x="840276" y="4397025"/>
            <a:ext cx="2007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</a:t>
            </a:r>
            <a:endParaRPr sz="1800"/>
          </a:p>
        </p:txBody>
      </p:sp>
      <p:sp>
        <p:nvSpPr>
          <p:cNvPr id="1019" name="Google Shape;1019;p77"/>
          <p:cNvSpPr txBox="1"/>
          <p:nvPr>
            <p:ph type="body" idx="1"/>
          </p:nvPr>
        </p:nvSpPr>
        <p:spPr>
          <a:xfrm>
            <a:off x="1110451" y="3142825"/>
            <a:ext cx="2007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</a:t>
            </a:r>
            <a:endParaRPr sz="1800"/>
          </a:p>
        </p:txBody>
      </p:sp>
      <p:sp>
        <p:nvSpPr>
          <p:cNvPr id="1020" name="Google Shape;1020;p77"/>
          <p:cNvSpPr txBox="1"/>
          <p:nvPr>
            <p:ph type="body" idx="1"/>
          </p:nvPr>
        </p:nvSpPr>
        <p:spPr>
          <a:xfrm>
            <a:off x="2252426" y="4284000"/>
            <a:ext cx="2007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</a:t>
            </a:r>
            <a:endParaRPr sz="1800"/>
          </a:p>
        </p:txBody>
      </p:sp>
      <p:sp>
        <p:nvSpPr>
          <p:cNvPr id="1021" name="Google Shape;1021;p77"/>
          <p:cNvSpPr txBox="1"/>
          <p:nvPr>
            <p:ph type="body" idx="1"/>
          </p:nvPr>
        </p:nvSpPr>
        <p:spPr>
          <a:xfrm>
            <a:off x="1636650" y="4165425"/>
            <a:ext cx="5244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45°</a:t>
            </a:r>
            <a:endParaRPr sz="1800"/>
          </a:p>
        </p:txBody>
      </p:sp>
      <p:sp>
        <p:nvSpPr>
          <p:cNvPr id="1022" name="Google Shape;1022;p77"/>
          <p:cNvSpPr/>
          <p:nvPr/>
        </p:nvSpPr>
        <p:spPr>
          <a:xfrm>
            <a:off x="1231987" y="3565307"/>
            <a:ext cx="137225" cy="48175"/>
          </a:xfrm>
          <a:custGeom>
            <a:rect l="l" t="t" r="r" b="b"/>
            <a:pathLst>
              <a:path w="5489" h="1927" extrusionOk="0">
                <a:moveTo>
                  <a:pt x="0" y="1130"/>
                </a:moveTo>
                <a:cubicBezTo>
                  <a:pt x="1122" y="2624"/>
                  <a:pt x="4797" y="1735"/>
                  <a:pt x="5489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023" name="Google Shape;1023;p77"/>
          <p:cNvSpPr/>
          <p:nvPr/>
        </p:nvSpPr>
        <p:spPr>
          <a:xfrm>
            <a:off x="2022050" y="4266550"/>
            <a:ext cx="40350" cy="149325"/>
          </a:xfrm>
          <a:custGeom>
            <a:rect l="l" t="t" r="r" b="b"/>
            <a:pathLst>
              <a:path w="1613" h="5973" extrusionOk="0">
                <a:moveTo>
                  <a:pt x="1614" y="0"/>
                </a:moveTo>
                <a:cubicBezTo>
                  <a:pt x="377" y="1651"/>
                  <a:pt x="0" y="3911"/>
                  <a:pt x="0" y="5973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024" name="Google Shape;1024;p77"/>
          <p:cNvSpPr/>
          <p:nvPr/>
        </p:nvSpPr>
        <p:spPr>
          <a:xfrm>
            <a:off x="1089725" y="4482383"/>
            <a:ext cx="1117975" cy="26350"/>
          </a:xfrm>
          <a:custGeom>
            <a:rect l="l" t="t" r="r" b="b"/>
            <a:pathLst>
              <a:path w="44719" h="1054" extrusionOk="0">
                <a:moveTo>
                  <a:pt x="0" y="1054"/>
                </a:moveTo>
                <a:cubicBezTo>
                  <a:pt x="14792" y="-801"/>
                  <a:pt x="29811" y="408"/>
                  <a:pt x="44719" y="40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/>
        </p:txBody>
      </p:sp>
      <p:sp>
        <p:nvSpPr>
          <p:cNvPr id="1025" name="Google Shape;1025;p77"/>
          <p:cNvSpPr txBox="1"/>
          <p:nvPr/>
        </p:nvSpPr>
        <p:spPr>
          <a:xfrm>
            <a:off x="2252425" y="3025200"/>
            <a:ext cx="523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∠OMN = 180 - (70 + 45) = 180 - 115 = 65°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7"/>
          <p:cNvSpPr txBox="1"/>
          <p:nvPr/>
        </p:nvSpPr>
        <p:spPr>
          <a:xfrm>
            <a:off x="2698500" y="3633725"/>
            <a:ext cx="55107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Now, we can construct, using the 7 cm, the 65° and the 45° angles.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7"/>
          <p:cNvSpPr/>
          <p:nvPr/>
        </p:nvSpPr>
        <p:spPr>
          <a:xfrm>
            <a:off x="1110050" y="4257702"/>
            <a:ext cx="121750" cy="164725"/>
          </a:xfrm>
          <a:custGeom>
            <a:rect l="l" t="t" r="r" b="b"/>
            <a:pathLst>
              <a:path w="4870" h="6589" extrusionOk="0">
                <a:moveTo>
                  <a:pt x="0" y="0"/>
                </a:moveTo>
                <a:cubicBezTo>
                  <a:pt x="2731" y="0"/>
                  <a:pt x="4007" y="3998"/>
                  <a:pt x="4870" y="658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028" name="Google Shape;1028;p77"/>
          <p:cNvSpPr txBox="1"/>
          <p:nvPr>
            <p:ph type="body" idx="1"/>
          </p:nvPr>
        </p:nvSpPr>
        <p:spPr>
          <a:xfrm>
            <a:off x="1209553" y="4115174"/>
            <a:ext cx="5244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65°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2" name="Shape 1032"/>
        <p:cNvGrpSpPr/>
        <p:nvPr/>
      </p:nvGrpSpPr>
      <p:grpSpPr>
        <a:xfrm>
          <a:off x="0" y="0"/>
          <a:ext cx="0" cy="0"/>
        </a:xfrm>
      </p:grpSpPr>
      <p:sp>
        <p:nvSpPr>
          <p:cNvPr id="1033" name="Google Shape;1033;p78"/>
          <p:cNvSpPr txBox="1"/>
          <p:nvPr>
            <p:ph type="body" idx="1"/>
          </p:nvPr>
        </p:nvSpPr>
        <p:spPr>
          <a:xfrm>
            <a:off x="324000" y="759300"/>
            <a:ext cx="8237700" cy="70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of these sketches have enough information to be able to construct them?</a:t>
            </a:r>
            <a:endParaRPr sz="1800"/>
          </a:p>
        </p:txBody>
      </p:sp>
      <p:sp>
        <p:nvSpPr>
          <p:cNvPr id="1034" name="Google Shape;103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grpSp>
        <p:nvGrpSpPr>
          <p:cNvPr id="1035" name="Google Shape;1035;p78"/>
          <p:cNvGrpSpPr/>
          <p:nvPr/>
        </p:nvGrpSpPr>
        <p:grpSpPr>
          <a:xfrm>
            <a:off x="659866" y="1497375"/>
            <a:ext cx="457200" cy="457200"/>
            <a:chOff x="1020916" y="1442088"/>
            <a:chExt cx="457200" cy="457200"/>
          </a:xfrm>
        </p:grpSpPr>
        <p:pic>
          <p:nvPicPr>
            <p:cNvPr id="1036" name="Google Shape;1036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7" name="Google Shape;1037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8" name="Google Shape;1038;p78"/>
          <p:cNvGrpSpPr/>
          <p:nvPr/>
        </p:nvGrpSpPr>
        <p:grpSpPr>
          <a:xfrm>
            <a:off x="4769216" y="1497375"/>
            <a:ext cx="457200" cy="457200"/>
            <a:chOff x="1020916" y="1442088"/>
            <a:chExt cx="457200" cy="457200"/>
          </a:xfrm>
        </p:grpSpPr>
        <p:pic>
          <p:nvPicPr>
            <p:cNvPr id="1039" name="Google Shape;1039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0" name="Google Shape;1040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1" name="Google Shape;1041;p78"/>
          <p:cNvGrpSpPr/>
          <p:nvPr/>
        </p:nvGrpSpPr>
        <p:grpSpPr>
          <a:xfrm>
            <a:off x="659866" y="3366550"/>
            <a:ext cx="457200" cy="457200"/>
            <a:chOff x="1020916" y="1442088"/>
            <a:chExt cx="457200" cy="457200"/>
          </a:xfrm>
        </p:grpSpPr>
        <p:pic>
          <p:nvPicPr>
            <p:cNvPr id="1042" name="Google Shape;1042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3" name="Google Shape;1043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4" name="Google Shape;1044;p78"/>
          <p:cNvGrpSpPr/>
          <p:nvPr/>
        </p:nvGrpSpPr>
        <p:grpSpPr>
          <a:xfrm>
            <a:off x="4769216" y="3366550"/>
            <a:ext cx="457200" cy="457200"/>
            <a:chOff x="1020916" y="1442088"/>
            <a:chExt cx="457200" cy="457200"/>
          </a:xfrm>
        </p:grpSpPr>
        <p:pic>
          <p:nvPicPr>
            <p:cNvPr id="1045" name="Google Shape;1045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6" name="Google Shape;1046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7" name="Google Shape;104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9500" y="1537950"/>
            <a:ext cx="2020925" cy="124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123068">
            <a:off x="1735224" y="3599261"/>
            <a:ext cx="2851905" cy="784281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78"/>
          <p:cNvSpPr/>
          <p:nvPr/>
        </p:nvSpPr>
        <p:spPr>
          <a:xfrm>
            <a:off x="1948100" y="2487850"/>
            <a:ext cx="172350" cy="285750"/>
          </a:xfrm>
          <a:custGeom>
            <a:rect l="l" t="t" r="r" b="b"/>
            <a:pathLst>
              <a:path w="6893" h="11430" extrusionOk="0">
                <a:moveTo>
                  <a:pt x="6894" y="11430"/>
                </a:moveTo>
                <a:cubicBezTo>
                  <a:pt x="6894" y="6981"/>
                  <a:pt x="3622" y="2584"/>
                  <a:pt x="0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050" name="Google Shape;1050;p78"/>
          <p:cNvSpPr/>
          <p:nvPr/>
        </p:nvSpPr>
        <p:spPr>
          <a:xfrm>
            <a:off x="3406998" y="2485575"/>
            <a:ext cx="71900" cy="276675"/>
          </a:xfrm>
          <a:custGeom>
            <a:rect l="l" t="t" r="r" b="b"/>
            <a:pathLst>
              <a:path w="2876" h="11067" extrusionOk="0">
                <a:moveTo>
                  <a:pt x="2876" y="0"/>
                </a:moveTo>
                <a:cubicBezTo>
                  <a:pt x="187" y="2684"/>
                  <a:pt x="-262" y="7291"/>
                  <a:pt x="154" y="110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grpSp>
        <p:nvGrpSpPr>
          <p:cNvPr id="1051" name="Google Shape;1051;p78"/>
          <p:cNvGrpSpPr/>
          <p:nvPr/>
        </p:nvGrpSpPr>
        <p:grpSpPr>
          <a:xfrm>
            <a:off x="5622175" y="3201047"/>
            <a:ext cx="3037484" cy="1116618"/>
            <a:chOff x="5524225" y="1567397"/>
            <a:chExt cx="3037484" cy="1116618"/>
          </a:xfrm>
        </p:grpSpPr>
        <p:pic>
          <p:nvPicPr>
            <p:cNvPr id="1052" name="Google Shape;1052;p7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524225" y="1677525"/>
              <a:ext cx="3037484" cy="964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3" name="Google Shape;1053;p78"/>
            <p:cNvSpPr/>
            <p:nvPr/>
          </p:nvSpPr>
          <p:spPr>
            <a:xfrm>
              <a:off x="7443100" y="1812025"/>
              <a:ext cx="374200" cy="75100"/>
            </a:xfrm>
            <a:custGeom>
              <a:rect l="l" t="t" r="r" b="b"/>
              <a:pathLst>
                <a:path w="14967" h="3004" extrusionOk="0">
                  <a:moveTo>
                    <a:pt x="0" y="0"/>
                  </a:moveTo>
                  <a:cubicBezTo>
                    <a:pt x="3836" y="3195"/>
                    <a:pt x="12069" y="4517"/>
                    <a:pt x="14968" y="453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1054" name="Google Shape;1054;p78"/>
            <p:cNvSpPr/>
            <p:nvPr/>
          </p:nvSpPr>
          <p:spPr>
            <a:xfrm rot="9338071" flipH="1">
              <a:off x="5534602" y="2016820"/>
              <a:ext cx="2192991" cy="65864"/>
            </a:xfrm>
            <a:custGeom>
              <a:rect l="l" t="t" r="r" b="b"/>
              <a:pathLst>
                <a:path w="82006" h="36406" extrusionOk="0">
                  <a:moveTo>
                    <a:pt x="0" y="36406"/>
                  </a:moveTo>
                  <a:cubicBezTo>
                    <a:pt x="11595" y="35041"/>
                    <a:pt x="21631" y="27509"/>
                    <a:pt x="31931" y="22013"/>
                  </a:cubicBezTo>
                  <a:cubicBezTo>
                    <a:pt x="48017" y="13429"/>
                    <a:pt x="65247" y="7182"/>
                    <a:pt x="82006" y="0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/>
            <a:lstStyle/>
            <a:p/>
          </p:txBody>
        </p:sp>
        <p:sp>
          <p:nvSpPr>
            <p:cNvPr id="1055" name="Google Shape;1055;p78"/>
            <p:cNvSpPr/>
            <p:nvPr/>
          </p:nvSpPr>
          <p:spPr>
            <a:xfrm>
              <a:off x="6775125" y="2039525"/>
              <a:ext cx="71898" cy="96875"/>
            </a:xfrm>
            <a:custGeom>
              <a:rect l="l" t="t" r="r" b="b"/>
              <a:pathLst>
                <a:path w="2583" h="2583" extrusionOk="0">
                  <a:moveTo>
                    <a:pt x="0" y="0"/>
                  </a:moveTo>
                  <a:cubicBezTo>
                    <a:pt x="1013" y="675"/>
                    <a:pt x="1721" y="1723"/>
                    <a:pt x="2583" y="2583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1056" name="Google Shape;1056;p78"/>
            <p:cNvSpPr/>
            <p:nvPr/>
          </p:nvSpPr>
          <p:spPr>
            <a:xfrm rot="2481089">
              <a:off x="7176600" y="2575464"/>
              <a:ext cx="71898" cy="96876"/>
            </a:xfrm>
            <a:custGeom>
              <a:rect l="l" t="t" r="r" b="b"/>
              <a:pathLst>
                <a:path w="2583" h="2583" extrusionOk="0">
                  <a:moveTo>
                    <a:pt x="0" y="0"/>
                  </a:moveTo>
                  <a:cubicBezTo>
                    <a:pt x="1013" y="675"/>
                    <a:pt x="1721" y="1723"/>
                    <a:pt x="2583" y="2583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sp>
        <p:nvSpPr>
          <p:cNvPr id="1057" name="Google Shape;1057;p78"/>
          <p:cNvSpPr/>
          <p:nvPr/>
        </p:nvSpPr>
        <p:spPr>
          <a:xfrm>
            <a:off x="1770475" y="3729275"/>
            <a:ext cx="102225" cy="226025"/>
          </a:xfrm>
          <a:custGeom>
            <a:rect l="l" t="t" r="r" b="b"/>
            <a:pathLst>
              <a:path w="4089" h="9041" extrusionOk="0">
                <a:moveTo>
                  <a:pt x="0" y="0"/>
                </a:moveTo>
                <a:cubicBezTo>
                  <a:pt x="3308" y="0"/>
                  <a:pt x="4089" y="5733"/>
                  <a:pt x="4089" y="9041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058" name="Google Shape;1058;p78"/>
          <p:cNvSpPr/>
          <p:nvPr/>
        </p:nvSpPr>
        <p:spPr>
          <a:xfrm>
            <a:off x="3645872" y="4377722"/>
            <a:ext cx="91475" cy="166825"/>
          </a:xfrm>
          <a:custGeom>
            <a:rect l="l" t="t" r="r" b="b"/>
            <a:pathLst>
              <a:path w="3659" h="6673" extrusionOk="0">
                <a:moveTo>
                  <a:pt x="3659" y="0"/>
                </a:moveTo>
                <a:cubicBezTo>
                  <a:pt x="1865" y="1794"/>
                  <a:pt x="0" y="4136"/>
                  <a:pt x="0" y="6673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grpSp>
        <p:nvGrpSpPr>
          <p:cNvPr id="1059" name="Google Shape;1059;p78"/>
          <p:cNvGrpSpPr/>
          <p:nvPr/>
        </p:nvGrpSpPr>
        <p:grpSpPr>
          <a:xfrm>
            <a:off x="5664550" y="1537950"/>
            <a:ext cx="2952750" cy="875858"/>
            <a:chOff x="5736175" y="3493800"/>
            <a:chExt cx="2952750" cy="875858"/>
          </a:xfrm>
        </p:grpSpPr>
        <p:pic>
          <p:nvPicPr>
            <p:cNvPr id="1060" name="Google Shape;1060;p7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736175" y="3493800"/>
              <a:ext cx="2952750" cy="8262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1" name="Google Shape;1061;p78"/>
            <p:cNvSpPr/>
            <p:nvPr/>
          </p:nvSpPr>
          <p:spPr>
            <a:xfrm>
              <a:off x="7774250" y="4014475"/>
              <a:ext cx="394631" cy="226035"/>
            </a:xfrm>
            <a:custGeom>
              <a:rect l="l" t="t" r="r" b="b"/>
              <a:pathLst>
                <a:path w="22602" h="12355" extrusionOk="0">
                  <a:moveTo>
                    <a:pt x="0" y="12355"/>
                  </a:moveTo>
                  <a:cubicBezTo>
                    <a:pt x="947" y="8886"/>
                    <a:pt x="2240" y="4975"/>
                    <a:pt x="5166" y="2884"/>
                  </a:cubicBezTo>
                  <a:cubicBezTo>
                    <a:pt x="9896" y="-496"/>
                    <a:pt x="19375" y="-1521"/>
                    <a:pt x="22602" y="3315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1062" name="Google Shape;1062;p78"/>
            <p:cNvSpPr/>
            <p:nvPr/>
          </p:nvSpPr>
          <p:spPr>
            <a:xfrm>
              <a:off x="5828000" y="4302032"/>
              <a:ext cx="2184850" cy="67625"/>
            </a:xfrm>
            <a:custGeom>
              <a:rect l="l" t="t" r="r" b="b"/>
              <a:pathLst>
                <a:path w="87394" h="2705" extrusionOk="0">
                  <a:moveTo>
                    <a:pt x="0" y="2705"/>
                  </a:moveTo>
                  <a:cubicBezTo>
                    <a:pt x="20962" y="2705"/>
                    <a:pt x="41893" y="768"/>
                    <a:pt x="62855" y="768"/>
                  </a:cubicBezTo>
                  <a:cubicBezTo>
                    <a:pt x="71035" y="768"/>
                    <a:pt x="79458" y="-999"/>
                    <a:pt x="87394" y="983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/>
            <a:lstStyle/>
            <a:p/>
          </p:txBody>
        </p:sp>
      </p:grpSp>
      <p:sp>
        <p:nvSpPr>
          <p:cNvPr id="1063" name="Google Shape;1063;p78"/>
          <p:cNvSpPr txBox="1"/>
          <p:nvPr/>
        </p:nvSpPr>
        <p:spPr>
          <a:xfrm>
            <a:off x="2084025" y="2365275"/>
            <a:ext cx="37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78"/>
          <p:cNvSpPr txBox="1"/>
          <p:nvPr/>
        </p:nvSpPr>
        <p:spPr>
          <a:xfrm>
            <a:off x="2948549" y="2434325"/>
            <a:ext cx="457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59°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78"/>
          <p:cNvSpPr txBox="1"/>
          <p:nvPr/>
        </p:nvSpPr>
        <p:spPr>
          <a:xfrm>
            <a:off x="7577025" y="1789325"/>
            <a:ext cx="49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133°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78"/>
          <p:cNvSpPr txBox="1"/>
          <p:nvPr/>
        </p:nvSpPr>
        <p:spPr>
          <a:xfrm>
            <a:off x="7528900" y="3546550"/>
            <a:ext cx="49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8"/>
          <p:cNvSpPr txBox="1"/>
          <p:nvPr/>
        </p:nvSpPr>
        <p:spPr>
          <a:xfrm>
            <a:off x="1872700" y="3641400"/>
            <a:ext cx="49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8"/>
          <p:cNvSpPr txBox="1"/>
          <p:nvPr/>
        </p:nvSpPr>
        <p:spPr>
          <a:xfrm>
            <a:off x="3115988" y="4131277"/>
            <a:ext cx="49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78"/>
          <p:cNvSpPr txBox="1"/>
          <p:nvPr/>
        </p:nvSpPr>
        <p:spPr>
          <a:xfrm>
            <a:off x="2458124" y="2910775"/>
            <a:ext cx="63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8"/>
          <p:cNvSpPr txBox="1"/>
          <p:nvPr/>
        </p:nvSpPr>
        <p:spPr>
          <a:xfrm>
            <a:off x="6538600" y="2365275"/>
            <a:ext cx="72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9.2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78"/>
          <p:cNvSpPr txBox="1"/>
          <p:nvPr/>
        </p:nvSpPr>
        <p:spPr>
          <a:xfrm>
            <a:off x="6094575" y="3338250"/>
            <a:ext cx="93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87 mm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2" name="Google Shape;1072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93621" y="176373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29158" y="43176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78"/>
          <p:cNvSpPr/>
          <p:nvPr/>
        </p:nvSpPr>
        <p:spPr>
          <a:xfrm>
            <a:off x="1860737" y="2838510"/>
            <a:ext cx="1907374" cy="50678"/>
          </a:xfrm>
          <a:custGeom>
            <a:rect l="l" t="t" r="r" b="b"/>
            <a:pathLst>
              <a:path w="87394" h="2705" extrusionOk="0">
                <a:moveTo>
                  <a:pt x="0" y="2705"/>
                </a:moveTo>
                <a:cubicBezTo>
                  <a:pt x="20962" y="2705"/>
                  <a:pt x="41893" y="768"/>
                  <a:pt x="62855" y="768"/>
                </a:cubicBezTo>
                <a:cubicBezTo>
                  <a:pt x="71035" y="768"/>
                  <a:pt x="79458" y="-999"/>
                  <a:pt x="87394" y="983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/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8" name="Shape 1078"/>
        <p:cNvGrpSpPr/>
        <p:nvPr/>
      </p:nvGrpSpPr>
      <p:grpSpPr>
        <a:xfrm>
          <a:off x="0" y="0"/>
          <a:ext cx="0" cy="0"/>
        </a:xfrm>
      </p:grpSpPr>
      <p:sp>
        <p:nvSpPr>
          <p:cNvPr id="1079" name="Google Shape;1079;p79"/>
          <p:cNvSpPr txBox="1"/>
          <p:nvPr>
            <p:ph type="body" idx="1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1) Construct the following triangles: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a) Triangle ABC, where AB = 7.5 cm, ∠CAB = 54° and ∠ABC = 47°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b) Triangle DEF, where ∠DEF = 67°, ∠EFD = 25° and EF = 8.2 cm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c) Triangle GHI, where GH = 7.1 cm, ∠GHI = 113° and ∠HIG = 42°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d) Triangle JKL, where ∠JKL = 38°, JL = 5.6 cm and KJ = KL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/>
          </a:p>
        </p:txBody>
      </p:sp>
      <p:sp>
        <p:nvSpPr>
          <p:cNvPr id="1080" name="Google Shape;1080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4" name="Shape 1084"/>
        <p:cNvGrpSpPr/>
        <p:nvPr/>
      </p:nvGrpSpPr>
      <p:grpSpPr>
        <a:xfrm>
          <a:off x="0" y="0"/>
          <a:ext cx="0" cy="0"/>
        </a:xfrm>
      </p:grpSpPr>
      <p:sp>
        <p:nvSpPr>
          <p:cNvPr id="1085" name="Google Shape;1085;p80"/>
          <p:cNvSpPr txBox="1"/>
          <p:nvPr>
            <p:ph type="body" idx="1"/>
          </p:nvPr>
        </p:nvSpPr>
        <p:spPr>
          <a:xfrm>
            <a:off x="324000" y="759300"/>
            <a:ext cx="8237700" cy="9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1) Construct the following triangles: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a) Triangle ABC, where AB = 7.5 cm, ∠CAB = 54° and ∠ABC = 47°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086" name="Google Shape;1086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pic>
        <p:nvPicPr>
          <p:cNvPr id="1087" name="Google Shape;1087;p80"/>
          <p:cNvPicPr preferRelativeResize="0"/>
          <p:nvPr/>
        </p:nvPicPr>
        <p:blipFill>
          <a:blip r:embed="rId3">
            <a:alphaModFix/>
          </a:blip>
          <a:srcRect t="10770"/>
          <a:stretch>
            <a:fillRect/>
          </a:stretch>
        </p:blipFill>
        <p:spPr>
          <a:xfrm>
            <a:off x="2364650" y="1820350"/>
            <a:ext cx="3783300" cy="2789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80"/>
          <p:cNvSpPr txBox="1"/>
          <p:nvPr>
            <p:ph type="body" idx="1"/>
          </p:nvPr>
        </p:nvSpPr>
        <p:spPr>
          <a:xfrm>
            <a:off x="2813681" y="4091400"/>
            <a:ext cx="266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089" name="Google Shape;1089;p80"/>
          <p:cNvSpPr txBox="1"/>
          <p:nvPr>
            <p:ph type="body" idx="1"/>
          </p:nvPr>
        </p:nvSpPr>
        <p:spPr>
          <a:xfrm>
            <a:off x="5641350" y="4091400"/>
            <a:ext cx="266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090" name="Google Shape;1090;p80"/>
          <p:cNvSpPr txBox="1"/>
          <p:nvPr>
            <p:ph type="body" idx="1"/>
          </p:nvPr>
        </p:nvSpPr>
        <p:spPr>
          <a:xfrm>
            <a:off x="4062503" y="2311848"/>
            <a:ext cx="266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091" name="Google Shape;1091;p80"/>
          <p:cNvSpPr txBox="1"/>
          <p:nvPr>
            <p:ph type="body" idx="1"/>
          </p:nvPr>
        </p:nvSpPr>
        <p:spPr>
          <a:xfrm>
            <a:off x="3900450" y="4491619"/>
            <a:ext cx="839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7.5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092" name="Google Shape;1092;p80"/>
          <p:cNvSpPr txBox="1"/>
          <p:nvPr>
            <p:ph type="body" idx="1"/>
          </p:nvPr>
        </p:nvSpPr>
        <p:spPr>
          <a:xfrm>
            <a:off x="3540419" y="3803844"/>
            <a:ext cx="4626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54°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093" name="Google Shape;1093;p80"/>
          <p:cNvSpPr txBox="1"/>
          <p:nvPr>
            <p:ph type="body" idx="1"/>
          </p:nvPr>
        </p:nvSpPr>
        <p:spPr>
          <a:xfrm>
            <a:off x="4703994" y="3815756"/>
            <a:ext cx="4626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47°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cxnSp>
        <p:nvCxnSpPr>
          <p:cNvPr id="1094" name="Google Shape;1094;p80"/>
          <p:cNvCxnSpPr/>
          <p:nvPr/>
        </p:nvCxnSpPr>
        <p:spPr>
          <a:xfrm>
            <a:off x="3079786" y="4378226"/>
            <a:ext cx="2444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95" name="Google Shape;1095;p80"/>
          <p:cNvSpPr txBox="1"/>
          <p:nvPr>
            <p:ph type="body" idx="1"/>
          </p:nvPr>
        </p:nvSpPr>
        <p:spPr>
          <a:xfrm>
            <a:off x="5907450" y="2311850"/>
            <a:ext cx="25578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you measure </a:t>
            </a:r>
            <a:r>
              <a:rPr lang="en-GB" sz="2000"/>
              <a:t>∠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ACB it should be 79° and BC should be 6.2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9" name="Shape 1099"/>
        <p:cNvGrpSpPr/>
        <p:nvPr/>
      </p:nvGrpSpPr>
      <p:grpSpPr>
        <a:xfrm>
          <a:off x="0" y="0"/>
          <a:ext cx="0" cy="0"/>
        </a:xfrm>
      </p:grpSpPr>
      <p:sp>
        <p:nvSpPr>
          <p:cNvPr id="1100" name="Google Shape;1100;p81"/>
          <p:cNvSpPr txBox="1"/>
          <p:nvPr>
            <p:ph type="body" idx="1"/>
          </p:nvPr>
        </p:nvSpPr>
        <p:spPr>
          <a:xfrm>
            <a:off x="324000" y="759300"/>
            <a:ext cx="8237700" cy="93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1) Construct the following triangles: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b) Triangle DEF, where ∠DEF = 67°, ∠EFD = 25° and EF = 8.2 cm</a:t>
            </a:r>
            <a:endParaRPr sz="2000"/>
          </a:p>
        </p:txBody>
      </p:sp>
      <p:sp>
        <p:nvSpPr>
          <p:cNvPr id="1101" name="Google Shape;1101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pic>
        <p:nvPicPr>
          <p:cNvPr id="1102" name="Google Shape;110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7813" y="2033650"/>
            <a:ext cx="4030069" cy="234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81"/>
          <p:cNvSpPr txBox="1"/>
          <p:nvPr>
            <p:ph type="body" idx="1"/>
          </p:nvPr>
        </p:nvSpPr>
        <p:spPr>
          <a:xfrm>
            <a:off x="2933581" y="3824950"/>
            <a:ext cx="266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04" name="Google Shape;1104;p81"/>
          <p:cNvSpPr txBox="1"/>
          <p:nvPr>
            <p:ph type="body" idx="1"/>
          </p:nvPr>
        </p:nvSpPr>
        <p:spPr>
          <a:xfrm>
            <a:off x="6123750" y="3780000"/>
            <a:ext cx="266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05" name="Google Shape;1105;p81"/>
          <p:cNvSpPr txBox="1"/>
          <p:nvPr>
            <p:ph type="body" idx="1"/>
          </p:nvPr>
        </p:nvSpPr>
        <p:spPr>
          <a:xfrm>
            <a:off x="3509653" y="2445073"/>
            <a:ext cx="266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06" name="Google Shape;1106;p81"/>
          <p:cNvSpPr txBox="1"/>
          <p:nvPr>
            <p:ph type="body" idx="1"/>
          </p:nvPr>
        </p:nvSpPr>
        <p:spPr>
          <a:xfrm>
            <a:off x="4242162" y="4111794"/>
            <a:ext cx="839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8.2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07" name="Google Shape;1107;p81"/>
          <p:cNvSpPr txBox="1"/>
          <p:nvPr>
            <p:ph type="body" idx="1"/>
          </p:nvPr>
        </p:nvSpPr>
        <p:spPr>
          <a:xfrm>
            <a:off x="3599894" y="3472919"/>
            <a:ext cx="4626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67°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08" name="Google Shape;1108;p81"/>
          <p:cNvSpPr txBox="1"/>
          <p:nvPr>
            <p:ph type="body" idx="1"/>
          </p:nvPr>
        </p:nvSpPr>
        <p:spPr>
          <a:xfrm>
            <a:off x="5068529" y="3671467"/>
            <a:ext cx="4626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cxnSp>
        <p:nvCxnSpPr>
          <p:cNvPr id="1109" name="Google Shape;1109;p81"/>
          <p:cNvCxnSpPr/>
          <p:nvPr/>
        </p:nvCxnSpPr>
        <p:spPr>
          <a:xfrm>
            <a:off x="3173036" y="4111801"/>
            <a:ext cx="2934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10" name="Google Shape;1110;p81"/>
          <p:cNvSpPr txBox="1"/>
          <p:nvPr>
            <p:ph type="body" idx="1"/>
          </p:nvPr>
        </p:nvSpPr>
        <p:spPr>
          <a:xfrm>
            <a:off x="5907450" y="2311850"/>
            <a:ext cx="25578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you measure </a:t>
            </a:r>
            <a:r>
              <a:rPr lang="en-GB" sz="2000"/>
              <a:t>∠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EDF it should be 88° and DE should be 3.5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4" name="Shape 1114"/>
        <p:cNvGrpSpPr/>
        <p:nvPr/>
      </p:nvGrpSpPr>
      <p:grpSpPr>
        <a:xfrm>
          <a:off x="0" y="0"/>
          <a:ext cx="0" cy="0"/>
        </a:xfrm>
      </p:grpSpPr>
      <p:sp>
        <p:nvSpPr>
          <p:cNvPr id="1115" name="Google Shape;1115;p82"/>
          <p:cNvSpPr txBox="1"/>
          <p:nvPr>
            <p:ph type="body" idx="1"/>
          </p:nvPr>
        </p:nvSpPr>
        <p:spPr>
          <a:xfrm>
            <a:off x="324000" y="759300"/>
            <a:ext cx="8237700" cy="9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1) Construct the following triangles: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c) Triangle GHI, where GH = 7.1 cm, ∠GHI = 113° and ∠HIG = 42°</a:t>
            </a:r>
            <a:endParaRPr sz="2000"/>
          </a:p>
        </p:txBody>
      </p:sp>
      <p:sp>
        <p:nvSpPr>
          <p:cNvPr id="1116" name="Google Shape;1116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pic>
        <p:nvPicPr>
          <p:cNvPr id="1117" name="Google Shape;111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525" y="1927025"/>
            <a:ext cx="4671600" cy="262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82"/>
          <p:cNvSpPr txBox="1"/>
          <p:nvPr>
            <p:ph type="body" idx="1"/>
          </p:nvPr>
        </p:nvSpPr>
        <p:spPr>
          <a:xfrm>
            <a:off x="3976056" y="3855725"/>
            <a:ext cx="266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19" name="Google Shape;1119;p82"/>
          <p:cNvSpPr txBox="1"/>
          <p:nvPr>
            <p:ph type="body" idx="1"/>
          </p:nvPr>
        </p:nvSpPr>
        <p:spPr>
          <a:xfrm>
            <a:off x="938128" y="3855723"/>
            <a:ext cx="266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20" name="Google Shape;1120;p82"/>
          <p:cNvSpPr txBox="1"/>
          <p:nvPr>
            <p:ph type="body" idx="1"/>
          </p:nvPr>
        </p:nvSpPr>
        <p:spPr>
          <a:xfrm>
            <a:off x="2273762" y="4238519"/>
            <a:ext cx="839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7.1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21" name="Google Shape;1121;p82"/>
          <p:cNvSpPr txBox="1"/>
          <p:nvPr>
            <p:ph type="body" idx="1"/>
          </p:nvPr>
        </p:nvSpPr>
        <p:spPr>
          <a:xfrm>
            <a:off x="1955769" y="3722935"/>
            <a:ext cx="4626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cxnSp>
        <p:nvCxnSpPr>
          <p:cNvPr id="1122" name="Google Shape;1122;p82"/>
          <p:cNvCxnSpPr/>
          <p:nvPr/>
        </p:nvCxnSpPr>
        <p:spPr>
          <a:xfrm>
            <a:off x="1204236" y="4179676"/>
            <a:ext cx="2694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23" name="Google Shape;1123;p82"/>
          <p:cNvSpPr txBox="1"/>
          <p:nvPr>
            <p:ph type="body" idx="1"/>
          </p:nvPr>
        </p:nvSpPr>
        <p:spPr>
          <a:xfrm>
            <a:off x="5907450" y="2311850"/>
            <a:ext cx="25578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you measure GI it should be 9.8 cm and HI should be 4.5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24" name="Google Shape;1124;p82"/>
          <p:cNvSpPr txBox="1"/>
          <p:nvPr>
            <p:ph type="body" idx="1"/>
          </p:nvPr>
        </p:nvSpPr>
        <p:spPr>
          <a:xfrm>
            <a:off x="3254519" y="3397210"/>
            <a:ext cx="4626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113°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25" name="Google Shape;1125;p82"/>
          <p:cNvSpPr txBox="1"/>
          <p:nvPr>
            <p:ph type="body" idx="1"/>
          </p:nvPr>
        </p:nvSpPr>
        <p:spPr>
          <a:xfrm>
            <a:off x="3840085" y="2848228"/>
            <a:ext cx="4626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26" name="Google Shape;1126;p82"/>
          <p:cNvSpPr txBox="1"/>
          <p:nvPr>
            <p:ph type="body" idx="1"/>
          </p:nvPr>
        </p:nvSpPr>
        <p:spPr>
          <a:xfrm>
            <a:off x="4392756" y="2160000"/>
            <a:ext cx="266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0" name="Shape 1130"/>
        <p:cNvGrpSpPr/>
        <p:nvPr/>
      </p:nvGrpSpPr>
      <p:grpSpPr>
        <a:xfrm>
          <a:off x="0" y="0"/>
          <a:ext cx="0" cy="0"/>
        </a:xfrm>
      </p:grpSpPr>
      <p:sp>
        <p:nvSpPr>
          <p:cNvPr id="1131" name="Google Shape;1131;p83"/>
          <p:cNvSpPr txBox="1"/>
          <p:nvPr>
            <p:ph type="body" idx="1"/>
          </p:nvPr>
        </p:nvSpPr>
        <p:spPr>
          <a:xfrm>
            <a:off x="324000" y="759300"/>
            <a:ext cx="8237700" cy="90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1) Construct the following triangles: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d) Triangle JKL, where ∠JKL = 38°, JL = 5.6 cm and KJ = KL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32" name="Google Shape;1132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</a:t>
            </a:r>
            <a:endParaRPr/>
          </a:p>
        </p:txBody>
      </p:sp>
      <p:pic>
        <p:nvPicPr>
          <p:cNvPr id="1133" name="Google Shape;113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161" y="1814238"/>
            <a:ext cx="2144075" cy="2851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83"/>
          <p:cNvSpPr txBox="1"/>
          <p:nvPr>
            <p:ph type="body" idx="1"/>
          </p:nvPr>
        </p:nvSpPr>
        <p:spPr>
          <a:xfrm>
            <a:off x="3544987" y="4238523"/>
            <a:ext cx="266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35" name="Google Shape;1135;p83"/>
          <p:cNvSpPr txBox="1"/>
          <p:nvPr>
            <p:ph type="body" idx="1"/>
          </p:nvPr>
        </p:nvSpPr>
        <p:spPr>
          <a:xfrm>
            <a:off x="4033339" y="4529273"/>
            <a:ext cx="839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5.6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36" name="Google Shape;1136;p83"/>
          <p:cNvSpPr txBox="1"/>
          <p:nvPr>
            <p:ph type="body" idx="1"/>
          </p:nvPr>
        </p:nvSpPr>
        <p:spPr>
          <a:xfrm>
            <a:off x="4221565" y="2940889"/>
            <a:ext cx="4626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38°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cxnSp>
        <p:nvCxnSpPr>
          <p:cNvPr id="1137" name="Google Shape;1137;p83"/>
          <p:cNvCxnSpPr/>
          <p:nvPr/>
        </p:nvCxnSpPr>
        <p:spPr>
          <a:xfrm>
            <a:off x="3783911" y="4529276"/>
            <a:ext cx="1317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38" name="Google Shape;1138;p83"/>
          <p:cNvSpPr txBox="1"/>
          <p:nvPr>
            <p:ph type="body" idx="1"/>
          </p:nvPr>
        </p:nvSpPr>
        <p:spPr>
          <a:xfrm>
            <a:off x="5907450" y="2311850"/>
            <a:ext cx="25578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you measure KJ and KL they should both be 8.6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39" name="Google Shape;1139;p83"/>
          <p:cNvSpPr txBox="1"/>
          <p:nvPr>
            <p:ph type="body" idx="1"/>
          </p:nvPr>
        </p:nvSpPr>
        <p:spPr>
          <a:xfrm>
            <a:off x="5206128" y="4238523"/>
            <a:ext cx="266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40" name="Google Shape;1140;p83"/>
          <p:cNvSpPr txBox="1"/>
          <p:nvPr>
            <p:ph type="body" idx="1"/>
          </p:nvPr>
        </p:nvSpPr>
        <p:spPr>
          <a:xfrm>
            <a:off x="4349908" y="1874298"/>
            <a:ext cx="266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K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41" name="Google Shape;1141;p83"/>
          <p:cNvSpPr txBox="1"/>
          <p:nvPr>
            <p:ph type="body" idx="1"/>
          </p:nvPr>
        </p:nvSpPr>
        <p:spPr>
          <a:xfrm>
            <a:off x="3956870" y="4027742"/>
            <a:ext cx="4626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71°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5" name="Shape 1145"/>
        <p:cNvGrpSpPr/>
        <p:nvPr/>
      </p:nvGrpSpPr>
      <p:grpSpPr>
        <a:xfrm>
          <a:off x="0" y="0"/>
          <a:ext cx="0" cy="0"/>
        </a:xfrm>
      </p:grpSpPr>
      <p:sp>
        <p:nvSpPr>
          <p:cNvPr id="1146" name="Google Shape;1146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triangles </a:t>
            </a:r>
            <a:endParaRPr/>
          </a:p>
        </p:txBody>
      </p:sp>
      <p:sp>
        <p:nvSpPr>
          <p:cNvPr id="1147" name="Google Shape;1147;p84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  <p:sp>
        <p:nvSpPr>
          <p:cNvPr id="1148" name="Google Shape;1148;p84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(ASA and AAS)</a:t>
            </a:r>
            <a:endParaRPr/>
          </a:p>
        </p:txBody>
      </p:sp>
      <p:pic>
        <p:nvPicPr>
          <p:cNvPr id="1149" name="Google Shape;114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33" y="298789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3" name="Shape 1153"/>
        <p:cNvGrpSpPr/>
        <p:nvPr/>
      </p:nvGrpSpPr>
      <p:grpSpPr>
        <a:xfrm>
          <a:off x="0" y="0"/>
          <a:ext cx="0" cy="0"/>
        </a:xfrm>
      </p:grpSpPr>
      <p:sp>
        <p:nvSpPr>
          <p:cNvPr id="1154" name="Google Shape;1154;p85"/>
          <p:cNvSpPr/>
          <p:nvPr/>
        </p:nvSpPr>
        <p:spPr>
          <a:xfrm>
            <a:off x="624700" y="2191025"/>
            <a:ext cx="1874950" cy="969775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155" name="Google Shape;1155;p85"/>
          <p:cNvSpPr/>
          <p:nvPr/>
        </p:nvSpPr>
        <p:spPr>
          <a:xfrm>
            <a:off x="803025" y="1930700"/>
            <a:ext cx="569100" cy="569100"/>
          </a:xfrm>
          <a:prstGeom prst="arc">
            <a:avLst>
              <a:gd name="adj1" fmla="val 1820737"/>
              <a:gd name="adj2" fmla="val 6889323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85"/>
          <p:cNvSpPr/>
          <p:nvPr/>
        </p:nvSpPr>
        <p:spPr>
          <a:xfrm>
            <a:off x="-18000" y="2776700"/>
            <a:ext cx="1044900" cy="10449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85"/>
          <p:cNvSpPr txBox="1"/>
          <p:nvPr>
            <p:ph type="body" idx="1"/>
          </p:nvPr>
        </p:nvSpPr>
        <p:spPr>
          <a:xfrm>
            <a:off x="324000" y="759300"/>
            <a:ext cx="8237700" cy="83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Two triangles can be shown to be congruent if all corresponding edges are the same.</a:t>
            </a:r>
            <a:endParaRPr sz="1800"/>
          </a:p>
        </p:txBody>
      </p:sp>
      <p:sp>
        <p:nvSpPr>
          <p:cNvPr id="1158" name="Google Shape;1158;p85"/>
          <p:cNvSpPr txBox="1"/>
          <p:nvPr>
            <p:ph type="body" idx="1"/>
          </p:nvPr>
        </p:nvSpPr>
        <p:spPr>
          <a:xfrm>
            <a:off x="324000" y="1541925"/>
            <a:ext cx="8237700" cy="36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three edges of the triangle, fix the interior angles as well. </a:t>
            </a:r>
            <a:endParaRPr sz="1800"/>
          </a:p>
        </p:txBody>
      </p:sp>
      <p:sp>
        <p:nvSpPr>
          <p:cNvPr id="1159" name="Google Shape;1159;p85"/>
          <p:cNvSpPr/>
          <p:nvPr/>
        </p:nvSpPr>
        <p:spPr>
          <a:xfrm>
            <a:off x="2038186" y="2707191"/>
            <a:ext cx="874500" cy="8745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5"/>
          <p:cNvSpPr txBox="1"/>
          <p:nvPr/>
        </p:nvSpPr>
        <p:spPr>
          <a:xfrm>
            <a:off x="958275" y="18828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5"/>
          <p:cNvSpPr txBox="1"/>
          <p:nvPr/>
        </p:nvSpPr>
        <p:spPr>
          <a:xfrm>
            <a:off x="375150" y="31014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5"/>
          <p:cNvSpPr txBox="1"/>
          <p:nvPr/>
        </p:nvSpPr>
        <p:spPr>
          <a:xfrm>
            <a:off x="2574900" y="31014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5"/>
          <p:cNvSpPr txBox="1"/>
          <p:nvPr/>
        </p:nvSpPr>
        <p:spPr>
          <a:xfrm>
            <a:off x="666550" y="24178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4" name="Google Shape;1164;p85"/>
          <p:cNvSpPr txBox="1"/>
          <p:nvPr/>
        </p:nvSpPr>
        <p:spPr>
          <a:xfrm>
            <a:off x="1779575" y="230600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5" name="Google Shape;1165;p85"/>
          <p:cNvSpPr txBox="1"/>
          <p:nvPr/>
        </p:nvSpPr>
        <p:spPr>
          <a:xfrm>
            <a:off x="1432875" y="31452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6" name="Google Shape;1166;p85"/>
          <p:cNvSpPr/>
          <p:nvPr/>
        </p:nvSpPr>
        <p:spPr>
          <a:xfrm>
            <a:off x="-100102" y="2707684"/>
            <a:ext cx="1197300" cy="11973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85"/>
          <p:cNvSpPr/>
          <p:nvPr/>
        </p:nvSpPr>
        <p:spPr>
          <a:xfrm>
            <a:off x="1974976" y="2655028"/>
            <a:ext cx="969900" cy="9699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85"/>
          <p:cNvSpPr/>
          <p:nvPr/>
        </p:nvSpPr>
        <p:spPr>
          <a:xfrm>
            <a:off x="1910668" y="2602265"/>
            <a:ext cx="1070100" cy="10701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85"/>
          <p:cNvSpPr/>
          <p:nvPr/>
        </p:nvSpPr>
        <p:spPr>
          <a:xfrm>
            <a:off x="3291700" y="2191025"/>
            <a:ext cx="1874950" cy="969775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170" name="Google Shape;1170;p85"/>
          <p:cNvSpPr txBox="1"/>
          <p:nvPr/>
        </p:nvSpPr>
        <p:spPr>
          <a:xfrm>
            <a:off x="3333550" y="24178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1" name="Google Shape;1171;p85"/>
          <p:cNvSpPr txBox="1"/>
          <p:nvPr/>
        </p:nvSpPr>
        <p:spPr>
          <a:xfrm>
            <a:off x="4446575" y="230600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2" name="Google Shape;1172;p85"/>
          <p:cNvSpPr txBox="1"/>
          <p:nvPr/>
        </p:nvSpPr>
        <p:spPr>
          <a:xfrm>
            <a:off x="4099875" y="31452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73" name="Google Shape;1173;p85"/>
          <p:cNvCxnSpPr/>
          <p:nvPr/>
        </p:nvCxnSpPr>
        <p:spPr>
          <a:xfrm rot="10800000">
            <a:off x="2506825" y="2586125"/>
            <a:ext cx="6969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74" name="Google Shape;1174;p85"/>
          <p:cNvSpPr txBox="1"/>
          <p:nvPr>
            <p:ph type="body" idx="1"/>
          </p:nvPr>
        </p:nvSpPr>
        <p:spPr>
          <a:xfrm>
            <a:off x="324000" y="3734650"/>
            <a:ext cx="3996000" cy="36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converse is not true. The three angles do not fix the side lengths.</a:t>
            </a:r>
            <a:endParaRPr sz="1800"/>
          </a:p>
        </p:txBody>
      </p:sp>
      <p:sp>
        <p:nvSpPr>
          <p:cNvPr id="1175" name="Google Shape;1175;p85"/>
          <p:cNvSpPr/>
          <p:nvPr/>
        </p:nvSpPr>
        <p:spPr>
          <a:xfrm>
            <a:off x="5736988" y="2359338"/>
            <a:ext cx="2812425" cy="1454663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176" name="Google Shape;1176;p85"/>
          <p:cNvSpPr/>
          <p:nvPr/>
        </p:nvSpPr>
        <p:spPr>
          <a:xfrm>
            <a:off x="6144900" y="2085925"/>
            <a:ext cx="569100" cy="569100"/>
          </a:xfrm>
          <a:prstGeom prst="arc">
            <a:avLst>
              <a:gd name="adj1" fmla="val 1820737"/>
              <a:gd name="adj2" fmla="val 6889323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85"/>
          <p:cNvSpPr/>
          <p:nvPr/>
        </p:nvSpPr>
        <p:spPr>
          <a:xfrm>
            <a:off x="5085349" y="3430108"/>
            <a:ext cx="1044900" cy="10449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5"/>
          <p:cNvSpPr/>
          <p:nvPr/>
        </p:nvSpPr>
        <p:spPr>
          <a:xfrm>
            <a:off x="5003247" y="3361091"/>
            <a:ext cx="1197300" cy="11973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85"/>
          <p:cNvSpPr/>
          <p:nvPr/>
        </p:nvSpPr>
        <p:spPr>
          <a:xfrm>
            <a:off x="8122992" y="3374740"/>
            <a:ext cx="874500" cy="8745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85"/>
          <p:cNvSpPr/>
          <p:nvPr/>
        </p:nvSpPr>
        <p:spPr>
          <a:xfrm>
            <a:off x="8059781" y="3322577"/>
            <a:ext cx="969900" cy="9699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5"/>
          <p:cNvSpPr/>
          <p:nvPr/>
        </p:nvSpPr>
        <p:spPr>
          <a:xfrm>
            <a:off x="7995474" y="3269814"/>
            <a:ext cx="1070100" cy="10701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85"/>
          <p:cNvSpPr txBox="1"/>
          <p:nvPr/>
        </p:nvSpPr>
        <p:spPr>
          <a:xfrm>
            <a:off x="5821350" y="28333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kc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3" name="Google Shape;1183;p85"/>
          <p:cNvSpPr txBox="1"/>
          <p:nvPr/>
        </p:nvSpPr>
        <p:spPr>
          <a:xfrm>
            <a:off x="7516625" y="277670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kb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4" name="Google Shape;1184;p85"/>
          <p:cNvSpPr txBox="1"/>
          <p:nvPr/>
        </p:nvSpPr>
        <p:spPr>
          <a:xfrm>
            <a:off x="6968700" y="38058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5" name="Google Shape;1185;p85"/>
          <p:cNvSpPr txBox="1"/>
          <p:nvPr>
            <p:ph type="body" idx="1"/>
          </p:nvPr>
        </p:nvSpPr>
        <p:spPr>
          <a:xfrm>
            <a:off x="324000" y="4438300"/>
            <a:ext cx="6953100" cy="36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Enlargements will have the same angles.</a:t>
            </a:r>
            <a:endParaRPr sz="1800"/>
          </a:p>
        </p:txBody>
      </p:sp>
      <p:cxnSp>
        <p:nvCxnSpPr>
          <p:cNvPr id="1186" name="Google Shape;1186;p85"/>
          <p:cNvCxnSpPr>
            <a:endCxn id="1183" idx="1"/>
          </p:cNvCxnSpPr>
          <p:nvPr/>
        </p:nvCxnSpPr>
        <p:spPr>
          <a:xfrm>
            <a:off x="4705025" y="2459900"/>
            <a:ext cx="2811600" cy="4707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7" name="Google Shape;1187;p85"/>
          <p:cNvCxnSpPr>
            <a:endCxn id="1182" idx="1"/>
          </p:cNvCxnSpPr>
          <p:nvPr/>
        </p:nvCxnSpPr>
        <p:spPr>
          <a:xfrm>
            <a:off x="3485250" y="2584350"/>
            <a:ext cx="2336100" cy="4029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8" name="Google Shape;1188;p85"/>
          <p:cNvCxnSpPr>
            <a:endCxn id="1184" idx="1"/>
          </p:cNvCxnSpPr>
          <p:nvPr/>
        </p:nvCxnSpPr>
        <p:spPr>
          <a:xfrm>
            <a:off x="4286100" y="3345350"/>
            <a:ext cx="2682600" cy="6144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9" name="Google Shape;1189;p85"/>
          <p:cNvSpPr txBox="1"/>
          <p:nvPr/>
        </p:nvSpPr>
        <p:spPr>
          <a:xfrm>
            <a:off x="5821350" y="2349711"/>
            <a:ext cx="368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0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85"/>
          <p:cNvSpPr txBox="1"/>
          <p:nvPr/>
        </p:nvSpPr>
        <p:spPr>
          <a:xfrm>
            <a:off x="4602150" y="2502111"/>
            <a:ext cx="368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0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5"/>
          <p:cNvSpPr txBox="1"/>
          <p:nvPr/>
        </p:nvSpPr>
        <p:spPr>
          <a:xfrm>
            <a:off x="5440350" y="3340311"/>
            <a:ext cx="368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0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6" name="Shape 1196"/>
        <p:cNvGrpSpPr/>
        <p:nvPr/>
      </p:nvGrpSpPr>
      <p:grpSpPr>
        <a:xfrm>
          <a:off x="0" y="0"/>
          <a:ext cx="0" cy="0"/>
        </a:xfrm>
      </p:grpSpPr>
      <p:sp>
        <p:nvSpPr>
          <p:cNvPr id="1197" name="Google Shape;1197;p86"/>
          <p:cNvSpPr/>
          <p:nvPr/>
        </p:nvSpPr>
        <p:spPr>
          <a:xfrm>
            <a:off x="4129900" y="1657625"/>
            <a:ext cx="1874950" cy="969775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198" name="Google Shape;1198;p86"/>
          <p:cNvSpPr/>
          <p:nvPr/>
        </p:nvSpPr>
        <p:spPr>
          <a:xfrm>
            <a:off x="4308225" y="1397300"/>
            <a:ext cx="569100" cy="569100"/>
          </a:xfrm>
          <a:prstGeom prst="arc">
            <a:avLst>
              <a:gd name="adj1" fmla="val 1820737"/>
              <a:gd name="adj2" fmla="val 6889323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6"/>
          <p:cNvSpPr/>
          <p:nvPr/>
        </p:nvSpPr>
        <p:spPr>
          <a:xfrm>
            <a:off x="3487200" y="2243300"/>
            <a:ext cx="1044900" cy="10449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6"/>
          <p:cNvSpPr txBox="1"/>
          <p:nvPr>
            <p:ph type="body" idx="1"/>
          </p:nvPr>
        </p:nvSpPr>
        <p:spPr>
          <a:xfrm>
            <a:off x="324000" y="759300"/>
            <a:ext cx="8237700" cy="83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To be sure that the triangles are not only similar, at least one edge length needs to be known.</a:t>
            </a:r>
            <a:endParaRPr sz="1800"/>
          </a:p>
        </p:txBody>
      </p:sp>
      <p:sp>
        <p:nvSpPr>
          <p:cNvPr id="1201" name="Google Shape;1201;p86"/>
          <p:cNvSpPr/>
          <p:nvPr/>
        </p:nvSpPr>
        <p:spPr>
          <a:xfrm>
            <a:off x="5543386" y="2173791"/>
            <a:ext cx="874500" cy="8745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6"/>
          <p:cNvSpPr txBox="1"/>
          <p:nvPr/>
        </p:nvSpPr>
        <p:spPr>
          <a:xfrm>
            <a:off x="4463475" y="13494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86"/>
          <p:cNvSpPr txBox="1"/>
          <p:nvPr/>
        </p:nvSpPr>
        <p:spPr>
          <a:xfrm>
            <a:off x="3880350" y="25680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6"/>
          <p:cNvSpPr txBox="1"/>
          <p:nvPr/>
        </p:nvSpPr>
        <p:spPr>
          <a:xfrm>
            <a:off x="6080100" y="25680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6"/>
          <p:cNvSpPr txBox="1"/>
          <p:nvPr/>
        </p:nvSpPr>
        <p:spPr>
          <a:xfrm>
            <a:off x="4171750" y="18844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6" name="Google Shape;1206;p86"/>
          <p:cNvSpPr txBox="1"/>
          <p:nvPr/>
        </p:nvSpPr>
        <p:spPr>
          <a:xfrm>
            <a:off x="5284775" y="177260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7" name="Google Shape;1207;p86"/>
          <p:cNvSpPr txBox="1"/>
          <p:nvPr/>
        </p:nvSpPr>
        <p:spPr>
          <a:xfrm>
            <a:off x="4938075" y="26118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8" name="Google Shape;1208;p86"/>
          <p:cNvSpPr/>
          <p:nvPr/>
        </p:nvSpPr>
        <p:spPr>
          <a:xfrm>
            <a:off x="3405098" y="2174284"/>
            <a:ext cx="1197300" cy="11973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6"/>
          <p:cNvSpPr/>
          <p:nvPr/>
        </p:nvSpPr>
        <p:spPr>
          <a:xfrm>
            <a:off x="5480176" y="2121628"/>
            <a:ext cx="969900" cy="9699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86"/>
          <p:cNvSpPr/>
          <p:nvPr/>
        </p:nvSpPr>
        <p:spPr>
          <a:xfrm>
            <a:off x="5415868" y="2068865"/>
            <a:ext cx="1070100" cy="10701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6"/>
          <p:cNvSpPr/>
          <p:nvPr/>
        </p:nvSpPr>
        <p:spPr>
          <a:xfrm>
            <a:off x="6796900" y="1657625"/>
            <a:ext cx="1874950" cy="969775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212" name="Google Shape;1212;p86"/>
          <p:cNvSpPr txBox="1"/>
          <p:nvPr/>
        </p:nvSpPr>
        <p:spPr>
          <a:xfrm>
            <a:off x="6838750" y="18844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3" name="Google Shape;1213;p86"/>
          <p:cNvSpPr txBox="1"/>
          <p:nvPr/>
        </p:nvSpPr>
        <p:spPr>
          <a:xfrm>
            <a:off x="7951775" y="177260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4" name="Google Shape;1214;p86"/>
          <p:cNvSpPr txBox="1"/>
          <p:nvPr/>
        </p:nvSpPr>
        <p:spPr>
          <a:xfrm>
            <a:off x="7605075" y="26118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15" name="Google Shape;1215;p86"/>
          <p:cNvCxnSpPr/>
          <p:nvPr/>
        </p:nvCxnSpPr>
        <p:spPr>
          <a:xfrm rot="10800000">
            <a:off x="6012025" y="2052725"/>
            <a:ext cx="6969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6" name="Google Shape;1216;p86"/>
          <p:cNvSpPr txBox="1"/>
          <p:nvPr>
            <p:ph type="body" idx="1"/>
          </p:nvPr>
        </p:nvSpPr>
        <p:spPr>
          <a:xfrm>
            <a:off x="324000" y="3133775"/>
            <a:ext cx="8496000" cy="36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When two edges and the angle between them is known, the third edge is fixed, which in turn fixes the other two angles.</a:t>
            </a:r>
            <a:endParaRPr sz="1800"/>
          </a:p>
        </p:txBody>
      </p:sp>
      <p:sp>
        <p:nvSpPr>
          <p:cNvPr id="1217" name="Google Shape;1217;p86"/>
          <p:cNvSpPr/>
          <p:nvPr/>
        </p:nvSpPr>
        <p:spPr>
          <a:xfrm>
            <a:off x="1539100" y="1657625"/>
            <a:ext cx="1874950" cy="969775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218" name="Google Shape;1218;p86"/>
          <p:cNvSpPr/>
          <p:nvPr/>
        </p:nvSpPr>
        <p:spPr>
          <a:xfrm>
            <a:off x="896400" y="2243300"/>
            <a:ext cx="1044900" cy="10449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6"/>
          <p:cNvSpPr txBox="1"/>
          <p:nvPr/>
        </p:nvSpPr>
        <p:spPr>
          <a:xfrm>
            <a:off x="1289550" y="25680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6"/>
          <p:cNvSpPr txBox="1"/>
          <p:nvPr/>
        </p:nvSpPr>
        <p:spPr>
          <a:xfrm>
            <a:off x="1580950" y="18844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1" name="Google Shape;1221;p86"/>
          <p:cNvSpPr txBox="1"/>
          <p:nvPr/>
        </p:nvSpPr>
        <p:spPr>
          <a:xfrm>
            <a:off x="2347275" y="26118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2" name="Google Shape;1222;p86"/>
          <p:cNvSpPr/>
          <p:nvPr/>
        </p:nvSpPr>
        <p:spPr>
          <a:xfrm>
            <a:off x="814298" y="2174284"/>
            <a:ext cx="1197300" cy="11973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3" name="Google Shape;1223;p86"/>
          <p:cNvCxnSpPr/>
          <p:nvPr/>
        </p:nvCxnSpPr>
        <p:spPr>
          <a:xfrm>
            <a:off x="3216300" y="2052725"/>
            <a:ext cx="6969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4" name="Google Shape;1224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28" name="Shape 1228"/>
        <p:cNvGrpSpPr/>
        <p:nvPr/>
      </p:nvGrpSpPr>
      <p:grpSpPr>
        <a:xfrm>
          <a:off x="0" y="0"/>
          <a:ext cx="0" cy="0"/>
        </a:xfrm>
      </p:grpSpPr>
      <p:sp>
        <p:nvSpPr>
          <p:cNvPr id="1229" name="Google Shape;1229;p87"/>
          <p:cNvSpPr/>
          <p:nvPr/>
        </p:nvSpPr>
        <p:spPr>
          <a:xfrm>
            <a:off x="4129900" y="1657625"/>
            <a:ext cx="1874950" cy="969775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230" name="Google Shape;1230;p87"/>
          <p:cNvSpPr/>
          <p:nvPr/>
        </p:nvSpPr>
        <p:spPr>
          <a:xfrm>
            <a:off x="4308225" y="1397300"/>
            <a:ext cx="569100" cy="569100"/>
          </a:xfrm>
          <a:prstGeom prst="arc">
            <a:avLst>
              <a:gd name="adj1" fmla="val 1820737"/>
              <a:gd name="adj2" fmla="val 6889323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87"/>
          <p:cNvSpPr/>
          <p:nvPr/>
        </p:nvSpPr>
        <p:spPr>
          <a:xfrm>
            <a:off x="3487200" y="2243300"/>
            <a:ext cx="1044900" cy="10449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87"/>
          <p:cNvSpPr txBox="1"/>
          <p:nvPr>
            <p:ph type="body" idx="1"/>
          </p:nvPr>
        </p:nvSpPr>
        <p:spPr>
          <a:xfrm>
            <a:off x="324000" y="759300"/>
            <a:ext cx="8237700" cy="83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To be sure that the triangles are not only similar, at least one edge length needs to be known.</a:t>
            </a:r>
            <a:endParaRPr sz="1800"/>
          </a:p>
        </p:txBody>
      </p:sp>
      <p:sp>
        <p:nvSpPr>
          <p:cNvPr id="1233" name="Google Shape;1233;p87"/>
          <p:cNvSpPr/>
          <p:nvPr/>
        </p:nvSpPr>
        <p:spPr>
          <a:xfrm>
            <a:off x="5543386" y="2173791"/>
            <a:ext cx="874500" cy="8745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87"/>
          <p:cNvSpPr txBox="1"/>
          <p:nvPr/>
        </p:nvSpPr>
        <p:spPr>
          <a:xfrm>
            <a:off x="4463475" y="13494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87"/>
          <p:cNvSpPr txBox="1"/>
          <p:nvPr/>
        </p:nvSpPr>
        <p:spPr>
          <a:xfrm>
            <a:off x="3880350" y="25680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87"/>
          <p:cNvSpPr txBox="1"/>
          <p:nvPr/>
        </p:nvSpPr>
        <p:spPr>
          <a:xfrm>
            <a:off x="6080100" y="25680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87"/>
          <p:cNvSpPr txBox="1"/>
          <p:nvPr/>
        </p:nvSpPr>
        <p:spPr>
          <a:xfrm>
            <a:off x="4171750" y="18844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8" name="Google Shape;1238;p87"/>
          <p:cNvSpPr txBox="1"/>
          <p:nvPr/>
        </p:nvSpPr>
        <p:spPr>
          <a:xfrm>
            <a:off x="5284775" y="177260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9" name="Google Shape;1239;p87"/>
          <p:cNvSpPr txBox="1"/>
          <p:nvPr/>
        </p:nvSpPr>
        <p:spPr>
          <a:xfrm>
            <a:off x="4938075" y="26118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0" name="Google Shape;1240;p87"/>
          <p:cNvSpPr/>
          <p:nvPr/>
        </p:nvSpPr>
        <p:spPr>
          <a:xfrm>
            <a:off x="3405098" y="2174284"/>
            <a:ext cx="1197300" cy="11973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7"/>
          <p:cNvSpPr/>
          <p:nvPr/>
        </p:nvSpPr>
        <p:spPr>
          <a:xfrm>
            <a:off x="5480176" y="2121628"/>
            <a:ext cx="969900" cy="9699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7"/>
          <p:cNvSpPr/>
          <p:nvPr/>
        </p:nvSpPr>
        <p:spPr>
          <a:xfrm>
            <a:off x="5415868" y="2068865"/>
            <a:ext cx="1070100" cy="10701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7"/>
          <p:cNvSpPr/>
          <p:nvPr/>
        </p:nvSpPr>
        <p:spPr>
          <a:xfrm>
            <a:off x="6796900" y="1657625"/>
            <a:ext cx="1874950" cy="969775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244" name="Google Shape;1244;p87"/>
          <p:cNvSpPr txBox="1"/>
          <p:nvPr/>
        </p:nvSpPr>
        <p:spPr>
          <a:xfrm>
            <a:off x="6838750" y="18844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5" name="Google Shape;1245;p87"/>
          <p:cNvSpPr txBox="1"/>
          <p:nvPr/>
        </p:nvSpPr>
        <p:spPr>
          <a:xfrm>
            <a:off x="7951775" y="177260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6" name="Google Shape;1246;p87"/>
          <p:cNvSpPr txBox="1"/>
          <p:nvPr/>
        </p:nvSpPr>
        <p:spPr>
          <a:xfrm>
            <a:off x="7605075" y="26118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47" name="Google Shape;1247;p87"/>
          <p:cNvCxnSpPr/>
          <p:nvPr/>
        </p:nvCxnSpPr>
        <p:spPr>
          <a:xfrm rot="10800000">
            <a:off x="6012025" y="2052725"/>
            <a:ext cx="6969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48" name="Google Shape;1248;p87"/>
          <p:cNvSpPr txBox="1"/>
          <p:nvPr>
            <p:ph type="body" idx="1"/>
          </p:nvPr>
        </p:nvSpPr>
        <p:spPr>
          <a:xfrm>
            <a:off x="324000" y="3287100"/>
            <a:ext cx="3486000" cy="36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you know one edge length, the size is fixed and by knowing two angles, you in fact know all three. </a:t>
            </a:r>
            <a:endParaRPr sz="1800"/>
          </a:p>
        </p:txBody>
      </p:sp>
      <p:sp>
        <p:nvSpPr>
          <p:cNvPr id="1249" name="Google Shape;1249;p87"/>
          <p:cNvSpPr/>
          <p:nvPr/>
        </p:nvSpPr>
        <p:spPr>
          <a:xfrm>
            <a:off x="1539100" y="1657625"/>
            <a:ext cx="1874950" cy="969775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250" name="Google Shape;1250;p87"/>
          <p:cNvSpPr/>
          <p:nvPr/>
        </p:nvSpPr>
        <p:spPr>
          <a:xfrm>
            <a:off x="896400" y="2243300"/>
            <a:ext cx="1044900" cy="10449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87"/>
          <p:cNvSpPr txBox="1"/>
          <p:nvPr/>
        </p:nvSpPr>
        <p:spPr>
          <a:xfrm>
            <a:off x="1289550" y="25680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87"/>
          <p:cNvSpPr txBox="1"/>
          <p:nvPr/>
        </p:nvSpPr>
        <p:spPr>
          <a:xfrm>
            <a:off x="1580950" y="18844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3" name="Google Shape;1253;p87"/>
          <p:cNvSpPr txBox="1"/>
          <p:nvPr/>
        </p:nvSpPr>
        <p:spPr>
          <a:xfrm>
            <a:off x="2347275" y="26118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4" name="Google Shape;1254;p87"/>
          <p:cNvSpPr/>
          <p:nvPr/>
        </p:nvSpPr>
        <p:spPr>
          <a:xfrm>
            <a:off x="814298" y="2174284"/>
            <a:ext cx="1197300" cy="11973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5" name="Google Shape;1255;p87"/>
          <p:cNvCxnSpPr/>
          <p:nvPr/>
        </p:nvCxnSpPr>
        <p:spPr>
          <a:xfrm>
            <a:off x="3216300" y="2052725"/>
            <a:ext cx="6969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6" name="Google Shape;1256;p87"/>
          <p:cNvSpPr/>
          <p:nvPr/>
        </p:nvSpPr>
        <p:spPr>
          <a:xfrm>
            <a:off x="4282300" y="3410225"/>
            <a:ext cx="1874950" cy="969775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257" name="Google Shape;1257;p87"/>
          <p:cNvSpPr/>
          <p:nvPr/>
        </p:nvSpPr>
        <p:spPr>
          <a:xfrm>
            <a:off x="3639600" y="3995900"/>
            <a:ext cx="1044900" cy="10449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87"/>
          <p:cNvSpPr/>
          <p:nvPr/>
        </p:nvSpPr>
        <p:spPr>
          <a:xfrm>
            <a:off x="5695786" y="3926391"/>
            <a:ext cx="874500" cy="8745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87"/>
          <p:cNvSpPr txBox="1"/>
          <p:nvPr/>
        </p:nvSpPr>
        <p:spPr>
          <a:xfrm>
            <a:off x="5090475" y="4364450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0" name="Google Shape;1260;p87"/>
          <p:cNvSpPr/>
          <p:nvPr/>
        </p:nvSpPr>
        <p:spPr>
          <a:xfrm>
            <a:off x="3557498" y="3926884"/>
            <a:ext cx="1197300" cy="11973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87"/>
          <p:cNvSpPr/>
          <p:nvPr/>
        </p:nvSpPr>
        <p:spPr>
          <a:xfrm>
            <a:off x="5632576" y="3874228"/>
            <a:ext cx="969900" cy="9699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87"/>
          <p:cNvSpPr/>
          <p:nvPr/>
        </p:nvSpPr>
        <p:spPr>
          <a:xfrm>
            <a:off x="5568268" y="3821465"/>
            <a:ext cx="1070100" cy="10701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7"/>
          <p:cNvSpPr/>
          <p:nvPr/>
        </p:nvSpPr>
        <p:spPr>
          <a:xfrm>
            <a:off x="6568300" y="3403063"/>
            <a:ext cx="1874950" cy="969775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264" name="Google Shape;1264;p87"/>
          <p:cNvSpPr/>
          <p:nvPr/>
        </p:nvSpPr>
        <p:spPr>
          <a:xfrm>
            <a:off x="6746625" y="3142738"/>
            <a:ext cx="569100" cy="569100"/>
          </a:xfrm>
          <a:prstGeom prst="arc">
            <a:avLst>
              <a:gd name="adj1" fmla="val 1820737"/>
              <a:gd name="adj2" fmla="val 6889323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87"/>
          <p:cNvSpPr/>
          <p:nvPr/>
        </p:nvSpPr>
        <p:spPr>
          <a:xfrm>
            <a:off x="5925600" y="3988738"/>
            <a:ext cx="1044900" cy="10449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87"/>
          <p:cNvSpPr txBox="1"/>
          <p:nvPr/>
        </p:nvSpPr>
        <p:spPr>
          <a:xfrm>
            <a:off x="7376475" y="4357288"/>
            <a:ext cx="2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7" name="Google Shape;1267;p87"/>
          <p:cNvSpPr/>
          <p:nvPr/>
        </p:nvSpPr>
        <p:spPr>
          <a:xfrm>
            <a:off x="5843498" y="3919722"/>
            <a:ext cx="1197300" cy="11973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8" name="Google Shape;1268;p87"/>
          <p:cNvCxnSpPr/>
          <p:nvPr/>
        </p:nvCxnSpPr>
        <p:spPr>
          <a:xfrm rot="10800000">
            <a:off x="5471400" y="2907550"/>
            <a:ext cx="637500" cy="630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9" name="Google Shape;1269;p87"/>
          <p:cNvSpPr txBox="1"/>
          <p:nvPr>
            <p:ph type="body" idx="1"/>
          </p:nvPr>
        </p:nvSpPr>
        <p:spPr>
          <a:xfrm>
            <a:off x="6127500" y="3780000"/>
            <a:ext cx="258600" cy="36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or</a:t>
            </a:r>
            <a:endParaRPr sz="1800"/>
          </a:p>
        </p:txBody>
      </p:sp>
      <p:sp>
        <p:nvSpPr>
          <p:cNvPr id="1270" name="Google Shape;127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4" name="Shape 1274"/>
        <p:cNvGrpSpPr/>
        <p:nvPr/>
      </p:nvGrpSpPr>
      <p:grpSpPr>
        <a:xfrm>
          <a:off x="0" y="0"/>
          <a:ext cx="0" cy="0"/>
        </a:xfrm>
      </p:grpSpPr>
      <p:sp>
        <p:nvSpPr>
          <p:cNvPr id="1275" name="Google Shape;1275;p88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Knowing all three edges is enough to prove two triangles are congruent.</a:t>
            </a:r>
            <a:endParaRPr sz="1800"/>
          </a:p>
        </p:txBody>
      </p:sp>
      <p:sp>
        <p:nvSpPr>
          <p:cNvPr id="1276" name="Google Shape;1276;p88"/>
          <p:cNvSpPr txBox="1"/>
          <p:nvPr>
            <p:ph type="subTitle" idx="1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To be able to prove two triangles are congruent you must know at least one corresponding angle.</a:t>
            </a:r>
            <a:endParaRPr sz="1900"/>
          </a:p>
        </p:txBody>
      </p:sp>
      <p:sp>
        <p:nvSpPr>
          <p:cNvPr id="1277" name="Google Shape;1277;p8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Knowing one angle does not always allow you to calculate the other two.</a:t>
            </a:r>
            <a:endParaRPr sz="1800"/>
          </a:p>
        </p:txBody>
      </p:sp>
      <p:pic>
        <p:nvPicPr>
          <p:cNvPr id="1278" name="Google Shape;127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9" name="Google Shape;127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208" y="35078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4" name="Shape 1284"/>
        <p:cNvGrpSpPr/>
        <p:nvPr/>
      </p:nvGrpSpPr>
      <p:grpSpPr>
        <a:xfrm>
          <a:off x="0" y="0"/>
          <a:ext cx="0" cy="0"/>
        </a:xfrm>
      </p:grpSpPr>
      <p:sp>
        <p:nvSpPr>
          <p:cNvPr id="1285" name="Google Shape;1285;p89"/>
          <p:cNvSpPr txBox="1"/>
          <p:nvPr>
            <p:ph type="body" idx="1"/>
          </p:nvPr>
        </p:nvSpPr>
        <p:spPr>
          <a:xfrm>
            <a:off x="324000" y="759300"/>
            <a:ext cx="8237700" cy="83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we know one side length and two interior angles, then we can prove that two triangles are congruent. </a:t>
            </a:r>
            <a:endParaRPr sz="1800"/>
          </a:p>
        </p:txBody>
      </p:sp>
      <p:sp>
        <p:nvSpPr>
          <p:cNvPr id="1286" name="Google Shape;1286;p89"/>
          <p:cNvSpPr txBox="1"/>
          <p:nvPr>
            <p:ph type="body" idx="1"/>
          </p:nvPr>
        </p:nvSpPr>
        <p:spPr>
          <a:xfrm>
            <a:off x="324000" y="1597500"/>
            <a:ext cx="82377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Prove triangle ABC is congruent to triangle DEF by ASA/AAS.</a:t>
            </a:r>
            <a:endParaRPr sz="1800"/>
          </a:p>
        </p:txBody>
      </p:sp>
      <p:sp>
        <p:nvSpPr>
          <p:cNvPr id="1287" name="Google Shape;1287;p89"/>
          <p:cNvSpPr/>
          <p:nvPr/>
        </p:nvSpPr>
        <p:spPr>
          <a:xfrm>
            <a:off x="837925" y="2354175"/>
            <a:ext cx="2986400" cy="1002625"/>
          </a:xfrm>
          <a:custGeom>
            <a:rect l="l" t="t" r="r" b="b"/>
            <a:pathLst>
              <a:path w="119455" h="40105" extrusionOk="0">
                <a:moveTo>
                  <a:pt x="0" y="0"/>
                </a:moveTo>
                <a:lnTo>
                  <a:pt x="21485" y="40105"/>
                </a:lnTo>
                <a:lnTo>
                  <a:pt x="119456" y="30652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288" name="Google Shape;1288;p89"/>
          <p:cNvSpPr/>
          <p:nvPr/>
        </p:nvSpPr>
        <p:spPr>
          <a:xfrm rot="-9758697" flipH="1">
            <a:off x="5043951" y="2471995"/>
            <a:ext cx="2986479" cy="1002652"/>
          </a:xfrm>
          <a:custGeom>
            <a:rect l="l" t="t" r="r" b="b"/>
            <a:pathLst>
              <a:path w="119455" h="40105" extrusionOk="0">
                <a:moveTo>
                  <a:pt x="0" y="0"/>
                </a:moveTo>
                <a:lnTo>
                  <a:pt x="21485" y="40105"/>
                </a:lnTo>
                <a:lnTo>
                  <a:pt x="119456" y="30652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289" name="Google Shape;1289;p89"/>
          <p:cNvSpPr txBox="1"/>
          <p:nvPr/>
        </p:nvSpPr>
        <p:spPr>
          <a:xfrm>
            <a:off x="630675" y="214215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9"/>
          <p:cNvSpPr txBox="1"/>
          <p:nvPr/>
        </p:nvSpPr>
        <p:spPr>
          <a:xfrm>
            <a:off x="3876900" y="298922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9"/>
          <p:cNvSpPr txBox="1"/>
          <p:nvPr/>
        </p:nvSpPr>
        <p:spPr>
          <a:xfrm>
            <a:off x="1114500" y="33135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89"/>
          <p:cNvSpPr txBox="1"/>
          <p:nvPr/>
        </p:nvSpPr>
        <p:spPr>
          <a:xfrm>
            <a:off x="4694700" y="290015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89"/>
          <p:cNvSpPr txBox="1"/>
          <p:nvPr/>
        </p:nvSpPr>
        <p:spPr>
          <a:xfrm>
            <a:off x="8121100" y="30876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89"/>
          <p:cNvSpPr txBox="1"/>
          <p:nvPr/>
        </p:nvSpPr>
        <p:spPr>
          <a:xfrm>
            <a:off x="5643825" y="194097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89"/>
          <p:cNvSpPr/>
          <p:nvPr/>
        </p:nvSpPr>
        <p:spPr>
          <a:xfrm>
            <a:off x="1088229" y="3071009"/>
            <a:ext cx="573000" cy="573000"/>
          </a:xfrm>
          <a:prstGeom prst="pie">
            <a:avLst>
              <a:gd name="adj1" fmla="val 14548768"/>
              <a:gd name="adj2" fmla="val 2123906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89"/>
          <p:cNvSpPr/>
          <p:nvPr/>
        </p:nvSpPr>
        <p:spPr>
          <a:xfrm>
            <a:off x="3411298" y="2713468"/>
            <a:ext cx="814800" cy="814800"/>
          </a:xfrm>
          <a:prstGeom prst="pie">
            <a:avLst>
              <a:gd name="adj1" fmla="val 10459115"/>
              <a:gd name="adj2" fmla="val 11672114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89"/>
          <p:cNvSpPr/>
          <p:nvPr/>
        </p:nvSpPr>
        <p:spPr>
          <a:xfrm rot="517166">
            <a:off x="7616562" y="2753903"/>
            <a:ext cx="814702" cy="814702"/>
          </a:xfrm>
          <a:prstGeom prst="pie">
            <a:avLst>
              <a:gd name="adj1" fmla="val 10459115"/>
              <a:gd name="adj2" fmla="val 11672114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89"/>
          <p:cNvSpPr/>
          <p:nvPr/>
        </p:nvSpPr>
        <p:spPr>
          <a:xfrm rot="516372">
            <a:off x="5446358" y="1883130"/>
            <a:ext cx="653559" cy="653559"/>
          </a:xfrm>
          <a:prstGeom prst="pie">
            <a:avLst>
              <a:gd name="adj1" fmla="val 866141"/>
              <a:gd name="adj2" fmla="val 7624213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89"/>
          <p:cNvSpPr txBox="1"/>
          <p:nvPr/>
        </p:nvSpPr>
        <p:spPr>
          <a:xfrm>
            <a:off x="2769825" y="2898675"/>
            <a:ext cx="37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89"/>
          <p:cNvSpPr txBox="1"/>
          <p:nvPr/>
        </p:nvSpPr>
        <p:spPr>
          <a:xfrm>
            <a:off x="7089413" y="2858194"/>
            <a:ext cx="37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89"/>
          <p:cNvSpPr txBox="1"/>
          <p:nvPr/>
        </p:nvSpPr>
        <p:spPr>
          <a:xfrm>
            <a:off x="5825538" y="2511894"/>
            <a:ext cx="37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99°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89"/>
          <p:cNvSpPr txBox="1"/>
          <p:nvPr/>
        </p:nvSpPr>
        <p:spPr>
          <a:xfrm>
            <a:off x="1564538" y="2928594"/>
            <a:ext cx="37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99°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3" name="Google Shape;1303;p89"/>
          <p:cNvCxnSpPr/>
          <p:nvPr/>
        </p:nvCxnSpPr>
        <p:spPr>
          <a:xfrm rot="10800000" flipH="1">
            <a:off x="1409400" y="3221000"/>
            <a:ext cx="2431200" cy="273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04" name="Google Shape;1304;p89"/>
          <p:cNvCxnSpPr/>
          <p:nvPr/>
        </p:nvCxnSpPr>
        <p:spPr>
          <a:xfrm>
            <a:off x="5848225" y="2118950"/>
            <a:ext cx="2251500" cy="945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05" name="Google Shape;1305;p89"/>
          <p:cNvSpPr txBox="1"/>
          <p:nvPr/>
        </p:nvSpPr>
        <p:spPr>
          <a:xfrm>
            <a:off x="6863847" y="2280750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9.2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89"/>
          <p:cNvSpPr txBox="1"/>
          <p:nvPr/>
        </p:nvSpPr>
        <p:spPr>
          <a:xfrm>
            <a:off x="2207122" y="3364800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9.2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89"/>
          <p:cNvSpPr txBox="1"/>
          <p:nvPr>
            <p:ph type="body" idx="1"/>
          </p:nvPr>
        </p:nvSpPr>
        <p:spPr>
          <a:xfrm>
            <a:off x="324000" y="3897250"/>
            <a:ext cx="82377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BC = EF = 9.2 cm, ∠ABC = ∠DFE = 99° and ∠ACB = ∠DEF = 17°, so triangle ABC is congruent to triangle DEF by ASA.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8" name="Google Shape;130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12" name="Shape 1312"/>
        <p:cNvGrpSpPr/>
        <p:nvPr/>
      </p:nvGrpSpPr>
      <p:grpSpPr>
        <a:xfrm>
          <a:off x="0" y="0"/>
          <a:ext cx="0" cy="0"/>
        </a:xfrm>
      </p:grpSpPr>
      <p:sp>
        <p:nvSpPr>
          <p:cNvPr id="1313" name="Google Shape;1313;p90"/>
          <p:cNvSpPr/>
          <p:nvPr/>
        </p:nvSpPr>
        <p:spPr>
          <a:xfrm rot="9994605" flipH="1">
            <a:off x="5004129" y="2174262"/>
            <a:ext cx="2139367" cy="1138621"/>
          </a:xfrm>
          <a:custGeom>
            <a:rect l="l" t="t" r="r" b="b"/>
            <a:pathLst>
              <a:path w="119455" h="40105" extrusionOk="0">
                <a:moveTo>
                  <a:pt x="0" y="0"/>
                </a:moveTo>
                <a:lnTo>
                  <a:pt x="21485" y="40105"/>
                </a:lnTo>
                <a:lnTo>
                  <a:pt x="119456" y="30652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314" name="Google Shape;1314;p90"/>
          <p:cNvSpPr txBox="1"/>
          <p:nvPr>
            <p:ph type="body" idx="1"/>
          </p:nvPr>
        </p:nvSpPr>
        <p:spPr>
          <a:xfrm>
            <a:off x="324000" y="759300"/>
            <a:ext cx="8237700" cy="83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we know one side length and two interior angles, then we can prove that two triangles are congruent. </a:t>
            </a:r>
            <a:endParaRPr sz="1800"/>
          </a:p>
        </p:txBody>
      </p:sp>
      <p:sp>
        <p:nvSpPr>
          <p:cNvPr id="1315" name="Google Shape;1315;p90"/>
          <p:cNvSpPr txBox="1"/>
          <p:nvPr>
            <p:ph type="body" idx="1"/>
          </p:nvPr>
        </p:nvSpPr>
        <p:spPr>
          <a:xfrm>
            <a:off x="324000" y="1597500"/>
            <a:ext cx="82377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Prove triangle QPR is congruent to triangle TUV by ASA/AAS.</a:t>
            </a:r>
            <a:endParaRPr sz="1800"/>
          </a:p>
        </p:txBody>
      </p:sp>
      <p:sp>
        <p:nvSpPr>
          <p:cNvPr id="1316" name="Google Shape;1316;p90"/>
          <p:cNvSpPr/>
          <p:nvPr/>
        </p:nvSpPr>
        <p:spPr>
          <a:xfrm rot="9453329">
            <a:off x="838049" y="2218213"/>
            <a:ext cx="2139352" cy="1138579"/>
          </a:xfrm>
          <a:custGeom>
            <a:rect l="l" t="t" r="r" b="b"/>
            <a:pathLst>
              <a:path w="119455" h="40105" extrusionOk="0">
                <a:moveTo>
                  <a:pt x="0" y="0"/>
                </a:moveTo>
                <a:lnTo>
                  <a:pt x="21485" y="40105"/>
                </a:lnTo>
                <a:lnTo>
                  <a:pt x="119456" y="30652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317" name="Google Shape;1317;p90"/>
          <p:cNvSpPr txBox="1"/>
          <p:nvPr/>
        </p:nvSpPr>
        <p:spPr>
          <a:xfrm>
            <a:off x="2429900" y="180995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90"/>
          <p:cNvSpPr txBox="1"/>
          <p:nvPr/>
        </p:nvSpPr>
        <p:spPr>
          <a:xfrm>
            <a:off x="3168125" y="278037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90"/>
          <p:cNvSpPr txBox="1"/>
          <p:nvPr/>
        </p:nvSpPr>
        <p:spPr>
          <a:xfrm>
            <a:off x="540200" y="278037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90"/>
          <p:cNvSpPr txBox="1"/>
          <p:nvPr/>
        </p:nvSpPr>
        <p:spPr>
          <a:xfrm>
            <a:off x="5049300" y="211677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90"/>
          <p:cNvSpPr txBox="1"/>
          <p:nvPr/>
        </p:nvSpPr>
        <p:spPr>
          <a:xfrm>
            <a:off x="7089425" y="19371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90"/>
          <p:cNvSpPr txBox="1"/>
          <p:nvPr/>
        </p:nvSpPr>
        <p:spPr>
          <a:xfrm>
            <a:off x="4934875" y="35028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90"/>
          <p:cNvSpPr/>
          <p:nvPr/>
        </p:nvSpPr>
        <p:spPr>
          <a:xfrm>
            <a:off x="521893" y="2629682"/>
            <a:ext cx="573000" cy="573000"/>
          </a:xfrm>
          <a:prstGeom prst="pie">
            <a:avLst>
              <a:gd name="adj1" fmla="val 19717340"/>
              <a:gd name="adj2" fmla="val 33925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90"/>
          <p:cNvSpPr/>
          <p:nvPr/>
        </p:nvSpPr>
        <p:spPr>
          <a:xfrm>
            <a:off x="2016149" y="1693603"/>
            <a:ext cx="613500" cy="613500"/>
          </a:xfrm>
          <a:prstGeom prst="pie">
            <a:avLst>
              <a:gd name="adj1" fmla="val 2931796"/>
              <a:gd name="adj2" fmla="val 8908586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90"/>
          <p:cNvSpPr txBox="1"/>
          <p:nvPr/>
        </p:nvSpPr>
        <p:spPr>
          <a:xfrm>
            <a:off x="1223425" y="2648900"/>
            <a:ext cx="429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38°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90"/>
          <p:cNvSpPr txBox="1"/>
          <p:nvPr/>
        </p:nvSpPr>
        <p:spPr>
          <a:xfrm>
            <a:off x="5230081" y="2962800"/>
            <a:ext cx="57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90"/>
          <p:cNvSpPr txBox="1"/>
          <p:nvPr/>
        </p:nvSpPr>
        <p:spPr>
          <a:xfrm>
            <a:off x="5587338" y="2503169"/>
            <a:ext cx="37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97°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90"/>
          <p:cNvSpPr txBox="1"/>
          <p:nvPr/>
        </p:nvSpPr>
        <p:spPr>
          <a:xfrm>
            <a:off x="2135838" y="2307094"/>
            <a:ext cx="37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97°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9" name="Google Shape;1329;p90"/>
          <p:cNvCxnSpPr/>
          <p:nvPr/>
        </p:nvCxnSpPr>
        <p:spPr>
          <a:xfrm rot="10800000" flipH="1">
            <a:off x="787475" y="3017700"/>
            <a:ext cx="2336100" cy="1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30" name="Google Shape;1330;p90"/>
          <p:cNvSpPr txBox="1"/>
          <p:nvPr/>
        </p:nvSpPr>
        <p:spPr>
          <a:xfrm>
            <a:off x="6096172" y="3101400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7.1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90"/>
          <p:cNvSpPr txBox="1"/>
          <p:nvPr/>
        </p:nvSpPr>
        <p:spPr>
          <a:xfrm>
            <a:off x="1627197" y="3022650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7.1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90"/>
          <p:cNvSpPr txBox="1"/>
          <p:nvPr>
            <p:ph type="body" idx="1"/>
          </p:nvPr>
        </p:nvSpPr>
        <p:spPr>
          <a:xfrm>
            <a:off x="324000" y="3821050"/>
            <a:ext cx="82377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∠TVU = 180 - (97 + 45) = 180 - 142 = 38°,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3" name="Google Shape;1333;p90"/>
          <p:cNvSpPr/>
          <p:nvPr/>
        </p:nvSpPr>
        <p:spPr>
          <a:xfrm rot="-127826">
            <a:off x="4969299" y="2042469"/>
            <a:ext cx="613324" cy="613324"/>
          </a:xfrm>
          <a:prstGeom prst="pie">
            <a:avLst>
              <a:gd name="adj1" fmla="val 21450071"/>
              <a:gd name="adj2" fmla="val 5826182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90"/>
          <p:cNvSpPr/>
          <p:nvPr/>
        </p:nvSpPr>
        <p:spPr>
          <a:xfrm rot="-127826">
            <a:off x="4860116" y="3239911"/>
            <a:ext cx="613324" cy="613324"/>
          </a:xfrm>
          <a:prstGeom prst="pie">
            <a:avLst>
              <a:gd name="adj1" fmla="val 16632622"/>
              <a:gd name="adj2" fmla="val 19594124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5" name="Google Shape;1335;p90"/>
          <p:cNvCxnSpPr/>
          <p:nvPr/>
        </p:nvCxnSpPr>
        <p:spPr>
          <a:xfrm rot="10800000" flipH="1">
            <a:off x="5230075" y="2306400"/>
            <a:ext cx="1902000" cy="1341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36" name="Google Shape;1336;p90"/>
          <p:cNvSpPr txBox="1"/>
          <p:nvPr>
            <p:ph type="body" idx="1"/>
          </p:nvPr>
        </p:nvSpPr>
        <p:spPr>
          <a:xfrm>
            <a:off x="324000" y="4141594"/>
            <a:ext cx="8237700" cy="69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PR = UV = 7.1 cm, ∠PQR = ∠UTV = 97° and ∠QPR = ∠TVU = 38°, 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triangle QPR is congruent to triangle TUV by AAS.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7" name="Google Shape;1337;p90"/>
          <p:cNvSpPr/>
          <p:nvPr/>
        </p:nvSpPr>
        <p:spPr>
          <a:xfrm rot="10477419">
            <a:off x="6749115" y="1917447"/>
            <a:ext cx="573121" cy="573121"/>
          </a:xfrm>
          <a:prstGeom prst="pie">
            <a:avLst>
              <a:gd name="adj1" fmla="val 19717340"/>
              <a:gd name="adj2" fmla="val 33925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90"/>
          <p:cNvSpPr txBox="1"/>
          <p:nvPr/>
        </p:nvSpPr>
        <p:spPr>
          <a:xfrm>
            <a:off x="6293925" y="2240100"/>
            <a:ext cx="42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38°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9" name="Google Shape;133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43" name="Shape 1343"/>
        <p:cNvGrpSpPr/>
        <p:nvPr/>
      </p:nvGrpSpPr>
      <p:grpSpPr>
        <a:xfrm>
          <a:off x="0" y="0"/>
          <a:ext cx="0" cy="0"/>
        </a:xfrm>
      </p:grpSpPr>
      <p:sp>
        <p:nvSpPr>
          <p:cNvPr id="1344" name="Google Shape;1344;p91"/>
          <p:cNvSpPr txBox="1"/>
          <p:nvPr>
            <p:ph type="body" idx="1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Triangle IJK and triangle TUV are congruent by AAS. </a:t>
            </a:r>
            <a:endParaRPr sz="1800"/>
          </a:p>
        </p:txBody>
      </p:sp>
      <p:sp>
        <p:nvSpPr>
          <p:cNvPr id="1345" name="Google Shape;1345;p91"/>
          <p:cNvSpPr txBox="1"/>
          <p:nvPr>
            <p:ph type="body" idx="1"/>
          </p:nvPr>
        </p:nvSpPr>
        <p:spPr>
          <a:xfrm>
            <a:off x="324000" y="32400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edge corresponds with IK?</a:t>
            </a:r>
            <a:endParaRPr sz="1800"/>
          </a:p>
        </p:txBody>
      </p:sp>
      <p:sp>
        <p:nvSpPr>
          <p:cNvPr id="1346" name="Google Shape;1346;p91"/>
          <p:cNvSpPr txBox="1"/>
          <p:nvPr>
            <p:ph type="body" idx="1"/>
          </p:nvPr>
        </p:nvSpPr>
        <p:spPr>
          <a:xfrm>
            <a:off x="3670850" y="3632150"/>
            <a:ext cx="3246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UV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7" name="Google Shape;1347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  <p:pic>
        <p:nvPicPr>
          <p:cNvPr id="1348" name="Google Shape;134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2450" y="1232400"/>
            <a:ext cx="3266112" cy="185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9" name="Google Shape;1349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325" y="1307163"/>
            <a:ext cx="3479126" cy="1611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3" name="Shape 1353"/>
        <p:cNvGrpSpPr/>
        <p:nvPr/>
      </p:nvGrpSpPr>
      <p:grpSpPr>
        <a:xfrm>
          <a:off x="0" y="0"/>
          <a:ext cx="0" cy="0"/>
        </a:xfrm>
      </p:grpSpPr>
      <p:sp>
        <p:nvSpPr>
          <p:cNvPr id="1354" name="Google Shape;1354;p92"/>
          <p:cNvSpPr txBox="1"/>
          <p:nvPr/>
        </p:nvSpPr>
        <p:spPr>
          <a:xfrm>
            <a:off x="1335550" y="6861063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5" name="Google Shape;1355;p92"/>
          <p:cNvGrpSpPr/>
          <p:nvPr/>
        </p:nvGrpSpPr>
        <p:grpSpPr>
          <a:xfrm>
            <a:off x="783925" y="2297050"/>
            <a:ext cx="2496825" cy="2190275"/>
            <a:chOff x="1164925" y="2297050"/>
            <a:chExt cx="2496825" cy="2190275"/>
          </a:xfrm>
        </p:grpSpPr>
        <p:pic>
          <p:nvPicPr>
            <p:cNvPr id="1356" name="Google Shape;1356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64925" y="2297050"/>
              <a:ext cx="2496825" cy="2190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7" name="Google Shape;1357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39719" y="3459655"/>
              <a:ext cx="122875" cy="80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8" name="Google Shape;1358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809439" y="3459655"/>
              <a:ext cx="122875" cy="80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59" name="Google Shape;1359;p92"/>
          <p:cNvSpPr txBox="1"/>
          <p:nvPr>
            <p:ph type="body" idx="1"/>
          </p:nvPr>
        </p:nvSpPr>
        <p:spPr>
          <a:xfrm>
            <a:off x="324000" y="759300"/>
            <a:ext cx="8237700" cy="83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Many shapes have properties that we can use to prove congruent triangles exist within them.</a:t>
            </a:r>
            <a:endParaRPr sz="1800"/>
          </a:p>
        </p:txBody>
      </p:sp>
      <p:sp>
        <p:nvSpPr>
          <p:cNvPr id="1360" name="Google Shape;1360;p92"/>
          <p:cNvSpPr txBox="1"/>
          <p:nvPr>
            <p:ph type="body" idx="1"/>
          </p:nvPr>
        </p:nvSpPr>
        <p:spPr>
          <a:xfrm>
            <a:off x="3738650" y="2228550"/>
            <a:ext cx="50814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∠ABC = ∠DEF (= 120°) as they are interior angles of a regular hexagon.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1" name="Google Shape;1361;p92"/>
          <p:cNvSpPr txBox="1"/>
          <p:nvPr>
            <p:ph type="body" idx="1"/>
          </p:nvPr>
        </p:nvSpPr>
        <p:spPr>
          <a:xfrm>
            <a:off x="324000" y="1532600"/>
            <a:ext cx="82377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Here is a regular hexagon ABCDEF, with three diagonals drawn on. </a:t>
            </a:r>
            <a:br>
              <a:rPr lang="en-GB" sz="1800"/>
            </a:br>
            <a:r>
              <a:rPr lang="en-GB" sz="1800"/>
              <a:t>Which triangles are congruent to each other? </a:t>
            </a:r>
            <a:endParaRPr sz="1800"/>
          </a:p>
        </p:txBody>
      </p:sp>
      <p:sp>
        <p:nvSpPr>
          <p:cNvPr id="1362" name="Google Shape;1362;p92"/>
          <p:cNvSpPr txBox="1"/>
          <p:nvPr/>
        </p:nvSpPr>
        <p:spPr>
          <a:xfrm>
            <a:off x="1364025" y="2086100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92"/>
          <p:cNvSpPr txBox="1"/>
          <p:nvPr/>
        </p:nvSpPr>
        <p:spPr>
          <a:xfrm>
            <a:off x="722675" y="3216538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92"/>
          <p:cNvSpPr txBox="1"/>
          <p:nvPr/>
        </p:nvSpPr>
        <p:spPr>
          <a:xfrm>
            <a:off x="1335550" y="4346463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92"/>
          <p:cNvSpPr txBox="1"/>
          <p:nvPr/>
        </p:nvSpPr>
        <p:spPr>
          <a:xfrm>
            <a:off x="2543225" y="4346463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92"/>
          <p:cNvSpPr txBox="1"/>
          <p:nvPr/>
        </p:nvSpPr>
        <p:spPr>
          <a:xfrm>
            <a:off x="3237475" y="3253575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92"/>
          <p:cNvSpPr txBox="1"/>
          <p:nvPr/>
        </p:nvSpPr>
        <p:spPr>
          <a:xfrm>
            <a:off x="2627875" y="2110575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92"/>
          <p:cNvSpPr txBox="1"/>
          <p:nvPr>
            <p:ph type="body" idx="1"/>
          </p:nvPr>
        </p:nvSpPr>
        <p:spPr>
          <a:xfrm>
            <a:off x="3738650" y="2924500"/>
            <a:ext cx="50814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AB = DE as they are edges of a regular hexagon.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9" name="Google Shape;1369;p92"/>
          <p:cNvSpPr/>
          <p:nvPr/>
        </p:nvSpPr>
        <p:spPr>
          <a:xfrm>
            <a:off x="722675" y="3143800"/>
            <a:ext cx="422700" cy="422700"/>
          </a:xfrm>
          <a:prstGeom prst="arc">
            <a:avLst>
              <a:gd name="adj1" fmla="val 18229808"/>
              <a:gd name="adj2" fmla="val 371206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92"/>
          <p:cNvSpPr/>
          <p:nvPr/>
        </p:nvSpPr>
        <p:spPr>
          <a:xfrm flipH="1">
            <a:off x="2962625" y="3143800"/>
            <a:ext cx="422700" cy="422700"/>
          </a:xfrm>
          <a:prstGeom prst="arc">
            <a:avLst>
              <a:gd name="adj1" fmla="val 18229808"/>
              <a:gd name="adj2" fmla="val 371206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1" name="Google Shape;1371;p92"/>
          <p:cNvCxnSpPr/>
          <p:nvPr/>
        </p:nvCxnSpPr>
        <p:spPr>
          <a:xfrm rot="10800000" flipH="1">
            <a:off x="1165137" y="2889249"/>
            <a:ext cx="0" cy="14099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2" name="Google Shape;1372;p92"/>
          <p:cNvCxnSpPr/>
          <p:nvPr/>
        </p:nvCxnSpPr>
        <p:spPr>
          <a:xfrm rot="10800000" flipH="1">
            <a:off x="2948729" y="3716554"/>
            <a:ext cx="0" cy="14099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3" name="Google Shape;1373;p92"/>
          <p:cNvSpPr txBox="1"/>
          <p:nvPr>
            <p:ph type="body" idx="1"/>
          </p:nvPr>
        </p:nvSpPr>
        <p:spPr>
          <a:xfrm>
            <a:off x="3738650" y="3620450"/>
            <a:ext cx="50814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∠BAC = ∠ACF = ∠CFD = ∠FDE as they are interior alternate angles in parallel lines.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4" name="Google Shape;1374;p92"/>
          <p:cNvSpPr/>
          <p:nvPr/>
        </p:nvSpPr>
        <p:spPr>
          <a:xfrm>
            <a:off x="1280403" y="2186206"/>
            <a:ext cx="422700" cy="422700"/>
          </a:xfrm>
          <a:prstGeom prst="arc">
            <a:avLst>
              <a:gd name="adj1" fmla="val 5619971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92"/>
          <p:cNvSpPr/>
          <p:nvPr/>
        </p:nvSpPr>
        <p:spPr>
          <a:xfrm>
            <a:off x="1243500" y="2160000"/>
            <a:ext cx="486600" cy="486900"/>
          </a:xfrm>
          <a:prstGeom prst="arc">
            <a:avLst>
              <a:gd name="adj1" fmla="val 5505233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92"/>
          <p:cNvSpPr/>
          <p:nvPr/>
        </p:nvSpPr>
        <p:spPr>
          <a:xfrm>
            <a:off x="2408363" y="2188712"/>
            <a:ext cx="422700" cy="422700"/>
          </a:xfrm>
          <a:prstGeom prst="arc">
            <a:avLst>
              <a:gd name="adj1" fmla="val 5619971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92"/>
          <p:cNvSpPr/>
          <p:nvPr/>
        </p:nvSpPr>
        <p:spPr>
          <a:xfrm>
            <a:off x="2371461" y="2162507"/>
            <a:ext cx="486600" cy="486900"/>
          </a:xfrm>
          <a:prstGeom prst="arc">
            <a:avLst>
              <a:gd name="adj1" fmla="val 5505233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92"/>
          <p:cNvSpPr/>
          <p:nvPr/>
        </p:nvSpPr>
        <p:spPr>
          <a:xfrm rot="10800000">
            <a:off x="1275511" y="4148113"/>
            <a:ext cx="422700" cy="422700"/>
          </a:xfrm>
          <a:prstGeom prst="arc">
            <a:avLst>
              <a:gd name="adj1" fmla="val 5619971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92"/>
          <p:cNvSpPr/>
          <p:nvPr/>
        </p:nvSpPr>
        <p:spPr>
          <a:xfrm rot="10800000">
            <a:off x="1248513" y="4110118"/>
            <a:ext cx="486600" cy="486900"/>
          </a:xfrm>
          <a:prstGeom prst="arc">
            <a:avLst>
              <a:gd name="adj1" fmla="val 5505233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92"/>
          <p:cNvSpPr/>
          <p:nvPr/>
        </p:nvSpPr>
        <p:spPr>
          <a:xfrm rot="10800000">
            <a:off x="2403471" y="4153126"/>
            <a:ext cx="422700" cy="422700"/>
          </a:xfrm>
          <a:prstGeom prst="arc">
            <a:avLst>
              <a:gd name="adj1" fmla="val 5619971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92"/>
          <p:cNvSpPr/>
          <p:nvPr/>
        </p:nvSpPr>
        <p:spPr>
          <a:xfrm rot="10800000">
            <a:off x="2376474" y="4115132"/>
            <a:ext cx="486600" cy="486900"/>
          </a:xfrm>
          <a:prstGeom prst="arc">
            <a:avLst>
              <a:gd name="adj1" fmla="val 5505233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  <p:sp>
        <p:nvSpPr>
          <p:cNvPr id="1383" name="Google Shape;1383;p92"/>
          <p:cNvSpPr txBox="1"/>
          <p:nvPr>
            <p:ph type="body" idx="1"/>
          </p:nvPr>
        </p:nvSpPr>
        <p:spPr>
          <a:xfrm>
            <a:off x="3009775" y="4369875"/>
            <a:ext cx="53769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Hence,   ABC and   DEF are congruent by ASA.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84" name="Google Shape;1384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6488" y="4392075"/>
            <a:ext cx="216000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" name="Google Shape;1385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8363" y="4392075"/>
            <a:ext cx="2160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89" name="Shape 1389"/>
        <p:cNvGrpSpPr/>
        <p:nvPr/>
      </p:nvGrpSpPr>
      <p:grpSpPr>
        <a:xfrm>
          <a:off x="0" y="0"/>
          <a:ext cx="0" cy="0"/>
        </a:xfrm>
      </p:grpSpPr>
      <p:sp>
        <p:nvSpPr>
          <p:cNvPr id="1390" name="Google Shape;1390;p93"/>
          <p:cNvSpPr txBox="1"/>
          <p:nvPr/>
        </p:nvSpPr>
        <p:spPr>
          <a:xfrm>
            <a:off x="1335550" y="6861063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1" name="Google Shape;1391;p93"/>
          <p:cNvGrpSpPr/>
          <p:nvPr/>
        </p:nvGrpSpPr>
        <p:grpSpPr>
          <a:xfrm>
            <a:off x="783925" y="2297050"/>
            <a:ext cx="2496825" cy="2190275"/>
            <a:chOff x="1164925" y="2297050"/>
            <a:chExt cx="2496825" cy="2190275"/>
          </a:xfrm>
        </p:grpSpPr>
        <p:pic>
          <p:nvPicPr>
            <p:cNvPr id="1392" name="Google Shape;1392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64925" y="2297050"/>
              <a:ext cx="2496825" cy="2190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3" name="Google Shape;139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39719" y="3459655"/>
              <a:ext cx="122875" cy="80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4" name="Google Shape;1394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809439" y="3459655"/>
              <a:ext cx="122875" cy="80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5" name="Google Shape;1395;p93"/>
          <p:cNvSpPr txBox="1"/>
          <p:nvPr>
            <p:ph type="body" idx="1"/>
          </p:nvPr>
        </p:nvSpPr>
        <p:spPr>
          <a:xfrm>
            <a:off x="3062000" y="4388800"/>
            <a:ext cx="54240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Hence,   AFC and   FCD are congruent by AAS.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6" name="Google Shape;1396;p93"/>
          <p:cNvSpPr txBox="1"/>
          <p:nvPr>
            <p:ph type="body" idx="1"/>
          </p:nvPr>
        </p:nvSpPr>
        <p:spPr>
          <a:xfrm>
            <a:off x="324000" y="759300"/>
            <a:ext cx="8237700" cy="83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Many shapes have properties that we can use to prove congruent triangles exist within them.</a:t>
            </a:r>
            <a:endParaRPr sz="1800"/>
          </a:p>
        </p:txBody>
      </p:sp>
      <p:sp>
        <p:nvSpPr>
          <p:cNvPr id="1397" name="Google Shape;1397;p93"/>
          <p:cNvSpPr txBox="1"/>
          <p:nvPr>
            <p:ph type="body" idx="1"/>
          </p:nvPr>
        </p:nvSpPr>
        <p:spPr>
          <a:xfrm>
            <a:off x="3738650" y="2228550"/>
            <a:ext cx="50814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∠AFC = ∠FCD as they are interior alternate angles in parallel lines.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8" name="Google Shape;1398;p93"/>
          <p:cNvSpPr txBox="1"/>
          <p:nvPr>
            <p:ph type="body" idx="1"/>
          </p:nvPr>
        </p:nvSpPr>
        <p:spPr>
          <a:xfrm>
            <a:off x="324000" y="1532600"/>
            <a:ext cx="82377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Here is a regular hexagon ABCDEF, with three diagonals drawn on. </a:t>
            </a:r>
            <a:br>
              <a:rPr lang="en-GB" sz="1800"/>
            </a:br>
            <a:r>
              <a:rPr lang="en-GB" sz="1800"/>
              <a:t>Which triangles are congruent to each other? </a:t>
            </a:r>
            <a:endParaRPr sz="1800"/>
          </a:p>
        </p:txBody>
      </p:sp>
      <p:sp>
        <p:nvSpPr>
          <p:cNvPr id="1399" name="Google Shape;1399;p93"/>
          <p:cNvSpPr txBox="1"/>
          <p:nvPr/>
        </p:nvSpPr>
        <p:spPr>
          <a:xfrm>
            <a:off x="1364025" y="2086100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93"/>
          <p:cNvSpPr txBox="1"/>
          <p:nvPr/>
        </p:nvSpPr>
        <p:spPr>
          <a:xfrm>
            <a:off x="722675" y="3216538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93"/>
          <p:cNvSpPr txBox="1"/>
          <p:nvPr/>
        </p:nvSpPr>
        <p:spPr>
          <a:xfrm>
            <a:off x="1335550" y="4346463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93"/>
          <p:cNvSpPr txBox="1"/>
          <p:nvPr/>
        </p:nvSpPr>
        <p:spPr>
          <a:xfrm>
            <a:off x="2543225" y="4346463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93"/>
          <p:cNvSpPr txBox="1"/>
          <p:nvPr/>
        </p:nvSpPr>
        <p:spPr>
          <a:xfrm>
            <a:off x="3237475" y="3253575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93"/>
          <p:cNvSpPr txBox="1"/>
          <p:nvPr/>
        </p:nvSpPr>
        <p:spPr>
          <a:xfrm>
            <a:off x="2627875" y="2110575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93"/>
          <p:cNvSpPr txBox="1"/>
          <p:nvPr>
            <p:ph type="body" idx="1"/>
          </p:nvPr>
        </p:nvSpPr>
        <p:spPr>
          <a:xfrm>
            <a:off x="3738650" y="3686500"/>
            <a:ext cx="50814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AF = CD as they are edges of a regular hexagon.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6" name="Google Shape;1406;p93"/>
          <p:cNvSpPr/>
          <p:nvPr/>
        </p:nvSpPr>
        <p:spPr>
          <a:xfrm>
            <a:off x="722675" y="3143800"/>
            <a:ext cx="422700" cy="422700"/>
          </a:xfrm>
          <a:prstGeom prst="arc">
            <a:avLst>
              <a:gd name="adj1" fmla="val 18229808"/>
              <a:gd name="adj2" fmla="val 371206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93"/>
          <p:cNvSpPr/>
          <p:nvPr/>
        </p:nvSpPr>
        <p:spPr>
          <a:xfrm flipH="1">
            <a:off x="2962625" y="3143800"/>
            <a:ext cx="422700" cy="422700"/>
          </a:xfrm>
          <a:prstGeom prst="arc">
            <a:avLst>
              <a:gd name="adj1" fmla="val 18229808"/>
              <a:gd name="adj2" fmla="val 371206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8" name="Google Shape;1408;p93"/>
          <p:cNvCxnSpPr/>
          <p:nvPr/>
        </p:nvCxnSpPr>
        <p:spPr>
          <a:xfrm rot="10800000" flipH="1">
            <a:off x="1165137" y="2889249"/>
            <a:ext cx="0" cy="14099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9" name="Google Shape;1409;p93"/>
          <p:cNvCxnSpPr/>
          <p:nvPr/>
        </p:nvCxnSpPr>
        <p:spPr>
          <a:xfrm rot="10800000" flipH="1">
            <a:off x="2948729" y="3716554"/>
            <a:ext cx="0" cy="14099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0" name="Google Shape;1410;p93"/>
          <p:cNvSpPr txBox="1"/>
          <p:nvPr>
            <p:ph type="body" idx="1"/>
          </p:nvPr>
        </p:nvSpPr>
        <p:spPr>
          <a:xfrm>
            <a:off x="3738650" y="2934650"/>
            <a:ext cx="50814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∠ACF = ∠CFD as they are interior alternate angles in parallel lines.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1" name="Google Shape;1411;p93"/>
          <p:cNvSpPr/>
          <p:nvPr/>
        </p:nvSpPr>
        <p:spPr>
          <a:xfrm>
            <a:off x="1280403" y="2186206"/>
            <a:ext cx="422700" cy="422700"/>
          </a:xfrm>
          <a:prstGeom prst="arc">
            <a:avLst>
              <a:gd name="adj1" fmla="val 5619971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93"/>
          <p:cNvSpPr/>
          <p:nvPr/>
        </p:nvSpPr>
        <p:spPr>
          <a:xfrm>
            <a:off x="1243500" y="2160000"/>
            <a:ext cx="486600" cy="486900"/>
          </a:xfrm>
          <a:prstGeom prst="arc">
            <a:avLst>
              <a:gd name="adj1" fmla="val 5505233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93"/>
          <p:cNvSpPr/>
          <p:nvPr/>
        </p:nvSpPr>
        <p:spPr>
          <a:xfrm>
            <a:off x="2408363" y="2188712"/>
            <a:ext cx="422700" cy="422700"/>
          </a:xfrm>
          <a:prstGeom prst="arc">
            <a:avLst>
              <a:gd name="adj1" fmla="val 5619971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93"/>
          <p:cNvSpPr/>
          <p:nvPr/>
        </p:nvSpPr>
        <p:spPr>
          <a:xfrm>
            <a:off x="2371461" y="2162507"/>
            <a:ext cx="486600" cy="486900"/>
          </a:xfrm>
          <a:prstGeom prst="arc">
            <a:avLst>
              <a:gd name="adj1" fmla="val 5505233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93"/>
          <p:cNvSpPr/>
          <p:nvPr/>
        </p:nvSpPr>
        <p:spPr>
          <a:xfrm rot="10800000">
            <a:off x="1275511" y="4148113"/>
            <a:ext cx="422700" cy="422700"/>
          </a:xfrm>
          <a:prstGeom prst="arc">
            <a:avLst>
              <a:gd name="adj1" fmla="val 5619971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93"/>
          <p:cNvSpPr/>
          <p:nvPr/>
        </p:nvSpPr>
        <p:spPr>
          <a:xfrm rot="10800000">
            <a:off x="1248513" y="4110118"/>
            <a:ext cx="486600" cy="486900"/>
          </a:xfrm>
          <a:prstGeom prst="arc">
            <a:avLst>
              <a:gd name="adj1" fmla="val 5505233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93"/>
          <p:cNvSpPr/>
          <p:nvPr/>
        </p:nvSpPr>
        <p:spPr>
          <a:xfrm rot="10800000">
            <a:off x="2403471" y="4153126"/>
            <a:ext cx="422700" cy="422700"/>
          </a:xfrm>
          <a:prstGeom prst="arc">
            <a:avLst>
              <a:gd name="adj1" fmla="val 5619971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93"/>
          <p:cNvSpPr/>
          <p:nvPr/>
        </p:nvSpPr>
        <p:spPr>
          <a:xfrm rot="10800000">
            <a:off x="2376474" y="4115132"/>
            <a:ext cx="486600" cy="486900"/>
          </a:xfrm>
          <a:prstGeom prst="arc">
            <a:avLst>
              <a:gd name="adj1" fmla="val 5505233"/>
              <a:gd name="adj2" fmla="val 702853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9" name="Google Shape;1419;p93"/>
          <p:cNvCxnSpPr/>
          <p:nvPr/>
        </p:nvCxnSpPr>
        <p:spPr>
          <a:xfrm flipH="1">
            <a:off x="2237454" y="4288079"/>
            <a:ext cx="0" cy="14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0" name="Google Shape;1420;p93"/>
          <p:cNvCxnSpPr/>
          <p:nvPr/>
        </p:nvCxnSpPr>
        <p:spPr>
          <a:xfrm flipH="1">
            <a:off x="2240201" y="2327045"/>
            <a:ext cx="0" cy="14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21" name="Google Shape;1421;p93"/>
          <p:cNvGrpSpPr/>
          <p:nvPr/>
        </p:nvGrpSpPr>
        <p:grpSpPr>
          <a:xfrm>
            <a:off x="1247126" y="4082821"/>
            <a:ext cx="518400" cy="518400"/>
            <a:chOff x="1247126" y="4082821"/>
            <a:chExt cx="518400" cy="518400"/>
          </a:xfrm>
        </p:grpSpPr>
        <p:sp>
          <p:nvSpPr>
            <p:cNvPr id="1422" name="Google Shape;1422;p93"/>
            <p:cNvSpPr/>
            <p:nvPr/>
          </p:nvSpPr>
          <p:spPr>
            <a:xfrm>
              <a:off x="1247126" y="4082821"/>
              <a:ext cx="518400" cy="518400"/>
            </a:xfrm>
            <a:prstGeom prst="arc">
              <a:avLst>
                <a:gd name="adj1" fmla="val 18026963"/>
                <a:gd name="adj2" fmla="val 11499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3" name="Google Shape;1423;p93"/>
            <p:cNvSpPr/>
            <p:nvPr/>
          </p:nvSpPr>
          <p:spPr>
            <a:xfrm>
              <a:off x="1248525" y="4110275"/>
              <a:ext cx="486600" cy="486600"/>
            </a:xfrm>
            <a:prstGeom prst="arc">
              <a:avLst>
                <a:gd name="adj1" fmla="val 18099301"/>
                <a:gd name="adj2" fmla="val 21470827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4" name="Google Shape;1424;p93"/>
            <p:cNvSpPr/>
            <p:nvPr/>
          </p:nvSpPr>
          <p:spPr>
            <a:xfrm>
              <a:off x="1280475" y="4142225"/>
              <a:ext cx="422700" cy="422700"/>
            </a:xfrm>
            <a:prstGeom prst="arc">
              <a:avLst>
                <a:gd name="adj1" fmla="val 18120280"/>
                <a:gd name="adj2" fmla="val 21447522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25" name="Google Shape;1425;p93"/>
          <p:cNvGrpSpPr/>
          <p:nvPr/>
        </p:nvGrpSpPr>
        <p:grpSpPr>
          <a:xfrm>
            <a:off x="2343977" y="2149106"/>
            <a:ext cx="518400" cy="518400"/>
            <a:chOff x="2343977" y="2149106"/>
            <a:chExt cx="518400" cy="518400"/>
          </a:xfrm>
        </p:grpSpPr>
        <p:sp>
          <p:nvSpPr>
            <p:cNvPr id="1426" name="Google Shape;1426;p93"/>
            <p:cNvSpPr/>
            <p:nvPr/>
          </p:nvSpPr>
          <p:spPr>
            <a:xfrm rot="10800000">
              <a:off x="2343977" y="2149106"/>
              <a:ext cx="518400" cy="518400"/>
            </a:xfrm>
            <a:prstGeom prst="arc">
              <a:avLst>
                <a:gd name="adj1" fmla="val 18026963"/>
                <a:gd name="adj2" fmla="val 11499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7" name="Google Shape;1427;p93"/>
            <p:cNvSpPr/>
            <p:nvPr/>
          </p:nvSpPr>
          <p:spPr>
            <a:xfrm rot="10800000">
              <a:off x="2374115" y="2154785"/>
              <a:ext cx="486600" cy="486600"/>
            </a:xfrm>
            <a:prstGeom prst="arc">
              <a:avLst>
                <a:gd name="adj1" fmla="val 18099301"/>
                <a:gd name="adj2" fmla="val 21470827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8" name="Google Shape;1428;p93"/>
            <p:cNvSpPr/>
            <p:nvPr/>
          </p:nvSpPr>
          <p:spPr>
            <a:xfrm rot="10800000">
              <a:off x="2408375" y="2186440"/>
              <a:ext cx="422700" cy="422700"/>
            </a:xfrm>
            <a:prstGeom prst="arc">
              <a:avLst>
                <a:gd name="adj1" fmla="val 18120280"/>
                <a:gd name="adj2" fmla="val 21447522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9" name="Google Shape;142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  <p:pic>
        <p:nvPicPr>
          <p:cNvPr id="1430" name="Google Shape;143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8363" y="4392075"/>
            <a:ext cx="216000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1" name="Google Shape;143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6488" y="4392075"/>
            <a:ext cx="2160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35" name="Shape 1435"/>
        <p:cNvGrpSpPr/>
        <p:nvPr/>
      </p:nvGrpSpPr>
      <p:grpSpPr>
        <a:xfrm>
          <a:off x="0" y="0"/>
          <a:ext cx="0" cy="0"/>
        </a:xfrm>
      </p:grpSpPr>
      <p:sp>
        <p:nvSpPr>
          <p:cNvPr id="1436" name="Google Shape;1436;p94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Complete the proof that triangle ABD and triangle BCD are congruent by AAS/ASA.</a:t>
            </a:r>
            <a:br>
              <a:rPr lang="en-GB" sz="1800"/>
            </a:br>
            <a:r>
              <a:rPr lang="en-GB" sz="1800"/>
              <a:t>Given that ABCD is a rhombus. </a:t>
            </a:r>
            <a:endParaRPr sz="1800"/>
          </a:p>
        </p:txBody>
      </p:sp>
      <p:sp>
        <p:nvSpPr>
          <p:cNvPr id="1437" name="Google Shape;1437;p94"/>
          <p:cNvSpPr txBox="1"/>
          <p:nvPr>
            <p:ph type="body" idx="1"/>
          </p:nvPr>
        </p:nvSpPr>
        <p:spPr>
          <a:xfrm>
            <a:off x="4157700" y="1835750"/>
            <a:ext cx="4662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∠DAB = ∠BCD as they are </a:t>
            </a:r>
            <a:endParaRPr sz="1800"/>
          </a:p>
        </p:txBody>
      </p:sp>
      <p:pic>
        <p:nvPicPr>
          <p:cNvPr id="1438" name="Google Shape;143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425" y="1998825"/>
            <a:ext cx="1932375" cy="1393574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94"/>
          <p:cNvSpPr txBox="1"/>
          <p:nvPr/>
        </p:nvSpPr>
        <p:spPr>
          <a:xfrm>
            <a:off x="1180138" y="1857500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94"/>
          <p:cNvSpPr txBox="1"/>
          <p:nvPr/>
        </p:nvSpPr>
        <p:spPr>
          <a:xfrm>
            <a:off x="617769" y="3152900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94"/>
          <p:cNvSpPr txBox="1"/>
          <p:nvPr/>
        </p:nvSpPr>
        <p:spPr>
          <a:xfrm>
            <a:off x="2181129" y="3152900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94"/>
          <p:cNvSpPr txBox="1"/>
          <p:nvPr/>
        </p:nvSpPr>
        <p:spPr>
          <a:xfrm>
            <a:off x="2638329" y="1857500"/>
            <a:ext cx="21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94"/>
          <p:cNvSpPr txBox="1"/>
          <p:nvPr>
            <p:ph type="body" idx="1"/>
          </p:nvPr>
        </p:nvSpPr>
        <p:spPr>
          <a:xfrm>
            <a:off x="4157700" y="2597750"/>
            <a:ext cx="4662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∠ABD = ∠</a:t>
            </a:r>
            <a:r>
              <a:rPr lang="en-GB" sz="1800">
                <a:solidFill>
                  <a:srgbClr val="E6F2F2"/>
                </a:solidFill>
              </a:rPr>
              <a:t>BDC</a:t>
            </a:r>
            <a:r>
              <a:rPr lang="en-GB" sz="1800"/>
              <a:t>    as they are interior alternate angles in parallel lines.</a:t>
            </a:r>
            <a:endParaRPr sz="1800"/>
          </a:p>
        </p:txBody>
      </p:sp>
      <p:sp>
        <p:nvSpPr>
          <p:cNvPr id="1444" name="Google Shape;1444;p94"/>
          <p:cNvSpPr txBox="1"/>
          <p:nvPr>
            <p:ph type="body" idx="1"/>
          </p:nvPr>
        </p:nvSpPr>
        <p:spPr>
          <a:xfrm>
            <a:off x="4157700" y="3435950"/>
            <a:ext cx="4662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AB = DC as they are edges of a rhombus.</a:t>
            </a:r>
            <a:endParaRPr sz="1800"/>
          </a:p>
        </p:txBody>
      </p:sp>
      <p:sp>
        <p:nvSpPr>
          <p:cNvPr id="1445" name="Google Shape;1445;p94"/>
          <p:cNvSpPr txBox="1"/>
          <p:nvPr>
            <p:ph type="body" idx="1"/>
          </p:nvPr>
        </p:nvSpPr>
        <p:spPr>
          <a:xfrm>
            <a:off x="4157700" y="3969350"/>
            <a:ext cx="4662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Hence,    ABD and    BCD are congruent by ASA.</a:t>
            </a:r>
            <a:endParaRPr sz="1800"/>
          </a:p>
        </p:txBody>
      </p:sp>
      <p:cxnSp>
        <p:nvCxnSpPr>
          <p:cNvPr id="1446" name="Google Shape;1446;p94"/>
          <p:cNvCxnSpPr/>
          <p:nvPr/>
        </p:nvCxnSpPr>
        <p:spPr>
          <a:xfrm>
            <a:off x="4157700" y="2400925"/>
            <a:ext cx="4548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7" name="Google Shape;1447;p94"/>
          <p:cNvCxnSpPr/>
          <p:nvPr/>
        </p:nvCxnSpPr>
        <p:spPr>
          <a:xfrm>
            <a:off x="5246850" y="2828825"/>
            <a:ext cx="633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8" name="Google Shape;1448;p94"/>
          <p:cNvCxnSpPr/>
          <p:nvPr/>
        </p:nvCxnSpPr>
        <p:spPr>
          <a:xfrm>
            <a:off x="7131900" y="2080250"/>
            <a:ext cx="1574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9" name="Google Shape;1449;p94"/>
          <p:cNvSpPr txBox="1"/>
          <p:nvPr>
            <p:ph type="body" idx="1"/>
          </p:nvPr>
        </p:nvSpPr>
        <p:spPr>
          <a:xfrm>
            <a:off x="7131900" y="1814000"/>
            <a:ext cx="9366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opposite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0" name="Google Shape;1450;p94"/>
          <p:cNvSpPr txBox="1"/>
          <p:nvPr>
            <p:ph type="body" idx="1"/>
          </p:nvPr>
        </p:nvSpPr>
        <p:spPr>
          <a:xfrm>
            <a:off x="4157700" y="2131075"/>
            <a:ext cx="23289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angles in a rhombus.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1" name="Google Shape;1451;p94"/>
          <p:cNvSpPr txBox="1"/>
          <p:nvPr>
            <p:ph type="body" idx="1"/>
          </p:nvPr>
        </p:nvSpPr>
        <p:spPr>
          <a:xfrm>
            <a:off x="5266584" y="2586881"/>
            <a:ext cx="5469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BDC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2" name="Google Shape;145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  <p:pic>
        <p:nvPicPr>
          <p:cNvPr id="1453" name="Google Shape;1453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6900" y="3931250"/>
            <a:ext cx="216000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4" name="Google Shape;1454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7713" y="3969350"/>
            <a:ext cx="2160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58" name="Shape 1458"/>
        <p:cNvGrpSpPr/>
        <p:nvPr/>
      </p:nvGrpSpPr>
      <p:grpSpPr>
        <a:xfrm>
          <a:off x="0" y="0"/>
          <a:ext cx="0" cy="0"/>
        </a:xfrm>
      </p:grpSpPr>
      <p:sp>
        <p:nvSpPr>
          <p:cNvPr id="1459" name="Google Shape;1459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  <p:sp>
        <p:nvSpPr>
          <p:cNvPr id="1460" name="Google Shape;1460;p95"/>
          <p:cNvSpPr txBox="1"/>
          <p:nvPr/>
        </p:nvSpPr>
        <p:spPr>
          <a:xfrm>
            <a:off x="324000" y="772800"/>
            <a:ext cx="8496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Prove each pair of triangles are congruent by ASA/AAS.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95"/>
          <p:cNvSpPr txBox="1"/>
          <p:nvPr/>
        </p:nvSpPr>
        <p:spPr>
          <a:xfrm>
            <a:off x="324000" y="1303050"/>
            <a:ext cx="2586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95"/>
          <p:cNvSpPr txBox="1"/>
          <p:nvPr/>
        </p:nvSpPr>
        <p:spPr>
          <a:xfrm>
            <a:off x="324000" y="3240000"/>
            <a:ext cx="2586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95"/>
          <p:cNvSpPr/>
          <p:nvPr/>
        </p:nvSpPr>
        <p:spPr>
          <a:xfrm>
            <a:off x="1393325" y="1574375"/>
            <a:ext cx="2267100" cy="999725"/>
          </a:xfrm>
          <a:custGeom>
            <a:rect l="l" t="t" r="r" b="b"/>
            <a:pathLst>
              <a:path w="90684" h="39989" extrusionOk="0">
                <a:moveTo>
                  <a:pt x="23301" y="0"/>
                </a:moveTo>
                <a:lnTo>
                  <a:pt x="0" y="39989"/>
                </a:lnTo>
                <a:lnTo>
                  <a:pt x="90684" y="39989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464" name="Google Shape;1464;p95"/>
          <p:cNvSpPr/>
          <p:nvPr/>
        </p:nvSpPr>
        <p:spPr>
          <a:xfrm>
            <a:off x="1102200" y="2280450"/>
            <a:ext cx="582600" cy="582600"/>
          </a:xfrm>
          <a:prstGeom prst="pie">
            <a:avLst>
              <a:gd name="adj1" fmla="val 18035532"/>
              <a:gd name="adj2" fmla="val 2158844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95"/>
          <p:cNvSpPr/>
          <p:nvPr/>
        </p:nvSpPr>
        <p:spPr>
          <a:xfrm rot="7397835">
            <a:off x="1686129" y="1287058"/>
            <a:ext cx="582532" cy="582532"/>
          </a:xfrm>
          <a:prstGeom prst="pie">
            <a:avLst>
              <a:gd name="adj1" fmla="val 16008414"/>
              <a:gd name="adj2" fmla="val 2145043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95"/>
          <p:cNvSpPr/>
          <p:nvPr/>
        </p:nvSpPr>
        <p:spPr>
          <a:xfrm rot="10800000" flipH="1">
            <a:off x="5166425" y="1660937"/>
            <a:ext cx="2267100" cy="999725"/>
          </a:xfrm>
          <a:custGeom>
            <a:rect l="l" t="t" r="r" b="b"/>
            <a:pathLst>
              <a:path w="90684" h="39989" extrusionOk="0">
                <a:moveTo>
                  <a:pt x="23301" y="0"/>
                </a:moveTo>
                <a:lnTo>
                  <a:pt x="0" y="39989"/>
                </a:lnTo>
                <a:lnTo>
                  <a:pt x="90684" y="39989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467" name="Google Shape;1467;p95"/>
          <p:cNvSpPr/>
          <p:nvPr/>
        </p:nvSpPr>
        <p:spPr>
          <a:xfrm rot="10800000" flipH="1">
            <a:off x="4875300" y="1371987"/>
            <a:ext cx="582600" cy="582600"/>
          </a:xfrm>
          <a:prstGeom prst="pie">
            <a:avLst>
              <a:gd name="adj1" fmla="val 18035532"/>
              <a:gd name="adj2" fmla="val 2158844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95"/>
          <p:cNvSpPr/>
          <p:nvPr/>
        </p:nvSpPr>
        <p:spPr>
          <a:xfrm rot="3402165" flipH="1">
            <a:off x="5459229" y="2365446"/>
            <a:ext cx="582532" cy="582532"/>
          </a:xfrm>
          <a:prstGeom prst="pie">
            <a:avLst>
              <a:gd name="adj1" fmla="val 16008414"/>
              <a:gd name="adj2" fmla="val 2145043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95"/>
          <p:cNvSpPr/>
          <p:nvPr/>
        </p:nvSpPr>
        <p:spPr>
          <a:xfrm>
            <a:off x="1157175" y="3392800"/>
            <a:ext cx="1708200" cy="1196525"/>
          </a:xfrm>
          <a:custGeom>
            <a:rect l="l" t="t" r="r" b="b"/>
            <a:pathLst>
              <a:path w="68328" h="47861" extrusionOk="0">
                <a:moveTo>
                  <a:pt x="0" y="24875"/>
                </a:moveTo>
                <a:lnTo>
                  <a:pt x="68328" y="0"/>
                </a:lnTo>
                <a:lnTo>
                  <a:pt x="68328" y="47861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470" name="Google Shape;1470;p95"/>
          <p:cNvSpPr/>
          <p:nvPr/>
        </p:nvSpPr>
        <p:spPr>
          <a:xfrm>
            <a:off x="874549" y="3721914"/>
            <a:ext cx="582600" cy="582600"/>
          </a:xfrm>
          <a:prstGeom prst="pie">
            <a:avLst>
              <a:gd name="adj1" fmla="val 20398464"/>
              <a:gd name="adj2" fmla="val 11147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95"/>
          <p:cNvSpPr/>
          <p:nvPr/>
        </p:nvSpPr>
        <p:spPr>
          <a:xfrm rot="-8434788">
            <a:off x="2572651" y="3103165"/>
            <a:ext cx="582517" cy="582517"/>
          </a:xfrm>
          <a:prstGeom prst="pie">
            <a:avLst>
              <a:gd name="adj1" fmla="val 13841780"/>
              <a:gd name="adj2" fmla="val 1802187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95"/>
          <p:cNvSpPr/>
          <p:nvPr/>
        </p:nvSpPr>
        <p:spPr>
          <a:xfrm rot="9835154">
            <a:off x="5389439" y="3117285"/>
            <a:ext cx="1708249" cy="1196560"/>
          </a:xfrm>
          <a:custGeom>
            <a:rect l="l" t="t" r="r" b="b"/>
            <a:pathLst>
              <a:path w="68328" h="47861" extrusionOk="0">
                <a:moveTo>
                  <a:pt x="0" y="24875"/>
                </a:moveTo>
                <a:lnTo>
                  <a:pt x="68328" y="0"/>
                </a:lnTo>
                <a:lnTo>
                  <a:pt x="68328" y="47861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473" name="Google Shape;1473;p95"/>
          <p:cNvSpPr/>
          <p:nvPr/>
        </p:nvSpPr>
        <p:spPr>
          <a:xfrm rot="9835009">
            <a:off x="6758485" y="3168824"/>
            <a:ext cx="582603" cy="582603"/>
          </a:xfrm>
          <a:prstGeom prst="pie">
            <a:avLst>
              <a:gd name="adj1" fmla="val 20398464"/>
              <a:gd name="adj2" fmla="val 11147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95"/>
          <p:cNvSpPr/>
          <p:nvPr/>
        </p:nvSpPr>
        <p:spPr>
          <a:xfrm rot="1399819">
            <a:off x="5298384" y="4233789"/>
            <a:ext cx="582529" cy="582529"/>
          </a:xfrm>
          <a:prstGeom prst="pie">
            <a:avLst>
              <a:gd name="adj1" fmla="val 13841780"/>
              <a:gd name="adj2" fmla="val 1802187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95"/>
          <p:cNvSpPr txBox="1"/>
          <p:nvPr/>
        </p:nvSpPr>
        <p:spPr>
          <a:xfrm>
            <a:off x="1848100" y="130305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95"/>
          <p:cNvSpPr txBox="1"/>
          <p:nvPr/>
        </p:nvSpPr>
        <p:spPr>
          <a:xfrm>
            <a:off x="1684788" y="2253344"/>
            <a:ext cx="37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71°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95"/>
          <p:cNvSpPr txBox="1"/>
          <p:nvPr/>
        </p:nvSpPr>
        <p:spPr>
          <a:xfrm>
            <a:off x="2858297" y="1564863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95"/>
          <p:cNvSpPr txBox="1"/>
          <p:nvPr/>
        </p:nvSpPr>
        <p:spPr>
          <a:xfrm>
            <a:off x="1198550" y="246195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95"/>
          <p:cNvSpPr txBox="1"/>
          <p:nvPr/>
        </p:nvSpPr>
        <p:spPr>
          <a:xfrm>
            <a:off x="3702675" y="25181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95"/>
          <p:cNvSpPr txBox="1"/>
          <p:nvPr/>
        </p:nvSpPr>
        <p:spPr>
          <a:xfrm>
            <a:off x="4951500" y="150595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95"/>
          <p:cNvSpPr txBox="1"/>
          <p:nvPr/>
        </p:nvSpPr>
        <p:spPr>
          <a:xfrm>
            <a:off x="5605050" y="26605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95"/>
          <p:cNvSpPr txBox="1"/>
          <p:nvPr/>
        </p:nvSpPr>
        <p:spPr>
          <a:xfrm>
            <a:off x="7511600" y="143972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95"/>
          <p:cNvSpPr txBox="1"/>
          <p:nvPr/>
        </p:nvSpPr>
        <p:spPr>
          <a:xfrm>
            <a:off x="939950" y="387462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95"/>
          <p:cNvSpPr txBox="1"/>
          <p:nvPr/>
        </p:nvSpPr>
        <p:spPr>
          <a:xfrm>
            <a:off x="2894275" y="316597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95"/>
          <p:cNvSpPr txBox="1"/>
          <p:nvPr/>
        </p:nvSpPr>
        <p:spPr>
          <a:xfrm>
            <a:off x="2894266" y="4575192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95"/>
          <p:cNvSpPr txBox="1"/>
          <p:nvPr/>
        </p:nvSpPr>
        <p:spPr>
          <a:xfrm>
            <a:off x="5069100" y="316597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95"/>
          <p:cNvSpPr txBox="1"/>
          <p:nvPr/>
        </p:nvSpPr>
        <p:spPr>
          <a:xfrm>
            <a:off x="7122950" y="32928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95"/>
          <p:cNvSpPr txBox="1"/>
          <p:nvPr/>
        </p:nvSpPr>
        <p:spPr>
          <a:xfrm>
            <a:off x="5460350" y="45752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95"/>
          <p:cNvSpPr txBox="1"/>
          <p:nvPr/>
        </p:nvSpPr>
        <p:spPr>
          <a:xfrm>
            <a:off x="1922001" y="1882800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95"/>
          <p:cNvSpPr txBox="1"/>
          <p:nvPr/>
        </p:nvSpPr>
        <p:spPr>
          <a:xfrm>
            <a:off x="5718951" y="2098800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95"/>
          <p:cNvSpPr txBox="1"/>
          <p:nvPr/>
        </p:nvSpPr>
        <p:spPr>
          <a:xfrm>
            <a:off x="5457335" y="1728582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71°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95"/>
          <p:cNvSpPr txBox="1"/>
          <p:nvPr/>
        </p:nvSpPr>
        <p:spPr>
          <a:xfrm>
            <a:off x="6689172" y="2205013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3" name="Google Shape;1493;p95"/>
          <p:cNvCxnSpPr/>
          <p:nvPr/>
        </p:nvCxnSpPr>
        <p:spPr>
          <a:xfrm>
            <a:off x="2046300" y="1432625"/>
            <a:ext cx="1692000" cy="100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94" name="Google Shape;1494;p95"/>
          <p:cNvCxnSpPr/>
          <p:nvPr/>
        </p:nvCxnSpPr>
        <p:spPr>
          <a:xfrm rot="10800000" flipH="1">
            <a:off x="5823800" y="1787775"/>
            <a:ext cx="1687800" cy="96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95" name="Google Shape;1495;p95"/>
          <p:cNvSpPr txBox="1"/>
          <p:nvPr/>
        </p:nvSpPr>
        <p:spPr>
          <a:xfrm>
            <a:off x="1547902" y="3874625"/>
            <a:ext cx="43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34°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95"/>
          <p:cNvSpPr txBox="1"/>
          <p:nvPr/>
        </p:nvSpPr>
        <p:spPr>
          <a:xfrm>
            <a:off x="2380752" y="3641388"/>
            <a:ext cx="43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74°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95"/>
          <p:cNvSpPr txBox="1"/>
          <p:nvPr/>
        </p:nvSpPr>
        <p:spPr>
          <a:xfrm>
            <a:off x="6357102" y="3443175"/>
            <a:ext cx="43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34°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95"/>
          <p:cNvSpPr txBox="1"/>
          <p:nvPr/>
        </p:nvSpPr>
        <p:spPr>
          <a:xfrm>
            <a:off x="5605052" y="3995763"/>
            <a:ext cx="43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9" name="Google Shape;1499;p95"/>
          <p:cNvCxnSpPr/>
          <p:nvPr/>
        </p:nvCxnSpPr>
        <p:spPr>
          <a:xfrm>
            <a:off x="3023863" y="3408463"/>
            <a:ext cx="26100" cy="1165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00" name="Google Shape;1500;p95"/>
          <p:cNvSpPr txBox="1"/>
          <p:nvPr/>
        </p:nvSpPr>
        <p:spPr>
          <a:xfrm>
            <a:off x="3152872" y="3852450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29 mm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1" name="Google Shape;1501;p95"/>
          <p:cNvCxnSpPr/>
          <p:nvPr/>
        </p:nvCxnSpPr>
        <p:spPr>
          <a:xfrm>
            <a:off x="5073400" y="3430613"/>
            <a:ext cx="325500" cy="1191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02" name="Google Shape;1502;p95"/>
          <p:cNvSpPr txBox="1"/>
          <p:nvPr/>
        </p:nvSpPr>
        <p:spPr>
          <a:xfrm>
            <a:off x="4421422" y="3899125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29 mm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6" name="Shape 1506"/>
        <p:cNvGrpSpPr/>
        <p:nvPr/>
      </p:nvGrpSpPr>
      <p:grpSpPr>
        <a:xfrm>
          <a:off x="0" y="0"/>
          <a:ext cx="0" cy="0"/>
        </a:xfrm>
      </p:grpSpPr>
      <p:sp>
        <p:nvSpPr>
          <p:cNvPr id="1507" name="Google Shape;1507;p96"/>
          <p:cNvSpPr txBox="1"/>
          <p:nvPr/>
        </p:nvSpPr>
        <p:spPr>
          <a:xfrm>
            <a:off x="324000" y="3287400"/>
            <a:ext cx="8496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Given a parallelogram ABCD, prove that triangle ABC is congruent to triangle ACD by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ASA or AAS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96"/>
          <p:cNvSpPr txBox="1"/>
          <p:nvPr/>
        </p:nvSpPr>
        <p:spPr>
          <a:xfrm>
            <a:off x="324000" y="849000"/>
            <a:ext cx="8496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Why are these two triangles not congruent by ASA?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96"/>
          <p:cNvSpPr/>
          <p:nvPr/>
        </p:nvSpPr>
        <p:spPr>
          <a:xfrm>
            <a:off x="1767700" y="1810025"/>
            <a:ext cx="1874950" cy="969775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510" name="Google Shape;1510;p96"/>
          <p:cNvSpPr/>
          <p:nvPr/>
        </p:nvSpPr>
        <p:spPr>
          <a:xfrm>
            <a:off x="1125000" y="2395700"/>
            <a:ext cx="1044900" cy="10449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96"/>
          <p:cNvSpPr/>
          <p:nvPr/>
        </p:nvSpPr>
        <p:spPr>
          <a:xfrm>
            <a:off x="3181186" y="2326191"/>
            <a:ext cx="874500" cy="8745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96"/>
          <p:cNvSpPr txBox="1"/>
          <p:nvPr/>
        </p:nvSpPr>
        <p:spPr>
          <a:xfrm>
            <a:off x="2101275" y="15018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96"/>
          <p:cNvSpPr txBox="1"/>
          <p:nvPr/>
        </p:nvSpPr>
        <p:spPr>
          <a:xfrm>
            <a:off x="1518150" y="27204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96"/>
          <p:cNvSpPr txBox="1"/>
          <p:nvPr/>
        </p:nvSpPr>
        <p:spPr>
          <a:xfrm>
            <a:off x="3717900" y="27204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96"/>
          <p:cNvSpPr/>
          <p:nvPr/>
        </p:nvSpPr>
        <p:spPr>
          <a:xfrm flipH="1">
            <a:off x="5479986" y="1714875"/>
            <a:ext cx="1874950" cy="969775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516" name="Google Shape;1516;p96"/>
          <p:cNvSpPr/>
          <p:nvPr/>
        </p:nvSpPr>
        <p:spPr>
          <a:xfrm flipH="1">
            <a:off x="6952736" y="2300550"/>
            <a:ext cx="1044900" cy="10449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96"/>
          <p:cNvSpPr/>
          <p:nvPr/>
        </p:nvSpPr>
        <p:spPr>
          <a:xfrm flipH="1">
            <a:off x="5066950" y="2231041"/>
            <a:ext cx="874500" cy="8745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96"/>
          <p:cNvSpPr txBox="1"/>
          <p:nvPr/>
        </p:nvSpPr>
        <p:spPr>
          <a:xfrm>
            <a:off x="6811750" y="143767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96"/>
          <p:cNvSpPr txBox="1"/>
          <p:nvPr/>
        </p:nvSpPr>
        <p:spPr>
          <a:xfrm>
            <a:off x="5221375" y="25614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96"/>
          <p:cNvSpPr txBox="1"/>
          <p:nvPr/>
        </p:nvSpPr>
        <p:spPr>
          <a:xfrm>
            <a:off x="7459200" y="26376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1" name="Google Shape;1521;p96"/>
          <p:cNvCxnSpPr/>
          <p:nvPr/>
        </p:nvCxnSpPr>
        <p:spPr>
          <a:xfrm>
            <a:off x="2328950" y="1697113"/>
            <a:ext cx="1380900" cy="966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22" name="Google Shape;1522;p96"/>
          <p:cNvCxnSpPr/>
          <p:nvPr/>
        </p:nvCxnSpPr>
        <p:spPr>
          <a:xfrm>
            <a:off x="6991500" y="1658350"/>
            <a:ext cx="512100" cy="983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23" name="Google Shape;1523;p96"/>
          <p:cNvSpPr txBox="1"/>
          <p:nvPr/>
        </p:nvSpPr>
        <p:spPr>
          <a:xfrm>
            <a:off x="2101276" y="2433150"/>
            <a:ext cx="4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96"/>
          <p:cNvSpPr txBox="1"/>
          <p:nvPr/>
        </p:nvSpPr>
        <p:spPr>
          <a:xfrm>
            <a:off x="2940597" y="1837488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4.3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5" name="Google Shape;1525;p96"/>
          <p:cNvSpPr txBox="1"/>
          <p:nvPr/>
        </p:nvSpPr>
        <p:spPr>
          <a:xfrm>
            <a:off x="2827851" y="2472500"/>
            <a:ext cx="4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47°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96"/>
          <p:cNvSpPr txBox="1"/>
          <p:nvPr/>
        </p:nvSpPr>
        <p:spPr>
          <a:xfrm flipH="1">
            <a:off x="6645026" y="2362538"/>
            <a:ext cx="4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96"/>
          <p:cNvSpPr txBox="1"/>
          <p:nvPr/>
        </p:nvSpPr>
        <p:spPr>
          <a:xfrm flipH="1">
            <a:off x="5983251" y="2356375"/>
            <a:ext cx="4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47°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96"/>
          <p:cNvSpPr txBox="1"/>
          <p:nvPr/>
        </p:nvSpPr>
        <p:spPr>
          <a:xfrm>
            <a:off x="7268147" y="1882788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4.3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33" name="Shape 1533"/>
        <p:cNvGrpSpPr/>
        <p:nvPr/>
      </p:nvGrpSpPr>
      <p:grpSpPr>
        <a:xfrm>
          <a:off x="0" y="0"/>
          <a:ext cx="0" cy="0"/>
        </a:xfrm>
      </p:grpSpPr>
      <p:sp>
        <p:nvSpPr>
          <p:cNvPr id="1534" name="Google Shape;1534;p97"/>
          <p:cNvSpPr txBox="1"/>
          <p:nvPr/>
        </p:nvSpPr>
        <p:spPr>
          <a:xfrm>
            <a:off x="324000" y="759300"/>
            <a:ext cx="8496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Point E is the midpoint of AC and BD. Prove that triangle AEB is congruent to triangle ECD by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ASA/AAS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5" name="Google Shape;1535;p97"/>
          <p:cNvGrpSpPr/>
          <p:nvPr/>
        </p:nvGrpSpPr>
        <p:grpSpPr>
          <a:xfrm>
            <a:off x="1941075" y="1473875"/>
            <a:ext cx="2473950" cy="3153475"/>
            <a:chOff x="1941075" y="1473875"/>
            <a:chExt cx="2473950" cy="3153475"/>
          </a:xfrm>
        </p:grpSpPr>
        <p:grpSp>
          <p:nvGrpSpPr>
            <p:cNvPr id="1536" name="Google Shape;1536;p97"/>
            <p:cNvGrpSpPr/>
            <p:nvPr/>
          </p:nvGrpSpPr>
          <p:grpSpPr>
            <a:xfrm>
              <a:off x="2195775" y="1473875"/>
              <a:ext cx="0" cy="3148400"/>
              <a:chOff x="2195775" y="1473875"/>
              <a:chExt cx="0" cy="3148400"/>
            </a:xfrm>
          </p:grpSpPr>
          <p:cxnSp>
            <p:nvCxnSpPr>
              <p:cNvPr id="1537" name="Google Shape;1537;p97"/>
              <p:cNvCxnSpPr/>
              <p:nvPr/>
            </p:nvCxnSpPr>
            <p:spPr>
              <a:xfrm flipH="1">
                <a:off x="2195775" y="14738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38" name="Google Shape;1538;p97"/>
              <p:cNvCxnSpPr/>
              <p:nvPr/>
            </p:nvCxnSpPr>
            <p:spPr>
              <a:xfrm flipH="1">
                <a:off x="2195775" y="20854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39" name="Google Shape;1539;p97"/>
            <p:cNvGrpSpPr/>
            <p:nvPr/>
          </p:nvGrpSpPr>
          <p:grpSpPr>
            <a:xfrm>
              <a:off x="4122825" y="1478950"/>
              <a:ext cx="0" cy="3148400"/>
              <a:chOff x="2195775" y="1473875"/>
              <a:chExt cx="0" cy="3148400"/>
            </a:xfrm>
          </p:grpSpPr>
          <p:cxnSp>
            <p:nvCxnSpPr>
              <p:cNvPr id="1540" name="Google Shape;1540;p97"/>
              <p:cNvCxnSpPr/>
              <p:nvPr/>
            </p:nvCxnSpPr>
            <p:spPr>
              <a:xfrm flipH="1">
                <a:off x="2195775" y="14738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41" name="Google Shape;1541;p97"/>
              <p:cNvCxnSpPr/>
              <p:nvPr/>
            </p:nvCxnSpPr>
            <p:spPr>
              <a:xfrm flipH="1">
                <a:off x="2195775" y="20854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542" name="Google Shape;1542;p97"/>
            <p:cNvCxnSpPr/>
            <p:nvPr/>
          </p:nvCxnSpPr>
          <p:spPr>
            <a:xfrm rot="10800000" flipH="1">
              <a:off x="2190000" y="1800000"/>
              <a:ext cx="1935000" cy="172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3" name="Google Shape;1543;p97"/>
            <p:cNvCxnSpPr/>
            <p:nvPr/>
          </p:nvCxnSpPr>
          <p:spPr>
            <a:xfrm>
              <a:off x="2190000" y="2205000"/>
              <a:ext cx="1935000" cy="103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44" name="Google Shape;1544;p97"/>
            <p:cNvSpPr txBox="1"/>
            <p:nvPr/>
          </p:nvSpPr>
          <p:spPr>
            <a:xfrm>
              <a:off x="1941075" y="2021400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5" name="Google Shape;1545;p97"/>
            <p:cNvSpPr txBox="1"/>
            <p:nvPr/>
          </p:nvSpPr>
          <p:spPr>
            <a:xfrm>
              <a:off x="1941075" y="3358800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6" name="Google Shape;1546;p97"/>
            <p:cNvSpPr txBox="1"/>
            <p:nvPr/>
          </p:nvSpPr>
          <p:spPr>
            <a:xfrm>
              <a:off x="4160325" y="1623325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7" name="Google Shape;1547;p97"/>
            <p:cNvSpPr txBox="1"/>
            <p:nvPr/>
          </p:nvSpPr>
          <p:spPr>
            <a:xfrm>
              <a:off x="4160325" y="3101400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8" name="Google Shape;1548;p97"/>
            <p:cNvSpPr txBox="1"/>
            <p:nvPr/>
          </p:nvSpPr>
          <p:spPr>
            <a:xfrm>
              <a:off x="3031950" y="2345725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49" name="Google Shape;1549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53" name="Shape 1553"/>
        <p:cNvGrpSpPr/>
        <p:nvPr/>
      </p:nvGrpSpPr>
      <p:grpSpPr>
        <a:xfrm>
          <a:off x="0" y="0"/>
          <a:ext cx="0" cy="0"/>
        </a:xfrm>
      </p:grpSpPr>
      <p:sp>
        <p:nvSpPr>
          <p:cNvPr id="1554" name="Google Shape;1554;p98"/>
          <p:cNvSpPr txBox="1"/>
          <p:nvPr/>
        </p:nvSpPr>
        <p:spPr>
          <a:xfrm>
            <a:off x="324000" y="772800"/>
            <a:ext cx="8496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Prove each pair of triangles are congruent by ASA/AAS.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98"/>
          <p:cNvSpPr txBox="1"/>
          <p:nvPr/>
        </p:nvSpPr>
        <p:spPr>
          <a:xfrm>
            <a:off x="324000" y="1303050"/>
            <a:ext cx="2586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98"/>
          <p:cNvSpPr/>
          <p:nvPr/>
        </p:nvSpPr>
        <p:spPr>
          <a:xfrm>
            <a:off x="1393325" y="1574375"/>
            <a:ext cx="2267100" cy="999725"/>
          </a:xfrm>
          <a:custGeom>
            <a:rect l="l" t="t" r="r" b="b"/>
            <a:pathLst>
              <a:path w="90684" h="39989" extrusionOk="0">
                <a:moveTo>
                  <a:pt x="23301" y="0"/>
                </a:moveTo>
                <a:lnTo>
                  <a:pt x="0" y="39989"/>
                </a:lnTo>
                <a:lnTo>
                  <a:pt x="90684" y="39989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557" name="Google Shape;1557;p98"/>
          <p:cNvSpPr/>
          <p:nvPr/>
        </p:nvSpPr>
        <p:spPr>
          <a:xfrm>
            <a:off x="1102200" y="2280450"/>
            <a:ext cx="582600" cy="582600"/>
          </a:xfrm>
          <a:prstGeom prst="pie">
            <a:avLst>
              <a:gd name="adj1" fmla="val 18035532"/>
              <a:gd name="adj2" fmla="val 2158844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98"/>
          <p:cNvSpPr/>
          <p:nvPr/>
        </p:nvSpPr>
        <p:spPr>
          <a:xfrm rot="7397835">
            <a:off x="1686129" y="1287058"/>
            <a:ext cx="582532" cy="582532"/>
          </a:xfrm>
          <a:prstGeom prst="pie">
            <a:avLst>
              <a:gd name="adj1" fmla="val 16008414"/>
              <a:gd name="adj2" fmla="val 2145043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9" name="Google Shape;1559;p98"/>
          <p:cNvSpPr/>
          <p:nvPr/>
        </p:nvSpPr>
        <p:spPr>
          <a:xfrm rot="10800000" flipH="1">
            <a:off x="5166425" y="1660937"/>
            <a:ext cx="2267100" cy="999725"/>
          </a:xfrm>
          <a:custGeom>
            <a:rect l="l" t="t" r="r" b="b"/>
            <a:pathLst>
              <a:path w="90684" h="39989" extrusionOk="0">
                <a:moveTo>
                  <a:pt x="23301" y="0"/>
                </a:moveTo>
                <a:lnTo>
                  <a:pt x="0" y="39989"/>
                </a:lnTo>
                <a:lnTo>
                  <a:pt x="90684" y="39989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560" name="Google Shape;1560;p98"/>
          <p:cNvSpPr/>
          <p:nvPr/>
        </p:nvSpPr>
        <p:spPr>
          <a:xfrm rot="10800000" flipH="1">
            <a:off x="4875300" y="1371987"/>
            <a:ext cx="582600" cy="582600"/>
          </a:xfrm>
          <a:prstGeom prst="pie">
            <a:avLst>
              <a:gd name="adj1" fmla="val 18035532"/>
              <a:gd name="adj2" fmla="val 2158844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98"/>
          <p:cNvSpPr/>
          <p:nvPr/>
        </p:nvSpPr>
        <p:spPr>
          <a:xfrm rot="3402165" flipH="1">
            <a:off x="5459229" y="2365446"/>
            <a:ext cx="582532" cy="582532"/>
          </a:xfrm>
          <a:prstGeom prst="pie">
            <a:avLst>
              <a:gd name="adj1" fmla="val 16008414"/>
              <a:gd name="adj2" fmla="val 2145043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98"/>
          <p:cNvSpPr txBox="1"/>
          <p:nvPr/>
        </p:nvSpPr>
        <p:spPr>
          <a:xfrm>
            <a:off x="1848100" y="130305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98"/>
          <p:cNvSpPr txBox="1"/>
          <p:nvPr/>
        </p:nvSpPr>
        <p:spPr>
          <a:xfrm>
            <a:off x="1684788" y="2253344"/>
            <a:ext cx="37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71°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98"/>
          <p:cNvSpPr txBox="1"/>
          <p:nvPr/>
        </p:nvSpPr>
        <p:spPr>
          <a:xfrm>
            <a:off x="2934497" y="1564863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98"/>
          <p:cNvSpPr txBox="1"/>
          <p:nvPr/>
        </p:nvSpPr>
        <p:spPr>
          <a:xfrm>
            <a:off x="1198550" y="246195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98"/>
          <p:cNvSpPr txBox="1"/>
          <p:nvPr/>
        </p:nvSpPr>
        <p:spPr>
          <a:xfrm>
            <a:off x="3702675" y="25181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98"/>
          <p:cNvSpPr txBox="1"/>
          <p:nvPr/>
        </p:nvSpPr>
        <p:spPr>
          <a:xfrm>
            <a:off x="4951500" y="150595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98"/>
          <p:cNvSpPr txBox="1"/>
          <p:nvPr/>
        </p:nvSpPr>
        <p:spPr>
          <a:xfrm>
            <a:off x="5605050" y="26605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98"/>
          <p:cNvSpPr txBox="1"/>
          <p:nvPr/>
        </p:nvSpPr>
        <p:spPr>
          <a:xfrm>
            <a:off x="7511600" y="143972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98"/>
          <p:cNvSpPr txBox="1"/>
          <p:nvPr/>
        </p:nvSpPr>
        <p:spPr>
          <a:xfrm>
            <a:off x="1922001" y="1882800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98"/>
          <p:cNvSpPr txBox="1"/>
          <p:nvPr/>
        </p:nvSpPr>
        <p:spPr>
          <a:xfrm>
            <a:off x="5718951" y="2098800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98"/>
          <p:cNvSpPr txBox="1"/>
          <p:nvPr/>
        </p:nvSpPr>
        <p:spPr>
          <a:xfrm>
            <a:off x="5457335" y="1728582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71°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98"/>
          <p:cNvSpPr txBox="1"/>
          <p:nvPr/>
        </p:nvSpPr>
        <p:spPr>
          <a:xfrm>
            <a:off x="6689172" y="2205013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4" name="Google Shape;1574;p98"/>
          <p:cNvCxnSpPr/>
          <p:nvPr/>
        </p:nvCxnSpPr>
        <p:spPr>
          <a:xfrm>
            <a:off x="2046300" y="1432625"/>
            <a:ext cx="1692000" cy="100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75" name="Google Shape;1575;p98"/>
          <p:cNvCxnSpPr/>
          <p:nvPr/>
        </p:nvCxnSpPr>
        <p:spPr>
          <a:xfrm rot="10800000" flipH="1">
            <a:off x="5823800" y="1787775"/>
            <a:ext cx="1687800" cy="96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76" name="Google Shape;1576;p98"/>
          <p:cNvSpPr txBox="1"/>
          <p:nvPr/>
        </p:nvSpPr>
        <p:spPr>
          <a:xfrm>
            <a:off x="700050" y="3307625"/>
            <a:ext cx="52569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AC and EF are corresponding edges and equal,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∠BAC = ∠DEF and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∠ABC = ∠EDF 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Hence, congruent by AAS.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77" name="Google Shape;1577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1" name="Shape 1581"/>
        <p:cNvGrpSpPr/>
        <p:nvPr/>
      </p:nvGrpSpPr>
      <p:grpSpPr>
        <a:xfrm>
          <a:off x="0" y="0"/>
          <a:ext cx="0" cy="0"/>
        </a:xfrm>
      </p:grpSpPr>
      <p:sp>
        <p:nvSpPr>
          <p:cNvPr id="1582" name="Google Shape;1582;p99"/>
          <p:cNvSpPr txBox="1"/>
          <p:nvPr/>
        </p:nvSpPr>
        <p:spPr>
          <a:xfrm>
            <a:off x="324000" y="772800"/>
            <a:ext cx="8496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Prove each pair of triangles are congruent by ASA/AAS.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99"/>
          <p:cNvSpPr txBox="1"/>
          <p:nvPr/>
        </p:nvSpPr>
        <p:spPr>
          <a:xfrm>
            <a:off x="324000" y="1258800"/>
            <a:ext cx="2586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99"/>
          <p:cNvSpPr/>
          <p:nvPr/>
        </p:nvSpPr>
        <p:spPr>
          <a:xfrm>
            <a:off x="1157175" y="1411600"/>
            <a:ext cx="1708200" cy="1196525"/>
          </a:xfrm>
          <a:custGeom>
            <a:rect l="l" t="t" r="r" b="b"/>
            <a:pathLst>
              <a:path w="68328" h="47861" extrusionOk="0">
                <a:moveTo>
                  <a:pt x="0" y="24875"/>
                </a:moveTo>
                <a:lnTo>
                  <a:pt x="68328" y="0"/>
                </a:lnTo>
                <a:lnTo>
                  <a:pt x="68328" y="47861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585" name="Google Shape;1585;p99"/>
          <p:cNvSpPr/>
          <p:nvPr/>
        </p:nvSpPr>
        <p:spPr>
          <a:xfrm>
            <a:off x="874549" y="1740714"/>
            <a:ext cx="582600" cy="582600"/>
          </a:xfrm>
          <a:prstGeom prst="pie">
            <a:avLst>
              <a:gd name="adj1" fmla="val 20398464"/>
              <a:gd name="adj2" fmla="val 11147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99"/>
          <p:cNvSpPr/>
          <p:nvPr/>
        </p:nvSpPr>
        <p:spPr>
          <a:xfrm rot="-8434788">
            <a:off x="2572651" y="1121965"/>
            <a:ext cx="582517" cy="582517"/>
          </a:xfrm>
          <a:prstGeom prst="pie">
            <a:avLst>
              <a:gd name="adj1" fmla="val 13841780"/>
              <a:gd name="adj2" fmla="val 1802187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99"/>
          <p:cNvSpPr/>
          <p:nvPr/>
        </p:nvSpPr>
        <p:spPr>
          <a:xfrm rot="9835154">
            <a:off x="5389439" y="1136085"/>
            <a:ext cx="1708249" cy="1196560"/>
          </a:xfrm>
          <a:custGeom>
            <a:rect l="l" t="t" r="r" b="b"/>
            <a:pathLst>
              <a:path w="68328" h="47861" extrusionOk="0">
                <a:moveTo>
                  <a:pt x="0" y="24875"/>
                </a:moveTo>
                <a:lnTo>
                  <a:pt x="68328" y="0"/>
                </a:lnTo>
                <a:lnTo>
                  <a:pt x="68328" y="47861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588" name="Google Shape;1588;p99"/>
          <p:cNvSpPr/>
          <p:nvPr/>
        </p:nvSpPr>
        <p:spPr>
          <a:xfrm rot="9835009">
            <a:off x="6758485" y="1187624"/>
            <a:ext cx="582603" cy="582603"/>
          </a:xfrm>
          <a:prstGeom prst="pie">
            <a:avLst>
              <a:gd name="adj1" fmla="val 20398464"/>
              <a:gd name="adj2" fmla="val 11147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99"/>
          <p:cNvSpPr/>
          <p:nvPr/>
        </p:nvSpPr>
        <p:spPr>
          <a:xfrm rot="1399819">
            <a:off x="5298384" y="2252589"/>
            <a:ext cx="582529" cy="582529"/>
          </a:xfrm>
          <a:prstGeom prst="pie">
            <a:avLst>
              <a:gd name="adj1" fmla="val 13841780"/>
              <a:gd name="adj2" fmla="val 1802187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99"/>
          <p:cNvSpPr txBox="1"/>
          <p:nvPr/>
        </p:nvSpPr>
        <p:spPr>
          <a:xfrm>
            <a:off x="939950" y="189342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99"/>
          <p:cNvSpPr txBox="1"/>
          <p:nvPr/>
        </p:nvSpPr>
        <p:spPr>
          <a:xfrm>
            <a:off x="2894275" y="118477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99"/>
          <p:cNvSpPr txBox="1"/>
          <p:nvPr/>
        </p:nvSpPr>
        <p:spPr>
          <a:xfrm>
            <a:off x="2894266" y="2593992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99"/>
          <p:cNvSpPr txBox="1"/>
          <p:nvPr/>
        </p:nvSpPr>
        <p:spPr>
          <a:xfrm>
            <a:off x="5069100" y="118477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99"/>
          <p:cNvSpPr txBox="1"/>
          <p:nvPr/>
        </p:nvSpPr>
        <p:spPr>
          <a:xfrm>
            <a:off x="7122950" y="13116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99"/>
          <p:cNvSpPr txBox="1"/>
          <p:nvPr/>
        </p:nvSpPr>
        <p:spPr>
          <a:xfrm>
            <a:off x="5460350" y="25940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99"/>
          <p:cNvSpPr txBox="1"/>
          <p:nvPr/>
        </p:nvSpPr>
        <p:spPr>
          <a:xfrm>
            <a:off x="1547902" y="1893425"/>
            <a:ext cx="43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34°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99"/>
          <p:cNvSpPr txBox="1"/>
          <p:nvPr/>
        </p:nvSpPr>
        <p:spPr>
          <a:xfrm>
            <a:off x="2380752" y="1660188"/>
            <a:ext cx="43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74°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99"/>
          <p:cNvSpPr txBox="1"/>
          <p:nvPr/>
        </p:nvSpPr>
        <p:spPr>
          <a:xfrm>
            <a:off x="6357102" y="1461975"/>
            <a:ext cx="43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34°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99"/>
          <p:cNvSpPr txBox="1"/>
          <p:nvPr/>
        </p:nvSpPr>
        <p:spPr>
          <a:xfrm>
            <a:off x="5605052" y="2014563"/>
            <a:ext cx="43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0" name="Google Shape;1600;p99"/>
          <p:cNvCxnSpPr/>
          <p:nvPr/>
        </p:nvCxnSpPr>
        <p:spPr>
          <a:xfrm>
            <a:off x="3023863" y="1427263"/>
            <a:ext cx="26100" cy="1165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01" name="Google Shape;1601;p99"/>
          <p:cNvSpPr txBox="1"/>
          <p:nvPr/>
        </p:nvSpPr>
        <p:spPr>
          <a:xfrm>
            <a:off x="3152872" y="1871250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29 mm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2" name="Google Shape;1602;p99"/>
          <p:cNvCxnSpPr/>
          <p:nvPr/>
        </p:nvCxnSpPr>
        <p:spPr>
          <a:xfrm>
            <a:off x="5073400" y="1449413"/>
            <a:ext cx="325500" cy="1191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03" name="Google Shape;1603;p99"/>
          <p:cNvSpPr txBox="1"/>
          <p:nvPr/>
        </p:nvSpPr>
        <p:spPr>
          <a:xfrm>
            <a:off x="4421422" y="1917925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29 mm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99"/>
          <p:cNvSpPr txBox="1"/>
          <p:nvPr/>
        </p:nvSpPr>
        <p:spPr>
          <a:xfrm>
            <a:off x="700050" y="3307625"/>
            <a:ext cx="78645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∠GIH = 180 - (34 + 74) = 72° and ∠KJL = 180 - (34 + 72) = 74°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GI and JK are corresponding edges and equal,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∠HGI = ∠KJL 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∠GIH = ∠JKL.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Hence, congruent by ASA.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05" name="Google Shape;1605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9" name="Shape 1609"/>
        <p:cNvGrpSpPr/>
        <p:nvPr/>
      </p:nvGrpSpPr>
      <p:grpSpPr>
        <a:xfrm>
          <a:off x="0" y="0"/>
          <a:ext cx="0" cy="0"/>
        </a:xfrm>
      </p:grpSpPr>
      <p:sp>
        <p:nvSpPr>
          <p:cNvPr id="1610" name="Google Shape;1610;p100"/>
          <p:cNvSpPr txBox="1"/>
          <p:nvPr/>
        </p:nvSpPr>
        <p:spPr>
          <a:xfrm>
            <a:off x="324000" y="849000"/>
            <a:ext cx="8496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Why are these two triangles not congruent by ASA?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100"/>
          <p:cNvSpPr/>
          <p:nvPr/>
        </p:nvSpPr>
        <p:spPr>
          <a:xfrm>
            <a:off x="1767700" y="1810025"/>
            <a:ext cx="1874950" cy="969775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612" name="Google Shape;1612;p100"/>
          <p:cNvSpPr/>
          <p:nvPr/>
        </p:nvSpPr>
        <p:spPr>
          <a:xfrm>
            <a:off x="1125000" y="2395700"/>
            <a:ext cx="1044900" cy="10449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3" name="Google Shape;1613;p100"/>
          <p:cNvSpPr/>
          <p:nvPr/>
        </p:nvSpPr>
        <p:spPr>
          <a:xfrm>
            <a:off x="3181186" y="2326191"/>
            <a:ext cx="874500" cy="8745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100"/>
          <p:cNvSpPr txBox="1"/>
          <p:nvPr/>
        </p:nvSpPr>
        <p:spPr>
          <a:xfrm>
            <a:off x="2101275" y="15018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100"/>
          <p:cNvSpPr txBox="1"/>
          <p:nvPr/>
        </p:nvSpPr>
        <p:spPr>
          <a:xfrm>
            <a:off x="1518150" y="27204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100"/>
          <p:cNvSpPr txBox="1"/>
          <p:nvPr/>
        </p:nvSpPr>
        <p:spPr>
          <a:xfrm>
            <a:off x="3717900" y="27204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100"/>
          <p:cNvSpPr/>
          <p:nvPr/>
        </p:nvSpPr>
        <p:spPr>
          <a:xfrm flipH="1">
            <a:off x="5479986" y="1714875"/>
            <a:ext cx="1874950" cy="969775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618" name="Google Shape;1618;p100"/>
          <p:cNvSpPr/>
          <p:nvPr/>
        </p:nvSpPr>
        <p:spPr>
          <a:xfrm flipH="1">
            <a:off x="6952736" y="2300550"/>
            <a:ext cx="1044900" cy="10449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100"/>
          <p:cNvSpPr/>
          <p:nvPr/>
        </p:nvSpPr>
        <p:spPr>
          <a:xfrm flipH="1">
            <a:off x="5066950" y="2231041"/>
            <a:ext cx="874500" cy="8745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100"/>
          <p:cNvSpPr txBox="1"/>
          <p:nvPr/>
        </p:nvSpPr>
        <p:spPr>
          <a:xfrm>
            <a:off x="6811750" y="143767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100"/>
          <p:cNvSpPr txBox="1"/>
          <p:nvPr/>
        </p:nvSpPr>
        <p:spPr>
          <a:xfrm>
            <a:off x="5221375" y="25614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100"/>
          <p:cNvSpPr txBox="1"/>
          <p:nvPr/>
        </p:nvSpPr>
        <p:spPr>
          <a:xfrm>
            <a:off x="7383000" y="26376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3" name="Google Shape;1623;p100"/>
          <p:cNvCxnSpPr/>
          <p:nvPr/>
        </p:nvCxnSpPr>
        <p:spPr>
          <a:xfrm>
            <a:off x="2328950" y="1697113"/>
            <a:ext cx="1380900" cy="966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24" name="Google Shape;1624;p100"/>
          <p:cNvSpPr txBox="1"/>
          <p:nvPr/>
        </p:nvSpPr>
        <p:spPr>
          <a:xfrm>
            <a:off x="2101276" y="2433150"/>
            <a:ext cx="4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5" name="Google Shape;1625;p100"/>
          <p:cNvSpPr txBox="1"/>
          <p:nvPr/>
        </p:nvSpPr>
        <p:spPr>
          <a:xfrm>
            <a:off x="2940597" y="1837488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4.3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100"/>
          <p:cNvSpPr txBox="1"/>
          <p:nvPr/>
        </p:nvSpPr>
        <p:spPr>
          <a:xfrm>
            <a:off x="2827851" y="2472500"/>
            <a:ext cx="4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47°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100"/>
          <p:cNvSpPr txBox="1"/>
          <p:nvPr/>
        </p:nvSpPr>
        <p:spPr>
          <a:xfrm flipH="1">
            <a:off x="6645026" y="2362538"/>
            <a:ext cx="4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100"/>
          <p:cNvSpPr txBox="1"/>
          <p:nvPr/>
        </p:nvSpPr>
        <p:spPr>
          <a:xfrm flipH="1">
            <a:off x="5983251" y="2356375"/>
            <a:ext cx="4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47°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9" name="Google Shape;1629;p100"/>
          <p:cNvCxnSpPr/>
          <p:nvPr/>
        </p:nvCxnSpPr>
        <p:spPr>
          <a:xfrm>
            <a:off x="6991500" y="1658350"/>
            <a:ext cx="512100" cy="983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30" name="Google Shape;1630;p100"/>
          <p:cNvSpPr txBox="1"/>
          <p:nvPr/>
        </p:nvSpPr>
        <p:spPr>
          <a:xfrm>
            <a:off x="7268147" y="1882788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4.3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100"/>
          <p:cNvSpPr txBox="1"/>
          <p:nvPr/>
        </p:nvSpPr>
        <p:spPr>
          <a:xfrm>
            <a:off x="700050" y="3307625"/>
            <a:ext cx="7864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Although, the three interior angles of both triangles are the same. </a:t>
            </a:r>
            <a:b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two edges of 4.3 cm are not corresponding edges in the triangles.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32" name="Google Shape;1632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36" name="Shape 1636"/>
        <p:cNvGrpSpPr/>
        <p:nvPr/>
      </p:nvGrpSpPr>
      <p:grpSpPr>
        <a:xfrm>
          <a:off x="0" y="0"/>
          <a:ext cx="0" cy="0"/>
        </a:xfrm>
      </p:grpSpPr>
      <p:sp>
        <p:nvSpPr>
          <p:cNvPr id="1637" name="Google Shape;1637;p101"/>
          <p:cNvSpPr txBox="1"/>
          <p:nvPr/>
        </p:nvSpPr>
        <p:spPr>
          <a:xfrm>
            <a:off x="324000" y="772800"/>
            <a:ext cx="8496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Given a parallelogram ABCD, prove that triangle ABC is congruent to triangle ACD by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ASA/AAS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8" name="Google Shape;1638;p101"/>
          <p:cNvGrpSpPr/>
          <p:nvPr/>
        </p:nvGrpSpPr>
        <p:grpSpPr>
          <a:xfrm>
            <a:off x="497049" y="1666921"/>
            <a:ext cx="1957107" cy="1422013"/>
            <a:chOff x="1335300" y="1666975"/>
            <a:chExt cx="2451900" cy="1781525"/>
          </a:xfrm>
        </p:grpSpPr>
        <p:sp>
          <p:nvSpPr>
            <p:cNvPr id="1639" name="Google Shape;1639;p101"/>
            <p:cNvSpPr/>
            <p:nvPr/>
          </p:nvSpPr>
          <p:spPr>
            <a:xfrm>
              <a:off x="1552500" y="1920000"/>
              <a:ext cx="1927500" cy="1207500"/>
            </a:xfrm>
            <a:prstGeom prst="parallelogram">
              <a:avLst>
                <a:gd name="adj" fmla="val 25000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40" name="Google Shape;1640;p101"/>
            <p:cNvCxnSpPr/>
            <p:nvPr/>
          </p:nvCxnSpPr>
          <p:spPr>
            <a:xfrm>
              <a:off x="1860000" y="1920000"/>
              <a:ext cx="1320000" cy="121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41" name="Google Shape;1641;p101"/>
            <p:cNvGrpSpPr/>
            <p:nvPr/>
          </p:nvGrpSpPr>
          <p:grpSpPr>
            <a:xfrm>
              <a:off x="1335300" y="1666975"/>
              <a:ext cx="2099400" cy="1781525"/>
              <a:chOff x="495300" y="1237200"/>
              <a:chExt cx="2099400" cy="1781525"/>
            </a:xfrm>
          </p:grpSpPr>
          <p:sp>
            <p:nvSpPr>
              <p:cNvPr id="1642" name="Google Shape;1642;p101"/>
              <p:cNvSpPr txBox="1"/>
              <p:nvPr/>
            </p:nvSpPr>
            <p:spPr>
              <a:xfrm>
                <a:off x="786075" y="1237200"/>
                <a:ext cx="254700" cy="34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3" name="Google Shape;1643;p101"/>
              <p:cNvSpPr txBox="1"/>
              <p:nvPr/>
            </p:nvSpPr>
            <p:spPr>
              <a:xfrm>
                <a:off x="495300" y="2634125"/>
                <a:ext cx="254700" cy="34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4" name="Google Shape;1644;p101"/>
              <p:cNvSpPr txBox="1"/>
              <p:nvPr/>
            </p:nvSpPr>
            <p:spPr>
              <a:xfrm>
                <a:off x="2340000" y="2671625"/>
                <a:ext cx="254700" cy="34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645" name="Google Shape;1645;p101"/>
            <p:cNvSpPr txBox="1"/>
            <p:nvPr/>
          </p:nvSpPr>
          <p:spPr>
            <a:xfrm>
              <a:off x="3532500" y="1746300"/>
              <a:ext cx="254700" cy="34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46" name="Google Shape;1646;p101"/>
          <p:cNvSpPr txBox="1"/>
          <p:nvPr/>
        </p:nvSpPr>
        <p:spPr>
          <a:xfrm>
            <a:off x="2820000" y="1737900"/>
            <a:ext cx="5642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∠DAC = ∠ACB as they are equal interior alternate angles.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7" name="Google Shape;1647;p101"/>
          <p:cNvSpPr txBox="1"/>
          <p:nvPr/>
        </p:nvSpPr>
        <p:spPr>
          <a:xfrm>
            <a:off x="2820000" y="2501700"/>
            <a:ext cx="543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AC is a shared side.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8" name="Google Shape;1648;p101"/>
          <p:cNvSpPr txBox="1"/>
          <p:nvPr/>
        </p:nvSpPr>
        <p:spPr>
          <a:xfrm>
            <a:off x="2820000" y="3919800"/>
            <a:ext cx="4912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Hence, triangle ABC is congruent to triangle ACD by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ASA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/>
          </a:p>
        </p:txBody>
      </p:sp>
      <p:sp>
        <p:nvSpPr>
          <p:cNvPr id="1649" name="Google Shape;1649;p101"/>
          <p:cNvSpPr/>
          <p:nvPr/>
        </p:nvSpPr>
        <p:spPr>
          <a:xfrm rot="10800000">
            <a:off x="608850" y="1562101"/>
            <a:ext cx="615600" cy="615600"/>
          </a:xfrm>
          <a:prstGeom prst="pie">
            <a:avLst>
              <a:gd name="adj1" fmla="val 10795497"/>
              <a:gd name="adj2" fmla="val 13352664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101"/>
          <p:cNvSpPr/>
          <p:nvPr/>
        </p:nvSpPr>
        <p:spPr>
          <a:xfrm>
            <a:off x="1644797" y="2521565"/>
            <a:ext cx="615600" cy="615600"/>
          </a:xfrm>
          <a:prstGeom prst="pie">
            <a:avLst>
              <a:gd name="adj1" fmla="val 10795497"/>
              <a:gd name="adj2" fmla="val 13352664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1" name="Google Shape;1651;p101"/>
          <p:cNvGrpSpPr/>
          <p:nvPr/>
        </p:nvGrpSpPr>
        <p:grpSpPr>
          <a:xfrm>
            <a:off x="532651" y="1485903"/>
            <a:ext cx="768000" cy="768000"/>
            <a:chOff x="532651" y="1485903"/>
            <a:chExt cx="768000" cy="768000"/>
          </a:xfrm>
        </p:grpSpPr>
        <p:sp>
          <p:nvSpPr>
            <p:cNvPr id="1652" name="Google Shape;1652;p101"/>
            <p:cNvSpPr/>
            <p:nvPr/>
          </p:nvSpPr>
          <p:spPr>
            <a:xfrm>
              <a:off x="532651" y="1485903"/>
              <a:ext cx="768000" cy="768000"/>
            </a:xfrm>
            <a:prstGeom prst="pie">
              <a:avLst>
                <a:gd name="adj1" fmla="val 2572249"/>
                <a:gd name="adj2" fmla="val 6301187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3" name="Google Shape;1653;p101"/>
            <p:cNvSpPr/>
            <p:nvPr/>
          </p:nvSpPr>
          <p:spPr>
            <a:xfrm>
              <a:off x="608847" y="1562090"/>
              <a:ext cx="615600" cy="615600"/>
            </a:xfrm>
            <a:prstGeom prst="pie">
              <a:avLst>
                <a:gd name="adj1" fmla="val 2572249"/>
                <a:gd name="adj2" fmla="val 6301187"/>
              </a:avLst>
            </a:prstGeom>
            <a:solidFill>
              <a:srgbClr val="845AD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54" name="Google Shape;1654;p101"/>
          <p:cNvGrpSpPr/>
          <p:nvPr/>
        </p:nvGrpSpPr>
        <p:grpSpPr>
          <a:xfrm rot="10800000">
            <a:off x="1580496" y="2445383"/>
            <a:ext cx="768000" cy="768000"/>
            <a:chOff x="532651" y="1485903"/>
            <a:chExt cx="768000" cy="768000"/>
          </a:xfrm>
        </p:grpSpPr>
        <p:sp>
          <p:nvSpPr>
            <p:cNvPr id="1655" name="Google Shape;1655;p101"/>
            <p:cNvSpPr/>
            <p:nvPr/>
          </p:nvSpPr>
          <p:spPr>
            <a:xfrm>
              <a:off x="532651" y="1485903"/>
              <a:ext cx="768000" cy="768000"/>
            </a:xfrm>
            <a:prstGeom prst="pie">
              <a:avLst>
                <a:gd name="adj1" fmla="val 2572249"/>
                <a:gd name="adj2" fmla="val 6301187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6" name="Google Shape;1656;p101"/>
            <p:cNvSpPr/>
            <p:nvPr/>
          </p:nvSpPr>
          <p:spPr>
            <a:xfrm>
              <a:off x="608847" y="1562090"/>
              <a:ext cx="615600" cy="615600"/>
            </a:xfrm>
            <a:prstGeom prst="pie">
              <a:avLst>
                <a:gd name="adj1" fmla="val 2572249"/>
                <a:gd name="adj2" fmla="val 6301187"/>
              </a:avLst>
            </a:prstGeom>
            <a:solidFill>
              <a:srgbClr val="845AD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57" name="Google Shape;1657;p101"/>
          <p:cNvSpPr txBox="1"/>
          <p:nvPr/>
        </p:nvSpPr>
        <p:spPr>
          <a:xfrm>
            <a:off x="2820000" y="3033300"/>
            <a:ext cx="5642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CA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∠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BAC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as they are equal interior alternate angles.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658" name="Google Shape;1658;p101"/>
          <p:cNvCxnSpPr/>
          <p:nvPr/>
        </p:nvCxnSpPr>
        <p:spPr>
          <a:xfrm>
            <a:off x="910229" y="1868885"/>
            <a:ext cx="1053600" cy="9699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9" name="Google Shape;1659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63" name="Shape 1663"/>
        <p:cNvGrpSpPr/>
        <p:nvPr/>
      </p:nvGrpSpPr>
      <p:grpSpPr>
        <a:xfrm>
          <a:off x="0" y="0"/>
          <a:ext cx="0" cy="0"/>
        </a:xfrm>
      </p:grpSpPr>
      <p:sp>
        <p:nvSpPr>
          <p:cNvPr id="1664" name="Google Shape;1664;p102"/>
          <p:cNvSpPr txBox="1"/>
          <p:nvPr/>
        </p:nvSpPr>
        <p:spPr>
          <a:xfrm>
            <a:off x="324000" y="772800"/>
            <a:ext cx="8496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Given a parallelogram ABCD, prove that triangle ABC is congruent to triangle ACD by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ASA/AAS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5" name="Google Shape;1665;p102"/>
          <p:cNvGrpSpPr/>
          <p:nvPr/>
        </p:nvGrpSpPr>
        <p:grpSpPr>
          <a:xfrm>
            <a:off x="497049" y="1666921"/>
            <a:ext cx="1957107" cy="1422013"/>
            <a:chOff x="1335300" y="1666975"/>
            <a:chExt cx="2451900" cy="1781525"/>
          </a:xfrm>
        </p:grpSpPr>
        <p:sp>
          <p:nvSpPr>
            <p:cNvPr id="1666" name="Google Shape;1666;p102"/>
            <p:cNvSpPr/>
            <p:nvPr/>
          </p:nvSpPr>
          <p:spPr>
            <a:xfrm>
              <a:off x="1552500" y="1920000"/>
              <a:ext cx="1927500" cy="1207500"/>
            </a:xfrm>
            <a:prstGeom prst="parallelogram">
              <a:avLst>
                <a:gd name="adj" fmla="val 25000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67" name="Google Shape;1667;p102"/>
            <p:cNvCxnSpPr/>
            <p:nvPr/>
          </p:nvCxnSpPr>
          <p:spPr>
            <a:xfrm>
              <a:off x="1860000" y="1920000"/>
              <a:ext cx="1320000" cy="121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68" name="Google Shape;1668;p102"/>
            <p:cNvGrpSpPr/>
            <p:nvPr/>
          </p:nvGrpSpPr>
          <p:grpSpPr>
            <a:xfrm>
              <a:off x="1335300" y="1666975"/>
              <a:ext cx="2099400" cy="1781525"/>
              <a:chOff x="495300" y="1237200"/>
              <a:chExt cx="2099400" cy="1781525"/>
            </a:xfrm>
          </p:grpSpPr>
          <p:sp>
            <p:nvSpPr>
              <p:cNvPr id="1669" name="Google Shape;1669;p102"/>
              <p:cNvSpPr txBox="1"/>
              <p:nvPr/>
            </p:nvSpPr>
            <p:spPr>
              <a:xfrm>
                <a:off x="786075" y="1237200"/>
                <a:ext cx="254700" cy="34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0" name="Google Shape;1670;p102"/>
              <p:cNvSpPr txBox="1"/>
              <p:nvPr/>
            </p:nvSpPr>
            <p:spPr>
              <a:xfrm>
                <a:off x="495300" y="2634125"/>
                <a:ext cx="254700" cy="34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1" name="Google Shape;1671;p102"/>
              <p:cNvSpPr txBox="1"/>
              <p:nvPr/>
            </p:nvSpPr>
            <p:spPr>
              <a:xfrm>
                <a:off x="2340000" y="2671625"/>
                <a:ext cx="254700" cy="34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672" name="Google Shape;1672;p102"/>
            <p:cNvSpPr txBox="1"/>
            <p:nvPr/>
          </p:nvSpPr>
          <p:spPr>
            <a:xfrm>
              <a:off x="3532500" y="1746300"/>
              <a:ext cx="254700" cy="34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73" name="Google Shape;1673;p102"/>
          <p:cNvSpPr txBox="1"/>
          <p:nvPr/>
        </p:nvSpPr>
        <p:spPr>
          <a:xfrm>
            <a:off x="2820000" y="2499900"/>
            <a:ext cx="5642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∠DAC = ∠ACB as they are equal interior alternate angles.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74" name="Google Shape;1674;p102"/>
          <p:cNvSpPr txBox="1"/>
          <p:nvPr/>
        </p:nvSpPr>
        <p:spPr>
          <a:xfrm>
            <a:off x="2820000" y="1737900"/>
            <a:ext cx="543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 = BC as they are opposite sides of a parallelogram.</a:t>
            </a:r>
            <a:endParaRPr/>
          </a:p>
        </p:txBody>
      </p:sp>
      <p:sp>
        <p:nvSpPr>
          <p:cNvPr id="1675" name="Google Shape;1675;p102"/>
          <p:cNvSpPr txBox="1"/>
          <p:nvPr/>
        </p:nvSpPr>
        <p:spPr>
          <a:xfrm>
            <a:off x="2820000" y="3919800"/>
            <a:ext cx="4912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Hence, triangle ABC is congruent to triangle ACD by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AAS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/>
          </a:p>
        </p:txBody>
      </p:sp>
      <p:sp>
        <p:nvSpPr>
          <p:cNvPr id="1676" name="Google Shape;1676;p102"/>
          <p:cNvSpPr/>
          <p:nvPr/>
        </p:nvSpPr>
        <p:spPr>
          <a:xfrm rot="10800000">
            <a:off x="608850" y="1562101"/>
            <a:ext cx="615600" cy="615600"/>
          </a:xfrm>
          <a:prstGeom prst="pie">
            <a:avLst>
              <a:gd name="adj1" fmla="val 10795497"/>
              <a:gd name="adj2" fmla="val 13352664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102"/>
          <p:cNvSpPr/>
          <p:nvPr/>
        </p:nvSpPr>
        <p:spPr>
          <a:xfrm>
            <a:off x="1644797" y="2521565"/>
            <a:ext cx="615600" cy="615600"/>
          </a:xfrm>
          <a:prstGeom prst="pie">
            <a:avLst>
              <a:gd name="adj1" fmla="val 10795497"/>
              <a:gd name="adj2" fmla="val 13352664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8" name="Google Shape;1678;p102"/>
          <p:cNvGrpSpPr/>
          <p:nvPr/>
        </p:nvGrpSpPr>
        <p:grpSpPr>
          <a:xfrm>
            <a:off x="532651" y="1485903"/>
            <a:ext cx="768000" cy="768000"/>
            <a:chOff x="532651" y="1485903"/>
            <a:chExt cx="768000" cy="768000"/>
          </a:xfrm>
        </p:grpSpPr>
        <p:sp>
          <p:nvSpPr>
            <p:cNvPr id="1679" name="Google Shape;1679;p102"/>
            <p:cNvSpPr/>
            <p:nvPr/>
          </p:nvSpPr>
          <p:spPr>
            <a:xfrm>
              <a:off x="532651" y="1485903"/>
              <a:ext cx="768000" cy="768000"/>
            </a:xfrm>
            <a:prstGeom prst="pie">
              <a:avLst>
                <a:gd name="adj1" fmla="val 2572249"/>
                <a:gd name="adj2" fmla="val 6301187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0" name="Google Shape;1680;p102"/>
            <p:cNvSpPr/>
            <p:nvPr/>
          </p:nvSpPr>
          <p:spPr>
            <a:xfrm>
              <a:off x="608847" y="1562090"/>
              <a:ext cx="615600" cy="615600"/>
            </a:xfrm>
            <a:prstGeom prst="pie">
              <a:avLst>
                <a:gd name="adj1" fmla="val 2572249"/>
                <a:gd name="adj2" fmla="val 6301187"/>
              </a:avLst>
            </a:prstGeom>
            <a:solidFill>
              <a:srgbClr val="845AD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81" name="Google Shape;1681;p102"/>
          <p:cNvGrpSpPr/>
          <p:nvPr/>
        </p:nvGrpSpPr>
        <p:grpSpPr>
          <a:xfrm rot="10800000">
            <a:off x="1580496" y="2445383"/>
            <a:ext cx="768000" cy="768000"/>
            <a:chOff x="532651" y="1485903"/>
            <a:chExt cx="768000" cy="768000"/>
          </a:xfrm>
        </p:grpSpPr>
        <p:sp>
          <p:nvSpPr>
            <p:cNvPr id="1682" name="Google Shape;1682;p102"/>
            <p:cNvSpPr/>
            <p:nvPr/>
          </p:nvSpPr>
          <p:spPr>
            <a:xfrm>
              <a:off x="532651" y="1485903"/>
              <a:ext cx="768000" cy="768000"/>
            </a:xfrm>
            <a:prstGeom prst="pie">
              <a:avLst>
                <a:gd name="adj1" fmla="val 2572249"/>
                <a:gd name="adj2" fmla="val 6301187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3" name="Google Shape;1683;p102"/>
            <p:cNvSpPr/>
            <p:nvPr/>
          </p:nvSpPr>
          <p:spPr>
            <a:xfrm>
              <a:off x="608847" y="1562090"/>
              <a:ext cx="615600" cy="615600"/>
            </a:xfrm>
            <a:prstGeom prst="pie">
              <a:avLst>
                <a:gd name="adj1" fmla="val 2572249"/>
                <a:gd name="adj2" fmla="val 6301187"/>
              </a:avLst>
            </a:prstGeom>
            <a:solidFill>
              <a:srgbClr val="845AD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4" name="Google Shape;1684;p102"/>
          <p:cNvSpPr txBox="1"/>
          <p:nvPr/>
        </p:nvSpPr>
        <p:spPr>
          <a:xfrm>
            <a:off x="2820000" y="3185700"/>
            <a:ext cx="5642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CA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∠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BAC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as they are equal interior alternate angles.</a:t>
            </a:r>
            <a:endParaRPr/>
          </a:p>
        </p:txBody>
      </p:sp>
      <p:cxnSp>
        <p:nvCxnSpPr>
          <p:cNvPr id="1685" name="Google Shape;1685;p102"/>
          <p:cNvCxnSpPr/>
          <p:nvPr/>
        </p:nvCxnSpPr>
        <p:spPr>
          <a:xfrm flipH="1">
            <a:off x="1320000" y="2722500"/>
            <a:ext cx="0" cy="225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6" name="Google Shape;1686;p102"/>
          <p:cNvCxnSpPr/>
          <p:nvPr/>
        </p:nvCxnSpPr>
        <p:spPr>
          <a:xfrm flipH="1">
            <a:off x="1569900" y="1757400"/>
            <a:ext cx="0" cy="225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7" name="Google Shape;1687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91" name="Shape 1691"/>
        <p:cNvGrpSpPr/>
        <p:nvPr/>
      </p:nvGrpSpPr>
      <p:grpSpPr>
        <a:xfrm>
          <a:off x="0" y="0"/>
          <a:ext cx="0" cy="0"/>
        </a:xfrm>
      </p:grpSpPr>
      <p:sp>
        <p:nvSpPr>
          <p:cNvPr id="1692" name="Google Shape;1692;p103"/>
          <p:cNvSpPr txBox="1"/>
          <p:nvPr/>
        </p:nvSpPr>
        <p:spPr>
          <a:xfrm>
            <a:off x="324000" y="759300"/>
            <a:ext cx="8237700" cy="7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Point E is the midpoint of AC and BD. Prove that triangle AEB is congruent to triangle ECD by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ASA/AAS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3" name="Google Shape;1693;p103"/>
          <p:cNvGrpSpPr/>
          <p:nvPr/>
        </p:nvGrpSpPr>
        <p:grpSpPr>
          <a:xfrm>
            <a:off x="493275" y="1550075"/>
            <a:ext cx="2473950" cy="3153475"/>
            <a:chOff x="1941075" y="1473875"/>
            <a:chExt cx="2473950" cy="3153475"/>
          </a:xfrm>
        </p:grpSpPr>
        <p:grpSp>
          <p:nvGrpSpPr>
            <p:cNvPr id="1694" name="Google Shape;1694;p103"/>
            <p:cNvGrpSpPr/>
            <p:nvPr/>
          </p:nvGrpSpPr>
          <p:grpSpPr>
            <a:xfrm>
              <a:off x="2195775" y="1473875"/>
              <a:ext cx="0" cy="3148400"/>
              <a:chOff x="2195775" y="1473875"/>
              <a:chExt cx="0" cy="3148400"/>
            </a:xfrm>
          </p:grpSpPr>
          <p:cxnSp>
            <p:nvCxnSpPr>
              <p:cNvPr id="1695" name="Google Shape;1695;p103"/>
              <p:cNvCxnSpPr/>
              <p:nvPr/>
            </p:nvCxnSpPr>
            <p:spPr>
              <a:xfrm flipH="1">
                <a:off x="2195775" y="14738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696" name="Google Shape;1696;p103"/>
              <p:cNvCxnSpPr/>
              <p:nvPr/>
            </p:nvCxnSpPr>
            <p:spPr>
              <a:xfrm flipH="1">
                <a:off x="2195775" y="20854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97" name="Google Shape;1697;p103"/>
            <p:cNvGrpSpPr/>
            <p:nvPr/>
          </p:nvGrpSpPr>
          <p:grpSpPr>
            <a:xfrm>
              <a:off x="4122825" y="1478950"/>
              <a:ext cx="0" cy="3148400"/>
              <a:chOff x="2195775" y="1473875"/>
              <a:chExt cx="0" cy="3148400"/>
            </a:xfrm>
          </p:grpSpPr>
          <p:cxnSp>
            <p:nvCxnSpPr>
              <p:cNvPr id="1698" name="Google Shape;1698;p103"/>
              <p:cNvCxnSpPr/>
              <p:nvPr/>
            </p:nvCxnSpPr>
            <p:spPr>
              <a:xfrm flipH="1">
                <a:off x="2195775" y="14738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699" name="Google Shape;1699;p103"/>
              <p:cNvCxnSpPr/>
              <p:nvPr/>
            </p:nvCxnSpPr>
            <p:spPr>
              <a:xfrm flipH="1">
                <a:off x="2195775" y="20854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700" name="Google Shape;1700;p103"/>
            <p:cNvCxnSpPr/>
            <p:nvPr/>
          </p:nvCxnSpPr>
          <p:spPr>
            <a:xfrm rot="10800000" flipH="1">
              <a:off x="2190000" y="1800000"/>
              <a:ext cx="1935000" cy="172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1" name="Google Shape;1701;p103"/>
            <p:cNvCxnSpPr/>
            <p:nvPr/>
          </p:nvCxnSpPr>
          <p:spPr>
            <a:xfrm>
              <a:off x="2190000" y="2205000"/>
              <a:ext cx="1935000" cy="103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2" name="Google Shape;1702;p103"/>
            <p:cNvSpPr txBox="1"/>
            <p:nvPr/>
          </p:nvSpPr>
          <p:spPr>
            <a:xfrm>
              <a:off x="1941075" y="2021400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3" name="Google Shape;1703;p103"/>
            <p:cNvSpPr txBox="1"/>
            <p:nvPr/>
          </p:nvSpPr>
          <p:spPr>
            <a:xfrm>
              <a:off x="1941075" y="3358800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4" name="Google Shape;1704;p103"/>
            <p:cNvSpPr txBox="1"/>
            <p:nvPr/>
          </p:nvSpPr>
          <p:spPr>
            <a:xfrm>
              <a:off x="4160325" y="1623325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5" name="Google Shape;1705;p103"/>
            <p:cNvSpPr txBox="1"/>
            <p:nvPr/>
          </p:nvSpPr>
          <p:spPr>
            <a:xfrm>
              <a:off x="4160325" y="3101400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6" name="Google Shape;1706;p103"/>
            <p:cNvSpPr txBox="1"/>
            <p:nvPr/>
          </p:nvSpPr>
          <p:spPr>
            <a:xfrm>
              <a:off x="3031950" y="2345725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7" name="Google Shape;1707;p103"/>
          <p:cNvSpPr txBox="1"/>
          <p:nvPr/>
        </p:nvSpPr>
        <p:spPr>
          <a:xfrm>
            <a:off x="3212175" y="1651850"/>
            <a:ext cx="597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 = EB, as E is the midpoint of BD.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08" name="Google Shape;1708;p103"/>
          <p:cNvCxnSpPr/>
          <p:nvPr/>
        </p:nvCxnSpPr>
        <p:spPr>
          <a:xfrm rot="10800000" flipH="1">
            <a:off x="2170165" y="2208609"/>
            <a:ext cx="0" cy="224886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9" name="Google Shape;1709;p103"/>
          <p:cNvCxnSpPr/>
          <p:nvPr/>
        </p:nvCxnSpPr>
        <p:spPr>
          <a:xfrm rot="10800000" flipH="1">
            <a:off x="1249265" y="3046859"/>
            <a:ext cx="0" cy="224886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0" name="Google Shape;1710;p103"/>
          <p:cNvSpPr txBox="1"/>
          <p:nvPr/>
        </p:nvSpPr>
        <p:spPr>
          <a:xfrm>
            <a:off x="3212175" y="3048467"/>
            <a:ext cx="597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∠ABE = ∠EDC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as they are equal interior alternate angles.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1" name="Google Shape;1711;p103"/>
          <p:cNvSpPr txBox="1"/>
          <p:nvPr/>
        </p:nvSpPr>
        <p:spPr>
          <a:xfrm>
            <a:off x="3212175" y="2242458"/>
            <a:ext cx="5642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∠AEB = ∠DEC as vertically opposite angles.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12" name="Google Shape;1712;p103"/>
          <p:cNvSpPr/>
          <p:nvPr/>
        </p:nvSpPr>
        <p:spPr>
          <a:xfrm rot="10800000">
            <a:off x="1369196" y="2466187"/>
            <a:ext cx="615600" cy="615600"/>
          </a:xfrm>
          <a:prstGeom prst="pie">
            <a:avLst>
              <a:gd name="adj1" fmla="val 8229332"/>
              <a:gd name="adj2" fmla="val 12528523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103"/>
          <p:cNvSpPr/>
          <p:nvPr/>
        </p:nvSpPr>
        <p:spPr>
          <a:xfrm>
            <a:off x="1346880" y="2469372"/>
            <a:ext cx="615600" cy="615600"/>
          </a:xfrm>
          <a:prstGeom prst="pie">
            <a:avLst>
              <a:gd name="adj1" fmla="val 8229332"/>
              <a:gd name="adj2" fmla="val 12528523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103"/>
          <p:cNvSpPr txBox="1"/>
          <p:nvPr/>
        </p:nvSpPr>
        <p:spPr>
          <a:xfrm>
            <a:off x="3212175" y="3943875"/>
            <a:ext cx="4912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Hence, triangle AEB is congruent to triangle ECD by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ASA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/>
          </a:p>
        </p:txBody>
      </p:sp>
      <p:grpSp>
        <p:nvGrpSpPr>
          <p:cNvPr id="1715" name="Google Shape;1715;p103"/>
          <p:cNvGrpSpPr/>
          <p:nvPr/>
        </p:nvGrpSpPr>
        <p:grpSpPr>
          <a:xfrm>
            <a:off x="370298" y="3220749"/>
            <a:ext cx="751200" cy="751200"/>
            <a:chOff x="370298" y="3220749"/>
            <a:chExt cx="751200" cy="751200"/>
          </a:xfrm>
        </p:grpSpPr>
        <p:sp>
          <p:nvSpPr>
            <p:cNvPr id="1716" name="Google Shape;1716;p103"/>
            <p:cNvSpPr/>
            <p:nvPr/>
          </p:nvSpPr>
          <p:spPr>
            <a:xfrm>
              <a:off x="370298" y="3220749"/>
              <a:ext cx="751200" cy="751200"/>
            </a:xfrm>
            <a:prstGeom prst="pie">
              <a:avLst>
                <a:gd name="adj1" fmla="val 16187487"/>
                <a:gd name="adj2" fmla="val 19121246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7" name="Google Shape;1717;p103"/>
            <p:cNvSpPr/>
            <p:nvPr/>
          </p:nvSpPr>
          <p:spPr>
            <a:xfrm>
              <a:off x="443332" y="3283277"/>
              <a:ext cx="615600" cy="615600"/>
            </a:xfrm>
            <a:prstGeom prst="pie">
              <a:avLst>
                <a:gd name="adj1" fmla="val 16187487"/>
                <a:gd name="adj2" fmla="val 19121246"/>
              </a:avLst>
            </a:prstGeom>
            <a:solidFill>
              <a:srgbClr val="845AD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8" name="Google Shape;1718;p103"/>
          <p:cNvGrpSpPr/>
          <p:nvPr/>
        </p:nvGrpSpPr>
        <p:grpSpPr>
          <a:xfrm rot="10800000">
            <a:off x="2298573" y="1509424"/>
            <a:ext cx="751200" cy="751200"/>
            <a:chOff x="675098" y="3373149"/>
            <a:chExt cx="751200" cy="751200"/>
          </a:xfrm>
        </p:grpSpPr>
        <p:sp>
          <p:nvSpPr>
            <p:cNvPr id="1719" name="Google Shape;1719;p103"/>
            <p:cNvSpPr/>
            <p:nvPr/>
          </p:nvSpPr>
          <p:spPr>
            <a:xfrm>
              <a:off x="675098" y="3373149"/>
              <a:ext cx="751200" cy="751200"/>
            </a:xfrm>
            <a:prstGeom prst="pie">
              <a:avLst>
                <a:gd name="adj1" fmla="val 16187487"/>
                <a:gd name="adj2" fmla="val 19121246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0" name="Google Shape;1720;p103"/>
            <p:cNvSpPr/>
            <p:nvPr/>
          </p:nvSpPr>
          <p:spPr>
            <a:xfrm>
              <a:off x="742907" y="3440952"/>
              <a:ext cx="615600" cy="615600"/>
            </a:xfrm>
            <a:prstGeom prst="pie">
              <a:avLst>
                <a:gd name="adj1" fmla="val 16187487"/>
                <a:gd name="adj2" fmla="val 19121246"/>
              </a:avLst>
            </a:prstGeom>
            <a:solidFill>
              <a:srgbClr val="845AD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21" name="Google Shape;1721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Justifying congruence by ASA/AAS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25" name="Shape 1725"/>
        <p:cNvGrpSpPr/>
        <p:nvPr/>
      </p:nvGrpSpPr>
      <p:grpSpPr>
        <a:xfrm>
          <a:off x="0" y="0"/>
          <a:ext cx="0" cy="0"/>
        </a:xfrm>
      </p:grpSpPr>
      <p:sp>
        <p:nvSpPr>
          <p:cNvPr id="1726" name="Google Shape;1726;p104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Two triangles can be proved to be congruent if two corresponding angles and a corresponding side are known to be the same.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If the corresponding side is between the two known angles we say they are congruent by ASA (angle-side-angle).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If the corresponding side is not between the two known angles we say they are congruent by AAS (angle-angle-side).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727" name="Google Shape;1727;p10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(ASA and AAS)</a:t>
            </a:r>
            <a:endParaRPr/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31" name="Shape 1731"/>
        <p:cNvGrpSpPr/>
        <p:nvPr/>
      </p:nvGrpSpPr>
      <p:grpSpPr>
        <a:xfrm>
          <a:off x="0" y="0"/>
          <a:ext cx="0" cy="0"/>
        </a:xfrm>
      </p:grpSpPr>
      <p:sp>
        <p:nvSpPr>
          <p:cNvPr id="1732" name="Google Shape;1732;p105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733" name="Google Shape;1733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431</Paragraphs>
  <Slides>43</Slides>
  <Notes>43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baseType="lpstr" size="52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Congruent triangles (ASA and AAS)</vt:lpstr>
      <vt:lpstr>PowerPoint Presentation</vt:lpstr>
      <vt:lpstr>PowerPoint Presentation</vt:lpstr>
      <vt:lpstr>PowerPoint Presentation</vt:lpstr>
      <vt:lpstr>Constructing triangles </vt:lpstr>
      <vt:lpstr>Constructing triangles</vt:lpstr>
      <vt:lpstr>Constructing triangles</vt:lpstr>
      <vt:lpstr>Constructing triangles</vt:lpstr>
      <vt:lpstr>Constructing triangles</vt:lpstr>
      <vt:lpstr>Constructing triangles</vt:lpstr>
      <vt:lpstr>Constructing triangles</vt:lpstr>
      <vt:lpstr>Constructing triangles</vt:lpstr>
      <vt:lpstr>Constructing triangles</vt:lpstr>
      <vt:lpstr>Constructing triangles</vt:lpstr>
      <vt:lpstr>Constructing triangles</vt:lpstr>
      <vt:lpstr>Constructing triangles</vt:lpstr>
      <vt:lpstr>Constructing triangles</vt:lpstr>
      <vt:lpstr>Constructing triangles</vt:lpstr>
      <vt:lpstr>Constructing triangles</vt:lpstr>
      <vt:lpstr>Constructing triangles</vt:lpstr>
      <vt:lpstr>Constructing triangles</vt:lpstr>
      <vt:lpstr>Constructing triangles </vt:lpstr>
      <vt:lpstr>Justifying congruence by ASA/AAS</vt:lpstr>
      <vt:lpstr>Justifying congruence by ASA/AAS</vt:lpstr>
      <vt:lpstr>Justifying congruence by ASA/AAS</vt:lpstr>
      <vt:lpstr>Justifying congruence by ASA/AAS</vt:lpstr>
      <vt:lpstr>Justifying congruence by ASA/AAS</vt:lpstr>
      <vt:lpstr>Justifying congruence by ASA/AAS</vt:lpstr>
      <vt:lpstr>Justifying congruence by ASA/AAS</vt:lpstr>
      <vt:lpstr>Justifying congruence by ASA/AAS</vt:lpstr>
      <vt:lpstr>Justifying congruence by ASA/AAS</vt:lpstr>
      <vt:lpstr>Justifying congruence by ASA/AAS</vt:lpstr>
      <vt:lpstr>Justifying congruence by ASA/AAS</vt:lpstr>
      <vt:lpstr>Justifying congruence by ASA/AAS</vt:lpstr>
      <vt:lpstr>Justifying congruence by ASA/AAS</vt:lpstr>
      <vt:lpstr>Justifying congruence by ASA/AAS</vt:lpstr>
      <vt:lpstr>Justifying congruence by ASA/AAS</vt:lpstr>
      <vt:lpstr>Justifying congruence by ASA/AAS</vt:lpstr>
      <vt:lpstr>Justifying congruence by ASA/AAS</vt:lpstr>
      <vt:lpstr>Justifying congruence by ASA/AAS</vt:lpstr>
      <vt:lpstr>Justifying congruence by ASA/AAS</vt:lpstr>
      <vt:lpstr>Congruent triangles (ASA and AAS)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2024-02-06T10:37:42.507</cp:lastPrinted>
  <dcterms:created xsi:type="dcterms:W3CDTF">2024-02-06T10:37:42Z</dcterms:created>
  <dcterms:modified xsi:type="dcterms:W3CDTF">2024-02-06T10:41:09Z</dcterms:modified>
</cp:coreProperties>
</file>