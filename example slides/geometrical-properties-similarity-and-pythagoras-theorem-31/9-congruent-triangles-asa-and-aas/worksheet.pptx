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  <p:sldId id="258" r:id="rId6"/>
  </p:sldIdLst>
  <p:sldSz cx="7560000" cy="10692000"/>
  <p:notesSz cx="6858000" cy="9144000"/>
  <p:embeddedFontLst>
    <p:embeddedFont>
      <p:font typeface="Lexend" panose="00000000000000000000"/>
      <p:regular r:id="rId8"/>
    </p:embeddedFont>
    <p:embeddedFont>
      <p:font typeface="Kalam" panose="02000000000000000000"/>
      <p:regular r:id="rId9"/>
    </p:embeddedFont>
    <p:embeddedFont>
      <p:font typeface="Lexend Medium" panose="00000000000000000000"/>
      <p:regular r:id="rId10"/>
    </p:embeddedFont>
    <p:embeddedFont>
      <p:font typeface="Lexend Light" panose="00000000000000000000"/>
      <p:regular r:id="rId11"/>
    </p:embeddedFont>
  </p:embeddedFontLst>
  <p:custDataLst>
    <p:tags r:id="rId7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3.fntdata" /><Relationship Id="rId11" Type="http://schemas.openxmlformats.org/officeDocument/2006/relationships/font" Target="fonts/font4.fntdata" /><Relationship Id="rId12" Type="http://schemas.openxmlformats.org/officeDocument/2006/relationships/presProps" Target="presProps.xml" /><Relationship Id="rId13" Type="http://schemas.openxmlformats.org/officeDocument/2006/relationships/viewProps" Target="viewProps.xml" /><Relationship Id="rId14" Type="http://schemas.openxmlformats.org/officeDocument/2006/relationships/theme" Target="theme/theme1.xml" /><Relationship Id="rId15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tags" Target="tags/tag1.xml" /><Relationship Id="rId8" Type="http://schemas.openxmlformats.org/officeDocument/2006/relationships/font" Target="fonts/font1.fntdata" /><Relationship Id="rId9" Type="http://schemas.openxmlformats.org/officeDocument/2006/relationships/font" Target="fonts/font2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5" name="Shape 165"/>
        <p:cNvGrpSpPr/>
        <p:nvPr/>
      </p:nvGrpSpPr>
      <p:grpSpPr>
        <a:xfrm>
          <a:off x="0" y="0"/>
          <a:ext cx="0" cy="0"/>
        </a:xfrm>
      </p:grpSpPr>
      <p:sp>
        <p:nvSpPr>
          <p:cNvPr id="166" name="Google Shape;166;g2b37ba6d713_1_2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b37ba6d713_1_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17" name="Shape 217"/>
        <p:cNvGrpSpPr/>
        <p:nvPr/>
      </p:nvGrpSpPr>
      <p:grpSpPr>
        <a:xfrm>
          <a:off x="0" y="0"/>
          <a:ext cx="0" cy="0"/>
        </a:xfrm>
      </p:grpSpPr>
      <p:sp>
        <p:nvSpPr>
          <p:cNvPr id="218" name="Google Shape;218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2.xm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3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Congruent triangles (ASA and AAS)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468375" y="1469750"/>
            <a:ext cx="6623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Constructing triangles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476400" y="1749900"/>
            <a:ext cx="6624000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Construct the following triangles: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Triangle ABC, where AB = 7.5 cm, ∠CAB = 54° and ∠ABC = 47°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476400" y="5026500"/>
            <a:ext cx="6623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Triangle DEF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where ∠DEF = 67°, ∠EFD = 25° and EF = 8.2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76400" y="76935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Triangle GHI, where GH = 7.1 cm, ∠GHI = 113° and ∠HIG = 42°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8" name="Shape 168"/>
        <p:cNvGrpSpPr/>
        <p:nvPr/>
      </p:nvGrpSpPr>
      <p:grpSpPr>
        <a:xfrm>
          <a:off x="0" y="0"/>
          <a:ext cx="0" cy="0"/>
        </a:xfrm>
      </p:grpSpPr>
      <p:sp>
        <p:nvSpPr>
          <p:cNvPr id="169" name="Google Shape;169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Congruent triangles (ASA and AAS)</a:t>
            </a:r>
            <a:endParaRPr/>
          </a:p>
        </p:txBody>
      </p:sp>
      <p:sp>
        <p:nvSpPr>
          <p:cNvPr id="170" name="Google Shape;170;p21"/>
          <p:cNvSpPr txBox="1"/>
          <p:nvPr/>
        </p:nvSpPr>
        <p:spPr>
          <a:xfrm>
            <a:off x="476400" y="759300"/>
            <a:ext cx="6615600" cy="72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Triangle JKL, where ∠JKL = 38°, JL = 5.6 cm and KJ = KL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1" name="Google Shape;171;p21"/>
          <p:cNvCxnSpPr/>
          <p:nvPr/>
        </p:nvCxnSpPr>
        <p:spPr>
          <a:xfrm>
            <a:off x="468375" y="5129000"/>
            <a:ext cx="66219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2" name="Google Shape;172;p21"/>
          <p:cNvSpPr txBox="1"/>
          <p:nvPr/>
        </p:nvSpPr>
        <p:spPr>
          <a:xfrm>
            <a:off x="468375" y="5203550"/>
            <a:ext cx="6623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Justifying congruence by ASA/AAS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1"/>
          <p:cNvSpPr txBox="1"/>
          <p:nvPr/>
        </p:nvSpPr>
        <p:spPr>
          <a:xfrm>
            <a:off x="476400" y="5649600"/>
            <a:ext cx="66237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Prove each pair of triangles are congruent by ASA/AAS.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1"/>
          <p:cNvSpPr txBox="1"/>
          <p:nvPr/>
        </p:nvSpPr>
        <p:spPr>
          <a:xfrm>
            <a:off x="476400" y="6062997"/>
            <a:ext cx="2016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1"/>
          <p:cNvSpPr/>
          <p:nvPr/>
        </p:nvSpPr>
        <p:spPr>
          <a:xfrm>
            <a:off x="1310073" y="6274528"/>
            <a:ext cx="1767431" cy="779386"/>
          </a:xfrm>
          <a:custGeom>
            <a:rect l="l" t="t" r="r" b="b"/>
            <a:pathLst>
              <a:path w="90684" h="39989" extrusionOk="0">
                <a:moveTo>
                  <a:pt x="23301" y="0"/>
                </a:moveTo>
                <a:lnTo>
                  <a:pt x="0" y="39989"/>
                </a:lnTo>
                <a:lnTo>
                  <a:pt x="90684" y="39989"/>
                </a:lnTo>
                <a:close/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176" name="Google Shape;176;p21"/>
          <p:cNvSpPr/>
          <p:nvPr/>
        </p:nvSpPr>
        <p:spPr>
          <a:xfrm>
            <a:off x="1083105" y="6825003"/>
            <a:ext cx="454200" cy="454200"/>
          </a:xfrm>
          <a:prstGeom prst="pie">
            <a:avLst>
              <a:gd name="adj1" fmla="val 18035532"/>
              <a:gd name="adj2" fmla="val 21588448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1"/>
          <p:cNvSpPr/>
          <p:nvPr/>
        </p:nvSpPr>
        <p:spPr>
          <a:xfrm rot="7398096">
            <a:off x="1538461" y="6050540"/>
            <a:ext cx="454060" cy="454060"/>
          </a:xfrm>
          <a:prstGeom prst="pie">
            <a:avLst>
              <a:gd name="adj1" fmla="val 16008414"/>
              <a:gd name="adj2" fmla="val 21450438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1"/>
          <p:cNvSpPr/>
          <p:nvPr/>
        </p:nvSpPr>
        <p:spPr>
          <a:xfrm rot="10800000" flipH="1">
            <a:off x="4251679" y="6342040"/>
            <a:ext cx="1767431" cy="779386"/>
          </a:xfrm>
          <a:custGeom>
            <a:rect l="l" t="t" r="r" b="b"/>
            <a:pathLst>
              <a:path w="90684" h="39989" extrusionOk="0">
                <a:moveTo>
                  <a:pt x="23301" y="0"/>
                </a:moveTo>
                <a:lnTo>
                  <a:pt x="0" y="39989"/>
                </a:lnTo>
                <a:lnTo>
                  <a:pt x="90684" y="39989"/>
                </a:lnTo>
                <a:close/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179" name="Google Shape;179;p21"/>
          <p:cNvSpPr/>
          <p:nvPr/>
        </p:nvSpPr>
        <p:spPr>
          <a:xfrm rot="10800000" flipH="1">
            <a:off x="4024710" y="6116751"/>
            <a:ext cx="454200" cy="454200"/>
          </a:xfrm>
          <a:prstGeom prst="pie">
            <a:avLst>
              <a:gd name="adj1" fmla="val 18035532"/>
              <a:gd name="adj2" fmla="val 21588448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1"/>
          <p:cNvSpPr/>
          <p:nvPr/>
        </p:nvSpPr>
        <p:spPr>
          <a:xfrm rot="3401904" flipH="1">
            <a:off x="4480067" y="6891354"/>
            <a:ext cx="454060" cy="454060"/>
          </a:xfrm>
          <a:prstGeom prst="pie">
            <a:avLst>
              <a:gd name="adj1" fmla="val 16008414"/>
              <a:gd name="adj2" fmla="val 21450438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1"/>
          <p:cNvSpPr txBox="1"/>
          <p:nvPr/>
        </p:nvSpPr>
        <p:spPr>
          <a:xfrm>
            <a:off x="1664628" y="6062997"/>
            <a:ext cx="201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1"/>
          <p:cNvSpPr txBox="1"/>
          <p:nvPr/>
        </p:nvSpPr>
        <p:spPr>
          <a:xfrm>
            <a:off x="1537305" y="6803870"/>
            <a:ext cx="291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71°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1"/>
          <p:cNvSpPr txBox="1"/>
          <p:nvPr/>
        </p:nvSpPr>
        <p:spPr>
          <a:xfrm>
            <a:off x="2511611" y="6267112"/>
            <a:ext cx="807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4.5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1"/>
          <p:cNvSpPr txBox="1"/>
          <p:nvPr/>
        </p:nvSpPr>
        <p:spPr>
          <a:xfrm>
            <a:off x="1158222" y="6966505"/>
            <a:ext cx="201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1"/>
          <p:cNvSpPr txBox="1"/>
          <p:nvPr/>
        </p:nvSpPr>
        <p:spPr>
          <a:xfrm>
            <a:off x="3110502" y="7010281"/>
            <a:ext cx="201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1"/>
          <p:cNvSpPr txBox="1"/>
          <p:nvPr/>
        </p:nvSpPr>
        <p:spPr>
          <a:xfrm>
            <a:off x="4084118" y="6221183"/>
            <a:ext cx="201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1"/>
          <p:cNvSpPr txBox="1"/>
          <p:nvPr/>
        </p:nvSpPr>
        <p:spPr>
          <a:xfrm>
            <a:off x="4593642" y="7121299"/>
            <a:ext cx="201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1"/>
          <p:cNvSpPr txBox="1"/>
          <p:nvPr/>
        </p:nvSpPr>
        <p:spPr>
          <a:xfrm>
            <a:off x="6080038" y="6169552"/>
            <a:ext cx="201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1"/>
          <p:cNvSpPr txBox="1"/>
          <p:nvPr/>
        </p:nvSpPr>
        <p:spPr>
          <a:xfrm>
            <a:off x="1722243" y="6514984"/>
            <a:ext cx="314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91°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1"/>
          <p:cNvSpPr txBox="1"/>
          <p:nvPr/>
        </p:nvSpPr>
        <p:spPr>
          <a:xfrm>
            <a:off x="4682442" y="6683383"/>
            <a:ext cx="314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91°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1"/>
          <p:cNvSpPr txBox="1"/>
          <p:nvPr/>
        </p:nvSpPr>
        <p:spPr>
          <a:xfrm>
            <a:off x="4478480" y="6394752"/>
            <a:ext cx="314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71°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1"/>
          <p:cNvSpPr txBox="1"/>
          <p:nvPr/>
        </p:nvSpPr>
        <p:spPr>
          <a:xfrm>
            <a:off x="5438852" y="6766190"/>
            <a:ext cx="807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4.5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3" name="Google Shape;193;p21"/>
          <p:cNvCxnSpPr/>
          <p:nvPr/>
        </p:nvCxnSpPr>
        <p:spPr>
          <a:xfrm>
            <a:off x="1819149" y="6164017"/>
            <a:ext cx="1319100" cy="7839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94" name="Google Shape;194;p21"/>
          <p:cNvCxnSpPr/>
          <p:nvPr/>
        </p:nvCxnSpPr>
        <p:spPr>
          <a:xfrm rot="10800000" flipH="1">
            <a:off x="4764185" y="6441024"/>
            <a:ext cx="1315800" cy="7551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95" name="Google Shape;195;p21"/>
          <p:cNvSpPr txBox="1"/>
          <p:nvPr/>
        </p:nvSpPr>
        <p:spPr>
          <a:xfrm>
            <a:off x="476400" y="7974359"/>
            <a:ext cx="2076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1"/>
          <p:cNvSpPr/>
          <p:nvPr/>
        </p:nvSpPr>
        <p:spPr>
          <a:xfrm>
            <a:off x="1145282" y="8097029"/>
            <a:ext cx="1371343" cy="960570"/>
          </a:xfrm>
          <a:custGeom>
            <a:rect l="l" t="t" r="r" b="b"/>
            <a:pathLst>
              <a:path w="68328" h="47861" extrusionOk="0">
                <a:moveTo>
                  <a:pt x="0" y="24875"/>
                </a:moveTo>
                <a:lnTo>
                  <a:pt x="68328" y="0"/>
                </a:lnTo>
                <a:lnTo>
                  <a:pt x="68328" y="47861"/>
                </a:lnTo>
                <a:close/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197" name="Google Shape;197;p21"/>
          <p:cNvSpPr/>
          <p:nvPr/>
        </p:nvSpPr>
        <p:spPr>
          <a:xfrm>
            <a:off x="918386" y="8361246"/>
            <a:ext cx="467700" cy="467700"/>
          </a:xfrm>
          <a:prstGeom prst="pie">
            <a:avLst>
              <a:gd name="adj1" fmla="val 20398464"/>
              <a:gd name="adj2" fmla="val 1114720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1"/>
          <p:cNvSpPr/>
          <p:nvPr/>
        </p:nvSpPr>
        <p:spPr>
          <a:xfrm rot="-8434256">
            <a:off x="2281705" y="7864532"/>
            <a:ext cx="467626" cy="467626"/>
          </a:xfrm>
          <a:prstGeom prst="pie">
            <a:avLst>
              <a:gd name="adj1" fmla="val 13841780"/>
              <a:gd name="adj2" fmla="val 18021877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1"/>
          <p:cNvSpPr/>
          <p:nvPr/>
        </p:nvSpPr>
        <p:spPr>
          <a:xfrm rot="9835042">
            <a:off x="4543004" y="7875883"/>
            <a:ext cx="1371377" cy="960594"/>
          </a:xfrm>
          <a:custGeom>
            <a:rect l="l" t="t" r="r" b="b"/>
            <a:pathLst>
              <a:path w="68328" h="47861" extrusionOk="0">
                <a:moveTo>
                  <a:pt x="0" y="24875"/>
                </a:moveTo>
                <a:lnTo>
                  <a:pt x="68328" y="0"/>
                </a:lnTo>
                <a:lnTo>
                  <a:pt x="68328" y="47861"/>
                </a:lnTo>
                <a:close/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200" name="Google Shape;200;p21"/>
          <p:cNvSpPr/>
          <p:nvPr/>
        </p:nvSpPr>
        <p:spPr>
          <a:xfrm rot="9834795">
            <a:off x="5642068" y="7917242"/>
            <a:ext cx="467714" cy="467714"/>
          </a:xfrm>
          <a:prstGeom prst="pie">
            <a:avLst>
              <a:gd name="adj1" fmla="val 20398464"/>
              <a:gd name="adj2" fmla="val 1114720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1"/>
          <p:cNvSpPr/>
          <p:nvPr/>
        </p:nvSpPr>
        <p:spPr>
          <a:xfrm rot="1399447">
            <a:off x="4469958" y="8772147"/>
            <a:ext cx="467505" cy="467505"/>
          </a:xfrm>
          <a:prstGeom prst="pie">
            <a:avLst>
              <a:gd name="adj1" fmla="val 13841780"/>
              <a:gd name="adj2" fmla="val 18021877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1"/>
          <p:cNvSpPr txBox="1"/>
          <p:nvPr/>
        </p:nvSpPr>
        <p:spPr>
          <a:xfrm>
            <a:off x="970891" y="8483844"/>
            <a:ext cx="207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1"/>
          <p:cNvSpPr txBox="1"/>
          <p:nvPr/>
        </p:nvSpPr>
        <p:spPr>
          <a:xfrm>
            <a:off x="2539844" y="7914931"/>
            <a:ext cx="207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1"/>
          <p:cNvSpPr txBox="1"/>
          <p:nvPr/>
        </p:nvSpPr>
        <p:spPr>
          <a:xfrm>
            <a:off x="2539837" y="9046268"/>
            <a:ext cx="207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1"/>
          <p:cNvSpPr txBox="1"/>
          <p:nvPr/>
        </p:nvSpPr>
        <p:spPr>
          <a:xfrm>
            <a:off x="4285816" y="7914931"/>
            <a:ext cx="207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1"/>
          <p:cNvSpPr txBox="1"/>
          <p:nvPr/>
        </p:nvSpPr>
        <p:spPr>
          <a:xfrm>
            <a:off x="5934668" y="8016748"/>
            <a:ext cx="207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/>
        </p:nvSpPr>
        <p:spPr>
          <a:xfrm>
            <a:off x="4599916" y="9046274"/>
            <a:ext cx="207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K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1458961" y="8483844"/>
            <a:ext cx="351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34°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2127582" y="8296598"/>
            <a:ext cx="351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74°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5319838" y="8137471"/>
            <a:ext cx="351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34°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4716084" y="8581095"/>
            <a:ext cx="351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72°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2" name="Google Shape;212;p21"/>
          <p:cNvCxnSpPr/>
          <p:nvPr/>
        </p:nvCxnSpPr>
        <p:spPr>
          <a:xfrm>
            <a:off x="2643878" y="8109603"/>
            <a:ext cx="21000" cy="9354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13" name="Google Shape;213;p21"/>
          <p:cNvSpPr txBox="1"/>
          <p:nvPr/>
        </p:nvSpPr>
        <p:spPr>
          <a:xfrm>
            <a:off x="2747448" y="8466042"/>
            <a:ext cx="831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29 mm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4" name="Google Shape;214;p21"/>
          <p:cNvCxnSpPr/>
          <p:nvPr/>
        </p:nvCxnSpPr>
        <p:spPr>
          <a:xfrm>
            <a:off x="4289268" y="8127385"/>
            <a:ext cx="261300" cy="9561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15" name="Google Shape;215;p21"/>
          <p:cNvSpPr txBox="1"/>
          <p:nvPr/>
        </p:nvSpPr>
        <p:spPr>
          <a:xfrm>
            <a:off x="3765853" y="8503513"/>
            <a:ext cx="831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29 mm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2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20" name="Shape 220"/>
        <p:cNvGrpSpPr/>
        <p:nvPr/>
      </p:nvGrpSpPr>
      <p:grpSpPr>
        <a:xfrm>
          <a:off x="0" y="0"/>
          <a:ext cx="0" cy="0"/>
        </a:xfrm>
      </p:grpSpPr>
      <p:sp>
        <p:nvSpPr>
          <p:cNvPr id="221" name="Google Shape;221;p2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  <p:sp>
        <p:nvSpPr>
          <p:cNvPr id="222" name="Google Shape;222;p22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Congruent triangles (ASA and AAS)</a:t>
            </a:r>
            <a:endParaRPr/>
          </a:p>
        </p:txBody>
      </p:sp>
      <p:sp>
        <p:nvSpPr>
          <p:cNvPr id="223" name="Google Shape;223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2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  <p:sp>
        <p:nvSpPr>
          <p:cNvPr id="225" name="Google Shape;225;p22"/>
          <p:cNvSpPr txBox="1"/>
          <p:nvPr/>
        </p:nvSpPr>
        <p:spPr>
          <a:xfrm>
            <a:off x="476400" y="1001400"/>
            <a:ext cx="6615600" cy="2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Why are these two triangles not congruent by ASA?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2"/>
          <p:cNvSpPr/>
          <p:nvPr/>
        </p:nvSpPr>
        <p:spPr>
          <a:xfrm>
            <a:off x="1600578" y="1521129"/>
            <a:ext cx="1459836" cy="755067"/>
          </a:xfrm>
          <a:custGeom>
            <a:rect l="l" t="t" r="r" b="b"/>
            <a:pathLst>
              <a:path w="74998" h="38791" extrusionOk="0">
                <a:moveTo>
                  <a:pt x="19540" y="0"/>
                </a:moveTo>
                <a:lnTo>
                  <a:pt x="0" y="38791"/>
                </a:lnTo>
                <a:lnTo>
                  <a:pt x="74998" y="38504"/>
                </a:lnTo>
                <a:close/>
              </a:path>
            </a:pathLst>
          </a:cu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227" name="Google Shape;227;p22"/>
          <p:cNvSpPr/>
          <p:nvPr/>
        </p:nvSpPr>
        <p:spPr>
          <a:xfrm>
            <a:off x="1100121" y="1977181"/>
            <a:ext cx="813600" cy="813600"/>
          </a:xfrm>
          <a:prstGeom prst="arc">
            <a:avLst>
              <a:gd name="adj1" fmla="val 18149656"/>
              <a:gd name="adj2" fmla="val 20721770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2"/>
          <p:cNvSpPr/>
          <p:nvPr/>
        </p:nvSpPr>
        <p:spPr>
          <a:xfrm>
            <a:off x="2701229" y="1923056"/>
            <a:ext cx="680700" cy="680700"/>
          </a:xfrm>
          <a:prstGeom prst="arc">
            <a:avLst>
              <a:gd name="adj1" fmla="val 10800098"/>
              <a:gd name="adj2" fmla="val 12883537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2"/>
          <p:cNvSpPr txBox="1"/>
          <p:nvPr/>
        </p:nvSpPr>
        <p:spPr>
          <a:xfrm>
            <a:off x="1860325" y="1281121"/>
            <a:ext cx="201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2"/>
          <p:cNvSpPr txBox="1"/>
          <p:nvPr/>
        </p:nvSpPr>
        <p:spPr>
          <a:xfrm>
            <a:off x="1406259" y="2230018"/>
            <a:ext cx="201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2"/>
          <p:cNvSpPr txBox="1"/>
          <p:nvPr/>
        </p:nvSpPr>
        <p:spPr>
          <a:xfrm>
            <a:off x="3119156" y="2230018"/>
            <a:ext cx="201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2"/>
          <p:cNvSpPr/>
          <p:nvPr/>
        </p:nvSpPr>
        <p:spPr>
          <a:xfrm flipH="1">
            <a:off x="4491401" y="1447038"/>
            <a:ext cx="1459836" cy="755067"/>
          </a:xfrm>
          <a:custGeom>
            <a:rect l="l" t="t" r="r" b="b"/>
            <a:pathLst>
              <a:path w="74998" h="38791" extrusionOk="0">
                <a:moveTo>
                  <a:pt x="19540" y="0"/>
                </a:moveTo>
                <a:lnTo>
                  <a:pt x="0" y="38791"/>
                </a:lnTo>
                <a:lnTo>
                  <a:pt x="74998" y="38504"/>
                </a:lnTo>
                <a:close/>
              </a:path>
            </a:pathLst>
          </a:cu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233" name="Google Shape;233;p22"/>
          <p:cNvSpPr/>
          <p:nvPr/>
        </p:nvSpPr>
        <p:spPr>
          <a:xfrm flipH="1">
            <a:off x="5638093" y="1903090"/>
            <a:ext cx="813600" cy="813600"/>
          </a:xfrm>
          <a:prstGeom prst="arc">
            <a:avLst>
              <a:gd name="adj1" fmla="val 18149656"/>
              <a:gd name="adj2" fmla="val 20721770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2"/>
          <p:cNvSpPr/>
          <p:nvPr/>
        </p:nvSpPr>
        <p:spPr>
          <a:xfrm flipH="1">
            <a:off x="4169886" y="1848965"/>
            <a:ext cx="680700" cy="680700"/>
          </a:xfrm>
          <a:prstGeom prst="arc">
            <a:avLst>
              <a:gd name="adj1" fmla="val 10800098"/>
              <a:gd name="adj2" fmla="val 12883537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2"/>
          <p:cNvSpPr txBox="1"/>
          <p:nvPr/>
        </p:nvSpPr>
        <p:spPr>
          <a:xfrm>
            <a:off x="5528270" y="1231188"/>
            <a:ext cx="201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2"/>
          <p:cNvSpPr txBox="1"/>
          <p:nvPr/>
        </p:nvSpPr>
        <p:spPr>
          <a:xfrm>
            <a:off x="4289879" y="2106208"/>
            <a:ext cx="201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7" name="Google Shape;237;p22"/>
          <p:cNvCxnSpPr/>
          <p:nvPr/>
        </p:nvCxnSpPr>
        <p:spPr>
          <a:xfrm>
            <a:off x="2037611" y="1433207"/>
            <a:ext cx="1075500" cy="7530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38" name="Google Shape;238;p22"/>
          <p:cNvSpPr txBox="1"/>
          <p:nvPr/>
        </p:nvSpPr>
        <p:spPr>
          <a:xfrm>
            <a:off x="1860326" y="2006343"/>
            <a:ext cx="322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80°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22"/>
          <p:cNvSpPr txBox="1"/>
          <p:nvPr/>
        </p:nvSpPr>
        <p:spPr>
          <a:xfrm>
            <a:off x="2513887" y="1542514"/>
            <a:ext cx="806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4.3 cm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2"/>
          <p:cNvSpPr txBox="1"/>
          <p:nvPr/>
        </p:nvSpPr>
        <p:spPr>
          <a:xfrm>
            <a:off x="2426095" y="2036984"/>
            <a:ext cx="322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47°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2"/>
          <p:cNvSpPr txBox="1"/>
          <p:nvPr/>
        </p:nvSpPr>
        <p:spPr>
          <a:xfrm flipH="1">
            <a:off x="5398252" y="1951358"/>
            <a:ext cx="322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80°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2"/>
          <p:cNvSpPr txBox="1"/>
          <p:nvPr/>
        </p:nvSpPr>
        <p:spPr>
          <a:xfrm flipH="1">
            <a:off x="4882942" y="1946560"/>
            <a:ext cx="322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47°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3" name="Google Shape;243;p22"/>
          <p:cNvCxnSpPr/>
          <p:nvPr/>
        </p:nvCxnSpPr>
        <p:spPr>
          <a:xfrm>
            <a:off x="5668237" y="1403023"/>
            <a:ext cx="398700" cy="7659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44" name="Google Shape;244;p22"/>
          <p:cNvSpPr txBox="1"/>
          <p:nvPr/>
        </p:nvSpPr>
        <p:spPr>
          <a:xfrm>
            <a:off x="5883656" y="1577788"/>
            <a:ext cx="806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4.3 cm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2"/>
          <p:cNvSpPr txBox="1"/>
          <p:nvPr/>
        </p:nvSpPr>
        <p:spPr>
          <a:xfrm>
            <a:off x="476400" y="3287400"/>
            <a:ext cx="66156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Given a parallelogram ABCD, prove that triangle ABC is congruent to triangle ACD by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ASA/AAS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" name="Google Shape;246;p22"/>
          <p:cNvSpPr txBox="1"/>
          <p:nvPr/>
        </p:nvSpPr>
        <p:spPr>
          <a:xfrm>
            <a:off x="476400" y="7083900"/>
            <a:ext cx="66156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Point E is the midpoint of AC and BD. Prove that triangle AEB is congruent to triangle ECD by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ASA/AAS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47" name="Google Shape;247;p22"/>
          <p:cNvGrpSpPr/>
          <p:nvPr/>
        </p:nvGrpSpPr>
        <p:grpSpPr>
          <a:xfrm>
            <a:off x="818848" y="7745914"/>
            <a:ext cx="1596935" cy="2035568"/>
            <a:chOff x="1941075" y="1473875"/>
            <a:chExt cx="2473950" cy="3153475"/>
          </a:xfrm>
        </p:grpSpPr>
        <p:grpSp>
          <p:nvGrpSpPr>
            <p:cNvPr id="248" name="Google Shape;248;p22"/>
            <p:cNvGrpSpPr/>
            <p:nvPr/>
          </p:nvGrpSpPr>
          <p:grpSpPr>
            <a:xfrm>
              <a:off x="2195775" y="1473875"/>
              <a:ext cx="0" cy="3148400"/>
              <a:chOff x="2195775" y="1473875"/>
              <a:chExt cx="0" cy="3148400"/>
            </a:xfrm>
          </p:grpSpPr>
          <p:cxnSp>
            <p:nvCxnSpPr>
              <p:cNvPr id="249" name="Google Shape;249;p22"/>
              <p:cNvCxnSpPr/>
              <p:nvPr/>
            </p:nvCxnSpPr>
            <p:spPr>
              <a:xfrm flipH="1">
                <a:off x="2195775" y="1473875"/>
                <a:ext cx="0" cy="25368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250" name="Google Shape;250;p22"/>
              <p:cNvCxnSpPr/>
              <p:nvPr/>
            </p:nvCxnSpPr>
            <p:spPr>
              <a:xfrm flipH="1">
                <a:off x="2195775" y="2085475"/>
                <a:ext cx="0" cy="25368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51" name="Google Shape;251;p22"/>
            <p:cNvGrpSpPr/>
            <p:nvPr/>
          </p:nvGrpSpPr>
          <p:grpSpPr>
            <a:xfrm>
              <a:off x="4122825" y="1478950"/>
              <a:ext cx="0" cy="3148400"/>
              <a:chOff x="2195775" y="1473875"/>
              <a:chExt cx="0" cy="3148400"/>
            </a:xfrm>
          </p:grpSpPr>
          <p:cxnSp>
            <p:nvCxnSpPr>
              <p:cNvPr id="252" name="Google Shape;252;p22"/>
              <p:cNvCxnSpPr/>
              <p:nvPr/>
            </p:nvCxnSpPr>
            <p:spPr>
              <a:xfrm flipH="1">
                <a:off x="2195775" y="1473875"/>
                <a:ext cx="0" cy="25368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253" name="Google Shape;253;p22"/>
              <p:cNvCxnSpPr/>
              <p:nvPr/>
            </p:nvCxnSpPr>
            <p:spPr>
              <a:xfrm flipH="1">
                <a:off x="2195775" y="2085475"/>
                <a:ext cx="0" cy="25368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254" name="Google Shape;254;p22"/>
            <p:cNvCxnSpPr/>
            <p:nvPr/>
          </p:nvCxnSpPr>
          <p:spPr>
            <a:xfrm rot="10800000" flipH="1">
              <a:off x="2190000" y="1800000"/>
              <a:ext cx="1935000" cy="17250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5" name="Google Shape;255;p22"/>
            <p:cNvCxnSpPr/>
            <p:nvPr/>
          </p:nvCxnSpPr>
          <p:spPr>
            <a:xfrm>
              <a:off x="2190000" y="2205000"/>
              <a:ext cx="1935000" cy="10350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56" name="Google Shape;256;p22"/>
            <p:cNvSpPr txBox="1"/>
            <p:nvPr/>
          </p:nvSpPr>
          <p:spPr>
            <a:xfrm>
              <a:off x="1941075" y="2021400"/>
              <a:ext cx="254700" cy="28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7" name="Google Shape;257;p22"/>
            <p:cNvSpPr txBox="1"/>
            <p:nvPr/>
          </p:nvSpPr>
          <p:spPr>
            <a:xfrm>
              <a:off x="1941075" y="3358800"/>
              <a:ext cx="254700" cy="28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8" name="Google Shape;258;p22"/>
            <p:cNvSpPr txBox="1"/>
            <p:nvPr/>
          </p:nvSpPr>
          <p:spPr>
            <a:xfrm>
              <a:off x="4160325" y="1623325"/>
              <a:ext cx="254700" cy="28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9" name="Google Shape;259;p22"/>
            <p:cNvSpPr txBox="1"/>
            <p:nvPr/>
          </p:nvSpPr>
          <p:spPr>
            <a:xfrm>
              <a:off x="4160325" y="3101400"/>
              <a:ext cx="254700" cy="28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0" name="Google Shape;260;p22"/>
            <p:cNvSpPr txBox="1"/>
            <p:nvPr/>
          </p:nvSpPr>
          <p:spPr>
            <a:xfrm>
              <a:off x="3031950" y="2345725"/>
              <a:ext cx="254700" cy="28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61" name="Google Shape;261;p22"/>
          <p:cNvSpPr txBox="1"/>
          <p:nvPr/>
        </p:nvSpPr>
        <p:spPr>
          <a:xfrm>
            <a:off x="6011400" y="2180400"/>
            <a:ext cx="258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62</Paragraphs>
  <Slides>3</Slides>
  <Notes>3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simple-light-2</vt:lpstr>
      <vt:lpstr>Congruent triangles (ASA and AAS)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2024-02-06T10:37:36.378</cp:lastPrinted>
  <dcterms:created xsi:type="dcterms:W3CDTF">2024-02-06T10:37:36Z</dcterms:created>
  <dcterms:modified xsi:type="dcterms:W3CDTF">2024-02-06T10:40:56Z</dcterms:modified>
</cp:coreProperties>
</file>