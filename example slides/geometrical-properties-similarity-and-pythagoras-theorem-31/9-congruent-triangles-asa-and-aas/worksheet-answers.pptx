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03">
          <p15:clr>
            <a:srgbClr val="747775"/>
          </p15:clr>
        </p15:guide>
        <p15:guide id="2" pos="2971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3"/>
        <p:guide pos="2971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g1efb213003f_0_3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efb213003f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8" name="Shape 268"/>
        <p:cNvGrpSpPr/>
        <p:nvPr/>
      </p:nvGrpSpPr>
      <p:grpSpPr>
        <a:xfrm>
          <a:off x="0" y="0"/>
          <a:ext cx="0" cy="0"/>
        </a:xfrm>
      </p:grpSpPr>
      <p:sp>
        <p:nvSpPr>
          <p:cNvPr id="269" name="Google Shape;26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375" y="1469750"/>
            <a:ext cx="662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Constructing triangles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749900"/>
            <a:ext cx="66240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Construct the following triangles: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Triangle ABC, where AB = 7.5 cm, ∠CAB = 54° and ∠ABC = 47°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rcRect t="27436"/>
          <a:stretch>
            <a:fillRect/>
          </a:stretch>
        </p:blipFill>
        <p:spPr>
          <a:xfrm>
            <a:off x="1914175" y="2413000"/>
            <a:ext cx="4152299" cy="2489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2478372" y="4429272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437923" y="4429272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827274" y="2550190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42327" y="4737067"/>
            <a:ext cx="67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215148" y="4121846"/>
            <a:ext cx="3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54°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07988" y="4131424"/>
            <a:ext cx="3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2699054" y="4648458"/>
            <a:ext cx="2683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4742500" y="2998325"/>
            <a:ext cx="228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you measure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ACB it should be 79° and BC should be 6.2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400" y="5026500"/>
            <a:ext cx="662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Triangle DEF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∠DEF = 67°, ∠EFD = 25° and EF = 8.2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138" y="5373875"/>
            <a:ext cx="4030069" cy="23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2269890" y="7262906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437914" y="7218688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860025" y="5914597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626883" y="7427536"/>
            <a:ext cx="67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8.2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886328" y="6889997"/>
            <a:ext cx="3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540916" y="7063920"/>
            <a:ext cx="3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2466786" y="7422826"/>
            <a:ext cx="2934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" name="Google Shape;193;p20"/>
          <p:cNvSpPr txBox="1"/>
          <p:nvPr/>
        </p:nvSpPr>
        <p:spPr>
          <a:xfrm>
            <a:off x="4540925" y="5741500"/>
            <a:ext cx="24819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you measure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EDF it should be 88° and DE should be 3.5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76400" y="76935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Triangle GHI, where GH = 7.1 cm, ∠GHI = 113° and ∠HIG = 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5">
            <a:alphaModFix/>
          </a:blip>
          <a:srcRect t="11769"/>
          <a:stretch>
            <a:fillRect/>
          </a:stretch>
        </p:blipFill>
        <p:spPr>
          <a:xfrm>
            <a:off x="1426625" y="7928586"/>
            <a:ext cx="4403325" cy="218383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479847" y="9649964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656025" y="9497563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913732" y="9741897"/>
            <a:ext cx="674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7.1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614793" y="9280036"/>
            <a:ext cx="3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1859650" y="9725950"/>
            <a:ext cx="2560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1" name="Google Shape;201;p20"/>
          <p:cNvSpPr txBox="1"/>
          <p:nvPr/>
        </p:nvSpPr>
        <p:spPr>
          <a:xfrm>
            <a:off x="4742600" y="8789525"/>
            <a:ext cx="228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you measure GI it should be 9.8 cm and HI should be 4.5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854803" y="9038668"/>
            <a:ext cx="3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113°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370512" y="8535026"/>
            <a:ext cx="3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891119" y="7981616"/>
            <a:ext cx="21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76400" y="759300"/>
            <a:ext cx="66156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Triangle JKL, where ∠JKL = 38°, JL = 5.6 cm and KJ = KL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rcRect t="4879"/>
          <a:stretch>
            <a:fillRect/>
          </a:stretch>
        </p:blipFill>
        <p:spPr>
          <a:xfrm>
            <a:off x="2117175" y="983475"/>
            <a:ext cx="3086650" cy="390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2533187" y="4475575"/>
            <a:ext cx="213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455301" y="4729447"/>
            <a:ext cx="673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555756" y="2130310"/>
            <a:ext cx="371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>
            <a:off x="2711882" y="4674728"/>
            <a:ext cx="1999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6" name="Google Shape;216;p21"/>
          <p:cNvSpPr txBox="1"/>
          <p:nvPr/>
        </p:nvSpPr>
        <p:spPr>
          <a:xfrm>
            <a:off x="4960403" y="1853735"/>
            <a:ext cx="20541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you measure KJ and KL they should both be 8.6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792854" y="4470475"/>
            <a:ext cx="213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653734" y="1197543"/>
            <a:ext cx="213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3089115" y="4146149"/>
            <a:ext cx="371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71°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>
            <a:off x="468375" y="5129000"/>
            <a:ext cx="66219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21"/>
          <p:cNvSpPr txBox="1"/>
          <p:nvPr/>
        </p:nvSpPr>
        <p:spPr>
          <a:xfrm>
            <a:off x="468375" y="5203550"/>
            <a:ext cx="662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Justifying congruence by ASA/AAS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76400" y="5649600"/>
            <a:ext cx="6623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Prove each pair of triangles are congruent by ASA/AAS.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76400" y="6062997"/>
            <a:ext cx="201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310073" y="6274528"/>
            <a:ext cx="1767431" cy="779386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25" name="Google Shape;225;p21"/>
          <p:cNvSpPr/>
          <p:nvPr/>
        </p:nvSpPr>
        <p:spPr>
          <a:xfrm>
            <a:off x="1083105" y="6825003"/>
            <a:ext cx="454200" cy="4542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 rot="7398096">
            <a:off x="1538461" y="6050540"/>
            <a:ext cx="454060" cy="454060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 rot="10800000" flipH="1">
            <a:off x="4251679" y="6342040"/>
            <a:ext cx="1767431" cy="779386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28" name="Google Shape;228;p21"/>
          <p:cNvSpPr/>
          <p:nvPr/>
        </p:nvSpPr>
        <p:spPr>
          <a:xfrm rot="10800000" flipH="1">
            <a:off x="4024710" y="6116751"/>
            <a:ext cx="454200" cy="4542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 rot="3401904" flipH="1">
            <a:off x="4480067" y="6891354"/>
            <a:ext cx="454060" cy="454060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664628" y="6062997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537305" y="6803870"/>
            <a:ext cx="29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2511611" y="6267112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158222" y="6966505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110502" y="7010281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084118" y="622118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593642" y="7121299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6080038" y="6169552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722243" y="6514984"/>
            <a:ext cx="3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682442" y="6683383"/>
            <a:ext cx="3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478480" y="6394752"/>
            <a:ext cx="3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5438852" y="6766190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1"/>
          <p:cNvCxnSpPr/>
          <p:nvPr/>
        </p:nvCxnSpPr>
        <p:spPr>
          <a:xfrm>
            <a:off x="1819149" y="6164017"/>
            <a:ext cx="1319100" cy="78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3" name="Google Shape;243;p21"/>
          <p:cNvCxnSpPr/>
          <p:nvPr/>
        </p:nvCxnSpPr>
        <p:spPr>
          <a:xfrm rot="10800000" flipH="1">
            <a:off x="4764185" y="6441024"/>
            <a:ext cx="1315800" cy="755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4" name="Google Shape;244;p21"/>
          <p:cNvSpPr txBox="1"/>
          <p:nvPr/>
        </p:nvSpPr>
        <p:spPr>
          <a:xfrm>
            <a:off x="607775" y="7397225"/>
            <a:ext cx="640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 and EF are corresponding edges and equal,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∠BAC = ∠DEF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∠ABC = ∠EDF.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congruent by AAS.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5" name="Google Shape;245;p21"/>
          <p:cNvSpPr txBox="1"/>
          <p:nvPr/>
        </p:nvSpPr>
        <p:spPr>
          <a:xfrm>
            <a:off x="476400" y="7974359"/>
            <a:ext cx="2076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1145282" y="8097029"/>
            <a:ext cx="1371343" cy="960570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47" name="Google Shape;247;p21"/>
          <p:cNvSpPr/>
          <p:nvPr/>
        </p:nvSpPr>
        <p:spPr>
          <a:xfrm>
            <a:off x="918386" y="8361246"/>
            <a:ext cx="467700" cy="467700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 rot="-8434256">
            <a:off x="2281705" y="7864532"/>
            <a:ext cx="467626" cy="467626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 rot="9835042">
            <a:off x="4543004" y="7875883"/>
            <a:ext cx="1371377" cy="960594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50" name="Google Shape;250;p21"/>
          <p:cNvSpPr/>
          <p:nvPr/>
        </p:nvSpPr>
        <p:spPr>
          <a:xfrm rot="9834795">
            <a:off x="5642068" y="7917242"/>
            <a:ext cx="467714" cy="467714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 rot="1399447">
            <a:off x="4469958" y="8772147"/>
            <a:ext cx="467505" cy="467505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970891" y="8483844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2539844" y="7914931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539837" y="9046268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285816" y="7914931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934668" y="8016748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599916" y="9046274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458961" y="8483844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127582" y="8296598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319838" y="8137471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716084" y="8581095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2643878" y="8109603"/>
            <a:ext cx="21000" cy="935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3" name="Google Shape;263;p21"/>
          <p:cNvSpPr txBox="1"/>
          <p:nvPr/>
        </p:nvSpPr>
        <p:spPr>
          <a:xfrm>
            <a:off x="2747448" y="8466042"/>
            <a:ext cx="83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>
            <a:off x="4289268" y="8127385"/>
            <a:ext cx="261300" cy="956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5" name="Google Shape;265;p21"/>
          <p:cNvSpPr txBox="1"/>
          <p:nvPr/>
        </p:nvSpPr>
        <p:spPr>
          <a:xfrm>
            <a:off x="3765853" y="8503513"/>
            <a:ext cx="83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07775" y="9314375"/>
            <a:ext cx="648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∠GIH = 180 - (34 + 74) = 72° and ∠KJL = 180 - (34 + 72) = 74°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GI and JK are corresponding edges and equal,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∠HGI = ∠KJL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∠GIH = ∠JKL.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congruent by ASA.</a:t>
            </a:r>
            <a:endParaRPr sz="1200"/>
          </a:p>
        </p:txBody>
      </p:sp>
      <p:sp>
        <p:nvSpPr>
          <p:cNvPr id="267" name="Google Shape;26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2"/>
          <p:cNvSpPr/>
          <p:nvPr/>
        </p:nvSpPr>
        <p:spPr>
          <a:xfrm>
            <a:off x="1441919" y="6318500"/>
            <a:ext cx="509700" cy="509700"/>
          </a:xfrm>
          <a:prstGeom prst="pie">
            <a:avLst>
              <a:gd name="adj1" fmla="val 10795497"/>
              <a:gd name="adj2" fmla="val 13352664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3" name="Google Shape;273;p22"/>
          <p:cNvGrpSpPr/>
          <p:nvPr/>
        </p:nvGrpSpPr>
        <p:grpSpPr>
          <a:xfrm rot="10800000">
            <a:off x="1388645" y="6255373"/>
            <a:ext cx="635904" cy="635904"/>
            <a:chOff x="532651" y="1485903"/>
            <a:chExt cx="768000" cy="768000"/>
          </a:xfrm>
        </p:grpSpPr>
        <p:sp>
          <p:nvSpPr>
            <p:cNvPr id="274" name="Google Shape;274;p22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" name="Google Shape;27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7" name="Google Shape;277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76400" y="1001400"/>
            <a:ext cx="66156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Why are these two triangles not congruent by ASA?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1600578" y="1521129"/>
            <a:ext cx="1459836" cy="755067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82" name="Google Shape;282;p22"/>
          <p:cNvSpPr/>
          <p:nvPr/>
        </p:nvSpPr>
        <p:spPr>
          <a:xfrm>
            <a:off x="1100121" y="1977181"/>
            <a:ext cx="813600" cy="8136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2701229" y="1923056"/>
            <a:ext cx="680700" cy="6807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1860325" y="1281121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406259" y="2230018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3119156" y="2230018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/>
          <p:nvPr/>
        </p:nvSpPr>
        <p:spPr>
          <a:xfrm flipH="1">
            <a:off x="4491401" y="1447038"/>
            <a:ext cx="1459836" cy="755067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88" name="Google Shape;288;p22"/>
          <p:cNvSpPr/>
          <p:nvPr/>
        </p:nvSpPr>
        <p:spPr>
          <a:xfrm flipH="1">
            <a:off x="5638093" y="1903090"/>
            <a:ext cx="813600" cy="8136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/>
          <p:nvPr/>
        </p:nvSpPr>
        <p:spPr>
          <a:xfrm flipH="1">
            <a:off x="4169886" y="1848965"/>
            <a:ext cx="680700" cy="6807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5528270" y="1231188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4289879" y="2106208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2" name="Google Shape;292;p22"/>
          <p:cNvCxnSpPr/>
          <p:nvPr/>
        </p:nvCxnSpPr>
        <p:spPr>
          <a:xfrm>
            <a:off x="2037611" y="1433207"/>
            <a:ext cx="1075500" cy="75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3" name="Google Shape;293;p22"/>
          <p:cNvSpPr txBox="1"/>
          <p:nvPr/>
        </p:nvSpPr>
        <p:spPr>
          <a:xfrm>
            <a:off x="1860326" y="2006343"/>
            <a:ext cx="32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2513887" y="1542514"/>
            <a:ext cx="80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2426095" y="2036984"/>
            <a:ext cx="32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 flipH="1">
            <a:off x="5398252" y="1951358"/>
            <a:ext cx="32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 flipH="1">
            <a:off x="4882942" y="1946560"/>
            <a:ext cx="32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8" name="Google Shape;298;p22"/>
          <p:cNvCxnSpPr/>
          <p:nvPr/>
        </p:nvCxnSpPr>
        <p:spPr>
          <a:xfrm>
            <a:off x="5668237" y="1403023"/>
            <a:ext cx="398700" cy="76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9" name="Google Shape;299;p22"/>
          <p:cNvSpPr txBox="1"/>
          <p:nvPr/>
        </p:nvSpPr>
        <p:spPr>
          <a:xfrm>
            <a:off x="5883656" y="1577788"/>
            <a:ext cx="80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769222" y="2611077"/>
            <a:ext cx="612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Although, the three interior angles of both triangles are the same.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two edges of 4.3 cm are not corresponding edges in the triangles.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301" name="Google Shape;301;p22"/>
          <p:cNvSpPr txBox="1"/>
          <p:nvPr/>
        </p:nvSpPr>
        <p:spPr>
          <a:xfrm>
            <a:off x="476400" y="3287400"/>
            <a:ext cx="661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Given a parallelogram ABCD, prove that triangle ABC is congruent to triangle ACD by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2" name="Google Shape;302;p22"/>
          <p:cNvGrpSpPr/>
          <p:nvPr/>
        </p:nvGrpSpPr>
        <p:grpSpPr>
          <a:xfrm>
            <a:off x="611100" y="3983566"/>
            <a:ext cx="1523856" cy="1076267"/>
            <a:chOff x="1335300" y="1666975"/>
            <a:chExt cx="2451900" cy="1731725"/>
          </a:xfrm>
        </p:grpSpPr>
        <p:sp>
          <p:nvSpPr>
            <p:cNvPr id="303" name="Google Shape;303;p22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name="adj" fmla="val 25000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4" name="Google Shape;304;p22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05" name="Google Shape;305;p22"/>
            <p:cNvGrpSpPr/>
            <p:nvPr/>
          </p:nvGrpSpPr>
          <p:grpSpPr>
            <a:xfrm>
              <a:off x="1335300" y="1666975"/>
              <a:ext cx="2099400" cy="1731725"/>
              <a:chOff x="495300" y="1237200"/>
              <a:chExt cx="2099400" cy="1731725"/>
            </a:xfrm>
          </p:grpSpPr>
          <p:sp>
            <p:nvSpPr>
              <p:cNvPr id="306" name="Google Shape;306;p22"/>
              <p:cNvSpPr txBox="1"/>
              <p:nvPr/>
            </p:nvSpPr>
            <p:spPr>
              <a:xfrm>
                <a:off x="786075" y="1237200"/>
                <a:ext cx="254700" cy="29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7" name="Google Shape;307;p22"/>
              <p:cNvSpPr txBox="1"/>
              <p:nvPr/>
            </p:nvSpPr>
            <p:spPr>
              <a:xfrm>
                <a:off x="495300" y="2634125"/>
                <a:ext cx="254700" cy="29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08" name="Google Shape;308;p22"/>
              <p:cNvSpPr txBox="1"/>
              <p:nvPr/>
            </p:nvSpPr>
            <p:spPr>
              <a:xfrm>
                <a:off x="2340000" y="2671625"/>
                <a:ext cx="254700" cy="29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09" name="Google Shape;309;p22"/>
            <p:cNvSpPr txBox="1"/>
            <p:nvPr/>
          </p:nvSpPr>
          <p:spPr>
            <a:xfrm>
              <a:off x="3532500" y="1746300"/>
              <a:ext cx="2547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0" name="Google Shape;310;p22"/>
          <p:cNvSpPr txBox="1"/>
          <p:nvPr/>
        </p:nvSpPr>
        <p:spPr>
          <a:xfrm>
            <a:off x="2419966" y="4038897"/>
            <a:ext cx="439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∠DAC = ∠ACB as they are equal interior alternate 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311" name="Google Shape;311;p22"/>
          <p:cNvSpPr txBox="1"/>
          <p:nvPr/>
        </p:nvSpPr>
        <p:spPr>
          <a:xfrm>
            <a:off x="2419966" y="4328847"/>
            <a:ext cx="422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 is a shared side.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2419977" y="4975875"/>
            <a:ext cx="4710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ASA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/>
          </a:p>
        </p:txBody>
      </p:sp>
      <p:sp>
        <p:nvSpPr>
          <p:cNvPr id="313" name="Google Shape;313;p22"/>
          <p:cNvSpPr/>
          <p:nvPr/>
        </p:nvSpPr>
        <p:spPr>
          <a:xfrm rot="10800000">
            <a:off x="698155" y="3901957"/>
            <a:ext cx="479400" cy="479400"/>
          </a:xfrm>
          <a:prstGeom prst="pie">
            <a:avLst>
              <a:gd name="adj1" fmla="val 10795497"/>
              <a:gd name="adj2" fmla="val 13352664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504868" y="4649115"/>
            <a:ext cx="479400" cy="479400"/>
          </a:xfrm>
          <a:prstGeom prst="pie">
            <a:avLst>
              <a:gd name="adj1" fmla="val 10795497"/>
              <a:gd name="adj2" fmla="val 13352664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5" name="Google Shape;315;p22"/>
          <p:cNvGrpSpPr/>
          <p:nvPr/>
        </p:nvGrpSpPr>
        <p:grpSpPr>
          <a:xfrm>
            <a:off x="638885" y="3842714"/>
            <a:ext cx="598042" cy="598042"/>
            <a:chOff x="532651" y="1485903"/>
            <a:chExt cx="768000" cy="768000"/>
          </a:xfrm>
        </p:grpSpPr>
        <p:sp>
          <p:nvSpPr>
            <p:cNvPr id="316" name="Google Shape;316;p22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8" name="Google Shape;318;p22"/>
          <p:cNvGrpSpPr/>
          <p:nvPr/>
        </p:nvGrpSpPr>
        <p:grpSpPr>
          <a:xfrm rot="10800000">
            <a:off x="1454762" y="4589732"/>
            <a:ext cx="598042" cy="598042"/>
            <a:chOff x="532651" y="1485903"/>
            <a:chExt cx="768000" cy="768000"/>
          </a:xfrm>
        </p:grpSpPr>
        <p:sp>
          <p:nvSpPr>
            <p:cNvPr id="319" name="Google Shape;319;p22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1" name="Google Shape;321;p22"/>
          <p:cNvSpPr txBox="1"/>
          <p:nvPr/>
        </p:nvSpPr>
        <p:spPr>
          <a:xfrm>
            <a:off x="2419966" y="4666589"/>
            <a:ext cx="439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CA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∠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BAC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as they are equal interior alternate 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cxnSp>
        <p:nvCxnSpPr>
          <p:cNvPr id="322" name="Google Shape;322;p22"/>
          <p:cNvCxnSpPr/>
          <p:nvPr/>
        </p:nvCxnSpPr>
        <p:spPr>
          <a:xfrm>
            <a:off x="932880" y="4140891"/>
            <a:ext cx="820500" cy="755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3" name="Google Shape;323;p22"/>
          <p:cNvGrpSpPr/>
          <p:nvPr/>
        </p:nvGrpSpPr>
        <p:grpSpPr>
          <a:xfrm>
            <a:off x="573278" y="5674356"/>
            <a:ext cx="1523856" cy="1107031"/>
            <a:chOff x="1335300" y="1666975"/>
            <a:chExt cx="2451900" cy="1781225"/>
          </a:xfrm>
        </p:grpSpPr>
        <p:sp>
          <p:nvSpPr>
            <p:cNvPr id="324" name="Google Shape;324;p22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name="adj" fmla="val 25000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5" name="Google Shape;325;p22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6" name="Google Shape;326;p22"/>
            <p:cNvGrpSpPr/>
            <p:nvPr/>
          </p:nvGrpSpPr>
          <p:grpSpPr>
            <a:xfrm>
              <a:off x="1335300" y="1666975"/>
              <a:ext cx="2099400" cy="1781225"/>
              <a:chOff x="495300" y="1237200"/>
              <a:chExt cx="2099400" cy="1781225"/>
            </a:xfrm>
          </p:grpSpPr>
          <p:sp>
            <p:nvSpPr>
              <p:cNvPr id="327" name="Google Shape;327;p22"/>
              <p:cNvSpPr txBox="1"/>
              <p:nvPr/>
            </p:nvSpPr>
            <p:spPr>
              <a:xfrm>
                <a:off x="786075" y="1237200"/>
                <a:ext cx="254700" cy="34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" name="Google Shape;328;p22"/>
              <p:cNvSpPr txBox="1"/>
              <p:nvPr/>
            </p:nvSpPr>
            <p:spPr>
              <a:xfrm>
                <a:off x="495300" y="2634125"/>
                <a:ext cx="254700" cy="34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" name="Google Shape;329;p22"/>
              <p:cNvSpPr txBox="1"/>
              <p:nvPr/>
            </p:nvSpPr>
            <p:spPr>
              <a:xfrm>
                <a:off x="2340000" y="2671625"/>
                <a:ext cx="254700" cy="34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30" name="Google Shape;330;p22"/>
            <p:cNvSpPr txBox="1"/>
            <p:nvPr/>
          </p:nvSpPr>
          <p:spPr>
            <a:xfrm>
              <a:off x="3532500" y="1746300"/>
              <a:ext cx="2547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1" name="Google Shape;331;p22"/>
          <p:cNvSpPr txBox="1"/>
          <p:nvPr/>
        </p:nvSpPr>
        <p:spPr>
          <a:xfrm>
            <a:off x="2420399" y="5983062"/>
            <a:ext cx="467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∠DAC = ∠ACB as they are equal interior alternate 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332" name="Google Shape;332;p22"/>
          <p:cNvSpPr txBox="1"/>
          <p:nvPr/>
        </p:nvSpPr>
        <p:spPr>
          <a:xfrm>
            <a:off x="2420399" y="5733143"/>
            <a:ext cx="449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D = BC as they are opposite sides of a parallelogram.</a:t>
            </a:r>
            <a:endParaRPr sz="1200"/>
          </a:p>
        </p:txBody>
      </p:sp>
      <p:sp>
        <p:nvSpPr>
          <p:cNvPr id="333" name="Google Shape;333;p22"/>
          <p:cNvSpPr txBox="1"/>
          <p:nvPr/>
        </p:nvSpPr>
        <p:spPr>
          <a:xfrm>
            <a:off x="2420400" y="6625300"/>
            <a:ext cx="4598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AAS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/>
          </a:p>
        </p:txBody>
      </p:sp>
      <p:sp>
        <p:nvSpPr>
          <p:cNvPr id="334" name="Google Shape;334;p22"/>
          <p:cNvSpPr/>
          <p:nvPr/>
        </p:nvSpPr>
        <p:spPr>
          <a:xfrm rot="10800000">
            <a:off x="665825" y="5587588"/>
            <a:ext cx="509700" cy="509700"/>
          </a:xfrm>
          <a:prstGeom prst="pie">
            <a:avLst>
              <a:gd name="adj1" fmla="val 10795497"/>
              <a:gd name="adj2" fmla="val 13352664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5" name="Google Shape;335;p22"/>
          <p:cNvGrpSpPr/>
          <p:nvPr/>
        </p:nvGrpSpPr>
        <p:grpSpPr>
          <a:xfrm>
            <a:off x="602748" y="5524528"/>
            <a:ext cx="635904" cy="635904"/>
            <a:chOff x="532651" y="1485903"/>
            <a:chExt cx="768000" cy="768000"/>
          </a:xfrm>
        </p:grpSpPr>
        <p:sp>
          <p:nvSpPr>
            <p:cNvPr id="336" name="Google Shape;336;p22"/>
            <p:cNvSpPr/>
            <p:nvPr/>
          </p:nvSpPr>
          <p:spPr>
            <a:xfrm>
              <a:off x="532651" y="1485903"/>
              <a:ext cx="768000" cy="7680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608847" y="1562090"/>
              <a:ext cx="615600" cy="615600"/>
            </a:xfrm>
            <a:prstGeom prst="pie">
              <a:avLst>
                <a:gd name="adj1" fmla="val 2572249"/>
                <a:gd name="adj2" fmla="val 6301187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8" name="Google Shape;338;p22"/>
          <p:cNvSpPr txBox="1"/>
          <p:nvPr/>
        </p:nvSpPr>
        <p:spPr>
          <a:xfrm>
            <a:off x="2420399" y="6246089"/>
            <a:ext cx="4671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CA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∠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BAC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as they are equal interior alternate angles.</a:t>
            </a:r>
            <a:endParaRPr/>
          </a:p>
        </p:txBody>
      </p:sp>
      <p:cxnSp>
        <p:nvCxnSpPr>
          <p:cNvPr id="339" name="Google Shape;339;p22"/>
          <p:cNvCxnSpPr/>
          <p:nvPr/>
        </p:nvCxnSpPr>
        <p:spPr>
          <a:xfrm flipH="1">
            <a:off x="1229171" y="6492340"/>
            <a:ext cx="0" cy="186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22"/>
          <p:cNvCxnSpPr/>
          <p:nvPr/>
        </p:nvCxnSpPr>
        <p:spPr>
          <a:xfrm flipH="1">
            <a:off x="1461549" y="5749288"/>
            <a:ext cx="0" cy="186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" name="Google Shape;341;p22"/>
          <p:cNvSpPr txBox="1"/>
          <p:nvPr/>
        </p:nvSpPr>
        <p:spPr>
          <a:xfrm>
            <a:off x="476399" y="5362580"/>
            <a:ext cx="449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Alternatively:</a:t>
            </a:r>
            <a:endParaRPr sz="1200"/>
          </a:p>
        </p:txBody>
      </p:sp>
      <p:sp>
        <p:nvSpPr>
          <p:cNvPr id="342" name="Google Shape;342;p22"/>
          <p:cNvSpPr txBox="1"/>
          <p:nvPr/>
        </p:nvSpPr>
        <p:spPr>
          <a:xfrm>
            <a:off x="476400" y="7083900"/>
            <a:ext cx="66156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Point E is the midpoint of AC and BD. Prove that triangle AEB is congruent to triangle ECD by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3" name="Google Shape;343;p22"/>
          <p:cNvGrpSpPr/>
          <p:nvPr/>
        </p:nvGrpSpPr>
        <p:grpSpPr>
          <a:xfrm>
            <a:off x="818848" y="7745914"/>
            <a:ext cx="1596935" cy="2035568"/>
            <a:chOff x="1941075" y="1473875"/>
            <a:chExt cx="2473950" cy="3153475"/>
          </a:xfrm>
        </p:grpSpPr>
        <p:grpSp>
          <p:nvGrpSpPr>
            <p:cNvPr id="344" name="Google Shape;344;p22"/>
            <p:cNvGrpSpPr/>
            <p:nvPr/>
          </p:nvGrpSpPr>
          <p:grpSpPr>
            <a:xfrm>
              <a:off x="2195775" y="1473875"/>
              <a:ext cx="0" cy="3148400"/>
              <a:chOff x="2195775" y="1473875"/>
              <a:chExt cx="0" cy="3148400"/>
            </a:xfrm>
          </p:grpSpPr>
          <p:cxnSp>
            <p:nvCxnSpPr>
              <p:cNvPr id="345" name="Google Shape;345;p22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46" name="Google Shape;346;p22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47" name="Google Shape;347;p22"/>
            <p:cNvGrpSpPr/>
            <p:nvPr/>
          </p:nvGrpSpPr>
          <p:grpSpPr>
            <a:xfrm>
              <a:off x="4122825" y="1478950"/>
              <a:ext cx="0" cy="3148400"/>
              <a:chOff x="2195775" y="1473875"/>
              <a:chExt cx="0" cy="3148400"/>
            </a:xfrm>
          </p:grpSpPr>
          <p:cxnSp>
            <p:nvCxnSpPr>
              <p:cNvPr id="348" name="Google Shape;348;p22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49" name="Google Shape;349;p22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50" name="Google Shape;350;p22"/>
            <p:cNvCxnSpPr/>
            <p:nvPr/>
          </p:nvCxnSpPr>
          <p:spPr>
            <a:xfrm rot="10800000" flipH="1">
              <a:off x="2190000" y="1800000"/>
              <a:ext cx="1935000" cy="172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22"/>
            <p:cNvCxnSpPr/>
            <p:nvPr/>
          </p:nvCxnSpPr>
          <p:spPr>
            <a:xfrm>
              <a:off x="2190000" y="2205000"/>
              <a:ext cx="1935000" cy="103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22"/>
            <p:cNvSpPr txBox="1"/>
            <p:nvPr/>
          </p:nvSpPr>
          <p:spPr>
            <a:xfrm>
              <a:off x="1941075" y="2021400"/>
              <a:ext cx="2547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" name="Google Shape;353;p22"/>
            <p:cNvSpPr txBox="1"/>
            <p:nvPr/>
          </p:nvSpPr>
          <p:spPr>
            <a:xfrm>
              <a:off x="1941075" y="3358800"/>
              <a:ext cx="2547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4" name="Google Shape;354;p22"/>
            <p:cNvSpPr txBox="1"/>
            <p:nvPr/>
          </p:nvSpPr>
          <p:spPr>
            <a:xfrm>
              <a:off x="4160325" y="1623325"/>
              <a:ext cx="2547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5" name="Google Shape;355;p22"/>
            <p:cNvSpPr txBox="1"/>
            <p:nvPr/>
          </p:nvSpPr>
          <p:spPr>
            <a:xfrm>
              <a:off x="4160325" y="3101400"/>
              <a:ext cx="2547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6" name="Google Shape;356;p22"/>
            <p:cNvSpPr txBox="1"/>
            <p:nvPr/>
          </p:nvSpPr>
          <p:spPr>
            <a:xfrm>
              <a:off x="3031950" y="2345725"/>
              <a:ext cx="254700" cy="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7" name="Google Shape;357;p22"/>
          <p:cNvSpPr txBox="1"/>
          <p:nvPr/>
        </p:nvSpPr>
        <p:spPr>
          <a:xfrm>
            <a:off x="2631057" y="7749766"/>
            <a:ext cx="446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 = EB, as E is the midpoint of BD.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58" name="Google Shape;358;p22"/>
          <p:cNvCxnSpPr/>
          <p:nvPr/>
        </p:nvCxnSpPr>
        <p:spPr>
          <a:xfrm rot="10800000" flipH="1">
            <a:off x="1901410" y="8171153"/>
            <a:ext cx="0" cy="14511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22"/>
          <p:cNvCxnSpPr/>
          <p:nvPr/>
        </p:nvCxnSpPr>
        <p:spPr>
          <a:xfrm rot="10800000" flipH="1">
            <a:off x="1306935" y="8712275"/>
            <a:ext cx="0" cy="14511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0" name="Google Shape;360;p22"/>
          <p:cNvSpPr txBox="1"/>
          <p:nvPr/>
        </p:nvSpPr>
        <p:spPr>
          <a:xfrm>
            <a:off x="2631057" y="8486880"/>
            <a:ext cx="446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∠ABE = ∠EDC,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as they are equal interior alternate 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2631057" y="8114176"/>
            <a:ext cx="42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∠AEB = ∠DEC as vertically opposite 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362" name="Google Shape;362;p22"/>
          <p:cNvSpPr/>
          <p:nvPr/>
        </p:nvSpPr>
        <p:spPr>
          <a:xfrm rot="10800000">
            <a:off x="1384252" y="8337248"/>
            <a:ext cx="397500" cy="397500"/>
          </a:xfrm>
          <a:prstGeom prst="pie">
            <a:avLst>
              <a:gd name="adj1" fmla="val 8229332"/>
              <a:gd name="adj2" fmla="val 12528523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1369954" y="8339411"/>
            <a:ext cx="397500" cy="397500"/>
          </a:xfrm>
          <a:prstGeom prst="pie">
            <a:avLst>
              <a:gd name="adj1" fmla="val 8229332"/>
              <a:gd name="adj2" fmla="val 12528523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2631049" y="8850075"/>
            <a:ext cx="446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AEB is congruent to triangle ECD by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ASA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/>
          </a:p>
        </p:txBody>
      </p:sp>
      <p:grpSp>
        <p:nvGrpSpPr>
          <p:cNvPr id="365" name="Google Shape;365;p22"/>
          <p:cNvGrpSpPr/>
          <p:nvPr/>
        </p:nvGrpSpPr>
        <p:grpSpPr>
          <a:xfrm>
            <a:off x="739525" y="8806050"/>
            <a:ext cx="497487" cy="497487"/>
            <a:chOff x="370305" y="3201318"/>
            <a:chExt cx="770700" cy="770700"/>
          </a:xfrm>
        </p:grpSpPr>
        <p:sp>
          <p:nvSpPr>
            <p:cNvPr id="366" name="Google Shape;366;p22"/>
            <p:cNvSpPr/>
            <p:nvPr/>
          </p:nvSpPr>
          <p:spPr>
            <a:xfrm>
              <a:off x="370305" y="3201318"/>
              <a:ext cx="770700" cy="770700"/>
            </a:xfrm>
            <a:prstGeom prst="pie">
              <a:avLst>
                <a:gd name="adj1" fmla="val 16187487"/>
                <a:gd name="adj2" fmla="val 19121246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443332" y="3283277"/>
              <a:ext cx="615600" cy="615600"/>
            </a:xfrm>
            <a:prstGeom prst="pie">
              <a:avLst>
                <a:gd name="adj1" fmla="val 16187487"/>
                <a:gd name="adj2" fmla="val 19121246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8" name="Google Shape;368;p22"/>
          <p:cNvGrpSpPr/>
          <p:nvPr/>
        </p:nvGrpSpPr>
        <p:grpSpPr>
          <a:xfrm rot="10800000">
            <a:off x="1984360" y="7719886"/>
            <a:ext cx="484900" cy="484900"/>
            <a:chOff x="675098" y="3373149"/>
            <a:chExt cx="751200" cy="751200"/>
          </a:xfrm>
        </p:grpSpPr>
        <p:sp>
          <p:nvSpPr>
            <p:cNvPr id="369" name="Google Shape;369;p22"/>
            <p:cNvSpPr/>
            <p:nvPr/>
          </p:nvSpPr>
          <p:spPr>
            <a:xfrm>
              <a:off x="675098" y="3373149"/>
              <a:ext cx="751200" cy="751200"/>
            </a:xfrm>
            <a:prstGeom prst="pie">
              <a:avLst>
                <a:gd name="adj1" fmla="val 16187487"/>
                <a:gd name="adj2" fmla="val 19121246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42907" y="3440952"/>
              <a:ext cx="615600" cy="615600"/>
            </a:xfrm>
            <a:prstGeom prst="pie">
              <a:avLst>
                <a:gd name="adj1" fmla="val 16187487"/>
                <a:gd name="adj2" fmla="val 19121246"/>
              </a:avLst>
            </a:prstGeom>
            <a:solidFill>
              <a:schemeClr val="lt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1" name="Google Shape;371;p22"/>
          <p:cNvSpPr txBox="1"/>
          <p:nvPr/>
        </p:nvSpPr>
        <p:spPr>
          <a:xfrm>
            <a:off x="6011400" y="2180400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Congruent triangles (ASA and AAS)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2024-02-06T10:37:37.659</cp:lastPrinted>
  <dcterms:created xsi:type="dcterms:W3CDTF">2024-02-06T10:37:37Z</dcterms:created>
  <dcterms:modified xsi:type="dcterms:W3CDTF">2024-02-06T10:37:47Z</dcterms:modified>
</cp:coreProperties>
</file>