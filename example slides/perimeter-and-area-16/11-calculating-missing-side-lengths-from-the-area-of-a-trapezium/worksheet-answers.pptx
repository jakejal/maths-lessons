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e451ef9a00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e451ef9a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468000" y="2069125"/>
            <a:ext cx="66312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Calculating the area of a trapezium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area of each trapezium.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b)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5acbdd09-3f06-4c44-aa14-553e9f3a30f9&quot; data-equatio-type=&quot;image&quot;&gt;&lt;mglyph src=&quot;https://equatio-api.texthelp.com/desmos/get/23-06-2023/5acbdd09-3f06-4c44-aa14-553e9f3a30f9&quot; alt=&quot;Equatio Image&quot;/&gt;&lt;/math&gt;" id="130" name="Google Shape;13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600" y="2957994"/>
            <a:ext cx="5918144" cy="7770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14"/>
          <p:cNvCxnSpPr/>
          <p:nvPr/>
        </p:nvCxnSpPr>
        <p:spPr>
          <a:xfrm>
            <a:off x="807600" y="3060276"/>
            <a:ext cx="1236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" name="Google Shape;132;p14"/>
          <p:cNvCxnSpPr/>
          <p:nvPr/>
        </p:nvCxnSpPr>
        <p:spPr>
          <a:xfrm>
            <a:off x="1090444" y="3766762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" name="Google Shape;133;p14"/>
          <p:cNvCxnSpPr/>
          <p:nvPr/>
        </p:nvCxnSpPr>
        <p:spPr>
          <a:xfrm>
            <a:off x="743467" y="3123014"/>
            <a:ext cx="284100" cy="59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 flipH="1">
            <a:off x="1804626" y="3123014"/>
            <a:ext cx="286800" cy="62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>
            <a:off x="6278395" y="3186284"/>
            <a:ext cx="517500" cy="51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" name="Google Shape;136;p14"/>
          <p:cNvCxnSpPr/>
          <p:nvPr/>
        </p:nvCxnSpPr>
        <p:spPr>
          <a:xfrm>
            <a:off x="4957850" y="3209313"/>
            <a:ext cx="128100" cy="51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" name="Google Shape;137;p14"/>
          <p:cNvCxnSpPr/>
          <p:nvPr/>
        </p:nvCxnSpPr>
        <p:spPr>
          <a:xfrm>
            <a:off x="5141899" y="3798636"/>
            <a:ext cx="1565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" name="Google Shape;138;p14"/>
          <p:cNvCxnSpPr/>
          <p:nvPr/>
        </p:nvCxnSpPr>
        <p:spPr>
          <a:xfrm>
            <a:off x="5020588" y="3123014"/>
            <a:ext cx="116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" name="Google Shape;139;p14"/>
          <p:cNvCxnSpPr/>
          <p:nvPr/>
        </p:nvCxnSpPr>
        <p:spPr>
          <a:xfrm flipH="1">
            <a:off x="2868555" y="2941241"/>
            <a:ext cx="381900" cy="36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" name="Google Shape;140;p14"/>
          <p:cNvCxnSpPr/>
          <p:nvPr/>
        </p:nvCxnSpPr>
        <p:spPr>
          <a:xfrm>
            <a:off x="2868633" y="3379985"/>
            <a:ext cx="328200" cy="34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1" name="Google Shape;141;p14"/>
          <p:cNvCxnSpPr/>
          <p:nvPr/>
        </p:nvCxnSpPr>
        <p:spPr>
          <a:xfrm>
            <a:off x="3278714" y="3766762"/>
            <a:ext cx="757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" name="Google Shape;142;p14"/>
          <p:cNvCxnSpPr/>
          <p:nvPr/>
        </p:nvCxnSpPr>
        <p:spPr>
          <a:xfrm>
            <a:off x="3360591" y="2941241"/>
            <a:ext cx="726000" cy="75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" name="Google Shape;143;p14"/>
          <p:cNvCxnSpPr/>
          <p:nvPr/>
        </p:nvCxnSpPr>
        <p:spPr>
          <a:xfrm>
            <a:off x="1252069" y="3149548"/>
            <a:ext cx="0" cy="53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144" name="Google Shape;144;p14"/>
          <p:cNvCxnSpPr/>
          <p:nvPr/>
        </p:nvCxnSpPr>
        <p:spPr>
          <a:xfrm>
            <a:off x="5223464" y="3209313"/>
            <a:ext cx="0" cy="48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5" name="Google Shape;145;p14"/>
          <p:cNvSpPr/>
          <p:nvPr/>
        </p:nvSpPr>
        <p:spPr>
          <a:xfrm rot="-2700000">
            <a:off x="2936841" y="3290530"/>
            <a:ext cx="112006" cy="11200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 rot="-2700000">
            <a:off x="3225681" y="3004270"/>
            <a:ext cx="112006" cy="11200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1252069" y="3575851"/>
            <a:ext cx="111900" cy="111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5223464" y="3221589"/>
            <a:ext cx="111900" cy="111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468000" y="3380976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1810757" y="3380976"/>
            <a:ext cx="61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2573531" y="3463348"/>
            <a:ext cx="61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1130116" y="3749055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3581706" y="2953572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3418953" y="3716557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2582788" y="2890834"/>
            <a:ext cx="5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5215922" y="2847400"/>
            <a:ext cx="72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4.8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5665749" y="3749055"/>
            <a:ext cx="5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6397430" y="3154759"/>
            <a:ext cx="70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2.9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5141899" y="3346533"/>
            <a:ext cx="70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1.3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4526483" y="3346533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1090444" y="2739675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1174027" y="3195863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left(a+b\right)h}{2}&quot;&gt;&lt;mfrac&gt;&lt;mrow&gt;&lt;mrow data-mjx-texclass=&quot;INNER&quot;&gt;&lt;mo data-mjx-texclass=&quot;OPEN&quot;&gt;(&lt;/mo&gt;&lt;mi&gt;a&lt;/mi&gt;&lt;mo&gt;+&lt;/mo&gt;&lt;mi&gt;b&lt;/mi&gt;&lt;mo data-mjx-texclass=&quot;CLOSE&quot;&gt;)&lt;/mo&gt;&lt;/mrow&gt;&lt;mi&gt;h&lt;/mi&gt;&lt;/mrow&gt;&lt;mn&gt;2&lt;/mn&gt;&lt;/mfrac&gt;&lt;/math&gt;" id="163" name="Google Shape;163;p14" title="open paren a plus b close paren times h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8600" y="2007000"/>
            <a:ext cx="897600" cy="526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=\frac{\left(3+7\right)\times2}{2}\\&amp;#13;&amp;#10;=\frac{10\times2}{2}\\&amp;#13;&amp;#10;=\frac{20}{2}\\&amp;#13;&amp;#10;=10\end{array}&quot;&gt;&lt;mtable columnalign=&quot;left&quot; columnspacing=&quot;1em&quot; rowspacing=&quot;4pt&quot;&gt;&lt;mtr&gt;&lt;mtd&gt;&lt;mo&gt;=&lt;/mo&gt;&lt;mfrac&gt;&lt;mrow&gt;&lt;mrow data-mjx-texclass=&quot;INNER&quot;&gt;&lt;mo data-mjx-texclass=&quot;OPEN&quot;&gt;(&lt;/mo&gt;&lt;mn&gt;3&lt;/mn&gt;&lt;mo&gt;+&lt;/mo&gt;&lt;mn&gt;7&lt;/mn&gt;&lt;mo data-mjx-texclass=&quot;CLOSE&quot;&gt;)&lt;/mo&gt;&lt;/mrow&gt;&lt;mo&gt;×&lt;/mo&gt;&lt;mn&gt;2&lt;/mn&gt;&lt;/mrow&gt;&lt;mn&gt;2&lt;/mn&gt;&lt;/mfrac&gt;&lt;/mtd&gt;&lt;/mtr&gt;&lt;mtr&gt;&lt;mtd&gt;&lt;mo&gt;=&lt;/mo&gt;&lt;mfrac&gt;&lt;mrow&gt;&lt;mn&gt;10&lt;/mn&gt;&lt;mo&gt;×&lt;/mo&gt;&lt;mn&gt;2&lt;/mn&gt;&lt;/mrow&gt;&lt;mn&gt;2&lt;/mn&gt;&lt;/mfrac&gt;&lt;/mtd&gt;&lt;/mtr&gt;&lt;mtr&gt;&lt;mtd&gt;&lt;mo&gt;=&lt;/mo&gt;&lt;mfrac&gt;&lt;mn&gt;20&lt;/mn&gt;&lt;mn&gt;2&lt;/mn&gt;&lt;/mfrac&gt;&lt;/mtd&gt;&lt;/mtr&gt;&lt;mtr&gt;&lt;mtd&gt;&lt;mo&gt;=&lt;/mo&gt;&lt;mn&gt;10&lt;/mn&gt;&lt;/mtd&gt;&lt;/mtr&gt;&lt;/mtable&gt;&lt;/math&gt;" id="164" name="Google Shape;164;p14" title="4 lines Line 1: equals the fraction with numerator open paren 3 plus 7 close paren times 2 and denominator 2 Line 2: equals the fraction with numerator 10 times 2 and denominator 2 Line 3: equals 20 over 2 Line 4: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7436" y="4164350"/>
            <a:ext cx="1029432" cy="175004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4"/>
          <p:cNvSpPr txBox="1"/>
          <p:nvPr/>
        </p:nvSpPr>
        <p:spPr>
          <a:xfrm>
            <a:off x="1600184" y="5691802"/>
            <a:ext cx="84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468000" y="4195720"/>
            <a:ext cx="84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=\frac{\left(2+5\right)\times2}{2}\\&amp;#13;&amp;#10;=\frac{7\times2}{2}\\&amp;#13;&amp;#10;=\frac{14}{2}\\&amp;#13;&amp;#10;=7\end{array}&quot;&gt;&lt;mtable columnalign=&quot;left&quot; columnspacing=&quot;1em&quot; rowspacing=&quot;4pt&quot;&gt;&lt;mtr&gt;&lt;mtd&gt;&lt;mo&gt;=&lt;/mo&gt;&lt;mfrac&gt;&lt;mrow&gt;&lt;mrow data-mjx-texclass=&quot;INNER&quot;&gt;&lt;mo data-mjx-texclass=&quot;OPEN&quot;&gt;(&lt;/mo&gt;&lt;mn&gt;2&lt;/mn&gt;&lt;mo&gt;+&lt;/mo&gt;&lt;mn&gt;5&lt;/mn&gt;&lt;mo data-mjx-texclass=&quot;CLOSE&quot;&gt;)&lt;/mo&gt;&lt;/mrow&gt;&lt;mo&gt;×&lt;/mo&gt;&lt;mn&gt;2&lt;/mn&gt;&lt;/mrow&gt;&lt;mn&gt;2&lt;/mn&gt;&lt;/mfrac&gt;&lt;/mtd&gt;&lt;/mtr&gt;&lt;mtr&gt;&lt;mtd&gt;&lt;mo&gt;=&lt;/mo&gt;&lt;mfrac&gt;&lt;mrow&gt;&lt;mn&gt;7&lt;/mn&gt;&lt;mo&gt;×&lt;/mo&gt;&lt;mn&gt;2&lt;/mn&gt;&lt;/mrow&gt;&lt;mn&gt;2&lt;/mn&gt;&lt;/mfrac&gt;&lt;/mtd&gt;&lt;/mtr&gt;&lt;mtr&gt;&lt;mtd&gt;&lt;mo&gt;=&lt;/mo&gt;&lt;mfrac&gt;&lt;mn&gt;14&lt;/mn&gt;&lt;mn&gt;2&lt;/mn&gt;&lt;/mfrac&gt;&lt;/mtd&gt;&lt;/mtr&gt;&lt;mtr&gt;&lt;mtd&gt;&lt;mo&gt;=&lt;/mo&gt;&lt;mn&gt;7&lt;/mn&gt;&lt;/mtd&gt;&lt;/mtr&gt;&lt;/mtable&gt;&lt;/math&gt;" id="167" name="Google Shape;167;p14" title="4 lines Line 1: equals the fraction with numerator open paren 2 plus 5 close paren times 2 and denominator 2 Line 2: equals the fraction with numerator 7 times 2 and denominator 2 Line 3: equals fourteen halves Line 4: equals 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9599" y="4164351"/>
            <a:ext cx="1029450" cy="175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4"/>
          <p:cNvSpPr txBox="1"/>
          <p:nvPr/>
        </p:nvSpPr>
        <p:spPr>
          <a:xfrm>
            <a:off x="3713036" y="5691788"/>
            <a:ext cx="7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2800800" y="4179323"/>
            <a:ext cx="7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=\frac{\left(4.8+6\right)\times1.3}{2}\\&amp;#13;&amp;#10;=\frac{10.8\times1.3}{2}\\&amp;#13;&amp;#10;=\frac{14.04}{2}\\&amp;#13;&amp;#10;=7.02\end{array}&quot;&gt;&lt;mtable columnalign=&quot;left&quot; columnspacing=&quot;1em&quot; rowspacing=&quot;4pt&quot;&gt;&lt;mtr&gt;&lt;mtd&gt;&lt;mo&gt;=&lt;/mo&gt;&lt;mfrac&gt;&lt;mrow&gt;&lt;mrow data-mjx-texclass=&quot;INNER&quot;&gt;&lt;mo data-mjx-texclass=&quot;OPEN&quot;&gt;(&lt;/mo&gt;&lt;mn&gt;4.8&lt;/mn&gt;&lt;mo&gt;+&lt;/mo&gt;&lt;mn&gt;6&lt;/mn&gt;&lt;mo data-mjx-texclass=&quot;CLOSE&quot;&gt;)&lt;/mo&gt;&lt;/mrow&gt;&lt;mo&gt;×&lt;/mo&gt;&lt;mn&gt;1.3&lt;/mn&gt;&lt;/mrow&gt;&lt;mn&gt;2&lt;/mn&gt;&lt;/mfrac&gt;&lt;/mtd&gt;&lt;/mtr&gt;&lt;mtr&gt;&lt;mtd&gt;&lt;mo&gt;=&lt;/mo&gt;&lt;mfrac&gt;&lt;mrow&gt;&lt;mn&gt;10.8&lt;/mn&gt;&lt;mo&gt;×&lt;/mo&gt;&lt;mn&gt;1.3&lt;/mn&gt;&lt;/mrow&gt;&lt;mn&gt;2&lt;/mn&gt;&lt;/mfrac&gt;&lt;/mtd&gt;&lt;/mtr&gt;&lt;mtr&gt;&lt;mtd&gt;&lt;mo&gt;=&lt;/mo&gt;&lt;mfrac&gt;&lt;mn&gt;14.04&lt;/mn&gt;&lt;mn&gt;2&lt;/mn&gt;&lt;/mfrac&gt;&lt;/mtd&gt;&lt;/mtr&gt;&lt;mtr&gt;&lt;mtd&gt;&lt;mo&gt;=&lt;/mo&gt;&lt;mn&gt;7.02&lt;/mn&gt;&lt;/mtd&gt;&lt;/mtr&gt;&lt;/mtable&gt;&lt;/math&gt;" id="170" name="Google Shape;170;p14" title="4 lines Line 1: equals the fraction with numerator open paren 4.8 plus 6 close paren times 1.3 and denominator 2 Line 2: equals the fraction with numerator 10.8 times 1.3 and denominator 2 Line 3: equals 14.04 over 2 Line 4: equals 7.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38450" y="4151574"/>
            <a:ext cx="1325423" cy="175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4"/>
          <p:cNvSpPr txBox="1"/>
          <p:nvPr/>
        </p:nvSpPr>
        <p:spPr>
          <a:xfrm>
            <a:off x="6141162" y="5691796"/>
            <a:ext cx="7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4759200" y="4151575"/>
            <a:ext cx="7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baseline="30000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a trapezium</a:t>
            </a:r>
            <a:endParaRPr/>
          </a:p>
        </p:txBody>
      </p:sp>
      <p:sp>
        <p:nvSpPr>
          <p:cNvPr id="174" name="Google Shape;174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/>
        </p:nvSpPr>
        <p:spPr>
          <a:xfrm>
            <a:off x="468000" y="1045800"/>
            <a:ext cx="6624000" cy="26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Finding a missing side length using the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length of the marked side and then, if possible, calculate the perimeter.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b)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22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Area = 10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Area = 32.64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5acbdd09-3f06-4c44-aa14-553e9f3a30f9&quot; data-equatio-type=&quot;image&quot;&gt;&lt;mglyph src=&quot;https://equatio-api.texthelp.com/desmos/get/23-06-2023/5acbdd09-3f06-4c44-aa14-553e9f3a30f9&quot; alt=&quot;Equatio Image&quot;/&gt;&lt;/math&gt;" id="180" name="Google Shape;180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25" y="2161630"/>
            <a:ext cx="6225804" cy="817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15"/>
          <p:cNvCxnSpPr/>
          <p:nvPr/>
        </p:nvCxnSpPr>
        <p:spPr>
          <a:xfrm>
            <a:off x="473325" y="2269229"/>
            <a:ext cx="1300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15"/>
          <p:cNvCxnSpPr/>
          <p:nvPr/>
        </p:nvCxnSpPr>
        <p:spPr>
          <a:xfrm>
            <a:off x="770873" y="3012442"/>
            <a:ext cx="69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" name="Google Shape;183;p15"/>
          <p:cNvCxnSpPr/>
          <p:nvPr/>
        </p:nvCxnSpPr>
        <p:spPr>
          <a:xfrm flipH="1">
            <a:off x="1556714" y="2345150"/>
            <a:ext cx="301500" cy="65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" name="Google Shape;184;p15"/>
          <p:cNvCxnSpPr/>
          <p:nvPr/>
        </p:nvCxnSpPr>
        <p:spPr>
          <a:xfrm>
            <a:off x="6228524" y="2401788"/>
            <a:ext cx="544500" cy="5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" name="Google Shape;185;p15"/>
          <p:cNvCxnSpPr/>
          <p:nvPr/>
        </p:nvCxnSpPr>
        <p:spPr>
          <a:xfrm>
            <a:off x="5032947" y="3045973"/>
            <a:ext cx="164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" name="Google Shape;186;p15"/>
          <p:cNvCxnSpPr/>
          <p:nvPr/>
        </p:nvCxnSpPr>
        <p:spPr>
          <a:xfrm>
            <a:off x="4905330" y="2335228"/>
            <a:ext cx="122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" name="Google Shape;187;p15"/>
          <p:cNvCxnSpPr/>
          <p:nvPr/>
        </p:nvCxnSpPr>
        <p:spPr>
          <a:xfrm flipH="1">
            <a:off x="2641475" y="2144005"/>
            <a:ext cx="401700" cy="38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" name="Google Shape;188;p15"/>
          <p:cNvCxnSpPr/>
          <p:nvPr/>
        </p:nvCxnSpPr>
        <p:spPr>
          <a:xfrm>
            <a:off x="2641502" y="2605558"/>
            <a:ext cx="345300" cy="35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" name="Google Shape;189;p15"/>
          <p:cNvCxnSpPr/>
          <p:nvPr/>
        </p:nvCxnSpPr>
        <p:spPr>
          <a:xfrm>
            <a:off x="3072902" y="3012442"/>
            <a:ext cx="797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" name="Google Shape;190;p15"/>
          <p:cNvCxnSpPr/>
          <p:nvPr/>
        </p:nvCxnSpPr>
        <p:spPr>
          <a:xfrm>
            <a:off x="3159036" y="2144005"/>
            <a:ext cx="763800" cy="79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" name="Google Shape;191;p15"/>
          <p:cNvCxnSpPr/>
          <p:nvPr/>
        </p:nvCxnSpPr>
        <p:spPr>
          <a:xfrm>
            <a:off x="940900" y="2363142"/>
            <a:ext cx="0" cy="56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192" name="Google Shape;192;p15"/>
          <p:cNvCxnSpPr/>
          <p:nvPr/>
        </p:nvCxnSpPr>
        <p:spPr>
          <a:xfrm>
            <a:off x="5118752" y="2426014"/>
            <a:ext cx="0" cy="51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93" name="Google Shape;193;p15"/>
          <p:cNvSpPr/>
          <p:nvPr/>
        </p:nvSpPr>
        <p:spPr>
          <a:xfrm rot="-2700000">
            <a:off x="2713193" y="2511607"/>
            <a:ext cx="117521" cy="11752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 rot="-2700000">
            <a:off x="3017048" y="2210464"/>
            <a:ext cx="117521" cy="11752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940900" y="2811606"/>
            <a:ext cx="117600" cy="11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5118752" y="2438928"/>
            <a:ext cx="117600" cy="11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1556603" y="2606600"/>
            <a:ext cx="64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2331059" y="2693255"/>
            <a:ext cx="64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808332" y="2462585"/>
            <a:ext cx="61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3220442" y="2959627"/>
            <a:ext cx="58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3392331" y="2182594"/>
            <a:ext cx="61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5507587" y="2993814"/>
            <a:ext cx="69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6353748" y="2368624"/>
            <a:ext cx="73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4.9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5062153" y="2556604"/>
            <a:ext cx="73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770873" y="2012122"/>
            <a:ext cx="58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" name="Google Shape;206;p15"/>
          <p:cNvCxnSpPr/>
          <p:nvPr/>
        </p:nvCxnSpPr>
        <p:spPr>
          <a:xfrm>
            <a:off x="541158" y="2622873"/>
            <a:ext cx="169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5"/>
          <p:cNvCxnSpPr/>
          <p:nvPr/>
        </p:nvCxnSpPr>
        <p:spPr>
          <a:xfrm>
            <a:off x="1499879" y="2640845"/>
            <a:ext cx="169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b&quot;&gt;&lt;mi&gt;b&lt;/mi&gt;&lt;/math&gt;" id="208" name="Google Shape;208;p15" title="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340" y="3045780"/>
            <a:ext cx="117676" cy="191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&quot;&gt;&lt;mi&gt;d&lt;/mi&gt;&lt;/math&gt;" id="209" name="Google Shape;209;p15" title="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9047" y="2177295"/>
            <a:ext cx="132385" cy="1838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&quot;&gt;&lt;mi&gt;h&lt;/mi&gt;&lt;/math&gt;" id="210" name="Google Shape;210;p15" title="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7578" y="2094762"/>
            <a:ext cx="125030" cy="191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5"/>
          <p:cNvSpPr txBox="1"/>
          <p:nvPr/>
        </p:nvSpPr>
        <p:spPr>
          <a:xfrm>
            <a:off x="473325" y="5169900"/>
            <a:ext cx="164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length is 3 m.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perimeter is 8 + 5 + 5 + ‘3’ = 21 m 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2=\frac{\left(b+8\right)\times4}{2}\\&amp;#13;&amp;#10;44=\left(b+8\right)\times4\\&amp;#13;&amp;#10;11=\left(b+8\right)\\&amp;#13;&amp;#10;\ \ 3=b\end{array}&quot;&gt;&lt;mtable columnalign=&quot;left&quot; columnspacing=&quot;1em&quot; rowspacing=&quot;4pt&quot;&gt;&lt;mtr&gt;&lt;mtd&gt;&lt;mn&gt;22&lt;/mn&gt;&lt;mo&gt;=&lt;/mo&gt;&lt;mfrac&gt;&lt;mrow&gt;&lt;mrow data-mjx-texclass=&quot;INNER&quot;&gt;&lt;mo data-mjx-texclass=&quot;OPEN&quot;&gt;(&lt;/mo&gt;&lt;mi&gt;b&lt;/mi&gt;&lt;mo&gt;+&lt;/mo&gt;&lt;mn&gt;8&lt;/mn&gt;&lt;mo data-mjx-texclass=&quot;CLOSE&quot;&gt;)&lt;/mo&gt;&lt;/mrow&gt;&lt;mo&gt;×&lt;/mo&gt;&lt;mn&gt;4&lt;/mn&gt;&lt;/mrow&gt;&lt;mn&gt;2&lt;/mn&gt;&lt;/mfrac&gt;&lt;/mtd&gt;&lt;/mtr&gt;&lt;mtr&gt;&lt;mtd&gt;&lt;mn&gt;44&lt;/mn&gt;&lt;mo&gt;=&lt;/mo&gt;&lt;mrow data-mjx-texclass=&quot;INNER&quot;&gt;&lt;mo data-mjx-texclass=&quot;OPEN&quot;&gt;(&lt;/mo&gt;&lt;mi&gt;b&lt;/mi&gt;&lt;mo&gt;+&lt;/mo&gt;&lt;mn&gt;8&lt;/mn&gt;&lt;mo data-mjx-texclass=&quot;CLOSE&quot;&gt;)&lt;/mo&gt;&lt;/mrow&gt;&lt;mo&gt;×&lt;/mo&gt;&lt;mn&gt;4&lt;/mn&gt;&lt;/mtd&gt;&lt;/mtr&gt;&lt;mtr&gt;&lt;mtd&gt;&lt;mn&gt;11&lt;/mn&gt;&lt;mo&gt;=&lt;/mo&gt;&lt;mrow data-mjx-texclass=&quot;INNER&quot;&gt;&lt;mo data-mjx-texclass=&quot;OPEN&quot;&gt;(&lt;/mo&gt;&lt;mi&gt;b&lt;/mi&gt;&lt;mo&gt;+&lt;/mo&gt;&lt;mn&gt;8&lt;/mn&gt;&lt;mo data-mjx-texclass=&quot;CLOSE&quot;&gt;)&lt;/mo&gt;&lt;/mrow&gt;&lt;/mtd&gt;&lt;/mtr&gt;&lt;mtr&gt;&lt;mtd&gt;&lt;mtext&gt;&lt;/mtext&gt;&lt;mtext&gt;&lt;/mtext&gt;&lt;mn&gt;3&lt;/mn&gt;&lt;mo&gt;=&lt;/mo&gt;&lt;mi&gt;b&lt;/mi&gt;&lt;/mtd&gt;&lt;/mtr&gt;&lt;/mtable&gt;&lt;/math&gt;" id="212" name="Google Shape;212;p15" title="4 lines Line 1: 22 equals the fraction with numerator open paren b plus 8 close paren times 4 and denominator 2 Line 2: 44 equals open paren b plus 8 close paren times 4 Line 3: 11 equals open paren b plus 8 close paren Line 4: 3 equals b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3325" y="3736650"/>
            <a:ext cx="1392019" cy="116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 txBox="1"/>
          <p:nvPr/>
        </p:nvSpPr>
        <p:spPr>
          <a:xfrm>
            <a:off x="2688850" y="5176100"/>
            <a:ext cx="145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length is 2 cm.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perimeter is 7 + 4 + 3 + ‘2’ = 16 cm 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=\frac{\left(3+7\right)\times d}{2}\\&amp;#13;&amp;#10;20=10\times d\\&amp;#13;&amp;#10;\ \ 2=d\end{array}&quot;&gt;&lt;mtable columnalign=&quot;left&quot; columnspacing=&quot;1em&quot; rowspacing=&quot;4pt&quot;&gt;&lt;mtr&gt;&lt;mtd&gt;&lt;mn&gt;10&lt;/mn&gt;&lt;mo&gt;=&lt;/mo&gt;&lt;mfrac&gt;&lt;mrow&gt;&lt;mrow data-mjx-texclass=&quot;INNER&quot;&gt;&lt;mo data-mjx-texclass=&quot;OPEN&quot;&gt;(&lt;/mo&gt;&lt;mn&gt;3&lt;/mn&gt;&lt;mo&gt;+&lt;/mo&gt;&lt;mn&gt;7&lt;/mn&gt;&lt;mo data-mjx-texclass=&quot;CLOSE&quot;&gt;)&lt;/mo&gt;&lt;/mrow&gt;&lt;mo&gt;×&lt;/mo&gt;&lt;mi&gt;d&lt;/mi&gt;&lt;/mrow&gt;&lt;mn&gt;2&lt;/mn&gt;&lt;/mfrac&gt;&lt;/mtd&gt;&lt;/mtr&gt;&lt;mtr&gt;&lt;mtd&gt;&lt;mn&gt;20&lt;/mn&gt;&lt;mo&gt;=&lt;/mo&gt;&lt;mn&gt;10&lt;/mn&gt;&lt;mo&gt;×&lt;/mo&gt;&lt;mi&gt;d&lt;/mi&gt;&lt;/mtd&gt;&lt;/mtr&gt;&lt;mtr&gt;&lt;mtd&gt;&lt;mtext&gt;&lt;/mtext&gt;&lt;mtext&gt;&lt;/mtext&gt;&lt;mn&gt;2&lt;/mn&gt;&lt;mo&gt;=&lt;/mo&gt;&lt;mi&gt;d&lt;/mi&gt;&lt;/mtd&gt;&lt;/mtr&gt;&lt;/mtable&gt;&lt;/math&gt;" id="214" name="Google Shape;214;p15" title="3 lines Line 1: 10 equals the fraction with numerator open paren 3 plus 7 close paren times d and denominator 2 Line 2: 20 equals 10 times d Line 3: 2 equals 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89050" y="3736662"/>
            <a:ext cx="1225200" cy="101640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5"/>
          <p:cNvSpPr txBox="1"/>
          <p:nvPr/>
        </p:nvSpPr>
        <p:spPr>
          <a:xfrm>
            <a:off x="4759200" y="5176100"/>
            <a:ext cx="2388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length is 7.2 cm.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perimeter cannot be found as one side length is still unknown.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2.64=\frac{\left(h+12\right)\times3.4}{2}\\&amp;#13;&amp;#10;65.28=\left(h+12\right)\times3.4\\&amp;#13;&amp;#10;\ \ 19.2=h+12\\&amp;#13;&amp;#10;\ \ \ \ 7.2=h\end{array}&quot;&gt;&lt;mtable columnalign=&quot;left&quot; columnspacing=&quot;1em&quot; rowspacing=&quot;4pt&quot;&gt;&lt;mtr&gt;&lt;mtd&gt;&lt;mn&gt;32.64&lt;/mn&gt;&lt;mo&gt;=&lt;/mo&gt;&lt;mfrac&gt;&lt;mrow&gt;&lt;mrow data-mjx-texclass=&quot;INNER&quot;&gt;&lt;mo data-mjx-texclass=&quot;OPEN&quot;&gt;(&lt;/mo&gt;&lt;mi&gt;h&lt;/mi&gt;&lt;mo&gt;+&lt;/mo&gt;&lt;mn&gt;12&lt;/mn&gt;&lt;mo data-mjx-texclass=&quot;CLOSE&quot;&gt;)&lt;/mo&gt;&lt;/mrow&gt;&lt;mo&gt;×&lt;/mo&gt;&lt;mn&gt;3.4&lt;/mn&gt;&lt;/mrow&gt;&lt;mn&gt;2&lt;/mn&gt;&lt;/mfrac&gt;&lt;/mtd&gt;&lt;/mtr&gt;&lt;mtr&gt;&lt;mtd&gt;&lt;mn&gt;65.28&lt;/mn&gt;&lt;mo&gt;=&lt;/mo&gt;&lt;mrow data-mjx-texclass=&quot;INNER&quot;&gt;&lt;mo data-mjx-texclass=&quot;OPEN&quot;&gt;(&lt;/mo&gt;&lt;mi&gt;h&lt;/mi&gt;&lt;mo&gt;+&lt;/mo&gt;&lt;mn&gt;12&lt;/mn&gt;&lt;mo data-mjx-texclass=&quot;CLOSE&quot;&gt;)&lt;/mo&gt;&lt;/mrow&gt;&lt;mo&gt;×&lt;/mo&gt;&lt;mn&gt;3.4&lt;/mn&gt;&lt;/mtd&gt;&lt;/mtr&gt;&lt;mtr&gt;&lt;mtd&gt;&lt;mtext&gt;&lt;/mtext&gt;&lt;mtext&gt;&lt;/mtext&gt;&lt;mn&gt;19.2&lt;/mn&gt;&lt;mo&gt;=&lt;/mo&gt;&lt;mi&gt;h&lt;/mi&gt;&lt;mo&gt;+&lt;/mo&gt;&lt;mn&gt;12&lt;/mn&gt;&lt;/mtd&gt;&lt;/mtr&gt;&lt;mtr&gt;&lt;mtd&gt;&lt;mtext&gt;&lt;/mtext&gt;&lt;mtext&gt;&lt;/mtext&gt;&lt;mtext&gt;&lt;/mtext&gt;&lt;mtext&gt;&lt;/mtext&gt;&lt;mn&gt;7.2&lt;/mn&gt;&lt;mo&gt;=&lt;/mo&gt;&lt;mi&gt;h&lt;/mi&gt;&lt;/mtd&gt;&lt;/mtr&gt;&lt;/mtable&gt;&lt;/math&gt;" id="216" name="Google Shape;216;p15" title="4 lines Line 1: 32.64 equals the fraction with numerator open paren h plus 12 close paren times 3.4 and denominator 2 Line 2: 65.28 equals open paren h plus 12 close paren times 3.4 Line 3: 19.2 equals h plus 12 Line 4: 7.2 equals 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59200" y="3756725"/>
            <a:ext cx="1917968" cy="11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5"/>
          <p:cNvSpPr txBox="1"/>
          <p:nvPr/>
        </p:nvSpPr>
        <p:spPr>
          <a:xfrm>
            <a:off x="3837775" y="1006155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a trapezium</a:t>
            </a:r>
            <a:endParaRPr/>
          </a:p>
        </p:txBody>
      </p:sp>
      <p:sp>
        <p:nvSpPr>
          <p:cNvPr id="219" name="Google Shape;219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220" name="Google Shape;220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1" name="Google Shape;221;p15"/>
          <p:cNvCxnSpPr/>
          <p:nvPr/>
        </p:nvCxnSpPr>
        <p:spPr>
          <a:xfrm>
            <a:off x="474750" y="8502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