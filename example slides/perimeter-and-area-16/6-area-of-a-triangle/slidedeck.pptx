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87" r:id="rId3"/>
    <p:sldMasterId id="21474837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6" Type="http://schemas.openxmlformats.org/officeDocument/2006/relationships/slide" Target="slides/slide31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2506f9f09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2506f9f09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g27e680e5f7a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7" name="Google Shape;1707;g27e680e5f7a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2506f9f09b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2506f9f09b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52dfea3e23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52dfea3e23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537aa0fe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537aa0fe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537aa0fe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537aa0fe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2537aa0fe9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2537aa0fe9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537aa0fe9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2537aa0fe9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31d282860ac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31d282860ac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g31d282860ac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4" name="Google Shape;1824;g31d282860ac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1d282860ac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31d282860ac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31d282860ac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31d282860ac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1d282860ac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31d282860ac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31d282860ac_0_2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31d282860ac_0_2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g31d282860ac_0_2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7" name="Google Shape;2007;g31d282860ac_0_2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31d282860ac_0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31d282860ac_0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2555486fb2b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2555486fb2b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559df0f6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2559df0f6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31d282860ac_0_3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31d282860ac_0_3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g31d282860ac_0_4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3" name="Google Shape;2103;g31d282860ac_0_4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31d282860ac_0_4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31d282860ac_0_4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g31d282860ac_0_4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9" name="Google Shape;2119;g31d282860ac_0_4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31d282860ac_0_4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31d282860ac_0_4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1d282860ac_0_4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1d282860ac_0_4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1d282860ac_0_4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1d282860ac_0_4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31d282860ac_0_4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31d282860ac_0_4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31d282860ac_0_4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1" name="Google Shape;2171;g31d282860ac_0_4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31d282860ac_0_4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31d282860ac_0_4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31d282860ac_0_4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31d282860ac_0_4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3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31d282860ac_0_4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31d282860ac_0_4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8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32.png"/><Relationship Id="rId11" Type="http://schemas.openxmlformats.org/officeDocument/2006/relationships/image" Target="../media/image21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58.png"/><Relationship Id="rId5" Type="http://schemas.openxmlformats.org/officeDocument/2006/relationships/image" Target="../media/image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6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6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70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6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6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7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78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8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8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8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8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84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32.png"/><Relationship Id="rId11" Type="http://schemas.openxmlformats.org/officeDocument/2006/relationships/image" Target="../media/image21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1" name="Google Shape;751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4" name="Google Shape;754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_2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0" name="Google Shape;760;p6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1" name="Google Shape;761;p6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62" name="Google Shape;762;p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63" name="Google Shape;76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_2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9" name="Google Shape;769;p6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71" name="Google Shape;771;p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72" name="Google Shape;7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_3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8" name="Google Shape;77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81" name="Google Shape;781;p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82" name="Google Shape;78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_1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7" name="Google Shape;787;p6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89" name="Google Shape;789;p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0" name="Google Shape;790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_1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6" name="Google Shape;796;p68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7" name="Google Shape;797;p6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808" name="Google Shape;808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9" name="Google Shape;80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7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1" name="Google Shape;81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8" name="Google Shape;81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5" name="Google Shape;82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2" name="Google Shape;832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3" name="Google Shape;83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7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5" name="Google Shape;835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6" name="Google Shape;836;p7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37" name="Google Shape;83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3" name="Google Shape;843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5" name="Google Shape;845;p7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46" name="Google Shape;846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7" name="Google Shape;847;p7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8" name="Google Shape;848;p7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50" name="Google Shape;85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7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4" name="Google Shape;854;p75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6" name="Google Shape;856;p7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57" name="Google Shape;857;p7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7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9" name="Google Shape;859;p7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61" name="Google Shape;861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7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5" name="Google Shape;865;p76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6" name="Google Shape;86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7" name="Google Shape;867;p7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68" name="Google Shape;868;p7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7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70" name="Google Shape;87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Google Shape;874;p7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77" name="Google Shape;87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7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7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5" name="Google Shape;88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6" name="Google Shape;886;p7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87" name="Google Shape;887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7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9" name="Google Shape;889;p7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91" name="Google Shape;89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7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6" name="Google Shape;896;p7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8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3" name="Google Shape;903;p8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4" name="Google Shape;90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5" name="Google Shape;905;p8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06" name="Google Shape;906;p8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8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8" name="Google Shape;908;p8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8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10" name="Google Shape;91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p8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4" name="Google Shape;914;p8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6" name="Google Shape;916;p8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17" name="Google Shape;917;p8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81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19" name="Google Shape;919;p8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0" name="Google Shape;920;p8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8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5" name="Google Shape;925;p8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8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8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3" name="Google Shape;933;p8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4" name="Google Shape;93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8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9" name="Google Shape;939;p8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1" name="Google Shape;941;p84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2" name="Google Shape;94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3" name="Google Shape;943;p8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4" name="Google Shape;944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8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6" name="Google Shape;946;p8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8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48" name="Google Shape;94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2" name="Google Shape;952;p8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3" name="Google Shape;95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4" name="Google Shape;954;p8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55" name="Google Shape;955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6" name="Google Shape;956;p85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7" name="Google Shape;957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8" name="Google Shape;958;p8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3" name="Google Shape;963;p86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5" name="Google Shape;965;p8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66" name="Google Shape;966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8" name="Google Shape;96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4" name="Google Shape;974;p87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5" name="Google Shape;97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6" name="Google Shape;976;p8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77" name="Google Shape;977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8" name="Google Shape;978;p8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79" name="Google Shape;97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8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5" name="Google Shape;985;p88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6" name="Google Shape;98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7" name="Google Shape;987;p8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88" name="Google Shape;98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0" name="Google Shape;990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5" name="Google Shape;995;p8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8" name="Google Shape;998;p8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99" name="Google Shape;999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8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1" name="Google Shape;1001;p8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2" name="Google Shape;1002;p8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7" name="Google Shape;1007;p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8" name="Google Shape;100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9" name="Google Shape;1009;p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10" name="Google Shape;101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2" name="Google Shape;1012;p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014" name="Google Shape;101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9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91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92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92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92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92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92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92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6" name="Google Shape;1026;p92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92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2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2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2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92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oogle Shape;1035;p93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036" name="Google Shape;1036;p93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37" name="Google Shape;1037;p9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8" name="Google Shape;1038;p9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9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0" name="Google Shape;1040;p9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1" name="Google Shape;1041;p9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2" name="Google Shape;1042;p9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3" name="Google Shape;1043;p9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4" name="Google Shape;1044;p9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45" name="Google Shape;1045;p93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7" name="Google Shape;1047;p94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048" name="Google Shape;1048;p94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9" name="Google Shape;1049;p94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0" name="Google Shape;1050;p9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9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2" name="Google Shape;1052;p9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3" name="Google Shape;1053;p9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4" name="Google Shape;1054;p9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5" name="Google Shape;1055;p9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6" name="Google Shape;1056;p9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7" name="Google Shape;1057;p9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8" name="Google Shape;1058;p9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59" name="Google Shape;1059;p94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9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062" name="Google Shape;1062;p9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3" name="Google Shape;1063;p9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4" name="Google Shape;1064;p9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9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66" name="Google Shape;1066;p9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67" name="Google Shape;1067;p9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68" name="Google Shape;1068;p9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69" name="Google Shape;1069;p9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0" name="Google Shape;1070;p9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1" name="Google Shape;1071;p9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2" name="Google Shape;1072;p9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3" name="Google Shape;1073;p9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4" name="Google Shape;1074;p9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5" name="Google Shape;1075;p95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9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078" name="Google Shape;1078;p9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9" name="Google Shape;1079;p9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0" name="Google Shape;1080;p9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9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2" name="Google Shape;1082;p9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3" name="Google Shape;1083;p9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4" name="Google Shape;1084;p9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5" name="Google Shape;1085;p9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9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9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0" name="Google Shape;1090;p97"/>
          <p:cNvCxnSpPr>
            <a:endCxn id="109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2" name="Google Shape;1092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7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91" name="Google Shape;1091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97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095" name="Google Shape;1095;p97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6" name="Google Shape;1096;p97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7" name="Google Shape;1097;p9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7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099" name="Google Shape;1099;p97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9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9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9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9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9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9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7" name="Google Shape;1107;p98"/>
          <p:cNvCxnSpPr>
            <a:endCxn id="1108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08" name="Google Shape;1108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9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98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112" name="Google Shape;1112;p98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3" name="Google Shape;1113;p98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4" name="Google Shape;1114;p9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8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16" name="Google Shape;1116;p98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7" name="Google Shape;1117;p98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8" name="Google Shape;1118;p98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9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9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9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9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9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9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9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8" name="Google Shape;1128;p9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9" name="Google Shape;1129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3" name="Google Shape;1133;p9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134" name="Google Shape;1134;p9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5" name="Google Shape;1135;p99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6" name="Google Shape;1136;p9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99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38" name="Google Shape;1138;p99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9" name="Google Shape;1139;p99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0" name="Google Shape;1140;p99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1" name="Google Shape;1141;p99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3" name="Google Shape;1143;p100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144" name="Google Shape;1144;p10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5" name="Google Shape;1145;p100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6" name="Google Shape;1146;p10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147" name="Google Shape;1147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10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10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0" name="Google Shape;1150;p10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2" name="Google Shape;1152;p101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153" name="Google Shape;1153;p101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4" name="Google Shape;1154;p101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5" name="Google Shape;1155;p10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6" name="Google Shape;115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0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8" name="Google Shape;1158;p10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9" name="Google Shape;1159;p10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Google Shape;116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0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4" name="Google Shape;116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0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10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7" name="Google Shape;1167;p10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169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0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2" name="Google Shape;117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10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4" name="Google Shape;1174;p10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5" name="Google Shape;1175;p10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0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8" name="Google Shape;1178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04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1" name="Google Shape;1181;p10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2" name="Google Shape;1182;p10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83" name="Google Shape;1183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10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5" name="Google Shape;1185;p10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186" name="Google Shape;1186;p1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10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8" name="Google Shape;1188;p10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04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0" name="Google Shape;1190;p104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0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3" name="Google Shape;119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05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6" name="Google Shape;1196;p10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197" name="Google Shape;1197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0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10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00" name="Google Shape;1200;p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10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2" name="Google Shape;1202;p10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3" name="Google Shape;1203;p105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105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5" name="Google Shape;1205;p105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0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8" name="Google Shape;1208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06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1" name="Google Shape;1211;p10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12" name="Google Shape;1212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15" name="Google Shape;1215;p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7" name="Google Shape;1217;p10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8" name="Google Shape;1218;p106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9" name="Google Shape;1219;p10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20" name="Google Shape;1220;p10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3" name="Google Shape;1223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0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6" name="Google Shape;1226;p10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227" name="Google Shape;1227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8" name="Google Shape;1228;p10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9" name="Google Shape;1229;p10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230" name="Google Shape;1230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10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2" name="Google Shape;1232;p10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3" name="Google Shape;1233;p10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5" name="Google Shape;1235;p10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7" name="Google Shape;1237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8" name="Google Shape;1238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9" name="Google Shape;123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08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108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108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4" name="Google Shape;1244;p108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5" name="Google Shape;1245;p10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46" name="Google Shape;1246;p108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108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8" name="Google Shape;1248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10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1" name="Google Shape;1251;p108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5" name="Google Shape;1255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7" name="Google Shape;1257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10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10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10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2" name="Google Shape;1262;p109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63" name="Google Shape;1263;p10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64" name="Google Shape;1264;p10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10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7" name="Google Shape;1267;p109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1269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1" name="Google Shape;127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3" name="Google Shape;1273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1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1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1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1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1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80" name="Google Shape;1280;p11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11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1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3" name="Google Shape;1283;p11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5" name="Google Shape;1285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7" name="Google Shape;1287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9" name="Google Shape;1289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1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1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11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4" name="Google Shape;1294;p11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5" name="Google Shape;1295;p11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296" name="Google Shape;1296;p11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1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1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9" name="Google Shape;1299;p11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1" name="Google Shape;1301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12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4" name="Google Shape;1304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11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7" name="Google Shape;1307;p112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08" name="Google Shape;1308;p112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09" name="Google Shape;1309;p11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11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13" name="Google Shape;1313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4" name="Google Shape;1314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5" name="Google Shape;1315;p11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1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8" name="Google Shape;1318;p112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1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3" name="Google Shape;132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11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6" name="Google Shape;1326;p113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7" name="Google Shape;1327;p113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28" name="Google Shape;1328;p11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1" name="Google Shape;1331;p11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32" name="Google Shape;1332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3" name="Google Shape;1333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4" name="Google Shape;1334;p11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7" name="Google Shape;1337;p11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13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9" name="Google Shape;1339;p113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3" name="Google Shape;134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1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6" name="Google Shape;1346;p11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47" name="Google Shape;1347;p11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48" name="Google Shape;1348;p11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49" name="Google Shape;1349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11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52" name="Google Shape;1352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3" name="Google Shape;1353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11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55" name="Google Shape;1355;p1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6" name="Google Shape;1356;p1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7" name="Google Shape;1357;p11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8" name="Google Shape;1358;p114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9" name="Google Shape;1359;p11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" name="Google Shape;1361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2" name="Google Shape;1362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3" name="Google Shape;1363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6" name="Google Shape;1366;p11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67" name="Google Shape;1367;p11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68" name="Google Shape;1368;p11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369" name="Google Shape;1369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1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372" name="Google Shape;1372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1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375" name="Google Shape;1375;p1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1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7" name="Google Shape;1377;p11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8" name="Google Shape;1378;p11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9" name="Google Shape;1379;p11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3" name="Google Shape;1383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6" name="Google Shape;1386;p116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7" name="Google Shape;1387;p116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8" name="Google Shape;1388;p116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89" name="Google Shape;1389;p11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90" name="Google Shape;1390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2" name="Google Shape;1392;p11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93" name="Google Shape;1393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4" name="Google Shape;1394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5" name="Google Shape;1395;p11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96" name="Google Shape;1396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8" name="Google Shape;1398;p11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99" name="Google Shape;1399;p1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1" name="Google Shape;1401;p11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2" name="Google Shape;1402;p11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3" name="Google Shape;1403;p116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7" name="Google Shape;140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1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0" name="Google Shape;1410;p117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1" name="Google Shape;1411;p117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2" name="Google Shape;1412;p117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13" name="Google Shape;1413;p11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14" name="Google Shape;1414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5" name="Google Shape;1415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6" name="Google Shape;1416;p11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17" name="Google Shape;1417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9" name="Google Shape;1419;p11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20" name="Google Shape;1420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1" name="Google Shape;1421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22" name="Google Shape;1422;p11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23" name="Google Shape;1423;p1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4" name="Google Shape;1424;p11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5" name="Google Shape;1425;p11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6" name="Google Shape;1426;p11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7" name="Google Shape;1427;p117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11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32" name="Google Shape;143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5" name="Google Shape;1435;p11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6" name="Google Shape;1436;p11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7" name="Google Shape;1437;p11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38" name="Google Shape;1438;p11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39" name="Google Shape;1439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1" name="Google Shape;1441;p11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42" name="Google Shape;1442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4" name="Google Shape;1444;p11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45" name="Google Shape;1445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6" name="Google Shape;1446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7" name="Google Shape;1447;p11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48" name="Google Shape;1448;p1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9" name="Google Shape;1449;p11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0" name="Google Shape;1450;p118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1" name="Google Shape;1451;p11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1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59" name="Google Shape;1459;p11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0" name="Google Shape;1460;p11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1" name="Google Shape;1461;p11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62" name="Google Shape;1462;p11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463" name="Google Shape;1463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4" name="Google Shape;1464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5" name="Google Shape;1465;p11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466" name="Google Shape;1466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7" name="Google Shape;1467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8" name="Google Shape;1468;p11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469" name="Google Shape;1469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0" name="Google Shape;1470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1" name="Google Shape;1471;p11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472" name="Google Shape;1472;p1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3" name="Google Shape;1473;p11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4" name="Google Shape;1474;p119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5" name="Google Shape;1475;p11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8" name="Google Shape;1478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9" name="Google Shape;1479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0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82" name="Google Shape;1482;p120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83" name="Google Shape;1483;p120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84" name="Google Shape;1484;p12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85" name="Google Shape;1485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6" name="Google Shape;1486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7" name="Google Shape;1487;p12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88" name="Google Shape;1488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9" name="Google Shape;1489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0" name="Google Shape;1490;p12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91" name="Google Shape;1491;p1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2" name="Google Shape;1492;p1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3" name="Google Shape;1493;p12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4" name="Google Shape;1494;p12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5" name="Google Shape;1495;p12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9" name="Google Shape;1499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121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2" name="Google Shape;1502;p121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3" name="Google Shape;1503;p121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04" name="Google Shape;1504;p12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05" name="Google Shape;1505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6" name="Google Shape;1506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12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08" name="Google Shape;1508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0" name="Google Shape;1510;p12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11" name="Google Shape;1511;p1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2" name="Google Shape;1512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3" name="Google Shape;1513;p12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4" name="Google Shape;1514;p121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5" name="Google Shape;1515;p121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7" name="Google Shape;1517;p1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p1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9" name="Google Shape;1519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2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22" name="Google Shape;1522;p12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23" name="Google Shape;1523;p12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24" name="Google Shape;1524;p12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25" name="Google Shape;1525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6" name="Google Shape;1526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7" name="Google Shape;1527;p12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28" name="Google Shape;1528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9" name="Google Shape;1529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0" name="Google Shape;1530;p12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31" name="Google Shape;1531;p1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3" name="Google Shape;1533;p12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4" name="Google Shape;1534;p12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5" name="Google Shape;1535;p12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9" name="Google Shape;153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2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42" name="Google Shape;1542;p12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543" name="Google Shape;1543;p12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44" name="Google Shape;1544;p12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545" name="Google Shape;1545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6" name="Google Shape;1546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7" name="Google Shape;1547;p12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548" name="Google Shape;1548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9" name="Google Shape;1549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0" name="Google Shape;1550;p12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551" name="Google Shape;1551;p1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2" name="Google Shape;1552;p12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3" name="Google Shape;1553;p12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4" name="Google Shape;1554;p12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5" name="Google Shape;1555;p12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9" name="Google Shape;1559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2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2" name="Google Shape;1562;p12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63" name="Google Shape;1563;p12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6" name="Google Shape;1566;p1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7" name="Google Shape;1567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8" name="Google Shape;1568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2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0" name="Google Shape;1570;p12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1" name="Google Shape;1571;p12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Google Shape;1573;p1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5" name="Google Shape;1575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12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8" name="Google Shape;1578;p12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79" name="Google Shape;1579;p12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1" name="Google Shape;1581;p1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1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12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84" name="Google Shape;1584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12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7" name="Google Shape;1587;p12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Google Shape;1589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1" name="Google Shape;1591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2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2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5" name="Google Shape;1595;p12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6" name="Google Shape;1596;p12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Google Shape;1598;p1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1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1" name="Google Shape;1601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2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12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4" name="Google Shape;1604;p12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05" name="Google Shape;1605;p12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" name="Google Shape;1607;p1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8" name="Google Shape;1608;p1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0" name="Google Shape;1610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3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13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3" name="Google Shape;1613;p13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14" name="Google Shape;1614;p13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Google Shape;1616;p1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1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9" name="Google Shape;161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0" name="Google Shape;1620;p13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13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2" name="Google Shape;1622;p13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23" name="Google Shape;1623;p13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" name="Google Shape;1625;p1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7" name="Google Shape;1627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1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13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1" name="Google Shape;1631;p1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32" name="Google Shape;1632;p13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4" name="Google Shape;1634;p1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7" name="Google Shape;1637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13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13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0" name="Google Shape;1640;p1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41" name="Google Shape;1641;p13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3" name="Google Shape;1643;p1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6" name="Google Shape;1646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3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9" name="Google Shape;1649;p1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0" name="Google Shape;1650;p13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2" name="Google Shape;1652;p1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5" name="Google Shape;1655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13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13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8" name="Google Shape;1658;p13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59" name="Google Shape;1659;p13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1" name="Google Shape;1661;p136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1662" name="Google Shape;1662;p136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63" name="Google Shape;1663;p13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4" name="Google Shape;1664;p13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6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6" name="Google Shape;1666;p13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67" name="Google Shape;1667;p13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" name="Google Shape;1669;p137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1670" name="Google Shape;1670;p137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71" name="Google Shape;1671;p13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72" name="Google Shape;1672;p13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73" name="Google Shape;1673;p13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5" name="Google Shape;1675;p13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3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13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13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13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13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3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3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3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7" name="Google Shape;1687;p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139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40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1" name="Google Shape;1691;p140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4" name="Google Shape;1694;p14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4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141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7" name="Google Shape;1697;p141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98" name="Google Shape;1698;p141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theme" Target="../theme/theme3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07.xml"/><Relationship Id="rId44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2.xml"/><Relationship Id="rId45" Type="http://schemas.openxmlformats.org/officeDocument/2006/relationships/slideLayout" Target="../slideLayouts/slideLayout1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48" Type="http://schemas.openxmlformats.org/officeDocument/2006/relationships/slideLayout" Target="../slideLayouts/slideLayout114.xml"/><Relationship Id="rId47" Type="http://schemas.openxmlformats.org/officeDocument/2006/relationships/slideLayout" Target="../slideLayouts/slideLayout113.xml"/><Relationship Id="rId49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139.xml"/><Relationship Id="rId72" Type="http://schemas.openxmlformats.org/officeDocument/2006/relationships/slideLayout" Target="../slideLayouts/slideLayout138.xml"/><Relationship Id="rId31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96.xml"/><Relationship Id="rId74" Type="http://schemas.openxmlformats.org/officeDocument/2006/relationships/theme" Target="../theme/theme2.xml"/><Relationship Id="rId33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00.xml"/><Relationship Id="rId71" Type="http://schemas.openxmlformats.org/officeDocument/2006/relationships/slideLayout" Target="../slideLayouts/slideLayout137.xml"/><Relationship Id="rId70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02.xml"/><Relationship Id="rId39" Type="http://schemas.openxmlformats.org/officeDocument/2006/relationships/slideLayout" Target="../slideLayouts/slideLayout105.xml"/><Relationship Id="rId38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28.xml"/><Relationship Id="rId61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86.xml"/><Relationship Id="rId64" Type="http://schemas.openxmlformats.org/officeDocument/2006/relationships/slideLayout" Target="../slideLayouts/slideLayout130.xml"/><Relationship Id="rId63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88.xml"/><Relationship Id="rId66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87.xml"/><Relationship Id="rId65" Type="http://schemas.openxmlformats.org/officeDocument/2006/relationships/slideLayout" Target="../slideLayouts/slideLayout131.xml"/><Relationship Id="rId24" Type="http://schemas.openxmlformats.org/officeDocument/2006/relationships/slideLayout" Target="../slideLayouts/slideLayout90.xml"/><Relationship Id="rId68" Type="http://schemas.openxmlformats.org/officeDocument/2006/relationships/slideLayout" Target="../slideLayouts/slideLayout134.xml"/><Relationship Id="rId23" Type="http://schemas.openxmlformats.org/officeDocument/2006/relationships/slideLayout" Target="../slideLayouts/slideLayout89.xml"/><Relationship Id="rId67" Type="http://schemas.openxmlformats.org/officeDocument/2006/relationships/slideLayout" Target="../slideLayouts/slideLayout133.xml"/><Relationship Id="rId60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91.xml"/><Relationship Id="rId69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3.xml"/><Relationship Id="rId29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17.xml"/><Relationship Id="rId50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77.xml"/><Relationship Id="rId5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76.xml"/><Relationship Id="rId5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79.xml"/><Relationship Id="rId5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78.xml"/><Relationship Id="rId5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81.xml"/><Relationship Id="rId5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80.xml"/><Relationship Id="rId5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9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  <p:sldLayoutId id="2147483771" r:id="rId58"/>
    <p:sldLayoutId id="2147483772" r:id="rId59"/>
    <p:sldLayoutId id="2147483773" r:id="rId60"/>
    <p:sldLayoutId id="2147483774" r:id="rId61"/>
    <p:sldLayoutId id="2147483775" r:id="rId62"/>
    <p:sldLayoutId id="2147483776" r:id="rId63"/>
    <p:sldLayoutId id="2147483777" r:id="rId64"/>
    <p:sldLayoutId id="2147483778" r:id="rId65"/>
    <p:sldLayoutId id="2147483779" r:id="rId66"/>
    <p:sldLayoutId id="2147483780" r:id="rId67"/>
    <p:sldLayoutId id="2147483781" r:id="rId68"/>
    <p:sldLayoutId id="2147483782" r:id="rId69"/>
    <p:sldLayoutId id="2147483783" r:id="rId70"/>
    <p:sldLayoutId id="2147483784" r:id="rId71"/>
    <p:sldLayoutId id="2147483785" r:id="rId72"/>
    <p:sldLayoutId id="2147483786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7.png"/><Relationship Id="rId4" Type="http://schemas.openxmlformats.org/officeDocument/2006/relationships/image" Target="../media/image1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8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2.png"/><Relationship Id="rId4" Type="http://schemas.openxmlformats.org/officeDocument/2006/relationships/image" Target="../media/image136.png"/><Relationship Id="rId5" Type="http://schemas.openxmlformats.org/officeDocument/2006/relationships/image" Target="../media/image135.png"/><Relationship Id="rId6" Type="http://schemas.openxmlformats.org/officeDocument/2006/relationships/image" Target="../media/image137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2.png"/><Relationship Id="rId4" Type="http://schemas.openxmlformats.org/officeDocument/2006/relationships/image" Target="../media/image136.png"/><Relationship Id="rId5" Type="http://schemas.openxmlformats.org/officeDocument/2006/relationships/image" Target="../media/image135.png"/><Relationship Id="rId6" Type="http://schemas.openxmlformats.org/officeDocument/2006/relationships/image" Target="../media/image137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1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4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sp>
        <p:nvSpPr>
          <p:cNvPr id="1704" name="Google Shape;1704;p14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43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4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derive the formula for the area of a </a:t>
            </a:r>
            <a:r>
              <a:rPr lang="en-GB"/>
              <a:t>triangle.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14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base</a:t>
            </a:r>
            <a:r>
              <a:rPr lang="en-GB">
                <a:solidFill>
                  <a:schemeClr val="dk1"/>
                </a:solidFill>
              </a:rPr>
              <a:t> is the side which is perpendicular to the height.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0" name="Google Shape;1720;p145"/>
          <p:cNvSpPr txBox="1"/>
          <p:nvPr>
            <p:ph idx="2" type="subTitle"/>
          </p:nvPr>
        </p:nvSpPr>
        <p:spPr>
          <a:xfrm>
            <a:off x="324000" y="2238725"/>
            <a:ext cx="8496000" cy="9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perpendicular height</a:t>
            </a:r>
            <a:r>
              <a:rPr lang="en-GB">
                <a:solidFill>
                  <a:schemeClr val="dk1"/>
                </a:solidFill>
              </a:rPr>
              <a:t> is the perpendicular distance from the </a:t>
            </a:r>
            <a:r>
              <a:rPr b="1" lang="en-GB">
                <a:solidFill>
                  <a:schemeClr val="dk1"/>
                </a:solidFill>
              </a:rPr>
              <a:t>base</a:t>
            </a:r>
            <a:r>
              <a:rPr lang="en-GB">
                <a:solidFill>
                  <a:schemeClr val="dk1"/>
                </a:solidFill>
              </a:rPr>
              <a:t> to the opposite vertex.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1726" name="Google Shape;1726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1727" name="Google Shape;1727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pic>
        <p:nvPicPr>
          <p:cNvPr id="1728" name="Google Shape;1728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06412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a triangle can be found by </a:t>
            </a:r>
            <a:r>
              <a:rPr lang="en-GB"/>
              <a:t>multiplying</a:t>
            </a:r>
            <a:r>
              <a:rPr lang="en-GB"/>
              <a:t> the </a:t>
            </a:r>
            <a:r>
              <a:rPr b="1" lang="en-GB"/>
              <a:t>base</a:t>
            </a:r>
            <a:r>
              <a:rPr lang="en-GB"/>
              <a:t> and </a:t>
            </a:r>
            <a:r>
              <a:rPr b="1" lang="en-GB"/>
              <a:t>perpendicular </a:t>
            </a:r>
            <a:r>
              <a:rPr b="1" lang="en-GB"/>
              <a:t>height</a:t>
            </a:r>
            <a:r>
              <a:rPr lang="en-GB"/>
              <a:t> of the triangle, and then dividing by two.</a:t>
            </a:r>
            <a:endParaRPr/>
          </a:p>
        </p:txBody>
      </p:sp>
      <p:sp>
        <p:nvSpPr>
          <p:cNvPr id="1734" name="Google Shape;1734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cxnSp>
        <p:nvCxnSpPr>
          <p:cNvPr id="1735" name="Google Shape;1735;p147"/>
          <p:cNvCxnSpPr/>
          <p:nvPr/>
        </p:nvCxnSpPr>
        <p:spPr>
          <a:xfrm>
            <a:off x="340375" y="4084550"/>
            <a:ext cx="22164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6" name="Google Shape;1736;p147"/>
          <p:cNvCxnSpPr/>
          <p:nvPr/>
        </p:nvCxnSpPr>
        <p:spPr>
          <a:xfrm>
            <a:off x="2709025" y="2016925"/>
            <a:ext cx="6600" cy="193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ata-is-equatio=&quot;1&quot; data-equatio-url=&quot;https://equatio-api.texthelp.com/desmos/get/19-06-2023/4b074d02-f922-405e-9f07-ba3e8e359a2f&quot; data-equatio-type=&quot;image&quot;&gt;&lt;mglyph src=&quot;https://equatio-api.texthelp.com/desmos/get/19-06-2023/4b074d02-f922-405e-9f07-ba3e8e359a2f&quot; alt=&quot;Equatio Image&quot;/&gt;&lt;/math&gt;" id="1737" name="Google Shape;1737;p14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75" y="2009288"/>
            <a:ext cx="2254800" cy="1954166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147"/>
          <p:cNvSpPr txBox="1"/>
          <p:nvPr/>
        </p:nvSpPr>
        <p:spPr>
          <a:xfrm>
            <a:off x="2709025" y="2724775"/>
            <a:ext cx="114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units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7"/>
          <p:cNvSpPr txBox="1"/>
          <p:nvPr/>
        </p:nvSpPr>
        <p:spPr>
          <a:xfrm>
            <a:off x="962875" y="4011775"/>
            <a:ext cx="114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units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0" name="Google Shape;1740;p147"/>
          <p:cNvGrpSpPr/>
          <p:nvPr/>
        </p:nvGrpSpPr>
        <p:grpSpPr>
          <a:xfrm>
            <a:off x="4704800" y="1974200"/>
            <a:ext cx="3275100" cy="1046400"/>
            <a:chOff x="4704800" y="1974200"/>
            <a:chExt cx="3275100" cy="1046400"/>
          </a:xfrm>
        </p:grpSpPr>
        <p:sp>
          <p:nvSpPr>
            <p:cNvPr id="1741" name="Google Shape;1741;p147"/>
            <p:cNvSpPr txBox="1"/>
            <p:nvPr/>
          </p:nvSpPr>
          <p:spPr>
            <a:xfrm>
              <a:off x="4704800" y="1974200"/>
              <a:ext cx="3275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Area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=\frac{3\times4}{2}\\&amp;#13;&amp;#10;=6\end{array}&quot;&gt;&lt;mtable columnalign=&quot;left&quot; columnspacing=&quot;1em&quot; rowspacing=&quot;4pt&quot;&gt;&lt;mtr&gt;&lt;mtd&gt;&lt;mo&gt;=&lt;/mo&gt;&lt;mfrac&gt;&lt;mrow&gt;&lt;mn&gt;3&lt;/mn&gt;&lt;mo&gt;×&lt;/mo&gt;&lt;mn&gt;4&lt;/mn&gt;&lt;/mrow&gt;&lt;mn&gt;2&lt;/mn&gt;&lt;/mfrac&gt;&lt;/mtd&gt;&lt;/mtr&gt;&lt;mtr&gt;&lt;mtd&gt;&lt;mo&gt;=&lt;/mo&gt;&lt;mn&gt;6&lt;/mn&gt;&lt;/mtd&gt;&lt;/mtr&gt;&lt;/mtable&gt;&lt;/math&gt;" id="1742" name="Google Shape;1742;p147" title="2 lines Line 1: equals the fraction with numerator 3 times 4 and denominator 2 Line 2: equals 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32900" y="2055950"/>
              <a:ext cx="723900" cy="8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3" name="Google Shape;1743;p147"/>
            <p:cNvSpPr txBox="1"/>
            <p:nvPr/>
          </p:nvSpPr>
          <p:spPr>
            <a:xfrm>
              <a:off x="5991625" y="2497400"/>
              <a:ext cx="1149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units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48"/>
          <p:cNvSpPr txBox="1"/>
          <p:nvPr>
            <p:ph idx="1" type="body"/>
          </p:nvPr>
        </p:nvSpPr>
        <p:spPr>
          <a:xfrm>
            <a:off x="324000" y="759300"/>
            <a:ext cx="8237700" cy="8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It is sometimes easier to show the </a:t>
            </a:r>
            <a:r>
              <a:rPr b="1" lang="en-GB"/>
              <a:t>perpendicular height</a:t>
            </a:r>
            <a:r>
              <a:rPr lang="en-GB"/>
              <a:t> outside of the triangle.</a:t>
            </a:r>
            <a:endParaRPr/>
          </a:p>
        </p:txBody>
      </p:sp>
      <p:sp>
        <p:nvSpPr>
          <p:cNvPr id="1749" name="Google Shape;1749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grpSp>
        <p:nvGrpSpPr>
          <p:cNvPr id="1750" name="Google Shape;1750;p148"/>
          <p:cNvGrpSpPr/>
          <p:nvPr/>
        </p:nvGrpSpPr>
        <p:grpSpPr>
          <a:xfrm>
            <a:off x="324000" y="1986250"/>
            <a:ext cx="5288350" cy="2462750"/>
            <a:chOff x="324000" y="1986250"/>
            <a:chExt cx="5288350" cy="2462750"/>
          </a:xfrm>
        </p:grpSpPr>
        <p:pic>
          <p:nvPicPr>
            <p:cNvPr descr="&lt;math xmlns=&quot;http://www.w3.org/1998/Math/MathML&quot; data-is-equatio=&quot;1&quot; data-equatio-url=&quot;https://equatio-api.texthelp.com/desmos/get/19-06-2023/a2f5cdaf-1563-48ca-ad65-1ecc7f10f879&quot; data-equatio-type=&quot;image&quot;&gt;&lt;mglyph src=&quot;https://equatio-api.texthelp.com/desmos/get/19-06-2023/a2f5cdaf-1563-48ca-ad65-1ecc7f10f879&quot; alt=&quot;Equatio Image&quot;/&gt;&lt;/math&gt;" id="1751" name="Google Shape;1751;p148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0375" y="1986250"/>
              <a:ext cx="4122375" cy="19389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52" name="Google Shape;1752;p148"/>
            <p:cNvCxnSpPr/>
            <p:nvPr/>
          </p:nvCxnSpPr>
          <p:spPr>
            <a:xfrm>
              <a:off x="324000" y="3964713"/>
              <a:ext cx="273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53" name="Google Shape;1753;p148"/>
            <p:cNvCxnSpPr/>
            <p:nvPr/>
          </p:nvCxnSpPr>
          <p:spPr>
            <a:xfrm>
              <a:off x="4508125" y="2016925"/>
              <a:ext cx="0" cy="188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54" name="Google Shape;1754;p148"/>
            <p:cNvSpPr txBox="1"/>
            <p:nvPr/>
          </p:nvSpPr>
          <p:spPr>
            <a:xfrm>
              <a:off x="4462750" y="2694100"/>
              <a:ext cx="1149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5" name="Google Shape;1755;p148"/>
            <p:cNvSpPr txBox="1"/>
            <p:nvPr/>
          </p:nvSpPr>
          <p:spPr>
            <a:xfrm>
              <a:off x="1189800" y="3925800"/>
              <a:ext cx="1149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6" name="Google Shape;1756;p148"/>
          <p:cNvGrpSpPr/>
          <p:nvPr/>
        </p:nvGrpSpPr>
        <p:grpSpPr>
          <a:xfrm>
            <a:off x="5544900" y="1986250"/>
            <a:ext cx="3275100" cy="1046400"/>
            <a:chOff x="5544900" y="1986250"/>
            <a:chExt cx="3275100" cy="1046400"/>
          </a:xfrm>
        </p:grpSpPr>
        <p:pic>
          <p:nvPicPr>
            <p:cNvPr descr="&lt;math xmlns=&quot;http://www.w3.org/1998/Math/MathML&quot; display=&quot;block&quot; data-is-equatio=&quot;1&quot; data-latex=&quot;\begin{array}{l}=\frac{7\times5}{2}\\&amp;#13;&amp;#10;=17.5\end{array}&quot;&gt;&lt;mtable columnalign=&quot;left&quot; columnspacing=&quot;1em&quot; rowspacing=&quot;4pt&quot;&gt;&lt;mtr&gt;&lt;mtd&gt;&lt;mo&gt;=&lt;/mo&gt;&lt;mfrac&gt;&lt;mrow&gt;&lt;mn&gt;7&lt;/mn&gt;&lt;mo&gt;×&lt;/mo&gt;&lt;mn&gt;5&lt;/mn&gt;&lt;/mrow&gt;&lt;mn&gt;2&lt;/mn&gt;&lt;/mfrac&gt;&lt;/mtd&gt;&lt;/mtr&gt;&lt;mtr&gt;&lt;mtd&gt;&lt;mo&gt;=&lt;/mo&gt;&lt;mn&gt;17.5&lt;/mn&gt;&lt;/mtd&gt;&lt;/mtr&gt;&lt;/mtable&gt;&lt;/math&gt;" id="1757" name="Google Shape;1757;p148" title="2 lines Line 1: equals the fraction with numerator 7 times 5 and denominator 2 Line 2: equals 17.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73000" y="2063238"/>
              <a:ext cx="809625" cy="809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8" name="Google Shape;1758;p148"/>
            <p:cNvSpPr txBox="1"/>
            <p:nvPr/>
          </p:nvSpPr>
          <p:spPr>
            <a:xfrm>
              <a:off x="5544900" y="1986250"/>
              <a:ext cx="3275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Area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148"/>
            <p:cNvSpPr txBox="1"/>
            <p:nvPr/>
          </p:nvSpPr>
          <p:spPr>
            <a:xfrm>
              <a:off x="7212725" y="2509450"/>
              <a:ext cx="1149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units</a:t>
              </a:r>
              <a:r>
                <a:rPr baseline="30000"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aseline="30000"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4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</a:t>
            </a:r>
            <a:r>
              <a:rPr lang="en-GB"/>
              <a:t> these two triangles have the </a:t>
            </a:r>
            <a:r>
              <a:rPr lang="en-GB">
                <a:solidFill>
                  <a:schemeClr val="accent4"/>
                </a:solidFill>
              </a:rPr>
              <a:t>same</a:t>
            </a:r>
            <a:r>
              <a:rPr lang="en-GB"/>
              <a:t> area? </a:t>
            </a:r>
            <a:br>
              <a:rPr lang="en-GB"/>
            </a:br>
            <a:r>
              <a:rPr lang="en-GB"/>
              <a:t>Explain</a:t>
            </a:r>
            <a:r>
              <a:rPr b="1" lang="en-GB"/>
              <a:t> </a:t>
            </a:r>
            <a:r>
              <a:rPr lang="en-GB"/>
              <a:t>your reasoning.</a:t>
            </a:r>
            <a:endParaRPr/>
          </a:p>
        </p:txBody>
      </p:sp>
      <p:sp>
        <p:nvSpPr>
          <p:cNvPr id="1765" name="Google Shape;1765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grpSp>
        <p:nvGrpSpPr>
          <p:cNvPr id="1766" name="Google Shape;1766;p149"/>
          <p:cNvGrpSpPr/>
          <p:nvPr/>
        </p:nvGrpSpPr>
        <p:grpSpPr>
          <a:xfrm>
            <a:off x="4188600" y="1986250"/>
            <a:ext cx="4373100" cy="1987950"/>
            <a:chOff x="324000" y="1986250"/>
            <a:chExt cx="4373100" cy="1987950"/>
          </a:xfrm>
        </p:grpSpPr>
        <p:pic>
          <p:nvPicPr>
            <p:cNvPr descr="&lt;math xmlns=&quot;http://www.w3.org/1998/Math/MathML&quot; data-is-equatio=&quot;1&quot; data-equatio-url=&quot;https://equatio-api.texthelp.com/desmos/get/19-06-2023/a2f5cdaf-1563-48ca-ad65-1ecc7f10f879&quot; data-equatio-type=&quot;image&quot;&gt;&lt;mglyph src=&quot;https://equatio-api.texthelp.com/desmos/get/19-06-2023/a2f5cdaf-1563-48ca-ad65-1ecc7f10f879&quot; alt=&quot;Equatio Image&quot;/&gt;&lt;/math&gt;" id="1767" name="Google Shape;1767;p149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6886" y="1986250"/>
              <a:ext cx="3243915" cy="152573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68" name="Google Shape;1768;p149"/>
            <p:cNvCxnSpPr/>
            <p:nvPr/>
          </p:nvCxnSpPr>
          <p:spPr>
            <a:xfrm>
              <a:off x="324000" y="3543112"/>
              <a:ext cx="2155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9" name="Google Shape;1769;p149"/>
            <p:cNvCxnSpPr/>
            <p:nvPr/>
          </p:nvCxnSpPr>
          <p:spPr>
            <a:xfrm>
              <a:off x="3616506" y="2010388"/>
              <a:ext cx="0" cy="1484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70" name="Google Shape;1770;p149"/>
            <p:cNvSpPr txBox="1"/>
            <p:nvPr/>
          </p:nvSpPr>
          <p:spPr>
            <a:xfrm>
              <a:off x="3580800" y="2543250"/>
              <a:ext cx="1116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149"/>
            <p:cNvSpPr txBox="1"/>
            <p:nvPr/>
          </p:nvSpPr>
          <p:spPr>
            <a:xfrm>
              <a:off x="1005300" y="3512500"/>
              <a:ext cx="108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ata-is-equatio=&quot;1&quot; data-equatio-url=&quot;https://equatio-api.texthelp.com/desmos/get/19-06-2023/cace990d-9b9d-4f61-901e-87304580742d&quot; data-equatio-type=&quot;image&quot;&gt;&lt;mglyph src=&quot;https://equatio-api.texthelp.com/desmos/get/19-06-2023/cace990d-9b9d-4f61-901e-87304580742d&quot; alt=&quot;Equatio Image&quot;/&gt;&lt;/math&gt;" id="1772" name="Google Shape;1772;p149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970950"/>
            <a:ext cx="2195325" cy="152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3" name="Google Shape;1773;p149"/>
          <p:cNvCxnSpPr/>
          <p:nvPr/>
        </p:nvCxnSpPr>
        <p:spPr>
          <a:xfrm>
            <a:off x="363825" y="3558412"/>
            <a:ext cx="215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4" name="Google Shape;1774;p149"/>
          <p:cNvSpPr txBox="1"/>
          <p:nvPr/>
        </p:nvSpPr>
        <p:spPr>
          <a:xfrm>
            <a:off x="1045124" y="3527800"/>
            <a:ext cx="12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5" name="Google Shape;1775;p149"/>
          <p:cNvCxnSpPr/>
          <p:nvPr/>
        </p:nvCxnSpPr>
        <p:spPr>
          <a:xfrm>
            <a:off x="1411484" y="2048394"/>
            <a:ext cx="7500" cy="140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6" name="Google Shape;1776;p149"/>
          <p:cNvSpPr txBox="1"/>
          <p:nvPr/>
        </p:nvSpPr>
        <p:spPr>
          <a:xfrm>
            <a:off x="1350075" y="2840738"/>
            <a:ext cx="11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units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49"/>
          <p:cNvSpPr txBox="1"/>
          <p:nvPr/>
        </p:nvSpPr>
        <p:spPr>
          <a:xfrm>
            <a:off x="324000" y="3974200"/>
            <a:ext cx="788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They do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same area as they have the same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base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same height as each other.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5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these two triangles have the </a:t>
            </a:r>
            <a:r>
              <a:rPr lang="en-GB"/>
              <a:t>same</a:t>
            </a:r>
            <a:r>
              <a:rPr lang="en-GB"/>
              <a:t> area? </a:t>
            </a:r>
            <a:br>
              <a:rPr lang="en-GB"/>
            </a:br>
            <a:r>
              <a:rPr lang="en-GB"/>
              <a:t>Explain</a:t>
            </a:r>
            <a:r>
              <a:rPr b="1" lang="en-GB"/>
              <a:t> </a:t>
            </a:r>
            <a:r>
              <a:rPr lang="en-GB"/>
              <a:t>your reasoning.</a:t>
            </a:r>
            <a:endParaRPr/>
          </a:p>
        </p:txBody>
      </p:sp>
      <p:sp>
        <p:nvSpPr>
          <p:cNvPr id="1783" name="Google Shape;1783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pic>
        <p:nvPicPr>
          <p:cNvPr id="1784" name="Google Shape;1784;p150"/>
          <p:cNvPicPr preferRelativeResize="0"/>
          <p:nvPr/>
        </p:nvPicPr>
        <p:blipFill rotWithShape="1">
          <a:blip r:embed="rId3">
            <a:alphaModFix/>
          </a:blip>
          <a:srcRect b="15978" l="6597" r="22004" t="20866"/>
          <a:stretch/>
        </p:blipFill>
        <p:spPr>
          <a:xfrm>
            <a:off x="453850" y="1990525"/>
            <a:ext cx="3904525" cy="19427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5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1790" name="Google Shape;1790;p151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sp>
        <p:nvSpPr>
          <p:cNvPr id="1791" name="Google Shape;1791;p151"/>
          <p:cNvSpPr txBox="1"/>
          <p:nvPr>
            <p:ph idx="2" type="body"/>
          </p:nvPr>
        </p:nvSpPr>
        <p:spPr>
          <a:xfrm>
            <a:off x="324000" y="4111276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For each triangle, do you have enough information to calculate the area, the perimeter, both or neither? Explain how you know.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792" name="Google Shape;1792;p15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151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51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5" name="Google Shape;1795;p151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6" name="Google Shape;1796;p151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7" name="Google Shape;1797;p151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8" name="Google Shape;1798;p151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9" name="Google Shape;1799;p151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0" name="Google Shape;1800;p151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1" name="Google Shape;1801;p151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2" name="Google Shape;1802;p151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3" name="Google Shape;1803;p151"/>
          <p:cNvCxnSpPr>
            <a:stCxn id="1793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4" name="Google Shape;1804;p151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5" name="Google Shape;1805;p151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6" name="Google Shape;1806;p151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7" name="Google Shape;1807;p151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8" name="Google Shape;1808;p151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9" name="Google Shape;1809;p151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0" name="Google Shape;1810;p151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1" name="Google Shape;1811;p151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51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51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51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51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151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151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151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1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51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1" name="Google Shape;1821;p151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5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1827" name="Google Shape;1827;p152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828" name="Google Shape;1828;p152"/>
          <p:cNvSpPr txBox="1"/>
          <p:nvPr>
            <p:ph idx="2" type="body"/>
          </p:nvPr>
        </p:nvSpPr>
        <p:spPr>
          <a:xfrm>
            <a:off x="324000" y="4111276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For the ones that are not possible, write the minimum additional information you need.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829" name="Google Shape;1829;p15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152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152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2" name="Google Shape;1832;p152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3" name="Google Shape;1833;p152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4" name="Google Shape;1834;p152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5" name="Google Shape;1835;p152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6" name="Google Shape;1836;p152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7" name="Google Shape;1837;p152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8" name="Google Shape;1838;p152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9" name="Google Shape;1839;p152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0" name="Google Shape;1840;p152"/>
          <p:cNvCxnSpPr>
            <a:stCxn id="1830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1" name="Google Shape;1841;p152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2" name="Google Shape;1842;p152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3" name="Google Shape;1843;p152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4" name="Google Shape;1844;p152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5" name="Google Shape;1845;p152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6" name="Google Shape;1846;p152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7" name="Google Shape;1847;p152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8" name="Google Shape;1848;p152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152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152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152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52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52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4" name="Google Shape;1854;p152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52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52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52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52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5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1864" name="Google Shape;1864;p153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sp>
        <p:nvSpPr>
          <p:cNvPr id="1865" name="Google Shape;1865;p153"/>
          <p:cNvSpPr txBox="1"/>
          <p:nvPr>
            <p:ph idx="2" type="body"/>
          </p:nvPr>
        </p:nvSpPr>
        <p:spPr>
          <a:xfrm>
            <a:off x="324000" y="4111276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For each triangle, do you have enough information to calculate the area, the perimeter, both or neither? Explain how you know.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866" name="Google Shape;1866;p15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53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53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9" name="Google Shape;1869;p153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0" name="Google Shape;1870;p153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1" name="Google Shape;1871;p153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2" name="Google Shape;1872;p153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3" name="Google Shape;1873;p153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4" name="Google Shape;1874;p153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75" name="Google Shape;1875;p153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6" name="Google Shape;1876;p153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7" name="Google Shape;1877;p153"/>
          <p:cNvCxnSpPr>
            <a:stCxn id="1867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8" name="Google Shape;1878;p153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9" name="Google Shape;1879;p153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0" name="Google Shape;1880;p153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1" name="Google Shape;1881;p153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2" name="Google Shape;1882;p153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3" name="Google Shape;1883;p153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4" name="Google Shape;1884;p153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5" name="Google Shape;1885;p153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53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53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53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53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53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153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153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153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153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153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5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1901" name="Google Shape;1901;p154"/>
          <p:cNvSpPr txBox="1"/>
          <p:nvPr>
            <p:ph idx="1" type="body"/>
          </p:nvPr>
        </p:nvSpPr>
        <p:spPr>
          <a:xfrm>
            <a:off x="324000" y="8100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endParaRPr sz="1800"/>
          </a:p>
        </p:txBody>
      </p:sp>
      <p:sp>
        <p:nvSpPr>
          <p:cNvPr id="1902" name="Google Shape;1902;p154"/>
          <p:cNvSpPr txBox="1"/>
          <p:nvPr>
            <p:ph idx="2" type="body"/>
          </p:nvPr>
        </p:nvSpPr>
        <p:spPr>
          <a:xfrm>
            <a:off x="324000" y="4111276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For the ones that are not possible, write the minimum additional information you need. 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903" name="Google Shape;1903;p15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54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154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6" name="Google Shape;1906;p154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7" name="Google Shape;1907;p154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8" name="Google Shape;1908;p154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9" name="Google Shape;1909;p154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0" name="Google Shape;1910;p154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1" name="Google Shape;1911;p154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2" name="Google Shape;1912;p154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3" name="Google Shape;1913;p154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4" name="Google Shape;1914;p154"/>
          <p:cNvCxnSpPr>
            <a:stCxn id="1904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5" name="Google Shape;1915;p154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6" name="Google Shape;1916;p154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7" name="Google Shape;1917;p154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18" name="Google Shape;1918;p154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9" name="Google Shape;1919;p154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0" name="Google Shape;1920;p154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1" name="Google Shape;1921;p154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2" name="Google Shape;1922;p154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54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154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54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154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154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154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154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154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54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54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5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938" name="Google Shape;1938;p15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39" name="Google Shape;1939;p155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0" name="Google Shape;1940;p155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1" name="Google Shape;1941;p155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2" name="Google Shape;1942;p155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3" name="Google Shape;1943;p155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4" name="Google Shape;1944;p155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5" name="Google Shape;1945;p155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6" name="Google Shape;1946;p155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7" name="Google Shape;1947;p155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8" name="Google Shape;1948;p155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9" name="Google Shape;1949;p155"/>
          <p:cNvCxnSpPr>
            <a:stCxn id="1939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0" name="Google Shape;1950;p155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1" name="Google Shape;1951;p155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2" name="Google Shape;1952;p155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3" name="Google Shape;1953;p155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4" name="Google Shape;1954;p155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5" name="Google Shape;1955;p155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56" name="Google Shape;1956;p155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57" name="Google Shape;1957;p155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55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5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55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55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55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55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55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55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155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55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8" name="Google Shape;1968;p155"/>
          <p:cNvSpPr txBox="1"/>
          <p:nvPr>
            <p:ph idx="2" type="body"/>
          </p:nvPr>
        </p:nvSpPr>
        <p:spPr>
          <a:xfrm>
            <a:off x="324000" y="4067425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 A: I can calculate the area but not the perimeter. For the perimeter, I need the remaining side length.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15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974" name="Google Shape;1974;p15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156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56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7" name="Google Shape;1977;p156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8" name="Google Shape;1978;p156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9" name="Google Shape;1979;p156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0" name="Google Shape;1980;p156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1" name="Google Shape;1981;p156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2" name="Google Shape;1982;p156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3" name="Google Shape;1983;p156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4" name="Google Shape;1984;p156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5" name="Google Shape;1985;p156"/>
          <p:cNvCxnSpPr>
            <a:stCxn id="1975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6" name="Google Shape;1986;p156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7" name="Google Shape;1987;p156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88" name="Google Shape;1988;p156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9" name="Google Shape;1989;p156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0" name="Google Shape;1990;p156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91" name="Google Shape;1991;p156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2" name="Google Shape;1992;p156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3" name="Google Shape;1993;p156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4" name="Google Shape;1994;p156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56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156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56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56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56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56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156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56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6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6"/>
          <p:cNvSpPr txBox="1"/>
          <p:nvPr>
            <p:ph idx="2" type="body"/>
          </p:nvPr>
        </p:nvSpPr>
        <p:spPr>
          <a:xfrm>
            <a:off x="324000" y="4067425"/>
            <a:ext cx="81012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Triangle B: I can calculate the perimeter but not the area. For the area, I need the length of a perpendicular line from one side to the opposite vertex.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15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2010" name="Google Shape;2010;p15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57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57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3" name="Google Shape;2013;p157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4" name="Google Shape;2014;p157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5" name="Google Shape;2015;p157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6" name="Google Shape;2016;p157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7" name="Google Shape;2017;p157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8" name="Google Shape;2018;p157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9" name="Google Shape;2019;p157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0" name="Google Shape;2020;p157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1" name="Google Shape;2021;p157"/>
          <p:cNvCxnSpPr>
            <a:stCxn id="2011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2" name="Google Shape;2022;p157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3" name="Google Shape;2023;p157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4" name="Google Shape;2024;p157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25" name="Google Shape;2025;p157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6" name="Google Shape;2026;p157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27" name="Google Shape;2027;p157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8" name="Google Shape;2028;p157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9" name="Google Shape;2029;p157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57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157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57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57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57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57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57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7" name="Google Shape;2037;p157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8" name="Google Shape;2038;p157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57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57"/>
          <p:cNvSpPr txBox="1"/>
          <p:nvPr>
            <p:ph idx="2" type="body"/>
          </p:nvPr>
        </p:nvSpPr>
        <p:spPr>
          <a:xfrm>
            <a:off x="324000" y="4067425"/>
            <a:ext cx="8101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C: I can calculate both the perimeter and area.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5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2046" name="Google Shape;2046;p15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08" y="1109820"/>
            <a:ext cx="6634618" cy="2654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58"/>
          <p:cNvSpPr txBox="1"/>
          <p:nvPr/>
        </p:nvSpPr>
        <p:spPr>
          <a:xfrm>
            <a:off x="691793" y="811192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58"/>
          <p:cNvSpPr txBox="1"/>
          <p:nvPr/>
        </p:nvSpPr>
        <p:spPr>
          <a:xfrm>
            <a:off x="740548" y="2595335"/>
            <a:ext cx="663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d)  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9" name="Google Shape;2049;p158"/>
          <p:cNvCxnSpPr/>
          <p:nvPr/>
        </p:nvCxnSpPr>
        <p:spPr>
          <a:xfrm flipH="1" rot="10800000">
            <a:off x="699165" y="1350376"/>
            <a:ext cx="1824000" cy="2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0" name="Google Shape;2050;p158"/>
          <p:cNvCxnSpPr/>
          <p:nvPr/>
        </p:nvCxnSpPr>
        <p:spPr>
          <a:xfrm>
            <a:off x="677025" y="1682456"/>
            <a:ext cx="915600" cy="54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1" name="Google Shape;2051;p158"/>
          <p:cNvCxnSpPr/>
          <p:nvPr/>
        </p:nvCxnSpPr>
        <p:spPr>
          <a:xfrm flipH="1" rot="10800000">
            <a:off x="3226430" y="1165510"/>
            <a:ext cx="1740300" cy="10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2" name="Google Shape;2052;p158"/>
          <p:cNvCxnSpPr/>
          <p:nvPr/>
        </p:nvCxnSpPr>
        <p:spPr>
          <a:xfrm>
            <a:off x="5058605" y="1266310"/>
            <a:ext cx="174300" cy="111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3" name="Google Shape;2053;p158"/>
          <p:cNvCxnSpPr/>
          <p:nvPr/>
        </p:nvCxnSpPr>
        <p:spPr>
          <a:xfrm rot="10800000">
            <a:off x="3184379" y="1412871"/>
            <a:ext cx="1967100" cy="108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4" name="Google Shape;2054;p158"/>
          <p:cNvSpPr/>
          <p:nvPr/>
        </p:nvSpPr>
        <p:spPr>
          <a:xfrm>
            <a:off x="7181966" y="222884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55" name="Google Shape;2055;p158"/>
          <p:cNvCxnSpPr/>
          <p:nvPr/>
        </p:nvCxnSpPr>
        <p:spPr>
          <a:xfrm>
            <a:off x="7452750" y="1109820"/>
            <a:ext cx="0" cy="127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6" name="Google Shape;2056;p158"/>
          <p:cNvCxnSpPr/>
          <p:nvPr/>
        </p:nvCxnSpPr>
        <p:spPr>
          <a:xfrm>
            <a:off x="5921243" y="2494671"/>
            <a:ext cx="143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7" name="Google Shape;2057;p158"/>
          <p:cNvCxnSpPr>
            <a:stCxn id="2047" idx="3"/>
          </p:cNvCxnSpPr>
          <p:nvPr/>
        </p:nvCxnSpPr>
        <p:spPr>
          <a:xfrm flipH="1">
            <a:off x="5798693" y="1026742"/>
            <a:ext cx="1527600" cy="132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8" name="Google Shape;2058;p158"/>
          <p:cNvCxnSpPr/>
          <p:nvPr/>
        </p:nvCxnSpPr>
        <p:spPr>
          <a:xfrm>
            <a:off x="2436813" y="2849167"/>
            <a:ext cx="1989000" cy="85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9" name="Google Shape;2059;p158"/>
          <p:cNvCxnSpPr/>
          <p:nvPr/>
        </p:nvCxnSpPr>
        <p:spPr>
          <a:xfrm flipH="1">
            <a:off x="1925563" y="1412867"/>
            <a:ext cx="639000" cy="86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60" name="Google Shape;2060;p158"/>
          <p:cNvCxnSpPr/>
          <p:nvPr/>
        </p:nvCxnSpPr>
        <p:spPr>
          <a:xfrm>
            <a:off x="1583238" y="2115792"/>
            <a:ext cx="549300" cy="33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1" name="Google Shape;2061;p158"/>
          <p:cNvSpPr/>
          <p:nvPr/>
        </p:nvSpPr>
        <p:spPr>
          <a:xfrm rot="2126447">
            <a:off x="1785696" y="2144999"/>
            <a:ext cx="144345" cy="13318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2" name="Google Shape;2062;p158"/>
          <p:cNvCxnSpPr/>
          <p:nvPr/>
        </p:nvCxnSpPr>
        <p:spPr>
          <a:xfrm rot="10800000">
            <a:off x="2276013" y="3755992"/>
            <a:ext cx="54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63" name="Google Shape;2063;p158"/>
          <p:cNvSpPr/>
          <p:nvPr/>
        </p:nvSpPr>
        <p:spPr>
          <a:xfrm>
            <a:off x="2364666" y="3623098"/>
            <a:ext cx="144300" cy="132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4" name="Google Shape;2064;p158"/>
          <p:cNvCxnSpPr/>
          <p:nvPr/>
        </p:nvCxnSpPr>
        <p:spPr>
          <a:xfrm>
            <a:off x="2331691" y="2978473"/>
            <a:ext cx="0" cy="7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5" name="Google Shape;2065;p158"/>
          <p:cNvSpPr txBox="1"/>
          <p:nvPr/>
        </p:nvSpPr>
        <p:spPr>
          <a:xfrm>
            <a:off x="1057713" y="110981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58"/>
          <p:cNvSpPr txBox="1"/>
          <p:nvPr/>
        </p:nvSpPr>
        <p:spPr>
          <a:xfrm>
            <a:off x="722713" y="19960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58"/>
          <p:cNvSpPr txBox="1"/>
          <p:nvPr/>
        </p:nvSpPr>
        <p:spPr>
          <a:xfrm>
            <a:off x="7397463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58"/>
          <p:cNvSpPr txBox="1"/>
          <p:nvPr/>
        </p:nvSpPr>
        <p:spPr>
          <a:xfrm>
            <a:off x="3710325" y="881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58"/>
          <p:cNvSpPr txBox="1"/>
          <p:nvPr/>
        </p:nvSpPr>
        <p:spPr>
          <a:xfrm>
            <a:off x="3475875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58"/>
          <p:cNvSpPr txBox="1"/>
          <p:nvPr/>
        </p:nvSpPr>
        <p:spPr>
          <a:xfrm>
            <a:off x="5058600" y="147254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58"/>
          <p:cNvSpPr txBox="1"/>
          <p:nvPr/>
        </p:nvSpPr>
        <p:spPr>
          <a:xfrm>
            <a:off x="6308975" y="2427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58"/>
          <p:cNvSpPr txBox="1"/>
          <p:nvPr/>
        </p:nvSpPr>
        <p:spPr>
          <a:xfrm>
            <a:off x="6038100" y="132538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58"/>
          <p:cNvSpPr txBox="1"/>
          <p:nvPr/>
        </p:nvSpPr>
        <p:spPr>
          <a:xfrm>
            <a:off x="3226425" y="2849130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58"/>
          <p:cNvSpPr txBox="1"/>
          <p:nvPr/>
        </p:nvSpPr>
        <p:spPr>
          <a:xfrm>
            <a:off x="1755325" y="3175667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58"/>
          <p:cNvSpPr txBox="1"/>
          <p:nvPr/>
        </p:nvSpPr>
        <p:spPr>
          <a:xfrm>
            <a:off x="2080050" y="1777092"/>
            <a:ext cx="97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58"/>
          <p:cNvSpPr txBox="1"/>
          <p:nvPr>
            <p:ph idx="2" type="body"/>
          </p:nvPr>
        </p:nvSpPr>
        <p:spPr>
          <a:xfrm>
            <a:off x="324000" y="4067425"/>
            <a:ext cx="81012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Triangle D: I can calculate neither the perimeter nor the area. I need the length of the two remaining sides.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15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the area and perimeter of a triangle</a:t>
            </a:r>
            <a:endParaRPr/>
          </a:p>
        </p:txBody>
      </p:sp>
      <p:sp>
        <p:nvSpPr>
          <p:cNvPr id="2082" name="Google Shape;2082;p15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083" name="Google Shape;2083;p15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pic>
        <p:nvPicPr>
          <p:cNvPr id="2084" name="Google Shape;2084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14" y="299762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formula for the area of a triangle can be </a:t>
            </a:r>
            <a:r>
              <a:rPr lang="en-GB"/>
              <a:t>derived</a:t>
            </a:r>
            <a:r>
              <a:rPr lang="en-GB"/>
              <a:t> through an investigation.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6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096" name="Google Shape;2096;p161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Instructions: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Take a piece of paper and fold it in half.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b523990a-aba6-40de-a4a6-d5a78e51888b&quot; data-equatio-type=&quot;image&quot;&gt;&lt;mglyph src=&quot;https://equatio-api.texthelp.com/desmos/get/19-06-2023/b523990a-aba6-40de-a4a6-d5a78e51888b&quot; alt=&quot;Equatio Image&quot;/&gt;&lt;/math&gt;" id="2097" name="Google Shape;2097;p16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917700"/>
            <a:ext cx="8153400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8" name="Google Shape;2098;p161"/>
          <p:cNvCxnSpPr/>
          <p:nvPr/>
        </p:nvCxnSpPr>
        <p:spPr>
          <a:xfrm>
            <a:off x="4562275" y="2977825"/>
            <a:ext cx="19269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9" name="Google Shape;2099;p161"/>
          <p:cNvCxnSpPr/>
          <p:nvPr/>
        </p:nvCxnSpPr>
        <p:spPr>
          <a:xfrm rot="10800000">
            <a:off x="7018800" y="1741500"/>
            <a:ext cx="1629900" cy="165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161"/>
          <p:cNvCxnSpPr/>
          <p:nvPr/>
        </p:nvCxnSpPr>
        <p:spPr>
          <a:xfrm>
            <a:off x="7038888" y="1741600"/>
            <a:ext cx="0" cy="17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16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06" name="Google Shape;2106;p162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Instructions: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Draw a triangle on your piece of folded paper (try to make it different from mine).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521a002d-513b-4b1c-b220-41f5e0eb8560&quot; data-equatio-type=&quot;image&quot;&gt;&lt;mglyph src=&quot;https://equatio-api.texthelp.com/desmos/get/19-06-2023/521a002d-513b-4b1c-b220-41f5e0eb8560&quot; alt=&quot;Equatio Image&quot;/&gt;&lt;/math&gt;" id="2107" name="Google Shape;2107;p162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775" y="2464800"/>
            <a:ext cx="1962150" cy="234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8" name="Google Shape;2108;p162"/>
          <p:cNvCxnSpPr/>
          <p:nvPr/>
        </p:nvCxnSpPr>
        <p:spPr>
          <a:xfrm rot="10800000">
            <a:off x="3762650" y="2311850"/>
            <a:ext cx="1629900" cy="165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9" name="Google Shape;2109;p162"/>
          <p:cNvCxnSpPr/>
          <p:nvPr/>
        </p:nvCxnSpPr>
        <p:spPr>
          <a:xfrm>
            <a:off x="3782738" y="2311950"/>
            <a:ext cx="0" cy="17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6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15" name="Google Shape;2115;p163"/>
          <p:cNvSpPr txBox="1"/>
          <p:nvPr>
            <p:ph idx="1" type="body"/>
          </p:nvPr>
        </p:nvSpPr>
        <p:spPr>
          <a:xfrm>
            <a:off x="324000" y="810000"/>
            <a:ext cx="84960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Instructions: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Cut out your triangle. You should have two identical triangles due to your folded paper.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6642a848-e111-4bd5-b630-13ee0a8aae12&quot; data-equatio-type=&quot;image&quot;&gt;&lt;mglyph src=&quot;https://equatio-api.texthelp.com/desmos/get/19-06-2023/6642a848-e111-4bd5-b630-13ee0a8aae12&quot; alt=&quot;Equatio Image&quot;/&gt;&lt;/math&gt;" id="2116" name="Google Shape;2116;p16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875" y="2273200"/>
            <a:ext cx="320992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0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p164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22" name="Google Shape;2122;p164"/>
          <p:cNvSpPr txBox="1"/>
          <p:nvPr>
            <p:ph idx="1" type="body"/>
          </p:nvPr>
        </p:nvSpPr>
        <p:spPr>
          <a:xfrm>
            <a:off x="324000" y="810000"/>
            <a:ext cx="84960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Instructions: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Put your two triangles next to each other. You can flip and/or rotate either of them.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quadrilaterals can you make?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aeab81b-ed06-4732-bb33-9dc5b0a280a9&quot; data-equatio-type=&quot;image&quot;&gt;&lt;mglyph src=&quot;https://equatio-api.texthelp.com/desmos/get/19-06-2023/daeab81b-ed06-4732-bb33-9dc5b0a280a9&quot; alt=&quot;Equatio Image&quot;/&gt;&lt;/math&gt;" id="2123" name="Google Shape;2123;p16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5100" y="2090788"/>
            <a:ext cx="2095500" cy="2028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4" name="Google Shape;2124;p164"/>
          <p:cNvCxnSpPr/>
          <p:nvPr/>
        </p:nvCxnSpPr>
        <p:spPr>
          <a:xfrm>
            <a:off x="1337650" y="3017625"/>
            <a:ext cx="19269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5" name="Google Shape;2125;p164"/>
          <p:cNvCxnSpPr/>
          <p:nvPr/>
        </p:nvCxnSpPr>
        <p:spPr>
          <a:xfrm rot="10800000">
            <a:off x="5669150" y="3097400"/>
            <a:ext cx="2085900" cy="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65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31" name="Google Shape;2131;p165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Depending on the triangle drawn, the following quadrilaterals are possible: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0ac6e4ac-7600-4d00-99a0-3aaf6c681aa0&quot; data-equatio-type=&quot;image&quot;&gt;&lt;mglyph src=&quot;https://equatio-api.texthelp.com/desmos/get/19-06-2023/0ac6e4ac-7600-4d00-99a0-3aaf6c681aa0&quot; alt=&quot;Equatio Image&quot;/&gt;&lt;/math&gt;" id="2132" name="Google Shape;2132;p16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07350"/>
            <a:ext cx="819785" cy="130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2133" name="Google Shape;2133;p165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380" y="2168665"/>
            <a:ext cx="1205206" cy="507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a58d1a4-8e2c-4e47-9b10-5ac66b83fbc2&quot; data-equatio-type=&quot;image&quot;&gt;&lt;mglyph src=&quot;https://equatio-api.texthelp.com/desmos/get/19-06-2023/5a58d1a4-8e2c-4e47-9b10-5ac66b83fbc2&quot; alt=&quot;Equatio Image&quot;/&gt;&lt;/math&gt;" id="2134" name="Google Shape;2134;p165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712" y="2027963"/>
            <a:ext cx="1248030" cy="648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220802f-c274-48f9-bcff-8874268b9c0e&quot; data-equatio-type=&quot;image&quot;&gt;&lt;mglyph src=&quot;https://equatio-api.texthelp.com/desmos/get/19-06-2023/b220802f-c274-48f9-bcff-8874268b9c0e&quot; alt=&quot;Equatio Image&quot;/&gt;&lt;/math&gt;" id="2135" name="Google Shape;2135;p165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9117" y="1953072"/>
            <a:ext cx="798268" cy="798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4c4e0408-1467-4d1a-845a-5734545d6209&quot; data-equatio-type=&quot;image&quot;&gt;&lt;mglyph src=&quot;https://equatio-api.texthelp.com/desmos/get/19-06-2023/4c4e0408-1467-4d1a-845a-5734545d6209&quot; alt=&quot;Equatio Image&quot;/&gt;&lt;/math&gt;" id="2136" name="Google Shape;2136;p165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3797" y="1987008"/>
            <a:ext cx="1122453" cy="730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63fe178d-a743-4132-aa08-64eaddb3098f&quot; data-equatio-type=&quot;image&quot;&gt;&lt;mglyph src=&quot;https://equatio-api.texthelp.com/desmos/get/19-06-2023/63fe178d-a743-4132-aa08-64eaddb3098f&quot; alt=&quot;Equatio Image&quot;/&gt;&lt;/math&gt;" id="2137" name="Google Shape;2137;p165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03476" y="1927176"/>
            <a:ext cx="819775" cy="9907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165"/>
          <p:cNvSpPr txBox="1"/>
          <p:nvPr/>
        </p:nvSpPr>
        <p:spPr>
          <a:xfrm>
            <a:off x="417069" y="3040272"/>
            <a:ext cx="66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Kite </a:t>
            </a:r>
            <a:endParaRPr/>
          </a:p>
        </p:txBody>
      </p:sp>
      <p:sp>
        <p:nvSpPr>
          <p:cNvPr id="2139" name="Google Shape;2139;p165"/>
          <p:cNvSpPr txBox="1"/>
          <p:nvPr/>
        </p:nvSpPr>
        <p:spPr>
          <a:xfrm>
            <a:off x="1236688" y="3040272"/>
            <a:ext cx="179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Parallelogram </a:t>
            </a:r>
            <a:endParaRPr/>
          </a:p>
        </p:txBody>
      </p:sp>
      <p:sp>
        <p:nvSpPr>
          <p:cNvPr id="2140" name="Google Shape;2140;p165"/>
          <p:cNvSpPr txBox="1"/>
          <p:nvPr/>
        </p:nvSpPr>
        <p:spPr>
          <a:xfrm>
            <a:off x="3157653" y="3040272"/>
            <a:ext cx="132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Rectangle </a:t>
            </a:r>
            <a:endParaRPr/>
          </a:p>
        </p:txBody>
      </p:sp>
      <p:sp>
        <p:nvSpPr>
          <p:cNvPr id="2141" name="Google Shape;2141;p165"/>
          <p:cNvSpPr txBox="1"/>
          <p:nvPr/>
        </p:nvSpPr>
        <p:spPr>
          <a:xfrm>
            <a:off x="4648381" y="3040272"/>
            <a:ext cx="99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 </a:t>
            </a:r>
            <a:endParaRPr/>
          </a:p>
        </p:txBody>
      </p:sp>
      <p:sp>
        <p:nvSpPr>
          <p:cNvPr id="2142" name="Google Shape;2142;p165"/>
          <p:cNvSpPr txBox="1"/>
          <p:nvPr/>
        </p:nvSpPr>
        <p:spPr>
          <a:xfrm>
            <a:off x="5859071" y="3040272"/>
            <a:ext cx="124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Rhombus </a:t>
            </a:r>
            <a:endParaRPr/>
          </a:p>
        </p:txBody>
      </p:sp>
      <p:sp>
        <p:nvSpPr>
          <p:cNvPr id="2143" name="Google Shape;2143;p165"/>
          <p:cNvSpPr txBox="1"/>
          <p:nvPr/>
        </p:nvSpPr>
        <p:spPr>
          <a:xfrm>
            <a:off x="7108203" y="3040272"/>
            <a:ext cx="14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Arrowhead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66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49" name="Google Shape;2149;p166"/>
          <p:cNvSpPr txBox="1"/>
          <p:nvPr>
            <p:ph idx="1" type="body"/>
          </p:nvPr>
        </p:nvSpPr>
        <p:spPr>
          <a:xfrm>
            <a:off x="324000" y="810000"/>
            <a:ext cx="84960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2) </a:t>
            </a:r>
            <a:r>
              <a:rPr lang="en-GB">
                <a:solidFill>
                  <a:srgbClr val="000000"/>
                </a:solidFill>
              </a:rPr>
              <a:t>Take your two triangles. Can you make each of the 6 quadrilaterals shown below?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List the quadrilaterals you can make.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Which quadrilateral can always be made?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0ac6e4ac-7600-4d00-99a0-3aaf6c681aa0&quot; data-equatio-type=&quot;image&quot;&gt;&lt;mglyph src=&quot;https://equatio-api.texthelp.com/desmos/get/19-06-2023/0ac6e4ac-7600-4d00-99a0-3aaf6c681aa0&quot; alt=&quot;Equatio Image&quot;/&gt;&lt;/math&gt;" id="2150" name="Google Shape;2150;p16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200750"/>
            <a:ext cx="819785" cy="130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2151" name="Google Shape;2151;p166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7380" y="2762065"/>
            <a:ext cx="1205206" cy="507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5a58d1a4-8e2c-4e47-9b10-5ac66b83fbc2&quot; data-equatio-type=&quot;image&quot;&gt;&lt;mglyph src=&quot;https://equatio-api.texthelp.com/desmos/get/19-06-2023/5a58d1a4-8e2c-4e47-9b10-5ac66b83fbc2&quot; alt=&quot;Equatio Image&quot;/&gt;&lt;/math&gt;" id="2152" name="Google Shape;2152;p166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0712" y="2621363"/>
            <a:ext cx="1248030" cy="648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b220802f-c274-48f9-bcff-8874268b9c0e&quot; data-equatio-type=&quot;image&quot;&gt;&lt;mglyph src=&quot;https://equatio-api.texthelp.com/desmos/get/19-06-2023/b220802f-c274-48f9-bcff-8874268b9c0e&quot; alt=&quot;Equatio Image&quot;/&gt;&lt;/math&gt;" id="2153" name="Google Shape;2153;p166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9117" y="2546472"/>
            <a:ext cx="798268" cy="798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4c4e0408-1467-4d1a-845a-5734545d6209&quot; data-equatio-type=&quot;image&quot;&gt;&lt;mglyph src=&quot;https://equatio-api.texthelp.com/desmos/get/19-06-2023/4c4e0408-1467-4d1a-845a-5734545d6209&quot; alt=&quot;Equatio Image&quot;/&gt;&lt;/math&gt;" id="2154" name="Google Shape;2154;p166" title="Equatio Image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3797" y="2580408"/>
            <a:ext cx="1122453" cy="730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63fe178d-a743-4132-aa08-64eaddb3098f&quot; data-equatio-type=&quot;image&quot;&gt;&lt;mglyph src=&quot;https://equatio-api.texthelp.com/desmos/get/19-06-2023/63fe178d-a743-4132-aa08-64eaddb3098f&quot; alt=&quot;Equatio Image&quot;/&gt;&lt;/math&gt;" id="2155" name="Google Shape;2155;p166" title="Equatio Image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03476" y="2520576"/>
            <a:ext cx="819775" cy="990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67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61" name="Google Shape;2161;p167"/>
          <p:cNvSpPr txBox="1"/>
          <p:nvPr>
            <p:ph idx="1" type="body"/>
          </p:nvPr>
        </p:nvSpPr>
        <p:spPr>
          <a:xfrm>
            <a:off x="324000" y="810000"/>
            <a:ext cx="84960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Regardless of the triangle drawn, a parallelogram can always be made.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Rectangles and rhombuses are special types of parallelograms. Squares are special types of rhombuses.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bf9b8ef0-c8cd-4ecf-b08a-7bebea263e22&quot; data-equatio-type=&quot;image&quot;&gt;&lt;mglyph src=&quot;https://equatio-api.texthelp.com/desmos/get/19-06-2023/bf9b8ef0-c8cd-4ecf-b08a-7bebea263e22&quot; alt=&quot;Equatio Image&quot;/&gt;&lt;/math&gt;" id="2162" name="Google Shape;2162;p16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74" y="2929376"/>
            <a:ext cx="2269350" cy="9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68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area of a triangle is half the area of a parallelogram.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This is because two identical triangles can always be placed together to create a parallelogram.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8" name="Google Shape;2168;p16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16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74" name="Google Shape;2174;p169"/>
          <p:cNvSpPr txBox="1"/>
          <p:nvPr>
            <p:ph idx="1" type="body"/>
          </p:nvPr>
        </p:nvSpPr>
        <p:spPr>
          <a:xfrm>
            <a:off x="324000" y="2794700"/>
            <a:ext cx="4134900" cy="12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 </a:t>
            </a:r>
            <a:r>
              <a:rPr b="1" lang="en-GB" sz="1800"/>
              <a:t>base</a:t>
            </a:r>
            <a:r>
              <a:rPr lang="en-GB" sz="1800"/>
              <a:t> × </a:t>
            </a:r>
            <a:r>
              <a:rPr b="1" lang="en-GB" sz="1800"/>
              <a:t>perpendicular height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</a:t>
            </a:r>
            <a:r>
              <a:rPr lang="en-GB" sz="400"/>
              <a:t> </a:t>
            </a:r>
            <a:r>
              <a:rPr lang="en-GB" sz="1800"/>
              <a:t>=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bh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5" name="Google Shape;2175;p169"/>
          <p:cNvSpPr txBox="1"/>
          <p:nvPr>
            <p:ph idx="1" type="body"/>
          </p:nvPr>
        </p:nvSpPr>
        <p:spPr>
          <a:xfrm>
            <a:off x="4824000" y="2794700"/>
            <a:ext cx="3996000" cy="19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 = ½ × </a:t>
            </a:r>
            <a:r>
              <a:rPr b="1" lang="en-GB" sz="1800"/>
              <a:t>base</a:t>
            </a:r>
            <a:r>
              <a:rPr lang="en-GB" sz="1800"/>
              <a:t> × </a:t>
            </a:r>
            <a:r>
              <a:rPr b="1" lang="en-GB" sz="1800"/>
              <a:t>perpendicular </a:t>
            </a:r>
            <a:br>
              <a:rPr b="1" lang="en-GB" sz="1800"/>
            </a:br>
            <a:r>
              <a:rPr b="1" lang="en-GB" sz="1800"/>
              <a:t>                           height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    </a:t>
            </a:r>
            <a:r>
              <a:rPr lang="en-GB" sz="300"/>
              <a:t> </a:t>
            </a:r>
            <a:r>
              <a:rPr lang="en-GB" sz="1800"/>
              <a:t>=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176" name="Google Shape;2176;p169"/>
          <p:cNvCxnSpPr/>
          <p:nvPr/>
        </p:nvCxnSpPr>
        <p:spPr>
          <a:xfrm>
            <a:off x="4568975" y="613075"/>
            <a:ext cx="0" cy="413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b&quot;&gt;&lt;mi&gt;b&lt;/mi&gt;&lt;/math&gt;" id="2177" name="Google Shape;2177;p169" title="b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975" y="2477860"/>
            <a:ext cx="1524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bh}{2}&quot;&gt;&lt;mfrac&gt;&lt;mrow&gt;&lt;mi&gt;b&lt;/mi&gt;&lt;mi&gt;h&lt;/mi&gt;&lt;/mrow&gt;&lt;mn&gt;2&lt;/mn&gt;&lt;/mfrac&gt;&lt;/math&gt;" id="2178" name="Google Shape;2178;p169" title="b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000" y="3854345"/>
            <a:ext cx="295000" cy="550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9" name="Google Shape;2179;p169"/>
          <p:cNvCxnSpPr/>
          <p:nvPr/>
        </p:nvCxnSpPr>
        <p:spPr>
          <a:xfrm rot="10800000">
            <a:off x="342525" y="788400"/>
            <a:ext cx="7800" cy="158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0" name="Google Shape;2180;p169"/>
          <p:cNvCxnSpPr/>
          <p:nvPr/>
        </p:nvCxnSpPr>
        <p:spPr>
          <a:xfrm flipH="1" rot="10800000">
            <a:off x="461800" y="2436425"/>
            <a:ext cx="2953800" cy="1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h&quot;&gt;&lt;mi&gt;h&lt;/mi&gt;&lt;/math&gt;" id="2181" name="Google Shape;2181;p169" title="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425" y="1394500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9-06-2023/8187ee5d-d107-43c6-b517-98ad54594b42&quot; data-equatio-type=&quot;image&quot;&gt;&lt;mglyph src=&quot;https://equatio-api.texthelp.com/desmos/get/19-06-2023/8187ee5d-d107-43c6-b517-98ad54594b42&quot; alt=&quot;Equatio Image&quot;/&gt;&lt;/math&gt;" id="2182" name="Google Shape;2182;p169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700" y="748850"/>
            <a:ext cx="3946183" cy="164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3" name="Google Shape;2183;p169"/>
          <p:cNvGrpSpPr/>
          <p:nvPr/>
        </p:nvGrpSpPr>
        <p:grpSpPr>
          <a:xfrm>
            <a:off x="5676950" y="747875"/>
            <a:ext cx="3050220" cy="1967425"/>
            <a:chOff x="5676950" y="747875"/>
            <a:chExt cx="3050220" cy="1967425"/>
          </a:xfrm>
        </p:grpSpPr>
        <p:pic>
          <p:nvPicPr>
            <p:cNvPr descr="&lt;math xmlns=&quot;http://www.w3.org/1998/Math/MathML&quot; display=&quot;block&quot; data-is-equatio=&quot;1&quot; data-latex=&quot;b&quot;&gt;&lt;mi&gt;b&lt;/mi&gt;&lt;/math&gt;" id="2184" name="Google Shape;2184;p169" title="b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97525" y="2477175"/>
              <a:ext cx="152400" cy="238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85" name="Google Shape;2185;p169"/>
            <p:cNvCxnSpPr/>
            <p:nvPr/>
          </p:nvCxnSpPr>
          <p:spPr>
            <a:xfrm flipH="1" rot="10800000">
              <a:off x="5676950" y="2436550"/>
              <a:ext cx="3041400" cy="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86" name="Google Shape;2186;p169"/>
            <p:cNvCxnSpPr/>
            <p:nvPr/>
          </p:nvCxnSpPr>
          <p:spPr>
            <a:xfrm rot="10800000">
              <a:off x="6670075" y="788400"/>
              <a:ext cx="7800" cy="158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pic>
          <p:nvPicPr>
            <p:cNvPr descr="&lt;math xmlns=&quot;http://www.w3.org/1998/Math/MathML&quot; display=&quot;block&quot; data-is-equatio=&quot;1&quot; data-latex=&quot;h&quot;&gt;&lt;mi&gt;h&lt;/mi&gt;&lt;/math&gt;" id="2187" name="Google Shape;2187;p169" title="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10975" y="1394500"/>
              <a:ext cx="123825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ata-is-equatio=&quot;1&quot; data-equatio-url=&quot;https://equatio-api.texthelp.com/desmos/get/19-06-2023/4609a30a-8574-4d4d-b237-ad1400bfdce9&quot; data-equatio-type=&quot;image&quot;&gt;&lt;mglyph src=&quot;https://equatio-api.texthelp.com/desmos/get/19-06-2023/4609a30a-8574-4d4d-b237-ad1400bfdce9&quot; alt=&quot;Equatio Image&quot;/&gt;&lt;/math&gt;" id="2188" name="Google Shape;2188;p169" title="Equatio Image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676950" y="747875"/>
              <a:ext cx="3050220" cy="16489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170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Deriving the formula for the area of a triangle</a:t>
            </a:r>
            <a:endParaRPr/>
          </a:p>
        </p:txBody>
      </p:sp>
      <p:sp>
        <p:nvSpPr>
          <p:cNvPr id="2194" name="Google Shape;2194;p170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Any two identical triangles make a parallelogram.</a:t>
            </a:r>
            <a:endParaRPr/>
          </a:p>
        </p:txBody>
      </p:sp>
      <p:sp>
        <p:nvSpPr>
          <p:cNvPr id="2195" name="Google Shape;2195;p170"/>
          <p:cNvSpPr txBox="1"/>
          <p:nvPr>
            <p:ph idx="2" type="subTitle"/>
          </p:nvPr>
        </p:nvSpPr>
        <p:spPr>
          <a:xfrm>
            <a:off x="324000" y="1080000"/>
            <a:ext cx="84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a triangle is always half the area of a rhombus.</a:t>
            </a:r>
            <a:endParaRPr/>
          </a:p>
        </p:txBody>
      </p:sp>
      <p:pic>
        <p:nvPicPr>
          <p:cNvPr id="2196" name="Google Shape;2196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008" y="2094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71"/>
          <p:cNvSpPr txBox="1"/>
          <p:nvPr>
            <p:ph type="title"/>
          </p:nvPr>
        </p:nvSpPr>
        <p:spPr>
          <a:xfrm>
            <a:off x="1684800" y="119125"/>
            <a:ext cx="713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of a triangle</a:t>
            </a:r>
            <a:endParaRPr/>
          </a:p>
        </p:txBody>
      </p:sp>
      <p:sp>
        <p:nvSpPr>
          <p:cNvPr id="2202" name="Google Shape;2202;p171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area of any triangle is half the area of the parallelogram made from two copies of that same triangle.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72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08" name="Google Shape;2208;p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