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3"/>
  </p:sldMasterIdLst>
  <p:notesMasterIdLst>
    <p:notesMasterId r:id="rId4"/>
  </p:notesMasterIdLst>
  <p:sldIdLst>
    <p:sldId id="256" r:id="rId5"/>
    <p:sldId id="257" r:id="rId6"/>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4a89f37add_0_129: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4a89f37ad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55c40949ec_0_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55c40949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14" name="Google Shape;14;p2"/>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15" name="Google Shape;15;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 name="Google Shape;16;p2"/>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7" name="Google Shape;17;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23" name="Google Shape;23;p3"/>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24" name="Google Shape;24;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25" name="Google Shape;25;p3"/>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26" name="Google Shape;26;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50" name="Google Shape;50;p6"/>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51" name="Google Shape;51;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52" name="Google Shape;52;p6"/>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53" name="Google Shape;53;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4" name="Google Shape;54;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55" name="Google Shape;55;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56" name="Google Shape;56;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57" name="Google Shape;57;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63" name="Google Shape;63;p7"/>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64" name="Google Shape;64;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65" name="Google Shape;65;p7"/>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66" name="Google Shape;66;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7" name="Google Shape;67;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68" name="Google Shape;68;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69" name="Google Shape;69;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70" name="Google Shape;70;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76" name="Google Shape;76;p8"/>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77" name="Google Shape;77;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8" name="Google Shape;78;p8"/>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79" name="Google Shape;79;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03" name="Google Shape;103;p11"/>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04" name="Google Shape;104;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5" name="Google Shape;105;p11"/>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06" name="Google Shape;106;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7" name="Google Shape;107;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08" name="Google Shape;108;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09" name="Google Shape;109;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0" name="Google Shape;110;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111" name="Shape 111"/>
        <p:cNvGrpSpPr/>
        <p:nvPr/>
      </p:nvGrpSpPr>
      <p:grpSpPr>
        <a:xfrm>
          <a:off x="0" y="0"/>
          <a:ext cx="0" cy="0"/>
          <a:chOff x="0" y="0"/>
          <a:chExt cx="0" cy="0"/>
        </a:xfrm>
      </p:grpSpPr>
      <p:sp>
        <p:nvSpPr>
          <p:cNvPr id="112" name="Google Shape;112;p1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4" name="Google Shape;114;p1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15" name="Google Shape;115;p1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16" name="Google Shape;116;p12"/>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117" name="Google Shape;117;p12"/>
          <p:cNvSpPr txBox="1"/>
          <p:nvPr>
            <p:ph idx="12" type="sldNum"/>
          </p:nvPr>
        </p:nvSpPr>
        <p:spPr>
          <a:xfrm>
            <a:off x="7074506" y="9873706"/>
            <a:ext cx="453600" cy="8184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118" name="Shape 118"/>
        <p:cNvGrpSpPr/>
        <p:nvPr/>
      </p:nvGrpSpPr>
      <p:grpSpPr>
        <a:xfrm>
          <a:off x="0" y="0"/>
          <a:ext cx="0" cy="0"/>
          <a:chOff x="0" y="0"/>
          <a:chExt cx="0" cy="0"/>
        </a:xfrm>
      </p:grpSpPr>
      <p:sp>
        <p:nvSpPr>
          <p:cNvPr id="119" name="Google Shape;119;p13"/>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0" name="Google Shape;120;p13"/>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1" name="Google Shape;121;p13"/>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2" name="Google Shape;122;p13"/>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123" name="Google Shape;123;p13"/>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4" name="Google Shape;124;p13"/>
          <p:cNvSpPr txBox="1"/>
          <p:nvPr>
            <p:ph idx="12" type="sldNum"/>
          </p:nvPr>
        </p:nvSpPr>
        <p:spPr>
          <a:xfrm>
            <a:off x="7074506" y="9873706"/>
            <a:ext cx="453600" cy="8184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4"/>
          <p:cNvSpPr txBox="1"/>
          <p:nvPr/>
        </p:nvSpPr>
        <p:spPr>
          <a:xfrm>
            <a:off x="468000" y="1702200"/>
            <a:ext cx="6624000" cy="739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Lexend"/>
                <a:ea typeface="Lexend"/>
                <a:cs typeface="Lexend"/>
                <a:sym typeface="Lexend"/>
              </a:rPr>
              <a:t>Task A: Using one to find the other</a:t>
            </a:r>
            <a:endParaRPr b="1">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lang="en-GB" sz="1200">
                <a:solidFill>
                  <a:schemeClr val="dk1"/>
                </a:solidFill>
                <a:latin typeface="Lexend"/>
                <a:ea typeface="Lexend"/>
                <a:cs typeface="Lexend"/>
                <a:sym typeface="Lexend"/>
              </a:rPr>
              <a:t>1) Calculate</a:t>
            </a:r>
            <a:r>
              <a:rPr b="1" lang="en-GB" sz="1200">
                <a:solidFill>
                  <a:schemeClr val="dk1"/>
                </a:solidFill>
                <a:latin typeface="Lexend"/>
                <a:ea typeface="Lexend"/>
                <a:cs typeface="Lexend"/>
                <a:sym typeface="Lexend"/>
              </a:rPr>
              <a:t> </a:t>
            </a:r>
            <a:r>
              <a:rPr lang="en-GB" sz="1200">
                <a:solidFill>
                  <a:schemeClr val="dk1"/>
                </a:solidFill>
                <a:latin typeface="Lexend"/>
                <a:ea typeface="Lexend"/>
                <a:cs typeface="Lexend"/>
                <a:sym typeface="Lexend"/>
              </a:rPr>
              <a:t>the area.</a:t>
            </a:r>
            <a:endParaRPr b="1">
              <a:latin typeface="Lexend"/>
              <a:ea typeface="Lexend"/>
              <a:cs typeface="Lexend"/>
              <a:sym typeface="Lexend"/>
            </a:endParaRPr>
          </a:p>
        </p:txBody>
      </p:sp>
      <p:pic>
        <p:nvPicPr>
          <p:cNvPr descr="&lt;math xmlns=&quot;http://www.w3.org/1998/Math/MathML&quot; data-is-equatio=&quot;1&quot; data-equatio-url=&quot;https://equatio-api.texthelp.com/desmos/get/26-06-2023/456d8a80-b428-42c3-bf90-55ab4d4ff500&quot; data-equatio-type=&quot;image&quot;&gt;&lt;mglyph src=&quot;https://equatio-api.texthelp.com/desmos/get/26-06-2023/456d8a80-b428-42c3-bf90-55ab4d4ff500&quot; alt=&quot;Equatio Image&quot;/&gt;&lt;/math&gt;" id="130" name="Google Shape;130;p14" title="Equatio Image"/>
          <p:cNvPicPr preferRelativeResize="0"/>
          <p:nvPr/>
        </p:nvPicPr>
        <p:blipFill>
          <a:blip r:embed="rId3">
            <a:alphaModFix/>
          </a:blip>
          <a:stretch>
            <a:fillRect/>
          </a:stretch>
        </p:blipFill>
        <p:spPr>
          <a:xfrm>
            <a:off x="467950" y="2379097"/>
            <a:ext cx="2624307" cy="1116464"/>
          </a:xfrm>
          <a:prstGeom prst="rect">
            <a:avLst/>
          </a:prstGeom>
          <a:noFill/>
          <a:ln>
            <a:noFill/>
          </a:ln>
        </p:spPr>
      </p:pic>
      <p:cxnSp>
        <p:nvCxnSpPr>
          <p:cNvPr id="131" name="Google Shape;131;p14"/>
          <p:cNvCxnSpPr/>
          <p:nvPr/>
        </p:nvCxnSpPr>
        <p:spPr>
          <a:xfrm>
            <a:off x="1207384" y="2510433"/>
            <a:ext cx="0" cy="874500"/>
          </a:xfrm>
          <a:prstGeom prst="straightConnector1">
            <a:avLst/>
          </a:prstGeom>
          <a:noFill/>
          <a:ln cap="flat" cmpd="sng" w="19050">
            <a:solidFill>
              <a:srgbClr val="000000"/>
            </a:solidFill>
            <a:prstDash val="solid"/>
            <a:round/>
            <a:headEnd len="med" w="med" type="triangle"/>
            <a:tailEnd len="med" w="med" type="triangle"/>
          </a:ln>
        </p:spPr>
      </p:cxnSp>
      <p:sp>
        <p:nvSpPr>
          <p:cNvPr id="132" name="Google Shape;132;p14"/>
          <p:cNvSpPr txBox="1"/>
          <p:nvPr/>
        </p:nvSpPr>
        <p:spPr>
          <a:xfrm>
            <a:off x="1148321" y="2766578"/>
            <a:ext cx="687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Lexend"/>
                <a:ea typeface="Lexend"/>
                <a:cs typeface="Lexend"/>
                <a:sym typeface="Lexend"/>
              </a:rPr>
              <a:t>4 units</a:t>
            </a:r>
            <a:endParaRPr sz="1100">
              <a:latin typeface="Lexend"/>
              <a:ea typeface="Lexend"/>
              <a:cs typeface="Lexend"/>
              <a:sym typeface="Lexend"/>
            </a:endParaRPr>
          </a:p>
        </p:txBody>
      </p:sp>
      <p:sp>
        <p:nvSpPr>
          <p:cNvPr id="133" name="Google Shape;133;p14"/>
          <p:cNvSpPr txBox="1"/>
          <p:nvPr/>
        </p:nvSpPr>
        <p:spPr>
          <a:xfrm>
            <a:off x="2802694" y="2817152"/>
            <a:ext cx="68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6 units</a:t>
            </a:r>
            <a:endParaRPr sz="1100">
              <a:latin typeface="Lexend"/>
              <a:ea typeface="Lexend"/>
              <a:cs typeface="Lexend"/>
              <a:sym typeface="Lexend"/>
            </a:endParaRPr>
          </a:p>
        </p:txBody>
      </p:sp>
      <p:cxnSp>
        <p:nvCxnSpPr>
          <p:cNvPr id="134" name="Google Shape;134;p14"/>
          <p:cNvCxnSpPr/>
          <p:nvPr/>
        </p:nvCxnSpPr>
        <p:spPr>
          <a:xfrm flipH="1">
            <a:off x="2561426" y="2500078"/>
            <a:ext cx="599400" cy="896100"/>
          </a:xfrm>
          <a:prstGeom prst="straightConnector1">
            <a:avLst/>
          </a:prstGeom>
          <a:noFill/>
          <a:ln cap="flat" cmpd="sng" w="19050">
            <a:solidFill>
              <a:srgbClr val="000000"/>
            </a:solidFill>
            <a:prstDash val="solid"/>
            <a:round/>
            <a:headEnd len="med" w="med" type="triangle"/>
            <a:tailEnd len="med" w="med" type="triangle"/>
          </a:ln>
        </p:spPr>
      </p:cxnSp>
      <p:pic>
        <p:nvPicPr>
          <p:cNvPr descr="&lt;math xmlns=&quot;http://www.w3.org/1998/Math/MathML&quot; data-is-equatio=&quot;1&quot; data-equatio-url=&quot;https://equatio-api.texthelp.com/desmos/get/26-06-2023/dbfdda80-6afb-4022-8d23-35e72b7596d7&quot; data-equatio-type=&quot;image&quot;&gt;&lt;mglyph src=&quot;https://equatio-api.texthelp.com/desmos/get/26-06-2023/dbfdda80-6afb-4022-8d23-35e72b7596d7&quot; alt=&quot;Equatio Image&quot;/&gt;&lt;/math&gt;" id="135" name="Google Shape;135;p14" title="Equatio Image"/>
          <p:cNvPicPr preferRelativeResize="0"/>
          <p:nvPr/>
        </p:nvPicPr>
        <p:blipFill>
          <a:blip r:embed="rId4">
            <a:alphaModFix/>
          </a:blip>
          <a:stretch>
            <a:fillRect/>
          </a:stretch>
        </p:blipFill>
        <p:spPr>
          <a:xfrm>
            <a:off x="4140003" y="2379100"/>
            <a:ext cx="2663824" cy="814418"/>
          </a:xfrm>
          <a:prstGeom prst="rect">
            <a:avLst/>
          </a:prstGeom>
          <a:noFill/>
          <a:ln>
            <a:noFill/>
          </a:ln>
        </p:spPr>
      </p:pic>
      <p:sp>
        <p:nvSpPr>
          <p:cNvPr id="136" name="Google Shape;136;p14"/>
          <p:cNvSpPr txBox="1"/>
          <p:nvPr/>
        </p:nvSpPr>
        <p:spPr>
          <a:xfrm>
            <a:off x="3780000" y="2055025"/>
            <a:ext cx="3312000" cy="534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2</a:t>
            </a:r>
            <a:r>
              <a:rPr lang="en-GB" sz="1200">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Calculate</a:t>
            </a:r>
            <a:r>
              <a:rPr b="1" lang="en-GB" sz="1200">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the perimeter.</a:t>
            </a:r>
            <a:endParaRPr sz="1200">
              <a:solidFill>
                <a:srgbClr val="000000"/>
              </a:solidFill>
              <a:latin typeface="Lexend"/>
              <a:ea typeface="Lexend"/>
              <a:cs typeface="Lexend"/>
              <a:sym typeface="Lexend"/>
            </a:endParaRPr>
          </a:p>
        </p:txBody>
      </p:sp>
      <p:cxnSp>
        <p:nvCxnSpPr>
          <p:cNvPr id="137" name="Google Shape;137;p14"/>
          <p:cNvCxnSpPr/>
          <p:nvPr/>
        </p:nvCxnSpPr>
        <p:spPr>
          <a:xfrm>
            <a:off x="6306944" y="2379978"/>
            <a:ext cx="617700" cy="812700"/>
          </a:xfrm>
          <a:prstGeom prst="straightConnector1">
            <a:avLst/>
          </a:prstGeom>
          <a:noFill/>
          <a:ln cap="flat" cmpd="sng" w="19050">
            <a:solidFill>
              <a:srgbClr val="000000"/>
            </a:solidFill>
            <a:prstDash val="solid"/>
            <a:round/>
            <a:headEnd len="med" w="med" type="triangle"/>
            <a:tailEnd len="med" w="med" type="triangle"/>
          </a:ln>
        </p:spPr>
      </p:cxnSp>
      <p:sp>
        <p:nvSpPr>
          <p:cNvPr id="138" name="Google Shape;138;p14"/>
          <p:cNvSpPr txBox="1"/>
          <p:nvPr/>
        </p:nvSpPr>
        <p:spPr>
          <a:xfrm>
            <a:off x="6535577" y="2565200"/>
            <a:ext cx="683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Lexend"/>
                <a:ea typeface="Lexend"/>
                <a:cs typeface="Lexend"/>
                <a:sym typeface="Lexend"/>
              </a:rPr>
              <a:t>5 units</a:t>
            </a:r>
            <a:endParaRPr sz="1100">
              <a:latin typeface="Lexend"/>
              <a:ea typeface="Lexend"/>
              <a:cs typeface="Lexend"/>
              <a:sym typeface="Lexend"/>
            </a:endParaRPr>
          </a:p>
        </p:txBody>
      </p:sp>
      <p:sp>
        <p:nvSpPr>
          <p:cNvPr id="139" name="Google Shape;139;p14"/>
          <p:cNvSpPr txBox="1"/>
          <p:nvPr/>
        </p:nvSpPr>
        <p:spPr>
          <a:xfrm>
            <a:off x="5022524" y="2565200"/>
            <a:ext cx="68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6 units</a:t>
            </a:r>
            <a:endParaRPr sz="1100">
              <a:latin typeface="Lexend"/>
              <a:ea typeface="Lexend"/>
              <a:cs typeface="Lexend"/>
              <a:sym typeface="Lexend"/>
            </a:endParaRPr>
          </a:p>
        </p:txBody>
      </p:sp>
      <p:cxnSp>
        <p:nvCxnSpPr>
          <p:cNvPr id="140" name="Google Shape;140;p14"/>
          <p:cNvCxnSpPr/>
          <p:nvPr/>
        </p:nvCxnSpPr>
        <p:spPr>
          <a:xfrm>
            <a:off x="5054642" y="2379978"/>
            <a:ext cx="0" cy="785100"/>
          </a:xfrm>
          <a:prstGeom prst="straightConnector1">
            <a:avLst/>
          </a:prstGeom>
          <a:noFill/>
          <a:ln cap="flat" cmpd="sng" w="19050">
            <a:solidFill>
              <a:srgbClr val="000000"/>
            </a:solidFill>
            <a:prstDash val="solid"/>
            <a:round/>
            <a:headEnd len="med" w="med" type="triangle"/>
            <a:tailEnd len="med" w="med" type="triangle"/>
          </a:ln>
        </p:spPr>
      </p:cxnSp>
      <p:cxnSp>
        <p:nvCxnSpPr>
          <p:cNvPr id="141" name="Google Shape;141;p14"/>
          <p:cNvCxnSpPr/>
          <p:nvPr/>
        </p:nvCxnSpPr>
        <p:spPr>
          <a:xfrm>
            <a:off x="4139995" y="3249209"/>
            <a:ext cx="2652000" cy="0"/>
          </a:xfrm>
          <a:prstGeom prst="straightConnector1">
            <a:avLst/>
          </a:prstGeom>
          <a:noFill/>
          <a:ln cap="flat" cmpd="sng" w="19050">
            <a:solidFill>
              <a:srgbClr val="000000"/>
            </a:solidFill>
            <a:prstDash val="solid"/>
            <a:round/>
            <a:headEnd len="med" w="med" type="triangle"/>
            <a:tailEnd len="med" w="med" type="triangle"/>
          </a:ln>
        </p:spPr>
      </p:cxnSp>
      <p:sp>
        <p:nvSpPr>
          <p:cNvPr id="142" name="Google Shape;142;p14"/>
          <p:cNvSpPr txBox="1"/>
          <p:nvPr/>
        </p:nvSpPr>
        <p:spPr>
          <a:xfrm>
            <a:off x="5087295" y="3216075"/>
            <a:ext cx="12198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13 units</a:t>
            </a:r>
            <a:endParaRPr sz="1100">
              <a:latin typeface="Lexend"/>
              <a:ea typeface="Lexend"/>
              <a:cs typeface="Lexend"/>
              <a:sym typeface="Lexend"/>
            </a:endParaRPr>
          </a:p>
        </p:txBody>
      </p:sp>
      <p:sp>
        <p:nvSpPr>
          <p:cNvPr id="143" name="Google Shape;143;p14"/>
          <p:cNvSpPr txBox="1"/>
          <p:nvPr/>
        </p:nvSpPr>
        <p:spPr>
          <a:xfrm>
            <a:off x="468000" y="3569700"/>
            <a:ext cx="318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The perimeter of this shape is 31 units. </a:t>
            </a:r>
            <a:endParaRPr>
              <a:latin typeface="Lexend"/>
              <a:ea typeface="Lexend"/>
              <a:cs typeface="Lexend"/>
              <a:sym typeface="Lexend"/>
            </a:endParaRPr>
          </a:p>
        </p:txBody>
      </p:sp>
      <p:sp>
        <p:nvSpPr>
          <p:cNvPr id="144" name="Google Shape;144;p14"/>
          <p:cNvSpPr txBox="1"/>
          <p:nvPr/>
        </p:nvSpPr>
        <p:spPr>
          <a:xfrm>
            <a:off x="4140000" y="3592625"/>
            <a:ext cx="2952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200">
                <a:solidFill>
                  <a:schemeClr val="dk1"/>
                </a:solidFill>
                <a:latin typeface="Lexend"/>
                <a:ea typeface="Lexend"/>
                <a:cs typeface="Lexend"/>
                <a:sym typeface="Lexend"/>
              </a:rPr>
              <a:t>The area of this shape is 63 units</a:t>
            </a:r>
            <a:r>
              <a:rPr baseline="30000" lang="en-GB" sz="1200">
                <a:solidFill>
                  <a:schemeClr val="dk1"/>
                </a:solidFill>
                <a:latin typeface="Lexend"/>
                <a:ea typeface="Lexend"/>
                <a:cs typeface="Lexend"/>
                <a:sym typeface="Lexend"/>
              </a:rPr>
              <a:t>2</a:t>
            </a:r>
            <a:r>
              <a:rPr lang="en-GB" sz="1200">
                <a:solidFill>
                  <a:schemeClr val="dk1"/>
                </a:solidFill>
                <a:latin typeface="Lexend"/>
                <a:ea typeface="Lexend"/>
                <a:cs typeface="Lexend"/>
                <a:sym typeface="Lexend"/>
              </a:rPr>
              <a:t>. </a:t>
            </a:r>
            <a:endParaRPr>
              <a:latin typeface="Lexend"/>
              <a:ea typeface="Lexend"/>
              <a:cs typeface="Lexend"/>
              <a:sym typeface="Lexend"/>
            </a:endParaRPr>
          </a:p>
        </p:txBody>
      </p:sp>
      <p:sp>
        <p:nvSpPr>
          <p:cNvPr id="145" name="Google Shape;145;p14"/>
          <p:cNvSpPr txBox="1"/>
          <p:nvPr/>
        </p:nvSpPr>
        <p:spPr>
          <a:xfrm>
            <a:off x="467950" y="4013150"/>
            <a:ext cx="29520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Perimeter = 6 + 6 + 2 </a:t>
            </a:r>
            <a:r>
              <a:rPr lang="en-GB" sz="1100">
                <a:solidFill>
                  <a:srgbClr val="000000"/>
                </a:solidFill>
                <a:latin typeface="Kalam"/>
                <a:ea typeface="Kalam"/>
                <a:cs typeface="Kalam"/>
                <a:sym typeface="Kalam"/>
              </a:rPr>
              <a:t>×</a:t>
            </a:r>
            <a:r>
              <a:rPr lang="en-GB" sz="1100">
                <a:latin typeface="Kalam"/>
                <a:ea typeface="Kalam"/>
                <a:cs typeface="Kalam"/>
                <a:sym typeface="Kalam"/>
              </a:rPr>
              <a:t> base</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31 = 12 + 2 </a:t>
            </a:r>
            <a:r>
              <a:rPr lang="en-GB" sz="1100">
                <a:solidFill>
                  <a:srgbClr val="000000"/>
                </a:solidFill>
                <a:latin typeface="Kalam"/>
                <a:ea typeface="Kalam"/>
                <a:cs typeface="Kalam"/>
                <a:sym typeface="Kalam"/>
              </a:rPr>
              <a:t>×</a:t>
            </a:r>
            <a:r>
              <a:rPr lang="en-GB" sz="1100">
                <a:latin typeface="Kalam"/>
                <a:ea typeface="Kalam"/>
                <a:cs typeface="Kalam"/>
                <a:sym typeface="Kalam"/>
              </a:rPr>
              <a:t> base</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19 = 2 </a:t>
            </a:r>
            <a:r>
              <a:rPr lang="en-GB" sz="1100">
                <a:solidFill>
                  <a:srgbClr val="000000"/>
                </a:solidFill>
                <a:latin typeface="Kalam"/>
                <a:ea typeface="Kalam"/>
                <a:cs typeface="Kalam"/>
                <a:sym typeface="Kalam"/>
              </a:rPr>
              <a:t>×</a:t>
            </a:r>
            <a:r>
              <a:rPr lang="en-GB" sz="1100">
                <a:latin typeface="Kalam"/>
                <a:ea typeface="Kalam"/>
                <a:cs typeface="Kalam"/>
                <a:sym typeface="Kalam"/>
              </a:rPr>
              <a:t> base</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9.5 = base</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Area = base </a:t>
            </a:r>
            <a:r>
              <a:rPr lang="en-GB" sz="1100">
                <a:solidFill>
                  <a:srgbClr val="000000"/>
                </a:solidFill>
                <a:latin typeface="Kalam"/>
                <a:ea typeface="Kalam"/>
                <a:cs typeface="Kalam"/>
                <a:sym typeface="Kalam"/>
              </a:rPr>
              <a:t>×</a:t>
            </a:r>
            <a:r>
              <a:rPr lang="en-GB" sz="1100">
                <a:latin typeface="Kalam"/>
                <a:ea typeface="Kalam"/>
                <a:cs typeface="Kalam"/>
                <a:sym typeface="Kalam"/>
              </a:rPr>
              <a:t> perpendicular height</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Area = 9.5 </a:t>
            </a:r>
            <a:r>
              <a:rPr lang="en-GB" sz="1100">
                <a:solidFill>
                  <a:srgbClr val="000000"/>
                </a:solidFill>
                <a:latin typeface="Kalam"/>
                <a:ea typeface="Kalam"/>
                <a:cs typeface="Kalam"/>
                <a:sym typeface="Kalam"/>
              </a:rPr>
              <a:t>×</a:t>
            </a:r>
            <a:r>
              <a:rPr lang="en-GB" sz="1100">
                <a:latin typeface="Kalam"/>
                <a:ea typeface="Kalam"/>
                <a:cs typeface="Kalam"/>
                <a:sym typeface="Kalam"/>
              </a:rPr>
              <a:t> 4</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Area = 38 units</a:t>
            </a:r>
            <a:r>
              <a:rPr baseline="30000" lang="en-GB" sz="1100">
                <a:latin typeface="Kalam"/>
                <a:ea typeface="Kalam"/>
                <a:cs typeface="Kalam"/>
                <a:sym typeface="Kalam"/>
              </a:rPr>
              <a:t>2</a:t>
            </a:r>
            <a:r>
              <a:rPr lang="en-GB" sz="1100">
                <a:latin typeface="Kalam"/>
                <a:ea typeface="Kalam"/>
                <a:cs typeface="Kalam"/>
                <a:sym typeface="Kalam"/>
              </a:rPr>
              <a:t> </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p:txBody>
      </p:sp>
      <p:sp>
        <p:nvSpPr>
          <p:cNvPr id="146" name="Google Shape;146;p14"/>
          <p:cNvSpPr txBox="1"/>
          <p:nvPr/>
        </p:nvSpPr>
        <p:spPr>
          <a:xfrm>
            <a:off x="4125552" y="4013150"/>
            <a:ext cx="2952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Area = ½ </a:t>
            </a:r>
            <a:r>
              <a:rPr lang="en-GB" sz="1100">
                <a:solidFill>
                  <a:srgbClr val="000000"/>
                </a:solidFill>
                <a:latin typeface="Kalam"/>
                <a:ea typeface="Kalam"/>
                <a:cs typeface="Kalam"/>
                <a:sym typeface="Kalam"/>
              </a:rPr>
              <a:t>×</a:t>
            </a:r>
            <a:r>
              <a:rPr lang="en-GB" sz="1100">
                <a:latin typeface="Kalam"/>
                <a:ea typeface="Kalam"/>
                <a:cs typeface="Kalam"/>
                <a:sym typeface="Kalam"/>
              </a:rPr>
              <a:t> (a + b) </a:t>
            </a:r>
            <a:r>
              <a:rPr lang="en-GB" sz="1100">
                <a:solidFill>
                  <a:srgbClr val="000000"/>
                </a:solidFill>
                <a:latin typeface="Kalam"/>
                <a:ea typeface="Kalam"/>
                <a:cs typeface="Kalam"/>
                <a:sym typeface="Kalam"/>
              </a:rPr>
              <a:t>×</a:t>
            </a:r>
            <a:r>
              <a:rPr lang="en-GB" sz="1100">
                <a:latin typeface="Kalam"/>
                <a:ea typeface="Kalam"/>
                <a:cs typeface="Kalam"/>
                <a:sym typeface="Kalam"/>
              </a:rPr>
              <a:t> h</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63 = ½ </a:t>
            </a:r>
            <a:r>
              <a:rPr lang="en-GB" sz="1100">
                <a:solidFill>
                  <a:srgbClr val="000000"/>
                </a:solidFill>
                <a:latin typeface="Kalam"/>
                <a:ea typeface="Kalam"/>
                <a:cs typeface="Kalam"/>
                <a:sym typeface="Kalam"/>
              </a:rPr>
              <a:t>×</a:t>
            </a:r>
            <a:r>
              <a:rPr lang="en-GB" sz="1100">
                <a:latin typeface="Kalam"/>
                <a:ea typeface="Kalam"/>
                <a:cs typeface="Kalam"/>
                <a:sym typeface="Kalam"/>
              </a:rPr>
              <a:t> (a + 13) </a:t>
            </a:r>
            <a:r>
              <a:rPr lang="en-GB" sz="1100">
                <a:solidFill>
                  <a:srgbClr val="000000"/>
                </a:solidFill>
                <a:latin typeface="Kalam"/>
                <a:ea typeface="Kalam"/>
                <a:cs typeface="Kalam"/>
                <a:sym typeface="Kalam"/>
              </a:rPr>
              <a:t>×</a:t>
            </a:r>
            <a:r>
              <a:rPr lang="en-GB" sz="1100">
                <a:latin typeface="Kalam"/>
                <a:ea typeface="Kalam"/>
                <a:cs typeface="Kalam"/>
                <a:sym typeface="Kalam"/>
              </a:rPr>
              <a:t> 6</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63 = 3 </a:t>
            </a:r>
            <a:r>
              <a:rPr lang="en-GB" sz="1100">
                <a:solidFill>
                  <a:srgbClr val="000000"/>
                </a:solidFill>
                <a:latin typeface="Kalam"/>
                <a:ea typeface="Kalam"/>
                <a:cs typeface="Kalam"/>
                <a:sym typeface="Kalam"/>
              </a:rPr>
              <a:t>×</a:t>
            </a:r>
            <a:r>
              <a:rPr lang="en-GB" sz="1100">
                <a:latin typeface="Kalam"/>
                <a:ea typeface="Kalam"/>
                <a:cs typeface="Kalam"/>
                <a:sym typeface="Kalam"/>
              </a:rPr>
              <a:t> (a + 13)</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21 = a + 13</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   8 = a</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Perimeter = 8 + 13 + 2 </a:t>
            </a:r>
            <a:r>
              <a:rPr lang="en-GB" sz="1100">
                <a:solidFill>
                  <a:srgbClr val="000000"/>
                </a:solidFill>
                <a:latin typeface="Kalam"/>
                <a:ea typeface="Kalam"/>
                <a:cs typeface="Kalam"/>
                <a:sym typeface="Kalam"/>
              </a:rPr>
              <a:t>×</a:t>
            </a:r>
            <a:r>
              <a:rPr lang="en-GB" sz="1100">
                <a:latin typeface="Kalam"/>
                <a:ea typeface="Kalam"/>
                <a:cs typeface="Kalam"/>
                <a:sym typeface="Kalam"/>
              </a:rPr>
              <a:t> 5</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Perimeter = 31 units </a:t>
            </a:r>
            <a:endParaRPr sz="1100">
              <a:latin typeface="Kalam"/>
              <a:ea typeface="Kalam"/>
              <a:cs typeface="Kalam"/>
              <a:sym typeface="Kalam"/>
            </a:endParaRPr>
          </a:p>
        </p:txBody>
      </p:sp>
      <p:cxnSp>
        <p:nvCxnSpPr>
          <p:cNvPr id="147" name="Google Shape;147;p14"/>
          <p:cNvCxnSpPr/>
          <p:nvPr/>
        </p:nvCxnSpPr>
        <p:spPr>
          <a:xfrm>
            <a:off x="474750" y="5950250"/>
            <a:ext cx="6610500" cy="0"/>
          </a:xfrm>
          <a:prstGeom prst="straightConnector1">
            <a:avLst/>
          </a:prstGeom>
          <a:noFill/>
          <a:ln cap="flat" cmpd="sng" w="38100">
            <a:solidFill>
              <a:srgbClr val="000000"/>
            </a:solidFill>
            <a:prstDash val="solid"/>
            <a:round/>
            <a:headEnd len="med" w="med" type="none"/>
            <a:tailEnd len="med" w="med" type="none"/>
          </a:ln>
        </p:spPr>
      </p:cxnSp>
      <p:pic>
        <p:nvPicPr>
          <p:cNvPr descr="&lt;math xmlns=&quot;http://www.w3.org/1998/Math/MathML&quot; data-is-equatio=&quot;1&quot; data-equatio-url=&quot;https://equatio-api.texthelp.com/desmos/get/26-06-2023/456d8a80-b428-42c3-bf90-55ab4d4ff500&quot; data-equatio-type=&quot;image&quot;&gt;&lt;mglyph src=&quot;https://equatio-api.texthelp.com/desmos/get/26-06-2023/456d8a80-b428-42c3-bf90-55ab4d4ff500&quot; alt=&quot;Equatio Image&quot;/&gt;&lt;/math&gt;" id="148" name="Google Shape;148;p14" title="Equatio Image"/>
          <p:cNvPicPr preferRelativeResize="0"/>
          <p:nvPr/>
        </p:nvPicPr>
        <p:blipFill>
          <a:blip r:embed="rId3">
            <a:alphaModFix/>
          </a:blip>
          <a:stretch>
            <a:fillRect/>
          </a:stretch>
        </p:blipFill>
        <p:spPr>
          <a:xfrm flipH="1" rot="-5400000">
            <a:off x="439622" y="7457628"/>
            <a:ext cx="1823782" cy="959977"/>
          </a:xfrm>
          <a:prstGeom prst="rect">
            <a:avLst/>
          </a:prstGeom>
          <a:noFill/>
          <a:ln>
            <a:noFill/>
          </a:ln>
        </p:spPr>
      </p:pic>
      <p:sp>
        <p:nvSpPr>
          <p:cNvPr id="149" name="Google Shape;149;p14"/>
          <p:cNvSpPr txBox="1"/>
          <p:nvPr/>
        </p:nvSpPr>
        <p:spPr>
          <a:xfrm>
            <a:off x="474750" y="6176800"/>
            <a:ext cx="6610500" cy="87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GB">
                <a:solidFill>
                  <a:schemeClr val="dk1"/>
                </a:solidFill>
                <a:latin typeface="Lexend"/>
                <a:ea typeface="Lexend"/>
                <a:cs typeface="Lexend"/>
                <a:sym typeface="Lexend"/>
              </a:rPr>
              <a:t>Task B: Perimeter and area in context</a:t>
            </a:r>
            <a:endParaRPr b="1">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chemeClr val="dk1"/>
                </a:solidFill>
                <a:latin typeface="Lexend"/>
                <a:ea typeface="Lexend"/>
                <a:cs typeface="Lexend"/>
                <a:sym typeface="Lexend"/>
              </a:rPr>
              <a:t>1) Alex’s garden is an unusual shape. He wants to put a fence around it. What is the total length of fencing he needs to buy?</a:t>
            </a:r>
            <a:endParaRPr b="1">
              <a:latin typeface="Lexend"/>
              <a:ea typeface="Lexend"/>
              <a:cs typeface="Lexend"/>
              <a:sym typeface="Lexend"/>
            </a:endParaRPr>
          </a:p>
        </p:txBody>
      </p:sp>
      <p:cxnSp>
        <p:nvCxnSpPr>
          <p:cNvPr id="150" name="Google Shape;150;p14"/>
          <p:cNvCxnSpPr/>
          <p:nvPr/>
        </p:nvCxnSpPr>
        <p:spPr>
          <a:xfrm>
            <a:off x="993650" y="7635333"/>
            <a:ext cx="720900" cy="0"/>
          </a:xfrm>
          <a:prstGeom prst="straightConnector1">
            <a:avLst/>
          </a:prstGeom>
          <a:noFill/>
          <a:ln cap="flat" cmpd="sng" w="19050">
            <a:solidFill>
              <a:srgbClr val="000000"/>
            </a:solidFill>
            <a:prstDash val="solid"/>
            <a:round/>
            <a:headEnd len="med" w="med" type="triangle"/>
            <a:tailEnd len="med" w="med" type="triangle"/>
          </a:ln>
        </p:spPr>
      </p:cxnSp>
      <p:sp>
        <p:nvSpPr>
          <p:cNvPr id="151" name="Google Shape;151;p14"/>
          <p:cNvSpPr txBox="1"/>
          <p:nvPr/>
        </p:nvSpPr>
        <p:spPr>
          <a:xfrm>
            <a:off x="1023728" y="7378593"/>
            <a:ext cx="6606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4 m</a:t>
            </a:r>
            <a:endParaRPr sz="1100">
              <a:latin typeface="Lexend"/>
              <a:ea typeface="Lexend"/>
              <a:cs typeface="Lexend"/>
              <a:sym typeface="Lexend"/>
            </a:endParaRPr>
          </a:p>
        </p:txBody>
      </p:sp>
      <p:sp>
        <p:nvSpPr>
          <p:cNvPr id="152" name="Google Shape;152;p14"/>
          <p:cNvSpPr txBox="1"/>
          <p:nvPr/>
        </p:nvSpPr>
        <p:spPr>
          <a:xfrm>
            <a:off x="1065327" y="8664061"/>
            <a:ext cx="6606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7 m</a:t>
            </a:r>
            <a:endParaRPr sz="1100">
              <a:latin typeface="Lexend"/>
              <a:ea typeface="Lexend"/>
              <a:cs typeface="Lexend"/>
              <a:sym typeface="Lexend"/>
            </a:endParaRPr>
          </a:p>
        </p:txBody>
      </p:sp>
      <p:cxnSp>
        <p:nvCxnSpPr>
          <p:cNvPr id="153" name="Google Shape;153;p14"/>
          <p:cNvCxnSpPr/>
          <p:nvPr/>
        </p:nvCxnSpPr>
        <p:spPr>
          <a:xfrm flipH="1">
            <a:off x="950530" y="8489138"/>
            <a:ext cx="780000" cy="441000"/>
          </a:xfrm>
          <a:prstGeom prst="straightConnector1">
            <a:avLst/>
          </a:prstGeom>
          <a:noFill/>
          <a:ln cap="flat" cmpd="sng" w="19050">
            <a:solidFill>
              <a:srgbClr val="000000"/>
            </a:solidFill>
            <a:prstDash val="solid"/>
            <a:round/>
            <a:headEnd len="med" w="med" type="triangle"/>
            <a:tailEnd len="med" w="med" type="triangle"/>
          </a:ln>
        </p:spPr>
      </p:cxnSp>
      <p:cxnSp>
        <p:nvCxnSpPr>
          <p:cNvPr id="154" name="Google Shape;154;p14"/>
          <p:cNvCxnSpPr/>
          <p:nvPr/>
        </p:nvCxnSpPr>
        <p:spPr>
          <a:xfrm>
            <a:off x="1860407" y="7025725"/>
            <a:ext cx="0" cy="1383900"/>
          </a:xfrm>
          <a:prstGeom prst="straightConnector1">
            <a:avLst/>
          </a:prstGeom>
          <a:noFill/>
          <a:ln cap="flat" cmpd="sng" w="19050">
            <a:solidFill>
              <a:srgbClr val="000000"/>
            </a:solidFill>
            <a:prstDash val="solid"/>
            <a:round/>
            <a:headEnd len="med" w="med" type="triangle"/>
            <a:tailEnd len="med" w="med" type="triangle"/>
          </a:ln>
        </p:spPr>
      </p:cxnSp>
      <p:sp>
        <p:nvSpPr>
          <p:cNvPr id="155" name="Google Shape;155;p14"/>
          <p:cNvSpPr txBox="1"/>
          <p:nvPr/>
        </p:nvSpPr>
        <p:spPr>
          <a:xfrm>
            <a:off x="1751347" y="7553480"/>
            <a:ext cx="6606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10 m</a:t>
            </a:r>
            <a:endParaRPr sz="1100">
              <a:latin typeface="Lexend"/>
              <a:ea typeface="Lexend"/>
              <a:cs typeface="Lexend"/>
              <a:sym typeface="Lexend"/>
            </a:endParaRPr>
          </a:p>
        </p:txBody>
      </p:sp>
      <p:sp>
        <p:nvSpPr>
          <p:cNvPr id="156" name="Google Shape;156;p14"/>
          <p:cNvSpPr txBox="1"/>
          <p:nvPr/>
        </p:nvSpPr>
        <p:spPr>
          <a:xfrm>
            <a:off x="4140000" y="7125450"/>
            <a:ext cx="29520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Perimeter is needed here - Alex talks about </a:t>
            </a:r>
            <a:r>
              <a:rPr lang="en-GB" sz="1100">
                <a:latin typeface="Kalam"/>
                <a:ea typeface="Kalam"/>
                <a:cs typeface="Kalam"/>
                <a:sym typeface="Kalam"/>
              </a:rPr>
              <a:t>length</a:t>
            </a:r>
            <a:r>
              <a:rPr lang="en-GB" sz="1100">
                <a:latin typeface="Kalam"/>
                <a:ea typeface="Kalam"/>
                <a:cs typeface="Kalam"/>
                <a:sym typeface="Kalam"/>
              </a:rPr>
              <a:t> and the context is fencing which goes </a:t>
            </a:r>
            <a:r>
              <a:rPr lang="en-GB" sz="1100">
                <a:latin typeface="Kalam"/>
                <a:ea typeface="Kalam"/>
                <a:cs typeface="Kalam"/>
                <a:sym typeface="Kalam"/>
              </a:rPr>
              <a:t>around</a:t>
            </a:r>
            <a:r>
              <a:rPr lang="en-GB" sz="1100">
                <a:latin typeface="Kalam"/>
                <a:ea typeface="Kalam"/>
                <a:cs typeface="Kalam"/>
                <a:sym typeface="Kalam"/>
              </a:rPr>
              <a:t> the garden.</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Total length of fencing = 2 </a:t>
            </a:r>
            <a:r>
              <a:rPr lang="en-GB" sz="1100">
                <a:solidFill>
                  <a:srgbClr val="000000"/>
                </a:solidFill>
                <a:latin typeface="Kalam"/>
                <a:ea typeface="Kalam"/>
                <a:cs typeface="Kalam"/>
                <a:sym typeface="Kalam"/>
              </a:rPr>
              <a:t>×</a:t>
            </a:r>
            <a:r>
              <a:rPr lang="en-GB" sz="1100">
                <a:latin typeface="Kalam"/>
                <a:ea typeface="Kalam"/>
                <a:cs typeface="Kalam"/>
                <a:sym typeface="Kalam"/>
              </a:rPr>
              <a:t> 10 + 2 </a:t>
            </a:r>
            <a:r>
              <a:rPr lang="en-GB" sz="1100">
                <a:solidFill>
                  <a:srgbClr val="000000"/>
                </a:solidFill>
                <a:latin typeface="Kalam"/>
                <a:ea typeface="Kalam"/>
                <a:cs typeface="Kalam"/>
                <a:sym typeface="Kalam"/>
              </a:rPr>
              <a:t>× 7</a:t>
            </a:r>
            <a:endParaRPr sz="1100">
              <a:solidFill>
                <a:srgbClr val="000000"/>
              </a:solidFill>
              <a:latin typeface="Kalam"/>
              <a:ea typeface="Kalam"/>
              <a:cs typeface="Kalam"/>
              <a:sym typeface="Kalam"/>
            </a:endParaRPr>
          </a:p>
          <a:p>
            <a:pPr indent="0" lvl="0" marL="0" rtl="0" algn="l">
              <a:spcBef>
                <a:spcPts val="0"/>
              </a:spcBef>
              <a:spcAft>
                <a:spcPts val="0"/>
              </a:spcAft>
              <a:buNone/>
            </a:pPr>
            <a:r>
              <a:t/>
            </a:r>
            <a:endParaRPr sz="1100">
              <a:solidFill>
                <a:srgbClr val="000000"/>
              </a:solidFill>
              <a:latin typeface="Kalam"/>
              <a:ea typeface="Kalam"/>
              <a:cs typeface="Kalam"/>
              <a:sym typeface="Kalam"/>
            </a:endParaRPr>
          </a:p>
          <a:p>
            <a:pPr indent="0" lvl="0" marL="0" rtl="0" algn="l">
              <a:spcBef>
                <a:spcPts val="0"/>
              </a:spcBef>
              <a:spcAft>
                <a:spcPts val="0"/>
              </a:spcAft>
              <a:buNone/>
            </a:pPr>
            <a:r>
              <a:rPr lang="en-GB" sz="1100">
                <a:solidFill>
                  <a:srgbClr val="000000"/>
                </a:solidFill>
                <a:latin typeface="Kalam"/>
                <a:ea typeface="Kalam"/>
                <a:cs typeface="Kalam"/>
                <a:sym typeface="Kalam"/>
              </a:rPr>
              <a:t>Total length of fencing = 34 m</a:t>
            </a:r>
            <a:endParaRPr sz="1100">
              <a:solidFill>
                <a:srgbClr val="000000"/>
              </a:solidFill>
              <a:latin typeface="Kalam"/>
              <a:ea typeface="Kalam"/>
              <a:cs typeface="Kalam"/>
              <a:sym typeface="Kalam"/>
            </a:endParaRPr>
          </a:p>
        </p:txBody>
      </p:sp>
      <p:sp>
        <p:nvSpPr>
          <p:cNvPr id="157" name="Google Shape;157;p14"/>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Problem solving with perimeter and area</a:t>
            </a:r>
            <a:endParaRPr/>
          </a:p>
        </p:txBody>
      </p:sp>
      <p:sp>
        <p:nvSpPr>
          <p:cNvPr id="158" name="Google Shape;158;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lt;math xmlns=&quot;http://www.w3.org/1998/Math/MathML&quot; data-is-equatio=&quot;1&quot; data-equatio-url=&quot;https://equatio-api.texthelp.com/desmos/get/26-06-2023/dbfdda80-6afb-4022-8d23-35e72b7596d7&quot; data-equatio-type=&quot;image&quot;&gt;&lt;mglyph src=&quot;https://equatio-api.texthelp.com/desmos/get/26-06-2023/dbfdda80-6afb-4022-8d23-35e72b7596d7&quot; alt=&quot;Equatio Image&quot;/&gt;&lt;/math&gt;" id="163" name="Google Shape;163;p15" title="Equatio Image"/>
          <p:cNvPicPr preferRelativeResize="0"/>
          <p:nvPr/>
        </p:nvPicPr>
        <p:blipFill>
          <a:blip r:embed="rId3">
            <a:alphaModFix/>
          </a:blip>
          <a:stretch>
            <a:fillRect/>
          </a:stretch>
        </p:blipFill>
        <p:spPr>
          <a:xfrm>
            <a:off x="564733" y="1905224"/>
            <a:ext cx="2371446" cy="725024"/>
          </a:xfrm>
          <a:prstGeom prst="rect">
            <a:avLst/>
          </a:prstGeom>
          <a:noFill/>
          <a:ln>
            <a:noFill/>
          </a:ln>
        </p:spPr>
      </p:pic>
      <p:sp>
        <p:nvSpPr>
          <p:cNvPr id="164" name="Google Shape;164;p15"/>
          <p:cNvSpPr txBox="1"/>
          <p:nvPr/>
        </p:nvSpPr>
        <p:spPr>
          <a:xfrm>
            <a:off x="462850" y="916625"/>
            <a:ext cx="3312000" cy="588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200">
                <a:solidFill>
                  <a:schemeClr val="dk1"/>
                </a:solidFill>
                <a:latin typeface="Lexend"/>
                <a:ea typeface="Lexend"/>
                <a:cs typeface="Lexend"/>
                <a:sym typeface="Lexend"/>
              </a:rPr>
              <a:t>2) a) Jun is a painter. They want to create a mural. How much space will the mural take up?</a:t>
            </a:r>
            <a:endParaRPr sz="1200">
              <a:solidFill>
                <a:srgbClr val="000000"/>
              </a:solidFill>
              <a:latin typeface="Lexend"/>
              <a:ea typeface="Lexend"/>
              <a:cs typeface="Lexend"/>
              <a:sym typeface="Lexend"/>
            </a:endParaRPr>
          </a:p>
        </p:txBody>
      </p:sp>
      <p:cxnSp>
        <p:nvCxnSpPr>
          <p:cNvPr id="165" name="Google Shape;165;p15"/>
          <p:cNvCxnSpPr/>
          <p:nvPr/>
        </p:nvCxnSpPr>
        <p:spPr>
          <a:xfrm>
            <a:off x="2493835" y="1906005"/>
            <a:ext cx="549600" cy="723600"/>
          </a:xfrm>
          <a:prstGeom prst="straightConnector1">
            <a:avLst/>
          </a:prstGeom>
          <a:noFill/>
          <a:ln cap="flat" cmpd="sng" w="19050">
            <a:solidFill>
              <a:srgbClr val="000000"/>
            </a:solidFill>
            <a:prstDash val="solid"/>
            <a:round/>
            <a:headEnd len="med" w="med" type="triangle"/>
            <a:tailEnd len="med" w="med" type="triangle"/>
          </a:ln>
        </p:spPr>
      </p:cxnSp>
      <p:sp>
        <p:nvSpPr>
          <p:cNvPr id="166" name="Google Shape;166;p15"/>
          <p:cNvSpPr txBox="1"/>
          <p:nvPr/>
        </p:nvSpPr>
        <p:spPr>
          <a:xfrm>
            <a:off x="2697370" y="2070906"/>
            <a:ext cx="648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Lexend"/>
                <a:ea typeface="Lexend"/>
                <a:cs typeface="Lexend"/>
                <a:sym typeface="Lexend"/>
              </a:rPr>
              <a:t>38 cm</a:t>
            </a:r>
            <a:endParaRPr sz="1100">
              <a:latin typeface="Lexend"/>
              <a:ea typeface="Lexend"/>
              <a:cs typeface="Lexend"/>
              <a:sym typeface="Lexend"/>
            </a:endParaRPr>
          </a:p>
        </p:txBody>
      </p:sp>
      <p:sp>
        <p:nvSpPr>
          <p:cNvPr id="167" name="Google Shape;167;p15"/>
          <p:cNvSpPr txBox="1"/>
          <p:nvPr/>
        </p:nvSpPr>
        <p:spPr>
          <a:xfrm>
            <a:off x="1321847" y="2070900"/>
            <a:ext cx="683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21 cm</a:t>
            </a:r>
            <a:endParaRPr sz="1100">
              <a:latin typeface="Lexend"/>
              <a:ea typeface="Lexend"/>
              <a:cs typeface="Lexend"/>
              <a:sym typeface="Lexend"/>
            </a:endParaRPr>
          </a:p>
        </p:txBody>
      </p:sp>
      <p:cxnSp>
        <p:nvCxnSpPr>
          <p:cNvPr id="168" name="Google Shape;168;p15"/>
          <p:cNvCxnSpPr/>
          <p:nvPr/>
        </p:nvCxnSpPr>
        <p:spPr>
          <a:xfrm>
            <a:off x="1408044" y="1906012"/>
            <a:ext cx="0" cy="714600"/>
          </a:xfrm>
          <a:prstGeom prst="straightConnector1">
            <a:avLst/>
          </a:prstGeom>
          <a:noFill/>
          <a:ln cap="flat" cmpd="sng" w="19050">
            <a:solidFill>
              <a:srgbClr val="000000"/>
            </a:solidFill>
            <a:prstDash val="solid"/>
            <a:round/>
            <a:headEnd len="med" w="med" type="triangle"/>
            <a:tailEnd len="med" w="med" type="triangle"/>
          </a:ln>
        </p:spPr>
      </p:cxnSp>
      <p:cxnSp>
        <p:nvCxnSpPr>
          <p:cNvPr id="169" name="Google Shape;169;p15"/>
          <p:cNvCxnSpPr/>
          <p:nvPr/>
        </p:nvCxnSpPr>
        <p:spPr>
          <a:xfrm>
            <a:off x="564726" y="2679825"/>
            <a:ext cx="2360400" cy="0"/>
          </a:xfrm>
          <a:prstGeom prst="straightConnector1">
            <a:avLst/>
          </a:prstGeom>
          <a:noFill/>
          <a:ln cap="flat" cmpd="sng" w="19050">
            <a:solidFill>
              <a:srgbClr val="000000"/>
            </a:solidFill>
            <a:prstDash val="solid"/>
            <a:round/>
            <a:headEnd len="med" w="med" type="triangle"/>
            <a:tailEnd len="med" w="med" type="triangle"/>
          </a:ln>
        </p:spPr>
      </p:cxnSp>
      <p:sp>
        <p:nvSpPr>
          <p:cNvPr id="170" name="Google Shape;170;p15"/>
          <p:cNvSpPr txBox="1"/>
          <p:nvPr/>
        </p:nvSpPr>
        <p:spPr>
          <a:xfrm>
            <a:off x="1408063" y="2650321"/>
            <a:ext cx="6087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50 cm</a:t>
            </a:r>
            <a:endParaRPr sz="1100">
              <a:latin typeface="Lexend"/>
              <a:ea typeface="Lexend"/>
              <a:cs typeface="Lexend"/>
              <a:sym typeface="Lexend"/>
            </a:endParaRPr>
          </a:p>
        </p:txBody>
      </p:sp>
      <p:cxnSp>
        <p:nvCxnSpPr>
          <p:cNvPr id="171" name="Google Shape;171;p15"/>
          <p:cNvCxnSpPr/>
          <p:nvPr/>
        </p:nvCxnSpPr>
        <p:spPr>
          <a:xfrm>
            <a:off x="1111543" y="1861129"/>
            <a:ext cx="1263900" cy="0"/>
          </a:xfrm>
          <a:prstGeom prst="straightConnector1">
            <a:avLst/>
          </a:prstGeom>
          <a:noFill/>
          <a:ln cap="flat" cmpd="sng" w="19050">
            <a:solidFill>
              <a:srgbClr val="000000"/>
            </a:solidFill>
            <a:prstDash val="solid"/>
            <a:round/>
            <a:headEnd len="med" w="med" type="triangle"/>
            <a:tailEnd len="med" w="med" type="triangle"/>
          </a:ln>
        </p:spPr>
      </p:cxnSp>
      <p:sp>
        <p:nvSpPr>
          <p:cNvPr id="172" name="Google Shape;172;p15"/>
          <p:cNvSpPr txBox="1"/>
          <p:nvPr/>
        </p:nvSpPr>
        <p:spPr>
          <a:xfrm>
            <a:off x="1406802" y="1610913"/>
            <a:ext cx="687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26 cm</a:t>
            </a:r>
            <a:endParaRPr sz="1100">
              <a:latin typeface="Lexend"/>
              <a:ea typeface="Lexend"/>
              <a:cs typeface="Lexend"/>
              <a:sym typeface="Lexend"/>
            </a:endParaRPr>
          </a:p>
        </p:txBody>
      </p:sp>
      <p:sp>
        <p:nvSpPr>
          <p:cNvPr id="173" name="Google Shape;173;p15"/>
          <p:cNvSpPr txBox="1"/>
          <p:nvPr/>
        </p:nvSpPr>
        <p:spPr>
          <a:xfrm>
            <a:off x="4011050" y="817200"/>
            <a:ext cx="30861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Clr>
                <a:schemeClr val="dk1"/>
              </a:buClr>
              <a:buSzPts val="1100"/>
              <a:buFont typeface="Arial"/>
              <a:buNone/>
            </a:pPr>
            <a:r>
              <a:rPr lang="en-GB" sz="1200">
                <a:solidFill>
                  <a:schemeClr val="dk1"/>
                </a:solidFill>
                <a:latin typeface="Lexend"/>
                <a:ea typeface="Lexend"/>
                <a:cs typeface="Lexend"/>
                <a:sym typeface="Lexend"/>
              </a:rPr>
              <a:t>b) The rectangular wall Jun plans to paint on measures 21 cm by 38 cm.   </a:t>
            </a:r>
            <a:br>
              <a:rPr lang="en-GB" sz="1200">
                <a:solidFill>
                  <a:schemeClr val="dk1"/>
                </a:solidFill>
                <a:latin typeface="Lexend"/>
                <a:ea typeface="Lexend"/>
                <a:cs typeface="Lexend"/>
                <a:sym typeface="Lexend"/>
              </a:rPr>
            </a:br>
            <a:r>
              <a:rPr lang="en-GB" sz="1200">
                <a:solidFill>
                  <a:schemeClr val="dk1"/>
                </a:solidFill>
                <a:latin typeface="Lexend"/>
                <a:ea typeface="Lexend"/>
                <a:cs typeface="Lexend"/>
                <a:sym typeface="Lexend"/>
              </a:rPr>
              <a:t>Will the mural fit on the wall? </a:t>
            </a:r>
            <a:br>
              <a:rPr lang="en-GB" sz="1200">
                <a:solidFill>
                  <a:schemeClr val="dk1"/>
                </a:solidFill>
                <a:latin typeface="Lexend"/>
                <a:ea typeface="Lexend"/>
                <a:cs typeface="Lexend"/>
                <a:sym typeface="Lexend"/>
              </a:rPr>
            </a:br>
            <a:r>
              <a:rPr lang="en-GB" sz="1200">
                <a:solidFill>
                  <a:schemeClr val="dk1"/>
                </a:solidFill>
                <a:latin typeface="Lexend"/>
                <a:ea typeface="Lexend"/>
                <a:cs typeface="Lexend"/>
                <a:sym typeface="Lexend"/>
              </a:rPr>
              <a:t>Justify your answer.</a:t>
            </a:r>
            <a:endParaRPr sz="1200">
              <a:latin typeface="Lexend"/>
              <a:ea typeface="Lexend"/>
              <a:cs typeface="Lexend"/>
              <a:sym typeface="Lexend"/>
            </a:endParaRPr>
          </a:p>
        </p:txBody>
      </p:sp>
      <p:sp>
        <p:nvSpPr>
          <p:cNvPr id="174" name="Google Shape;174;p15"/>
          <p:cNvSpPr txBox="1"/>
          <p:nvPr/>
        </p:nvSpPr>
        <p:spPr>
          <a:xfrm>
            <a:off x="468000" y="3030550"/>
            <a:ext cx="2952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Area is needed here - we want to know how much </a:t>
            </a:r>
            <a:r>
              <a:rPr lang="en-GB" sz="1100">
                <a:latin typeface="Kalam"/>
                <a:ea typeface="Kalam"/>
                <a:cs typeface="Kalam"/>
                <a:sym typeface="Kalam"/>
              </a:rPr>
              <a:t>space</a:t>
            </a:r>
            <a:r>
              <a:rPr lang="en-GB" sz="1100">
                <a:latin typeface="Kalam"/>
                <a:ea typeface="Kalam"/>
                <a:cs typeface="Kalam"/>
                <a:sym typeface="Kalam"/>
              </a:rPr>
              <a:t> is being covered.</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Area = ½ </a:t>
            </a:r>
            <a:r>
              <a:rPr lang="en-GB" sz="1100">
                <a:solidFill>
                  <a:srgbClr val="000000"/>
                </a:solidFill>
                <a:latin typeface="Kalam"/>
                <a:ea typeface="Kalam"/>
                <a:cs typeface="Kalam"/>
                <a:sym typeface="Kalam"/>
              </a:rPr>
              <a:t>× (26 + 50) × 21</a:t>
            </a:r>
            <a:endParaRPr sz="1100">
              <a:solidFill>
                <a:srgbClr val="000000"/>
              </a:solidFill>
              <a:latin typeface="Kalam"/>
              <a:ea typeface="Kalam"/>
              <a:cs typeface="Kalam"/>
              <a:sym typeface="Kalam"/>
            </a:endParaRPr>
          </a:p>
          <a:p>
            <a:pPr indent="0" lvl="0" marL="0" rtl="0" algn="l">
              <a:spcBef>
                <a:spcPts val="0"/>
              </a:spcBef>
              <a:spcAft>
                <a:spcPts val="0"/>
              </a:spcAft>
              <a:buNone/>
            </a:pPr>
            <a:r>
              <a:t/>
            </a:r>
            <a:endParaRPr sz="1100">
              <a:solidFill>
                <a:srgbClr val="000000"/>
              </a:solidFill>
              <a:latin typeface="Kalam"/>
              <a:ea typeface="Kalam"/>
              <a:cs typeface="Kalam"/>
              <a:sym typeface="Kalam"/>
            </a:endParaRPr>
          </a:p>
          <a:p>
            <a:pPr indent="0" lvl="0" marL="0" rtl="0" algn="l">
              <a:spcBef>
                <a:spcPts val="0"/>
              </a:spcBef>
              <a:spcAft>
                <a:spcPts val="0"/>
              </a:spcAft>
              <a:buNone/>
            </a:pPr>
            <a:r>
              <a:rPr lang="en-GB" sz="1100">
                <a:solidFill>
                  <a:srgbClr val="000000"/>
                </a:solidFill>
                <a:latin typeface="Kalam"/>
                <a:ea typeface="Kalam"/>
                <a:cs typeface="Kalam"/>
                <a:sym typeface="Kalam"/>
              </a:rPr>
              <a:t>Area = 798 cm</a:t>
            </a:r>
            <a:r>
              <a:rPr baseline="30000" lang="en-GB" sz="1100">
                <a:solidFill>
                  <a:srgbClr val="000000"/>
                </a:solidFill>
                <a:latin typeface="Kalam"/>
                <a:ea typeface="Kalam"/>
                <a:cs typeface="Kalam"/>
                <a:sym typeface="Kalam"/>
              </a:rPr>
              <a:t>2</a:t>
            </a:r>
            <a:endParaRPr baseline="30000" sz="1100">
              <a:solidFill>
                <a:srgbClr val="000000"/>
              </a:solidFill>
              <a:latin typeface="Kalam"/>
              <a:ea typeface="Kalam"/>
              <a:cs typeface="Kalam"/>
              <a:sym typeface="Kalam"/>
            </a:endParaRPr>
          </a:p>
        </p:txBody>
      </p:sp>
      <p:sp>
        <p:nvSpPr>
          <p:cNvPr id="175" name="Google Shape;175;p15"/>
          <p:cNvSpPr txBox="1"/>
          <p:nvPr/>
        </p:nvSpPr>
        <p:spPr>
          <a:xfrm>
            <a:off x="4129200" y="1964925"/>
            <a:ext cx="2952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If we calculate the area of the wall, we see it is 21 </a:t>
            </a:r>
            <a:r>
              <a:rPr lang="en-GB" sz="1100">
                <a:solidFill>
                  <a:srgbClr val="000000"/>
                </a:solidFill>
                <a:latin typeface="Kalam"/>
                <a:ea typeface="Kalam"/>
                <a:cs typeface="Kalam"/>
                <a:sym typeface="Kalam"/>
              </a:rPr>
              <a:t>× 38 =</a:t>
            </a:r>
            <a:r>
              <a:rPr lang="en-GB" sz="1100">
                <a:latin typeface="Kalam"/>
                <a:ea typeface="Kalam"/>
                <a:cs typeface="Kalam"/>
                <a:sym typeface="Kalam"/>
              </a:rPr>
              <a:t> 798 cm</a:t>
            </a:r>
            <a:r>
              <a:rPr baseline="30000" lang="en-GB" sz="1100">
                <a:latin typeface="Kalam"/>
                <a:ea typeface="Kalam"/>
                <a:cs typeface="Kalam"/>
                <a:sym typeface="Kalam"/>
              </a:rPr>
              <a:t>2</a:t>
            </a:r>
            <a:r>
              <a:rPr lang="en-GB" sz="1100">
                <a:latin typeface="Kalam"/>
                <a:ea typeface="Kalam"/>
                <a:cs typeface="Kalam"/>
                <a:sym typeface="Kalam"/>
              </a:rPr>
              <a:t>. This is the same area as the mural, so we </a:t>
            </a:r>
            <a:r>
              <a:rPr lang="en-GB" sz="1100">
                <a:latin typeface="Kalam"/>
                <a:ea typeface="Kalam"/>
                <a:cs typeface="Kalam"/>
                <a:sym typeface="Kalam"/>
              </a:rPr>
              <a:t>might</a:t>
            </a:r>
            <a:r>
              <a:rPr lang="en-GB" sz="1100">
                <a:latin typeface="Kalam"/>
                <a:ea typeface="Kalam"/>
                <a:cs typeface="Kalam"/>
                <a:sym typeface="Kalam"/>
              </a:rPr>
              <a:t> think it will fit.</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However, the wall measures 21 cm by 38 cm. The longest measurement of the mural is 50 cm. If we draw this out on paper, we can see that the mural is simply too big. </a:t>
            </a:r>
            <a:endParaRPr sz="1100">
              <a:latin typeface="Kalam"/>
              <a:ea typeface="Kalam"/>
              <a:cs typeface="Kalam"/>
              <a:sym typeface="Kalam"/>
            </a:endParaRPr>
          </a:p>
        </p:txBody>
      </p:sp>
      <p:cxnSp>
        <p:nvCxnSpPr>
          <p:cNvPr id="176" name="Google Shape;176;p15"/>
          <p:cNvCxnSpPr/>
          <p:nvPr/>
        </p:nvCxnSpPr>
        <p:spPr>
          <a:xfrm>
            <a:off x="474750" y="4307350"/>
            <a:ext cx="6610500" cy="0"/>
          </a:xfrm>
          <a:prstGeom prst="straightConnector1">
            <a:avLst/>
          </a:prstGeom>
          <a:noFill/>
          <a:ln cap="flat" cmpd="sng" w="38100">
            <a:solidFill>
              <a:srgbClr val="000000"/>
            </a:solidFill>
            <a:prstDash val="solid"/>
            <a:round/>
            <a:headEnd len="med" w="med" type="none"/>
            <a:tailEnd len="med" w="med" type="none"/>
          </a:ln>
        </p:spPr>
      </p:cxnSp>
      <p:sp>
        <p:nvSpPr>
          <p:cNvPr id="177" name="Google Shape;177;p15"/>
          <p:cNvSpPr txBox="1"/>
          <p:nvPr/>
        </p:nvSpPr>
        <p:spPr>
          <a:xfrm>
            <a:off x="474750" y="4529325"/>
            <a:ext cx="6097800" cy="167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a:solidFill>
                  <a:schemeClr val="dk1"/>
                </a:solidFill>
                <a:latin typeface="Lexend"/>
                <a:ea typeface="Lexend"/>
                <a:cs typeface="Lexend"/>
                <a:sym typeface="Lexend"/>
              </a:rPr>
              <a:t>Task C: Units of measurement</a:t>
            </a:r>
            <a:endParaRPr b="1">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GB" sz="1200">
                <a:solidFill>
                  <a:schemeClr val="dk1"/>
                </a:solidFill>
                <a:latin typeface="Lexend"/>
                <a:ea typeface="Lexend"/>
                <a:cs typeface="Lexend"/>
                <a:sym typeface="Lexend"/>
              </a:rPr>
              <a:t>1) Andeep’s sister wants to tile a wall in her bathroom. The wall is rectangular and measures 3 m by 4.5 m. </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GB" sz="1200">
                <a:solidFill>
                  <a:schemeClr val="dk1"/>
                </a:solidFill>
                <a:latin typeface="Lexend"/>
                <a:ea typeface="Lexend"/>
                <a:cs typeface="Lexend"/>
                <a:sym typeface="Lexend"/>
              </a:rPr>
              <a:t>Each tile is a square which measures 50 cm by 50 cm.</a:t>
            </a:r>
            <a:endParaRPr sz="1200">
              <a:solidFill>
                <a:schemeClr val="dk1"/>
              </a:solidFill>
              <a:latin typeface="Lexend"/>
              <a:ea typeface="Lexend"/>
              <a:cs typeface="Lexend"/>
              <a:sym typeface="Lexend"/>
            </a:endParaRPr>
          </a:p>
          <a:p>
            <a:pPr indent="0" lvl="0" marL="0" rtl="0" algn="l">
              <a:lnSpc>
                <a:spcPct val="115000"/>
              </a:lnSpc>
              <a:spcBef>
                <a:spcPts val="1000"/>
              </a:spcBef>
              <a:spcAft>
                <a:spcPts val="1000"/>
              </a:spcAft>
              <a:buClr>
                <a:schemeClr val="dk1"/>
              </a:buClr>
              <a:buSzPts val="1100"/>
              <a:buFont typeface="Arial"/>
              <a:buNone/>
            </a:pPr>
            <a:r>
              <a:rPr lang="en-GB" sz="1200">
                <a:solidFill>
                  <a:schemeClr val="dk1"/>
                </a:solidFill>
                <a:latin typeface="Lexend"/>
                <a:ea typeface="Lexend"/>
                <a:cs typeface="Lexend"/>
                <a:sym typeface="Lexend"/>
              </a:rPr>
              <a:t>How many tiles will she need to use to cover the wall?</a:t>
            </a:r>
            <a:endParaRPr b="1">
              <a:latin typeface="Lexend"/>
              <a:ea typeface="Lexend"/>
              <a:cs typeface="Lexend"/>
              <a:sym typeface="Lexend"/>
            </a:endParaRPr>
          </a:p>
        </p:txBody>
      </p:sp>
      <p:sp>
        <p:nvSpPr>
          <p:cNvPr id="178" name="Google Shape;178;p15"/>
          <p:cNvSpPr txBox="1"/>
          <p:nvPr/>
        </p:nvSpPr>
        <p:spPr>
          <a:xfrm>
            <a:off x="460200" y="6200150"/>
            <a:ext cx="3669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E.g.</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One tile has an area of 50 × 50 = 2500 cm</a:t>
            </a:r>
            <a:r>
              <a:rPr baseline="30000" lang="en-GB" sz="1100">
                <a:latin typeface="Kalam"/>
                <a:ea typeface="Kalam"/>
                <a:cs typeface="Kalam"/>
                <a:sym typeface="Kalam"/>
              </a:rPr>
              <a:t>2</a:t>
            </a:r>
            <a:r>
              <a:rPr lang="en-GB" sz="1100">
                <a:latin typeface="Kalam"/>
                <a:ea typeface="Kalam"/>
                <a:cs typeface="Kalam"/>
                <a:sym typeface="Kalam"/>
              </a:rPr>
              <a:t>.</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The wall has an area of 300 </a:t>
            </a:r>
            <a:r>
              <a:rPr lang="en-GB" sz="1100">
                <a:solidFill>
                  <a:srgbClr val="000000"/>
                </a:solidFill>
                <a:latin typeface="Kalam"/>
                <a:ea typeface="Kalam"/>
                <a:cs typeface="Kalam"/>
                <a:sym typeface="Kalam"/>
              </a:rPr>
              <a:t>× 450 = 135000 cm</a:t>
            </a:r>
            <a:r>
              <a:rPr baseline="30000" lang="en-GB" sz="1100">
                <a:solidFill>
                  <a:srgbClr val="000000"/>
                </a:solidFill>
                <a:latin typeface="Kalam"/>
                <a:ea typeface="Kalam"/>
                <a:cs typeface="Kalam"/>
                <a:sym typeface="Kalam"/>
              </a:rPr>
              <a:t>2</a:t>
            </a:r>
            <a:r>
              <a:rPr lang="en-GB" sz="1100">
                <a:solidFill>
                  <a:srgbClr val="000000"/>
                </a:solidFill>
                <a:latin typeface="Kalam"/>
                <a:ea typeface="Kalam"/>
                <a:cs typeface="Kalam"/>
                <a:sym typeface="Kalam"/>
              </a:rPr>
              <a:t>. </a:t>
            </a:r>
            <a:endParaRPr sz="1100">
              <a:solidFill>
                <a:srgbClr val="000000"/>
              </a:solidFill>
              <a:latin typeface="Kalam"/>
              <a:ea typeface="Kalam"/>
              <a:cs typeface="Kalam"/>
              <a:sym typeface="Kalam"/>
            </a:endParaRPr>
          </a:p>
          <a:p>
            <a:pPr indent="0" lvl="0" marL="0" rtl="0" algn="l">
              <a:spcBef>
                <a:spcPts val="0"/>
              </a:spcBef>
              <a:spcAft>
                <a:spcPts val="0"/>
              </a:spcAft>
              <a:buNone/>
            </a:pPr>
            <a:r>
              <a:t/>
            </a:r>
            <a:endParaRPr sz="1100">
              <a:solidFill>
                <a:srgbClr val="000000"/>
              </a:solidFill>
              <a:latin typeface="Kalam"/>
              <a:ea typeface="Kalam"/>
              <a:cs typeface="Kalam"/>
              <a:sym typeface="Kalam"/>
            </a:endParaRPr>
          </a:p>
          <a:p>
            <a:pPr indent="0" lvl="0" marL="0" rtl="0" algn="l">
              <a:spcBef>
                <a:spcPts val="0"/>
              </a:spcBef>
              <a:spcAft>
                <a:spcPts val="0"/>
              </a:spcAft>
              <a:buNone/>
            </a:pPr>
            <a:r>
              <a:rPr lang="en-GB" sz="1100">
                <a:solidFill>
                  <a:srgbClr val="000000"/>
                </a:solidFill>
                <a:latin typeface="Kalam"/>
                <a:ea typeface="Kalam"/>
                <a:cs typeface="Kalam"/>
                <a:sym typeface="Kalam"/>
              </a:rPr>
              <a:t>Therefore 135000 ÷ 2500 = 54 tiles will be needed.</a:t>
            </a:r>
            <a:endParaRPr sz="1100">
              <a:solidFill>
                <a:srgbClr val="000000"/>
              </a:solidFill>
              <a:latin typeface="Kalam"/>
              <a:ea typeface="Kalam"/>
              <a:cs typeface="Kalam"/>
              <a:sym typeface="Kalam"/>
            </a:endParaRPr>
          </a:p>
        </p:txBody>
      </p:sp>
      <p:sp>
        <p:nvSpPr>
          <p:cNvPr id="179" name="Google Shape;179;p15"/>
          <p:cNvSpPr txBox="1"/>
          <p:nvPr/>
        </p:nvSpPr>
        <p:spPr>
          <a:xfrm>
            <a:off x="474750" y="7579825"/>
            <a:ext cx="24141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Checking the answer:</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p:txBody>
      </p:sp>
      <p:grpSp>
        <p:nvGrpSpPr>
          <p:cNvPr id="180" name="Google Shape;180;p15"/>
          <p:cNvGrpSpPr/>
          <p:nvPr/>
        </p:nvGrpSpPr>
        <p:grpSpPr>
          <a:xfrm>
            <a:off x="474737" y="7823636"/>
            <a:ext cx="2642617" cy="1677800"/>
            <a:chOff x="324000" y="2569358"/>
            <a:chExt cx="3510850" cy="2229042"/>
          </a:xfrm>
        </p:grpSpPr>
        <p:pic>
          <p:nvPicPr>
            <p:cNvPr descr="&lt;math xmlns=&quot;http://www.w3.org/1998/Math/MathML&quot; data-is-equatio=&quot;1&quot; data-equatio-url=&quot;https://equatio-api.texthelp.com/desmos/get/26-06-2023/b57a3466-33a4-411e-88e1-7288eff456d7&quot; data-equatio-type=&quot;image&quot;&gt;&lt;mglyph src=&quot;https://equatio-api.texthelp.com/desmos/get/26-06-2023/b57a3466-33a4-411e-88e1-7288eff456d7&quot; alt=&quot;Equatio Image&quot;/&gt;&lt;/math&gt;" id="181" name="Google Shape;181;p15" title="Equatio Image"/>
            <p:cNvPicPr preferRelativeResize="0"/>
            <p:nvPr/>
          </p:nvPicPr>
          <p:blipFill>
            <a:blip r:embed="rId4">
              <a:alphaModFix/>
            </a:blip>
            <a:stretch>
              <a:fillRect/>
            </a:stretch>
          </p:blipFill>
          <p:spPr>
            <a:xfrm>
              <a:off x="323999" y="2987125"/>
              <a:ext cx="2734800" cy="1811275"/>
            </a:xfrm>
            <a:prstGeom prst="rect">
              <a:avLst/>
            </a:prstGeom>
            <a:noFill/>
            <a:ln>
              <a:noFill/>
            </a:ln>
          </p:spPr>
        </p:pic>
        <p:cxnSp>
          <p:nvCxnSpPr>
            <p:cNvPr id="182" name="Google Shape;182;p15"/>
            <p:cNvCxnSpPr/>
            <p:nvPr/>
          </p:nvCxnSpPr>
          <p:spPr>
            <a:xfrm>
              <a:off x="347950" y="2927250"/>
              <a:ext cx="2700300" cy="0"/>
            </a:xfrm>
            <a:prstGeom prst="straightConnector1">
              <a:avLst/>
            </a:prstGeom>
            <a:noFill/>
            <a:ln cap="flat" cmpd="sng" w="19050">
              <a:solidFill>
                <a:srgbClr val="000000"/>
              </a:solidFill>
              <a:prstDash val="solid"/>
              <a:round/>
              <a:headEnd len="med" w="med" type="triangle"/>
              <a:tailEnd len="med" w="med" type="triangle"/>
            </a:ln>
          </p:spPr>
        </p:cxnSp>
        <p:cxnSp>
          <p:nvCxnSpPr>
            <p:cNvPr id="183" name="Google Shape;183;p15"/>
            <p:cNvCxnSpPr/>
            <p:nvPr/>
          </p:nvCxnSpPr>
          <p:spPr>
            <a:xfrm>
              <a:off x="3155300" y="2987125"/>
              <a:ext cx="0" cy="1808400"/>
            </a:xfrm>
            <a:prstGeom prst="straightConnector1">
              <a:avLst/>
            </a:prstGeom>
            <a:noFill/>
            <a:ln cap="flat" cmpd="sng" w="19050">
              <a:solidFill>
                <a:srgbClr val="000000"/>
              </a:solidFill>
              <a:prstDash val="solid"/>
              <a:round/>
              <a:headEnd len="med" w="med" type="triangle"/>
              <a:tailEnd len="med" w="med" type="triangle"/>
            </a:ln>
          </p:spPr>
        </p:cxnSp>
        <p:sp>
          <p:nvSpPr>
            <p:cNvPr id="184" name="Google Shape;184;p15"/>
            <p:cNvSpPr txBox="1"/>
            <p:nvPr/>
          </p:nvSpPr>
          <p:spPr>
            <a:xfrm>
              <a:off x="1204500" y="2569358"/>
              <a:ext cx="960600" cy="47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4.5 m</a:t>
              </a:r>
              <a:endParaRPr sz="1100">
                <a:latin typeface="Lexend"/>
                <a:ea typeface="Lexend"/>
                <a:cs typeface="Lexend"/>
                <a:sym typeface="Lexend"/>
              </a:endParaRPr>
            </a:p>
          </p:txBody>
        </p:sp>
        <p:sp>
          <p:nvSpPr>
            <p:cNvPr id="185" name="Google Shape;185;p15"/>
            <p:cNvSpPr txBox="1"/>
            <p:nvPr/>
          </p:nvSpPr>
          <p:spPr>
            <a:xfrm>
              <a:off x="3048250" y="3660475"/>
              <a:ext cx="786600" cy="47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100">
                  <a:latin typeface="Lexend"/>
                  <a:ea typeface="Lexend"/>
                  <a:cs typeface="Lexend"/>
                  <a:sym typeface="Lexend"/>
                </a:rPr>
                <a:t>3 m</a:t>
              </a:r>
              <a:endParaRPr sz="1100">
                <a:latin typeface="Lexend"/>
                <a:ea typeface="Lexend"/>
                <a:cs typeface="Lexend"/>
                <a:sym typeface="Lexend"/>
              </a:endParaRPr>
            </a:p>
          </p:txBody>
        </p:sp>
      </p:grpSp>
      <p:sp>
        <p:nvSpPr>
          <p:cNvPr id="186" name="Google Shape;186;p15"/>
          <p:cNvSpPr txBox="1"/>
          <p:nvPr/>
        </p:nvSpPr>
        <p:spPr>
          <a:xfrm>
            <a:off x="3236750" y="8159250"/>
            <a:ext cx="46347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latin typeface="Kalam"/>
                <a:ea typeface="Kalam"/>
                <a:cs typeface="Kalam"/>
                <a:sym typeface="Kalam"/>
              </a:rPr>
              <a:t>Each tile is 0.5 m by 0.5 m.</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9 tiles fit along the 4.5 m side.</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6 tiles fit along the 6 m side.</a:t>
            </a:r>
            <a:endParaRPr sz="1100">
              <a:latin typeface="Kalam"/>
              <a:ea typeface="Kalam"/>
              <a:cs typeface="Kalam"/>
              <a:sym typeface="Kalam"/>
            </a:endParaRPr>
          </a:p>
          <a:p>
            <a:pPr indent="0" lvl="0" marL="0" rtl="0" algn="l">
              <a:spcBef>
                <a:spcPts val="0"/>
              </a:spcBef>
              <a:spcAft>
                <a:spcPts val="0"/>
              </a:spcAft>
              <a:buNone/>
            </a:pPr>
            <a:r>
              <a:t/>
            </a:r>
            <a:endParaRPr sz="1100">
              <a:latin typeface="Kalam"/>
              <a:ea typeface="Kalam"/>
              <a:cs typeface="Kalam"/>
              <a:sym typeface="Kalam"/>
            </a:endParaRPr>
          </a:p>
          <a:p>
            <a:pPr indent="0" lvl="0" marL="0" rtl="0" algn="l">
              <a:spcBef>
                <a:spcPts val="0"/>
              </a:spcBef>
              <a:spcAft>
                <a:spcPts val="0"/>
              </a:spcAft>
              <a:buNone/>
            </a:pPr>
            <a:r>
              <a:rPr lang="en-GB" sz="1100">
                <a:latin typeface="Kalam"/>
                <a:ea typeface="Kalam"/>
                <a:cs typeface="Kalam"/>
                <a:sym typeface="Kalam"/>
              </a:rPr>
              <a:t>9 </a:t>
            </a:r>
            <a:r>
              <a:rPr lang="en-GB" sz="1100">
                <a:solidFill>
                  <a:srgbClr val="000000"/>
                </a:solidFill>
                <a:latin typeface="Kalam"/>
                <a:ea typeface="Kalam"/>
                <a:cs typeface="Kalam"/>
                <a:sym typeface="Kalam"/>
              </a:rPr>
              <a:t>× 6 = 54 tiles</a:t>
            </a:r>
            <a:endParaRPr sz="1100">
              <a:latin typeface="Kalam"/>
              <a:ea typeface="Kalam"/>
              <a:cs typeface="Kalam"/>
              <a:sym typeface="Kalam"/>
            </a:endParaRPr>
          </a:p>
        </p:txBody>
      </p:sp>
      <p:sp>
        <p:nvSpPr>
          <p:cNvPr id="187" name="Google Shape;187;p15"/>
          <p:cNvSpPr txBox="1"/>
          <p:nvPr/>
        </p:nvSpPr>
        <p:spPr>
          <a:xfrm>
            <a:off x="3895575" y="101244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88" name="Google Shape;188;p15"/>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Problem solving with perimeter and area</a:t>
            </a:r>
            <a:endParaRPr/>
          </a:p>
        </p:txBody>
      </p:sp>
      <p:sp>
        <p:nvSpPr>
          <p:cNvPr id="189" name="Google Shape;189;p1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 </a:t>
            </a:r>
            <a:endParaRPr/>
          </a:p>
        </p:txBody>
      </p:sp>
      <p:sp>
        <p:nvSpPr>
          <p:cNvPr id="190" name="Google Shape;190;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