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845" r:id="rId4"/>
    <p:sldMasterId id="2147483846" r:id="rId5"/>
    <p:sldMasterId id="214748384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A3AE26-E08E-434D-A2D2-D170B5DC2CFF}">
  <a:tblStyle styleId="{46A3AE26-E08E-434D-A2D2-D170B5DC2C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250713a89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250713a89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27e6f21d479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27e6f21d479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50713a89f2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50713a89f2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31c9416c0d3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31c9416c0d3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1c9416c0d3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1c9416c0d3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31c9416c0d3_0_2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31c9416c0d3_0_2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g31c9416c0d3_0_2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4" name="Google Shape;2434;g31c9416c0d3_0_2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g31c9416c0d3_0_2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2" name="Google Shape;2442;g31c9416c0d3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31c9416c0d3_0_2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31c9416c0d3_0_2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g31c9416c0d3_0_2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31c9416c0d3_0_2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g31c9416c0d3_0_3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2" name="Google Shape;2492;g31c9416c0d3_0_3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31c9416c0d3_0_3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31c9416c0d3_0_3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g31c9416c0d3_0_3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2" name="Google Shape;2552;g31c9416c0d3_0_3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g31c9416c0d3_0_4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2" name="Google Shape;2582;g31c9416c0d3_0_4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g31c9416c0d3_0_4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2" name="Google Shape;2612;g31c9416c0d3_0_4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31c9416c0d3_0_4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31c9416c0d3_0_4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g31c9416c0d3_0_4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2" name="Google Shape;2672;g31c9416c0d3_0_4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31c9416c0d3_0_4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31c9416c0d3_0_4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31c9416c0d3_0_4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1" name="Google Shape;2711;g31c9416c0d3_0_4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31c9416c0d3_0_4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31c9416c0d3_0_4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g31c9416c0d3_0_4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4" name="Google Shape;2744;g31c9416c0d3_0_4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31c9416c0d3_0_4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31c9416c0d3_0_4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g31c9416c0d3_0_4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1" name="Google Shape;2761;g31c9416c0d3_0_4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31c9416c0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4" name="Google Shape;2774;g31c9416c0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31c9416c0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31c9416c0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1c9416c0d3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1c9416c0d3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9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g31c9416c0d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1" name="Google Shape;2801;g31c9416c0d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31c9416c0d3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31c9416c0d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g31c9416c0d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9" name="Google Shape;2829;g31c9416c0d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8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g31c9416c0d3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0" name="Google Shape;2850;g31c9416c0d3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g31c9416c0d3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1" name="Google Shape;2871;g31c9416c0d3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8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31c9416c0d3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31c9416c0d3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g31c9416c0d3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2" name="Google Shape;2892;g31c9416c0d3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g31c9416c0d3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4" name="Google Shape;2904;g31c9416c0d3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31c9416c0d3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2" name="Google Shape;2922;g31c9416c0d3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31c9416c0d3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4" name="Google Shape;2934;g31c9416c0d3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g31c9416c0d3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6" name="Google Shape;2946;g31c9416c0d3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g31c9416c0d3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9" name="Google Shape;2959;g31c9416c0d3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31c9416c0d3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31c9416c0d3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g31c9416c0d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5" name="Google Shape;2995;g31c9416c0d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g31c9416c0d3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8" name="Google Shape;3018;g31c9416c0d3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31c9416c0d3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31c9416c0d3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2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31c9416c0d3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4" name="Google Shape;3054;g31c9416c0d3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g31c9416c0d3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8" name="Google Shape;3068;g31c9416c0d3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g31c9416c0d3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4" name="Google Shape;3074;g31c9416c0d3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26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2.png"/><Relationship Id="rId4" Type="http://schemas.openxmlformats.org/officeDocument/2006/relationships/image" Target="../media/image31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6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1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9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6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1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9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9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9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7.png"/><Relationship Id="rId4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0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7.png"/><Relationship Id="rId6" Type="http://schemas.openxmlformats.org/officeDocument/2006/relationships/image" Target="../media/image116.png"/><Relationship Id="rId7" Type="http://schemas.openxmlformats.org/officeDocument/2006/relationships/image" Target="../media/image1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26.png"/><Relationship Id="rId11" Type="http://schemas.openxmlformats.org/officeDocument/2006/relationships/image" Target="../media/image18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13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8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Relationship Id="rId5" Type="http://schemas.openxmlformats.org/officeDocument/2006/relationships/image" Target="../media/image139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46.png"/><Relationship Id="rId5" Type="http://schemas.openxmlformats.org/officeDocument/2006/relationships/image" Target="../media/image3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0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6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8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4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7.png"/><Relationship Id="rId4" Type="http://schemas.openxmlformats.org/officeDocument/2006/relationships/image" Target="../media/image3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61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06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65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0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68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68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1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4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6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26.png"/><Relationship Id="rId11" Type="http://schemas.openxmlformats.org/officeDocument/2006/relationships/image" Target="../media/image18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132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8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9" name="Google Shape;1479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482" name="Google Shape;1482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83" name="Google Shape;1483;p1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2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85" name="Google Shape;1485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1" name="Google Shape;1491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3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3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496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8" name="Google Shape;1498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9" name="Google Shape;149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3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3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6" name="Google Shape;1506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7" name="Google Shape;150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9" name="Google Shape;1509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3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11" name="Google Shape;1511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3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3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7" name="Google Shape;1517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9" name="Google Shape;1519;p13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0" name="Google Shape;1520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3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2" name="Google Shape;1522;p13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4" name="Google Shape;1524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3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8" name="Google Shape;1528;p134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9" name="Google Shape;152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1" name="Google Shape;1531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3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3" name="Google Shape;1533;p13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5" name="Google Shape;1535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9" name="Google Shape;1539;p135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0" name="Google Shape;154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1" name="Google Shape;1541;p13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2" name="Google Shape;1542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4" name="Google Shape;1544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51" name="Google Shape;1551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0" name="Google Shape;1560;p13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61" name="Google Shape;1561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3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3" name="Google Shape;1563;p13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5" name="Google Shape;1565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13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3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0" name="Google Shape;1570;p13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3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Google Shape;1575;p13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7" name="Google Shape;1577;p13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8" name="Google Shape;157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9" name="Google Shape;1579;p13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80" name="Google Shape;1580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3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2" name="Google Shape;1582;p13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84" name="Google Shape;1584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4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8" name="Google Shape;1588;p14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9" name="Google Shape;1589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14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91" name="Google Shape;1591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14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3" name="Google Shape;1593;p1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4" name="Google Shape;1594;p14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" name="Google Shape;1597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4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9" name="Google Shape;1599;p14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4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4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4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7" name="Google Shape;1607;p14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4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4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4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3" name="Google Shape;1613;p14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5" name="Google Shape;1615;p143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7" name="Google Shape;1617;p14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18" name="Google Shape;1618;p1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14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0" name="Google Shape;1620;p14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4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22" name="Google Shape;1622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4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4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6" name="Google Shape;1626;p14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7" name="Google Shape;1627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8" name="Google Shape;1628;p14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9" name="Google Shape;1629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4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1" name="Google Shape;1631;p1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2" name="Google Shape;1632;p14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4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14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7" name="Google Shape;1637;p145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8" name="Google Shape;1638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9" name="Google Shape;1639;p14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40" name="Google Shape;1640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14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2" name="Google Shape;1642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4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4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646;p14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8" name="Google Shape;1648;p146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9" name="Google Shape;164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0" name="Google Shape;1650;p14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51" name="Google Shape;1651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4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53" name="Google Shape;1653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4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4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4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4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9" name="Google Shape;1659;p147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1" name="Google Shape;1661;p14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62" name="Google Shape;1662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14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64" name="Google Shape;1664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4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4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9" name="Google Shape;1669;p14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0" name="Google Shape;1670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14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2" name="Google Shape;1672;p14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73" name="Google Shape;1673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14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5" name="Google Shape;1675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6" name="Google Shape;1676;p14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1" name="Google Shape;1681;p14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3" name="Google Shape;1683;p14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84" name="Google Shape;1684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4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88" name="Google Shape;1688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0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50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51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1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51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1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51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51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0" name="Google Shape;1700;p151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51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51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51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1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51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6" name="Google Shape;170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5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10" name="Google Shape;1710;p15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1" name="Google Shape;1711;p1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2" name="Google Shape;1712;p15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5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4" name="Google Shape;1714;p15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5" name="Google Shape;1715;p152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6" name="Google Shape;1716;p152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7" name="Google Shape;1717;p152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8" name="Google Shape;1718;p152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9" name="Google Shape;1719;p152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721;p15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22" name="Google Shape;1722;p15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3" name="Google Shape;1723;p1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4" name="Google Shape;1724;p15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5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6" name="Google Shape;1726;p15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7" name="Google Shape;1727;p153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8" name="Google Shape;1728;p153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9" name="Google Shape;1729;p153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0" name="Google Shape;1730;p153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1" name="Google Shape;1731;p153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2" name="Google Shape;1732;p153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3" name="Google Shape;1733;p153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15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36" name="Google Shape;1736;p15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7" name="Google Shape;1737;p15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8" name="Google Shape;1738;p15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5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0" name="Google Shape;1740;p15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1" name="Google Shape;1741;p154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2" name="Google Shape;1742;p154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3" name="Google Shape;1743;p154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4" name="Google Shape;1744;p154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5" name="Google Shape;1745;p154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6" name="Google Shape;1746;p154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7" name="Google Shape;1747;p154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8" name="Google Shape;1748;p154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9" name="Google Shape;1749;p154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" name="Google Shape;1751;p15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52" name="Google Shape;1752;p15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3" name="Google Shape;1753;p15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4" name="Google Shape;1754;p15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5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6" name="Google Shape;1756;p15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7" name="Google Shape;1757;p155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8" name="Google Shape;1758;p155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9" name="Google Shape;1759;p15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5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15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4" name="Google Shape;1764;p156"/>
          <p:cNvCxnSpPr>
            <a:endCxn id="176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6" name="Google Shape;176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65" name="Google Shape;1765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15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69" name="Google Shape;1769;p15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0" name="Google Shape;1770;p156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1" name="Google Shape;1771;p15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73" name="Google Shape;1773;p156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1" name="Google Shape;1781;p157"/>
          <p:cNvCxnSpPr>
            <a:endCxn id="178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2" name="Google Shape;1782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5" name="Google Shape;1785;p15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86" name="Google Shape;1786;p15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7" name="Google Shape;1787;p157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8" name="Google Shape;1788;p15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57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90" name="Google Shape;1790;p157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1" name="Google Shape;1791;p157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2" name="Google Shape;1792;p157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5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5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5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2" name="Google Shape;1802;p15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3" name="Google Shape;1803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7" name="Google Shape;1807;p15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808" name="Google Shape;1808;p15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9" name="Google Shape;1809;p158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15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5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12" name="Google Shape;1812;p158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3" name="Google Shape;1813;p158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4" name="Google Shape;1814;p158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5" name="Google Shape;1815;p158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159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818" name="Google Shape;1818;p1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159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0" name="Google Shape;1820;p1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821" name="Google Shape;1821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5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4" name="Google Shape;1824;p1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160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827" name="Google Shape;1827;p160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60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16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2" name="Google Shape;1832;p1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33" name="Google Shape;1833;p1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6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8" name="Google Shape;183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6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0" name="Google Shape;1840;p1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1" name="Google Shape;1841;p1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1843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6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8" name="Google Shape;1848;p1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9" name="Google Shape;1849;p1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6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2" name="Google Shape;1852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63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5" name="Google Shape;1855;p16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6" name="Google Shape;1856;p16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57" name="Google Shape;1857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6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6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60" name="Google Shape;1860;p1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6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2" name="Google Shape;1862;p16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3" name="Google Shape;1863;p16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4" name="Google Shape;1864;p16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6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7" name="Google Shape;1867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6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0" name="Google Shape;1870;p16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71" name="Google Shape;187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16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74" name="Google Shape;1874;p1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16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6" name="Google Shape;1876;p16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7" name="Google Shape;1877;p16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8" name="Google Shape;1878;p16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9" name="Google Shape;1879;p16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6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2" name="Google Shape;1882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5" name="Google Shape;1885;p16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86" name="Google Shape;1886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16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6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89" name="Google Shape;1889;p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6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6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2" name="Google Shape;1892;p16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3" name="Google Shape;1893;p16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4" name="Google Shape;1894;p16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6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7" name="Google Shape;189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6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0" name="Google Shape;1900;p16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901" name="Google Shape;1901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2" name="Google Shape;1902;p16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3" name="Google Shape;1903;p16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904" name="Google Shape;1904;p1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6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6" name="Google Shape;1906;p16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9" name="Google Shape;1909;p16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" name="Google Shape;1911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6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6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6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8" name="Google Shape;1918;p16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9" name="Google Shape;1919;p16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20" name="Google Shape;1920;p16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6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5" name="Google Shape;1925;p16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7" name="Google Shape;1927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9" name="Google Shape;192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6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6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6" name="Google Shape;1936;p16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7" name="Google Shape;1937;p16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38" name="Google Shape;1938;p16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6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1" name="Google Shape;1941;p16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5" name="Google Shape;1945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7" name="Google Shape;1947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6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6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6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3" name="Google Shape;1953;p16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54" name="Google Shape;1954;p16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6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6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7" name="Google Shape;1957;p16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1" name="Google Shape;1961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3" name="Google Shape;1963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7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7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7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8" name="Google Shape;1968;p17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9" name="Google Shape;1969;p17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70" name="Google Shape;1970;p17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7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7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3" name="Google Shape;1973;p17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5" name="Google Shape;1975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71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78" name="Google Shape;1978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7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1" name="Google Shape;1981;p17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2" name="Google Shape;1982;p17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3" name="Google Shape;1983;p17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84" name="Google Shape;1984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5" name="Google Shape;1985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6" name="Google Shape;1986;p17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87" name="Google Shape;1987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8" name="Google Shape;1988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9" name="Google Shape;1989;p17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90" name="Google Shape;1990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1" name="Google Shape;1991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2" name="Google Shape;1992;p171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3" name="Google Shape;1993;p17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Google Shape;19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7" name="Google Shape;1997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0" name="Google Shape;2000;p17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1" name="Google Shape;2001;p17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02" name="Google Shape;2002;p17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03" name="Google Shape;2003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7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06" name="Google Shape;2006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7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09" name="Google Shape;2009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17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2" name="Google Shape;2012;p17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3" name="Google Shape;2013;p17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7" name="Google Shape;2017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0" name="Google Shape;2020;p17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1" name="Google Shape;2021;p17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22" name="Google Shape;2022;p17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23" name="Google Shape;2023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4" name="Google Shape;2024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5" name="Google Shape;2025;p17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26" name="Google Shape;2026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7" name="Google Shape;2027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8" name="Google Shape;2028;p17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29" name="Google Shape;2029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0" name="Google Shape;2030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1" name="Google Shape;2031;p17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2" name="Google Shape;2032;p17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3" name="Google Shape;2033;p17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7" name="Google Shape;2037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8" name="Google Shape;2038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0" name="Google Shape;2040;p17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1" name="Google Shape;2041;p17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42" name="Google Shape;2042;p17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43" name="Google Shape;2043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4" name="Google Shape;2044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5" name="Google Shape;2045;p17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46" name="Google Shape;2046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7" name="Google Shape;2047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8" name="Google Shape;2048;p17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49" name="Google Shape;2049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0" name="Google Shape;2050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1" name="Google Shape;2051;p17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2" name="Google Shape;2052;p17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3" name="Google Shape;2053;p17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Google Shape;2055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7" name="Google Shape;205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0" name="Google Shape;2060;p17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1" name="Google Shape;2061;p17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2" name="Google Shape;2062;p17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63" name="Google Shape;2063;p17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64" name="Google Shape;2064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5" name="Google Shape;2065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6" name="Google Shape;2066;p17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67" name="Google Shape;2067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8" name="Google Shape;2068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9" name="Google Shape;2069;p17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70" name="Google Shape;2070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1" name="Google Shape;2071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2" name="Google Shape;2072;p17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73" name="Google Shape;2073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4" name="Google Shape;2074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5" name="Google Shape;2075;p17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6" name="Google Shape;2076;p17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7" name="Google Shape;2077;p17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9" name="Google Shape;2079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1" name="Google Shape;2081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7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4" name="Google Shape;2084;p17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5" name="Google Shape;2085;p17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6" name="Google Shape;2086;p17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87" name="Google Shape;2087;p17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88" name="Google Shape;2088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9" name="Google Shape;2089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7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91" name="Google Shape;2091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7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94" name="Google Shape;2094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6" name="Google Shape;2096;p17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97" name="Google Shape;2097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9" name="Google Shape;2099;p17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0" name="Google Shape;2100;p17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1" name="Google Shape;2101;p17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Google Shape;2103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6" name="Google Shape;210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09" name="Google Shape;2109;p17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0" name="Google Shape;2110;p17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1" name="Google Shape;2111;p17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12" name="Google Shape;2112;p17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13" name="Google Shape;2113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17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16" name="Google Shape;2116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8" name="Google Shape;2118;p17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19" name="Google Shape;2119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17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22" name="Google Shape;2122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4" name="Google Shape;2124;p177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5" name="Google Shape;2125;p17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Google Shape;2127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1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0" name="Google Shape;2130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7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3" name="Google Shape;2133;p17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4" name="Google Shape;2134;p17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5" name="Google Shape;2135;p17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36" name="Google Shape;2136;p17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37" name="Google Shape;2137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8" name="Google Shape;2138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9" name="Google Shape;2139;p17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40" name="Google Shape;2140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1" name="Google Shape;2141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2" name="Google Shape;2142;p17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43" name="Google Shape;2143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5" name="Google Shape;2145;p17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46" name="Google Shape;2146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7" name="Google Shape;2147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8" name="Google Shape;2148;p17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9" name="Google Shape;2149;p17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3" name="Google Shape;2153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7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6" name="Google Shape;2156;p17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7" name="Google Shape;2157;p17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58" name="Google Shape;2158;p17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59" name="Google Shape;2159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0" name="Google Shape;2160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1" name="Google Shape;2161;p17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62" name="Google Shape;2162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4" name="Google Shape;2164;p17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65" name="Google Shape;2165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6" name="Google Shape;2166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7" name="Google Shape;2167;p17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8" name="Google Shape;2168;p17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9" name="Google Shape;2169;p17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1" name="Google Shape;2171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8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6" name="Google Shape;2176;p18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7" name="Google Shape;2177;p18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78" name="Google Shape;2178;p18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79" name="Google Shape;2179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0" name="Google Shape;2180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1" name="Google Shape;2181;p18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82" name="Google Shape;2182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3" name="Google Shape;2183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4" name="Google Shape;2184;p18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85" name="Google Shape;2185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6" name="Google Shape;2186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18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8" name="Google Shape;2188;p18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9" name="Google Shape;2189;p18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3" name="Google Shape;2193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8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6" name="Google Shape;2196;p18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7" name="Google Shape;2197;p18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98" name="Google Shape;2198;p18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99" name="Google Shape;2199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1" name="Google Shape;2201;p18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02" name="Google Shape;2202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3" name="Google Shape;2203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4" name="Google Shape;2204;p18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05" name="Google Shape;2205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6" name="Google Shape;2206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7" name="Google Shape;2207;p18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8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9" name="Google Shape;2209;p18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" name="Google Shape;2211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3" name="Google Shape;2213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8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18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7" name="Google Shape;2217;p18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18" name="Google Shape;2218;p18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219" name="Google Shape;2219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0" name="Google Shape;2220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1" name="Google Shape;2221;p18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22" name="Google Shape;2222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3" name="Google Shape;2223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4" name="Google Shape;2224;p18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25" name="Google Shape;2225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8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8" name="Google Shape;2228;p18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9" name="Google Shape;2229;p18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3" name="Google Shape;2233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8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8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6" name="Google Shape;2236;p18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7" name="Google Shape;2237;p18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9" name="Google Shape;2239;p1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1" name="Google Shape;2241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8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8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8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7" name="Google Shape;2247;p1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9" name="Google Shape;2249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8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2" name="Google Shape;2252;p18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3" name="Google Shape;2253;p18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18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58" name="Google Shape;2258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8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1" name="Google Shape;2261;p18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" name="Google Shape;2263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5" name="Google Shape;2265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8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8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9" name="Google Shape;2269;p18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0" name="Google Shape;2270;p18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5" name="Google Shape;2275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18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8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8" name="Google Shape;2278;p18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9" name="Google Shape;2279;p18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1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4" name="Google Shape;2284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18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8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7" name="Google Shape;2287;p18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88" name="Google Shape;2288;p18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1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3" name="Google Shape;2293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6" name="Google Shape;2296;p19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7" name="Google Shape;2297;p19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1" name="Google Shape;2301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9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9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5" name="Google Shape;2305;p19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6" name="Google Shape;2306;p19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1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19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9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4" name="Google Shape;2314;p19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15" name="Google Shape;2315;p19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19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9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3" name="Google Shape;2323;p19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24" name="Google Shape;2324;p19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1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9" name="Google Shape;2329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19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9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2" name="Google Shape;2332;p19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3" name="Google Shape;2333;p19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5" name="Google Shape;2335;p195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336" name="Google Shape;2336;p195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7" name="Google Shape;2337;p19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8" name="Google Shape;2338;p19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95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0" name="Google Shape;2340;p19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1" name="Google Shape;2341;p19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196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344" name="Google Shape;2344;p196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5" name="Google Shape;2345;p19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6" name="Google Shape;2346;p19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7" name="Google Shape;2347;p19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9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49" name="Google Shape;2349;p19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97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97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197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197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97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97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97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97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97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1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98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199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5" name="Google Shape;2365;p19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2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8" name="Google Shape;2368;p20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20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0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2" name="Google Shape;2372;p20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3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4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73" Type="http://schemas.openxmlformats.org/officeDocument/2006/relationships/slideLayout" Target="../slideLayouts/slideLayout197.xml"/><Relationship Id="rId72" Type="http://schemas.openxmlformats.org/officeDocument/2006/relationships/slideLayout" Target="../slideLayouts/slideLayout196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71" Type="http://schemas.openxmlformats.org/officeDocument/2006/relationships/slideLayout" Target="../slideLayouts/slideLayout195.xml"/><Relationship Id="rId70" Type="http://schemas.openxmlformats.org/officeDocument/2006/relationships/slideLayout" Target="../slideLayouts/slideLayout194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  <p:sldLayoutId id="2147483840" r:id="rId69"/>
    <p:sldLayoutId id="2147483841" r:id="rId70"/>
    <p:sldLayoutId id="2147483842" r:id="rId71"/>
    <p:sldLayoutId id="2147483843" r:id="rId72"/>
    <p:sldLayoutId id="214748384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6.png"/><Relationship Id="rId4" Type="http://schemas.openxmlformats.org/officeDocument/2006/relationships/image" Target="../media/image2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3.png"/><Relationship Id="rId4" Type="http://schemas.openxmlformats.org/officeDocument/2006/relationships/image" Target="../media/image2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3.png"/><Relationship Id="rId4" Type="http://schemas.openxmlformats.org/officeDocument/2006/relationships/image" Target="../media/image2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perimeter and area</a:t>
            </a:r>
            <a:endParaRPr/>
          </a:p>
        </p:txBody>
      </p:sp>
      <p:sp>
        <p:nvSpPr>
          <p:cNvPr id="2378" name="Google Shape;2378;p20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202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20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perimeter and </a:t>
            </a:r>
            <a:r>
              <a:rPr lang="en-GB"/>
              <a:t>area</a:t>
            </a:r>
            <a:r>
              <a:rPr lang="en-GB"/>
              <a:t> of basic shapes.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04"/>
          <p:cNvSpPr txBox="1"/>
          <p:nvPr>
            <p:ph idx="1" type="subTitle"/>
          </p:nvPr>
        </p:nvSpPr>
        <p:spPr>
          <a:xfrm>
            <a:off x="324000" y="993650"/>
            <a:ext cx="84960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parallelogram</a:t>
            </a:r>
            <a:r>
              <a:rPr lang="en-GB"/>
              <a:t> is a quadrilateral with two pairs of parallel and equal sides.</a:t>
            </a:r>
            <a:endParaRPr/>
          </a:p>
        </p:txBody>
      </p:sp>
      <p:sp>
        <p:nvSpPr>
          <p:cNvPr id="2394" name="Google Shape;2394;p20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perimeter</a:t>
            </a:r>
            <a:r>
              <a:rPr lang="en-GB"/>
              <a:t> is the distance around a 2D </a:t>
            </a:r>
            <a:r>
              <a:rPr lang="en-GB"/>
              <a:t>shape</a:t>
            </a:r>
            <a:r>
              <a:rPr lang="en-GB"/>
              <a:t>.</a:t>
            </a:r>
            <a:endParaRPr/>
          </a:p>
        </p:txBody>
      </p:sp>
      <p:sp>
        <p:nvSpPr>
          <p:cNvPr id="2395" name="Google Shape;2395;p204"/>
          <p:cNvSpPr txBox="1"/>
          <p:nvPr>
            <p:ph idx="3" type="subTitle"/>
          </p:nvPr>
        </p:nvSpPr>
        <p:spPr>
          <a:xfrm>
            <a:off x="324000" y="3240000"/>
            <a:ext cx="8496000" cy="8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area </a:t>
            </a:r>
            <a:r>
              <a:rPr lang="en-GB"/>
              <a:t>is the size of the surface and states the number of unit squares needed to completely cover that surface.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20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Securing understanding of perimeter and area</a:t>
            </a:r>
            <a:endParaRPr sz="1800"/>
          </a:p>
        </p:txBody>
      </p:sp>
      <p:sp>
        <p:nvSpPr>
          <p:cNvPr id="2401" name="Google Shape;2401;p205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sp>
        <p:nvSpPr>
          <p:cNvPr id="2402" name="Google Shape;2402;p205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pic>
        <p:nvPicPr>
          <p:cNvPr id="2403" name="Google Shape;2403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174469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4" name="Google Shape;2404;p205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206"/>
          <p:cNvSpPr/>
          <p:nvPr/>
        </p:nvSpPr>
        <p:spPr>
          <a:xfrm>
            <a:off x="3009958" y="1953950"/>
            <a:ext cx="2858100" cy="930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206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is the distance around a 2D shape.</a:t>
            </a:r>
            <a:endParaRPr/>
          </a:p>
        </p:txBody>
      </p:sp>
      <p:sp>
        <p:nvSpPr>
          <p:cNvPr id="2411" name="Google Shape;2411;p2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cxnSp>
        <p:nvCxnSpPr>
          <p:cNvPr id="2412" name="Google Shape;2412;p206"/>
          <p:cNvCxnSpPr/>
          <p:nvPr/>
        </p:nvCxnSpPr>
        <p:spPr>
          <a:xfrm rot="10800000">
            <a:off x="2932800" y="1932525"/>
            <a:ext cx="0" cy="9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3" name="Google Shape;2413;p206"/>
          <p:cNvCxnSpPr/>
          <p:nvPr/>
        </p:nvCxnSpPr>
        <p:spPr>
          <a:xfrm rot="10800000">
            <a:off x="3003100" y="3002900"/>
            <a:ext cx="289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4" name="Google Shape;2414;p206"/>
          <p:cNvCxnSpPr/>
          <p:nvPr/>
        </p:nvCxnSpPr>
        <p:spPr>
          <a:xfrm flipH="1">
            <a:off x="5952900" y="1936375"/>
            <a:ext cx="7500" cy="98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5" name="Google Shape;2415;p206"/>
          <p:cNvCxnSpPr/>
          <p:nvPr/>
        </p:nvCxnSpPr>
        <p:spPr>
          <a:xfrm>
            <a:off x="3026700" y="1848975"/>
            <a:ext cx="2858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207"/>
          <p:cNvSpPr txBox="1"/>
          <p:nvPr>
            <p:ph idx="1" type="body"/>
          </p:nvPr>
        </p:nvSpPr>
        <p:spPr>
          <a:xfrm>
            <a:off x="324000" y="810000"/>
            <a:ext cx="8237700" cy="39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To find the total distance, the side lengths are summed.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= 3 + 10 + 3 + 10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                  </a:t>
            </a:r>
            <a:r>
              <a:rPr lang="en-GB" sz="1700">
                <a:solidFill>
                  <a:srgbClr val="000000"/>
                </a:solidFill>
              </a:rPr>
              <a:t> </a:t>
            </a:r>
            <a:r>
              <a:rPr lang="en-GB">
                <a:solidFill>
                  <a:srgbClr val="000000"/>
                </a:solidFill>
              </a:rPr>
              <a:t>= 26 units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How do you know the lengths that are not marked?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21" name="Google Shape;2421;p20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422" name="Google Shape;2422;p207"/>
          <p:cNvGrpSpPr/>
          <p:nvPr/>
        </p:nvGrpSpPr>
        <p:grpSpPr>
          <a:xfrm>
            <a:off x="1869300" y="1409325"/>
            <a:ext cx="4015500" cy="1499100"/>
            <a:chOff x="1869300" y="1409325"/>
            <a:chExt cx="4015500" cy="1499100"/>
          </a:xfrm>
        </p:grpSpPr>
        <p:sp>
          <p:nvSpPr>
            <p:cNvPr id="2423" name="Google Shape;2423;p207"/>
            <p:cNvSpPr/>
            <p:nvPr/>
          </p:nvSpPr>
          <p:spPr>
            <a:xfrm>
              <a:off x="3009958" y="1953950"/>
              <a:ext cx="2858100" cy="9303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24" name="Google Shape;2424;p207"/>
            <p:cNvCxnSpPr/>
            <p:nvPr/>
          </p:nvCxnSpPr>
          <p:spPr>
            <a:xfrm rot="10800000">
              <a:off x="2932800" y="1932525"/>
              <a:ext cx="0" cy="975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25" name="Google Shape;2425;p207"/>
            <p:cNvCxnSpPr/>
            <p:nvPr/>
          </p:nvCxnSpPr>
          <p:spPr>
            <a:xfrm>
              <a:off x="3026700" y="1848975"/>
              <a:ext cx="2858100" cy="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26" name="Google Shape;2426;p207"/>
            <p:cNvSpPr txBox="1"/>
            <p:nvPr/>
          </p:nvSpPr>
          <p:spPr>
            <a:xfrm>
              <a:off x="1869300" y="2158875"/>
              <a:ext cx="1157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7" name="Google Shape;2427;p207"/>
            <p:cNvSpPr txBox="1"/>
            <p:nvPr/>
          </p:nvSpPr>
          <p:spPr>
            <a:xfrm>
              <a:off x="3811200" y="1409325"/>
              <a:ext cx="1263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 units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8" name="Google Shape;2428;p207"/>
            <p:cNvSpPr/>
            <p:nvPr/>
          </p:nvSpPr>
          <p:spPr>
            <a:xfrm>
              <a:off x="3017125" y="1961150"/>
              <a:ext cx="129300" cy="129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9" name="Google Shape;2429;p207"/>
            <p:cNvSpPr/>
            <p:nvPr/>
          </p:nvSpPr>
          <p:spPr>
            <a:xfrm>
              <a:off x="3017125" y="2744701"/>
              <a:ext cx="129300" cy="129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0" name="Google Shape;2430;p207"/>
            <p:cNvSpPr/>
            <p:nvPr/>
          </p:nvSpPr>
          <p:spPr>
            <a:xfrm>
              <a:off x="5738774" y="2744701"/>
              <a:ext cx="129300" cy="129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1" name="Google Shape;2431;p207"/>
            <p:cNvSpPr/>
            <p:nvPr/>
          </p:nvSpPr>
          <p:spPr>
            <a:xfrm>
              <a:off x="5738774" y="1961150"/>
              <a:ext cx="129300" cy="129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208"/>
          <p:cNvSpPr txBox="1"/>
          <p:nvPr>
            <p:ph idx="1" type="body"/>
          </p:nvPr>
        </p:nvSpPr>
        <p:spPr>
          <a:xfrm>
            <a:off x="324000" y="810000"/>
            <a:ext cx="8237700" cy="33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is shown by the solid colour inside the rectangle.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is found by calculating the number of unit squares needed to completely cover the solid purple colour.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7" name="Google Shape;2437;p20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sp>
        <p:nvSpPr>
          <p:cNvPr id="2438" name="Google Shape;2438;p208"/>
          <p:cNvSpPr/>
          <p:nvPr/>
        </p:nvSpPr>
        <p:spPr>
          <a:xfrm>
            <a:off x="3009958" y="1953950"/>
            <a:ext cx="2858100" cy="930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39" name="Google Shape;2439;p208"/>
          <p:cNvGraphicFramePr/>
          <p:nvPr/>
        </p:nvGraphicFramePr>
        <p:xfrm>
          <a:off x="3010000" y="19571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</a:tblGrid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209"/>
          <p:cNvSpPr txBox="1"/>
          <p:nvPr>
            <p:ph idx="1" type="body"/>
          </p:nvPr>
        </p:nvSpPr>
        <p:spPr>
          <a:xfrm>
            <a:off x="324000" y="810000"/>
            <a:ext cx="8237700" cy="33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To find 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you could count the unit squares, but it is more efficient to multiply.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= 3 × 10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         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lang="en-GB">
                <a:solidFill>
                  <a:srgbClr val="000000"/>
                </a:solidFill>
              </a:rPr>
              <a:t>= 30 units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endParaRPr baseline="30000">
              <a:solidFill>
                <a:srgbClr val="000000"/>
              </a:solidFill>
            </a:endParaRPr>
          </a:p>
        </p:txBody>
      </p:sp>
      <p:sp>
        <p:nvSpPr>
          <p:cNvPr id="2445" name="Google Shape;2445;p20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sp>
        <p:nvSpPr>
          <p:cNvPr id="2446" name="Google Shape;2446;p209"/>
          <p:cNvSpPr/>
          <p:nvPr/>
        </p:nvSpPr>
        <p:spPr>
          <a:xfrm>
            <a:off x="3009958" y="1953950"/>
            <a:ext cx="2858100" cy="930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47" name="Google Shape;2447;p209"/>
          <p:cNvGraphicFramePr/>
          <p:nvPr/>
        </p:nvGraphicFramePr>
        <p:xfrm>
          <a:off x="3010000" y="19571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  <a:gridCol w="285800"/>
              </a:tblGrid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48" name="Google Shape;2448;p209"/>
          <p:cNvCxnSpPr/>
          <p:nvPr/>
        </p:nvCxnSpPr>
        <p:spPr>
          <a:xfrm rot="10800000">
            <a:off x="2932800" y="1932525"/>
            <a:ext cx="0" cy="9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49" name="Google Shape;2449;p209"/>
          <p:cNvCxnSpPr/>
          <p:nvPr/>
        </p:nvCxnSpPr>
        <p:spPr>
          <a:xfrm>
            <a:off x="3026700" y="1848975"/>
            <a:ext cx="2858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50" name="Google Shape;2450;p209"/>
          <p:cNvSpPr txBox="1"/>
          <p:nvPr/>
        </p:nvSpPr>
        <p:spPr>
          <a:xfrm>
            <a:off x="1869300" y="2158875"/>
            <a:ext cx="115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1" name="Google Shape;2451;p209"/>
          <p:cNvSpPr txBox="1"/>
          <p:nvPr/>
        </p:nvSpPr>
        <p:spPr>
          <a:xfrm>
            <a:off x="3811200" y="1409325"/>
            <a:ext cx="126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 units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210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sp>
        <p:nvSpPr>
          <p:cNvPr id="2457" name="Google Shape;2457;p210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Area</a:t>
            </a:r>
            <a:r>
              <a:rPr lang="en-GB"/>
              <a:t> is the size of the space inside a 2D shape.</a:t>
            </a:r>
            <a:endParaRPr/>
          </a:p>
        </p:txBody>
      </p:sp>
      <p:sp>
        <p:nvSpPr>
          <p:cNvPr id="2458" name="Google Shape;2458;p210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area</a:t>
            </a:r>
            <a:r>
              <a:rPr lang="en-GB"/>
              <a:t> of a rectangle is found by adding the four side lengths.</a:t>
            </a:r>
            <a:endParaRPr/>
          </a:p>
        </p:txBody>
      </p:sp>
      <p:pic>
        <p:nvPicPr>
          <p:cNvPr id="2459" name="Google Shape;2459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94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211"/>
          <p:cNvSpPr txBox="1"/>
          <p:nvPr>
            <p:ph idx="1" type="body"/>
          </p:nvPr>
        </p:nvSpPr>
        <p:spPr>
          <a:xfrm>
            <a:off x="324000" y="810000"/>
            <a:ext cx="8237700" cy="3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Jun wants to work out the </a:t>
            </a:r>
            <a:r>
              <a:rPr b="1" lang="en-GB"/>
              <a:t>area</a:t>
            </a:r>
            <a:r>
              <a:rPr lang="en-GB"/>
              <a:t> and </a:t>
            </a:r>
            <a:r>
              <a:rPr b="1" lang="en-GB"/>
              <a:t>perimeter</a:t>
            </a:r>
            <a:r>
              <a:rPr lang="en-GB"/>
              <a:t> of each of these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/>
              <a:t>Which rectangles have “enough”, “too much”, or “not enough” information?</a:t>
            </a:r>
            <a:endParaRPr/>
          </a:p>
        </p:txBody>
      </p:sp>
      <p:sp>
        <p:nvSpPr>
          <p:cNvPr id="2465" name="Google Shape;2465;p211"/>
          <p:cNvSpPr/>
          <p:nvPr/>
        </p:nvSpPr>
        <p:spPr>
          <a:xfrm>
            <a:off x="6881950" y="192522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6" name="Google Shape;2466;p211"/>
          <p:cNvSpPr/>
          <p:nvPr/>
        </p:nvSpPr>
        <p:spPr>
          <a:xfrm rot="-595055">
            <a:off x="2762418" y="225957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7" name="Google Shape;2467;p211"/>
          <p:cNvSpPr/>
          <p:nvPr/>
        </p:nvSpPr>
        <p:spPr>
          <a:xfrm>
            <a:off x="682450" y="190365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8" name="Google Shape;2468;p21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469" name="Google Shape;2469;p211"/>
          <p:cNvGrpSpPr/>
          <p:nvPr/>
        </p:nvGrpSpPr>
        <p:grpSpPr>
          <a:xfrm>
            <a:off x="189300" y="1465350"/>
            <a:ext cx="8514600" cy="2246750"/>
            <a:chOff x="189300" y="1465350"/>
            <a:chExt cx="8514600" cy="2246750"/>
          </a:xfrm>
        </p:grpSpPr>
        <p:sp>
          <p:nvSpPr>
            <p:cNvPr id="2470" name="Google Shape;2470;p211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1" name="Google Shape;2471;p211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72" name="Google Shape;2472;p211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473" name="Google Shape;2473;p211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474" name="Google Shape;2474;p211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75" name="Google Shape;2475;p211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76" name="Google Shape;2476;p211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77" name="Google Shape;2477;p211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78" name="Google Shape;2478;p211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79" name="Google Shape;2479;p211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80" name="Google Shape;2480;p211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481" name="Google Shape;2481;p211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482" name="Google Shape;2482;p211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3" name="Google Shape;2483;p211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4" name="Google Shape;2484;p211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5" name="Google Shape;2485;p211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6" name="Google Shape;2486;p211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7" name="Google Shape;2487;p211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8" name="Google Shape;2488;p211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9" name="Google Shape;2489;p211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212"/>
          <p:cNvSpPr txBox="1"/>
          <p:nvPr>
            <p:ph idx="1" type="body"/>
          </p:nvPr>
        </p:nvSpPr>
        <p:spPr>
          <a:xfrm>
            <a:off x="324000" y="810000"/>
            <a:ext cx="8237700" cy="3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Jun wants to work out the </a:t>
            </a:r>
            <a:r>
              <a:rPr b="1" lang="en-GB"/>
              <a:t>area</a:t>
            </a:r>
            <a:r>
              <a:rPr lang="en-GB"/>
              <a:t> and </a:t>
            </a:r>
            <a:r>
              <a:rPr b="1" lang="en-GB"/>
              <a:t>perimeter</a:t>
            </a:r>
            <a:r>
              <a:rPr lang="en-GB"/>
              <a:t> of each of these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Find the </a:t>
            </a:r>
            <a:r>
              <a:rPr b="1" lang="en-GB"/>
              <a:t>area</a:t>
            </a:r>
            <a:r>
              <a:rPr lang="en-GB"/>
              <a:t> and </a:t>
            </a:r>
            <a:r>
              <a:rPr b="1" lang="en-GB"/>
              <a:t>perimeter</a:t>
            </a:r>
            <a:r>
              <a:rPr lang="en-GB"/>
              <a:t> of the rectangles where possible.</a:t>
            </a:r>
            <a:endParaRPr/>
          </a:p>
        </p:txBody>
      </p:sp>
      <p:sp>
        <p:nvSpPr>
          <p:cNvPr id="2495" name="Google Shape;2495;p21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sp>
        <p:nvSpPr>
          <p:cNvPr id="2496" name="Google Shape;2496;p212"/>
          <p:cNvSpPr/>
          <p:nvPr/>
        </p:nvSpPr>
        <p:spPr>
          <a:xfrm>
            <a:off x="6881950" y="192522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7" name="Google Shape;2497;p212"/>
          <p:cNvSpPr/>
          <p:nvPr/>
        </p:nvSpPr>
        <p:spPr>
          <a:xfrm rot="-595055">
            <a:off x="2762418" y="225957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8" name="Google Shape;2498;p212"/>
          <p:cNvSpPr/>
          <p:nvPr/>
        </p:nvSpPr>
        <p:spPr>
          <a:xfrm>
            <a:off x="682450" y="190365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99" name="Google Shape;2499;p212"/>
          <p:cNvGrpSpPr/>
          <p:nvPr/>
        </p:nvGrpSpPr>
        <p:grpSpPr>
          <a:xfrm>
            <a:off x="189300" y="1465350"/>
            <a:ext cx="8514600" cy="2246750"/>
            <a:chOff x="189300" y="1465350"/>
            <a:chExt cx="8514600" cy="2246750"/>
          </a:xfrm>
        </p:grpSpPr>
        <p:sp>
          <p:nvSpPr>
            <p:cNvPr id="2500" name="Google Shape;2500;p212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1" name="Google Shape;2501;p212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02" name="Google Shape;2502;p212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503" name="Google Shape;2503;p212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04" name="Google Shape;2504;p212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05" name="Google Shape;2505;p212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06" name="Google Shape;2506;p212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07" name="Google Shape;2507;p212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08" name="Google Shape;2508;p212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09" name="Google Shape;2509;p212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10" name="Google Shape;2510;p212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11" name="Google Shape;2511;p212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512" name="Google Shape;2512;p212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3" name="Google Shape;2513;p212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4" name="Google Shape;2514;p212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5" name="Google Shape;2515;p212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6" name="Google Shape;2516;p212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7" name="Google Shape;2517;p212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8" name="Google Shape;2518;p212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9" name="Google Shape;2519;p212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213"/>
          <p:cNvSpPr txBox="1"/>
          <p:nvPr>
            <p:ph idx="1" type="body"/>
          </p:nvPr>
        </p:nvSpPr>
        <p:spPr>
          <a:xfrm>
            <a:off x="324000" y="810000"/>
            <a:ext cx="8237700" cy="3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Jun wants to work out the </a:t>
            </a:r>
            <a:r>
              <a:rPr b="1" lang="en-GB"/>
              <a:t>area</a:t>
            </a:r>
            <a:r>
              <a:rPr lang="en-GB"/>
              <a:t> and </a:t>
            </a:r>
            <a:r>
              <a:rPr b="1" lang="en-GB"/>
              <a:t>perimeter</a:t>
            </a:r>
            <a:r>
              <a:rPr lang="en-GB"/>
              <a:t> of each of these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Jun works out the </a:t>
            </a:r>
            <a:r>
              <a:rPr b="1" lang="en-GB"/>
              <a:t>area</a:t>
            </a:r>
            <a:r>
              <a:rPr lang="en-GB"/>
              <a:t> of Z using the calculation:              </a:t>
            </a:r>
            <a:br>
              <a:rPr lang="en-GB"/>
            </a:br>
            <a:r>
              <a:rPr lang="en-GB"/>
              <a:t>    40 × 40 × 40 × 40. What have they done wrong?</a:t>
            </a:r>
            <a:endParaRPr/>
          </a:p>
        </p:txBody>
      </p:sp>
      <p:sp>
        <p:nvSpPr>
          <p:cNvPr id="2525" name="Google Shape;2525;p21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sp>
        <p:nvSpPr>
          <p:cNvPr id="2526" name="Google Shape;2526;p213"/>
          <p:cNvSpPr/>
          <p:nvPr/>
        </p:nvSpPr>
        <p:spPr>
          <a:xfrm>
            <a:off x="6881950" y="192522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7" name="Google Shape;2527;p213"/>
          <p:cNvSpPr/>
          <p:nvPr/>
        </p:nvSpPr>
        <p:spPr>
          <a:xfrm rot="-595055">
            <a:off x="2762418" y="225957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8" name="Google Shape;2528;p213"/>
          <p:cNvSpPr/>
          <p:nvPr/>
        </p:nvSpPr>
        <p:spPr>
          <a:xfrm>
            <a:off x="682450" y="190365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29" name="Google Shape;2529;p213"/>
          <p:cNvGrpSpPr/>
          <p:nvPr/>
        </p:nvGrpSpPr>
        <p:grpSpPr>
          <a:xfrm>
            <a:off x="189300" y="1465350"/>
            <a:ext cx="8514600" cy="2246750"/>
            <a:chOff x="189300" y="1465350"/>
            <a:chExt cx="8514600" cy="2246750"/>
          </a:xfrm>
        </p:grpSpPr>
        <p:sp>
          <p:nvSpPr>
            <p:cNvPr id="2530" name="Google Shape;2530;p213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1" name="Google Shape;2531;p213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32" name="Google Shape;2532;p213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533" name="Google Shape;2533;p213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34" name="Google Shape;2534;p213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35" name="Google Shape;2535;p213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36" name="Google Shape;2536;p213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37" name="Google Shape;2537;p213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38" name="Google Shape;2538;p213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39" name="Google Shape;2539;p213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40" name="Google Shape;2540;p213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41" name="Google Shape;2541;p213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542" name="Google Shape;2542;p213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3" name="Google Shape;2543;p213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4" name="Google Shape;2544;p213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5" name="Google Shape;2545;p213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6" name="Google Shape;2546;p213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7" name="Google Shape;2547;p213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8" name="Google Shape;2548;p213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9" name="Google Shape;2549;p213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214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Jun wants to work out the </a:t>
            </a:r>
            <a:r>
              <a:rPr b="1" lang="en-GB"/>
              <a:t>area</a:t>
            </a:r>
            <a:r>
              <a:rPr lang="en-GB"/>
              <a:t> and </a:t>
            </a:r>
            <a:r>
              <a:rPr b="1" lang="en-GB"/>
              <a:t>perimeter</a:t>
            </a:r>
            <a:r>
              <a:rPr lang="en-GB"/>
              <a:t> of each of these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214"/>
          <p:cNvSpPr/>
          <p:nvPr/>
        </p:nvSpPr>
        <p:spPr>
          <a:xfrm>
            <a:off x="6881950" y="192522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6" name="Google Shape;2556;p214"/>
          <p:cNvSpPr/>
          <p:nvPr/>
        </p:nvSpPr>
        <p:spPr>
          <a:xfrm rot="-595055">
            <a:off x="2762418" y="225957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7" name="Google Shape;2557;p214"/>
          <p:cNvSpPr/>
          <p:nvPr/>
        </p:nvSpPr>
        <p:spPr>
          <a:xfrm>
            <a:off x="682450" y="190365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8" name="Google Shape;2558;p21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559" name="Google Shape;2559;p214"/>
          <p:cNvGrpSpPr/>
          <p:nvPr/>
        </p:nvGrpSpPr>
        <p:grpSpPr>
          <a:xfrm>
            <a:off x="189300" y="1465350"/>
            <a:ext cx="8514600" cy="2246750"/>
            <a:chOff x="189300" y="1465350"/>
            <a:chExt cx="8514600" cy="2246750"/>
          </a:xfrm>
        </p:grpSpPr>
        <p:sp>
          <p:nvSpPr>
            <p:cNvPr id="2560" name="Google Shape;2560;p214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1" name="Google Shape;2561;p214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62" name="Google Shape;2562;p214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563" name="Google Shape;2563;p214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64" name="Google Shape;2564;p214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65" name="Google Shape;2565;p214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66" name="Google Shape;2566;p214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67" name="Google Shape;2567;p214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68" name="Google Shape;2568;p214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69" name="Google Shape;2569;p214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70" name="Google Shape;2570;p214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71" name="Google Shape;2571;p214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572" name="Google Shape;2572;p214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3" name="Google Shape;2573;p214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4" name="Google Shape;2574;p214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5" name="Google Shape;2575;p214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6" name="Google Shape;2576;p214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7" name="Google Shape;2577;p214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8" name="Google Shape;2578;p214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79" name="Google Shape;2579;p214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215"/>
          <p:cNvSpPr txBox="1"/>
          <p:nvPr>
            <p:ph idx="1" type="body"/>
          </p:nvPr>
        </p:nvSpPr>
        <p:spPr>
          <a:xfrm>
            <a:off x="324000" y="810000"/>
            <a:ext cx="8237700" cy="39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Which rectangles have “enough”, “too much”, or “not enough” information?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X: Not enough, need the length of a shorter side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Y: The right amount, the other sides can be deduced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Z: Too much, need two non-parallel sides</a:t>
            </a:r>
            <a:endParaRPr sz="2000"/>
          </a:p>
        </p:txBody>
      </p:sp>
      <p:sp>
        <p:nvSpPr>
          <p:cNvPr id="2585" name="Google Shape;2585;p215"/>
          <p:cNvSpPr/>
          <p:nvPr/>
        </p:nvSpPr>
        <p:spPr>
          <a:xfrm>
            <a:off x="6878200" y="119367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6" name="Google Shape;2586;p215"/>
          <p:cNvSpPr/>
          <p:nvPr/>
        </p:nvSpPr>
        <p:spPr>
          <a:xfrm rot="-595055">
            <a:off x="2758668" y="152802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7" name="Google Shape;2587;p215"/>
          <p:cNvSpPr/>
          <p:nvPr/>
        </p:nvSpPr>
        <p:spPr>
          <a:xfrm>
            <a:off x="678700" y="117210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8" name="Google Shape;2588;p21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589" name="Google Shape;2589;p215"/>
          <p:cNvGrpSpPr/>
          <p:nvPr/>
        </p:nvGrpSpPr>
        <p:grpSpPr>
          <a:xfrm>
            <a:off x="185550" y="733800"/>
            <a:ext cx="8514600" cy="2246750"/>
            <a:chOff x="189300" y="1465350"/>
            <a:chExt cx="8514600" cy="2246750"/>
          </a:xfrm>
        </p:grpSpPr>
        <p:sp>
          <p:nvSpPr>
            <p:cNvPr id="2590" name="Google Shape;2590;p215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1" name="Google Shape;2591;p215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92" name="Google Shape;2592;p215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593" name="Google Shape;2593;p215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94" name="Google Shape;2594;p215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95" name="Google Shape;2595;p215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96" name="Google Shape;2596;p215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97" name="Google Shape;2597;p215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98" name="Google Shape;2598;p215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599" name="Google Shape;2599;p215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00" name="Google Shape;2600;p215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01" name="Google Shape;2601;p215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602" name="Google Shape;2602;p215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3" name="Google Shape;2603;p215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4" name="Google Shape;2604;p215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5" name="Google Shape;2605;p215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6" name="Google Shape;2606;p215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7" name="Google Shape;2607;p215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8" name="Google Shape;2608;p215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9" name="Google Shape;2609;p215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216"/>
          <p:cNvSpPr txBox="1"/>
          <p:nvPr>
            <p:ph idx="1" type="body"/>
          </p:nvPr>
        </p:nvSpPr>
        <p:spPr>
          <a:xfrm>
            <a:off x="324000" y="810000"/>
            <a:ext cx="8237700" cy="36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Find the </a:t>
            </a:r>
            <a:r>
              <a:rPr b="1" lang="en-GB" sz="2000"/>
              <a:t>area</a:t>
            </a:r>
            <a:r>
              <a:rPr lang="en-GB" sz="2000"/>
              <a:t> and </a:t>
            </a:r>
            <a:r>
              <a:rPr b="1" lang="en-GB" sz="2000"/>
              <a:t>perimeter</a:t>
            </a:r>
            <a:r>
              <a:rPr lang="en-GB" sz="2000"/>
              <a:t> of the rectangles where possible.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shape Y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      </a:t>
            </a:r>
            <a:r>
              <a:rPr b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25 + 25 + 6 + 6      </a:t>
            </a:r>
            <a:r>
              <a:rPr b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25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6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62 m                         = 150 m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/>
          </a:p>
        </p:txBody>
      </p:sp>
      <p:sp>
        <p:nvSpPr>
          <p:cNvPr id="2615" name="Google Shape;2615;p216"/>
          <p:cNvSpPr/>
          <p:nvPr/>
        </p:nvSpPr>
        <p:spPr>
          <a:xfrm>
            <a:off x="6878200" y="119367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216"/>
          <p:cNvSpPr/>
          <p:nvPr/>
        </p:nvSpPr>
        <p:spPr>
          <a:xfrm rot="-595055">
            <a:off x="2758668" y="152802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7" name="Google Shape;2617;p216"/>
          <p:cNvSpPr/>
          <p:nvPr/>
        </p:nvSpPr>
        <p:spPr>
          <a:xfrm>
            <a:off x="678700" y="117210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8" name="Google Shape;2618;p21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619" name="Google Shape;2619;p216"/>
          <p:cNvGrpSpPr/>
          <p:nvPr/>
        </p:nvGrpSpPr>
        <p:grpSpPr>
          <a:xfrm>
            <a:off x="185550" y="733800"/>
            <a:ext cx="8514600" cy="2246750"/>
            <a:chOff x="189300" y="1465350"/>
            <a:chExt cx="8514600" cy="2246750"/>
          </a:xfrm>
        </p:grpSpPr>
        <p:sp>
          <p:nvSpPr>
            <p:cNvPr id="2620" name="Google Shape;2620;p216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1" name="Google Shape;2621;p216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22" name="Google Shape;2622;p216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623" name="Google Shape;2623;p216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624" name="Google Shape;2624;p216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25" name="Google Shape;2625;p216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26" name="Google Shape;2626;p216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27" name="Google Shape;2627;p216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28" name="Google Shape;2628;p216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29" name="Google Shape;2629;p216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30" name="Google Shape;2630;p216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31" name="Google Shape;2631;p216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632" name="Google Shape;2632;p216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3" name="Google Shape;2633;p216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4" name="Google Shape;2634;p216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5" name="Google Shape;2635;p216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6" name="Google Shape;2636;p216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7" name="Google Shape;2637;p216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8" name="Google Shape;2638;p216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9" name="Google Shape;2639;p216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17"/>
          <p:cNvSpPr txBox="1"/>
          <p:nvPr>
            <p:ph idx="1" type="body"/>
          </p:nvPr>
        </p:nvSpPr>
        <p:spPr>
          <a:xfrm>
            <a:off x="324000" y="810000"/>
            <a:ext cx="8237700" cy="3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Find the </a:t>
            </a:r>
            <a:r>
              <a:rPr b="1" lang="en-GB" sz="2000"/>
              <a:t>area</a:t>
            </a:r>
            <a:r>
              <a:rPr lang="en-GB" sz="2000"/>
              <a:t> and </a:t>
            </a:r>
            <a:r>
              <a:rPr b="1" lang="en-GB" sz="2000"/>
              <a:t>perimeter</a:t>
            </a:r>
            <a:r>
              <a:rPr lang="en-GB" sz="2000"/>
              <a:t> of the rectangles where possible.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shape Z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b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40 + 40 + 40 + 40      </a:t>
            </a:r>
            <a:r>
              <a:rPr b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40 × 40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   </a:t>
            </a: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160 mm                        = 1600 mm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5" name="Google Shape;2645;p217"/>
          <p:cNvSpPr/>
          <p:nvPr/>
        </p:nvSpPr>
        <p:spPr>
          <a:xfrm>
            <a:off x="6878200" y="119367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6" name="Google Shape;2646;p217"/>
          <p:cNvSpPr/>
          <p:nvPr/>
        </p:nvSpPr>
        <p:spPr>
          <a:xfrm rot="-595055">
            <a:off x="2758668" y="152802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7" name="Google Shape;2647;p217"/>
          <p:cNvSpPr/>
          <p:nvPr/>
        </p:nvSpPr>
        <p:spPr>
          <a:xfrm>
            <a:off x="678700" y="117210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8" name="Google Shape;2648;p21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649" name="Google Shape;2649;p217"/>
          <p:cNvGrpSpPr/>
          <p:nvPr/>
        </p:nvGrpSpPr>
        <p:grpSpPr>
          <a:xfrm>
            <a:off x="185550" y="733800"/>
            <a:ext cx="8514600" cy="2246750"/>
            <a:chOff x="189300" y="1465350"/>
            <a:chExt cx="8514600" cy="2246750"/>
          </a:xfrm>
        </p:grpSpPr>
        <p:sp>
          <p:nvSpPr>
            <p:cNvPr id="2650" name="Google Shape;2650;p217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1" name="Google Shape;2651;p217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52" name="Google Shape;2652;p217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653" name="Google Shape;2653;p217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654" name="Google Shape;2654;p217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55" name="Google Shape;2655;p217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56" name="Google Shape;2656;p217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57" name="Google Shape;2657;p217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58" name="Google Shape;2658;p217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59" name="Google Shape;2659;p217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60" name="Google Shape;2660;p217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61" name="Google Shape;2661;p217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662" name="Google Shape;2662;p217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3" name="Google Shape;2663;p217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4" name="Google Shape;2664;p217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5" name="Google Shape;2665;p217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6" name="Google Shape;2666;p217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7" name="Google Shape;2667;p217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8" name="Google Shape;2668;p217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9" name="Google Shape;2669;p217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18"/>
          <p:cNvSpPr txBox="1"/>
          <p:nvPr>
            <p:ph idx="1" type="body"/>
          </p:nvPr>
        </p:nvSpPr>
        <p:spPr>
          <a:xfrm>
            <a:off x="324000" y="810000"/>
            <a:ext cx="8237700" cy="35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Jun works out the </a:t>
            </a:r>
            <a:r>
              <a:rPr b="1" lang="en-GB" sz="2000"/>
              <a:t>area</a:t>
            </a:r>
            <a:r>
              <a:rPr lang="en-GB" sz="2000"/>
              <a:t> of Z using the calculation:                         </a:t>
            </a:r>
            <a:br>
              <a:rPr lang="en-GB" sz="2000"/>
            </a:br>
            <a:r>
              <a:rPr lang="en-GB" sz="2000"/>
              <a:t>    40 × 40 × 40 × 40. What have they done wrong?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multiplied every length together instead of multiplying the length by the width.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5" name="Google Shape;2675;p218"/>
          <p:cNvSpPr/>
          <p:nvPr/>
        </p:nvSpPr>
        <p:spPr>
          <a:xfrm>
            <a:off x="6878200" y="1193675"/>
            <a:ext cx="1314900" cy="1314900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6" name="Google Shape;2676;p218"/>
          <p:cNvSpPr/>
          <p:nvPr/>
        </p:nvSpPr>
        <p:spPr>
          <a:xfrm rot="-595055">
            <a:off x="2758668" y="1528027"/>
            <a:ext cx="2687663" cy="67215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218"/>
          <p:cNvSpPr/>
          <p:nvPr/>
        </p:nvSpPr>
        <p:spPr>
          <a:xfrm>
            <a:off x="678700" y="1172108"/>
            <a:ext cx="646500" cy="13722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8" name="Google Shape;2678;p21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grpSp>
        <p:nvGrpSpPr>
          <p:cNvPr id="2679" name="Google Shape;2679;p218"/>
          <p:cNvGrpSpPr/>
          <p:nvPr/>
        </p:nvGrpSpPr>
        <p:grpSpPr>
          <a:xfrm>
            <a:off x="185550" y="733800"/>
            <a:ext cx="8514600" cy="2246750"/>
            <a:chOff x="189300" y="1465350"/>
            <a:chExt cx="8514600" cy="2246750"/>
          </a:xfrm>
        </p:grpSpPr>
        <p:sp>
          <p:nvSpPr>
            <p:cNvPr id="2680" name="Google Shape;2680;p218"/>
            <p:cNvSpPr txBox="1"/>
            <p:nvPr/>
          </p:nvSpPr>
          <p:spPr>
            <a:xfrm>
              <a:off x="3839375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1" name="Google Shape;2681;p218"/>
            <p:cNvSpPr txBox="1"/>
            <p:nvPr/>
          </p:nvSpPr>
          <p:spPr>
            <a:xfrm>
              <a:off x="7399250" y="2327125"/>
              <a:ext cx="42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82" name="Google Shape;2682;p218"/>
            <p:cNvGrpSpPr/>
            <p:nvPr/>
          </p:nvGrpSpPr>
          <p:grpSpPr>
            <a:xfrm>
              <a:off x="189300" y="1465350"/>
              <a:ext cx="8514600" cy="2246750"/>
              <a:chOff x="189300" y="1465350"/>
              <a:chExt cx="8514600" cy="2246750"/>
            </a:xfrm>
          </p:grpSpPr>
          <p:sp>
            <p:nvSpPr>
              <p:cNvPr id="2683" name="Google Shape;2683;p218"/>
              <p:cNvSpPr txBox="1"/>
              <p:nvPr/>
            </p:nvSpPr>
            <p:spPr>
              <a:xfrm>
                <a:off x="820225" y="2310150"/>
                <a:ext cx="4236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22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684" name="Google Shape;2684;p218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85" name="Google Shape;2685;p218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86" name="Google Shape;2686;p218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87" name="Google Shape;2687;p218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88" name="Google Shape;2688;p218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89" name="Google Shape;2689;p218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90" name="Google Shape;2690;p218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691" name="Google Shape;2691;p218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692" name="Google Shape;2692;p218"/>
              <p:cNvSpPr txBox="1"/>
              <p:nvPr/>
            </p:nvSpPr>
            <p:spPr>
              <a:xfrm rot="5400000">
                <a:off x="1139925" y="234090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3" name="Google Shape;2693;p218"/>
              <p:cNvSpPr txBox="1"/>
              <p:nvPr/>
            </p:nvSpPr>
            <p:spPr>
              <a:xfrm rot="-5400000">
                <a:off x="-18450" y="2316750"/>
                <a:ext cx="877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4" name="Google Shape;2694;p218"/>
              <p:cNvSpPr txBox="1"/>
              <p:nvPr/>
            </p:nvSpPr>
            <p:spPr>
              <a:xfrm rot="-605042">
                <a:off x="3578921" y="1849526"/>
                <a:ext cx="877252" cy="461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5" name="Google Shape;2695;p218"/>
              <p:cNvSpPr txBox="1"/>
              <p:nvPr/>
            </p:nvSpPr>
            <p:spPr>
              <a:xfrm rot="4749533">
                <a:off x="5245007" y="2254889"/>
                <a:ext cx="877257" cy="4618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6" name="Google Shape;2696;p218"/>
              <p:cNvSpPr txBox="1"/>
              <p:nvPr/>
            </p:nvSpPr>
            <p:spPr>
              <a:xfrm rot="5400000">
                <a:off x="7972350" y="24030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7" name="Google Shape;2697;p218"/>
              <p:cNvSpPr txBox="1"/>
              <p:nvPr/>
            </p:nvSpPr>
            <p:spPr>
              <a:xfrm rot="-5400000">
                <a:off x="6175525" y="23167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8" name="Google Shape;2698;p218"/>
              <p:cNvSpPr txBox="1"/>
              <p:nvPr/>
            </p:nvSpPr>
            <p:spPr>
              <a:xfrm>
                <a:off x="7054325" y="146535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9" name="Google Shape;2699;p218"/>
              <p:cNvSpPr txBox="1"/>
              <p:nvPr/>
            </p:nvSpPr>
            <p:spPr>
              <a:xfrm>
                <a:off x="7054138" y="3250400"/>
                <a:ext cx="1001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21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Securing understanding of perimeter and area</a:t>
            </a:r>
            <a:endParaRPr sz="1800"/>
          </a:p>
        </p:txBody>
      </p:sp>
      <p:sp>
        <p:nvSpPr>
          <p:cNvPr id="2705" name="Google Shape;2705;p219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sp>
        <p:nvSpPr>
          <p:cNvPr id="2706" name="Google Shape;2706;p219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pic>
        <p:nvPicPr>
          <p:cNvPr id="2707" name="Google Shape;2707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771209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8" name="Google Shape;2708;p219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220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rectangle has a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of 40 units.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Is this enough information to be able to draw the rectangle?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14" name="Google Shape;2714;p22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221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All of these rectangles have a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of 40 units, but their </a:t>
            </a:r>
            <a:r>
              <a:rPr b="1" lang="en-GB">
                <a:solidFill>
                  <a:srgbClr val="000000"/>
                </a:solidFill>
              </a:rPr>
              <a:t>areas</a:t>
            </a:r>
            <a:r>
              <a:rPr lang="en-GB">
                <a:solidFill>
                  <a:srgbClr val="000000"/>
                </a:solidFill>
              </a:rPr>
              <a:t> are different.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What do you notice about each length and width pair?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0" name="Google Shape;2720;p22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cxnSp>
        <p:nvCxnSpPr>
          <p:cNvPr id="2721" name="Google Shape;2721;p221"/>
          <p:cNvCxnSpPr>
            <a:stCxn id="2722" idx="1"/>
          </p:cNvCxnSpPr>
          <p:nvPr/>
        </p:nvCxnSpPr>
        <p:spPr>
          <a:xfrm flipH="1" rot="10800000">
            <a:off x="324000" y="2789555"/>
            <a:ext cx="9417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3" name="Google Shape;2723;p221"/>
          <p:cNvCxnSpPr/>
          <p:nvPr/>
        </p:nvCxnSpPr>
        <p:spPr>
          <a:xfrm flipH="1">
            <a:off x="1346325" y="1770705"/>
            <a:ext cx="4200" cy="9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4" name="Google Shape;2724;p221"/>
          <p:cNvCxnSpPr/>
          <p:nvPr/>
        </p:nvCxnSpPr>
        <p:spPr>
          <a:xfrm>
            <a:off x="3063500" y="2361030"/>
            <a:ext cx="1378500" cy="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5" name="Google Shape;2725;p221"/>
          <p:cNvCxnSpPr/>
          <p:nvPr/>
        </p:nvCxnSpPr>
        <p:spPr>
          <a:xfrm rot="10800000">
            <a:off x="2969450" y="1811875"/>
            <a:ext cx="5400" cy="43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6" name="Google Shape;2726;p221"/>
          <p:cNvCxnSpPr/>
          <p:nvPr/>
        </p:nvCxnSpPr>
        <p:spPr>
          <a:xfrm flipH="1" rot="10800000">
            <a:off x="5667525" y="1789850"/>
            <a:ext cx="8100" cy="20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7" name="Google Shape;2727;p221"/>
          <p:cNvCxnSpPr/>
          <p:nvPr/>
        </p:nvCxnSpPr>
        <p:spPr>
          <a:xfrm>
            <a:off x="8019250" y="1673430"/>
            <a:ext cx="784200" cy="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8" name="Google Shape;2728;p221"/>
          <p:cNvCxnSpPr/>
          <p:nvPr/>
        </p:nvCxnSpPr>
        <p:spPr>
          <a:xfrm flipH="1" rot="10800000">
            <a:off x="7924850" y="1811900"/>
            <a:ext cx="5100" cy="106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9" name="Google Shape;2729;p221"/>
          <p:cNvCxnSpPr/>
          <p:nvPr/>
        </p:nvCxnSpPr>
        <p:spPr>
          <a:xfrm>
            <a:off x="5736175" y="3872780"/>
            <a:ext cx="7536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30" name="Google Shape;2730;p221"/>
          <p:cNvSpPr txBox="1"/>
          <p:nvPr/>
        </p:nvSpPr>
        <p:spPr>
          <a:xfrm>
            <a:off x="528750" y="2700000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1" name="Google Shape;2731;p221"/>
          <p:cNvSpPr txBox="1"/>
          <p:nvPr/>
        </p:nvSpPr>
        <p:spPr>
          <a:xfrm>
            <a:off x="1290750" y="1973325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2" name="Google Shape;2732;p221"/>
          <p:cNvSpPr txBox="1"/>
          <p:nvPr/>
        </p:nvSpPr>
        <p:spPr>
          <a:xfrm>
            <a:off x="2621100" y="1768975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3" name="Google Shape;2733;p221"/>
          <p:cNvSpPr txBox="1"/>
          <p:nvPr/>
        </p:nvSpPr>
        <p:spPr>
          <a:xfrm>
            <a:off x="3486650" y="2292175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4" name="Google Shape;2734;p221"/>
          <p:cNvSpPr txBox="1"/>
          <p:nvPr/>
        </p:nvSpPr>
        <p:spPr>
          <a:xfrm>
            <a:off x="5242200" y="2438400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5" name="Google Shape;2735;p221"/>
          <p:cNvSpPr txBox="1"/>
          <p:nvPr/>
        </p:nvSpPr>
        <p:spPr>
          <a:xfrm>
            <a:off x="5846875" y="3780000"/>
            <a:ext cx="53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6" name="Google Shape;2736;p221"/>
          <p:cNvSpPr txBox="1"/>
          <p:nvPr/>
        </p:nvSpPr>
        <p:spPr>
          <a:xfrm>
            <a:off x="8145250" y="1288700"/>
            <a:ext cx="56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7" name="Google Shape;2737;p221"/>
          <p:cNvSpPr txBox="1"/>
          <p:nvPr/>
        </p:nvSpPr>
        <p:spPr>
          <a:xfrm>
            <a:off x="7275925" y="2083400"/>
            <a:ext cx="7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8" name="Google Shape;2738;p221"/>
          <p:cNvSpPr/>
          <p:nvPr/>
        </p:nvSpPr>
        <p:spPr>
          <a:xfrm>
            <a:off x="352000" y="1795925"/>
            <a:ext cx="904200" cy="9042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9" name="Google Shape;2739;p221"/>
          <p:cNvSpPr/>
          <p:nvPr/>
        </p:nvSpPr>
        <p:spPr>
          <a:xfrm>
            <a:off x="3081800" y="1817475"/>
            <a:ext cx="1360200" cy="4374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0" name="Google Shape;2740;p221"/>
          <p:cNvSpPr/>
          <p:nvPr/>
        </p:nvSpPr>
        <p:spPr>
          <a:xfrm>
            <a:off x="5768475" y="1803100"/>
            <a:ext cx="702000" cy="19770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1" name="Google Shape;2741;p221"/>
          <p:cNvSpPr/>
          <p:nvPr/>
        </p:nvSpPr>
        <p:spPr>
          <a:xfrm>
            <a:off x="8038525" y="1817475"/>
            <a:ext cx="753600" cy="10272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22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sp>
        <p:nvSpPr>
          <p:cNvPr id="2747" name="Google Shape;2747;p222"/>
          <p:cNvSpPr txBox="1"/>
          <p:nvPr>
            <p:ph idx="1" type="subTitle"/>
          </p:nvPr>
        </p:nvSpPr>
        <p:spPr>
          <a:xfrm>
            <a:off x="1034425" y="16853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 = 45 units; Width = 45 units</a:t>
            </a:r>
            <a:endParaRPr/>
          </a:p>
        </p:txBody>
      </p:sp>
      <p:sp>
        <p:nvSpPr>
          <p:cNvPr id="2748" name="Google Shape;2748;p222"/>
          <p:cNvSpPr txBox="1"/>
          <p:nvPr>
            <p:ph idx="2" type="subTitle"/>
          </p:nvPr>
        </p:nvSpPr>
        <p:spPr>
          <a:xfrm>
            <a:off x="1034425" y="24894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 = 30 units; Width = 60 units</a:t>
            </a:r>
            <a:endParaRPr/>
          </a:p>
        </p:txBody>
      </p:sp>
      <p:sp>
        <p:nvSpPr>
          <p:cNvPr id="2749" name="Google Shape;2749;p222"/>
          <p:cNvSpPr txBox="1"/>
          <p:nvPr>
            <p:ph idx="3" type="subTitle"/>
          </p:nvPr>
        </p:nvSpPr>
        <p:spPr>
          <a:xfrm>
            <a:off x="1034425" y="33097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 = 90 units; Width = 90 units</a:t>
            </a:r>
            <a:endParaRPr/>
          </a:p>
        </p:txBody>
      </p:sp>
      <p:sp>
        <p:nvSpPr>
          <p:cNvPr id="2750" name="Google Shape;2750;p222"/>
          <p:cNvSpPr txBox="1"/>
          <p:nvPr>
            <p:ph idx="4" type="subTitle"/>
          </p:nvPr>
        </p:nvSpPr>
        <p:spPr>
          <a:xfrm>
            <a:off x="1034425" y="411383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 = 25.2 units; Width = 64.8 units</a:t>
            </a:r>
            <a:endParaRPr/>
          </a:p>
        </p:txBody>
      </p:sp>
      <p:sp>
        <p:nvSpPr>
          <p:cNvPr id="2751" name="Google Shape;2751;p222"/>
          <p:cNvSpPr txBox="1"/>
          <p:nvPr>
            <p:ph idx="5"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rectangle has a </a:t>
            </a:r>
            <a:r>
              <a:rPr b="1" lang="en-GB"/>
              <a:t>perimeter</a:t>
            </a:r>
            <a:r>
              <a:rPr lang="en-GB"/>
              <a:t> of 180 units.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</a:t>
            </a:r>
            <a:r>
              <a:rPr lang="en-GB">
                <a:solidFill>
                  <a:schemeClr val="accent5"/>
                </a:solidFill>
              </a:rPr>
              <a:t>cannot</a:t>
            </a:r>
            <a:r>
              <a:rPr lang="en-GB"/>
              <a:t> be the dimensions?</a:t>
            </a:r>
            <a:endParaRPr/>
          </a:p>
        </p:txBody>
      </p:sp>
      <p:pic>
        <p:nvPicPr>
          <p:cNvPr id="2752" name="Google Shape;2752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808" y="3249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223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When 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and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of a rectangle are known, it is possible to calculate the dimensions.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rectangle with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20 units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r>
              <a:rPr lang="en-GB">
                <a:solidFill>
                  <a:srgbClr val="000000"/>
                </a:solidFill>
              </a:rPr>
              <a:t> has a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of 18 units.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8" name="Google Shape;2758;p22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2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224"/>
          <p:cNvSpPr/>
          <p:nvPr/>
        </p:nvSpPr>
        <p:spPr>
          <a:xfrm>
            <a:off x="337625" y="1544475"/>
            <a:ext cx="2494200" cy="12492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4" name="Google Shape;2764;p224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rectangle with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20 units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r>
              <a:rPr lang="en-GB">
                <a:solidFill>
                  <a:srgbClr val="000000"/>
                </a:solidFill>
              </a:rPr>
              <a:t> has a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of 18 units.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65" name="Google Shape;2765;p22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cxnSp>
        <p:nvCxnSpPr>
          <p:cNvPr id="2766" name="Google Shape;2766;p224"/>
          <p:cNvCxnSpPr/>
          <p:nvPr/>
        </p:nvCxnSpPr>
        <p:spPr>
          <a:xfrm>
            <a:off x="335625" y="2897555"/>
            <a:ext cx="2494200" cy="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67" name="Google Shape;2767;p224"/>
          <p:cNvCxnSpPr/>
          <p:nvPr/>
        </p:nvCxnSpPr>
        <p:spPr>
          <a:xfrm flipH="1">
            <a:off x="2926525" y="1538855"/>
            <a:ext cx="6300" cy="12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68" name="Google Shape;2768;p224"/>
          <p:cNvSpPr txBox="1"/>
          <p:nvPr/>
        </p:nvSpPr>
        <p:spPr>
          <a:xfrm>
            <a:off x="1032225" y="2861725"/>
            <a:ext cx="117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9" name="Google Shape;2769;p224"/>
          <p:cNvSpPr txBox="1"/>
          <p:nvPr/>
        </p:nvSpPr>
        <p:spPr>
          <a:xfrm>
            <a:off x="2926525" y="1855050"/>
            <a:ext cx="117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Width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0" name="Google Shape;2770;p224"/>
          <p:cNvSpPr txBox="1"/>
          <p:nvPr/>
        </p:nvSpPr>
        <p:spPr>
          <a:xfrm>
            <a:off x="4060200" y="1400100"/>
            <a:ext cx="4501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Length + Width = </a:t>
            </a:r>
            <a:r>
              <a:rPr b="1" lang="en-GB" sz="2100"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÷ 2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Length + Width =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Length </a:t>
            </a:r>
            <a:r>
              <a:rPr lang="en-GB" sz="24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Width = </a:t>
            </a:r>
            <a:r>
              <a:rPr b="1" lang="en-GB" sz="2100">
                <a:latin typeface="Lexend"/>
                <a:ea typeface="Lexend"/>
                <a:cs typeface="Lexend"/>
                <a:sym typeface="Lexend"/>
              </a:rPr>
              <a:t>Area</a:t>
            </a:r>
            <a:endParaRPr b="1"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Length </a:t>
            </a:r>
            <a:r>
              <a:rPr lang="en-GB" sz="24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Width = 20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1" name="Google Shape;2771;p224"/>
          <p:cNvSpPr txBox="1"/>
          <p:nvPr/>
        </p:nvSpPr>
        <p:spPr>
          <a:xfrm>
            <a:off x="359400" y="4114025"/>
            <a:ext cx="8319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pair of numbers multiply to make 20 but add to make 9?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225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Knowing 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and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of the rectangle can help you to visualise how the rectangle looks.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77" name="Google Shape;2777;p22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226"/>
          <p:cNvSpPr/>
          <p:nvPr/>
        </p:nvSpPr>
        <p:spPr>
          <a:xfrm>
            <a:off x="337634" y="3081791"/>
            <a:ext cx="2694000" cy="4752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3" name="Google Shape;2783;p226"/>
          <p:cNvSpPr/>
          <p:nvPr/>
        </p:nvSpPr>
        <p:spPr>
          <a:xfrm>
            <a:off x="4209616" y="2945291"/>
            <a:ext cx="728100" cy="7281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4" name="Google Shape;2784;p226"/>
          <p:cNvSpPr/>
          <p:nvPr/>
        </p:nvSpPr>
        <p:spPr>
          <a:xfrm>
            <a:off x="7140550" y="2859100"/>
            <a:ext cx="848400" cy="9210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5" name="Google Shape;2785;p226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sp>
        <p:nvSpPr>
          <p:cNvPr id="2786" name="Google Shape;2786;p226"/>
          <p:cNvSpPr txBox="1"/>
          <p:nvPr>
            <p:ph idx="5"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rectangle has a </a:t>
            </a:r>
            <a:r>
              <a:rPr b="1" lang="en-GB"/>
              <a:t>perimeter</a:t>
            </a:r>
            <a:r>
              <a:rPr lang="en-GB"/>
              <a:t> of 16 m and an </a:t>
            </a:r>
            <a:r>
              <a:rPr b="1" lang="en-GB"/>
              <a:t>area</a:t>
            </a:r>
            <a:r>
              <a:rPr lang="en-GB"/>
              <a:t> of 16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images could represent this rectangle?</a:t>
            </a:r>
            <a:endParaRPr/>
          </a:p>
        </p:txBody>
      </p:sp>
      <p:pic>
        <p:nvPicPr>
          <p:cNvPr id="2787" name="Google Shape;2787;p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8" y="4150425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8" name="Google Shape;2788;p226"/>
          <p:cNvCxnSpPr/>
          <p:nvPr/>
        </p:nvCxnSpPr>
        <p:spPr>
          <a:xfrm>
            <a:off x="4573675" y="2816000"/>
            <a:ext cx="0" cy="26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9" name="Google Shape;2789;p226"/>
          <p:cNvCxnSpPr/>
          <p:nvPr/>
        </p:nvCxnSpPr>
        <p:spPr>
          <a:xfrm>
            <a:off x="4573675" y="3549265"/>
            <a:ext cx="0" cy="26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0" name="Google Shape;2790;p226"/>
          <p:cNvCxnSpPr/>
          <p:nvPr/>
        </p:nvCxnSpPr>
        <p:spPr>
          <a:xfrm>
            <a:off x="4083392" y="33196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1" name="Google Shape;2791;p226"/>
          <p:cNvCxnSpPr/>
          <p:nvPr/>
        </p:nvCxnSpPr>
        <p:spPr>
          <a:xfrm>
            <a:off x="4816658" y="33196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27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</a:t>
            </a:r>
            <a:r>
              <a:rPr lang="en-GB" sz="2000">
                <a:solidFill>
                  <a:srgbClr val="000000"/>
                </a:solidFill>
              </a:rPr>
              <a:t>Laura wants to buy a plot of land to build a house. The table below shows some information about the plots.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</a:t>
            </a:r>
            <a:r>
              <a:rPr lang="en-GB" sz="2000">
                <a:solidFill>
                  <a:srgbClr val="000000"/>
                </a:solidFill>
              </a:rPr>
              <a:t>Which plot do you think they should choose?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797" name="Google Shape;2797;p22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graphicFrame>
        <p:nvGraphicFramePr>
          <p:cNvPr id="2798" name="Google Shape;2798;p227"/>
          <p:cNvGraphicFramePr/>
          <p:nvPr/>
        </p:nvGraphicFramePr>
        <p:xfrm>
          <a:off x="2773325" y="1798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638600"/>
                <a:gridCol w="1199875"/>
                <a:gridCol w="164395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228"/>
          <p:cNvSpPr txBox="1"/>
          <p:nvPr>
            <p:ph idx="1" type="body"/>
          </p:nvPr>
        </p:nvSpPr>
        <p:spPr>
          <a:xfrm>
            <a:off x="324000" y="810000"/>
            <a:ext cx="8237700" cy="36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By the table are plan views of the three plots.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b)   Match each image to a row in the table.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c)   Explain whether you wish to change your answer to part a.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804" name="Google Shape;2804;p22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graphicFrame>
        <p:nvGraphicFramePr>
          <p:cNvPr id="2805" name="Google Shape;2805;p228"/>
          <p:cNvGraphicFramePr/>
          <p:nvPr/>
        </p:nvGraphicFramePr>
        <p:xfrm>
          <a:off x="324000" y="128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638600"/>
                <a:gridCol w="1199875"/>
                <a:gridCol w="164395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6-2023/eu-c72fcd23-ca64-486e-92d2-b0b91d68d700&quot; data-equatio-type=&quot;image&quot;&gt;&lt;mglyph src=&quot;https://equatio-api.texthelp.com/desmos/get/12-06-2023/eu-c72fcd23-ca64-486e-92d2-b0b91d68d700&quot; alt=&quot;Equatio Image&quot;/&gt;&lt;/math&gt;" id="2806" name="Google Shape;2806;p22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38300"/>
            <a:ext cx="8495999" cy="19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2807" name="Google Shape;2807;p228"/>
          <p:cNvSpPr txBox="1"/>
          <p:nvPr/>
        </p:nvSpPr>
        <p:spPr>
          <a:xfrm>
            <a:off x="5385350" y="1538300"/>
            <a:ext cx="68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8" name="Google Shape;2808;p228"/>
          <p:cNvSpPr txBox="1"/>
          <p:nvPr/>
        </p:nvSpPr>
        <p:spPr>
          <a:xfrm>
            <a:off x="7965950" y="1698300"/>
            <a:ext cx="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9" name="Google Shape;2809;p228"/>
          <p:cNvSpPr txBox="1"/>
          <p:nvPr/>
        </p:nvSpPr>
        <p:spPr>
          <a:xfrm>
            <a:off x="7997000" y="33861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0" name="Google Shape;2810;p228"/>
          <p:cNvCxnSpPr/>
          <p:nvPr/>
        </p:nvCxnSpPr>
        <p:spPr>
          <a:xfrm>
            <a:off x="338600" y="3281200"/>
            <a:ext cx="845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1" name="Google Shape;2811;p228"/>
          <p:cNvSpPr txBox="1"/>
          <p:nvPr/>
        </p:nvSpPr>
        <p:spPr>
          <a:xfrm>
            <a:off x="4098500" y="2893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2" name="Google Shape;2812;p228"/>
          <p:cNvSpPr txBox="1"/>
          <p:nvPr/>
        </p:nvSpPr>
        <p:spPr>
          <a:xfrm>
            <a:off x="5295500" y="1127400"/>
            <a:ext cx="86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3" name="Google Shape;2813;p228"/>
          <p:cNvSpPr txBox="1"/>
          <p:nvPr/>
        </p:nvSpPr>
        <p:spPr>
          <a:xfrm>
            <a:off x="4272650" y="1559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4" name="Google Shape;2814;p228"/>
          <p:cNvSpPr txBox="1"/>
          <p:nvPr/>
        </p:nvSpPr>
        <p:spPr>
          <a:xfrm>
            <a:off x="7199050" y="168285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5" name="Google Shape;2815;p228"/>
          <p:cNvSpPr txBox="1"/>
          <p:nvPr/>
        </p:nvSpPr>
        <p:spPr>
          <a:xfrm>
            <a:off x="8045800" y="108000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6" name="Google Shape;2816;p228"/>
          <p:cNvCxnSpPr/>
          <p:nvPr/>
        </p:nvCxnSpPr>
        <p:spPr>
          <a:xfrm>
            <a:off x="4958075" y="1491450"/>
            <a:ext cx="155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17" name="Google Shape;2817;p228"/>
          <p:cNvCxnSpPr/>
          <p:nvPr/>
        </p:nvCxnSpPr>
        <p:spPr>
          <a:xfrm flipH="1" rot="10800000">
            <a:off x="4885525" y="1571975"/>
            <a:ext cx="8100" cy="46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18" name="Google Shape;2818;p228"/>
          <p:cNvCxnSpPr/>
          <p:nvPr/>
        </p:nvCxnSpPr>
        <p:spPr>
          <a:xfrm>
            <a:off x="8045800" y="1475325"/>
            <a:ext cx="75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19" name="Google Shape;2819;p228"/>
          <p:cNvCxnSpPr/>
          <p:nvPr/>
        </p:nvCxnSpPr>
        <p:spPr>
          <a:xfrm rot="10800000">
            <a:off x="7932325" y="1550875"/>
            <a:ext cx="600" cy="76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p229"/>
          <p:cNvSpPr txBox="1"/>
          <p:nvPr>
            <p:ph idx="1" type="body"/>
          </p:nvPr>
        </p:nvSpPr>
        <p:spPr>
          <a:xfrm>
            <a:off x="324000" y="810000"/>
            <a:ext cx="8237700" cy="3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Laura wants to buy a plot of land to build a house. The table below shows some information about the plots.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Which plot do you think they should choose?</a:t>
            </a:r>
            <a:br>
              <a:rPr lang="en-GB" sz="2000">
                <a:solidFill>
                  <a:srgbClr val="000000"/>
                </a:solidFill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plot may be selected here.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5" name="Google Shape;2825;p22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graphicFrame>
        <p:nvGraphicFramePr>
          <p:cNvPr id="2826" name="Google Shape;2826;p229"/>
          <p:cNvGraphicFramePr/>
          <p:nvPr/>
        </p:nvGraphicFramePr>
        <p:xfrm>
          <a:off x="2773325" y="1798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638600"/>
                <a:gridCol w="1199875"/>
                <a:gridCol w="164395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230"/>
          <p:cNvSpPr txBox="1"/>
          <p:nvPr>
            <p:ph idx="1" type="body"/>
          </p:nvPr>
        </p:nvSpPr>
        <p:spPr>
          <a:xfrm>
            <a:off x="324000" y="810000"/>
            <a:ext cx="8237700" cy="36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By the table are plan views of the three plots.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b)   Match each image to a row in the table.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 = Yellow; Y = Blue; Z = Red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2" name="Google Shape;2832;p23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graphicFrame>
        <p:nvGraphicFramePr>
          <p:cNvPr id="2833" name="Google Shape;2833;p230"/>
          <p:cNvGraphicFramePr/>
          <p:nvPr/>
        </p:nvGraphicFramePr>
        <p:xfrm>
          <a:off x="324000" y="128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638600"/>
                <a:gridCol w="1199875"/>
                <a:gridCol w="164395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6-2023/eu-c72fcd23-ca64-486e-92d2-b0b91d68d700&quot; data-equatio-type=&quot;image&quot;&gt;&lt;mglyph src=&quot;https://equatio-api.texthelp.com/desmos/get/12-06-2023/eu-c72fcd23-ca64-486e-92d2-b0b91d68d700&quot; alt=&quot;Equatio Image&quot;/&gt;&lt;/math&gt;" id="2834" name="Google Shape;2834;p23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38300"/>
            <a:ext cx="8495999" cy="19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2835" name="Google Shape;2835;p230"/>
          <p:cNvSpPr txBox="1"/>
          <p:nvPr/>
        </p:nvSpPr>
        <p:spPr>
          <a:xfrm>
            <a:off x="5385350" y="1538300"/>
            <a:ext cx="68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6" name="Google Shape;2836;p230"/>
          <p:cNvSpPr txBox="1"/>
          <p:nvPr/>
        </p:nvSpPr>
        <p:spPr>
          <a:xfrm>
            <a:off x="7965950" y="1698300"/>
            <a:ext cx="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7" name="Google Shape;2837;p230"/>
          <p:cNvSpPr txBox="1"/>
          <p:nvPr/>
        </p:nvSpPr>
        <p:spPr>
          <a:xfrm>
            <a:off x="7997000" y="33861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8" name="Google Shape;2838;p230"/>
          <p:cNvCxnSpPr/>
          <p:nvPr/>
        </p:nvCxnSpPr>
        <p:spPr>
          <a:xfrm>
            <a:off x="338600" y="3281200"/>
            <a:ext cx="845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39" name="Google Shape;2839;p230"/>
          <p:cNvSpPr txBox="1"/>
          <p:nvPr/>
        </p:nvSpPr>
        <p:spPr>
          <a:xfrm>
            <a:off x="4098500" y="2893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0" name="Google Shape;2840;p230"/>
          <p:cNvSpPr txBox="1"/>
          <p:nvPr/>
        </p:nvSpPr>
        <p:spPr>
          <a:xfrm>
            <a:off x="5295500" y="1127400"/>
            <a:ext cx="86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1" name="Google Shape;2841;p230"/>
          <p:cNvSpPr txBox="1"/>
          <p:nvPr/>
        </p:nvSpPr>
        <p:spPr>
          <a:xfrm>
            <a:off x="4272650" y="1559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2" name="Google Shape;2842;p230"/>
          <p:cNvSpPr txBox="1"/>
          <p:nvPr/>
        </p:nvSpPr>
        <p:spPr>
          <a:xfrm>
            <a:off x="7199050" y="168285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3" name="Google Shape;2843;p230"/>
          <p:cNvSpPr txBox="1"/>
          <p:nvPr/>
        </p:nvSpPr>
        <p:spPr>
          <a:xfrm>
            <a:off x="8045800" y="108000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44" name="Google Shape;2844;p230"/>
          <p:cNvCxnSpPr/>
          <p:nvPr/>
        </p:nvCxnSpPr>
        <p:spPr>
          <a:xfrm>
            <a:off x="4958075" y="1491450"/>
            <a:ext cx="155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45" name="Google Shape;2845;p230"/>
          <p:cNvCxnSpPr/>
          <p:nvPr/>
        </p:nvCxnSpPr>
        <p:spPr>
          <a:xfrm flipH="1" rot="10800000">
            <a:off x="4885525" y="1571975"/>
            <a:ext cx="8100" cy="46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46" name="Google Shape;2846;p230"/>
          <p:cNvCxnSpPr/>
          <p:nvPr/>
        </p:nvCxnSpPr>
        <p:spPr>
          <a:xfrm>
            <a:off x="8045800" y="1475325"/>
            <a:ext cx="75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47" name="Google Shape;2847;p230"/>
          <p:cNvCxnSpPr/>
          <p:nvPr/>
        </p:nvCxnSpPr>
        <p:spPr>
          <a:xfrm rot="10800000">
            <a:off x="7932325" y="1550875"/>
            <a:ext cx="600" cy="76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p231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By the table are plan views of the three plots.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c)   Explain whether you wish to change your answer to part a.</a:t>
            </a:r>
            <a:br>
              <a:rPr lang="en-GB" sz="2000">
                <a:solidFill>
                  <a:srgbClr val="000000"/>
                </a:solidFill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 here depending on the original plot chosen.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853" name="Google Shape;2853;p23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  <p:graphicFrame>
        <p:nvGraphicFramePr>
          <p:cNvPr id="2854" name="Google Shape;2854;p231"/>
          <p:cNvGraphicFramePr/>
          <p:nvPr/>
        </p:nvGraphicFramePr>
        <p:xfrm>
          <a:off x="324000" y="128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{46A3AE26-E08E-434D-A2D2-D170B5DC2CFF}</a:tableStyleId>
              </a:tblPr>
              <a:tblGrid>
                <a:gridCol w="638600"/>
                <a:gridCol w="1199875"/>
                <a:gridCol w="164395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6-2023/eu-c72fcd23-ca64-486e-92d2-b0b91d68d700&quot; data-equatio-type=&quot;image&quot;&gt;&lt;mglyph src=&quot;https://equatio-api.texthelp.com/desmos/get/12-06-2023/eu-c72fcd23-ca64-486e-92d2-b0b91d68d700&quot; alt=&quot;Equatio Image&quot;/&gt;&lt;/math&gt;" id="2855" name="Google Shape;2855;p23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38300"/>
            <a:ext cx="8495999" cy="19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2856" name="Google Shape;2856;p231"/>
          <p:cNvSpPr txBox="1"/>
          <p:nvPr/>
        </p:nvSpPr>
        <p:spPr>
          <a:xfrm>
            <a:off x="5385350" y="1538300"/>
            <a:ext cx="68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7" name="Google Shape;2857;p231"/>
          <p:cNvSpPr txBox="1"/>
          <p:nvPr/>
        </p:nvSpPr>
        <p:spPr>
          <a:xfrm>
            <a:off x="7965950" y="1698300"/>
            <a:ext cx="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8" name="Google Shape;2858;p231"/>
          <p:cNvSpPr txBox="1"/>
          <p:nvPr/>
        </p:nvSpPr>
        <p:spPr>
          <a:xfrm>
            <a:off x="7997000" y="33861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9" name="Google Shape;2859;p231"/>
          <p:cNvCxnSpPr/>
          <p:nvPr/>
        </p:nvCxnSpPr>
        <p:spPr>
          <a:xfrm>
            <a:off x="338600" y="3281200"/>
            <a:ext cx="845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60" name="Google Shape;2860;p231"/>
          <p:cNvSpPr txBox="1"/>
          <p:nvPr/>
        </p:nvSpPr>
        <p:spPr>
          <a:xfrm>
            <a:off x="4098500" y="2893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1" name="Google Shape;2861;p231"/>
          <p:cNvSpPr txBox="1"/>
          <p:nvPr/>
        </p:nvSpPr>
        <p:spPr>
          <a:xfrm>
            <a:off x="5295500" y="1127400"/>
            <a:ext cx="86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2" name="Google Shape;2862;p231"/>
          <p:cNvSpPr txBox="1"/>
          <p:nvPr/>
        </p:nvSpPr>
        <p:spPr>
          <a:xfrm>
            <a:off x="4272650" y="1559525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3" name="Google Shape;2863;p231"/>
          <p:cNvSpPr txBox="1"/>
          <p:nvPr/>
        </p:nvSpPr>
        <p:spPr>
          <a:xfrm>
            <a:off x="7199050" y="168285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4" name="Google Shape;2864;p231"/>
          <p:cNvSpPr txBox="1"/>
          <p:nvPr/>
        </p:nvSpPr>
        <p:spPr>
          <a:xfrm>
            <a:off x="8045800" y="1080000"/>
            <a:ext cx="93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5" name="Google Shape;2865;p231"/>
          <p:cNvCxnSpPr/>
          <p:nvPr/>
        </p:nvCxnSpPr>
        <p:spPr>
          <a:xfrm>
            <a:off x="4958075" y="1491450"/>
            <a:ext cx="155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66" name="Google Shape;2866;p231"/>
          <p:cNvCxnSpPr/>
          <p:nvPr/>
        </p:nvCxnSpPr>
        <p:spPr>
          <a:xfrm flipH="1" rot="10800000">
            <a:off x="4885525" y="1571975"/>
            <a:ext cx="8100" cy="46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67" name="Google Shape;2867;p231"/>
          <p:cNvCxnSpPr/>
          <p:nvPr/>
        </p:nvCxnSpPr>
        <p:spPr>
          <a:xfrm>
            <a:off x="8045800" y="1475325"/>
            <a:ext cx="75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68" name="Google Shape;2868;p231"/>
          <p:cNvCxnSpPr/>
          <p:nvPr/>
        </p:nvCxnSpPr>
        <p:spPr>
          <a:xfrm rot="10800000">
            <a:off x="7932325" y="1550875"/>
            <a:ext cx="600" cy="76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p232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Securing understanding of perimeter and area</a:t>
            </a:r>
            <a:endParaRPr sz="1800"/>
          </a:p>
        </p:txBody>
      </p:sp>
      <p:sp>
        <p:nvSpPr>
          <p:cNvPr id="2874" name="Google Shape;2874;p232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sp>
        <p:nvSpPr>
          <p:cNvPr id="2875" name="Google Shape;2875;p232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perimeter and area of rectangles</a:t>
            </a:r>
            <a:endParaRPr/>
          </a:p>
        </p:txBody>
      </p:sp>
      <p:pic>
        <p:nvPicPr>
          <p:cNvPr id="2876" name="Google Shape;2876;p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370716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7" name="Google Shape;2877;p232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 rectangle from its perimeter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233"/>
          <p:cNvSpPr/>
          <p:nvPr/>
        </p:nvSpPr>
        <p:spPr>
          <a:xfrm>
            <a:off x="3577450" y="2160000"/>
            <a:ext cx="2459700" cy="1008000"/>
          </a:xfrm>
          <a:prstGeom prst="rect">
            <a:avLst/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3" name="Google Shape;2883;p233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of a rectangle is found by multiplying its length/base by its width/height.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84" name="Google Shape;2884;p23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885" name="Google Shape;2885;p233"/>
          <p:cNvGrpSpPr/>
          <p:nvPr/>
        </p:nvGrpSpPr>
        <p:grpSpPr>
          <a:xfrm>
            <a:off x="2487900" y="2160425"/>
            <a:ext cx="3549200" cy="1551050"/>
            <a:chOff x="324000" y="2655325"/>
            <a:chExt cx="3549200" cy="1551050"/>
          </a:xfrm>
        </p:grpSpPr>
        <p:cxnSp>
          <p:nvCxnSpPr>
            <p:cNvPr id="2886" name="Google Shape;2886;p233"/>
            <p:cNvCxnSpPr/>
            <p:nvPr/>
          </p:nvCxnSpPr>
          <p:spPr>
            <a:xfrm flipH="1" rot="10800000">
              <a:off x="1396400" y="3768325"/>
              <a:ext cx="2476800" cy="6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87" name="Google Shape;2887;p233"/>
            <p:cNvCxnSpPr/>
            <p:nvPr/>
          </p:nvCxnSpPr>
          <p:spPr>
            <a:xfrm rot="10800000">
              <a:off x="1321575" y="2655325"/>
              <a:ext cx="4200" cy="102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88" name="Google Shape;2888;p233"/>
            <p:cNvSpPr txBox="1"/>
            <p:nvPr/>
          </p:nvSpPr>
          <p:spPr>
            <a:xfrm>
              <a:off x="21678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9" name="Google Shape;2889;p233"/>
            <p:cNvSpPr txBox="1"/>
            <p:nvPr/>
          </p:nvSpPr>
          <p:spPr>
            <a:xfrm>
              <a:off x="324000" y="2907438"/>
              <a:ext cx="1151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234"/>
          <p:cNvSpPr/>
          <p:nvPr/>
        </p:nvSpPr>
        <p:spPr>
          <a:xfrm>
            <a:off x="1413550" y="2849650"/>
            <a:ext cx="2459700" cy="1008000"/>
          </a:xfrm>
          <a:prstGeom prst="rect">
            <a:avLst/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5" name="Google Shape;2895;p234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If a cut is made in the rectangle and the two pieces are rearranged, what has happened to the: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a) </a:t>
            </a:r>
            <a:r>
              <a:rPr b="1" lang="en-GB">
                <a:solidFill>
                  <a:srgbClr val="000000"/>
                </a:solidFill>
              </a:rPr>
              <a:t>area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b)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2896" name="Google Shape;2896;p23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897" name="Google Shape;2897;p234"/>
          <p:cNvGrpSpPr/>
          <p:nvPr/>
        </p:nvGrpSpPr>
        <p:grpSpPr>
          <a:xfrm>
            <a:off x="324000" y="2850075"/>
            <a:ext cx="3549200" cy="1551050"/>
            <a:chOff x="324000" y="2655325"/>
            <a:chExt cx="3549200" cy="1551050"/>
          </a:xfrm>
        </p:grpSpPr>
        <p:cxnSp>
          <p:nvCxnSpPr>
            <p:cNvPr id="2898" name="Google Shape;2898;p234"/>
            <p:cNvCxnSpPr/>
            <p:nvPr/>
          </p:nvCxnSpPr>
          <p:spPr>
            <a:xfrm flipH="1" rot="10800000">
              <a:off x="1396400" y="3768325"/>
              <a:ext cx="2476800" cy="6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99" name="Google Shape;2899;p234"/>
            <p:cNvCxnSpPr/>
            <p:nvPr/>
          </p:nvCxnSpPr>
          <p:spPr>
            <a:xfrm rot="10800000">
              <a:off x="1321575" y="2655325"/>
              <a:ext cx="4200" cy="102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00" name="Google Shape;2900;p234"/>
            <p:cNvSpPr txBox="1"/>
            <p:nvPr/>
          </p:nvSpPr>
          <p:spPr>
            <a:xfrm>
              <a:off x="21678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1" name="Google Shape;2901;p234"/>
            <p:cNvSpPr txBox="1"/>
            <p:nvPr/>
          </p:nvSpPr>
          <p:spPr>
            <a:xfrm>
              <a:off x="324000" y="2907438"/>
              <a:ext cx="1151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235"/>
          <p:cNvSpPr/>
          <p:nvPr/>
        </p:nvSpPr>
        <p:spPr>
          <a:xfrm>
            <a:off x="4518516" y="2880641"/>
            <a:ext cx="3153600" cy="969900"/>
          </a:xfrm>
          <a:prstGeom prst="parallelogram">
            <a:avLst>
              <a:gd fmla="val 77768" name="adj"/>
            </a:avLst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7" name="Google Shape;2907;p235"/>
          <p:cNvSpPr/>
          <p:nvPr/>
        </p:nvSpPr>
        <p:spPr>
          <a:xfrm>
            <a:off x="1413550" y="2849650"/>
            <a:ext cx="2459700" cy="1008000"/>
          </a:xfrm>
          <a:prstGeom prst="rect">
            <a:avLst/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8" name="Google Shape;2908;p235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If a cut is made in the rectangle and the two pieces are rearranged, what has happened to the: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a) </a:t>
            </a:r>
            <a:r>
              <a:rPr b="1" lang="en-GB">
                <a:solidFill>
                  <a:srgbClr val="000000"/>
                </a:solidFill>
              </a:rPr>
              <a:t>area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b)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2909" name="Google Shape;2909;p23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10" name="Google Shape;2910;p235"/>
          <p:cNvGrpSpPr/>
          <p:nvPr/>
        </p:nvGrpSpPr>
        <p:grpSpPr>
          <a:xfrm>
            <a:off x="324000" y="2850075"/>
            <a:ext cx="3549200" cy="1551050"/>
            <a:chOff x="324000" y="2655325"/>
            <a:chExt cx="3549200" cy="1551050"/>
          </a:xfrm>
        </p:grpSpPr>
        <p:cxnSp>
          <p:nvCxnSpPr>
            <p:cNvPr id="2911" name="Google Shape;2911;p235"/>
            <p:cNvCxnSpPr/>
            <p:nvPr/>
          </p:nvCxnSpPr>
          <p:spPr>
            <a:xfrm flipH="1" rot="10800000">
              <a:off x="1396400" y="3768325"/>
              <a:ext cx="2476800" cy="6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12" name="Google Shape;2912;p235"/>
            <p:cNvCxnSpPr/>
            <p:nvPr/>
          </p:nvCxnSpPr>
          <p:spPr>
            <a:xfrm rot="10800000">
              <a:off x="1321575" y="2655325"/>
              <a:ext cx="4200" cy="102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13" name="Google Shape;2913;p235"/>
            <p:cNvSpPr txBox="1"/>
            <p:nvPr/>
          </p:nvSpPr>
          <p:spPr>
            <a:xfrm>
              <a:off x="21678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4" name="Google Shape;2914;p235"/>
            <p:cNvSpPr txBox="1"/>
            <p:nvPr/>
          </p:nvSpPr>
          <p:spPr>
            <a:xfrm>
              <a:off x="324000" y="2907438"/>
              <a:ext cx="1151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5" name="Google Shape;2915;p235"/>
          <p:cNvGrpSpPr/>
          <p:nvPr/>
        </p:nvGrpSpPr>
        <p:grpSpPr>
          <a:xfrm>
            <a:off x="4494325" y="2849638"/>
            <a:ext cx="4325675" cy="1515813"/>
            <a:chOff x="4856900" y="2690563"/>
            <a:chExt cx="4325675" cy="1515813"/>
          </a:xfrm>
        </p:grpSpPr>
        <p:cxnSp>
          <p:nvCxnSpPr>
            <p:cNvPr id="2916" name="Google Shape;2916;p235"/>
            <p:cNvCxnSpPr/>
            <p:nvPr/>
          </p:nvCxnSpPr>
          <p:spPr>
            <a:xfrm rot="10800000">
              <a:off x="8103750" y="2690563"/>
              <a:ext cx="4200" cy="102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17" name="Google Shape;2917;p235"/>
            <p:cNvSpPr txBox="1"/>
            <p:nvPr/>
          </p:nvSpPr>
          <p:spPr>
            <a:xfrm>
              <a:off x="8031175" y="2941075"/>
              <a:ext cx="1151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18" name="Google Shape;2918;p235"/>
            <p:cNvCxnSpPr/>
            <p:nvPr/>
          </p:nvCxnSpPr>
          <p:spPr>
            <a:xfrm flipH="1" rot="10800000">
              <a:off x="4856900" y="3773125"/>
              <a:ext cx="2439000" cy="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19" name="Google Shape;2919;p235"/>
            <p:cNvSpPr txBox="1"/>
            <p:nvPr/>
          </p:nvSpPr>
          <p:spPr>
            <a:xfrm>
              <a:off x="56283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236"/>
          <p:cNvSpPr/>
          <p:nvPr/>
        </p:nvSpPr>
        <p:spPr>
          <a:xfrm>
            <a:off x="2181354" y="2602741"/>
            <a:ext cx="3153600" cy="969900"/>
          </a:xfrm>
          <a:prstGeom prst="parallelogram">
            <a:avLst>
              <a:gd fmla="val 77768" name="adj"/>
            </a:avLst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5" name="Google Shape;2925;p236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did not change.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Therefore the </a:t>
            </a: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of a </a:t>
            </a:r>
            <a:r>
              <a:rPr b="1" lang="en-GB">
                <a:solidFill>
                  <a:srgbClr val="000000"/>
                </a:solidFill>
              </a:rPr>
              <a:t>parallelogram</a:t>
            </a:r>
            <a:r>
              <a:rPr lang="en-GB">
                <a:solidFill>
                  <a:srgbClr val="000000"/>
                </a:solidFill>
              </a:rPr>
              <a:t> is found by multiplying the base by the perpendicular height.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26" name="Google Shape;2926;p23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27" name="Google Shape;2927;p236"/>
          <p:cNvGrpSpPr/>
          <p:nvPr/>
        </p:nvGrpSpPr>
        <p:grpSpPr>
          <a:xfrm>
            <a:off x="2157163" y="2571738"/>
            <a:ext cx="4325675" cy="1515813"/>
            <a:chOff x="4856900" y="2690563"/>
            <a:chExt cx="4325675" cy="1515813"/>
          </a:xfrm>
        </p:grpSpPr>
        <p:cxnSp>
          <p:nvCxnSpPr>
            <p:cNvPr id="2928" name="Google Shape;2928;p236"/>
            <p:cNvCxnSpPr/>
            <p:nvPr/>
          </p:nvCxnSpPr>
          <p:spPr>
            <a:xfrm rot="10800000">
              <a:off x="8103750" y="2690563"/>
              <a:ext cx="4200" cy="102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29" name="Google Shape;2929;p236"/>
            <p:cNvSpPr txBox="1"/>
            <p:nvPr/>
          </p:nvSpPr>
          <p:spPr>
            <a:xfrm>
              <a:off x="8031175" y="2941075"/>
              <a:ext cx="1151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30" name="Google Shape;2930;p236"/>
            <p:cNvCxnSpPr/>
            <p:nvPr/>
          </p:nvCxnSpPr>
          <p:spPr>
            <a:xfrm flipH="1" rot="10800000">
              <a:off x="4856900" y="3773125"/>
              <a:ext cx="2439000" cy="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31" name="Google Shape;2931;p236"/>
            <p:cNvSpPr txBox="1"/>
            <p:nvPr/>
          </p:nvSpPr>
          <p:spPr>
            <a:xfrm>
              <a:off x="56283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237"/>
          <p:cNvSpPr/>
          <p:nvPr/>
        </p:nvSpPr>
        <p:spPr>
          <a:xfrm>
            <a:off x="2181354" y="2602741"/>
            <a:ext cx="3153600" cy="969900"/>
          </a:xfrm>
          <a:prstGeom prst="parallelogram">
            <a:avLst>
              <a:gd fmla="val 77768" name="adj"/>
            </a:avLst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7" name="Google Shape;2937;p237"/>
          <p:cNvSpPr txBox="1"/>
          <p:nvPr>
            <p:ph idx="1" type="body"/>
          </p:nvPr>
        </p:nvSpPr>
        <p:spPr>
          <a:xfrm>
            <a:off x="324000" y="810000"/>
            <a:ext cx="82377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did change.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is the distance around the shape.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Therefore the </a:t>
            </a: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needs the slanted height.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38" name="Google Shape;2938;p23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39" name="Google Shape;2939;p237"/>
          <p:cNvGrpSpPr/>
          <p:nvPr/>
        </p:nvGrpSpPr>
        <p:grpSpPr>
          <a:xfrm>
            <a:off x="2157163" y="3564350"/>
            <a:ext cx="2439000" cy="523200"/>
            <a:chOff x="4856900" y="3683175"/>
            <a:chExt cx="2439000" cy="523200"/>
          </a:xfrm>
        </p:grpSpPr>
        <p:cxnSp>
          <p:nvCxnSpPr>
            <p:cNvPr id="2940" name="Google Shape;2940;p237"/>
            <p:cNvCxnSpPr/>
            <p:nvPr/>
          </p:nvCxnSpPr>
          <p:spPr>
            <a:xfrm flipH="1" rot="10800000">
              <a:off x="4856900" y="3773125"/>
              <a:ext cx="2439000" cy="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41" name="Google Shape;2941;p237"/>
            <p:cNvSpPr txBox="1"/>
            <p:nvPr/>
          </p:nvSpPr>
          <p:spPr>
            <a:xfrm>
              <a:off x="5628350" y="3683175"/>
              <a:ext cx="933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942" name="Google Shape;2942;p237"/>
          <p:cNvCxnSpPr/>
          <p:nvPr/>
        </p:nvCxnSpPr>
        <p:spPr>
          <a:xfrm flipH="1" rot="10800000">
            <a:off x="4690925" y="2600625"/>
            <a:ext cx="754200" cy="99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43" name="Google Shape;2943;p237"/>
          <p:cNvSpPr txBox="1"/>
          <p:nvPr/>
        </p:nvSpPr>
        <p:spPr>
          <a:xfrm>
            <a:off x="5143574" y="2702250"/>
            <a:ext cx="16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slanted height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7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238"/>
          <p:cNvSpPr/>
          <p:nvPr/>
        </p:nvSpPr>
        <p:spPr>
          <a:xfrm>
            <a:off x="2181354" y="2602741"/>
            <a:ext cx="3153600" cy="969900"/>
          </a:xfrm>
          <a:prstGeom prst="parallelogram">
            <a:avLst>
              <a:gd fmla="val 77768" name="adj"/>
            </a:avLst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9" name="Google Shape;2949;p238"/>
          <p:cNvSpPr txBox="1"/>
          <p:nvPr>
            <p:ph idx="1" type="body"/>
          </p:nvPr>
        </p:nvSpPr>
        <p:spPr>
          <a:xfrm>
            <a:off x="324000" y="810000"/>
            <a:ext cx="4065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Perimeter</a:t>
            </a:r>
            <a:r>
              <a:rPr lang="en-GB">
                <a:solidFill>
                  <a:srgbClr val="000000"/>
                </a:solidFill>
              </a:rPr>
              <a:t> of a parallelogram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50" name="Google Shape;2950;p23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51" name="Google Shape;2951;p238"/>
          <p:cNvGrpSpPr/>
          <p:nvPr/>
        </p:nvGrpSpPr>
        <p:grpSpPr>
          <a:xfrm>
            <a:off x="2157163" y="3564350"/>
            <a:ext cx="2439000" cy="554100"/>
            <a:chOff x="4856900" y="3683175"/>
            <a:chExt cx="2439000" cy="554100"/>
          </a:xfrm>
        </p:grpSpPr>
        <p:cxnSp>
          <p:nvCxnSpPr>
            <p:cNvPr id="2952" name="Google Shape;2952;p238"/>
            <p:cNvCxnSpPr/>
            <p:nvPr/>
          </p:nvCxnSpPr>
          <p:spPr>
            <a:xfrm flipH="1" rot="10800000">
              <a:off x="4856900" y="3773125"/>
              <a:ext cx="2439000" cy="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53" name="Google Shape;2953;p238"/>
            <p:cNvSpPr txBox="1"/>
            <p:nvPr/>
          </p:nvSpPr>
          <p:spPr>
            <a:xfrm>
              <a:off x="5628350" y="3683175"/>
              <a:ext cx="933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954" name="Google Shape;2954;p238"/>
          <p:cNvCxnSpPr/>
          <p:nvPr/>
        </p:nvCxnSpPr>
        <p:spPr>
          <a:xfrm flipH="1" rot="10800000">
            <a:off x="4690925" y="2600625"/>
            <a:ext cx="754200" cy="99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55" name="Google Shape;2955;p238"/>
          <p:cNvSpPr txBox="1"/>
          <p:nvPr/>
        </p:nvSpPr>
        <p:spPr>
          <a:xfrm>
            <a:off x="5143574" y="2819175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6" name="Google Shape;2956;p238"/>
          <p:cNvSpPr txBox="1"/>
          <p:nvPr/>
        </p:nvSpPr>
        <p:spPr>
          <a:xfrm>
            <a:off x="4432300" y="810000"/>
            <a:ext cx="19251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b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239"/>
          <p:cNvSpPr/>
          <p:nvPr/>
        </p:nvSpPr>
        <p:spPr>
          <a:xfrm>
            <a:off x="2181354" y="2602741"/>
            <a:ext cx="3153600" cy="969900"/>
          </a:xfrm>
          <a:prstGeom prst="parallelogram">
            <a:avLst>
              <a:gd fmla="val 77768" name="adj"/>
            </a:avLst>
          </a:prstGeom>
          <a:solidFill>
            <a:srgbClr val="374CF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2" name="Google Shape;2962;p239"/>
          <p:cNvSpPr txBox="1"/>
          <p:nvPr>
            <p:ph idx="1" type="body"/>
          </p:nvPr>
        </p:nvSpPr>
        <p:spPr>
          <a:xfrm>
            <a:off x="324000" y="810000"/>
            <a:ext cx="4065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Area</a:t>
            </a:r>
            <a:r>
              <a:rPr lang="en-GB">
                <a:solidFill>
                  <a:srgbClr val="000000"/>
                </a:solidFill>
              </a:rPr>
              <a:t> of a parallelogram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63" name="Google Shape;2963;p23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64" name="Google Shape;2964;p239"/>
          <p:cNvGrpSpPr/>
          <p:nvPr/>
        </p:nvGrpSpPr>
        <p:grpSpPr>
          <a:xfrm>
            <a:off x="2157163" y="3564350"/>
            <a:ext cx="2439000" cy="554100"/>
            <a:chOff x="4856900" y="3683175"/>
            <a:chExt cx="2439000" cy="554100"/>
          </a:xfrm>
        </p:grpSpPr>
        <p:cxnSp>
          <p:nvCxnSpPr>
            <p:cNvPr id="2965" name="Google Shape;2965;p239"/>
            <p:cNvCxnSpPr/>
            <p:nvPr/>
          </p:nvCxnSpPr>
          <p:spPr>
            <a:xfrm flipH="1" rot="10800000">
              <a:off x="4856900" y="3773125"/>
              <a:ext cx="2439000" cy="2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66" name="Google Shape;2966;p239"/>
            <p:cNvSpPr txBox="1"/>
            <p:nvPr/>
          </p:nvSpPr>
          <p:spPr>
            <a:xfrm>
              <a:off x="5628350" y="3683175"/>
              <a:ext cx="933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67" name="Google Shape;2967;p239"/>
          <p:cNvSpPr txBox="1"/>
          <p:nvPr/>
        </p:nvSpPr>
        <p:spPr>
          <a:xfrm>
            <a:off x="1716949" y="2810650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8" name="Google Shape;2968;p239"/>
          <p:cNvSpPr txBox="1"/>
          <p:nvPr/>
        </p:nvSpPr>
        <p:spPr>
          <a:xfrm>
            <a:off x="3746500" y="810000"/>
            <a:ext cx="19251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b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69" name="Google Shape;2969;p239"/>
          <p:cNvCxnSpPr/>
          <p:nvPr/>
        </p:nvCxnSpPr>
        <p:spPr>
          <a:xfrm rot="10800000">
            <a:off x="2076225" y="2600460"/>
            <a:ext cx="0" cy="96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24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sp>
        <p:nvSpPr>
          <p:cNvPr id="2975" name="Google Shape;2975;p240"/>
          <p:cNvSpPr txBox="1"/>
          <p:nvPr>
            <p:ph idx="1" type="subTitle"/>
          </p:nvPr>
        </p:nvSpPr>
        <p:spPr>
          <a:xfrm>
            <a:off x="4824000" y="810000"/>
            <a:ext cx="3982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</a:t>
            </a:r>
            <a:r>
              <a:rPr b="1" lang="en-GB"/>
              <a:t>area</a:t>
            </a:r>
            <a:r>
              <a:rPr lang="en-GB"/>
              <a:t> of the </a:t>
            </a:r>
            <a:r>
              <a:rPr b="1" lang="en-GB"/>
              <a:t>parallelogram</a:t>
            </a:r>
            <a:r>
              <a:rPr lang="en-GB"/>
              <a:t>.</a:t>
            </a:r>
            <a:endParaRPr/>
          </a:p>
        </p:txBody>
      </p:sp>
      <p:sp>
        <p:nvSpPr>
          <p:cNvPr id="2976" name="Google Shape;2976;p240"/>
          <p:cNvSpPr txBox="1"/>
          <p:nvPr>
            <p:ph idx="2" type="subTitle"/>
          </p:nvPr>
        </p:nvSpPr>
        <p:spPr>
          <a:xfrm>
            <a:off x="324000" y="810000"/>
            <a:ext cx="3982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</a:t>
            </a:r>
            <a:r>
              <a:rPr b="1" lang="en-GB"/>
              <a:t>area</a:t>
            </a:r>
            <a:r>
              <a:rPr lang="en-GB"/>
              <a:t> of the </a:t>
            </a:r>
            <a:r>
              <a:rPr b="1" lang="en-GB"/>
              <a:t>parallelogram</a:t>
            </a:r>
            <a:r>
              <a:rPr lang="en-GB"/>
              <a:t>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e54fa82-1f26-4f9f-ab35-78ee6fe43270&quot; data-equatio-type=&quot;image&quot;&gt;&lt;mglyph src=&quot;https://equatio-api.texthelp.com/desmos/get/12-06-2023/eu-be54fa82-1f26-4f9f-ab35-78ee6fe43270&quot; alt=&quot;Equatio Image&quot;/&gt;&lt;/math&gt;" id="2977" name="Google Shape;2977;p24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100" y="1785250"/>
            <a:ext cx="3311153" cy="91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8" name="Google Shape;2978;p240"/>
          <p:cNvCxnSpPr/>
          <p:nvPr/>
        </p:nvCxnSpPr>
        <p:spPr>
          <a:xfrm>
            <a:off x="1514425" y="2751738"/>
            <a:ext cx="2500500" cy="1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79" name="Google Shape;2979;p240"/>
          <p:cNvSpPr txBox="1"/>
          <p:nvPr/>
        </p:nvSpPr>
        <p:spPr>
          <a:xfrm>
            <a:off x="2141400" y="2700000"/>
            <a:ext cx="142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 inches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0" name="Google Shape;2980;p240"/>
          <p:cNvSpPr txBox="1"/>
          <p:nvPr/>
        </p:nvSpPr>
        <p:spPr>
          <a:xfrm>
            <a:off x="337825" y="2026350"/>
            <a:ext cx="95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inches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1" name="Google Shape;2981;p240"/>
          <p:cNvSpPr txBox="1"/>
          <p:nvPr/>
        </p:nvSpPr>
        <p:spPr>
          <a:xfrm>
            <a:off x="2101100" y="2022475"/>
            <a:ext cx="142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inches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2" name="Google Shape;2982;p240"/>
          <p:cNvCxnSpPr/>
          <p:nvPr/>
        </p:nvCxnSpPr>
        <p:spPr>
          <a:xfrm>
            <a:off x="677200" y="1805875"/>
            <a:ext cx="806100" cy="89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83" name="Google Shape;2983;p240"/>
          <p:cNvCxnSpPr/>
          <p:nvPr/>
        </p:nvCxnSpPr>
        <p:spPr>
          <a:xfrm>
            <a:off x="2144475" y="1822000"/>
            <a:ext cx="30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984" name="Google Shape;2984;p240"/>
          <p:cNvSpPr txBox="1"/>
          <p:nvPr/>
        </p:nvSpPr>
        <p:spPr>
          <a:xfrm>
            <a:off x="324000" y="3282925"/>
            <a:ext cx="39822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base x perpendicular height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22 </a:t>
            </a:r>
            <a:r>
              <a:rPr lang="en-GB" sz="1800">
                <a:solidFill>
                  <a:srgbClr val="20212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176 inches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c9ff80d-79ee-4372-94cd-d736aad9b4e5&quot; data-equatio-type=&quot;image&quot;&gt;&lt;mglyph src=&quot;https://equatio-api.texthelp.com/desmos/get/12-06-2023/eu-bc9ff80d-79ee-4372-94cd-d736aad9b4e5&quot; alt=&quot;Equatio Image&quot;/&gt;&lt;/math&gt;" id="2985" name="Google Shape;2985;p240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000" y="1580300"/>
            <a:ext cx="2615815" cy="1376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6" name="Google Shape;2986;p240"/>
          <p:cNvCxnSpPr/>
          <p:nvPr/>
        </p:nvCxnSpPr>
        <p:spPr>
          <a:xfrm>
            <a:off x="6486043" y="1596104"/>
            <a:ext cx="300" cy="134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987" name="Google Shape;2987;p240"/>
          <p:cNvCxnSpPr/>
          <p:nvPr/>
        </p:nvCxnSpPr>
        <p:spPr>
          <a:xfrm>
            <a:off x="5359000" y="3018302"/>
            <a:ext cx="1980600" cy="1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88" name="Google Shape;2988;p240"/>
          <p:cNvCxnSpPr/>
          <p:nvPr/>
        </p:nvCxnSpPr>
        <p:spPr>
          <a:xfrm flipH="1">
            <a:off x="7394561" y="1596104"/>
            <a:ext cx="6189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89" name="Google Shape;2989;p240"/>
          <p:cNvSpPr txBox="1"/>
          <p:nvPr/>
        </p:nvSpPr>
        <p:spPr>
          <a:xfrm>
            <a:off x="6486059" y="2026064"/>
            <a:ext cx="7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0" name="Google Shape;2990;p240"/>
          <p:cNvSpPr txBox="1"/>
          <p:nvPr/>
        </p:nvSpPr>
        <p:spPr>
          <a:xfrm>
            <a:off x="6153525" y="2957125"/>
            <a:ext cx="7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1" name="Google Shape;2991;p240"/>
          <p:cNvSpPr txBox="1"/>
          <p:nvPr/>
        </p:nvSpPr>
        <p:spPr>
          <a:xfrm>
            <a:off x="7678374" y="2239525"/>
            <a:ext cx="7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2" name="Google Shape;2992;p240"/>
          <p:cNvSpPr txBox="1"/>
          <p:nvPr/>
        </p:nvSpPr>
        <p:spPr>
          <a:xfrm>
            <a:off x="4824000" y="3418825"/>
            <a:ext cx="40635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base x perpendicular height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= 15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15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= 225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241"/>
          <p:cNvSpPr txBox="1"/>
          <p:nvPr>
            <p:ph idx="1" type="body"/>
          </p:nvPr>
        </p:nvSpPr>
        <p:spPr>
          <a:xfrm>
            <a:off x="324000" y="810000"/>
            <a:ext cx="8237700" cy="22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</a:t>
            </a:r>
            <a:r>
              <a:rPr lang="en-GB" sz="2000">
                <a:solidFill>
                  <a:srgbClr val="000000"/>
                </a:solidFill>
              </a:rPr>
              <a:t>Calculate the </a:t>
            </a:r>
            <a:r>
              <a:rPr b="1" lang="en-GB" sz="2000">
                <a:solidFill>
                  <a:srgbClr val="000000"/>
                </a:solidFill>
              </a:rPr>
              <a:t>area</a:t>
            </a:r>
            <a:r>
              <a:rPr lang="en-GB" sz="2000">
                <a:solidFill>
                  <a:srgbClr val="000000"/>
                </a:solidFill>
              </a:rPr>
              <a:t> of each </a:t>
            </a:r>
            <a:r>
              <a:rPr b="1" lang="en-GB" sz="2000">
                <a:solidFill>
                  <a:srgbClr val="000000"/>
                </a:solidFill>
              </a:rPr>
              <a:t>parallelogram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                                                       b)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998" name="Google Shape;2998;p24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2999" name="Google Shape;2999;p241"/>
          <p:cNvGrpSpPr/>
          <p:nvPr/>
        </p:nvGrpSpPr>
        <p:grpSpPr>
          <a:xfrm>
            <a:off x="1243825" y="1853050"/>
            <a:ext cx="659900" cy="2065075"/>
            <a:chOff x="749725" y="1828850"/>
            <a:chExt cx="659900" cy="2065075"/>
          </a:xfrm>
        </p:grpSpPr>
        <p:pic>
          <p:nvPicPr>
            <p:cNvPr descr="&lt;math xmlns=&quot;http://www.w3.org/1998/Math/MathML&quot; data-is-equatio=&quot;1&quot; data-equatio-url=&quot;https://equatio-api.texthelp.com/desmos/get/12-06-2023/eu-9f32a7e7-888a-414d-842b-8c8efcbf47e2&quot; data-equatio-type=&quot;image&quot;&gt;&lt;mglyph src=&quot;https://equatio-api.texthelp.com/desmos/get/12-06-2023/eu-9f32a7e7-888a-414d-842b-8c8efcbf47e2&quot; alt=&quot;Equatio Image&quot;/&gt;&lt;/math&gt;" id="3000" name="Google Shape;3000;p241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7525" y="1828850"/>
              <a:ext cx="582100" cy="2065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01" name="Google Shape;3001;p241"/>
            <p:cNvCxnSpPr/>
            <p:nvPr/>
          </p:nvCxnSpPr>
          <p:spPr>
            <a:xfrm flipH="1">
              <a:off x="749725" y="1846350"/>
              <a:ext cx="8100" cy="2039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3002" name="Google Shape;3002;p241"/>
          <p:cNvCxnSpPr/>
          <p:nvPr/>
        </p:nvCxnSpPr>
        <p:spPr>
          <a:xfrm>
            <a:off x="1330925" y="3992513"/>
            <a:ext cx="4428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3" name="Google Shape;3003;p241"/>
          <p:cNvCxnSpPr/>
          <p:nvPr/>
        </p:nvCxnSpPr>
        <p:spPr>
          <a:xfrm flipH="1">
            <a:off x="1838150" y="1886475"/>
            <a:ext cx="120900" cy="203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2-06-2023/eu-a693a07a-fa53-430c-9883-939dd46a36f0&quot; data-equatio-type=&quot;image&quot;&gt;&lt;mglyph src=&quot;https://equatio-api.texthelp.com/desmos/get/12-06-2023/eu-a693a07a-fa53-430c-9883-939dd46a36f0&quot; alt=&quot;Equatio Image&quot;/&gt;&lt;/math&gt;" id="3004" name="Google Shape;3004;p24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75" y="1853050"/>
            <a:ext cx="3238600" cy="1966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5" name="Google Shape;3005;p241"/>
          <p:cNvCxnSpPr/>
          <p:nvPr/>
        </p:nvCxnSpPr>
        <p:spPr>
          <a:xfrm>
            <a:off x="6707500" y="1805875"/>
            <a:ext cx="1862400" cy="12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6" name="Google Shape;3006;p241"/>
          <p:cNvCxnSpPr/>
          <p:nvPr/>
        </p:nvCxnSpPr>
        <p:spPr>
          <a:xfrm flipH="1" rot="10800000">
            <a:off x="6530150" y="2483200"/>
            <a:ext cx="967200" cy="86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7" name="Google Shape;3007;p241"/>
          <p:cNvCxnSpPr/>
          <p:nvPr/>
        </p:nvCxnSpPr>
        <p:spPr>
          <a:xfrm flipH="1" rot="10800000">
            <a:off x="7199300" y="2375575"/>
            <a:ext cx="152100" cy="13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8" name="Google Shape;3008;p241"/>
          <p:cNvCxnSpPr/>
          <p:nvPr/>
        </p:nvCxnSpPr>
        <p:spPr>
          <a:xfrm>
            <a:off x="7199300" y="2502900"/>
            <a:ext cx="153300" cy="1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9" name="Google Shape;3009;p241"/>
          <p:cNvCxnSpPr/>
          <p:nvPr/>
        </p:nvCxnSpPr>
        <p:spPr>
          <a:xfrm flipH="1">
            <a:off x="8505275" y="3136075"/>
            <a:ext cx="8100" cy="68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10" name="Google Shape;3010;p241"/>
          <p:cNvSpPr txBox="1"/>
          <p:nvPr/>
        </p:nvSpPr>
        <p:spPr>
          <a:xfrm>
            <a:off x="457475" y="246915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1" name="Google Shape;3011;p241"/>
          <p:cNvSpPr txBox="1"/>
          <p:nvPr/>
        </p:nvSpPr>
        <p:spPr>
          <a:xfrm>
            <a:off x="1065875" y="3960275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2" name="Google Shape;3012;p241"/>
          <p:cNvSpPr txBox="1"/>
          <p:nvPr/>
        </p:nvSpPr>
        <p:spPr>
          <a:xfrm>
            <a:off x="1903725" y="270000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3" name="Google Shape;3013;p241"/>
          <p:cNvSpPr txBox="1"/>
          <p:nvPr/>
        </p:nvSpPr>
        <p:spPr>
          <a:xfrm>
            <a:off x="7965900" y="3247825"/>
            <a:ext cx="7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4" name="Google Shape;3014;p241"/>
          <p:cNvSpPr txBox="1"/>
          <p:nvPr/>
        </p:nvSpPr>
        <p:spPr>
          <a:xfrm>
            <a:off x="7409525" y="192915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5" name="Google Shape;3015;p241"/>
          <p:cNvSpPr txBox="1"/>
          <p:nvPr/>
        </p:nvSpPr>
        <p:spPr>
          <a:xfrm>
            <a:off x="6443400" y="2605575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9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p242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c) The </a:t>
            </a:r>
            <a:r>
              <a:rPr b="1" lang="en-GB" sz="2000">
                <a:solidFill>
                  <a:srgbClr val="000000"/>
                </a:solidFill>
              </a:rPr>
              <a:t>area</a:t>
            </a:r>
            <a:r>
              <a:rPr lang="en-GB" sz="2000">
                <a:solidFill>
                  <a:srgbClr val="000000"/>
                </a:solidFill>
              </a:rPr>
              <a:t> of </a:t>
            </a:r>
            <a:r>
              <a:rPr b="1" lang="en-GB" sz="2000">
                <a:solidFill>
                  <a:srgbClr val="000000"/>
                </a:solidFill>
              </a:rPr>
              <a:t>parallelogram</a:t>
            </a:r>
            <a:r>
              <a:rPr lang="en-GB" sz="2000">
                <a:solidFill>
                  <a:srgbClr val="000000"/>
                </a:solidFill>
              </a:rPr>
              <a:t> is 36 units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Calculate the size of the missing length and add it to the diagram.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3021" name="Google Shape;3021;p24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c9ff80d-79ee-4372-94cd-d736aad9b4e5&quot; data-equatio-type=&quot;image&quot;&gt;&lt;mglyph src=&quot;https://equatio-api.texthelp.com/desmos/get/12-06-2023/eu-bc9ff80d-79ee-4372-94cd-d736aad9b4e5&quot; alt=&quot;Equatio Image&quot;/&gt;&lt;/math&gt;" id="3022" name="Google Shape;3022;p24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738" y="2160000"/>
            <a:ext cx="3438525" cy="180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3" name="Google Shape;3023;p242"/>
          <p:cNvCxnSpPr/>
          <p:nvPr/>
        </p:nvCxnSpPr>
        <p:spPr>
          <a:xfrm flipH="1">
            <a:off x="3692275" y="2196825"/>
            <a:ext cx="16200" cy="173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024" name="Google Shape;3024;p242"/>
          <p:cNvCxnSpPr/>
          <p:nvPr/>
        </p:nvCxnSpPr>
        <p:spPr>
          <a:xfrm flipH="1">
            <a:off x="2523475" y="2184775"/>
            <a:ext cx="806100" cy="17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5" name="Google Shape;3025;p242"/>
          <p:cNvSpPr txBox="1"/>
          <p:nvPr/>
        </p:nvSpPr>
        <p:spPr>
          <a:xfrm>
            <a:off x="2600750" y="2619325"/>
            <a:ext cx="6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6" name="Google Shape;3026;p242"/>
          <p:cNvSpPr txBox="1"/>
          <p:nvPr/>
        </p:nvSpPr>
        <p:spPr>
          <a:xfrm>
            <a:off x="3692275" y="2778300"/>
            <a:ext cx="6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243"/>
          <p:cNvSpPr txBox="1"/>
          <p:nvPr>
            <p:ph idx="1" type="body"/>
          </p:nvPr>
        </p:nvSpPr>
        <p:spPr>
          <a:xfrm>
            <a:off x="324000" y="810000"/>
            <a:ext cx="8237700" cy="22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1) Calculate the </a:t>
            </a:r>
            <a:r>
              <a:rPr b="1" lang="en-GB" sz="2000">
                <a:solidFill>
                  <a:srgbClr val="000000"/>
                </a:solidFill>
              </a:rPr>
              <a:t>area</a:t>
            </a:r>
            <a:r>
              <a:rPr lang="en-GB" sz="2000">
                <a:solidFill>
                  <a:srgbClr val="000000"/>
                </a:solidFill>
              </a:rPr>
              <a:t> of each </a:t>
            </a:r>
            <a:r>
              <a:rPr b="1" lang="en-GB" sz="2000">
                <a:solidFill>
                  <a:srgbClr val="000000"/>
                </a:solidFill>
              </a:rPr>
              <a:t>parallelogram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                                                       b)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3032" name="Google Shape;3032;p24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grpSp>
        <p:nvGrpSpPr>
          <p:cNvPr id="3033" name="Google Shape;3033;p243"/>
          <p:cNvGrpSpPr/>
          <p:nvPr/>
        </p:nvGrpSpPr>
        <p:grpSpPr>
          <a:xfrm>
            <a:off x="1243825" y="1853050"/>
            <a:ext cx="659900" cy="2065075"/>
            <a:chOff x="749725" y="1828850"/>
            <a:chExt cx="659900" cy="2065075"/>
          </a:xfrm>
        </p:grpSpPr>
        <p:pic>
          <p:nvPicPr>
            <p:cNvPr descr="&lt;math xmlns=&quot;http://www.w3.org/1998/Math/MathML&quot; data-is-equatio=&quot;1&quot; data-equatio-url=&quot;https://equatio-api.texthelp.com/desmos/get/12-06-2023/eu-9f32a7e7-888a-414d-842b-8c8efcbf47e2&quot; data-equatio-type=&quot;image&quot;&gt;&lt;mglyph src=&quot;https://equatio-api.texthelp.com/desmos/get/12-06-2023/eu-9f32a7e7-888a-414d-842b-8c8efcbf47e2&quot; alt=&quot;Equatio Image&quot;/&gt;&lt;/math&gt;" id="3034" name="Google Shape;3034;p243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7525" y="1828850"/>
              <a:ext cx="582100" cy="2065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35" name="Google Shape;3035;p243"/>
            <p:cNvCxnSpPr/>
            <p:nvPr/>
          </p:nvCxnSpPr>
          <p:spPr>
            <a:xfrm flipH="1">
              <a:off x="749725" y="1846350"/>
              <a:ext cx="8100" cy="2039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3036" name="Google Shape;3036;p243"/>
          <p:cNvCxnSpPr/>
          <p:nvPr/>
        </p:nvCxnSpPr>
        <p:spPr>
          <a:xfrm>
            <a:off x="1330925" y="3992513"/>
            <a:ext cx="4428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7" name="Google Shape;3037;p243"/>
          <p:cNvCxnSpPr/>
          <p:nvPr/>
        </p:nvCxnSpPr>
        <p:spPr>
          <a:xfrm flipH="1">
            <a:off x="1838150" y="1886475"/>
            <a:ext cx="120900" cy="203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2-06-2023/eu-a693a07a-fa53-430c-9883-939dd46a36f0&quot; data-equatio-type=&quot;image&quot;&gt;&lt;mglyph src=&quot;https://equatio-api.texthelp.com/desmos/get/12-06-2023/eu-a693a07a-fa53-430c-9883-939dd46a36f0&quot; alt=&quot;Equatio Image&quot;/&gt;&lt;/math&gt;" id="3038" name="Google Shape;3038;p243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75" y="1853050"/>
            <a:ext cx="3238600" cy="1966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9" name="Google Shape;3039;p243"/>
          <p:cNvCxnSpPr/>
          <p:nvPr/>
        </p:nvCxnSpPr>
        <p:spPr>
          <a:xfrm>
            <a:off x="6707500" y="1805875"/>
            <a:ext cx="1862400" cy="12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0" name="Google Shape;3040;p243"/>
          <p:cNvCxnSpPr/>
          <p:nvPr/>
        </p:nvCxnSpPr>
        <p:spPr>
          <a:xfrm flipH="1" rot="10800000">
            <a:off x="6530150" y="2483200"/>
            <a:ext cx="967200" cy="86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1" name="Google Shape;3041;p243"/>
          <p:cNvCxnSpPr/>
          <p:nvPr/>
        </p:nvCxnSpPr>
        <p:spPr>
          <a:xfrm flipH="1" rot="10800000">
            <a:off x="7199300" y="2375575"/>
            <a:ext cx="152100" cy="13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2" name="Google Shape;3042;p243"/>
          <p:cNvCxnSpPr/>
          <p:nvPr/>
        </p:nvCxnSpPr>
        <p:spPr>
          <a:xfrm>
            <a:off x="7199300" y="2502900"/>
            <a:ext cx="153300" cy="1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3" name="Google Shape;3043;p243"/>
          <p:cNvCxnSpPr/>
          <p:nvPr/>
        </p:nvCxnSpPr>
        <p:spPr>
          <a:xfrm flipH="1">
            <a:off x="8505275" y="3136075"/>
            <a:ext cx="8100" cy="68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44" name="Google Shape;3044;p243"/>
          <p:cNvSpPr txBox="1"/>
          <p:nvPr/>
        </p:nvSpPr>
        <p:spPr>
          <a:xfrm>
            <a:off x="457475" y="246915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5" name="Google Shape;3045;p243"/>
          <p:cNvSpPr txBox="1"/>
          <p:nvPr/>
        </p:nvSpPr>
        <p:spPr>
          <a:xfrm>
            <a:off x="1065875" y="3960275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6" name="Google Shape;3046;p243"/>
          <p:cNvSpPr txBox="1"/>
          <p:nvPr/>
        </p:nvSpPr>
        <p:spPr>
          <a:xfrm>
            <a:off x="1903725" y="270000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7" name="Google Shape;3047;p243"/>
          <p:cNvSpPr txBox="1"/>
          <p:nvPr/>
        </p:nvSpPr>
        <p:spPr>
          <a:xfrm>
            <a:off x="7965900" y="3247825"/>
            <a:ext cx="7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8" name="Google Shape;3048;p243"/>
          <p:cNvSpPr txBox="1"/>
          <p:nvPr/>
        </p:nvSpPr>
        <p:spPr>
          <a:xfrm>
            <a:off x="7409525" y="1929150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9" name="Google Shape;3049;p243"/>
          <p:cNvSpPr txBox="1"/>
          <p:nvPr/>
        </p:nvSpPr>
        <p:spPr>
          <a:xfrm>
            <a:off x="6443400" y="2605575"/>
            <a:ext cx="1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0" name="Google Shape;3050;p243"/>
          <p:cNvSpPr txBox="1"/>
          <p:nvPr/>
        </p:nvSpPr>
        <p:spPr>
          <a:xfrm>
            <a:off x="2081675" y="3626225"/>
            <a:ext cx="19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0.7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7.3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5.11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1" name="Google Shape;3051;p243"/>
          <p:cNvSpPr txBox="1"/>
          <p:nvPr/>
        </p:nvSpPr>
        <p:spPr>
          <a:xfrm>
            <a:off x="5268288" y="3626225"/>
            <a:ext cx="19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8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10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80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244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c) The </a:t>
            </a:r>
            <a:r>
              <a:rPr b="1" lang="en-GB" sz="2000">
                <a:solidFill>
                  <a:srgbClr val="000000"/>
                </a:solidFill>
              </a:rPr>
              <a:t>area</a:t>
            </a:r>
            <a:r>
              <a:rPr lang="en-GB" sz="2000">
                <a:solidFill>
                  <a:srgbClr val="000000"/>
                </a:solidFill>
              </a:rPr>
              <a:t> of </a:t>
            </a:r>
            <a:r>
              <a:rPr b="1" lang="en-GB" sz="2000">
                <a:solidFill>
                  <a:srgbClr val="000000"/>
                </a:solidFill>
              </a:rPr>
              <a:t>parallelogram</a:t>
            </a:r>
            <a:r>
              <a:rPr lang="en-GB" sz="2000">
                <a:solidFill>
                  <a:srgbClr val="000000"/>
                </a:solidFill>
              </a:rPr>
              <a:t> is 36 units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Calculate the size of the missing length and add it to the diagram.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3057" name="Google Shape;3057;p24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 parallelogram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c9ff80d-79ee-4372-94cd-d736aad9b4e5&quot; data-equatio-type=&quot;image&quot;&gt;&lt;mglyph src=&quot;https://equatio-api.texthelp.com/desmos/get/12-06-2023/eu-bc9ff80d-79ee-4372-94cd-d736aad9b4e5&quot; alt=&quot;Equatio Image&quot;/&gt;&lt;/math&gt;" id="3058" name="Google Shape;3058;p24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738" y="2160000"/>
            <a:ext cx="3438525" cy="180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9" name="Google Shape;3059;p244"/>
          <p:cNvCxnSpPr/>
          <p:nvPr/>
        </p:nvCxnSpPr>
        <p:spPr>
          <a:xfrm flipH="1">
            <a:off x="3692275" y="2196825"/>
            <a:ext cx="16200" cy="173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060" name="Google Shape;3060;p244"/>
          <p:cNvCxnSpPr/>
          <p:nvPr/>
        </p:nvCxnSpPr>
        <p:spPr>
          <a:xfrm flipH="1">
            <a:off x="2523475" y="2184775"/>
            <a:ext cx="806100" cy="17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1" name="Google Shape;3061;p244"/>
          <p:cNvSpPr txBox="1"/>
          <p:nvPr/>
        </p:nvSpPr>
        <p:spPr>
          <a:xfrm>
            <a:off x="2600750" y="2619325"/>
            <a:ext cx="6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2" name="Google Shape;3062;p244"/>
          <p:cNvSpPr txBox="1"/>
          <p:nvPr/>
        </p:nvSpPr>
        <p:spPr>
          <a:xfrm>
            <a:off x="3692275" y="2778300"/>
            <a:ext cx="6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3" name="Google Shape;3063;p244"/>
          <p:cNvCxnSpPr/>
          <p:nvPr/>
        </p:nvCxnSpPr>
        <p:spPr>
          <a:xfrm flipH="1" rot="10800000">
            <a:off x="2620125" y="4047000"/>
            <a:ext cx="2563800" cy="1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3064" name="Google Shape;3064;p244"/>
          <p:cNvSpPr txBox="1"/>
          <p:nvPr/>
        </p:nvSpPr>
        <p:spPr>
          <a:xfrm>
            <a:off x="6256800" y="2202300"/>
            <a:ext cx="1949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36 = base </a:t>
            </a:r>
            <a:r>
              <a:rPr lang="en-GB" sz="18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10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3.6</a:t>
            </a:r>
            <a:r>
              <a:rPr lang="en-GB" sz="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base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base should be marked parallel to the indicated line.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5" name="Google Shape;3065;p244"/>
          <p:cNvSpPr txBox="1"/>
          <p:nvPr/>
        </p:nvSpPr>
        <p:spPr>
          <a:xfrm>
            <a:off x="3514875" y="3969775"/>
            <a:ext cx="70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base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9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p245"/>
          <p:cNvSpPr txBox="1"/>
          <p:nvPr>
            <p:ph type="title"/>
          </p:nvPr>
        </p:nvSpPr>
        <p:spPr>
          <a:xfrm>
            <a:off x="1684800" y="119125"/>
            <a:ext cx="633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perimeter and area</a:t>
            </a:r>
            <a:endParaRPr/>
          </a:p>
        </p:txBody>
      </p:sp>
      <p:sp>
        <p:nvSpPr>
          <p:cNvPr id="3071" name="Google Shape;3071;p245"/>
          <p:cNvSpPr txBox="1"/>
          <p:nvPr>
            <p:ph idx="1" type="body"/>
          </p:nvPr>
        </p:nvSpPr>
        <p:spPr>
          <a:xfrm>
            <a:off x="324000" y="810000"/>
            <a:ext cx="82377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perimeter</a:t>
            </a:r>
            <a:r>
              <a:rPr lang="en-GB"/>
              <a:t> is the distance around a 2D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Rectangles may look different but have the same </a:t>
            </a:r>
            <a:r>
              <a:rPr b="1" lang="en-GB"/>
              <a:t>perimeter</a:t>
            </a:r>
            <a:r>
              <a:rPr lang="en-GB"/>
              <a:t> or </a:t>
            </a:r>
            <a:r>
              <a:rPr b="1" lang="en-GB"/>
              <a:t>area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area</a:t>
            </a:r>
            <a:r>
              <a:rPr lang="en-GB"/>
              <a:t> of a </a:t>
            </a:r>
            <a:r>
              <a:rPr b="1" lang="en-GB"/>
              <a:t>parallelogram</a:t>
            </a:r>
            <a:r>
              <a:rPr lang="en-GB"/>
              <a:t> is worked out in the same way as a rectangle.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246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077" name="Google Shape;3077;p2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