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018E19-D93B-401A-883A-3BCD6426D436}">
  <a:tblStyle styleId="{6C018E19-D93B-401A-883A-3BCD6426D4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59e097d75_0_2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59e097d7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87a9429993_1_11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87a9429993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/>
        </p:nvSpPr>
        <p:spPr>
          <a:xfrm>
            <a:off x="467825" y="1488900"/>
            <a:ext cx="6624300" cy="6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Calculating the perimeter and area of rectangles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wants to work out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perimeter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each of these rectangles.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rectangles have “enough”, “too much”, or “not enough” information?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perimeter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rectangles where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b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       </a:t>
            </a:r>
            <a:endParaRPr baseline="30000"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b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         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works out the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Z using the calculation 40 </a:t>
            </a:r>
            <a:r>
              <a:rPr lang="en-GB" sz="12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40 </a:t>
            </a:r>
            <a:r>
              <a:rPr lang="en-GB" sz="12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40 </a:t>
            </a:r>
            <a:r>
              <a:rPr lang="en-GB" sz="1200">
                <a:solidFill>
                  <a:srgbClr val="202124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40.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have they done wrong?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06-2023/eu-e82f60be-7a50-4834-a66d-4310534cf874&quot; data-equatio-type=&quot;image&quot;&gt;&lt;mglyph src=&quot;https://equatio-api.texthelp.com/desmos/get/12-06-2023/eu-e82f60be-7a50-4834-a66d-4310534cf874&quot; alt=&quot;Equatio Image&quot;/&gt;&lt;/math&gt;" id="121" name="Google Shape;121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299" y="2278304"/>
            <a:ext cx="5897192" cy="1091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4"/>
          <p:cNvGrpSpPr/>
          <p:nvPr/>
        </p:nvGrpSpPr>
        <p:grpSpPr>
          <a:xfrm>
            <a:off x="467820" y="1950087"/>
            <a:ext cx="6624359" cy="1742837"/>
            <a:chOff x="189300" y="1465350"/>
            <a:chExt cx="8514600" cy="2240150"/>
          </a:xfrm>
        </p:grpSpPr>
        <p:sp>
          <p:nvSpPr>
            <p:cNvPr id="123" name="Google Shape;123;p14"/>
            <p:cNvSpPr txBox="1"/>
            <p:nvPr/>
          </p:nvSpPr>
          <p:spPr>
            <a:xfrm>
              <a:off x="3839375" y="2327125"/>
              <a:ext cx="4236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7399250" y="2327125"/>
              <a:ext cx="4236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5" name="Google Shape;125;p14"/>
            <p:cNvGrpSpPr/>
            <p:nvPr/>
          </p:nvGrpSpPr>
          <p:grpSpPr>
            <a:xfrm>
              <a:off x="189300" y="1465350"/>
              <a:ext cx="8514600" cy="2240150"/>
              <a:chOff x="189300" y="1465350"/>
              <a:chExt cx="8514600" cy="2240150"/>
            </a:xfrm>
          </p:grpSpPr>
          <p:sp>
            <p:nvSpPr>
              <p:cNvPr id="126" name="Google Shape;126;p14"/>
              <p:cNvSpPr txBox="1"/>
              <p:nvPr/>
            </p:nvSpPr>
            <p:spPr>
              <a:xfrm>
                <a:off x="820225" y="2310150"/>
                <a:ext cx="4236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7" name="Google Shape;127;p14"/>
              <p:cNvCxnSpPr/>
              <p:nvPr/>
            </p:nvCxnSpPr>
            <p:spPr>
              <a:xfrm>
                <a:off x="5673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1444725" y="1906125"/>
                <a:ext cx="9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 flipH="1">
                <a:off x="2702500" y="1973650"/>
                <a:ext cx="2630100" cy="467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5472100" y="2011650"/>
                <a:ext cx="125400" cy="688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6791275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2" name="Google Shape;132;p14"/>
              <p:cNvCxnSpPr/>
              <p:nvPr/>
            </p:nvCxnSpPr>
            <p:spPr>
              <a:xfrm>
                <a:off x="83109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>
                <a:off x="6877025" y="181410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4" name="Google Shape;134;p14"/>
              <p:cNvCxnSpPr/>
              <p:nvPr/>
            </p:nvCxnSpPr>
            <p:spPr>
              <a:xfrm>
                <a:off x="6877025" y="335825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35" name="Google Shape;135;p14"/>
              <p:cNvSpPr txBox="1"/>
              <p:nvPr/>
            </p:nvSpPr>
            <p:spPr>
              <a:xfrm rot="5400000">
                <a:off x="1143225" y="2344200"/>
                <a:ext cx="8772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" name="Google Shape;136;p14"/>
              <p:cNvSpPr txBox="1"/>
              <p:nvPr/>
            </p:nvSpPr>
            <p:spPr>
              <a:xfrm rot="-5400000">
                <a:off x="-21750" y="2320050"/>
                <a:ext cx="8772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7" name="Google Shape;137;p14"/>
              <p:cNvSpPr txBox="1"/>
              <p:nvPr/>
            </p:nvSpPr>
            <p:spPr>
              <a:xfrm rot="-605042">
                <a:off x="3578321" y="1849580"/>
                <a:ext cx="877252" cy="4549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25 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8" name="Google Shape;138;p14"/>
              <p:cNvSpPr txBox="1"/>
              <p:nvPr/>
            </p:nvSpPr>
            <p:spPr>
              <a:xfrm rot="4749533">
                <a:off x="5248307" y="2257521"/>
                <a:ext cx="877257" cy="455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6 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" name="Google Shape;139;p14"/>
              <p:cNvSpPr txBox="1"/>
              <p:nvPr/>
            </p:nvSpPr>
            <p:spPr>
              <a:xfrm rot="5400000">
                <a:off x="7975650" y="2406300"/>
                <a:ext cx="10014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" name="Google Shape;140;p14"/>
              <p:cNvSpPr txBox="1"/>
              <p:nvPr/>
            </p:nvSpPr>
            <p:spPr>
              <a:xfrm rot="-5400000">
                <a:off x="6172225" y="2320050"/>
                <a:ext cx="10014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" name="Google Shape;141;p14"/>
              <p:cNvSpPr txBox="1"/>
              <p:nvPr/>
            </p:nvSpPr>
            <p:spPr>
              <a:xfrm>
                <a:off x="7054325" y="1465350"/>
                <a:ext cx="10014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" name="Google Shape;142;p14"/>
              <p:cNvSpPr txBox="1"/>
              <p:nvPr/>
            </p:nvSpPr>
            <p:spPr>
              <a:xfrm>
                <a:off x="7054138" y="3250400"/>
                <a:ext cx="10014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3" name="Google Shape;143;p14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perimeter and area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5" name="Google Shape;145;p14"/>
          <p:cNvCxnSpPr/>
          <p:nvPr/>
        </p:nvCxnSpPr>
        <p:spPr>
          <a:xfrm>
            <a:off x="474750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469813" y="3915075"/>
            <a:ext cx="6624000" cy="4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the table are plan views of the three plots.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Match each image to a row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Explain whether you wish to change your answer to part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1" name="Google Shape;151;p15"/>
          <p:cNvGraphicFramePr/>
          <p:nvPr/>
        </p:nvGraphicFramePr>
        <p:xfrm>
          <a:off x="469813" y="418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{6C018E19-D93B-401A-883A-3BCD6426D436}</a:tableStyleId>
              </a:tblPr>
              <a:tblGrid>
                <a:gridCol w="570975"/>
                <a:gridCol w="967725"/>
                <a:gridCol w="1318450"/>
              </a:tblGrid>
              <a:tr h="23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Plot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</a:t>
                      </a:r>
                      <a:r>
                        <a:rPr baseline="30000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3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3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3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2-06-2023/eu-c72fcd23-ca64-486e-92d2-b0b91d68d700&quot; data-equatio-type=&quot;image&quot;&gt;&lt;mglyph src=&quot;https://equatio-api.texthelp.com/desmos/get/12-06-2023/eu-c72fcd23-ca64-486e-92d2-b0b91d68d700&quot; alt=&quot;Equatio Image&quot;/&gt;&lt;/math&gt;" id="152" name="Google Shape;152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80" y="4586185"/>
            <a:ext cx="6495933" cy="146834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4343094" y="4586185"/>
            <a:ext cx="52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6316189" y="4708519"/>
            <a:ext cx="76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Yellow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6339929" y="5999009"/>
            <a:ext cx="7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Blue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" name="Google Shape;156;p15"/>
          <p:cNvCxnSpPr/>
          <p:nvPr/>
        </p:nvCxnSpPr>
        <p:spPr>
          <a:xfrm>
            <a:off x="484413" y="5918785"/>
            <a:ext cx="6466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" name="Google Shape;157;p15"/>
          <p:cNvSpPr txBox="1"/>
          <p:nvPr/>
        </p:nvSpPr>
        <p:spPr>
          <a:xfrm>
            <a:off x="3359185" y="5622374"/>
            <a:ext cx="7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 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4274396" y="4272016"/>
            <a:ext cx="661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3492338" y="4602414"/>
            <a:ext cx="7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5729827" y="4696707"/>
            <a:ext cx="7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6377241" y="4235775"/>
            <a:ext cx="7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" name="Google Shape;162;p15"/>
          <p:cNvCxnSpPr/>
          <p:nvPr/>
        </p:nvCxnSpPr>
        <p:spPr>
          <a:xfrm>
            <a:off x="4016405" y="4550365"/>
            <a:ext cx="1189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" name="Google Shape;163;p15"/>
          <p:cNvCxnSpPr/>
          <p:nvPr/>
        </p:nvCxnSpPr>
        <p:spPr>
          <a:xfrm flipH="1" rot="10800000">
            <a:off x="3960934" y="4611930"/>
            <a:ext cx="6300" cy="357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" name="Google Shape;164;p15"/>
          <p:cNvCxnSpPr/>
          <p:nvPr/>
        </p:nvCxnSpPr>
        <p:spPr>
          <a:xfrm>
            <a:off x="6377241" y="4538036"/>
            <a:ext cx="57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" name="Google Shape;165;p15"/>
          <p:cNvCxnSpPr/>
          <p:nvPr/>
        </p:nvCxnSpPr>
        <p:spPr>
          <a:xfrm rot="10800000">
            <a:off x="6290338" y="4595904"/>
            <a:ext cx="600" cy="58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" name="Google Shape;166;p15"/>
          <p:cNvSpPr txBox="1"/>
          <p:nvPr/>
        </p:nvSpPr>
        <p:spPr>
          <a:xfrm>
            <a:off x="476625" y="929103"/>
            <a:ext cx="6610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Identifying a rectangle from its perimeter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wants to buy a plot of land to build a house. The table below shows some information about the plots.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" name="Google Shape;167;p15"/>
          <p:cNvGraphicFramePr/>
          <p:nvPr/>
        </p:nvGraphicFramePr>
        <p:xfrm>
          <a:off x="472788" y="1795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{6C018E19-D93B-401A-883A-3BCD6426D436}</a:tableStyleId>
              </a:tblPr>
              <a:tblGrid>
                <a:gridCol w="617525"/>
                <a:gridCol w="950725"/>
                <a:gridCol w="1288900"/>
              </a:tblGrid>
              <a:tr h="52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Plot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</a:t>
                      </a:r>
                      <a:r>
                        <a:rPr baseline="30000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4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14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1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8" name="Google Shape;168;p15"/>
          <p:cNvSpPr txBox="1"/>
          <p:nvPr/>
        </p:nvSpPr>
        <p:spPr>
          <a:xfrm>
            <a:off x="3424800" y="1798988"/>
            <a:ext cx="3662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Which plot do you think they should choose?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perimeter and area</a:t>
            </a:r>
            <a:endParaRPr/>
          </a:p>
        </p:txBody>
      </p:sp>
      <p:sp>
        <p:nvSpPr>
          <p:cNvPr id="170" name="Google Shape;170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1" name="Google Shape;171;p15"/>
          <p:cNvCxnSpPr/>
          <p:nvPr/>
        </p:nvCxnSpPr>
        <p:spPr>
          <a:xfrm>
            <a:off x="474750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perimeter and area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392962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Industry. 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482050" y="913100"/>
            <a:ext cx="6610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The area of a parallelogram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each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parallelogram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  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" name="Google Shape;179;p16"/>
          <p:cNvGrpSpPr/>
          <p:nvPr/>
        </p:nvGrpSpPr>
        <p:grpSpPr>
          <a:xfrm>
            <a:off x="1107619" y="1651559"/>
            <a:ext cx="530890" cy="1661353"/>
            <a:chOff x="749725" y="1828850"/>
            <a:chExt cx="659900" cy="2065075"/>
          </a:xfrm>
        </p:grpSpPr>
        <p:pic>
          <p:nvPicPr>
            <p:cNvPr descr="&lt;math xmlns=&quot;http://www.w3.org/1998/Math/MathML&quot; data-is-equatio=&quot;1&quot; data-equatio-url=&quot;https://equatio-api.texthelp.com/desmos/get/12-06-2023/eu-9f32a7e7-888a-414d-842b-8c8efcbf47e2&quot; data-equatio-type=&quot;image&quot;&gt;&lt;mglyph src=&quot;https://equatio-api.texthelp.com/desmos/get/12-06-2023/eu-9f32a7e7-888a-414d-842b-8c8efcbf47e2&quot; alt=&quot;Equatio Image&quot;/&gt;&lt;/math&gt;" id="180" name="Google Shape;180;p16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7525" y="1828850"/>
              <a:ext cx="582100" cy="20650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1" name="Google Shape;181;p16"/>
            <p:cNvCxnSpPr/>
            <p:nvPr/>
          </p:nvCxnSpPr>
          <p:spPr>
            <a:xfrm flipH="1">
              <a:off x="749725" y="1846350"/>
              <a:ext cx="8100" cy="2039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82" name="Google Shape;182;p16"/>
          <p:cNvCxnSpPr/>
          <p:nvPr/>
        </p:nvCxnSpPr>
        <p:spPr>
          <a:xfrm>
            <a:off x="1177692" y="3372741"/>
            <a:ext cx="3564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" name="Google Shape;183;p16"/>
          <p:cNvCxnSpPr/>
          <p:nvPr/>
        </p:nvCxnSpPr>
        <p:spPr>
          <a:xfrm flipH="1">
            <a:off x="1585819" y="1678442"/>
            <a:ext cx="97200" cy="163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ata-is-equatio=&quot;1&quot; data-equatio-url=&quot;https://equatio-api.texthelp.com/desmos/get/12-06-2023/eu-a693a07a-fa53-430c-9883-939dd46a36f0&quot; data-equatio-type=&quot;image&quot;&gt;&lt;mglyph src=&quot;https://equatio-api.texthelp.com/desmos/get/12-06-2023/eu-a693a07a-fa53-430c-9883-939dd46a36f0&quot; alt=&quot;Equatio Image&quot;/&gt;&lt;/math&gt;" id="184" name="Google Shape;184;p16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572" y="1651552"/>
            <a:ext cx="2605457" cy="15822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16"/>
          <p:cNvCxnSpPr/>
          <p:nvPr/>
        </p:nvCxnSpPr>
        <p:spPr>
          <a:xfrm>
            <a:off x="5503154" y="1613600"/>
            <a:ext cx="1498200" cy="102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6" name="Google Shape;186;p16"/>
          <p:cNvCxnSpPr/>
          <p:nvPr/>
        </p:nvCxnSpPr>
        <p:spPr>
          <a:xfrm flipH="1" rot="10800000">
            <a:off x="5360475" y="2158483"/>
            <a:ext cx="778200" cy="69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" name="Google Shape;187;p16"/>
          <p:cNvCxnSpPr/>
          <p:nvPr/>
        </p:nvCxnSpPr>
        <p:spPr>
          <a:xfrm flipH="1" rot="10800000">
            <a:off x="5898807" y="2071745"/>
            <a:ext cx="122400" cy="10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6"/>
          <p:cNvCxnSpPr/>
          <p:nvPr/>
        </p:nvCxnSpPr>
        <p:spPr>
          <a:xfrm>
            <a:off x="5898807" y="2174354"/>
            <a:ext cx="123600" cy="8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6"/>
          <p:cNvCxnSpPr/>
          <p:nvPr/>
        </p:nvCxnSpPr>
        <p:spPr>
          <a:xfrm flipH="1">
            <a:off x="6949382" y="2683740"/>
            <a:ext cx="66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" name="Google Shape;190;p16"/>
          <p:cNvSpPr txBox="1"/>
          <p:nvPr/>
        </p:nvSpPr>
        <p:spPr>
          <a:xfrm>
            <a:off x="475000" y="2147202"/>
            <a:ext cx="81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7.3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964459" y="3346806"/>
            <a:ext cx="81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0.7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1638510" y="2332920"/>
            <a:ext cx="81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6515538" y="2773643"/>
            <a:ext cx="57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6067934" y="1712774"/>
            <a:ext cx="81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5290685" y="2256955"/>
            <a:ext cx="81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467450" y="3834525"/>
            <a:ext cx="6624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parallelogram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36 units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size of the missing length and add it to the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06-2023/eu-bc9ff80d-79ee-4372-94cd-d736aad9b4e5&quot; data-equatio-type=&quot;image&quot;&gt;&lt;mglyph src=&quot;https://equatio-api.texthelp.com/desmos/get/12-06-2023/eu-bc9ff80d-79ee-4372-94cd-d736aad9b4e5&quot; alt=&quot;Equatio Image&quot;/&gt;&lt;/math&gt;" id="197" name="Google Shape;197;p16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503" y="4685750"/>
            <a:ext cx="2340243" cy="12317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16"/>
          <p:cNvCxnSpPr/>
          <p:nvPr/>
        </p:nvCxnSpPr>
        <p:spPr>
          <a:xfrm flipH="1">
            <a:off x="1481324" y="4710813"/>
            <a:ext cx="11100" cy="1182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199" name="Google Shape;199;p16"/>
          <p:cNvCxnSpPr/>
          <p:nvPr/>
        </p:nvCxnSpPr>
        <p:spPr>
          <a:xfrm flipH="1">
            <a:off x="685846" y="4702612"/>
            <a:ext cx="548700" cy="121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0" name="Google Shape;200;p16"/>
          <p:cNvSpPr txBox="1"/>
          <p:nvPr/>
        </p:nvSpPr>
        <p:spPr>
          <a:xfrm>
            <a:off x="738511" y="4998367"/>
            <a:ext cx="45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1481398" y="5106565"/>
            <a:ext cx="45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