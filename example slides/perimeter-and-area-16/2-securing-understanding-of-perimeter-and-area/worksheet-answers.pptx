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7F71D2-15B7-4C31-940D-75417AC24346}">
  <a:tblStyle styleId="{637F71D2-15B7-4C31-940D-75417AC243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59d65f374_0_2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59d65f37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87a6b59b71_1_11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87a6b59b71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468000" y="1549800"/>
            <a:ext cx="6624300" cy="6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perimeter and area of rectangles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wants to work out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perimeter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each of these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rectangles have “enough”, “too much”, or “not enough” information?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X: Not enough, need the length of a shorter side</a:t>
            </a:r>
            <a:b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Y: The right amount, the other sides can be deduced</a:t>
            </a:r>
            <a:b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Z: Too much, need two non-parallel sides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Find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perimeter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rectangles where possible.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shape Y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25 + 25 + 6 + 6      </a:t>
            </a: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25 </a:t>
            </a:r>
            <a:r>
              <a:rPr lang="en-GB" sz="1100">
                <a:solidFill>
                  <a:srgbClr val="202124"/>
                </a:solidFill>
                <a:highlight>
                  <a:schemeClr val="lt1"/>
                </a:highlight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6</a:t>
            </a:r>
            <a:b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= 62 m                         = 150 m</a:t>
            </a:r>
            <a:r>
              <a:rPr baseline="30000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shape Z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40 + 40 + 40 + 40      </a:t>
            </a:r>
            <a:r>
              <a:rPr b="1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40 </a:t>
            </a:r>
            <a:r>
              <a:rPr lang="en-GB" sz="1100">
                <a:solidFill>
                  <a:srgbClr val="202124"/>
                </a:solidFill>
                <a:highlight>
                  <a:schemeClr val="lt1"/>
                </a:highlight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40</a:t>
            </a:r>
            <a:b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= 160 mm                        = 1600 mm</a:t>
            </a:r>
            <a:r>
              <a:rPr baseline="30000"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Jun works out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Z using the calculation 40 </a:t>
            </a:r>
            <a:r>
              <a:rPr lang="en-GB" sz="1200">
                <a:solidFill>
                  <a:srgbClr val="202124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40 </a:t>
            </a:r>
            <a:r>
              <a:rPr lang="en-GB" sz="1200">
                <a:solidFill>
                  <a:srgbClr val="202124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40 </a:t>
            </a:r>
            <a:r>
              <a:rPr lang="en-GB" sz="1200">
                <a:solidFill>
                  <a:srgbClr val="202124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40.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have they done wrong?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have multiplied every length together instead of multiplying the length by the width.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6-2023/eu-e82f60be-7a50-4834-a66d-4310534cf874&quot; data-equatio-type=&quot;image&quot;&gt;&lt;mglyph src=&quot;https://equatio-api.texthelp.com/desmos/get/12-06-2023/eu-e82f60be-7a50-4834-a66d-4310534cf874&quot; alt=&quot;Equatio Image&quot;/&gt;&lt;/math&gt;" id="130" name="Google Shape;13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486" y="2476454"/>
            <a:ext cx="5897192" cy="1091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4"/>
          <p:cNvGrpSpPr/>
          <p:nvPr/>
        </p:nvGrpSpPr>
        <p:grpSpPr>
          <a:xfrm>
            <a:off x="468008" y="2148237"/>
            <a:ext cx="6624359" cy="1742837"/>
            <a:chOff x="189300" y="1465350"/>
            <a:chExt cx="8514600" cy="2240150"/>
          </a:xfrm>
        </p:grpSpPr>
        <p:sp>
          <p:nvSpPr>
            <p:cNvPr id="132" name="Google Shape;132;p14"/>
            <p:cNvSpPr txBox="1"/>
            <p:nvPr/>
          </p:nvSpPr>
          <p:spPr>
            <a:xfrm>
              <a:off x="3839375" y="2327125"/>
              <a:ext cx="4236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" name="Google Shape;133;p14"/>
            <p:cNvSpPr txBox="1"/>
            <p:nvPr/>
          </p:nvSpPr>
          <p:spPr>
            <a:xfrm>
              <a:off x="7399250" y="2327125"/>
              <a:ext cx="423600" cy="4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11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4" name="Google Shape;134;p14"/>
            <p:cNvGrpSpPr/>
            <p:nvPr/>
          </p:nvGrpSpPr>
          <p:grpSpPr>
            <a:xfrm>
              <a:off x="189300" y="1465350"/>
              <a:ext cx="8514600" cy="2240150"/>
              <a:chOff x="189300" y="1465350"/>
              <a:chExt cx="8514600" cy="2240150"/>
            </a:xfrm>
          </p:grpSpPr>
          <p:sp>
            <p:nvSpPr>
              <p:cNvPr id="135" name="Google Shape;135;p14"/>
              <p:cNvSpPr txBox="1"/>
              <p:nvPr/>
            </p:nvSpPr>
            <p:spPr>
              <a:xfrm>
                <a:off x="820225" y="2310150"/>
                <a:ext cx="4236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6" name="Google Shape;136;p14"/>
              <p:cNvCxnSpPr/>
              <p:nvPr/>
            </p:nvCxnSpPr>
            <p:spPr>
              <a:xfrm>
                <a:off x="5673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1444725" y="1906125"/>
                <a:ext cx="9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 flipH="1">
                <a:off x="2702500" y="1973650"/>
                <a:ext cx="2630100" cy="467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>
                <a:off x="5472100" y="2011650"/>
                <a:ext cx="125400" cy="688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>
                <a:off x="6791275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>
                <a:off x="8310900" y="1906125"/>
                <a:ext cx="7500" cy="137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>
                <a:off x="6877025" y="181410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43" name="Google Shape;143;p14"/>
              <p:cNvCxnSpPr/>
              <p:nvPr/>
            </p:nvCxnSpPr>
            <p:spPr>
              <a:xfrm>
                <a:off x="6877025" y="3358250"/>
                <a:ext cx="1356000" cy="51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44" name="Google Shape;144;p14"/>
              <p:cNvSpPr txBox="1"/>
              <p:nvPr/>
            </p:nvSpPr>
            <p:spPr>
              <a:xfrm rot="5400000">
                <a:off x="1143225" y="2344200"/>
                <a:ext cx="8772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" name="Google Shape;145;p14"/>
              <p:cNvSpPr txBox="1"/>
              <p:nvPr/>
            </p:nvSpPr>
            <p:spPr>
              <a:xfrm rot="-5400000">
                <a:off x="-21750" y="2320050"/>
                <a:ext cx="8772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13 cm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" name="Google Shape;146;p14"/>
              <p:cNvSpPr txBox="1"/>
              <p:nvPr/>
            </p:nvSpPr>
            <p:spPr>
              <a:xfrm rot="-605042">
                <a:off x="3578321" y="1849580"/>
                <a:ext cx="877252" cy="4549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25 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" name="Google Shape;147;p14"/>
              <p:cNvSpPr txBox="1"/>
              <p:nvPr/>
            </p:nvSpPr>
            <p:spPr>
              <a:xfrm rot="4749533">
                <a:off x="5248307" y="2257521"/>
                <a:ext cx="877257" cy="455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6 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" name="Google Shape;148;p14"/>
              <p:cNvSpPr txBox="1"/>
              <p:nvPr/>
            </p:nvSpPr>
            <p:spPr>
              <a:xfrm rot="5400000">
                <a:off x="7975650" y="2406300"/>
                <a:ext cx="10014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9" name="Google Shape;149;p14"/>
              <p:cNvSpPr txBox="1"/>
              <p:nvPr/>
            </p:nvSpPr>
            <p:spPr>
              <a:xfrm rot="-5400000">
                <a:off x="6172225" y="2320050"/>
                <a:ext cx="10014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" name="Google Shape;150;p14"/>
              <p:cNvSpPr txBox="1"/>
              <p:nvPr/>
            </p:nvSpPr>
            <p:spPr>
              <a:xfrm>
                <a:off x="7054325" y="1465350"/>
                <a:ext cx="10014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1" name="Google Shape;151;p14"/>
              <p:cNvSpPr txBox="1"/>
              <p:nvPr/>
            </p:nvSpPr>
            <p:spPr>
              <a:xfrm>
                <a:off x="7054138" y="3250400"/>
                <a:ext cx="1001400" cy="4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latin typeface="Lexend"/>
                    <a:ea typeface="Lexend"/>
                    <a:cs typeface="Lexend"/>
                    <a:sym typeface="Lexend"/>
                  </a:rPr>
                  <a:t>40 mm</a:t>
                </a:r>
                <a:endParaRPr sz="1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52" name="Google Shape;152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perimeter and 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4" name="Google Shape;154;p14"/>
          <p:cNvCxnSpPr/>
          <p:nvPr/>
        </p:nvCxnSpPr>
        <p:spPr>
          <a:xfrm>
            <a:off x="474750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/>
        </p:nvSpPr>
        <p:spPr>
          <a:xfrm>
            <a:off x="468000" y="3865200"/>
            <a:ext cx="6624000" cy="3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the table are plan views of the three plots.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Match each image to a row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 = Yellow; Y = Blue; Z = Red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Explain whether you wish to change your answer to part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Answers will vary here depending on the original plot chosen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0" name="Google Shape;160;p15"/>
          <p:cNvGraphicFramePr/>
          <p:nvPr/>
        </p:nvGraphicFramePr>
        <p:xfrm>
          <a:off x="468000" y="413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{637F71D2-15B7-4C31-940D-75417AC24346}</a:tableStyleId>
              </a:tblPr>
              <a:tblGrid>
                <a:gridCol w="570975"/>
                <a:gridCol w="967725"/>
                <a:gridCol w="1318450"/>
              </a:tblGrid>
              <a:tr h="23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3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3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31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2-06-2023/eu-c72fcd23-ca64-486e-92d2-b0b91d68d700&quot; data-equatio-type=&quot;image&quot;&gt;&lt;mglyph src=&quot;https://equatio-api.texthelp.com/desmos/get/12-06-2023/eu-c72fcd23-ca64-486e-92d2-b0b91d68d700&quot; alt=&quot;Equatio Image&quot;/&gt;&lt;/math&gt;" id="161" name="Google Shape;161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67" y="4536310"/>
            <a:ext cx="6495933" cy="146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>
            <a:off x="4341282" y="4536310"/>
            <a:ext cx="52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6314376" y="4658644"/>
            <a:ext cx="76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Yellow</a:t>
            </a:r>
            <a:endParaRPr sz="11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6338117" y="5949134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15"/>
          <p:cNvCxnSpPr/>
          <p:nvPr/>
        </p:nvCxnSpPr>
        <p:spPr>
          <a:xfrm>
            <a:off x="482600" y="5868910"/>
            <a:ext cx="6466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" name="Google Shape;166;p15"/>
          <p:cNvSpPr txBox="1"/>
          <p:nvPr/>
        </p:nvSpPr>
        <p:spPr>
          <a:xfrm>
            <a:off x="3357372" y="5572499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272584" y="4222141"/>
            <a:ext cx="661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3490525" y="4552539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5728014" y="4646832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375429" y="4185900"/>
            <a:ext cx="71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15"/>
          <p:cNvCxnSpPr/>
          <p:nvPr/>
        </p:nvCxnSpPr>
        <p:spPr>
          <a:xfrm>
            <a:off x="4014593" y="4500490"/>
            <a:ext cx="1189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" name="Google Shape;172;p15"/>
          <p:cNvCxnSpPr/>
          <p:nvPr/>
        </p:nvCxnSpPr>
        <p:spPr>
          <a:xfrm flipH="1" rot="10800000">
            <a:off x="3959122" y="4562055"/>
            <a:ext cx="6300" cy="357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" name="Google Shape;173;p15"/>
          <p:cNvCxnSpPr/>
          <p:nvPr/>
        </p:nvCxnSpPr>
        <p:spPr>
          <a:xfrm>
            <a:off x="6375429" y="4488161"/>
            <a:ext cx="579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" name="Google Shape;174;p15"/>
          <p:cNvCxnSpPr/>
          <p:nvPr/>
        </p:nvCxnSpPr>
        <p:spPr>
          <a:xfrm rot="10800000">
            <a:off x="6288526" y="4546029"/>
            <a:ext cx="600" cy="58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5" name="Google Shape;175;p15"/>
          <p:cNvSpPr txBox="1"/>
          <p:nvPr/>
        </p:nvSpPr>
        <p:spPr>
          <a:xfrm>
            <a:off x="476625" y="924466"/>
            <a:ext cx="6610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Identifying a rectangle from its perimeter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wants to buy a plot of land to build a house. The table below shows some information about the plots.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15"/>
          <p:cNvGraphicFramePr/>
          <p:nvPr/>
        </p:nvGraphicFramePr>
        <p:xfrm>
          <a:off x="472788" y="17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{637F71D2-15B7-4C31-940D-75417AC24346}</a:tableStyleId>
              </a:tblPr>
              <a:tblGrid>
                <a:gridCol w="617525"/>
                <a:gridCol w="950725"/>
                <a:gridCol w="1288900"/>
              </a:tblGrid>
              <a:tr h="522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Plot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</a:t>
                      </a:r>
                      <a:r>
                        <a:rPr baseline="30000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4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14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1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7" name="Google Shape;177;p15"/>
          <p:cNvSpPr txBox="1"/>
          <p:nvPr/>
        </p:nvSpPr>
        <p:spPr>
          <a:xfrm>
            <a:off x="3424800" y="1794350"/>
            <a:ext cx="3662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Which plot do you think they should choose?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 plot may be selected here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5"/>
          <p:cNvSpPr txBox="1"/>
          <p:nvPr>
            <p:ph idx="1" type="subTitle"/>
          </p:nvPr>
        </p:nvSpPr>
        <p:spPr>
          <a:xfrm>
            <a:off x="1463400" y="360000"/>
            <a:ext cx="4782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perimeter and 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0" name="Google Shape;180;p15"/>
          <p:cNvCxnSpPr/>
          <p:nvPr/>
        </p:nvCxnSpPr>
        <p:spPr>
          <a:xfrm>
            <a:off x="474750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/>
          <p:nvPr>
            <p:ph idx="1" type="subTitle"/>
          </p:nvPr>
        </p:nvSpPr>
        <p:spPr>
          <a:xfrm>
            <a:off x="1463400" y="360000"/>
            <a:ext cx="4782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perimeter and 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482600" y="968575"/>
            <a:ext cx="6610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The area of a parallelogram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each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parallelogram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16"/>
          <p:cNvGrpSpPr/>
          <p:nvPr/>
        </p:nvGrpSpPr>
        <p:grpSpPr>
          <a:xfrm>
            <a:off x="1108169" y="1707034"/>
            <a:ext cx="530890" cy="1661353"/>
            <a:chOff x="749725" y="1828850"/>
            <a:chExt cx="659900" cy="2065075"/>
          </a:xfrm>
        </p:grpSpPr>
        <p:pic>
          <p:nvPicPr>
            <p:cNvPr descr="&lt;math xmlns=&quot;http://www.w3.org/1998/Math/MathML&quot; data-is-equatio=&quot;1&quot; data-equatio-url=&quot;https://equatio-api.texthelp.com/desmos/get/12-06-2023/eu-9f32a7e7-888a-414d-842b-8c8efcbf47e2&quot; data-equatio-type=&quot;image&quot;&gt;&lt;mglyph src=&quot;https://equatio-api.texthelp.com/desmos/get/12-06-2023/eu-9f32a7e7-888a-414d-842b-8c8efcbf47e2&quot; alt=&quot;Equatio Image&quot;/&gt;&lt;/math&gt;" id="188" name="Google Shape;188;p16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7525" y="1828850"/>
              <a:ext cx="582100" cy="2065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9" name="Google Shape;189;p16"/>
            <p:cNvCxnSpPr/>
            <p:nvPr/>
          </p:nvCxnSpPr>
          <p:spPr>
            <a:xfrm flipH="1">
              <a:off x="749725" y="1846350"/>
              <a:ext cx="8100" cy="20394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90" name="Google Shape;190;p16"/>
          <p:cNvCxnSpPr/>
          <p:nvPr/>
        </p:nvCxnSpPr>
        <p:spPr>
          <a:xfrm>
            <a:off x="1178242" y="3428216"/>
            <a:ext cx="3564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" name="Google Shape;191;p16"/>
          <p:cNvCxnSpPr/>
          <p:nvPr/>
        </p:nvCxnSpPr>
        <p:spPr>
          <a:xfrm flipH="1">
            <a:off x="1586369" y="1733917"/>
            <a:ext cx="97200" cy="163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12-06-2023/eu-a693a07a-fa53-430c-9883-939dd46a36f0&quot; data-equatio-type=&quot;image&quot;&gt;&lt;mglyph src=&quot;https://equatio-api.texthelp.com/desmos/get/12-06-2023/eu-a693a07a-fa53-430c-9883-939dd46a36f0&quot; alt=&quot;Equatio Image&quot;/&gt;&lt;/math&gt;" id="192" name="Google Shape;192;p16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122" y="1707027"/>
            <a:ext cx="2605457" cy="15822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16"/>
          <p:cNvCxnSpPr/>
          <p:nvPr/>
        </p:nvCxnSpPr>
        <p:spPr>
          <a:xfrm>
            <a:off x="5503704" y="1669075"/>
            <a:ext cx="1498200" cy="102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" name="Google Shape;194;p16"/>
          <p:cNvCxnSpPr/>
          <p:nvPr/>
        </p:nvCxnSpPr>
        <p:spPr>
          <a:xfrm flipH="1" rot="10800000">
            <a:off x="5361025" y="2213958"/>
            <a:ext cx="778200" cy="69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" name="Google Shape;195;p16"/>
          <p:cNvCxnSpPr/>
          <p:nvPr/>
        </p:nvCxnSpPr>
        <p:spPr>
          <a:xfrm flipH="1" rot="10800000">
            <a:off x="5899357" y="2127220"/>
            <a:ext cx="122400" cy="10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6"/>
          <p:cNvCxnSpPr/>
          <p:nvPr/>
        </p:nvCxnSpPr>
        <p:spPr>
          <a:xfrm>
            <a:off x="5899357" y="2229829"/>
            <a:ext cx="123600" cy="8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16"/>
          <p:cNvCxnSpPr/>
          <p:nvPr/>
        </p:nvCxnSpPr>
        <p:spPr>
          <a:xfrm flipH="1">
            <a:off x="6949932" y="2739215"/>
            <a:ext cx="66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" name="Google Shape;198;p16"/>
          <p:cNvSpPr txBox="1"/>
          <p:nvPr/>
        </p:nvSpPr>
        <p:spPr>
          <a:xfrm>
            <a:off x="475550" y="2202677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7.3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965009" y="3402281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0.7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1639060" y="2388395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6516088" y="2829118"/>
            <a:ext cx="57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6068484" y="1768249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5291235" y="2312430"/>
            <a:ext cx="81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921800" y="3233075"/>
            <a:ext cx="149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0.7 </a:t>
            </a:r>
            <a:r>
              <a:rPr lang="en-GB" sz="1100">
                <a:solidFill>
                  <a:srgbClr val="202124"/>
                </a:solidFill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7.3</a:t>
            </a:r>
            <a:br>
              <a:rPr lang="en-GB" sz="1100"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= 5.11 cm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4139998" y="3233075"/>
            <a:ext cx="158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= 8 </a:t>
            </a:r>
            <a:r>
              <a:rPr lang="en-GB" sz="1100">
                <a:solidFill>
                  <a:srgbClr val="202124"/>
                </a:solidFill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10</a:t>
            </a:r>
            <a:br>
              <a:rPr lang="en-GB" sz="1100"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= 80 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468000" y="3890000"/>
            <a:ext cx="66240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parallelogram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36 units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size of the missing length and add it to the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2-06-2023/eu-bc9ff80d-79ee-4372-94cd-d736aad9b4e5&quot; data-equatio-type=&quot;image&quot;&gt;&lt;mglyph src=&quot;https://equatio-api.texthelp.com/desmos/get/12-06-2023/eu-bc9ff80d-79ee-4372-94cd-d736aad9b4e5&quot; alt=&quot;Equatio Image&quot;/&gt;&lt;/math&gt;" id="207" name="Google Shape;207;p16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053" y="4512625"/>
            <a:ext cx="2340243" cy="12317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16"/>
          <p:cNvCxnSpPr/>
          <p:nvPr/>
        </p:nvCxnSpPr>
        <p:spPr>
          <a:xfrm flipH="1">
            <a:off x="1481874" y="4537688"/>
            <a:ext cx="11100" cy="1182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209" name="Google Shape;209;p16"/>
          <p:cNvCxnSpPr/>
          <p:nvPr/>
        </p:nvCxnSpPr>
        <p:spPr>
          <a:xfrm flipH="1">
            <a:off x="686396" y="4529487"/>
            <a:ext cx="548700" cy="121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0" name="Google Shape;210;p16"/>
          <p:cNvSpPr txBox="1"/>
          <p:nvPr/>
        </p:nvSpPr>
        <p:spPr>
          <a:xfrm>
            <a:off x="739061" y="4825242"/>
            <a:ext cx="45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1481948" y="4933440"/>
            <a:ext cx="45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3420000" y="4512625"/>
            <a:ext cx="3673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36 = base </a:t>
            </a:r>
            <a:r>
              <a:rPr lang="en-GB" sz="1100">
                <a:solidFill>
                  <a:srgbClr val="202124"/>
                </a:solidFill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10</a:t>
            </a:r>
            <a:br>
              <a:rPr lang="en-GB" sz="1100"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latin typeface="Kalam"/>
                <a:ea typeface="Kalam"/>
                <a:cs typeface="Kalam"/>
                <a:sym typeface="Kalam"/>
              </a:rPr>
              <a:t>3.6 = base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base should be marked parallel to the indicated line.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3" name="Google Shape;213;p16"/>
          <p:cNvCxnSpPr/>
          <p:nvPr/>
        </p:nvCxnSpPr>
        <p:spPr>
          <a:xfrm flipH="1" rot="10800000">
            <a:off x="752248" y="5796843"/>
            <a:ext cx="1744800" cy="1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214" name="Google Shape;214;p16"/>
          <p:cNvSpPr txBox="1"/>
          <p:nvPr/>
        </p:nvSpPr>
        <p:spPr>
          <a:xfrm>
            <a:off x="1361210" y="5744358"/>
            <a:ext cx="47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base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392962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Industry. 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