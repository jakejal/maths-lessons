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9BC29147-2D28-41C1-9D49-2FED61A90C0A}">
  <a:tblStyle styleId="{9BC29147-2D28-41C1-9D49-2FED61A90C0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3" name="Shape 193"/>
        <p:cNvGrpSpPr/>
        <p:nvPr/>
      </p:nvGrpSpPr>
      <p:grpSpPr>
        <a:xfrm>
          <a:off x="0" y="0"/>
          <a:ext cx="0" cy="0"/>
        </a:xfrm>
      </p:grpSpPr>
      <p:sp>
        <p:nvSpPr>
          <p:cNvPr id="194" name="Google Shape;194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image" Target="../media/image8.png" /><Relationship Id="rId6" Type="http://schemas.openxmlformats.org/officeDocument/2006/relationships/image" Target="../media/image9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Statistical problems - drawing conclusions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513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Drawing conclusions from a statistical investigation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865900"/>
            <a:ext cx="6624000" cy="5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bus company have 98 thousand passengers per day.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table shows the mean number of passengers they have each time of the day.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5" name="Google Shape;165;p20"/>
          <p:cNvCxnSpPr/>
          <p:nvPr/>
        </p:nvCxnSpPr>
        <p:spPr>
          <a:xfrm>
            <a:off x="40030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66" name="Google Shape;166;p20"/>
          <p:cNvGraphicFramePr>
            <a:graphicFrameLocks noGrp="1"/>
          </p:cNvGraphicFramePr>
          <p:nvPr/>
        </p:nvGraphicFramePr>
        <p:xfrm>
          <a:off x="559675" y="2457450"/>
          <a:ext cx="2319900" cy="2209770"/>
        </p:xfrm>
        <a:graphic>
          <a:graphicData uri="http://schemas.openxmlformats.org/drawingml/2006/table">
            <a:tbl>
              <a:tblPr>
                <a:noFill/>
                <a:tableStyleId>{9BC29147-2D28-41C1-9D49-2FED61A90C0A}</a:tableStyleId>
              </a:tblPr>
              <a:tblGrid>
                <a:gridCol w="1163725"/>
                <a:gridCol w="11561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 number of passengers (thousands)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06:00 - 10:00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34.3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10:00 - 14:00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19.6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14:00 - 18:00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29.4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18:00 - 22:00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14.7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167" name="Google Shape;167;p20"/>
          <p:cNvSpPr txBox="1"/>
          <p:nvPr/>
        </p:nvSpPr>
        <p:spPr>
          <a:xfrm>
            <a:off x="3037800" y="2458200"/>
            <a:ext cx="48678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The bus company wants to encourage more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people to travel at unpopular times of the day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by offering cheaper tickets.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Which time period should tickets be cheaper?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3037800" y="3707027"/>
            <a:ext cx="48678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The bus company wants to improve profits by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increasing ticket prices at the most popular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time of the day.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For which time period should prices increase?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76400" y="5178900"/>
            <a:ext cx="84960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mobile phone provider manages the number of cell towers per town.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table shows the population and the number of cell towers for three towns.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scatter graph shows data from the ONS about other regions across the UK.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4056051" y="7367594"/>
            <a:ext cx="2930400" cy="5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In which town should they install more cell towers? Explain why.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4052140" y="8697075"/>
            <a:ext cx="3052500" cy="5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In which town can they afford to switch off some cell towers? Explain why.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2" name="Google Shape;172;p20"/>
          <p:cNvPicPr preferRelativeResize="0"/>
          <p:nvPr/>
        </p:nvPicPr>
        <p:blipFill>
          <a:blip r:embed="rId3">
            <a:alphaModFix/>
          </a:blip>
          <a:srcRect t="1351" r="537"/>
          <a:stretch>
            <a:fillRect/>
          </a:stretch>
        </p:blipFill>
        <p:spPr>
          <a:xfrm>
            <a:off x="863798" y="7445600"/>
            <a:ext cx="2896881" cy="2124449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1499176" y="9633750"/>
            <a:ext cx="2023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population (thousands)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4" name="Google Shape;174;p20"/>
          <p:cNvGrpSpPr/>
          <p:nvPr/>
        </p:nvGrpSpPr>
        <p:grpSpPr>
          <a:xfrm>
            <a:off x="867228" y="7234323"/>
            <a:ext cx="3070018" cy="2333224"/>
            <a:chOff x="2015104" y="1439649"/>
            <a:chExt cx="3902400" cy="2982900"/>
          </a:xfrm>
        </p:grpSpPr>
        <p:cxnSp>
          <p:nvCxnSpPr>
            <p:cNvPr id="175" name="Google Shape;175;p20"/>
            <p:cNvCxnSpPr/>
            <p:nvPr/>
          </p:nvCxnSpPr>
          <p:spPr>
            <a:xfrm rot="10800000" flipH="1">
              <a:off x="2021739" y="1439649"/>
              <a:ext cx="0" cy="29829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76" name="Google Shape;176;p20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77" name="Google Shape;177;p20"/>
          <p:cNvSpPr txBox="1"/>
          <p:nvPr/>
        </p:nvSpPr>
        <p:spPr>
          <a:xfrm rot="-5400000">
            <a:off x="-458000" y="8166853"/>
            <a:ext cx="1992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cell towers (thousands)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734091" y="9469243"/>
            <a:ext cx="247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0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632931" y="9364770"/>
            <a:ext cx="247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0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1583280" y="9480052"/>
            <a:ext cx="517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200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2555495" y="9480052"/>
            <a:ext cx="517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400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3518054" y="9480052"/>
            <a:ext cx="517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600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632931" y="9021000"/>
            <a:ext cx="247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632931" y="8667519"/>
            <a:ext cx="247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632931" y="8309182"/>
            <a:ext cx="247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6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632931" y="7960557"/>
            <a:ext cx="247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8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549606" y="7607086"/>
            <a:ext cx="388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10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565018" y="7263316"/>
            <a:ext cx="388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12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9" name="Google Shape;189;p20"/>
          <p:cNvGraphicFramePr>
            <a:graphicFrameLocks noGrp="1"/>
          </p:cNvGraphicFramePr>
          <p:nvPr/>
        </p:nvGraphicFramePr>
        <p:xfrm>
          <a:off x="1622375" y="5998940"/>
          <a:ext cx="3979200" cy="1051470"/>
        </p:xfrm>
        <a:graphic>
          <a:graphicData uri="http://schemas.openxmlformats.org/drawingml/2006/table">
            <a:tbl>
              <a:tblPr>
                <a:noFill/>
                <a:tableStyleId>{9BC29147-2D28-41C1-9D49-2FED61A90C0A}</a:tableStyleId>
              </a:tblPr>
              <a:tblGrid>
                <a:gridCol w="1899900"/>
                <a:gridCol w="693100"/>
                <a:gridCol w="693100"/>
                <a:gridCol w="693100"/>
              </a:tblGrid>
              <a:tr h="2293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town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2293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population (thousands)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2293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cell towers (thousands)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190" name="Google Shape;190;p20"/>
          <p:cNvSpPr txBox="1"/>
          <p:nvPr/>
        </p:nvSpPr>
        <p:spPr>
          <a:xfrm>
            <a:off x="1102000" y="9480052"/>
            <a:ext cx="517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100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2064559" y="9480052"/>
            <a:ext cx="517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300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3036774" y="9480052"/>
            <a:ext cx="517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500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6" name="Shape 196"/>
        <p:cNvGrpSpPr/>
        <p:nvPr/>
      </p:nvGrpSpPr>
      <p:grpSpPr>
        <a:xfrm>
          <a:off x="0" y="0"/>
          <a:ext cx="0" cy="0"/>
        </a:xfrm>
      </p:grpSpPr>
      <p:sp>
        <p:nvSpPr>
          <p:cNvPr id="197" name="Google Shape;197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98" name="Google Shape;198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Statistical problems - drawing conclusions</a:t>
            </a:r>
            <a:endParaRPr/>
          </a:p>
        </p:txBody>
      </p:sp>
      <p:sp>
        <p:nvSpPr>
          <p:cNvPr id="199" name="Google Shape;199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2417573" y="5576494"/>
            <a:ext cx="46743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Andeep concludes that most cities in the UK must sell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around 5837 properties per year.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Explain why Andeep could be wrong.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2" name="Google Shape;202;p21"/>
          <p:cNvCxnSpPr/>
          <p:nvPr/>
        </p:nvCxnSpPr>
        <p:spPr>
          <a:xfrm>
            <a:off x="40030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3" name="Google Shape;203;p21"/>
          <p:cNvSpPr txBox="1"/>
          <p:nvPr/>
        </p:nvSpPr>
        <p:spPr>
          <a:xfrm>
            <a:off x="476400" y="12165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pie chart shows data (by the ONS) from a survey in 2021 about how people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travel to work in the City of London.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468000" y="86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Acknowledging limitations and problems with conclusions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10375" y="2507550"/>
            <a:ext cx="472800" cy="545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6" name="Google Shape;206;p21"/>
          <p:cNvGrpSpPr/>
          <p:nvPr/>
        </p:nvGrpSpPr>
        <p:grpSpPr>
          <a:xfrm>
            <a:off x="4063799" y="1812843"/>
            <a:ext cx="3132446" cy="2010593"/>
            <a:chOff x="4063799" y="1812843"/>
            <a:chExt cx="3132446" cy="2010593"/>
          </a:xfrm>
        </p:grpSpPr>
        <p:pic>
          <p:nvPicPr>
            <p:cNvPr id="207" name="Google Shape;207;p21"/>
            <p:cNvPicPr preferRelativeResize="0"/>
            <p:nvPr/>
          </p:nvPicPr>
          <p:blipFill>
            <a:blip r:embed="rId4">
              <a:alphaModFix/>
            </a:blip>
            <a:srcRect l="937" t="876" r="6229" b="4863"/>
            <a:stretch>
              <a:fillRect/>
            </a:stretch>
          </p:blipFill>
          <p:spPr>
            <a:xfrm>
              <a:off x="4337980" y="1812843"/>
              <a:ext cx="1595093" cy="16076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" name="Google Shape;208;p21"/>
            <p:cNvSpPr/>
            <p:nvPr/>
          </p:nvSpPr>
          <p:spPr>
            <a:xfrm>
              <a:off x="4337980" y="1819094"/>
              <a:ext cx="1595031" cy="1595031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" name="Google Shape;209;p21"/>
            <p:cNvSpPr txBox="1"/>
            <p:nvPr/>
          </p:nvSpPr>
          <p:spPr>
            <a:xfrm>
              <a:off x="5812345" y="1812857"/>
              <a:ext cx="1383900" cy="25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1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underground rail</a:t>
              </a:r>
              <a:endParaRPr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" name="Google Shape;210;p21"/>
            <p:cNvSpPr txBox="1"/>
            <p:nvPr/>
          </p:nvSpPr>
          <p:spPr>
            <a:xfrm>
              <a:off x="6081253" y="2444167"/>
              <a:ext cx="441900" cy="25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1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train</a:t>
              </a:r>
              <a:endParaRPr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" name="Google Shape;211;p21"/>
            <p:cNvSpPr txBox="1"/>
            <p:nvPr/>
          </p:nvSpPr>
          <p:spPr>
            <a:xfrm>
              <a:off x="5993573" y="2834434"/>
              <a:ext cx="441900" cy="25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1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bus</a:t>
              </a:r>
              <a:endParaRPr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" name="Google Shape;212;p21"/>
            <p:cNvSpPr txBox="1"/>
            <p:nvPr/>
          </p:nvSpPr>
          <p:spPr>
            <a:xfrm>
              <a:off x="5933087" y="3159669"/>
              <a:ext cx="441900" cy="25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1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taxi</a:t>
              </a:r>
              <a:endParaRPr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3" name="Google Shape;213;p21"/>
            <p:cNvSpPr txBox="1"/>
            <p:nvPr/>
          </p:nvSpPr>
          <p:spPr>
            <a:xfrm>
              <a:off x="5665291" y="3357391"/>
              <a:ext cx="441900" cy="25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1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car</a:t>
              </a:r>
              <a:endParaRPr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4" name="Google Shape;214;p21"/>
            <p:cNvSpPr txBox="1"/>
            <p:nvPr/>
          </p:nvSpPr>
          <p:spPr>
            <a:xfrm>
              <a:off x="4914613" y="3564836"/>
              <a:ext cx="441900" cy="25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1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cycle</a:t>
              </a:r>
              <a:endParaRPr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" name="Google Shape;215;p21"/>
            <p:cNvSpPr txBox="1"/>
            <p:nvPr/>
          </p:nvSpPr>
          <p:spPr>
            <a:xfrm>
              <a:off x="4063799" y="3208073"/>
              <a:ext cx="441900" cy="25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1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walk</a:t>
              </a:r>
              <a:endParaRPr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" name="Google Shape;216;p21"/>
            <p:cNvSpPr txBox="1"/>
            <p:nvPr/>
          </p:nvSpPr>
          <p:spPr>
            <a:xfrm>
              <a:off x="5284354" y="2092256"/>
              <a:ext cx="362700" cy="25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1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21%</a:t>
              </a:r>
              <a:endParaRPr sz="11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17" name="Google Shape;217;p21"/>
            <p:cNvCxnSpPr>
              <a:stCxn id="209" idx="1"/>
            </p:cNvCxnSpPr>
            <p:nvPr/>
          </p:nvCxnSpPr>
          <p:spPr>
            <a:xfrm flipH="1">
              <a:off x="5647045" y="1942157"/>
              <a:ext cx="165300" cy="1236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8" name="Google Shape;218;p21"/>
            <p:cNvCxnSpPr>
              <a:stCxn id="210" idx="1"/>
            </p:cNvCxnSpPr>
            <p:nvPr/>
          </p:nvCxnSpPr>
          <p:spPr>
            <a:xfrm flipH="1">
              <a:off x="5866453" y="2573467"/>
              <a:ext cx="214800" cy="25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9" name="Google Shape;219;p21"/>
            <p:cNvCxnSpPr>
              <a:stCxn id="211" idx="1"/>
            </p:cNvCxnSpPr>
            <p:nvPr/>
          </p:nvCxnSpPr>
          <p:spPr>
            <a:xfrm rot="10800000">
              <a:off x="5778773" y="2898934"/>
              <a:ext cx="214800" cy="648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0" name="Google Shape;220;p21"/>
            <p:cNvCxnSpPr/>
            <p:nvPr/>
          </p:nvCxnSpPr>
          <p:spPr>
            <a:xfrm rot="10800000">
              <a:off x="5738282" y="3065273"/>
              <a:ext cx="192600" cy="1428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" name="Google Shape;221;p21"/>
            <p:cNvCxnSpPr/>
            <p:nvPr/>
          </p:nvCxnSpPr>
          <p:spPr>
            <a:xfrm rot="10800000">
              <a:off x="5563623" y="3241925"/>
              <a:ext cx="114000" cy="1641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2" name="Google Shape;222;p21"/>
            <p:cNvCxnSpPr>
              <a:stCxn id="214" idx="0"/>
            </p:cNvCxnSpPr>
            <p:nvPr/>
          </p:nvCxnSpPr>
          <p:spPr>
            <a:xfrm rot="10800000">
              <a:off x="5122963" y="3357236"/>
              <a:ext cx="12600" cy="2076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3" name="Google Shape;223;p21"/>
            <p:cNvCxnSpPr/>
            <p:nvPr/>
          </p:nvCxnSpPr>
          <p:spPr>
            <a:xfrm rot="10800000" flipH="1">
              <a:off x="4431712" y="3114741"/>
              <a:ext cx="124200" cy="127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4" name="Google Shape;224;p21"/>
          <p:cNvSpPr txBox="1"/>
          <p:nvPr/>
        </p:nvSpPr>
        <p:spPr>
          <a:xfrm>
            <a:off x="542800" y="3495987"/>
            <a:ext cx="34467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why Alex could be wrong.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1334300" y="1870400"/>
            <a:ext cx="2397300" cy="1147500"/>
          </a:xfrm>
          <a:prstGeom prst="wedgeRoundRectCallout">
            <a:avLst>
              <a:gd name="adj1" fmla="val -56858"/>
              <a:gd name="adj2" fmla="val 33484"/>
              <a:gd name="adj3" fmla="val 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If we use this data from London as a sample then we can conclude that around 21% of people in the UK also travel to work by underground rail.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686550" y="3052800"/>
            <a:ext cx="5760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Alex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476400" y="4981676"/>
            <a:ext cx="8237700" cy="5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table shows data from the ONS about the number of property sales each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year in Liverpool.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8" name="Google Shape;22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68860" y="5780409"/>
            <a:ext cx="441900" cy="56982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9" name="Google Shape;229;p21"/>
          <p:cNvGraphicFramePr>
            <a:graphicFrameLocks noGrp="1"/>
          </p:cNvGraphicFramePr>
          <p:nvPr/>
        </p:nvGraphicFramePr>
        <p:xfrm>
          <a:off x="693425" y="55989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{9BC29147-2D28-41C1-9D49-2FED61A90C0A}</a:tableStyleId>
              </a:tblPr>
              <a:tblGrid>
                <a:gridCol w="569125"/>
                <a:gridCol w="891500"/>
              </a:tblGrid>
              <a:tr h="351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</a:t>
                      </a:r>
                      <a:endParaRPr sz="11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properties sold</a:t>
                      </a:r>
                      <a:endParaRPr sz="11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250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2018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6957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250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2019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6530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250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2020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4524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250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2021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6039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250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2022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5135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250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5837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230" name="Google Shape;230;p21"/>
          <p:cNvSpPr txBox="1"/>
          <p:nvPr/>
        </p:nvSpPr>
        <p:spPr>
          <a:xfrm>
            <a:off x="2428775" y="7545501"/>
            <a:ext cx="5694300" cy="6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Laura concludes that Liverpool will always sell around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5837 properties every year.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Explain why Laura could be wrong.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1" name="Google Shape;231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523150" y="7719026"/>
            <a:ext cx="441900" cy="5787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45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Statistical problems - drawing conclusions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2023-12-08T09:49:42.598</cp:lastPrinted>
  <dcterms:created xsi:type="dcterms:W3CDTF">2023-12-08T09:49:42Z</dcterms:created>
  <dcterms:modified xsi:type="dcterms:W3CDTF">2023-12-08T09:52:41Z</dcterms:modified>
</cp:coreProperties>
</file>