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9BDCF76-36D5-45BB-9746-CDD6A6FACE57}">
  <a:tblStyle styleId="{C9BDCF76-36D5-45BB-9746-CDD6A6FACE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1eb9008d545_0_3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b9008d545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Relationship Id="rId5" Type="http://schemas.openxmlformats.org/officeDocument/2006/relationships/image" Target="../media/image10.png" /><Relationship Id="rId6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drawing conclusions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conclusions from a statistical investigation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A bus company have 98 thousand passengers per day.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 table shows the mean number of passengers they have each time of the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559675" y="2457450"/>
          <a:ext cx="2319900" cy="2209770"/>
        </p:xfrm>
        <a:graphic>
          <a:graphicData uri="http://schemas.openxmlformats.org/drawingml/2006/table">
            <a:tbl>
              <a:tblPr>
                <a:noFill/>
                <a:tableStyleId>{C9BDCF76-36D5-45BB-9746-CDD6A6FACE57}</a:tableStyleId>
              </a:tblPr>
              <a:tblGrid>
                <a:gridCol w="1163725"/>
                <a:gridCol w="1156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 number of passengers (thousands)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06:00 - 10:00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34.3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10:00 - 14:00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14:00 - 18:00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29.4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18:00 - 22:00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3037800" y="2458200"/>
            <a:ext cx="4867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bus company wants to encourage more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people to travel at unpopular times of the day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by offering cheaper tickets.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Which time period should tickets be cheaper?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037800" y="3707027"/>
            <a:ext cx="4867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bus company wants to improve profits by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increasing ticket prices at the most popular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time of the day.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For which time period should prices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216775" y="3309466"/>
            <a:ext cx="1440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18:00 - 22:00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241100" y="4590667"/>
            <a:ext cx="1440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06:00 - 10:00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76400" y="5178900"/>
            <a:ext cx="84960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mobile phone provider manages the number of cell towers per town.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table shows the population and the number of cell towers for three towns.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scatter graph shows data from the ONS about other regions across the UK.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056051" y="7367594"/>
            <a:ext cx="29304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In which town should they install more cell towers?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052140" y="8697075"/>
            <a:ext cx="30525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In which town can they afford to switch off some cell towers?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rcRect t="1351" r="537"/>
          <a:stretch>
            <a:fillRect/>
          </a:stretch>
        </p:blipFill>
        <p:spPr>
          <a:xfrm>
            <a:off x="863798" y="7445600"/>
            <a:ext cx="2896881" cy="2124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1499176" y="9633750"/>
            <a:ext cx="202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867228" y="7234323"/>
            <a:ext cx="3070018" cy="2333224"/>
            <a:chOff x="2015104" y="1439649"/>
            <a:chExt cx="3902400" cy="2982900"/>
          </a:xfrm>
        </p:grpSpPr>
        <p:cxnSp>
          <p:nvCxnSpPr>
            <p:cNvPr id="187" name="Google Shape;187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8" name="Google Shape;188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89" name="Google Shape;189;p20"/>
          <p:cNvSpPr txBox="1"/>
          <p:nvPr/>
        </p:nvSpPr>
        <p:spPr>
          <a:xfrm rot="-5400000">
            <a:off x="-458000" y="8166853"/>
            <a:ext cx="1992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cell towers (thousands)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734091" y="9469243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32931" y="9364770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583280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555495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518054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32931" y="9021000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32931" y="8667519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32931" y="8309182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32931" y="7960557"/>
            <a:ext cx="2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49606" y="7607086"/>
            <a:ext cx="38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65018" y="7263316"/>
            <a:ext cx="38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0"/>
          <p:cNvGraphicFramePr>
            <a:graphicFrameLocks noGrp="1"/>
          </p:cNvGraphicFramePr>
          <p:nvPr/>
        </p:nvGraphicFramePr>
        <p:xfrm>
          <a:off x="1622375" y="5998940"/>
          <a:ext cx="3979200" cy="1051470"/>
        </p:xfrm>
        <a:graphic>
          <a:graphicData uri="http://schemas.openxmlformats.org/drawingml/2006/table">
            <a:tbl>
              <a:tblPr>
                <a:noFill/>
                <a:tableStyleId>{C9BDCF76-36D5-45BB-9746-CDD6A6FACE57}</a:tableStyleId>
              </a:tblPr>
              <a:tblGrid>
                <a:gridCol w="1899900"/>
                <a:gridCol w="693100"/>
                <a:gridCol w="693100"/>
                <a:gridCol w="693100"/>
              </a:tblGrid>
              <a:tr h="22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2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29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cell towers (thousands)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02" name="Google Shape;202;p20"/>
          <p:cNvSpPr txBox="1"/>
          <p:nvPr/>
        </p:nvSpPr>
        <p:spPr>
          <a:xfrm>
            <a:off x="1102000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064559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036774" y="9480052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073750" y="8094525"/>
            <a:ext cx="29304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thousand cell towers is less than most other regions with a similar population.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071402" y="7833550"/>
            <a:ext cx="864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Town 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051350" y="9412337"/>
            <a:ext cx="29304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thousand cell towers is more than most other regions with a similar population.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035547" y="9158750"/>
            <a:ext cx="630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Town 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p21"/>
          <p:cNvSpPr txBox="1"/>
          <p:nvPr/>
        </p:nvSpPr>
        <p:spPr>
          <a:xfrm>
            <a:off x="2417573" y="5576494"/>
            <a:ext cx="4674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Andeep concludes that most cities in the UK must sell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around 5837 properties per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Explain why Andeep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5" name="Google Shape;21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drawing conclusions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218" name="Google Shape;218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1"/>
          <p:cNvSpPr txBox="1"/>
          <p:nvPr/>
        </p:nvSpPr>
        <p:spPr>
          <a:xfrm>
            <a:off x="476400" y="1216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The pie chart shows data (by the ONS) from a survey in 2021 about how people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travel to work in the City of London.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Acknowledging limitations and problems with conclusions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10375" y="2507550"/>
            <a:ext cx="472800" cy="545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1"/>
          <p:cNvGrpSpPr/>
          <p:nvPr/>
        </p:nvGrpSpPr>
        <p:grpSpPr>
          <a:xfrm>
            <a:off x="4337980" y="1812843"/>
            <a:ext cx="1595093" cy="1607611"/>
            <a:chOff x="1847519" y="1684300"/>
            <a:chExt cx="2079380" cy="2095700"/>
          </a:xfrm>
        </p:grpSpPr>
        <p:pic>
          <p:nvPicPr>
            <p:cNvPr id="223" name="Google Shape;223;p21"/>
            <p:cNvPicPr preferRelativeResize="0"/>
            <p:nvPr/>
          </p:nvPicPr>
          <p:blipFill>
            <a:blip r:embed="rId4">
              <a:alphaModFix/>
            </a:blip>
            <a:srcRect l="937" t="876" r="6229" b="4863"/>
            <a:stretch>
              <a:fillRect/>
            </a:stretch>
          </p:blipFill>
          <p:spPr>
            <a:xfrm>
              <a:off x="1847519" y="1684300"/>
              <a:ext cx="2079380" cy="209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1"/>
            <p:cNvSpPr/>
            <p:nvPr/>
          </p:nvSpPr>
          <p:spPr>
            <a:xfrm>
              <a:off x="1847519" y="1692450"/>
              <a:ext cx="2079300" cy="20793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" name="Google Shape;225;p21"/>
          <p:cNvSpPr txBox="1"/>
          <p:nvPr/>
        </p:nvSpPr>
        <p:spPr>
          <a:xfrm>
            <a:off x="5812345" y="1812857"/>
            <a:ext cx="1383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underground rail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081253" y="2444167"/>
            <a:ext cx="441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train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993573" y="2834434"/>
            <a:ext cx="441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933087" y="3159669"/>
            <a:ext cx="441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taxi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665291" y="3357391"/>
            <a:ext cx="441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car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914613" y="3564836"/>
            <a:ext cx="441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cycle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063799" y="3208073"/>
            <a:ext cx="441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walk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227179" y="2118031"/>
            <a:ext cx="3627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21%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1"/>
          <p:cNvCxnSpPr>
            <a:stCxn id="225" idx="1"/>
          </p:cNvCxnSpPr>
          <p:nvPr/>
        </p:nvCxnSpPr>
        <p:spPr>
          <a:xfrm flipH="1">
            <a:off x="5647045" y="1942157"/>
            <a:ext cx="165300" cy="123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1"/>
          <p:cNvCxnSpPr>
            <a:stCxn id="226" idx="1"/>
          </p:cNvCxnSpPr>
          <p:nvPr/>
        </p:nvCxnSpPr>
        <p:spPr>
          <a:xfrm flipH="1">
            <a:off x="5866453" y="2573467"/>
            <a:ext cx="214800" cy="25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1"/>
          <p:cNvCxnSpPr>
            <a:stCxn id="227" idx="1"/>
          </p:cNvCxnSpPr>
          <p:nvPr/>
        </p:nvCxnSpPr>
        <p:spPr>
          <a:xfrm rot="10800000">
            <a:off x="5778773" y="2898934"/>
            <a:ext cx="214800" cy="64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1"/>
          <p:cNvCxnSpPr/>
          <p:nvPr/>
        </p:nvCxnSpPr>
        <p:spPr>
          <a:xfrm rot="10800000">
            <a:off x="5738282" y="3065273"/>
            <a:ext cx="192600" cy="142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1"/>
          <p:cNvCxnSpPr/>
          <p:nvPr/>
        </p:nvCxnSpPr>
        <p:spPr>
          <a:xfrm rot="10800000">
            <a:off x="5563623" y="3241925"/>
            <a:ext cx="114000" cy="164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1"/>
          <p:cNvCxnSpPr>
            <a:stCxn id="230" idx="0"/>
          </p:cNvCxnSpPr>
          <p:nvPr/>
        </p:nvCxnSpPr>
        <p:spPr>
          <a:xfrm rot="10800000">
            <a:off x="5122963" y="3357236"/>
            <a:ext cx="12600" cy="20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1"/>
          <p:cNvCxnSpPr/>
          <p:nvPr/>
        </p:nvCxnSpPr>
        <p:spPr>
          <a:xfrm rot="10800000" flipH="1">
            <a:off x="4431712" y="3114741"/>
            <a:ext cx="124200" cy="127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21"/>
          <p:cNvSpPr txBox="1"/>
          <p:nvPr/>
        </p:nvSpPr>
        <p:spPr>
          <a:xfrm>
            <a:off x="542800" y="3495987"/>
            <a:ext cx="34467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Alex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1334300" y="1870400"/>
            <a:ext cx="2397300" cy="1147500"/>
          </a:xfrm>
          <a:prstGeom prst="wedgeRoundRectCallout">
            <a:avLst>
              <a:gd name="adj1" fmla="val -56858"/>
              <a:gd name="adj2" fmla="val 33484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If we use this data from London as a sample then we can conclude that around 21% of people in the UK also travel to work by underground rail.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686550" y="3052800"/>
            <a:ext cx="57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34150" y="3782650"/>
            <a:ext cx="40377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sample only uses data from a single location.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34150" y="4087450"/>
            <a:ext cx="5573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Modes of transport may differ depending on whether they live in a town or city.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34150" y="4392250"/>
            <a:ext cx="5573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all towns and cities have an underground rail network.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76400" y="4981676"/>
            <a:ext cx="823770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table shows data from the ONS about the number of property sales each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year in Liverpool.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8860" y="5780409"/>
            <a:ext cx="441900" cy="5698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p21"/>
          <p:cNvGraphicFramePr>
            <a:graphicFrameLocks noGrp="1"/>
          </p:cNvGraphicFramePr>
          <p:nvPr/>
        </p:nvGraphicFramePr>
        <p:xfrm>
          <a:off x="693425" y="5598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{C9BDCF76-36D5-45BB-9746-CDD6A6FACE57}</a:tableStyleId>
              </a:tblPr>
              <a:tblGrid>
                <a:gridCol w="569125"/>
                <a:gridCol w="891500"/>
              </a:tblGrid>
              <a:tr h="351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properties sold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6957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6530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4524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5135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2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5837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49" name="Google Shape;249;p21"/>
          <p:cNvSpPr txBox="1"/>
          <p:nvPr/>
        </p:nvSpPr>
        <p:spPr>
          <a:xfrm>
            <a:off x="2607600" y="6325945"/>
            <a:ext cx="48297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Cities vary in size.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Bigger cities may sell more properties each year.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Smaller cities may sell few properties each year.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428775" y="7545501"/>
            <a:ext cx="5694300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Laura concludes that Liverpool will always sell around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5837 properties every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Explain why Laura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23150" y="7719026"/>
            <a:ext cx="441900" cy="57877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2607601" y="8358700"/>
            <a:ext cx="44031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number of property sales might change in the future (e.g. if the population increases or more houses are built).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2020 had an unusually low number of sales.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Statistical problems - drawing conclusions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2023-12-08T09:52:40.962</cp:lastPrinted>
  <dcterms:created xsi:type="dcterms:W3CDTF">2023-12-08T09:52:40Z</dcterms:created>
  <dcterms:modified xsi:type="dcterms:W3CDTF">2023-12-08T09:50:01Z</dcterms:modified>
</cp:coreProperties>
</file>