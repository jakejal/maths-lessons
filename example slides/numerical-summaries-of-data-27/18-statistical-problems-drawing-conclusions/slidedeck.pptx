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64FB56-EB7A-40D5-9F41-076C35503622}">
  <a:tblStyle styleId="{B664FB56-EB7A-40D5-9F41-076C355036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6c6100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6c6100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ea6c6100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ea6c6100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ea6c610078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ea6c610078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1ea6c610078_0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1ea6c610078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ea6c610078_0_1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ea6c610078_0_1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1ea6c610078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1ea6c610078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ea6c610078_0_1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ea6c610078_0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ea6c610078_0_1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ea6c610078_0_1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ea6c610078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ea6c610078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ea6c610078_0_1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ea6c610078_0_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96a3d85cb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96a3d85c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96a3d85cb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96a3d85cb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96a3d85cb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96a3d85cb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96a3d85cb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96a3d85cb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96a3d85cbb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96a3d85cb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96a3d85cb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96a3d85cb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96a3d85cbb_0_1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96a3d85cbb_0_1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96a3d85cbb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96a3d85cbb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96a3d85cbb_0_1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96a3d85cbb_0_1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96a3d85cbb_0_1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96a3d85cbb_0_1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96a3d85cbb_0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96a3d85cbb_0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96a3d85cbb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96a3d85cbb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1ea6c61007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1ea6c61007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96a3d85cbb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96a3d85cbb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96a3d85cbb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96a3d85cbb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96a3d85cbb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96a3d85cbb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96a3d85cb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96a3d85cb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96a3d85cbb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96a3d85cbb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296a3d85cbb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296a3d85cbb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96a3d85cbb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296a3d85cbb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296a3d85cbb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296a3d85cbb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296a3d85cbb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296a3d85cbb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96a3d85cbb_0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96a3d85cbb_0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979a3cc4a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979a3cc4a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979a3cc4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979a3cc4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979a3cc4a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979a3cc4a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96a3d85cbb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96a3d85cbb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96a3d85cbb_0_1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96a3d85cbb_0_1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74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74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74.png"/><Relationship Id="rId4" Type="http://schemas.openxmlformats.org/officeDocument/2006/relationships/image" Target="../media/image27.png"/><Relationship Id="rId11" Type="http://schemas.openxmlformats.org/officeDocument/2006/relationships/image" Target="../media/image22.png"/><Relationship Id="rId10" Type="http://schemas.openxmlformats.org/officeDocument/2006/relationships/image" Target="../media/image41.png"/><Relationship Id="rId9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Relationship Id="rId4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1.png"/><Relationship Id="rId4" Type="http://schemas.openxmlformats.org/officeDocument/2006/relationships/image" Target="../media/image66.png"/><Relationship Id="rId5" Type="http://schemas.openxmlformats.org/officeDocument/2006/relationships/image" Target="../media/image6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2.png"/><Relationship Id="rId4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Relationship Id="rId4" Type="http://schemas.openxmlformats.org/officeDocument/2006/relationships/image" Target="../media/image6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png"/><Relationship Id="rId4" Type="http://schemas.openxmlformats.org/officeDocument/2006/relationships/image" Target="../media/image6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drawing conclusions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effectively summarise and communicate </a:t>
            </a:r>
            <a:r>
              <a:rPr lang="en-GB"/>
              <a:t>conclusions</a:t>
            </a:r>
            <a:r>
              <a:rPr lang="en-GB"/>
              <a:t> to a statistical problem.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08475"/>
            <a:ext cx="8496000" cy="7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In a data investigation, the population is the entire set of people, creatures, plants or items that make up the whole group which is being studied. 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 sample is a subset of the population.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Bias is an error that is caused by including a factor which distorts a dataset in some way.</a:t>
            </a:r>
            <a:endParaRPr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statistical summary is a value, or group of values, that help describe a property of a dataset.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conclusions from a statistical investigation</a:t>
            </a:r>
            <a:endParaRPr/>
          </a:p>
        </p:txBody>
      </p:sp>
      <p:sp>
        <p:nvSpPr>
          <p:cNvPr id="775" name="Google Shape;775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Acknowledging limitations and problems with conclusions</a:t>
            </a:r>
            <a:endParaRPr/>
          </a:p>
        </p:txBody>
      </p:sp>
      <p:sp>
        <p:nvSpPr>
          <p:cNvPr id="776" name="Google Shape;776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drawing conclusions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/>
          <p:nvPr/>
        </p:nvSpPr>
        <p:spPr>
          <a:xfrm>
            <a:off x="3087124" y="1691450"/>
            <a:ext cx="2442300" cy="873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24000" y="813925"/>
            <a:ext cx="8386200" cy="3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Review of the data cycle:</a:t>
            </a:r>
            <a:endParaRPr sz="1800"/>
          </a:p>
        </p:txBody>
      </p:sp>
      <p:sp>
        <p:nvSpPr>
          <p:cNvPr id="785" name="Google Shape;785;p69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5711427" y="23901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1" name="Google Shape;791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794" name="Google Shape;794;p69"/>
          <p:cNvSpPr txBox="1"/>
          <p:nvPr/>
        </p:nvSpPr>
        <p:spPr>
          <a:xfrm>
            <a:off x="227257" y="1090398"/>
            <a:ext cx="84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Statistical investigations start with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question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problem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solve.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5" name="Google Shape;795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24000" y="813925"/>
            <a:ext cx="8386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We then collect some data that addresses the problem, while being careful not to do anything that might cause the data to be </a:t>
            </a:r>
            <a:r>
              <a:rPr lang="en-GB" sz="1800">
                <a:solidFill>
                  <a:schemeClr val="accent4"/>
                </a:solidFill>
              </a:rPr>
              <a:t>biased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805" name="Google Shape;805;p70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5711427" y="2390100"/>
            <a:ext cx="224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0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1" name="Google Shape;811;p70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0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0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0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0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818" name="Google Shape;818;p70"/>
          <p:cNvSpPr/>
          <p:nvPr/>
        </p:nvSpPr>
        <p:spPr>
          <a:xfrm>
            <a:off x="5711425" y="2390100"/>
            <a:ext cx="1969200" cy="476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824" name="Google Shape;824;p71"/>
          <p:cNvSpPr txBox="1"/>
          <p:nvPr>
            <p:ph idx="1" type="body"/>
          </p:nvPr>
        </p:nvSpPr>
        <p:spPr>
          <a:xfrm>
            <a:off x="324000" y="813925"/>
            <a:ext cx="8386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data then needs to be </a:t>
            </a:r>
            <a:r>
              <a:rPr lang="en-GB" sz="1800">
                <a:solidFill>
                  <a:schemeClr val="accent4"/>
                </a:solidFill>
              </a:rPr>
              <a:t>organised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presented</a:t>
            </a:r>
            <a:r>
              <a:rPr lang="en-GB" sz="1800"/>
              <a:t> in a format that makes it easy to analyse and interpret (e.g. in a table or graph).</a:t>
            </a:r>
            <a:endParaRPr sz="1800"/>
          </a:p>
        </p:txBody>
      </p:sp>
      <p:sp>
        <p:nvSpPr>
          <p:cNvPr id="825" name="Google Shape;825;p71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 txBox="1"/>
          <p:nvPr/>
        </p:nvSpPr>
        <p:spPr>
          <a:xfrm>
            <a:off x="5711415" y="2390088"/>
            <a:ext cx="21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1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1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1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1" name="Google Shape;831;p71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1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1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1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1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1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1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838" name="Google Shape;838;p71"/>
          <p:cNvSpPr/>
          <p:nvPr/>
        </p:nvSpPr>
        <p:spPr>
          <a:xfrm>
            <a:off x="5469575" y="3448900"/>
            <a:ext cx="2200200" cy="58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844" name="Google Shape;844;p72"/>
          <p:cNvSpPr txBox="1"/>
          <p:nvPr>
            <p:ph idx="1" type="body"/>
          </p:nvPr>
        </p:nvSpPr>
        <p:spPr>
          <a:xfrm>
            <a:off x="324000" y="813925"/>
            <a:ext cx="8386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We then </a:t>
            </a:r>
            <a:r>
              <a:rPr lang="en-GB" sz="1800">
                <a:solidFill>
                  <a:schemeClr val="accent4"/>
                </a:solidFill>
              </a:rPr>
              <a:t>analyse</a:t>
            </a:r>
            <a:r>
              <a:rPr lang="en-GB" sz="1800"/>
              <a:t> the data using methods which are appropriate for addressing the problem (e.g. calculating averages and the range).</a:t>
            </a:r>
            <a:endParaRPr sz="1800"/>
          </a:p>
        </p:txBody>
      </p:sp>
      <p:sp>
        <p:nvSpPr>
          <p:cNvPr id="845" name="Google Shape;845;p72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 txBox="1"/>
          <p:nvPr/>
        </p:nvSpPr>
        <p:spPr>
          <a:xfrm>
            <a:off x="5711415" y="2390088"/>
            <a:ext cx="21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2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2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2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2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1" name="Google Shape;851;p72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2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2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2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2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2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2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858" name="Google Shape;858;p72"/>
          <p:cNvSpPr/>
          <p:nvPr/>
        </p:nvSpPr>
        <p:spPr>
          <a:xfrm>
            <a:off x="3283625" y="4245900"/>
            <a:ext cx="2155500" cy="431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864" name="Google Shape;864;p73"/>
          <p:cNvSpPr txBox="1"/>
          <p:nvPr>
            <p:ph idx="1" type="body"/>
          </p:nvPr>
        </p:nvSpPr>
        <p:spPr>
          <a:xfrm>
            <a:off x="324000" y="813925"/>
            <a:ext cx="84960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After creating the statistical summaries or graphs that we need, we can </a:t>
            </a:r>
            <a:r>
              <a:rPr lang="en-GB" sz="1800">
                <a:solidFill>
                  <a:schemeClr val="accent4"/>
                </a:solidFill>
              </a:rPr>
              <a:t>draw conclusions</a:t>
            </a:r>
            <a:r>
              <a:rPr lang="en-GB" sz="1800"/>
              <a:t> and present the data in a way that illustrates the conclusions.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65" name="Google Shape;865;p73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3"/>
          <p:cNvSpPr txBox="1"/>
          <p:nvPr/>
        </p:nvSpPr>
        <p:spPr>
          <a:xfrm>
            <a:off x="5711415" y="2390088"/>
            <a:ext cx="211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3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3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3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1" name="Google Shape;871;p73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3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3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3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3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3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3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878" name="Google Shape;878;p73"/>
          <p:cNvSpPr/>
          <p:nvPr/>
        </p:nvSpPr>
        <p:spPr>
          <a:xfrm>
            <a:off x="1603950" y="3713550"/>
            <a:ext cx="1889700" cy="535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884" name="Google Shape;884;p74"/>
          <p:cNvSpPr txBox="1"/>
          <p:nvPr>
            <p:ph idx="1" type="body"/>
          </p:nvPr>
        </p:nvSpPr>
        <p:spPr>
          <a:xfrm>
            <a:off x="324000" y="813925"/>
            <a:ext cx="84960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These conclusions may lead to decisions or </a:t>
            </a:r>
            <a:r>
              <a:rPr lang="en-GB" sz="1800">
                <a:solidFill>
                  <a:schemeClr val="accent4"/>
                </a:solidFill>
              </a:rPr>
              <a:t>actions</a:t>
            </a:r>
            <a:r>
              <a:rPr lang="en-GB" sz="1800"/>
              <a:t> that address the problem that prompted the investigation.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85" name="Google Shape;885;p74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4"/>
          <p:cNvSpPr txBox="1"/>
          <p:nvPr/>
        </p:nvSpPr>
        <p:spPr>
          <a:xfrm>
            <a:off x="5711415" y="2390088"/>
            <a:ext cx="2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1" name="Google Shape;891;p74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4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4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4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4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4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4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898" name="Google Shape;898;p74"/>
          <p:cNvSpPr/>
          <p:nvPr/>
        </p:nvSpPr>
        <p:spPr>
          <a:xfrm>
            <a:off x="1544850" y="2538275"/>
            <a:ext cx="1508100" cy="535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324000" y="813925"/>
            <a:ext cx="84960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This lesson focuses on the final two steps in the data cycle.</a:t>
            </a:r>
            <a:endParaRPr sz="1800"/>
          </a:p>
        </p:txBody>
      </p:sp>
      <p:sp>
        <p:nvSpPr>
          <p:cNvPr id="905" name="Google Shape;905;p75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5"/>
          <p:cNvSpPr txBox="1"/>
          <p:nvPr/>
        </p:nvSpPr>
        <p:spPr>
          <a:xfrm>
            <a:off x="5711415" y="2390088"/>
            <a:ext cx="211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5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5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1" name="Google Shape;911;p75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75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5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5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5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5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5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918" name="Google Shape;918;p75"/>
          <p:cNvSpPr/>
          <p:nvPr/>
        </p:nvSpPr>
        <p:spPr>
          <a:xfrm>
            <a:off x="1544850" y="2538275"/>
            <a:ext cx="1508100" cy="535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5"/>
          <p:cNvSpPr/>
          <p:nvPr/>
        </p:nvSpPr>
        <p:spPr>
          <a:xfrm>
            <a:off x="1603950" y="3713550"/>
            <a:ext cx="1889700" cy="535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6"/>
          <p:cNvSpPr txBox="1"/>
          <p:nvPr>
            <p:ph idx="1" type="body"/>
          </p:nvPr>
        </p:nvSpPr>
        <p:spPr>
          <a:xfrm>
            <a:off x="324000" y="2098652"/>
            <a:ext cx="8496000" cy="6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Graphical representations</a:t>
            </a:r>
            <a:r>
              <a:rPr lang="en-GB" sz="2000"/>
              <a:t> of data can also be useful tools for drawing conclusions.</a:t>
            </a:r>
            <a:endParaRPr sz="2000"/>
          </a:p>
        </p:txBody>
      </p:sp>
      <p:sp>
        <p:nvSpPr>
          <p:cNvPr id="925" name="Google Shape;92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926" name="Google Shape;926;p76"/>
          <p:cNvSpPr txBox="1"/>
          <p:nvPr>
            <p:ph idx="1" type="body"/>
          </p:nvPr>
        </p:nvSpPr>
        <p:spPr>
          <a:xfrm>
            <a:off x="324000" y="813046"/>
            <a:ext cx="8496000" cy="9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Statistical summaries</a:t>
            </a:r>
            <a:r>
              <a:rPr lang="en-GB" sz="2000"/>
              <a:t> </a:t>
            </a:r>
            <a:r>
              <a:rPr lang="en-GB" sz="2000"/>
              <a:t>can be a useful</a:t>
            </a:r>
            <a:r>
              <a:rPr lang="en-GB" sz="2000"/>
              <a:t> way to make sense of large amounts of data. This can be helpful for drawing conclusions and deciding what actions may be needed.</a:t>
            </a:r>
            <a:endParaRPr sz="2000"/>
          </a:p>
        </p:txBody>
      </p:sp>
      <p:sp>
        <p:nvSpPr>
          <p:cNvPr id="927" name="Google Shape;927;p76"/>
          <p:cNvSpPr txBox="1"/>
          <p:nvPr>
            <p:ph idx="1" type="body"/>
          </p:nvPr>
        </p:nvSpPr>
        <p:spPr>
          <a:xfrm>
            <a:off x="324000" y="3013050"/>
            <a:ext cx="8496000" cy="10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</a:t>
            </a:r>
            <a:r>
              <a:rPr lang="en-GB" sz="2000"/>
              <a:t> can help you investigate findings in more depth by allowing you to make </a:t>
            </a:r>
            <a:r>
              <a:rPr lang="en-GB" sz="2000"/>
              <a:t>comparisons</a:t>
            </a:r>
            <a:r>
              <a:rPr lang="en-GB" sz="2000"/>
              <a:t> between different aspects of the dataset.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7"/>
          <p:cNvSpPr txBox="1"/>
          <p:nvPr>
            <p:ph idx="1" type="body"/>
          </p:nvPr>
        </p:nvSpPr>
        <p:spPr>
          <a:xfrm>
            <a:off x="324000" y="1478303"/>
            <a:ext cx="8496000" cy="6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</a:t>
            </a:r>
            <a:r>
              <a:rPr lang="en-GB" sz="1800">
                <a:solidFill>
                  <a:schemeClr val="accent4"/>
                </a:solidFill>
              </a:rPr>
              <a:t>collect data</a:t>
            </a:r>
            <a:r>
              <a:rPr lang="en-GB" sz="1800"/>
              <a:t> about the volume of emissions from different sectors of the town.</a:t>
            </a:r>
            <a:endParaRPr sz="1800"/>
          </a:p>
        </p:txBody>
      </p:sp>
      <p:sp>
        <p:nvSpPr>
          <p:cNvPr id="933" name="Google Shape;93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934" name="Google Shape;934;p77"/>
          <p:cNvSpPr txBox="1"/>
          <p:nvPr>
            <p:ph idx="1" type="body"/>
          </p:nvPr>
        </p:nvSpPr>
        <p:spPr>
          <a:xfrm>
            <a:off x="324000" y="813048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lang="en-GB" sz="1800"/>
              <a:t>town council is investigating ways to manage the levels of greenhouse gas emissions in their town.</a:t>
            </a:r>
            <a:endParaRPr sz="1800"/>
          </a:p>
        </p:txBody>
      </p:sp>
      <p:pic>
        <p:nvPicPr>
          <p:cNvPr id="935" name="Google Shape;93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55" y="2144852"/>
            <a:ext cx="4412736" cy="2617648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7"/>
          <p:cNvSpPr txBox="1"/>
          <p:nvPr>
            <p:ph idx="1" type="body"/>
          </p:nvPr>
        </p:nvSpPr>
        <p:spPr>
          <a:xfrm>
            <a:off x="4805497" y="2197622"/>
            <a:ext cx="3476400" cy="6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conclusions could be drawn from this bar chart?</a:t>
            </a:r>
            <a:endParaRPr sz="1800"/>
          </a:p>
        </p:txBody>
      </p:sp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4794748" y="2977200"/>
            <a:ext cx="4122300" cy="3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Transport causes the most emissions.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8" name="Google Shape;938;p77"/>
          <p:cNvSpPr txBox="1"/>
          <p:nvPr>
            <p:ph idx="1" type="body"/>
          </p:nvPr>
        </p:nvSpPr>
        <p:spPr>
          <a:xfrm>
            <a:off x="4794750" y="3517350"/>
            <a:ext cx="4122300" cy="7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Domestic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causes the second most amount of emissions.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8"/>
          <p:cNvSpPr txBox="1"/>
          <p:nvPr>
            <p:ph idx="1" type="body"/>
          </p:nvPr>
        </p:nvSpPr>
        <p:spPr>
          <a:xfrm>
            <a:off x="324000" y="1184252"/>
            <a:ext cx="8496000" cy="6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scatter graph shows data from the ONS about population sizes and transport emissions for regions around the UK in 2019.</a:t>
            </a:r>
            <a:endParaRPr sz="1800"/>
          </a:p>
        </p:txBody>
      </p:sp>
      <p:sp>
        <p:nvSpPr>
          <p:cNvPr id="944" name="Google Shape;94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945" name="Google Shape;945;p78"/>
          <p:cNvSpPr txBox="1"/>
          <p:nvPr>
            <p:ph idx="1" type="body"/>
          </p:nvPr>
        </p:nvSpPr>
        <p:spPr>
          <a:xfrm>
            <a:off x="324000" y="813047"/>
            <a:ext cx="84960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council choose to examine the emissions from </a:t>
            </a:r>
            <a:r>
              <a:rPr lang="en-GB" sz="1800">
                <a:solidFill>
                  <a:schemeClr val="accent4"/>
                </a:solidFill>
              </a:rPr>
              <a:t>transport</a:t>
            </a:r>
            <a:r>
              <a:rPr lang="en-GB" sz="1800"/>
              <a:t> further.</a:t>
            </a:r>
            <a:endParaRPr sz="1800"/>
          </a:p>
        </p:txBody>
      </p:sp>
      <p:pic>
        <p:nvPicPr>
          <p:cNvPr id="946" name="Google Shape;94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975" y="2083800"/>
            <a:ext cx="2901001" cy="2492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8"/>
          <p:cNvSpPr txBox="1"/>
          <p:nvPr/>
        </p:nvSpPr>
        <p:spPr>
          <a:xfrm>
            <a:off x="1042273" y="4476029"/>
            <a:ext cx="25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8" name="Google Shape;948;p78"/>
          <p:cNvGrpSpPr/>
          <p:nvPr/>
        </p:nvGrpSpPr>
        <p:grpSpPr>
          <a:xfrm>
            <a:off x="922322" y="1919351"/>
            <a:ext cx="2968946" cy="2585876"/>
            <a:chOff x="2015104" y="1439649"/>
            <a:chExt cx="3902400" cy="2982900"/>
          </a:xfrm>
        </p:grpSpPr>
        <p:cxnSp>
          <p:nvCxnSpPr>
            <p:cNvPr id="949" name="Google Shape;949;p78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0" name="Google Shape;950;p78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51" name="Google Shape;951;p78"/>
          <p:cNvSpPr txBox="1"/>
          <p:nvPr/>
        </p:nvSpPr>
        <p:spPr>
          <a:xfrm rot="-5400000">
            <a:off x="-762000" y="2910050"/>
            <a:ext cx="260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transport greenhouse gas emissions (kt CO2e)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8"/>
          <p:cNvSpPr txBox="1"/>
          <p:nvPr>
            <p:ph idx="1" type="body"/>
          </p:nvPr>
        </p:nvSpPr>
        <p:spPr>
          <a:xfrm>
            <a:off x="4320000" y="1995898"/>
            <a:ext cx="45000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correlation does it show?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/>
            </a:br>
            <a:br>
              <a:rPr lang="en-GB" sz="1800"/>
            </a:br>
            <a:r>
              <a:rPr lang="en-GB" sz="1800"/>
              <a:t>What does that tell us about the relationship between population and transport greenhouse gas emissions?</a:t>
            </a:r>
            <a:endParaRPr sz="1800"/>
          </a:p>
        </p:txBody>
      </p:sp>
      <p:sp>
        <p:nvSpPr>
          <p:cNvPr id="953" name="Google Shape;953;p78"/>
          <p:cNvSpPr txBox="1"/>
          <p:nvPr>
            <p:ph idx="1" type="body"/>
          </p:nvPr>
        </p:nvSpPr>
        <p:spPr>
          <a:xfrm>
            <a:off x="4320000" y="4126173"/>
            <a:ext cx="4122300" cy="7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greater the population, the more transport greenhouse gas emissions.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4" name="Google Shape;954;p78"/>
          <p:cNvSpPr txBox="1"/>
          <p:nvPr>
            <p:ph idx="1" type="body"/>
          </p:nvPr>
        </p:nvSpPr>
        <p:spPr>
          <a:xfrm>
            <a:off x="4320000" y="2428275"/>
            <a:ext cx="4122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ositive correlation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9"/>
          <p:cNvSpPr txBox="1"/>
          <p:nvPr>
            <p:ph idx="1" type="body"/>
          </p:nvPr>
        </p:nvSpPr>
        <p:spPr>
          <a:xfrm>
            <a:off x="324000" y="1184251"/>
            <a:ext cx="84960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Their greenhouse gas emissions from transport were 307 </a:t>
            </a:r>
            <a:r>
              <a:rPr lang="en-GB" sz="1600"/>
              <a:t>kt CO2e.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60" name="Google Shape;96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961" name="Google Shape;961;p79"/>
          <p:cNvSpPr txBox="1"/>
          <p:nvPr>
            <p:ph idx="1" type="body"/>
          </p:nvPr>
        </p:nvSpPr>
        <p:spPr>
          <a:xfrm>
            <a:off x="324000" y="813047"/>
            <a:ext cx="84960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town has a population of 101 thousand people.</a:t>
            </a:r>
            <a:endParaRPr sz="1800"/>
          </a:p>
        </p:txBody>
      </p:sp>
      <p:pic>
        <p:nvPicPr>
          <p:cNvPr id="962" name="Google Shape;962;p79"/>
          <p:cNvPicPr preferRelativeResize="0"/>
          <p:nvPr/>
        </p:nvPicPr>
        <p:blipFill rotWithShape="1">
          <a:blip r:embed="rId3">
            <a:alphaModFix/>
          </a:blip>
          <a:srcRect b="3614" l="4141" r="0" t="0"/>
          <a:stretch/>
        </p:blipFill>
        <p:spPr>
          <a:xfrm>
            <a:off x="1227125" y="1643250"/>
            <a:ext cx="3017324" cy="2606699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9"/>
          <p:cNvSpPr txBox="1"/>
          <p:nvPr/>
        </p:nvSpPr>
        <p:spPr>
          <a:xfrm>
            <a:off x="1347073" y="4476029"/>
            <a:ext cx="25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4" name="Google Shape;964;p79"/>
          <p:cNvGrpSpPr/>
          <p:nvPr/>
        </p:nvGrpSpPr>
        <p:grpSpPr>
          <a:xfrm>
            <a:off x="1227122" y="1690751"/>
            <a:ext cx="2968946" cy="2585876"/>
            <a:chOff x="2015104" y="1439649"/>
            <a:chExt cx="3902400" cy="2982900"/>
          </a:xfrm>
        </p:grpSpPr>
        <p:cxnSp>
          <p:nvCxnSpPr>
            <p:cNvPr id="965" name="Google Shape;965;p79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6" name="Google Shape;966;p79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67" name="Google Shape;967;p79"/>
          <p:cNvSpPr txBox="1"/>
          <p:nvPr/>
        </p:nvSpPr>
        <p:spPr>
          <a:xfrm rot="-5400000">
            <a:off x="-772749" y="2681450"/>
            <a:ext cx="260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transport greenhouse gas emissions (kt CO2e)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9"/>
          <p:cNvSpPr txBox="1"/>
          <p:nvPr>
            <p:ph idx="1" type="body"/>
          </p:nvPr>
        </p:nvSpPr>
        <p:spPr>
          <a:xfrm>
            <a:off x="4824000" y="1740425"/>
            <a:ext cx="3995400" cy="9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transport emissions what you would expect for a town with this population?</a:t>
            </a:r>
            <a:endParaRPr sz="1800"/>
          </a:p>
        </p:txBody>
      </p:sp>
      <p:sp>
        <p:nvSpPr>
          <p:cNvPr id="969" name="Google Shape;969;p79"/>
          <p:cNvSpPr txBox="1"/>
          <p:nvPr>
            <p:ph idx="1" type="body"/>
          </p:nvPr>
        </p:nvSpPr>
        <p:spPr>
          <a:xfrm>
            <a:off x="4824000" y="2779288"/>
            <a:ext cx="4122300" cy="7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etween 50 and 450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kt CO2e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79"/>
          <p:cNvSpPr txBox="1"/>
          <p:nvPr/>
        </p:nvSpPr>
        <p:spPr>
          <a:xfrm>
            <a:off x="1092624" y="418992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9"/>
          <p:cNvSpPr txBox="1"/>
          <p:nvPr/>
        </p:nvSpPr>
        <p:spPr>
          <a:xfrm>
            <a:off x="1549825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2159425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9"/>
          <p:cNvSpPr txBox="1"/>
          <p:nvPr/>
        </p:nvSpPr>
        <p:spPr>
          <a:xfrm>
            <a:off x="2752901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9"/>
          <p:cNvSpPr txBox="1"/>
          <p:nvPr/>
        </p:nvSpPr>
        <p:spPr>
          <a:xfrm>
            <a:off x="3335628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9"/>
          <p:cNvSpPr txBox="1"/>
          <p:nvPr/>
        </p:nvSpPr>
        <p:spPr>
          <a:xfrm>
            <a:off x="743872" y="3542700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9"/>
          <p:cNvSpPr txBox="1"/>
          <p:nvPr/>
        </p:nvSpPr>
        <p:spPr>
          <a:xfrm>
            <a:off x="743872" y="3009300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9"/>
          <p:cNvSpPr txBox="1"/>
          <p:nvPr/>
        </p:nvSpPr>
        <p:spPr>
          <a:xfrm>
            <a:off x="743872" y="2503729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9"/>
          <p:cNvSpPr txBox="1"/>
          <p:nvPr/>
        </p:nvSpPr>
        <p:spPr>
          <a:xfrm>
            <a:off x="743872" y="1970329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9"/>
          <p:cNvSpPr txBox="1"/>
          <p:nvPr/>
        </p:nvSpPr>
        <p:spPr>
          <a:xfrm>
            <a:off x="940224" y="4059979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9"/>
          <p:cNvSpPr/>
          <p:nvPr/>
        </p:nvSpPr>
        <p:spPr>
          <a:xfrm>
            <a:off x="1778600" y="3440400"/>
            <a:ext cx="91500" cy="91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1" name="Google Shape;981;p79"/>
          <p:cNvCxnSpPr/>
          <p:nvPr/>
        </p:nvCxnSpPr>
        <p:spPr>
          <a:xfrm rot="10800000">
            <a:off x="1824362" y="3117675"/>
            <a:ext cx="0" cy="993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2" name="Google Shape;982;p79"/>
          <p:cNvSpPr txBox="1"/>
          <p:nvPr>
            <p:ph idx="1" type="body"/>
          </p:nvPr>
        </p:nvSpPr>
        <p:spPr>
          <a:xfrm>
            <a:off x="4824000" y="3569225"/>
            <a:ext cx="3995400" cy="9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this town’s transport emissions unusually high for its population?</a:t>
            </a:r>
            <a:endParaRPr sz="1800"/>
          </a:p>
        </p:txBody>
      </p:sp>
      <p:sp>
        <p:nvSpPr>
          <p:cNvPr id="983" name="Google Shape;983;p79"/>
          <p:cNvSpPr txBox="1"/>
          <p:nvPr>
            <p:ph idx="1" type="body"/>
          </p:nvPr>
        </p:nvSpPr>
        <p:spPr>
          <a:xfrm>
            <a:off x="4824000" y="4276618"/>
            <a:ext cx="4092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4" name="Google Shape;984;p79"/>
          <p:cNvCxnSpPr/>
          <p:nvPr/>
        </p:nvCxnSpPr>
        <p:spPr>
          <a:xfrm rot="10800000">
            <a:off x="1201125" y="4132150"/>
            <a:ext cx="648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79"/>
          <p:cNvCxnSpPr/>
          <p:nvPr/>
        </p:nvCxnSpPr>
        <p:spPr>
          <a:xfrm rot="10800000">
            <a:off x="1175450" y="3103375"/>
            <a:ext cx="648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80"/>
          <p:cNvPicPr preferRelativeResize="0"/>
          <p:nvPr/>
        </p:nvPicPr>
        <p:blipFill rotWithShape="1">
          <a:blip r:embed="rId3">
            <a:alphaModFix/>
          </a:blip>
          <a:srcRect b="3589" l="4379" r="0" t="7108"/>
          <a:stretch/>
        </p:blipFill>
        <p:spPr>
          <a:xfrm>
            <a:off x="1227125" y="1774225"/>
            <a:ext cx="2675218" cy="2483951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992" name="Google Shape;992;p80"/>
          <p:cNvSpPr txBox="1"/>
          <p:nvPr>
            <p:ph idx="1" type="body"/>
          </p:nvPr>
        </p:nvSpPr>
        <p:spPr>
          <a:xfrm>
            <a:off x="324000" y="813052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then use ONS data to examine </a:t>
            </a:r>
            <a:r>
              <a:rPr lang="en-GB" sz="1800">
                <a:solidFill>
                  <a:schemeClr val="accent4"/>
                </a:solidFill>
              </a:rPr>
              <a:t>domestic</a:t>
            </a:r>
            <a:r>
              <a:rPr lang="en-GB" sz="1800"/>
              <a:t> greenhouse gas emissions. This town’s domestic emissions were 281 </a:t>
            </a:r>
            <a:r>
              <a:rPr lang="en-GB" sz="1600"/>
              <a:t>kt CO2e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93" name="Google Shape;993;p80"/>
          <p:cNvSpPr txBox="1"/>
          <p:nvPr/>
        </p:nvSpPr>
        <p:spPr>
          <a:xfrm>
            <a:off x="1347073" y="4476029"/>
            <a:ext cx="25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4" name="Google Shape;994;p80"/>
          <p:cNvGrpSpPr/>
          <p:nvPr/>
        </p:nvGrpSpPr>
        <p:grpSpPr>
          <a:xfrm>
            <a:off x="1227122" y="1690751"/>
            <a:ext cx="2968946" cy="2585876"/>
            <a:chOff x="2015104" y="1439649"/>
            <a:chExt cx="3902400" cy="2982900"/>
          </a:xfrm>
        </p:grpSpPr>
        <p:cxnSp>
          <p:nvCxnSpPr>
            <p:cNvPr id="995" name="Google Shape;995;p80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96" name="Google Shape;996;p8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97" name="Google Shape;997;p80"/>
          <p:cNvSpPr txBox="1"/>
          <p:nvPr/>
        </p:nvSpPr>
        <p:spPr>
          <a:xfrm rot="-5400000">
            <a:off x="-772749" y="2681450"/>
            <a:ext cx="260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domestic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greenhouse gas emissions (kt CO2e)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0"/>
          <p:cNvSpPr txBox="1"/>
          <p:nvPr>
            <p:ph idx="1" type="body"/>
          </p:nvPr>
        </p:nvSpPr>
        <p:spPr>
          <a:xfrm>
            <a:off x="4824000" y="1740425"/>
            <a:ext cx="3995400" cy="9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domestic emissions would you expect for a town with a population of 101 thousand?</a:t>
            </a:r>
            <a:endParaRPr sz="1800"/>
          </a:p>
        </p:txBody>
      </p:sp>
      <p:sp>
        <p:nvSpPr>
          <p:cNvPr id="999" name="Google Shape;999;p80"/>
          <p:cNvSpPr txBox="1"/>
          <p:nvPr>
            <p:ph idx="1" type="body"/>
          </p:nvPr>
        </p:nvSpPr>
        <p:spPr>
          <a:xfrm>
            <a:off x="4824000" y="2779288"/>
            <a:ext cx="4122300" cy="7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between 120 and 180 kt CO2e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80"/>
          <p:cNvSpPr txBox="1"/>
          <p:nvPr/>
        </p:nvSpPr>
        <p:spPr>
          <a:xfrm>
            <a:off x="1092624" y="418992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1549825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0"/>
          <p:cNvSpPr txBox="1"/>
          <p:nvPr/>
        </p:nvSpPr>
        <p:spPr>
          <a:xfrm>
            <a:off x="2159425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0"/>
          <p:cNvSpPr txBox="1"/>
          <p:nvPr/>
        </p:nvSpPr>
        <p:spPr>
          <a:xfrm>
            <a:off x="2752901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0"/>
          <p:cNvSpPr txBox="1"/>
          <p:nvPr/>
        </p:nvSpPr>
        <p:spPr>
          <a:xfrm>
            <a:off x="3335628" y="418992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0"/>
          <p:cNvSpPr txBox="1"/>
          <p:nvPr/>
        </p:nvSpPr>
        <p:spPr>
          <a:xfrm>
            <a:off x="743872" y="3542700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0"/>
          <p:cNvSpPr txBox="1"/>
          <p:nvPr/>
        </p:nvSpPr>
        <p:spPr>
          <a:xfrm>
            <a:off x="743872" y="3035864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0"/>
          <p:cNvSpPr txBox="1"/>
          <p:nvPr/>
        </p:nvSpPr>
        <p:spPr>
          <a:xfrm>
            <a:off x="743872" y="2545472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0"/>
          <p:cNvSpPr txBox="1"/>
          <p:nvPr/>
        </p:nvSpPr>
        <p:spPr>
          <a:xfrm>
            <a:off x="743872" y="2068994"/>
            <a:ext cx="60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0"/>
          <p:cNvSpPr txBox="1"/>
          <p:nvPr/>
        </p:nvSpPr>
        <p:spPr>
          <a:xfrm>
            <a:off x="940224" y="4059979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0"/>
          <p:cNvSpPr txBox="1"/>
          <p:nvPr>
            <p:ph idx="1" type="body"/>
          </p:nvPr>
        </p:nvSpPr>
        <p:spPr>
          <a:xfrm>
            <a:off x="4824000" y="3569225"/>
            <a:ext cx="3995400" cy="9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Is this town’s domestic emissions unusually high for its population?</a:t>
            </a:r>
            <a:endParaRPr sz="1800"/>
          </a:p>
        </p:txBody>
      </p:sp>
      <p:sp>
        <p:nvSpPr>
          <p:cNvPr id="1011" name="Google Shape;1011;p80"/>
          <p:cNvSpPr txBox="1"/>
          <p:nvPr>
            <p:ph idx="1" type="body"/>
          </p:nvPr>
        </p:nvSpPr>
        <p:spPr>
          <a:xfrm>
            <a:off x="4824000" y="4276618"/>
            <a:ext cx="4092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12" name="Google Shape;1012;p80"/>
          <p:cNvGrpSpPr/>
          <p:nvPr/>
        </p:nvGrpSpPr>
        <p:grpSpPr>
          <a:xfrm>
            <a:off x="1175450" y="3359408"/>
            <a:ext cx="674575" cy="315011"/>
            <a:chOff x="1175450" y="3103375"/>
            <a:chExt cx="674575" cy="1028775"/>
          </a:xfrm>
        </p:grpSpPr>
        <p:cxnSp>
          <p:nvCxnSpPr>
            <p:cNvPr id="1013" name="Google Shape;1013;p80"/>
            <p:cNvCxnSpPr/>
            <p:nvPr/>
          </p:nvCxnSpPr>
          <p:spPr>
            <a:xfrm rot="10800000">
              <a:off x="1824362" y="3117675"/>
              <a:ext cx="0" cy="9939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14" name="Google Shape;1014;p80"/>
            <p:cNvCxnSpPr/>
            <p:nvPr/>
          </p:nvCxnSpPr>
          <p:spPr>
            <a:xfrm rot="10800000">
              <a:off x="1201125" y="4132150"/>
              <a:ext cx="648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15" name="Google Shape;1015;p80"/>
            <p:cNvCxnSpPr/>
            <p:nvPr/>
          </p:nvCxnSpPr>
          <p:spPr>
            <a:xfrm rot="10800000">
              <a:off x="1175450" y="3103375"/>
              <a:ext cx="648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016" name="Google Shape;1016;p80"/>
          <p:cNvSpPr/>
          <p:nvPr/>
        </p:nvSpPr>
        <p:spPr>
          <a:xfrm>
            <a:off x="1789984" y="2819416"/>
            <a:ext cx="91500" cy="91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1"/>
          <p:cNvSpPr txBox="1"/>
          <p:nvPr>
            <p:ph idx="1" type="body"/>
          </p:nvPr>
        </p:nvSpPr>
        <p:spPr>
          <a:xfrm>
            <a:off x="316380" y="1827488"/>
            <a:ext cx="8496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Domestic emissions were the second greatest cause of greenhouse gases. </a:t>
            </a:r>
            <a:endParaRPr sz="1800"/>
          </a:p>
        </p:txBody>
      </p:sp>
      <p:sp>
        <p:nvSpPr>
          <p:cNvPr id="1022" name="Google Shape;102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1023" name="Google Shape;1023;p81"/>
          <p:cNvSpPr txBox="1"/>
          <p:nvPr>
            <p:ph idx="1" type="body"/>
          </p:nvPr>
        </p:nvSpPr>
        <p:spPr>
          <a:xfrm>
            <a:off x="324000" y="813049"/>
            <a:ext cx="84960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Summary:</a:t>
            </a:r>
            <a:endParaRPr sz="1800"/>
          </a:p>
        </p:txBody>
      </p:sp>
      <p:sp>
        <p:nvSpPr>
          <p:cNvPr id="1024" name="Google Shape;1024;p81"/>
          <p:cNvSpPr txBox="1"/>
          <p:nvPr/>
        </p:nvSpPr>
        <p:spPr>
          <a:xfrm>
            <a:off x="6616825" y="4461900"/>
            <a:ext cx="136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 txBox="1"/>
          <p:nvPr/>
        </p:nvSpPr>
        <p:spPr>
          <a:xfrm rot="-5400000">
            <a:off x="4886625" y="3393308"/>
            <a:ext cx="230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domestic emissions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6" name="Google Shape;1026;p81"/>
          <p:cNvGrpSpPr/>
          <p:nvPr/>
        </p:nvGrpSpPr>
        <p:grpSpPr>
          <a:xfrm>
            <a:off x="6235138" y="2688121"/>
            <a:ext cx="2259071" cy="1896481"/>
            <a:chOff x="5704422" y="1741176"/>
            <a:chExt cx="2968946" cy="2585876"/>
          </a:xfrm>
        </p:grpSpPr>
        <p:pic>
          <p:nvPicPr>
            <p:cNvPr id="1027" name="Google Shape;1027;p81"/>
            <p:cNvPicPr preferRelativeResize="0"/>
            <p:nvPr/>
          </p:nvPicPr>
          <p:blipFill rotWithShape="1">
            <a:blip r:embed="rId3">
              <a:alphaModFix/>
            </a:blip>
            <a:srcRect b="3589" l="4379" r="0" t="7108"/>
            <a:stretch/>
          </p:blipFill>
          <p:spPr>
            <a:xfrm>
              <a:off x="5704425" y="1824650"/>
              <a:ext cx="2675218" cy="24839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8" name="Google Shape;1028;p81"/>
            <p:cNvGrpSpPr/>
            <p:nvPr/>
          </p:nvGrpSpPr>
          <p:grpSpPr>
            <a:xfrm>
              <a:off x="5704422" y="1741176"/>
              <a:ext cx="2968946" cy="2585876"/>
              <a:chOff x="2015104" y="1439649"/>
              <a:chExt cx="3902400" cy="2982900"/>
            </a:xfrm>
          </p:grpSpPr>
          <p:cxnSp>
            <p:nvCxnSpPr>
              <p:cNvPr id="1029" name="Google Shape;1029;p81"/>
              <p:cNvCxnSpPr/>
              <p:nvPr/>
            </p:nvCxnSpPr>
            <p:spPr>
              <a:xfrm rot="10800000">
                <a:off x="2021739" y="1439649"/>
                <a:ext cx="0" cy="2982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30" name="Google Shape;1030;p8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31" name="Google Shape;1031;p81"/>
            <p:cNvSpPr/>
            <p:nvPr/>
          </p:nvSpPr>
          <p:spPr>
            <a:xfrm>
              <a:off x="6247581" y="2850136"/>
              <a:ext cx="130800" cy="1308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2" name="Google Shape;1032;p81"/>
          <p:cNvSpPr txBox="1"/>
          <p:nvPr/>
        </p:nvSpPr>
        <p:spPr>
          <a:xfrm rot="-5400000">
            <a:off x="2163800" y="3417976"/>
            <a:ext cx="212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transport emissions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3" name="Google Shape;1033;p81"/>
          <p:cNvGrpSpPr/>
          <p:nvPr/>
        </p:nvGrpSpPr>
        <p:grpSpPr>
          <a:xfrm>
            <a:off x="3415456" y="2720325"/>
            <a:ext cx="2097344" cy="1830461"/>
            <a:chOff x="8389922" y="1643250"/>
            <a:chExt cx="3017328" cy="2633377"/>
          </a:xfrm>
        </p:grpSpPr>
        <p:pic>
          <p:nvPicPr>
            <p:cNvPr id="1034" name="Google Shape;1034;p81"/>
            <p:cNvPicPr preferRelativeResize="0"/>
            <p:nvPr/>
          </p:nvPicPr>
          <p:blipFill rotWithShape="1">
            <a:blip r:embed="rId4">
              <a:alphaModFix/>
            </a:blip>
            <a:srcRect b="3614" l="4141" r="0" t="0"/>
            <a:stretch/>
          </p:blipFill>
          <p:spPr>
            <a:xfrm>
              <a:off x="8389925" y="1643250"/>
              <a:ext cx="3017324" cy="2606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5" name="Google Shape;1035;p81"/>
            <p:cNvGrpSpPr/>
            <p:nvPr/>
          </p:nvGrpSpPr>
          <p:grpSpPr>
            <a:xfrm>
              <a:off x="8389922" y="1690751"/>
              <a:ext cx="2968946" cy="2585876"/>
              <a:chOff x="2015104" y="1439649"/>
              <a:chExt cx="3902400" cy="2982900"/>
            </a:xfrm>
          </p:grpSpPr>
          <p:cxnSp>
            <p:nvCxnSpPr>
              <p:cNvPr id="1036" name="Google Shape;1036;p81"/>
              <p:cNvCxnSpPr/>
              <p:nvPr/>
            </p:nvCxnSpPr>
            <p:spPr>
              <a:xfrm rot="10800000">
                <a:off x="2021739" y="1439649"/>
                <a:ext cx="0" cy="2982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37" name="Google Shape;1037;p8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38" name="Google Shape;1038;p81"/>
            <p:cNvSpPr/>
            <p:nvPr/>
          </p:nvSpPr>
          <p:spPr>
            <a:xfrm>
              <a:off x="8921599" y="3420587"/>
              <a:ext cx="131100" cy="1311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9" name="Google Shape;1039;p81"/>
          <p:cNvSpPr txBox="1"/>
          <p:nvPr/>
        </p:nvSpPr>
        <p:spPr>
          <a:xfrm>
            <a:off x="3797425" y="4461900"/>
            <a:ext cx="136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45" y="2640330"/>
            <a:ext cx="2259050" cy="20875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1" name="Google Shape;1041;p81"/>
          <p:cNvCxnSpPr/>
          <p:nvPr/>
        </p:nvCxnSpPr>
        <p:spPr>
          <a:xfrm flipH="1" rot="10800000">
            <a:off x="3508725" y="2852430"/>
            <a:ext cx="737400" cy="161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81"/>
          <p:cNvCxnSpPr/>
          <p:nvPr/>
        </p:nvCxnSpPr>
        <p:spPr>
          <a:xfrm flipH="1" rot="10800000">
            <a:off x="3465675" y="3971680"/>
            <a:ext cx="1932000" cy="51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81"/>
          <p:cNvCxnSpPr/>
          <p:nvPr/>
        </p:nvCxnSpPr>
        <p:spPr>
          <a:xfrm flipH="1" rot="10800000">
            <a:off x="6237075" y="2938455"/>
            <a:ext cx="1280700" cy="146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81"/>
          <p:cNvCxnSpPr/>
          <p:nvPr/>
        </p:nvCxnSpPr>
        <p:spPr>
          <a:xfrm flipH="1" rot="10800000">
            <a:off x="6285500" y="3191305"/>
            <a:ext cx="1479900" cy="130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81"/>
          <p:cNvSpPr txBox="1"/>
          <p:nvPr>
            <p:ph idx="1" type="body"/>
          </p:nvPr>
        </p:nvSpPr>
        <p:spPr>
          <a:xfrm>
            <a:off x="324000" y="1131499"/>
            <a:ext cx="8496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Transport emissions were the town’s greatest cause of greenhouse gases. </a:t>
            </a:r>
            <a:endParaRPr sz="1800"/>
          </a:p>
        </p:txBody>
      </p:sp>
      <p:sp>
        <p:nvSpPr>
          <p:cNvPr id="1046" name="Google Shape;1046;p81"/>
          <p:cNvSpPr txBox="1"/>
          <p:nvPr>
            <p:ph idx="1" type="body"/>
          </p:nvPr>
        </p:nvSpPr>
        <p:spPr>
          <a:xfrm>
            <a:off x="324000" y="1479494"/>
            <a:ext cx="8496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However, the amount was </a:t>
            </a:r>
            <a:r>
              <a:rPr lang="en-GB" sz="1800">
                <a:solidFill>
                  <a:schemeClr val="accent4"/>
                </a:solidFill>
              </a:rPr>
              <a:t>not unusual</a:t>
            </a:r>
            <a:r>
              <a:rPr lang="en-GB" sz="1800"/>
              <a:t> for a town of their population size.</a:t>
            </a:r>
            <a:endParaRPr sz="1800"/>
          </a:p>
        </p:txBody>
      </p:sp>
      <p:sp>
        <p:nvSpPr>
          <p:cNvPr id="1047" name="Google Shape;1047;p81"/>
          <p:cNvSpPr txBox="1"/>
          <p:nvPr>
            <p:ph idx="1" type="body"/>
          </p:nvPr>
        </p:nvSpPr>
        <p:spPr>
          <a:xfrm>
            <a:off x="324000" y="2175483"/>
            <a:ext cx="8496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amount was</a:t>
            </a:r>
            <a:r>
              <a:rPr lang="en-GB" sz="1800">
                <a:solidFill>
                  <a:schemeClr val="accent4"/>
                </a:solidFill>
              </a:rPr>
              <a:t> unusually high</a:t>
            </a:r>
            <a:r>
              <a:rPr lang="en-GB" sz="1800"/>
              <a:t> for a town of their population size.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2"/>
          <p:cNvSpPr txBox="1"/>
          <p:nvPr>
            <p:ph idx="1" type="body"/>
          </p:nvPr>
        </p:nvSpPr>
        <p:spPr>
          <a:xfrm>
            <a:off x="316375" y="1911950"/>
            <a:ext cx="8496000" cy="8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Focus particularly on reducing domestic greenhouse gas emissions because they are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unusually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high for a town of this size.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3" name="Google Shape;105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1054" name="Google Shape;1054;p82"/>
          <p:cNvSpPr txBox="1"/>
          <p:nvPr>
            <p:ph idx="1" type="body"/>
          </p:nvPr>
        </p:nvSpPr>
        <p:spPr>
          <a:xfrm>
            <a:off x="324000" y="813049"/>
            <a:ext cx="84960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actions might the council take following this investigation?</a:t>
            </a:r>
            <a:endParaRPr sz="1800"/>
          </a:p>
        </p:txBody>
      </p:sp>
      <p:sp>
        <p:nvSpPr>
          <p:cNvPr id="1055" name="Google Shape;1055;p82"/>
          <p:cNvSpPr txBox="1"/>
          <p:nvPr>
            <p:ph idx="1" type="body"/>
          </p:nvPr>
        </p:nvSpPr>
        <p:spPr>
          <a:xfrm>
            <a:off x="323725" y="1172750"/>
            <a:ext cx="8496000" cy="6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Try to maintain or reduce transport emissions because they are the greatest cause of greenhouse gases.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82"/>
          <p:cNvSpPr txBox="1"/>
          <p:nvPr/>
        </p:nvSpPr>
        <p:spPr>
          <a:xfrm>
            <a:off x="6616825" y="4461900"/>
            <a:ext cx="136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2"/>
          <p:cNvSpPr txBox="1"/>
          <p:nvPr/>
        </p:nvSpPr>
        <p:spPr>
          <a:xfrm rot="-5400000">
            <a:off x="4886625" y="3393308"/>
            <a:ext cx="230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domestic emissions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8" name="Google Shape;1058;p82"/>
          <p:cNvGrpSpPr/>
          <p:nvPr/>
        </p:nvGrpSpPr>
        <p:grpSpPr>
          <a:xfrm>
            <a:off x="6235138" y="2688121"/>
            <a:ext cx="2259071" cy="1896481"/>
            <a:chOff x="5704422" y="1741176"/>
            <a:chExt cx="2968946" cy="2585876"/>
          </a:xfrm>
        </p:grpSpPr>
        <p:pic>
          <p:nvPicPr>
            <p:cNvPr id="1059" name="Google Shape;1059;p82"/>
            <p:cNvPicPr preferRelativeResize="0"/>
            <p:nvPr/>
          </p:nvPicPr>
          <p:blipFill rotWithShape="1">
            <a:blip r:embed="rId3">
              <a:alphaModFix/>
            </a:blip>
            <a:srcRect b="3589" l="4379" r="0" t="7108"/>
            <a:stretch/>
          </p:blipFill>
          <p:spPr>
            <a:xfrm>
              <a:off x="5704425" y="1824650"/>
              <a:ext cx="2675218" cy="24839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60" name="Google Shape;1060;p82"/>
            <p:cNvGrpSpPr/>
            <p:nvPr/>
          </p:nvGrpSpPr>
          <p:grpSpPr>
            <a:xfrm>
              <a:off x="5704422" y="1741176"/>
              <a:ext cx="2968946" cy="2585876"/>
              <a:chOff x="2015104" y="1439649"/>
              <a:chExt cx="3902400" cy="2982900"/>
            </a:xfrm>
          </p:grpSpPr>
          <p:cxnSp>
            <p:nvCxnSpPr>
              <p:cNvPr id="1061" name="Google Shape;1061;p82"/>
              <p:cNvCxnSpPr/>
              <p:nvPr/>
            </p:nvCxnSpPr>
            <p:spPr>
              <a:xfrm rot="10800000">
                <a:off x="2021739" y="1439649"/>
                <a:ext cx="0" cy="2982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62" name="Google Shape;1062;p82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63" name="Google Shape;1063;p82"/>
            <p:cNvSpPr/>
            <p:nvPr/>
          </p:nvSpPr>
          <p:spPr>
            <a:xfrm>
              <a:off x="6247581" y="2850136"/>
              <a:ext cx="130800" cy="1308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4" name="Google Shape;1064;p82"/>
          <p:cNvSpPr txBox="1"/>
          <p:nvPr/>
        </p:nvSpPr>
        <p:spPr>
          <a:xfrm rot="-5400000">
            <a:off x="2163800" y="3417976"/>
            <a:ext cx="212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transport emissions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5" name="Google Shape;1065;p82"/>
          <p:cNvGrpSpPr/>
          <p:nvPr/>
        </p:nvGrpSpPr>
        <p:grpSpPr>
          <a:xfrm>
            <a:off x="3415456" y="2720325"/>
            <a:ext cx="2097344" cy="1830461"/>
            <a:chOff x="8389922" y="1643250"/>
            <a:chExt cx="3017328" cy="2633377"/>
          </a:xfrm>
        </p:grpSpPr>
        <p:pic>
          <p:nvPicPr>
            <p:cNvPr id="1066" name="Google Shape;1066;p82"/>
            <p:cNvPicPr preferRelativeResize="0"/>
            <p:nvPr/>
          </p:nvPicPr>
          <p:blipFill rotWithShape="1">
            <a:blip r:embed="rId4">
              <a:alphaModFix/>
            </a:blip>
            <a:srcRect b="3614" l="4141" r="0" t="0"/>
            <a:stretch/>
          </p:blipFill>
          <p:spPr>
            <a:xfrm>
              <a:off x="8389925" y="1643250"/>
              <a:ext cx="3017324" cy="2606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67" name="Google Shape;1067;p82"/>
            <p:cNvGrpSpPr/>
            <p:nvPr/>
          </p:nvGrpSpPr>
          <p:grpSpPr>
            <a:xfrm>
              <a:off x="8389922" y="1690751"/>
              <a:ext cx="2968946" cy="2585876"/>
              <a:chOff x="2015104" y="1439649"/>
              <a:chExt cx="3902400" cy="2982900"/>
            </a:xfrm>
          </p:grpSpPr>
          <p:cxnSp>
            <p:nvCxnSpPr>
              <p:cNvPr id="1068" name="Google Shape;1068;p82"/>
              <p:cNvCxnSpPr/>
              <p:nvPr/>
            </p:nvCxnSpPr>
            <p:spPr>
              <a:xfrm rot="10800000">
                <a:off x="2021739" y="1439649"/>
                <a:ext cx="0" cy="2982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69" name="Google Shape;1069;p82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70" name="Google Shape;1070;p82"/>
            <p:cNvSpPr/>
            <p:nvPr/>
          </p:nvSpPr>
          <p:spPr>
            <a:xfrm>
              <a:off x="8921599" y="3420587"/>
              <a:ext cx="131100" cy="1311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1" name="Google Shape;1071;p82"/>
          <p:cNvSpPr txBox="1"/>
          <p:nvPr/>
        </p:nvSpPr>
        <p:spPr>
          <a:xfrm>
            <a:off x="3797425" y="4461900"/>
            <a:ext cx="136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2" name="Google Shape;107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45" y="2640330"/>
            <a:ext cx="2259050" cy="20875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3" name="Google Shape;1073;p82"/>
          <p:cNvCxnSpPr/>
          <p:nvPr/>
        </p:nvCxnSpPr>
        <p:spPr>
          <a:xfrm flipH="1" rot="10800000">
            <a:off x="3508725" y="2852430"/>
            <a:ext cx="737400" cy="161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82"/>
          <p:cNvCxnSpPr/>
          <p:nvPr/>
        </p:nvCxnSpPr>
        <p:spPr>
          <a:xfrm flipH="1" rot="10800000">
            <a:off x="3465675" y="3971680"/>
            <a:ext cx="1932000" cy="51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82"/>
          <p:cNvCxnSpPr/>
          <p:nvPr/>
        </p:nvCxnSpPr>
        <p:spPr>
          <a:xfrm flipH="1" rot="10800000">
            <a:off x="6237075" y="2938455"/>
            <a:ext cx="1280700" cy="146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82"/>
          <p:cNvCxnSpPr/>
          <p:nvPr/>
        </p:nvCxnSpPr>
        <p:spPr>
          <a:xfrm flipH="1" rot="10800000">
            <a:off x="6285500" y="3191305"/>
            <a:ext cx="1479900" cy="130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pic>
        <p:nvPicPr>
          <p:cNvPr id="1082" name="Google Shape;1082;p83"/>
          <p:cNvPicPr preferRelativeResize="0"/>
          <p:nvPr/>
        </p:nvPicPr>
        <p:blipFill rotWithShape="1">
          <a:blip r:embed="rId3">
            <a:alphaModFix/>
          </a:blip>
          <a:srcRect b="0" l="0" r="25121" t="12846"/>
          <a:stretch/>
        </p:blipFill>
        <p:spPr>
          <a:xfrm>
            <a:off x="418739" y="1954286"/>
            <a:ext cx="2343121" cy="18090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3" name="Google Shape;1083;p83"/>
          <p:cNvGrpSpPr/>
          <p:nvPr/>
        </p:nvGrpSpPr>
        <p:grpSpPr>
          <a:xfrm>
            <a:off x="400137" y="1893967"/>
            <a:ext cx="2427293" cy="1886088"/>
            <a:chOff x="2015104" y="1439649"/>
            <a:chExt cx="3902400" cy="2982900"/>
          </a:xfrm>
        </p:grpSpPr>
        <p:cxnSp>
          <p:nvCxnSpPr>
            <p:cNvPr id="1084" name="Google Shape;1084;p83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5" name="Google Shape;1085;p83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86" name="Google Shape;1086;p83"/>
          <p:cNvSpPr txBox="1"/>
          <p:nvPr>
            <p:ph type="title"/>
          </p:nvPr>
        </p:nvSpPr>
        <p:spPr>
          <a:xfrm>
            <a:off x="324000" y="748783"/>
            <a:ext cx="8179200" cy="8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which scatter graph is the point marked with a cross inside the usual range of data?</a:t>
            </a:r>
            <a:endParaRPr sz="2000"/>
          </a:p>
        </p:txBody>
      </p:sp>
      <p:pic>
        <p:nvPicPr>
          <p:cNvPr id="1087" name="Google Shape;1087;p83"/>
          <p:cNvPicPr preferRelativeResize="0"/>
          <p:nvPr/>
        </p:nvPicPr>
        <p:blipFill rotWithShape="1">
          <a:blip r:embed="rId3">
            <a:alphaModFix/>
          </a:blip>
          <a:srcRect b="0" l="0" r="25121" t="12846"/>
          <a:stretch/>
        </p:blipFill>
        <p:spPr>
          <a:xfrm>
            <a:off x="3390539" y="1954286"/>
            <a:ext cx="2343121" cy="18090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8" name="Google Shape;1088;p83"/>
          <p:cNvGrpSpPr/>
          <p:nvPr/>
        </p:nvGrpSpPr>
        <p:grpSpPr>
          <a:xfrm>
            <a:off x="3371937" y="1893967"/>
            <a:ext cx="2427293" cy="1886088"/>
            <a:chOff x="2015104" y="1439649"/>
            <a:chExt cx="3902400" cy="2982900"/>
          </a:xfrm>
        </p:grpSpPr>
        <p:cxnSp>
          <p:nvCxnSpPr>
            <p:cNvPr id="1089" name="Google Shape;1089;p83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0" name="Google Shape;1090;p83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091" name="Google Shape;1091;p83"/>
          <p:cNvPicPr preferRelativeResize="0"/>
          <p:nvPr/>
        </p:nvPicPr>
        <p:blipFill rotWithShape="1">
          <a:blip r:embed="rId3">
            <a:alphaModFix/>
          </a:blip>
          <a:srcRect b="0" l="0" r="25121" t="12846"/>
          <a:stretch/>
        </p:blipFill>
        <p:spPr>
          <a:xfrm>
            <a:off x="6362339" y="1954286"/>
            <a:ext cx="2343121" cy="18090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83"/>
          <p:cNvGrpSpPr/>
          <p:nvPr/>
        </p:nvGrpSpPr>
        <p:grpSpPr>
          <a:xfrm>
            <a:off x="6343737" y="1893967"/>
            <a:ext cx="2427293" cy="1886088"/>
            <a:chOff x="2015104" y="1439649"/>
            <a:chExt cx="3902400" cy="2982900"/>
          </a:xfrm>
        </p:grpSpPr>
        <p:cxnSp>
          <p:nvCxnSpPr>
            <p:cNvPr id="1093" name="Google Shape;1093;p83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4" name="Google Shape;1094;p83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95" name="Google Shape;1095;p83"/>
          <p:cNvSpPr/>
          <p:nvPr/>
        </p:nvSpPr>
        <p:spPr>
          <a:xfrm>
            <a:off x="4070025" y="3144600"/>
            <a:ext cx="190800" cy="1908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3"/>
          <p:cNvSpPr/>
          <p:nvPr/>
        </p:nvSpPr>
        <p:spPr>
          <a:xfrm>
            <a:off x="955650" y="2604600"/>
            <a:ext cx="190800" cy="1908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3"/>
          <p:cNvSpPr/>
          <p:nvPr/>
        </p:nvSpPr>
        <p:spPr>
          <a:xfrm>
            <a:off x="7079925" y="3576105"/>
            <a:ext cx="190800" cy="1908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8" name="Google Shape;109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2358" y="41170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84"/>
          <p:cNvSpPr txBox="1"/>
          <p:nvPr>
            <p:ph idx="1" type="body"/>
          </p:nvPr>
        </p:nvSpPr>
        <p:spPr>
          <a:xfrm>
            <a:off x="324000" y="759300"/>
            <a:ext cx="8403300" cy="6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A bus company have 98 thousand passengers per day.</a:t>
            </a:r>
            <a:br>
              <a:rPr lang="en-GB" sz="1600"/>
            </a:br>
            <a:r>
              <a:rPr lang="en-GB" sz="1600"/>
              <a:t>    The table shows the mean number of passengers they have each time of the day.</a:t>
            </a:r>
            <a:endParaRPr sz="1600"/>
          </a:p>
        </p:txBody>
      </p:sp>
      <p:sp>
        <p:nvSpPr>
          <p:cNvPr id="1104" name="Google Shape;1104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graphicFrame>
        <p:nvGraphicFramePr>
          <p:cNvPr id="1105" name="Google Shape;1105;p84"/>
          <p:cNvGraphicFramePr/>
          <p:nvPr/>
        </p:nvGraphicFramePr>
        <p:xfrm>
          <a:off x="55967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1630600"/>
                <a:gridCol w="16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 number of passengers (thousands)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06:00 - 10:00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34.3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10:00 - 14:00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14:00 - 18:00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18:00 - 22:00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6" name="Google Shape;1106;p84"/>
          <p:cNvSpPr txBox="1"/>
          <p:nvPr>
            <p:ph idx="1" type="body"/>
          </p:nvPr>
        </p:nvSpPr>
        <p:spPr>
          <a:xfrm>
            <a:off x="3952200" y="1620000"/>
            <a:ext cx="4867800" cy="12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The bus company wants to encourage more </a:t>
            </a:r>
            <a:br>
              <a:rPr lang="en-GB" sz="1600"/>
            </a:br>
            <a:r>
              <a:rPr lang="en-GB" sz="1600"/>
              <a:t>     people to travel at unpopular times of the day </a:t>
            </a:r>
            <a:br>
              <a:rPr lang="en-GB" sz="1600"/>
            </a:br>
            <a:r>
              <a:rPr lang="en-GB" sz="1600"/>
              <a:t>     by offering cheaper tickets.</a:t>
            </a:r>
            <a:br>
              <a:rPr lang="en-GB" sz="1600"/>
            </a:br>
            <a:r>
              <a:rPr lang="en-GB" sz="1600"/>
              <a:t>     Which time period should tickets be cheaper?</a:t>
            </a:r>
            <a:endParaRPr sz="1600"/>
          </a:p>
        </p:txBody>
      </p:sp>
      <p:sp>
        <p:nvSpPr>
          <p:cNvPr id="1107" name="Google Shape;1107;p84"/>
          <p:cNvSpPr txBox="1"/>
          <p:nvPr>
            <p:ph idx="1" type="body"/>
          </p:nvPr>
        </p:nvSpPr>
        <p:spPr>
          <a:xfrm>
            <a:off x="3952200" y="3270850"/>
            <a:ext cx="4867800" cy="12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The bus company wants to improve profits by </a:t>
            </a:r>
            <a:br>
              <a:rPr lang="en-GB" sz="1600"/>
            </a:br>
            <a:r>
              <a:rPr lang="en-GB" sz="1600"/>
              <a:t>     increasing ticket prices at the most popular </a:t>
            </a:r>
            <a:br>
              <a:rPr lang="en-GB" sz="1600"/>
            </a:br>
            <a:r>
              <a:rPr lang="en-GB" sz="1600"/>
              <a:t>     time of the day.</a:t>
            </a:r>
            <a:br>
              <a:rPr lang="en-GB" sz="1600"/>
            </a:br>
            <a:r>
              <a:rPr lang="en-GB" sz="1600"/>
              <a:t>     For which time period should prices increase?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5"/>
          <p:cNvSpPr txBox="1"/>
          <p:nvPr>
            <p:ph idx="1" type="body"/>
          </p:nvPr>
        </p:nvSpPr>
        <p:spPr>
          <a:xfrm>
            <a:off x="324000" y="759300"/>
            <a:ext cx="8496000" cy="149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A mobile phone provider manages the number of cell towers per town.</a:t>
            </a:r>
            <a:br>
              <a:rPr lang="en-GB" sz="1600"/>
            </a:br>
            <a:r>
              <a:rPr lang="en-GB" sz="1600"/>
              <a:t>    The table shows the population and the number of cell towers for three towns.</a:t>
            </a:r>
            <a:br>
              <a:rPr lang="en-GB" sz="1600"/>
            </a:br>
            <a:r>
              <a:rPr lang="en-GB" sz="1600"/>
              <a:t>    The scatter graph shows data from the ONS about other regions across the UK.</a:t>
            </a:r>
            <a:endParaRPr sz="1600"/>
          </a:p>
        </p:txBody>
      </p:sp>
      <p:sp>
        <p:nvSpPr>
          <p:cNvPr id="1113" name="Google Shape;1113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1114" name="Google Shape;1114;p85"/>
          <p:cNvSpPr txBox="1"/>
          <p:nvPr>
            <p:ph idx="1" type="body"/>
          </p:nvPr>
        </p:nvSpPr>
        <p:spPr>
          <a:xfrm>
            <a:off x="4572000" y="3340200"/>
            <a:ext cx="4248000" cy="5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In which town should they install more cell towers? Explain why.</a:t>
            </a:r>
            <a:endParaRPr sz="1600"/>
          </a:p>
        </p:txBody>
      </p:sp>
      <p:sp>
        <p:nvSpPr>
          <p:cNvPr id="1115" name="Google Shape;1115;p85"/>
          <p:cNvSpPr txBox="1"/>
          <p:nvPr>
            <p:ph idx="1" type="body"/>
          </p:nvPr>
        </p:nvSpPr>
        <p:spPr>
          <a:xfrm>
            <a:off x="4572000" y="4125075"/>
            <a:ext cx="4248000" cy="5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In which town can they afford to switch off some cell towers? Explain why.</a:t>
            </a:r>
            <a:endParaRPr sz="1600"/>
          </a:p>
        </p:txBody>
      </p:sp>
      <p:pic>
        <p:nvPicPr>
          <p:cNvPr id="1116" name="Google Shape;1116;p85"/>
          <p:cNvPicPr preferRelativeResize="0"/>
          <p:nvPr/>
        </p:nvPicPr>
        <p:blipFill rotWithShape="1">
          <a:blip r:embed="rId3">
            <a:alphaModFix/>
          </a:blip>
          <a:srcRect b="0" l="0" r="537" t="1351"/>
          <a:stretch/>
        </p:blipFill>
        <p:spPr>
          <a:xfrm>
            <a:off x="842000" y="1935701"/>
            <a:ext cx="3210603" cy="23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5"/>
          <p:cNvSpPr txBox="1"/>
          <p:nvPr/>
        </p:nvSpPr>
        <p:spPr>
          <a:xfrm>
            <a:off x="1165184" y="4470648"/>
            <a:ext cx="25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8" name="Google Shape;1118;p85"/>
          <p:cNvGrpSpPr/>
          <p:nvPr/>
        </p:nvGrpSpPr>
        <p:grpSpPr>
          <a:xfrm>
            <a:off x="846010" y="1701526"/>
            <a:ext cx="3402893" cy="2585876"/>
            <a:chOff x="2015104" y="1439649"/>
            <a:chExt cx="3902400" cy="2982900"/>
          </a:xfrm>
        </p:grpSpPr>
        <p:cxnSp>
          <p:nvCxnSpPr>
            <p:cNvPr id="1119" name="Google Shape;1119;p85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20" name="Google Shape;1120;p85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21" name="Google Shape;1121;p85"/>
          <p:cNvSpPr txBox="1"/>
          <p:nvPr/>
        </p:nvSpPr>
        <p:spPr>
          <a:xfrm rot="-5400000">
            <a:off x="-938445" y="2761792"/>
            <a:ext cx="272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ell towers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5"/>
          <p:cNvSpPr txBox="1"/>
          <p:nvPr/>
        </p:nvSpPr>
        <p:spPr>
          <a:xfrm>
            <a:off x="698246" y="4167297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5"/>
          <p:cNvSpPr txBox="1"/>
          <p:nvPr/>
        </p:nvSpPr>
        <p:spPr>
          <a:xfrm>
            <a:off x="586131" y="406271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5"/>
          <p:cNvSpPr txBox="1"/>
          <p:nvPr/>
        </p:nvSpPr>
        <p:spPr>
          <a:xfrm>
            <a:off x="16393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5"/>
          <p:cNvSpPr txBox="1"/>
          <p:nvPr/>
        </p:nvSpPr>
        <p:spPr>
          <a:xfrm>
            <a:off x="27169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5"/>
          <p:cNvSpPr txBox="1"/>
          <p:nvPr/>
        </p:nvSpPr>
        <p:spPr>
          <a:xfrm>
            <a:off x="37837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5"/>
          <p:cNvSpPr txBox="1"/>
          <p:nvPr/>
        </p:nvSpPr>
        <p:spPr>
          <a:xfrm>
            <a:off x="586131" y="368171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5"/>
          <p:cNvSpPr txBox="1"/>
          <p:nvPr/>
        </p:nvSpPr>
        <p:spPr>
          <a:xfrm>
            <a:off x="586131" y="3289953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5"/>
          <p:cNvSpPr txBox="1"/>
          <p:nvPr/>
        </p:nvSpPr>
        <p:spPr>
          <a:xfrm>
            <a:off x="586131" y="2892809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5"/>
          <p:cNvSpPr txBox="1"/>
          <p:nvPr/>
        </p:nvSpPr>
        <p:spPr>
          <a:xfrm>
            <a:off x="586131" y="2506427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5"/>
          <p:cNvSpPr txBox="1"/>
          <p:nvPr/>
        </p:nvSpPr>
        <p:spPr>
          <a:xfrm>
            <a:off x="493782" y="2114676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5"/>
          <p:cNvSpPr txBox="1"/>
          <p:nvPr/>
        </p:nvSpPr>
        <p:spPr>
          <a:xfrm>
            <a:off x="510863" y="1733676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33" name="Google Shape;1133;p85"/>
          <p:cNvGraphicFramePr/>
          <p:nvPr/>
        </p:nvGraphicFramePr>
        <p:xfrm>
          <a:off x="4534325" y="1766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2486925"/>
                <a:gridCol w="543075"/>
                <a:gridCol w="564600"/>
                <a:gridCol w="521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cell towers (thousands)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4" name="Google Shape;1134;p85"/>
          <p:cNvSpPr txBox="1"/>
          <p:nvPr/>
        </p:nvSpPr>
        <p:spPr>
          <a:xfrm>
            <a:off x="11059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5"/>
          <p:cNvSpPr txBox="1"/>
          <p:nvPr/>
        </p:nvSpPr>
        <p:spPr>
          <a:xfrm>
            <a:off x="21727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5"/>
          <p:cNvSpPr txBox="1"/>
          <p:nvPr/>
        </p:nvSpPr>
        <p:spPr>
          <a:xfrm>
            <a:off x="32503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A bus company have 98 thousand passengers per day.</a:t>
            </a:r>
            <a:br>
              <a:rPr lang="en-GB" sz="1600"/>
            </a:br>
            <a:r>
              <a:rPr lang="en-GB" sz="1600"/>
              <a:t>    The table shows the mean number of passengers they have each time of the day.</a:t>
            </a:r>
            <a:endParaRPr sz="1600"/>
          </a:p>
        </p:txBody>
      </p:sp>
      <p:sp>
        <p:nvSpPr>
          <p:cNvPr id="1142" name="Google Shape;114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graphicFrame>
        <p:nvGraphicFramePr>
          <p:cNvPr id="1143" name="Google Shape;1143;p86"/>
          <p:cNvGraphicFramePr/>
          <p:nvPr/>
        </p:nvGraphicFramePr>
        <p:xfrm>
          <a:off x="55967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1630600"/>
                <a:gridCol w="16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 number of passengers (thousands)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06:00 - 10:00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34.3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10:00 - 14:00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14:00 - 18:00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18:00 - 22:00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4" name="Google Shape;1144;p86"/>
          <p:cNvSpPr txBox="1"/>
          <p:nvPr>
            <p:ph idx="1" type="body"/>
          </p:nvPr>
        </p:nvSpPr>
        <p:spPr>
          <a:xfrm>
            <a:off x="3952200" y="1620000"/>
            <a:ext cx="4867800" cy="12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The bus company wants to encourage more </a:t>
            </a:r>
            <a:br>
              <a:rPr lang="en-GB" sz="1600"/>
            </a:br>
            <a:r>
              <a:rPr lang="en-GB" sz="1600"/>
              <a:t>     people to travel at unpopular times of the day </a:t>
            </a:r>
            <a:br>
              <a:rPr lang="en-GB" sz="1600"/>
            </a:br>
            <a:r>
              <a:rPr lang="en-GB" sz="1600"/>
              <a:t>     by offering cheaper tickets.</a:t>
            </a:r>
            <a:br>
              <a:rPr lang="en-GB" sz="1600"/>
            </a:br>
            <a:r>
              <a:rPr lang="en-GB" sz="1600"/>
              <a:t>     </a:t>
            </a:r>
            <a:r>
              <a:rPr lang="en-GB" sz="1600"/>
              <a:t>W</a:t>
            </a:r>
            <a:r>
              <a:rPr lang="en-GB" sz="1600"/>
              <a:t>hich time period should tickets be cheaper?</a:t>
            </a:r>
            <a:endParaRPr sz="1600"/>
          </a:p>
        </p:txBody>
      </p:sp>
      <p:sp>
        <p:nvSpPr>
          <p:cNvPr id="1145" name="Google Shape;1145;p86"/>
          <p:cNvSpPr txBox="1"/>
          <p:nvPr>
            <p:ph idx="1" type="body"/>
          </p:nvPr>
        </p:nvSpPr>
        <p:spPr>
          <a:xfrm>
            <a:off x="3952200" y="3270850"/>
            <a:ext cx="4867800" cy="12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The bus company wants to improve profits by </a:t>
            </a:r>
            <a:br>
              <a:rPr lang="en-GB" sz="1600"/>
            </a:br>
            <a:r>
              <a:rPr lang="en-GB" sz="1600"/>
              <a:t>     increasing ticket prices at the most popular </a:t>
            </a:r>
            <a:br>
              <a:rPr lang="en-GB" sz="1600"/>
            </a:br>
            <a:r>
              <a:rPr lang="en-GB" sz="1600"/>
              <a:t>     time of the day.</a:t>
            </a:r>
            <a:br>
              <a:rPr lang="en-GB" sz="1600"/>
            </a:br>
            <a:r>
              <a:rPr lang="en-GB" sz="1600"/>
              <a:t>     For which time period should prices increase?</a:t>
            </a:r>
            <a:endParaRPr sz="1600"/>
          </a:p>
        </p:txBody>
      </p:sp>
      <p:sp>
        <p:nvSpPr>
          <p:cNvPr id="1146" name="Google Shape;1146;p86"/>
          <p:cNvSpPr txBox="1"/>
          <p:nvPr>
            <p:ph idx="4294967295" type="body"/>
          </p:nvPr>
        </p:nvSpPr>
        <p:spPr>
          <a:xfrm>
            <a:off x="5588375" y="2761175"/>
            <a:ext cx="144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18:00 - 22:00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86"/>
          <p:cNvSpPr txBox="1"/>
          <p:nvPr>
            <p:ph idx="4294967295" type="body"/>
          </p:nvPr>
        </p:nvSpPr>
        <p:spPr>
          <a:xfrm>
            <a:off x="5536500" y="4391850"/>
            <a:ext cx="144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:00 - 10:00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A mobile phone provider manages the number of cell towers per town.</a:t>
            </a:r>
            <a:br>
              <a:rPr lang="en-GB" sz="1600"/>
            </a:br>
            <a:r>
              <a:rPr lang="en-GB" sz="1600"/>
              <a:t>    The table shows the population and the number of cell towers for three towns.</a:t>
            </a:r>
            <a:br>
              <a:rPr lang="en-GB" sz="1600"/>
            </a:br>
            <a:r>
              <a:rPr lang="en-GB" sz="1600"/>
              <a:t>    The scatter graph shows data from the ONS about other regions across the UK.</a:t>
            </a:r>
            <a:endParaRPr sz="1600"/>
          </a:p>
        </p:txBody>
      </p:sp>
      <p:sp>
        <p:nvSpPr>
          <p:cNvPr id="1153" name="Google Shape;115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sp>
        <p:nvSpPr>
          <p:cNvPr id="1154" name="Google Shape;1154;p87"/>
          <p:cNvSpPr txBox="1"/>
          <p:nvPr>
            <p:ph idx="1" type="body"/>
          </p:nvPr>
        </p:nvSpPr>
        <p:spPr>
          <a:xfrm>
            <a:off x="4572000" y="3340200"/>
            <a:ext cx="4248000" cy="5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In which town should they install more cell towers? Explain why.</a:t>
            </a:r>
            <a:endParaRPr sz="1600"/>
          </a:p>
        </p:txBody>
      </p:sp>
      <p:pic>
        <p:nvPicPr>
          <p:cNvPr id="1155" name="Google Shape;1155;p87"/>
          <p:cNvPicPr preferRelativeResize="0"/>
          <p:nvPr/>
        </p:nvPicPr>
        <p:blipFill rotWithShape="1">
          <a:blip r:embed="rId3">
            <a:alphaModFix/>
          </a:blip>
          <a:srcRect b="0" l="0" r="537" t="1351"/>
          <a:stretch/>
        </p:blipFill>
        <p:spPr>
          <a:xfrm>
            <a:off x="842000" y="1935701"/>
            <a:ext cx="3210603" cy="23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87"/>
          <p:cNvSpPr txBox="1"/>
          <p:nvPr/>
        </p:nvSpPr>
        <p:spPr>
          <a:xfrm>
            <a:off x="1165184" y="4470648"/>
            <a:ext cx="25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7" name="Google Shape;1157;p87"/>
          <p:cNvGrpSpPr/>
          <p:nvPr/>
        </p:nvGrpSpPr>
        <p:grpSpPr>
          <a:xfrm>
            <a:off x="846010" y="1701526"/>
            <a:ext cx="3402893" cy="2585876"/>
            <a:chOff x="2015104" y="1439649"/>
            <a:chExt cx="3902400" cy="2982900"/>
          </a:xfrm>
        </p:grpSpPr>
        <p:cxnSp>
          <p:nvCxnSpPr>
            <p:cNvPr id="1158" name="Google Shape;1158;p87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9" name="Google Shape;1159;p87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60" name="Google Shape;1160;p87"/>
          <p:cNvSpPr txBox="1"/>
          <p:nvPr/>
        </p:nvSpPr>
        <p:spPr>
          <a:xfrm rot="-5400000">
            <a:off x="-938445" y="2761792"/>
            <a:ext cx="272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cell towers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7"/>
          <p:cNvSpPr txBox="1"/>
          <p:nvPr/>
        </p:nvSpPr>
        <p:spPr>
          <a:xfrm>
            <a:off x="698246" y="4167297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7"/>
          <p:cNvSpPr txBox="1"/>
          <p:nvPr/>
        </p:nvSpPr>
        <p:spPr>
          <a:xfrm>
            <a:off x="586131" y="406271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7"/>
          <p:cNvSpPr txBox="1"/>
          <p:nvPr/>
        </p:nvSpPr>
        <p:spPr>
          <a:xfrm>
            <a:off x="16393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7"/>
          <p:cNvSpPr txBox="1"/>
          <p:nvPr/>
        </p:nvSpPr>
        <p:spPr>
          <a:xfrm>
            <a:off x="27169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7"/>
          <p:cNvSpPr txBox="1"/>
          <p:nvPr/>
        </p:nvSpPr>
        <p:spPr>
          <a:xfrm>
            <a:off x="37837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7"/>
          <p:cNvSpPr txBox="1"/>
          <p:nvPr/>
        </p:nvSpPr>
        <p:spPr>
          <a:xfrm>
            <a:off x="586131" y="368171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7"/>
          <p:cNvSpPr txBox="1"/>
          <p:nvPr/>
        </p:nvSpPr>
        <p:spPr>
          <a:xfrm>
            <a:off x="586131" y="3289953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7"/>
          <p:cNvSpPr txBox="1"/>
          <p:nvPr/>
        </p:nvSpPr>
        <p:spPr>
          <a:xfrm>
            <a:off x="586131" y="2892809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7"/>
          <p:cNvSpPr txBox="1"/>
          <p:nvPr/>
        </p:nvSpPr>
        <p:spPr>
          <a:xfrm>
            <a:off x="586131" y="2506427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7"/>
          <p:cNvSpPr txBox="1"/>
          <p:nvPr/>
        </p:nvSpPr>
        <p:spPr>
          <a:xfrm>
            <a:off x="493782" y="2114676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7"/>
          <p:cNvSpPr txBox="1"/>
          <p:nvPr/>
        </p:nvSpPr>
        <p:spPr>
          <a:xfrm>
            <a:off x="510863" y="1733676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2" name="Google Shape;1172;p87"/>
          <p:cNvGraphicFramePr/>
          <p:nvPr/>
        </p:nvGraphicFramePr>
        <p:xfrm>
          <a:off x="4534325" y="1766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2486925"/>
                <a:gridCol w="543075"/>
                <a:gridCol w="564600"/>
                <a:gridCol w="521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cell towers (thousands)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3" name="Google Shape;1173;p87"/>
          <p:cNvSpPr txBox="1"/>
          <p:nvPr/>
        </p:nvSpPr>
        <p:spPr>
          <a:xfrm>
            <a:off x="11059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7"/>
          <p:cNvSpPr txBox="1"/>
          <p:nvPr/>
        </p:nvSpPr>
        <p:spPr>
          <a:xfrm>
            <a:off x="21727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7"/>
          <p:cNvSpPr txBox="1"/>
          <p:nvPr/>
        </p:nvSpPr>
        <p:spPr>
          <a:xfrm>
            <a:off x="32503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7"/>
          <p:cNvSpPr txBox="1"/>
          <p:nvPr>
            <p:ph idx="4294967295" type="body"/>
          </p:nvPr>
        </p:nvSpPr>
        <p:spPr>
          <a:xfrm>
            <a:off x="4530950" y="4067125"/>
            <a:ext cx="4365300" cy="6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 thousand cell towers is less than most other regions with a similar population.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87"/>
          <p:cNvSpPr txBox="1"/>
          <p:nvPr>
            <p:ph idx="4294967295" type="body"/>
          </p:nvPr>
        </p:nvSpPr>
        <p:spPr>
          <a:xfrm>
            <a:off x="7159740" y="3596160"/>
            <a:ext cx="864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Town 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8"/>
          <p:cNvSpPr txBox="1"/>
          <p:nvPr>
            <p:ph idx="1" type="body"/>
          </p:nvPr>
        </p:nvSpPr>
        <p:spPr>
          <a:xfrm>
            <a:off x="4572000" y="3332595"/>
            <a:ext cx="4248000" cy="5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In which town can they afford to switch off some cell towers? Explain why.</a:t>
            </a:r>
            <a:endParaRPr sz="1600"/>
          </a:p>
        </p:txBody>
      </p:sp>
      <p:sp>
        <p:nvSpPr>
          <p:cNvPr id="1183" name="Google Shape;118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A mobile phone provider manages the number of cell towers per town.</a:t>
            </a:r>
            <a:br>
              <a:rPr lang="en-GB" sz="1600"/>
            </a:br>
            <a:r>
              <a:rPr lang="en-GB" sz="1600"/>
              <a:t>    The table shows the population and the number of cell towers for three towns.</a:t>
            </a:r>
            <a:br>
              <a:rPr lang="en-GB" sz="1600"/>
            </a:br>
            <a:r>
              <a:rPr lang="en-GB" sz="1600"/>
              <a:t>    The scatter graph shows data from the ONS about other regions across the UK.</a:t>
            </a:r>
            <a:endParaRPr sz="1600"/>
          </a:p>
        </p:txBody>
      </p:sp>
      <p:sp>
        <p:nvSpPr>
          <p:cNvPr id="1184" name="Google Shape;1184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conclusions from a statistical investigation</a:t>
            </a:r>
            <a:endParaRPr/>
          </a:p>
        </p:txBody>
      </p:sp>
      <p:pic>
        <p:nvPicPr>
          <p:cNvPr id="1185" name="Google Shape;1185;p88"/>
          <p:cNvPicPr preferRelativeResize="0"/>
          <p:nvPr/>
        </p:nvPicPr>
        <p:blipFill rotWithShape="1">
          <a:blip r:embed="rId3">
            <a:alphaModFix/>
          </a:blip>
          <a:srcRect b="0" l="0" r="537" t="1351"/>
          <a:stretch/>
        </p:blipFill>
        <p:spPr>
          <a:xfrm>
            <a:off x="842000" y="1935701"/>
            <a:ext cx="3210603" cy="23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88"/>
          <p:cNvSpPr txBox="1"/>
          <p:nvPr/>
        </p:nvSpPr>
        <p:spPr>
          <a:xfrm>
            <a:off x="1165184" y="4470648"/>
            <a:ext cx="25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7" name="Google Shape;1187;p88"/>
          <p:cNvGrpSpPr/>
          <p:nvPr/>
        </p:nvGrpSpPr>
        <p:grpSpPr>
          <a:xfrm>
            <a:off x="846010" y="1701526"/>
            <a:ext cx="3402893" cy="2585876"/>
            <a:chOff x="2015104" y="1439649"/>
            <a:chExt cx="3902400" cy="2982900"/>
          </a:xfrm>
        </p:grpSpPr>
        <p:cxnSp>
          <p:nvCxnSpPr>
            <p:cNvPr id="1188" name="Google Shape;1188;p88"/>
            <p:cNvCxnSpPr/>
            <p:nvPr/>
          </p:nvCxnSpPr>
          <p:spPr>
            <a:xfrm rot="10800000">
              <a:off x="2021739" y="1439649"/>
              <a:ext cx="0" cy="2982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89" name="Google Shape;1189;p88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90" name="Google Shape;1190;p88"/>
          <p:cNvSpPr txBox="1"/>
          <p:nvPr/>
        </p:nvSpPr>
        <p:spPr>
          <a:xfrm rot="-5400000">
            <a:off x="-938445" y="2761792"/>
            <a:ext cx="272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cell towers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8"/>
          <p:cNvSpPr txBox="1"/>
          <p:nvPr/>
        </p:nvSpPr>
        <p:spPr>
          <a:xfrm>
            <a:off x="698246" y="4167297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8"/>
          <p:cNvSpPr txBox="1"/>
          <p:nvPr/>
        </p:nvSpPr>
        <p:spPr>
          <a:xfrm>
            <a:off x="586131" y="406271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8"/>
          <p:cNvSpPr txBox="1"/>
          <p:nvPr/>
        </p:nvSpPr>
        <p:spPr>
          <a:xfrm>
            <a:off x="16393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8"/>
          <p:cNvSpPr txBox="1"/>
          <p:nvPr/>
        </p:nvSpPr>
        <p:spPr>
          <a:xfrm>
            <a:off x="27169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8"/>
          <p:cNvSpPr txBox="1"/>
          <p:nvPr/>
        </p:nvSpPr>
        <p:spPr>
          <a:xfrm>
            <a:off x="37837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8"/>
          <p:cNvSpPr txBox="1"/>
          <p:nvPr/>
        </p:nvSpPr>
        <p:spPr>
          <a:xfrm>
            <a:off x="586131" y="3681715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8"/>
          <p:cNvSpPr txBox="1"/>
          <p:nvPr/>
        </p:nvSpPr>
        <p:spPr>
          <a:xfrm>
            <a:off x="586131" y="3289953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8"/>
          <p:cNvSpPr txBox="1"/>
          <p:nvPr/>
        </p:nvSpPr>
        <p:spPr>
          <a:xfrm>
            <a:off x="586131" y="2892809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8"/>
          <p:cNvSpPr txBox="1"/>
          <p:nvPr/>
        </p:nvSpPr>
        <p:spPr>
          <a:xfrm>
            <a:off x="586131" y="2506427"/>
            <a:ext cx="2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8"/>
          <p:cNvSpPr txBox="1"/>
          <p:nvPr/>
        </p:nvSpPr>
        <p:spPr>
          <a:xfrm>
            <a:off x="493782" y="2114676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8"/>
          <p:cNvSpPr txBox="1"/>
          <p:nvPr/>
        </p:nvSpPr>
        <p:spPr>
          <a:xfrm>
            <a:off x="510863" y="1733676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2" name="Google Shape;1202;p88"/>
          <p:cNvGraphicFramePr/>
          <p:nvPr/>
        </p:nvGraphicFramePr>
        <p:xfrm>
          <a:off x="4534325" y="1766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2486925"/>
                <a:gridCol w="543075"/>
                <a:gridCol w="564600"/>
                <a:gridCol w="521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cell towers (thousands)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3" name="Google Shape;1203;p88"/>
          <p:cNvSpPr txBox="1"/>
          <p:nvPr/>
        </p:nvSpPr>
        <p:spPr>
          <a:xfrm>
            <a:off x="11059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8"/>
          <p:cNvSpPr txBox="1"/>
          <p:nvPr/>
        </p:nvSpPr>
        <p:spPr>
          <a:xfrm>
            <a:off x="2172799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8"/>
          <p:cNvSpPr txBox="1"/>
          <p:nvPr/>
        </p:nvSpPr>
        <p:spPr>
          <a:xfrm>
            <a:off x="3250301" y="4179276"/>
            <a:ext cx="57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8"/>
          <p:cNvSpPr txBox="1"/>
          <p:nvPr>
            <p:ph idx="4294967295" type="body"/>
          </p:nvPr>
        </p:nvSpPr>
        <p:spPr>
          <a:xfrm>
            <a:off x="4530950" y="4067125"/>
            <a:ext cx="4365300" cy="6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thousand cell towers is more than most other regions with a similar population.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88"/>
          <p:cNvSpPr txBox="1"/>
          <p:nvPr>
            <p:ph idx="4294967295" type="body"/>
          </p:nvPr>
        </p:nvSpPr>
        <p:spPr>
          <a:xfrm>
            <a:off x="7997940" y="3596160"/>
            <a:ext cx="864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Town 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</a:t>
            </a:r>
            <a:r>
              <a:rPr lang="en-GB"/>
              <a:t> conclusions from a statistical investigation</a:t>
            </a:r>
            <a:endParaRPr/>
          </a:p>
        </p:txBody>
      </p:sp>
      <p:sp>
        <p:nvSpPr>
          <p:cNvPr id="1213" name="Google Shape;1213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Acknowledging limitations and problems with conclusions</a:t>
            </a:r>
            <a:endParaRPr/>
          </a:p>
        </p:txBody>
      </p:sp>
      <p:sp>
        <p:nvSpPr>
          <p:cNvPr id="1214" name="Google Shape;1214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drawing conclusions</a:t>
            </a:r>
            <a:endParaRPr/>
          </a:p>
        </p:txBody>
      </p:sp>
      <p:pic>
        <p:nvPicPr>
          <p:cNvPr id="1215" name="Google Shape;121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0"/>
          <p:cNvSpPr txBox="1"/>
          <p:nvPr>
            <p:ph idx="1" type="body"/>
          </p:nvPr>
        </p:nvSpPr>
        <p:spPr>
          <a:xfrm>
            <a:off x="324000" y="759300"/>
            <a:ext cx="8237700" cy="8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Lucas</a:t>
            </a:r>
            <a:r>
              <a:rPr lang="en-GB" sz="1800"/>
              <a:t> surveyed a </a:t>
            </a:r>
            <a:r>
              <a:rPr lang="en-GB" sz="1800">
                <a:solidFill>
                  <a:schemeClr val="accent5"/>
                </a:solidFill>
              </a:rPr>
              <a:t>sample</a:t>
            </a:r>
            <a:r>
              <a:rPr lang="en-GB" sz="1800"/>
              <a:t> of 10-year-old children about which genres of books they like to read.</a:t>
            </a:r>
            <a:endParaRPr sz="1800"/>
          </a:p>
        </p:txBody>
      </p:sp>
      <p:sp>
        <p:nvSpPr>
          <p:cNvPr id="1221" name="Google Shape;122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222" name="Google Shape;1222;p90"/>
          <p:cNvSpPr/>
          <p:nvPr/>
        </p:nvSpPr>
        <p:spPr>
          <a:xfrm>
            <a:off x="1383000" y="2015580"/>
            <a:ext cx="2369700" cy="168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0"/>
          <p:cNvSpPr txBox="1"/>
          <p:nvPr/>
        </p:nvSpPr>
        <p:spPr>
          <a:xfrm>
            <a:off x="1382999" y="2152380"/>
            <a:ext cx="9378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comedy</a:t>
            </a:r>
            <a:b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horror</a:t>
            </a:r>
            <a:b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fantasy</a:t>
            </a:r>
            <a:b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sci-fi</a:t>
            </a:r>
            <a:b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romance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4" name="Google Shape;1224;p90"/>
          <p:cNvGrpSpPr/>
          <p:nvPr/>
        </p:nvGrpSpPr>
        <p:grpSpPr>
          <a:xfrm>
            <a:off x="2375881" y="2189984"/>
            <a:ext cx="1143319" cy="1313639"/>
            <a:chOff x="6833020" y="2121369"/>
            <a:chExt cx="1272900" cy="1462524"/>
          </a:xfrm>
        </p:grpSpPr>
        <p:grpSp>
          <p:nvGrpSpPr>
            <p:cNvPr id="1225" name="Google Shape;1225;p90"/>
            <p:cNvGrpSpPr/>
            <p:nvPr/>
          </p:nvGrpSpPr>
          <p:grpSpPr>
            <a:xfrm>
              <a:off x="6833020" y="2121369"/>
              <a:ext cx="329100" cy="235214"/>
              <a:chOff x="4190100" y="2395200"/>
              <a:chExt cx="329100" cy="304800"/>
            </a:xfrm>
          </p:grpSpPr>
          <p:cxnSp>
            <p:nvCxnSpPr>
              <p:cNvPr id="1226" name="Google Shape;1226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" name="Google Shape;1227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" name="Google Shape;1228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9" name="Google Shape;1229;p90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0" name="Google Shape;1230;p90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31" name="Google Shape;1231;p90"/>
            <p:cNvGrpSpPr/>
            <p:nvPr/>
          </p:nvGrpSpPr>
          <p:grpSpPr>
            <a:xfrm>
              <a:off x="6888445" y="2426169"/>
              <a:ext cx="146600" cy="235214"/>
              <a:chOff x="4245525" y="2395200"/>
              <a:chExt cx="146600" cy="304800"/>
            </a:xfrm>
          </p:grpSpPr>
          <p:cxnSp>
            <p:nvCxnSpPr>
              <p:cNvPr id="1232" name="Google Shape;1232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3" name="Google Shape;1233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4" name="Google Shape;1234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35" name="Google Shape;1235;p90"/>
            <p:cNvGrpSpPr/>
            <p:nvPr/>
          </p:nvGrpSpPr>
          <p:grpSpPr>
            <a:xfrm>
              <a:off x="6833020" y="2730969"/>
              <a:ext cx="329100" cy="235214"/>
              <a:chOff x="4190100" y="2395200"/>
              <a:chExt cx="329100" cy="304800"/>
            </a:xfrm>
          </p:grpSpPr>
          <p:cxnSp>
            <p:nvCxnSpPr>
              <p:cNvPr id="1236" name="Google Shape;1236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7" name="Google Shape;1237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8" name="Google Shape;1238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" name="Google Shape;1239;p90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" name="Google Shape;1240;p90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41" name="Google Shape;1241;p90"/>
            <p:cNvGrpSpPr/>
            <p:nvPr/>
          </p:nvGrpSpPr>
          <p:grpSpPr>
            <a:xfrm>
              <a:off x="6833020" y="3035769"/>
              <a:ext cx="329100" cy="235214"/>
              <a:chOff x="4190100" y="2395200"/>
              <a:chExt cx="329100" cy="304800"/>
            </a:xfrm>
          </p:grpSpPr>
          <p:cxnSp>
            <p:nvCxnSpPr>
              <p:cNvPr id="1242" name="Google Shape;1242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" name="Google Shape;1243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4" name="Google Shape;1244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5" name="Google Shape;1245;p90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" name="Google Shape;1246;p90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47" name="Google Shape;1247;p90"/>
            <p:cNvGrpSpPr/>
            <p:nvPr/>
          </p:nvGrpSpPr>
          <p:grpSpPr>
            <a:xfrm>
              <a:off x="6833020" y="3340569"/>
              <a:ext cx="329100" cy="235214"/>
              <a:chOff x="4190100" y="2395200"/>
              <a:chExt cx="329100" cy="304800"/>
            </a:xfrm>
          </p:grpSpPr>
          <p:cxnSp>
            <p:nvCxnSpPr>
              <p:cNvPr id="1248" name="Google Shape;1248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" name="Google Shape;1249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" name="Google Shape;1250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" name="Google Shape;1251;p90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2" name="Google Shape;1252;p90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53" name="Google Shape;1253;p90"/>
            <p:cNvGrpSpPr/>
            <p:nvPr/>
          </p:nvGrpSpPr>
          <p:grpSpPr>
            <a:xfrm>
              <a:off x="7214020" y="2121369"/>
              <a:ext cx="329100" cy="235214"/>
              <a:chOff x="4190100" y="2395200"/>
              <a:chExt cx="329100" cy="304800"/>
            </a:xfrm>
          </p:grpSpPr>
          <p:cxnSp>
            <p:nvCxnSpPr>
              <p:cNvPr id="1254" name="Google Shape;1254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" name="Google Shape;1255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" name="Google Shape;1256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" name="Google Shape;1257;p90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8" name="Google Shape;1258;p90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59" name="Google Shape;1259;p90"/>
            <p:cNvGrpSpPr/>
            <p:nvPr/>
          </p:nvGrpSpPr>
          <p:grpSpPr>
            <a:xfrm>
              <a:off x="7214020" y="2730969"/>
              <a:ext cx="329100" cy="235214"/>
              <a:chOff x="4190100" y="2395200"/>
              <a:chExt cx="329100" cy="304800"/>
            </a:xfrm>
          </p:grpSpPr>
          <p:cxnSp>
            <p:nvCxnSpPr>
              <p:cNvPr id="1260" name="Google Shape;1260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" name="Google Shape;1261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" name="Google Shape;1262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3" name="Google Shape;1263;p90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" name="Google Shape;1264;p90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5" name="Google Shape;1265;p90"/>
            <p:cNvGrpSpPr/>
            <p:nvPr/>
          </p:nvGrpSpPr>
          <p:grpSpPr>
            <a:xfrm>
              <a:off x="7595020" y="2730969"/>
              <a:ext cx="329100" cy="235214"/>
              <a:chOff x="4190100" y="2395200"/>
              <a:chExt cx="329100" cy="304800"/>
            </a:xfrm>
          </p:grpSpPr>
          <p:cxnSp>
            <p:nvCxnSpPr>
              <p:cNvPr id="1266" name="Google Shape;1266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7" name="Google Shape;1267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8" name="Google Shape;1268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9" name="Google Shape;1269;p90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" name="Google Shape;1270;p90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71" name="Google Shape;1271;p90"/>
            <p:cNvGrpSpPr/>
            <p:nvPr/>
          </p:nvGrpSpPr>
          <p:grpSpPr>
            <a:xfrm>
              <a:off x="8031445" y="2730969"/>
              <a:ext cx="74475" cy="235214"/>
              <a:chOff x="4245525" y="2395200"/>
              <a:chExt cx="74475" cy="304800"/>
            </a:xfrm>
          </p:grpSpPr>
          <p:cxnSp>
            <p:nvCxnSpPr>
              <p:cNvPr id="1272" name="Google Shape;1272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" name="Google Shape;1273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74" name="Google Shape;1274;p90"/>
            <p:cNvGrpSpPr/>
            <p:nvPr/>
          </p:nvGrpSpPr>
          <p:grpSpPr>
            <a:xfrm>
              <a:off x="7269445" y="3035769"/>
              <a:ext cx="146600" cy="235214"/>
              <a:chOff x="4245525" y="2395200"/>
              <a:chExt cx="146600" cy="304800"/>
            </a:xfrm>
          </p:grpSpPr>
          <p:cxnSp>
            <p:nvCxnSpPr>
              <p:cNvPr id="1275" name="Google Shape;1275;p90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6" name="Google Shape;1276;p90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" name="Google Shape;1277;p90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278" name="Google Shape;1278;p90"/>
            <p:cNvCxnSpPr/>
            <p:nvPr/>
          </p:nvCxnSpPr>
          <p:spPr>
            <a:xfrm>
              <a:off x="7266674" y="3348693"/>
              <a:ext cx="0" cy="235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79" name="Google Shape;127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48" y="2834536"/>
            <a:ext cx="1340864" cy="14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0"/>
          <p:cNvSpPr txBox="1"/>
          <p:nvPr>
            <p:ph idx="1" type="body"/>
          </p:nvPr>
        </p:nvSpPr>
        <p:spPr>
          <a:xfrm>
            <a:off x="324000" y="1467960"/>
            <a:ext cx="8237700" cy="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 is organising a book collection for an elderly care home.</a:t>
            </a:r>
            <a:endParaRPr sz="1800"/>
          </a:p>
        </p:txBody>
      </p:sp>
      <p:pic>
        <p:nvPicPr>
          <p:cNvPr id="1281" name="Google Shape;128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1699" y="2511041"/>
            <a:ext cx="503119" cy="181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0"/>
          <p:cNvSpPr/>
          <p:nvPr/>
        </p:nvSpPr>
        <p:spPr>
          <a:xfrm>
            <a:off x="4448125" y="2015575"/>
            <a:ext cx="3385500" cy="1682400"/>
          </a:xfrm>
          <a:prstGeom prst="wedgeRoundRectCallout">
            <a:avLst>
              <a:gd fmla="val 58173" name="adj1"/>
              <a:gd fmla="val -3785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Lucas’s data shows that fantasy and comedy books were the most popular.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I will find lots of those for the collection.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0"/>
          <p:cNvSpPr txBox="1"/>
          <p:nvPr>
            <p:ph idx="1" type="body"/>
          </p:nvPr>
        </p:nvSpPr>
        <p:spPr>
          <a:xfrm>
            <a:off x="2189250" y="4044300"/>
            <a:ext cx="5269500" cy="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could be wrong with Sofia’s conclusion?</a:t>
            </a:r>
            <a:endParaRPr sz="1800"/>
          </a:p>
        </p:txBody>
      </p:sp>
      <p:sp>
        <p:nvSpPr>
          <p:cNvPr id="1284" name="Google Shape;1284;p90"/>
          <p:cNvSpPr txBox="1"/>
          <p:nvPr>
            <p:ph idx="1" type="body"/>
          </p:nvPr>
        </p:nvSpPr>
        <p:spPr>
          <a:xfrm>
            <a:off x="1080480" y="4483560"/>
            <a:ext cx="73194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Elderly people might not like the same genres of books as children.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91"/>
          <p:cNvSpPr txBox="1"/>
          <p:nvPr>
            <p:ph idx="1" type="body"/>
          </p:nvPr>
        </p:nvSpPr>
        <p:spPr>
          <a:xfrm>
            <a:off x="324000" y="759300"/>
            <a:ext cx="84960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we make </a:t>
            </a:r>
            <a:r>
              <a:rPr lang="en-GB" sz="1800"/>
              <a:t>conclusions</a:t>
            </a:r>
            <a:r>
              <a:rPr lang="en-GB" sz="1800"/>
              <a:t> from data investigations, we should consider the </a:t>
            </a:r>
            <a:r>
              <a:rPr lang="en-GB" sz="1800">
                <a:solidFill>
                  <a:schemeClr val="accent5"/>
                </a:solidFill>
              </a:rPr>
              <a:t>limitations</a:t>
            </a:r>
            <a:r>
              <a:rPr lang="en-GB" sz="1800"/>
              <a:t> to those findings.</a:t>
            </a:r>
            <a:endParaRPr sz="1800"/>
          </a:p>
        </p:txBody>
      </p:sp>
      <p:sp>
        <p:nvSpPr>
          <p:cNvPr id="1290" name="Google Shape;129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291" name="Google Shape;1291;p91"/>
          <p:cNvSpPr txBox="1"/>
          <p:nvPr>
            <p:ph idx="1" type="body"/>
          </p:nvPr>
        </p:nvSpPr>
        <p:spPr>
          <a:xfrm>
            <a:off x="324000" y="1445100"/>
            <a:ext cx="84960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Care should be taken not to </a:t>
            </a:r>
            <a:r>
              <a:rPr lang="en-GB" sz="1800">
                <a:solidFill>
                  <a:schemeClr val="accent5"/>
                </a:solidFill>
              </a:rPr>
              <a:t>over generalise</a:t>
            </a:r>
            <a:r>
              <a:rPr lang="en-GB" sz="1800"/>
              <a:t> the results from a statistical investigation.</a:t>
            </a:r>
            <a:endParaRPr sz="1600"/>
          </a:p>
        </p:txBody>
      </p:sp>
      <p:pic>
        <p:nvPicPr>
          <p:cNvPr id="1292" name="Google Shape;129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97" y="2166429"/>
            <a:ext cx="57442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91"/>
          <p:cNvSpPr/>
          <p:nvPr/>
        </p:nvSpPr>
        <p:spPr>
          <a:xfrm>
            <a:off x="1364275" y="2282300"/>
            <a:ext cx="2955600" cy="1413900"/>
          </a:xfrm>
          <a:prstGeom prst="wedgeRoundRectCallout">
            <a:avLst>
              <a:gd fmla="val -63670" name="adj1"/>
              <a:gd fmla="val -30716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surveyed 20 people and found they they spend an average 1 hour 32 minutes watching TV per day.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1"/>
          <p:cNvSpPr/>
          <p:nvPr/>
        </p:nvSpPr>
        <p:spPr>
          <a:xfrm>
            <a:off x="4923050" y="2578600"/>
            <a:ext cx="2773200" cy="1413900"/>
          </a:xfrm>
          <a:prstGeom prst="wedgeRoundRectCallout">
            <a:avLst>
              <a:gd fmla="val 62093" name="adj1"/>
              <a:gd fmla="val -53289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This must mean that everyone in the world watches TV for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 hour 32 minutes every day.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5" name="Google Shape;129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7608" y="2174897"/>
            <a:ext cx="52349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91"/>
          <p:cNvSpPr txBox="1"/>
          <p:nvPr>
            <p:ph idx="1" type="body"/>
          </p:nvPr>
        </p:nvSpPr>
        <p:spPr>
          <a:xfrm>
            <a:off x="438300" y="4119720"/>
            <a:ext cx="5235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1297" name="Google Shape;1297;p91"/>
          <p:cNvSpPr txBox="1"/>
          <p:nvPr>
            <p:ph idx="1" type="body"/>
          </p:nvPr>
        </p:nvSpPr>
        <p:spPr>
          <a:xfrm>
            <a:off x="8050680" y="4119720"/>
            <a:ext cx="5235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Sam</a:t>
            </a:r>
            <a:endParaRPr sz="1600"/>
          </a:p>
        </p:txBody>
      </p:sp>
      <p:sp>
        <p:nvSpPr>
          <p:cNvPr id="1298" name="Google Shape;1298;p91"/>
          <p:cNvSpPr txBox="1"/>
          <p:nvPr>
            <p:ph idx="1" type="body"/>
          </p:nvPr>
        </p:nvSpPr>
        <p:spPr>
          <a:xfrm>
            <a:off x="1606530" y="4263040"/>
            <a:ext cx="59157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Sam’s conclusion may not be valid because time watching TV may vary according to age, country or other factors.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92"/>
          <p:cNvSpPr txBox="1"/>
          <p:nvPr/>
        </p:nvSpPr>
        <p:spPr>
          <a:xfrm>
            <a:off x="3432960" y="4182650"/>
            <a:ext cx="58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2"/>
          <p:cNvSpPr txBox="1"/>
          <p:nvPr>
            <p:ph idx="1" type="body"/>
          </p:nvPr>
        </p:nvSpPr>
        <p:spPr>
          <a:xfrm>
            <a:off x="324000" y="759300"/>
            <a:ext cx="84960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Over generalising can be caused by </a:t>
            </a:r>
            <a:r>
              <a:rPr lang="en-GB" sz="1800">
                <a:solidFill>
                  <a:schemeClr val="accent5"/>
                </a:solidFill>
              </a:rPr>
              <a:t>extrapolating</a:t>
            </a:r>
            <a:r>
              <a:rPr lang="en-GB" sz="1800"/>
              <a:t> findings beyond the range of a data set.</a:t>
            </a:r>
            <a:endParaRPr sz="1800"/>
          </a:p>
        </p:txBody>
      </p:sp>
      <p:sp>
        <p:nvSpPr>
          <p:cNvPr id="1305" name="Google Shape;130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306" name="Google Shape;1306;p92"/>
          <p:cNvSpPr/>
          <p:nvPr/>
        </p:nvSpPr>
        <p:spPr>
          <a:xfrm>
            <a:off x="4693925" y="1849100"/>
            <a:ext cx="3275400" cy="1437300"/>
          </a:xfrm>
          <a:prstGeom prst="wedgeRoundRectCallout">
            <a:avLst>
              <a:gd fmla="val 55391" name="adj1"/>
              <a:gd fmla="val -5662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0-2023/522044d1-0eda-4b70-9d2d-653054a67588&quot; data-equatio-type=&quot;desmos&quot;&gt;&lt;mglyph src=&quot;https://equatio-api.texthelp.com/desmos/get/06-10-2023/522044d1-0eda-4b70-9d2d-653054a67588&quot; alt=&quot;Equatio Desmos Graph&quot;/&gt;&lt;/math&gt;" id="1307" name="Google Shape;1307;p92" title="Equatio Desmos Graph"/>
          <p:cNvPicPr preferRelativeResize="0"/>
          <p:nvPr/>
        </p:nvPicPr>
        <p:blipFill rotWithShape="1">
          <a:blip r:embed="rId3">
            <a:alphaModFix/>
          </a:blip>
          <a:srcRect b="3651" l="3744" r="0" t="0"/>
          <a:stretch/>
        </p:blipFill>
        <p:spPr>
          <a:xfrm>
            <a:off x="1252560" y="1893300"/>
            <a:ext cx="3152676" cy="23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92"/>
          <p:cNvSpPr txBox="1"/>
          <p:nvPr/>
        </p:nvSpPr>
        <p:spPr>
          <a:xfrm>
            <a:off x="1241776" y="4487000"/>
            <a:ext cx="32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92"/>
          <p:cNvSpPr txBox="1"/>
          <p:nvPr/>
        </p:nvSpPr>
        <p:spPr>
          <a:xfrm rot="-5400000">
            <a:off x="-733750" y="2678575"/>
            <a:ext cx="267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0" name="Google Shape;1310;p92"/>
          <p:cNvCxnSpPr/>
          <p:nvPr/>
        </p:nvCxnSpPr>
        <p:spPr>
          <a:xfrm rot="10800000">
            <a:off x="1252562" y="1659253"/>
            <a:ext cx="0" cy="260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1" name="Google Shape;1311;p92"/>
          <p:cNvCxnSpPr/>
          <p:nvPr/>
        </p:nvCxnSpPr>
        <p:spPr>
          <a:xfrm>
            <a:off x="1247527" y="4252456"/>
            <a:ext cx="3252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2" name="Google Shape;1312;p92"/>
          <p:cNvSpPr/>
          <p:nvPr/>
        </p:nvSpPr>
        <p:spPr>
          <a:xfrm rot="-1980082">
            <a:off x="1061053" y="2829231"/>
            <a:ext cx="3523488" cy="438108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2"/>
          <p:cNvSpPr txBox="1"/>
          <p:nvPr>
            <p:ph idx="1" type="body"/>
          </p:nvPr>
        </p:nvSpPr>
        <p:spPr>
          <a:xfrm>
            <a:off x="4837624" y="1996205"/>
            <a:ext cx="3102600" cy="11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If next June has 450 hours of sunshine, we should expect the maximum temperature to be between 40℃ and 50℃.</a:t>
            </a:r>
            <a:endParaRPr sz="1600"/>
          </a:p>
        </p:txBody>
      </p:sp>
      <p:cxnSp>
        <p:nvCxnSpPr>
          <p:cNvPr id="1314" name="Google Shape;1314;p92"/>
          <p:cNvCxnSpPr/>
          <p:nvPr/>
        </p:nvCxnSpPr>
        <p:spPr>
          <a:xfrm rot="10800000">
            <a:off x="4017275" y="2566928"/>
            <a:ext cx="0" cy="1662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92"/>
          <p:cNvCxnSpPr/>
          <p:nvPr/>
        </p:nvCxnSpPr>
        <p:spPr>
          <a:xfrm>
            <a:off x="1226035" y="2494400"/>
            <a:ext cx="2695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92"/>
          <p:cNvCxnSpPr/>
          <p:nvPr/>
        </p:nvCxnSpPr>
        <p:spPr>
          <a:xfrm>
            <a:off x="1279512" y="2001500"/>
            <a:ext cx="2615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317" name="Google Shape;131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5135" y="2203647"/>
            <a:ext cx="466898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2"/>
          <p:cNvSpPr txBox="1"/>
          <p:nvPr/>
        </p:nvSpPr>
        <p:spPr>
          <a:xfrm>
            <a:off x="7878303" y="4094180"/>
            <a:ext cx="1006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2"/>
          <p:cNvSpPr txBox="1"/>
          <p:nvPr/>
        </p:nvSpPr>
        <p:spPr>
          <a:xfrm>
            <a:off x="861960" y="2270020"/>
            <a:ext cx="4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2"/>
          <p:cNvSpPr txBox="1"/>
          <p:nvPr/>
        </p:nvSpPr>
        <p:spPr>
          <a:xfrm>
            <a:off x="915300" y="1774720"/>
            <a:ext cx="4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2"/>
          <p:cNvSpPr txBox="1"/>
          <p:nvPr/>
        </p:nvSpPr>
        <p:spPr>
          <a:xfrm>
            <a:off x="861960" y="2704360"/>
            <a:ext cx="4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2"/>
          <p:cNvSpPr txBox="1"/>
          <p:nvPr/>
        </p:nvSpPr>
        <p:spPr>
          <a:xfrm>
            <a:off x="861960" y="3161560"/>
            <a:ext cx="4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2"/>
          <p:cNvSpPr txBox="1"/>
          <p:nvPr/>
        </p:nvSpPr>
        <p:spPr>
          <a:xfrm>
            <a:off x="861960" y="3603520"/>
            <a:ext cx="4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2"/>
          <p:cNvSpPr txBox="1"/>
          <p:nvPr/>
        </p:nvSpPr>
        <p:spPr>
          <a:xfrm>
            <a:off x="967855" y="4030245"/>
            <a:ext cx="33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2"/>
          <p:cNvSpPr txBox="1"/>
          <p:nvPr/>
        </p:nvSpPr>
        <p:spPr>
          <a:xfrm>
            <a:off x="1097395" y="4182645"/>
            <a:ext cx="33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2"/>
          <p:cNvSpPr txBox="1"/>
          <p:nvPr/>
        </p:nvSpPr>
        <p:spPr>
          <a:xfrm>
            <a:off x="1577255" y="4182650"/>
            <a:ext cx="5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2"/>
          <p:cNvSpPr txBox="1"/>
          <p:nvPr/>
        </p:nvSpPr>
        <p:spPr>
          <a:xfrm>
            <a:off x="2203011" y="4182650"/>
            <a:ext cx="58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2"/>
          <p:cNvSpPr txBox="1"/>
          <p:nvPr/>
        </p:nvSpPr>
        <p:spPr>
          <a:xfrm>
            <a:off x="2817985" y="4182650"/>
            <a:ext cx="58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2"/>
          <p:cNvSpPr txBox="1"/>
          <p:nvPr/>
        </p:nvSpPr>
        <p:spPr>
          <a:xfrm>
            <a:off x="4042560" y="4182650"/>
            <a:ext cx="58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2"/>
          <p:cNvSpPr txBox="1"/>
          <p:nvPr>
            <p:ph idx="1" type="body"/>
          </p:nvPr>
        </p:nvSpPr>
        <p:spPr>
          <a:xfrm>
            <a:off x="4842325" y="3618750"/>
            <a:ext cx="2821200" cy="11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r>
              <a:rPr lang="en-GB" sz="1600"/>
              <a:t>’s conclusion may not be valid because he has extrapolated from beyond the data range.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8187" y="2182356"/>
            <a:ext cx="707421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477" y="2177440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93"/>
          <p:cNvSpPr txBox="1"/>
          <p:nvPr>
            <p:ph idx="1" type="body"/>
          </p:nvPr>
        </p:nvSpPr>
        <p:spPr>
          <a:xfrm>
            <a:off x="324000" y="759300"/>
            <a:ext cx="8496000" cy="6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We should consider anything that might have </a:t>
            </a:r>
            <a:r>
              <a:rPr lang="en-GB" sz="1800">
                <a:solidFill>
                  <a:schemeClr val="accent5"/>
                </a:solidFill>
              </a:rPr>
              <a:t>biased</a:t>
            </a:r>
            <a:r>
              <a:rPr lang="en-GB" sz="1800"/>
              <a:t> the investigation before we draw conclusions.</a:t>
            </a:r>
            <a:endParaRPr sz="1800"/>
          </a:p>
        </p:txBody>
      </p:sp>
      <p:sp>
        <p:nvSpPr>
          <p:cNvPr id="1338" name="Google Shape;133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339" name="Google Shape;1339;p93"/>
          <p:cNvSpPr/>
          <p:nvPr/>
        </p:nvSpPr>
        <p:spPr>
          <a:xfrm>
            <a:off x="1364275" y="1705375"/>
            <a:ext cx="3146700" cy="1931700"/>
          </a:xfrm>
          <a:prstGeom prst="wedgeRoundRectCallout">
            <a:avLst>
              <a:gd fmla="val -61387" name="adj1"/>
              <a:gd fmla="val -13514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went to a gym and surveyed a sample of adults about how much time they spend exercising per week.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mean amount of time was 4 hours 28 minutes.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3"/>
          <p:cNvSpPr/>
          <p:nvPr/>
        </p:nvSpPr>
        <p:spPr>
          <a:xfrm>
            <a:off x="4923050" y="2197600"/>
            <a:ext cx="2773200" cy="1413900"/>
          </a:xfrm>
          <a:prstGeom prst="wedgeRoundRectCallout">
            <a:avLst>
              <a:gd fmla="val 61269" name="adj1"/>
              <a:gd fmla="val -30653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This must mean that every adult exercises for around 4 hours 28 minutes per week.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3"/>
          <p:cNvSpPr txBox="1"/>
          <p:nvPr>
            <p:ph idx="1" type="body"/>
          </p:nvPr>
        </p:nvSpPr>
        <p:spPr>
          <a:xfrm>
            <a:off x="438300" y="4119725"/>
            <a:ext cx="6744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sp>
        <p:nvSpPr>
          <p:cNvPr id="1342" name="Google Shape;1342;p93"/>
          <p:cNvSpPr txBox="1"/>
          <p:nvPr>
            <p:ph idx="1" type="body"/>
          </p:nvPr>
        </p:nvSpPr>
        <p:spPr>
          <a:xfrm>
            <a:off x="7985600" y="4119725"/>
            <a:ext cx="5886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Laura</a:t>
            </a:r>
            <a:endParaRPr sz="1600"/>
          </a:p>
        </p:txBody>
      </p:sp>
      <p:sp>
        <p:nvSpPr>
          <p:cNvPr id="1343" name="Google Shape;1343;p93"/>
          <p:cNvSpPr txBox="1"/>
          <p:nvPr>
            <p:ph idx="1" type="body"/>
          </p:nvPr>
        </p:nvSpPr>
        <p:spPr>
          <a:xfrm>
            <a:off x="1606530" y="4263040"/>
            <a:ext cx="59157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Laura</a:t>
            </a:r>
            <a:r>
              <a:rPr lang="en-GB" sz="1600"/>
              <a:t>’s conclusion may not be valid because people at the gym may exercise more than the general population.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8" name="Google Shape;134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2377" y="1909800"/>
            <a:ext cx="566036" cy="6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43" y="2175071"/>
            <a:ext cx="528208" cy="1931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94"/>
          <p:cNvSpPr txBox="1"/>
          <p:nvPr>
            <p:ph idx="1" type="body"/>
          </p:nvPr>
        </p:nvSpPr>
        <p:spPr>
          <a:xfrm>
            <a:off x="324000" y="759300"/>
            <a:ext cx="8496000" cy="6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Conclusions made about data collected from a sample may only be valid for the </a:t>
            </a:r>
            <a:r>
              <a:rPr lang="en-GB" sz="1800">
                <a:solidFill>
                  <a:schemeClr val="accent5"/>
                </a:solidFill>
              </a:rPr>
              <a:t>sample</a:t>
            </a:r>
            <a:r>
              <a:rPr lang="en-GB" sz="1800"/>
              <a:t> of data or a population that is </a:t>
            </a:r>
            <a:r>
              <a:rPr lang="en-GB" sz="1800">
                <a:solidFill>
                  <a:schemeClr val="accent5"/>
                </a:solidFill>
              </a:rPr>
              <a:t>fully represented</a:t>
            </a:r>
            <a:r>
              <a:rPr lang="en-GB" sz="1800"/>
              <a:t> by the sample.</a:t>
            </a:r>
            <a:endParaRPr sz="1800"/>
          </a:p>
        </p:txBody>
      </p:sp>
      <p:sp>
        <p:nvSpPr>
          <p:cNvPr id="1351" name="Google Shape;135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352" name="Google Shape;1352;p94"/>
          <p:cNvSpPr/>
          <p:nvPr/>
        </p:nvSpPr>
        <p:spPr>
          <a:xfrm>
            <a:off x="1364275" y="1705375"/>
            <a:ext cx="2811600" cy="1931700"/>
          </a:xfrm>
          <a:prstGeom prst="wedgeRoundRectCallout">
            <a:avLst>
              <a:gd fmla="val -61387" name="adj1"/>
              <a:gd fmla="val -13514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surveyed 20 people aged 11 years old about how much time they spend doing homework. 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mean was 5 hours per week.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94"/>
          <p:cNvSpPr/>
          <p:nvPr/>
        </p:nvSpPr>
        <p:spPr>
          <a:xfrm>
            <a:off x="4572000" y="1923600"/>
            <a:ext cx="3025200" cy="852600"/>
          </a:xfrm>
          <a:prstGeom prst="wedgeRoundRectCallout">
            <a:avLst>
              <a:gd fmla="val 62642" name="adj1"/>
              <a:gd fmla="val -3654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People in the school spend around 5 hours a week doing homework.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4"/>
          <p:cNvSpPr txBox="1"/>
          <p:nvPr>
            <p:ph idx="1" type="body"/>
          </p:nvPr>
        </p:nvSpPr>
        <p:spPr>
          <a:xfrm>
            <a:off x="438300" y="4119725"/>
            <a:ext cx="6744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  <p:sp>
        <p:nvSpPr>
          <p:cNvPr id="1355" name="Google Shape;1355;p94"/>
          <p:cNvSpPr txBox="1"/>
          <p:nvPr>
            <p:ph idx="1" type="body"/>
          </p:nvPr>
        </p:nvSpPr>
        <p:spPr>
          <a:xfrm>
            <a:off x="8061240" y="2583775"/>
            <a:ext cx="5283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  <p:pic>
        <p:nvPicPr>
          <p:cNvPr id="1356" name="Google Shape;1356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83745" y="3330607"/>
            <a:ext cx="528300" cy="6606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94"/>
          <p:cNvSpPr/>
          <p:nvPr/>
        </p:nvSpPr>
        <p:spPr>
          <a:xfrm>
            <a:off x="4572000" y="3201300"/>
            <a:ext cx="3116700" cy="852600"/>
          </a:xfrm>
          <a:prstGeom prst="wedgeRoundRectCallout">
            <a:avLst>
              <a:gd fmla="val 61491" name="adj1"/>
              <a:gd fmla="val 23446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11-year-olds in this school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spend around 5 hours a week doing homework.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94"/>
          <p:cNvSpPr txBox="1"/>
          <p:nvPr>
            <p:ph idx="1" type="body"/>
          </p:nvPr>
        </p:nvSpPr>
        <p:spPr>
          <a:xfrm>
            <a:off x="8130649" y="4031575"/>
            <a:ext cx="4590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sp>
        <p:nvSpPr>
          <p:cNvPr id="1359" name="Google Shape;1359;p94"/>
          <p:cNvSpPr txBox="1"/>
          <p:nvPr>
            <p:ph idx="1" type="body"/>
          </p:nvPr>
        </p:nvSpPr>
        <p:spPr>
          <a:xfrm>
            <a:off x="1303130" y="4472400"/>
            <a:ext cx="5501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Who has the most valid</a:t>
            </a:r>
            <a:r>
              <a:rPr lang="en-GB" sz="1800"/>
              <a:t> conclusion? Alex or Jun?</a:t>
            </a:r>
            <a:endParaRPr sz="1600"/>
          </a:p>
        </p:txBody>
      </p:sp>
      <p:sp>
        <p:nvSpPr>
          <p:cNvPr id="1360" name="Google Shape;1360;p94"/>
          <p:cNvSpPr txBox="1"/>
          <p:nvPr>
            <p:ph idx="1" type="body"/>
          </p:nvPr>
        </p:nvSpPr>
        <p:spPr>
          <a:xfrm>
            <a:off x="6849849" y="4457150"/>
            <a:ext cx="9303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provides evidence that the conclusion is correct.</a:t>
            </a:r>
            <a:endParaRPr sz="2000"/>
          </a:p>
        </p:txBody>
      </p:sp>
      <p:sp>
        <p:nvSpPr>
          <p:cNvPr id="1366" name="Google Shape;136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367" name="Google Shape;1367;p95"/>
          <p:cNvSpPr txBox="1"/>
          <p:nvPr>
            <p:ph idx="1" type="subTitle"/>
          </p:nvPr>
        </p:nvSpPr>
        <p:spPr>
          <a:xfrm>
            <a:off x="324000" y="1080000"/>
            <a:ext cx="8496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Conclusions made from an investigation can always be applied to the whole population.</a:t>
            </a:r>
            <a:endParaRPr sz="2000"/>
          </a:p>
        </p:txBody>
      </p:sp>
      <p:sp>
        <p:nvSpPr>
          <p:cNvPr id="1368" name="Google Shape;1368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conclusion is only valid for the sample or a population that </a:t>
            </a:r>
            <a:r>
              <a:rPr lang="en-GB" sz="2000"/>
              <a:t>is fully represented by the sample.</a:t>
            </a:r>
            <a:endParaRPr sz="2000"/>
          </a:p>
        </p:txBody>
      </p:sp>
      <p:pic>
        <p:nvPicPr>
          <p:cNvPr id="1369" name="Google Shape;136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633" y="1830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8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96"/>
          <p:cNvSpPr txBox="1"/>
          <p:nvPr>
            <p:ph idx="1" type="body"/>
          </p:nvPr>
        </p:nvSpPr>
        <p:spPr>
          <a:xfrm>
            <a:off x="4953000" y="3468150"/>
            <a:ext cx="3637200" cy="6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flavour tends to be the least popular across the chain?</a:t>
            </a:r>
            <a:endParaRPr sz="1800"/>
          </a:p>
        </p:txBody>
      </p:sp>
      <p:pic>
        <p:nvPicPr>
          <p:cNvPr id="1376" name="Google Shape;1376;p96"/>
          <p:cNvPicPr preferRelativeResize="0"/>
          <p:nvPr/>
        </p:nvPicPr>
        <p:blipFill rotWithShape="1">
          <a:blip r:embed="rId3">
            <a:alphaModFix/>
          </a:blip>
          <a:srcRect b="0" l="0" r="5935" t="0"/>
          <a:stretch/>
        </p:blipFill>
        <p:spPr>
          <a:xfrm>
            <a:off x="324000" y="1957200"/>
            <a:ext cx="3995999" cy="286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96"/>
          <p:cNvSpPr txBox="1"/>
          <p:nvPr>
            <p:ph idx="1" type="body"/>
          </p:nvPr>
        </p:nvSpPr>
        <p:spPr>
          <a:xfrm>
            <a:off x="324000" y="759300"/>
            <a:ext cx="84960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manager</a:t>
            </a:r>
            <a:r>
              <a:rPr lang="en-GB" sz="1800"/>
              <a:t> </a:t>
            </a:r>
            <a:r>
              <a:rPr lang="en-GB" sz="1800">
                <a:solidFill>
                  <a:schemeClr val="accent5"/>
                </a:solidFill>
              </a:rPr>
              <a:t>collects data</a:t>
            </a:r>
            <a:r>
              <a:rPr lang="en-GB" sz="1800"/>
              <a:t> from all five ice cream parlours in a chain.</a:t>
            </a:r>
            <a:endParaRPr sz="1800"/>
          </a:p>
        </p:txBody>
      </p:sp>
      <p:sp>
        <p:nvSpPr>
          <p:cNvPr id="1378" name="Google Shape;137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379" name="Google Shape;1379;p96"/>
          <p:cNvSpPr txBox="1"/>
          <p:nvPr>
            <p:ph idx="1" type="body"/>
          </p:nvPr>
        </p:nvSpPr>
        <p:spPr>
          <a:xfrm>
            <a:off x="324000" y="1216500"/>
            <a:ext cx="8237700" cy="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stacked bar chart shows the </a:t>
            </a:r>
            <a:r>
              <a:rPr lang="en-GB" sz="1800">
                <a:solidFill>
                  <a:schemeClr val="accent5"/>
                </a:solidFill>
              </a:rPr>
              <a:t>percentage of sales </a:t>
            </a:r>
            <a:r>
              <a:rPr lang="en-GB" sz="1800"/>
              <a:t>for each flavour at each parlour.</a:t>
            </a:r>
            <a:endParaRPr sz="1800"/>
          </a:p>
        </p:txBody>
      </p:sp>
      <p:sp>
        <p:nvSpPr>
          <p:cNvPr id="1380" name="Google Shape;1380;p96"/>
          <p:cNvSpPr txBox="1"/>
          <p:nvPr>
            <p:ph idx="1" type="body"/>
          </p:nvPr>
        </p:nvSpPr>
        <p:spPr>
          <a:xfrm>
            <a:off x="4953000" y="2172750"/>
            <a:ext cx="3637200" cy="6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flavour tends to be the most popular across the chain?</a:t>
            </a:r>
            <a:endParaRPr sz="1800"/>
          </a:p>
        </p:txBody>
      </p:sp>
      <p:sp>
        <p:nvSpPr>
          <p:cNvPr id="1381" name="Google Shape;1381;p96"/>
          <p:cNvSpPr txBox="1"/>
          <p:nvPr>
            <p:ph idx="1" type="body"/>
          </p:nvPr>
        </p:nvSpPr>
        <p:spPr>
          <a:xfrm>
            <a:off x="6069500" y="2772975"/>
            <a:ext cx="8322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vanilla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2" name="Google Shape;1382;p96"/>
          <p:cNvSpPr txBox="1"/>
          <p:nvPr>
            <p:ph idx="1" type="body"/>
          </p:nvPr>
        </p:nvSpPr>
        <p:spPr>
          <a:xfrm>
            <a:off x="5940350" y="4161000"/>
            <a:ext cx="11823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strawberry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97"/>
          <p:cNvSpPr txBox="1"/>
          <p:nvPr>
            <p:ph idx="1" type="body"/>
          </p:nvPr>
        </p:nvSpPr>
        <p:spPr>
          <a:xfrm>
            <a:off x="324000" y="759300"/>
            <a:ext cx="84960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Based on the conclusions of the investigation, the manager decides to </a:t>
            </a:r>
            <a:r>
              <a:rPr lang="en-GB" sz="1800">
                <a:solidFill>
                  <a:schemeClr val="accent5"/>
                </a:solidFill>
              </a:rPr>
              <a:t>replace strawberry</a:t>
            </a:r>
            <a:r>
              <a:rPr lang="en-GB" sz="1800"/>
              <a:t> with a different flavour across all five parlours.</a:t>
            </a:r>
            <a:endParaRPr sz="1800"/>
          </a:p>
        </p:txBody>
      </p:sp>
      <p:sp>
        <p:nvSpPr>
          <p:cNvPr id="1388" name="Google Shape;138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pic>
        <p:nvPicPr>
          <p:cNvPr id="1389" name="Google Shape;138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60" y="1641600"/>
            <a:ext cx="4491165" cy="3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97"/>
          <p:cNvSpPr txBox="1"/>
          <p:nvPr>
            <p:ph idx="1" type="body"/>
          </p:nvPr>
        </p:nvSpPr>
        <p:spPr>
          <a:xfrm>
            <a:off x="5052600" y="1870200"/>
            <a:ext cx="34362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</a:t>
            </a:r>
            <a:r>
              <a:rPr lang="en-GB" sz="1800">
                <a:solidFill>
                  <a:schemeClr val="accent5"/>
                </a:solidFill>
              </a:rPr>
              <a:t>problem</a:t>
            </a:r>
            <a:r>
              <a:rPr lang="en-GB" sz="1800"/>
              <a:t> could there be with this outcome?</a:t>
            </a:r>
            <a:endParaRPr sz="1800"/>
          </a:p>
        </p:txBody>
      </p:sp>
      <p:sp>
        <p:nvSpPr>
          <p:cNvPr id="1391" name="Google Shape;1391;p97"/>
          <p:cNvSpPr txBox="1"/>
          <p:nvPr>
            <p:ph idx="1" type="body"/>
          </p:nvPr>
        </p:nvSpPr>
        <p:spPr>
          <a:xfrm>
            <a:off x="5074500" y="3683600"/>
            <a:ext cx="3787800" cy="8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Over half of the sales in that parlour are strawberry flavour.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2" name="Google Shape;1392;p97"/>
          <p:cNvSpPr txBox="1"/>
          <p:nvPr>
            <p:ph idx="1" type="body"/>
          </p:nvPr>
        </p:nvSpPr>
        <p:spPr>
          <a:xfrm>
            <a:off x="5074500" y="2693000"/>
            <a:ext cx="3787800" cy="8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Strawberry is the most popular flavour in one of the parlours.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98"/>
          <p:cNvSpPr txBox="1"/>
          <p:nvPr>
            <p:ph idx="1" type="body"/>
          </p:nvPr>
        </p:nvSpPr>
        <p:spPr>
          <a:xfrm>
            <a:off x="324000" y="759300"/>
            <a:ext cx="84960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Based on the conclusions of the investigation, the manager decides to </a:t>
            </a:r>
            <a:r>
              <a:rPr lang="en-GB" sz="1800">
                <a:solidFill>
                  <a:schemeClr val="accent5"/>
                </a:solidFill>
              </a:rPr>
              <a:t>replace strawberry</a:t>
            </a:r>
            <a:r>
              <a:rPr lang="en-GB" sz="1800"/>
              <a:t> with a different flavour across all five parlours.</a:t>
            </a:r>
            <a:endParaRPr sz="1800"/>
          </a:p>
        </p:txBody>
      </p:sp>
      <p:sp>
        <p:nvSpPr>
          <p:cNvPr id="1398" name="Google Shape;139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pic>
        <p:nvPicPr>
          <p:cNvPr id="1399" name="Google Shape;139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60" y="1641600"/>
            <a:ext cx="4491165" cy="3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98"/>
          <p:cNvSpPr txBox="1"/>
          <p:nvPr>
            <p:ph idx="1" type="body"/>
          </p:nvPr>
        </p:nvSpPr>
        <p:spPr>
          <a:xfrm>
            <a:off x="5052600" y="1870200"/>
            <a:ext cx="34362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could be an alternative outcome to the investigation?</a:t>
            </a:r>
            <a:endParaRPr sz="1800"/>
          </a:p>
        </p:txBody>
      </p:sp>
      <p:sp>
        <p:nvSpPr>
          <p:cNvPr id="1401" name="Google Shape;1401;p98"/>
          <p:cNvSpPr txBox="1"/>
          <p:nvPr>
            <p:ph idx="1" type="body"/>
          </p:nvPr>
        </p:nvSpPr>
        <p:spPr>
          <a:xfrm>
            <a:off x="5074500" y="2693000"/>
            <a:ext cx="3787800" cy="115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Replace the strawberry flavour in all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parlours except for one where it is most popular.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99"/>
          <p:cNvSpPr txBox="1"/>
          <p:nvPr>
            <p:ph type="title"/>
          </p:nvPr>
        </p:nvSpPr>
        <p:spPr>
          <a:xfrm>
            <a:off x="324000" y="809996"/>
            <a:ext cx="8179200" cy="8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parlour would make the </a:t>
            </a:r>
            <a:r>
              <a:rPr lang="en-GB" sz="1800">
                <a:solidFill>
                  <a:schemeClr val="accent5"/>
                </a:solidFill>
              </a:rPr>
              <a:t>biggest loss</a:t>
            </a:r>
            <a:r>
              <a:rPr lang="en-GB" sz="1800"/>
              <a:t> if they stopped selling caramel flavour (assuming those customers didn’t buy other flavours)?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7" name="Google Shape;140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000" y="1519150"/>
            <a:ext cx="4943999" cy="330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Parlour A</a:t>
            </a:r>
            <a:endParaRPr sz="2000"/>
          </a:p>
        </p:txBody>
      </p:sp>
      <p:sp>
        <p:nvSpPr>
          <p:cNvPr id="1409" name="Google Shape;140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sp>
        <p:nvSpPr>
          <p:cNvPr id="1410" name="Google Shape;1410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Parlour B</a:t>
            </a:r>
            <a:endParaRPr/>
          </a:p>
        </p:txBody>
      </p:sp>
      <p:sp>
        <p:nvSpPr>
          <p:cNvPr id="1411" name="Google Shape;1411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Parlour C</a:t>
            </a:r>
            <a:endParaRPr/>
          </a:p>
        </p:txBody>
      </p:sp>
      <p:sp>
        <p:nvSpPr>
          <p:cNvPr id="1412" name="Google Shape;1412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Parlour D</a:t>
            </a:r>
            <a:endParaRPr/>
          </a:p>
        </p:txBody>
      </p:sp>
      <p:pic>
        <p:nvPicPr>
          <p:cNvPr id="1413" name="Google Shape;1413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49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00"/>
          <p:cNvSpPr txBox="1"/>
          <p:nvPr>
            <p:ph idx="1" type="body"/>
          </p:nvPr>
        </p:nvSpPr>
        <p:spPr>
          <a:xfrm>
            <a:off x="324000" y="759300"/>
            <a:ext cx="8237700" cy="6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pie chart shows data (by the ONS) from a survey in 2021 about how people </a:t>
            </a:r>
            <a:br>
              <a:rPr lang="en-GB" sz="1600"/>
            </a:br>
            <a:r>
              <a:rPr lang="en-GB" sz="1600"/>
              <a:t>    travel to work in the City of London. </a:t>
            </a:r>
            <a:endParaRPr sz="1600"/>
          </a:p>
        </p:txBody>
      </p:sp>
      <p:sp>
        <p:nvSpPr>
          <p:cNvPr id="1419" name="Google Shape;1419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pic>
        <p:nvPicPr>
          <p:cNvPr id="1420" name="Google Shape;142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967" y="2464802"/>
            <a:ext cx="575956" cy="664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1" name="Google Shape;1421;p100"/>
          <p:cNvGrpSpPr/>
          <p:nvPr/>
        </p:nvGrpSpPr>
        <p:grpSpPr>
          <a:xfrm>
            <a:off x="5227619" y="1379525"/>
            <a:ext cx="2079380" cy="2095700"/>
            <a:chOff x="1847519" y="1684300"/>
            <a:chExt cx="2079380" cy="2095700"/>
          </a:xfrm>
        </p:grpSpPr>
        <p:pic>
          <p:nvPicPr>
            <p:cNvPr id="1422" name="Google Shape;1422;p100"/>
            <p:cNvPicPr preferRelativeResize="0"/>
            <p:nvPr/>
          </p:nvPicPr>
          <p:blipFill rotWithShape="1">
            <a:blip r:embed="rId4">
              <a:alphaModFix/>
            </a:blip>
            <a:srcRect b="4863" l="937" r="6229" t="876"/>
            <a:stretch/>
          </p:blipFill>
          <p:spPr>
            <a:xfrm>
              <a:off x="1847519" y="1684300"/>
              <a:ext cx="2079380" cy="209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3" name="Google Shape;1423;p100"/>
            <p:cNvSpPr/>
            <p:nvPr/>
          </p:nvSpPr>
          <p:spPr>
            <a:xfrm>
              <a:off x="1847519" y="1692450"/>
              <a:ext cx="2079300" cy="2079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4" name="Google Shape;1424;p100"/>
          <p:cNvSpPr txBox="1"/>
          <p:nvPr>
            <p:ph idx="1" type="body"/>
          </p:nvPr>
        </p:nvSpPr>
        <p:spPr>
          <a:xfrm>
            <a:off x="7149600" y="1379525"/>
            <a:ext cx="1803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underground rail</a:t>
            </a:r>
            <a:endParaRPr sz="1600"/>
          </a:p>
        </p:txBody>
      </p:sp>
      <p:sp>
        <p:nvSpPr>
          <p:cNvPr id="1425" name="Google Shape;1425;p100"/>
          <p:cNvSpPr txBox="1"/>
          <p:nvPr>
            <p:ph idx="1" type="body"/>
          </p:nvPr>
        </p:nvSpPr>
        <p:spPr>
          <a:xfrm>
            <a:off x="7500150" y="2202500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train</a:t>
            </a:r>
            <a:endParaRPr sz="1600"/>
          </a:p>
        </p:txBody>
      </p:sp>
      <p:sp>
        <p:nvSpPr>
          <p:cNvPr id="1426" name="Google Shape;1426;p100"/>
          <p:cNvSpPr txBox="1"/>
          <p:nvPr>
            <p:ph idx="1" type="body"/>
          </p:nvPr>
        </p:nvSpPr>
        <p:spPr>
          <a:xfrm>
            <a:off x="7385850" y="2711250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bus</a:t>
            </a:r>
            <a:endParaRPr sz="1600"/>
          </a:p>
        </p:txBody>
      </p:sp>
      <p:sp>
        <p:nvSpPr>
          <p:cNvPr id="1427" name="Google Shape;1427;p100"/>
          <p:cNvSpPr txBox="1"/>
          <p:nvPr>
            <p:ph idx="1" type="body"/>
          </p:nvPr>
        </p:nvSpPr>
        <p:spPr>
          <a:xfrm>
            <a:off x="7307000" y="3135226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taxi</a:t>
            </a:r>
            <a:endParaRPr sz="1600"/>
          </a:p>
        </p:txBody>
      </p:sp>
      <p:sp>
        <p:nvSpPr>
          <p:cNvPr id="1428" name="Google Shape;1428;p100"/>
          <p:cNvSpPr txBox="1"/>
          <p:nvPr>
            <p:ph idx="1" type="body"/>
          </p:nvPr>
        </p:nvSpPr>
        <p:spPr>
          <a:xfrm>
            <a:off x="6957900" y="3392975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car</a:t>
            </a:r>
            <a:endParaRPr sz="1600"/>
          </a:p>
        </p:txBody>
      </p:sp>
      <p:sp>
        <p:nvSpPr>
          <p:cNvPr id="1429" name="Google Shape;1429;p100"/>
          <p:cNvSpPr txBox="1"/>
          <p:nvPr>
            <p:ph idx="1" type="body"/>
          </p:nvPr>
        </p:nvSpPr>
        <p:spPr>
          <a:xfrm>
            <a:off x="5979313" y="3663400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cycle</a:t>
            </a:r>
            <a:endParaRPr sz="1600"/>
          </a:p>
        </p:txBody>
      </p:sp>
      <p:sp>
        <p:nvSpPr>
          <p:cNvPr id="1430" name="Google Shape;1430;p100"/>
          <p:cNvSpPr txBox="1"/>
          <p:nvPr>
            <p:ph idx="1" type="body"/>
          </p:nvPr>
        </p:nvSpPr>
        <p:spPr>
          <a:xfrm>
            <a:off x="4870188" y="3198325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walk</a:t>
            </a:r>
            <a:endParaRPr sz="1600"/>
          </a:p>
        </p:txBody>
      </p:sp>
      <p:sp>
        <p:nvSpPr>
          <p:cNvPr id="1431" name="Google Shape;1431;p100"/>
          <p:cNvSpPr txBox="1"/>
          <p:nvPr>
            <p:ph idx="1" type="body"/>
          </p:nvPr>
        </p:nvSpPr>
        <p:spPr>
          <a:xfrm>
            <a:off x="6386775" y="1777350"/>
            <a:ext cx="472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21%</a:t>
            </a:r>
            <a:endParaRPr sz="1600">
              <a:solidFill>
                <a:schemeClr val="lt1"/>
              </a:solidFill>
            </a:endParaRPr>
          </a:p>
        </p:txBody>
      </p:sp>
      <p:cxnSp>
        <p:nvCxnSpPr>
          <p:cNvPr id="1432" name="Google Shape;1432;p100"/>
          <p:cNvCxnSpPr>
            <a:stCxn id="1424" idx="1"/>
          </p:cNvCxnSpPr>
          <p:nvPr/>
        </p:nvCxnSpPr>
        <p:spPr>
          <a:xfrm flipH="1">
            <a:off x="6934200" y="1548125"/>
            <a:ext cx="215400" cy="16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3" name="Google Shape;1433;p100"/>
          <p:cNvCxnSpPr>
            <a:stCxn id="1425" idx="1"/>
          </p:cNvCxnSpPr>
          <p:nvPr/>
        </p:nvCxnSpPr>
        <p:spPr>
          <a:xfrm flipH="1">
            <a:off x="7220250" y="2371100"/>
            <a:ext cx="279900" cy="3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100"/>
          <p:cNvCxnSpPr>
            <a:stCxn id="1426" idx="1"/>
          </p:cNvCxnSpPr>
          <p:nvPr/>
        </p:nvCxnSpPr>
        <p:spPr>
          <a:xfrm rot="10800000">
            <a:off x="7105950" y="2795250"/>
            <a:ext cx="279900" cy="8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100"/>
          <p:cNvCxnSpPr/>
          <p:nvPr/>
        </p:nvCxnSpPr>
        <p:spPr>
          <a:xfrm rot="10800000">
            <a:off x="7053325" y="3012025"/>
            <a:ext cx="250800" cy="18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100"/>
          <p:cNvCxnSpPr/>
          <p:nvPr/>
        </p:nvCxnSpPr>
        <p:spPr>
          <a:xfrm rot="10800000">
            <a:off x="6825475" y="3242475"/>
            <a:ext cx="148500" cy="21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100"/>
          <p:cNvCxnSpPr>
            <a:stCxn id="1429" idx="0"/>
          </p:cNvCxnSpPr>
          <p:nvPr/>
        </p:nvCxnSpPr>
        <p:spPr>
          <a:xfrm rot="10800000">
            <a:off x="6251113" y="3393100"/>
            <a:ext cx="16200" cy="27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100"/>
          <p:cNvCxnSpPr/>
          <p:nvPr/>
        </p:nvCxnSpPr>
        <p:spPr>
          <a:xfrm flipH="1" rot="10800000">
            <a:off x="5349800" y="3076575"/>
            <a:ext cx="162000" cy="1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100"/>
          <p:cNvSpPr txBox="1"/>
          <p:nvPr>
            <p:ph idx="1" type="body"/>
          </p:nvPr>
        </p:nvSpPr>
        <p:spPr>
          <a:xfrm>
            <a:off x="542800" y="3778375"/>
            <a:ext cx="34467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Explain why Alex could be wrong.</a:t>
            </a:r>
            <a:endParaRPr sz="1600"/>
          </a:p>
        </p:txBody>
      </p:sp>
      <p:sp>
        <p:nvSpPr>
          <p:cNvPr id="1440" name="Google Shape;1440;p100"/>
          <p:cNvSpPr/>
          <p:nvPr/>
        </p:nvSpPr>
        <p:spPr>
          <a:xfrm>
            <a:off x="1334300" y="1790550"/>
            <a:ext cx="3446700" cy="1514100"/>
          </a:xfrm>
          <a:prstGeom prst="wedgeRoundRectCallout">
            <a:avLst>
              <a:gd fmla="val -57094" name="adj1"/>
              <a:gd fmla="val 28669" name="adj2"/>
              <a:gd fmla="val 0" name="adj3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If we use this data from London as a sample then we can conclude that around 21% of people in the UK also travel to work by underground rail.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100"/>
          <p:cNvSpPr txBox="1"/>
          <p:nvPr>
            <p:ph idx="1" type="body"/>
          </p:nvPr>
        </p:nvSpPr>
        <p:spPr>
          <a:xfrm>
            <a:off x="534150" y="3129000"/>
            <a:ext cx="5760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01"/>
          <p:cNvSpPr txBox="1"/>
          <p:nvPr>
            <p:ph idx="1" type="body"/>
          </p:nvPr>
        </p:nvSpPr>
        <p:spPr>
          <a:xfrm>
            <a:off x="324000" y="759300"/>
            <a:ext cx="8237700" cy="6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The table shows data from the ONS about the number of property sales each </a:t>
            </a:r>
            <a:br>
              <a:rPr lang="en-GB" sz="1600"/>
            </a:br>
            <a:r>
              <a:rPr lang="en-GB" sz="1600"/>
              <a:t>    year in Liverpool. </a:t>
            </a:r>
            <a:endParaRPr sz="1600"/>
          </a:p>
        </p:txBody>
      </p:sp>
      <p:sp>
        <p:nvSpPr>
          <p:cNvPr id="1447" name="Google Shape;1447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pic>
        <p:nvPicPr>
          <p:cNvPr id="1448" name="Google Shape;144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5501" y="1926250"/>
            <a:ext cx="472775" cy="609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9" name="Google Shape;1449;p101"/>
          <p:cNvGraphicFramePr/>
          <p:nvPr/>
        </p:nvGraphicFramePr>
        <p:xfrm>
          <a:off x="541025" y="152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983900"/>
                <a:gridCol w="1288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properties sold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0" name="Google Shape;1450;p101"/>
          <p:cNvSpPr txBox="1"/>
          <p:nvPr>
            <p:ph idx="1" type="body"/>
          </p:nvPr>
        </p:nvSpPr>
        <p:spPr>
          <a:xfrm>
            <a:off x="3125775" y="1528925"/>
            <a:ext cx="57936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Andeep concludes that most cities in the UK must sell </a:t>
            </a:r>
            <a:br>
              <a:rPr lang="en-GB" sz="1600"/>
            </a:br>
            <a:r>
              <a:rPr lang="en-GB" sz="1600"/>
              <a:t>    around 5837 properties per year.</a:t>
            </a:r>
            <a:br>
              <a:rPr lang="en-GB" sz="1600"/>
            </a:br>
            <a:r>
              <a:rPr lang="en-GB" sz="1600"/>
              <a:t>    Explain why Andeep could be wrong.</a:t>
            </a:r>
            <a:endParaRPr sz="1600"/>
          </a:p>
        </p:txBody>
      </p:sp>
      <p:sp>
        <p:nvSpPr>
          <p:cNvPr id="1451" name="Google Shape;1451;p101"/>
          <p:cNvSpPr txBox="1"/>
          <p:nvPr>
            <p:ph idx="1" type="body"/>
          </p:nvPr>
        </p:nvSpPr>
        <p:spPr>
          <a:xfrm>
            <a:off x="3125775" y="3311925"/>
            <a:ext cx="56943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Laura concludes that Liverpool will always sell around </a:t>
            </a:r>
            <a:br>
              <a:rPr lang="en-GB" sz="1600"/>
            </a:br>
            <a:r>
              <a:rPr lang="en-GB" sz="1600"/>
              <a:t>    5837 properties every year.</a:t>
            </a:r>
            <a:br>
              <a:rPr lang="en-GB" sz="1600"/>
            </a:br>
            <a:r>
              <a:rPr lang="en-GB" sz="1600"/>
              <a:t>    Explain why Laura could be wrong.</a:t>
            </a:r>
            <a:endParaRPr sz="1600"/>
          </a:p>
        </p:txBody>
      </p:sp>
      <p:pic>
        <p:nvPicPr>
          <p:cNvPr id="1452" name="Google Shape;145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65501" y="3705647"/>
            <a:ext cx="507132" cy="66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pie chart shows data (by the ONS) from a survey in 2021 about how people </a:t>
            </a:r>
            <a:br>
              <a:rPr lang="en-GB" sz="1600"/>
            </a:br>
            <a:r>
              <a:rPr lang="en-GB" sz="1600"/>
              <a:t>    travel to work in the City of London. </a:t>
            </a:r>
            <a:endParaRPr sz="1600"/>
          </a:p>
        </p:txBody>
      </p:sp>
      <p:sp>
        <p:nvSpPr>
          <p:cNvPr id="1458" name="Google Shape;145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pic>
        <p:nvPicPr>
          <p:cNvPr id="1459" name="Google Shape;145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967" y="2464802"/>
            <a:ext cx="575956" cy="664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0" name="Google Shape;1460;p102"/>
          <p:cNvGrpSpPr/>
          <p:nvPr/>
        </p:nvGrpSpPr>
        <p:grpSpPr>
          <a:xfrm>
            <a:off x="5227619" y="1379525"/>
            <a:ext cx="2079380" cy="2095700"/>
            <a:chOff x="1847519" y="1684300"/>
            <a:chExt cx="2079380" cy="2095700"/>
          </a:xfrm>
        </p:grpSpPr>
        <p:pic>
          <p:nvPicPr>
            <p:cNvPr id="1461" name="Google Shape;1461;p102"/>
            <p:cNvPicPr preferRelativeResize="0"/>
            <p:nvPr/>
          </p:nvPicPr>
          <p:blipFill rotWithShape="1">
            <a:blip r:embed="rId4">
              <a:alphaModFix/>
            </a:blip>
            <a:srcRect b="4863" l="937" r="6229" t="876"/>
            <a:stretch/>
          </p:blipFill>
          <p:spPr>
            <a:xfrm>
              <a:off x="1847519" y="1684300"/>
              <a:ext cx="2079380" cy="209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2" name="Google Shape;1462;p102"/>
            <p:cNvSpPr/>
            <p:nvPr/>
          </p:nvSpPr>
          <p:spPr>
            <a:xfrm>
              <a:off x="1847519" y="1692450"/>
              <a:ext cx="2079300" cy="2079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3" name="Google Shape;1463;p102"/>
          <p:cNvSpPr txBox="1"/>
          <p:nvPr>
            <p:ph idx="1" type="body"/>
          </p:nvPr>
        </p:nvSpPr>
        <p:spPr>
          <a:xfrm>
            <a:off x="7149600" y="1379525"/>
            <a:ext cx="1803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underground rail</a:t>
            </a:r>
            <a:endParaRPr sz="1600"/>
          </a:p>
        </p:txBody>
      </p:sp>
      <p:sp>
        <p:nvSpPr>
          <p:cNvPr id="1464" name="Google Shape;1464;p102"/>
          <p:cNvSpPr txBox="1"/>
          <p:nvPr>
            <p:ph idx="1" type="body"/>
          </p:nvPr>
        </p:nvSpPr>
        <p:spPr>
          <a:xfrm>
            <a:off x="7500150" y="2202500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train</a:t>
            </a:r>
            <a:endParaRPr sz="1600"/>
          </a:p>
        </p:txBody>
      </p:sp>
      <p:sp>
        <p:nvSpPr>
          <p:cNvPr id="1465" name="Google Shape;1465;p102"/>
          <p:cNvSpPr txBox="1"/>
          <p:nvPr>
            <p:ph idx="1" type="body"/>
          </p:nvPr>
        </p:nvSpPr>
        <p:spPr>
          <a:xfrm>
            <a:off x="7385850" y="2711250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bus</a:t>
            </a:r>
            <a:endParaRPr sz="1600"/>
          </a:p>
        </p:txBody>
      </p:sp>
      <p:sp>
        <p:nvSpPr>
          <p:cNvPr id="1466" name="Google Shape;1466;p102"/>
          <p:cNvSpPr txBox="1"/>
          <p:nvPr>
            <p:ph idx="1" type="body"/>
          </p:nvPr>
        </p:nvSpPr>
        <p:spPr>
          <a:xfrm>
            <a:off x="7307000" y="3135226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taxi</a:t>
            </a:r>
            <a:endParaRPr sz="1600"/>
          </a:p>
        </p:txBody>
      </p:sp>
      <p:sp>
        <p:nvSpPr>
          <p:cNvPr id="1467" name="Google Shape;1467;p102"/>
          <p:cNvSpPr txBox="1"/>
          <p:nvPr>
            <p:ph idx="1" type="body"/>
          </p:nvPr>
        </p:nvSpPr>
        <p:spPr>
          <a:xfrm>
            <a:off x="6957900" y="3392975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car</a:t>
            </a:r>
            <a:endParaRPr sz="1600"/>
          </a:p>
        </p:txBody>
      </p:sp>
      <p:sp>
        <p:nvSpPr>
          <p:cNvPr id="1468" name="Google Shape;1468;p102"/>
          <p:cNvSpPr txBox="1"/>
          <p:nvPr>
            <p:ph idx="1" type="body"/>
          </p:nvPr>
        </p:nvSpPr>
        <p:spPr>
          <a:xfrm>
            <a:off x="5979313" y="3663400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cycle</a:t>
            </a:r>
            <a:endParaRPr sz="1600"/>
          </a:p>
        </p:txBody>
      </p:sp>
      <p:sp>
        <p:nvSpPr>
          <p:cNvPr id="1469" name="Google Shape;1469;p102"/>
          <p:cNvSpPr txBox="1"/>
          <p:nvPr>
            <p:ph idx="1" type="body"/>
          </p:nvPr>
        </p:nvSpPr>
        <p:spPr>
          <a:xfrm>
            <a:off x="4870188" y="3198325"/>
            <a:ext cx="57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walk</a:t>
            </a:r>
            <a:endParaRPr sz="1600"/>
          </a:p>
        </p:txBody>
      </p:sp>
      <p:sp>
        <p:nvSpPr>
          <p:cNvPr id="1470" name="Google Shape;1470;p102"/>
          <p:cNvSpPr txBox="1"/>
          <p:nvPr>
            <p:ph idx="1" type="body"/>
          </p:nvPr>
        </p:nvSpPr>
        <p:spPr>
          <a:xfrm>
            <a:off x="6386775" y="1777350"/>
            <a:ext cx="472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21%</a:t>
            </a:r>
            <a:endParaRPr sz="1600">
              <a:solidFill>
                <a:schemeClr val="lt1"/>
              </a:solidFill>
            </a:endParaRPr>
          </a:p>
        </p:txBody>
      </p:sp>
      <p:cxnSp>
        <p:nvCxnSpPr>
          <p:cNvPr id="1471" name="Google Shape;1471;p102"/>
          <p:cNvCxnSpPr>
            <a:stCxn id="1463" idx="1"/>
          </p:cNvCxnSpPr>
          <p:nvPr/>
        </p:nvCxnSpPr>
        <p:spPr>
          <a:xfrm flipH="1">
            <a:off x="6934200" y="1548125"/>
            <a:ext cx="215400" cy="16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102"/>
          <p:cNvCxnSpPr>
            <a:stCxn id="1464" idx="1"/>
          </p:cNvCxnSpPr>
          <p:nvPr/>
        </p:nvCxnSpPr>
        <p:spPr>
          <a:xfrm flipH="1">
            <a:off x="7220250" y="2371100"/>
            <a:ext cx="279900" cy="3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102"/>
          <p:cNvCxnSpPr>
            <a:stCxn id="1465" idx="1"/>
          </p:cNvCxnSpPr>
          <p:nvPr/>
        </p:nvCxnSpPr>
        <p:spPr>
          <a:xfrm rot="10800000">
            <a:off x="7105950" y="2795250"/>
            <a:ext cx="279900" cy="8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102"/>
          <p:cNvCxnSpPr/>
          <p:nvPr/>
        </p:nvCxnSpPr>
        <p:spPr>
          <a:xfrm rot="10800000">
            <a:off x="7053325" y="3012025"/>
            <a:ext cx="250800" cy="18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102"/>
          <p:cNvCxnSpPr/>
          <p:nvPr/>
        </p:nvCxnSpPr>
        <p:spPr>
          <a:xfrm rot="10800000">
            <a:off x="6825475" y="3242475"/>
            <a:ext cx="148500" cy="21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102"/>
          <p:cNvCxnSpPr>
            <a:stCxn id="1468" idx="0"/>
          </p:cNvCxnSpPr>
          <p:nvPr/>
        </p:nvCxnSpPr>
        <p:spPr>
          <a:xfrm rot="10800000">
            <a:off x="6251113" y="3393100"/>
            <a:ext cx="16200" cy="27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102"/>
          <p:cNvCxnSpPr/>
          <p:nvPr/>
        </p:nvCxnSpPr>
        <p:spPr>
          <a:xfrm flipH="1" rot="10800000">
            <a:off x="5349800" y="3076575"/>
            <a:ext cx="162000" cy="1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8" name="Google Shape;1478;p102"/>
          <p:cNvSpPr txBox="1"/>
          <p:nvPr>
            <p:ph idx="1" type="body"/>
          </p:nvPr>
        </p:nvSpPr>
        <p:spPr>
          <a:xfrm>
            <a:off x="542800" y="3625975"/>
            <a:ext cx="34467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Explain why Alex could be wrong.</a:t>
            </a:r>
            <a:endParaRPr sz="1600"/>
          </a:p>
        </p:txBody>
      </p:sp>
      <p:sp>
        <p:nvSpPr>
          <p:cNvPr id="1479" name="Google Shape;1479;p102"/>
          <p:cNvSpPr/>
          <p:nvPr/>
        </p:nvSpPr>
        <p:spPr>
          <a:xfrm>
            <a:off x="1334300" y="1790550"/>
            <a:ext cx="3446700" cy="1514100"/>
          </a:xfrm>
          <a:prstGeom prst="wedgeRoundRectCallout">
            <a:avLst>
              <a:gd fmla="val -57094" name="adj1"/>
              <a:gd fmla="val 28669" name="adj2"/>
              <a:gd fmla="val 0" name="adj3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If we use this data from London as a sample then we can conclude that around 21% of people in the UK also travel to work by underground rail.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02"/>
          <p:cNvSpPr txBox="1"/>
          <p:nvPr>
            <p:ph idx="1" type="body"/>
          </p:nvPr>
        </p:nvSpPr>
        <p:spPr>
          <a:xfrm>
            <a:off x="534150" y="3129000"/>
            <a:ext cx="5760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  <p:sp>
        <p:nvSpPr>
          <p:cNvPr id="1481" name="Google Shape;1481;p102"/>
          <p:cNvSpPr txBox="1"/>
          <p:nvPr>
            <p:ph idx="4294967295" type="body"/>
          </p:nvPr>
        </p:nvSpPr>
        <p:spPr>
          <a:xfrm>
            <a:off x="534150" y="3935060"/>
            <a:ext cx="57171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sample only uses data from a single location.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2" name="Google Shape;1482;p102"/>
          <p:cNvSpPr txBox="1"/>
          <p:nvPr>
            <p:ph idx="4294967295" type="body"/>
          </p:nvPr>
        </p:nvSpPr>
        <p:spPr>
          <a:xfrm>
            <a:off x="534150" y="4239860"/>
            <a:ext cx="78912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Modes of transport may differ depending on whether they live in a town or city.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3" name="Google Shape;1483;p102"/>
          <p:cNvSpPr txBox="1"/>
          <p:nvPr>
            <p:ph idx="4294967295" type="body"/>
          </p:nvPr>
        </p:nvSpPr>
        <p:spPr>
          <a:xfrm>
            <a:off x="534150" y="4544660"/>
            <a:ext cx="78912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Not all towns and cities have an underground rail network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The table shows data from the ONS about the number of property sales each </a:t>
            </a:r>
            <a:br>
              <a:rPr lang="en-GB" sz="1600"/>
            </a:br>
            <a:r>
              <a:rPr lang="en-GB" sz="1600"/>
              <a:t>    year in Liverpool. </a:t>
            </a:r>
            <a:endParaRPr sz="1600"/>
          </a:p>
        </p:txBody>
      </p:sp>
      <p:sp>
        <p:nvSpPr>
          <p:cNvPr id="1489" name="Google Shape;1489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pic>
        <p:nvPicPr>
          <p:cNvPr id="1490" name="Google Shape;149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5501" y="1926250"/>
            <a:ext cx="472775" cy="609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1" name="Google Shape;1491;p103"/>
          <p:cNvGraphicFramePr/>
          <p:nvPr/>
        </p:nvGraphicFramePr>
        <p:xfrm>
          <a:off x="541025" y="152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983900"/>
                <a:gridCol w="1288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properties sold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92" name="Google Shape;1492;p103"/>
          <p:cNvSpPr txBox="1"/>
          <p:nvPr>
            <p:ph idx="1" type="body"/>
          </p:nvPr>
        </p:nvSpPr>
        <p:spPr>
          <a:xfrm>
            <a:off x="3125775" y="1528925"/>
            <a:ext cx="57936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Andeep concludes that most cities in the UK must sell </a:t>
            </a:r>
            <a:br>
              <a:rPr lang="en-GB" sz="1600"/>
            </a:br>
            <a:r>
              <a:rPr lang="en-GB" sz="1600"/>
              <a:t>    around 5837 properties per year.</a:t>
            </a:r>
            <a:br>
              <a:rPr lang="en-GB" sz="1600"/>
            </a:br>
            <a:r>
              <a:rPr lang="en-GB" sz="1600"/>
              <a:t>    Explain why Andeep could be wrong.</a:t>
            </a:r>
            <a:endParaRPr sz="1600"/>
          </a:p>
        </p:txBody>
      </p:sp>
      <p:sp>
        <p:nvSpPr>
          <p:cNvPr id="1493" name="Google Shape;1493;p103"/>
          <p:cNvSpPr txBox="1"/>
          <p:nvPr>
            <p:ph idx="4294967295" type="body"/>
          </p:nvPr>
        </p:nvSpPr>
        <p:spPr>
          <a:xfrm>
            <a:off x="3369600" y="2464400"/>
            <a:ext cx="4829700" cy="144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Cities vary in size.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Bigger cities may sell more properties each year.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Smaller cities may sell few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properties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each year.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The table shows data from the ONS about the number of property sales each </a:t>
            </a:r>
            <a:br>
              <a:rPr lang="en-GB" sz="1600"/>
            </a:br>
            <a:r>
              <a:rPr lang="en-GB" sz="1600"/>
              <a:t>    year in Liverpool. </a:t>
            </a:r>
            <a:endParaRPr sz="1600"/>
          </a:p>
        </p:txBody>
      </p:sp>
      <p:sp>
        <p:nvSpPr>
          <p:cNvPr id="1499" name="Google Shape;1499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Acknowledging limitations and problems with conclusions</a:t>
            </a:r>
            <a:endParaRPr/>
          </a:p>
        </p:txBody>
      </p:sp>
      <p:graphicFrame>
        <p:nvGraphicFramePr>
          <p:cNvPr id="1500" name="Google Shape;1500;p104"/>
          <p:cNvGraphicFramePr/>
          <p:nvPr/>
        </p:nvGraphicFramePr>
        <p:xfrm>
          <a:off x="541025" y="152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{B664FB56-EB7A-40D5-9F41-076C35503622}</a:tableStyleId>
              </a:tblPr>
              <a:tblGrid>
                <a:gridCol w="983900"/>
                <a:gridCol w="1288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properties sold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1" name="Google Shape;1501;p104"/>
          <p:cNvSpPr txBox="1"/>
          <p:nvPr>
            <p:ph idx="1" type="body"/>
          </p:nvPr>
        </p:nvSpPr>
        <p:spPr>
          <a:xfrm>
            <a:off x="3125775" y="1483125"/>
            <a:ext cx="56943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Laura concludes that Liverpool will always sell around </a:t>
            </a:r>
            <a:br>
              <a:rPr lang="en-GB" sz="1600"/>
            </a:br>
            <a:r>
              <a:rPr lang="en-GB" sz="1600"/>
              <a:t>    5837 properties every year.</a:t>
            </a:r>
            <a:br>
              <a:rPr lang="en-GB" sz="1600"/>
            </a:br>
            <a:r>
              <a:rPr lang="en-GB" sz="1600"/>
              <a:t>    Explain why Laura could be wrong.</a:t>
            </a:r>
            <a:endParaRPr sz="1600"/>
          </a:p>
        </p:txBody>
      </p:sp>
      <p:pic>
        <p:nvPicPr>
          <p:cNvPr id="1502" name="Google Shape;150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265501" y="1876847"/>
            <a:ext cx="507132" cy="66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104"/>
          <p:cNvSpPr txBox="1"/>
          <p:nvPr>
            <p:ph idx="4294967295" type="body"/>
          </p:nvPr>
        </p:nvSpPr>
        <p:spPr>
          <a:xfrm>
            <a:off x="3369600" y="2540600"/>
            <a:ext cx="5450400" cy="19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number of property sales might change in the future (e.g. if the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population increases or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more houses are built).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2020 had an unusually low number of sales.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05"/>
          <p:cNvSpPr txBox="1"/>
          <p:nvPr>
            <p:ph idx="1" type="body"/>
          </p:nvPr>
        </p:nvSpPr>
        <p:spPr>
          <a:xfrm>
            <a:off x="324000" y="1080000"/>
            <a:ext cx="83667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Conclusions can be drawn from statistical summaries and graphical representations.</a:t>
            </a:r>
            <a:br>
              <a:rPr lang="en-GB" sz="2000"/>
            </a:br>
            <a:endParaRPr sz="1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Care should be taken not to over generalise the results from a statistical investigation.</a:t>
            </a:r>
            <a:br>
              <a:rPr lang="en-GB" sz="2000"/>
            </a:br>
            <a:endParaRPr sz="1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Conclusions</a:t>
            </a:r>
            <a:r>
              <a:rPr lang="en-GB" sz="2000"/>
              <a:t> are </a:t>
            </a:r>
            <a:r>
              <a:rPr lang="en-GB" sz="2000"/>
              <a:t>understood</a:t>
            </a:r>
            <a:r>
              <a:rPr lang="en-GB" sz="2000"/>
              <a:t> to be limited by any biases.</a:t>
            </a:r>
            <a:br>
              <a:rPr lang="en-GB" sz="2000"/>
            </a:br>
            <a:endParaRPr sz="1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Conclusions may only be valid for this sample of data.</a:t>
            </a:r>
            <a:br>
              <a:rPr lang="en-GB" sz="2000"/>
            </a:br>
            <a:endParaRPr sz="1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Context may be important for determining the outcome of a statistical investigation.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drawing conclusions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15" name="Google Shape;1515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