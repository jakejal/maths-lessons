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0EE8FAE-72F2-4BCC-8117-83F99DCF6F92}">
  <a:tblStyle styleId="{00EE8FAE-72F2-4BCC-8117-83F99DCF6F9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eb5cd49ee5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1eb5cd49e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eb5cd49ee5_0_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1eb5cd49ee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11" Type="http://schemas.openxmlformats.org/officeDocument/2006/relationships/image" Target="../media/image16.png"/><Relationship Id="rId10" Type="http://schemas.openxmlformats.org/officeDocument/2006/relationships/image" Target="../media/image13.png"/><Relationship Id="rId9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21.png"/><Relationship Id="rId5" Type="http://schemas.openxmlformats.org/officeDocument/2006/relationships/image" Target="../media/image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2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Analysing different statistical representations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723950"/>
            <a:ext cx="29481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Which of these summary statistic values is applicable to bar charts  a, b, c, d, or any combination of them?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4" name="Google Shape;164;p20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6102" y="1726549"/>
            <a:ext cx="1823013" cy="1451372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5" name="Google Shape;165;p20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8991" y="3207822"/>
            <a:ext cx="1823008" cy="1451387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6" name="Google Shape;166;p20"/>
          <p:cNvSpPr txBox="1"/>
          <p:nvPr/>
        </p:nvSpPr>
        <p:spPr>
          <a:xfrm>
            <a:off x="468000" y="1391250"/>
            <a:ext cx="66240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Comparing summary statistics to statistical graphs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7" name="Google Shape;167;p20"/>
          <p:cNvGraphicFramePr/>
          <p:nvPr/>
        </p:nvGraphicFramePr>
        <p:xfrm>
          <a:off x="271125" y="2698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{00EE8FAE-72F2-4BCC-8117-83F99DCF6F92}</a:tableStyleId>
              </a:tblPr>
              <a:tblGrid>
                <a:gridCol w="895775"/>
                <a:gridCol w="576025"/>
                <a:gridCol w="378525"/>
                <a:gridCol w="378525"/>
                <a:gridCol w="378525"/>
                <a:gridCol w="3785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68" name="Google Shape;168;p20" title="Char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16100" y="3207816"/>
            <a:ext cx="1823008" cy="1451387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9" name="Google Shape;169;p20" title="Char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68991" y="1726549"/>
            <a:ext cx="1823008" cy="1451387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70" name="Google Shape;170;p20"/>
          <p:cNvGrpSpPr/>
          <p:nvPr/>
        </p:nvGrpSpPr>
        <p:grpSpPr>
          <a:xfrm>
            <a:off x="5043877" y="1723890"/>
            <a:ext cx="193807" cy="193807"/>
            <a:chOff x="1020916" y="1442088"/>
            <a:chExt cx="457200" cy="457200"/>
          </a:xfrm>
        </p:grpSpPr>
        <p:pic>
          <p:nvPicPr>
            <p:cNvPr id="171" name="Google Shape;171;p2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3" name="Google Shape;173;p20"/>
          <p:cNvGrpSpPr/>
          <p:nvPr/>
        </p:nvGrpSpPr>
        <p:grpSpPr>
          <a:xfrm>
            <a:off x="6898125" y="1723890"/>
            <a:ext cx="193807" cy="193807"/>
            <a:chOff x="1020916" y="1442088"/>
            <a:chExt cx="457200" cy="457200"/>
          </a:xfrm>
        </p:grpSpPr>
        <p:pic>
          <p:nvPicPr>
            <p:cNvPr id="174" name="Google Shape;174;p2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" name="Google Shape;175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6" name="Google Shape;176;p20"/>
          <p:cNvGrpSpPr/>
          <p:nvPr/>
        </p:nvGrpSpPr>
        <p:grpSpPr>
          <a:xfrm>
            <a:off x="5043877" y="3207758"/>
            <a:ext cx="193807" cy="193807"/>
            <a:chOff x="1020916" y="1442088"/>
            <a:chExt cx="457200" cy="457200"/>
          </a:xfrm>
        </p:grpSpPr>
        <p:pic>
          <p:nvPicPr>
            <p:cNvPr id="177" name="Google Shape;177;p2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" name="Google Shape;178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9" name="Google Shape;179;p20"/>
          <p:cNvGrpSpPr/>
          <p:nvPr/>
        </p:nvGrpSpPr>
        <p:grpSpPr>
          <a:xfrm>
            <a:off x="6898125" y="3207758"/>
            <a:ext cx="193807" cy="193807"/>
            <a:chOff x="1020916" y="1442088"/>
            <a:chExt cx="457200" cy="457200"/>
          </a:xfrm>
        </p:grpSpPr>
        <p:pic>
          <p:nvPicPr>
            <p:cNvPr id="180" name="Google Shape;180;p2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" name="Google Shape;181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2" name="Google Shape;182;p20" title="Chart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8000" y="5553118"/>
            <a:ext cx="1804217" cy="14364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3" name="Google Shape;183;p20"/>
          <p:cNvSpPr txBox="1"/>
          <p:nvPr/>
        </p:nvSpPr>
        <p:spPr>
          <a:xfrm>
            <a:off x="4203550" y="5553000"/>
            <a:ext cx="28884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Each summary statistic below matches with a pair of bar charts. For each summary statistic, write down its value and the names of the two classes it represents.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4" name="Google Shape;184;p20"/>
          <p:cNvGrpSpPr/>
          <p:nvPr/>
        </p:nvGrpSpPr>
        <p:grpSpPr>
          <a:xfrm>
            <a:off x="742607" y="5552988"/>
            <a:ext cx="772302" cy="287442"/>
            <a:chOff x="1020916" y="1442088"/>
            <a:chExt cx="457200" cy="457200"/>
          </a:xfrm>
        </p:grpSpPr>
        <p:pic>
          <p:nvPicPr>
            <p:cNvPr id="185" name="Google Shape;185;p2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" name="Google Shape;186;p20"/>
            <p:cNvSpPr txBox="1"/>
            <p:nvPr/>
          </p:nvSpPr>
          <p:spPr>
            <a:xfrm>
              <a:off x="1045528" y="154983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score of class a</a:t>
              </a:r>
              <a:endParaRPr b="1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87" name="Google Shape;187;p20"/>
          <p:cNvGraphicFramePr/>
          <p:nvPr/>
        </p:nvGraphicFramePr>
        <p:xfrm>
          <a:off x="4203525" y="669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{00EE8FAE-72F2-4BCC-8117-83F99DCF6F92}</a:tableStyleId>
              </a:tblPr>
              <a:tblGrid>
                <a:gridCol w="895775"/>
                <a:gridCol w="576025"/>
                <a:gridCol w="378525"/>
                <a:gridCol w="3785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88" name="Google Shape;188;p20" title="Chart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8000" y="7053133"/>
            <a:ext cx="1804217" cy="14364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9" name="Google Shape;189;p20" title="Chart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35783" y="7053133"/>
            <a:ext cx="1804217" cy="14364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0" name="Google Shape;190;p20" title="Chart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335783" y="5553118"/>
            <a:ext cx="1804217" cy="14364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91" name="Google Shape;191;p20"/>
          <p:cNvGrpSpPr/>
          <p:nvPr/>
        </p:nvGrpSpPr>
        <p:grpSpPr>
          <a:xfrm>
            <a:off x="2604140" y="5552988"/>
            <a:ext cx="772302" cy="287442"/>
            <a:chOff x="1020916" y="1442088"/>
            <a:chExt cx="457200" cy="457200"/>
          </a:xfrm>
        </p:grpSpPr>
        <p:pic>
          <p:nvPicPr>
            <p:cNvPr id="192" name="Google Shape;192;p2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" name="Google Shape;193;p20"/>
            <p:cNvSpPr txBox="1"/>
            <p:nvPr/>
          </p:nvSpPr>
          <p:spPr>
            <a:xfrm>
              <a:off x="1045528" y="154983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score of class b</a:t>
              </a:r>
              <a:endParaRPr b="1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4" name="Google Shape;194;p20"/>
          <p:cNvGrpSpPr/>
          <p:nvPr/>
        </p:nvGrpSpPr>
        <p:grpSpPr>
          <a:xfrm>
            <a:off x="742646" y="7053194"/>
            <a:ext cx="1529608" cy="192984"/>
            <a:chOff x="1020916" y="1442088"/>
            <a:chExt cx="457200" cy="457200"/>
          </a:xfrm>
        </p:grpSpPr>
        <p:pic>
          <p:nvPicPr>
            <p:cNvPr id="195" name="Google Shape;195;p2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20"/>
            <p:cNvSpPr txBox="1"/>
            <p:nvPr/>
          </p:nvSpPr>
          <p:spPr>
            <a:xfrm>
              <a:off x="1045528" y="154983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score of class c</a:t>
              </a:r>
              <a:endParaRPr b="1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7" name="Google Shape;197;p20"/>
          <p:cNvGrpSpPr/>
          <p:nvPr/>
        </p:nvGrpSpPr>
        <p:grpSpPr>
          <a:xfrm>
            <a:off x="2604140" y="7053201"/>
            <a:ext cx="772302" cy="287442"/>
            <a:chOff x="1020916" y="1442088"/>
            <a:chExt cx="457200" cy="457200"/>
          </a:xfrm>
        </p:grpSpPr>
        <p:pic>
          <p:nvPicPr>
            <p:cNvPr id="198" name="Google Shape;198;p2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" name="Google Shape;199;p20"/>
            <p:cNvSpPr txBox="1"/>
            <p:nvPr/>
          </p:nvSpPr>
          <p:spPr>
            <a:xfrm>
              <a:off x="1045528" y="154983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score of class d</a:t>
              </a:r>
              <a:endParaRPr b="1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200" name="Google Shape;200;p20"/>
          <p:cNvGraphicFramePr/>
          <p:nvPr/>
        </p:nvGraphicFramePr>
        <p:xfrm>
          <a:off x="4203525" y="71345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{00EE8FAE-72F2-4BCC-8117-83F99DCF6F92}</a:tableStyleId>
              </a:tblPr>
              <a:tblGrid>
                <a:gridCol w="895775"/>
                <a:gridCol w="576025"/>
                <a:gridCol w="378525"/>
                <a:gridCol w="3785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12.3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1" name="Google Shape;201;p20"/>
          <p:cNvGraphicFramePr/>
          <p:nvPr/>
        </p:nvGraphicFramePr>
        <p:xfrm>
          <a:off x="4203525" y="75709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{00EE8FAE-72F2-4BCC-8117-83F99DCF6F92}</a:tableStyleId>
              </a:tblPr>
              <a:tblGrid>
                <a:gridCol w="895775"/>
                <a:gridCol w="576025"/>
                <a:gridCol w="378525"/>
                <a:gridCol w="3785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2" name="Google Shape;202;p20"/>
          <p:cNvGraphicFramePr/>
          <p:nvPr/>
        </p:nvGraphicFramePr>
        <p:xfrm>
          <a:off x="4203525" y="80074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{00EE8FAE-72F2-4BCC-8117-83F99DCF6F92}</a:tableStyleId>
              </a:tblPr>
              <a:tblGrid>
                <a:gridCol w="895775"/>
                <a:gridCol w="576025"/>
                <a:gridCol w="378525"/>
                <a:gridCol w="3785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3" name="Google Shape;203;p20"/>
          <p:cNvGraphicFramePr/>
          <p:nvPr/>
        </p:nvGraphicFramePr>
        <p:xfrm>
          <a:off x="4203525" y="8443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{00EE8FAE-72F2-4BCC-8117-83F99DCF6F92}</a:tableStyleId>
              </a:tblPr>
              <a:tblGrid>
                <a:gridCol w="895775"/>
                <a:gridCol w="576025"/>
                <a:gridCol w="378525"/>
                <a:gridCol w="3785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Analysing different statistical representations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4316175" y="720000"/>
            <a:ext cx="27759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Place a ✓ by each letter if all summary statistics given accurately represent the corresponding bar chart.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0" name="Google Shape;210;p21"/>
          <p:cNvGraphicFramePr/>
          <p:nvPr/>
        </p:nvGraphicFramePr>
        <p:xfrm>
          <a:off x="4200269" y="165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{00EE8FAE-72F2-4BCC-8117-83F99DCF6F92}</a:tableStyleId>
              </a:tblPr>
              <a:tblGrid>
                <a:gridCol w="822100"/>
                <a:gridCol w="52865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87.4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11" name="Google Shape;211;p21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4003" y="732800"/>
            <a:ext cx="1835996" cy="1461714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2" name="Google Shape;212;p21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732800"/>
            <a:ext cx="1835996" cy="1461699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13" name="Google Shape;213;p21"/>
          <p:cNvGrpSpPr/>
          <p:nvPr/>
        </p:nvGrpSpPr>
        <p:grpSpPr>
          <a:xfrm>
            <a:off x="2114914" y="732863"/>
            <a:ext cx="189144" cy="189144"/>
            <a:chOff x="1020916" y="1442088"/>
            <a:chExt cx="457200" cy="457200"/>
          </a:xfrm>
        </p:grpSpPr>
        <p:pic>
          <p:nvPicPr>
            <p:cNvPr id="214" name="Google Shape;214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5" name="Google Shape;215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6" name="Google Shape;216;p21"/>
          <p:cNvGrpSpPr/>
          <p:nvPr/>
        </p:nvGrpSpPr>
        <p:grpSpPr>
          <a:xfrm>
            <a:off x="3950914" y="732863"/>
            <a:ext cx="189144" cy="189144"/>
            <a:chOff x="1020916" y="1442088"/>
            <a:chExt cx="457200" cy="457200"/>
          </a:xfrm>
        </p:grpSpPr>
        <p:pic>
          <p:nvPicPr>
            <p:cNvPr id="217" name="Google Shape;217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" name="Google Shape;218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19" name="Google Shape;219;p21" title="Char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04000" y="2194516"/>
            <a:ext cx="1835996" cy="1461697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0" name="Google Shape;220;p21" title="Chart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8003" y="2194520"/>
            <a:ext cx="1835996" cy="146169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21" name="Google Shape;221;p21"/>
          <p:cNvGrpSpPr/>
          <p:nvPr/>
        </p:nvGrpSpPr>
        <p:grpSpPr>
          <a:xfrm>
            <a:off x="2114914" y="2194571"/>
            <a:ext cx="189144" cy="189144"/>
            <a:chOff x="1020916" y="1442088"/>
            <a:chExt cx="457200" cy="457200"/>
          </a:xfrm>
        </p:grpSpPr>
        <p:pic>
          <p:nvPicPr>
            <p:cNvPr id="222" name="Google Shape;222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3" name="Google Shape;223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4" name="Google Shape;224;p21"/>
          <p:cNvGrpSpPr/>
          <p:nvPr/>
        </p:nvGrpSpPr>
        <p:grpSpPr>
          <a:xfrm>
            <a:off x="3950914" y="2194571"/>
            <a:ext cx="189144" cy="189144"/>
            <a:chOff x="1020916" y="1442088"/>
            <a:chExt cx="457200" cy="457200"/>
          </a:xfrm>
        </p:grpSpPr>
        <p:pic>
          <p:nvPicPr>
            <p:cNvPr id="225" name="Google Shape;225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6" name="Google Shape;226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227" name="Google Shape;227;p21"/>
          <p:cNvGraphicFramePr/>
          <p:nvPr/>
        </p:nvGraphicFramePr>
        <p:xfrm>
          <a:off x="4200269" y="1984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{00EE8FAE-72F2-4BCC-8117-83F99DCF6F92}</a:tableStyleId>
              </a:tblPr>
              <a:tblGrid>
                <a:gridCol w="337700"/>
                <a:gridCol w="337700"/>
                <a:gridCol w="337700"/>
                <a:gridCol w="3377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8" name="Google Shape;228;p21"/>
          <p:cNvGraphicFramePr/>
          <p:nvPr/>
        </p:nvGraphicFramePr>
        <p:xfrm>
          <a:off x="4200269" y="231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{00EE8FAE-72F2-4BCC-8117-83F99DCF6F92}</a:tableStyleId>
              </a:tblPr>
              <a:tblGrid>
                <a:gridCol w="337700"/>
                <a:gridCol w="337700"/>
                <a:gridCol w="337700"/>
                <a:gridCol w="3377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9" name="Google Shape;229;p21"/>
          <p:cNvGraphicFramePr/>
          <p:nvPr/>
        </p:nvGraphicFramePr>
        <p:xfrm>
          <a:off x="5672225" y="22085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{00EE8FAE-72F2-4BCC-8117-83F99DCF6F92}</a:tableStyleId>
              </a:tblPr>
              <a:tblGrid>
                <a:gridCol w="821650"/>
                <a:gridCol w="52835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87.4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0" name="Google Shape;230;p21"/>
          <p:cNvGraphicFramePr/>
          <p:nvPr/>
        </p:nvGraphicFramePr>
        <p:xfrm>
          <a:off x="5672225" y="32086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{00EE8FAE-72F2-4BCC-8117-83F99DCF6F92}</a:tableStyleId>
              </a:tblPr>
              <a:tblGrid>
                <a:gridCol w="337500"/>
                <a:gridCol w="337500"/>
                <a:gridCol w="337500"/>
                <a:gridCol w="3375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1" name="Google Shape;231;p21"/>
          <p:cNvGraphicFramePr/>
          <p:nvPr/>
        </p:nvGraphicFramePr>
        <p:xfrm>
          <a:off x="5672225" y="35420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{00EE8FAE-72F2-4BCC-8117-83F99DCF6F92}</a:tableStyleId>
              </a:tblPr>
              <a:tblGrid>
                <a:gridCol w="257150"/>
                <a:gridCol w="417850"/>
                <a:gridCol w="337500"/>
                <a:gridCol w="3375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2" name="Google Shape;232;p21"/>
          <p:cNvGraphicFramePr/>
          <p:nvPr/>
        </p:nvGraphicFramePr>
        <p:xfrm>
          <a:off x="5672225" y="25419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{00EE8FAE-72F2-4BCC-8117-83F99DCF6F92}</a:tableStyleId>
              </a:tblPr>
              <a:tblGrid>
                <a:gridCol w="821650"/>
                <a:gridCol w="52835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3" name="Google Shape;233;p21"/>
          <p:cNvGraphicFramePr/>
          <p:nvPr/>
        </p:nvGraphicFramePr>
        <p:xfrm>
          <a:off x="4195019" y="309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{00EE8FAE-72F2-4BCC-8117-83F99DCF6F92}</a:tableStyleId>
              </a:tblPr>
              <a:tblGrid>
                <a:gridCol w="822125"/>
                <a:gridCol w="52867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87.4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4" name="Google Shape;234;p21"/>
          <p:cNvGraphicFramePr/>
          <p:nvPr/>
        </p:nvGraphicFramePr>
        <p:xfrm>
          <a:off x="4195019" y="376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{00EE8FAE-72F2-4BCC-8117-83F99DCF6F92}</a:tableStyleId>
              </a:tblPr>
              <a:tblGrid>
                <a:gridCol w="337500"/>
                <a:gridCol w="337500"/>
                <a:gridCol w="337500"/>
                <a:gridCol w="3375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5" name="Google Shape;235;p21"/>
          <p:cNvGraphicFramePr/>
          <p:nvPr/>
        </p:nvGraphicFramePr>
        <p:xfrm>
          <a:off x="4195019" y="409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{00EE8FAE-72F2-4BCC-8117-83F99DCF6F92}</a:tableStyleId>
              </a:tblPr>
              <a:tblGrid>
                <a:gridCol w="337500"/>
                <a:gridCol w="337500"/>
                <a:gridCol w="337500"/>
                <a:gridCol w="3375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6" name="Google Shape;236;p21"/>
          <p:cNvGraphicFramePr/>
          <p:nvPr/>
        </p:nvGraphicFramePr>
        <p:xfrm>
          <a:off x="4195019" y="3432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{00EE8FAE-72F2-4BCC-8117-83F99DCF6F92}</a:tableStyleId>
              </a:tblPr>
              <a:tblGrid>
                <a:gridCol w="821650"/>
                <a:gridCol w="52835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7" name="Google Shape;237;p21"/>
          <p:cNvGraphicFramePr/>
          <p:nvPr/>
        </p:nvGraphicFramePr>
        <p:xfrm>
          <a:off x="5672225" y="28753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{00EE8FAE-72F2-4BCC-8117-83F99DCF6F92}</a:tableStyleId>
              </a:tblPr>
              <a:tblGrid>
                <a:gridCol w="821650"/>
                <a:gridCol w="52835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38" name="Google Shape;238;p21"/>
          <p:cNvCxnSpPr/>
          <p:nvPr/>
        </p:nvCxnSpPr>
        <p:spPr>
          <a:xfrm>
            <a:off x="474757" y="45848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" name="Google Shape;239;p21"/>
          <p:cNvSpPr txBox="1"/>
          <p:nvPr/>
        </p:nvSpPr>
        <p:spPr>
          <a:xfrm>
            <a:off x="4195025" y="6972125"/>
            <a:ext cx="28902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How many people are not yet represented on the bar chart?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456000" y="5000375"/>
            <a:ext cx="6037800" cy="10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On Monday, Alex goes to his local town centre and collects data on the number of days per week people visit the town centre.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 loses some of the data he collected, but knows that he asked 58 people, the range is 7 days, and the modal number of days is 2.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1" name="Google Shape;241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19629" y="5250432"/>
            <a:ext cx="462251" cy="533074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1"/>
          <p:cNvSpPr txBox="1"/>
          <p:nvPr/>
        </p:nvSpPr>
        <p:spPr>
          <a:xfrm>
            <a:off x="456000" y="4663175"/>
            <a:ext cx="6636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Completing graphs from summary statistics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4195025" y="8073250"/>
            <a:ext cx="28902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Complete a bar chart that shows this.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4195025" y="6231300"/>
            <a:ext cx="28902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Which bar does Alex know he must leave blank?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5" name="Google Shape;245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87313" y="6266525"/>
            <a:ext cx="3644352" cy="183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Analysing different statistical representations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468000" y="720000"/>
            <a:ext cx="5953200" cy="12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On Saturday, Jun goes to his local town centre and collects data on the number of days per week people visit the town centre.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 loses some of the data he collected, but knows that he asked 46 people, the data are bimodal, and that more people visit 7 times a week than 2 times a week.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3" name="Google Shape;25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596979" y="720004"/>
            <a:ext cx="495024" cy="619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2"/>
          <p:cNvSpPr txBox="1"/>
          <p:nvPr/>
        </p:nvSpPr>
        <p:spPr>
          <a:xfrm>
            <a:off x="4336250" y="3084325"/>
            <a:ext cx="27558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How many people go to town 2 times per week?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2"/>
          <p:cNvSpPr txBox="1"/>
          <p:nvPr/>
        </p:nvSpPr>
        <p:spPr>
          <a:xfrm>
            <a:off x="4336250" y="1968000"/>
            <a:ext cx="27558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How many people are not yet represented on the bar chart?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2"/>
          <p:cNvSpPr txBox="1"/>
          <p:nvPr/>
        </p:nvSpPr>
        <p:spPr>
          <a:xfrm>
            <a:off x="4336250" y="3840350"/>
            <a:ext cx="2463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Complete the bar chart.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7" name="Google Shape;257;p22"/>
          <p:cNvCxnSpPr/>
          <p:nvPr/>
        </p:nvCxnSpPr>
        <p:spPr>
          <a:xfrm>
            <a:off x="474757" y="42800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" name="Google Shape;258;p22"/>
          <p:cNvSpPr txBox="1"/>
          <p:nvPr/>
        </p:nvSpPr>
        <p:spPr>
          <a:xfrm>
            <a:off x="470325" y="7791750"/>
            <a:ext cx="36720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Draw a different vertical line graph that also represents the summary statistics Jacob used.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2"/>
          <p:cNvSpPr txBox="1"/>
          <p:nvPr/>
        </p:nvSpPr>
        <p:spPr>
          <a:xfrm>
            <a:off x="470325" y="7137500"/>
            <a:ext cx="36720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Complete the vertical line graph that Jacob started.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2"/>
          <p:cNvSpPr txBox="1"/>
          <p:nvPr/>
        </p:nvSpPr>
        <p:spPr>
          <a:xfrm>
            <a:off x="468000" y="4785050"/>
            <a:ext cx="36720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Jacob wants to sketch a vertical line chart of these summary statistics.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2"/>
          <p:cNvSpPr txBox="1"/>
          <p:nvPr/>
        </p:nvSpPr>
        <p:spPr>
          <a:xfrm>
            <a:off x="468000" y="4393425"/>
            <a:ext cx="6610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Sketching graphs from summary statistics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2" name="Google Shape;26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140000" y="4844025"/>
            <a:ext cx="416716" cy="51332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3" name="Google Shape;263;p22"/>
          <p:cNvGraphicFramePr/>
          <p:nvPr/>
        </p:nvGraphicFramePr>
        <p:xfrm>
          <a:off x="956500" y="53414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{00EE8FAE-72F2-4BCC-8117-83F99DCF6F92}</a:tableStyleId>
              </a:tblPr>
              <a:tblGrid>
                <a:gridCol w="895775"/>
                <a:gridCol w="5760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4" name="Google Shape;264;p22"/>
          <p:cNvSpPr txBox="1"/>
          <p:nvPr/>
        </p:nvSpPr>
        <p:spPr>
          <a:xfrm>
            <a:off x="474750" y="6176225"/>
            <a:ext cx="3672000" cy="7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Write down a calculation to show why the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-axis must be at least 16 squares across.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65" name="Google Shape;265;p22"/>
          <p:cNvGraphicFramePr/>
          <p:nvPr/>
        </p:nvGraphicFramePr>
        <p:xfrm>
          <a:off x="956500" y="56747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{00EE8FAE-72F2-4BCC-8117-83F99DCF6F92}</a:tableStyleId>
              </a:tblPr>
              <a:tblGrid>
                <a:gridCol w="895775"/>
                <a:gridCol w="5760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66" name="Google Shape;266;p22"/>
          <p:cNvPicPr preferRelativeResize="0"/>
          <p:nvPr/>
        </p:nvPicPr>
        <p:blipFill rotWithShape="1">
          <a:blip r:embed="rId5">
            <a:alphaModFix/>
          </a:blip>
          <a:srcRect b="36486" l="0" r="29263" t="5936"/>
          <a:stretch/>
        </p:blipFill>
        <p:spPr>
          <a:xfrm>
            <a:off x="4625008" y="6341880"/>
            <a:ext cx="2453492" cy="1497846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7" name="Google Shape;267;p22"/>
          <p:cNvPicPr preferRelativeResize="0"/>
          <p:nvPr/>
        </p:nvPicPr>
        <p:blipFill rotWithShape="1">
          <a:blip r:embed="rId6">
            <a:alphaModFix/>
          </a:blip>
          <a:srcRect b="36700" l="0" r="29243" t="5702"/>
          <a:stretch/>
        </p:blipFill>
        <p:spPr>
          <a:xfrm>
            <a:off x="4625000" y="4859017"/>
            <a:ext cx="2463300" cy="1503834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8" name="Google Shape;268;p22"/>
          <p:cNvPicPr preferRelativeResize="0"/>
          <p:nvPr/>
        </p:nvPicPr>
        <p:blipFill rotWithShape="1">
          <a:blip r:embed="rId7">
            <a:alphaModFix/>
          </a:blip>
          <a:srcRect b="37510" l="14871" r="77679" t="5937"/>
          <a:stretch/>
        </p:blipFill>
        <p:spPr>
          <a:xfrm>
            <a:off x="5142717" y="4864909"/>
            <a:ext cx="259284" cy="1476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9650" y="2349263"/>
            <a:ext cx="3742200" cy="157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6" name="Google Shape;276;p23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Analysing different statistical representations</a:t>
            </a:r>
            <a:endParaRPr/>
          </a:p>
        </p:txBody>
      </p:sp>
      <p:sp>
        <p:nvSpPr>
          <p:cNvPr id="277" name="Google Shape;277;p2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3"/>
          <p:cNvSpPr txBox="1"/>
          <p:nvPr/>
        </p:nvSpPr>
        <p:spPr>
          <a:xfrm>
            <a:off x="468000" y="720000"/>
            <a:ext cx="6624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Sketch two different dot plots that represents the information below.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One of these dot plots must show a bimodal dataset.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80" name="Google Shape;280;p23"/>
          <p:cNvGraphicFramePr/>
          <p:nvPr/>
        </p:nvGraphicFramePr>
        <p:xfrm>
          <a:off x="468275" y="14945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{00EE8FAE-72F2-4BCC-8117-83F99DCF6F92}</a:tableStyleId>
              </a:tblPr>
              <a:tblGrid>
                <a:gridCol w="711825"/>
                <a:gridCol w="457725"/>
              </a:tblGrid>
              <a:tr h="2442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1" name="Google Shape;281;p23"/>
          <p:cNvSpPr txBox="1"/>
          <p:nvPr/>
        </p:nvSpPr>
        <p:spPr>
          <a:xfrm>
            <a:off x="468000" y="3983000"/>
            <a:ext cx="3045600" cy="21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Sketch a bar chart that represents the information below.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bar chart may not go across the whole x-axis.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82" name="Google Shape;282;p23"/>
          <p:cNvGraphicFramePr/>
          <p:nvPr/>
        </p:nvGraphicFramePr>
        <p:xfrm>
          <a:off x="468000" y="45051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{00EE8FAE-72F2-4BCC-8117-83F99DCF6F92}</a:tableStyleId>
              </a:tblPr>
              <a:tblGrid>
                <a:gridCol w="751275"/>
                <a:gridCol w="18030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bimodal at 4 and 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83" name="Google Shape;283;p23"/>
          <p:cNvGraphicFramePr/>
          <p:nvPr/>
        </p:nvGraphicFramePr>
        <p:xfrm>
          <a:off x="468000" y="48385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{00EE8FAE-72F2-4BCC-8117-83F99DCF6F92}</a:tableStyleId>
              </a:tblPr>
              <a:tblGrid>
                <a:gridCol w="751275"/>
                <a:gridCol w="18030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84" name="Google Shape;284;p23"/>
          <p:cNvGraphicFramePr/>
          <p:nvPr/>
        </p:nvGraphicFramePr>
        <p:xfrm>
          <a:off x="468000" y="51719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{00EE8FAE-72F2-4BCC-8117-83F99DCF6F92}</a:tableStyleId>
              </a:tblPr>
              <a:tblGrid>
                <a:gridCol w="946550"/>
                <a:gridCol w="160775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minimum value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85" name="Google Shape;28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0925" y="4073666"/>
            <a:ext cx="3511349" cy="169671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