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5D1561-07A0-47D8-8B67-2EF63C802A9D}">
  <a:tblStyle styleId="{EE5D1561-07A0-47D8-8B67-2EF63C802A9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96aaf1326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96aaf1326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96aaf1326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96aaf1326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96aaf1326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96aaf1326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6aaf1326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6aaf1326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96aaf1326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6aaf1326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9894c2e1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9894c2e1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96aaf1326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296aaf1326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96aaf1326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96aaf1326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296aaf13262_0_2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296aaf13262_0_2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96aaf13262_0_1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96aaf13262_0_1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296aaf13262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296aaf13262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96aaf1326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96aaf1326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96aaf13262_0_2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296aaf13262_0_2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96aaf13262_0_2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96aaf13262_0_2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296aaf13262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296aaf13262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296aaf13262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296aaf13262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96aaf13262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96aaf13262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96aaf13262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96aaf13262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96aaf13262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96aaf13262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296aaf13262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296aaf13262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96aaf13262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96aaf13262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296aaf13262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296aaf13262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296aaf13262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296aaf13262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296aaf13262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296aaf13262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296aaf13262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296aaf13262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296aaf13262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296aaf13262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296aaf13262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296aaf13262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296aaf13262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296aaf13262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296aaf13262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296aaf13262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296aaf13262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296aaf13262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296aaf13262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296aaf13262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296aaf13262_0_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296aaf13262_0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296aaf13262_0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296aaf13262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296aaf13262_0_8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296aaf13262_0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296aaf13262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296aaf13262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296aaf13262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296aaf13262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296aaf13262_0_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296aaf13262_0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96aaf13262_0_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96aaf13262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96aaf13262_0_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96aaf13262_0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296aaf13262_0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296aaf13262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296aaf13262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7" name="Google Shape;1477;g296aaf13262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296aaf13262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296aaf13262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296aaf13262_0_10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6" name="Google Shape;1526;g296aaf13262_0_1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296aaf13262_0_1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296aaf13262_0_1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g296aaf13262_0_1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7" name="Google Shape;1567;g296aaf13262_0_1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296aaf13262_0_1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296aaf13262_0_1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296aaf13262_0_1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296aaf13262_0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296aaf13262_0_1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1" name="Google Shape;1611;g296aaf13262_0_1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g296aaf13262_0_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g296aaf13262_0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g296aaf13262_0_1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1" name="Google Shape;1641;g296aaf13262_0_1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296aaf13262_0_1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g296aaf13262_0_1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2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4.png"/><Relationship Id="rId4" Type="http://schemas.openxmlformats.org/officeDocument/2006/relationships/image" Target="../media/image99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Relationship Id="rId7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99.png"/><Relationship Id="rId4" Type="http://schemas.openxmlformats.org/officeDocument/2006/relationships/image" Target="../media/image19.png"/><Relationship Id="rId9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33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99.png"/><Relationship Id="rId4" Type="http://schemas.openxmlformats.org/officeDocument/2006/relationships/image" Target="../media/image27.png"/><Relationship Id="rId11" Type="http://schemas.openxmlformats.org/officeDocument/2006/relationships/image" Target="../media/image14.png"/><Relationship Id="rId10" Type="http://schemas.openxmlformats.org/officeDocument/2006/relationships/image" Target="../media/image34.png"/><Relationship Id="rId9" Type="http://schemas.openxmlformats.org/officeDocument/2006/relationships/image" Target="../media/image30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33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5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3.png"/><Relationship Id="rId4" Type="http://schemas.openxmlformats.org/officeDocument/2006/relationships/image" Target="../media/image50.png"/><Relationship Id="rId5" Type="http://schemas.openxmlformats.org/officeDocument/2006/relationships/image" Target="../media/image55.png"/><Relationship Id="rId6" Type="http://schemas.openxmlformats.org/officeDocument/2006/relationships/image" Target="../media/image57.png"/><Relationship Id="rId7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image" Target="../media/image50.png"/><Relationship Id="rId5" Type="http://schemas.openxmlformats.org/officeDocument/2006/relationships/image" Target="../media/image55.png"/><Relationship Id="rId6" Type="http://schemas.openxmlformats.org/officeDocument/2006/relationships/image" Target="../media/image57.png"/><Relationship Id="rId7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3.png"/><Relationship Id="rId4" Type="http://schemas.openxmlformats.org/officeDocument/2006/relationships/image" Target="../media/image50.png"/><Relationship Id="rId5" Type="http://schemas.openxmlformats.org/officeDocument/2006/relationships/image" Target="../media/image55.png"/><Relationship Id="rId6" Type="http://schemas.openxmlformats.org/officeDocument/2006/relationships/image" Target="../media/image57.png"/><Relationship Id="rId7" Type="http://schemas.openxmlformats.org/officeDocument/2006/relationships/image" Target="../media/image43.png"/><Relationship Id="rId8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Relationship Id="rId4" Type="http://schemas.openxmlformats.org/officeDocument/2006/relationships/image" Target="../media/image50.png"/><Relationship Id="rId5" Type="http://schemas.openxmlformats.org/officeDocument/2006/relationships/image" Target="../media/image55.png"/><Relationship Id="rId6" Type="http://schemas.openxmlformats.org/officeDocument/2006/relationships/image" Target="../media/image57.png"/><Relationship Id="rId7" Type="http://schemas.openxmlformats.org/officeDocument/2006/relationships/image" Target="../media/image43.png"/><Relationship Id="rId8" Type="http://schemas.openxmlformats.org/officeDocument/2006/relationships/image" Target="../media/image5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png"/><Relationship Id="rId4" Type="http://schemas.openxmlformats.org/officeDocument/2006/relationships/image" Target="../media/image50.png"/><Relationship Id="rId5" Type="http://schemas.openxmlformats.org/officeDocument/2006/relationships/image" Target="../media/image55.png"/><Relationship Id="rId6" Type="http://schemas.openxmlformats.org/officeDocument/2006/relationships/image" Target="../media/image57.png"/><Relationship Id="rId7" Type="http://schemas.openxmlformats.org/officeDocument/2006/relationships/image" Target="../media/image43.png"/><Relationship Id="rId8" Type="http://schemas.openxmlformats.org/officeDocument/2006/relationships/image" Target="../media/image5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3.png"/><Relationship Id="rId4" Type="http://schemas.openxmlformats.org/officeDocument/2006/relationships/image" Target="../media/image50.png"/><Relationship Id="rId9" Type="http://schemas.openxmlformats.org/officeDocument/2006/relationships/image" Target="../media/image60.png"/><Relationship Id="rId5" Type="http://schemas.openxmlformats.org/officeDocument/2006/relationships/image" Target="../media/image55.png"/><Relationship Id="rId6" Type="http://schemas.openxmlformats.org/officeDocument/2006/relationships/image" Target="../media/image57.png"/><Relationship Id="rId7" Type="http://schemas.openxmlformats.org/officeDocument/2006/relationships/image" Target="../media/image43.png"/><Relationship Id="rId8" Type="http://schemas.openxmlformats.org/officeDocument/2006/relationships/image" Target="../media/image5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6.png"/><Relationship Id="rId4" Type="http://schemas.openxmlformats.org/officeDocument/2006/relationships/image" Target="../media/image5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9.png"/><Relationship Id="rId4" Type="http://schemas.openxmlformats.org/officeDocument/2006/relationships/image" Target="../media/image62.png"/><Relationship Id="rId5" Type="http://schemas.openxmlformats.org/officeDocument/2006/relationships/image" Target="../media/image68.png"/><Relationship Id="rId6" Type="http://schemas.openxmlformats.org/officeDocument/2006/relationships/image" Target="../media/image64.png"/><Relationship Id="rId7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0.png"/><Relationship Id="rId4" Type="http://schemas.openxmlformats.org/officeDocument/2006/relationships/image" Target="../media/image43.png"/><Relationship Id="rId5" Type="http://schemas.openxmlformats.org/officeDocument/2006/relationships/image" Target="../media/image65.png"/><Relationship Id="rId6" Type="http://schemas.openxmlformats.org/officeDocument/2006/relationships/image" Target="../media/image67.png"/><Relationship Id="rId7" Type="http://schemas.openxmlformats.org/officeDocument/2006/relationships/image" Target="../media/image6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9.png"/><Relationship Id="rId4" Type="http://schemas.openxmlformats.org/officeDocument/2006/relationships/image" Target="../media/image63.png"/><Relationship Id="rId5" Type="http://schemas.openxmlformats.org/officeDocument/2006/relationships/image" Target="../media/image43.png"/><Relationship Id="rId6" Type="http://schemas.openxmlformats.org/officeDocument/2006/relationships/image" Target="../media/image71.png"/><Relationship Id="rId7" Type="http://schemas.openxmlformats.org/officeDocument/2006/relationships/image" Target="../media/image7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9.png"/><Relationship Id="rId4" Type="http://schemas.openxmlformats.org/officeDocument/2006/relationships/image" Target="../media/image62.png"/><Relationship Id="rId5" Type="http://schemas.openxmlformats.org/officeDocument/2006/relationships/image" Target="../media/image60.png"/><Relationship Id="rId6" Type="http://schemas.openxmlformats.org/officeDocument/2006/relationships/image" Target="../media/image68.png"/><Relationship Id="rId7" Type="http://schemas.openxmlformats.org/officeDocument/2006/relationships/image" Target="../media/image64.png"/><Relationship Id="rId8" Type="http://schemas.openxmlformats.org/officeDocument/2006/relationships/image" Target="../media/image4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0.png"/><Relationship Id="rId4" Type="http://schemas.openxmlformats.org/officeDocument/2006/relationships/image" Target="../media/image43.png"/><Relationship Id="rId5" Type="http://schemas.openxmlformats.org/officeDocument/2006/relationships/image" Target="../media/image65.png"/><Relationship Id="rId6" Type="http://schemas.openxmlformats.org/officeDocument/2006/relationships/image" Target="../media/image67.png"/><Relationship Id="rId7" Type="http://schemas.openxmlformats.org/officeDocument/2006/relationships/image" Target="../media/image6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63.png"/><Relationship Id="rId5" Type="http://schemas.openxmlformats.org/officeDocument/2006/relationships/image" Target="../media/image43.png"/><Relationship Id="rId6" Type="http://schemas.openxmlformats.org/officeDocument/2006/relationships/image" Target="../media/image71.png"/><Relationship Id="rId7" Type="http://schemas.openxmlformats.org/officeDocument/2006/relationships/image" Target="../media/image73.png"/><Relationship Id="rId8" Type="http://schemas.openxmlformats.org/officeDocument/2006/relationships/image" Target="../media/image6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2.png"/><Relationship Id="rId4" Type="http://schemas.openxmlformats.org/officeDocument/2006/relationships/image" Target="../media/image7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2.png"/><Relationship Id="rId4" Type="http://schemas.openxmlformats.org/officeDocument/2006/relationships/image" Target="../media/image7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2.png"/><Relationship Id="rId4" Type="http://schemas.openxmlformats.org/officeDocument/2006/relationships/image" Target="../media/image7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2.png"/><Relationship Id="rId4" Type="http://schemas.openxmlformats.org/officeDocument/2006/relationships/image" Target="../media/image7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2.png"/><Relationship Id="rId4" Type="http://schemas.openxmlformats.org/officeDocument/2006/relationships/image" Target="../media/image7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7.png"/><Relationship Id="rId4" Type="http://schemas.openxmlformats.org/officeDocument/2006/relationships/image" Target="../media/image7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7.png"/><Relationship Id="rId4" Type="http://schemas.openxmlformats.org/officeDocument/2006/relationships/image" Target="../media/image7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8.png"/><Relationship Id="rId4" Type="http://schemas.openxmlformats.org/officeDocument/2006/relationships/image" Target="../media/image81.png"/><Relationship Id="rId5" Type="http://schemas.openxmlformats.org/officeDocument/2006/relationships/image" Target="../media/image80.png"/><Relationship Id="rId6" Type="http://schemas.openxmlformats.org/officeDocument/2006/relationships/image" Target="../media/image60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8.png"/><Relationship Id="rId4" Type="http://schemas.openxmlformats.org/officeDocument/2006/relationships/image" Target="../media/image81.png"/><Relationship Id="rId5" Type="http://schemas.openxmlformats.org/officeDocument/2006/relationships/image" Target="../media/image80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4.png"/><Relationship Id="rId4" Type="http://schemas.openxmlformats.org/officeDocument/2006/relationships/image" Target="../media/image8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7.png"/><Relationship Id="rId6" Type="http://schemas.openxmlformats.org/officeDocument/2006/relationships/image" Target="../media/image8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7.png"/><Relationship Id="rId6" Type="http://schemas.openxmlformats.org/officeDocument/2006/relationships/image" Target="../media/image8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7.png"/><Relationship Id="rId6" Type="http://schemas.openxmlformats.org/officeDocument/2006/relationships/image" Target="../media/image8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7.png"/><Relationship Id="rId6" Type="http://schemas.openxmlformats.org/officeDocument/2006/relationships/image" Target="../media/image86.png"/><Relationship Id="rId7" Type="http://schemas.openxmlformats.org/officeDocument/2006/relationships/image" Target="../media/image9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9.png"/><Relationship Id="rId4" Type="http://schemas.openxmlformats.org/officeDocument/2006/relationships/image" Target="../media/image92.png"/><Relationship Id="rId5" Type="http://schemas.openxmlformats.org/officeDocument/2006/relationships/image" Target="../media/image91.png"/><Relationship Id="rId6" Type="http://schemas.openxmlformats.org/officeDocument/2006/relationships/image" Target="../media/image9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9.png"/><Relationship Id="rId4" Type="http://schemas.openxmlformats.org/officeDocument/2006/relationships/image" Target="../media/image92.png"/><Relationship Id="rId5" Type="http://schemas.openxmlformats.org/officeDocument/2006/relationships/image" Target="../media/image9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8.png"/><Relationship Id="rId4" Type="http://schemas.openxmlformats.org/officeDocument/2006/relationships/image" Target="../media/image9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different statistical representations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different statistical representations to compare two sets of data.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672852"/>
            <a:ext cx="8496000" cy="15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statistical summary sums up the features of a data set. 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It may contain the average (mean, median and/or mode) which measure the central tendency. It may also contain the range which measures the spread.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Each measure used in a statistical summary is called a summary statisti</a:t>
            </a:r>
            <a:r>
              <a:rPr lang="en-GB" sz="1800"/>
              <a:t>c.</a:t>
            </a:r>
            <a:endParaRPr sz="1800"/>
          </a:p>
        </p:txBody>
      </p:sp>
      <p:sp>
        <p:nvSpPr>
          <p:cNvPr id="767" name="Google Shape;767;p67"/>
          <p:cNvSpPr txBox="1"/>
          <p:nvPr>
            <p:ph idx="3" type="subTitle"/>
          </p:nvPr>
        </p:nvSpPr>
        <p:spPr>
          <a:xfrm>
            <a:off x="324001" y="4093425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spread/dispersion of data values describes how far apart the pieces of data are. </a:t>
            </a:r>
            <a:endParaRPr sz="18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1" y="2701738"/>
            <a:ext cx="84960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measure of central tendency is a summary measure that attempts to describe a whole set of data with a single value that represents the middle or centre of its distribution. 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sp>
        <p:nvSpPr>
          <p:cNvPr id="774" name="Google Shape;774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different statistical representations</a:t>
            </a:r>
            <a:endParaRPr/>
          </a:p>
        </p:txBody>
      </p:sp>
      <p:sp>
        <p:nvSpPr>
          <p:cNvPr id="775" name="Google Shape;775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Completing graphs from summary statistics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61" y="1740989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683100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Trying to understand and compare large datasets of raw data is often impractical. </a:t>
            </a:r>
            <a:endParaRPr sz="1800"/>
          </a:p>
        </p:txBody>
      </p:sp>
      <p:sp>
        <p:nvSpPr>
          <p:cNvPr id="783" name="Google Shape;78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graphicFrame>
        <p:nvGraphicFramePr>
          <p:cNvPr id="784" name="Google Shape;784;p69"/>
          <p:cNvGraphicFramePr/>
          <p:nvPr/>
        </p:nvGraphicFramePr>
        <p:xfrm>
          <a:off x="2072000" y="1155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6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5" name="Google Shape;785;p69"/>
          <p:cNvGraphicFramePr/>
          <p:nvPr/>
        </p:nvGraphicFramePr>
        <p:xfrm>
          <a:off x="451950" y="292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952500"/>
                <a:gridCol w="952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5.79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6" name="Google Shape;786;p69"/>
          <p:cNvSpPr txBox="1"/>
          <p:nvPr>
            <p:ph idx="1" type="body"/>
          </p:nvPr>
        </p:nvSpPr>
        <p:spPr>
          <a:xfrm>
            <a:off x="324000" y="4414500"/>
            <a:ext cx="2160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summary statistics</a:t>
            </a:r>
            <a:endParaRPr sz="1800"/>
          </a:p>
        </p:txBody>
      </p:sp>
      <p:pic>
        <p:nvPicPr>
          <p:cNvPr id="787" name="Google Shape;787;p6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398" y="2700000"/>
            <a:ext cx="2649525" cy="16383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8" name="Google Shape;788;p69"/>
          <p:cNvSpPr txBox="1"/>
          <p:nvPr>
            <p:ph idx="1" type="body"/>
          </p:nvPr>
        </p:nvSpPr>
        <p:spPr>
          <a:xfrm>
            <a:off x="5882700" y="4414500"/>
            <a:ext cx="2541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statistical graphs</a:t>
            </a:r>
            <a:endParaRPr sz="1800"/>
          </a:p>
        </p:txBody>
      </p:sp>
      <p:cxnSp>
        <p:nvCxnSpPr>
          <p:cNvPr id="789" name="Google Shape;789;p69"/>
          <p:cNvCxnSpPr/>
          <p:nvPr/>
        </p:nvCxnSpPr>
        <p:spPr>
          <a:xfrm flipH="1">
            <a:off x="2095250" y="2117900"/>
            <a:ext cx="393300" cy="63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0" name="Google Shape;790;p69"/>
          <p:cNvCxnSpPr/>
          <p:nvPr/>
        </p:nvCxnSpPr>
        <p:spPr>
          <a:xfrm>
            <a:off x="6170150" y="2117900"/>
            <a:ext cx="385800" cy="48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1" name="Google Shape;791;p69"/>
          <p:cNvSpPr txBox="1"/>
          <p:nvPr>
            <p:ph idx="1" type="body"/>
          </p:nvPr>
        </p:nvSpPr>
        <p:spPr>
          <a:xfrm>
            <a:off x="2767500" y="2160000"/>
            <a:ext cx="28173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 we process the data to help us to interpret and explain what is going on.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graphicFrame>
        <p:nvGraphicFramePr>
          <p:cNvPr id="797" name="Google Shape;797;p70"/>
          <p:cNvGraphicFramePr/>
          <p:nvPr/>
        </p:nvGraphicFramePr>
        <p:xfrm>
          <a:off x="478125" y="241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920875"/>
                <a:gridCol w="16388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8" name="Google Shape;798;p70"/>
          <p:cNvSpPr txBox="1"/>
          <p:nvPr>
            <p:ph idx="1" type="body"/>
          </p:nvPr>
        </p:nvSpPr>
        <p:spPr>
          <a:xfrm>
            <a:off x="324000" y="683100"/>
            <a:ext cx="28680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Using one summary statistic on its own gives very little insight into how a dataset is distributed.</a:t>
            </a:r>
            <a:endParaRPr sz="1800"/>
          </a:p>
        </p:txBody>
      </p:sp>
      <p:sp>
        <p:nvSpPr>
          <p:cNvPr id="799" name="Google Shape;799;p70"/>
          <p:cNvSpPr txBox="1"/>
          <p:nvPr>
            <p:ph idx="1" type="body"/>
          </p:nvPr>
        </p:nvSpPr>
        <p:spPr>
          <a:xfrm>
            <a:off x="324000" y="3291600"/>
            <a:ext cx="36288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For example, all the range tells us is how varied the data are.</a:t>
            </a:r>
            <a:endParaRPr sz="1800"/>
          </a:p>
        </p:txBody>
      </p:sp>
      <p:pic>
        <p:nvPicPr>
          <p:cNvPr id="800" name="Google Shape;800;p7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913" y="684163"/>
            <a:ext cx="2325720" cy="18716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01" name="Google Shape;801;p7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8513" y="2789975"/>
            <a:ext cx="2290566" cy="184338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02" name="Google Shape;802;p70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3000" y="706708"/>
            <a:ext cx="2269676" cy="182658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3" name="Google Shape;803;p70"/>
          <p:cNvSpPr txBox="1"/>
          <p:nvPr>
            <p:ph idx="1" type="body"/>
          </p:nvPr>
        </p:nvSpPr>
        <p:spPr>
          <a:xfrm>
            <a:off x="6513000" y="2789975"/>
            <a:ext cx="2269800" cy="187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Each of these datasets has a range of 7, and yet their distributions all look very different!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sp>
        <p:nvSpPr>
          <p:cNvPr id="809" name="Google Shape;809;p71"/>
          <p:cNvSpPr txBox="1"/>
          <p:nvPr>
            <p:ph idx="1" type="body"/>
          </p:nvPr>
        </p:nvSpPr>
        <p:spPr>
          <a:xfrm>
            <a:off x="324000" y="3780575"/>
            <a:ext cx="34050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of these graphs satisfies both of these summary statistics?</a:t>
            </a:r>
            <a:endParaRPr sz="1800"/>
          </a:p>
        </p:txBody>
      </p:sp>
      <p:pic>
        <p:nvPicPr>
          <p:cNvPr id="810" name="Google Shape;810;p7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913" y="684163"/>
            <a:ext cx="2325720" cy="18716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1" name="Google Shape;811;p71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8513" y="2789975"/>
            <a:ext cx="2290566" cy="184338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2" name="Google Shape;812;p71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3000" y="706708"/>
            <a:ext cx="2269676" cy="182658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3" name="Google Shape;813;p71"/>
          <p:cNvSpPr txBox="1"/>
          <p:nvPr>
            <p:ph idx="1" type="body"/>
          </p:nvPr>
        </p:nvSpPr>
        <p:spPr>
          <a:xfrm>
            <a:off x="6513000" y="2789975"/>
            <a:ext cx="22698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the only bar chart that represents a bimodal dataset.</a:t>
            </a:r>
            <a:endParaRPr sz="1800"/>
          </a:p>
        </p:txBody>
      </p:sp>
      <p:sp>
        <p:nvSpPr>
          <p:cNvPr id="814" name="Google Shape;814;p71"/>
          <p:cNvSpPr txBox="1"/>
          <p:nvPr>
            <p:ph idx="1" type="body"/>
          </p:nvPr>
        </p:nvSpPr>
        <p:spPr>
          <a:xfrm>
            <a:off x="324000" y="683100"/>
            <a:ext cx="2868000" cy="15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Using more summary statistics to represent a dataset will refine what the corresponding graph will look like.</a:t>
            </a:r>
            <a:endParaRPr sz="1800"/>
          </a:p>
        </p:txBody>
      </p:sp>
      <p:graphicFrame>
        <p:nvGraphicFramePr>
          <p:cNvPr id="815" name="Google Shape;815;p71"/>
          <p:cNvGraphicFramePr/>
          <p:nvPr/>
        </p:nvGraphicFramePr>
        <p:xfrm>
          <a:off x="478125" y="248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920875"/>
                <a:gridCol w="16388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16" name="Google Shape;816;p71"/>
          <p:cNvGraphicFramePr/>
          <p:nvPr/>
        </p:nvGraphicFramePr>
        <p:xfrm>
          <a:off x="478125" y="281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920875"/>
                <a:gridCol w="16388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bimodal at 41.5 and 45.5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2"/>
          <p:cNvSpPr txBox="1"/>
          <p:nvPr>
            <p:ph type="title"/>
          </p:nvPr>
        </p:nvSpPr>
        <p:spPr>
          <a:xfrm>
            <a:off x="324000" y="-30675"/>
            <a:ext cx="7885200" cy="675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sp>
        <p:nvSpPr>
          <p:cNvPr id="822" name="Google Shape;822;p72"/>
          <p:cNvSpPr txBox="1"/>
          <p:nvPr>
            <p:ph idx="1" type="body"/>
          </p:nvPr>
        </p:nvSpPr>
        <p:spPr>
          <a:xfrm>
            <a:off x="324000" y="622588"/>
            <a:ext cx="8496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Graphs may be affected by outliers or extreme data points.</a:t>
            </a:r>
            <a:endParaRPr sz="1800"/>
          </a:p>
        </p:txBody>
      </p:sp>
      <p:sp>
        <p:nvSpPr>
          <p:cNvPr id="823" name="Google Shape;823;p72"/>
          <p:cNvSpPr txBox="1"/>
          <p:nvPr>
            <p:ph idx="1" type="body"/>
          </p:nvPr>
        </p:nvSpPr>
        <p:spPr>
          <a:xfrm>
            <a:off x="324000" y="3575445"/>
            <a:ext cx="39960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With distributions like this, the mean tends to be close to the peak, in the direction of the longer tail.</a:t>
            </a:r>
            <a:endParaRPr sz="1800"/>
          </a:p>
        </p:txBody>
      </p:sp>
      <p:pic>
        <p:nvPicPr>
          <p:cNvPr id="824" name="Google Shape;824;p72" title="Chart"/>
          <p:cNvPicPr preferRelativeResize="0"/>
          <p:nvPr/>
        </p:nvPicPr>
        <p:blipFill rotWithShape="1">
          <a:blip r:embed="rId3">
            <a:alphaModFix/>
          </a:blip>
          <a:srcRect b="0" l="0" r="0" t="4214"/>
          <a:stretch/>
        </p:blipFill>
        <p:spPr>
          <a:xfrm>
            <a:off x="324000" y="1076970"/>
            <a:ext cx="3221150" cy="24564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825" name="Google Shape;825;p72"/>
          <p:cNvCxnSpPr/>
          <p:nvPr/>
        </p:nvCxnSpPr>
        <p:spPr>
          <a:xfrm>
            <a:off x="1712491" y="1186150"/>
            <a:ext cx="0" cy="363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6" name="Google Shape;826;p72"/>
          <p:cNvCxnSpPr/>
          <p:nvPr/>
        </p:nvCxnSpPr>
        <p:spPr>
          <a:xfrm>
            <a:off x="1429500" y="1184025"/>
            <a:ext cx="19101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27" name="Google Shape;827;p72" title="Chart"/>
          <p:cNvPicPr preferRelativeResize="0"/>
          <p:nvPr/>
        </p:nvPicPr>
        <p:blipFill rotWithShape="1">
          <a:blip r:embed="rId4">
            <a:alphaModFix/>
          </a:blip>
          <a:srcRect b="0" l="0" r="0" t="4214"/>
          <a:stretch/>
        </p:blipFill>
        <p:spPr>
          <a:xfrm>
            <a:off x="4572000" y="1076970"/>
            <a:ext cx="3221150" cy="24564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8" name="Google Shape;828;p72"/>
          <p:cNvSpPr txBox="1"/>
          <p:nvPr>
            <p:ph idx="1" type="body"/>
          </p:nvPr>
        </p:nvSpPr>
        <p:spPr>
          <a:xfrm>
            <a:off x="4572000" y="3575445"/>
            <a:ext cx="39960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However, if a distribution has outliers or longer tails, the mean gets pulled further away from the peak in the direction of the tail.</a:t>
            </a:r>
            <a:endParaRPr sz="1800"/>
          </a:p>
        </p:txBody>
      </p:sp>
      <p:cxnSp>
        <p:nvCxnSpPr>
          <p:cNvPr id="829" name="Google Shape;829;p72"/>
          <p:cNvCxnSpPr/>
          <p:nvPr/>
        </p:nvCxnSpPr>
        <p:spPr>
          <a:xfrm>
            <a:off x="5719566" y="1186150"/>
            <a:ext cx="0" cy="363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0" name="Google Shape;830;p72"/>
          <p:cNvSpPr txBox="1"/>
          <p:nvPr>
            <p:ph idx="1" type="body"/>
          </p:nvPr>
        </p:nvSpPr>
        <p:spPr>
          <a:xfrm>
            <a:off x="2114250" y="1229050"/>
            <a:ext cx="540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tail</a:t>
            </a:r>
            <a:endParaRPr sz="1800"/>
          </a:p>
        </p:txBody>
      </p:sp>
      <p:sp>
        <p:nvSpPr>
          <p:cNvPr id="831" name="Google Shape;831;p72"/>
          <p:cNvSpPr txBox="1"/>
          <p:nvPr>
            <p:ph idx="1" type="body"/>
          </p:nvPr>
        </p:nvSpPr>
        <p:spPr>
          <a:xfrm>
            <a:off x="1369650" y="885668"/>
            <a:ext cx="685800" cy="277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mean</a:t>
            </a:r>
            <a:endParaRPr sz="1800"/>
          </a:p>
        </p:txBody>
      </p:sp>
      <p:cxnSp>
        <p:nvCxnSpPr>
          <p:cNvPr id="832" name="Google Shape;832;p72"/>
          <p:cNvCxnSpPr/>
          <p:nvPr/>
        </p:nvCxnSpPr>
        <p:spPr>
          <a:xfrm>
            <a:off x="5391125" y="1184025"/>
            <a:ext cx="7377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3" name="Google Shape;833;p72"/>
          <p:cNvCxnSpPr/>
          <p:nvPr/>
        </p:nvCxnSpPr>
        <p:spPr>
          <a:xfrm>
            <a:off x="5391125" y="1184025"/>
            <a:ext cx="22596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4" name="Google Shape;834;p72"/>
          <p:cNvSpPr txBox="1"/>
          <p:nvPr>
            <p:ph idx="1" type="body"/>
          </p:nvPr>
        </p:nvSpPr>
        <p:spPr>
          <a:xfrm>
            <a:off x="5978100" y="1229050"/>
            <a:ext cx="1309800" cy="59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/>
              <a:t>ail is longer</a:t>
            </a:r>
            <a:endParaRPr sz="1800"/>
          </a:p>
        </p:txBody>
      </p:sp>
      <p:sp>
        <p:nvSpPr>
          <p:cNvPr id="835" name="Google Shape;835;p72"/>
          <p:cNvSpPr txBox="1"/>
          <p:nvPr>
            <p:ph idx="1" type="body"/>
          </p:nvPr>
        </p:nvSpPr>
        <p:spPr>
          <a:xfrm>
            <a:off x="5978100" y="1371800"/>
            <a:ext cx="1758000" cy="914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</a:t>
            </a:r>
            <a:r>
              <a:rPr lang="en-GB" sz="1800"/>
              <a:t>ean moves further from the peak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sp>
        <p:nvSpPr>
          <p:cNvPr id="841" name="Google Shape;841;p73"/>
          <p:cNvSpPr txBox="1"/>
          <p:nvPr>
            <p:ph idx="1" type="body"/>
          </p:nvPr>
        </p:nvSpPr>
        <p:spPr>
          <a:xfrm>
            <a:off x="324000" y="622588"/>
            <a:ext cx="8496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median is the middle value.</a:t>
            </a:r>
            <a:endParaRPr sz="1800"/>
          </a:p>
        </p:txBody>
      </p:sp>
      <p:pic>
        <p:nvPicPr>
          <p:cNvPr id="842" name="Google Shape;842;p73" title="Chart"/>
          <p:cNvPicPr preferRelativeResize="0"/>
          <p:nvPr/>
        </p:nvPicPr>
        <p:blipFill rotWithShape="1">
          <a:blip r:embed="rId3">
            <a:alphaModFix/>
          </a:blip>
          <a:srcRect b="-2973" l="-8961" r="-8644" t="-39965"/>
          <a:stretch/>
        </p:blipFill>
        <p:spPr>
          <a:xfrm>
            <a:off x="324000" y="1154575"/>
            <a:ext cx="3788326" cy="36658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843" name="Google Shape;843;p73"/>
          <p:cNvCxnSpPr>
            <a:stCxn id="844" idx="2"/>
          </p:cNvCxnSpPr>
          <p:nvPr/>
        </p:nvCxnSpPr>
        <p:spPr>
          <a:xfrm>
            <a:off x="1952525" y="1434075"/>
            <a:ext cx="0" cy="3380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73"/>
          <p:cNvSpPr txBox="1"/>
          <p:nvPr>
            <p:ph idx="1" type="body"/>
          </p:nvPr>
        </p:nvSpPr>
        <p:spPr>
          <a:xfrm>
            <a:off x="1114325" y="1156875"/>
            <a:ext cx="1676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</a:t>
            </a:r>
            <a:r>
              <a:rPr lang="en-GB" sz="1800"/>
              <a:t>edian of 53</a:t>
            </a:r>
            <a:endParaRPr sz="1800"/>
          </a:p>
        </p:txBody>
      </p:sp>
      <p:sp>
        <p:nvSpPr>
          <p:cNvPr id="845" name="Google Shape;845;p73"/>
          <p:cNvSpPr txBox="1"/>
          <p:nvPr>
            <p:ph idx="1" type="body"/>
          </p:nvPr>
        </p:nvSpPr>
        <p:spPr>
          <a:xfrm>
            <a:off x="4208325" y="1156875"/>
            <a:ext cx="46116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total heights of all the bars to the left of the median value…</a:t>
            </a:r>
            <a:endParaRPr sz="1800"/>
          </a:p>
        </p:txBody>
      </p:sp>
      <p:sp>
        <p:nvSpPr>
          <p:cNvPr id="846" name="Google Shape;846;p73"/>
          <p:cNvSpPr/>
          <p:nvPr/>
        </p:nvSpPr>
        <p:spPr>
          <a:xfrm>
            <a:off x="1088625" y="2329475"/>
            <a:ext cx="744000" cy="2039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3"/>
          <p:cNvSpPr txBox="1"/>
          <p:nvPr>
            <p:ph idx="1" type="body"/>
          </p:nvPr>
        </p:nvSpPr>
        <p:spPr>
          <a:xfrm>
            <a:off x="4208325" y="1862100"/>
            <a:ext cx="46116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Should be approximately equal to the total heights of all the bars to the right of the median value, even if both sides are distributed very differently.</a:t>
            </a:r>
            <a:endParaRPr sz="1800"/>
          </a:p>
        </p:txBody>
      </p:sp>
      <p:sp>
        <p:nvSpPr>
          <p:cNvPr id="848" name="Google Shape;848;p73"/>
          <p:cNvSpPr/>
          <p:nvPr/>
        </p:nvSpPr>
        <p:spPr>
          <a:xfrm>
            <a:off x="2072425" y="3337375"/>
            <a:ext cx="1599900" cy="1031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3"/>
          <p:cNvSpPr txBox="1"/>
          <p:nvPr>
            <p:ph idx="1" type="body"/>
          </p:nvPr>
        </p:nvSpPr>
        <p:spPr>
          <a:xfrm>
            <a:off x="560675" y="1484829"/>
            <a:ext cx="12720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</a:t>
            </a:r>
            <a:r>
              <a:rPr lang="en-GB" sz="1800"/>
              <a:t>otal height of around 38</a:t>
            </a:r>
            <a:endParaRPr sz="1800"/>
          </a:p>
        </p:txBody>
      </p:sp>
      <p:sp>
        <p:nvSpPr>
          <p:cNvPr id="850" name="Google Shape;850;p73"/>
          <p:cNvSpPr txBox="1"/>
          <p:nvPr>
            <p:ph idx="1" type="body"/>
          </p:nvPr>
        </p:nvSpPr>
        <p:spPr>
          <a:xfrm>
            <a:off x="2236375" y="2452729"/>
            <a:ext cx="12720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total height of around 37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pic>
        <p:nvPicPr>
          <p:cNvPr id="856" name="Google Shape;856;p7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000" y="683100"/>
            <a:ext cx="2481163" cy="19753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7" name="Google Shape;857;p74"/>
          <p:cNvSpPr txBox="1"/>
          <p:nvPr>
            <p:ph idx="1" type="body"/>
          </p:nvPr>
        </p:nvSpPr>
        <p:spPr>
          <a:xfrm>
            <a:off x="324000" y="630152"/>
            <a:ext cx="2966400" cy="42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To figure out which graph represents a dataset described by summary statistics, it is best to first rule out graphs that it cannot be.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 summary statistic will be revealed one at a time. After each statistic is revealed, rule out the graphs it cannot be until only the correct graph remains.</a:t>
            </a:r>
            <a:endParaRPr sz="1800"/>
          </a:p>
        </p:txBody>
      </p:sp>
      <p:pic>
        <p:nvPicPr>
          <p:cNvPr id="858" name="Google Shape;858;p74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8635" y="683101"/>
            <a:ext cx="2481163" cy="19753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59" name="Google Shape;859;p74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5001" y="2700010"/>
            <a:ext cx="2481163" cy="19753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60" name="Google Shape;860;p74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8642" y="2700043"/>
            <a:ext cx="2481159" cy="197531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861" name="Google Shape;861;p74"/>
          <p:cNvGrpSpPr/>
          <p:nvPr/>
        </p:nvGrpSpPr>
        <p:grpSpPr>
          <a:xfrm>
            <a:off x="5673057" y="678442"/>
            <a:ext cx="263119" cy="263119"/>
            <a:chOff x="1020916" y="1442088"/>
            <a:chExt cx="457200" cy="457200"/>
          </a:xfrm>
        </p:grpSpPr>
        <p:pic>
          <p:nvPicPr>
            <p:cNvPr id="862" name="Google Shape;862;p7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3" name="Google Shape;863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4" name="Google Shape;864;p74"/>
          <p:cNvGrpSpPr/>
          <p:nvPr/>
        </p:nvGrpSpPr>
        <p:grpSpPr>
          <a:xfrm>
            <a:off x="8209207" y="678442"/>
            <a:ext cx="263119" cy="263119"/>
            <a:chOff x="1020916" y="1442088"/>
            <a:chExt cx="457200" cy="457200"/>
          </a:xfrm>
        </p:grpSpPr>
        <p:pic>
          <p:nvPicPr>
            <p:cNvPr id="865" name="Google Shape;865;p7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6" name="Google Shape;866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7" name="Google Shape;867;p74"/>
          <p:cNvGrpSpPr/>
          <p:nvPr/>
        </p:nvGrpSpPr>
        <p:grpSpPr>
          <a:xfrm>
            <a:off x="3827457" y="2699992"/>
            <a:ext cx="263119" cy="263119"/>
            <a:chOff x="1020916" y="1442088"/>
            <a:chExt cx="457200" cy="457200"/>
          </a:xfrm>
        </p:grpSpPr>
        <p:pic>
          <p:nvPicPr>
            <p:cNvPr id="868" name="Google Shape;868;p7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9" name="Google Shape;869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0" name="Google Shape;870;p74"/>
          <p:cNvGrpSpPr/>
          <p:nvPr/>
        </p:nvGrpSpPr>
        <p:grpSpPr>
          <a:xfrm>
            <a:off x="8209207" y="2699992"/>
            <a:ext cx="263119" cy="263119"/>
            <a:chOff x="1020916" y="1442088"/>
            <a:chExt cx="457200" cy="457200"/>
          </a:xfrm>
        </p:grpSpPr>
        <p:pic>
          <p:nvPicPr>
            <p:cNvPr id="871" name="Google Shape;871;p7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2" name="Google Shape;872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5"/>
          <p:cNvSpPr txBox="1"/>
          <p:nvPr>
            <p:ph idx="1" type="body"/>
          </p:nvPr>
        </p:nvSpPr>
        <p:spPr>
          <a:xfrm>
            <a:off x="324000" y="1325700"/>
            <a:ext cx="3088500" cy="136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For graphs that don’t have outliers, the mean is more likely to be in the area around the peak.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8" name="Google Shape;878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graphicFrame>
        <p:nvGraphicFramePr>
          <p:cNvPr id="879" name="Google Shape;879;p75"/>
          <p:cNvGraphicFramePr/>
          <p:nvPr/>
        </p:nvGraphicFramePr>
        <p:xfrm>
          <a:off x="324000" y="869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920875"/>
                <a:gridCol w="779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80" name="Google Shape;880;p7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000" y="683100"/>
            <a:ext cx="2481163" cy="19753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1" name="Google Shape;881;p75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8635" y="683101"/>
            <a:ext cx="2481163" cy="19753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2" name="Google Shape;882;p75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5001" y="2700010"/>
            <a:ext cx="2481163" cy="19753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3" name="Google Shape;883;p75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8642" y="2700043"/>
            <a:ext cx="2481159" cy="197531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884" name="Google Shape;884;p75"/>
          <p:cNvGrpSpPr/>
          <p:nvPr/>
        </p:nvGrpSpPr>
        <p:grpSpPr>
          <a:xfrm>
            <a:off x="5673057" y="678442"/>
            <a:ext cx="263119" cy="263119"/>
            <a:chOff x="1020916" y="1442088"/>
            <a:chExt cx="457200" cy="457200"/>
          </a:xfrm>
        </p:grpSpPr>
        <p:pic>
          <p:nvPicPr>
            <p:cNvPr id="885" name="Google Shape;885;p7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6" name="Google Shape;886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7" name="Google Shape;887;p75"/>
          <p:cNvGrpSpPr/>
          <p:nvPr/>
        </p:nvGrpSpPr>
        <p:grpSpPr>
          <a:xfrm>
            <a:off x="8209207" y="678442"/>
            <a:ext cx="263119" cy="263119"/>
            <a:chOff x="1020916" y="1442088"/>
            <a:chExt cx="457200" cy="457200"/>
          </a:xfrm>
        </p:grpSpPr>
        <p:pic>
          <p:nvPicPr>
            <p:cNvPr id="888" name="Google Shape;888;p7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9" name="Google Shape;889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0" name="Google Shape;890;p75"/>
          <p:cNvGrpSpPr/>
          <p:nvPr/>
        </p:nvGrpSpPr>
        <p:grpSpPr>
          <a:xfrm>
            <a:off x="3827457" y="2699992"/>
            <a:ext cx="263119" cy="263119"/>
            <a:chOff x="1020916" y="1442088"/>
            <a:chExt cx="457200" cy="457200"/>
          </a:xfrm>
        </p:grpSpPr>
        <p:pic>
          <p:nvPicPr>
            <p:cNvPr id="891" name="Google Shape;891;p7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2" name="Google Shape;892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3" name="Google Shape;893;p75"/>
          <p:cNvGrpSpPr/>
          <p:nvPr/>
        </p:nvGrpSpPr>
        <p:grpSpPr>
          <a:xfrm>
            <a:off x="8209207" y="2699992"/>
            <a:ext cx="263119" cy="263119"/>
            <a:chOff x="1020916" y="1442088"/>
            <a:chExt cx="457200" cy="457200"/>
          </a:xfrm>
        </p:grpSpPr>
        <p:pic>
          <p:nvPicPr>
            <p:cNvPr id="894" name="Google Shape;894;p7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5" name="Google Shape;895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96" name="Google Shape;896;p75"/>
          <p:cNvSpPr/>
          <p:nvPr/>
        </p:nvSpPr>
        <p:spPr>
          <a:xfrm>
            <a:off x="4392475" y="683200"/>
            <a:ext cx="354900" cy="1975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5"/>
          <p:cNvSpPr/>
          <p:nvPr/>
        </p:nvSpPr>
        <p:spPr>
          <a:xfrm>
            <a:off x="6909198" y="683200"/>
            <a:ext cx="369900" cy="1975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5"/>
          <p:cNvSpPr/>
          <p:nvPr/>
        </p:nvSpPr>
        <p:spPr>
          <a:xfrm>
            <a:off x="5093025" y="2700050"/>
            <a:ext cx="366900" cy="1975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5"/>
          <p:cNvSpPr/>
          <p:nvPr/>
        </p:nvSpPr>
        <p:spPr>
          <a:xfrm>
            <a:off x="7094016" y="2699900"/>
            <a:ext cx="427500" cy="1975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6"/>
          <p:cNvSpPr txBox="1"/>
          <p:nvPr>
            <p:ph idx="1" type="body"/>
          </p:nvPr>
        </p:nvSpPr>
        <p:spPr>
          <a:xfrm>
            <a:off x="324000" y="1478100"/>
            <a:ext cx="30885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cannot have a mean of 27.4, as b only has data between 40 and 50.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5" name="Google Shape;90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graphicFrame>
        <p:nvGraphicFramePr>
          <p:cNvPr id="906" name="Google Shape;906;p76"/>
          <p:cNvGraphicFramePr/>
          <p:nvPr/>
        </p:nvGraphicFramePr>
        <p:xfrm>
          <a:off x="324000" y="869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920875"/>
                <a:gridCol w="779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07" name="Google Shape;907;p7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000" y="683100"/>
            <a:ext cx="2481163" cy="19753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8" name="Google Shape;908;p76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8635" y="683101"/>
            <a:ext cx="2481163" cy="19753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9" name="Google Shape;909;p76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5001" y="2700010"/>
            <a:ext cx="2481163" cy="19753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0" name="Google Shape;910;p76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8642" y="2700043"/>
            <a:ext cx="2481159" cy="197531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11" name="Google Shape;911;p76"/>
          <p:cNvGrpSpPr/>
          <p:nvPr/>
        </p:nvGrpSpPr>
        <p:grpSpPr>
          <a:xfrm>
            <a:off x="5673057" y="678442"/>
            <a:ext cx="263119" cy="263119"/>
            <a:chOff x="1020916" y="1442088"/>
            <a:chExt cx="457200" cy="457200"/>
          </a:xfrm>
        </p:grpSpPr>
        <p:pic>
          <p:nvPicPr>
            <p:cNvPr id="912" name="Google Shape;912;p7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3" name="Google Shape;913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4" name="Google Shape;914;p76"/>
          <p:cNvGrpSpPr/>
          <p:nvPr/>
        </p:nvGrpSpPr>
        <p:grpSpPr>
          <a:xfrm>
            <a:off x="8209207" y="678442"/>
            <a:ext cx="263119" cy="263119"/>
            <a:chOff x="1020916" y="1442088"/>
            <a:chExt cx="457200" cy="457200"/>
          </a:xfrm>
        </p:grpSpPr>
        <p:pic>
          <p:nvPicPr>
            <p:cNvPr id="915" name="Google Shape;915;p7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6" name="Google Shape;916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7" name="Google Shape;917;p76"/>
          <p:cNvGrpSpPr/>
          <p:nvPr/>
        </p:nvGrpSpPr>
        <p:grpSpPr>
          <a:xfrm>
            <a:off x="3827457" y="2699992"/>
            <a:ext cx="263119" cy="263119"/>
            <a:chOff x="1020916" y="1442088"/>
            <a:chExt cx="457200" cy="457200"/>
          </a:xfrm>
        </p:grpSpPr>
        <p:pic>
          <p:nvPicPr>
            <p:cNvPr id="918" name="Google Shape;918;p7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9" name="Google Shape;919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0" name="Google Shape;920;p76"/>
          <p:cNvGrpSpPr/>
          <p:nvPr/>
        </p:nvGrpSpPr>
        <p:grpSpPr>
          <a:xfrm>
            <a:off x="8209207" y="2699992"/>
            <a:ext cx="263119" cy="263119"/>
            <a:chOff x="1020916" y="1442088"/>
            <a:chExt cx="457200" cy="457200"/>
          </a:xfrm>
        </p:grpSpPr>
        <p:pic>
          <p:nvPicPr>
            <p:cNvPr id="921" name="Google Shape;921;p7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2" name="Google Shape;922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3" name="Google Shape;923;p76"/>
          <p:cNvSpPr/>
          <p:nvPr/>
        </p:nvSpPr>
        <p:spPr>
          <a:xfrm>
            <a:off x="4392475" y="683200"/>
            <a:ext cx="354900" cy="1975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6"/>
          <p:cNvSpPr/>
          <p:nvPr/>
        </p:nvSpPr>
        <p:spPr>
          <a:xfrm>
            <a:off x="6909198" y="683200"/>
            <a:ext cx="369900" cy="1975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6"/>
          <p:cNvSpPr/>
          <p:nvPr/>
        </p:nvSpPr>
        <p:spPr>
          <a:xfrm>
            <a:off x="5093025" y="2700050"/>
            <a:ext cx="366900" cy="1975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6"/>
          <p:cNvSpPr/>
          <p:nvPr/>
        </p:nvSpPr>
        <p:spPr>
          <a:xfrm>
            <a:off x="7094016" y="2699900"/>
            <a:ext cx="427500" cy="1975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7" name="Google Shape;927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42763" y="941542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77"/>
          <p:cNvSpPr txBox="1"/>
          <p:nvPr>
            <p:ph idx="1" type="body"/>
          </p:nvPr>
        </p:nvSpPr>
        <p:spPr>
          <a:xfrm>
            <a:off x="324000" y="1361300"/>
            <a:ext cx="30885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mean will rarely deviate too far from the peak.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3" name="Google Shape;933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graphicFrame>
        <p:nvGraphicFramePr>
          <p:cNvPr id="934" name="Google Shape;934;p77"/>
          <p:cNvGraphicFramePr/>
          <p:nvPr/>
        </p:nvGraphicFramePr>
        <p:xfrm>
          <a:off x="324000" y="869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920875"/>
                <a:gridCol w="779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35" name="Google Shape;935;p7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000" y="683100"/>
            <a:ext cx="2481163" cy="19753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6" name="Google Shape;936;p77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8635" y="683101"/>
            <a:ext cx="2481163" cy="19753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7" name="Google Shape;937;p77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5001" y="2700010"/>
            <a:ext cx="2481163" cy="19753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8" name="Google Shape;938;p77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8642" y="2700043"/>
            <a:ext cx="2481159" cy="197531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39" name="Google Shape;939;p77"/>
          <p:cNvGrpSpPr/>
          <p:nvPr/>
        </p:nvGrpSpPr>
        <p:grpSpPr>
          <a:xfrm>
            <a:off x="5673057" y="678442"/>
            <a:ext cx="263119" cy="263119"/>
            <a:chOff x="1020916" y="1442088"/>
            <a:chExt cx="457200" cy="457200"/>
          </a:xfrm>
        </p:grpSpPr>
        <p:pic>
          <p:nvPicPr>
            <p:cNvPr id="940" name="Google Shape;940;p7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1" name="Google Shape;941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2" name="Google Shape;942;p77"/>
          <p:cNvGrpSpPr/>
          <p:nvPr/>
        </p:nvGrpSpPr>
        <p:grpSpPr>
          <a:xfrm>
            <a:off x="8209207" y="678442"/>
            <a:ext cx="263119" cy="263119"/>
            <a:chOff x="1020916" y="1442088"/>
            <a:chExt cx="457200" cy="457200"/>
          </a:xfrm>
        </p:grpSpPr>
        <p:pic>
          <p:nvPicPr>
            <p:cNvPr id="943" name="Google Shape;943;p7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4" name="Google Shape;944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5" name="Google Shape;945;p77"/>
          <p:cNvGrpSpPr/>
          <p:nvPr/>
        </p:nvGrpSpPr>
        <p:grpSpPr>
          <a:xfrm>
            <a:off x="3827457" y="2699992"/>
            <a:ext cx="263119" cy="263119"/>
            <a:chOff x="1020916" y="1442088"/>
            <a:chExt cx="457200" cy="457200"/>
          </a:xfrm>
        </p:grpSpPr>
        <p:pic>
          <p:nvPicPr>
            <p:cNvPr id="946" name="Google Shape;946;p7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7" name="Google Shape;947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8" name="Google Shape;948;p77"/>
          <p:cNvGrpSpPr/>
          <p:nvPr/>
        </p:nvGrpSpPr>
        <p:grpSpPr>
          <a:xfrm>
            <a:off x="8209207" y="2699992"/>
            <a:ext cx="263119" cy="263119"/>
            <a:chOff x="1020916" y="1442088"/>
            <a:chExt cx="457200" cy="457200"/>
          </a:xfrm>
        </p:grpSpPr>
        <p:pic>
          <p:nvPicPr>
            <p:cNvPr id="949" name="Google Shape;949;p7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0" name="Google Shape;950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51" name="Google Shape;951;p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61000" y="2925217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77"/>
          <p:cNvSpPr/>
          <p:nvPr/>
        </p:nvSpPr>
        <p:spPr>
          <a:xfrm>
            <a:off x="4392475" y="683200"/>
            <a:ext cx="354900" cy="1975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7"/>
          <p:cNvSpPr/>
          <p:nvPr/>
        </p:nvSpPr>
        <p:spPr>
          <a:xfrm>
            <a:off x="6909198" y="683200"/>
            <a:ext cx="369900" cy="1975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7"/>
          <p:cNvSpPr/>
          <p:nvPr/>
        </p:nvSpPr>
        <p:spPr>
          <a:xfrm>
            <a:off x="5093025" y="2700050"/>
            <a:ext cx="366900" cy="1975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7"/>
          <p:cNvSpPr/>
          <p:nvPr/>
        </p:nvSpPr>
        <p:spPr>
          <a:xfrm>
            <a:off x="7094016" y="2699900"/>
            <a:ext cx="427500" cy="1975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6" name="Google Shape;956;p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42763" y="94154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77"/>
          <p:cNvSpPr txBox="1"/>
          <p:nvPr>
            <p:ph idx="1" type="body"/>
          </p:nvPr>
        </p:nvSpPr>
        <p:spPr>
          <a:xfrm>
            <a:off x="324000" y="2883500"/>
            <a:ext cx="30885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 graph c, 27.4 is too far towards the tail of the graph.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78"/>
          <p:cNvSpPr txBox="1"/>
          <p:nvPr>
            <p:ph idx="1" type="body"/>
          </p:nvPr>
        </p:nvSpPr>
        <p:spPr>
          <a:xfrm>
            <a:off x="324000" y="1782900"/>
            <a:ext cx="3088500" cy="185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mode is the most frequent data point.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Graphically, this is represented by the tallest bar on the bar chart.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3" name="Google Shape;963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graphicFrame>
        <p:nvGraphicFramePr>
          <p:cNvPr id="964" name="Google Shape;964;p78"/>
          <p:cNvGraphicFramePr/>
          <p:nvPr/>
        </p:nvGraphicFramePr>
        <p:xfrm>
          <a:off x="324000" y="869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920875"/>
                <a:gridCol w="779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65" name="Google Shape;965;p7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000" y="683100"/>
            <a:ext cx="2481163" cy="19753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66" name="Google Shape;966;p78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8635" y="683101"/>
            <a:ext cx="2481163" cy="19753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67" name="Google Shape;967;p78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5001" y="2700010"/>
            <a:ext cx="2481163" cy="19753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68" name="Google Shape;968;p78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8642" y="2700043"/>
            <a:ext cx="2481159" cy="197531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69" name="Google Shape;969;p78"/>
          <p:cNvGrpSpPr/>
          <p:nvPr/>
        </p:nvGrpSpPr>
        <p:grpSpPr>
          <a:xfrm>
            <a:off x="5673057" y="678442"/>
            <a:ext cx="263119" cy="263119"/>
            <a:chOff x="1020916" y="1442088"/>
            <a:chExt cx="457200" cy="457200"/>
          </a:xfrm>
        </p:grpSpPr>
        <p:pic>
          <p:nvPicPr>
            <p:cNvPr id="970" name="Google Shape;970;p7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2" name="Google Shape;972;p78"/>
          <p:cNvGrpSpPr/>
          <p:nvPr/>
        </p:nvGrpSpPr>
        <p:grpSpPr>
          <a:xfrm>
            <a:off x="8209207" y="678442"/>
            <a:ext cx="263119" cy="263119"/>
            <a:chOff x="1020916" y="1442088"/>
            <a:chExt cx="457200" cy="457200"/>
          </a:xfrm>
        </p:grpSpPr>
        <p:pic>
          <p:nvPicPr>
            <p:cNvPr id="973" name="Google Shape;973;p7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5" name="Google Shape;975;p78"/>
          <p:cNvGrpSpPr/>
          <p:nvPr/>
        </p:nvGrpSpPr>
        <p:grpSpPr>
          <a:xfrm>
            <a:off x="3827457" y="2699992"/>
            <a:ext cx="263119" cy="263119"/>
            <a:chOff x="1020916" y="1442088"/>
            <a:chExt cx="457200" cy="457200"/>
          </a:xfrm>
        </p:grpSpPr>
        <p:pic>
          <p:nvPicPr>
            <p:cNvPr id="976" name="Google Shape;976;p7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7" name="Google Shape;977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8" name="Google Shape;978;p78"/>
          <p:cNvGrpSpPr/>
          <p:nvPr/>
        </p:nvGrpSpPr>
        <p:grpSpPr>
          <a:xfrm>
            <a:off x="8209207" y="2699992"/>
            <a:ext cx="263119" cy="263119"/>
            <a:chOff x="1020916" y="1442088"/>
            <a:chExt cx="457200" cy="457200"/>
          </a:xfrm>
        </p:grpSpPr>
        <p:pic>
          <p:nvPicPr>
            <p:cNvPr id="979" name="Google Shape;979;p7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0" name="Google Shape;980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81" name="Google Shape;981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61000" y="29252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42763" y="941542"/>
            <a:ext cx="396000" cy="4197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83" name="Google Shape;983;p78"/>
          <p:cNvGraphicFramePr/>
          <p:nvPr/>
        </p:nvGraphicFramePr>
        <p:xfrm>
          <a:off x="324000" y="1203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920875"/>
                <a:gridCol w="779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4" name="Google Shape;984;p78"/>
          <p:cNvSpPr txBox="1"/>
          <p:nvPr>
            <p:ph idx="1" type="body"/>
          </p:nvPr>
        </p:nvSpPr>
        <p:spPr>
          <a:xfrm>
            <a:off x="324000" y="4013600"/>
            <a:ext cx="30885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a and d have 26 as the mode.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79"/>
          <p:cNvSpPr txBox="1"/>
          <p:nvPr>
            <p:ph idx="1" type="body"/>
          </p:nvPr>
        </p:nvSpPr>
        <p:spPr>
          <a:xfrm>
            <a:off x="324000" y="2002275"/>
            <a:ext cx="3088500" cy="23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range is the difference between the largest data point and the smallest data point.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a: 34 - 24 = 10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d: 38 - 20 = 18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0" name="Google Shape;99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graphicFrame>
        <p:nvGraphicFramePr>
          <p:cNvPr id="991" name="Google Shape;991;p79"/>
          <p:cNvGraphicFramePr/>
          <p:nvPr/>
        </p:nvGraphicFramePr>
        <p:xfrm>
          <a:off x="324000" y="869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920875"/>
                <a:gridCol w="779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92" name="Google Shape;992;p7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000" y="683100"/>
            <a:ext cx="2481163" cy="19753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93" name="Google Shape;993;p79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8635" y="683101"/>
            <a:ext cx="2481163" cy="19753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94" name="Google Shape;994;p79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5001" y="2700010"/>
            <a:ext cx="2481163" cy="197539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95" name="Google Shape;995;p79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8642" y="2700043"/>
            <a:ext cx="2481159" cy="197531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96" name="Google Shape;996;p79"/>
          <p:cNvGrpSpPr/>
          <p:nvPr/>
        </p:nvGrpSpPr>
        <p:grpSpPr>
          <a:xfrm>
            <a:off x="5673057" y="678442"/>
            <a:ext cx="263119" cy="263119"/>
            <a:chOff x="1020916" y="1442088"/>
            <a:chExt cx="457200" cy="457200"/>
          </a:xfrm>
        </p:grpSpPr>
        <p:pic>
          <p:nvPicPr>
            <p:cNvPr id="997" name="Google Shape;997;p7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8" name="Google Shape;998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9" name="Google Shape;999;p79"/>
          <p:cNvGrpSpPr/>
          <p:nvPr/>
        </p:nvGrpSpPr>
        <p:grpSpPr>
          <a:xfrm>
            <a:off x="8209207" y="678442"/>
            <a:ext cx="263119" cy="263119"/>
            <a:chOff x="1020916" y="1442088"/>
            <a:chExt cx="457200" cy="457200"/>
          </a:xfrm>
        </p:grpSpPr>
        <p:pic>
          <p:nvPicPr>
            <p:cNvPr id="1000" name="Google Shape;1000;p7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1" name="Google Shape;1001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2" name="Google Shape;1002;p79"/>
          <p:cNvGrpSpPr/>
          <p:nvPr/>
        </p:nvGrpSpPr>
        <p:grpSpPr>
          <a:xfrm>
            <a:off x="3827457" y="2699992"/>
            <a:ext cx="263119" cy="263119"/>
            <a:chOff x="1020916" y="1442088"/>
            <a:chExt cx="457200" cy="457200"/>
          </a:xfrm>
        </p:grpSpPr>
        <p:pic>
          <p:nvPicPr>
            <p:cNvPr id="1003" name="Google Shape;1003;p7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4" name="Google Shape;1004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5" name="Google Shape;1005;p79"/>
          <p:cNvGrpSpPr/>
          <p:nvPr/>
        </p:nvGrpSpPr>
        <p:grpSpPr>
          <a:xfrm>
            <a:off x="8209207" y="2699992"/>
            <a:ext cx="263119" cy="263119"/>
            <a:chOff x="1020916" y="1442088"/>
            <a:chExt cx="457200" cy="457200"/>
          </a:xfrm>
        </p:grpSpPr>
        <p:pic>
          <p:nvPicPr>
            <p:cNvPr id="1006" name="Google Shape;1006;p7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7" name="Google Shape;1007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08" name="Google Shape;1008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61000" y="29252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42763" y="941542"/>
            <a:ext cx="396000" cy="4197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0" name="Google Shape;1010;p79"/>
          <p:cNvGraphicFramePr/>
          <p:nvPr/>
        </p:nvGraphicFramePr>
        <p:xfrm>
          <a:off x="324000" y="1203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920875"/>
                <a:gridCol w="779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1" name="Google Shape;1011;p79"/>
          <p:cNvGraphicFramePr/>
          <p:nvPr/>
        </p:nvGraphicFramePr>
        <p:xfrm>
          <a:off x="324000" y="153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920875"/>
                <a:gridCol w="779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12" name="Google Shape;1012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42763" y="29252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7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06621" y="9418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sp>
        <p:nvSpPr>
          <p:cNvPr id="1019" name="Google Shape;1019;p80"/>
          <p:cNvSpPr txBox="1"/>
          <p:nvPr>
            <p:ph idx="1" type="body"/>
          </p:nvPr>
        </p:nvSpPr>
        <p:spPr>
          <a:xfrm>
            <a:off x="324000" y="630150"/>
            <a:ext cx="41130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of these summary statistics does not represent the data shown on the bar chart?</a:t>
            </a:r>
            <a:endParaRPr sz="1800"/>
          </a:p>
        </p:txBody>
      </p:sp>
      <p:pic>
        <p:nvPicPr>
          <p:cNvPr id="1020" name="Google Shape;1020;p8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58825"/>
            <a:ext cx="4248001" cy="338005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021" name="Google Shape;1021;p80"/>
          <p:cNvGraphicFramePr/>
          <p:nvPr/>
        </p:nvGraphicFramePr>
        <p:xfrm>
          <a:off x="324000" y="1607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920875"/>
                <a:gridCol w="779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22" name="Google Shape;1022;p80"/>
          <p:cNvGraphicFramePr/>
          <p:nvPr/>
        </p:nvGraphicFramePr>
        <p:xfrm>
          <a:off x="324000" y="1941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920875"/>
                <a:gridCol w="779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23" name="Google Shape;1023;p80"/>
          <p:cNvGraphicFramePr/>
          <p:nvPr/>
        </p:nvGraphicFramePr>
        <p:xfrm>
          <a:off x="324000" y="227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920875"/>
                <a:gridCol w="779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24" name="Google Shape;1024;p80"/>
          <p:cNvGraphicFramePr/>
          <p:nvPr/>
        </p:nvGraphicFramePr>
        <p:xfrm>
          <a:off x="324000" y="260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920875"/>
                <a:gridCol w="779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5" name="Google Shape;1025;p80"/>
          <p:cNvSpPr txBox="1"/>
          <p:nvPr>
            <p:ph idx="1" type="body"/>
          </p:nvPr>
        </p:nvSpPr>
        <p:spPr>
          <a:xfrm>
            <a:off x="324000" y="2998300"/>
            <a:ext cx="42480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median is the central value when ordered. By quick inspection it is possible to see that 111 is the maximum/highest value (and has a low frequency).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26" name="Google Shape;102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4772" y="1950123"/>
            <a:ext cx="314513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81"/>
          <p:cNvSpPr txBox="1"/>
          <p:nvPr>
            <p:ph idx="4294967295" type="body"/>
          </p:nvPr>
        </p:nvSpPr>
        <p:spPr>
          <a:xfrm>
            <a:off x="324000" y="630150"/>
            <a:ext cx="2948100" cy="171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Which of these summary statistic values is applicable to bar charts  a, b, c, d, or any combination of them?</a:t>
            </a:r>
            <a:endParaRPr sz="1800"/>
          </a:p>
        </p:txBody>
      </p:sp>
      <p:pic>
        <p:nvPicPr>
          <p:cNvPr id="1032" name="Google Shape;1032;p8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3" y="705050"/>
            <a:ext cx="2541825" cy="202364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33" name="Google Shape;1033;p81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3083" y="2770381"/>
            <a:ext cx="2541818" cy="202366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4" name="Google Shape;1034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graphicFrame>
        <p:nvGraphicFramePr>
          <p:cNvPr id="1035" name="Google Shape;1035;p81"/>
          <p:cNvGraphicFramePr/>
          <p:nvPr/>
        </p:nvGraphicFramePr>
        <p:xfrm>
          <a:off x="286300" y="2713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  <a:gridCol w="378525"/>
                <a:gridCol w="3785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36" name="Google Shape;1036;p81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9600" y="2770373"/>
            <a:ext cx="2541818" cy="202366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37" name="Google Shape;1037;p81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3083" y="705050"/>
            <a:ext cx="2541818" cy="202366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038" name="Google Shape;1038;p81"/>
          <p:cNvGrpSpPr/>
          <p:nvPr/>
        </p:nvGrpSpPr>
        <p:grpSpPr>
          <a:xfrm>
            <a:off x="5639265" y="701426"/>
            <a:ext cx="270251" cy="270251"/>
            <a:chOff x="1020916" y="1442088"/>
            <a:chExt cx="457200" cy="457200"/>
          </a:xfrm>
        </p:grpSpPr>
        <p:pic>
          <p:nvPicPr>
            <p:cNvPr id="1039" name="Google Shape;1039;p8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0" name="Google Shape;1040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1" name="Google Shape;1041;p81"/>
          <p:cNvGrpSpPr/>
          <p:nvPr/>
        </p:nvGrpSpPr>
        <p:grpSpPr>
          <a:xfrm>
            <a:off x="8224640" y="701426"/>
            <a:ext cx="270251" cy="270251"/>
            <a:chOff x="1020916" y="1442088"/>
            <a:chExt cx="457200" cy="457200"/>
          </a:xfrm>
        </p:grpSpPr>
        <p:pic>
          <p:nvPicPr>
            <p:cNvPr id="1042" name="Google Shape;1042;p8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3" name="Google Shape;1043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4" name="Google Shape;1044;p81"/>
          <p:cNvGrpSpPr/>
          <p:nvPr/>
        </p:nvGrpSpPr>
        <p:grpSpPr>
          <a:xfrm>
            <a:off x="5639265" y="2770376"/>
            <a:ext cx="270251" cy="270251"/>
            <a:chOff x="1020916" y="1442088"/>
            <a:chExt cx="457200" cy="457200"/>
          </a:xfrm>
        </p:grpSpPr>
        <p:pic>
          <p:nvPicPr>
            <p:cNvPr id="1045" name="Google Shape;1045;p8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6" name="Google Shape;1046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7" name="Google Shape;1047;p81"/>
          <p:cNvGrpSpPr/>
          <p:nvPr/>
        </p:nvGrpSpPr>
        <p:grpSpPr>
          <a:xfrm>
            <a:off x="8224640" y="2770376"/>
            <a:ext cx="270251" cy="270251"/>
            <a:chOff x="1020916" y="1442088"/>
            <a:chExt cx="457200" cy="457200"/>
          </a:xfrm>
        </p:grpSpPr>
        <p:pic>
          <p:nvPicPr>
            <p:cNvPr id="1048" name="Google Shape;1048;p8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" name="Google Shape;1049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Google Shape;1054;p82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72000"/>
            <a:ext cx="2492566" cy="19844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55" name="Google Shape;1055;p82"/>
          <p:cNvSpPr txBox="1"/>
          <p:nvPr>
            <p:ph idx="4294967295" type="body"/>
          </p:nvPr>
        </p:nvSpPr>
        <p:spPr>
          <a:xfrm>
            <a:off x="5434650" y="630150"/>
            <a:ext cx="3385500" cy="20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Each summary statistic below matches with a pair of bar charts. For each summary statistic, write down its value and the names of the two classes it represents.</a:t>
            </a:r>
            <a:endParaRPr sz="1800"/>
          </a:p>
        </p:txBody>
      </p:sp>
      <p:sp>
        <p:nvSpPr>
          <p:cNvPr id="1056" name="Google Shape;1056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grpSp>
        <p:nvGrpSpPr>
          <p:cNvPr id="1057" name="Google Shape;1057;p82"/>
          <p:cNvGrpSpPr/>
          <p:nvPr/>
        </p:nvGrpSpPr>
        <p:grpSpPr>
          <a:xfrm>
            <a:off x="703409" y="671731"/>
            <a:ext cx="1066968" cy="397078"/>
            <a:chOff x="1020916" y="1442088"/>
            <a:chExt cx="457200" cy="457200"/>
          </a:xfrm>
        </p:grpSpPr>
        <p:pic>
          <p:nvPicPr>
            <p:cNvPr id="1058" name="Google Shape;1058;p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9" name="Google Shape;1059;p82"/>
            <p:cNvSpPr txBox="1"/>
            <p:nvPr/>
          </p:nvSpPr>
          <p:spPr>
            <a:xfrm>
              <a:off x="1045528" y="154983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score of class 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060" name="Google Shape;1060;p82"/>
          <p:cNvGraphicFramePr/>
          <p:nvPr/>
        </p:nvGraphicFramePr>
        <p:xfrm>
          <a:off x="5396950" y="2741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61" name="Google Shape;1061;p82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2744301"/>
            <a:ext cx="2492566" cy="19844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62" name="Google Shape;1062;p82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04384" y="2744301"/>
            <a:ext cx="2492566" cy="19844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63" name="Google Shape;1063;p82" title="Chart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04384" y="672000"/>
            <a:ext cx="2492566" cy="19844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064" name="Google Shape;1064;p82"/>
          <p:cNvGrpSpPr/>
          <p:nvPr/>
        </p:nvGrpSpPr>
        <p:grpSpPr>
          <a:xfrm>
            <a:off x="3275159" y="671731"/>
            <a:ext cx="1066968" cy="397078"/>
            <a:chOff x="1020916" y="1442088"/>
            <a:chExt cx="457200" cy="457200"/>
          </a:xfrm>
        </p:grpSpPr>
        <p:pic>
          <p:nvPicPr>
            <p:cNvPr id="1065" name="Google Shape;1065;p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6" name="Google Shape;1066;p82"/>
            <p:cNvSpPr txBox="1"/>
            <p:nvPr/>
          </p:nvSpPr>
          <p:spPr>
            <a:xfrm>
              <a:off x="1045528" y="154983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score of class 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7" name="Google Shape;1067;p82"/>
          <p:cNvGrpSpPr/>
          <p:nvPr/>
        </p:nvGrpSpPr>
        <p:grpSpPr>
          <a:xfrm>
            <a:off x="703408" y="2744328"/>
            <a:ext cx="2113178" cy="266593"/>
            <a:chOff x="1020916" y="1442088"/>
            <a:chExt cx="457200" cy="457200"/>
          </a:xfrm>
        </p:grpSpPr>
        <p:pic>
          <p:nvPicPr>
            <p:cNvPr id="1068" name="Google Shape;1068;p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9" name="Google Shape;1069;p82"/>
            <p:cNvSpPr txBox="1"/>
            <p:nvPr/>
          </p:nvSpPr>
          <p:spPr>
            <a:xfrm>
              <a:off x="1045528" y="154983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score of class 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0" name="Google Shape;1070;p82"/>
          <p:cNvGrpSpPr/>
          <p:nvPr/>
        </p:nvGrpSpPr>
        <p:grpSpPr>
          <a:xfrm>
            <a:off x="3275159" y="2744306"/>
            <a:ext cx="1066968" cy="397078"/>
            <a:chOff x="1020916" y="1442088"/>
            <a:chExt cx="457200" cy="457200"/>
          </a:xfrm>
        </p:grpSpPr>
        <p:pic>
          <p:nvPicPr>
            <p:cNvPr id="1071" name="Google Shape;1071;p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2" name="Google Shape;1072;p82"/>
            <p:cNvSpPr txBox="1"/>
            <p:nvPr/>
          </p:nvSpPr>
          <p:spPr>
            <a:xfrm>
              <a:off x="1045528" y="154983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score of class 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073" name="Google Shape;1073;p82"/>
          <p:cNvGraphicFramePr/>
          <p:nvPr/>
        </p:nvGraphicFramePr>
        <p:xfrm>
          <a:off x="6344775" y="31777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74" name="Google Shape;1074;p82"/>
          <p:cNvGraphicFramePr/>
          <p:nvPr/>
        </p:nvGraphicFramePr>
        <p:xfrm>
          <a:off x="5396950" y="36141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75" name="Google Shape;1075;p82"/>
          <p:cNvGraphicFramePr/>
          <p:nvPr/>
        </p:nvGraphicFramePr>
        <p:xfrm>
          <a:off x="6344775" y="40505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76" name="Google Shape;1076;p82"/>
          <p:cNvGraphicFramePr/>
          <p:nvPr/>
        </p:nvGraphicFramePr>
        <p:xfrm>
          <a:off x="5396950" y="448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83"/>
          <p:cNvSpPr txBox="1"/>
          <p:nvPr>
            <p:ph idx="4294967295" type="body"/>
          </p:nvPr>
        </p:nvSpPr>
        <p:spPr>
          <a:xfrm>
            <a:off x="5609800" y="630150"/>
            <a:ext cx="3210300" cy="13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Place a ✓ by each letter if all summary statistics given accurately represent the corresponding bar chart.</a:t>
            </a:r>
            <a:endParaRPr sz="1800"/>
          </a:p>
        </p:txBody>
      </p:sp>
      <p:sp>
        <p:nvSpPr>
          <p:cNvPr id="1082" name="Google Shape;1082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graphicFrame>
        <p:nvGraphicFramePr>
          <p:cNvPr id="1083" name="Google Shape;1083;p83"/>
          <p:cNvGraphicFramePr/>
          <p:nvPr/>
        </p:nvGraphicFramePr>
        <p:xfrm>
          <a:off x="5729025" y="203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22100"/>
                <a:gridCol w="5286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84" name="Google Shape;1084;p8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7580" y="642950"/>
            <a:ext cx="2623571" cy="208873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5" name="Google Shape;1085;p83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642951"/>
            <a:ext cx="2623571" cy="208871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086" name="Google Shape;1086;p83"/>
          <p:cNvGrpSpPr/>
          <p:nvPr/>
        </p:nvGrpSpPr>
        <p:grpSpPr>
          <a:xfrm>
            <a:off x="2677315" y="642951"/>
            <a:ext cx="270251" cy="270251"/>
            <a:chOff x="1020916" y="1442088"/>
            <a:chExt cx="457200" cy="457200"/>
          </a:xfrm>
        </p:grpSpPr>
        <p:pic>
          <p:nvPicPr>
            <p:cNvPr id="1087" name="Google Shape;1087;p8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8" name="Google Shape;1088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9" name="Google Shape;1089;p83"/>
          <p:cNvGrpSpPr/>
          <p:nvPr/>
        </p:nvGrpSpPr>
        <p:grpSpPr>
          <a:xfrm>
            <a:off x="5300890" y="642951"/>
            <a:ext cx="270251" cy="270251"/>
            <a:chOff x="1020916" y="1442088"/>
            <a:chExt cx="457200" cy="457200"/>
          </a:xfrm>
        </p:grpSpPr>
        <p:pic>
          <p:nvPicPr>
            <p:cNvPr id="1090" name="Google Shape;1090;p8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1" name="Google Shape;1091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2" name="Google Shape;1092;p83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47576" y="2731688"/>
            <a:ext cx="2623571" cy="208871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93" name="Google Shape;1093;p83" title="Chart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4004" y="2731692"/>
            <a:ext cx="2623571" cy="208870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094" name="Google Shape;1094;p83"/>
          <p:cNvGrpSpPr/>
          <p:nvPr/>
        </p:nvGrpSpPr>
        <p:grpSpPr>
          <a:xfrm>
            <a:off x="2677315" y="2731676"/>
            <a:ext cx="270251" cy="270251"/>
            <a:chOff x="1020916" y="1442088"/>
            <a:chExt cx="457200" cy="457200"/>
          </a:xfrm>
        </p:grpSpPr>
        <p:pic>
          <p:nvPicPr>
            <p:cNvPr id="1095" name="Google Shape;1095;p8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6" name="Google Shape;1096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7" name="Google Shape;1097;p83"/>
          <p:cNvGrpSpPr/>
          <p:nvPr/>
        </p:nvGrpSpPr>
        <p:grpSpPr>
          <a:xfrm>
            <a:off x="5300890" y="2731676"/>
            <a:ext cx="270251" cy="270251"/>
            <a:chOff x="1020916" y="1442088"/>
            <a:chExt cx="457200" cy="457200"/>
          </a:xfrm>
        </p:grpSpPr>
        <p:pic>
          <p:nvPicPr>
            <p:cNvPr id="1098" name="Google Shape;1098;p8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9" name="Google Shape;1099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100" name="Google Shape;1100;p83"/>
          <p:cNvGraphicFramePr/>
          <p:nvPr/>
        </p:nvGraphicFramePr>
        <p:xfrm>
          <a:off x="5729025" y="237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337700"/>
                <a:gridCol w="337700"/>
                <a:gridCol w="337700"/>
                <a:gridCol w="3377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01" name="Google Shape;1101;p83"/>
          <p:cNvGraphicFramePr/>
          <p:nvPr/>
        </p:nvGraphicFramePr>
        <p:xfrm>
          <a:off x="5729025" y="2706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337700"/>
                <a:gridCol w="337700"/>
                <a:gridCol w="337700"/>
                <a:gridCol w="3377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02" name="Google Shape;1102;p83"/>
          <p:cNvGraphicFramePr/>
          <p:nvPr/>
        </p:nvGraphicFramePr>
        <p:xfrm>
          <a:off x="7470100" y="26497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21650"/>
                <a:gridCol w="5283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03" name="Google Shape;1103;p83"/>
          <p:cNvGraphicFramePr/>
          <p:nvPr/>
        </p:nvGraphicFramePr>
        <p:xfrm>
          <a:off x="7470100" y="36499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337500"/>
                <a:gridCol w="337500"/>
                <a:gridCol w="337500"/>
                <a:gridCol w="337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04" name="Google Shape;1104;p83"/>
          <p:cNvGraphicFramePr/>
          <p:nvPr/>
        </p:nvGraphicFramePr>
        <p:xfrm>
          <a:off x="7470100" y="39832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337500"/>
                <a:gridCol w="337500"/>
                <a:gridCol w="337500"/>
                <a:gridCol w="337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05" name="Google Shape;1105;p83"/>
          <p:cNvGraphicFramePr/>
          <p:nvPr/>
        </p:nvGraphicFramePr>
        <p:xfrm>
          <a:off x="7470100" y="29831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21650"/>
                <a:gridCol w="5283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06" name="Google Shape;1106;p83"/>
          <p:cNvGraphicFramePr/>
          <p:nvPr/>
        </p:nvGraphicFramePr>
        <p:xfrm>
          <a:off x="5723775" y="3486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22125"/>
                <a:gridCol w="5286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07" name="Google Shape;1107;p83"/>
          <p:cNvGraphicFramePr/>
          <p:nvPr/>
        </p:nvGraphicFramePr>
        <p:xfrm>
          <a:off x="5723775" y="4153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337500"/>
                <a:gridCol w="337500"/>
                <a:gridCol w="337500"/>
                <a:gridCol w="337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08" name="Google Shape;1108;p83"/>
          <p:cNvGraphicFramePr/>
          <p:nvPr/>
        </p:nvGraphicFramePr>
        <p:xfrm>
          <a:off x="5723775" y="4487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337500"/>
                <a:gridCol w="337500"/>
                <a:gridCol w="337500"/>
                <a:gridCol w="337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09" name="Google Shape;1109;p83"/>
          <p:cNvGraphicFramePr/>
          <p:nvPr/>
        </p:nvGraphicFramePr>
        <p:xfrm>
          <a:off x="5723775" y="3820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21650"/>
                <a:gridCol w="5283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0" name="Google Shape;1110;p83"/>
          <p:cNvGraphicFramePr/>
          <p:nvPr/>
        </p:nvGraphicFramePr>
        <p:xfrm>
          <a:off x="7470100" y="33165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21650"/>
                <a:gridCol w="5283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84"/>
          <p:cNvSpPr txBox="1"/>
          <p:nvPr>
            <p:ph idx="4294967295" type="body"/>
          </p:nvPr>
        </p:nvSpPr>
        <p:spPr>
          <a:xfrm>
            <a:off x="324000" y="630150"/>
            <a:ext cx="2948100" cy="171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Which of these summary statistic values is applicable to bar charts  a, b, c, d, or any combination of them?</a:t>
            </a:r>
            <a:endParaRPr sz="1800"/>
          </a:p>
        </p:txBody>
      </p:sp>
      <p:pic>
        <p:nvPicPr>
          <p:cNvPr id="1116" name="Google Shape;1116;p8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3" y="705050"/>
            <a:ext cx="2541825" cy="202364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7" name="Google Shape;1117;p84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3083" y="2770381"/>
            <a:ext cx="2541818" cy="202366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8" name="Google Shape;1118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graphicFrame>
        <p:nvGraphicFramePr>
          <p:cNvPr id="1119" name="Google Shape;1119;p84"/>
          <p:cNvGraphicFramePr/>
          <p:nvPr/>
        </p:nvGraphicFramePr>
        <p:xfrm>
          <a:off x="286300" y="2713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  <a:gridCol w="378525"/>
                <a:gridCol w="3785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20" name="Google Shape;1120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6406" y="3047025"/>
            <a:ext cx="31431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84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69600" y="2770373"/>
            <a:ext cx="2541818" cy="202366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22" name="Google Shape;1122;p84" title="Chart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3083" y="705050"/>
            <a:ext cx="2541818" cy="202366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123" name="Google Shape;1123;p84"/>
          <p:cNvGrpSpPr/>
          <p:nvPr/>
        </p:nvGrpSpPr>
        <p:grpSpPr>
          <a:xfrm>
            <a:off x="5639265" y="701426"/>
            <a:ext cx="270251" cy="270251"/>
            <a:chOff x="1020916" y="1442088"/>
            <a:chExt cx="457200" cy="457200"/>
          </a:xfrm>
        </p:grpSpPr>
        <p:pic>
          <p:nvPicPr>
            <p:cNvPr id="1124" name="Google Shape;1124;p8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5" name="Google Shape;1125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6" name="Google Shape;1126;p84"/>
          <p:cNvGrpSpPr/>
          <p:nvPr/>
        </p:nvGrpSpPr>
        <p:grpSpPr>
          <a:xfrm>
            <a:off x="8224640" y="701426"/>
            <a:ext cx="270251" cy="270251"/>
            <a:chOff x="1020916" y="1442088"/>
            <a:chExt cx="457200" cy="457200"/>
          </a:xfrm>
        </p:grpSpPr>
        <p:pic>
          <p:nvPicPr>
            <p:cNvPr id="1127" name="Google Shape;1127;p8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8" name="Google Shape;1128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9" name="Google Shape;1129;p84"/>
          <p:cNvGrpSpPr/>
          <p:nvPr/>
        </p:nvGrpSpPr>
        <p:grpSpPr>
          <a:xfrm>
            <a:off x="5639265" y="2770376"/>
            <a:ext cx="270251" cy="270251"/>
            <a:chOff x="1020916" y="1442088"/>
            <a:chExt cx="457200" cy="457200"/>
          </a:xfrm>
        </p:grpSpPr>
        <p:pic>
          <p:nvPicPr>
            <p:cNvPr id="1130" name="Google Shape;1130;p8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1" name="Google Shape;1131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2" name="Google Shape;1132;p84"/>
          <p:cNvGrpSpPr/>
          <p:nvPr/>
        </p:nvGrpSpPr>
        <p:grpSpPr>
          <a:xfrm>
            <a:off x="8224640" y="2770376"/>
            <a:ext cx="270251" cy="270251"/>
            <a:chOff x="1020916" y="1442088"/>
            <a:chExt cx="457200" cy="457200"/>
          </a:xfrm>
        </p:grpSpPr>
        <p:pic>
          <p:nvPicPr>
            <p:cNvPr id="1133" name="Google Shape;1133;p8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4" name="Google Shape;1134;p8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35" name="Google Shape;1135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5406" y="3380775"/>
            <a:ext cx="31431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5406" y="3713775"/>
            <a:ext cx="31431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4406" y="3713775"/>
            <a:ext cx="31431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2106" y="3713775"/>
            <a:ext cx="31431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5406" y="4046775"/>
            <a:ext cx="31431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2106" y="4046775"/>
            <a:ext cx="31431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6406" y="4046775"/>
            <a:ext cx="314310" cy="33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" name="Google Shape;1146;p8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72000"/>
            <a:ext cx="2492566" cy="19844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47" name="Google Shape;1147;p85"/>
          <p:cNvSpPr txBox="1"/>
          <p:nvPr>
            <p:ph idx="4294967295" type="body"/>
          </p:nvPr>
        </p:nvSpPr>
        <p:spPr>
          <a:xfrm>
            <a:off x="5434650" y="630150"/>
            <a:ext cx="3385500" cy="20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Each summary statistic below matches with a pair of bar charts. For each summary statistic, write down its value and the names of the two classes it represents.</a:t>
            </a:r>
            <a:endParaRPr sz="1800"/>
          </a:p>
        </p:txBody>
      </p:sp>
      <p:sp>
        <p:nvSpPr>
          <p:cNvPr id="1148" name="Google Shape;1148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grpSp>
        <p:nvGrpSpPr>
          <p:cNvPr id="1149" name="Google Shape;1149;p85"/>
          <p:cNvGrpSpPr/>
          <p:nvPr/>
        </p:nvGrpSpPr>
        <p:grpSpPr>
          <a:xfrm>
            <a:off x="703409" y="671731"/>
            <a:ext cx="1066968" cy="397078"/>
            <a:chOff x="1020916" y="1442088"/>
            <a:chExt cx="457200" cy="457200"/>
          </a:xfrm>
        </p:grpSpPr>
        <p:pic>
          <p:nvPicPr>
            <p:cNvPr id="1150" name="Google Shape;1150;p8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85"/>
            <p:cNvSpPr txBox="1"/>
            <p:nvPr/>
          </p:nvSpPr>
          <p:spPr>
            <a:xfrm>
              <a:off x="1045528" y="154983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score of class 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152" name="Google Shape;1152;p85"/>
          <p:cNvGraphicFramePr/>
          <p:nvPr/>
        </p:nvGraphicFramePr>
        <p:xfrm>
          <a:off x="5396950" y="2741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c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53" name="Google Shape;1153;p85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2744301"/>
            <a:ext cx="2492566" cy="19844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4" name="Google Shape;1154;p85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04384" y="2744301"/>
            <a:ext cx="2492566" cy="19844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5" name="Google Shape;1155;p85" title="Chart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04384" y="672000"/>
            <a:ext cx="2492566" cy="19844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156" name="Google Shape;1156;p85"/>
          <p:cNvGrpSpPr/>
          <p:nvPr/>
        </p:nvGrpSpPr>
        <p:grpSpPr>
          <a:xfrm>
            <a:off x="3275159" y="671731"/>
            <a:ext cx="1066968" cy="397078"/>
            <a:chOff x="1020916" y="1442088"/>
            <a:chExt cx="457200" cy="457200"/>
          </a:xfrm>
        </p:grpSpPr>
        <p:pic>
          <p:nvPicPr>
            <p:cNvPr id="1157" name="Google Shape;1157;p8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8" name="Google Shape;1158;p85"/>
            <p:cNvSpPr txBox="1"/>
            <p:nvPr/>
          </p:nvSpPr>
          <p:spPr>
            <a:xfrm>
              <a:off x="1045528" y="154983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score of class 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9" name="Google Shape;1159;p85"/>
          <p:cNvGrpSpPr/>
          <p:nvPr/>
        </p:nvGrpSpPr>
        <p:grpSpPr>
          <a:xfrm>
            <a:off x="703408" y="2744328"/>
            <a:ext cx="2113178" cy="266593"/>
            <a:chOff x="1020916" y="1442088"/>
            <a:chExt cx="457200" cy="457200"/>
          </a:xfrm>
        </p:grpSpPr>
        <p:pic>
          <p:nvPicPr>
            <p:cNvPr id="1160" name="Google Shape;1160;p8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1" name="Google Shape;1161;p85"/>
            <p:cNvSpPr txBox="1"/>
            <p:nvPr/>
          </p:nvSpPr>
          <p:spPr>
            <a:xfrm>
              <a:off x="1045528" y="154983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score of class 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2" name="Google Shape;1162;p85"/>
          <p:cNvGrpSpPr/>
          <p:nvPr/>
        </p:nvGrpSpPr>
        <p:grpSpPr>
          <a:xfrm>
            <a:off x="3275159" y="2744306"/>
            <a:ext cx="1066968" cy="397078"/>
            <a:chOff x="1020916" y="1442088"/>
            <a:chExt cx="457200" cy="457200"/>
          </a:xfrm>
        </p:grpSpPr>
        <p:pic>
          <p:nvPicPr>
            <p:cNvPr id="1163" name="Google Shape;1163;p8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4" name="Google Shape;1164;p85"/>
            <p:cNvSpPr txBox="1"/>
            <p:nvPr/>
          </p:nvSpPr>
          <p:spPr>
            <a:xfrm>
              <a:off x="1045528" y="154983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score of class 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165" name="Google Shape;1165;p85"/>
          <p:cNvGraphicFramePr/>
          <p:nvPr/>
        </p:nvGraphicFramePr>
        <p:xfrm>
          <a:off x="6344775" y="31777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6" name="Google Shape;1166;p85"/>
          <p:cNvGraphicFramePr/>
          <p:nvPr/>
        </p:nvGraphicFramePr>
        <p:xfrm>
          <a:off x="5396950" y="36141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7" name="Google Shape;1167;p85"/>
          <p:cNvGraphicFramePr/>
          <p:nvPr/>
        </p:nvGraphicFramePr>
        <p:xfrm>
          <a:off x="6344775" y="40505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8" name="Google Shape;1168;p85"/>
          <p:cNvGraphicFramePr/>
          <p:nvPr/>
        </p:nvGraphicFramePr>
        <p:xfrm>
          <a:off x="5396950" y="448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  <a:gridCol w="378525"/>
                <a:gridCol w="3785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c</a:t>
                      </a:r>
                      <a:endParaRPr b="1"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86"/>
          <p:cNvSpPr txBox="1"/>
          <p:nvPr>
            <p:ph idx="4294967295" type="body"/>
          </p:nvPr>
        </p:nvSpPr>
        <p:spPr>
          <a:xfrm>
            <a:off x="5609800" y="630150"/>
            <a:ext cx="3210300" cy="13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Place a ✓ by each letter if all summary statistics given accurately represent the corresponding bar chart.</a:t>
            </a:r>
            <a:endParaRPr sz="1800"/>
          </a:p>
        </p:txBody>
      </p:sp>
      <p:sp>
        <p:nvSpPr>
          <p:cNvPr id="1174" name="Google Shape;1174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graphicFrame>
        <p:nvGraphicFramePr>
          <p:cNvPr id="1175" name="Google Shape;1175;p86"/>
          <p:cNvGraphicFramePr/>
          <p:nvPr/>
        </p:nvGraphicFramePr>
        <p:xfrm>
          <a:off x="5729025" y="203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22100"/>
                <a:gridCol w="5286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76" name="Google Shape;1176;p8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7580" y="642950"/>
            <a:ext cx="2623571" cy="208873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77" name="Google Shape;1177;p86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642951"/>
            <a:ext cx="2623571" cy="208871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178" name="Google Shape;1178;p86"/>
          <p:cNvGrpSpPr/>
          <p:nvPr/>
        </p:nvGrpSpPr>
        <p:grpSpPr>
          <a:xfrm>
            <a:off x="2677315" y="642951"/>
            <a:ext cx="270251" cy="270251"/>
            <a:chOff x="1020916" y="1442088"/>
            <a:chExt cx="457200" cy="457200"/>
          </a:xfrm>
        </p:grpSpPr>
        <p:pic>
          <p:nvPicPr>
            <p:cNvPr id="1179" name="Google Shape;1179;p8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0" name="Google Shape;1180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1" name="Google Shape;1181;p86"/>
          <p:cNvGrpSpPr/>
          <p:nvPr/>
        </p:nvGrpSpPr>
        <p:grpSpPr>
          <a:xfrm>
            <a:off x="5300890" y="642951"/>
            <a:ext cx="270251" cy="270251"/>
            <a:chOff x="1020916" y="1442088"/>
            <a:chExt cx="457200" cy="457200"/>
          </a:xfrm>
        </p:grpSpPr>
        <p:pic>
          <p:nvPicPr>
            <p:cNvPr id="1182" name="Google Shape;1182;p8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3" name="Google Shape;1183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84" name="Google Shape;1184;p86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47576" y="2731688"/>
            <a:ext cx="2623571" cy="208871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85" name="Google Shape;1185;p86" title="Chart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4004" y="2731692"/>
            <a:ext cx="2623571" cy="208870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186" name="Google Shape;1186;p86"/>
          <p:cNvGrpSpPr/>
          <p:nvPr/>
        </p:nvGrpSpPr>
        <p:grpSpPr>
          <a:xfrm>
            <a:off x="2677315" y="2731676"/>
            <a:ext cx="270251" cy="270251"/>
            <a:chOff x="1020916" y="1442088"/>
            <a:chExt cx="457200" cy="457200"/>
          </a:xfrm>
        </p:grpSpPr>
        <p:pic>
          <p:nvPicPr>
            <p:cNvPr id="1187" name="Google Shape;1187;p8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8" name="Google Shape;1188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9" name="Google Shape;1189;p86"/>
          <p:cNvGrpSpPr/>
          <p:nvPr/>
        </p:nvGrpSpPr>
        <p:grpSpPr>
          <a:xfrm>
            <a:off x="5300890" y="2731676"/>
            <a:ext cx="270251" cy="270251"/>
            <a:chOff x="1020916" y="1442088"/>
            <a:chExt cx="457200" cy="457200"/>
          </a:xfrm>
        </p:grpSpPr>
        <p:pic>
          <p:nvPicPr>
            <p:cNvPr id="1190" name="Google Shape;1190;p8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1" name="Google Shape;1191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192" name="Google Shape;1192;p86"/>
          <p:cNvGraphicFramePr/>
          <p:nvPr/>
        </p:nvGraphicFramePr>
        <p:xfrm>
          <a:off x="5729025" y="237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337700"/>
                <a:gridCol w="337700"/>
                <a:gridCol w="337700"/>
                <a:gridCol w="3377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3" name="Google Shape;1193;p86"/>
          <p:cNvGraphicFramePr/>
          <p:nvPr/>
        </p:nvGraphicFramePr>
        <p:xfrm>
          <a:off x="5729025" y="2706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337700"/>
                <a:gridCol w="337700"/>
                <a:gridCol w="337700"/>
                <a:gridCol w="3377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4" name="Google Shape;1194;p86"/>
          <p:cNvGraphicFramePr/>
          <p:nvPr/>
        </p:nvGraphicFramePr>
        <p:xfrm>
          <a:off x="7470100" y="26497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21650"/>
                <a:gridCol w="5283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5" name="Google Shape;1195;p86"/>
          <p:cNvGraphicFramePr/>
          <p:nvPr/>
        </p:nvGraphicFramePr>
        <p:xfrm>
          <a:off x="7470100" y="36499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337500"/>
                <a:gridCol w="337500"/>
                <a:gridCol w="337500"/>
                <a:gridCol w="337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6" name="Google Shape;1196;p86"/>
          <p:cNvGraphicFramePr/>
          <p:nvPr/>
        </p:nvGraphicFramePr>
        <p:xfrm>
          <a:off x="7470100" y="39832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337500"/>
                <a:gridCol w="337500"/>
                <a:gridCol w="337500"/>
                <a:gridCol w="337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7" name="Google Shape;1197;p86"/>
          <p:cNvGraphicFramePr/>
          <p:nvPr/>
        </p:nvGraphicFramePr>
        <p:xfrm>
          <a:off x="7470100" y="29831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21650"/>
                <a:gridCol w="5283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8" name="Google Shape;1198;p86"/>
          <p:cNvGraphicFramePr/>
          <p:nvPr/>
        </p:nvGraphicFramePr>
        <p:xfrm>
          <a:off x="5723775" y="3486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22125"/>
                <a:gridCol w="5286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9" name="Google Shape;1199;p86"/>
          <p:cNvGraphicFramePr/>
          <p:nvPr/>
        </p:nvGraphicFramePr>
        <p:xfrm>
          <a:off x="5723775" y="4153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337500"/>
                <a:gridCol w="337500"/>
                <a:gridCol w="337500"/>
                <a:gridCol w="337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0" name="Google Shape;1200;p86"/>
          <p:cNvGraphicFramePr/>
          <p:nvPr/>
        </p:nvGraphicFramePr>
        <p:xfrm>
          <a:off x="5723775" y="4487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337500"/>
                <a:gridCol w="337500"/>
                <a:gridCol w="337500"/>
                <a:gridCol w="337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1" name="Google Shape;1201;p86"/>
          <p:cNvGraphicFramePr/>
          <p:nvPr/>
        </p:nvGraphicFramePr>
        <p:xfrm>
          <a:off x="5723775" y="3820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21650"/>
                <a:gridCol w="5283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2" name="Google Shape;1202;p86"/>
          <p:cNvGraphicFramePr/>
          <p:nvPr/>
        </p:nvGraphicFramePr>
        <p:xfrm>
          <a:off x="7470100" y="33165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21650"/>
                <a:gridCol w="5283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03" name="Google Shape;1203;p8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66725" y="2706750"/>
            <a:ext cx="33205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8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4425" y="2706750"/>
            <a:ext cx="33205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8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42125" y="2706750"/>
            <a:ext cx="33205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8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66725" y="4487400"/>
            <a:ext cx="33205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8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42125" y="4487400"/>
            <a:ext cx="33205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8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82600" y="3983325"/>
            <a:ext cx="332050" cy="33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87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sp>
        <p:nvSpPr>
          <p:cNvPr id="1214" name="Google Shape;1214;p8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different statistical representations</a:t>
            </a:r>
            <a:endParaRPr/>
          </a:p>
        </p:txBody>
      </p:sp>
      <p:sp>
        <p:nvSpPr>
          <p:cNvPr id="1215" name="Google Shape;1215;p87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Completing graphs from summary statistics</a:t>
            </a:r>
            <a:endParaRPr/>
          </a:p>
        </p:txBody>
      </p:sp>
      <p:pic>
        <p:nvPicPr>
          <p:cNvPr id="1216" name="Google Shape;121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61" y="2766064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87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2" name="Google Shape;1222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084400"/>
            <a:ext cx="5263200" cy="2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88"/>
          <p:cNvSpPr txBox="1"/>
          <p:nvPr>
            <p:ph idx="1" type="body"/>
          </p:nvPr>
        </p:nvSpPr>
        <p:spPr>
          <a:xfrm>
            <a:off x="5694600" y="2160000"/>
            <a:ext cx="3125400" cy="24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information can she use to help her complete the bar chart?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Can she accurately complete the bar chart with the information she has?</a:t>
            </a:r>
            <a:endParaRPr sz="1800"/>
          </a:p>
        </p:txBody>
      </p:sp>
      <p:sp>
        <p:nvSpPr>
          <p:cNvPr id="1224" name="Google Shape;1224;p88"/>
          <p:cNvSpPr txBox="1"/>
          <p:nvPr>
            <p:ph idx="1" type="body"/>
          </p:nvPr>
        </p:nvSpPr>
        <p:spPr>
          <a:xfrm>
            <a:off x="324000" y="630150"/>
            <a:ext cx="75324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Laura collects data on 40 students using the library after school and begins to plot a bar chart. </a:t>
            </a:r>
            <a:endParaRPr sz="1800"/>
          </a:p>
        </p:txBody>
      </p:sp>
      <p:sp>
        <p:nvSpPr>
          <p:cNvPr id="1225" name="Google Shape;122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Completing graphs from summary statistics</a:t>
            </a:r>
            <a:endParaRPr/>
          </a:p>
        </p:txBody>
      </p:sp>
      <p:pic>
        <p:nvPicPr>
          <p:cNvPr id="1226" name="Google Shape;1226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12252" y="71485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88"/>
          <p:cNvSpPr txBox="1"/>
          <p:nvPr>
            <p:ph idx="1" type="body"/>
          </p:nvPr>
        </p:nvSpPr>
        <p:spPr>
          <a:xfrm>
            <a:off x="324000" y="1350800"/>
            <a:ext cx="75324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She knows the dataset has a range of 9, but she loses the raw data before she can complete the bar chart.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2" name="Google Shape;1232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084400"/>
            <a:ext cx="5263200" cy="2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89"/>
          <p:cNvSpPr txBox="1"/>
          <p:nvPr>
            <p:ph idx="1" type="body"/>
          </p:nvPr>
        </p:nvSpPr>
        <p:spPr>
          <a:xfrm>
            <a:off x="324000" y="630150"/>
            <a:ext cx="75324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Laura collects data on 40 students using the library after school and begins to plot a bar chart. </a:t>
            </a:r>
            <a:endParaRPr sz="1800"/>
          </a:p>
        </p:txBody>
      </p:sp>
      <p:sp>
        <p:nvSpPr>
          <p:cNvPr id="1234" name="Google Shape;1234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Completing graphs from summary statistics</a:t>
            </a:r>
            <a:endParaRPr/>
          </a:p>
        </p:txBody>
      </p:sp>
      <p:pic>
        <p:nvPicPr>
          <p:cNvPr id="1235" name="Google Shape;1235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12252" y="71485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89"/>
          <p:cNvSpPr txBox="1"/>
          <p:nvPr>
            <p:ph idx="1" type="body"/>
          </p:nvPr>
        </p:nvSpPr>
        <p:spPr>
          <a:xfrm>
            <a:off x="324000" y="1350800"/>
            <a:ext cx="75324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She knows the dataset has a range of 9, but she loses the raw data before she can complete the bar chart.</a:t>
            </a:r>
            <a:endParaRPr sz="1800"/>
          </a:p>
        </p:txBody>
      </p:sp>
      <p:sp>
        <p:nvSpPr>
          <p:cNvPr id="1237" name="Google Shape;1237;p89"/>
          <p:cNvSpPr txBox="1"/>
          <p:nvPr>
            <p:ph idx="1" type="body"/>
          </p:nvPr>
        </p:nvSpPr>
        <p:spPr>
          <a:xfrm>
            <a:off x="5694600" y="2071450"/>
            <a:ext cx="31254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There are 40 students in total. How many students are not already represented by the bar chart?</a:t>
            </a:r>
            <a:endParaRPr sz="1800"/>
          </a:p>
        </p:txBody>
      </p:sp>
      <p:sp>
        <p:nvSpPr>
          <p:cNvPr id="1238" name="Google Shape;1238;p89"/>
          <p:cNvSpPr/>
          <p:nvPr/>
        </p:nvSpPr>
        <p:spPr>
          <a:xfrm>
            <a:off x="2826000" y="622200"/>
            <a:ext cx="1349400" cy="319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9"/>
          <p:cNvSpPr txBox="1"/>
          <p:nvPr>
            <p:ph idx="1" type="body"/>
          </p:nvPr>
        </p:nvSpPr>
        <p:spPr>
          <a:xfrm>
            <a:off x="1421418" y="3638304"/>
            <a:ext cx="2700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endParaRPr sz="1800"/>
          </a:p>
        </p:txBody>
      </p:sp>
      <p:sp>
        <p:nvSpPr>
          <p:cNvPr id="1240" name="Google Shape;1240;p89"/>
          <p:cNvSpPr txBox="1"/>
          <p:nvPr>
            <p:ph idx="1" type="body"/>
          </p:nvPr>
        </p:nvSpPr>
        <p:spPr>
          <a:xfrm>
            <a:off x="1824436" y="3254629"/>
            <a:ext cx="2700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sp>
        <p:nvSpPr>
          <p:cNvPr id="1241" name="Google Shape;1241;p89"/>
          <p:cNvSpPr txBox="1"/>
          <p:nvPr>
            <p:ph idx="1" type="body"/>
          </p:nvPr>
        </p:nvSpPr>
        <p:spPr>
          <a:xfrm>
            <a:off x="2227454" y="3049404"/>
            <a:ext cx="2700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5</a:t>
            </a:r>
            <a:endParaRPr sz="1800"/>
          </a:p>
        </p:txBody>
      </p:sp>
      <p:sp>
        <p:nvSpPr>
          <p:cNvPr id="1242" name="Google Shape;1242;p89"/>
          <p:cNvSpPr txBox="1"/>
          <p:nvPr>
            <p:ph idx="1" type="body"/>
          </p:nvPr>
        </p:nvSpPr>
        <p:spPr>
          <a:xfrm>
            <a:off x="2630471" y="2857554"/>
            <a:ext cx="2700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sp>
        <p:nvSpPr>
          <p:cNvPr id="1243" name="Google Shape;1243;p89"/>
          <p:cNvSpPr txBox="1"/>
          <p:nvPr>
            <p:ph idx="1" type="body"/>
          </p:nvPr>
        </p:nvSpPr>
        <p:spPr>
          <a:xfrm>
            <a:off x="3033489" y="2857554"/>
            <a:ext cx="2700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sp>
        <p:nvSpPr>
          <p:cNvPr id="1244" name="Google Shape;1244;p89"/>
          <p:cNvSpPr txBox="1"/>
          <p:nvPr>
            <p:ph idx="1" type="body"/>
          </p:nvPr>
        </p:nvSpPr>
        <p:spPr>
          <a:xfrm>
            <a:off x="3436507" y="2467204"/>
            <a:ext cx="2700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8</a:t>
            </a:r>
            <a:endParaRPr sz="1800"/>
          </a:p>
        </p:txBody>
      </p:sp>
      <p:sp>
        <p:nvSpPr>
          <p:cNvPr id="1245" name="Google Shape;1245;p89"/>
          <p:cNvSpPr txBox="1"/>
          <p:nvPr>
            <p:ph idx="1" type="body"/>
          </p:nvPr>
        </p:nvSpPr>
        <p:spPr>
          <a:xfrm>
            <a:off x="3839525" y="3049404"/>
            <a:ext cx="2700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5</a:t>
            </a:r>
            <a:endParaRPr sz="1800"/>
          </a:p>
        </p:txBody>
      </p:sp>
      <p:sp>
        <p:nvSpPr>
          <p:cNvPr id="1246" name="Google Shape;1246;p89"/>
          <p:cNvSpPr txBox="1"/>
          <p:nvPr>
            <p:ph idx="1" type="body"/>
          </p:nvPr>
        </p:nvSpPr>
        <p:spPr>
          <a:xfrm>
            <a:off x="1018400" y="3839054"/>
            <a:ext cx="2700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</a:t>
            </a:r>
            <a:endParaRPr sz="1800"/>
          </a:p>
        </p:txBody>
      </p:sp>
      <p:sp>
        <p:nvSpPr>
          <p:cNvPr id="1247" name="Google Shape;1247;p89"/>
          <p:cNvSpPr txBox="1"/>
          <p:nvPr>
            <p:ph idx="1" type="body"/>
          </p:nvPr>
        </p:nvSpPr>
        <p:spPr>
          <a:xfrm>
            <a:off x="5694600" y="3489625"/>
            <a:ext cx="3125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 + 2 + 4 + 5 + 6 + 6 + 8 + 5 = </a:t>
            </a:r>
            <a:endParaRPr sz="1800"/>
          </a:p>
        </p:txBody>
      </p:sp>
      <p:sp>
        <p:nvSpPr>
          <p:cNvPr id="1248" name="Google Shape;1248;p89"/>
          <p:cNvSpPr txBox="1"/>
          <p:nvPr>
            <p:ph idx="1" type="body"/>
          </p:nvPr>
        </p:nvSpPr>
        <p:spPr>
          <a:xfrm>
            <a:off x="5694600" y="3780000"/>
            <a:ext cx="3125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37</a:t>
            </a:r>
            <a:endParaRPr sz="1800"/>
          </a:p>
        </p:txBody>
      </p:sp>
      <p:sp>
        <p:nvSpPr>
          <p:cNvPr id="1249" name="Google Shape;1249;p89"/>
          <p:cNvSpPr txBox="1"/>
          <p:nvPr>
            <p:ph idx="1" type="body"/>
          </p:nvPr>
        </p:nvSpPr>
        <p:spPr>
          <a:xfrm>
            <a:off x="5694600" y="4189225"/>
            <a:ext cx="27651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40 - 37 = 3 students not shown on the bar chart.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4" name="Google Shape;125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084400"/>
            <a:ext cx="5263200" cy="2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90"/>
          <p:cNvSpPr txBox="1"/>
          <p:nvPr>
            <p:ph idx="1" type="body"/>
          </p:nvPr>
        </p:nvSpPr>
        <p:spPr>
          <a:xfrm>
            <a:off x="5694600" y="2071450"/>
            <a:ext cx="3125400" cy="199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Because the bar chart has a range of 9, the highest year group must be year 10.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This means that no year 11s were in the library after school that day.</a:t>
            </a:r>
            <a:endParaRPr sz="1800"/>
          </a:p>
        </p:txBody>
      </p:sp>
      <p:sp>
        <p:nvSpPr>
          <p:cNvPr id="1256" name="Google Shape;1256;p90"/>
          <p:cNvSpPr txBox="1"/>
          <p:nvPr>
            <p:ph idx="1" type="body"/>
          </p:nvPr>
        </p:nvSpPr>
        <p:spPr>
          <a:xfrm>
            <a:off x="324000" y="630150"/>
            <a:ext cx="75324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Laura collects data on 40 students using the library after school and begins to plot a bar chart.</a:t>
            </a:r>
            <a:endParaRPr sz="1800"/>
          </a:p>
        </p:txBody>
      </p:sp>
      <p:sp>
        <p:nvSpPr>
          <p:cNvPr id="1257" name="Google Shape;125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Completing graphs from summary statistics</a:t>
            </a:r>
            <a:endParaRPr/>
          </a:p>
        </p:txBody>
      </p:sp>
      <p:pic>
        <p:nvPicPr>
          <p:cNvPr id="1258" name="Google Shape;1258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12252" y="71485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90"/>
          <p:cNvSpPr txBox="1"/>
          <p:nvPr>
            <p:ph idx="1" type="body"/>
          </p:nvPr>
        </p:nvSpPr>
        <p:spPr>
          <a:xfrm>
            <a:off x="324000" y="1350800"/>
            <a:ext cx="75324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She knows the dataset has a range of 9, but she loses the raw data before she can complete the bar chart.</a:t>
            </a:r>
            <a:endParaRPr sz="1800"/>
          </a:p>
        </p:txBody>
      </p:sp>
      <p:sp>
        <p:nvSpPr>
          <p:cNvPr id="1260" name="Google Shape;1260;p90"/>
          <p:cNvSpPr/>
          <p:nvPr/>
        </p:nvSpPr>
        <p:spPr>
          <a:xfrm>
            <a:off x="3528225" y="1350800"/>
            <a:ext cx="1191900" cy="319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1" name="Google Shape;1261;p90"/>
          <p:cNvCxnSpPr/>
          <p:nvPr/>
        </p:nvCxnSpPr>
        <p:spPr>
          <a:xfrm>
            <a:off x="1150950" y="2538000"/>
            <a:ext cx="36354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62" name="Google Shape;1262;p90"/>
          <p:cNvSpPr txBox="1"/>
          <p:nvPr>
            <p:ph idx="1" type="body"/>
          </p:nvPr>
        </p:nvSpPr>
        <p:spPr>
          <a:xfrm>
            <a:off x="1569600" y="2188800"/>
            <a:ext cx="2833200" cy="277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10 - 1 = range of 9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7" name="Google Shape;126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084400"/>
            <a:ext cx="5263200" cy="2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91"/>
          <p:cNvSpPr txBox="1"/>
          <p:nvPr>
            <p:ph idx="1" type="body"/>
          </p:nvPr>
        </p:nvSpPr>
        <p:spPr>
          <a:xfrm>
            <a:off x="324000" y="630150"/>
            <a:ext cx="75324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Laura collects data on 40 students using the library after school and begins to plot a bar chart.</a:t>
            </a:r>
            <a:endParaRPr sz="1800"/>
          </a:p>
        </p:txBody>
      </p:sp>
      <p:sp>
        <p:nvSpPr>
          <p:cNvPr id="1269" name="Google Shape;126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Completing graphs from summary statistics</a:t>
            </a:r>
            <a:endParaRPr/>
          </a:p>
        </p:txBody>
      </p:sp>
      <p:pic>
        <p:nvPicPr>
          <p:cNvPr id="1270" name="Google Shape;1270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12252" y="71485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91"/>
          <p:cNvSpPr txBox="1"/>
          <p:nvPr>
            <p:ph idx="1" type="body"/>
          </p:nvPr>
        </p:nvSpPr>
        <p:spPr>
          <a:xfrm>
            <a:off x="324000" y="1350800"/>
            <a:ext cx="75324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She knows the dataset has a range of 9, but she loses the raw data before she can complete the bar chart.</a:t>
            </a:r>
            <a:endParaRPr sz="1800"/>
          </a:p>
        </p:txBody>
      </p:sp>
      <p:sp>
        <p:nvSpPr>
          <p:cNvPr id="1272" name="Google Shape;1272;p91"/>
          <p:cNvSpPr txBox="1"/>
          <p:nvPr>
            <p:ph idx="1" type="body"/>
          </p:nvPr>
        </p:nvSpPr>
        <p:spPr>
          <a:xfrm>
            <a:off x="5694600" y="2160000"/>
            <a:ext cx="3125400" cy="218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means, as long as year 10 gets at least one of the three remaining students, the other two students can be distributed between years 9 and 10 in any way.</a:t>
            </a:r>
            <a:endParaRPr sz="1800"/>
          </a:p>
        </p:txBody>
      </p:sp>
      <p:cxnSp>
        <p:nvCxnSpPr>
          <p:cNvPr id="1273" name="Google Shape;1273;p91"/>
          <p:cNvCxnSpPr/>
          <p:nvPr/>
        </p:nvCxnSpPr>
        <p:spPr>
          <a:xfrm>
            <a:off x="1150950" y="2538000"/>
            <a:ext cx="36354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74" name="Google Shape;1274;p91"/>
          <p:cNvSpPr txBox="1"/>
          <p:nvPr>
            <p:ph idx="1" type="body"/>
          </p:nvPr>
        </p:nvSpPr>
        <p:spPr>
          <a:xfrm>
            <a:off x="1569600" y="2188800"/>
            <a:ext cx="2833200" cy="277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10 - 1 = range of 9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9" name="Google Shape;127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084400"/>
            <a:ext cx="5263200" cy="266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0" name="Google Shape;1280;p92"/>
          <p:cNvCxnSpPr/>
          <p:nvPr/>
        </p:nvCxnSpPr>
        <p:spPr>
          <a:xfrm>
            <a:off x="1150950" y="2538000"/>
            <a:ext cx="36354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1" name="Google Shape;1281;p92"/>
          <p:cNvSpPr txBox="1"/>
          <p:nvPr>
            <p:ph idx="1" type="body"/>
          </p:nvPr>
        </p:nvSpPr>
        <p:spPr>
          <a:xfrm>
            <a:off x="1569600" y="2188800"/>
            <a:ext cx="2834700" cy="277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10 - 1 = range of 9</a:t>
            </a:r>
            <a:endParaRPr sz="1800"/>
          </a:p>
        </p:txBody>
      </p:sp>
      <p:sp>
        <p:nvSpPr>
          <p:cNvPr id="1282" name="Google Shape;1282;p92"/>
          <p:cNvSpPr txBox="1"/>
          <p:nvPr>
            <p:ph idx="1" type="body"/>
          </p:nvPr>
        </p:nvSpPr>
        <p:spPr>
          <a:xfrm>
            <a:off x="324000" y="630150"/>
            <a:ext cx="75324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Laura collects data on 40 students using the library after school and begins to plot a bar chart.</a:t>
            </a:r>
            <a:endParaRPr sz="1800"/>
          </a:p>
        </p:txBody>
      </p:sp>
      <p:sp>
        <p:nvSpPr>
          <p:cNvPr id="1283" name="Google Shape;128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Completing graphs from summary statistics</a:t>
            </a:r>
            <a:endParaRPr/>
          </a:p>
        </p:txBody>
      </p:sp>
      <p:pic>
        <p:nvPicPr>
          <p:cNvPr id="1284" name="Google Shape;1284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12252" y="71485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92"/>
          <p:cNvSpPr txBox="1"/>
          <p:nvPr>
            <p:ph idx="1" type="body"/>
          </p:nvPr>
        </p:nvSpPr>
        <p:spPr>
          <a:xfrm>
            <a:off x="324000" y="1350800"/>
            <a:ext cx="75324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She knows the dataset has a range of 9, but she loses the raw data before she can complete the bar chart.</a:t>
            </a:r>
            <a:endParaRPr sz="1800"/>
          </a:p>
        </p:txBody>
      </p:sp>
      <p:sp>
        <p:nvSpPr>
          <p:cNvPr id="1286" name="Google Shape;1286;p92"/>
          <p:cNvSpPr txBox="1"/>
          <p:nvPr>
            <p:ph idx="1" type="body"/>
          </p:nvPr>
        </p:nvSpPr>
        <p:spPr>
          <a:xfrm>
            <a:off x="5694600" y="1946600"/>
            <a:ext cx="31254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r>
              <a:rPr lang="en-GB" sz="1800"/>
              <a:t>ll three could </a:t>
            </a:r>
            <a:r>
              <a:rPr lang="en-GB" sz="1800"/>
              <a:t>go into</a:t>
            </a:r>
            <a:r>
              <a:rPr lang="en-GB" sz="1800"/>
              <a:t> year 10.</a:t>
            </a:r>
            <a:endParaRPr sz="1800"/>
          </a:p>
        </p:txBody>
      </p:sp>
      <p:sp>
        <p:nvSpPr>
          <p:cNvPr id="1287" name="Google Shape;1287;p92"/>
          <p:cNvSpPr/>
          <p:nvPr/>
        </p:nvSpPr>
        <p:spPr>
          <a:xfrm>
            <a:off x="4650575" y="3676728"/>
            <a:ext cx="262800" cy="595800"/>
          </a:xfrm>
          <a:prstGeom prst="roundRect">
            <a:avLst>
              <a:gd fmla="val 10426" name="adj"/>
            </a:avLst>
          </a:prstGeom>
          <a:solidFill>
            <a:srgbClr val="374CF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92"/>
          <p:cNvSpPr txBox="1"/>
          <p:nvPr>
            <p:ph idx="1" type="body"/>
          </p:nvPr>
        </p:nvSpPr>
        <p:spPr>
          <a:xfrm>
            <a:off x="5694600" y="2571750"/>
            <a:ext cx="31254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Or two could go in year 10, and one in year 9.</a:t>
            </a:r>
            <a:endParaRPr sz="1800"/>
          </a:p>
        </p:txBody>
      </p:sp>
      <p:sp>
        <p:nvSpPr>
          <p:cNvPr id="1289" name="Google Shape;1289;p92"/>
          <p:cNvSpPr/>
          <p:nvPr/>
        </p:nvSpPr>
        <p:spPr>
          <a:xfrm>
            <a:off x="4650575" y="4074228"/>
            <a:ext cx="262800" cy="198300"/>
          </a:xfrm>
          <a:prstGeom prst="roundRect">
            <a:avLst>
              <a:gd fmla="val 10426" name="adj"/>
            </a:avLst>
          </a:prstGeom>
          <a:solidFill>
            <a:srgbClr val="374CF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92"/>
          <p:cNvSpPr/>
          <p:nvPr/>
        </p:nvSpPr>
        <p:spPr>
          <a:xfrm>
            <a:off x="4242800" y="3885528"/>
            <a:ext cx="262800" cy="387000"/>
          </a:xfrm>
          <a:prstGeom prst="roundRect">
            <a:avLst>
              <a:gd fmla="val 10426" name="adj"/>
            </a:avLst>
          </a:prstGeom>
          <a:solidFill>
            <a:srgbClr val="374CF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92"/>
          <p:cNvSpPr txBox="1"/>
          <p:nvPr>
            <p:ph idx="1" type="body"/>
          </p:nvPr>
        </p:nvSpPr>
        <p:spPr>
          <a:xfrm>
            <a:off x="5642400" y="3196900"/>
            <a:ext cx="31254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Or one could go in year 10, and the other two in year 9.</a:t>
            </a:r>
            <a:endParaRPr sz="1800"/>
          </a:p>
        </p:txBody>
      </p:sp>
      <p:grpSp>
        <p:nvGrpSpPr>
          <p:cNvPr id="1292" name="Google Shape;1292;p92"/>
          <p:cNvGrpSpPr/>
          <p:nvPr/>
        </p:nvGrpSpPr>
        <p:grpSpPr>
          <a:xfrm>
            <a:off x="4242800" y="3885528"/>
            <a:ext cx="670575" cy="387000"/>
            <a:chOff x="4242800" y="3868122"/>
            <a:chExt cx="670575" cy="387000"/>
          </a:xfrm>
        </p:grpSpPr>
        <p:sp>
          <p:nvSpPr>
            <p:cNvPr id="1293" name="Google Shape;1293;p92"/>
            <p:cNvSpPr/>
            <p:nvPr/>
          </p:nvSpPr>
          <p:spPr>
            <a:xfrm>
              <a:off x="4650575" y="3868122"/>
              <a:ext cx="262800" cy="387000"/>
            </a:xfrm>
            <a:prstGeom prst="roundRect">
              <a:avLst>
                <a:gd fmla="val 10426" name="adj"/>
              </a:avLst>
            </a:prstGeom>
            <a:solidFill>
              <a:srgbClr val="374CF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4" name="Google Shape;1294;p92"/>
            <p:cNvSpPr/>
            <p:nvPr/>
          </p:nvSpPr>
          <p:spPr>
            <a:xfrm>
              <a:off x="4242800" y="4048956"/>
              <a:ext cx="262800" cy="198300"/>
            </a:xfrm>
            <a:prstGeom prst="roundRect">
              <a:avLst>
                <a:gd fmla="val 10426" name="adj"/>
              </a:avLst>
            </a:prstGeom>
            <a:solidFill>
              <a:srgbClr val="374CF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95" name="Google Shape;1295;p92"/>
          <p:cNvSpPr txBox="1"/>
          <p:nvPr>
            <p:ph idx="1" type="body"/>
          </p:nvPr>
        </p:nvSpPr>
        <p:spPr>
          <a:xfrm>
            <a:off x="5694600" y="3966525"/>
            <a:ext cx="31254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There isn’t a single solution so she needs more information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" name="Google Shape;1300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250000"/>
            <a:ext cx="5061601" cy="25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93"/>
          <p:cNvSpPr txBox="1"/>
          <p:nvPr>
            <p:ph idx="4294967295" type="body"/>
          </p:nvPr>
        </p:nvSpPr>
        <p:spPr>
          <a:xfrm>
            <a:off x="5517450" y="4167175"/>
            <a:ext cx="33024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Complete a bar chart that shows this.</a:t>
            </a:r>
            <a:endParaRPr sz="1800"/>
          </a:p>
        </p:txBody>
      </p:sp>
      <p:sp>
        <p:nvSpPr>
          <p:cNvPr id="1302" name="Google Shape;1302;p93"/>
          <p:cNvSpPr txBox="1"/>
          <p:nvPr>
            <p:ph idx="4294967295" type="body"/>
          </p:nvPr>
        </p:nvSpPr>
        <p:spPr>
          <a:xfrm>
            <a:off x="5517450" y="3066050"/>
            <a:ext cx="3302400" cy="9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How many people are not yet represented on the bar chart?</a:t>
            </a:r>
            <a:endParaRPr sz="1800"/>
          </a:p>
        </p:txBody>
      </p:sp>
      <p:sp>
        <p:nvSpPr>
          <p:cNvPr id="1303" name="Google Shape;1303;p93"/>
          <p:cNvSpPr txBox="1"/>
          <p:nvPr>
            <p:ph idx="4294967295" type="body"/>
          </p:nvPr>
        </p:nvSpPr>
        <p:spPr>
          <a:xfrm>
            <a:off x="324000" y="706350"/>
            <a:ext cx="7617300" cy="14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Alex goes to his local town centre and collects data on the number of days per week people visit the town centre.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He loses some of the data he collected, but knows that he asked 58 people, the range is 6 days, and the modal number of days is 2.</a:t>
            </a:r>
            <a:endParaRPr sz="1800"/>
          </a:p>
        </p:txBody>
      </p:sp>
      <p:sp>
        <p:nvSpPr>
          <p:cNvPr id="1304" name="Google Shape;1304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Completing graphs from summary statistics</a:t>
            </a:r>
            <a:endParaRPr/>
          </a:p>
        </p:txBody>
      </p:sp>
      <p:sp>
        <p:nvSpPr>
          <p:cNvPr id="1305" name="Google Shape;1305;p93"/>
          <p:cNvSpPr txBox="1"/>
          <p:nvPr>
            <p:ph idx="4294967295" type="body"/>
          </p:nvPr>
        </p:nvSpPr>
        <p:spPr>
          <a:xfrm>
            <a:off x="5517450" y="2325225"/>
            <a:ext cx="33024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Which bar does Alex know he must leave blank?</a:t>
            </a:r>
            <a:endParaRPr sz="1800"/>
          </a:p>
        </p:txBody>
      </p:sp>
      <p:pic>
        <p:nvPicPr>
          <p:cNvPr id="1306" name="Google Shape;1306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2984" y="723913"/>
            <a:ext cx="777007" cy="896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1" name="Google Shape;131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606400"/>
            <a:ext cx="5346001" cy="22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94"/>
          <p:cNvSpPr txBox="1"/>
          <p:nvPr>
            <p:ph idx="4294967295" type="body"/>
          </p:nvPr>
        </p:nvSpPr>
        <p:spPr>
          <a:xfrm>
            <a:off x="5736975" y="3459475"/>
            <a:ext cx="30828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How many people go to town 2 times per week?</a:t>
            </a:r>
            <a:endParaRPr sz="1800"/>
          </a:p>
        </p:txBody>
      </p:sp>
      <p:sp>
        <p:nvSpPr>
          <p:cNvPr id="1313" name="Google Shape;1313;p94"/>
          <p:cNvSpPr txBox="1"/>
          <p:nvPr>
            <p:ph idx="4294967295" type="body"/>
          </p:nvPr>
        </p:nvSpPr>
        <p:spPr>
          <a:xfrm>
            <a:off x="324000" y="706350"/>
            <a:ext cx="7617300" cy="184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Jun goes to his local town centre and collects data on the number of days per week people visit the town centre.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He loses some of the data he collected, but knows that he asked 46 people, the data are bimodal, and that more people visit 7 times a week than 2 times a week.</a:t>
            </a:r>
            <a:endParaRPr sz="1800"/>
          </a:p>
        </p:txBody>
      </p:sp>
      <p:sp>
        <p:nvSpPr>
          <p:cNvPr id="1314" name="Google Shape;1314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Completing graphs from summary statistics</a:t>
            </a:r>
            <a:endParaRPr/>
          </a:p>
        </p:txBody>
      </p:sp>
      <p:pic>
        <p:nvPicPr>
          <p:cNvPr id="1315" name="Google Shape;1315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92837" y="76063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94"/>
          <p:cNvSpPr txBox="1"/>
          <p:nvPr>
            <p:ph idx="4294967295" type="body"/>
          </p:nvPr>
        </p:nvSpPr>
        <p:spPr>
          <a:xfrm>
            <a:off x="5736975" y="2343150"/>
            <a:ext cx="3082800" cy="9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How many people are not yet represented on the bar chart?</a:t>
            </a:r>
            <a:endParaRPr sz="1800"/>
          </a:p>
        </p:txBody>
      </p:sp>
      <p:sp>
        <p:nvSpPr>
          <p:cNvPr id="1317" name="Google Shape;1317;p94"/>
          <p:cNvSpPr txBox="1"/>
          <p:nvPr>
            <p:ph idx="4294967295" type="body"/>
          </p:nvPr>
        </p:nvSpPr>
        <p:spPr>
          <a:xfrm>
            <a:off x="5736975" y="4215500"/>
            <a:ext cx="27555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Complete the bar chart.</a:t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2" name="Google Shape;1322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250000"/>
            <a:ext cx="5061601" cy="25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95"/>
          <p:cNvSpPr txBox="1"/>
          <p:nvPr>
            <p:ph idx="4294967295" type="body"/>
          </p:nvPr>
        </p:nvSpPr>
        <p:spPr>
          <a:xfrm>
            <a:off x="5517450" y="3066050"/>
            <a:ext cx="3302400" cy="9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How many people are not yet represented on the bar chart?</a:t>
            </a:r>
            <a:endParaRPr sz="1800"/>
          </a:p>
        </p:txBody>
      </p:sp>
      <p:sp>
        <p:nvSpPr>
          <p:cNvPr id="1324" name="Google Shape;1324;p95"/>
          <p:cNvSpPr txBox="1"/>
          <p:nvPr>
            <p:ph idx="4294967295" type="body"/>
          </p:nvPr>
        </p:nvSpPr>
        <p:spPr>
          <a:xfrm>
            <a:off x="324000" y="706350"/>
            <a:ext cx="7617300" cy="14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Alex goes to his local town centre and collects data on the number of days per week people visit the town centre.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He loses some of the data he collected, but knows that he asked 58 people, the range is 6 days, and the modal number of days is 2.</a:t>
            </a:r>
            <a:endParaRPr sz="1800"/>
          </a:p>
        </p:txBody>
      </p:sp>
      <p:pic>
        <p:nvPicPr>
          <p:cNvPr id="1325" name="Google Shape;1325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2984" y="72391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Completing graphs from summary statistics</a:t>
            </a:r>
            <a:endParaRPr/>
          </a:p>
        </p:txBody>
      </p:sp>
      <p:sp>
        <p:nvSpPr>
          <p:cNvPr id="1327" name="Google Shape;1327;p95"/>
          <p:cNvSpPr txBox="1"/>
          <p:nvPr>
            <p:ph idx="4294967295" type="body"/>
          </p:nvPr>
        </p:nvSpPr>
        <p:spPr>
          <a:xfrm>
            <a:off x="7908450" y="2699995"/>
            <a:ext cx="91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 days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8" name="Google Shape;1328;p95"/>
          <p:cNvSpPr txBox="1"/>
          <p:nvPr>
            <p:ph idx="4294967295" type="body"/>
          </p:nvPr>
        </p:nvSpPr>
        <p:spPr>
          <a:xfrm>
            <a:off x="6371350" y="3762901"/>
            <a:ext cx="1229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 people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9" name="Google Shape;1329;p95"/>
          <p:cNvSpPr/>
          <p:nvPr/>
        </p:nvSpPr>
        <p:spPr>
          <a:xfrm>
            <a:off x="2085050" y="2726525"/>
            <a:ext cx="354300" cy="1613400"/>
          </a:xfrm>
          <a:prstGeom prst="roundRect">
            <a:avLst>
              <a:gd fmla="val 10426" name="adj"/>
            </a:avLst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95"/>
          <p:cNvSpPr txBox="1"/>
          <p:nvPr>
            <p:ph idx="4294967295" type="body"/>
          </p:nvPr>
        </p:nvSpPr>
        <p:spPr>
          <a:xfrm>
            <a:off x="1796600" y="2317250"/>
            <a:ext cx="953700" cy="382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at least 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1" name="Google Shape;1331;p95"/>
          <p:cNvSpPr/>
          <p:nvPr/>
        </p:nvSpPr>
        <p:spPr>
          <a:xfrm>
            <a:off x="1561650" y="3539125"/>
            <a:ext cx="354300" cy="800700"/>
          </a:xfrm>
          <a:prstGeom prst="roundRect">
            <a:avLst>
              <a:gd fmla="val 10426" name="adj"/>
            </a:avLst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95"/>
          <p:cNvSpPr txBox="1"/>
          <p:nvPr>
            <p:ph idx="4294967295" type="body"/>
          </p:nvPr>
        </p:nvSpPr>
        <p:spPr>
          <a:xfrm>
            <a:off x="962250" y="3123900"/>
            <a:ext cx="953700" cy="382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at most 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3" name="Google Shape;1333;p95"/>
          <p:cNvSpPr txBox="1"/>
          <p:nvPr>
            <p:ph idx="4294967295" type="body"/>
          </p:nvPr>
        </p:nvSpPr>
        <p:spPr>
          <a:xfrm>
            <a:off x="5517450" y="4167175"/>
            <a:ext cx="33024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Complete a bar chart that shows this.</a:t>
            </a:r>
            <a:endParaRPr sz="1800"/>
          </a:p>
        </p:txBody>
      </p:sp>
      <p:sp>
        <p:nvSpPr>
          <p:cNvPr id="1334" name="Google Shape;1334;p95"/>
          <p:cNvSpPr txBox="1"/>
          <p:nvPr>
            <p:ph idx="4294967295" type="body"/>
          </p:nvPr>
        </p:nvSpPr>
        <p:spPr>
          <a:xfrm>
            <a:off x="5517450" y="2325225"/>
            <a:ext cx="33024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Which bar does Alex know he must leave blank?</a:t>
            </a:r>
            <a:endParaRPr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9" name="Google Shape;133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606400"/>
            <a:ext cx="5346001" cy="22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96"/>
          <p:cNvSpPr txBox="1"/>
          <p:nvPr>
            <p:ph idx="4294967295" type="body"/>
          </p:nvPr>
        </p:nvSpPr>
        <p:spPr>
          <a:xfrm>
            <a:off x="324000" y="706350"/>
            <a:ext cx="7617300" cy="184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Jun goes to his local town centre and collects data on the number of days per week people visit the town centre.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He loses some of the data he collected, but knows that he asked 46 people, the data are bimodal, and that more people visit 7 times a week than 2 times a week.</a:t>
            </a:r>
            <a:endParaRPr sz="1800"/>
          </a:p>
        </p:txBody>
      </p:sp>
      <p:sp>
        <p:nvSpPr>
          <p:cNvPr id="1341" name="Google Shape;1341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Completing graphs from summary statistics</a:t>
            </a:r>
            <a:endParaRPr/>
          </a:p>
        </p:txBody>
      </p:sp>
      <p:pic>
        <p:nvPicPr>
          <p:cNvPr id="1342" name="Google Shape;1342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92837" y="76063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96"/>
          <p:cNvSpPr txBox="1"/>
          <p:nvPr>
            <p:ph idx="4294967295" type="body"/>
          </p:nvPr>
        </p:nvSpPr>
        <p:spPr>
          <a:xfrm>
            <a:off x="7576425" y="3148967"/>
            <a:ext cx="1229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 people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4" name="Google Shape;1344;p96"/>
          <p:cNvSpPr/>
          <p:nvPr/>
        </p:nvSpPr>
        <p:spPr>
          <a:xfrm>
            <a:off x="1674050" y="4280950"/>
            <a:ext cx="425100" cy="119100"/>
          </a:xfrm>
          <a:prstGeom prst="roundRect">
            <a:avLst>
              <a:gd fmla="val 10426" name="adj"/>
            </a:avLst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96"/>
          <p:cNvSpPr/>
          <p:nvPr/>
        </p:nvSpPr>
        <p:spPr>
          <a:xfrm>
            <a:off x="2320900" y="3000375"/>
            <a:ext cx="425100" cy="1399800"/>
          </a:xfrm>
          <a:prstGeom prst="roundRect">
            <a:avLst>
              <a:gd fmla="val 10426" name="adj"/>
            </a:avLst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96"/>
          <p:cNvSpPr/>
          <p:nvPr/>
        </p:nvSpPr>
        <p:spPr>
          <a:xfrm>
            <a:off x="2967733" y="3000375"/>
            <a:ext cx="425100" cy="1399800"/>
          </a:xfrm>
          <a:prstGeom prst="roundRect">
            <a:avLst>
              <a:gd fmla="val 10426" name="adj"/>
            </a:avLst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96"/>
          <p:cNvSpPr txBox="1"/>
          <p:nvPr>
            <p:ph idx="4294967295" type="body"/>
          </p:nvPr>
        </p:nvSpPr>
        <p:spPr>
          <a:xfrm>
            <a:off x="1674050" y="3973150"/>
            <a:ext cx="4251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8" name="Google Shape;1348;p96"/>
          <p:cNvSpPr txBox="1"/>
          <p:nvPr>
            <p:ph idx="4294967295" type="body"/>
          </p:nvPr>
        </p:nvSpPr>
        <p:spPr>
          <a:xfrm>
            <a:off x="2320900" y="2700000"/>
            <a:ext cx="4251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9" name="Google Shape;1349;p96"/>
          <p:cNvSpPr txBox="1"/>
          <p:nvPr>
            <p:ph idx="4294967295" type="body"/>
          </p:nvPr>
        </p:nvSpPr>
        <p:spPr>
          <a:xfrm>
            <a:off x="2967725" y="2700000"/>
            <a:ext cx="4251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0" name="Google Shape;1350;p96"/>
          <p:cNvSpPr txBox="1"/>
          <p:nvPr>
            <p:ph idx="4294967295" type="body"/>
          </p:nvPr>
        </p:nvSpPr>
        <p:spPr>
          <a:xfrm>
            <a:off x="5736975" y="3459475"/>
            <a:ext cx="30828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How many people go to town 2 times per week?</a:t>
            </a:r>
            <a:endParaRPr sz="1800"/>
          </a:p>
        </p:txBody>
      </p:sp>
      <p:sp>
        <p:nvSpPr>
          <p:cNvPr id="1351" name="Google Shape;1351;p96"/>
          <p:cNvSpPr txBox="1"/>
          <p:nvPr>
            <p:ph idx="4294967295" type="body"/>
          </p:nvPr>
        </p:nvSpPr>
        <p:spPr>
          <a:xfrm>
            <a:off x="5736975" y="2343150"/>
            <a:ext cx="3082800" cy="9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How many people are not yet represented on the bar chart?</a:t>
            </a:r>
            <a:endParaRPr sz="1800"/>
          </a:p>
        </p:txBody>
      </p:sp>
      <p:sp>
        <p:nvSpPr>
          <p:cNvPr id="1352" name="Google Shape;1352;p96"/>
          <p:cNvSpPr txBox="1"/>
          <p:nvPr>
            <p:ph idx="4294967295" type="body"/>
          </p:nvPr>
        </p:nvSpPr>
        <p:spPr>
          <a:xfrm>
            <a:off x="5736975" y="4215500"/>
            <a:ext cx="27555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Complete the bar chart.</a:t>
            </a:r>
            <a:endParaRPr sz="1800"/>
          </a:p>
        </p:txBody>
      </p:sp>
      <p:sp>
        <p:nvSpPr>
          <p:cNvPr id="1353" name="Google Shape;1353;p96"/>
          <p:cNvSpPr txBox="1"/>
          <p:nvPr>
            <p:ph idx="4294967295" type="body"/>
          </p:nvPr>
        </p:nvSpPr>
        <p:spPr>
          <a:xfrm>
            <a:off x="7576425" y="4013817"/>
            <a:ext cx="1229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person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97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summary statistics to statistical graphs</a:t>
            </a:r>
            <a:endParaRPr/>
          </a:p>
        </p:txBody>
      </p:sp>
      <p:sp>
        <p:nvSpPr>
          <p:cNvPr id="1359" name="Google Shape;1359;p9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different statistical representations</a:t>
            </a:r>
            <a:endParaRPr/>
          </a:p>
        </p:txBody>
      </p:sp>
      <p:sp>
        <p:nvSpPr>
          <p:cNvPr id="1360" name="Google Shape;1360;p97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Completing graphs from summary statistics</a:t>
            </a:r>
            <a:endParaRPr/>
          </a:p>
        </p:txBody>
      </p:sp>
      <p:pic>
        <p:nvPicPr>
          <p:cNvPr id="1361" name="Google Shape;1361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61" y="3700464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97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98"/>
          <p:cNvSpPr txBox="1"/>
          <p:nvPr>
            <p:ph idx="1" type="body"/>
          </p:nvPr>
        </p:nvSpPr>
        <p:spPr>
          <a:xfrm>
            <a:off x="840775" y="1824503"/>
            <a:ext cx="7979100" cy="20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you do not know all the values and frequencies.</a:t>
            </a:r>
            <a:br>
              <a:rPr lang="en-GB" sz="1800"/>
            </a:br>
            <a:endParaRPr sz="15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you’re not sure of the scale of the axes.</a:t>
            </a:r>
            <a:br>
              <a:rPr lang="en-GB" sz="1800"/>
            </a:br>
            <a:endParaRPr sz="15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you only know some of the summary statistics of the dataset.</a:t>
            </a:r>
            <a:br>
              <a:rPr lang="en-GB" sz="1800"/>
            </a:br>
            <a:endParaRPr sz="15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</a:t>
            </a:r>
            <a:r>
              <a:rPr lang="en-GB" sz="1800"/>
              <a:t>t is for use in planning only, before representing full results on an accurate graph.</a:t>
            </a:r>
            <a:endParaRPr sz="1800"/>
          </a:p>
        </p:txBody>
      </p:sp>
      <p:sp>
        <p:nvSpPr>
          <p:cNvPr id="1368" name="Google Shape;1368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  <p:sp>
        <p:nvSpPr>
          <p:cNvPr id="1369" name="Google Shape;1369;p98"/>
          <p:cNvSpPr txBox="1"/>
          <p:nvPr>
            <p:ph idx="1" type="body"/>
          </p:nvPr>
        </p:nvSpPr>
        <p:spPr>
          <a:xfrm>
            <a:off x="324000" y="706350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Sketching a graph is a quick way of visualising the shape or distribution of a graph without spending too much time drawing it completely accurately.</a:t>
            </a:r>
            <a:endParaRPr sz="1800"/>
          </a:p>
        </p:txBody>
      </p:sp>
      <p:sp>
        <p:nvSpPr>
          <p:cNvPr id="1370" name="Google Shape;1370;p98"/>
          <p:cNvSpPr txBox="1"/>
          <p:nvPr>
            <p:ph idx="1" type="body"/>
          </p:nvPr>
        </p:nvSpPr>
        <p:spPr>
          <a:xfrm>
            <a:off x="324000" y="4038950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Sketches do not need to look perfect, but they should still follow the rules of what a graph (such as a bar chart) should and shouldn’t look like.</a:t>
            </a:r>
            <a:endParaRPr sz="1800"/>
          </a:p>
        </p:txBody>
      </p:sp>
      <p:sp>
        <p:nvSpPr>
          <p:cNvPr id="1371" name="Google Shape;1371;p98"/>
          <p:cNvSpPr txBox="1"/>
          <p:nvPr>
            <p:ph idx="1" type="body"/>
          </p:nvPr>
        </p:nvSpPr>
        <p:spPr>
          <a:xfrm>
            <a:off x="324000" y="1499478"/>
            <a:ext cx="8496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may be because: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99"/>
          <p:cNvSpPr txBox="1"/>
          <p:nvPr>
            <p:ph idx="1" type="body"/>
          </p:nvPr>
        </p:nvSpPr>
        <p:spPr>
          <a:xfrm>
            <a:off x="324000" y="706350"/>
            <a:ext cx="4248000" cy="12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Using only the summary statistics below and labelling the minimum and maximum values on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-axis, sketch two different bar charts.</a:t>
            </a:r>
            <a:endParaRPr sz="1800"/>
          </a:p>
        </p:txBody>
      </p:sp>
      <p:sp>
        <p:nvSpPr>
          <p:cNvPr id="1377" name="Google Shape;1377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  <p:sp>
        <p:nvSpPr>
          <p:cNvPr id="1378" name="Google Shape;1378;p99"/>
          <p:cNvSpPr txBox="1"/>
          <p:nvPr>
            <p:ph idx="1" type="body"/>
          </p:nvPr>
        </p:nvSpPr>
        <p:spPr>
          <a:xfrm>
            <a:off x="324000" y="3140695"/>
            <a:ext cx="4248000" cy="16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Each bar must still be of approximately the same width, and still have gaps between each bar.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heights of the bars you draw do not need to be perfectly accurate.</a:t>
            </a:r>
            <a:endParaRPr sz="1800"/>
          </a:p>
        </p:txBody>
      </p:sp>
      <p:pic>
        <p:nvPicPr>
          <p:cNvPr id="1379" name="Google Shape;1379;p99"/>
          <p:cNvPicPr preferRelativeResize="0"/>
          <p:nvPr/>
        </p:nvPicPr>
        <p:blipFill rotWithShape="1">
          <a:blip r:embed="rId3">
            <a:alphaModFix/>
          </a:blip>
          <a:srcRect b="34692" l="0" r="0" t="6136"/>
          <a:stretch/>
        </p:blipFill>
        <p:spPr>
          <a:xfrm>
            <a:off x="4824000" y="696903"/>
            <a:ext cx="3996000" cy="17733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80" name="Google Shape;1380;p99"/>
          <p:cNvPicPr preferRelativeResize="0"/>
          <p:nvPr/>
        </p:nvPicPr>
        <p:blipFill rotWithShape="1">
          <a:blip r:embed="rId4">
            <a:alphaModFix/>
          </a:blip>
          <a:srcRect b="34693" l="74913" r="0" t="56045"/>
          <a:stretch/>
        </p:blipFill>
        <p:spPr>
          <a:xfrm>
            <a:off x="7817550" y="2192728"/>
            <a:ext cx="1002448" cy="27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1" name="Google Shape;1381;p99"/>
          <p:cNvPicPr preferRelativeResize="0"/>
          <p:nvPr/>
        </p:nvPicPr>
        <p:blipFill rotWithShape="1">
          <a:blip r:embed="rId5">
            <a:alphaModFix/>
          </a:blip>
          <a:srcRect b="43956" l="0" r="79274" t="14904"/>
          <a:stretch/>
        </p:blipFill>
        <p:spPr>
          <a:xfrm>
            <a:off x="4824000" y="959728"/>
            <a:ext cx="828200" cy="1233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2" name="Google Shape;1382;p99"/>
          <p:cNvGraphicFramePr/>
          <p:nvPr/>
        </p:nvGraphicFramePr>
        <p:xfrm>
          <a:off x="1299100" y="2206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83" name="Google Shape;1383;p99"/>
          <p:cNvGraphicFramePr/>
          <p:nvPr/>
        </p:nvGraphicFramePr>
        <p:xfrm>
          <a:off x="1299100" y="2540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84" name="Google Shape;1384;p99"/>
          <p:cNvPicPr preferRelativeResize="0"/>
          <p:nvPr/>
        </p:nvPicPr>
        <p:blipFill rotWithShape="1">
          <a:blip r:embed="rId5">
            <a:alphaModFix/>
          </a:blip>
          <a:srcRect b="43956" l="20597" r="0" t="14904"/>
          <a:stretch/>
        </p:blipFill>
        <p:spPr>
          <a:xfrm>
            <a:off x="5649223" y="959728"/>
            <a:ext cx="3172924" cy="123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5" name="Google Shape;1385;p99"/>
          <p:cNvPicPr preferRelativeResize="0"/>
          <p:nvPr/>
        </p:nvPicPr>
        <p:blipFill rotWithShape="1">
          <a:blip r:embed="rId4">
            <a:alphaModFix/>
          </a:blip>
          <a:srcRect b="34693" l="11349" r="78056" t="56045"/>
          <a:stretch/>
        </p:blipFill>
        <p:spPr>
          <a:xfrm>
            <a:off x="5277550" y="2192728"/>
            <a:ext cx="423348" cy="27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0900" y="2207025"/>
            <a:ext cx="33205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0900" y="2540400"/>
            <a:ext cx="332050" cy="3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99"/>
          <p:cNvPicPr preferRelativeResize="0"/>
          <p:nvPr/>
        </p:nvPicPr>
        <p:blipFill rotWithShape="1">
          <a:blip r:embed="rId7">
            <a:alphaModFix/>
          </a:blip>
          <a:srcRect b="34696" l="4104" r="0" t="6135"/>
          <a:stretch/>
        </p:blipFill>
        <p:spPr>
          <a:xfrm>
            <a:off x="4988075" y="696903"/>
            <a:ext cx="3831924" cy="177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9" name="Google Shape;1389;p99"/>
          <p:cNvPicPr preferRelativeResize="0"/>
          <p:nvPr/>
        </p:nvPicPr>
        <p:blipFill rotWithShape="1">
          <a:blip r:embed="rId3">
            <a:alphaModFix/>
          </a:blip>
          <a:srcRect b="34692" l="0" r="0" t="6136"/>
          <a:stretch/>
        </p:blipFill>
        <p:spPr>
          <a:xfrm>
            <a:off x="4824000" y="2623075"/>
            <a:ext cx="3996000" cy="17733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90" name="Google Shape;1390;p99"/>
          <p:cNvPicPr preferRelativeResize="0"/>
          <p:nvPr/>
        </p:nvPicPr>
        <p:blipFill rotWithShape="1">
          <a:blip r:embed="rId8">
            <a:alphaModFix/>
          </a:blip>
          <a:srcRect b="34496" l="0" r="54396" t="10652"/>
          <a:stretch/>
        </p:blipFill>
        <p:spPr>
          <a:xfrm>
            <a:off x="4824000" y="2758000"/>
            <a:ext cx="1822324" cy="164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1" name="Google Shape;1391;p99"/>
          <p:cNvPicPr preferRelativeResize="0"/>
          <p:nvPr/>
        </p:nvPicPr>
        <p:blipFill rotWithShape="1">
          <a:blip r:embed="rId8">
            <a:alphaModFix/>
          </a:blip>
          <a:srcRect b="34496" l="44702" r="44702" t="10652"/>
          <a:stretch/>
        </p:blipFill>
        <p:spPr>
          <a:xfrm>
            <a:off x="6610325" y="2758000"/>
            <a:ext cx="423348" cy="164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2" name="Google Shape;1392;p99"/>
          <p:cNvPicPr preferRelativeResize="0"/>
          <p:nvPr/>
        </p:nvPicPr>
        <p:blipFill rotWithShape="1">
          <a:blip r:embed="rId8">
            <a:alphaModFix/>
          </a:blip>
          <a:srcRect b="34496" l="55297" r="0" t="10652"/>
          <a:stretch/>
        </p:blipFill>
        <p:spPr>
          <a:xfrm>
            <a:off x="7033675" y="2758000"/>
            <a:ext cx="1786324" cy="164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99"/>
          <p:cNvPicPr preferRelativeResize="0"/>
          <p:nvPr/>
        </p:nvPicPr>
        <p:blipFill rotWithShape="1">
          <a:blip r:embed="rId7">
            <a:alphaModFix/>
          </a:blip>
          <a:srcRect b="34696" l="4104" r="0" t="6135"/>
          <a:stretch/>
        </p:blipFill>
        <p:spPr>
          <a:xfrm>
            <a:off x="4988075" y="2623075"/>
            <a:ext cx="3831924" cy="17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100"/>
          <p:cNvSpPr txBox="1"/>
          <p:nvPr>
            <p:ph idx="1" type="body"/>
          </p:nvPr>
        </p:nvSpPr>
        <p:spPr>
          <a:xfrm>
            <a:off x="323998" y="2270625"/>
            <a:ext cx="3443700" cy="12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-axis </a:t>
            </a:r>
            <a:r>
              <a:rPr lang="en-GB" sz="1800"/>
              <a:t>numbered </a:t>
            </a:r>
            <a:r>
              <a:rPr lang="en-GB" sz="1800"/>
              <a:t>with only important values (such as mode, maximum and minimum values)</a:t>
            </a:r>
            <a:endParaRPr sz="1800"/>
          </a:p>
        </p:txBody>
      </p:sp>
      <p:sp>
        <p:nvSpPr>
          <p:cNvPr id="1399" name="Google Shape;1399;p100"/>
          <p:cNvSpPr txBox="1"/>
          <p:nvPr>
            <p:ph idx="1" type="body"/>
          </p:nvPr>
        </p:nvSpPr>
        <p:spPr>
          <a:xfrm>
            <a:off x="324000" y="696900"/>
            <a:ext cx="43257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makes these sketches and not fully accurate bar charts?</a:t>
            </a:r>
            <a:endParaRPr sz="1800"/>
          </a:p>
        </p:txBody>
      </p:sp>
      <p:sp>
        <p:nvSpPr>
          <p:cNvPr id="1400" name="Google Shape;1400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  <p:pic>
        <p:nvPicPr>
          <p:cNvPr id="1401" name="Google Shape;1401;p100"/>
          <p:cNvPicPr preferRelativeResize="0"/>
          <p:nvPr/>
        </p:nvPicPr>
        <p:blipFill rotWithShape="1">
          <a:blip r:embed="rId3">
            <a:alphaModFix/>
          </a:blip>
          <a:srcRect b="34692" l="0" r="0" t="6136"/>
          <a:stretch/>
        </p:blipFill>
        <p:spPr>
          <a:xfrm>
            <a:off x="4824000" y="696903"/>
            <a:ext cx="3996000" cy="17733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02" name="Google Shape;1402;p100"/>
          <p:cNvPicPr preferRelativeResize="0"/>
          <p:nvPr/>
        </p:nvPicPr>
        <p:blipFill rotWithShape="1">
          <a:blip r:embed="rId4">
            <a:alphaModFix/>
          </a:blip>
          <a:srcRect b="34693" l="74913" r="0" t="56045"/>
          <a:stretch/>
        </p:blipFill>
        <p:spPr>
          <a:xfrm>
            <a:off x="7817550" y="2192728"/>
            <a:ext cx="1002448" cy="27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3" name="Google Shape;1403;p100"/>
          <p:cNvPicPr preferRelativeResize="0"/>
          <p:nvPr/>
        </p:nvPicPr>
        <p:blipFill rotWithShape="1">
          <a:blip r:embed="rId5">
            <a:alphaModFix/>
          </a:blip>
          <a:srcRect b="43956" l="0" r="79274" t="14904"/>
          <a:stretch/>
        </p:blipFill>
        <p:spPr>
          <a:xfrm>
            <a:off x="4824000" y="959728"/>
            <a:ext cx="828200" cy="123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4" name="Google Shape;1404;p100"/>
          <p:cNvPicPr preferRelativeResize="0"/>
          <p:nvPr/>
        </p:nvPicPr>
        <p:blipFill rotWithShape="1">
          <a:blip r:embed="rId5">
            <a:alphaModFix/>
          </a:blip>
          <a:srcRect b="43956" l="20597" r="0" t="14904"/>
          <a:stretch/>
        </p:blipFill>
        <p:spPr>
          <a:xfrm>
            <a:off x="5649223" y="959728"/>
            <a:ext cx="3172924" cy="123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100"/>
          <p:cNvPicPr preferRelativeResize="0"/>
          <p:nvPr/>
        </p:nvPicPr>
        <p:blipFill rotWithShape="1">
          <a:blip r:embed="rId4">
            <a:alphaModFix/>
          </a:blip>
          <a:srcRect b="34693" l="11349" r="78056" t="56045"/>
          <a:stretch/>
        </p:blipFill>
        <p:spPr>
          <a:xfrm>
            <a:off x="5277550" y="2192728"/>
            <a:ext cx="423348" cy="27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100"/>
          <p:cNvPicPr preferRelativeResize="0"/>
          <p:nvPr/>
        </p:nvPicPr>
        <p:blipFill rotWithShape="1">
          <a:blip r:embed="rId6">
            <a:alphaModFix/>
          </a:blip>
          <a:srcRect b="34696" l="4104" r="0" t="6135"/>
          <a:stretch/>
        </p:blipFill>
        <p:spPr>
          <a:xfrm>
            <a:off x="4988075" y="696903"/>
            <a:ext cx="3831924" cy="177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p100"/>
          <p:cNvPicPr preferRelativeResize="0"/>
          <p:nvPr/>
        </p:nvPicPr>
        <p:blipFill rotWithShape="1">
          <a:blip r:embed="rId3">
            <a:alphaModFix/>
          </a:blip>
          <a:srcRect b="34692" l="0" r="0" t="6136"/>
          <a:stretch/>
        </p:blipFill>
        <p:spPr>
          <a:xfrm>
            <a:off x="4824000" y="2623075"/>
            <a:ext cx="3996000" cy="17733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08" name="Google Shape;1408;p100"/>
          <p:cNvPicPr preferRelativeResize="0"/>
          <p:nvPr/>
        </p:nvPicPr>
        <p:blipFill rotWithShape="1">
          <a:blip r:embed="rId7">
            <a:alphaModFix/>
          </a:blip>
          <a:srcRect b="34496" l="0" r="54396" t="10652"/>
          <a:stretch/>
        </p:blipFill>
        <p:spPr>
          <a:xfrm>
            <a:off x="4824000" y="2758000"/>
            <a:ext cx="1822324" cy="164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100"/>
          <p:cNvPicPr preferRelativeResize="0"/>
          <p:nvPr/>
        </p:nvPicPr>
        <p:blipFill rotWithShape="1">
          <a:blip r:embed="rId7">
            <a:alphaModFix/>
          </a:blip>
          <a:srcRect b="34496" l="44702" r="44702" t="10652"/>
          <a:stretch/>
        </p:blipFill>
        <p:spPr>
          <a:xfrm>
            <a:off x="6610325" y="2758000"/>
            <a:ext cx="423348" cy="164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100"/>
          <p:cNvPicPr preferRelativeResize="0"/>
          <p:nvPr/>
        </p:nvPicPr>
        <p:blipFill rotWithShape="1">
          <a:blip r:embed="rId7">
            <a:alphaModFix/>
          </a:blip>
          <a:srcRect b="34496" l="55297" r="0" t="10652"/>
          <a:stretch/>
        </p:blipFill>
        <p:spPr>
          <a:xfrm>
            <a:off x="7033675" y="2758000"/>
            <a:ext cx="1786324" cy="164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1" name="Google Shape;1411;p100"/>
          <p:cNvPicPr preferRelativeResize="0"/>
          <p:nvPr/>
        </p:nvPicPr>
        <p:blipFill rotWithShape="1">
          <a:blip r:embed="rId6">
            <a:alphaModFix/>
          </a:blip>
          <a:srcRect b="34696" l="4104" r="0" t="6135"/>
          <a:stretch/>
        </p:blipFill>
        <p:spPr>
          <a:xfrm>
            <a:off x="4988075" y="2623075"/>
            <a:ext cx="3831924" cy="177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00"/>
          <p:cNvSpPr txBox="1"/>
          <p:nvPr>
            <p:ph idx="1" type="body"/>
          </p:nvPr>
        </p:nvSpPr>
        <p:spPr>
          <a:xfrm>
            <a:off x="862849" y="1709950"/>
            <a:ext cx="31728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-axis not fully numbered</a:t>
            </a:r>
            <a:endParaRPr sz="1800"/>
          </a:p>
        </p:txBody>
      </p:sp>
      <p:cxnSp>
        <p:nvCxnSpPr>
          <p:cNvPr id="1413" name="Google Shape;1413;p100"/>
          <p:cNvCxnSpPr/>
          <p:nvPr/>
        </p:nvCxnSpPr>
        <p:spPr>
          <a:xfrm>
            <a:off x="4035778" y="1848550"/>
            <a:ext cx="1107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4" name="Google Shape;1414;p100"/>
          <p:cNvCxnSpPr>
            <a:stCxn id="1398" idx="3"/>
          </p:cNvCxnSpPr>
          <p:nvPr/>
        </p:nvCxnSpPr>
        <p:spPr>
          <a:xfrm flipH="1" rot="10800000">
            <a:off x="3767698" y="2324925"/>
            <a:ext cx="1509900" cy="57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5" name="Google Shape;1415;p100"/>
          <p:cNvSpPr txBox="1"/>
          <p:nvPr>
            <p:ph idx="1" type="body"/>
          </p:nvPr>
        </p:nvSpPr>
        <p:spPr>
          <a:xfrm>
            <a:off x="1157099" y="3787100"/>
            <a:ext cx="28788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bar heights may not be drawn perfectly to scale</a:t>
            </a:r>
            <a:endParaRPr sz="1800"/>
          </a:p>
        </p:txBody>
      </p:sp>
      <p:cxnSp>
        <p:nvCxnSpPr>
          <p:cNvPr id="1416" name="Google Shape;1416;p100"/>
          <p:cNvCxnSpPr>
            <a:stCxn id="1415" idx="3"/>
          </p:cNvCxnSpPr>
          <p:nvPr/>
        </p:nvCxnSpPr>
        <p:spPr>
          <a:xfrm flipH="1" rot="10800000">
            <a:off x="4035899" y="3958100"/>
            <a:ext cx="1100700" cy="126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  <p:graphicFrame>
        <p:nvGraphicFramePr>
          <p:cNvPr id="1422" name="Google Shape;1422;p101"/>
          <p:cNvGraphicFramePr/>
          <p:nvPr/>
        </p:nvGraphicFramePr>
        <p:xfrm>
          <a:off x="2848200" y="66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23" name="Google Shape;1423;p101"/>
          <p:cNvGraphicFramePr/>
          <p:nvPr/>
        </p:nvGraphicFramePr>
        <p:xfrm>
          <a:off x="2848200" y="1002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4" name="Google Shape;1424;p101"/>
          <p:cNvSpPr txBox="1"/>
          <p:nvPr>
            <p:ph idx="1" type="subTitle"/>
          </p:nvPr>
        </p:nvSpPr>
        <p:spPr>
          <a:xfrm>
            <a:off x="324000" y="706350"/>
            <a:ext cx="1746000" cy="13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Sketch this information on a vertical line graph.</a:t>
            </a:r>
            <a:endParaRPr sz="1800"/>
          </a:p>
        </p:txBody>
      </p:sp>
      <p:graphicFrame>
        <p:nvGraphicFramePr>
          <p:cNvPr id="1425" name="Google Shape;1425;p101"/>
          <p:cNvGraphicFramePr/>
          <p:nvPr/>
        </p:nvGraphicFramePr>
        <p:xfrm>
          <a:off x="2145100" y="1336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2174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data point 12 has half the frequency of the 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26" name="Google Shape;1426;p101"/>
          <p:cNvGraphicFramePr/>
          <p:nvPr/>
        </p:nvGraphicFramePr>
        <p:xfrm>
          <a:off x="7348200" y="66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27" name="Google Shape;1427;p101"/>
          <p:cNvGraphicFramePr/>
          <p:nvPr/>
        </p:nvGraphicFramePr>
        <p:xfrm>
          <a:off x="7348200" y="1002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28" name="Google Shape;1428;p101"/>
          <p:cNvGraphicFramePr/>
          <p:nvPr/>
        </p:nvGraphicFramePr>
        <p:xfrm>
          <a:off x="6645100" y="1336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2174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data point 11 has half the frequency of the 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9" name="Google Shape;1429;p101"/>
          <p:cNvSpPr txBox="1"/>
          <p:nvPr>
            <p:ph idx="2" type="subTitle"/>
          </p:nvPr>
        </p:nvSpPr>
        <p:spPr>
          <a:xfrm>
            <a:off x="4824000" y="706350"/>
            <a:ext cx="1746000" cy="13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Sketch this information on a vertical line graph.</a:t>
            </a:r>
            <a:endParaRPr sz="1800"/>
          </a:p>
        </p:txBody>
      </p:sp>
      <p:sp>
        <p:nvSpPr>
          <p:cNvPr id="1430" name="Google Shape;1430;p101"/>
          <p:cNvSpPr txBox="1"/>
          <p:nvPr>
            <p:ph idx="4294967295" type="body"/>
          </p:nvPr>
        </p:nvSpPr>
        <p:spPr>
          <a:xfrm>
            <a:off x="4468650" y="2812525"/>
            <a:ext cx="3996000" cy="1846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Step 1: draw your axes.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height can be anything suitable, but the length should be a minimum of double the range of the dataset, plus two extra squares.</a:t>
            </a:r>
            <a:endParaRPr sz="1800"/>
          </a:p>
        </p:txBody>
      </p:sp>
      <p:pic>
        <p:nvPicPr>
          <p:cNvPr id="1431" name="Google Shape;1431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717183"/>
            <a:ext cx="3995999" cy="214071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32" name="Google Shape;1432;p101"/>
          <p:cNvSpPr txBox="1"/>
          <p:nvPr>
            <p:ph idx="4294967295" type="body"/>
          </p:nvPr>
        </p:nvSpPr>
        <p:spPr>
          <a:xfrm>
            <a:off x="994825" y="2856175"/>
            <a:ext cx="2816100" cy="277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 × 2 + 2 = 22 squares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33" name="Google Shape;1433;p101"/>
          <p:cNvCxnSpPr/>
          <p:nvPr/>
        </p:nvCxnSpPr>
        <p:spPr>
          <a:xfrm>
            <a:off x="769825" y="2812525"/>
            <a:ext cx="3266400" cy="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102"/>
          <p:cNvSpPr txBox="1"/>
          <p:nvPr>
            <p:ph idx="1" type="subTitle"/>
          </p:nvPr>
        </p:nvSpPr>
        <p:spPr>
          <a:xfrm>
            <a:off x="4468675" y="2856900"/>
            <a:ext cx="3996000" cy="1846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Step 2: plan the location of key values on the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-axis.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Consider where the modal value will be located, as well as you minimum and maximum values.</a:t>
            </a:r>
            <a:endParaRPr sz="1800"/>
          </a:p>
        </p:txBody>
      </p:sp>
      <p:sp>
        <p:nvSpPr>
          <p:cNvPr id="1439" name="Google Shape;1439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  <p:graphicFrame>
        <p:nvGraphicFramePr>
          <p:cNvPr id="1440" name="Google Shape;1440;p102"/>
          <p:cNvGraphicFramePr/>
          <p:nvPr/>
        </p:nvGraphicFramePr>
        <p:xfrm>
          <a:off x="2848200" y="66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1" name="Google Shape;1441;p102"/>
          <p:cNvGraphicFramePr/>
          <p:nvPr/>
        </p:nvGraphicFramePr>
        <p:xfrm>
          <a:off x="2848200" y="1002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2" name="Google Shape;1442;p102"/>
          <p:cNvSpPr txBox="1"/>
          <p:nvPr>
            <p:ph idx="2" type="subTitle"/>
          </p:nvPr>
        </p:nvSpPr>
        <p:spPr>
          <a:xfrm>
            <a:off x="324000" y="706350"/>
            <a:ext cx="1746000" cy="13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Sketch this information on a vertical line graph.</a:t>
            </a:r>
            <a:endParaRPr sz="1800"/>
          </a:p>
        </p:txBody>
      </p:sp>
      <p:graphicFrame>
        <p:nvGraphicFramePr>
          <p:cNvPr id="1443" name="Google Shape;1443;p102"/>
          <p:cNvGraphicFramePr/>
          <p:nvPr/>
        </p:nvGraphicFramePr>
        <p:xfrm>
          <a:off x="2145100" y="1336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2174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data point 12 has half the frequency of the 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4" name="Google Shape;1444;p102"/>
          <p:cNvGraphicFramePr/>
          <p:nvPr/>
        </p:nvGraphicFramePr>
        <p:xfrm>
          <a:off x="7348200" y="66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5" name="Google Shape;1445;p102"/>
          <p:cNvGraphicFramePr/>
          <p:nvPr/>
        </p:nvGraphicFramePr>
        <p:xfrm>
          <a:off x="7348200" y="1002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6" name="Google Shape;1446;p102"/>
          <p:cNvGraphicFramePr/>
          <p:nvPr/>
        </p:nvGraphicFramePr>
        <p:xfrm>
          <a:off x="6645100" y="1336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2174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data point 11 has half the frequency of the 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7" name="Google Shape;1447;p102"/>
          <p:cNvSpPr txBox="1"/>
          <p:nvPr>
            <p:ph idx="4294967295" type="body"/>
          </p:nvPr>
        </p:nvSpPr>
        <p:spPr>
          <a:xfrm>
            <a:off x="4824000" y="706350"/>
            <a:ext cx="1746000" cy="13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Sketch this information on a vertical line graph.</a:t>
            </a:r>
            <a:endParaRPr sz="1800"/>
          </a:p>
        </p:txBody>
      </p:sp>
      <p:pic>
        <p:nvPicPr>
          <p:cNvPr id="1448" name="Google Shape;1448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717183"/>
            <a:ext cx="3995999" cy="214071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49" name="Google Shape;1449;p102"/>
          <p:cNvPicPr preferRelativeResize="0"/>
          <p:nvPr/>
        </p:nvPicPr>
        <p:blipFill rotWithShape="1">
          <a:blip r:embed="rId4">
            <a:alphaModFix/>
          </a:blip>
          <a:srcRect b="0" l="11134" r="80565" t="79394"/>
          <a:stretch/>
        </p:blipFill>
        <p:spPr>
          <a:xfrm>
            <a:off x="769050" y="4416775"/>
            <a:ext cx="331625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0" name="Google Shape;1450;p102"/>
          <p:cNvPicPr preferRelativeResize="0"/>
          <p:nvPr/>
        </p:nvPicPr>
        <p:blipFill rotWithShape="1">
          <a:blip r:embed="rId4">
            <a:alphaModFix/>
          </a:blip>
          <a:srcRect b="0" l="81057" r="8877" t="79394"/>
          <a:stretch/>
        </p:blipFill>
        <p:spPr>
          <a:xfrm>
            <a:off x="3563050" y="4416775"/>
            <a:ext cx="402175" cy="44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02"/>
          <p:cNvSpPr txBox="1"/>
          <p:nvPr>
            <p:ph idx="4294967295" type="body"/>
          </p:nvPr>
        </p:nvSpPr>
        <p:spPr>
          <a:xfrm>
            <a:off x="1503900" y="2742333"/>
            <a:ext cx="2816100" cy="277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 chose a minimum of 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2" name="Google Shape;1452;p102"/>
          <p:cNvSpPr txBox="1"/>
          <p:nvPr>
            <p:ph idx="4294967295" type="body"/>
          </p:nvPr>
        </p:nvSpPr>
        <p:spPr>
          <a:xfrm>
            <a:off x="1503900" y="2742324"/>
            <a:ext cx="2816100" cy="1222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2 squares will be 1 vertical line.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Since the range is 10, jump 2 squares 10 times and label 18.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3" name="Google Shape;1453;p102"/>
          <p:cNvSpPr txBox="1"/>
          <p:nvPr>
            <p:ph idx="4294967295" type="body"/>
          </p:nvPr>
        </p:nvSpPr>
        <p:spPr>
          <a:xfrm>
            <a:off x="1503900" y="2742325"/>
            <a:ext cx="2816100" cy="1222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Along the way, also mark accurately any other important values, such as the mode of 15 and the other point of 12.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54" name="Google Shape;1454;p102"/>
          <p:cNvPicPr preferRelativeResize="0"/>
          <p:nvPr/>
        </p:nvPicPr>
        <p:blipFill rotWithShape="1">
          <a:blip r:embed="rId4">
            <a:alphaModFix/>
          </a:blip>
          <a:srcRect b="0" l="37798" r="27099" t="79394"/>
          <a:stretch/>
        </p:blipFill>
        <p:spPr>
          <a:xfrm>
            <a:off x="1834447" y="4416775"/>
            <a:ext cx="1402699" cy="44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103"/>
          <p:cNvSpPr txBox="1"/>
          <p:nvPr>
            <p:ph idx="1" type="subTitle"/>
          </p:nvPr>
        </p:nvSpPr>
        <p:spPr>
          <a:xfrm>
            <a:off x="4397600" y="2864425"/>
            <a:ext cx="4033800" cy="1846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Step 3: draw the vertical lines / dots / bars for the important values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Draw on the modal value up to near the top of the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-axis to make sure no other value goes higher.</a:t>
            </a:r>
            <a:endParaRPr sz="1800"/>
          </a:p>
        </p:txBody>
      </p:sp>
      <p:sp>
        <p:nvSpPr>
          <p:cNvPr id="1460" name="Google Shape;1460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  <p:graphicFrame>
        <p:nvGraphicFramePr>
          <p:cNvPr id="1461" name="Google Shape;1461;p103"/>
          <p:cNvGraphicFramePr/>
          <p:nvPr/>
        </p:nvGraphicFramePr>
        <p:xfrm>
          <a:off x="2848200" y="1002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2" name="Google Shape;1462;p103"/>
          <p:cNvSpPr txBox="1"/>
          <p:nvPr>
            <p:ph idx="2" type="subTitle"/>
          </p:nvPr>
        </p:nvSpPr>
        <p:spPr>
          <a:xfrm>
            <a:off x="324000" y="706350"/>
            <a:ext cx="1746000" cy="13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Sketch this information on a vertical line graph.</a:t>
            </a:r>
            <a:endParaRPr sz="1800"/>
          </a:p>
        </p:txBody>
      </p:sp>
      <p:graphicFrame>
        <p:nvGraphicFramePr>
          <p:cNvPr id="1463" name="Google Shape;1463;p103"/>
          <p:cNvGraphicFramePr/>
          <p:nvPr/>
        </p:nvGraphicFramePr>
        <p:xfrm>
          <a:off x="2145100" y="1336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2174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data point 12 has half the frequency of the 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64" name="Google Shape;1464;p103"/>
          <p:cNvGraphicFramePr/>
          <p:nvPr/>
        </p:nvGraphicFramePr>
        <p:xfrm>
          <a:off x="7348200" y="66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65" name="Google Shape;1465;p103"/>
          <p:cNvGraphicFramePr/>
          <p:nvPr/>
        </p:nvGraphicFramePr>
        <p:xfrm>
          <a:off x="7348200" y="1002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66" name="Google Shape;1466;p103"/>
          <p:cNvGraphicFramePr/>
          <p:nvPr/>
        </p:nvGraphicFramePr>
        <p:xfrm>
          <a:off x="6645100" y="1336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2174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data point 11 has half the frequency of the 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7" name="Google Shape;1467;p103"/>
          <p:cNvSpPr txBox="1"/>
          <p:nvPr>
            <p:ph idx="4294967295" type="body"/>
          </p:nvPr>
        </p:nvSpPr>
        <p:spPr>
          <a:xfrm>
            <a:off x="4824000" y="706350"/>
            <a:ext cx="1746000" cy="13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Sketch this information on a vertical line graph.</a:t>
            </a:r>
            <a:endParaRPr sz="1800"/>
          </a:p>
        </p:txBody>
      </p:sp>
      <p:pic>
        <p:nvPicPr>
          <p:cNvPr id="1468" name="Google Shape;1468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717183"/>
            <a:ext cx="3995999" cy="214071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69" name="Google Shape;1469;p103"/>
          <p:cNvPicPr preferRelativeResize="0"/>
          <p:nvPr/>
        </p:nvPicPr>
        <p:blipFill rotWithShape="1">
          <a:blip r:embed="rId4">
            <a:alphaModFix/>
          </a:blip>
          <a:srcRect b="0" l="11134" r="80565" t="79394"/>
          <a:stretch/>
        </p:blipFill>
        <p:spPr>
          <a:xfrm>
            <a:off x="769050" y="4416775"/>
            <a:ext cx="331625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0" name="Google Shape;1470;p103"/>
          <p:cNvPicPr preferRelativeResize="0"/>
          <p:nvPr/>
        </p:nvPicPr>
        <p:blipFill rotWithShape="1">
          <a:blip r:embed="rId4">
            <a:alphaModFix/>
          </a:blip>
          <a:srcRect b="0" l="81057" r="8877" t="79394"/>
          <a:stretch/>
        </p:blipFill>
        <p:spPr>
          <a:xfrm>
            <a:off x="3563050" y="4416775"/>
            <a:ext cx="402175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1" name="Google Shape;1471;p103"/>
          <p:cNvPicPr preferRelativeResize="0"/>
          <p:nvPr/>
        </p:nvPicPr>
        <p:blipFill rotWithShape="1">
          <a:blip r:embed="rId4">
            <a:alphaModFix/>
          </a:blip>
          <a:srcRect b="0" l="37798" r="27099" t="79394"/>
          <a:stretch/>
        </p:blipFill>
        <p:spPr>
          <a:xfrm>
            <a:off x="1834447" y="4416775"/>
            <a:ext cx="1402699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2" name="Google Shape;1472;p103"/>
          <p:cNvPicPr preferRelativeResize="0"/>
          <p:nvPr/>
        </p:nvPicPr>
        <p:blipFill rotWithShape="1">
          <a:blip r:embed="rId5">
            <a:alphaModFix/>
          </a:blip>
          <a:srcRect b="18545" l="60752" r="31832" t="19657"/>
          <a:stretch/>
        </p:blipFill>
        <p:spPr>
          <a:xfrm>
            <a:off x="2751675" y="3137950"/>
            <a:ext cx="296324" cy="132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3" name="Google Shape;1473;p10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1" y="2717175"/>
            <a:ext cx="3995999" cy="214070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74" name="Google Shape;1474;p103"/>
          <p:cNvPicPr preferRelativeResize="0"/>
          <p:nvPr/>
        </p:nvPicPr>
        <p:blipFill rotWithShape="1">
          <a:blip r:embed="rId4">
            <a:alphaModFix/>
          </a:blip>
          <a:srcRect b="62299" l="0" r="88112" t="17095"/>
          <a:stretch/>
        </p:blipFill>
        <p:spPr>
          <a:xfrm>
            <a:off x="324000" y="3083148"/>
            <a:ext cx="475052" cy="44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104"/>
          <p:cNvSpPr txBox="1"/>
          <p:nvPr>
            <p:ph idx="1" type="subTitle"/>
          </p:nvPr>
        </p:nvSpPr>
        <p:spPr>
          <a:xfrm>
            <a:off x="4480275" y="2852400"/>
            <a:ext cx="3996000" cy="1846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In a sketch, you do not need to draw perfect half heights.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As long as it is close to accurate, the graph should still be representative of the dataset.</a:t>
            </a:r>
            <a:endParaRPr sz="1800"/>
          </a:p>
        </p:txBody>
      </p:sp>
      <p:sp>
        <p:nvSpPr>
          <p:cNvPr id="1480" name="Google Shape;1480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  <p:graphicFrame>
        <p:nvGraphicFramePr>
          <p:cNvPr id="1481" name="Google Shape;1481;p104"/>
          <p:cNvGraphicFramePr/>
          <p:nvPr/>
        </p:nvGraphicFramePr>
        <p:xfrm>
          <a:off x="2848200" y="66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2" name="Google Shape;1482;p104"/>
          <p:cNvGraphicFramePr/>
          <p:nvPr/>
        </p:nvGraphicFramePr>
        <p:xfrm>
          <a:off x="2848200" y="1002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3" name="Google Shape;1483;p104"/>
          <p:cNvSpPr txBox="1"/>
          <p:nvPr>
            <p:ph idx="2" type="subTitle"/>
          </p:nvPr>
        </p:nvSpPr>
        <p:spPr>
          <a:xfrm>
            <a:off x="324000" y="706350"/>
            <a:ext cx="1746000" cy="13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Sketch this information on a vertical line graph.</a:t>
            </a:r>
            <a:endParaRPr sz="1800"/>
          </a:p>
        </p:txBody>
      </p:sp>
      <p:graphicFrame>
        <p:nvGraphicFramePr>
          <p:cNvPr id="1484" name="Google Shape;1484;p104"/>
          <p:cNvGraphicFramePr/>
          <p:nvPr/>
        </p:nvGraphicFramePr>
        <p:xfrm>
          <a:off x="2145100" y="1336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2174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data point 12 has half the frequency of the 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5" name="Google Shape;1485;p104"/>
          <p:cNvGraphicFramePr/>
          <p:nvPr/>
        </p:nvGraphicFramePr>
        <p:xfrm>
          <a:off x="7348200" y="66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6" name="Google Shape;1486;p104"/>
          <p:cNvGraphicFramePr/>
          <p:nvPr/>
        </p:nvGraphicFramePr>
        <p:xfrm>
          <a:off x="7348200" y="1002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7" name="Google Shape;1487;p104"/>
          <p:cNvGraphicFramePr/>
          <p:nvPr/>
        </p:nvGraphicFramePr>
        <p:xfrm>
          <a:off x="6645100" y="1336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2174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data point 11 has half the frequency of the 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8" name="Google Shape;1488;p104"/>
          <p:cNvSpPr txBox="1"/>
          <p:nvPr>
            <p:ph idx="4294967295" type="body"/>
          </p:nvPr>
        </p:nvSpPr>
        <p:spPr>
          <a:xfrm>
            <a:off x="4824000" y="706350"/>
            <a:ext cx="1746000" cy="13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Sketch this information on a vertical line graph.</a:t>
            </a:r>
            <a:endParaRPr sz="1800"/>
          </a:p>
        </p:txBody>
      </p:sp>
      <p:pic>
        <p:nvPicPr>
          <p:cNvPr id="1489" name="Google Shape;1489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717183"/>
            <a:ext cx="3995999" cy="214071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90" name="Google Shape;1490;p104"/>
          <p:cNvPicPr preferRelativeResize="0"/>
          <p:nvPr/>
        </p:nvPicPr>
        <p:blipFill rotWithShape="1">
          <a:blip r:embed="rId4">
            <a:alphaModFix/>
          </a:blip>
          <a:srcRect b="0" l="11134" r="80565" t="79394"/>
          <a:stretch/>
        </p:blipFill>
        <p:spPr>
          <a:xfrm>
            <a:off x="769050" y="4416775"/>
            <a:ext cx="331625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1" name="Google Shape;1491;p104"/>
          <p:cNvPicPr preferRelativeResize="0"/>
          <p:nvPr/>
        </p:nvPicPr>
        <p:blipFill rotWithShape="1">
          <a:blip r:embed="rId4">
            <a:alphaModFix/>
          </a:blip>
          <a:srcRect b="0" l="81057" r="8877" t="79394"/>
          <a:stretch/>
        </p:blipFill>
        <p:spPr>
          <a:xfrm>
            <a:off x="3563050" y="4416775"/>
            <a:ext cx="402175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104"/>
          <p:cNvPicPr preferRelativeResize="0"/>
          <p:nvPr/>
        </p:nvPicPr>
        <p:blipFill rotWithShape="1">
          <a:blip r:embed="rId4">
            <a:alphaModFix/>
          </a:blip>
          <a:srcRect b="0" l="37798" r="27099" t="79394"/>
          <a:stretch/>
        </p:blipFill>
        <p:spPr>
          <a:xfrm>
            <a:off x="1834447" y="4416775"/>
            <a:ext cx="1402699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3" name="Google Shape;1493;p104"/>
          <p:cNvPicPr preferRelativeResize="0"/>
          <p:nvPr/>
        </p:nvPicPr>
        <p:blipFill rotWithShape="1">
          <a:blip r:embed="rId5">
            <a:alphaModFix/>
          </a:blip>
          <a:srcRect b="18545" l="60752" r="31832" t="19657"/>
          <a:stretch/>
        </p:blipFill>
        <p:spPr>
          <a:xfrm>
            <a:off x="2751675" y="3137950"/>
            <a:ext cx="296324" cy="132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4" name="Google Shape;1494;p104"/>
          <p:cNvPicPr preferRelativeResize="0"/>
          <p:nvPr/>
        </p:nvPicPr>
        <p:blipFill rotWithShape="1">
          <a:blip r:embed="rId5">
            <a:alphaModFix/>
          </a:blip>
          <a:srcRect b="18541" l="38328" r="53373" t="31277"/>
          <a:stretch/>
        </p:blipFill>
        <p:spPr>
          <a:xfrm>
            <a:off x="1855600" y="3386675"/>
            <a:ext cx="331625" cy="107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5" name="Google Shape;1495;p10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1" y="2717175"/>
            <a:ext cx="3995999" cy="214070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96" name="Google Shape;1496;p104"/>
          <p:cNvPicPr preferRelativeResize="0"/>
          <p:nvPr/>
        </p:nvPicPr>
        <p:blipFill rotWithShape="1">
          <a:blip r:embed="rId4">
            <a:alphaModFix/>
          </a:blip>
          <a:srcRect b="62299" l="0" r="88112" t="17095"/>
          <a:stretch/>
        </p:blipFill>
        <p:spPr>
          <a:xfrm>
            <a:off x="324000" y="3083148"/>
            <a:ext cx="475052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7" name="Google Shape;1497;p104"/>
          <p:cNvPicPr preferRelativeResize="0"/>
          <p:nvPr/>
        </p:nvPicPr>
        <p:blipFill rotWithShape="1">
          <a:blip r:embed="rId4">
            <a:alphaModFix/>
          </a:blip>
          <a:srcRect b="35596" l="3589" r="88111" t="43797"/>
          <a:stretch/>
        </p:blipFill>
        <p:spPr>
          <a:xfrm>
            <a:off x="467425" y="3654775"/>
            <a:ext cx="331625" cy="44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  <p:graphicFrame>
        <p:nvGraphicFramePr>
          <p:cNvPr id="1503" name="Google Shape;1503;p105"/>
          <p:cNvGraphicFramePr/>
          <p:nvPr/>
        </p:nvGraphicFramePr>
        <p:xfrm>
          <a:off x="2848200" y="66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04" name="Google Shape;1504;p105"/>
          <p:cNvGraphicFramePr/>
          <p:nvPr/>
        </p:nvGraphicFramePr>
        <p:xfrm>
          <a:off x="2848200" y="1002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5" name="Google Shape;1505;p105"/>
          <p:cNvSpPr txBox="1"/>
          <p:nvPr>
            <p:ph idx="1" type="subTitle"/>
          </p:nvPr>
        </p:nvSpPr>
        <p:spPr>
          <a:xfrm>
            <a:off x="324000" y="706350"/>
            <a:ext cx="1746000" cy="13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Sketch this information on a vertical line graph.</a:t>
            </a:r>
            <a:endParaRPr sz="1800"/>
          </a:p>
        </p:txBody>
      </p:sp>
      <p:graphicFrame>
        <p:nvGraphicFramePr>
          <p:cNvPr id="1506" name="Google Shape;1506;p105"/>
          <p:cNvGraphicFramePr/>
          <p:nvPr/>
        </p:nvGraphicFramePr>
        <p:xfrm>
          <a:off x="2145100" y="1336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2174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data point 12 has half the frequency of the 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07" name="Google Shape;1507;p105"/>
          <p:cNvGraphicFramePr/>
          <p:nvPr/>
        </p:nvGraphicFramePr>
        <p:xfrm>
          <a:off x="7348200" y="66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08" name="Google Shape;1508;p105"/>
          <p:cNvGraphicFramePr/>
          <p:nvPr/>
        </p:nvGraphicFramePr>
        <p:xfrm>
          <a:off x="7348200" y="1002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9" name="Google Shape;1509;p105"/>
          <p:cNvSpPr txBox="1"/>
          <p:nvPr>
            <p:ph idx="2" type="subTitle"/>
          </p:nvPr>
        </p:nvSpPr>
        <p:spPr>
          <a:xfrm>
            <a:off x="4495925" y="2852400"/>
            <a:ext cx="4324200" cy="1357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Step 4: complete the rest of the vertical lines / dots / bars, making sure maximum, minimum, and modal values are not broken.</a:t>
            </a:r>
            <a:endParaRPr sz="1800"/>
          </a:p>
        </p:txBody>
      </p:sp>
      <p:graphicFrame>
        <p:nvGraphicFramePr>
          <p:cNvPr id="1510" name="Google Shape;1510;p105"/>
          <p:cNvGraphicFramePr/>
          <p:nvPr/>
        </p:nvGraphicFramePr>
        <p:xfrm>
          <a:off x="6645100" y="1336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2174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data point 11 has half the frequency of the 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1" name="Google Shape;1511;p105"/>
          <p:cNvSpPr txBox="1"/>
          <p:nvPr>
            <p:ph idx="4294967295" type="body"/>
          </p:nvPr>
        </p:nvSpPr>
        <p:spPr>
          <a:xfrm>
            <a:off x="4824000" y="706350"/>
            <a:ext cx="1746000" cy="13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Sketch this information on a vertical line graph.</a:t>
            </a:r>
            <a:endParaRPr sz="1800"/>
          </a:p>
        </p:txBody>
      </p:sp>
      <p:pic>
        <p:nvPicPr>
          <p:cNvPr id="1512" name="Google Shape;1512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717183"/>
            <a:ext cx="3995999" cy="214071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3" name="Google Shape;1513;p105"/>
          <p:cNvPicPr preferRelativeResize="0"/>
          <p:nvPr/>
        </p:nvPicPr>
        <p:blipFill rotWithShape="1">
          <a:blip r:embed="rId4">
            <a:alphaModFix/>
          </a:blip>
          <a:srcRect b="0" l="11134" r="80565" t="79394"/>
          <a:stretch/>
        </p:blipFill>
        <p:spPr>
          <a:xfrm>
            <a:off x="769050" y="4416775"/>
            <a:ext cx="331625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4" name="Google Shape;1514;p105"/>
          <p:cNvPicPr preferRelativeResize="0"/>
          <p:nvPr/>
        </p:nvPicPr>
        <p:blipFill rotWithShape="1">
          <a:blip r:embed="rId4">
            <a:alphaModFix/>
          </a:blip>
          <a:srcRect b="0" l="81057" r="8877" t="79394"/>
          <a:stretch/>
        </p:blipFill>
        <p:spPr>
          <a:xfrm>
            <a:off x="3563050" y="4416775"/>
            <a:ext cx="402175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5" name="Google Shape;1515;p105"/>
          <p:cNvPicPr preferRelativeResize="0"/>
          <p:nvPr/>
        </p:nvPicPr>
        <p:blipFill rotWithShape="1">
          <a:blip r:embed="rId4">
            <a:alphaModFix/>
          </a:blip>
          <a:srcRect b="0" l="37798" r="27099" t="79394"/>
          <a:stretch/>
        </p:blipFill>
        <p:spPr>
          <a:xfrm>
            <a:off x="1834447" y="4416775"/>
            <a:ext cx="1402699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6" name="Google Shape;1516;p105"/>
          <p:cNvPicPr preferRelativeResize="0"/>
          <p:nvPr/>
        </p:nvPicPr>
        <p:blipFill rotWithShape="1">
          <a:blip r:embed="rId5">
            <a:alphaModFix/>
          </a:blip>
          <a:srcRect b="18545" l="60752" r="31832" t="19657"/>
          <a:stretch/>
        </p:blipFill>
        <p:spPr>
          <a:xfrm>
            <a:off x="2751675" y="3137950"/>
            <a:ext cx="296324" cy="132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7" name="Google Shape;1517;p105"/>
          <p:cNvPicPr preferRelativeResize="0"/>
          <p:nvPr/>
        </p:nvPicPr>
        <p:blipFill rotWithShape="1">
          <a:blip r:embed="rId5">
            <a:alphaModFix/>
          </a:blip>
          <a:srcRect b="18541" l="38328" r="53373" t="31277"/>
          <a:stretch/>
        </p:blipFill>
        <p:spPr>
          <a:xfrm>
            <a:off x="1855600" y="3386675"/>
            <a:ext cx="331625" cy="107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8" name="Google Shape;1518;p105"/>
          <p:cNvPicPr preferRelativeResize="0"/>
          <p:nvPr/>
        </p:nvPicPr>
        <p:blipFill rotWithShape="1">
          <a:blip r:embed="rId5">
            <a:alphaModFix/>
          </a:blip>
          <a:srcRect b="15555" l="47687" r="39246" t="27422"/>
          <a:stretch/>
        </p:blipFill>
        <p:spPr>
          <a:xfrm>
            <a:off x="2229551" y="3287878"/>
            <a:ext cx="522126" cy="122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9" name="Google Shape;1519;p105"/>
          <p:cNvPicPr preferRelativeResize="0"/>
          <p:nvPr/>
        </p:nvPicPr>
        <p:blipFill rotWithShape="1">
          <a:blip r:embed="rId5">
            <a:alphaModFix/>
          </a:blip>
          <a:srcRect b="18292" l="11889" r="59728" t="53049"/>
          <a:stretch/>
        </p:blipFill>
        <p:spPr>
          <a:xfrm>
            <a:off x="799050" y="3852793"/>
            <a:ext cx="113417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0" name="Google Shape;1520;p105"/>
          <p:cNvPicPr preferRelativeResize="0"/>
          <p:nvPr/>
        </p:nvPicPr>
        <p:blipFill rotWithShape="1">
          <a:blip r:embed="rId5">
            <a:alphaModFix/>
          </a:blip>
          <a:srcRect b="17941" l="68167" r="11174" t="42172"/>
          <a:stretch/>
        </p:blipFill>
        <p:spPr>
          <a:xfrm>
            <a:off x="3047997" y="3612449"/>
            <a:ext cx="825499" cy="85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1" name="Google Shape;1521;p105"/>
          <p:cNvPicPr preferRelativeResize="0"/>
          <p:nvPr/>
        </p:nvPicPr>
        <p:blipFill rotWithShape="1">
          <a:blip r:embed="rId4">
            <a:alphaModFix/>
          </a:blip>
          <a:srcRect b="62299" l="0" r="88112" t="17095"/>
          <a:stretch/>
        </p:blipFill>
        <p:spPr>
          <a:xfrm>
            <a:off x="324000" y="3083148"/>
            <a:ext cx="475052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2" name="Google Shape;1522;p105"/>
          <p:cNvPicPr preferRelativeResize="0"/>
          <p:nvPr/>
        </p:nvPicPr>
        <p:blipFill rotWithShape="1">
          <a:blip r:embed="rId4">
            <a:alphaModFix/>
          </a:blip>
          <a:srcRect b="35596" l="3589" r="88111" t="43797"/>
          <a:stretch/>
        </p:blipFill>
        <p:spPr>
          <a:xfrm>
            <a:off x="467425" y="3654775"/>
            <a:ext cx="331625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3" name="Google Shape;1523;p1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1" y="2717175"/>
            <a:ext cx="3995999" cy="214070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  <p:graphicFrame>
        <p:nvGraphicFramePr>
          <p:cNvPr id="1529" name="Google Shape;1529;p106"/>
          <p:cNvGraphicFramePr/>
          <p:nvPr/>
        </p:nvGraphicFramePr>
        <p:xfrm>
          <a:off x="2848200" y="66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0" name="Google Shape;1530;p106"/>
          <p:cNvGraphicFramePr/>
          <p:nvPr/>
        </p:nvGraphicFramePr>
        <p:xfrm>
          <a:off x="2848200" y="1002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1" name="Google Shape;1531;p106"/>
          <p:cNvSpPr txBox="1"/>
          <p:nvPr>
            <p:ph idx="1" type="subTitle"/>
          </p:nvPr>
        </p:nvSpPr>
        <p:spPr>
          <a:xfrm>
            <a:off x="324000" y="706350"/>
            <a:ext cx="1746000" cy="13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Sketch this information on a vertical line graph.</a:t>
            </a:r>
            <a:endParaRPr sz="1800"/>
          </a:p>
        </p:txBody>
      </p:sp>
      <p:graphicFrame>
        <p:nvGraphicFramePr>
          <p:cNvPr id="1532" name="Google Shape;1532;p106"/>
          <p:cNvGraphicFramePr/>
          <p:nvPr/>
        </p:nvGraphicFramePr>
        <p:xfrm>
          <a:off x="2145100" y="1336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2174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data point 12 has half the frequency of the 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3" name="Google Shape;1533;p106"/>
          <p:cNvGraphicFramePr/>
          <p:nvPr/>
        </p:nvGraphicFramePr>
        <p:xfrm>
          <a:off x="7348200" y="66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4" name="Google Shape;1534;p106"/>
          <p:cNvGraphicFramePr/>
          <p:nvPr/>
        </p:nvGraphicFramePr>
        <p:xfrm>
          <a:off x="7348200" y="1002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5" name="Google Shape;1535;p106"/>
          <p:cNvGraphicFramePr/>
          <p:nvPr/>
        </p:nvGraphicFramePr>
        <p:xfrm>
          <a:off x="6645100" y="1336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2174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data point 11 has half the frequency of the 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36" name="Google Shape;1536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717183"/>
            <a:ext cx="3995999" cy="214071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37" name="Google Shape;1537;p106"/>
          <p:cNvPicPr preferRelativeResize="0"/>
          <p:nvPr/>
        </p:nvPicPr>
        <p:blipFill rotWithShape="1">
          <a:blip r:embed="rId4">
            <a:alphaModFix/>
          </a:blip>
          <a:srcRect b="0" l="11134" r="80565" t="79394"/>
          <a:stretch/>
        </p:blipFill>
        <p:spPr>
          <a:xfrm>
            <a:off x="769050" y="4416775"/>
            <a:ext cx="331625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8" name="Google Shape;1538;p106"/>
          <p:cNvPicPr preferRelativeResize="0"/>
          <p:nvPr/>
        </p:nvPicPr>
        <p:blipFill rotWithShape="1">
          <a:blip r:embed="rId4">
            <a:alphaModFix/>
          </a:blip>
          <a:srcRect b="0" l="81057" r="8877" t="79394"/>
          <a:stretch/>
        </p:blipFill>
        <p:spPr>
          <a:xfrm>
            <a:off x="3563050" y="4416775"/>
            <a:ext cx="402175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9" name="Google Shape;1539;p106"/>
          <p:cNvPicPr preferRelativeResize="0"/>
          <p:nvPr/>
        </p:nvPicPr>
        <p:blipFill rotWithShape="1">
          <a:blip r:embed="rId4">
            <a:alphaModFix/>
          </a:blip>
          <a:srcRect b="0" l="37798" r="27099" t="79394"/>
          <a:stretch/>
        </p:blipFill>
        <p:spPr>
          <a:xfrm>
            <a:off x="1834447" y="4416775"/>
            <a:ext cx="1402699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0" name="Google Shape;1540;p106"/>
          <p:cNvPicPr preferRelativeResize="0"/>
          <p:nvPr/>
        </p:nvPicPr>
        <p:blipFill rotWithShape="1">
          <a:blip r:embed="rId5">
            <a:alphaModFix/>
          </a:blip>
          <a:srcRect b="18545" l="60752" r="31832" t="19657"/>
          <a:stretch/>
        </p:blipFill>
        <p:spPr>
          <a:xfrm>
            <a:off x="2751675" y="3137950"/>
            <a:ext cx="296324" cy="132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1" name="Google Shape;1541;p106"/>
          <p:cNvPicPr preferRelativeResize="0"/>
          <p:nvPr/>
        </p:nvPicPr>
        <p:blipFill rotWithShape="1">
          <a:blip r:embed="rId5">
            <a:alphaModFix/>
          </a:blip>
          <a:srcRect b="18541" l="38328" r="53373" t="31277"/>
          <a:stretch/>
        </p:blipFill>
        <p:spPr>
          <a:xfrm>
            <a:off x="1855600" y="3386675"/>
            <a:ext cx="331625" cy="107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2" name="Google Shape;1542;p106"/>
          <p:cNvPicPr preferRelativeResize="0"/>
          <p:nvPr/>
        </p:nvPicPr>
        <p:blipFill rotWithShape="1">
          <a:blip r:embed="rId5">
            <a:alphaModFix/>
          </a:blip>
          <a:srcRect b="15555" l="47687" r="39246" t="27422"/>
          <a:stretch/>
        </p:blipFill>
        <p:spPr>
          <a:xfrm>
            <a:off x="2229551" y="3287878"/>
            <a:ext cx="522126" cy="122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p106"/>
          <p:cNvPicPr preferRelativeResize="0"/>
          <p:nvPr/>
        </p:nvPicPr>
        <p:blipFill rotWithShape="1">
          <a:blip r:embed="rId5">
            <a:alphaModFix/>
          </a:blip>
          <a:srcRect b="18292" l="11889" r="59728" t="53049"/>
          <a:stretch/>
        </p:blipFill>
        <p:spPr>
          <a:xfrm>
            <a:off x="799050" y="3852793"/>
            <a:ext cx="113417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4" name="Google Shape;1544;p106"/>
          <p:cNvPicPr preferRelativeResize="0"/>
          <p:nvPr/>
        </p:nvPicPr>
        <p:blipFill rotWithShape="1">
          <a:blip r:embed="rId5">
            <a:alphaModFix/>
          </a:blip>
          <a:srcRect b="17941" l="68167" r="11174" t="42172"/>
          <a:stretch/>
        </p:blipFill>
        <p:spPr>
          <a:xfrm>
            <a:off x="3047997" y="3612449"/>
            <a:ext cx="825499" cy="85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106"/>
          <p:cNvPicPr preferRelativeResize="0"/>
          <p:nvPr/>
        </p:nvPicPr>
        <p:blipFill rotWithShape="1">
          <a:blip r:embed="rId4">
            <a:alphaModFix/>
          </a:blip>
          <a:srcRect b="62299" l="0" r="88112" t="17095"/>
          <a:stretch/>
        </p:blipFill>
        <p:spPr>
          <a:xfrm>
            <a:off x="324000" y="3083148"/>
            <a:ext cx="475052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6" name="Google Shape;1546;p106"/>
          <p:cNvPicPr preferRelativeResize="0"/>
          <p:nvPr/>
        </p:nvPicPr>
        <p:blipFill rotWithShape="1">
          <a:blip r:embed="rId4">
            <a:alphaModFix/>
          </a:blip>
          <a:srcRect b="35596" l="3589" r="88111" t="43797"/>
          <a:stretch/>
        </p:blipFill>
        <p:spPr>
          <a:xfrm>
            <a:off x="467425" y="3654775"/>
            <a:ext cx="331625" cy="4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7" name="Google Shape;1547;p10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1" y="2717175"/>
            <a:ext cx="3995999" cy="214070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8" name="Google Shape;1548;p10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4000" y="2729063"/>
            <a:ext cx="3571776" cy="2140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9" name="Google Shape;1549;p106"/>
          <p:cNvSpPr txBox="1"/>
          <p:nvPr>
            <p:ph idx="2" type="subTitle"/>
          </p:nvPr>
        </p:nvSpPr>
        <p:spPr>
          <a:xfrm>
            <a:off x="4824000" y="706350"/>
            <a:ext cx="1746000" cy="15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Here’s an example of what yours may look like.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4" name="Google Shape;1554;p107"/>
          <p:cNvPicPr preferRelativeResize="0"/>
          <p:nvPr/>
        </p:nvPicPr>
        <p:blipFill rotWithShape="1">
          <a:blip r:embed="rId3">
            <a:alphaModFix/>
          </a:blip>
          <a:srcRect b="36700" l="0" r="29243" t="5702"/>
          <a:stretch/>
        </p:blipFill>
        <p:spPr>
          <a:xfrm>
            <a:off x="5698200" y="695300"/>
            <a:ext cx="3045600" cy="18593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55" name="Google Shape;1555;p107"/>
          <p:cNvSpPr txBox="1"/>
          <p:nvPr>
            <p:ph idx="4294967295" type="body"/>
          </p:nvPr>
        </p:nvSpPr>
        <p:spPr>
          <a:xfrm>
            <a:off x="324000" y="4183200"/>
            <a:ext cx="52503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Draw a different vertical line graph that also represents the summary statistics Jacob used.</a:t>
            </a:r>
            <a:endParaRPr sz="1800"/>
          </a:p>
        </p:txBody>
      </p:sp>
      <p:sp>
        <p:nvSpPr>
          <p:cNvPr id="1556" name="Google Shape;1556;p107"/>
          <p:cNvSpPr txBox="1"/>
          <p:nvPr>
            <p:ph idx="4294967295" type="body"/>
          </p:nvPr>
        </p:nvSpPr>
        <p:spPr>
          <a:xfrm>
            <a:off x="324000" y="3528950"/>
            <a:ext cx="52503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Complete the vertical line graph that Jacob started.</a:t>
            </a:r>
            <a:endParaRPr sz="1800"/>
          </a:p>
        </p:txBody>
      </p:sp>
      <p:sp>
        <p:nvSpPr>
          <p:cNvPr id="1557" name="Google Shape;1557;p107"/>
          <p:cNvSpPr txBox="1"/>
          <p:nvPr>
            <p:ph idx="4294967295" type="body"/>
          </p:nvPr>
        </p:nvSpPr>
        <p:spPr>
          <a:xfrm>
            <a:off x="324000" y="773100"/>
            <a:ext cx="43392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Jacob wants to sketch a vertical line chart of these summary statistics.</a:t>
            </a:r>
            <a:endParaRPr sz="1800"/>
          </a:p>
        </p:txBody>
      </p:sp>
      <p:sp>
        <p:nvSpPr>
          <p:cNvPr id="1558" name="Google Shape;1558;p10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  <p:pic>
        <p:nvPicPr>
          <p:cNvPr id="1559" name="Google Shape;1559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096146" y="695300"/>
            <a:ext cx="517283" cy="63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60" name="Google Shape;1560;p107"/>
          <p:cNvGraphicFramePr/>
          <p:nvPr/>
        </p:nvGraphicFramePr>
        <p:xfrm>
          <a:off x="1570025" y="14932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1" name="Google Shape;1561;p107"/>
          <p:cNvSpPr txBox="1"/>
          <p:nvPr>
            <p:ph idx="4294967295" type="body"/>
          </p:nvPr>
        </p:nvSpPr>
        <p:spPr>
          <a:xfrm>
            <a:off x="324000" y="2386300"/>
            <a:ext cx="5250300" cy="11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Write down a calculation to show why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-axis must be at least 16 squares across.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562" name="Google Shape;1562;p107"/>
          <p:cNvGraphicFramePr/>
          <p:nvPr/>
        </p:nvGraphicFramePr>
        <p:xfrm>
          <a:off x="1570025" y="18266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63" name="Google Shape;1563;p107"/>
          <p:cNvPicPr preferRelativeResize="0"/>
          <p:nvPr/>
        </p:nvPicPr>
        <p:blipFill rotWithShape="1">
          <a:blip r:embed="rId5">
            <a:alphaModFix/>
          </a:blip>
          <a:srcRect b="36486" l="0" r="29263" t="5936"/>
          <a:stretch/>
        </p:blipFill>
        <p:spPr>
          <a:xfrm>
            <a:off x="5698203" y="2554630"/>
            <a:ext cx="3045596" cy="185931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4" name="Google Shape;1564;p107"/>
          <p:cNvPicPr preferRelativeResize="0"/>
          <p:nvPr/>
        </p:nvPicPr>
        <p:blipFill rotWithShape="1">
          <a:blip r:embed="rId6">
            <a:alphaModFix/>
          </a:blip>
          <a:srcRect b="37510" l="14871" r="77679" t="5937"/>
          <a:stretch/>
        </p:blipFill>
        <p:spPr>
          <a:xfrm>
            <a:off x="6338300" y="702585"/>
            <a:ext cx="320576" cy="182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108"/>
          <p:cNvSpPr txBox="1"/>
          <p:nvPr>
            <p:ph idx="4294967295" type="body"/>
          </p:nvPr>
        </p:nvSpPr>
        <p:spPr>
          <a:xfrm>
            <a:off x="324000" y="773100"/>
            <a:ext cx="3660900" cy="184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Sketch two different dot plots that represents the information below.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One of these dot plots must show a bimodal dataset.</a:t>
            </a:r>
            <a:endParaRPr sz="1800"/>
          </a:p>
        </p:txBody>
      </p:sp>
      <p:sp>
        <p:nvSpPr>
          <p:cNvPr id="1570" name="Google Shape;1570;p10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  <p:graphicFrame>
        <p:nvGraphicFramePr>
          <p:cNvPr id="1571" name="Google Shape;1571;p108"/>
          <p:cNvGraphicFramePr/>
          <p:nvPr/>
        </p:nvGraphicFramePr>
        <p:xfrm>
          <a:off x="696550" y="28780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109"/>
          <p:cNvSpPr txBox="1"/>
          <p:nvPr>
            <p:ph idx="4294967295" type="body"/>
          </p:nvPr>
        </p:nvSpPr>
        <p:spPr>
          <a:xfrm>
            <a:off x="324000" y="773100"/>
            <a:ext cx="3203700" cy="379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Sketch a bar chart that represents the information below.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bar chart may not go across the whole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-axis.</a:t>
            </a:r>
            <a:endParaRPr sz="1800"/>
          </a:p>
        </p:txBody>
      </p:sp>
      <p:graphicFrame>
        <p:nvGraphicFramePr>
          <p:cNvPr id="1577" name="Google Shape;1577;p109"/>
          <p:cNvGraphicFramePr/>
          <p:nvPr/>
        </p:nvGraphicFramePr>
        <p:xfrm>
          <a:off x="324000" y="21599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21498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bimodal at 4 and 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8" name="Google Shape;1578;p10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  <p:graphicFrame>
        <p:nvGraphicFramePr>
          <p:cNvPr id="1579" name="Google Shape;1579;p109"/>
          <p:cNvGraphicFramePr/>
          <p:nvPr/>
        </p:nvGraphicFramePr>
        <p:xfrm>
          <a:off x="324000" y="24933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21498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0" name="Google Shape;1580;p109"/>
          <p:cNvGraphicFramePr/>
          <p:nvPr/>
        </p:nvGraphicFramePr>
        <p:xfrm>
          <a:off x="324000" y="28267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1128625"/>
                <a:gridCol w="19169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minimum value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81" name="Google Shape;1581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7775" y="725947"/>
            <a:ext cx="5292225" cy="25572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6" name="Google Shape;1586;p110"/>
          <p:cNvPicPr preferRelativeResize="0"/>
          <p:nvPr/>
        </p:nvPicPr>
        <p:blipFill rotWithShape="1">
          <a:blip r:embed="rId3">
            <a:alphaModFix/>
          </a:blip>
          <a:srcRect b="36700" l="0" r="29243" t="5702"/>
          <a:stretch/>
        </p:blipFill>
        <p:spPr>
          <a:xfrm>
            <a:off x="5698200" y="695300"/>
            <a:ext cx="3045600" cy="18593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7" name="Google Shape;1587;p110"/>
          <p:cNvSpPr txBox="1"/>
          <p:nvPr>
            <p:ph idx="4294967295" type="body"/>
          </p:nvPr>
        </p:nvSpPr>
        <p:spPr>
          <a:xfrm>
            <a:off x="324000" y="4183200"/>
            <a:ext cx="52503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Draw a different vertical line graph that also represents the summary statistics Jacob used.</a:t>
            </a:r>
            <a:endParaRPr sz="1800"/>
          </a:p>
        </p:txBody>
      </p:sp>
      <p:sp>
        <p:nvSpPr>
          <p:cNvPr id="1588" name="Google Shape;1588;p110"/>
          <p:cNvSpPr txBox="1"/>
          <p:nvPr>
            <p:ph idx="4294967295" type="body"/>
          </p:nvPr>
        </p:nvSpPr>
        <p:spPr>
          <a:xfrm>
            <a:off x="324000" y="3528950"/>
            <a:ext cx="52503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Complete the vertical line graph that Jacob started.</a:t>
            </a:r>
            <a:endParaRPr sz="1800"/>
          </a:p>
        </p:txBody>
      </p:sp>
      <p:sp>
        <p:nvSpPr>
          <p:cNvPr id="1589" name="Google Shape;1589;p110"/>
          <p:cNvSpPr txBox="1"/>
          <p:nvPr>
            <p:ph idx="4294967295" type="body"/>
          </p:nvPr>
        </p:nvSpPr>
        <p:spPr>
          <a:xfrm>
            <a:off x="324000" y="773100"/>
            <a:ext cx="43392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Jacob wants to sketch a vertical line chart of these summary statistics.</a:t>
            </a:r>
            <a:endParaRPr sz="1800"/>
          </a:p>
        </p:txBody>
      </p:sp>
      <p:sp>
        <p:nvSpPr>
          <p:cNvPr id="1590" name="Google Shape;1590;p11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  <p:pic>
        <p:nvPicPr>
          <p:cNvPr id="1591" name="Google Shape;1591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096146" y="695300"/>
            <a:ext cx="517283" cy="63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2" name="Google Shape;1592;p110"/>
          <p:cNvGraphicFramePr/>
          <p:nvPr/>
        </p:nvGraphicFramePr>
        <p:xfrm>
          <a:off x="1570025" y="14932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3" name="Google Shape;1593;p110"/>
          <p:cNvSpPr txBox="1"/>
          <p:nvPr>
            <p:ph idx="4294967295" type="body"/>
          </p:nvPr>
        </p:nvSpPr>
        <p:spPr>
          <a:xfrm>
            <a:off x="324000" y="2278050"/>
            <a:ext cx="5250300" cy="9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Write down a calculation to show why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-axis must be at least 16 squares across.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594" name="Google Shape;1594;p110"/>
          <p:cNvGraphicFramePr/>
          <p:nvPr/>
        </p:nvGraphicFramePr>
        <p:xfrm>
          <a:off x="1570025" y="18266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95" name="Google Shape;1595;p110"/>
          <p:cNvPicPr preferRelativeResize="0"/>
          <p:nvPr/>
        </p:nvPicPr>
        <p:blipFill rotWithShape="1">
          <a:blip r:embed="rId5">
            <a:alphaModFix/>
          </a:blip>
          <a:srcRect b="36486" l="0" r="29263" t="5936"/>
          <a:stretch/>
        </p:blipFill>
        <p:spPr>
          <a:xfrm>
            <a:off x="5698203" y="2554630"/>
            <a:ext cx="3045596" cy="185931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96" name="Google Shape;1596;p110"/>
          <p:cNvSpPr txBox="1"/>
          <p:nvPr>
            <p:ph idx="4294967295" type="body"/>
          </p:nvPr>
        </p:nvSpPr>
        <p:spPr>
          <a:xfrm>
            <a:off x="812500" y="3057600"/>
            <a:ext cx="47619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 × 2 + 2 = 16, this is 2 squares per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          vertical line drawn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97" name="Google Shape;1597;p110"/>
          <p:cNvCxnSpPr/>
          <p:nvPr/>
        </p:nvCxnSpPr>
        <p:spPr>
          <a:xfrm rot="10800000">
            <a:off x="6242850" y="3577950"/>
            <a:ext cx="0" cy="5094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8" name="Google Shape;1598;p110"/>
          <p:cNvCxnSpPr/>
          <p:nvPr/>
        </p:nvCxnSpPr>
        <p:spPr>
          <a:xfrm rot="10800000">
            <a:off x="6504800" y="3443850"/>
            <a:ext cx="0" cy="6435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9" name="Google Shape;1599;p110"/>
          <p:cNvCxnSpPr/>
          <p:nvPr/>
        </p:nvCxnSpPr>
        <p:spPr>
          <a:xfrm rot="10800000">
            <a:off x="8124050" y="3848550"/>
            <a:ext cx="0" cy="2388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0" name="Google Shape;1600;p110"/>
          <p:cNvCxnSpPr/>
          <p:nvPr/>
        </p:nvCxnSpPr>
        <p:spPr>
          <a:xfrm rot="10800000">
            <a:off x="6775650" y="3304050"/>
            <a:ext cx="0" cy="7833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1" name="Google Shape;1601;p110"/>
          <p:cNvCxnSpPr/>
          <p:nvPr/>
        </p:nvCxnSpPr>
        <p:spPr>
          <a:xfrm rot="10800000">
            <a:off x="7043550" y="3042150"/>
            <a:ext cx="0" cy="10452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2" name="Google Shape;1602;p110"/>
          <p:cNvCxnSpPr/>
          <p:nvPr/>
        </p:nvCxnSpPr>
        <p:spPr>
          <a:xfrm rot="10800000">
            <a:off x="7314425" y="3175950"/>
            <a:ext cx="0" cy="9114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3" name="Google Shape;1603;p110"/>
          <p:cNvCxnSpPr/>
          <p:nvPr/>
        </p:nvCxnSpPr>
        <p:spPr>
          <a:xfrm rot="10800000">
            <a:off x="7585275" y="2771250"/>
            <a:ext cx="0" cy="1316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4" name="Google Shape;1604;p110"/>
          <p:cNvCxnSpPr/>
          <p:nvPr/>
        </p:nvCxnSpPr>
        <p:spPr>
          <a:xfrm rot="10800000">
            <a:off x="7856175" y="2908050"/>
            <a:ext cx="0" cy="11793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5" name="Google Shape;1605;p110"/>
          <p:cNvSpPr txBox="1"/>
          <p:nvPr>
            <p:ph idx="4294967295" type="body"/>
          </p:nvPr>
        </p:nvSpPr>
        <p:spPr>
          <a:xfrm>
            <a:off x="7386500" y="4157425"/>
            <a:ext cx="3975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6" name="Google Shape;1606;p110"/>
          <p:cNvSpPr txBox="1"/>
          <p:nvPr>
            <p:ph idx="4294967295" type="body"/>
          </p:nvPr>
        </p:nvSpPr>
        <p:spPr>
          <a:xfrm>
            <a:off x="7925300" y="4157425"/>
            <a:ext cx="3975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7" name="Google Shape;1607;p110"/>
          <p:cNvSpPr txBox="1"/>
          <p:nvPr>
            <p:ph idx="4294967295" type="body"/>
          </p:nvPr>
        </p:nvSpPr>
        <p:spPr>
          <a:xfrm>
            <a:off x="6044100" y="4157425"/>
            <a:ext cx="3975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8" name="Google Shape;1608;p110"/>
          <p:cNvSpPr txBox="1"/>
          <p:nvPr>
            <p:ph idx="4294967295" type="body"/>
          </p:nvPr>
        </p:nvSpPr>
        <p:spPr>
          <a:xfrm>
            <a:off x="5789922" y="4470394"/>
            <a:ext cx="27270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just one example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111"/>
          <p:cNvSpPr txBox="1"/>
          <p:nvPr>
            <p:ph idx="4294967295" type="body"/>
          </p:nvPr>
        </p:nvSpPr>
        <p:spPr>
          <a:xfrm>
            <a:off x="324000" y="773100"/>
            <a:ext cx="4248000" cy="123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Sketch two different dot plots that represents the information below.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One of these dot plots must show a bimodal dataset.</a:t>
            </a:r>
            <a:endParaRPr sz="1800"/>
          </a:p>
        </p:txBody>
      </p:sp>
      <p:sp>
        <p:nvSpPr>
          <p:cNvPr id="1614" name="Google Shape;1614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  <p:graphicFrame>
        <p:nvGraphicFramePr>
          <p:cNvPr id="1615" name="Google Shape;1615;p111"/>
          <p:cNvGraphicFramePr/>
          <p:nvPr/>
        </p:nvGraphicFramePr>
        <p:xfrm>
          <a:off x="4185825" y="19933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5760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616" name="Google Shape;1616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975" y="2699998"/>
            <a:ext cx="3804025" cy="164840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17" name="Google Shape;1617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3216" y="698175"/>
            <a:ext cx="2999264" cy="184365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8" name="Google Shape;1618;p111"/>
          <p:cNvSpPr txBox="1"/>
          <p:nvPr>
            <p:ph idx="4294967295" type="body"/>
          </p:nvPr>
        </p:nvSpPr>
        <p:spPr>
          <a:xfrm>
            <a:off x="324000" y="2352600"/>
            <a:ext cx="4692000" cy="246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are examples of the many ways of representing this information on a dot plot.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With the single mode dot plot, 14 should be close to the peak, whilst on the bimodal data, 14 should be in between the two modes.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112"/>
          <p:cNvSpPr txBox="1"/>
          <p:nvPr>
            <p:ph idx="4294967295" type="body"/>
          </p:nvPr>
        </p:nvSpPr>
        <p:spPr>
          <a:xfrm>
            <a:off x="324000" y="773100"/>
            <a:ext cx="3203700" cy="379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Sketch a bar chart that represents the information below.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bar chart may not go across the whole x-axis.</a:t>
            </a:r>
            <a:endParaRPr sz="1800"/>
          </a:p>
        </p:txBody>
      </p:sp>
      <p:graphicFrame>
        <p:nvGraphicFramePr>
          <p:cNvPr id="1624" name="Google Shape;1624;p112"/>
          <p:cNvGraphicFramePr/>
          <p:nvPr/>
        </p:nvGraphicFramePr>
        <p:xfrm>
          <a:off x="324000" y="21599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21498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bimodal at 4 and 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5" name="Google Shape;1625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Sketching graphs from summary statistics</a:t>
            </a:r>
            <a:endParaRPr/>
          </a:p>
        </p:txBody>
      </p:sp>
      <p:graphicFrame>
        <p:nvGraphicFramePr>
          <p:cNvPr id="1626" name="Google Shape;1626;p112"/>
          <p:cNvGraphicFramePr/>
          <p:nvPr/>
        </p:nvGraphicFramePr>
        <p:xfrm>
          <a:off x="324000" y="24933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895775"/>
                <a:gridCol w="21498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27" name="Google Shape;1627;p112"/>
          <p:cNvGraphicFramePr/>
          <p:nvPr/>
        </p:nvGraphicFramePr>
        <p:xfrm>
          <a:off x="324000" y="28267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{EE5D1561-07A0-47D8-8B67-2EF63C802A9D}</a:tableStyleId>
              </a:tblPr>
              <a:tblGrid>
                <a:gridCol w="1128625"/>
                <a:gridCol w="19169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minimum value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628" name="Google Shape;1628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7775" y="725947"/>
            <a:ext cx="5292225" cy="25572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9" name="Google Shape;1629;p112"/>
          <p:cNvSpPr/>
          <p:nvPr/>
        </p:nvSpPr>
        <p:spPr>
          <a:xfrm>
            <a:off x="4191450" y="2217661"/>
            <a:ext cx="325800" cy="6147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112"/>
          <p:cNvSpPr/>
          <p:nvPr/>
        </p:nvSpPr>
        <p:spPr>
          <a:xfrm>
            <a:off x="4685000" y="1723775"/>
            <a:ext cx="325800" cy="11085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112"/>
          <p:cNvSpPr/>
          <p:nvPr/>
        </p:nvSpPr>
        <p:spPr>
          <a:xfrm>
            <a:off x="5178550" y="1392218"/>
            <a:ext cx="325800" cy="14400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112"/>
          <p:cNvSpPr/>
          <p:nvPr/>
        </p:nvSpPr>
        <p:spPr>
          <a:xfrm>
            <a:off x="5672100" y="2048332"/>
            <a:ext cx="325800" cy="7839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12"/>
          <p:cNvSpPr/>
          <p:nvPr/>
        </p:nvSpPr>
        <p:spPr>
          <a:xfrm>
            <a:off x="6165650" y="2542243"/>
            <a:ext cx="325800" cy="2901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112"/>
          <p:cNvSpPr/>
          <p:nvPr/>
        </p:nvSpPr>
        <p:spPr>
          <a:xfrm>
            <a:off x="6663300" y="1392143"/>
            <a:ext cx="325800" cy="14400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112"/>
          <p:cNvSpPr txBox="1"/>
          <p:nvPr>
            <p:ph idx="4294967295" type="body"/>
          </p:nvPr>
        </p:nvSpPr>
        <p:spPr>
          <a:xfrm>
            <a:off x="4155600" y="2961847"/>
            <a:ext cx="3975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6" name="Google Shape;1636;p112"/>
          <p:cNvSpPr txBox="1"/>
          <p:nvPr>
            <p:ph idx="4294967295" type="body"/>
          </p:nvPr>
        </p:nvSpPr>
        <p:spPr>
          <a:xfrm>
            <a:off x="3527775" y="3283197"/>
            <a:ext cx="4897500" cy="15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many possible ways of sketching this bar chart.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As long as 2 is the minimum value, 7 is the maximum value, and 4 and 7 are the tallest bars, the rest can be represented differently.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7" name="Google Shape;1637;p112"/>
          <p:cNvSpPr txBox="1"/>
          <p:nvPr>
            <p:ph idx="4294967295" type="body"/>
          </p:nvPr>
        </p:nvSpPr>
        <p:spPr>
          <a:xfrm>
            <a:off x="6627450" y="2961847"/>
            <a:ext cx="3975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8" name="Google Shape;1638;p112"/>
          <p:cNvSpPr txBox="1"/>
          <p:nvPr>
            <p:ph idx="4294967295" type="body"/>
          </p:nvPr>
        </p:nvSpPr>
        <p:spPr>
          <a:xfrm>
            <a:off x="5142700" y="2961847"/>
            <a:ext cx="3975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113"/>
          <p:cNvSpPr txBox="1"/>
          <p:nvPr>
            <p:ph idx="1" type="body"/>
          </p:nvPr>
        </p:nvSpPr>
        <p:spPr>
          <a:xfrm>
            <a:off x="324000" y="696350"/>
            <a:ext cx="8496000" cy="37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possible to compare statistical summaries to properties of  graphs, and use these statistical summaries to complete bar charts with missing data.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It is important to know that the significance of some statistical summaries as a means of representing a dataset decrease if the data are bimodal.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Sketching bar charts, dot plots, and vertical line graphs are quick ways of visualising possible graphs that fit a particular distribution defined by summary statistics.</a:t>
            </a:r>
            <a:endParaRPr/>
          </a:p>
        </p:txBody>
      </p:sp>
      <p:sp>
        <p:nvSpPr>
          <p:cNvPr id="1644" name="Google Shape;1644;p113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Analysing different statistical representations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11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50" name="Google Shape;1650;p1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