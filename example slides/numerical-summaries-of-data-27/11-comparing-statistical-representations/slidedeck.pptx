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157A083-1258-47E6-B07F-67E7B116B47C}">
  <a:tblStyle styleId="{B157A083-1258-47E6-B07F-67E7B116B47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3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5cf73eb27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5cf73eb27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5cf73eb27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5cf73eb27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2988c30b04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2988c30b04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25cf73eb273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25cf73eb27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25cf73eb27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25cf73eb27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48517449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348517449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485174493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3485174493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485174493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3485174493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25cf73eb27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25cf73eb27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2988c30b047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2988c30b04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2988c30b04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2988c30b04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2988c30b047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2988c30b047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25cf73eb273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25cf73eb273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25cf73eb273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25cf73eb273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25cf73eb273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25cf73eb273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25cf73eb273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25cf73eb273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25cf73eb273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25cf73eb273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25cf73eb273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25cf73eb273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25cf73eb273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25cf73eb273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25cf73eb273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25cf73eb273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25cf73eb273_0_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25cf73eb273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25cf73eb273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6" name="Google Shape;1056;g25cf73eb273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25cf73eb273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Google Shape;1092;g25cf73eb273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25cf73eb273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9" name="Google Shape;1109;g25cf73eb273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25cf73eb273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25cf73eb273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25cf73eb273_0_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25cf73eb273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25cf73eb273_0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" name="Google Shape;1148;g25cf73eb273_0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25cf73eb273_0_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Google Shape;1162;g25cf73eb273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25cf73eb273_0_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7" name="Google Shape;1177;g25cf73eb273_0_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25cf73eb273_0_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8" name="Google Shape;1188;g25cf73eb273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25cf73eb273_0_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1" name="Google Shape;1201;g25cf73eb273_0_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25cf73eb273_0_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25cf73eb273_0_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25cf73eb273_0_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25cf73eb273_0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9" name="Google Shape;1249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4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Relationship Id="rId7" Type="http://schemas.openxmlformats.org/officeDocument/2006/relationships/image" Target="../media/image2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5.png"/><Relationship Id="rId4" Type="http://schemas.openxmlformats.org/officeDocument/2006/relationships/image" Target="../media/image75.png"/><Relationship Id="rId5" Type="http://schemas.openxmlformats.org/officeDocument/2006/relationships/image" Target="../media/image31.png"/><Relationship Id="rId6" Type="http://schemas.openxmlformats.org/officeDocument/2006/relationships/image" Target="../media/image27.png"/><Relationship Id="rId7" Type="http://schemas.openxmlformats.org/officeDocument/2006/relationships/image" Target="../media/image2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75.png"/><Relationship Id="rId4" Type="http://schemas.openxmlformats.org/officeDocument/2006/relationships/image" Target="../media/image22.png"/><Relationship Id="rId9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8.png"/><Relationship Id="rId7" Type="http://schemas.openxmlformats.org/officeDocument/2006/relationships/image" Target="../media/image31.png"/><Relationship Id="rId8" Type="http://schemas.openxmlformats.org/officeDocument/2006/relationships/image" Target="../media/image2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75.png"/><Relationship Id="rId4" Type="http://schemas.openxmlformats.org/officeDocument/2006/relationships/image" Target="../media/image30.png"/><Relationship Id="rId11" Type="http://schemas.openxmlformats.org/officeDocument/2006/relationships/image" Target="../media/image24.png"/><Relationship Id="rId10" Type="http://schemas.openxmlformats.org/officeDocument/2006/relationships/image" Target="../media/image36.png"/><Relationship Id="rId9" Type="http://schemas.openxmlformats.org/officeDocument/2006/relationships/image" Target="../media/image27.png"/><Relationship Id="rId5" Type="http://schemas.openxmlformats.org/officeDocument/2006/relationships/image" Target="../media/image22.png"/><Relationship Id="rId6" Type="http://schemas.openxmlformats.org/officeDocument/2006/relationships/image" Target="../media/image25.png"/><Relationship Id="rId7" Type="http://schemas.openxmlformats.org/officeDocument/2006/relationships/image" Target="../media/image28.png"/><Relationship Id="rId8" Type="http://schemas.openxmlformats.org/officeDocument/2006/relationships/image" Target="../media/image3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43.png"/><Relationship Id="rId6" Type="http://schemas.openxmlformats.org/officeDocument/2006/relationships/image" Target="../media/image4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43.png"/><Relationship Id="rId6" Type="http://schemas.openxmlformats.org/officeDocument/2006/relationships/image" Target="../media/image4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43.png"/><Relationship Id="rId6" Type="http://schemas.openxmlformats.org/officeDocument/2006/relationships/image" Target="../media/image4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4.png"/><Relationship Id="rId4" Type="http://schemas.openxmlformats.org/officeDocument/2006/relationships/image" Target="../media/image4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4.png"/><Relationship Id="rId4" Type="http://schemas.openxmlformats.org/officeDocument/2006/relationships/image" Target="../media/image43.png"/><Relationship Id="rId5" Type="http://schemas.openxmlformats.org/officeDocument/2006/relationships/image" Target="../media/image4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4.png"/><Relationship Id="rId4" Type="http://schemas.openxmlformats.org/officeDocument/2006/relationships/image" Target="../media/image6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4.png"/><Relationship Id="rId4" Type="http://schemas.openxmlformats.org/officeDocument/2006/relationships/image" Target="../media/image6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4.png"/><Relationship Id="rId4" Type="http://schemas.openxmlformats.org/officeDocument/2006/relationships/image" Target="../media/image6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70.png"/><Relationship Id="rId6" Type="http://schemas.openxmlformats.org/officeDocument/2006/relationships/image" Target="../media/image6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7.png"/><Relationship Id="rId4" Type="http://schemas.openxmlformats.org/officeDocument/2006/relationships/image" Target="../media/image6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7.png"/><Relationship Id="rId4" Type="http://schemas.openxmlformats.org/officeDocument/2006/relationships/image" Target="../media/image65.png"/><Relationship Id="rId5" Type="http://schemas.openxmlformats.org/officeDocument/2006/relationships/image" Target="../media/image70.png"/><Relationship Id="rId6" Type="http://schemas.openxmlformats.org/officeDocument/2006/relationships/image" Target="../media/image6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7.png"/><Relationship Id="rId4" Type="http://schemas.openxmlformats.org/officeDocument/2006/relationships/image" Target="../media/image6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4.png"/><Relationship Id="rId4" Type="http://schemas.openxmlformats.org/officeDocument/2006/relationships/image" Target="../media/image7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statistical representations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see that different statistical representations offer different insights into a set of data.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A pie chart (pie graph) is a circular graph where sectors represent different groups proportionally.  </a:t>
            </a:r>
            <a:endParaRPr b="0"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A bar chart (bar graph) is a graph consisting of bars visually representing the frequency of objects or groups.</a:t>
            </a:r>
            <a:endParaRPr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pie charts and bar charts</a:t>
            </a:r>
            <a:endParaRPr/>
          </a:p>
        </p:txBody>
      </p:sp>
      <p:sp>
        <p:nvSpPr>
          <p:cNvPr id="773" name="Google Shape;773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statistical representations</a:t>
            </a:r>
            <a:endParaRPr/>
          </a:p>
        </p:txBody>
      </p:sp>
      <p:sp>
        <p:nvSpPr>
          <p:cNvPr id="774" name="Google Shape;774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Matching information between pie and bar charts</a:t>
            </a:r>
            <a:endParaRPr/>
          </a:p>
        </p:txBody>
      </p:sp>
      <p:pic>
        <p:nvPicPr>
          <p:cNvPr id="775" name="Google Shape;77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625" y="2045807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9"/>
          <p:cNvSpPr txBox="1"/>
          <p:nvPr/>
        </p:nvSpPr>
        <p:spPr>
          <a:xfrm>
            <a:off x="324000" y="3132000"/>
            <a:ext cx="8496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Both bar charts and pie charts are used to visually represent data.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At a quick glance, they can both show key insights of the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data set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insights are more easily understood from a snapshot look at each type of chart?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1" name="Google Shape;781;p69"/>
          <p:cNvSpPr txBox="1"/>
          <p:nvPr/>
        </p:nvSpPr>
        <p:spPr>
          <a:xfrm>
            <a:off x="6417200" y="759300"/>
            <a:ext cx="2402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Both this pie chart and bar chart represent the same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data set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“days it rained last month”.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2" name="Google Shape;782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pie charts and bar charts</a:t>
            </a:r>
            <a:endParaRPr/>
          </a:p>
        </p:txBody>
      </p:sp>
      <p:pic>
        <p:nvPicPr>
          <p:cNvPr id="783" name="Google Shape;78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759300"/>
            <a:ext cx="3454259" cy="20762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84" name="Google Shape;784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4285" y="759300"/>
            <a:ext cx="2365615" cy="20762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70"/>
          <p:cNvSpPr txBox="1"/>
          <p:nvPr/>
        </p:nvSpPr>
        <p:spPr>
          <a:xfrm>
            <a:off x="324000" y="2979600"/>
            <a:ext cx="3454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 bar chart can provide quick insight into comparing between each subgroup of data.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“it rained around three times as frequently as it was try”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790" name="Google Shape;790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pie charts and bar charts</a:t>
            </a:r>
            <a:endParaRPr/>
          </a:p>
        </p:txBody>
      </p:sp>
      <p:sp>
        <p:nvSpPr>
          <p:cNvPr id="791" name="Google Shape;791;p70"/>
          <p:cNvSpPr txBox="1"/>
          <p:nvPr/>
        </p:nvSpPr>
        <p:spPr>
          <a:xfrm>
            <a:off x="4911075" y="2979600"/>
            <a:ext cx="3909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 pie chart can provide quick insight into comparing one subgroup of data against the whole data set.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“it was dry for just over a quarter of the days last month”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792" name="Google Shape;792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759300"/>
            <a:ext cx="3454259" cy="20762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93" name="Google Shape;793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085" y="759300"/>
            <a:ext cx="2365615" cy="20762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1"/>
          <p:cNvSpPr txBox="1"/>
          <p:nvPr/>
        </p:nvSpPr>
        <p:spPr>
          <a:xfrm>
            <a:off x="324000" y="3058700"/>
            <a:ext cx="8496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From just a quick look at the two charts, can the bar chart, pie chart, or both, show you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pie charts and bar charts</a:t>
            </a:r>
            <a:endParaRPr/>
          </a:p>
        </p:txBody>
      </p:sp>
      <p:sp>
        <p:nvSpPr>
          <p:cNvPr id="800" name="Google Shape;800;p71"/>
          <p:cNvSpPr txBox="1"/>
          <p:nvPr/>
        </p:nvSpPr>
        <p:spPr>
          <a:xfrm>
            <a:off x="6134600" y="693625"/>
            <a:ext cx="2402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Both this pie chart and bar chart represent the same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data set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“activities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students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did at lunchtime”.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71"/>
          <p:cNvSpPr txBox="1"/>
          <p:nvPr/>
        </p:nvSpPr>
        <p:spPr>
          <a:xfrm>
            <a:off x="324075" y="3802425"/>
            <a:ext cx="8496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modal activity is the activity with the highest frequency (the mode).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modal activity was sports. You could answer this using both charts.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02" name="Google Shape;802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2" y="693625"/>
            <a:ext cx="2553325" cy="224535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03" name="Google Shape;803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6577" y="693625"/>
            <a:ext cx="2978775" cy="224534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04" name="Google Shape;804;p71"/>
          <p:cNvSpPr txBox="1"/>
          <p:nvPr/>
        </p:nvSpPr>
        <p:spPr>
          <a:xfrm>
            <a:off x="2058911" y="3371624"/>
            <a:ext cx="3402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the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modal activity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was?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pie charts and bar charts</a:t>
            </a:r>
            <a:endParaRPr/>
          </a:p>
        </p:txBody>
      </p:sp>
      <p:sp>
        <p:nvSpPr>
          <p:cNvPr id="810" name="Google Shape;810;p72"/>
          <p:cNvSpPr txBox="1"/>
          <p:nvPr>
            <p:ph idx="4294967295" type="title"/>
          </p:nvPr>
        </p:nvSpPr>
        <p:spPr>
          <a:xfrm>
            <a:off x="324000" y="748775"/>
            <a:ext cx="8496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 sz="1800"/>
              <a:t>From a quick look, which chart shows you </a:t>
            </a:r>
            <a:r>
              <a:rPr b="0" lang="en-GB" sz="1800">
                <a:solidFill>
                  <a:schemeClr val="accent4"/>
                </a:solidFill>
              </a:rPr>
              <a:t>how many students</a:t>
            </a:r>
            <a:r>
              <a:rPr b="0" lang="en-GB" sz="1800"/>
              <a:t> attend a sports club at lunchtime?</a:t>
            </a:r>
            <a:endParaRPr b="0"/>
          </a:p>
        </p:txBody>
      </p:sp>
      <p:pic>
        <p:nvPicPr>
          <p:cNvPr id="811" name="Google Shape;81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002" y="1531825"/>
            <a:ext cx="2042659" cy="179777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12" name="Google Shape;812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2377" y="1531825"/>
            <a:ext cx="2383020" cy="179807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13" name="Google Shape;813;p72"/>
          <p:cNvSpPr txBox="1"/>
          <p:nvPr/>
        </p:nvSpPr>
        <p:spPr>
          <a:xfrm>
            <a:off x="7084650" y="2231500"/>
            <a:ext cx="10068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Both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14" name="Google Shape;814;p72"/>
          <p:cNvGrpSpPr/>
          <p:nvPr/>
        </p:nvGrpSpPr>
        <p:grpSpPr>
          <a:xfrm>
            <a:off x="1557637" y="3512586"/>
            <a:ext cx="381533" cy="381533"/>
            <a:chOff x="1020916" y="1442088"/>
            <a:chExt cx="457200" cy="457200"/>
          </a:xfrm>
        </p:grpSpPr>
        <p:pic>
          <p:nvPicPr>
            <p:cNvPr id="815" name="Google Shape;815;p7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6" name="Google Shape;816;p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7" name="Google Shape;817;p72"/>
          <p:cNvGrpSpPr/>
          <p:nvPr/>
        </p:nvGrpSpPr>
        <p:grpSpPr>
          <a:xfrm>
            <a:off x="4681837" y="3520855"/>
            <a:ext cx="381533" cy="381533"/>
            <a:chOff x="1020916" y="1442088"/>
            <a:chExt cx="457200" cy="457200"/>
          </a:xfrm>
        </p:grpSpPr>
        <p:pic>
          <p:nvPicPr>
            <p:cNvPr id="818" name="Google Shape;818;p7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9" name="Google Shape;819;p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20" name="Google Shape;820;p72"/>
          <p:cNvGrpSpPr/>
          <p:nvPr/>
        </p:nvGrpSpPr>
        <p:grpSpPr>
          <a:xfrm>
            <a:off x="7272637" y="3529124"/>
            <a:ext cx="381533" cy="381533"/>
            <a:chOff x="1020916" y="1442088"/>
            <a:chExt cx="457200" cy="457200"/>
          </a:xfrm>
        </p:grpSpPr>
        <p:pic>
          <p:nvPicPr>
            <p:cNvPr id="821" name="Google Shape;821;p7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2" name="Google Shape;822;p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23" name="Google Shape;823;p72"/>
          <p:cNvSpPr txBox="1"/>
          <p:nvPr/>
        </p:nvSpPr>
        <p:spPr>
          <a:xfrm>
            <a:off x="324050" y="4122925"/>
            <a:ext cx="8496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18 students attend a sports club.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could not be answered using the pie chart, because this pie chart does not include any frequencies.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24" name="Google Shape;824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04558" y="34938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pie charts and bar charts</a:t>
            </a:r>
            <a:endParaRPr/>
          </a:p>
        </p:txBody>
      </p:sp>
      <p:sp>
        <p:nvSpPr>
          <p:cNvPr id="830" name="Google Shape;830;p73"/>
          <p:cNvSpPr txBox="1"/>
          <p:nvPr>
            <p:ph idx="4294967295" type="title"/>
          </p:nvPr>
        </p:nvSpPr>
        <p:spPr>
          <a:xfrm>
            <a:off x="324000" y="748775"/>
            <a:ext cx="8496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 sz="1800"/>
              <a:t>From a quick look, which chart shows you which activity </a:t>
            </a:r>
            <a:r>
              <a:rPr b="0" lang="en-GB" sz="1800">
                <a:solidFill>
                  <a:schemeClr val="accent4"/>
                </a:solidFill>
              </a:rPr>
              <a:t>a quarter of students</a:t>
            </a:r>
            <a:r>
              <a:rPr b="0" lang="en-GB" sz="1800"/>
              <a:t> joined?</a:t>
            </a:r>
            <a:endParaRPr b="0"/>
          </a:p>
        </p:txBody>
      </p:sp>
      <p:sp>
        <p:nvSpPr>
          <p:cNvPr id="831" name="Google Shape;831;p73"/>
          <p:cNvSpPr txBox="1"/>
          <p:nvPr/>
        </p:nvSpPr>
        <p:spPr>
          <a:xfrm>
            <a:off x="303150" y="4140525"/>
            <a:ext cx="8496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quarter of students did board games. We can see this clearly from the pie chart, without the need for calculations.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32" name="Google Shape;83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002" y="1531825"/>
            <a:ext cx="2042659" cy="179777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33" name="Google Shape;833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2377" y="1531825"/>
            <a:ext cx="2383020" cy="179807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34" name="Google Shape;834;p73"/>
          <p:cNvSpPr txBox="1"/>
          <p:nvPr/>
        </p:nvSpPr>
        <p:spPr>
          <a:xfrm>
            <a:off x="7084650" y="2231500"/>
            <a:ext cx="10068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Both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5" name="Google Shape;835;p73"/>
          <p:cNvGrpSpPr/>
          <p:nvPr/>
        </p:nvGrpSpPr>
        <p:grpSpPr>
          <a:xfrm>
            <a:off x="1557637" y="3512586"/>
            <a:ext cx="381533" cy="381533"/>
            <a:chOff x="1020916" y="1442088"/>
            <a:chExt cx="457200" cy="457200"/>
          </a:xfrm>
        </p:grpSpPr>
        <p:pic>
          <p:nvPicPr>
            <p:cNvPr id="836" name="Google Shape;836;p7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7" name="Google Shape;837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38" name="Google Shape;838;p73"/>
          <p:cNvGrpSpPr/>
          <p:nvPr/>
        </p:nvGrpSpPr>
        <p:grpSpPr>
          <a:xfrm>
            <a:off x="4681837" y="3520855"/>
            <a:ext cx="381533" cy="381533"/>
            <a:chOff x="1020916" y="1442088"/>
            <a:chExt cx="457200" cy="457200"/>
          </a:xfrm>
        </p:grpSpPr>
        <p:pic>
          <p:nvPicPr>
            <p:cNvPr id="839" name="Google Shape;839;p7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0" name="Google Shape;840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41" name="Google Shape;841;p73"/>
          <p:cNvGrpSpPr/>
          <p:nvPr/>
        </p:nvGrpSpPr>
        <p:grpSpPr>
          <a:xfrm>
            <a:off x="7272637" y="3529124"/>
            <a:ext cx="381533" cy="381533"/>
            <a:chOff x="1020916" y="1442088"/>
            <a:chExt cx="457200" cy="457200"/>
          </a:xfrm>
        </p:grpSpPr>
        <p:pic>
          <p:nvPicPr>
            <p:cNvPr id="842" name="Google Shape;842;p7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3" name="Google Shape;843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44" name="Google Shape;844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35658" y="34938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pie charts and bar charts</a:t>
            </a:r>
            <a:endParaRPr/>
          </a:p>
        </p:txBody>
      </p:sp>
      <p:sp>
        <p:nvSpPr>
          <p:cNvPr id="850" name="Google Shape;850;p74"/>
          <p:cNvSpPr txBox="1"/>
          <p:nvPr>
            <p:ph idx="4294967295" type="title"/>
          </p:nvPr>
        </p:nvSpPr>
        <p:spPr>
          <a:xfrm>
            <a:off x="324000" y="748775"/>
            <a:ext cx="8496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800"/>
              <a:t>From a quick look, which chart shows you </a:t>
            </a:r>
            <a:r>
              <a:rPr b="0" lang="en-GB" sz="1800">
                <a:solidFill>
                  <a:schemeClr val="accent4"/>
                </a:solidFill>
              </a:rPr>
              <a:t>how many more students</a:t>
            </a:r>
            <a:r>
              <a:rPr b="0" lang="en-GB" sz="1800"/>
              <a:t> did homework than film club?</a:t>
            </a:r>
            <a:endParaRPr b="0" sz="1800"/>
          </a:p>
        </p:txBody>
      </p:sp>
      <p:sp>
        <p:nvSpPr>
          <p:cNvPr id="851" name="Google Shape;851;p74"/>
          <p:cNvSpPr txBox="1"/>
          <p:nvPr/>
        </p:nvSpPr>
        <p:spPr>
          <a:xfrm>
            <a:off x="324000" y="3954825"/>
            <a:ext cx="7912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Two more students did homework than film club.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We can see this most clearly by looking at the bar chart and making one short calculation of 10 – 8 = 2.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52" name="Google Shape;852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002" y="1531825"/>
            <a:ext cx="2042659" cy="179777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53" name="Google Shape;853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2377" y="1531825"/>
            <a:ext cx="2383020" cy="179807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54" name="Google Shape;854;p74"/>
          <p:cNvSpPr txBox="1"/>
          <p:nvPr/>
        </p:nvSpPr>
        <p:spPr>
          <a:xfrm>
            <a:off x="7084650" y="2231500"/>
            <a:ext cx="10068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Both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55" name="Google Shape;855;p74"/>
          <p:cNvGrpSpPr/>
          <p:nvPr/>
        </p:nvGrpSpPr>
        <p:grpSpPr>
          <a:xfrm>
            <a:off x="1557637" y="3512586"/>
            <a:ext cx="381533" cy="381533"/>
            <a:chOff x="1020916" y="1442088"/>
            <a:chExt cx="457200" cy="457200"/>
          </a:xfrm>
        </p:grpSpPr>
        <p:pic>
          <p:nvPicPr>
            <p:cNvPr id="856" name="Google Shape;856;p7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7" name="Google Shape;857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58" name="Google Shape;858;p74"/>
          <p:cNvGrpSpPr/>
          <p:nvPr/>
        </p:nvGrpSpPr>
        <p:grpSpPr>
          <a:xfrm>
            <a:off x="4681837" y="3520855"/>
            <a:ext cx="381533" cy="381533"/>
            <a:chOff x="1020916" y="1442088"/>
            <a:chExt cx="457200" cy="457200"/>
          </a:xfrm>
        </p:grpSpPr>
        <p:pic>
          <p:nvPicPr>
            <p:cNvPr id="859" name="Google Shape;859;p7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0" name="Google Shape;860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61" name="Google Shape;861;p74"/>
          <p:cNvGrpSpPr/>
          <p:nvPr/>
        </p:nvGrpSpPr>
        <p:grpSpPr>
          <a:xfrm>
            <a:off x="7272637" y="3529124"/>
            <a:ext cx="381533" cy="381533"/>
            <a:chOff x="1020916" y="1442088"/>
            <a:chExt cx="457200" cy="457200"/>
          </a:xfrm>
        </p:grpSpPr>
        <p:pic>
          <p:nvPicPr>
            <p:cNvPr id="862" name="Google Shape;862;p7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3" name="Google Shape;863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64" name="Google Shape;864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04558" y="34938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75"/>
          <p:cNvSpPr txBox="1"/>
          <p:nvPr/>
        </p:nvSpPr>
        <p:spPr>
          <a:xfrm>
            <a:off x="5118470" y="850050"/>
            <a:ext cx="37017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still possible to quickly gain insights from this bar chart, even though there are many bars.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0" name="Google Shape;870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pie charts and bar charts</a:t>
            </a:r>
            <a:endParaRPr/>
          </a:p>
        </p:txBody>
      </p:sp>
      <p:sp>
        <p:nvSpPr>
          <p:cNvPr id="871" name="Google Shape;871;p75"/>
          <p:cNvSpPr txBox="1"/>
          <p:nvPr/>
        </p:nvSpPr>
        <p:spPr>
          <a:xfrm>
            <a:off x="5118348" y="2201850"/>
            <a:ext cx="3701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 modal birth month?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75"/>
          <p:cNvSpPr txBox="1"/>
          <p:nvPr/>
        </p:nvSpPr>
        <p:spPr>
          <a:xfrm>
            <a:off x="5118348" y="2844675"/>
            <a:ext cx="37017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many students were born in February?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3" name="Google Shape;873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433550"/>
            <a:ext cx="4667726" cy="300330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75"/>
          <p:cNvSpPr txBox="1"/>
          <p:nvPr/>
        </p:nvSpPr>
        <p:spPr>
          <a:xfrm>
            <a:off x="5933524" y="2461650"/>
            <a:ext cx="2159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November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5" name="Google Shape;875;p75"/>
          <p:cNvSpPr txBox="1"/>
          <p:nvPr/>
        </p:nvSpPr>
        <p:spPr>
          <a:xfrm>
            <a:off x="5933450" y="3424625"/>
            <a:ext cx="2560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24 students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6" name="Google Shape;876;p75"/>
          <p:cNvSpPr txBox="1"/>
          <p:nvPr/>
        </p:nvSpPr>
        <p:spPr>
          <a:xfrm>
            <a:off x="5118348" y="3806100"/>
            <a:ext cx="37017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was the least frequent birth month?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75"/>
          <p:cNvSpPr txBox="1"/>
          <p:nvPr/>
        </p:nvSpPr>
        <p:spPr>
          <a:xfrm>
            <a:off x="5933601" y="4387600"/>
            <a:ext cx="2560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June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8" name="Google Shape;878;p75"/>
          <p:cNvSpPr txBox="1"/>
          <p:nvPr/>
        </p:nvSpPr>
        <p:spPr>
          <a:xfrm>
            <a:off x="324025" y="850050"/>
            <a:ext cx="4667700" cy="3586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bar chart shows the birth months of students in a school.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pie charts and bar charts</a:t>
            </a:r>
            <a:endParaRPr/>
          </a:p>
        </p:txBody>
      </p:sp>
      <p:sp>
        <p:nvSpPr>
          <p:cNvPr id="884" name="Google Shape;884;p76"/>
          <p:cNvSpPr txBox="1"/>
          <p:nvPr/>
        </p:nvSpPr>
        <p:spPr>
          <a:xfrm>
            <a:off x="4177175" y="759300"/>
            <a:ext cx="4642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Some of the insights on this pie chart are hard to read quickly, as there are many sectors to consider.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76"/>
          <p:cNvSpPr txBox="1"/>
          <p:nvPr/>
        </p:nvSpPr>
        <p:spPr>
          <a:xfrm>
            <a:off x="327150" y="4150800"/>
            <a:ext cx="3616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pie chart shows the birth months of students in a school.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86" name="Google Shape;88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713350"/>
            <a:ext cx="3616782" cy="3232499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76"/>
          <p:cNvSpPr txBox="1"/>
          <p:nvPr/>
        </p:nvSpPr>
        <p:spPr>
          <a:xfrm>
            <a:off x="4177100" y="1891401"/>
            <a:ext cx="464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 least frequent birth month?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76"/>
          <p:cNvSpPr txBox="1"/>
          <p:nvPr/>
        </p:nvSpPr>
        <p:spPr>
          <a:xfrm>
            <a:off x="4177175" y="2182400"/>
            <a:ext cx="4642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June, but other months also look small.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9" name="Google Shape;889;p76"/>
          <p:cNvSpPr txBox="1"/>
          <p:nvPr/>
        </p:nvSpPr>
        <p:spPr>
          <a:xfrm>
            <a:off x="4177100" y="2790351"/>
            <a:ext cx="464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many people were born in October?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6"/>
          <p:cNvSpPr txBox="1"/>
          <p:nvPr/>
        </p:nvSpPr>
        <p:spPr>
          <a:xfrm>
            <a:off x="4177175" y="3081350"/>
            <a:ext cx="4642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Without knowing at least one frequency and using a protractor, this is still tricky to find out.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77"/>
          <p:cNvSpPr txBox="1"/>
          <p:nvPr/>
        </p:nvSpPr>
        <p:spPr>
          <a:xfrm>
            <a:off x="4613671" y="759300"/>
            <a:ext cx="4206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However, some broader insights are still possible to read quickly.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6" name="Google Shape;896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pie charts and bar charts</a:t>
            </a:r>
            <a:endParaRPr/>
          </a:p>
        </p:txBody>
      </p:sp>
      <p:sp>
        <p:nvSpPr>
          <p:cNvPr id="897" name="Google Shape;897;p77"/>
          <p:cNvSpPr txBox="1"/>
          <p:nvPr/>
        </p:nvSpPr>
        <p:spPr>
          <a:xfrm>
            <a:off x="327150" y="4150800"/>
            <a:ext cx="3616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pie chart shows the birth months of students in a school.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8" name="Google Shape;898;p77"/>
          <p:cNvSpPr txBox="1"/>
          <p:nvPr/>
        </p:nvSpPr>
        <p:spPr>
          <a:xfrm>
            <a:off x="4613671" y="1501941"/>
            <a:ext cx="4206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Were more or less than 25% of students born in the winter months of November, December, and January?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99" name="Google Shape;899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713350"/>
            <a:ext cx="3616782" cy="3232499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77"/>
          <p:cNvSpPr/>
          <p:nvPr/>
        </p:nvSpPr>
        <p:spPr>
          <a:xfrm>
            <a:off x="644400" y="838450"/>
            <a:ext cx="2982300" cy="2982300"/>
          </a:xfrm>
          <a:prstGeom prst="pie">
            <a:avLst>
              <a:gd fmla="val 11671118" name="adj1"/>
              <a:gd fmla="val 18154226" name="adj2"/>
            </a:avLst>
          </a:prstGeom>
          <a:solidFill>
            <a:srgbClr val="FAEAF6">
              <a:alpha val="19620"/>
            </a:srgbClr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7"/>
          <p:cNvSpPr txBox="1"/>
          <p:nvPr/>
        </p:nvSpPr>
        <p:spPr>
          <a:xfrm>
            <a:off x="4613671" y="2567850"/>
            <a:ext cx="4206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More than 25%.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is still fairly easy to see this from a quick look at the pie chart,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02" name="Google Shape;902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1239212"/>
            <a:ext cx="4206652" cy="2706638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77"/>
          <p:cNvSpPr txBox="1"/>
          <p:nvPr/>
        </p:nvSpPr>
        <p:spPr>
          <a:xfrm>
            <a:off x="324023" y="713350"/>
            <a:ext cx="4206600" cy="3232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bar chart shows the birth months of students in a school.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7"/>
          <p:cNvSpPr txBox="1"/>
          <p:nvPr/>
        </p:nvSpPr>
        <p:spPr>
          <a:xfrm>
            <a:off x="4613475" y="3752037"/>
            <a:ext cx="3463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nd still far easier than calculating it from this bar chart.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78"/>
          <p:cNvSpPr txBox="1"/>
          <p:nvPr/>
        </p:nvSpPr>
        <p:spPr>
          <a:xfrm>
            <a:off x="324000" y="3830235"/>
            <a:ext cx="8496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Did more than, less than, or equal to 25% of students walk to school?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With which graph (or both) is it possible to answer part a)?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0" name="Google Shape;91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679425"/>
            <a:ext cx="2790185" cy="272457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11" name="Google Shape;911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0717" y="679427"/>
            <a:ext cx="2790183" cy="2224173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12" name="Google Shape;912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pie charts and bar charts</a:t>
            </a:r>
            <a:endParaRPr/>
          </a:p>
        </p:txBody>
      </p:sp>
      <p:sp>
        <p:nvSpPr>
          <p:cNvPr id="913" name="Google Shape;913;p78"/>
          <p:cNvSpPr txBox="1"/>
          <p:nvPr/>
        </p:nvSpPr>
        <p:spPr>
          <a:xfrm>
            <a:off x="3223400" y="3002425"/>
            <a:ext cx="5596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From only a quick glance at both graphs, answer these questions: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8"/>
          <p:cNvSpPr txBox="1"/>
          <p:nvPr/>
        </p:nvSpPr>
        <p:spPr>
          <a:xfrm>
            <a:off x="6417200" y="759300"/>
            <a:ext cx="2402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Both this pie chart and bar chart represent the same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data set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“modes of transport to school”.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8"/>
          <p:cNvSpPr txBox="1"/>
          <p:nvPr/>
        </p:nvSpPr>
        <p:spPr>
          <a:xfrm>
            <a:off x="7180926" y="4079100"/>
            <a:ext cx="1639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More than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6" name="Google Shape;916;p78"/>
          <p:cNvSpPr txBox="1"/>
          <p:nvPr/>
        </p:nvSpPr>
        <p:spPr>
          <a:xfrm>
            <a:off x="678699" y="4533900"/>
            <a:ext cx="7584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Pie chart (but it is possible to calculate this from a bar chart)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" name="Google Shape;921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560850"/>
            <a:ext cx="2473700" cy="23844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22" name="Google Shape;922;p79"/>
          <p:cNvSpPr txBox="1"/>
          <p:nvPr/>
        </p:nvSpPr>
        <p:spPr>
          <a:xfrm>
            <a:off x="324000" y="726451"/>
            <a:ext cx="8496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Tick the statements that are easy to determine from a quick glance at the pie chart.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Comparing pie charts and bar charts</a:t>
            </a:r>
            <a:endParaRPr sz="1800"/>
          </a:p>
        </p:txBody>
      </p:sp>
      <p:grpSp>
        <p:nvGrpSpPr>
          <p:cNvPr id="924" name="Google Shape;924;p79"/>
          <p:cNvGrpSpPr/>
          <p:nvPr/>
        </p:nvGrpSpPr>
        <p:grpSpPr>
          <a:xfrm>
            <a:off x="2887197" y="1713243"/>
            <a:ext cx="386288" cy="386288"/>
            <a:chOff x="1020916" y="1442088"/>
            <a:chExt cx="457200" cy="457200"/>
          </a:xfrm>
        </p:grpSpPr>
        <p:pic>
          <p:nvPicPr>
            <p:cNvPr id="925" name="Google Shape;925;p7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6" name="Google Shape;926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27" name="Google Shape;927;p79"/>
          <p:cNvSpPr txBox="1"/>
          <p:nvPr/>
        </p:nvSpPr>
        <p:spPr>
          <a:xfrm>
            <a:off x="324000" y="3945325"/>
            <a:ext cx="2473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Pie chart showing students’ favourite colours.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9"/>
          <p:cNvSpPr txBox="1"/>
          <p:nvPr/>
        </p:nvSpPr>
        <p:spPr>
          <a:xfrm>
            <a:off x="3372400" y="1767938"/>
            <a:ext cx="5447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Data were collected on a total of 288 students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9" name="Google Shape;929;p79"/>
          <p:cNvGrpSpPr/>
          <p:nvPr/>
        </p:nvGrpSpPr>
        <p:grpSpPr>
          <a:xfrm>
            <a:off x="2887197" y="2279618"/>
            <a:ext cx="386288" cy="386288"/>
            <a:chOff x="1020916" y="1442088"/>
            <a:chExt cx="457200" cy="457200"/>
          </a:xfrm>
        </p:grpSpPr>
        <p:pic>
          <p:nvPicPr>
            <p:cNvPr id="930" name="Google Shape;930;p7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1" name="Google Shape;931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32" name="Google Shape;932;p79"/>
          <p:cNvSpPr txBox="1"/>
          <p:nvPr/>
        </p:nvSpPr>
        <p:spPr>
          <a:xfrm>
            <a:off x="3372400" y="2334238"/>
            <a:ext cx="5447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quarter of students voted green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33" name="Google Shape;933;p79"/>
          <p:cNvGrpSpPr/>
          <p:nvPr/>
        </p:nvGrpSpPr>
        <p:grpSpPr>
          <a:xfrm>
            <a:off x="2887197" y="2845993"/>
            <a:ext cx="386288" cy="386288"/>
            <a:chOff x="1020916" y="1442088"/>
            <a:chExt cx="457200" cy="457200"/>
          </a:xfrm>
        </p:grpSpPr>
        <p:pic>
          <p:nvPicPr>
            <p:cNvPr id="934" name="Google Shape;934;p7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5" name="Google Shape;935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36" name="Google Shape;936;p79"/>
          <p:cNvSpPr txBox="1"/>
          <p:nvPr/>
        </p:nvSpPr>
        <p:spPr>
          <a:xfrm>
            <a:off x="3372400" y="2900538"/>
            <a:ext cx="5447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120 students voted blue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37" name="Google Shape;937;p79"/>
          <p:cNvGrpSpPr/>
          <p:nvPr/>
        </p:nvGrpSpPr>
        <p:grpSpPr>
          <a:xfrm>
            <a:off x="2887197" y="3412368"/>
            <a:ext cx="386288" cy="386288"/>
            <a:chOff x="1020916" y="1442088"/>
            <a:chExt cx="457200" cy="457200"/>
          </a:xfrm>
        </p:grpSpPr>
        <p:pic>
          <p:nvPicPr>
            <p:cNvPr id="938" name="Google Shape;938;p7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9" name="Google Shape;939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40" name="Google Shape;940;p79"/>
          <p:cNvSpPr txBox="1"/>
          <p:nvPr/>
        </p:nvSpPr>
        <p:spPr>
          <a:xfrm>
            <a:off x="3372400" y="3466838"/>
            <a:ext cx="5447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modal colour was blue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1" name="Google Shape;941;p79"/>
          <p:cNvGrpSpPr/>
          <p:nvPr/>
        </p:nvGrpSpPr>
        <p:grpSpPr>
          <a:xfrm>
            <a:off x="2887197" y="3978743"/>
            <a:ext cx="386288" cy="386288"/>
            <a:chOff x="1020916" y="1442088"/>
            <a:chExt cx="457200" cy="457200"/>
          </a:xfrm>
        </p:grpSpPr>
        <p:pic>
          <p:nvPicPr>
            <p:cNvPr id="942" name="Google Shape;942;p7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3" name="Google Shape;943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44" name="Google Shape;944;p79"/>
          <p:cNvSpPr txBox="1"/>
          <p:nvPr/>
        </p:nvSpPr>
        <p:spPr>
          <a:xfrm>
            <a:off x="3372400" y="4033138"/>
            <a:ext cx="5447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Under half of students voted purple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79"/>
          <p:cNvSpPr/>
          <p:nvPr/>
        </p:nvSpPr>
        <p:spPr>
          <a:xfrm>
            <a:off x="1563308" y="2612262"/>
            <a:ext cx="139500" cy="13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Comparing pie charts and bar charts</a:t>
            </a:r>
            <a:endParaRPr sz="1800"/>
          </a:p>
        </p:txBody>
      </p:sp>
      <p:graphicFrame>
        <p:nvGraphicFramePr>
          <p:cNvPr id="951" name="Google Shape;951;p80"/>
          <p:cNvGraphicFramePr/>
          <p:nvPr/>
        </p:nvGraphicFramePr>
        <p:xfrm>
          <a:off x="323975" y="298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{B157A083-1258-47E6-B07F-67E7B116B47C}</a:tableStyleId>
              </a:tblPr>
              <a:tblGrid>
                <a:gridCol w="5669925"/>
                <a:gridCol w="1215700"/>
                <a:gridCol w="1215700"/>
              </a:tblGrid>
              <a:tr h="28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question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pie chart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bar chart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solidFill>
                      <a:srgbClr val="845AD9"/>
                    </a:solidFill>
                  </a:tcPr>
                </a:tc>
              </a:tr>
              <a:tr h="343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What was the modal method of staying dry?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</a:tr>
              <a:tr h="56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Which method of staying dry did 25% of people choose?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</a:tr>
              <a:tr h="56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True or false: more than 50% of people voted raincoat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</a:tr>
            </a:tbl>
          </a:graphicData>
        </a:graphic>
      </p:graphicFrame>
      <p:sp>
        <p:nvSpPr>
          <p:cNvPr id="952" name="Google Shape;952;p80"/>
          <p:cNvSpPr txBox="1"/>
          <p:nvPr/>
        </p:nvSpPr>
        <p:spPr>
          <a:xfrm>
            <a:off x="324000" y="650250"/>
            <a:ext cx="3669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 Both charts show “methods of staying dry”.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Answer each question in either the “pie chart” or “bar chart” column to show which chart you used to find the answer.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53" name="Google Shape;953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7900" y="695475"/>
            <a:ext cx="2054892" cy="183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" name="Google Shape;954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1150" y="695575"/>
            <a:ext cx="2618850" cy="2162525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80"/>
          <p:cNvSpPr txBox="1"/>
          <p:nvPr/>
        </p:nvSpPr>
        <p:spPr>
          <a:xfrm>
            <a:off x="6995750" y="2659525"/>
            <a:ext cx="3084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80"/>
          <p:cNvSpPr txBox="1"/>
          <p:nvPr/>
        </p:nvSpPr>
        <p:spPr>
          <a:xfrm>
            <a:off x="7617175" y="2659525"/>
            <a:ext cx="3084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80"/>
          <p:cNvSpPr txBox="1"/>
          <p:nvPr/>
        </p:nvSpPr>
        <p:spPr>
          <a:xfrm>
            <a:off x="8238600" y="2659525"/>
            <a:ext cx="3084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si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80"/>
          <p:cNvSpPr/>
          <p:nvPr/>
        </p:nvSpPr>
        <p:spPr>
          <a:xfrm>
            <a:off x="5066996" y="1526551"/>
            <a:ext cx="87300" cy="87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Comparing pie charts and bar charts</a:t>
            </a:r>
            <a:endParaRPr sz="1800"/>
          </a:p>
        </p:txBody>
      </p:sp>
      <p:graphicFrame>
        <p:nvGraphicFramePr>
          <p:cNvPr id="964" name="Google Shape;964;p81"/>
          <p:cNvGraphicFramePr/>
          <p:nvPr/>
        </p:nvGraphicFramePr>
        <p:xfrm>
          <a:off x="323975" y="298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{B157A083-1258-47E6-B07F-67E7B116B47C}</a:tableStyleId>
              </a:tblPr>
              <a:tblGrid>
                <a:gridCol w="5669925"/>
                <a:gridCol w="1215700"/>
                <a:gridCol w="1215700"/>
              </a:tblGrid>
              <a:tr h="28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question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pie chart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bar chart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solidFill>
                      <a:srgbClr val="845AD9"/>
                    </a:solidFill>
                  </a:tcPr>
                </a:tc>
              </a:tr>
              <a:tr h="343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 How many more people voted for raincoat than umbrella?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</a:tr>
              <a:tr h="38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 How many people were asked in total?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</a:tr>
            </a:tbl>
          </a:graphicData>
        </a:graphic>
      </p:graphicFrame>
      <p:sp>
        <p:nvSpPr>
          <p:cNvPr id="965" name="Google Shape;965;p81"/>
          <p:cNvSpPr txBox="1"/>
          <p:nvPr/>
        </p:nvSpPr>
        <p:spPr>
          <a:xfrm>
            <a:off x="324000" y="650250"/>
            <a:ext cx="3669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Both charts show “methods of staying dry”.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Answer each question in either the “pie chart” or “bar chart” column to show which chart you used to find the answer.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6" name="Google Shape;966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7900" y="695475"/>
            <a:ext cx="2054892" cy="183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1150" y="695575"/>
            <a:ext cx="2618850" cy="2162525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81"/>
          <p:cNvSpPr txBox="1"/>
          <p:nvPr/>
        </p:nvSpPr>
        <p:spPr>
          <a:xfrm>
            <a:off x="6995750" y="2659525"/>
            <a:ext cx="3084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81"/>
          <p:cNvSpPr txBox="1"/>
          <p:nvPr/>
        </p:nvSpPr>
        <p:spPr>
          <a:xfrm>
            <a:off x="7617175" y="2659525"/>
            <a:ext cx="3084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81"/>
          <p:cNvSpPr txBox="1"/>
          <p:nvPr/>
        </p:nvSpPr>
        <p:spPr>
          <a:xfrm>
            <a:off x="8238600" y="2659525"/>
            <a:ext cx="3084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si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81"/>
          <p:cNvSpPr/>
          <p:nvPr/>
        </p:nvSpPr>
        <p:spPr>
          <a:xfrm>
            <a:off x="5066996" y="1526551"/>
            <a:ext cx="87300" cy="87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Comparing pie charts and bar charts</a:t>
            </a:r>
            <a:endParaRPr sz="1800"/>
          </a:p>
        </p:txBody>
      </p:sp>
      <p:graphicFrame>
        <p:nvGraphicFramePr>
          <p:cNvPr id="977" name="Google Shape;977;p82"/>
          <p:cNvGraphicFramePr/>
          <p:nvPr/>
        </p:nvGraphicFramePr>
        <p:xfrm>
          <a:off x="2950325" y="20384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{B157A083-1258-47E6-B07F-67E7B116B47C}</a:tableStyleId>
              </a:tblPr>
              <a:tblGrid>
                <a:gridCol w="3442425"/>
                <a:gridCol w="1192550"/>
                <a:gridCol w="919875"/>
              </a:tblGrid>
              <a:tr h="29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question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54000" marL="54000" anchor="ctr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how easy to answer?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54000" marL="54000" anchor="ctr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answer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54000" marL="54000" anchor="ctr">
                    <a:solidFill>
                      <a:srgbClr val="845AD9"/>
                    </a:solidFill>
                  </a:tcPr>
                </a:tc>
              </a:tr>
              <a:tr h="58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How many days were dry?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54000" marL="54000" anchor="ctr"/>
                </a:tc>
              </a:tr>
              <a:tr h="58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What percentage of days had heavy rain?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54000" marL="54000" anchor="ctr"/>
                </a:tc>
              </a:tr>
              <a:tr h="55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How many more days was it windy than snowy?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54000" marL="54000" anchor="ctr"/>
                </a:tc>
              </a:tr>
              <a:tr h="55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What weather condition occurred 25% of the time?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54000" marL="54000" anchor="ctr"/>
                </a:tc>
              </a:tr>
            </a:tbl>
          </a:graphicData>
        </a:graphic>
      </p:graphicFrame>
      <p:pic>
        <p:nvPicPr>
          <p:cNvPr id="978" name="Google Shape;978;p82"/>
          <p:cNvPicPr preferRelativeResize="0"/>
          <p:nvPr/>
        </p:nvPicPr>
        <p:blipFill rotWithShape="1">
          <a:blip r:embed="rId3">
            <a:alphaModFix/>
          </a:blip>
          <a:srcRect b="0" l="0" r="0" t="7227"/>
          <a:stretch/>
        </p:blipFill>
        <p:spPr>
          <a:xfrm>
            <a:off x="324000" y="1900635"/>
            <a:ext cx="2426249" cy="29166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79" name="Google Shape;979;p82"/>
          <p:cNvSpPr txBox="1"/>
          <p:nvPr/>
        </p:nvSpPr>
        <p:spPr>
          <a:xfrm>
            <a:off x="324000" y="659216"/>
            <a:ext cx="8496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How easy are these questions to answer from the bar chart? Write Q for ‘from a quick glance’, S for ‘with a single calculation’, or M for ‘with many calculations’.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If possible, answer each question.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Comparing pie charts and bar charts</a:t>
            </a:r>
            <a:endParaRPr sz="1800"/>
          </a:p>
        </p:txBody>
      </p:sp>
      <p:sp>
        <p:nvSpPr>
          <p:cNvPr id="985" name="Google Shape;985;p83"/>
          <p:cNvSpPr txBox="1"/>
          <p:nvPr/>
        </p:nvSpPr>
        <p:spPr>
          <a:xfrm>
            <a:off x="324000" y="726451"/>
            <a:ext cx="8496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Tick the statements that are easy to determine from a quick glance at the pie chart.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6" name="Google Shape;986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560850"/>
            <a:ext cx="2473700" cy="23844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987" name="Google Shape;987;p83"/>
          <p:cNvGrpSpPr/>
          <p:nvPr/>
        </p:nvGrpSpPr>
        <p:grpSpPr>
          <a:xfrm>
            <a:off x="2887197" y="1713243"/>
            <a:ext cx="386288" cy="386288"/>
            <a:chOff x="1020916" y="1442088"/>
            <a:chExt cx="457200" cy="457200"/>
          </a:xfrm>
        </p:grpSpPr>
        <p:pic>
          <p:nvPicPr>
            <p:cNvPr id="988" name="Google Shape;988;p8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9" name="Google Shape;989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90" name="Google Shape;990;p83"/>
          <p:cNvSpPr txBox="1"/>
          <p:nvPr/>
        </p:nvSpPr>
        <p:spPr>
          <a:xfrm>
            <a:off x="324000" y="3945325"/>
            <a:ext cx="2473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Pie chart showing students’ favourite colours.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p83"/>
          <p:cNvSpPr txBox="1"/>
          <p:nvPr/>
        </p:nvSpPr>
        <p:spPr>
          <a:xfrm>
            <a:off x="3372400" y="1767938"/>
            <a:ext cx="5447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Data were collected on a total of 288 students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2" name="Google Shape;992;p83"/>
          <p:cNvGrpSpPr/>
          <p:nvPr/>
        </p:nvGrpSpPr>
        <p:grpSpPr>
          <a:xfrm>
            <a:off x="2887197" y="2279618"/>
            <a:ext cx="386288" cy="386288"/>
            <a:chOff x="1020916" y="1442088"/>
            <a:chExt cx="457200" cy="457200"/>
          </a:xfrm>
        </p:grpSpPr>
        <p:pic>
          <p:nvPicPr>
            <p:cNvPr id="993" name="Google Shape;993;p8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4" name="Google Shape;994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95" name="Google Shape;995;p83"/>
          <p:cNvSpPr txBox="1"/>
          <p:nvPr/>
        </p:nvSpPr>
        <p:spPr>
          <a:xfrm>
            <a:off x="3372400" y="2334238"/>
            <a:ext cx="5447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quarter of students voted green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6" name="Google Shape;996;p83"/>
          <p:cNvGrpSpPr/>
          <p:nvPr/>
        </p:nvGrpSpPr>
        <p:grpSpPr>
          <a:xfrm>
            <a:off x="2887197" y="2845993"/>
            <a:ext cx="386288" cy="386288"/>
            <a:chOff x="1020916" y="1442088"/>
            <a:chExt cx="457200" cy="457200"/>
          </a:xfrm>
        </p:grpSpPr>
        <p:pic>
          <p:nvPicPr>
            <p:cNvPr id="997" name="Google Shape;997;p8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8" name="Google Shape;998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99" name="Google Shape;999;p83"/>
          <p:cNvSpPr txBox="1"/>
          <p:nvPr/>
        </p:nvSpPr>
        <p:spPr>
          <a:xfrm>
            <a:off x="3372400" y="2900538"/>
            <a:ext cx="5447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120 students voted blue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0" name="Google Shape;1000;p83"/>
          <p:cNvGrpSpPr/>
          <p:nvPr/>
        </p:nvGrpSpPr>
        <p:grpSpPr>
          <a:xfrm>
            <a:off x="2887197" y="3412368"/>
            <a:ext cx="386288" cy="386288"/>
            <a:chOff x="1020916" y="1442088"/>
            <a:chExt cx="457200" cy="457200"/>
          </a:xfrm>
        </p:grpSpPr>
        <p:pic>
          <p:nvPicPr>
            <p:cNvPr id="1001" name="Google Shape;1001;p8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2" name="Google Shape;1002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03" name="Google Shape;1003;p83"/>
          <p:cNvSpPr txBox="1"/>
          <p:nvPr/>
        </p:nvSpPr>
        <p:spPr>
          <a:xfrm>
            <a:off x="3372400" y="3466838"/>
            <a:ext cx="5447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modal colour was blue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4" name="Google Shape;1004;p83"/>
          <p:cNvGrpSpPr/>
          <p:nvPr/>
        </p:nvGrpSpPr>
        <p:grpSpPr>
          <a:xfrm>
            <a:off x="2887197" y="3978743"/>
            <a:ext cx="386288" cy="386288"/>
            <a:chOff x="1020916" y="1442088"/>
            <a:chExt cx="457200" cy="457200"/>
          </a:xfrm>
        </p:grpSpPr>
        <p:pic>
          <p:nvPicPr>
            <p:cNvPr id="1005" name="Google Shape;1005;p8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6" name="Google Shape;1006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07" name="Google Shape;1007;p83"/>
          <p:cNvSpPr txBox="1"/>
          <p:nvPr/>
        </p:nvSpPr>
        <p:spPr>
          <a:xfrm>
            <a:off x="3372400" y="4033138"/>
            <a:ext cx="5447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Under half of students voted purple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8" name="Google Shape;1008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18533" y="22633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9" name="Google Shape;1009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51433" y="33959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0" name="Google Shape;1010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49908" y="3962338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83"/>
          <p:cNvSpPr/>
          <p:nvPr/>
        </p:nvSpPr>
        <p:spPr>
          <a:xfrm>
            <a:off x="1563308" y="2612262"/>
            <a:ext cx="139500" cy="13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Comparing pie charts and bar charts</a:t>
            </a:r>
            <a:endParaRPr sz="1800"/>
          </a:p>
        </p:txBody>
      </p:sp>
      <p:graphicFrame>
        <p:nvGraphicFramePr>
          <p:cNvPr id="1017" name="Google Shape;1017;p84"/>
          <p:cNvGraphicFramePr/>
          <p:nvPr/>
        </p:nvGraphicFramePr>
        <p:xfrm>
          <a:off x="323975" y="3057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{B157A083-1258-47E6-B07F-67E7B116B47C}</a:tableStyleId>
              </a:tblPr>
              <a:tblGrid>
                <a:gridCol w="5669925"/>
                <a:gridCol w="1215700"/>
                <a:gridCol w="1215700"/>
              </a:tblGrid>
              <a:tr h="28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question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pie chart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bar chart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solidFill>
                      <a:srgbClr val="845AD9"/>
                    </a:solidFill>
                  </a:tcPr>
                </a:tc>
              </a:tr>
              <a:tr h="343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What was the modal method of staying dry?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raincoat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raincoat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91425" marL="91425" anchor="ctr"/>
                </a:tc>
              </a:tr>
              <a:tr h="56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Which method of staying dry did 25% of people choose?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umbrella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91425" marL="91425" anchor="ctr"/>
                </a:tc>
              </a:tr>
              <a:tr h="56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True or false: more than 50% of people voted raincoat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false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91425" marL="91425" anchor="ctr"/>
                </a:tc>
              </a:tr>
            </a:tbl>
          </a:graphicData>
        </a:graphic>
      </p:graphicFrame>
      <p:pic>
        <p:nvPicPr>
          <p:cNvPr id="1018" name="Google Shape;1018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7900" y="695475"/>
            <a:ext cx="2054892" cy="183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9" name="Google Shape;1019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1150" y="695575"/>
            <a:ext cx="2618850" cy="216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84"/>
          <p:cNvSpPr txBox="1"/>
          <p:nvPr/>
        </p:nvSpPr>
        <p:spPr>
          <a:xfrm>
            <a:off x="6995750" y="2659525"/>
            <a:ext cx="3084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84"/>
          <p:cNvSpPr txBox="1"/>
          <p:nvPr/>
        </p:nvSpPr>
        <p:spPr>
          <a:xfrm>
            <a:off x="7617175" y="2659525"/>
            <a:ext cx="3084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84"/>
          <p:cNvSpPr txBox="1"/>
          <p:nvPr/>
        </p:nvSpPr>
        <p:spPr>
          <a:xfrm>
            <a:off x="8238600" y="2659525"/>
            <a:ext cx="3084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si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84"/>
          <p:cNvSpPr/>
          <p:nvPr/>
        </p:nvSpPr>
        <p:spPr>
          <a:xfrm>
            <a:off x="5066996" y="1526551"/>
            <a:ext cx="87300" cy="87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84"/>
          <p:cNvSpPr txBox="1"/>
          <p:nvPr/>
        </p:nvSpPr>
        <p:spPr>
          <a:xfrm>
            <a:off x="324000" y="650250"/>
            <a:ext cx="3669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Both charts show “methods of staying dry”.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Answer each question in either the “pie chart” or “bar chart” column to show which chart you used to find the answer.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Comparing pie charts and bar charts</a:t>
            </a:r>
            <a:endParaRPr sz="1800"/>
          </a:p>
        </p:txBody>
      </p:sp>
      <p:graphicFrame>
        <p:nvGraphicFramePr>
          <p:cNvPr id="1030" name="Google Shape;1030;p85"/>
          <p:cNvGraphicFramePr/>
          <p:nvPr/>
        </p:nvGraphicFramePr>
        <p:xfrm>
          <a:off x="323975" y="3057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{B157A083-1258-47E6-B07F-67E7B116B47C}</a:tableStyleId>
              </a:tblPr>
              <a:tblGrid>
                <a:gridCol w="5669925"/>
                <a:gridCol w="1215700"/>
                <a:gridCol w="1215700"/>
              </a:tblGrid>
              <a:tr h="28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question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pie chart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bar chart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43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How many more people voted for raincoat than umbrella?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250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How many people were asked in total?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1400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31" name="Google Shape;1031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7900" y="695475"/>
            <a:ext cx="2054892" cy="183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1150" y="695575"/>
            <a:ext cx="2618850" cy="216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85"/>
          <p:cNvSpPr txBox="1"/>
          <p:nvPr/>
        </p:nvSpPr>
        <p:spPr>
          <a:xfrm>
            <a:off x="6995750" y="2659525"/>
            <a:ext cx="3084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85"/>
          <p:cNvSpPr txBox="1"/>
          <p:nvPr/>
        </p:nvSpPr>
        <p:spPr>
          <a:xfrm>
            <a:off x="7617175" y="2659525"/>
            <a:ext cx="3084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85"/>
          <p:cNvSpPr txBox="1"/>
          <p:nvPr/>
        </p:nvSpPr>
        <p:spPr>
          <a:xfrm>
            <a:off x="8238600" y="2659525"/>
            <a:ext cx="3084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si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85"/>
          <p:cNvSpPr/>
          <p:nvPr/>
        </p:nvSpPr>
        <p:spPr>
          <a:xfrm>
            <a:off x="5066996" y="1526551"/>
            <a:ext cx="87300" cy="87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85"/>
          <p:cNvSpPr txBox="1"/>
          <p:nvPr/>
        </p:nvSpPr>
        <p:spPr>
          <a:xfrm>
            <a:off x="324000" y="650250"/>
            <a:ext cx="3669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Both charts show “methods of staying dry”.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Answer each question in either the “pie chart” or “bar chart” column to show which chart you used to find the answer.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Comparing pie charts and bar charts</a:t>
            </a:r>
            <a:endParaRPr sz="1800"/>
          </a:p>
        </p:txBody>
      </p:sp>
      <p:graphicFrame>
        <p:nvGraphicFramePr>
          <p:cNvPr id="1043" name="Google Shape;1043;p86"/>
          <p:cNvGraphicFramePr/>
          <p:nvPr/>
        </p:nvGraphicFramePr>
        <p:xfrm>
          <a:off x="2950325" y="20384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{B157A083-1258-47E6-B07F-67E7B116B47C}</a:tableStyleId>
              </a:tblPr>
              <a:tblGrid>
                <a:gridCol w="3442425"/>
                <a:gridCol w="1192550"/>
                <a:gridCol w="919875"/>
              </a:tblGrid>
              <a:tr h="29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question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54000" marL="54000" anchor="ctr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how easy to answer?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54000" marL="54000" anchor="ctr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answer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54000" marL="54000" anchor="ctr">
                    <a:solidFill>
                      <a:srgbClr val="845AD9"/>
                    </a:solidFill>
                  </a:tcPr>
                </a:tc>
              </a:tr>
              <a:tr h="58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How many days were dry?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Q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54000" marL="54000" anchor="ctr"/>
                </a:tc>
              </a:tr>
              <a:tr h="58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What percentage of days had heavy rain?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M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20%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54000" marL="54000" anchor="ctr"/>
                </a:tc>
              </a:tr>
              <a:tr h="55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How many more days was it windy than snowy?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S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54000" marL="54000" anchor="ctr"/>
                </a:tc>
              </a:tr>
              <a:tr h="55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What weather condition occurred 25% of the time?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M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dry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54000" marL="54000" anchor="ctr"/>
                </a:tc>
              </a:tr>
            </a:tbl>
          </a:graphicData>
        </a:graphic>
      </p:graphicFrame>
      <p:pic>
        <p:nvPicPr>
          <p:cNvPr id="1044" name="Google Shape;1044;p86"/>
          <p:cNvPicPr preferRelativeResize="0"/>
          <p:nvPr/>
        </p:nvPicPr>
        <p:blipFill rotWithShape="1">
          <a:blip r:embed="rId3">
            <a:alphaModFix/>
          </a:blip>
          <a:srcRect b="0" l="0" r="0" t="7227"/>
          <a:stretch/>
        </p:blipFill>
        <p:spPr>
          <a:xfrm>
            <a:off x="324000" y="1900635"/>
            <a:ext cx="2426249" cy="29166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45" name="Google Shape;1045;p86"/>
          <p:cNvSpPr txBox="1"/>
          <p:nvPr/>
        </p:nvSpPr>
        <p:spPr>
          <a:xfrm>
            <a:off x="324000" y="659216"/>
            <a:ext cx="8496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How easy are these questions to answer from the bar chart? Write Q for ‘from a quick glance’, S for ‘with a single calculation’, or M for ‘with many calculations’.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possible, answer each question.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8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pie charts and bar charts</a:t>
            </a:r>
            <a:endParaRPr/>
          </a:p>
        </p:txBody>
      </p:sp>
      <p:sp>
        <p:nvSpPr>
          <p:cNvPr id="1051" name="Google Shape;1051;p8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statistical representations</a:t>
            </a:r>
            <a:endParaRPr/>
          </a:p>
        </p:txBody>
      </p:sp>
      <p:sp>
        <p:nvSpPr>
          <p:cNvPr id="1052" name="Google Shape;1052;p8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Matching information between pie and bar charts</a:t>
            </a:r>
            <a:endParaRPr/>
          </a:p>
        </p:txBody>
      </p:sp>
      <p:pic>
        <p:nvPicPr>
          <p:cNvPr id="1053" name="Google Shape;1053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625" y="300338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Matching information between pie and bar charts</a:t>
            </a:r>
            <a:endParaRPr/>
          </a:p>
        </p:txBody>
      </p:sp>
      <p:sp>
        <p:nvSpPr>
          <p:cNvPr id="1059" name="Google Shape;1059;p88"/>
          <p:cNvSpPr txBox="1"/>
          <p:nvPr/>
        </p:nvSpPr>
        <p:spPr>
          <a:xfrm>
            <a:off x="6936150" y="760025"/>
            <a:ext cx="1884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incomplete bar chart represents the same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data set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as this complete pie chart.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60" name="Google Shape;1060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8275" y="760025"/>
            <a:ext cx="3254275" cy="30151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61" name="Google Shape;1061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760025"/>
            <a:ext cx="3254275" cy="30199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62" name="Google Shape;1062;p88"/>
          <p:cNvSpPr txBox="1"/>
          <p:nvPr/>
        </p:nvSpPr>
        <p:spPr>
          <a:xfrm>
            <a:off x="6936150" y="2967200"/>
            <a:ext cx="1884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Complete the bar chart.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63" name="Google Shape;1063;p88"/>
          <p:cNvGrpSpPr/>
          <p:nvPr/>
        </p:nvGrpSpPr>
        <p:grpSpPr>
          <a:xfrm rot="5400000">
            <a:off x="4332907" y="1468140"/>
            <a:ext cx="3070096" cy="1653167"/>
            <a:chOff x="5705511" y="2134572"/>
            <a:chExt cx="2081703" cy="1120943"/>
          </a:xfrm>
        </p:grpSpPr>
        <p:pic>
          <p:nvPicPr>
            <p:cNvPr id="1064" name="Google Shape;1064;p8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763511" y="2277698"/>
              <a:ext cx="1933599" cy="9778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5" name="Google Shape;1065;p88"/>
            <p:cNvSpPr/>
            <p:nvPr/>
          </p:nvSpPr>
          <p:spPr>
            <a:xfrm>
              <a:off x="5705511" y="3095082"/>
              <a:ext cx="208800" cy="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GB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0°</a:t>
              </a:r>
              <a:endParaRPr b="0" i="0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6" name="Google Shape;1066;p88"/>
            <p:cNvSpPr/>
            <p:nvPr/>
          </p:nvSpPr>
          <p:spPr>
            <a:xfrm>
              <a:off x="6624720" y="2191726"/>
              <a:ext cx="208800" cy="12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GB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90°</a:t>
              </a:r>
              <a:endParaRPr b="0" i="0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7" name="Google Shape;1067;p88"/>
            <p:cNvSpPr/>
            <p:nvPr/>
          </p:nvSpPr>
          <p:spPr>
            <a:xfrm flipH="1">
              <a:off x="7578414" y="3095082"/>
              <a:ext cx="208800" cy="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GB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180°</a:t>
              </a:r>
              <a:endParaRPr b="0" i="0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8" name="Google Shape;1068;p88"/>
            <p:cNvSpPr/>
            <p:nvPr/>
          </p:nvSpPr>
          <p:spPr>
            <a:xfrm flipH="1" rot="-899705">
              <a:off x="7550089" y="2921305"/>
              <a:ext cx="208707" cy="90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GB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170°</a:t>
              </a:r>
              <a:endParaRPr b="0" i="0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9" name="Google Shape;1069;p88"/>
            <p:cNvSpPr/>
            <p:nvPr/>
          </p:nvSpPr>
          <p:spPr>
            <a:xfrm flipH="1" rot="-899705">
              <a:off x="7497832" y="2779749"/>
              <a:ext cx="208707" cy="90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GB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160°</a:t>
              </a:r>
              <a:endParaRPr b="0" i="0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0" name="Google Shape;1070;p88"/>
            <p:cNvSpPr/>
            <p:nvPr/>
          </p:nvSpPr>
          <p:spPr>
            <a:xfrm flipH="1" rot="-1799392">
              <a:off x="7424609" y="2627483"/>
              <a:ext cx="208864" cy="907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GB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150°</a:t>
              </a:r>
              <a:endParaRPr b="0" i="0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1" name="Google Shape;1071;p88"/>
            <p:cNvSpPr/>
            <p:nvPr/>
          </p:nvSpPr>
          <p:spPr>
            <a:xfrm flipH="1" rot="-2700000">
              <a:off x="7333801" y="2490445"/>
              <a:ext cx="208738" cy="90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GB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140°</a:t>
              </a:r>
              <a:endParaRPr b="0" i="0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2" name="Google Shape;1072;p88"/>
            <p:cNvSpPr/>
            <p:nvPr/>
          </p:nvSpPr>
          <p:spPr>
            <a:xfrm flipH="1" rot="-2700000">
              <a:off x="7223943" y="2386218"/>
              <a:ext cx="208738" cy="90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GB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130°</a:t>
              </a:r>
              <a:endParaRPr b="0" i="0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3" name="Google Shape;1073;p88"/>
            <p:cNvSpPr/>
            <p:nvPr/>
          </p:nvSpPr>
          <p:spPr>
            <a:xfrm flipH="1" rot="-2700000">
              <a:off x="7115479" y="2302008"/>
              <a:ext cx="208738" cy="90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GB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120°</a:t>
              </a:r>
              <a:endParaRPr b="0" i="0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4" name="Google Shape;1074;p88"/>
            <p:cNvSpPr/>
            <p:nvPr/>
          </p:nvSpPr>
          <p:spPr>
            <a:xfrm flipH="1" rot="-2700000">
              <a:off x="6984735" y="2240472"/>
              <a:ext cx="208738" cy="90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GB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110°</a:t>
              </a:r>
              <a:endParaRPr b="0" i="0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5" name="Google Shape;1075;p88"/>
            <p:cNvSpPr/>
            <p:nvPr/>
          </p:nvSpPr>
          <p:spPr>
            <a:xfrm flipH="1" rot="-2700000">
              <a:off x="6834905" y="2195076"/>
              <a:ext cx="208738" cy="90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GB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100°</a:t>
              </a:r>
              <a:endParaRPr b="0" i="0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76" name="Google Shape;1076;p88"/>
            <p:cNvGrpSpPr/>
            <p:nvPr/>
          </p:nvGrpSpPr>
          <p:grpSpPr>
            <a:xfrm flipH="1">
              <a:off x="5716786" y="2170288"/>
              <a:ext cx="930273" cy="888583"/>
              <a:chOff x="5430598" y="2148858"/>
              <a:chExt cx="930273" cy="888583"/>
            </a:xfrm>
          </p:grpSpPr>
          <p:sp>
            <p:nvSpPr>
              <p:cNvPr id="1077" name="Google Shape;1077;p88"/>
              <p:cNvSpPr/>
              <p:nvPr/>
            </p:nvSpPr>
            <p:spPr>
              <a:xfrm flipH="1" rot="-899705">
                <a:off x="6144018" y="2921305"/>
                <a:ext cx="208707" cy="906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-GB" sz="900" u="none" cap="none" strike="noStrike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10°</a:t>
                </a:r>
                <a:endParaRPr b="0" i="0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78" name="Google Shape;1078;p88"/>
              <p:cNvSpPr/>
              <p:nvPr/>
            </p:nvSpPr>
            <p:spPr>
              <a:xfrm flipH="1" rot="-899705">
                <a:off x="6101285" y="2782130"/>
                <a:ext cx="208707" cy="906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-GB" sz="900" u="none" cap="none" strike="noStrike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20°</a:t>
                </a:r>
                <a:endParaRPr b="0" i="0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79" name="Google Shape;1079;p88"/>
              <p:cNvSpPr/>
              <p:nvPr/>
            </p:nvSpPr>
            <p:spPr>
              <a:xfrm flipH="1" rot="-1799392">
                <a:off x="6032824" y="2627483"/>
                <a:ext cx="208864" cy="90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-GB" sz="900" u="none" cap="none" strike="noStrike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30°</a:t>
                </a:r>
                <a:endParaRPr b="0" i="0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80" name="Google Shape;1080;p88"/>
              <p:cNvSpPr/>
              <p:nvPr/>
            </p:nvSpPr>
            <p:spPr>
              <a:xfrm flipH="1" rot="-2700000">
                <a:off x="5943712" y="2499512"/>
                <a:ext cx="208738" cy="907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-GB" sz="900" u="none" cap="none" strike="noStrike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40°</a:t>
                </a:r>
                <a:endParaRPr b="0" i="0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81" name="Google Shape;1081;p88"/>
              <p:cNvSpPr/>
              <p:nvPr/>
            </p:nvSpPr>
            <p:spPr>
              <a:xfrm flipH="1" rot="-2700000">
                <a:off x="5838614" y="2388371"/>
                <a:ext cx="208738" cy="907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-GB" sz="900" u="none" cap="none" strike="noStrike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50°</a:t>
                </a:r>
                <a:endParaRPr b="0" i="0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82" name="Google Shape;1082;p88"/>
              <p:cNvSpPr/>
              <p:nvPr/>
            </p:nvSpPr>
            <p:spPr>
              <a:xfrm flipH="1" rot="-2700000">
                <a:off x="5719388" y="2302694"/>
                <a:ext cx="208738" cy="907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-GB" sz="900" u="none" cap="none" strike="noStrike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60°</a:t>
                </a:r>
                <a:endParaRPr b="0" i="0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83" name="Google Shape;1083;p88"/>
              <p:cNvSpPr/>
              <p:nvPr/>
            </p:nvSpPr>
            <p:spPr>
              <a:xfrm flipH="1" rot="-2700000">
                <a:off x="5584339" y="2236166"/>
                <a:ext cx="208738" cy="907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-GB" sz="900" u="none" cap="none" strike="noStrike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70°</a:t>
                </a:r>
                <a:endParaRPr b="0" i="0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84" name="Google Shape;1084;p88"/>
              <p:cNvSpPr/>
              <p:nvPr/>
            </p:nvSpPr>
            <p:spPr>
              <a:xfrm flipH="1" rot="-2700000">
                <a:off x="5432129" y="2209362"/>
                <a:ext cx="208738" cy="907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-GB" sz="900" u="none" cap="none" strike="noStrike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80°</a:t>
                </a:r>
                <a:endParaRPr b="0" i="0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085" name="Google Shape;1085;p88"/>
          <p:cNvSpPr txBox="1"/>
          <p:nvPr/>
        </p:nvSpPr>
        <p:spPr>
          <a:xfrm>
            <a:off x="324000" y="3850325"/>
            <a:ext cx="8496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Use a protractor to measure the size of some angles.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will help you spot possible relationships between different subgroups.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88"/>
          <p:cNvSpPr txBox="1"/>
          <p:nvPr/>
        </p:nvSpPr>
        <p:spPr>
          <a:xfrm>
            <a:off x="5372750" y="2251050"/>
            <a:ext cx="1046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7" name="Google Shape;1087;p88"/>
          <p:cNvSpPr txBox="1"/>
          <p:nvPr/>
        </p:nvSpPr>
        <p:spPr>
          <a:xfrm>
            <a:off x="4824000" y="2842264"/>
            <a:ext cx="1046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88"/>
          <p:cNvSpPr txBox="1"/>
          <p:nvPr/>
        </p:nvSpPr>
        <p:spPr>
          <a:xfrm>
            <a:off x="4392032" y="2789725"/>
            <a:ext cx="566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88"/>
          <p:cNvSpPr txBox="1"/>
          <p:nvPr/>
        </p:nvSpPr>
        <p:spPr>
          <a:xfrm>
            <a:off x="4462137" y="1853932"/>
            <a:ext cx="566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90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Matching information between pie and bar charts</a:t>
            </a:r>
            <a:endParaRPr/>
          </a:p>
        </p:txBody>
      </p:sp>
      <p:sp>
        <p:nvSpPr>
          <p:cNvPr id="1095" name="Google Shape;1095;p89"/>
          <p:cNvSpPr txBox="1"/>
          <p:nvPr/>
        </p:nvSpPr>
        <p:spPr>
          <a:xfrm>
            <a:off x="6936150" y="760025"/>
            <a:ext cx="1884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incomplete bar chart represents the same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data set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as this complete pie chart.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96" name="Google Shape;1096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8275" y="760025"/>
            <a:ext cx="3254275" cy="30151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97" name="Google Shape;1097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760025"/>
            <a:ext cx="3254275" cy="30199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98" name="Google Shape;1098;p89"/>
          <p:cNvSpPr txBox="1"/>
          <p:nvPr/>
        </p:nvSpPr>
        <p:spPr>
          <a:xfrm>
            <a:off x="6936150" y="2967200"/>
            <a:ext cx="1884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Complete the bar chart.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89"/>
          <p:cNvSpPr txBox="1"/>
          <p:nvPr/>
        </p:nvSpPr>
        <p:spPr>
          <a:xfrm>
            <a:off x="324000" y="3850325"/>
            <a:ext cx="8496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Notice how coffee is half the angle of water.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means that coffee on the bar chart will be half the height of water.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89"/>
          <p:cNvSpPr txBox="1"/>
          <p:nvPr/>
        </p:nvSpPr>
        <p:spPr>
          <a:xfrm>
            <a:off x="5372750" y="2251050"/>
            <a:ext cx="1046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89"/>
          <p:cNvSpPr txBox="1"/>
          <p:nvPr/>
        </p:nvSpPr>
        <p:spPr>
          <a:xfrm>
            <a:off x="4824000" y="2842264"/>
            <a:ext cx="1046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89"/>
          <p:cNvSpPr txBox="1"/>
          <p:nvPr/>
        </p:nvSpPr>
        <p:spPr>
          <a:xfrm>
            <a:off x="4462137" y="1853932"/>
            <a:ext cx="566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89"/>
          <p:cNvSpPr/>
          <p:nvPr/>
        </p:nvSpPr>
        <p:spPr>
          <a:xfrm>
            <a:off x="1633625" y="2592150"/>
            <a:ext cx="323400" cy="550500"/>
          </a:xfrm>
          <a:prstGeom prst="rect">
            <a:avLst/>
          </a:prstGeom>
          <a:solidFill>
            <a:schemeClr val="accent4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89"/>
          <p:cNvSpPr txBox="1"/>
          <p:nvPr/>
        </p:nvSpPr>
        <p:spPr>
          <a:xfrm>
            <a:off x="4392032" y="2789725"/>
            <a:ext cx="566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89"/>
          <p:cNvSpPr/>
          <p:nvPr/>
        </p:nvSpPr>
        <p:spPr>
          <a:xfrm>
            <a:off x="4917425" y="2809900"/>
            <a:ext cx="821400" cy="6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89"/>
          <p:cNvSpPr/>
          <p:nvPr/>
        </p:nvSpPr>
        <p:spPr>
          <a:xfrm>
            <a:off x="4304759" y="1584575"/>
            <a:ext cx="821400" cy="6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Matching information between pie and bar charts</a:t>
            </a:r>
            <a:endParaRPr/>
          </a:p>
        </p:txBody>
      </p:sp>
      <p:sp>
        <p:nvSpPr>
          <p:cNvPr id="1112" name="Google Shape;1112;p90"/>
          <p:cNvSpPr txBox="1"/>
          <p:nvPr/>
        </p:nvSpPr>
        <p:spPr>
          <a:xfrm>
            <a:off x="6936150" y="760025"/>
            <a:ext cx="1884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incomplete bar chart represents the same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data set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as this complete pie chart.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3" name="Google Shape;1113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8275" y="760025"/>
            <a:ext cx="3254275" cy="30151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14" name="Google Shape;1114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760025"/>
            <a:ext cx="3254275" cy="30199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15" name="Google Shape;1115;p90"/>
          <p:cNvSpPr txBox="1"/>
          <p:nvPr/>
        </p:nvSpPr>
        <p:spPr>
          <a:xfrm>
            <a:off x="6936150" y="2967200"/>
            <a:ext cx="1884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Complete the bar chart.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90"/>
          <p:cNvSpPr txBox="1"/>
          <p:nvPr/>
        </p:nvSpPr>
        <p:spPr>
          <a:xfrm>
            <a:off x="324000" y="3850325"/>
            <a:ext cx="8496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same applies for juice being half the height of tea.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90"/>
          <p:cNvSpPr txBox="1"/>
          <p:nvPr/>
        </p:nvSpPr>
        <p:spPr>
          <a:xfrm>
            <a:off x="5372750" y="2251050"/>
            <a:ext cx="1046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8" name="Google Shape;1118;p90"/>
          <p:cNvSpPr txBox="1"/>
          <p:nvPr/>
        </p:nvSpPr>
        <p:spPr>
          <a:xfrm>
            <a:off x="4824000" y="2842264"/>
            <a:ext cx="1046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90"/>
          <p:cNvSpPr txBox="1"/>
          <p:nvPr/>
        </p:nvSpPr>
        <p:spPr>
          <a:xfrm>
            <a:off x="4462137" y="1853932"/>
            <a:ext cx="566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90"/>
          <p:cNvSpPr/>
          <p:nvPr/>
        </p:nvSpPr>
        <p:spPr>
          <a:xfrm>
            <a:off x="1633625" y="2592150"/>
            <a:ext cx="323400" cy="550500"/>
          </a:xfrm>
          <a:prstGeom prst="rect">
            <a:avLst/>
          </a:prstGeom>
          <a:solidFill>
            <a:schemeClr val="accent4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90"/>
          <p:cNvSpPr/>
          <p:nvPr/>
        </p:nvSpPr>
        <p:spPr>
          <a:xfrm>
            <a:off x="2298350" y="2216875"/>
            <a:ext cx="323400" cy="925800"/>
          </a:xfrm>
          <a:prstGeom prst="rect">
            <a:avLst/>
          </a:prstGeom>
          <a:solidFill>
            <a:schemeClr val="accent4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90"/>
          <p:cNvSpPr txBox="1"/>
          <p:nvPr/>
        </p:nvSpPr>
        <p:spPr>
          <a:xfrm>
            <a:off x="4392032" y="2789725"/>
            <a:ext cx="566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75°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90"/>
          <p:cNvSpPr/>
          <p:nvPr/>
        </p:nvSpPr>
        <p:spPr>
          <a:xfrm>
            <a:off x="5449764" y="1925172"/>
            <a:ext cx="821400" cy="6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90"/>
          <p:cNvSpPr/>
          <p:nvPr/>
        </p:nvSpPr>
        <p:spPr>
          <a:xfrm>
            <a:off x="4213814" y="2495534"/>
            <a:ext cx="821400" cy="6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Matching information between pie and bar charts</a:t>
            </a:r>
            <a:endParaRPr/>
          </a:p>
        </p:txBody>
      </p:sp>
      <p:pic>
        <p:nvPicPr>
          <p:cNvPr id="1130" name="Google Shape;1130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4225" y="765900"/>
            <a:ext cx="3227491" cy="3014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31" name="Google Shape;1131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8" y="765900"/>
            <a:ext cx="2410214" cy="30140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32" name="Google Shape;1132;p91"/>
          <p:cNvSpPr txBox="1"/>
          <p:nvPr/>
        </p:nvSpPr>
        <p:spPr>
          <a:xfrm>
            <a:off x="6063675" y="765900"/>
            <a:ext cx="2756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two drinks were equally frequent?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3" name="Google Shape;1133;p91"/>
          <p:cNvSpPr txBox="1"/>
          <p:nvPr/>
        </p:nvSpPr>
        <p:spPr>
          <a:xfrm>
            <a:off x="324000" y="3844525"/>
            <a:ext cx="5637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Both the pie chart and bar chart show a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data set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“drinks students have in their lunchbox”.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p91"/>
          <p:cNvSpPr txBox="1"/>
          <p:nvPr/>
        </p:nvSpPr>
        <p:spPr>
          <a:xfrm>
            <a:off x="6514425" y="1701400"/>
            <a:ext cx="2305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ater and juice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Matching information between pie and bar charts</a:t>
            </a:r>
            <a:endParaRPr/>
          </a:p>
        </p:txBody>
      </p:sp>
      <p:pic>
        <p:nvPicPr>
          <p:cNvPr id="1140" name="Google Shape;1140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4225" y="765900"/>
            <a:ext cx="3227491" cy="3014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41" name="Google Shape;1141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8" y="765900"/>
            <a:ext cx="2410214" cy="30140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42" name="Google Shape;1142;p92"/>
          <p:cNvSpPr txBox="1"/>
          <p:nvPr/>
        </p:nvSpPr>
        <p:spPr>
          <a:xfrm>
            <a:off x="6063675" y="765900"/>
            <a:ext cx="2756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many squares tall should the bar on the bar chart representing water be?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92"/>
          <p:cNvSpPr txBox="1"/>
          <p:nvPr/>
        </p:nvSpPr>
        <p:spPr>
          <a:xfrm>
            <a:off x="324000" y="3844525"/>
            <a:ext cx="5637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Both the pie chart and bar chart show a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data set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“drinks students have in their lunchbox”.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4" name="Google Shape;1144;p92"/>
          <p:cNvSpPr txBox="1"/>
          <p:nvPr/>
        </p:nvSpPr>
        <p:spPr>
          <a:xfrm>
            <a:off x="6514425" y="2244325"/>
            <a:ext cx="2305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 squares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5" name="Google Shape;1145;p92"/>
          <p:cNvSpPr/>
          <p:nvPr/>
        </p:nvSpPr>
        <p:spPr>
          <a:xfrm>
            <a:off x="928200" y="1413900"/>
            <a:ext cx="221400" cy="1380900"/>
          </a:xfrm>
          <a:prstGeom prst="rect">
            <a:avLst/>
          </a:prstGeom>
          <a:solidFill>
            <a:schemeClr val="accent4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Matching information between pie and bar charts</a:t>
            </a:r>
            <a:endParaRPr/>
          </a:p>
        </p:txBody>
      </p:sp>
      <p:sp>
        <p:nvSpPr>
          <p:cNvPr id="1151" name="Google Shape;1151;p93"/>
          <p:cNvSpPr txBox="1"/>
          <p:nvPr/>
        </p:nvSpPr>
        <p:spPr>
          <a:xfrm>
            <a:off x="6063675" y="765900"/>
            <a:ext cx="2756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angles for milkshake and fizzy are measured.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many squares tall should the bar on the bar chart representing milkshake be?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52" name="Google Shape;1152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4225" y="765900"/>
            <a:ext cx="3227491" cy="3014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53" name="Google Shape;1153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8" y="765900"/>
            <a:ext cx="2410214" cy="30140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54" name="Google Shape;1154;p93"/>
          <p:cNvSpPr txBox="1"/>
          <p:nvPr/>
        </p:nvSpPr>
        <p:spPr>
          <a:xfrm>
            <a:off x="324000" y="3844525"/>
            <a:ext cx="5637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Both the pie chart and bar chart show a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data set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“drinks students have in their lunchbox”.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5" name="Google Shape;1155;p93"/>
          <p:cNvSpPr/>
          <p:nvPr/>
        </p:nvSpPr>
        <p:spPr>
          <a:xfrm>
            <a:off x="928200" y="1413900"/>
            <a:ext cx="221400" cy="1380900"/>
          </a:xfrm>
          <a:prstGeom prst="rect">
            <a:avLst/>
          </a:prstGeom>
          <a:solidFill>
            <a:schemeClr val="accent4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6" name="Google Shape;1156;p93"/>
          <p:cNvSpPr txBox="1"/>
          <p:nvPr/>
        </p:nvSpPr>
        <p:spPr>
          <a:xfrm>
            <a:off x="6063525" y="3006325"/>
            <a:ext cx="2756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ilkshake has an angle double that of fizzy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ouble 6 squares is     12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squares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7" name="Google Shape;1157;p93"/>
          <p:cNvSpPr txBox="1"/>
          <p:nvPr/>
        </p:nvSpPr>
        <p:spPr>
          <a:xfrm>
            <a:off x="3295850" y="2658725"/>
            <a:ext cx="905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93"/>
          <p:cNvSpPr txBox="1"/>
          <p:nvPr/>
        </p:nvSpPr>
        <p:spPr>
          <a:xfrm>
            <a:off x="3585000" y="1299300"/>
            <a:ext cx="905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93"/>
          <p:cNvSpPr/>
          <p:nvPr/>
        </p:nvSpPr>
        <p:spPr>
          <a:xfrm>
            <a:off x="1824025" y="952500"/>
            <a:ext cx="221400" cy="1842300"/>
          </a:xfrm>
          <a:prstGeom prst="rect">
            <a:avLst/>
          </a:prstGeom>
          <a:solidFill>
            <a:schemeClr val="accent4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Matching information between pie and bar charts</a:t>
            </a:r>
            <a:endParaRPr sz="1800"/>
          </a:p>
        </p:txBody>
      </p:sp>
      <p:sp>
        <p:nvSpPr>
          <p:cNvPr id="1165" name="Google Shape;1165;p94"/>
          <p:cNvSpPr txBox="1"/>
          <p:nvPr/>
        </p:nvSpPr>
        <p:spPr>
          <a:xfrm>
            <a:off x="324000" y="4196065"/>
            <a:ext cx="8496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Hence, draw the bar on the bar chart that represents the number of people who voted for dinner.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6" name="Google Shape;1166;p94"/>
          <p:cNvSpPr txBox="1"/>
          <p:nvPr/>
        </p:nvSpPr>
        <p:spPr>
          <a:xfrm>
            <a:off x="324000" y="3510453"/>
            <a:ext cx="8496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Using information from the pie chart, how many times more people voted for dinner than lunch?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67" name="Google Shape;1167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642664"/>
            <a:ext cx="2708373" cy="252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68" name="Google Shape;1168;p94"/>
          <p:cNvSpPr txBox="1"/>
          <p:nvPr/>
        </p:nvSpPr>
        <p:spPr>
          <a:xfrm>
            <a:off x="5995650" y="765900"/>
            <a:ext cx="2824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Both the pie chart and bar chart show the same information about students’ favourite meals.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angles on the pie chart have been measured.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69" name="Google Shape;1169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2373" y="642664"/>
            <a:ext cx="2865056" cy="252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70" name="Google Shape;1170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3998" y="642675"/>
            <a:ext cx="2708374" cy="252928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71" name="Google Shape;1171;p94"/>
          <p:cNvPicPr preferRelativeResize="0"/>
          <p:nvPr/>
        </p:nvPicPr>
        <p:blipFill rotWithShape="1">
          <a:blip r:embed="rId6">
            <a:alphaModFix/>
          </a:blip>
          <a:srcRect b="3450" l="0" r="0" t="2022"/>
          <a:stretch/>
        </p:blipFill>
        <p:spPr>
          <a:xfrm>
            <a:off x="3032375" y="642675"/>
            <a:ext cx="2865050" cy="25292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72" name="Google Shape;1172;p94"/>
          <p:cNvSpPr txBox="1"/>
          <p:nvPr/>
        </p:nvSpPr>
        <p:spPr>
          <a:xfrm>
            <a:off x="731046" y="1629739"/>
            <a:ext cx="858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3" name="Google Shape;1173;p94"/>
          <p:cNvSpPr txBox="1"/>
          <p:nvPr/>
        </p:nvSpPr>
        <p:spPr>
          <a:xfrm>
            <a:off x="1802596" y="1746964"/>
            <a:ext cx="858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4" name="Google Shape;1174;p94"/>
          <p:cNvSpPr txBox="1"/>
          <p:nvPr/>
        </p:nvSpPr>
        <p:spPr>
          <a:xfrm>
            <a:off x="2173471" y="2699989"/>
            <a:ext cx="858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Matching information between pie and bar charts</a:t>
            </a:r>
            <a:endParaRPr sz="1800"/>
          </a:p>
        </p:txBody>
      </p:sp>
      <p:sp>
        <p:nvSpPr>
          <p:cNvPr id="1180" name="Google Shape;1180;p95"/>
          <p:cNvSpPr txBox="1"/>
          <p:nvPr/>
        </p:nvSpPr>
        <p:spPr>
          <a:xfrm>
            <a:off x="324000" y="4224600"/>
            <a:ext cx="8496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 Hence,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draw the bar on the bar chart that represents the number of students who had snacks for lunch.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95"/>
          <p:cNvSpPr txBox="1"/>
          <p:nvPr/>
        </p:nvSpPr>
        <p:spPr>
          <a:xfrm>
            <a:off x="324000" y="3171975"/>
            <a:ext cx="8496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Using information from the pie chart, draw the bar on the bar chart that represents the number of students who had pasta for lunch.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82" name="Google Shape;1182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642664"/>
            <a:ext cx="2708373" cy="252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83" name="Google Shape;1183;p95"/>
          <p:cNvSpPr txBox="1"/>
          <p:nvPr/>
        </p:nvSpPr>
        <p:spPr>
          <a:xfrm>
            <a:off x="5995650" y="765900"/>
            <a:ext cx="2824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Both the pie chart and bar chart show the same information about lunchtime meals students had one day at school.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84" name="Google Shape;1184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2373" y="642664"/>
            <a:ext cx="2865056" cy="252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85" name="Google Shape;1185;p95"/>
          <p:cNvSpPr txBox="1"/>
          <p:nvPr/>
        </p:nvSpPr>
        <p:spPr>
          <a:xfrm>
            <a:off x="324000" y="3857588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Use a protractor to measure the angles in the pie chart.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Matching information between pie and bar charts</a:t>
            </a:r>
            <a:endParaRPr sz="1800"/>
          </a:p>
        </p:txBody>
      </p:sp>
      <p:sp>
        <p:nvSpPr>
          <p:cNvPr id="1191" name="Google Shape;1191;p96"/>
          <p:cNvSpPr txBox="1"/>
          <p:nvPr/>
        </p:nvSpPr>
        <p:spPr>
          <a:xfrm>
            <a:off x="3036100" y="4217250"/>
            <a:ext cx="5374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By using the bar chart, complete and label the pie chart.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96"/>
          <p:cNvSpPr txBox="1"/>
          <p:nvPr/>
        </p:nvSpPr>
        <p:spPr>
          <a:xfrm>
            <a:off x="6769550" y="714875"/>
            <a:ext cx="2050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Both the partially drawn pie chart and bar chart show the same information about breakfast meals students had one day at school.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93" name="Google Shape;1193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629325"/>
            <a:ext cx="2553225" cy="4183275"/>
          </a:xfrm>
          <a:prstGeom prst="rect">
            <a:avLst/>
          </a:prstGeom>
          <a:noFill/>
          <a:ln cap="flat" cmpd="sng" w="9525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194" name="Google Shape;1194;p96"/>
          <p:cNvGrpSpPr/>
          <p:nvPr/>
        </p:nvGrpSpPr>
        <p:grpSpPr>
          <a:xfrm>
            <a:off x="2887302" y="629366"/>
            <a:ext cx="3808034" cy="3571999"/>
            <a:chOff x="3029625" y="1239000"/>
            <a:chExt cx="4000036" cy="3752100"/>
          </a:xfrm>
        </p:grpSpPr>
        <p:pic>
          <p:nvPicPr>
            <p:cNvPr id="1195" name="Google Shape;1195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029625" y="1239000"/>
              <a:ext cx="4000036" cy="37521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196" name="Google Shape;1196;p96"/>
            <p:cNvSpPr/>
            <p:nvPr/>
          </p:nvSpPr>
          <p:spPr>
            <a:xfrm>
              <a:off x="3332250" y="1417650"/>
              <a:ext cx="3394800" cy="3394800"/>
            </a:xfrm>
            <a:prstGeom prst="ellipse">
              <a:avLst/>
            </a:prstGeom>
            <a:solidFill>
              <a:srgbClr val="E6F2F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7" name="Google Shape;1197;p96"/>
            <p:cNvSpPr/>
            <p:nvPr/>
          </p:nvSpPr>
          <p:spPr>
            <a:xfrm>
              <a:off x="4829500" y="2914923"/>
              <a:ext cx="400200" cy="400200"/>
            </a:xfrm>
            <a:prstGeom prst="mathMultiply">
              <a:avLst>
                <a:gd fmla="val 5209" name="adj1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98" name="Google Shape;1198;p96"/>
            <p:cNvCxnSpPr>
              <a:stCxn id="1196" idx="0"/>
              <a:endCxn id="1196" idx="4"/>
            </p:cNvCxnSpPr>
            <p:nvPr/>
          </p:nvCxnSpPr>
          <p:spPr>
            <a:xfrm>
              <a:off x="5029650" y="1417650"/>
              <a:ext cx="0" cy="3394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Matching information between pie and bar charts</a:t>
            </a:r>
            <a:endParaRPr sz="1800"/>
          </a:p>
        </p:txBody>
      </p:sp>
      <p:sp>
        <p:nvSpPr>
          <p:cNvPr id="1204" name="Google Shape;1204;p97"/>
          <p:cNvSpPr txBox="1"/>
          <p:nvPr/>
        </p:nvSpPr>
        <p:spPr>
          <a:xfrm>
            <a:off x="324000" y="4221238"/>
            <a:ext cx="8496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Hence, draw the bar on the bar chart that represents the number of people who voted for dinner.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5" name="Google Shape;1205;p97"/>
          <p:cNvSpPr txBox="1"/>
          <p:nvPr/>
        </p:nvSpPr>
        <p:spPr>
          <a:xfrm>
            <a:off x="324000" y="3398718"/>
            <a:ext cx="8496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Using information from the pie chart, how many times more people voted for dinner than lunch?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06" name="Google Shape;1206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642664"/>
            <a:ext cx="2708373" cy="252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07" name="Google Shape;1207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2373" y="642664"/>
            <a:ext cx="2865056" cy="252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08" name="Google Shape;1208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3998" y="642675"/>
            <a:ext cx="2708374" cy="252928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09" name="Google Shape;1209;p97"/>
          <p:cNvPicPr preferRelativeResize="0"/>
          <p:nvPr/>
        </p:nvPicPr>
        <p:blipFill rotWithShape="1">
          <a:blip r:embed="rId6">
            <a:alphaModFix/>
          </a:blip>
          <a:srcRect b="3450" l="0" r="0" t="2022"/>
          <a:stretch/>
        </p:blipFill>
        <p:spPr>
          <a:xfrm>
            <a:off x="3032375" y="642675"/>
            <a:ext cx="2865050" cy="25292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10" name="Google Shape;1210;p97"/>
          <p:cNvSpPr txBox="1"/>
          <p:nvPr/>
        </p:nvSpPr>
        <p:spPr>
          <a:xfrm>
            <a:off x="731046" y="1629739"/>
            <a:ext cx="858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97"/>
          <p:cNvSpPr txBox="1"/>
          <p:nvPr/>
        </p:nvSpPr>
        <p:spPr>
          <a:xfrm>
            <a:off x="1802596" y="1746964"/>
            <a:ext cx="858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2" name="Google Shape;1212;p97"/>
          <p:cNvSpPr txBox="1"/>
          <p:nvPr/>
        </p:nvSpPr>
        <p:spPr>
          <a:xfrm>
            <a:off x="2173471" y="2699989"/>
            <a:ext cx="858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97"/>
          <p:cNvSpPr txBox="1"/>
          <p:nvPr/>
        </p:nvSpPr>
        <p:spPr>
          <a:xfrm>
            <a:off x="5995650" y="765900"/>
            <a:ext cx="2824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Both the pie chart and bar chart show the same information about students’ favourite meals.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angles on the pie chart have been measured.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4" name="Google Shape;1214;p97"/>
          <p:cNvSpPr txBox="1"/>
          <p:nvPr/>
        </p:nvSpPr>
        <p:spPr>
          <a:xfrm>
            <a:off x="2811950" y="3704400"/>
            <a:ext cx="568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five times more people voted dinner (200°) than lunch (40°)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5" name="Google Shape;1215;p97"/>
          <p:cNvSpPr/>
          <p:nvPr/>
        </p:nvSpPr>
        <p:spPr>
          <a:xfrm>
            <a:off x="5213150" y="1120025"/>
            <a:ext cx="361500" cy="1638600"/>
          </a:xfrm>
          <a:prstGeom prst="rect">
            <a:avLst/>
          </a:prstGeom>
          <a:solidFill>
            <a:schemeClr val="accent4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Matching information between pie and bar charts</a:t>
            </a:r>
            <a:endParaRPr sz="1800"/>
          </a:p>
        </p:txBody>
      </p:sp>
      <p:sp>
        <p:nvSpPr>
          <p:cNvPr id="1221" name="Google Shape;1221;p98"/>
          <p:cNvSpPr txBox="1"/>
          <p:nvPr/>
        </p:nvSpPr>
        <p:spPr>
          <a:xfrm>
            <a:off x="324000" y="4224600"/>
            <a:ext cx="8496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 Hence,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draw the bar on the bar chart that represents the number of students who had snacks for lunch.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98"/>
          <p:cNvSpPr txBox="1"/>
          <p:nvPr/>
        </p:nvSpPr>
        <p:spPr>
          <a:xfrm>
            <a:off x="324000" y="3171975"/>
            <a:ext cx="8496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Using information from the pie chart, draw the bar on the bar chart that represents the number of students who had pasta for lunch.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3" name="Google Shape;1223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642664"/>
            <a:ext cx="2708373" cy="252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24" name="Google Shape;1224;p98"/>
          <p:cNvSpPr txBox="1"/>
          <p:nvPr/>
        </p:nvSpPr>
        <p:spPr>
          <a:xfrm>
            <a:off x="5995650" y="765900"/>
            <a:ext cx="2824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Both the pie chart and bar chart show the same information about lunchtime meals students had one day at school.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5" name="Google Shape;1225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2373" y="642664"/>
            <a:ext cx="2865056" cy="252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26" name="Google Shape;1226;p98"/>
          <p:cNvSpPr txBox="1"/>
          <p:nvPr/>
        </p:nvSpPr>
        <p:spPr>
          <a:xfrm>
            <a:off x="324000" y="3857588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Use a protractor to measure the angles in the pie chart.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7" name="Google Shape;1227;p98"/>
          <p:cNvSpPr txBox="1"/>
          <p:nvPr/>
        </p:nvSpPr>
        <p:spPr>
          <a:xfrm>
            <a:off x="985999" y="1156525"/>
            <a:ext cx="58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90°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8" name="Google Shape;1228;p98"/>
          <p:cNvSpPr/>
          <p:nvPr/>
        </p:nvSpPr>
        <p:spPr>
          <a:xfrm>
            <a:off x="5308025" y="1699163"/>
            <a:ext cx="285600" cy="1284900"/>
          </a:xfrm>
          <a:prstGeom prst="rect">
            <a:avLst/>
          </a:prstGeom>
          <a:solidFill>
            <a:schemeClr val="accent4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9" name="Google Shape;1229;p98"/>
          <p:cNvSpPr txBox="1"/>
          <p:nvPr/>
        </p:nvSpPr>
        <p:spPr>
          <a:xfrm rot="-5400000">
            <a:off x="4781291" y="2187250"/>
            <a:ext cx="12867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Kalam"/>
                <a:ea typeface="Kalam"/>
                <a:cs typeface="Kalam"/>
                <a:sym typeface="Kalam"/>
              </a:rPr>
              <a:t>pasta</a:t>
            </a:r>
            <a:endParaRPr sz="18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0" name="Google Shape;1230;p98"/>
          <p:cNvSpPr txBox="1"/>
          <p:nvPr/>
        </p:nvSpPr>
        <p:spPr>
          <a:xfrm>
            <a:off x="985999" y="2324425"/>
            <a:ext cx="58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90°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1" name="Google Shape;1231;p98"/>
          <p:cNvSpPr txBox="1"/>
          <p:nvPr/>
        </p:nvSpPr>
        <p:spPr>
          <a:xfrm>
            <a:off x="1904974" y="1194825"/>
            <a:ext cx="58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135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°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2" name="Google Shape;1232;p98"/>
          <p:cNvSpPr txBox="1"/>
          <p:nvPr/>
        </p:nvSpPr>
        <p:spPr>
          <a:xfrm>
            <a:off x="1617789" y="2290925"/>
            <a:ext cx="58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5°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3" name="Google Shape;1233;p98"/>
          <p:cNvSpPr/>
          <p:nvPr/>
        </p:nvSpPr>
        <p:spPr>
          <a:xfrm>
            <a:off x="4219450" y="2327568"/>
            <a:ext cx="285600" cy="656400"/>
          </a:xfrm>
          <a:prstGeom prst="rect">
            <a:avLst/>
          </a:prstGeom>
          <a:solidFill>
            <a:schemeClr val="accent4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4" name="Google Shape;1234;p98"/>
          <p:cNvSpPr txBox="1"/>
          <p:nvPr/>
        </p:nvSpPr>
        <p:spPr>
          <a:xfrm rot="-5400000">
            <a:off x="4095094" y="2506677"/>
            <a:ext cx="8043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Kalam"/>
                <a:ea typeface="Kalam"/>
                <a:cs typeface="Kalam"/>
                <a:sym typeface="Kalam"/>
              </a:rPr>
              <a:t>snacks</a:t>
            </a:r>
            <a:endParaRPr sz="18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" name="Google Shape;1239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7288" y="629375"/>
            <a:ext cx="3808025" cy="355623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40" name="Google Shape;1240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Matching information between pie and bar charts</a:t>
            </a:r>
            <a:endParaRPr sz="1800"/>
          </a:p>
        </p:txBody>
      </p:sp>
      <p:sp>
        <p:nvSpPr>
          <p:cNvPr id="1241" name="Google Shape;1241;p99"/>
          <p:cNvSpPr txBox="1"/>
          <p:nvPr/>
        </p:nvSpPr>
        <p:spPr>
          <a:xfrm>
            <a:off x="3036100" y="4217250"/>
            <a:ext cx="5374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By using the bar chart, complete and label the pie chart.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99"/>
          <p:cNvSpPr txBox="1"/>
          <p:nvPr/>
        </p:nvSpPr>
        <p:spPr>
          <a:xfrm>
            <a:off x="6769550" y="714875"/>
            <a:ext cx="2050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Both the partially drawn pie chart and bar chart show the same information about breakfast meals students had one day at school.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43" name="Google Shape;1243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629325"/>
            <a:ext cx="2553225" cy="4183275"/>
          </a:xfrm>
          <a:prstGeom prst="rect">
            <a:avLst/>
          </a:prstGeom>
          <a:noFill/>
          <a:ln cap="flat" cmpd="sng" w="9525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44" name="Google Shape;1244;p99"/>
          <p:cNvSpPr txBox="1"/>
          <p:nvPr/>
        </p:nvSpPr>
        <p:spPr>
          <a:xfrm>
            <a:off x="3839077" y="1393970"/>
            <a:ext cx="58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°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5" name="Google Shape;1245;p99"/>
          <p:cNvSpPr txBox="1"/>
          <p:nvPr/>
        </p:nvSpPr>
        <p:spPr>
          <a:xfrm>
            <a:off x="3369602" y="3715695"/>
            <a:ext cx="58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0°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6" name="Google Shape;1246;p99"/>
          <p:cNvSpPr txBox="1"/>
          <p:nvPr/>
        </p:nvSpPr>
        <p:spPr>
          <a:xfrm>
            <a:off x="5334127" y="2567057"/>
            <a:ext cx="58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18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0°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100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statistical representations</a:t>
            </a:r>
            <a:endParaRPr/>
          </a:p>
        </p:txBody>
      </p:sp>
      <p:sp>
        <p:nvSpPr>
          <p:cNvPr id="1252" name="Google Shape;1252;p100"/>
          <p:cNvSpPr txBox="1"/>
          <p:nvPr/>
        </p:nvSpPr>
        <p:spPr>
          <a:xfrm>
            <a:off x="324000" y="810000"/>
            <a:ext cx="8496000" cy="25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P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ie charts and bar charts provide different insights into data, and therefore should be used for different purposes.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Proportional reasoning of information from pie charts can be used to complete bar charts, and vice versa.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There are many effective ways of representing data beyond pie and bar charts, and there are features of each representation that make it useful.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258" name="Google Shape;1258;p1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