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BEE29FE-6300-460E-85E3-2FF311B31D29}">
  <a:tblStyle styleId="{CBEE29FE-6300-460E-85E3-2FF311B31D2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9c0095542b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9c009554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9c0095542b_0_2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9c0095542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Relationship Id="rId7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Comparing statistical representations</a:t>
            </a:r>
            <a:endParaRPr/>
          </a:p>
        </p:txBody>
      </p:sp>
      <p:sp>
        <p:nvSpPr>
          <p:cNvPr id="162" name="Google Shape;16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4071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Comparing pie charts and bar charts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744325"/>
            <a:ext cx="6624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Tick the statements that are easy to determine from a quick glance at the pie chart.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5" name="Google Shape;16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50" y="2237417"/>
            <a:ext cx="1833900" cy="176775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66" name="Google Shape;166;p20"/>
          <p:cNvGrpSpPr/>
          <p:nvPr/>
        </p:nvGrpSpPr>
        <p:grpSpPr>
          <a:xfrm>
            <a:off x="2606450" y="2237408"/>
            <a:ext cx="301615" cy="301615"/>
            <a:chOff x="1020916" y="1442088"/>
            <a:chExt cx="457200" cy="457200"/>
          </a:xfrm>
        </p:grpSpPr>
        <p:pic>
          <p:nvPicPr>
            <p:cNvPr id="167" name="Google Shape;167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" name="Google Shape;168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9" name="Google Shape;169;p20"/>
          <p:cNvSpPr txBox="1"/>
          <p:nvPr/>
        </p:nvSpPr>
        <p:spPr>
          <a:xfrm>
            <a:off x="468050" y="4077642"/>
            <a:ext cx="21384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Pie chart showing students’ favourite colours.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2985309" y="2280123"/>
            <a:ext cx="425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Data was collected on a total of 288 students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1" name="Google Shape;171;p20"/>
          <p:cNvGrpSpPr/>
          <p:nvPr/>
        </p:nvGrpSpPr>
        <p:grpSpPr>
          <a:xfrm>
            <a:off x="2606450" y="2679639"/>
            <a:ext cx="301615" cy="301615"/>
            <a:chOff x="1020916" y="1442088"/>
            <a:chExt cx="457200" cy="457200"/>
          </a:xfrm>
        </p:grpSpPr>
        <p:pic>
          <p:nvPicPr>
            <p:cNvPr id="172" name="Google Shape;172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" name="Google Shape;173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4" name="Google Shape;174;p20"/>
          <p:cNvSpPr txBox="1"/>
          <p:nvPr/>
        </p:nvSpPr>
        <p:spPr>
          <a:xfrm>
            <a:off x="2985309" y="2722295"/>
            <a:ext cx="425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 quarter of students voted green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5" name="Google Shape;175;p20"/>
          <p:cNvGrpSpPr/>
          <p:nvPr/>
        </p:nvGrpSpPr>
        <p:grpSpPr>
          <a:xfrm>
            <a:off x="2606450" y="3121870"/>
            <a:ext cx="301615" cy="301615"/>
            <a:chOff x="1020916" y="1442088"/>
            <a:chExt cx="457200" cy="457200"/>
          </a:xfrm>
        </p:grpSpPr>
        <p:pic>
          <p:nvPicPr>
            <p:cNvPr id="176" name="Google Shape;176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" name="Google Shape;177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8" name="Google Shape;178;p20"/>
          <p:cNvSpPr txBox="1"/>
          <p:nvPr/>
        </p:nvSpPr>
        <p:spPr>
          <a:xfrm>
            <a:off x="2985309" y="3164467"/>
            <a:ext cx="425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120 students voted blue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9" name="Google Shape;179;p20"/>
          <p:cNvGrpSpPr/>
          <p:nvPr/>
        </p:nvGrpSpPr>
        <p:grpSpPr>
          <a:xfrm>
            <a:off x="2606450" y="3564101"/>
            <a:ext cx="301615" cy="301615"/>
            <a:chOff x="1020916" y="1442088"/>
            <a:chExt cx="457200" cy="457200"/>
          </a:xfrm>
        </p:grpSpPr>
        <p:pic>
          <p:nvPicPr>
            <p:cNvPr id="180" name="Google Shape;180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" name="Google Shape;181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2" name="Google Shape;182;p20"/>
          <p:cNvSpPr txBox="1"/>
          <p:nvPr/>
        </p:nvSpPr>
        <p:spPr>
          <a:xfrm>
            <a:off x="2985309" y="3606640"/>
            <a:ext cx="425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modal colour was blue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3" name="Google Shape;183;p20"/>
          <p:cNvGrpSpPr/>
          <p:nvPr/>
        </p:nvGrpSpPr>
        <p:grpSpPr>
          <a:xfrm>
            <a:off x="2606450" y="4006332"/>
            <a:ext cx="301615" cy="301615"/>
            <a:chOff x="1020916" y="1442088"/>
            <a:chExt cx="457200" cy="457200"/>
          </a:xfrm>
        </p:grpSpPr>
        <p:pic>
          <p:nvPicPr>
            <p:cNvPr id="184" name="Google Shape;184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" name="Google Shape;185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6" name="Google Shape;186;p20"/>
          <p:cNvSpPr txBox="1"/>
          <p:nvPr/>
        </p:nvSpPr>
        <p:spPr>
          <a:xfrm>
            <a:off x="2985309" y="4048812"/>
            <a:ext cx="425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Under half of students voted purple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1386822" y="3016890"/>
            <a:ext cx="103500" cy="103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8" name="Google Shape;188;p20"/>
          <p:cNvGraphicFramePr/>
          <p:nvPr/>
        </p:nvGraphicFramePr>
        <p:xfrm>
          <a:off x="467975" y="7310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{CBEE29FE-6300-460E-85E3-2FF311B31D29}</a:tableStyleId>
              </a:tblPr>
              <a:tblGrid>
                <a:gridCol w="4636000"/>
                <a:gridCol w="994000"/>
                <a:gridCol w="994000"/>
              </a:tblGrid>
              <a:tr h="232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question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pie chart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bar chart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/>
                </a:tc>
              </a:tr>
              <a:tr h="280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 What was the modal method of staying dry?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91425" marL="91425" anchor="ctr"/>
                </a:tc>
              </a:tr>
              <a:tr h="46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 Which method of staying dry did 25% of people choose?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91425" marL="91425" anchor="ctr"/>
                </a:tc>
              </a:tr>
              <a:tr h="46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 True or false: more than 50% of people voted raincoat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91425" marL="91425" anchor="ctr"/>
                </a:tc>
              </a:tr>
              <a:tr h="46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d) How many more people voted for raincoat than umbrella?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91425" marL="91425" anchor="ctr"/>
                </a:tc>
              </a:tr>
              <a:tr h="46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e) How many people were asked in total?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91425" marL="91425" anchor="ctr"/>
                </a:tc>
              </a:tr>
            </a:tbl>
          </a:graphicData>
        </a:graphic>
      </p:graphicFrame>
      <p:pic>
        <p:nvPicPr>
          <p:cNvPr id="189" name="Google Shape;18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82325" y="5467547"/>
            <a:ext cx="1544940" cy="1382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08733" y="5467622"/>
            <a:ext cx="1968944" cy="1625863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/>
        </p:nvSpPr>
        <p:spPr>
          <a:xfrm>
            <a:off x="4206141" y="6944189"/>
            <a:ext cx="2319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4673350" y="6944189"/>
            <a:ext cx="2319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rc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5140559" y="6944189"/>
            <a:ext cx="2319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si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2756035" y="6092379"/>
            <a:ext cx="65700" cy="65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468000" y="4727400"/>
            <a:ext cx="6624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Both charts show “methods of staying dry”.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Answer each question in either the “pie chart” or “bar chart” column to show which chart you used to find the answer.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Comparing statistical representations</a:t>
            </a:r>
            <a:endParaRPr/>
          </a:p>
        </p:txBody>
      </p:sp>
      <p:graphicFrame>
        <p:nvGraphicFramePr>
          <p:cNvPr id="201" name="Google Shape;201;p21"/>
          <p:cNvGraphicFramePr/>
          <p:nvPr/>
        </p:nvGraphicFramePr>
        <p:xfrm>
          <a:off x="2606400" y="17967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{CBEE29FE-6300-460E-85E3-2FF311B31D29}</a:tableStyleId>
              </a:tblPr>
              <a:tblGrid>
                <a:gridCol w="2779800"/>
                <a:gridCol w="963000"/>
                <a:gridCol w="742800"/>
              </a:tblGrid>
              <a:tr h="295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question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54000" marL="54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how easy to answer?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54000" marL="54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answer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54000" marL="54000" anchor="ctr"/>
                </a:tc>
              </a:tr>
              <a:tr h="473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 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How many days were dry?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54000" marL="54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54000" marL="54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54000" marL="54000" anchor="ctr"/>
                </a:tc>
              </a:tr>
              <a:tr h="473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 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What percentage of days had heavy rain?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54000" marL="54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54000" marL="54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54000" marL="54000" anchor="ctr"/>
                </a:tc>
              </a:tr>
              <a:tr h="451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 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How many more days was it windy than snowy?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54000" marL="54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54000" marL="54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54000" marL="54000" anchor="ctr"/>
                </a:tc>
              </a:tr>
              <a:tr h="451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 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What weather condition occurred 25% of the time?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54000" marL="54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54000" marL="54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54000" marL="54000" anchor="ctr"/>
                </a:tc>
              </a:tr>
            </a:tbl>
          </a:graphicData>
        </a:graphic>
      </p:graphicFrame>
      <p:pic>
        <p:nvPicPr>
          <p:cNvPr id="202" name="Google Shape;202;p21"/>
          <p:cNvPicPr preferRelativeResize="0"/>
          <p:nvPr/>
        </p:nvPicPr>
        <p:blipFill rotWithShape="1">
          <a:blip r:embed="rId3">
            <a:alphaModFix/>
          </a:blip>
          <a:srcRect b="0" l="0" r="0" t="7227"/>
          <a:stretch/>
        </p:blipFill>
        <p:spPr>
          <a:xfrm>
            <a:off x="468000" y="1796725"/>
            <a:ext cx="1843301" cy="221585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3" name="Google Shape;203;p21"/>
          <p:cNvSpPr txBox="1"/>
          <p:nvPr/>
        </p:nvSpPr>
        <p:spPr>
          <a:xfrm>
            <a:off x="468000" y="720000"/>
            <a:ext cx="6624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3) How easy are these questions to answer from the bar chart? Write Q for ‘from a quick glance’, S for ‘with a single calculation’, or M for ‘with many calculations’.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possible, answer each question.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4" name="Google Shape;204;p21"/>
          <p:cNvCxnSpPr/>
          <p:nvPr/>
        </p:nvCxnSpPr>
        <p:spPr>
          <a:xfrm>
            <a:off x="474757" y="420621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" name="Google Shape;205;p21"/>
          <p:cNvSpPr txBox="1"/>
          <p:nvPr/>
        </p:nvSpPr>
        <p:spPr>
          <a:xfrm>
            <a:off x="468000" y="42997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Matching information between pie and bar charts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468000" y="7104361"/>
            <a:ext cx="6579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Hence, draw the bar on the bar chart that represents the number of people who voted for dinner.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468000" y="6552675"/>
            <a:ext cx="6579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Using information from the pie chart, how many times more people voted for dinner than lunch?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8" name="Google Shape;20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226" y="4807400"/>
            <a:ext cx="1777472" cy="1659949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9" name="Google Shape;20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59699" y="4807400"/>
            <a:ext cx="1880301" cy="1659949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0" name="Google Shape;210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2225" y="4807407"/>
            <a:ext cx="1777473" cy="1659939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1" name="Google Shape;211;p21"/>
          <p:cNvPicPr preferRelativeResize="0"/>
          <p:nvPr/>
        </p:nvPicPr>
        <p:blipFill rotWithShape="1">
          <a:blip r:embed="rId7">
            <a:alphaModFix/>
          </a:blip>
          <a:srcRect b="3450" l="0" r="0" t="2022"/>
          <a:stretch/>
        </p:blipFill>
        <p:spPr>
          <a:xfrm>
            <a:off x="2259700" y="4807407"/>
            <a:ext cx="1880298" cy="1659932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2" name="Google Shape;212;p21"/>
          <p:cNvSpPr txBox="1"/>
          <p:nvPr/>
        </p:nvSpPr>
        <p:spPr>
          <a:xfrm>
            <a:off x="4267500" y="4807400"/>
            <a:ext cx="28245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Both the pie chart and bar chart show the same information about students’ favourite meals.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angles on the pie chart have been measured.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1452610" y="5532138"/>
            <a:ext cx="5637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120°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1696011" y="6157597"/>
            <a:ext cx="5637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40°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468000" y="9599011"/>
            <a:ext cx="662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Hence,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draw the bar on the bar chart that represents the number of students who had snacks for lunch.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4267500" y="8535822"/>
            <a:ext cx="2824500" cy="8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Using information from the pie chart, draw the bar on the bar chart that represents the number of students who had pasta for lunch.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7" name="Google Shape;21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7562773"/>
            <a:ext cx="1777482" cy="165995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8" name="Google Shape;218;p21"/>
          <p:cNvSpPr txBox="1"/>
          <p:nvPr/>
        </p:nvSpPr>
        <p:spPr>
          <a:xfrm>
            <a:off x="749365" y="5455205"/>
            <a:ext cx="5637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200°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4267500" y="7562772"/>
            <a:ext cx="2824500" cy="10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Both the pie chart and bar chart show the same information about lunchtime meals students had one day at school.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0" name="Google Shape;22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45482" y="7562773"/>
            <a:ext cx="1880311" cy="165995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1" name="Google Shape;221;p21"/>
          <p:cNvSpPr txBox="1"/>
          <p:nvPr/>
        </p:nvSpPr>
        <p:spPr>
          <a:xfrm>
            <a:off x="468000" y="9353161"/>
            <a:ext cx="6624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Use a protractor to measure the angles in the pie chart.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" name="Google Shape;227;p22"/>
          <p:cNvGrpSpPr/>
          <p:nvPr/>
        </p:nvGrpSpPr>
        <p:grpSpPr>
          <a:xfrm>
            <a:off x="2272630" y="726363"/>
            <a:ext cx="2669224" cy="2503776"/>
            <a:chOff x="3029625" y="1239000"/>
            <a:chExt cx="4000036" cy="3752100"/>
          </a:xfrm>
        </p:grpSpPr>
        <p:pic>
          <p:nvPicPr>
            <p:cNvPr id="228" name="Google Shape;228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29625" y="1239000"/>
              <a:ext cx="4000036" cy="37521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29" name="Google Shape;229;p22"/>
            <p:cNvSpPr/>
            <p:nvPr/>
          </p:nvSpPr>
          <p:spPr>
            <a:xfrm>
              <a:off x="3332250" y="1417650"/>
              <a:ext cx="3394800" cy="3394800"/>
            </a:xfrm>
            <a:prstGeom prst="ellipse">
              <a:avLst/>
            </a:prstGeom>
            <a:solidFill>
              <a:srgbClr val="E6F2F2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0" name="Google Shape;230;p22"/>
            <p:cNvSpPr/>
            <p:nvPr/>
          </p:nvSpPr>
          <p:spPr>
            <a:xfrm>
              <a:off x="4829500" y="2914923"/>
              <a:ext cx="400200" cy="400200"/>
            </a:xfrm>
            <a:prstGeom prst="mathMultiply">
              <a:avLst>
                <a:gd fmla="val 5209" name="adj1"/>
              </a:avLst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31" name="Google Shape;231;p22"/>
            <p:cNvCxnSpPr>
              <a:stCxn id="229" idx="0"/>
              <a:endCxn id="229" idx="4"/>
            </p:cNvCxnSpPr>
            <p:nvPr/>
          </p:nvCxnSpPr>
          <p:spPr>
            <a:xfrm>
              <a:off x="5029650" y="1417650"/>
              <a:ext cx="0" cy="3394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32" name="Google Shape;232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Comparing statistical representations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5148000" y="2032225"/>
            <a:ext cx="1944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By using the bar chart, complete and label the pie chart.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2"/>
          <p:cNvSpPr txBox="1"/>
          <p:nvPr/>
        </p:nvSpPr>
        <p:spPr>
          <a:xfrm>
            <a:off x="5148000" y="720025"/>
            <a:ext cx="1944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Both the partially drawn pie chart and bar chart show the same information about breakfast meals students had one day at school.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5" name="Google Shape;23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720000"/>
            <a:ext cx="1797548" cy="2945148"/>
          </a:xfrm>
          <a:prstGeom prst="rect">
            <a:avLst/>
          </a:prstGeom>
          <a:noFill/>
          <a:ln cap="flat" cmpd="sng" w="9525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236" name="Google Shape;236;p22"/>
          <p:cNvCxnSpPr/>
          <p:nvPr/>
        </p:nvCxnSpPr>
        <p:spPr>
          <a:xfrm>
            <a:off x="474757" y="382761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7" name="Google Shape;237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38" name="Google Shape;238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