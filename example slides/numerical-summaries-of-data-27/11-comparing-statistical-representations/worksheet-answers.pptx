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A73606-AC8B-4D37-9FD3-9FC12D58C82B}">
  <a:tblStyle styleId="{3CA73606-AC8B-4D37-9FD3-9FC12D58C8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9bfe733505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9bfe7335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9bfe733505_0_4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9bfe73350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statistical representations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07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Comparing pie charts and bar charts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44325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Tick the statements that are easy to determine from a quick glance at the pie chart.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50" y="2237417"/>
            <a:ext cx="1833900" cy="17677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76" name="Google Shape;176;p20"/>
          <p:cNvGrpSpPr/>
          <p:nvPr/>
        </p:nvGrpSpPr>
        <p:grpSpPr>
          <a:xfrm>
            <a:off x="2606450" y="2237408"/>
            <a:ext cx="301615" cy="301615"/>
            <a:chOff x="1020916" y="1442088"/>
            <a:chExt cx="457200" cy="457200"/>
          </a:xfrm>
        </p:grpSpPr>
        <p:pic>
          <p:nvPicPr>
            <p:cNvPr id="177" name="Google Shape;177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" name="Google Shape;179;p20"/>
          <p:cNvSpPr txBox="1"/>
          <p:nvPr/>
        </p:nvSpPr>
        <p:spPr>
          <a:xfrm>
            <a:off x="468050" y="4077642"/>
            <a:ext cx="2138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Pie chart showing students’ favourite colours.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985309" y="2280123"/>
            <a:ext cx="42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Data was collected on a total of 288 students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2606450" y="2679639"/>
            <a:ext cx="301615" cy="301615"/>
            <a:chOff x="1020916" y="1442088"/>
            <a:chExt cx="457200" cy="457200"/>
          </a:xfrm>
        </p:grpSpPr>
        <p:pic>
          <p:nvPicPr>
            <p:cNvPr id="182" name="Google Shape;182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" name="Google Shape;184;p20"/>
          <p:cNvSpPr txBox="1"/>
          <p:nvPr/>
        </p:nvSpPr>
        <p:spPr>
          <a:xfrm>
            <a:off x="2985309" y="2722295"/>
            <a:ext cx="42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quarter of students voted green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2606450" y="3121870"/>
            <a:ext cx="301615" cy="301615"/>
            <a:chOff x="1020916" y="1442088"/>
            <a:chExt cx="457200" cy="457200"/>
          </a:xfrm>
        </p:grpSpPr>
        <p:pic>
          <p:nvPicPr>
            <p:cNvPr id="186" name="Google Shape;186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8" name="Google Shape;188;p20"/>
          <p:cNvSpPr txBox="1"/>
          <p:nvPr/>
        </p:nvSpPr>
        <p:spPr>
          <a:xfrm>
            <a:off x="2985309" y="3164467"/>
            <a:ext cx="42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120 students voted blue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" name="Google Shape;189;p20"/>
          <p:cNvGrpSpPr/>
          <p:nvPr/>
        </p:nvGrpSpPr>
        <p:grpSpPr>
          <a:xfrm>
            <a:off x="2606450" y="3564101"/>
            <a:ext cx="301615" cy="301615"/>
            <a:chOff x="1020916" y="1442088"/>
            <a:chExt cx="457200" cy="457200"/>
          </a:xfrm>
        </p:grpSpPr>
        <p:pic>
          <p:nvPicPr>
            <p:cNvPr id="190" name="Google Shape;19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2" name="Google Shape;192;p20"/>
          <p:cNvSpPr txBox="1"/>
          <p:nvPr/>
        </p:nvSpPr>
        <p:spPr>
          <a:xfrm>
            <a:off x="2985309" y="3606640"/>
            <a:ext cx="42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modal colour was blue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2606450" y="4006332"/>
            <a:ext cx="301615" cy="301615"/>
            <a:chOff x="1020916" y="1442088"/>
            <a:chExt cx="457200" cy="457200"/>
          </a:xfrm>
        </p:grpSpPr>
        <p:pic>
          <p:nvPicPr>
            <p:cNvPr id="194" name="Google Shape;194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" name="Google Shape;196;p20"/>
          <p:cNvSpPr txBox="1"/>
          <p:nvPr/>
        </p:nvSpPr>
        <p:spPr>
          <a:xfrm>
            <a:off x="2985309" y="4048812"/>
            <a:ext cx="42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Under half of students voted purple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" name="Google Shape;19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7414" y="2606329"/>
            <a:ext cx="309201" cy="327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6573" y="3475529"/>
            <a:ext cx="309201" cy="327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6194" y="3917808"/>
            <a:ext cx="309201" cy="32723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/>
          <p:nvPr/>
        </p:nvSpPr>
        <p:spPr>
          <a:xfrm>
            <a:off x="1386822" y="3016890"/>
            <a:ext cx="103500" cy="103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" name="Google Shape;201;p20"/>
          <p:cNvGraphicFramePr/>
          <p:nvPr/>
        </p:nvGraphicFramePr>
        <p:xfrm>
          <a:off x="467975" y="7310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{3CA73606-AC8B-4D37-9FD3-9FC12D58C82B}</a:tableStyleId>
              </a:tblPr>
              <a:tblGrid>
                <a:gridCol w="4636000"/>
                <a:gridCol w="994000"/>
                <a:gridCol w="994000"/>
              </a:tblGrid>
              <a:tr h="232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pie chart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bar chart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</a:tr>
              <a:tr h="28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What was the modal method of staying dry?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raincoat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raincoat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</a:tr>
              <a:tr h="46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Which method of staying dry did 25% of people choose?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umbrella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</a:tr>
              <a:tr h="46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True or false: more than 50% of people voted raincoat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</a:tr>
              <a:tr h="46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 How many more people voted for raincoat than umbrella?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</a:tr>
              <a:tr h="46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e) How many people were asked in total?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1400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91425" marL="91425" anchor="ctr"/>
                </a:tc>
              </a:tr>
            </a:tbl>
          </a:graphicData>
        </a:graphic>
      </p:graphicFrame>
      <p:pic>
        <p:nvPicPr>
          <p:cNvPr id="202" name="Google Shape;20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2325" y="5467547"/>
            <a:ext cx="1544940" cy="138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8733" y="5467622"/>
            <a:ext cx="1968944" cy="162586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4206141" y="6944189"/>
            <a:ext cx="231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673350" y="6944189"/>
            <a:ext cx="231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140559" y="6944189"/>
            <a:ext cx="231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si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756035" y="6092379"/>
            <a:ext cx="65700" cy="65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68000" y="472740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Both charts show “methods of staying dry”.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Answer each question in either the “pie chart” or “bar chart” column to show which chart you used to find the answer.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Comparing statistical representations</a:t>
            </a:r>
            <a:endParaRPr/>
          </a:p>
        </p:txBody>
      </p:sp>
      <p:graphicFrame>
        <p:nvGraphicFramePr>
          <p:cNvPr id="214" name="Google Shape;214;p21"/>
          <p:cNvGraphicFramePr/>
          <p:nvPr/>
        </p:nvGraphicFramePr>
        <p:xfrm>
          <a:off x="2606400" y="17967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{3CA73606-AC8B-4D37-9FD3-9FC12D58C82B}</a:tableStyleId>
              </a:tblPr>
              <a:tblGrid>
                <a:gridCol w="2779800"/>
                <a:gridCol w="963000"/>
                <a:gridCol w="742800"/>
              </a:tblGrid>
              <a:tr h="295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question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easy to answer?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answer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</a:tr>
              <a:tr h="47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many days were dry?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Q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</a:tr>
              <a:tr h="47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percentage of days had heavy rain?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20%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</a:tr>
              <a:tr h="45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many more days was it windy than snowy?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</a:tr>
              <a:tr h="45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weather condition occurred 25% of the time?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dry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54000" marL="54000" anchor="ctr"/>
                </a:tc>
              </a:tr>
            </a:tbl>
          </a:graphicData>
        </a:graphic>
      </p:graphicFrame>
      <p:pic>
        <p:nvPicPr>
          <p:cNvPr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7227"/>
          <a:stretch/>
        </p:blipFill>
        <p:spPr>
          <a:xfrm>
            <a:off x="468000" y="1796725"/>
            <a:ext cx="1843301" cy="22158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6" name="Google Shape;216;p21"/>
          <p:cNvSpPr txBox="1"/>
          <p:nvPr/>
        </p:nvSpPr>
        <p:spPr>
          <a:xfrm>
            <a:off x="468000" y="72000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How easy are these questions to answer from the bar chart? Write Q for ‘from a quick glance’, S for ‘with a single calculation’, or M for ‘with many calculations’.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possible, answer each question.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" name="Google Shape;217;p21"/>
          <p:cNvCxnSpPr/>
          <p:nvPr/>
        </p:nvCxnSpPr>
        <p:spPr>
          <a:xfrm>
            <a:off x="474757" y="42062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1"/>
          <p:cNvSpPr txBox="1"/>
          <p:nvPr/>
        </p:nvSpPr>
        <p:spPr>
          <a:xfrm>
            <a:off x="468000" y="42997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Matching information between pie and bar charts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8000" y="7104361"/>
            <a:ext cx="6579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Hence, draw the bar on the bar chart that represents the number of people who voted for dinner.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68000" y="6552675"/>
            <a:ext cx="6579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Using information from the pie chart, how many times more people voted for dinner than lunch?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226" y="4807400"/>
            <a:ext cx="1777472" cy="165994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2" name="Google Shape;22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9699" y="4807400"/>
            <a:ext cx="1880301" cy="165994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3" name="Google Shape;22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225" y="4807407"/>
            <a:ext cx="1777473" cy="165993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4" name="Google Shape;224;p21"/>
          <p:cNvPicPr preferRelativeResize="0"/>
          <p:nvPr/>
        </p:nvPicPr>
        <p:blipFill rotWithShape="1">
          <a:blip r:embed="rId7">
            <a:alphaModFix/>
          </a:blip>
          <a:srcRect b="3450" l="0" r="0" t="2022"/>
          <a:stretch/>
        </p:blipFill>
        <p:spPr>
          <a:xfrm>
            <a:off x="2259700" y="4807407"/>
            <a:ext cx="1880298" cy="165993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5" name="Google Shape;225;p21"/>
          <p:cNvSpPr txBox="1"/>
          <p:nvPr/>
        </p:nvSpPr>
        <p:spPr>
          <a:xfrm>
            <a:off x="749365" y="5455205"/>
            <a:ext cx="563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452610" y="5532138"/>
            <a:ext cx="563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1696011" y="6157597"/>
            <a:ext cx="563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267500" y="4807400"/>
            <a:ext cx="2824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Both the pie chart and bar chart show the same information about students’ favourite meals.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angles on the pie chart have been measured.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1575027" y="6858350"/>
            <a:ext cx="551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five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times more people voted dinner (200°) than lunch (40°)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690916" y="5120686"/>
            <a:ext cx="237300" cy="1075200"/>
          </a:xfrm>
          <a:prstGeom prst="rect">
            <a:avLst/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68000" y="9599011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Hence,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the bar on the bar chart that represents the number of students who had snacks for lunch.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267500" y="8535822"/>
            <a:ext cx="28245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Using information from the pie chart, draw the bar on the bar chart that represents the number of students who had pasta for lunch.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" name="Google Shape;23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7562773"/>
            <a:ext cx="1777482" cy="16599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4" name="Google Shape;234;p21"/>
          <p:cNvSpPr txBox="1"/>
          <p:nvPr/>
        </p:nvSpPr>
        <p:spPr>
          <a:xfrm>
            <a:off x="4267500" y="7562772"/>
            <a:ext cx="28245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Both the pie chart and bar chart show the same information about lunchtime meals students had one day at school.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" name="Google Shape;23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5482" y="7562773"/>
            <a:ext cx="1880311" cy="16599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6" name="Google Shape;236;p21"/>
          <p:cNvSpPr txBox="1"/>
          <p:nvPr/>
        </p:nvSpPr>
        <p:spPr>
          <a:xfrm>
            <a:off x="468000" y="9353161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Use a protractor to measure the angles in the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902464" y="7900013"/>
            <a:ext cx="3834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90°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3738973" y="8256140"/>
            <a:ext cx="187500" cy="843300"/>
          </a:xfrm>
          <a:prstGeom prst="rect">
            <a:avLst/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 rot="-5400000">
            <a:off x="3393354" y="8576341"/>
            <a:ext cx="8445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pasta</a:t>
            </a:r>
            <a:endParaRPr sz="12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902464" y="8666492"/>
            <a:ext cx="3834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90°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1505580" y="7925149"/>
            <a:ext cx="3834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135°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1317103" y="8644506"/>
            <a:ext cx="3834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45°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3024550" y="8668554"/>
            <a:ext cx="187500" cy="430800"/>
          </a:xfrm>
          <a:prstGeom prst="rect">
            <a:avLst/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 rot="-5400000">
            <a:off x="2943111" y="8786081"/>
            <a:ext cx="5277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snacks</a:t>
            </a:r>
            <a:endParaRPr sz="12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Comparing statistical representations</a:t>
            </a:r>
            <a:endParaRPr/>
          </a:p>
        </p:txBody>
      </p:sp>
      <p:pic>
        <p:nvPicPr>
          <p:cNvPr id="251" name="Google Shape;2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634" y="720035"/>
            <a:ext cx="2680967" cy="250369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2" name="Google Shape;252;p22"/>
          <p:cNvSpPr txBox="1"/>
          <p:nvPr/>
        </p:nvSpPr>
        <p:spPr>
          <a:xfrm>
            <a:off x="5148000" y="2032225"/>
            <a:ext cx="194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By using the bar chart, complete and label the pie chart.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5148000" y="720025"/>
            <a:ext cx="194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Both the partially drawn pie chart and bar chart show the same information about breakfast meals students had one day at school.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4" name="Google Shape;2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720000"/>
            <a:ext cx="1797548" cy="2945148"/>
          </a:xfrm>
          <a:prstGeom prst="rect">
            <a:avLst/>
          </a:prstGeom>
          <a:noFill/>
          <a:ln cap="flat" cmpd="sng" w="9525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5" name="Google Shape;255;p22"/>
          <p:cNvSpPr txBox="1"/>
          <p:nvPr/>
        </p:nvSpPr>
        <p:spPr>
          <a:xfrm>
            <a:off x="2942722" y="1258332"/>
            <a:ext cx="4113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120°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2612197" y="2892895"/>
            <a:ext cx="4113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60°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3995283" y="2084220"/>
            <a:ext cx="4113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180°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8" name="Google Shape;258;p22"/>
          <p:cNvCxnSpPr/>
          <p:nvPr/>
        </p:nvCxnSpPr>
        <p:spPr>
          <a:xfrm>
            <a:off x="474757" y="38276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