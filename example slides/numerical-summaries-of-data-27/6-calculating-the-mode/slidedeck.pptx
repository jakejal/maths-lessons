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5E578E-FDEE-4BF7-97D1-2906D7F50F4E}">
  <a:tblStyle styleId="{995E578E-FDEE-4BF7-97D1-2906D7F50F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4ba37bc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4ba37bc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9f4ee3197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f4ee3197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ea4ba37bc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a4ba37b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ea4ba37bc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ea4ba37bc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1ea4ba37bc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1ea4ba37bc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1ea4ba37bc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1ea4ba37bc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1ea4ba37bc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1ea4ba37bc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95c0a8ef5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95c0a8ef5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95c0a8ef5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95c0a8ef5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1ea4ba37bc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1ea4ba37bc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1ea4ba37bc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1ea4ba37bc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962fadd69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962fadd69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ea4ba37bc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ea4ba37bc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ea4ba37bc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ea4ba37bc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962fadd69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962fadd69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962fadd69e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962fadd69e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2962fadd69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962fadd69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962fadd69e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962fadd69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1ea4ba37bc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1ea4ba37bc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1ea4ba37bc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1ea4ba37bc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ea4ba37bc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1ea4ba37bc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95c0a8ef5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95c0a8ef5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295c0a8ef5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295c0a8ef5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95c0a8ef5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95c0a8ef5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1ea4ba37bca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1ea4ba37bc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1ea4ba37bc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1ea4ba37bc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ea4ba37bc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1ea4ba37bc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from NCETM Y8 Checkpoints Statistical representations: Checkpoint 13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962fadd69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962fadd69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962fadd69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962fadd69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962fadd69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962fadd69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962fadd69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962fadd69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1ea4ba37bc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1ea4ba37bc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962fadd69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962fadd69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1ea4ba37bca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1ea4ba37bca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1ea4ba37bc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1ea4ba37bc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1ea4ba37bca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1ea4ba37bca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1ea4ba37bc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1ea4ba37bc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ea4ba37bc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ea4ba37bc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95c0a8ef5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95c0a8ef5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2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2.png"/><Relationship Id="rId4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2.png"/><Relationship Id="rId4" Type="http://schemas.openxmlformats.org/officeDocument/2006/relationships/image" Target="../media/image32.png"/><Relationship Id="rId11" Type="http://schemas.openxmlformats.org/officeDocument/2006/relationships/image" Target="../media/image20.png"/><Relationship Id="rId10" Type="http://schemas.openxmlformats.org/officeDocument/2006/relationships/image" Target="../media/image35.png"/><Relationship Id="rId9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3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50.png"/><Relationship Id="rId5" Type="http://schemas.openxmlformats.org/officeDocument/2006/relationships/image" Target="../media/image4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png"/><Relationship Id="rId4" Type="http://schemas.openxmlformats.org/officeDocument/2006/relationships/image" Target="../media/image49.png"/><Relationship Id="rId5" Type="http://schemas.openxmlformats.org/officeDocument/2006/relationships/image" Target="../media/image5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64.png"/><Relationship Id="rId6" Type="http://schemas.openxmlformats.org/officeDocument/2006/relationships/image" Target="../media/image6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mode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the mode from data presented in a frequency table and different graphs.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14508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frequency</a:t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1" y="28483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mode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idx="1" type="subTitle"/>
          </p:nvPr>
        </p:nvSpPr>
        <p:spPr>
          <a:xfrm>
            <a:off x="324000" y="14508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frequency</a:t>
            </a:r>
            <a:r>
              <a:rPr lang="en-GB"/>
              <a:t> is the number of times an event occurs; or the number of individuals (people, animals etc.) with some specific property. </a:t>
            </a:r>
            <a:endParaRPr/>
          </a:p>
        </p:txBody>
      </p:sp>
      <p:sp>
        <p:nvSpPr>
          <p:cNvPr id="773" name="Google Shape;773;p68"/>
          <p:cNvSpPr txBox="1"/>
          <p:nvPr>
            <p:ph idx="2" type="subTitle"/>
          </p:nvPr>
        </p:nvSpPr>
        <p:spPr>
          <a:xfrm>
            <a:off x="324001" y="28483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mode</a:t>
            </a:r>
            <a:r>
              <a:rPr lang="en-GB"/>
              <a:t> is the most frequent value. It is a measure of central tendency representing the average of the values.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a frequency table</a:t>
            </a:r>
            <a:endParaRPr/>
          </a:p>
        </p:txBody>
      </p:sp>
      <p:sp>
        <p:nvSpPr>
          <p:cNvPr id="779" name="Google Shape;779;p6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sp>
        <p:nvSpPr>
          <p:cNvPr id="780" name="Google Shape;780;p6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sp>
        <p:nvSpPr>
          <p:cNvPr id="781" name="Google Shape;781;p6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mode</a:t>
            </a:r>
            <a:endParaRPr/>
          </a:p>
        </p:txBody>
      </p:sp>
      <p:pic>
        <p:nvPicPr>
          <p:cNvPr id="782" name="Google Shape;78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64" y="17485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a frequency table</a:t>
            </a:r>
            <a:endParaRPr/>
          </a:p>
        </p:txBody>
      </p:sp>
      <p:sp>
        <p:nvSpPr>
          <p:cNvPr id="788" name="Google Shape;788;p70"/>
          <p:cNvSpPr txBox="1"/>
          <p:nvPr>
            <p:ph idx="1" type="body"/>
          </p:nvPr>
        </p:nvSpPr>
        <p:spPr>
          <a:xfrm>
            <a:off x="324000" y="1421450"/>
            <a:ext cx="8237700" cy="7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this list of data is it clear to see that 14 appears more than any other value. The </a:t>
            </a:r>
            <a:r>
              <a:rPr b="1" lang="en-GB" sz="1800"/>
              <a:t>mode</a:t>
            </a:r>
            <a:r>
              <a:rPr lang="en-GB" sz="1800"/>
              <a:t> is 14.</a:t>
            </a:r>
            <a:endParaRPr sz="1800"/>
          </a:p>
        </p:txBody>
      </p:sp>
      <p:sp>
        <p:nvSpPr>
          <p:cNvPr id="789" name="Google Shape;789;p70"/>
          <p:cNvSpPr txBox="1"/>
          <p:nvPr/>
        </p:nvSpPr>
        <p:spPr>
          <a:xfrm>
            <a:off x="2241450" y="800700"/>
            <a:ext cx="46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12, 12, 13, 14, 14, 14, 14, 14, 14, 15, 15 </a:t>
            </a:r>
            <a:endParaRPr/>
          </a:p>
        </p:txBody>
      </p:sp>
      <p:graphicFrame>
        <p:nvGraphicFramePr>
          <p:cNvPr id="790" name="Google Shape;790;p70"/>
          <p:cNvGraphicFramePr/>
          <p:nvPr/>
        </p:nvGraphicFramePr>
        <p:xfrm>
          <a:off x="3369600" y="204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1378475"/>
                <a:gridCol w="1378475"/>
              </a:tblGrid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>
                    <a:solidFill>
                      <a:schemeClr val="accent4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</a:tr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</a:tr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</a:tr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</a:tr>
            </a:tbl>
          </a:graphicData>
        </a:graphic>
      </p:graphicFrame>
      <p:sp>
        <p:nvSpPr>
          <p:cNvPr id="791" name="Google Shape;791;p70"/>
          <p:cNvSpPr txBox="1"/>
          <p:nvPr>
            <p:ph idx="1" type="body"/>
          </p:nvPr>
        </p:nvSpPr>
        <p:spPr>
          <a:xfrm>
            <a:off x="324000" y="4210050"/>
            <a:ext cx="82377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presented as a </a:t>
            </a:r>
            <a:r>
              <a:rPr b="1" lang="en-GB" sz="1800"/>
              <a:t>frequency</a:t>
            </a:r>
            <a:r>
              <a:rPr lang="en-GB" sz="1800"/>
              <a:t> table, it can be less clear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792" name="Google Shape;792;p70"/>
          <p:cNvSpPr/>
          <p:nvPr/>
        </p:nvSpPr>
        <p:spPr>
          <a:xfrm>
            <a:off x="3411350" y="877475"/>
            <a:ext cx="2216400" cy="302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a frequency table</a:t>
            </a:r>
            <a:endParaRPr/>
          </a:p>
        </p:txBody>
      </p:sp>
      <p:sp>
        <p:nvSpPr>
          <p:cNvPr id="798" name="Google Shape;798;p71"/>
          <p:cNvSpPr txBox="1"/>
          <p:nvPr>
            <p:ph idx="1" type="body"/>
          </p:nvPr>
        </p:nvSpPr>
        <p:spPr>
          <a:xfrm>
            <a:off x="324000" y="759300"/>
            <a:ext cx="8237700" cy="4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</a:t>
            </a:r>
            <a:r>
              <a:rPr b="1" lang="en-GB"/>
              <a:t>frequency</a:t>
            </a:r>
            <a:r>
              <a:rPr lang="en-GB"/>
              <a:t> table shows the colours of pet collars.</a:t>
            </a:r>
            <a:endParaRPr/>
          </a:p>
        </p:txBody>
      </p:sp>
      <p:graphicFrame>
        <p:nvGraphicFramePr>
          <p:cNvPr id="799" name="Google Shape;799;p71"/>
          <p:cNvGraphicFramePr/>
          <p:nvPr/>
        </p:nvGraphicFramePr>
        <p:xfrm>
          <a:off x="748813" y="132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904425"/>
                <a:gridCol w="1285250"/>
              </a:tblGrid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54000" marL="54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54000" marL="54000">
                    <a:solidFill>
                      <a:schemeClr val="accent4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54000" marL="540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54000" marL="54000">
                    <a:solidFill>
                      <a:schemeClr val="lt1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54000" marL="540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54000" marL="54000">
                    <a:solidFill>
                      <a:schemeClr val="lt1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54000" marL="540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54000" marL="54000">
                    <a:solidFill>
                      <a:schemeClr val="lt1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yellow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54000" marL="540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54000" marL="54000">
                    <a:solidFill>
                      <a:schemeClr val="lt1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54000" marL="540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54000" marL="540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00" name="Google Shape;800;p71"/>
          <p:cNvSpPr txBox="1"/>
          <p:nvPr>
            <p:ph idx="1" type="body"/>
          </p:nvPr>
        </p:nvSpPr>
        <p:spPr>
          <a:xfrm>
            <a:off x="3369600" y="1325425"/>
            <a:ext cx="5408700" cy="4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highest </a:t>
            </a:r>
            <a:r>
              <a:rPr b="1" lang="en-GB"/>
              <a:t>frequency</a:t>
            </a:r>
            <a:r>
              <a:rPr lang="en-GB"/>
              <a:t> is 21.</a:t>
            </a:r>
            <a:endParaRPr/>
          </a:p>
        </p:txBody>
      </p:sp>
      <p:sp>
        <p:nvSpPr>
          <p:cNvPr id="801" name="Google Shape;801;p71"/>
          <p:cNvSpPr txBox="1"/>
          <p:nvPr>
            <p:ph idx="1" type="body"/>
          </p:nvPr>
        </p:nvSpPr>
        <p:spPr>
          <a:xfrm>
            <a:off x="3369600" y="1891550"/>
            <a:ext cx="5408700" cy="4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appears twice, so the data is bimodal.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02" name="Google Shape;802;p71"/>
          <p:cNvSpPr txBox="1"/>
          <p:nvPr>
            <p:ph idx="1" type="body"/>
          </p:nvPr>
        </p:nvSpPr>
        <p:spPr>
          <a:xfrm>
            <a:off x="3369600" y="2800350"/>
            <a:ext cx="5408700" cy="4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modal </a:t>
            </a:r>
            <a:r>
              <a:rPr lang="en-GB">
                <a:solidFill>
                  <a:schemeClr val="accent4"/>
                </a:solidFill>
              </a:rPr>
              <a:t>colours</a:t>
            </a:r>
            <a:r>
              <a:rPr lang="en-GB"/>
              <a:t> are blue and yellow.</a:t>
            </a:r>
            <a:endParaRPr/>
          </a:p>
        </p:txBody>
      </p:sp>
      <p:sp>
        <p:nvSpPr>
          <p:cNvPr id="803" name="Google Shape;803;p71"/>
          <p:cNvSpPr/>
          <p:nvPr/>
        </p:nvSpPr>
        <p:spPr>
          <a:xfrm>
            <a:off x="2117900" y="2022753"/>
            <a:ext cx="348000" cy="318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71"/>
          <p:cNvSpPr/>
          <p:nvPr/>
        </p:nvSpPr>
        <p:spPr>
          <a:xfrm>
            <a:off x="2117900" y="2656828"/>
            <a:ext cx="348000" cy="318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2"/>
          <p:cNvSpPr txBox="1"/>
          <p:nvPr>
            <p:ph idx="1" type="body"/>
          </p:nvPr>
        </p:nvSpPr>
        <p:spPr>
          <a:xfrm>
            <a:off x="324000" y="759300"/>
            <a:ext cx="8237700" cy="8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What is the mode for each </a:t>
            </a:r>
            <a:r>
              <a:rPr lang="en-GB"/>
              <a:t>frequency</a:t>
            </a:r>
            <a:r>
              <a:rPr lang="en-GB"/>
              <a:t> table? If there is no mode, write no mode.</a:t>
            </a:r>
            <a:endParaRPr/>
          </a:p>
        </p:txBody>
      </p:sp>
      <p:sp>
        <p:nvSpPr>
          <p:cNvPr id="810" name="Google Shape;810;p7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Mode from a frequency table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1" name="Google Shape;811;p72"/>
          <p:cNvGraphicFramePr/>
          <p:nvPr/>
        </p:nvGraphicFramePr>
        <p:xfrm>
          <a:off x="982200" y="171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996600"/>
                <a:gridCol w="1357175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dog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rabbit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812" name="Google Shape;812;p72"/>
          <p:cNvGraphicFramePr/>
          <p:nvPr/>
        </p:nvGraphicFramePr>
        <p:xfrm>
          <a:off x="3687375" y="171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1016025"/>
                <a:gridCol w="1383600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813" name="Google Shape;813;p72"/>
          <p:cNvGraphicFramePr/>
          <p:nvPr/>
        </p:nvGraphicFramePr>
        <p:xfrm>
          <a:off x="6433913" y="171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920550"/>
                <a:gridCol w="1352675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A data set of 50 is represented on this frequency table.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Fill in the missing frequency and</a:t>
            </a:r>
            <a:br>
              <a:rPr lang="en-GB"/>
            </a:br>
            <a:r>
              <a:rPr lang="en-GB"/>
              <a:t>write down the mode number of</a:t>
            </a:r>
            <a:br>
              <a:rPr lang="en-GB"/>
            </a:br>
            <a:r>
              <a:rPr lang="en-GB"/>
              <a:t>goals scored.</a:t>
            </a:r>
            <a:endParaRPr/>
          </a:p>
        </p:txBody>
      </p:sp>
      <p:sp>
        <p:nvSpPr>
          <p:cNvPr id="819" name="Google Shape;819;p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a frequency table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20" name="Google Shape;820;p73"/>
          <p:cNvGraphicFramePr/>
          <p:nvPr/>
        </p:nvGraphicFramePr>
        <p:xfrm>
          <a:off x="5301950" y="13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920350"/>
                <a:gridCol w="1352875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What is the mode for each frequency table? If there is no mode, write no mode.</a:t>
            </a:r>
            <a:endParaRPr/>
          </a:p>
        </p:txBody>
      </p:sp>
      <p:sp>
        <p:nvSpPr>
          <p:cNvPr id="826" name="Google Shape;826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Mode from a frequency table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27" name="Google Shape;827;p74"/>
          <p:cNvGraphicFramePr/>
          <p:nvPr/>
        </p:nvGraphicFramePr>
        <p:xfrm>
          <a:off x="1058400" y="171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1020000"/>
                <a:gridCol w="1389025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nimal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dog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rabbit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828" name="Google Shape;828;p74"/>
          <p:cNvGraphicFramePr/>
          <p:nvPr/>
        </p:nvGraphicFramePr>
        <p:xfrm>
          <a:off x="3687375" y="171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1003925"/>
                <a:gridCol w="1367150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oals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829" name="Google Shape;829;p74"/>
          <p:cNvGraphicFramePr/>
          <p:nvPr/>
        </p:nvGraphicFramePr>
        <p:xfrm>
          <a:off x="6433913" y="171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895050"/>
                <a:gridCol w="1378175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830" name="Google Shape;830;p74"/>
          <p:cNvSpPr txBox="1"/>
          <p:nvPr/>
        </p:nvSpPr>
        <p:spPr>
          <a:xfrm>
            <a:off x="1732150" y="3434050"/>
            <a:ext cx="59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cat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1" name="Google Shape;831;p74"/>
          <p:cNvSpPr txBox="1"/>
          <p:nvPr/>
        </p:nvSpPr>
        <p:spPr>
          <a:xfrm>
            <a:off x="4037075" y="3434050"/>
            <a:ext cx="181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and 2 goals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2" name="Google Shape;832;p74"/>
          <p:cNvSpPr txBox="1"/>
          <p:nvPr/>
        </p:nvSpPr>
        <p:spPr>
          <a:xfrm>
            <a:off x="6935500" y="3396225"/>
            <a:ext cx="181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no mode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A data set of 50 is represented on this frequency table.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Fill in the missing frequency and</a:t>
            </a:r>
            <a:br>
              <a:rPr lang="en-GB"/>
            </a:br>
            <a:r>
              <a:rPr lang="en-GB"/>
              <a:t>w</a:t>
            </a:r>
            <a:r>
              <a:rPr lang="en-GB"/>
              <a:t>rite down the mode number of</a:t>
            </a:r>
            <a:br>
              <a:rPr lang="en-GB"/>
            </a:br>
            <a:r>
              <a:rPr lang="en-GB"/>
              <a:t>g</a:t>
            </a:r>
            <a:r>
              <a:rPr lang="en-GB"/>
              <a:t>oals scored.</a:t>
            </a:r>
            <a:endParaRPr/>
          </a:p>
        </p:txBody>
      </p:sp>
      <p:sp>
        <p:nvSpPr>
          <p:cNvPr id="838" name="Google Shape;838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a frequency table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9" name="Google Shape;839;p75"/>
          <p:cNvGraphicFramePr/>
          <p:nvPr/>
        </p:nvGraphicFramePr>
        <p:xfrm>
          <a:off x="5301950" y="13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912175"/>
                <a:gridCol w="1361050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oals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4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840" name="Google Shape;840;p75"/>
          <p:cNvSpPr txBox="1"/>
          <p:nvPr/>
        </p:nvSpPr>
        <p:spPr>
          <a:xfrm>
            <a:off x="6754625" y="1913700"/>
            <a:ext cx="35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1" name="Google Shape;841;p75"/>
          <p:cNvSpPr txBox="1"/>
          <p:nvPr/>
        </p:nvSpPr>
        <p:spPr>
          <a:xfrm>
            <a:off x="1445850" y="2700000"/>
            <a:ext cx="201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 goals scored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a frequency table</a:t>
            </a:r>
            <a:endParaRPr/>
          </a:p>
        </p:txBody>
      </p:sp>
      <p:sp>
        <p:nvSpPr>
          <p:cNvPr id="847" name="Google Shape;847;p7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sp>
        <p:nvSpPr>
          <p:cNvPr id="848" name="Google Shape;848;p7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sp>
        <p:nvSpPr>
          <p:cNvPr id="849" name="Google Shape;849;p7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mode</a:t>
            </a:r>
            <a:endParaRPr/>
          </a:p>
        </p:txBody>
      </p:sp>
      <p:pic>
        <p:nvPicPr>
          <p:cNvPr id="850" name="Google Shape;85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50" y="277362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7"/>
          <p:cNvSpPr txBox="1"/>
          <p:nvPr>
            <p:ph idx="1" type="body"/>
          </p:nvPr>
        </p:nvSpPr>
        <p:spPr>
          <a:xfrm>
            <a:off x="324000" y="759300"/>
            <a:ext cx="7178100" cy="3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Scores for a game have been collected and are shown in the </a:t>
            </a:r>
            <a:r>
              <a:rPr b="1" lang="en-GB"/>
              <a:t>frequency</a:t>
            </a:r>
            <a:r>
              <a:rPr lang="en-GB"/>
              <a:t> table.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6" name="Google Shape;85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sp>
        <p:nvSpPr>
          <p:cNvPr id="857" name="Google Shape;857;p77"/>
          <p:cNvSpPr txBox="1"/>
          <p:nvPr/>
        </p:nvSpPr>
        <p:spPr>
          <a:xfrm>
            <a:off x="3369600" y="1837300"/>
            <a:ext cx="429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frequency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table shows that 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score is 0. </a:t>
            </a:r>
            <a:br>
              <a:rPr lang="en-GB" sz="2000"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It has the greatest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frequency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7"/>
          <p:cNvSpPr txBox="1"/>
          <p:nvPr/>
        </p:nvSpPr>
        <p:spPr>
          <a:xfrm>
            <a:off x="3369600" y="3206000"/>
            <a:ext cx="4011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 are two scores with the same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frequency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, but they are not the greatest so it isn’t bimodal.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9" name="Google Shape;859;p77"/>
          <p:cNvGraphicFramePr/>
          <p:nvPr/>
        </p:nvGraphicFramePr>
        <p:xfrm>
          <a:off x="452038" y="199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{995E578E-FDEE-4BF7-97D1-2906D7F50F4E}</a:tableStyleId>
              </a:tblPr>
              <a:tblGrid>
                <a:gridCol w="986125"/>
                <a:gridCol w="1449025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5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8"/>
          <p:cNvSpPr txBox="1"/>
          <p:nvPr>
            <p:ph idx="1" type="body"/>
          </p:nvPr>
        </p:nvSpPr>
        <p:spPr>
          <a:xfrm>
            <a:off x="324000" y="717125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Just like the </a:t>
            </a:r>
            <a:r>
              <a:rPr b="1" lang="en-GB" sz="2000"/>
              <a:t>frequency</a:t>
            </a:r>
            <a:r>
              <a:rPr lang="en-GB" sz="2000"/>
              <a:t> table, where you </a:t>
            </a:r>
            <a:r>
              <a:rPr lang="en-GB" sz="2000"/>
              <a:t>identify the greatest </a:t>
            </a:r>
            <a:r>
              <a:rPr b="1" lang="en-GB" sz="2000"/>
              <a:t>frequency</a:t>
            </a:r>
            <a:r>
              <a:rPr lang="en-GB" sz="2000"/>
              <a:t>; in a bar chart you identify the tallest bar(s).</a:t>
            </a:r>
            <a:endParaRPr sz="2000"/>
          </a:p>
        </p:txBody>
      </p:sp>
      <p:sp>
        <p:nvSpPr>
          <p:cNvPr id="865" name="Google Shape;86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pic>
        <p:nvPicPr>
          <p:cNvPr id="866" name="Google Shape;86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423422"/>
            <a:ext cx="4677424" cy="33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78"/>
          <p:cNvSpPr txBox="1"/>
          <p:nvPr/>
        </p:nvSpPr>
        <p:spPr>
          <a:xfrm>
            <a:off x="5340900" y="1620000"/>
            <a:ext cx="3220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bar is the tallest; 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score is 0.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8"/>
          <p:cNvSpPr txBox="1"/>
          <p:nvPr/>
        </p:nvSpPr>
        <p:spPr>
          <a:xfrm>
            <a:off x="5279300" y="2764200"/>
            <a:ext cx="360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 are two bars of the same height, but they are not the tallest, so it isn’t bimodal.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9" name="Google Shape;869;p78"/>
          <p:cNvCxnSpPr>
            <a:stCxn id="867" idx="1"/>
          </p:cNvCxnSpPr>
          <p:nvPr/>
        </p:nvCxnSpPr>
        <p:spPr>
          <a:xfrm rot="10800000">
            <a:off x="1437300" y="1952100"/>
            <a:ext cx="3903600" cy="6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most frequent height.</a:t>
            </a:r>
            <a:endParaRPr/>
          </a:p>
        </p:txBody>
      </p:sp>
      <p:sp>
        <p:nvSpPr>
          <p:cNvPr id="875" name="Google Shape;875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sp>
        <p:nvSpPr>
          <p:cNvPr id="876" name="Google Shape;876;p7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 a bar chart, the </a:t>
            </a:r>
            <a:r>
              <a:rPr b="1" lang="en-GB"/>
              <a:t>mode</a:t>
            </a:r>
            <a:r>
              <a:rPr lang="en-GB"/>
              <a:t> is …</a:t>
            </a:r>
            <a:endParaRPr/>
          </a:p>
        </p:txBody>
      </p:sp>
      <p:sp>
        <p:nvSpPr>
          <p:cNvPr id="877" name="Google Shape;877;p7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frequency of the tallest bar.</a:t>
            </a:r>
            <a:endParaRPr/>
          </a:p>
        </p:txBody>
      </p:sp>
      <p:sp>
        <p:nvSpPr>
          <p:cNvPr id="878" name="Google Shape;878;p7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context of the tallest bar.</a:t>
            </a:r>
            <a:endParaRPr/>
          </a:p>
        </p:txBody>
      </p:sp>
      <p:pic>
        <p:nvPicPr>
          <p:cNvPr id="879" name="Google Shape;87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033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9"/>
          <p:cNvSpPr txBox="1"/>
          <p:nvPr/>
        </p:nvSpPr>
        <p:spPr>
          <a:xfrm>
            <a:off x="5907475" y="1993850"/>
            <a:ext cx="29124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mode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is about the context of the data.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frequency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indicates which it is.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80"/>
          <p:cNvSpPr txBox="1"/>
          <p:nvPr>
            <p:ph idx="1" type="body"/>
          </p:nvPr>
        </p:nvSpPr>
        <p:spPr>
          <a:xfrm>
            <a:off x="324000" y="759300"/>
            <a:ext cx="7580400" cy="11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Laura’s homework is to complete a bar chart.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task tells her that the data is </a:t>
            </a:r>
            <a:r>
              <a:rPr lang="en-GB" sz="1800">
                <a:solidFill>
                  <a:schemeClr val="accent5"/>
                </a:solidFill>
              </a:rPr>
              <a:t>trimodal</a:t>
            </a:r>
            <a:r>
              <a:rPr lang="en-GB" sz="1800"/>
              <a:t> and there are 600 pieces of data. The bars 1, 3 and 5 are missing.</a:t>
            </a:r>
            <a:endParaRPr sz="1800"/>
          </a:p>
        </p:txBody>
      </p:sp>
      <p:sp>
        <p:nvSpPr>
          <p:cNvPr id="886" name="Google Shape;88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pic>
        <p:nvPicPr>
          <p:cNvPr id="887" name="Google Shape;88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488" y="810012"/>
            <a:ext cx="611466" cy="80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400" y="1915800"/>
            <a:ext cx="3028650" cy="2962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400" y="1918672"/>
            <a:ext cx="3028640" cy="29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0"/>
          <p:cNvSpPr txBox="1"/>
          <p:nvPr/>
        </p:nvSpPr>
        <p:spPr>
          <a:xfrm>
            <a:off x="4204775" y="1915800"/>
            <a:ext cx="4356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 remembers that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trimodal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means there will be three of the tallest bars.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which is the tallest?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80"/>
          <p:cNvSpPr txBox="1"/>
          <p:nvPr/>
        </p:nvSpPr>
        <p:spPr>
          <a:xfrm>
            <a:off x="4326600" y="3517250"/>
            <a:ext cx="4356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0 bar has the greatest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90. So three bars of heights 90.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81"/>
          <p:cNvSpPr txBox="1"/>
          <p:nvPr>
            <p:ph idx="1" type="body"/>
          </p:nvPr>
        </p:nvSpPr>
        <p:spPr>
          <a:xfrm>
            <a:off x="324000" y="759300"/>
            <a:ext cx="7580400" cy="11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Laura’s homework is to complete a bar chart.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task tells her that the data is </a:t>
            </a:r>
            <a:r>
              <a:rPr lang="en-GB" sz="1800">
                <a:solidFill>
                  <a:schemeClr val="accent5"/>
                </a:solidFill>
              </a:rPr>
              <a:t>trimodal</a:t>
            </a:r>
            <a:r>
              <a:rPr lang="en-GB" sz="1800"/>
              <a:t> and there are 600 pieces of data. The bars 1, 3 and 5 are missing.</a:t>
            </a:r>
            <a:endParaRPr sz="1800"/>
          </a:p>
        </p:txBody>
      </p:sp>
      <p:sp>
        <p:nvSpPr>
          <p:cNvPr id="897" name="Google Shape;89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sp>
        <p:nvSpPr>
          <p:cNvPr id="898" name="Google Shape;898;p81"/>
          <p:cNvSpPr txBox="1"/>
          <p:nvPr/>
        </p:nvSpPr>
        <p:spPr>
          <a:xfrm>
            <a:off x="4235050" y="2790875"/>
            <a:ext cx="4356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Currently there is a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total of 90 + 90 + 80 + 90 + 70 = 420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Which means the score 5 bar will need to have a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180.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99" name="Google Shape;89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488" y="810012"/>
            <a:ext cx="611466" cy="80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400" y="1915813"/>
            <a:ext cx="3028650" cy="2962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400" y="1915800"/>
            <a:ext cx="3028650" cy="2962819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81"/>
          <p:cNvSpPr txBox="1"/>
          <p:nvPr/>
        </p:nvSpPr>
        <p:spPr>
          <a:xfrm>
            <a:off x="4204775" y="2021700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needs to be a total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frequency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600.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2"/>
          <p:cNvSpPr txBox="1"/>
          <p:nvPr>
            <p:ph idx="1" type="body"/>
          </p:nvPr>
        </p:nvSpPr>
        <p:spPr>
          <a:xfrm>
            <a:off x="324000" y="759300"/>
            <a:ext cx="7580400" cy="11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Laura’s homework is to complete a bar chart.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task tells her that the data is </a:t>
            </a:r>
            <a:r>
              <a:rPr lang="en-GB" sz="1800">
                <a:solidFill>
                  <a:schemeClr val="accent5"/>
                </a:solidFill>
              </a:rPr>
              <a:t>trimodal</a:t>
            </a:r>
            <a:r>
              <a:rPr lang="en-GB" sz="1800"/>
              <a:t> and there are 600 pieces of data. The bars 1, 3 and 5 are missing.</a:t>
            </a:r>
            <a:endParaRPr sz="1800"/>
          </a:p>
        </p:txBody>
      </p:sp>
      <p:sp>
        <p:nvSpPr>
          <p:cNvPr id="908" name="Google Shape;90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pic>
        <p:nvPicPr>
          <p:cNvPr id="909" name="Google Shape;90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488" y="810012"/>
            <a:ext cx="611466" cy="80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400" y="1915813"/>
            <a:ext cx="3028650" cy="296281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2"/>
          <p:cNvSpPr txBox="1"/>
          <p:nvPr/>
        </p:nvSpPr>
        <p:spPr>
          <a:xfrm>
            <a:off x="4386325" y="2021700"/>
            <a:ext cx="43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data is no longer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trimodal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83"/>
          <p:cNvSpPr txBox="1"/>
          <p:nvPr>
            <p:ph idx="1" type="body"/>
          </p:nvPr>
        </p:nvSpPr>
        <p:spPr>
          <a:xfrm>
            <a:off x="324000" y="759300"/>
            <a:ext cx="7580400" cy="11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Laura’s homework is to complete a bar chart.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task tells her that the data is </a:t>
            </a:r>
            <a:r>
              <a:rPr lang="en-GB" sz="1800">
                <a:solidFill>
                  <a:schemeClr val="accent5"/>
                </a:solidFill>
              </a:rPr>
              <a:t>trimodal</a:t>
            </a:r>
            <a:r>
              <a:rPr lang="en-GB" sz="1800"/>
              <a:t> and there are 600 pieces of data. The bars 1, 3 and 5 are missing.</a:t>
            </a:r>
            <a:endParaRPr sz="1800"/>
          </a:p>
        </p:txBody>
      </p:sp>
      <p:sp>
        <p:nvSpPr>
          <p:cNvPr id="917" name="Google Shape;91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pic>
        <p:nvPicPr>
          <p:cNvPr id="918" name="Google Shape;91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488" y="810012"/>
            <a:ext cx="611466" cy="800836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3"/>
          <p:cNvSpPr txBox="1"/>
          <p:nvPr/>
        </p:nvSpPr>
        <p:spPr>
          <a:xfrm>
            <a:off x="4386325" y="2021700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 decides to start with the total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0" name="Google Shape;92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400" y="1857600"/>
            <a:ext cx="3028640" cy="29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3"/>
          <p:cNvSpPr txBox="1"/>
          <p:nvPr/>
        </p:nvSpPr>
        <p:spPr>
          <a:xfrm>
            <a:off x="4386325" y="2821125"/>
            <a:ext cx="4356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Currently there is a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total of 90 + 80 + 70 = 240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Which means the other three bars need a total of 360.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84"/>
          <p:cNvSpPr txBox="1"/>
          <p:nvPr>
            <p:ph idx="1" type="body"/>
          </p:nvPr>
        </p:nvSpPr>
        <p:spPr>
          <a:xfrm>
            <a:off x="324000" y="759300"/>
            <a:ext cx="7580400" cy="11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Laura’s homework is to complete a bar chart.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task tells her that the data is </a:t>
            </a:r>
            <a:r>
              <a:rPr lang="en-GB" sz="1800">
                <a:solidFill>
                  <a:schemeClr val="accent5"/>
                </a:solidFill>
              </a:rPr>
              <a:t>trimodal</a:t>
            </a:r>
            <a:r>
              <a:rPr lang="en-GB" sz="1800"/>
              <a:t> and there are 600 pieces of data. The bars 1, 3 and 5 are missing.</a:t>
            </a:r>
            <a:endParaRPr sz="1800"/>
          </a:p>
        </p:txBody>
      </p:sp>
      <p:sp>
        <p:nvSpPr>
          <p:cNvPr id="927" name="Google Shape;92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pic>
        <p:nvPicPr>
          <p:cNvPr id="928" name="Google Shape;92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488" y="810012"/>
            <a:ext cx="611466" cy="800836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4"/>
          <p:cNvSpPr txBox="1"/>
          <p:nvPr/>
        </p:nvSpPr>
        <p:spPr>
          <a:xfrm>
            <a:off x="4386325" y="2021700"/>
            <a:ext cx="435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data is also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trimodal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so the three bars need to be equal heights and taller than the other three.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0" name="Google Shape;930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400" y="1857600"/>
            <a:ext cx="3028640" cy="29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84"/>
          <p:cNvSpPr txBox="1"/>
          <p:nvPr/>
        </p:nvSpPr>
        <p:spPr>
          <a:xfrm>
            <a:off x="4386325" y="3125925"/>
            <a:ext cx="435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360 ÷ 3 = 120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32" name="Google Shape;932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400" y="1857596"/>
            <a:ext cx="3028650" cy="296281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4"/>
          <p:cNvSpPr txBox="1"/>
          <p:nvPr/>
        </p:nvSpPr>
        <p:spPr>
          <a:xfrm>
            <a:off x="4493000" y="3773300"/>
            <a:ext cx="348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 has completed her homework.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85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Izzy has the same homework task and submits this. </a:t>
            </a:r>
            <a:endParaRPr sz="1800"/>
          </a:p>
        </p:txBody>
      </p:sp>
      <p:sp>
        <p:nvSpPr>
          <p:cNvPr id="939" name="Google Shape;93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pic>
        <p:nvPicPr>
          <p:cNvPr id="940" name="Google Shape;94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0050" y="745330"/>
            <a:ext cx="691651" cy="6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25" y="1225800"/>
            <a:ext cx="3425375" cy="33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5"/>
          <p:cNvSpPr txBox="1"/>
          <p:nvPr/>
        </p:nvSpPr>
        <p:spPr>
          <a:xfrm>
            <a:off x="4523250" y="1225800"/>
            <a:ext cx="23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Why is it incorrect?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85"/>
          <p:cNvSpPr txBox="1"/>
          <p:nvPr/>
        </p:nvSpPr>
        <p:spPr>
          <a:xfrm>
            <a:off x="4572000" y="1936375"/>
            <a:ext cx="4356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doesn’t have a total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600.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has three pairs of equal bars, but that isn’t the definition of trimodal.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6"/>
          <p:cNvSpPr txBox="1"/>
          <p:nvPr>
            <p:ph idx="1" type="body"/>
          </p:nvPr>
        </p:nvSpPr>
        <p:spPr>
          <a:xfrm>
            <a:off x="324000" y="759300"/>
            <a:ext cx="82377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What is the mode on each of these bar charts?</a:t>
            </a:r>
            <a:endParaRPr sz="2000"/>
          </a:p>
        </p:txBody>
      </p:sp>
      <p:sp>
        <p:nvSpPr>
          <p:cNvPr id="949" name="Google Shape;949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Mode from bar charts</a:t>
            </a:r>
            <a:endParaRPr/>
          </a:p>
        </p:txBody>
      </p:sp>
      <p:pic>
        <p:nvPicPr>
          <p:cNvPr id="950" name="Google Shape;95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200" y="1240500"/>
            <a:ext cx="3526800" cy="233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3200" y="1215838"/>
            <a:ext cx="3526799" cy="2383755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6"/>
          <p:cNvSpPr txBox="1"/>
          <p:nvPr/>
        </p:nvSpPr>
        <p:spPr>
          <a:xfrm>
            <a:off x="324000" y="1179975"/>
            <a:ext cx="4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6"/>
          <p:cNvSpPr txBox="1"/>
          <p:nvPr/>
        </p:nvSpPr>
        <p:spPr>
          <a:xfrm>
            <a:off x="4763075" y="1179975"/>
            <a:ext cx="4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87"/>
          <p:cNvSpPr txBox="1"/>
          <p:nvPr>
            <p:ph idx="1" type="body"/>
          </p:nvPr>
        </p:nvSpPr>
        <p:spPr>
          <a:xfrm>
            <a:off x="324000" y="759300"/>
            <a:ext cx="82377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The data is bimodal. Complete the bar chart.</a:t>
            </a:r>
            <a:endParaRPr/>
          </a:p>
        </p:txBody>
      </p:sp>
      <p:sp>
        <p:nvSpPr>
          <p:cNvPr id="959" name="Google Shape;959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60" name="Google Shape;96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550" y="1179900"/>
            <a:ext cx="5008258" cy="365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425" y="1785675"/>
            <a:ext cx="4867549" cy="276028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3"/>
            </a:pPr>
            <a:r>
              <a:rPr lang="en-GB" sz="1800"/>
              <a:t>100 pieces of data are represented on a bar chart. </a:t>
            </a:r>
            <a:br>
              <a:rPr lang="en-GB" sz="1800"/>
            </a:br>
            <a:r>
              <a:rPr lang="en-GB" sz="1800"/>
              <a:t>The data is bimodal. </a:t>
            </a:r>
            <a:br>
              <a:rPr lang="en-GB" sz="1800"/>
            </a:br>
            <a:r>
              <a:rPr lang="en-GB" sz="1800"/>
              <a:t>Add the two missing bars.</a:t>
            </a:r>
            <a:endParaRPr sz="1800"/>
          </a:p>
        </p:txBody>
      </p:sp>
      <p:sp>
        <p:nvSpPr>
          <p:cNvPr id="967" name="Google Shape;967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sp>
        <p:nvSpPr>
          <p:cNvPr id="968" name="Google Shape;968;p88"/>
          <p:cNvSpPr txBox="1"/>
          <p:nvPr/>
        </p:nvSpPr>
        <p:spPr>
          <a:xfrm>
            <a:off x="5468750" y="4198725"/>
            <a:ext cx="13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Types of tree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What is the mode on each of these bar charts?</a:t>
            </a:r>
            <a:endParaRPr sz="2000"/>
          </a:p>
        </p:txBody>
      </p:sp>
      <p:sp>
        <p:nvSpPr>
          <p:cNvPr id="974" name="Google Shape;974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Mode from bar charts</a:t>
            </a:r>
            <a:endParaRPr/>
          </a:p>
        </p:txBody>
      </p:sp>
      <p:pic>
        <p:nvPicPr>
          <p:cNvPr id="975" name="Google Shape;97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175" y="1240500"/>
            <a:ext cx="3020793" cy="199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875" y="1350125"/>
            <a:ext cx="2796100" cy="18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9"/>
          <p:cNvSpPr txBox="1"/>
          <p:nvPr/>
        </p:nvSpPr>
        <p:spPr>
          <a:xfrm>
            <a:off x="604975" y="1179975"/>
            <a:ext cx="4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9"/>
          <p:cNvSpPr txBox="1"/>
          <p:nvPr/>
        </p:nvSpPr>
        <p:spPr>
          <a:xfrm>
            <a:off x="4589400" y="1179975"/>
            <a:ext cx="4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9"/>
          <p:cNvSpPr txBox="1"/>
          <p:nvPr/>
        </p:nvSpPr>
        <p:spPr>
          <a:xfrm>
            <a:off x="1981750" y="3464325"/>
            <a:ext cx="142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Carriage 1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0" name="Google Shape;980;p89"/>
          <p:cNvSpPr txBox="1"/>
          <p:nvPr/>
        </p:nvSpPr>
        <p:spPr>
          <a:xfrm>
            <a:off x="5931275" y="3427625"/>
            <a:ext cx="142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Size 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550" y="1179900"/>
            <a:ext cx="5008251" cy="365879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The data is bimodal. Complete the bar chart.</a:t>
            </a:r>
            <a:endParaRPr/>
          </a:p>
        </p:txBody>
      </p:sp>
      <p:sp>
        <p:nvSpPr>
          <p:cNvPr id="987" name="Google Shape;987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90"/>
          <p:cNvSpPr txBox="1"/>
          <p:nvPr/>
        </p:nvSpPr>
        <p:spPr>
          <a:xfrm>
            <a:off x="6444500" y="1620000"/>
            <a:ext cx="246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Bimodal means it has two that appear the most, more than any others.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3"/>
            </a:pPr>
            <a:r>
              <a:rPr lang="en-GB" sz="1800"/>
              <a:t>100 pieces of data are represented on a bar chart. </a:t>
            </a:r>
            <a:br>
              <a:rPr lang="en-GB" sz="1800"/>
            </a:br>
            <a:r>
              <a:rPr lang="en-GB" sz="1800"/>
              <a:t>The data is bimodal. </a:t>
            </a:r>
            <a:br>
              <a:rPr lang="en-GB" sz="1800"/>
            </a:br>
            <a:r>
              <a:rPr lang="en-GB" sz="1800"/>
              <a:t>Add the two missing bars.</a:t>
            </a:r>
            <a:endParaRPr sz="1800"/>
          </a:p>
        </p:txBody>
      </p:sp>
      <p:sp>
        <p:nvSpPr>
          <p:cNvPr id="994" name="Google Shape;994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pic>
        <p:nvPicPr>
          <p:cNvPr id="995" name="Google Shape;99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413" y="1785675"/>
            <a:ext cx="4867574" cy="276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91"/>
          <p:cNvSpPr txBox="1"/>
          <p:nvPr/>
        </p:nvSpPr>
        <p:spPr>
          <a:xfrm>
            <a:off x="5468750" y="4198725"/>
            <a:ext cx="13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Types of tree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9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a frequency table</a:t>
            </a:r>
            <a:endParaRPr/>
          </a:p>
        </p:txBody>
      </p:sp>
      <p:sp>
        <p:nvSpPr>
          <p:cNvPr id="1002" name="Google Shape;1002;p9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bar charts</a:t>
            </a:r>
            <a:endParaRPr/>
          </a:p>
        </p:txBody>
      </p:sp>
      <p:sp>
        <p:nvSpPr>
          <p:cNvPr id="1003" name="Google Shape;1003;p9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sp>
        <p:nvSpPr>
          <p:cNvPr id="1004" name="Google Shape;1004;p9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mode</a:t>
            </a:r>
            <a:endParaRPr/>
          </a:p>
        </p:txBody>
      </p:sp>
      <p:pic>
        <p:nvPicPr>
          <p:cNvPr id="1005" name="Google Shape;100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14" y="37004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93"/>
          <p:cNvSpPr txBox="1"/>
          <p:nvPr>
            <p:ph idx="1" type="body"/>
          </p:nvPr>
        </p:nvSpPr>
        <p:spPr>
          <a:xfrm>
            <a:off x="324000" y="759300"/>
            <a:ext cx="82377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picture shows the five tallest buildings in the world. </a:t>
            </a:r>
            <a:endParaRPr sz="1800"/>
          </a:p>
        </p:txBody>
      </p:sp>
      <p:sp>
        <p:nvSpPr>
          <p:cNvPr id="1011" name="Google Shape;101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012" name="Google Shape;101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275" y="1144600"/>
            <a:ext cx="4084250" cy="256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93"/>
          <p:cNvSpPr txBox="1"/>
          <p:nvPr/>
        </p:nvSpPr>
        <p:spPr>
          <a:xfrm>
            <a:off x="1263200" y="3532375"/>
            <a:ext cx="3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93"/>
          <p:cNvSpPr txBox="1"/>
          <p:nvPr/>
        </p:nvSpPr>
        <p:spPr>
          <a:xfrm>
            <a:off x="1824050" y="3532375"/>
            <a:ext cx="3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93"/>
          <p:cNvSpPr txBox="1"/>
          <p:nvPr/>
        </p:nvSpPr>
        <p:spPr>
          <a:xfrm>
            <a:off x="2769900" y="3532375"/>
            <a:ext cx="3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93"/>
          <p:cNvSpPr txBox="1"/>
          <p:nvPr/>
        </p:nvSpPr>
        <p:spPr>
          <a:xfrm>
            <a:off x="3656000" y="3532375"/>
            <a:ext cx="3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93"/>
          <p:cNvSpPr txBox="1"/>
          <p:nvPr/>
        </p:nvSpPr>
        <p:spPr>
          <a:xfrm>
            <a:off x="4111500" y="3532375"/>
            <a:ext cx="3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93"/>
          <p:cNvSpPr txBox="1"/>
          <p:nvPr/>
        </p:nvSpPr>
        <p:spPr>
          <a:xfrm>
            <a:off x="4614300" y="1095650"/>
            <a:ext cx="42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most common height?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9" name="Google Shape;1019;p93"/>
          <p:cNvGrpSpPr/>
          <p:nvPr/>
        </p:nvGrpSpPr>
        <p:grpSpPr>
          <a:xfrm>
            <a:off x="4651947" y="1540800"/>
            <a:ext cx="2484303" cy="1845963"/>
            <a:chOff x="4651947" y="1540800"/>
            <a:chExt cx="2484303" cy="1845963"/>
          </a:xfrm>
        </p:grpSpPr>
        <p:pic>
          <p:nvPicPr>
            <p:cNvPr id="1020" name="Google Shape;102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786082" y="2485256"/>
              <a:ext cx="591556" cy="5724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93"/>
            <p:cNvSpPr txBox="1"/>
            <p:nvPr/>
          </p:nvSpPr>
          <p:spPr>
            <a:xfrm>
              <a:off x="4651947" y="3075663"/>
              <a:ext cx="879900" cy="3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22" name="Google Shape;1022;p9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5180999" y="1540800"/>
              <a:ext cx="1955251" cy="1082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3" name="Google Shape;1023;p93"/>
            <p:cNvSpPr txBox="1"/>
            <p:nvPr/>
          </p:nvSpPr>
          <p:spPr>
            <a:xfrm>
              <a:off x="5300925" y="1644675"/>
              <a:ext cx="17154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tallest so about 825 m.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4" name="Google Shape;1024;p93"/>
          <p:cNvGrpSpPr/>
          <p:nvPr/>
        </p:nvGrpSpPr>
        <p:grpSpPr>
          <a:xfrm>
            <a:off x="6270800" y="2470900"/>
            <a:ext cx="2519503" cy="1931600"/>
            <a:chOff x="6270800" y="2470900"/>
            <a:chExt cx="2519503" cy="1931600"/>
          </a:xfrm>
        </p:grpSpPr>
        <p:sp>
          <p:nvSpPr>
            <p:cNvPr id="1025" name="Google Shape;1025;p93"/>
            <p:cNvSpPr txBox="1"/>
            <p:nvPr/>
          </p:nvSpPr>
          <p:spPr>
            <a:xfrm>
              <a:off x="7763103" y="4091400"/>
              <a:ext cx="1027200" cy="3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26" name="Google Shape;1026;p9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121054" y="3615667"/>
              <a:ext cx="428839" cy="4757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7" name="Google Shape;1027;p93"/>
            <p:cNvPicPr preferRelativeResize="0"/>
            <p:nvPr/>
          </p:nvPicPr>
          <p:blipFill rotWithShape="1">
            <a:blip r:embed="rId5">
              <a:alphaModFix/>
            </a:blip>
            <a:srcRect b="0" l="0" r="70143" t="56280"/>
            <a:stretch/>
          </p:blipFill>
          <p:spPr>
            <a:xfrm>
              <a:off x="6270800" y="2470900"/>
              <a:ext cx="2013425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93"/>
            <p:cNvSpPr txBox="1"/>
            <p:nvPr/>
          </p:nvSpPr>
          <p:spPr>
            <a:xfrm>
              <a:off x="6337900" y="2606738"/>
              <a:ext cx="22341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 and D are the same height, so 600 m.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9" name="Google Shape;1029;p93"/>
          <p:cNvSpPr txBox="1"/>
          <p:nvPr/>
        </p:nvSpPr>
        <p:spPr>
          <a:xfrm>
            <a:off x="414050" y="3932575"/>
            <a:ext cx="7142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is approximately 825 m, 625 m, 600 m, 600 m, 550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would be 600 m as it appears more than any other value.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94"/>
          <p:cNvSpPr txBox="1"/>
          <p:nvPr>
            <p:ph idx="1" type="body"/>
          </p:nvPr>
        </p:nvSpPr>
        <p:spPr>
          <a:xfrm>
            <a:off x="324000" y="3780000"/>
            <a:ext cx="8237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difference between the bar chart and the line graph is that the bars represent multiple pieces of data, whereas the line graph is a single value at each point.</a:t>
            </a:r>
            <a:endParaRPr sz="1800"/>
          </a:p>
        </p:txBody>
      </p:sp>
      <p:sp>
        <p:nvSpPr>
          <p:cNvPr id="1035" name="Google Shape;103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036" name="Google Shape;103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00" y="1216475"/>
            <a:ext cx="3797800" cy="256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1875" y="1148100"/>
            <a:ext cx="3529814" cy="256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94"/>
          <p:cNvSpPr txBox="1"/>
          <p:nvPr/>
        </p:nvSpPr>
        <p:spPr>
          <a:xfrm>
            <a:off x="378200" y="540000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Bar chart showing shoe sizes in a group of pupils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4"/>
          <p:cNvSpPr txBox="1"/>
          <p:nvPr/>
        </p:nvSpPr>
        <p:spPr>
          <a:xfrm>
            <a:off x="5083600" y="540000"/>
            <a:ext cx="359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Line graph showing weekly hits on a website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95"/>
          <p:cNvSpPr txBox="1"/>
          <p:nvPr>
            <p:ph idx="1" type="body"/>
          </p:nvPr>
        </p:nvSpPr>
        <p:spPr>
          <a:xfrm>
            <a:off x="324000" y="3780000"/>
            <a:ext cx="82377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means the </a:t>
            </a:r>
            <a:r>
              <a:rPr b="1" lang="en-GB" sz="1800"/>
              <a:t>mode</a:t>
            </a:r>
            <a:r>
              <a:rPr lang="en-GB" sz="1800"/>
              <a:t> is found differently. </a:t>
            </a:r>
            <a:br>
              <a:rPr lang="en-GB" sz="1800"/>
            </a:br>
            <a:r>
              <a:rPr lang="en-GB" sz="1800"/>
              <a:t>On the bar chart, it is the tallest bar(s).</a:t>
            </a:r>
            <a:endParaRPr sz="1800"/>
          </a:p>
        </p:txBody>
      </p:sp>
      <p:sp>
        <p:nvSpPr>
          <p:cNvPr id="1045" name="Google Shape;104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046" name="Google Shape;104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00" y="1216475"/>
            <a:ext cx="3797800" cy="256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1875" y="1148100"/>
            <a:ext cx="3529814" cy="256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95"/>
          <p:cNvSpPr txBox="1"/>
          <p:nvPr/>
        </p:nvSpPr>
        <p:spPr>
          <a:xfrm>
            <a:off x="378200" y="540000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Bar chart showing shoe sizes in a group of pupils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5"/>
          <p:cNvSpPr txBox="1"/>
          <p:nvPr/>
        </p:nvSpPr>
        <p:spPr>
          <a:xfrm>
            <a:off x="5083600" y="540000"/>
            <a:ext cx="359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Line graph showing weekly hits on a website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5"/>
          <p:cNvSpPr txBox="1"/>
          <p:nvPr/>
        </p:nvSpPr>
        <p:spPr>
          <a:xfrm>
            <a:off x="5441875" y="3952925"/>
            <a:ext cx="234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Size 4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95"/>
          <p:cNvSpPr/>
          <p:nvPr/>
        </p:nvSpPr>
        <p:spPr>
          <a:xfrm>
            <a:off x="2390213" y="1543050"/>
            <a:ext cx="204300" cy="1996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96"/>
          <p:cNvSpPr txBox="1"/>
          <p:nvPr>
            <p:ph idx="1" type="body"/>
          </p:nvPr>
        </p:nvSpPr>
        <p:spPr>
          <a:xfrm>
            <a:off x="324000" y="3780000"/>
            <a:ext cx="82377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means the </a:t>
            </a:r>
            <a:r>
              <a:rPr b="1" lang="en-GB" sz="1800"/>
              <a:t>mode</a:t>
            </a:r>
            <a:r>
              <a:rPr lang="en-GB" sz="1800"/>
              <a:t> is found differently. </a:t>
            </a:r>
            <a:br>
              <a:rPr lang="en-GB" sz="1800"/>
            </a:br>
            <a:r>
              <a:rPr lang="en-GB" sz="1800"/>
              <a:t>On the line graph, it is the most points at the same horizontal value.</a:t>
            </a:r>
            <a:endParaRPr sz="1800"/>
          </a:p>
        </p:txBody>
      </p:sp>
      <p:sp>
        <p:nvSpPr>
          <p:cNvPr id="1057" name="Google Shape;105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058" name="Google Shape;105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00" y="1216475"/>
            <a:ext cx="3797800" cy="256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1875" y="1148100"/>
            <a:ext cx="3529814" cy="256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96"/>
          <p:cNvSpPr txBox="1"/>
          <p:nvPr/>
        </p:nvSpPr>
        <p:spPr>
          <a:xfrm>
            <a:off x="378200" y="540000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Bar chart showing shoe sizes in a group of pupils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96"/>
          <p:cNvSpPr txBox="1"/>
          <p:nvPr/>
        </p:nvSpPr>
        <p:spPr>
          <a:xfrm>
            <a:off x="5083600" y="540000"/>
            <a:ext cx="359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Line graph showing weekly hits on a website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6"/>
          <p:cNvSpPr txBox="1"/>
          <p:nvPr/>
        </p:nvSpPr>
        <p:spPr>
          <a:xfrm>
            <a:off x="4572000" y="4375800"/>
            <a:ext cx="291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1000 hits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96"/>
          <p:cNvSpPr/>
          <p:nvPr/>
        </p:nvSpPr>
        <p:spPr>
          <a:xfrm>
            <a:off x="5499594" y="2972650"/>
            <a:ext cx="151800" cy="151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6"/>
          <p:cNvSpPr/>
          <p:nvPr/>
        </p:nvSpPr>
        <p:spPr>
          <a:xfrm>
            <a:off x="7915302" y="2972650"/>
            <a:ext cx="151800" cy="151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6"/>
          <p:cNvSpPr/>
          <p:nvPr/>
        </p:nvSpPr>
        <p:spPr>
          <a:xfrm>
            <a:off x="8266607" y="2972650"/>
            <a:ext cx="151800" cy="151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highest point is data with the most values.</a:t>
            </a:r>
            <a:endParaRPr sz="1800"/>
          </a:p>
        </p:txBody>
      </p:sp>
      <p:sp>
        <p:nvSpPr>
          <p:cNvPr id="1071" name="Google Shape;107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sp>
        <p:nvSpPr>
          <p:cNvPr id="1072" name="Google Shape;1072;p97"/>
          <p:cNvSpPr txBox="1"/>
          <p:nvPr>
            <p:ph idx="1" type="subTitle"/>
          </p:nvPr>
        </p:nvSpPr>
        <p:spPr>
          <a:xfrm>
            <a:off x="324000" y="1080000"/>
            <a:ext cx="7807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mode</a:t>
            </a:r>
            <a:r>
              <a:rPr lang="en-GB" sz="1800"/>
              <a:t> on a line graph is the highest point.</a:t>
            </a:r>
            <a:endParaRPr sz="1800"/>
          </a:p>
        </p:txBody>
      </p:sp>
      <p:sp>
        <p:nvSpPr>
          <p:cNvPr id="1073" name="Google Shape;1073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mode is the data value that appears the most.</a:t>
            </a:r>
            <a:endParaRPr sz="1800"/>
          </a:p>
        </p:txBody>
      </p:sp>
      <p:pic>
        <p:nvPicPr>
          <p:cNvPr id="1074" name="Google Shape;107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775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133" y="39919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081" name="Google Shape;108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775" y="1031750"/>
            <a:ext cx="5161027" cy="374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98"/>
          <p:cNvSpPr txBox="1"/>
          <p:nvPr/>
        </p:nvSpPr>
        <p:spPr>
          <a:xfrm>
            <a:off x="6709250" y="879350"/>
            <a:ext cx="1785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using a straight edge (i.e. ruler), you can move up the graph, counting the points on each horizontal line.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98"/>
          <p:cNvSpPr txBox="1"/>
          <p:nvPr/>
        </p:nvSpPr>
        <p:spPr>
          <a:xfrm>
            <a:off x="96650" y="535925"/>
            <a:ext cx="55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Aberporth’s modal temperature in 2022?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089" name="Google Shape;108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775" y="1031750"/>
            <a:ext cx="5161027" cy="3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853" y="4014361"/>
            <a:ext cx="6419680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99"/>
          <p:cNvSpPr txBox="1"/>
          <p:nvPr/>
        </p:nvSpPr>
        <p:spPr>
          <a:xfrm>
            <a:off x="7064225" y="3049625"/>
            <a:ext cx="167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2°C occurs 1 time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2" name="Google Shape;1092;p99"/>
          <p:cNvCxnSpPr>
            <a:stCxn id="1091" idx="1"/>
          </p:cNvCxnSpPr>
          <p:nvPr/>
        </p:nvCxnSpPr>
        <p:spPr>
          <a:xfrm flipH="1">
            <a:off x="6080825" y="3419075"/>
            <a:ext cx="983400" cy="57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3" name="Google Shape;1093;p99"/>
          <p:cNvSpPr txBox="1"/>
          <p:nvPr/>
        </p:nvSpPr>
        <p:spPr>
          <a:xfrm>
            <a:off x="96650" y="535925"/>
            <a:ext cx="55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Aberporth’s modal temperature in 2022?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099" name="Google Shape;109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775" y="1031750"/>
            <a:ext cx="5161027" cy="3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303" y="3642605"/>
            <a:ext cx="6419680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100"/>
          <p:cNvSpPr txBox="1"/>
          <p:nvPr/>
        </p:nvSpPr>
        <p:spPr>
          <a:xfrm>
            <a:off x="2718875" y="2776200"/>
            <a:ext cx="27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°C occurs 1 time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2" name="Google Shape;1102;p100"/>
          <p:cNvCxnSpPr>
            <a:stCxn id="1101" idx="1"/>
          </p:cNvCxnSpPr>
          <p:nvPr/>
        </p:nvCxnSpPr>
        <p:spPr>
          <a:xfrm flipH="1">
            <a:off x="1735475" y="3007050"/>
            <a:ext cx="983400" cy="57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03" name="Google Shape;1103;p100"/>
          <p:cNvSpPr txBox="1"/>
          <p:nvPr/>
        </p:nvSpPr>
        <p:spPr>
          <a:xfrm>
            <a:off x="96650" y="535925"/>
            <a:ext cx="55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Aberporth’s modal temperature in 2022?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109" name="Google Shape;110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775" y="1031750"/>
            <a:ext cx="5161027" cy="3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303" y="3453506"/>
            <a:ext cx="6419680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101"/>
          <p:cNvSpPr txBox="1"/>
          <p:nvPr/>
        </p:nvSpPr>
        <p:spPr>
          <a:xfrm>
            <a:off x="3131500" y="2619900"/>
            <a:ext cx="25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°C occurs 2 times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2" name="Google Shape;1112;p101"/>
          <p:cNvCxnSpPr>
            <a:stCxn id="1111" idx="1"/>
          </p:cNvCxnSpPr>
          <p:nvPr/>
        </p:nvCxnSpPr>
        <p:spPr>
          <a:xfrm flipH="1">
            <a:off x="2148100" y="2850750"/>
            <a:ext cx="983400" cy="57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3" name="Google Shape;1113;p101"/>
          <p:cNvCxnSpPr>
            <a:stCxn id="1111" idx="1"/>
          </p:cNvCxnSpPr>
          <p:nvPr/>
        </p:nvCxnSpPr>
        <p:spPr>
          <a:xfrm flipH="1">
            <a:off x="2533900" y="2850750"/>
            <a:ext cx="597600" cy="56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14" name="Google Shape;1114;p101"/>
          <p:cNvSpPr txBox="1"/>
          <p:nvPr/>
        </p:nvSpPr>
        <p:spPr>
          <a:xfrm>
            <a:off x="96650" y="535925"/>
            <a:ext cx="55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Aberporth’s modal temperature in 2022?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120" name="Google Shape;112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775" y="1031750"/>
            <a:ext cx="5161027" cy="374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02"/>
          <p:cNvSpPr txBox="1"/>
          <p:nvPr/>
        </p:nvSpPr>
        <p:spPr>
          <a:xfrm>
            <a:off x="6741902" y="1531100"/>
            <a:ext cx="2190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we continue in this way, we find that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°C and 11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both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occurred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 times, so they are both the modal temperatures.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is bimodal.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102"/>
          <p:cNvSpPr txBox="1"/>
          <p:nvPr/>
        </p:nvSpPr>
        <p:spPr>
          <a:xfrm>
            <a:off x="96650" y="535925"/>
            <a:ext cx="55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Aberporth’s modal temperature in 2022?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3" name="Google Shape;1123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936" y="3446148"/>
            <a:ext cx="641968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427" y="2298405"/>
            <a:ext cx="6419680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102"/>
          <p:cNvSpPr/>
          <p:nvPr/>
        </p:nvSpPr>
        <p:spPr>
          <a:xfrm>
            <a:off x="7300143" y="2164918"/>
            <a:ext cx="515700" cy="28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6" name="Google Shape;1126;p102"/>
          <p:cNvCxnSpPr/>
          <p:nvPr/>
        </p:nvCxnSpPr>
        <p:spPr>
          <a:xfrm>
            <a:off x="837470" y="3436824"/>
            <a:ext cx="6789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7" name="Google Shape;1127;p102"/>
          <p:cNvSpPr/>
          <p:nvPr/>
        </p:nvSpPr>
        <p:spPr>
          <a:xfrm>
            <a:off x="1980456" y="3316500"/>
            <a:ext cx="249900" cy="2322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102"/>
          <p:cNvSpPr/>
          <p:nvPr/>
        </p:nvSpPr>
        <p:spPr>
          <a:xfrm>
            <a:off x="2364887" y="3315356"/>
            <a:ext cx="249900" cy="2322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102"/>
          <p:cNvSpPr/>
          <p:nvPr/>
        </p:nvSpPr>
        <p:spPr>
          <a:xfrm>
            <a:off x="8288462" y="2164911"/>
            <a:ext cx="610200" cy="28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102"/>
          <p:cNvSpPr/>
          <p:nvPr/>
        </p:nvSpPr>
        <p:spPr>
          <a:xfrm>
            <a:off x="3535368" y="2168046"/>
            <a:ext cx="249900" cy="2322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102"/>
          <p:cNvSpPr/>
          <p:nvPr/>
        </p:nvSpPr>
        <p:spPr>
          <a:xfrm>
            <a:off x="5097193" y="2190546"/>
            <a:ext cx="249900" cy="2322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2" name="Google Shape;1132;p102"/>
          <p:cNvCxnSpPr/>
          <p:nvPr/>
        </p:nvCxnSpPr>
        <p:spPr>
          <a:xfrm>
            <a:off x="828876" y="2286868"/>
            <a:ext cx="6789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03"/>
          <p:cNvSpPr txBox="1"/>
          <p:nvPr>
            <p:ph idx="1" type="body"/>
          </p:nvPr>
        </p:nvSpPr>
        <p:spPr>
          <a:xfrm>
            <a:off x="324000" y="759300"/>
            <a:ext cx="82377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modal </a:t>
            </a:r>
            <a:r>
              <a:rPr lang="en-GB"/>
              <a:t>temperature in the classroom?</a:t>
            </a:r>
            <a:endParaRPr/>
          </a:p>
        </p:txBody>
      </p:sp>
      <p:sp>
        <p:nvSpPr>
          <p:cNvPr id="1138" name="Google Shape;1138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139" name="Google Shape;1139;p103"/>
          <p:cNvPicPr preferRelativeResize="0"/>
          <p:nvPr/>
        </p:nvPicPr>
        <p:blipFill rotWithShape="1">
          <a:blip r:embed="rId3">
            <a:alphaModFix/>
          </a:blip>
          <a:srcRect b="3358" l="2458" r="0" t="12882"/>
          <a:stretch/>
        </p:blipFill>
        <p:spPr>
          <a:xfrm>
            <a:off x="468950" y="1369050"/>
            <a:ext cx="5960376" cy="307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103"/>
          <p:cNvSpPr txBox="1"/>
          <p:nvPr/>
        </p:nvSpPr>
        <p:spPr>
          <a:xfrm>
            <a:off x="6860475" y="1667400"/>
            <a:ext cx="70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18°C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04"/>
          <p:cNvSpPr txBox="1"/>
          <p:nvPr>
            <p:ph idx="1" type="body"/>
          </p:nvPr>
        </p:nvSpPr>
        <p:spPr>
          <a:xfrm>
            <a:off x="324000" y="759300"/>
            <a:ext cx="82377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What is the modal temperature for each place?</a:t>
            </a:r>
            <a:endParaRPr/>
          </a:p>
        </p:txBody>
      </p:sp>
      <p:sp>
        <p:nvSpPr>
          <p:cNvPr id="1146" name="Google Shape;1146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pic>
        <p:nvPicPr>
          <p:cNvPr id="1147" name="Google Shape;114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075" y="1202825"/>
            <a:ext cx="4981173" cy="361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05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What is the modal temperature for each place?</a:t>
            </a:r>
            <a:endParaRPr/>
          </a:p>
        </p:txBody>
      </p:sp>
      <p:sp>
        <p:nvSpPr>
          <p:cNvPr id="1153" name="Google Shape;1153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Mode from line graphs</a:t>
            </a:r>
            <a:endParaRPr/>
          </a:p>
        </p:txBody>
      </p:sp>
      <p:sp>
        <p:nvSpPr>
          <p:cNvPr id="1154" name="Google Shape;1154;p105"/>
          <p:cNvSpPr txBox="1"/>
          <p:nvPr/>
        </p:nvSpPr>
        <p:spPr>
          <a:xfrm>
            <a:off x="6315925" y="1543050"/>
            <a:ext cx="28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Bradford - no mode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5" name="Google Shape;1155;p105"/>
          <p:cNvSpPr txBox="1"/>
          <p:nvPr/>
        </p:nvSpPr>
        <p:spPr>
          <a:xfrm>
            <a:off x="6315925" y="2325450"/>
            <a:ext cx="28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Eastbourne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- trimodal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°C,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18°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 and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24°C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6" name="Google Shape;1156;p105"/>
          <p:cNvSpPr txBox="1"/>
          <p:nvPr/>
        </p:nvSpPr>
        <p:spPr>
          <a:xfrm>
            <a:off x="6315925" y="3107850"/>
            <a:ext cx="2429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Tiree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 bimodal 9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°C and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16°C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57" name="Google Shape;1157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075" y="1202825"/>
            <a:ext cx="4981173" cy="361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0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mode</a:t>
            </a:r>
            <a:r>
              <a:rPr lang="en-GB"/>
              <a:t> can be found on a </a:t>
            </a:r>
            <a:r>
              <a:rPr b="1" lang="en-GB"/>
              <a:t>frequency</a:t>
            </a:r>
            <a:r>
              <a:rPr lang="en-GB"/>
              <a:t> table by looking for the </a:t>
            </a:r>
            <a:r>
              <a:rPr lang="en-GB"/>
              <a:t>greatest</a:t>
            </a:r>
            <a:r>
              <a:rPr lang="en-GB"/>
              <a:t> </a:t>
            </a:r>
            <a:r>
              <a:rPr b="1" lang="en-GB"/>
              <a:t>frequency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mode</a:t>
            </a:r>
            <a:r>
              <a:rPr lang="en-GB"/>
              <a:t> can be found on a bar chart by identifying the tallest bar.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mode</a:t>
            </a:r>
            <a:r>
              <a:rPr lang="en-GB"/>
              <a:t> can be found on a line graph by identifying the horizontal </a:t>
            </a:r>
            <a:r>
              <a:rPr lang="en-GB"/>
              <a:t>with</a:t>
            </a:r>
            <a:r>
              <a:rPr lang="en-GB"/>
              <a:t> the most data points.</a:t>
            </a:r>
            <a:endParaRPr/>
          </a:p>
        </p:txBody>
      </p:sp>
      <p:sp>
        <p:nvSpPr>
          <p:cNvPr id="1163" name="Google Shape;1163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mode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</a:t>
            </a:r>
            <a:r>
              <a:rPr lang="en-GB"/>
              <a:t>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69" name="Google Shape;1169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