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38787-0989-4E7B-87B3-3A868A398250}">
  <a:tblStyle styleId="{E1438787-0989-4E7B-87B3-3A868A39825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4D4A0BB-51A2-4911-A0D4-B57A0820FD4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4172f9c9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4172f9c9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4172f9c9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4172f9c9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94172f9c9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94172f9c9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294172f9c9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294172f9c9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298a4812a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298a4812a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294172f9c9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294172f9c9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94172f9c9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294172f9c9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94172f9c9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94172f9c9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94172f9c9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294172f9c9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94172f9c9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94172f9c9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94172f9c9a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94172f9c9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98a4812a7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98a4812a7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g294172f9c9a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5" name="Google Shape;945;g294172f9c9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8a4812a79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8a4812a79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94172f9c9a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94172f9c9a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94172f9c9a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94172f9c9a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4172f9c9a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4172f9c9a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94172f9c9a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94172f9c9a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294172f9c9a_0_6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294172f9c9a_0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294a339d959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294a339d959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4a339d959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4a339d959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94a339d959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94a339d959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g294a339d959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4" name="Google Shape;1114;g294a339d959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294a339d959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5" name="Google Shape;1145;g294a339d959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94a339d959_0_6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94a339d959_0_6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94a339d959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94a339d959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294a339d959_0_9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94a339d959_0_9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294a339d959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5" name="Google Shape;1225;g294a339d959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94a339d959_0_9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94a339d959_0_9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94a339d959_0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94a339d959_0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94a339d959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94a339d959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95493d6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95493d6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95493d6fc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95493d6fc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95493d6fc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95493d6fc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95493d6fc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95493d6fc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95493d6fce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95493d6fce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g295493d6fce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5" name="Google Shape;1385;g295493d6fce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295493d6fce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295493d6fce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g295493d6fce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2" name="Google Shape;1412;g295493d6fce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55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5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55.png"/><Relationship Id="rId4" Type="http://schemas.openxmlformats.org/officeDocument/2006/relationships/image" Target="../media/image31.png"/><Relationship Id="rId11" Type="http://schemas.openxmlformats.org/officeDocument/2006/relationships/image" Target="../media/image17.png"/><Relationship Id="rId10" Type="http://schemas.openxmlformats.org/officeDocument/2006/relationships/image" Target="../media/image34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43.png"/><Relationship Id="rId6" Type="http://schemas.openxmlformats.org/officeDocument/2006/relationships/image" Target="../media/image5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png"/><Relationship Id="rId4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summaries of data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different measures of central tendency and spread to compare two sets of data.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 </a:t>
            </a:r>
            <a:r>
              <a:rPr b="1" lang="en-GB"/>
              <a:t>statistical summary</a:t>
            </a:r>
            <a:r>
              <a:rPr lang="en-GB"/>
              <a:t> sums up the features of a data set. 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may contain the average (mean, median and/or mode) which measure the central tendency. It may also contain the range which measures the spread. 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Each measure used in a </a:t>
            </a:r>
            <a:r>
              <a:rPr b="1" lang="en-GB"/>
              <a:t>statistical summary</a:t>
            </a:r>
            <a:r>
              <a:rPr lang="en-GB"/>
              <a:t> is called a summary statistic.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measure of central tendency is a summary measure that attempts to describe a whole </a:t>
            </a:r>
            <a:r>
              <a:rPr lang="en-GB"/>
              <a:t>data set</a:t>
            </a:r>
            <a:r>
              <a:rPr lang="en-GB"/>
              <a:t> with a single value that represents the middle or centre of its distribution. </a:t>
            </a:r>
            <a:endParaRPr/>
          </a:p>
        </p:txBody>
      </p:sp>
      <p:sp>
        <p:nvSpPr>
          <p:cNvPr id="772" name="Google Shape;772;p68"/>
          <p:cNvSpPr txBox="1"/>
          <p:nvPr>
            <p:ph idx="2" type="subTitle"/>
          </p:nvPr>
        </p:nvSpPr>
        <p:spPr>
          <a:xfrm>
            <a:off x="324001" y="2619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spread/dispersion of data values describes how far apart the pieces of data are.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778" name="Google Shape;778;p6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779" name="Google Shape;779;p6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summaries of data</a:t>
            </a:r>
            <a:endParaRPr/>
          </a:p>
        </p:txBody>
      </p:sp>
      <p:pic>
        <p:nvPicPr>
          <p:cNvPr id="780" name="Google Shape;7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71" y="205847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70"/>
          <p:cNvSpPr txBox="1"/>
          <p:nvPr/>
        </p:nvSpPr>
        <p:spPr>
          <a:xfrm>
            <a:off x="324000" y="75930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Calculating the mean, median, mode, or range of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helps us to give some insight into a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However, it becomes much more helpful when used to compare: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787" name="Google Shape;787;p70"/>
          <p:cNvSpPr txBox="1"/>
          <p:nvPr/>
        </p:nvSpPr>
        <p:spPr>
          <a:xfrm>
            <a:off x="1104350" y="1839300"/>
            <a:ext cx="7715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at least two different data sets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individual to their population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1"/>
          <p:cNvSpPr txBox="1"/>
          <p:nvPr/>
        </p:nvSpPr>
        <p:spPr>
          <a:xfrm>
            <a:off x="2810250" y="2537175"/>
            <a:ext cx="60096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 average, Sam’s score is higher than Aisha’s.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mean average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tells us that if all Sam’s scores were evenly distributed across all their tests they would be higher than Aisha’s evenly distributed scores.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mean average could be considered                             a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typical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value. </a:t>
            </a:r>
            <a:br>
              <a:rPr lang="en-GB" sz="2000">
                <a:latin typeface="Kalam"/>
                <a:ea typeface="Kalam"/>
                <a:cs typeface="Kalam"/>
                <a:sym typeface="Kalam"/>
              </a:rPr>
            </a:b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93" name="Google Shape;793;p71"/>
          <p:cNvSpPr txBox="1"/>
          <p:nvPr/>
        </p:nvSpPr>
        <p:spPr>
          <a:xfrm>
            <a:off x="324000" y="64528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the test scores for Aisha and Sam.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4" name="Google Shape;794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pic>
        <p:nvPicPr>
          <p:cNvPr id="795" name="Google Shape;79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00" y="9659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1"/>
          <p:cNvSpPr txBox="1"/>
          <p:nvPr/>
        </p:nvSpPr>
        <p:spPr>
          <a:xfrm>
            <a:off x="324000" y="1934425"/>
            <a:ext cx="87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71"/>
          <p:cNvSpPr txBox="1"/>
          <p:nvPr/>
        </p:nvSpPr>
        <p:spPr>
          <a:xfrm flipH="1">
            <a:off x="8114100" y="1936200"/>
            <a:ext cx="70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8" name="Google Shape;798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9312" y="965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9" name="Google Shape;799;p71"/>
          <p:cNvGraphicFramePr/>
          <p:nvPr/>
        </p:nvGraphicFramePr>
        <p:xfrm>
          <a:off x="1188054" y="1035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00" name="Google Shape;800;p71"/>
          <p:cNvGraphicFramePr/>
          <p:nvPr/>
        </p:nvGraphicFramePr>
        <p:xfrm>
          <a:off x="4776100" y="11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1" name="Google Shape;801;p71"/>
          <p:cNvSpPr txBox="1"/>
          <p:nvPr/>
        </p:nvSpPr>
        <p:spPr>
          <a:xfrm>
            <a:off x="1827200" y="1872100"/>
            <a:ext cx="554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does each summary statistic tell us when comparing their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1"/>
          <p:cNvSpPr txBox="1"/>
          <p:nvPr/>
        </p:nvSpPr>
        <p:spPr>
          <a:xfrm>
            <a:off x="476400" y="3282775"/>
            <a:ext cx="2010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mean: 72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Sam’s mean: 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72"/>
          <p:cNvSpPr txBox="1"/>
          <p:nvPr/>
        </p:nvSpPr>
        <p:spPr>
          <a:xfrm>
            <a:off x="3176875" y="2759400"/>
            <a:ext cx="5643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median is a single value that represents the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most central or middle value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when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put in order of size.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Both Aisha’s and Sam’s medians were similar, and so their most central scores were almost equal.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8" name="Google Shape;808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809" name="Google Shape;809;p72"/>
          <p:cNvSpPr txBox="1"/>
          <p:nvPr/>
        </p:nvSpPr>
        <p:spPr>
          <a:xfrm>
            <a:off x="476400" y="3282775"/>
            <a:ext cx="2070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median: 77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Sam’s median: 76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0" name="Google Shape;810;p72"/>
          <p:cNvSpPr txBox="1"/>
          <p:nvPr/>
        </p:nvSpPr>
        <p:spPr>
          <a:xfrm>
            <a:off x="324000" y="64528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the test scores for Aisha and Sam.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00" y="9659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2"/>
          <p:cNvSpPr txBox="1"/>
          <p:nvPr/>
        </p:nvSpPr>
        <p:spPr>
          <a:xfrm>
            <a:off x="324000" y="1934425"/>
            <a:ext cx="87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2"/>
          <p:cNvSpPr txBox="1"/>
          <p:nvPr/>
        </p:nvSpPr>
        <p:spPr>
          <a:xfrm flipH="1">
            <a:off x="8114100" y="1936200"/>
            <a:ext cx="70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4" name="Google Shape;814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9312" y="965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5" name="Google Shape;815;p72"/>
          <p:cNvGraphicFramePr/>
          <p:nvPr/>
        </p:nvGraphicFramePr>
        <p:xfrm>
          <a:off x="1188054" y="1035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16" name="Google Shape;816;p72"/>
          <p:cNvGraphicFramePr/>
          <p:nvPr/>
        </p:nvGraphicFramePr>
        <p:xfrm>
          <a:off x="4776100" y="11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7" name="Google Shape;817;p72"/>
          <p:cNvSpPr txBox="1"/>
          <p:nvPr/>
        </p:nvSpPr>
        <p:spPr>
          <a:xfrm>
            <a:off x="1827200" y="1872100"/>
            <a:ext cx="554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each summary statistic tell us when comparing their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823" name="Google Shape;823;p73"/>
          <p:cNvSpPr txBox="1"/>
          <p:nvPr/>
        </p:nvSpPr>
        <p:spPr>
          <a:xfrm>
            <a:off x="3176875" y="2759400"/>
            <a:ext cx="5643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mode is at least one value that represents the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most commonly occurring values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in a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set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Aisha’s mode being higher means her more common score was higher than Sam’s most common score.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4" name="Google Shape;824;p73"/>
          <p:cNvSpPr txBox="1"/>
          <p:nvPr/>
        </p:nvSpPr>
        <p:spPr>
          <a:xfrm>
            <a:off x="476400" y="3282775"/>
            <a:ext cx="247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mode: 86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Sam’s mode: 73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5" name="Google Shape;825;p73"/>
          <p:cNvSpPr txBox="1"/>
          <p:nvPr/>
        </p:nvSpPr>
        <p:spPr>
          <a:xfrm>
            <a:off x="324000" y="64528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the test scores for Aisha and Sam.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6" name="Google Shape;82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00" y="9659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3"/>
          <p:cNvSpPr txBox="1"/>
          <p:nvPr/>
        </p:nvSpPr>
        <p:spPr>
          <a:xfrm>
            <a:off x="324000" y="1934425"/>
            <a:ext cx="87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/>
        </p:nvSpPr>
        <p:spPr>
          <a:xfrm flipH="1">
            <a:off x="8114100" y="1936200"/>
            <a:ext cx="70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9" name="Google Shape;829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9312" y="965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0" name="Google Shape;830;p73"/>
          <p:cNvGraphicFramePr/>
          <p:nvPr/>
        </p:nvGraphicFramePr>
        <p:xfrm>
          <a:off x="1188054" y="1035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31" name="Google Shape;831;p73"/>
          <p:cNvGraphicFramePr/>
          <p:nvPr/>
        </p:nvGraphicFramePr>
        <p:xfrm>
          <a:off x="4776100" y="11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2" name="Google Shape;832;p73"/>
          <p:cNvSpPr txBox="1"/>
          <p:nvPr/>
        </p:nvSpPr>
        <p:spPr>
          <a:xfrm>
            <a:off x="1827200" y="1872100"/>
            <a:ext cx="554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each summary statistic tell us when comparing their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4"/>
          <p:cNvSpPr txBox="1"/>
          <p:nvPr/>
        </p:nvSpPr>
        <p:spPr>
          <a:xfrm>
            <a:off x="3176875" y="2759400"/>
            <a:ext cx="5643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range is a single value that represents the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amount of variance or spread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in a data set.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Aisha’s range being higher means her scores were more varied than Sam’s scores.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Sam was more consistent.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8" name="Google Shape;83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839" name="Google Shape;839;p74"/>
          <p:cNvSpPr txBox="1"/>
          <p:nvPr/>
        </p:nvSpPr>
        <p:spPr>
          <a:xfrm>
            <a:off x="476400" y="3282775"/>
            <a:ext cx="2478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Aisha’s range: 45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Sam’s range: 14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0" name="Google Shape;840;p74"/>
          <p:cNvSpPr txBox="1"/>
          <p:nvPr/>
        </p:nvSpPr>
        <p:spPr>
          <a:xfrm>
            <a:off x="324000" y="64528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the test scores for Aisha and Sam.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1" name="Google Shape;84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00" y="9659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74"/>
          <p:cNvSpPr txBox="1"/>
          <p:nvPr/>
        </p:nvSpPr>
        <p:spPr>
          <a:xfrm>
            <a:off x="324000" y="1934425"/>
            <a:ext cx="87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4"/>
          <p:cNvSpPr txBox="1"/>
          <p:nvPr/>
        </p:nvSpPr>
        <p:spPr>
          <a:xfrm flipH="1">
            <a:off x="8114100" y="1936200"/>
            <a:ext cx="70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4" name="Google Shape;8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9312" y="965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5" name="Google Shape;845;p74"/>
          <p:cNvGraphicFramePr/>
          <p:nvPr/>
        </p:nvGraphicFramePr>
        <p:xfrm>
          <a:off x="1188054" y="1035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46" name="Google Shape;846;p74"/>
          <p:cNvGraphicFramePr/>
          <p:nvPr/>
        </p:nvGraphicFramePr>
        <p:xfrm>
          <a:off x="4776100" y="11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47" name="Google Shape;847;p74"/>
          <p:cNvSpPr txBox="1"/>
          <p:nvPr/>
        </p:nvSpPr>
        <p:spPr>
          <a:xfrm>
            <a:off x="1827200" y="1872100"/>
            <a:ext cx="554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each summary statistic tell us when comparing their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853" name="Google Shape;853;p75"/>
          <p:cNvSpPr txBox="1"/>
          <p:nvPr/>
        </p:nvSpPr>
        <p:spPr>
          <a:xfrm>
            <a:off x="324000" y="645280"/>
            <a:ext cx="8496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are the test scores for Aisha and Sam.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4" name="Google Shape;85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00" y="965968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 txBox="1"/>
          <p:nvPr/>
        </p:nvSpPr>
        <p:spPr>
          <a:xfrm>
            <a:off x="324000" y="1934425"/>
            <a:ext cx="87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5"/>
          <p:cNvSpPr txBox="1"/>
          <p:nvPr/>
        </p:nvSpPr>
        <p:spPr>
          <a:xfrm flipH="1">
            <a:off x="8114100" y="1936200"/>
            <a:ext cx="70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7" name="Google Shape;857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09312" y="965975"/>
            <a:ext cx="705943" cy="1016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8" name="Google Shape;858;p75"/>
          <p:cNvGraphicFramePr/>
          <p:nvPr/>
        </p:nvGraphicFramePr>
        <p:xfrm>
          <a:off x="1188054" y="10355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75"/>
          <p:cNvGraphicFramePr/>
          <p:nvPr/>
        </p:nvGraphicFramePr>
        <p:xfrm>
          <a:off x="4776100" y="119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462650"/>
                <a:gridCol w="462650"/>
                <a:gridCol w="462650"/>
                <a:gridCol w="462650"/>
                <a:gridCol w="462650"/>
                <a:gridCol w="462650"/>
                <a:gridCol w="462650"/>
              </a:tblGrid>
              <a:tr h="33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0" name="Google Shape;860;p75"/>
          <p:cNvSpPr txBox="1"/>
          <p:nvPr/>
        </p:nvSpPr>
        <p:spPr>
          <a:xfrm>
            <a:off x="1827200" y="1872100"/>
            <a:ext cx="554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is a summary of the four summary statistics.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1" name="Google Shape;861;p75"/>
          <p:cNvGraphicFramePr/>
          <p:nvPr/>
        </p:nvGraphicFramePr>
        <p:xfrm>
          <a:off x="324000" y="249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27775"/>
                <a:gridCol w="957900"/>
                <a:gridCol w="957900"/>
                <a:gridCol w="5088875"/>
              </a:tblGrid>
              <a:tr h="38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Sam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interpretation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/>
                    </a:solidFill>
                  </a:tcPr>
                </a:tc>
              </a:tr>
              <a:tr h="382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Sam’s average </a:t>
                      </a:r>
                      <a:r>
                        <a:rPr lang="en-GB" sz="1800">
                          <a:solidFill>
                            <a:srgbClr val="845AD9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typical score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(evenly distributed across all tests) was higher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Both </a:t>
                      </a:r>
                      <a:r>
                        <a:rPr lang="en-GB" sz="1800">
                          <a:solidFill>
                            <a:srgbClr val="845AD9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central /middle scores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are similar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Aisha’s </a:t>
                      </a:r>
                      <a:r>
                        <a:rPr lang="en-GB" sz="1800">
                          <a:solidFill>
                            <a:srgbClr val="845AD9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most frequent score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was higher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1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Aisha’s </a:t>
                      </a:r>
                      <a:r>
                        <a:rPr lang="en-GB" sz="1800">
                          <a:solidFill>
                            <a:srgbClr val="845AD9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scores more varied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Sam’s more consistent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6"/>
          <p:cNvSpPr txBox="1"/>
          <p:nvPr/>
        </p:nvSpPr>
        <p:spPr>
          <a:xfrm>
            <a:off x="3640475" y="398830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and Andeep’s average, typical score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similar.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pic>
        <p:nvPicPr>
          <p:cNvPr id="868" name="Google Shape;86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237" y="717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6"/>
          <p:cNvSpPr txBox="1"/>
          <p:nvPr/>
        </p:nvSpPr>
        <p:spPr>
          <a:xfrm>
            <a:off x="7696799" y="1799150"/>
            <a:ext cx="1123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6"/>
          <p:cNvSpPr txBox="1"/>
          <p:nvPr/>
        </p:nvSpPr>
        <p:spPr>
          <a:xfrm flipH="1">
            <a:off x="324163" y="1702738"/>
            <a:ext cx="80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1" name="Google Shape;871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717925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2" name="Google Shape;872;p76"/>
          <p:cNvGraphicFramePr/>
          <p:nvPr/>
        </p:nvGraphicFramePr>
        <p:xfrm>
          <a:off x="144585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73" name="Google Shape;873;p76"/>
          <p:cNvGraphicFramePr/>
          <p:nvPr/>
        </p:nvGraphicFramePr>
        <p:xfrm>
          <a:off x="577440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4" name="Google Shape;874;p76"/>
          <p:cNvSpPr txBox="1"/>
          <p:nvPr/>
        </p:nvSpPr>
        <p:spPr>
          <a:xfrm>
            <a:off x="324175" y="2467650"/>
            <a:ext cx="267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accurate 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mode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Sofia and Andeep’s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6"/>
          <p:cNvSpPr txBox="1"/>
          <p:nvPr/>
        </p:nvSpPr>
        <p:spPr>
          <a:xfrm>
            <a:off x="3478350" y="717925"/>
            <a:ext cx="215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Summary statistics for Sofia and Andeep’s test scores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6"/>
          <p:cNvSpPr txBox="1"/>
          <p:nvPr/>
        </p:nvSpPr>
        <p:spPr>
          <a:xfrm>
            <a:off x="3640475" y="2397550"/>
            <a:ext cx="5179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and Andeep’s variety of scores is similar.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7" name="Google Shape;877;p76"/>
          <p:cNvGrpSpPr/>
          <p:nvPr/>
        </p:nvGrpSpPr>
        <p:grpSpPr>
          <a:xfrm>
            <a:off x="3155272" y="2342982"/>
            <a:ext cx="386288" cy="386288"/>
            <a:chOff x="1020916" y="1442088"/>
            <a:chExt cx="457200" cy="457200"/>
          </a:xfrm>
        </p:grpSpPr>
        <p:pic>
          <p:nvPicPr>
            <p:cNvPr id="878" name="Google Shape;878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0" name="Google Shape;880;p76"/>
          <p:cNvSpPr txBox="1"/>
          <p:nvPr/>
        </p:nvSpPr>
        <p:spPr>
          <a:xfrm>
            <a:off x="3640475" y="3060875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and Andeep’s most frequent scores are of similar size.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76"/>
          <p:cNvGrpSpPr/>
          <p:nvPr/>
        </p:nvGrpSpPr>
        <p:grpSpPr>
          <a:xfrm>
            <a:off x="3155272" y="3006307"/>
            <a:ext cx="386288" cy="386288"/>
            <a:chOff x="1020916" y="1442088"/>
            <a:chExt cx="457200" cy="457200"/>
          </a:xfrm>
        </p:grpSpPr>
        <p:pic>
          <p:nvPicPr>
            <p:cNvPr id="882" name="Google Shape;882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76"/>
          <p:cNvGrpSpPr/>
          <p:nvPr/>
        </p:nvGrpSpPr>
        <p:grpSpPr>
          <a:xfrm>
            <a:off x="3155272" y="3933732"/>
            <a:ext cx="386288" cy="386288"/>
            <a:chOff x="1020916" y="1442088"/>
            <a:chExt cx="457200" cy="457200"/>
          </a:xfrm>
        </p:grpSpPr>
        <p:pic>
          <p:nvPicPr>
            <p:cNvPr id="885" name="Google Shape;885;p7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7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87" name="Google Shape;887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35158" y="3360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6"/>
          <p:cNvSpPr/>
          <p:nvPr/>
        </p:nvSpPr>
        <p:spPr>
          <a:xfrm>
            <a:off x="5831825" y="3024551"/>
            <a:ext cx="1627500" cy="386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pic>
        <p:nvPicPr>
          <p:cNvPr id="894" name="Google Shape;89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237" y="717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95" name="Google Shape;895;p77"/>
          <p:cNvSpPr txBox="1"/>
          <p:nvPr/>
        </p:nvSpPr>
        <p:spPr>
          <a:xfrm>
            <a:off x="7696799" y="1799150"/>
            <a:ext cx="1123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7"/>
          <p:cNvSpPr txBox="1"/>
          <p:nvPr/>
        </p:nvSpPr>
        <p:spPr>
          <a:xfrm flipH="1">
            <a:off x="324163" y="1702738"/>
            <a:ext cx="80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7" name="Google Shape;897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717925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8" name="Google Shape;898;p77"/>
          <p:cNvGraphicFramePr/>
          <p:nvPr/>
        </p:nvGraphicFramePr>
        <p:xfrm>
          <a:off x="144585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9" name="Google Shape;899;p77"/>
          <p:cNvGraphicFramePr/>
          <p:nvPr/>
        </p:nvGraphicFramePr>
        <p:xfrm>
          <a:off x="577440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0" name="Google Shape;900;p77"/>
          <p:cNvSpPr txBox="1"/>
          <p:nvPr/>
        </p:nvSpPr>
        <p:spPr>
          <a:xfrm>
            <a:off x="324175" y="2467650"/>
            <a:ext cx="267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accurate 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mean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Sofia and Andeep’s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7"/>
          <p:cNvSpPr txBox="1"/>
          <p:nvPr/>
        </p:nvSpPr>
        <p:spPr>
          <a:xfrm>
            <a:off x="3478350" y="717925"/>
            <a:ext cx="215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Summary statistics for Sofia and Andeep’s test scores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2" name="Google Shape;902;p77"/>
          <p:cNvGrpSpPr/>
          <p:nvPr/>
        </p:nvGrpSpPr>
        <p:grpSpPr>
          <a:xfrm>
            <a:off x="3155272" y="2342982"/>
            <a:ext cx="386288" cy="386288"/>
            <a:chOff x="1020916" y="1442088"/>
            <a:chExt cx="457200" cy="457200"/>
          </a:xfrm>
        </p:grpSpPr>
        <p:pic>
          <p:nvPicPr>
            <p:cNvPr id="903" name="Google Shape;903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4" name="Google Shape;904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5" name="Google Shape;905;p77"/>
          <p:cNvSpPr txBox="1"/>
          <p:nvPr/>
        </p:nvSpPr>
        <p:spPr>
          <a:xfrm>
            <a:off x="3640475" y="239755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variety of scores is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greater than Andeep’s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7"/>
          <p:cNvSpPr txBox="1"/>
          <p:nvPr/>
        </p:nvSpPr>
        <p:spPr>
          <a:xfrm>
            <a:off x="3640475" y="3192925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middle score was higher than Andeep’s.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07" name="Google Shape;907;p77"/>
          <p:cNvGrpSpPr/>
          <p:nvPr/>
        </p:nvGrpSpPr>
        <p:grpSpPr>
          <a:xfrm>
            <a:off x="3155272" y="3138357"/>
            <a:ext cx="386288" cy="386288"/>
            <a:chOff x="1020916" y="1442088"/>
            <a:chExt cx="457200" cy="457200"/>
          </a:xfrm>
        </p:grpSpPr>
        <p:pic>
          <p:nvPicPr>
            <p:cNvPr id="908" name="Google Shape;908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0" name="Google Shape;910;p77"/>
          <p:cNvGrpSpPr/>
          <p:nvPr/>
        </p:nvGrpSpPr>
        <p:grpSpPr>
          <a:xfrm>
            <a:off x="3155272" y="3933732"/>
            <a:ext cx="386288" cy="386288"/>
            <a:chOff x="1020916" y="1442088"/>
            <a:chExt cx="457200" cy="457200"/>
          </a:xfrm>
        </p:grpSpPr>
        <p:pic>
          <p:nvPicPr>
            <p:cNvPr id="911" name="Google Shape;911;p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7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3" name="Google Shape;913;p77"/>
          <p:cNvSpPr txBox="1"/>
          <p:nvPr/>
        </p:nvSpPr>
        <p:spPr>
          <a:xfrm>
            <a:off x="3640475" y="398830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average, typical score is higher than Andeep’s.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7"/>
          <p:cNvSpPr/>
          <p:nvPr/>
        </p:nvSpPr>
        <p:spPr>
          <a:xfrm>
            <a:off x="4431725" y="3971250"/>
            <a:ext cx="2491800" cy="31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5" name="Google Shape;91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8808" y="42826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</a:t>
            </a:r>
            <a:r>
              <a:rPr lang="en-GB"/>
              <a:t>data set</a:t>
            </a:r>
            <a:r>
              <a:rPr lang="en-GB"/>
              <a:t>s</a:t>
            </a:r>
            <a:endParaRPr/>
          </a:p>
        </p:txBody>
      </p:sp>
      <p:pic>
        <p:nvPicPr>
          <p:cNvPr id="921" name="Google Shape;92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237" y="717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78"/>
          <p:cNvSpPr txBox="1"/>
          <p:nvPr/>
        </p:nvSpPr>
        <p:spPr>
          <a:xfrm>
            <a:off x="7696799" y="1799150"/>
            <a:ext cx="1123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78"/>
          <p:cNvSpPr txBox="1"/>
          <p:nvPr/>
        </p:nvSpPr>
        <p:spPr>
          <a:xfrm flipH="1">
            <a:off x="324163" y="1702738"/>
            <a:ext cx="80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4" name="Google Shape;924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717925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5" name="Google Shape;925;p78"/>
          <p:cNvGraphicFramePr/>
          <p:nvPr/>
        </p:nvGraphicFramePr>
        <p:xfrm>
          <a:off x="144585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26" name="Google Shape;926;p78"/>
          <p:cNvGraphicFramePr/>
          <p:nvPr/>
        </p:nvGraphicFramePr>
        <p:xfrm>
          <a:off x="577440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7" name="Google Shape;927;p78"/>
          <p:cNvSpPr txBox="1"/>
          <p:nvPr/>
        </p:nvSpPr>
        <p:spPr>
          <a:xfrm>
            <a:off x="3478350" y="717925"/>
            <a:ext cx="215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Summary statistics for Sofia and Andeep’s test scores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8" name="Google Shape;928;p78"/>
          <p:cNvGrpSpPr/>
          <p:nvPr/>
        </p:nvGrpSpPr>
        <p:grpSpPr>
          <a:xfrm>
            <a:off x="3155272" y="2342982"/>
            <a:ext cx="386288" cy="386288"/>
            <a:chOff x="1020916" y="1442088"/>
            <a:chExt cx="457200" cy="457200"/>
          </a:xfrm>
        </p:grpSpPr>
        <p:pic>
          <p:nvPicPr>
            <p:cNvPr id="929" name="Google Shape;929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1" name="Google Shape;931;p78"/>
          <p:cNvSpPr txBox="1"/>
          <p:nvPr/>
        </p:nvSpPr>
        <p:spPr>
          <a:xfrm>
            <a:off x="3640475" y="239755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variety of scores is greater than Andeep’s.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2" name="Google Shape;932;p78"/>
          <p:cNvSpPr txBox="1"/>
          <p:nvPr/>
        </p:nvSpPr>
        <p:spPr>
          <a:xfrm>
            <a:off x="3640475" y="3192925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middle score was higher than Andeep’s.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33" name="Google Shape;933;p78"/>
          <p:cNvGrpSpPr/>
          <p:nvPr/>
        </p:nvGrpSpPr>
        <p:grpSpPr>
          <a:xfrm>
            <a:off x="3155272" y="3138357"/>
            <a:ext cx="386288" cy="386288"/>
            <a:chOff x="1020916" y="1442088"/>
            <a:chExt cx="457200" cy="457200"/>
          </a:xfrm>
        </p:grpSpPr>
        <p:pic>
          <p:nvPicPr>
            <p:cNvPr id="934" name="Google Shape;934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6" name="Google Shape;936;p78"/>
          <p:cNvGrpSpPr/>
          <p:nvPr/>
        </p:nvGrpSpPr>
        <p:grpSpPr>
          <a:xfrm>
            <a:off x="3155272" y="3933732"/>
            <a:ext cx="386288" cy="386288"/>
            <a:chOff x="1020916" y="1442088"/>
            <a:chExt cx="457200" cy="457200"/>
          </a:xfrm>
        </p:grpSpPr>
        <p:pic>
          <p:nvPicPr>
            <p:cNvPr id="937" name="Google Shape;937;p7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7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39" name="Google Shape;939;p78"/>
          <p:cNvSpPr txBox="1"/>
          <p:nvPr/>
        </p:nvSpPr>
        <p:spPr>
          <a:xfrm>
            <a:off x="3640475" y="398830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Sofia’s average, typical score is higher than Andeep’s.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8"/>
          <p:cNvSpPr/>
          <p:nvPr/>
        </p:nvSpPr>
        <p:spPr>
          <a:xfrm>
            <a:off x="4431725" y="3971250"/>
            <a:ext cx="2491800" cy="31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1" name="Google Shape;941;p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8808" y="42826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8"/>
          <p:cNvSpPr txBox="1"/>
          <p:nvPr/>
        </p:nvSpPr>
        <p:spPr>
          <a:xfrm>
            <a:off x="324175" y="2342975"/>
            <a:ext cx="267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Sofia’s scores were all summed together and distributed equally, that </a:t>
            </a:r>
            <a:r>
              <a:rPr lang="en-GB" sz="2000">
                <a:solidFill>
                  <a:srgbClr val="845AD9"/>
                </a:solidFill>
                <a:latin typeface="Kalam"/>
                <a:ea typeface="Kalam"/>
                <a:cs typeface="Kalam"/>
                <a:sym typeface="Kalam"/>
              </a:rPr>
              <a:t>mean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score would be higher than if Andeep did the same.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pic>
        <p:nvPicPr>
          <p:cNvPr id="948" name="Google Shape;94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237" y="717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9"/>
          <p:cNvSpPr txBox="1"/>
          <p:nvPr/>
        </p:nvSpPr>
        <p:spPr>
          <a:xfrm>
            <a:off x="7696799" y="1799150"/>
            <a:ext cx="1123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9"/>
          <p:cNvSpPr txBox="1"/>
          <p:nvPr/>
        </p:nvSpPr>
        <p:spPr>
          <a:xfrm flipH="1">
            <a:off x="324163" y="1702738"/>
            <a:ext cx="80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1" name="Google Shape;95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717925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2" name="Google Shape;952;p79"/>
          <p:cNvGraphicFramePr/>
          <p:nvPr/>
        </p:nvGraphicFramePr>
        <p:xfrm>
          <a:off x="144585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3" name="Google Shape;953;p79"/>
          <p:cNvGraphicFramePr/>
          <p:nvPr/>
        </p:nvGraphicFramePr>
        <p:xfrm>
          <a:off x="577440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4" name="Google Shape;954;p79"/>
          <p:cNvSpPr txBox="1"/>
          <p:nvPr/>
        </p:nvSpPr>
        <p:spPr>
          <a:xfrm>
            <a:off x="324175" y="2467650"/>
            <a:ext cx="267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statements is accurate to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range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Sofia and Andeep’s scores?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9"/>
          <p:cNvSpPr txBox="1"/>
          <p:nvPr/>
        </p:nvSpPr>
        <p:spPr>
          <a:xfrm>
            <a:off x="3478350" y="717925"/>
            <a:ext cx="215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Summary statistics for Sofia and Andeep’s test scores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6" name="Google Shape;956;p79"/>
          <p:cNvGrpSpPr/>
          <p:nvPr/>
        </p:nvGrpSpPr>
        <p:grpSpPr>
          <a:xfrm>
            <a:off x="3155272" y="2342982"/>
            <a:ext cx="386288" cy="386288"/>
            <a:chOff x="1020916" y="1442088"/>
            <a:chExt cx="457200" cy="457200"/>
          </a:xfrm>
        </p:grpSpPr>
        <p:pic>
          <p:nvPicPr>
            <p:cNvPr id="957" name="Google Shape;957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59" name="Google Shape;959;p79"/>
          <p:cNvSpPr txBox="1"/>
          <p:nvPr/>
        </p:nvSpPr>
        <p:spPr>
          <a:xfrm>
            <a:off x="3640475" y="239755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Andeep’s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variety of scores is greater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9"/>
          <p:cNvSpPr txBox="1"/>
          <p:nvPr/>
        </p:nvSpPr>
        <p:spPr>
          <a:xfrm>
            <a:off x="3640475" y="3192925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’s middle score was higher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1" name="Google Shape;961;p79"/>
          <p:cNvGrpSpPr/>
          <p:nvPr/>
        </p:nvGrpSpPr>
        <p:grpSpPr>
          <a:xfrm>
            <a:off x="3155272" y="3138357"/>
            <a:ext cx="386288" cy="386288"/>
            <a:chOff x="1020916" y="1442088"/>
            <a:chExt cx="457200" cy="457200"/>
          </a:xfrm>
        </p:grpSpPr>
        <p:pic>
          <p:nvPicPr>
            <p:cNvPr id="962" name="Google Shape;962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4" name="Google Shape;964;p79"/>
          <p:cNvGrpSpPr/>
          <p:nvPr/>
        </p:nvGrpSpPr>
        <p:grpSpPr>
          <a:xfrm>
            <a:off x="3155272" y="3933732"/>
            <a:ext cx="386288" cy="386288"/>
            <a:chOff x="1020916" y="1442088"/>
            <a:chExt cx="457200" cy="457200"/>
          </a:xfrm>
        </p:grpSpPr>
        <p:pic>
          <p:nvPicPr>
            <p:cNvPr id="965" name="Google Shape;965;p7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7" name="Google Shape;967;p79"/>
          <p:cNvSpPr txBox="1"/>
          <p:nvPr/>
        </p:nvSpPr>
        <p:spPr>
          <a:xfrm>
            <a:off x="3640475" y="398830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Andeep’s most frequent score is greater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9"/>
          <p:cNvSpPr/>
          <p:nvPr/>
        </p:nvSpPr>
        <p:spPr>
          <a:xfrm>
            <a:off x="4714325" y="2380425"/>
            <a:ext cx="1878000" cy="31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9" name="Google Shape;969;p7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8008" y="26484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</a:t>
            </a:r>
            <a:r>
              <a:rPr lang="en-GB"/>
              <a:t>data set</a:t>
            </a:r>
            <a:r>
              <a:rPr lang="en-GB"/>
              <a:t>s</a:t>
            </a:r>
            <a:endParaRPr/>
          </a:p>
        </p:txBody>
      </p:sp>
      <p:pic>
        <p:nvPicPr>
          <p:cNvPr id="975" name="Google Shape;97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4237" y="7179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0"/>
          <p:cNvSpPr txBox="1"/>
          <p:nvPr/>
        </p:nvSpPr>
        <p:spPr>
          <a:xfrm>
            <a:off x="7696799" y="1799150"/>
            <a:ext cx="11232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0"/>
          <p:cNvSpPr txBox="1"/>
          <p:nvPr/>
        </p:nvSpPr>
        <p:spPr>
          <a:xfrm flipH="1">
            <a:off x="324163" y="1702738"/>
            <a:ext cx="8076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8" name="Google Shape;97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1" y="717925"/>
            <a:ext cx="807760" cy="89609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79" name="Google Shape;979;p80"/>
          <p:cNvGraphicFramePr/>
          <p:nvPr/>
        </p:nvGraphicFramePr>
        <p:xfrm>
          <a:off x="144585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0" name="Google Shape;980;p80"/>
          <p:cNvGraphicFramePr/>
          <p:nvPr/>
        </p:nvGraphicFramePr>
        <p:xfrm>
          <a:off x="5774400" y="71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149075"/>
                <a:gridCol w="7288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1" name="Google Shape;981;p80"/>
          <p:cNvSpPr txBox="1"/>
          <p:nvPr/>
        </p:nvSpPr>
        <p:spPr>
          <a:xfrm>
            <a:off x="324175" y="2467650"/>
            <a:ext cx="2678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range measures variety.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difference between Andeep’s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highest and lowest scores is greater than Sofia’s.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0"/>
          <p:cNvSpPr txBox="1"/>
          <p:nvPr/>
        </p:nvSpPr>
        <p:spPr>
          <a:xfrm>
            <a:off x="3478350" y="717925"/>
            <a:ext cx="2152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Summary statistics for Sofia and Andeep’s test scores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3" name="Google Shape;983;p80"/>
          <p:cNvGrpSpPr/>
          <p:nvPr/>
        </p:nvGrpSpPr>
        <p:grpSpPr>
          <a:xfrm>
            <a:off x="3155272" y="2342982"/>
            <a:ext cx="386288" cy="386288"/>
            <a:chOff x="1020916" y="1442088"/>
            <a:chExt cx="457200" cy="457200"/>
          </a:xfrm>
        </p:grpSpPr>
        <p:pic>
          <p:nvPicPr>
            <p:cNvPr id="984" name="Google Shape;984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5" name="Google Shape;985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6" name="Google Shape;986;p80"/>
          <p:cNvSpPr txBox="1"/>
          <p:nvPr/>
        </p:nvSpPr>
        <p:spPr>
          <a:xfrm>
            <a:off x="3640475" y="239755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Andeep’s variety of scores is greater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3640475" y="3192925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Andeep’s middle score was higher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8" name="Google Shape;988;p80"/>
          <p:cNvGrpSpPr/>
          <p:nvPr/>
        </p:nvGrpSpPr>
        <p:grpSpPr>
          <a:xfrm>
            <a:off x="3155272" y="3138357"/>
            <a:ext cx="386288" cy="386288"/>
            <a:chOff x="1020916" y="1442088"/>
            <a:chExt cx="457200" cy="457200"/>
          </a:xfrm>
        </p:grpSpPr>
        <p:pic>
          <p:nvPicPr>
            <p:cNvPr id="989" name="Google Shape;989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80"/>
          <p:cNvGrpSpPr/>
          <p:nvPr/>
        </p:nvGrpSpPr>
        <p:grpSpPr>
          <a:xfrm>
            <a:off x="3155272" y="3933732"/>
            <a:ext cx="386288" cy="386288"/>
            <a:chOff x="1020916" y="1442088"/>
            <a:chExt cx="457200" cy="457200"/>
          </a:xfrm>
        </p:grpSpPr>
        <p:pic>
          <p:nvPicPr>
            <p:cNvPr id="992" name="Google Shape;992;p8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3" name="Google Shape;993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4" name="Google Shape;994;p80"/>
          <p:cNvSpPr txBox="1"/>
          <p:nvPr/>
        </p:nvSpPr>
        <p:spPr>
          <a:xfrm>
            <a:off x="3640475" y="3988300"/>
            <a:ext cx="51795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Andeep’s most frequent score is greater than Sofia’s.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80"/>
          <p:cNvSpPr/>
          <p:nvPr/>
        </p:nvSpPr>
        <p:spPr>
          <a:xfrm>
            <a:off x="4714325" y="2380425"/>
            <a:ext cx="1878000" cy="311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6" name="Google Shape;996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8008" y="26484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1002" name="Google Shape;1002;p81"/>
          <p:cNvSpPr txBox="1"/>
          <p:nvPr/>
        </p:nvSpPr>
        <p:spPr>
          <a:xfrm>
            <a:off x="324175" y="759300"/>
            <a:ext cx="320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 is checking his progress in maths from year 7 to year 8. He calculates the median and range of his scores in his weekly quizzes.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summary statistic to its correct interpretation.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3" name="Google Shape;1003;p81"/>
          <p:cNvGrpSpPr/>
          <p:nvPr/>
        </p:nvGrpSpPr>
        <p:grpSpPr>
          <a:xfrm>
            <a:off x="3759172" y="810007"/>
            <a:ext cx="386288" cy="386288"/>
            <a:chOff x="1020916" y="1442088"/>
            <a:chExt cx="457200" cy="457200"/>
          </a:xfrm>
        </p:grpSpPr>
        <p:pic>
          <p:nvPicPr>
            <p:cNvPr id="1004" name="Google Shape;1004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5" name="Google Shape;100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6" name="Google Shape;1006;p81"/>
          <p:cNvGrpSpPr/>
          <p:nvPr/>
        </p:nvGrpSpPr>
        <p:grpSpPr>
          <a:xfrm>
            <a:off x="3759172" y="1590932"/>
            <a:ext cx="386288" cy="386288"/>
            <a:chOff x="1020916" y="1442088"/>
            <a:chExt cx="457200" cy="457200"/>
          </a:xfrm>
        </p:grpSpPr>
        <p:pic>
          <p:nvPicPr>
            <p:cNvPr id="1007" name="Google Shape;1007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9" name="Google Shape;1009;p81"/>
          <p:cNvGrpSpPr/>
          <p:nvPr/>
        </p:nvGrpSpPr>
        <p:grpSpPr>
          <a:xfrm>
            <a:off x="3759172" y="2371857"/>
            <a:ext cx="386288" cy="386288"/>
            <a:chOff x="1020916" y="1442088"/>
            <a:chExt cx="457200" cy="457200"/>
          </a:xfrm>
        </p:grpSpPr>
        <p:pic>
          <p:nvPicPr>
            <p:cNvPr id="1010" name="Google Shape;1010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1" name="Google Shape;1011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2" name="Google Shape;1012;p81"/>
          <p:cNvSpPr txBox="1"/>
          <p:nvPr/>
        </p:nvSpPr>
        <p:spPr>
          <a:xfrm>
            <a:off x="4145450" y="81000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middle score in year 8 was higher than in year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3" name="Google Shape;1013;p81"/>
          <p:cNvGrpSpPr/>
          <p:nvPr/>
        </p:nvGrpSpPr>
        <p:grpSpPr>
          <a:xfrm>
            <a:off x="3759172" y="3152782"/>
            <a:ext cx="386288" cy="386288"/>
            <a:chOff x="1020916" y="1442088"/>
            <a:chExt cx="457200" cy="457200"/>
          </a:xfrm>
        </p:grpSpPr>
        <p:pic>
          <p:nvPicPr>
            <p:cNvPr id="1014" name="Google Shape;1014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6" name="Google Shape;1016;p81"/>
          <p:cNvGrpSpPr/>
          <p:nvPr/>
        </p:nvGrpSpPr>
        <p:grpSpPr>
          <a:xfrm>
            <a:off x="3759172" y="3933707"/>
            <a:ext cx="386288" cy="386288"/>
            <a:chOff x="1020916" y="1442088"/>
            <a:chExt cx="457200" cy="457200"/>
          </a:xfrm>
        </p:grpSpPr>
        <p:pic>
          <p:nvPicPr>
            <p:cNvPr id="1017" name="Google Shape;1017;p8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8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9" name="Google Shape;1019;p81"/>
          <p:cNvSpPr txBox="1"/>
          <p:nvPr/>
        </p:nvSpPr>
        <p:spPr>
          <a:xfrm>
            <a:off x="4145450" y="1590925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score in year 7 was higher than in year 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4145450" y="237185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scores were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more varied in year 8 than in year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81"/>
          <p:cNvSpPr txBox="1"/>
          <p:nvPr/>
        </p:nvSpPr>
        <p:spPr>
          <a:xfrm>
            <a:off x="4145450" y="3152775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 scores were more varied in year 7 than in year 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1"/>
          <p:cNvSpPr txBox="1"/>
          <p:nvPr/>
        </p:nvSpPr>
        <p:spPr>
          <a:xfrm>
            <a:off x="4145450" y="393370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middle score was the same in both years.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23" name="Google Shape;1023;p81"/>
          <p:cNvGraphicFramePr/>
          <p:nvPr/>
        </p:nvGraphicFramePr>
        <p:xfrm>
          <a:off x="632589" y="35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937425"/>
                <a:gridCol w="826125"/>
                <a:gridCol w="82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82"/>
          <p:cNvSpPr txBox="1"/>
          <p:nvPr/>
        </p:nvSpPr>
        <p:spPr>
          <a:xfrm>
            <a:off x="324175" y="1826100"/>
            <a:ext cx="8495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Lucas is checking his progress in English from year 7 to year 8. He wants to calculate the mean score of all his homework.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Find the mean of both his year 7 and year 8 English homework scores.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the values of these means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a sentence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explaining whether his English homework scores improved over the two years.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graphicFrame>
        <p:nvGraphicFramePr>
          <p:cNvPr id="1030" name="Google Shape;1030;p82"/>
          <p:cNvGraphicFramePr/>
          <p:nvPr/>
        </p:nvGraphicFramePr>
        <p:xfrm>
          <a:off x="17383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809625"/>
                <a:gridCol w="809625"/>
                <a:gridCol w="809625"/>
                <a:gridCol w="809625"/>
                <a:gridCol w="809625"/>
                <a:gridCol w="809625"/>
                <a:gridCol w="809625"/>
              </a:tblGrid>
              <a:tr h="41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graphicFrame>
        <p:nvGraphicFramePr>
          <p:cNvPr id="1036" name="Google Shape;1036;p83"/>
          <p:cNvGraphicFramePr/>
          <p:nvPr/>
        </p:nvGraphicFramePr>
        <p:xfrm>
          <a:off x="632589" y="35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937425"/>
                <a:gridCol w="826125"/>
                <a:gridCol w="82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37" name="Google Shape;1037;p83"/>
          <p:cNvGrpSpPr/>
          <p:nvPr/>
        </p:nvGrpSpPr>
        <p:grpSpPr>
          <a:xfrm>
            <a:off x="3759172" y="810007"/>
            <a:ext cx="386288" cy="386288"/>
            <a:chOff x="1020916" y="1442088"/>
            <a:chExt cx="457200" cy="457200"/>
          </a:xfrm>
        </p:grpSpPr>
        <p:pic>
          <p:nvPicPr>
            <p:cNvPr id="1038" name="Google Shape;103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9" name="Google Shape;103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83"/>
          <p:cNvGrpSpPr/>
          <p:nvPr/>
        </p:nvGrpSpPr>
        <p:grpSpPr>
          <a:xfrm>
            <a:off x="3759172" y="1590932"/>
            <a:ext cx="386288" cy="386288"/>
            <a:chOff x="1020916" y="1442088"/>
            <a:chExt cx="457200" cy="457200"/>
          </a:xfrm>
        </p:grpSpPr>
        <p:pic>
          <p:nvPicPr>
            <p:cNvPr id="1041" name="Google Shape;1041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3" name="Google Shape;1043;p83"/>
          <p:cNvGrpSpPr/>
          <p:nvPr/>
        </p:nvGrpSpPr>
        <p:grpSpPr>
          <a:xfrm>
            <a:off x="3759172" y="2371857"/>
            <a:ext cx="386288" cy="386288"/>
            <a:chOff x="1020916" y="1442088"/>
            <a:chExt cx="457200" cy="457200"/>
          </a:xfrm>
        </p:grpSpPr>
        <p:pic>
          <p:nvPicPr>
            <p:cNvPr id="1044" name="Google Shape;1044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6" name="Google Shape;1046;p83"/>
          <p:cNvSpPr txBox="1"/>
          <p:nvPr/>
        </p:nvSpPr>
        <p:spPr>
          <a:xfrm>
            <a:off x="4145450" y="81000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score in year 8 was higher than in year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7" name="Google Shape;1047;p83"/>
          <p:cNvGrpSpPr/>
          <p:nvPr/>
        </p:nvGrpSpPr>
        <p:grpSpPr>
          <a:xfrm>
            <a:off x="3759172" y="3152782"/>
            <a:ext cx="386288" cy="386288"/>
            <a:chOff x="1020916" y="1442088"/>
            <a:chExt cx="457200" cy="457200"/>
          </a:xfrm>
        </p:grpSpPr>
        <p:pic>
          <p:nvPicPr>
            <p:cNvPr id="1048" name="Google Shape;1048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9" name="Google Shape;1049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0" name="Google Shape;1050;p83"/>
          <p:cNvGrpSpPr/>
          <p:nvPr/>
        </p:nvGrpSpPr>
        <p:grpSpPr>
          <a:xfrm>
            <a:off x="3759172" y="3933707"/>
            <a:ext cx="386288" cy="386288"/>
            <a:chOff x="1020916" y="1442088"/>
            <a:chExt cx="457200" cy="457200"/>
          </a:xfrm>
        </p:grpSpPr>
        <p:pic>
          <p:nvPicPr>
            <p:cNvPr id="1051" name="Google Shape;1051;p8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8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3" name="Google Shape;1053;p83"/>
          <p:cNvSpPr txBox="1"/>
          <p:nvPr/>
        </p:nvSpPr>
        <p:spPr>
          <a:xfrm>
            <a:off x="4145450" y="1590925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score in year 7 was higher than in year 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83"/>
          <p:cNvSpPr txBox="1"/>
          <p:nvPr/>
        </p:nvSpPr>
        <p:spPr>
          <a:xfrm>
            <a:off x="4145450" y="237185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scores were more varied in year 8 than in year 7.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3"/>
          <p:cNvSpPr txBox="1"/>
          <p:nvPr/>
        </p:nvSpPr>
        <p:spPr>
          <a:xfrm>
            <a:off x="4145450" y="3152775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His scores were more varied in year 7 than in year 8.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83"/>
          <p:cNvSpPr txBox="1"/>
          <p:nvPr/>
        </p:nvSpPr>
        <p:spPr>
          <a:xfrm>
            <a:off x="4145450" y="3933700"/>
            <a:ext cx="46746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His middle score was the same in both years.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7" name="Google Shape;105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1358" y="108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8" y="34575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3"/>
          <p:cNvSpPr txBox="1"/>
          <p:nvPr/>
        </p:nvSpPr>
        <p:spPr>
          <a:xfrm>
            <a:off x="6922500" y="1129200"/>
            <a:ext cx="139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median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3"/>
          <p:cNvSpPr txBox="1"/>
          <p:nvPr/>
        </p:nvSpPr>
        <p:spPr>
          <a:xfrm>
            <a:off x="6202500" y="3506700"/>
            <a:ext cx="1390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range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1" name="Google Shape;1061;p83"/>
          <p:cNvSpPr txBox="1"/>
          <p:nvPr/>
        </p:nvSpPr>
        <p:spPr>
          <a:xfrm>
            <a:off x="324175" y="759300"/>
            <a:ext cx="320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Lucas is checking his progress in maths from year 7 to year 8. He calculates the median and range of his scores in his weekly quizzes.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Match the summary statistic to its correct interpretation.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1067" name="Google Shape;1067;p84"/>
          <p:cNvSpPr txBox="1"/>
          <p:nvPr/>
        </p:nvSpPr>
        <p:spPr>
          <a:xfrm>
            <a:off x="324175" y="1826100"/>
            <a:ext cx="8495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Lucas is checking his progress in English from year 7 to year 8. He wants to calculate the mean score of all his homework.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a) Find the mean of both his year 7 and year 8 English homework scores.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 Use the values of these means to write a sentence explaining whether his English homework scores improved over the two years.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68" name="Google Shape;1068;p84"/>
          <p:cNvGraphicFramePr/>
          <p:nvPr/>
        </p:nvGraphicFramePr>
        <p:xfrm>
          <a:off x="900138" y="72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809625"/>
                <a:gridCol w="809625"/>
                <a:gridCol w="809625"/>
                <a:gridCol w="809625"/>
                <a:gridCol w="809625"/>
                <a:gridCol w="809625"/>
                <a:gridCol w="809625"/>
              </a:tblGrid>
              <a:tr h="41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0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9" name="Google Shape;1069;p84"/>
          <p:cNvSpPr txBox="1"/>
          <p:nvPr/>
        </p:nvSpPr>
        <p:spPr>
          <a:xfrm>
            <a:off x="6567525" y="727575"/>
            <a:ext cx="1663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ean of 52.5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4"/>
          <p:cNvSpPr txBox="1"/>
          <p:nvPr/>
        </p:nvSpPr>
        <p:spPr>
          <a:xfrm>
            <a:off x="6567525" y="1227375"/>
            <a:ext cx="16635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mean of 55.5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4"/>
          <p:cNvSpPr txBox="1"/>
          <p:nvPr/>
        </p:nvSpPr>
        <p:spPr>
          <a:xfrm>
            <a:off x="996200" y="3677500"/>
            <a:ext cx="7823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Lucas’ mean homework score improved by 3 marks over the two years.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means he improved by approximately 3 marks on each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homework from year 7 to year 8.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077" name="Google Shape;1077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summary statistic to compare data sets</a:t>
            </a:r>
            <a:endParaRPr/>
          </a:p>
        </p:txBody>
      </p:sp>
      <p:sp>
        <p:nvSpPr>
          <p:cNvPr id="1078" name="Google Shape;1078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summaries of data</a:t>
            </a:r>
            <a:endParaRPr/>
          </a:p>
        </p:txBody>
      </p:sp>
      <p:pic>
        <p:nvPicPr>
          <p:cNvPr id="1079" name="Google Shape;107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071" y="298836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aphicFrame>
        <p:nvGraphicFramePr>
          <p:cNvPr id="1085" name="Google Shape;1085;p86"/>
          <p:cNvGraphicFramePr/>
          <p:nvPr/>
        </p:nvGraphicFramePr>
        <p:xfrm>
          <a:off x="1627900" y="7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61117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</a:tblGrid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Data inc.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Stats &amp; co.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6" name="Google Shape;1086;p86"/>
          <p:cNvSpPr txBox="1"/>
          <p:nvPr/>
        </p:nvSpPr>
        <p:spPr>
          <a:xfrm>
            <a:off x="324000" y="1725150"/>
            <a:ext cx="8496000" cy="10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 show how many hours a set of employees work each week.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business did its employees work a greater number of hours per week?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6"/>
          <p:cNvSpPr txBox="1"/>
          <p:nvPr/>
        </p:nvSpPr>
        <p:spPr>
          <a:xfrm>
            <a:off x="896050" y="3240000"/>
            <a:ext cx="7923900" cy="1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To effectively compare two or more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data set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s, it is best to use as many summary statistics in your comparison as you can.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Where possible, always use at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least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one measure of central tendency (mean, median, mode), and one measure of spread (range).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093" name="Google Shape;1093;p87"/>
          <p:cNvSpPr txBox="1"/>
          <p:nvPr/>
        </p:nvSpPr>
        <p:spPr>
          <a:xfrm>
            <a:off x="324000" y="1725150"/>
            <a:ext cx="84960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which business did its employees work a greater number of hours per week?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94" name="Google Shape;1094;p87"/>
          <p:cNvGraphicFramePr/>
          <p:nvPr/>
        </p:nvGraphicFramePr>
        <p:xfrm>
          <a:off x="1627900" y="7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61117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</a:tblGrid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Data inc.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Stats &amp; co.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5" name="Google Shape;1095;p87"/>
          <p:cNvSpPr txBox="1"/>
          <p:nvPr/>
        </p:nvSpPr>
        <p:spPr>
          <a:xfrm>
            <a:off x="324000" y="2629050"/>
            <a:ext cx="84960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Whilst the average, typical number of hours worked for people in Data inc. is higher (with a mean of 33.9 compared to 32.3), Stats &amp; co. had less variance in the number of hours worked (with a range of 6 compared to 17).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conclusion, I think that Data inc. works a greater number of hours per week, especially since their modal number of hours is also higher (37 compared to 34).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88"/>
          <p:cNvGrpSpPr/>
          <p:nvPr/>
        </p:nvGrpSpPr>
        <p:grpSpPr>
          <a:xfrm>
            <a:off x="324000" y="1620000"/>
            <a:ext cx="8496050" cy="914400"/>
            <a:chOff x="324000" y="1620000"/>
            <a:chExt cx="8496050" cy="914400"/>
          </a:xfrm>
        </p:grpSpPr>
        <p:sp>
          <p:nvSpPr>
            <p:cNvPr id="1101" name="Google Shape;1101;p88"/>
            <p:cNvSpPr/>
            <p:nvPr/>
          </p:nvSpPr>
          <p:spPr>
            <a:xfrm>
              <a:off x="324000" y="1661575"/>
              <a:ext cx="6793200" cy="730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2" name="Google Shape;1102;p88"/>
            <p:cNvSpPr txBox="1"/>
            <p:nvPr/>
          </p:nvSpPr>
          <p:spPr>
            <a:xfrm>
              <a:off x="7295450" y="1620000"/>
              <a:ext cx="1524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 measure of central tendency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3" name="Google Shape;110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aphicFrame>
        <p:nvGraphicFramePr>
          <p:cNvPr id="1104" name="Google Shape;1104;p88"/>
          <p:cNvGraphicFramePr/>
          <p:nvPr/>
        </p:nvGraphicFramePr>
        <p:xfrm>
          <a:off x="1627900" y="75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161117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  <a:gridCol w="475225"/>
              </a:tblGrid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Data inc.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Stats &amp; co.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54000" marB="54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05" name="Google Shape;1105;p88"/>
          <p:cNvSpPr txBox="1"/>
          <p:nvPr/>
        </p:nvSpPr>
        <p:spPr>
          <a:xfrm>
            <a:off x="400200" y="1700400"/>
            <a:ext cx="66822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Whilst the typical number of hours worked for people in Data inc. is higher (with a mean of 33.9 compared to 32.3), Stats &amp; co. had less variance in the number of hours worked (with a range of 6 compared to 17).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conclusion, I think that Data inc. works a greater number of hours per week, especially since their modal number of hours is also higher (37 compared to 34).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06" name="Google Shape;1106;p88"/>
          <p:cNvGrpSpPr/>
          <p:nvPr/>
        </p:nvGrpSpPr>
        <p:grpSpPr>
          <a:xfrm>
            <a:off x="324000" y="2402414"/>
            <a:ext cx="8496050" cy="730200"/>
            <a:chOff x="324000" y="1661575"/>
            <a:chExt cx="8496050" cy="730200"/>
          </a:xfrm>
        </p:grpSpPr>
        <p:sp>
          <p:nvSpPr>
            <p:cNvPr id="1107" name="Google Shape;1107;p88"/>
            <p:cNvSpPr/>
            <p:nvPr/>
          </p:nvSpPr>
          <p:spPr>
            <a:xfrm>
              <a:off x="324000" y="1661575"/>
              <a:ext cx="6793200" cy="730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8" name="Google Shape;1108;p88"/>
            <p:cNvSpPr txBox="1"/>
            <p:nvPr/>
          </p:nvSpPr>
          <p:spPr>
            <a:xfrm>
              <a:off x="7295450" y="1772400"/>
              <a:ext cx="1524600" cy="59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 measure of dispersion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9" name="Google Shape;1109;p88"/>
          <p:cNvGrpSpPr/>
          <p:nvPr/>
        </p:nvGrpSpPr>
        <p:grpSpPr>
          <a:xfrm>
            <a:off x="324000" y="3200448"/>
            <a:ext cx="8496050" cy="1551481"/>
            <a:chOff x="324000" y="1620000"/>
            <a:chExt cx="8496050" cy="1129500"/>
          </a:xfrm>
        </p:grpSpPr>
        <p:sp>
          <p:nvSpPr>
            <p:cNvPr id="1110" name="Google Shape;1110;p88"/>
            <p:cNvSpPr/>
            <p:nvPr/>
          </p:nvSpPr>
          <p:spPr>
            <a:xfrm>
              <a:off x="324000" y="1661575"/>
              <a:ext cx="6793200" cy="7302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1" name="Google Shape;1111;p88"/>
            <p:cNvSpPr txBox="1"/>
            <p:nvPr/>
          </p:nvSpPr>
          <p:spPr>
            <a:xfrm>
              <a:off x="7295450" y="1620000"/>
              <a:ext cx="1524600" cy="112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 conclusion supported by a third summary statistic</a:t>
              </a:r>
              <a:endParaRPr b="1"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117" name="Google Shape;1117;p89"/>
          <p:cNvSpPr txBox="1"/>
          <p:nvPr/>
        </p:nvSpPr>
        <p:spPr>
          <a:xfrm>
            <a:off x="710275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All-Stats had a higher typical number of hours worked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9"/>
          <p:cNvSpPr txBox="1"/>
          <p:nvPr/>
        </p:nvSpPr>
        <p:spPr>
          <a:xfrm>
            <a:off x="324000" y="693700"/>
            <a:ext cx="52992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table of summary statistics shows the number of hours worked by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employees of two businesses.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combination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of these statements creates the correct comparison of these results?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9" name="Google Shape;1119;p89"/>
          <p:cNvGraphicFramePr/>
          <p:nvPr/>
        </p:nvGraphicFramePr>
        <p:xfrm>
          <a:off x="5928975" y="76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07075"/>
                <a:gridCol w="991975"/>
                <a:gridCol w="99197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All-Stats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InfoTek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20" name="Google Shape;1120;p89"/>
          <p:cNvGrpSpPr/>
          <p:nvPr/>
        </p:nvGrpSpPr>
        <p:grpSpPr>
          <a:xfrm>
            <a:off x="323997" y="2495557"/>
            <a:ext cx="386288" cy="386288"/>
            <a:chOff x="1020916" y="1442088"/>
            <a:chExt cx="457200" cy="457200"/>
          </a:xfrm>
        </p:grpSpPr>
        <p:pic>
          <p:nvPicPr>
            <p:cNvPr id="1121" name="Google Shape;1121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2" name="Google Shape;1122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3" name="Google Shape;1123;p89"/>
          <p:cNvSpPr txBox="1"/>
          <p:nvPr/>
        </p:nvSpPr>
        <p:spPr>
          <a:xfrm>
            <a:off x="710275" y="372590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InfoTek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had a higher typical number of hours worked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4" name="Google Shape;1124;p89"/>
          <p:cNvGrpSpPr/>
          <p:nvPr/>
        </p:nvGrpSpPr>
        <p:grpSpPr>
          <a:xfrm>
            <a:off x="323997" y="3725907"/>
            <a:ext cx="386288" cy="386288"/>
            <a:chOff x="1020916" y="1442088"/>
            <a:chExt cx="457200" cy="457200"/>
          </a:xfrm>
        </p:grpSpPr>
        <p:pic>
          <p:nvPicPr>
            <p:cNvPr id="1125" name="Google Shape;1125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27" name="Google Shape;1127;p89"/>
          <p:cNvGrpSpPr/>
          <p:nvPr/>
        </p:nvGrpSpPr>
        <p:grpSpPr>
          <a:xfrm>
            <a:off x="3138122" y="2495557"/>
            <a:ext cx="386288" cy="386288"/>
            <a:chOff x="1020916" y="1442088"/>
            <a:chExt cx="457200" cy="457200"/>
          </a:xfrm>
        </p:grpSpPr>
        <p:pic>
          <p:nvPicPr>
            <p:cNvPr id="1128" name="Google Shape;1128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9" name="Google Shape;1129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0" name="Google Shape;1130;p89"/>
          <p:cNvSpPr txBox="1"/>
          <p:nvPr/>
        </p:nvSpPr>
        <p:spPr>
          <a:xfrm>
            <a:off x="3524400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All-Stats also had less variance in the number of hours worked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1" name="Google Shape;1131;p89"/>
          <p:cNvGrpSpPr/>
          <p:nvPr/>
        </p:nvGrpSpPr>
        <p:grpSpPr>
          <a:xfrm>
            <a:off x="3138122" y="3725907"/>
            <a:ext cx="386288" cy="386288"/>
            <a:chOff x="1020916" y="1442088"/>
            <a:chExt cx="457200" cy="457200"/>
          </a:xfrm>
        </p:grpSpPr>
        <p:pic>
          <p:nvPicPr>
            <p:cNvPr id="1132" name="Google Shape;1132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4" name="Google Shape;1134;p89"/>
          <p:cNvSpPr txBox="1"/>
          <p:nvPr/>
        </p:nvSpPr>
        <p:spPr>
          <a:xfrm>
            <a:off x="3524400" y="372590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InfoTek also had a much higher middle data point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5" name="Google Shape;1135;p89"/>
          <p:cNvGrpSpPr/>
          <p:nvPr/>
        </p:nvGrpSpPr>
        <p:grpSpPr>
          <a:xfrm>
            <a:off x="6183722" y="2495557"/>
            <a:ext cx="386288" cy="386288"/>
            <a:chOff x="1020916" y="1442088"/>
            <a:chExt cx="457200" cy="457200"/>
          </a:xfrm>
        </p:grpSpPr>
        <p:pic>
          <p:nvPicPr>
            <p:cNvPr id="1136" name="Google Shape;1136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38" name="Google Shape;1138;p89"/>
          <p:cNvSpPr txBox="1"/>
          <p:nvPr/>
        </p:nvSpPr>
        <p:spPr>
          <a:xfrm>
            <a:off x="6570000" y="372590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All-Stats worked a greater number of hours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9" name="Google Shape;1139;p89"/>
          <p:cNvGrpSpPr/>
          <p:nvPr/>
        </p:nvGrpSpPr>
        <p:grpSpPr>
          <a:xfrm>
            <a:off x="6183722" y="3725907"/>
            <a:ext cx="386288" cy="386288"/>
            <a:chOff x="1020916" y="1442088"/>
            <a:chExt cx="457200" cy="457200"/>
          </a:xfrm>
        </p:grpSpPr>
        <p:pic>
          <p:nvPicPr>
            <p:cNvPr id="1140" name="Google Shape;1140;p8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1" name="Google Shape;1141;p8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2" name="Google Shape;1142;p89"/>
          <p:cNvSpPr txBox="1"/>
          <p:nvPr/>
        </p:nvSpPr>
        <p:spPr>
          <a:xfrm>
            <a:off x="6570000" y="249555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InfoTek worked a greater number of hours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148" name="Google Shape;1148;p90"/>
          <p:cNvSpPr txBox="1"/>
          <p:nvPr/>
        </p:nvSpPr>
        <p:spPr>
          <a:xfrm>
            <a:off x="710275" y="2495550"/>
            <a:ext cx="225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All-Stats had a higher typical number of hours worked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90"/>
          <p:cNvSpPr txBox="1"/>
          <p:nvPr/>
        </p:nvSpPr>
        <p:spPr>
          <a:xfrm>
            <a:off x="324000" y="693700"/>
            <a:ext cx="52992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table of summary statistics shows the number of hours worked by the employees of two businesses.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combination of these statements creates the correct comparison of these results?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50" name="Google Shape;1150;p90"/>
          <p:cNvGraphicFramePr/>
          <p:nvPr/>
        </p:nvGraphicFramePr>
        <p:xfrm>
          <a:off x="5928975" y="76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07075"/>
                <a:gridCol w="991975"/>
                <a:gridCol w="99197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All-Stats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InfoTek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31.5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51" name="Google Shape;1151;p90"/>
          <p:cNvGrpSpPr/>
          <p:nvPr/>
        </p:nvGrpSpPr>
        <p:grpSpPr>
          <a:xfrm>
            <a:off x="323997" y="2495557"/>
            <a:ext cx="386288" cy="386288"/>
            <a:chOff x="1020916" y="1442088"/>
            <a:chExt cx="457200" cy="457200"/>
          </a:xfrm>
        </p:grpSpPr>
        <p:pic>
          <p:nvPicPr>
            <p:cNvPr id="1152" name="Google Shape;1152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3" name="Google Shape;1153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4" name="Google Shape;1154;p90"/>
          <p:cNvGrpSpPr/>
          <p:nvPr/>
        </p:nvGrpSpPr>
        <p:grpSpPr>
          <a:xfrm>
            <a:off x="3138122" y="2495557"/>
            <a:ext cx="386288" cy="386288"/>
            <a:chOff x="1020916" y="1442088"/>
            <a:chExt cx="457200" cy="457200"/>
          </a:xfrm>
        </p:grpSpPr>
        <p:pic>
          <p:nvPicPr>
            <p:cNvPr id="1155" name="Google Shape;1155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6" name="Google Shape;1156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57" name="Google Shape;1157;p90"/>
          <p:cNvSpPr txBox="1"/>
          <p:nvPr/>
        </p:nvSpPr>
        <p:spPr>
          <a:xfrm>
            <a:off x="3524400" y="2495550"/>
            <a:ext cx="2250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And All-Stats also had less variance in the number of hours worked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90"/>
          <p:cNvSpPr txBox="1"/>
          <p:nvPr/>
        </p:nvSpPr>
        <p:spPr>
          <a:xfrm>
            <a:off x="6570000" y="2495550"/>
            <a:ext cx="225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Therefore, All-Stats worked a greater number of hours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90"/>
          <p:cNvSpPr txBox="1"/>
          <p:nvPr/>
        </p:nvSpPr>
        <p:spPr>
          <a:xfrm>
            <a:off x="710275" y="4061900"/>
            <a:ext cx="5299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conclusion could be even better if a final comparison using the mode was used.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60" name="Google Shape;1160;p90"/>
          <p:cNvGrpSpPr/>
          <p:nvPr/>
        </p:nvGrpSpPr>
        <p:grpSpPr>
          <a:xfrm>
            <a:off x="6183722" y="2495557"/>
            <a:ext cx="386288" cy="386288"/>
            <a:chOff x="1020916" y="1442088"/>
            <a:chExt cx="457200" cy="457200"/>
          </a:xfrm>
        </p:grpSpPr>
        <p:pic>
          <p:nvPicPr>
            <p:cNvPr id="1161" name="Google Shape;1161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2" name="Google Shape;1162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63" name="Google Shape;1163;p90"/>
          <p:cNvSpPr txBox="1"/>
          <p:nvPr/>
        </p:nvSpPr>
        <p:spPr>
          <a:xfrm>
            <a:off x="6570000" y="2495550"/>
            <a:ext cx="22500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In addition to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All-Stats’ most frequent value being 36 compared to InfoTek’s 32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, All-Stats definitely work a greater number of hours.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169" name="Google Shape;1169;p91"/>
          <p:cNvSpPr txBox="1"/>
          <p:nvPr/>
        </p:nvSpPr>
        <p:spPr>
          <a:xfrm>
            <a:off x="710275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Ella had less variance in the number of goals scored than Wayne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0" name="Google Shape;1170;p91"/>
          <p:cNvSpPr txBox="1"/>
          <p:nvPr/>
        </p:nvSpPr>
        <p:spPr>
          <a:xfrm>
            <a:off x="324000" y="693700"/>
            <a:ext cx="54504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table of summary statistics shows the number of goals scored by two footballers each match.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combination of these statements creates the correct comparison of these results?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71" name="Google Shape;1171;p91"/>
          <p:cNvGraphicFramePr/>
          <p:nvPr/>
        </p:nvGraphicFramePr>
        <p:xfrm>
          <a:off x="5928975" y="6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07075"/>
                <a:gridCol w="991975"/>
                <a:gridCol w="99197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Ella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Wayne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172" name="Google Shape;1172;p91"/>
          <p:cNvGrpSpPr/>
          <p:nvPr/>
        </p:nvGrpSpPr>
        <p:grpSpPr>
          <a:xfrm>
            <a:off x="323997" y="2495557"/>
            <a:ext cx="386288" cy="386288"/>
            <a:chOff x="1020916" y="1442088"/>
            <a:chExt cx="457200" cy="457200"/>
          </a:xfrm>
        </p:grpSpPr>
        <p:pic>
          <p:nvPicPr>
            <p:cNvPr id="1173" name="Google Shape;1173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1"/>
          <p:cNvGrpSpPr/>
          <p:nvPr/>
        </p:nvGrpSpPr>
        <p:grpSpPr>
          <a:xfrm>
            <a:off x="323997" y="3725907"/>
            <a:ext cx="386288" cy="386288"/>
            <a:chOff x="1020916" y="1442088"/>
            <a:chExt cx="457200" cy="457200"/>
          </a:xfrm>
        </p:grpSpPr>
        <p:pic>
          <p:nvPicPr>
            <p:cNvPr id="1176" name="Google Shape;1176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78" name="Google Shape;1178;p91"/>
          <p:cNvSpPr txBox="1"/>
          <p:nvPr/>
        </p:nvSpPr>
        <p:spPr>
          <a:xfrm>
            <a:off x="710275" y="372590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Wayne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had less variance in the number of goals scored than Ella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9" name="Google Shape;1179;p91"/>
          <p:cNvGrpSpPr/>
          <p:nvPr/>
        </p:nvGrpSpPr>
        <p:grpSpPr>
          <a:xfrm>
            <a:off x="3138122" y="2495557"/>
            <a:ext cx="386288" cy="386288"/>
            <a:chOff x="1020916" y="1442088"/>
            <a:chExt cx="457200" cy="457200"/>
          </a:xfrm>
        </p:grpSpPr>
        <p:pic>
          <p:nvPicPr>
            <p:cNvPr id="1180" name="Google Shape;1180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1" name="Google Shape;1181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2" name="Google Shape;1182;p91"/>
          <p:cNvSpPr txBox="1"/>
          <p:nvPr/>
        </p:nvSpPr>
        <p:spPr>
          <a:xfrm>
            <a:off x="3524400" y="249555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 Wayne’s most frequent number of goals was higher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3" name="Google Shape;1183;p91"/>
          <p:cNvSpPr txBox="1"/>
          <p:nvPr/>
        </p:nvSpPr>
        <p:spPr>
          <a:xfrm>
            <a:off x="3524400" y="372590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Ella’s most frequent number of goals was higher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84" name="Google Shape;1184;p91"/>
          <p:cNvGrpSpPr/>
          <p:nvPr/>
        </p:nvGrpSpPr>
        <p:grpSpPr>
          <a:xfrm>
            <a:off x="3138122" y="3725907"/>
            <a:ext cx="386288" cy="386288"/>
            <a:chOff x="1020916" y="1442088"/>
            <a:chExt cx="457200" cy="457200"/>
          </a:xfrm>
        </p:grpSpPr>
        <p:pic>
          <p:nvPicPr>
            <p:cNvPr id="1185" name="Google Shape;1185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7" name="Google Shape;1187;p91"/>
          <p:cNvGrpSpPr/>
          <p:nvPr/>
        </p:nvGrpSpPr>
        <p:grpSpPr>
          <a:xfrm>
            <a:off x="6183722" y="2495557"/>
            <a:ext cx="386288" cy="386288"/>
            <a:chOff x="1020916" y="1442088"/>
            <a:chExt cx="457200" cy="457200"/>
          </a:xfrm>
        </p:grpSpPr>
        <p:pic>
          <p:nvPicPr>
            <p:cNvPr id="1188" name="Google Shape;1188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9" name="Google Shape;1189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0" name="Google Shape;1190;p91"/>
          <p:cNvSpPr txBox="1"/>
          <p:nvPr/>
        </p:nvSpPr>
        <p:spPr>
          <a:xfrm>
            <a:off x="6570000" y="372590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Therefore, Wayne scored more goals on average than Ella.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1" name="Google Shape;1191;p91"/>
          <p:cNvGrpSpPr/>
          <p:nvPr/>
        </p:nvGrpSpPr>
        <p:grpSpPr>
          <a:xfrm>
            <a:off x="6183722" y="3725907"/>
            <a:ext cx="386288" cy="386288"/>
            <a:chOff x="1020916" y="1442088"/>
            <a:chExt cx="457200" cy="457200"/>
          </a:xfrm>
        </p:grpSpPr>
        <p:pic>
          <p:nvPicPr>
            <p:cNvPr id="1192" name="Google Shape;1192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4" name="Google Shape;1194;p91"/>
          <p:cNvSpPr txBox="1"/>
          <p:nvPr/>
        </p:nvSpPr>
        <p:spPr>
          <a:xfrm>
            <a:off x="6570000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Ella scored more goals on average than Wayne.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2"/>
          <p:cNvSpPr txBox="1"/>
          <p:nvPr/>
        </p:nvSpPr>
        <p:spPr>
          <a:xfrm>
            <a:off x="324000" y="2996781"/>
            <a:ext cx="84960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mean number of days of air frost in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lower by 3.7 days.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range of 12 in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a lot more variability in the number of days of frost each year.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conclusion, there was more frost in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supported by the fact the middle value of 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higher by </a:t>
            </a:r>
            <a:r>
              <a:rPr lang="en-GB" sz="18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2"/>
          <p:cNvSpPr txBox="1"/>
          <p:nvPr/>
        </p:nvSpPr>
        <p:spPr>
          <a:xfrm>
            <a:off x="324000" y="693700"/>
            <a:ext cx="45000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) The table of summary statistics shows the number of days of air frost each day in December over the last 10 years.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Complete the sentences with either “Oxford”, “Stornoway” or a correct number to accurately compare the two locations.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1" name="Google Shape;1201;p92"/>
          <p:cNvGraphicFramePr/>
          <p:nvPr/>
        </p:nvGraphicFramePr>
        <p:xfrm>
          <a:off x="5036500" y="6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859800"/>
                <a:gridCol w="1461850"/>
                <a:gridCol w="1461850"/>
              </a:tblGrid>
              <a:tr h="26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Oxford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Stornoway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0 and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1 and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2" name="Google Shape;1202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93"/>
          <p:cNvSpPr txBox="1"/>
          <p:nvPr/>
        </p:nvSpPr>
        <p:spPr>
          <a:xfrm>
            <a:off x="324000" y="2685889"/>
            <a:ext cx="8496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Complete the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209" name="Google Shape;1209;p93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210" name="Google Shape;1210;p93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1" name="Google Shape;1211;p93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2" name="Google Shape;1212;p93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3" name="Google Shape;1213;p93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4" name="Google Shape;1214;p93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93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93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</a:t>
              </a: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93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18" name="Google Shape;1218;p93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19" name="Google Shape;1219;p93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0" name="Google Shape;1220;p93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1" name="Google Shape;1221;p93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22" name="Google Shape;1222;p93"/>
          <p:cNvSpPr txBox="1"/>
          <p:nvPr/>
        </p:nvSpPr>
        <p:spPr>
          <a:xfrm>
            <a:off x="811400" y="3826075"/>
            <a:ext cx="80085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average,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typical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value for class A and class B are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                     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, with a value of approximately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p94"/>
          <p:cNvSpPr txBox="1"/>
          <p:nvPr/>
        </p:nvSpPr>
        <p:spPr>
          <a:xfrm>
            <a:off x="811400" y="3826075"/>
            <a:ext cx="80085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However, class B had a much higher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compared to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Class B also had a slightly higher mode of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compared to </a:t>
            </a:r>
            <a:r>
              <a:rPr lang="en-GB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4"/>
          <p:cNvSpPr txBox="1"/>
          <p:nvPr/>
        </p:nvSpPr>
        <p:spPr>
          <a:xfrm>
            <a:off x="324000" y="2685889"/>
            <a:ext cx="8496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 Complete the statements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230" name="Google Shape;1230;p94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231" name="Google Shape;1231;p94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2" name="Google Shape;1232;p94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3" name="Google Shape;1233;p94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4" name="Google Shape;1234;p94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5" name="Google Shape;1235;p94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94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94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94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39" name="Google Shape;1239;p94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0" name="Google Shape;1240;p94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94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2" name="Google Shape;1242;p94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95"/>
          <p:cNvSpPr txBox="1"/>
          <p:nvPr/>
        </p:nvSpPr>
        <p:spPr>
          <a:xfrm>
            <a:off x="811400" y="3826075"/>
            <a:ext cx="8008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Class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is much more varied, with a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compared to </a:t>
            </a:r>
            <a:r>
              <a:rPr lang="en-GB" sz="16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95"/>
          <p:cNvSpPr txBox="1"/>
          <p:nvPr/>
        </p:nvSpPr>
        <p:spPr>
          <a:xfrm>
            <a:off x="324000" y="2685889"/>
            <a:ext cx="8496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 Complete the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250" name="Google Shape;1250;p95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251" name="Google Shape;1251;p95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2" name="Google Shape;1252;p95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3" name="Google Shape;1253;p95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4" name="Google Shape;1254;p95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5" name="Google Shape;1255;p95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95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7" name="Google Shape;1257;p95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8" name="Google Shape;1258;p95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59" name="Google Shape;1259;p95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0" name="Google Shape;1260;p95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95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62" name="Google Shape;1262;p95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6"/>
          <p:cNvSpPr txBox="1"/>
          <p:nvPr/>
        </p:nvSpPr>
        <p:spPr>
          <a:xfrm>
            <a:off x="811400" y="4010925"/>
            <a:ext cx="7775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 conclusion, I think class </a:t>
            </a:r>
            <a:r>
              <a:rPr lang="en-GB" sz="1600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takes longer on average to walk to school, as their </a:t>
            </a:r>
            <a:r>
              <a:rPr lang="en-GB" sz="1600"/>
              <a:t>________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600">
                <a:solidFill>
                  <a:schemeClr val="dk1"/>
                </a:solidFill>
              </a:rPr>
              <a:t>________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larger, and there is also less variation in these longer central times.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6"/>
          <p:cNvSpPr txBox="1"/>
          <p:nvPr/>
        </p:nvSpPr>
        <p:spPr>
          <a:xfrm>
            <a:off x="324000" y="2685889"/>
            <a:ext cx="84960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 Complete the concluding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270" name="Google Shape;1270;p96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271" name="Google Shape;1271;p96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2" name="Google Shape;1272;p96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3" name="Google Shape;1273;p96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4" name="Google Shape;1274;p96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5" name="Google Shape;1275;p96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96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96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96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279" name="Google Shape;1279;p96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0" name="Google Shape;1280;p96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81" name="Google Shape;1281;p96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82" name="Google Shape;1282;p96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7"/>
          <p:cNvSpPr txBox="1"/>
          <p:nvPr/>
        </p:nvSpPr>
        <p:spPr>
          <a:xfrm>
            <a:off x="324000" y="1558489"/>
            <a:ext cx="84960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) The two lists of data show the number of days of air frost each January.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Complete the table of summary statistics and interpretations, and then write a conclusion to the question: “which location had a greater average number of days of air frost each January?”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8" name="Google Shape;1288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aphicFrame>
        <p:nvGraphicFramePr>
          <p:cNvPr id="1289" name="Google Shape;1289;p97"/>
          <p:cNvGraphicFramePr/>
          <p:nvPr/>
        </p:nvGraphicFramePr>
        <p:xfrm>
          <a:off x="379288" y="7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24295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</a:tblGrid>
              <a:tr h="332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 (Scotland)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 (Wales)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90" name="Google Shape;1290;p97"/>
          <p:cNvGraphicFramePr/>
          <p:nvPr/>
        </p:nvGraphicFramePr>
        <p:xfrm>
          <a:off x="324000" y="2876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47525"/>
                <a:gridCol w="978300"/>
                <a:gridCol w="978300"/>
                <a:gridCol w="5197225"/>
              </a:tblGrid>
              <a:tr h="33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interpretation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middle number of days of air frost in Valley is higher than in Tiree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296" name="Google Shape;1296;p98"/>
          <p:cNvSpPr txBox="1"/>
          <p:nvPr/>
        </p:nvSpPr>
        <p:spPr>
          <a:xfrm>
            <a:off x="710275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Ella had less variance in the number of goals scored than Wayne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8"/>
          <p:cNvSpPr txBox="1"/>
          <p:nvPr/>
        </p:nvSpPr>
        <p:spPr>
          <a:xfrm>
            <a:off x="324000" y="693700"/>
            <a:ext cx="5450400" cy="1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The table of summary statistics shows the number of goals scored by two footballers each match.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combination of these statements creates the correct comparison of these results?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98" name="Google Shape;1298;p98"/>
          <p:cNvGraphicFramePr/>
          <p:nvPr/>
        </p:nvGraphicFramePr>
        <p:xfrm>
          <a:off x="5928975" y="6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07075"/>
                <a:gridCol w="991975"/>
                <a:gridCol w="991975"/>
              </a:tblGrid>
              <a:tr h="2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Ella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Wayne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99" name="Google Shape;1299;p98"/>
          <p:cNvGrpSpPr/>
          <p:nvPr/>
        </p:nvGrpSpPr>
        <p:grpSpPr>
          <a:xfrm>
            <a:off x="323997" y="2495557"/>
            <a:ext cx="386288" cy="386288"/>
            <a:chOff x="1020916" y="1442088"/>
            <a:chExt cx="457200" cy="457200"/>
          </a:xfrm>
        </p:grpSpPr>
        <p:pic>
          <p:nvPicPr>
            <p:cNvPr id="1300" name="Google Shape;1300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2" name="Google Shape;1302;p98"/>
          <p:cNvSpPr txBox="1"/>
          <p:nvPr/>
        </p:nvSpPr>
        <p:spPr>
          <a:xfrm>
            <a:off x="3524400" y="3725900"/>
            <a:ext cx="225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Ella’s most frequent number of goals was higher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03" name="Google Shape;1303;p98"/>
          <p:cNvGrpSpPr/>
          <p:nvPr/>
        </p:nvGrpSpPr>
        <p:grpSpPr>
          <a:xfrm>
            <a:off x="3138122" y="3725907"/>
            <a:ext cx="386288" cy="386288"/>
            <a:chOff x="1020916" y="1442088"/>
            <a:chExt cx="457200" cy="457200"/>
          </a:xfrm>
        </p:grpSpPr>
        <p:pic>
          <p:nvPicPr>
            <p:cNvPr id="1304" name="Google Shape;1304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5" name="Google Shape;130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98"/>
          <p:cNvGrpSpPr/>
          <p:nvPr/>
        </p:nvGrpSpPr>
        <p:grpSpPr>
          <a:xfrm>
            <a:off x="6183722" y="2495557"/>
            <a:ext cx="386288" cy="386288"/>
            <a:chOff x="1020916" y="1442088"/>
            <a:chExt cx="457200" cy="457200"/>
          </a:xfrm>
        </p:grpSpPr>
        <p:pic>
          <p:nvPicPr>
            <p:cNvPr id="1307" name="Google Shape;1307;p9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8" name="Google Shape;130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9" name="Google Shape;1309;p98"/>
          <p:cNvSpPr txBox="1"/>
          <p:nvPr/>
        </p:nvSpPr>
        <p:spPr>
          <a:xfrm>
            <a:off x="6570000" y="2495550"/>
            <a:ext cx="225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 Ella scored more goals on average than Wayne.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10" name="Google Shape;131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146" y="29077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25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2" name="Google Shape;131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871" y="29077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318" name="Google Shape;1318;p99"/>
          <p:cNvSpPr txBox="1"/>
          <p:nvPr/>
        </p:nvSpPr>
        <p:spPr>
          <a:xfrm>
            <a:off x="324000" y="2729756"/>
            <a:ext cx="84960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mean number of days of air frost in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Stornoway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lower by 3.7 days.</a:t>
            </a:r>
            <a:br>
              <a:rPr lang="en-GB" sz="1800">
                <a:latin typeface="Lexend"/>
                <a:ea typeface="Lexend"/>
                <a:cs typeface="Lexend"/>
                <a:sym typeface="Lexend"/>
              </a:rPr>
            </a:b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range of 12 in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shows a lot more variability in the number of days of frost each year.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conclusion, there was more frost in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, supported by the fact the middle value of 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Oxford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higher by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days.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9"/>
          <p:cNvSpPr txBox="1"/>
          <p:nvPr/>
        </p:nvSpPr>
        <p:spPr>
          <a:xfrm>
            <a:off x="324000" y="693700"/>
            <a:ext cx="47124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2) The table of summary statistics shows the number of days of air frost each day in December over the last 10 years.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Complete the sentences with either “Oxford”, “Stornoway” or a correct number to accurately compare the two locations.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20" name="Google Shape;1320;p99"/>
          <p:cNvGraphicFramePr/>
          <p:nvPr/>
        </p:nvGraphicFramePr>
        <p:xfrm>
          <a:off x="5036500" y="6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859800"/>
                <a:gridCol w="1461850"/>
                <a:gridCol w="1461850"/>
              </a:tblGrid>
              <a:tr h="26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Oxford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Stornoway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0 and 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1 and 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72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326" name="Google Shape;1326;p100"/>
          <p:cNvSpPr txBox="1"/>
          <p:nvPr/>
        </p:nvSpPr>
        <p:spPr>
          <a:xfrm>
            <a:off x="324000" y="2685889"/>
            <a:ext cx="84960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a) Complete the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7" name="Google Shape;1327;p100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328" name="Google Shape;1328;p100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9" name="Google Shape;1329;p100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0" name="Google Shape;1330;p100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1" name="Google Shape;1331;p100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100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3" name="Google Shape;1333;p100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100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100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36" name="Google Shape;1336;p100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7" name="Google Shape;1337;p100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8" name="Google Shape;1338;p100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9" name="Google Shape;1339;p100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40" name="Google Shape;1340;p100"/>
          <p:cNvSpPr txBox="1"/>
          <p:nvPr/>
        </p:nvSpPr>
        <p:spPr>
          <a:xfrm>
            <a:off x="711750" y="3826075"/>
            <a:ext cx="810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average, typical value for class A and class B are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same or equal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with a value of approximately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12.5 - 13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0"/>
          <p:cNvSpPr txBox="1"/>
          <p:nvPr/>
        </p:nvSpPr>
        <p:spPr>
          <a:xfrm>
            <a:off x="642125" y="4484175"/>
            <a:ext cx="601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Any number in this range is acceptable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347" name="Google Shape;1347;p101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348" name="Google Shape;1348;p101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9" name="Google Shape;1349;p101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0" name="Google Shape;1350;p101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1" name="Google Shape;1351;p101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2" name="Google Shape;1352;p101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101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4" name="Google Shape;1354;p101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5" name="Google Shape;1355;p101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56" name="Google Shape;1356;p101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57" name="Google Shape;1357;p101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58" name="Google Shape;1358;p101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59" name="Google Shape;1359;p101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60" name="Google Shape;1360;p101"/>
          <p:cNvSpPr txBox="1"/>
          <p:nvPr/>
        </p:nvSpPr>
        <p:spPr>
          <a:xfrm>
            <a:off x="811400" y="3826075"/>
            <a:ext cx="8008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However, class B had a much higher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of 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13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compared to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Class B also had a slightly higher mode of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11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compared to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1" name="Google Shape;1361;p101"/>
          <p:cNvSpPr txBox="1"/>
          <p:nvPr/>
        </p:nvSpPr>
        <p:spPr>
          <a:xfrm>
            <a:off x="324000" y="2685889"/>
            <a:ext cx="8496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 Complete the statements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101"/>
          <p:cNvSpPr txBox="1"/>
          <p:nvPr/>
        </p:nvSpPr>
        <p:spPr>
          <a:xfrm>
            <a:off x="7095125" y="4181400"/>
            <a:ext cx="68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368" name="Google Shape;1368;p102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369" name="Google Shape;1369;p102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0" name="Google Shape;1370;p102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1" name="Google Shape;1371;p102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2" name="Google Shape;1372;p102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3" name="Google Shape;1373;p102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102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5" name="Google Shape;1375;p102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6" name="Google Shape;1376;p102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77" name="Google Shape;1377;p102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102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79" name="Google Shape;1379;p102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80" name="Google Shape;1380;p102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381" name="Google Shape;1381;p102"/>
          <p:cNvSpPr txBox="1"/>
          <p:nvPr/>
        </p:nvSpPr>
        <p:spPr>
          <a:xfrm>
            <a:off x="811400" y="3826075"/>
            <a:ext cx="8008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Class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is much more varied, with a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range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31 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compared to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2"/>
          <p:cNvSpPr txBox="1"/>
          <p:nvPr/>
        </p:nvSpPr>
        <p:spPr>
          <a:xfrm>
            <a:off x="324000" y="2685889"/>
            <a:ext cx="8496000" cy="9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 Complete the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pSp>
        <p:nvGrpSpPr>
          <p:cNvPr id="1388" name="Google Shape;1388;p103"/>
          <p:cNvGrpSpPr/>
          <p:nvPr/>
        </p:nvGrpSpPr>
        <p:grpSpPr>
          <a:xfrm>
            <a:off x="711750" y="685708"/>
            <a:ext cx="7720500" cy="1758425"/>
            <a:chOff x="1099500" y="739413"/>
            <a:chExt cx="7720500" cy="1758425"/>
          </a:xfrm>
        </p:grpSpPr>
        <p:pic>
          <p:nvPicPr>
            <p:cNvPr id="1389" name="Google Shape;1389;p103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0" name="Google Shape;1390;p103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1" name="Google Shape;1391;p103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2" name="Google Shape;1392;p103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3" name="Google Shape;1393;p103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4" name="Google Shape;1394;p103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103"/>
            <p:cNvSpPr txBox="1"/>
            <p:nvPr/>
          </p:nvSpPr>
          <p:spPr>
            <a:xfrm>
              <a:off x="1099500" y="7394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6" name="Google Shape;1396;p103"/>
            <p:cNvSpPr txBox="1"/>
            <p:nvPr/>
          </p:nvSpPr>
          <p:spPr>
            <a:xfrm>
              <a:off x="1099500" y="2251513"/>
              <a:ext cx="7626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397" name="Google Shape;1397;p103"/>
          <p:cNvCxnSpPr/>
          <p:nvPr/>
        </p:nvCxnSpPr>
        <p:spPr>
          <a:xfrm>
            <a:off x="4044869" y="696726"/>
            <a:ext cx="0" cy="78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103"/>
          <p:cNvCxnSpPr/>
          <p:nvPr/>
        </p:nvCxnSpPr>
        <p:spPr>
          <a:xfrm>
            <a:off x="4044869" y="1500560"/>
            <a:ext cx="0" cy="935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99" name="Google Shape;1399;p103"/>
          <p:cNvCxnSpPr/>
          <p:nvPr/>
        </p:nvCxnSpPr>
        <p:spPr>
          <a:xfrm rot="10800000">
            <a:off x="3274818" y="1158426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0" name="Google Shape;1400;p103"/>
          <p:cNvCxnSpPr/>
          <p:nvPr/>
        </p:nvCxnSpPr>
        <p:spPr>
          <a:xfrm rot="10800000">
            <a:off x="4078348" y="2089201"/>
            <a:ext cx="0" cy="32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401" name="Google Shape;1401;p103"/>
          <p:cNvSpPr txBox="1"/>
          <p:nvPr/>
        </p:nvSpPr>
        <p:spPr>
          <a:xfrm>
            <a:off x="811400" y="4010925"/>
            <a:ext cx="77751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 conclusion, I think class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takes longer on average to walk to school, as their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mode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median</a:t>
            </a: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are larger, and there is also less variation in these longer central times.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103"/>
          <p:cNvSpPr txBox="1"/>
          <p:nvPr/>
        </p:nvSpPr>
        <p:spPr>
          <a:xfrm>
            <a:off x="324000" y="2685889"/>
            <a:ext cx="84960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 Complete the concluding statement below about the summary statistics for class A and B.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sp>
        <p:nvSpPr>
          <p:cNvPr id="1408" name="Google Shape;1408;p104"/>
          <p:cNvSpPr txBox="1"/>
          <p:nvPr/>
        </p:nvSpPr>
        <p:spPr>
          <a:xfrm>
            <a:off x="324000" y="1558489"/>
            <a:ext cx="8496000" cy="12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4) The two lists of data show the number of days of air frost each January.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Complete the table of summary statistics and interpretations, and then write a conclusion to the question: “which location had a greater average number of days of air frost each January?”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409" name="Google Shape;1409;p104"/>
          <p:cNvGraphicFramePr/>
          <p:nvPr/>
        </p:nvGraphicFramePr>
        <p:xfrm>
          <a:off x="379288" y="73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{E1438787-0989-4E7B-87B3-3A868A398250}</a:tableStyleId>
              </a:tblPr>
              <a:tblGrid>
                <a:gridCol w="24295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  <a:gridCol w="496325"/>
              </a:tblGrid>
              <a:tr h="332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 (Scotland)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 (Wales)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multiple statistics to improve comparisons</a:t>
            </a:r>
            <a:endParaRPr/>
          </a:p>
        </p:txBody>
      </p:sp>
      <p:graphicFrame>
        <p:nvGraphicFramePr>
          <p:cNvPr id="1415" name="Google Shape;1415;p105"/>
          <p:cNvGraphicFramePr/>
          <p:nvPr/>
        </p:nvGraphicFramePr>
        <p:xfrm>
          <a:off x="324000" y="6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{04D4A0BB-51A2-4911-A0D4-B57A0820FD4A}</a:tableStyleId>
              </a:tblPr>
              <a:tblGrid>
                <a:gridCol w="993675"/>
                <a:gridCol w="1025950"/>
                <a:gridCol w="1025950"/>
                <a:gridCol w="5450400"/>
              </a:tblGrid>
              <a:tr h="33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interpretation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2.44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The typical number of days of air frost in Valley is higher than in Tiree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5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middle number of days of air frost in Valley is higher than in Tiree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The most frequent number of days of air frost per month in Valley is higher than Tiree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1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The variety of number of days of air frost per month between Tiree and Valley are equal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6" name="Google Shape;1416;p105"/>
          <p:cNvSpPr txBox="1"/>
          <p:nvPr/>
        </p:nvSpPr>
        <p:spPr>
          <a:xfrm>
            <a:off x="379300" y="3642875"/>
            <a:ext cx="8115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In conclusion, whilst both Tiree and Valley have an equal variety in the number of days of air frost per month, Valley definitely has a higher average number of air frost days, as all of Valley’s mean, median, and mode were greater than Tiree’s.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06"/>
          <p:cNvSpPr txBox="1"/>
          <p:nvPr>
            <p:ph idx="1" type="body"/>
          </p:nvPr>
        </p:nvSpPr>
        <p:spPr>
          <a:xfrm>
            <a:off x="324000" y="726150"/>
            <a:ext cx="8496000" cy="29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Calculating summary statistics (such as the mean, median, mode, and range) and interpreting what they mean is most useful when comparing between two or more </a:t>
            </a:r>
            <a:r>
              <a:rPr lang="en-GB" sz="2000"/>
              <a:t>data set</a:t>
            </a:r>
            <a:r>
              <a:rPr lang="en-GB" sz="2000"/>
              <a:t>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One summary statistic only gives a limited comparison of data sets, and the more summary statistics calculated will usually lead to a better picture of the data sets. However, it is rare that a </a:t>
            </a:r>
            <a:r>
              <a:rPr b="1" lang="en-GB" sz="2000"/>
              <a:t>statistical summary</a:t>
            </a:r>
            <a:r>
              <a:rPr lang="en-GB" sz="2000"/>
              <a:t> alone will build a full picture or give complete insight into a data set.</a:t>
            </a:r>
            <a:endParaRPr sz="2000"/>
          </a:p>
        </p:txBody>
      </p:sp>
      <p:sp>
        <p:nvSpPr>
          <p:cNvPr id="1422" name="Google Shape;1422;p10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summaries of data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28" name="Google Shape;1428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