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4"/>
    <p:sldMasterId id="2147483666" r:id="rId5"/>
  </p:sldMasterIdLst>
  <p:notesMasterIdLst>
    <p:notesMasterId r:id="rId6"/>
  </p:notesMasterIdLst>
  <p:sldIdLst>
    <p:sldId id="256" r:id="rId7"/>
    <p:sldId id="257" r:id="rId8"/>
    <p:sldId id="258" r:id="rId9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A8CC95C-865A-4492-8899-9253F9B3407D}">
  <a:tblStyle styleId="{2A8CC95C-865A-4492-8899-9253F9B3407D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877DC849-6ED1-4D64-ABCB-879272B77317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7996905f60_0_12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7996905f6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29c01a0d4d3_0_62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29c01a0d4d3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29c01a0d4d3_0_22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29c01a0d4d3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2" name="Google Shape;32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0" name="Google Shape;14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1" name="Google Shape;14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2" name="Google Shape;142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3" name="Google Shape;143;p18"/>
          <p:cNvSpPr txBox="1"/>
          <p:nvPr>
            <p:ph idx="2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7" name="Google Shape;14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8" name="Google Shape;14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0" name="Google Shape;150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1" name="Google Shape;15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" name="Google Shape;15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5" name="Google Shape;15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6" name="Google Shape;156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Comparing summaries of data</a:t>
            </a:r>
            <a:endParaRPr/>
          </a:p>
        </p:txBody>
      </p:sp>
      <p:sp>
        <p:nvSpPr>
          <p:cNvPr id="162" name="Google Shape;162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63" name="Google Shape;163;p20"/>
          <p:cNvSpPr txBox="1"/>
          <p:nvPr/>
        </p:nvSpPr>
        <p:spPr>
          <a:xfrm>
            <a:off x="5284873" y="3577300"/>
            <a:ext cx="8790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range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4" name="Google Shape;164;p20"/>
          <p:cNvSpPr txBox="1"/>
          <p:nvPr/>
        </p:nvSpPr>
        <p:spPr>
          <a:xfrm>
            <a:off x="468000" y="14071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Using a summary statistic to compare datasets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65" name="Google Shape;165;p20"/>
          <p:cNvGraphicFramePr/>
          <p:nvPr/>
        </p:nvGraphicFramePr>
        <p:xfrm>
          <a:off x="564414" y="3356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{2A8CC95C-865A-4492-8899-9253F9B3407D}</a:tableStyleId>
              </a:tblPr>
              <a:tblGrid>
                <a:gridCol w="937425"/>
                <a:gridCol w="826125"/>
                <a:gridCol w="826125"/>
              </a:tblGrid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year 7</a:t>
                      </a:r>
                      <a:endParaRPr b="1"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year 8</a:t>
                      </a:r>
                      <a:endParaRPr b="1"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median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range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6" name="Google Shape;166;p20"/>
          <p:cNvSpPr txBox="1"/>
          <p:nvPr/>
        </p:nvSpPr>
        <p:spPr>
          <a:xfrm>
            <a:off x="4136875" y="1718800"/>
            <a:ext cx="2955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His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middle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score in year 8 was higher than in year 7.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20"/>
          <p:cNvSpPr txBox="1"/>
          <p:nvPr/>
        </p:nvSpPr>
        <p:spPr>
          <a:xfrm>
            <a:off x="4136875" y="2271125"/>
            <a:ext cx="2955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His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middle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score in year 7 was higher than in year 8.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" name="Google Shape;168;p20"/>
          <p:cNvSpPr txBox="1"/>
          <p:nvPr/>
        </p:nvSpPr>
        <p:spPr>
          <a:xfrm>
            <a:off x="4136875" y="2823450"/>
            <a:ext cx="2955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His scores were more varied in year 8 than in year 7.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" name="Google Shape;169;p20"/>
          <p:cNvSpPr txBox="1"/>
          <p:nvPr/>
        </p:nvSpPr>
        <p:spPr>
          <a:xfrm>
            <a:off x="4136875" y="3375775"/>
            <a:ext cx="2955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His scores were more varied in year 7 than in year 8.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0" name="Google Shape;170;p20"/>
          <p:cNvGrpSpPr/>
          <p:nvPr/>
        </p:nvGrpSpPr>
        <p:grpSpPr>
          <a:xfrm>
            <a:off x="3829751" y="1693480"/>
            <a:ext cx="228097" cy="355336"/>
            <a:chOff x="1020916" y="1442088"/>
            <a:chExt cx="457200" cy="457200"/>
          </a:xfrm>
        </p:grpSpPr>
        <p:pic>
          <p:nvPicPr>
            <p:cNvPr id="171" name="Google Shape;171;p2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2" name="Google Shape;172;p2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73" name="Google Shape;173;p20"/>
          <p:cNvGrpSpPr/>
          <p:nvPr/>
        </p:nvGrpSpPr>
        <p:grpSpPr>
          <a:xfrm>
            <a:off x="3829751" y="2259388"/>
            <a:ext cx="228097" cy="355336"/>
            <a:chOff x="1020916" y="1442088"/>
            <a:chExt cx="457200" cy="457200"/>
          </a:xfrm>
        </p:grpSpPr>
        <p:pic>
          <p:nvPicPr>
            <p:cNvPr id="174" name="Google Shape;174;p2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5" name="Google Shape;175;p2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76" name="Google Shape;176;p20"/>
          <p:cNvGrpSpPr/>
          <p:nvPr/>
        </p:nvGrpSpPr>
        <p:grpSpPr>
          <a:xfrm>
            <a:off x="3829751" y="2825297"/>
            <a:ext cx="228097" cy="355336"/>
            <a:chOff x="1020916" y="1442088"/>
            <a:chExt cx="457200" cy="457200"/>
          </a:xfrm>
        </p:grpSpPr>
        <p:pic>
          <p:nvPicPr>
            <p:cNvPr id="177" name="Google Shape;177;p2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8" name="Google Shape;178;p2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79" name="Google Shape;179;p20"/>
          <p:cNvGrpSpPr/>
          <p:nvPr/>
        </p:nvGrpSpPr>
        <p:grpSpPr>
          <a:xfrm>
            <a:off x="3829751" y="3391206"/>
            <a:ext cx="228097" cy="355336"/>
            <a:chOff x="1020916" y="1442088"/>
            <a:chExt cx="457200" cy="457200"/>
          </a:xfrm>
        </p:grpSpPr>
        <p:pic>
          <p:nvPicPr>
            <p:cNvPr id="180" name="Google Shape;180;p2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1" name="Google Shape;181;p2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2" name="Google Shape;182;p20"/>
          <p:cNvGrpSpPr/>
          <p:nvPr/>
        </p:nvGrpSpPr>
        <p:grpSpPr>
          <a:xfrm>
            <a:off x="3829751" y="3957115"/>
            <a:ext cx="228097" cy="355336"/>
            <a:chOff x="1020916" y="1442088"/>
            <a:chExt cx="457200" cy="457200"/>
          </a:xfrm>
        </p:grpSpPr>
        <p:pic>
          <p:nvPicPr>
            <p:cNvPr id="183" name="Google Shape;183;p2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4" name="Google Shape;184;p2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e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85" name="Google Shape;185;p20"/>
          <p:cNvSpPr txBox="1"/>
          <p:nvPr/>
        </p:nvSpPr>
        <p:spPr>
          <a:xfrm>
            <a:off x="4136875" y="3928100"/>
            <a:ext cx="2955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His middle score was the same in both years.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20"/>
          <p:cNvSpPr txBox="1"/>
          <p:nvPr/>
        </p:nvSpPr>
        <p:spPr>
          <a:xfrm>
            <a:off x="468000" y="1744300"/>
            <a:ext cx="32082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Lucas is checking his progress in maths from year 7 to year 8. He calculates the median and range of his scores in his weekly quizzes.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Match the summary statistic to its correct interpretation.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" name="Google Shape;187;p20"/>
          <p:cNvSpPr txBox="1"/>
          <p:nvPr/>
        </p:nvSpPr>
        <p:spPr>
          <a:xfrm>
            <a:off x="468000" y="4657475"/>
            <a:ext cx="66240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2) Lucas is checking his progress in English from year 7 to year 8. He wants to calculate the mean score of all his homework.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Find the mean of both his year 7 and year 8 English homework scores.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Use the values of these means to write a sentence explaining whether his English homework scores improved over the two years.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88" name="Google Shape;188;p20"/>
          <p:cNvGraphicFramePr/>
          <p:nvPr/>
        </p:nvGraphicFramePr>
        <p:xfrm>
          <a:off x="903375" y="5146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{2A8CC95C-865A-4492-8899-9253F9B3407D}</a:tableStyleId>
              </a:tblPr>
              <a:tblGrid>
                <a:gridCol w="683050"/>
                <a:gridCol w="683050"/>
                <a:gridCol w="683050"/>
                <a:gridCol w="683050"/>
                <a:gridCol w="683050"/>
                <a:gridCol w="683050"/>
                <a:gridCol w="683050"/>
              </a:tblGrid>
              <a:tr h="346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year 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6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year 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9" name="Google Shape;189;p20"/>
          <p:cNvSpPr txBox="1"/>
          <p:nvPr/>
        </p:nvSpPr>
        <p:spPr>
          <a:xfrm>
            <a:off x="468000" y="70446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Using multiple statistics to improve comparisons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" name="Google Shape;190;p20"/>
          <p:cNvSpPr txBox="1"/>
          <p:nvPr/>
        </p:nvSpPr>
        <p:spPr>
          <a:xfrm>
            <a:off x="468000" y="7381800"/>
            <a:ext cx="4291200" cy="9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The table of summary statistics shows the number of goals scored by two footballers each match.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Which combination of these statements creates the correct comparison of these results?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91" name="Google Shape;191;p20"/>
          <p:cNvGraphicFramePr/>
          <p:nvPr/>
        </p:nvGraphicFramePr>
        <p:xfrm>
          <a:off x="4740075" y="7381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{877DC849-6ED1-4D64-ABCB-879272B77317}</a:tableStyleId>
              </a:tblPr>
              <a:tblGrid>
                <a:gridCol w="737925"/>
                <a:gridCol w="807000"/>
                <a:gridCol w="807000"/>
              </a:tblGrid>
              <a:tr h="243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Ella</a:t>
                      </a:r>
                      <a:endParaRPr b="1"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Wayne</a:t>
                      </a:r>
                      <a:endParaRPr b="1"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37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mean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2.9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0000" marL="90000" anchor="ctr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2.4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0000" marL="90000" anchor="ctr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37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median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0000" marL="90000" anchor="ctr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0000" marL="90000" anchor="ctr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37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mode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0000" marL="90000" anchor="ctr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0000" marL="90000" anchor="ctr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37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range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0000" marL="90000" anchor="ctr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0000" marL="90000" anchor="ctr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2" name="Google Shape;192;p20"/>
          <p:cNvSpPr txBox="1"/>
          <p:nvPr/>
        </p:nvSpPr>
        <p:spPr>
          <a:xfrm>
            <a:off x="849926" y="8646100"/>
            <a:ext cx="1756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Ella had less variance in the number of goals scored than Wayne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93" name="Google Shape;193;p20"/>
          <p:cNvGrpSpPr/>
          <p:nvPr/>
        </p:nvGrpSpPr>
        <p:grpSpPr>
          <a:xfrm>
            <a:off x="463653" y="8646116"/>
            <a:ext cx="386288" cy="386288"/>
            <a:chOff x="1020916" y="1442088"/>
            <a:chExt cx="457200" cy="457200"/>
          </a:xfrm>
        </p:grpSpPr>
        <p:pic>
          <p:nvPicPr>
            <p:cNvPr id="194" name="Google Shape;194;p2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5" name="Google Shape;195;p2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6" name="Google Shape;196;p20"/>
          <p:cNvGrpSpPr/>
          <p:nvPr/>
        </p:nvGrpSpPr>
        <p:grpSpPr>
          <a:xfrm>
            <a:off x="468003" y="9514416"/>
            <a:ext cx="386288" cy="386288"/>
            <a:chOff x="1020916" y="1442088"/>
            <a:chExt cx="457200" cy="457200"/>
          </a:xfrm>
        </p:grpSpPr>
        <p:pic>
          <p:nvPicPr>
            <p:cNvPr id="197" name="Google Shape;197;p2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8" name="Google Shape;198;p2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99" name="Google Shape;199;p20"/>
          <p:cNvSpPr txBox="1"/>
          <p:nvPr/>
        </p:nvSpPr>
        <p:spPr>
          <a:xfrm>
            <a:off x="854276" y="9514400"/>
            <a:ext cx="1756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Wayne had less variance in the number of goals scored than Ella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00" name="Google Shape;200;p20"/>
          <p:cNvGrpSpPr/>
          <p:nvPr/>
        </p:nvGrpSpPr>
        <p:grpSpPr>
          <a:xfrm>
            <a:off x="2801064" y="8646119"/>
            <a:ext cx="386288" cy="386288"/>
            <a:chOff x="1020916" y="1442088"/>
            <a:chExt cx="457200" cy="457200"/>
          </a:xfrm>
        </p:grpSpPr>
        <p:pic>
          <p:nvPicPr>
            <p:cNvPr id="201" name="Google Shape;201;p2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2" name="Google Shape;202;p2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03" name="Google Shape;203;p20"/>
          <p:cNvSpPr txBox="1"/>
          <p:nvPr/>
        </p:nvSpPr>
        <p:spPr>
          <a:xfrm>
            <a:off x="3187350" y="8646100"/>
            <a:ext cx="1756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And Wayne’s most frequent number of goals was higher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20"/>
          <p:cNvSpPr txBox="1"/>
          <p:nvPr/>
        </p:nvSpPr>
        <p:spPr>
          <a:xfrm>
            <a:off x="3187075" y="9472725"/>
            <a:ext cx="1756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And Ella’s most frequent number of goals was higher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05" name="Google Shape;205;p20"/>
          <p:cNvGrpSpPr/>
          <p:nvPr/>
        </p:nvGrpSpPr>
        <p:grpSpPr>
          <a:xfrm>
            <a:off x="2800797" y="9472720"/>
            <a:ext cx="386288" cy="386288"/>
            <a:chOff x="1020916" y="1442088"/>
            <a:chExt cx="457200" cy="457200"/>
          </a:xfrm>
        </p:grpSpPr>
        <p:pic>
          <p:nvPicPr>
            <p:cNvPr id="206" name="Google Shape;206;p2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7" name="Google Shape;207;p2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08" name="Google Shape;208;p20"/>
          <p:cNvGrpSpPr/>
          <p:nvPr/>
        </p:nvGrpSpPr>
        <p:grpSpPr>
          <a:xfrm>
            <a:off x="4953589" y="8646132"/>
            <a:ext cx="386288" cy="386288"/>
            <a:chOff x="1020916" y="1442088"/>
            <a:chExt cx="457200" cy="457200"/>
          </a:xfrm>
        </p:grpSpPr>
        <p:pic>
          <p:nvPicPr>
            <p:cNvPr id="209" name="Google Shape;209;p2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0" name="Google Shape;210;p2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e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11" name="Google Shape;211;p20"/>
          <p:cNvSpPr txBox="1"/>
          <p:nvPr/>
        </p:nvSpPr>
        <p:spPr>
          <a:xfrm>
            <a:off x="5339875" y="9430500"/>
            <a:ext cx="1756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Therefore, Wayne scored more goals on average than Ella.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12" name="Google Shape;212;p20"/>
          <p:cNvGrpSpPr/>
          <p:nvPr/>
        </p:nvGrpSpPr>
        <p:grpSpPr>
          <a:xfrm>
            <a:off x="4953597" y="9430507"/>
            <a:ext cx="386288" cy="386288"/>
            <a:chOff x="1020916" y="1442088"/>
            <a:chExt cx="457200" cy="457200"/>
          </a:xfrm>
        </p:grpSpPr>
        <p:pic>
          <p:nvPicPr>
            <p:cNvPr id="213" name="Google Shape;213;p2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4" name="Google Shape;214;p2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f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15" name="Google Shape;215;p20"/>
          <p:cNvSpPr txBox="1"/>
          <p:nvPr/>
        </p:nvSpPr>
        <p:spPr>
          <a:xfrm>
            <a:off x="5339873" y="8646125"/>
            <a:ext cx="1756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Therefore, Ella scored more goals on average than Wayne.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6" name="Google Shape;216;p20"/>
          <p:cNvCxnSpPr/>
          <p:nvPr/>
        </p:nvCxnSpPr>
        <p:spPr>
          <a:xfrm>
            <a:off x="441901" y="697788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1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Comparing summaries of data</a:t>
            </a:r>
            <a:endParaRPr/>
          </a:p>
        </p:txBody>
      </p:sp>
      <p:sp>
        <p:nvSpPr>
          <p:cNvPr id="222" name="Google Shape;222;p21"/>
          <p:cNvSpPr txBox="1"/>
          <p:nvPr/>
        </p:nvSpPr>
        <p:spPr>
          <a:xfrm>
            <a:off x="461872" y="3098475"/>
            <a:ext cx="6624000" cy="12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 mean number of days of air frost in </a:t>
            </a:r>
            <a:r>
              <a:rPr lang="en-GB" sz="1200" u="sng">
                <a:latin typeface="Lexend"/>
                <a:ea typeface="Lexend"/>
                <a:cs typeface="Lexend"/>
                <a:sym typeface="Lexend"/>
              </a:rPr>
              <a:t>                 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is lower by 3.7 days.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range of 12 in </a:t>
            </a: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  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shows a lot more variability in the number of days of frost each year.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In conclusion, there was more frost in </a:t>
            </a: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 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, supported by the fact the middle value of  </a:t>
            </a: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 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is higher by </a:t>
            </a: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days.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21"/>
          <p:cNvSpPr txBox="1"/>
          <p:nvPr/>
        </p:nvSpPr>
        <p:spPr>
          <a:xfrm>
            <a:off x="461881" y="643000"/>
            <a:ext cx="6624000" cy="9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2) The table of summary statistics shows the number of days of air frost each day in December over the last 10 years.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Complete the sentences with either “Oxford”, “Stornoway” or a correct number to accurately compare the two locations.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24" name="Google Shape;224;p21"/>
          <p:cNvGraphicFramePr/>
          <p:nvPr/>
        </p:nvGraphicFramePr>
        <p:xfrm>
          <a:off x="2212213" y="16257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{877DC849-6ED1-4D64-ABCB-879272B77317}</a:tableStyleId>
              </a:tblPr>
              <a:tblGrid>
                <a:gridCol w="712550"/>
                <a:gridCol w="1211500"/>
                <a:gridCol w="1211500"/>
              </a:tblGrid>
              <a:tr h="221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Oxford</a:t>
                      </a:r>
                      <a:endParaRPr b="1"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Stornoway</a:t>
                      </a:r>
                      <a:endParaRPr b="1"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4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mean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5.8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0000" marL="90000" anchor="ctr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3.1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0000" marL="90000" anchor="ctr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4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median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0000" marL="90000" anchor="ctr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0000" marL="90000" anchor="ctr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295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mode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bimodal at 0 and 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0000" marL="90000" anchor="ctr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bimodal at 1 and 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0000" marL="90000" anchor="ctr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14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range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0000" marL="90000" anchor="ctr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0000" marL="90000" anchor="ctr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25" name="Google Shape;225;p21"/>
          <p:cNvSpPr txBox="1"/>
          <p:nvPr/>
        </p:nvSpPr>
        <p:spPr>
          <a:xfrm>
            <a:off x="468000" y="5139600"/>
            <a:ext cx="6624000" cy="73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3) The dotplot shows the number of minutes each student in two classes takes to walk to school, with the mean shown by a dotted line and the median shown by an arrow.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26" name="Google Shape;226;p21"/>
          <p:cNvGrpSpPr/>
          <p:nvPr/>
        </p:nvGrpSpPr>
        <p:grpSpPr>
          <a:xfrm>
            <a:off x="468027" y="5940169"/>
            <a:ext cx="6624189" cy="1508729"/>
            <a:chOff x="1099500" y="739413"/>
            <a:chExt cx="7720500" cy="1758425"/>
          </a:xfrm>
        </p:grpSpPr>
        <p:pic>
          <p:nvPicPr>
            <p:cNvPr id="227" name="Google Shape;227;p21"/>
            <p:cNvPicPr preferRelativeResize="0"/>
            <p:nvPr/>
          </p:nvPicPr>
          <p:blipFill rotWithShape="1">
            <a:blip r:embed="rId3">
              <a:alphaModFix/>
            </a:blip>
            <a:srcRect b="69047" l="0" r="0" t="0"/>
            <a:stretch/>
          </p:blipFill>
          <p:spPr>
            <a:xfrm>
              <a:off x="1824000" y="742163"/>
              <a:ext cx="6995974" cy="510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8" name="Google Shape;228;p21"/>
            <p:cNvPicPr preferRelativeResize="0"/>
            <p:nvPr/>
          </p:nvPicPr>
          <p:blipFill rotWithShape="1">
            <a:blip r:embed="rId3">
              <a:alphaModFix/>
            </a:blip>
            <a:srcRect b="0" l="0" r="0" t="82257"/>
            <a:stretch/>
          </p:blipFill>
          <p:spPr>
            <a:xfrm>
              <a:off x="1824000" y="2205037"/>
              <a:ext cx="6995974" cy="292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9" name="Google Shape;229;p21"/>
            <p:cNvPicPr preferRelativeResize="0"/>
            <p:nvPr/>
          </p:nvPicPr>
          <p:blipFill rotWithShape="1">
            <a:blip r:embed="rId3">
              <a:alphaModFix/>
            </a:blip>
            <a:srcRect b="24158" l="0" r="0" t="34797"/>
            <a:stretch/>
          </p:blipFill>
          <p:spPr>
            <a:xfrm flipH="1" rot="10800000">
              <a:off x="1824000" y="1545862"/>
              <a:ext cx="6995974" cy="6773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0" name="Google Shape;230;p21"/>
            <p:cNvPicPr preferRelativeResize="0"/>
            <p:nvPr/>
          </p:nvPicPr>
          <p:blipFill rotWithShape="1">
            <a:blip r:embed="rId3">
              <a:alphaModFix/>
            </a:blip>
            <a:srcRect b="0" l="0" r="0" t="82257"/>
            <a:stretch/>
          </p:blipFill>
          <p:spPr>
            <a:xfrm>
              <a:off x="1824000" y="1252962"/>
              <a:ext cx="6995974" cy="292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1" name="Google Shape;231;p21"/>
            <p:cNvSpPr/>
            <p:nvPr/>
          </p:nvSpPr>
          <p:spPr>
            <a:xfrm>
              <a:off x="1862100" y="1545863"/>
              <a:ext cx="6957900" cy="9519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2" name="Google Shape;232;p21"/>
            <p:cNvSpPr/>
            <p:nvPr/>
          </p:nvSpPr>
          <p:spPr>
            <a:xfrm>
              <a:off x="1862100" y="742163"/>
              <a:ext cx="6957900" cy="8037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3" name="Google Shape;233;p21"/>
            <p:cNvSpPr txBox="1"/>
            <p:nvPr/>
          </p:nvSpPr>
          <p:spPr>
            <a:xfrm>
              <a:off x="1099500" y="739413"/>
              <a:ext cx="7626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class A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4" name="Google Shape;234;p21"/>
            <p:cNvSpPr txBox="1"/>
            <p:nvPr/>
          </p:nvSpPr>
          <p:spPr>
            <a:xfrm>
              <a:off x="1099500" y="2251513"/>
              <a:ext cx="7626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class B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235" name="Google Shape;235;p21"/>
          <p:cNvCxnSpPr/>
          <p:nvPr/>
        </p:nvCxnSpPr>
        <p:spPr>
          <a:xfrm>
            <a:off x="3327735" y="5949604"/>
            <a:ext cx="0" cy="6717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36" name="Google Shape;236;p21"/>
          <p:cNvCxnSpPr/>
          <p:nvPr/>
        </p:nvCxnSpPr>
        <p:spPr>
          <a:xfrm>
            <a:off x="3327735" y="6639274"/>
            <a:ext cx="0" cy="8022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37" name="Google Shape;237;p21"/>
          <p:cNvCxnSpPr/>
          <p:nvPr/>
        </p:nvCxnSpPr>
        <p:spPr>
          <a:xfrm rot="10800000">
            <a:off x="2667050" y="6345699"/>
            <a:ext cx="0" cy="2757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38" name="Google Shape;238;p21"/>
          <p:cNvCxnSpPr/>
          <p:nvPr/>
        </p:nvCxnSpPr>
        <p:spPr>
          <a:xfrm rot="10800000">
            <a:off x="3356459" y="7144281"/>
            <a:ext cx="0" cy="2757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239" name="Google Shape;239;p21"/>
          <p:cNvSpPr txBox="1"/>
          <p:nvPr/>
        </p:nvSpPr>
        <p:spPr>
          <a:xfrm>
            <a:off x="468000" y="7958925"/>
            <a:ext cx="6624300" cy="73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Complete the statement below about the summary statistics for class A and B.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average, typical value for class A and class B are </a:t>
            </a: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                  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, with a value of approximately </a:t>
            </a: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0" name="Google Shape;240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2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Comparing summaries of data</a:t>
            </a:r>
            <a:endParaRPr/>
          </a:p>
        </p:txBody>
      </p:sp>
      <p:sp>
        <p:nvSpPr>
          <p:cNvPr id="246" name="Google Shape;246;p22"/>
          <p:cNvSpPr txBox="1"/>
          <p:nvPr/>
        </p:nvSpPr>
        <p:spPr>
          <a:xfrm>
            <a:off x="468000" y="2371425"/>
            <a:ext cx="6624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Class </a:t>
            </a:r>
            <a:r>
              <a:rPr lang="en-GB" sz="1200" u="sng">
                <a:latin typeface="Lexend"/>
                <a:ea typeface="Lexend"/>
                <a:cs typeface="Lexend"/>
                <a:sym typeface="Lexend"/>
              </a:rPr>
              <a:t>   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is much more varied, with a </a:t>
            </a:r>
            <a:r>
              <a:rPr lang="en-GB" sz="1200" u="sng">
                <a:latin typeface="Lexend"/>
                <a:ea typeface="Lexend"/>
                <a:cs typeface="Lexend"/>
                <a:sym typeface="Lexend"/>
              </a:rPr>
              <a:t>            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of </a:t>
            </a: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compared to </a:t>
            </a: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7" name="Google Shape;247;p22"/>
          <p:cNvSpPr txBox="1"/>
          <p:nvPr/>
        </p:nvSpPr>
        <p:spPr>
          <a:xfrm>
            <a:off x="468000" y="1991375"/>
            <a:ext cx="6624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 Complete the statement below about the summary statistics for class A and B.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8" name="Google Shape;248;p22"/>
          <p:cNvSpPr txBox="1"/>
          <p:nvPr/>
        </p:nvSpPr>
        <p:spPr>
          <a:xfrm>
            <a:off x="468025" y="3513125"/>
            <a:ext cx="66243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In conclusion, I think class </a:t>
            </a:r>
            <a:r>
              <a:rPr lang="en-GB" sz="1200" u="sng">
                <a:latin typeface="Lexend"/>
                <a:ea typeface="Lexend"/>
                <a:cs typeface="Lexend"/>
                <a:sym typeface="Lexend"/>
              </a:rPr>
              <a:t>   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takes longer on average to walk to school, as their </a:t>
            </a:r>
            <a:r>
              <a:rPr lang="en-GB" sz="1200"/>
              <a:t>________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and </a:t>
            </a:r>
            <a:r>
              <a:rPr lang="en-GB" sz="1200">
                <a:solidFill>
                  <a:srgbClr val="000000"/>
                </a:solidFill>
              </a:rPr>
              <a:t>________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are larger, and there is also less variation in these longer central times.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9" name="Google Shape;249;p22"/>
          <p:cNvSpPr txBox="1"/>
          <p:nvPr/>
        </p:nvSpPr>
        <p:spPr>
          <a:xfrm>
            <a:off x="468000" y="2922150"/>
            <a:ext cx="66243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d) Complete the concluding statement below about the summary statistics for class A and B.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0" name="Google Shape;250;p22"/>
          <p:cNvSpPr txBox="1"/>
          <p:nvPr/>
        </p:nvSpPr>
        <p:spPr>
          <a:xfrm>
            <a:off x="467700" y="4834800"/>
            <a:ext cx="6624300" cy="9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4) The two lists of data show the number of days of air frost each January.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Complete the table of summary statistics and interpretations, and then write a conclusion to the question: “which location had a greater average number of days of air frost each January?”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51" name="Google Shape;251;p22"/>
          <p:cNvGraphicFramePr/>
          <p:nvPr/>
        </p:nvGraphicFramePr>
        <p:xfrm>
          <a:off x="161098" y="578809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{2A8CC95C-865A-4492-8899-9253F9B3407D}</a:tableStyleId>
              </a:tblPr>
              <a:tblGrid>
                <a:gridCol w="1921450"/>
                <a:gridCol w="392525"/>
                <a:gridCol w="392525"/>
                <a:gridCol w="392525"/>
                <a:gridCol w="392525"/>
                <a:gridCol w="392525"/>
                <a:gridCol w="392525"/>
                <a:gridCol w="392525"/>
                <a:gridCol w="392525"/>
                <a:gridCol w="392525"/>
                <a:gridCol w="392525"/>
                <a:gridCol w="392525"/>
                <a:gridCol w="392525"/>
              </a:tblGrid>
              <a:tr h="26265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Tiree (Scotland)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265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Valley (Wales)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 anchor="ctr">
                    <a:lnL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52" name="Google Shape;252;p22"/>
          <p:cNvGraphicFramePr/>
          <p:nvPr/>
        </p:nvGraphicFramePr>
        <p:xfrm>
          <a:off x="463825" y="637717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{877DC849-6ED1-4D64-ABCB-879272B77317}</a:tableStyleId>
              </a:tblPr>
              <a:tblGrid>
                <a:gridCol w="774750"/>
                <a:gridCol w="799925"/>
                <a:gridCol w="799925"/>
                <a:gridCol w="4249675"/>
              </a:tblGrid>
              <a:tr h="141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Tiree</a:t>
                      </a:r>
                      <a:endParaRPr b="1"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Valley</a:t>
                      </a:r>
                      <a:endParaRPr b="1"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interpretation</a:t>
                      </a:r>
                      <a:endParaRPr b="1"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18000" anchor="ctr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02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mean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90000" marL="90000" anchor="ctr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4.42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0000" marL="90000" anchor="ctr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90000" marL="90000" anchor="ctr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02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median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90000" marL="90000" anchor="ctr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90000" marL="90000" anchor="ctr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The middle number of days of air frost in Valley is higher than in Tiree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0000" marL="90000" anchor="ctr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02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mode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90000" marL="90000" anchor="ctr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90000" marL="90000" anchor="ctr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90000" marL="90000" anchor="ctr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02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range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18000" marL="0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0000" marL="90000" anchor="ctr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0000" marL="90000" anchor="ctr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90000" marL="90000" anchor="ctr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53" name="Google Shape;253;p22"/>
          <p:cNvSpPr txBox="1"/>
          <p:nvPr/>
        </p:nvSpPr>
        <p:spPr>
          <a:xfrm>
            <a:off x="468025" y="1060775"/>
            <a:ext cx="6624300" cy="5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However, class B had a much higher </a:t>
            </a:r>
            <a:r>
              <a:rPr lang="en-GB" sz="1200" u="sng">
                <a:latin typeface="Lexend"/>
                <a:ea typeface="Lexend"/>
                <a:cs typeface="Lexend"/>
                <a:sym typeface="Lexend"/>
              </a:rPr>
              <a:t>                   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of </a:t>
            </a:r>
            <a:r>
              <a:rPr lang="en-GB" sz="1200" u="sng">
                <a:latin typeface="Lexend"/>
                <a:ea typeface="Lexend"/>
                <a:cs typeface="Lexend"/>
                <a:sym typeface="Lexend"/>
              </a:rPr>
              <a:t>          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compared to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Class B also had a slightly higher mode of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compared to </a:t>
            </a: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4" name="Google Shape;254;p22"/>
          <p:cNvSpPr txBox="1"/>
          <p:nvPr/>
        </p:nvSpPr>
        <p:spPr>
          <a:xfrm>
            <a:off x="468000" y="785800"/>
            <a:ext cx="6624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Complete the statements below about the summary statistics for class A and B.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5" name="Google Shape;255;p22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Industry.</a:t>
            </a:r>
            <a:endParaRPr/>
          </a:p>
        </p:txBody>
      </p:sp>
      <p:sp>
        <p:nvSpPr>
          <p:cNvPr id="256" name="Google Shape;256;p2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orksheet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LD THEME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