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929E3F-2789-426E-83B7-477930DF765D}">
  <a:tblStyle styleId="{7A929E3F-2789-426E-83B7-477930DF765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56BEA01-F8C8-4B76-8102-52864E11E41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9c0011d04b_0_6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9c0011d04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9c0011d04b_0_15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9c0011d04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5284873" y="3577300"/>
            <a:ext cx="87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range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summaries of data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07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summary statistic to compare datasets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564414" y="335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{7A929E3F-2789-426E-83B7-477930DF765D}</a:tableStyleId>
              </a:tblPr>
              <a:tblGrid>
                <a:gridCol w="937425"/>
                <a:gridCol w="826125"/>
                <a:gridCol w="82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136875" y="1718800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middle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score in year 8 was higher than in year 7.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136875" y="2271125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middle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score in year 7 was higher than in year 8.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136875" y="2823450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scores were more varied in year 8 than in year 7.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136875" y="3375775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scores were more varied in year 7 than in year 8.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3829751" y="1693480"/>
            <a:ext cx="228097" cy="355336"/>
            <a:chOff x="1020916" y="1442088"/>
            <a:chExt cx="457200" cy="457200"/>
          </a:xfrm>
        </p:grpSpPr>
        <p:pic>
          <p:nvPicPr>
            <p:cNvPr id="181" name="Google Shape;18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3829751" y="2259388"/>
            <a:ext cx="228097" cy="355336"/>
            <a:chOff x="1020916" y="1442088"/>
            <a:chExt cx="457200" cy="457200"/>
          </a:xfrm>
        </p:grpSpPr>
        <p:pic>
          <p:nvPicPr>
            <p:cNvPr id="184" name="Google Shape;18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3829751" y="2825297"/>
            <a:ext cx="228097" cy="355336"/>
            <a:chOff x="1020916" y="1442088"/>
            <a:chExt cx="457200" cy="457200"/>
          </a:xfrm>
        </p:grpSpPr>
        <p:pic>
          <p:nvPicPr>
            <p:cNvPr id="187" name="Google Shape;18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3829751" y="3391206"/>
            <a:ext cx="228097" cy="355336"/>
            <a:chOff x="1020916" y="1442088"/>
            <a:chExt cx="457200" cy="457200"/>
          </a:xfrm>
        </p:grpSpPr>
        <p:pic>
          <p:nvPicPr>
            <p:cNvPr id="190" name="Google Shape;19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3829751" y="3957115"/>
            <a:ext cx="228097" cy="355336"/>
            <a:chOff x="1020916" y="1442088"/>
            <a:chExt cx="457200" cy="457200"/>
          </a:xfrm>
        </p:grpSpPr>
        <p:pic>
          <p:nvPicPr>
            <p:cNvPr id="193" name="Google Shape;19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" name="Google Shape;195;p20"/>
          <p:cNvSpPr txBox="1"/>
          <p:nvPr/>
        </p:nvSpPr>
        <p:spPr>
          <a:xfrm>
            <a:off x="4136875" y="3928100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middle score was the same in both years.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5827" y="1874372"/>
            <a:ext cx="278662" cy="29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6754" y="3589949"/>
            <a:ext cx="228100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282825" y="1923575"/>
            <a:ext cx="608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median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8000" y="1744300"/>
            <a:ext cx="320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Lucas is checking his progress in maths from year 7 to year 8. He calculates the median and range of his scores in his weekly quizzes.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Match the summary statistic to its correct interpretation.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8000" y="51146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Lucas is checking his progress in English from year 7 to year 8. He wants to calculate the mean score of all his homework.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Find the mean of both his year 7 and year 8 English homework scores.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the values of these means to write a sentence explaining whether his English homework scores improved over the two years.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0"/>
          <p:cNvGraphicFramePr/>
          <p:nvPr/>
        </p:nvGraphicFramePr>
        <p:xfrm>
          <a:off x="903375" y="56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{7A929E3F-2789-426E-83B7-477930DF765D}</a:tableStyleId>
              </a:tblPr>
              <a:tblGrid>
                <a:gridCol w="683050"/>
                <a:gridCol w="683050"/>
                <a:gridCol w="683050"/>
                <a:gridCol w="683050"/>
                <a:gridCol w="683050"/>
                <a:gridCol w="683050"/>
                <a:gridCol w="683050"/>
              </a:tblGrid>
              <a:tr h="34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20"/>
          <p:cNvSpPr txBox="1"/>
          <p:nvPr/>
        </p:nvSpPr>
        <p:spPr>
          <a:xfrm>
            <a:off x="5684738" y="5603550"/>
            <a:ext cx="1663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mean of 52.5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684738" y="6103350"/>
            <a:ext cx="1663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mean of 55.5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8000" y="735982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Lucas’ mean homework score improved by 3 marks over the two years.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means he improved by approximately 3 marks on each homework from year 7 to year 8.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Comparing summaries of data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multiple statistics to improve comparisons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1057200"/>
            <a:ext cx="42912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The table of summary statistics shows the number of goals scored by two footballers each match.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combination of these statements creates the correct comparison of these results?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2" name="Google Shape;212;p21"/>
          <p:cNvGraphicFramePr/>
          <p:nvPr/>
        </p:nvGraphicFramePr>
        <p:xfrm>
          <a:off x="4740075" y="10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{456BEA01-F8C8-4B76-8102-52864E11E415}</a:tableStyleId>
              </a:tblPr>
              <a:tblGrid>
                <a:gridCol w="737925"/>
                <a:gridCol w="807000"/>
                <a:gridCol w="807000"/>
              </a:tblGrid>
              <a:tr h="24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Ella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Wayne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3" name="Google Shape;2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400" y="2707800"/>
            <a:ext cx="324534" cy="34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7601" y="3534411"/>
            <a:ext cx="324534" cy="34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816" y="2698532"/>
            <a:ext cx="324534" cy="34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849926" y="2321500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Ella had less variance in the number of goals scored than Wayne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463653" y="2321516"/>
            <a:ext cx="386288" cy="386288"/>
            <a:chOff x="1020916" y="1442088"/>
            <a:chExt cx="457200" cy="4572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" name="Google Shape;220;p21"/>
          <p:cNvGrpSpPr/>
          <p:nvPr/>
        </p:nvGrpSpPr>
        <p:grpSpPr>
          <a:xfrm>
            <a:off x="468003" y="3189816"/>
            <a:ext cx="386288" cy="386288"/>
            <a:chOff x="1020916" y="1442088"/>
            <a:chExt cx="457200" cy="457200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3" name="Google Shape;223;p21"/>
          <p:cNvSpPr txBox="1"/>
          <p:nvPr/>
        </p:nvSpPr>
        <p:spPr>
          <a:xfrm>
            <a:off x="854276" y="3189800"/>
            <a:ext cx="17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Wayne had less variance in the number of goals scored than Ella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" name="Google Shape;224;p21"/>
          <p:cNvGrpSpPr/>
          <p:nvPr/>
        </p:nvGrpSpPr>
        <p:grpSpPr>
          <a:xfrm>
            <a:off x="2801064" y="2321519"/>
            <a:ext cx="386288" cy="386288"/>
            <a:chOff x="1020916" y="1442088"/>
            <a:chExt cx="457200" cy="457200"/>
          </a:xfrm>
        </p:grpSpPr>
        <p:pic>
          <p:nvPicPr>
            <p:cNvPr id="225" name="Google Shape;22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7" name="Google Shape;227;p21"/>
          <p:cNvSpPr txBox="1"/>
          <p:nvPr/>
        </p:nvSpPr>
        <p:spPr>
          <a:xfrm>
            <a:off x="3187350" y="2321500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Wayne’s most frequent number of goals was higher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87075" y="3148125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Ella’s most frequent number of goals was higher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1"/>
          <p:cNvGrpSpPr/>
          <p:nvPr/>
        </p:nvGrpSpPr>
        <p:grpSpPr>
          <a:xfrm>
            <a:off x="2800797" y="3148120"/>
            <a:ext cx="386288" cy="386288"/>
            <a:chOff x="1020916" y="1442088"/>
            <a:chExt cx="457200" cy="457200"/>
          </a:xfrm>
        </p:grpSpPr>
        <p:pic>
          <p:nvPicPr>
            <p:cNvPr id="230" name="Google Shape;23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4953589" y="2321532"/>
            <a:ext cx="386288" cy="386288"/>
            <a:chOff x="1020916" y="1442088"/>
            <a:chExt cx="457200" cy="457200"/>
          </a:xfrm>
        </p:grpSpPr>
        <p:pic>
          <p:nvPicPr>
            <p:cNvPr id="233" name="Google Shape;23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5" name="Google Shape;235;p21"/>
          <p:cNvSpPr txBox="1"/>
          <p:nvPr/>
        </p:nvSpPr>
        <p:spPr>
          <a:xfrm>
            <a:off x="5339875" y="3105900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Therefore, Wayne scored more goals on average than Ella.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1"/>
          <p:cNvGrpSpPr/>
          <p:nvPr/>
        </p:nvGrpSpPr>
        <p:grpSpPr>
          <a:xfrm>
            <a:off x="4953597" y="3105907"/>
            <a:ext cx="386288" cy="386288"/>
            <a:chOff x="1020916" y="1442088"/>
            <a:chExt cx="457200" cy="457200"/>
          </a:xfrm>
        </p:grpSpPr>
        <p:pic>
          <p:nvPicPr>
            <p:cNvPr id="237" name="Google Shape;23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5339873" y="2321525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Ella scored more goals on average than Wayne.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1872" y="7137075"/>
            <a:ext cx="6624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mean number of days of air frost in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Stornoway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lower by 3.7 days.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range of 12 in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Oxford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shows a lot more variability in the number of days of frost each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conclusion, there was more frost in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Oxford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supported by the fact the middle value of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Oxford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higher by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61881" y="4681600"/>
            <a:ext cx="66240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table of summary statistics shows the number of days of air frost each day in December over the last 10 years.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sentences with either “Oxford”, “Stornoway” or a correct number to accurately compare the two locations.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2" name="Google Shape;242;p21"/>
          <p:cNvGraphicFramePr/>
          <p:nvPr/>
        </p:nvGraphicFramePr>
        <p:xfrm>
          <a:off x="2212213" y="5664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{456BEA01-F8C8-4B76-8102-52864E11E415}</a:tableStyleId>
              </a:tblPr>
              <a:tblGrid>
                <a:gridCol w="712550"/>
                <a:gridCol w="1211500"/>
                <a:gridCol w="1211500"/>
              </a:tblGrid>
              <a:tr h="22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Oxford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Stornoway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0 and 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1 and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21"/>
          <p:cNvSpPr txBox="1"/>
          <p:nvPr/>
        </p:nvSpPr>
        <p:spPr>
          <a:xfrm>
            <a:off x="2337013" y="8208705"/>
            <a:ext cx="6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Comparing summaries of data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8000" y="720000"/>
            <a:ext cx="6624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" name="Google Shape;251;p22"/>
          <p:cNvGrpSpPr/>
          <p:nvPr/>
        </p:nvGrpSpPr>
        <p:grpSpPr>
          <a:xfrm>
            <a:off x="468027" y="1520569"/>
            <a:ext cx="6624189" cy="1508729"/>
            <a:chOff x="1099500" y="739413"/>
            <a:chExt cx="7720500" cy="1758425"/>
          </a:xfrm>
        </p:grpSpPr>
        <p:pic>
          <p:nvPicPr>
            <p:cNvPr id="252" name="Google Shape;252;p22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2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2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2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2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1099500" y="739413"/>
              <a:ext cx="7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099500" y="2251513"/>
              <a:ext cx="7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60" name="Google Shape;260;p22"/>
          <p:cNvCxnSpPr/>
          <p:nvPr/>
        </p:nvCxnSpPr>
        <p:spPr>
          <a:xfrm>
            <a:off x="3327735" y="1530004"/>
            <a:ext cx="0" cy="671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2"/>
          <p:cNvCxnSpPr/>
          <p:nvPr/>
        </p:nvCxnSpPr>
        <p:spPr>
          <a:xfrm>
            <a:off x="3327735" y="2219674"/>
            <a:ext cx="0" cy="80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2"/>
          <p:cNvCxnSpPr/>
          <p:nvPr/>
        </p:nvCxnSpPr>
        <p:spPr>
          <a:xfrm rot="10800000">
            <a:off x="2667050" y="1926099"/>
            <a:ext cx="0" cy="275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" name="Google Shape;263;p22"/>
          <p:cNvCxnSpPr/>
          <p:nvPr/>
        </p:nvCxnSpPr>
        <p:spPr>
          <a:xfrm rot="10800000">
            <a:off x="3356459" y="2724681"/>
            <a:ext cx="0" cy="275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4" name="Google Shape;264;p22"/>
          <p:cNvSpPr txBox="1"/>
          <p:nvPr/>
        </p:nvSpPr>
        <p:spPr>
          <a:xfrm>
            <a:off x="468000" y="3539325"/>
            <a:ext cx="66243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the statement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average, typical value for class A and class B are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same or equal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with a value of approximately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12.5 - 13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.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number in this range is acceptable.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468025" y="4870775"/>
            <a:ext cx="6624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However, class B had a much higher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ompared to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Class B also had a slightly higher mode of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compared to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468000" y="4595800"/>
            <a:ext cx="66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Complete the statements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237558" y="4764764"/>
            <a:ext cx="6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5028983" y="5089964"/>
            <a:ext cx="6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68000" y="6181425"/>
            <a:ext cx="66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Class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much more varied, with a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compared to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468000" y="5801375"/>
            <a:ext cx="66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Complete the statement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68025" y="7323125"/>
            <a:ext cx="6624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conclusion, I think class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takes longer on average to walk to school, as their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mode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median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 larger, and there is also less variation in these longer central times.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68000" y="6732150"/>
            <a:ext cx="6624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Complete the concluding statement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1510681" y="7452053"/>
            <a:ext cx="75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" name="Google Shape;280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Comparing summaries of data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467700" y="720000"/>
            <a:ext cx="66243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The two lists of data show the number of days of air frost each January.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table of summary statistics and interpretations, and then write a conclusion to the question: “which location had a greater average number of days of air frost each January?”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4" name="Google Shape;284;p23"/>
          <p:cNvGraphicFramePr/>
          <p:nvPr/>
        </p:nvGraphicFramePr>
        <p:xfrm>
          <a:off x="161098" y="1901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{7A929E3F-2789-426E-83B7-477930DF765D}</a:tableStyleId>
              </a:tblPr>
              <a:tblGrid>
                <a:gridCol w="1921450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</a:tblGrid>
              <a:tr h="26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 (Scotland)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 (Wales)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5" name="Google Shape;285;p23"/>
          <p:cNvGraphicFramePr/>
          <p:nvPr/>
        </p:nvGraphicFramePr>
        <p:xfrm>
          <a:off x="463825" y="2490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{456BEA01-F8C8-4B76-8102-52864E11E415}</a:tableStyleId>
              </a:tblPr>
              <a:tblGrid>
                <a:gridCol w="774750"/>
                <a:gridCol w="799925"/>
                <a:gridCol w="799925"/>
                <a:gridCol w="4249675"/>
              </a:tblGrid>
              <a:tr h="14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interpretation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2.44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The typical number of days of air frost in Valley is higher than in Tiree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middle number of days of air frost in Valley is higher than in Tiree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The most frequent number of days of air frost per month in Valley is higher than Tiree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The variety of number of days of air frost per month between Tiree and Valley are equal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23"/>
          <p:cNvSpPr txBox="1"/>
          <p:nvPr/>
        </p:nvSpPr>
        <p:spPr>
          <a:xfrm>
            <a:off x="468000" y="4594555"/>
            <a:ext cx="663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conclusion, whilst both Tiree and Valley have an equal variety in the number of days of air frost per month, Valley definitely has a higher average number of air frost days, as all of Valley’s mean, median, and mode were greater than Tiree’s.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