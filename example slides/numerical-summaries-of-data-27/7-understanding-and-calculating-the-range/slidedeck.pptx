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1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</p:sldIdLst>
  <p:sldSz cx="9144000" cy="5143500"/>
  <p:notesSz cx="6858000" cy="9144000"/>
  <p:embeddedFontLst>
    <p:embeddedFont>
      <p:font typeface="Lexend" panose="00000000000000000000"/>
      <p:regular r:id="rId43"/>
    </p:embeddedFont>
    <p:embeddedFont>
      <p:font typeface="Lexend Medium" panose="00000000000000000000"/>
      <p:regular r:id="rId44"/>
    </p:embeddedFont>
    <p:embeddedFont>
      <p:font typeface="Kalam" panose="02000000000000000000"/>
      <p:regular r:id="rId45"/>
    </p:embeddedFont>
    <p:embeddedFont>
      <p:font typeface="Lexend Light" panose="00000000000000000000"/>
      <p:regular r:id="rId46"/>
    </p:embeddedFont>
  </p:embeddedFontLst>
  <p:custDataLst>
    <p:tags r:id="rId42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18BC4710-33F2-46C0-9526-A7E3CD8BD6A4}">
  <a:tblStyle styleId="{18BC4710-33F2-46C0-9526-A7E3CD8BD6A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  <a:tblStyle styleId="{41EE63E7-9836-4BAC-8ABD-735EA2CCE832}" styleName="Table_1">
    <a:wholeTbl>
      <a:tcTxStyle>
        <a:font>
          <a:latin typeface="Arial"/>
          <a:ea typeface="Arial"/>
          <a:cs typeface="Arial"/>
        </a:font>
        <a:srgbClr val="000000"/>
      </a:tcTx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slide" Target="slides/slide37.xml" /><Relationship Id="rId4" Type="http://schemas.openxmlformats.org/officeDocument/2006/relationships/slide" Target="slides/slide2.xml" /><Relationship Id="rId40" Type="http://schemas.openxmlformats.org/officeDocument/2006/relationships/slide" Target="slides/slide38.xml" /><Relationship Id="rId41" Type="http://schemas.openxmlformats.org/officeDocument/2006/relationships/slide" Target="slides/slide39.xml" /><Relationship Id="rId42" Type="http://schemas.openxmlformats.org/officeDocument/2006/relationships/tags" Target="tags/tag1.xml" /><Relationship Id="rId43" Type="http://schemas.openxmlformats.org/officeDocument/2006/relationships/font" Target="fonts/font1.fntdata" /><Relationship Id="rId44" Type="http://schemas.openxmlformats.org/officeDocument/2006/relationships/font" Target="fonts/font2.fntdata" /><Relationship Id="rId45" Type="http://schemas.openxmlformats.org/officeDocument/2006/relationships/font" Target="fonts/font3.fntdata" /><Relationship Id="rId46" Type="http://schemas.openxmlformats.org/officeDocument/2006/relationships/font" Target="fonts/font4.fntdata" /><Relationship Id="rId47" Type="http://schemas.openxmlformats.org/officeDocument/2006/relationships/presProps" Target="presProps.xml" /><Relationship Id="rId48" Type="http://schemas.openxmlformats.org/officeDocument/2006/relationships/viewProps" Target="viewProps.xml" /><Relationship Id="rId49" Type="http://schemas.openxmlformats.org/officeDocument/2006/relationships/theme" Target="theme/theme1.xml" /><Relationship Id="rId5" Type="http://schemas.openxmlformats.org/officeDocument/2006/relationships/slide" Target="slides/slide3.xml" /><Relationship Id="rId50" Type="http://schemas.openxmlformats.org/officeDocument/2006/relationships/tableStyles" Target="tableStyles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_rels/notesSlide3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46" name="Shape 746"/>
        <p:cNvGrpSpPr/>
        <p:nvPr/>
      </p:nvGrpSpPr>
      <p:grpSpPr>
        <a:xfrm>
          <a:off x="0" y="0"/>
          <a:ext cx="0" cy="0"/>
        </a:xfrm>
      </p:grpSpPr>
      <p:sp>
        <p:nvSpPr>
          <p:cNvPr id="747" name="Google Shape;747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2" name="Shape 752"/>
        <p:cNvGrpSpPr/>
        <p:nvPr/>
      </p:nvGrpSpPr>
      <p:grpSpPr>
        <a:xfrm>
          <a:off x="0" y="0"/>
          <a:ext cx="0" cy="0"/>
        </a:xfrm>
      </p:grpSpPr>
      <p:sp>
        <p:nvSpPr>
          <p:cNvPr id="753" name="Google Shape;753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7" name="Shape 757"/>
        <p:cNvGrpSpPr/>
        <p:nvPr/>
      </p:nvGrpSpPr>
      <p:grpSpPr>
        <a:xfrm>
          <a:off x="0" y="0"/>
          <a:ext cx="0" cy="0"/>
        </a:xfrm>
      </p:grpSpPr>
      <p:sp>
        <p:nvSpPr>
          <p:cNvPr id="758" name="Google Shape;758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2" name="Shape 762"/>
        <p:cNvGrpSpPr/>
        <p:nvPr/>
      </p:nvGrpSpPr>
      <p:grpSpPr>
        <a:xfrm>
          <a:off x="0" y="0"/>
          <a:ext cx="0" cy="0"/>
        </a:xfrm>
      </p:grpSpPr>
      <p:sp>
        <p:nvSpPr>
          <p:cNvPr id="763" name="Google Shape;763;g2603c9a2b7f_0_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603c9a2b7f_0_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8" name="Shape 768"/>
        <p:cNvGrpSpPr/>
        <p:nvPr/>
      </p:nvGrpSpPr>
      <p:grpSpPr>
        <a:xfrm>
          <a:off x="0" y="0"/>
          <a:ext cx="0" cy="0"/>
        </a:xfrm>
      </p:grpSpPr>
      <p:sp>
        <p:nvSpPr>
          <p:cNvPr id="769" name="Google Shape;769;g29f6a30be42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29f6a30be42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4" name="Shape 774"/>
        <p:cNvGrpSpPr/>
        <p:nvPr/>
      </p:nvGrpSpPr>
      <p:grpSpPr>
        <a:xfrm>
          <a:off x="0" y="0"/>
          <a:ext cx="0" cy="0"/>
        </a:xfrm>
      </p:grpSpPr>
      <p:sp>
        <p:nvSpPr>
          <p:cNvPr id="775" name="Google Shape;775;g2603c9a2b7f_0_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2603c9a2b7f_0_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82" name="Shape 782"/>
        <p:cNvGrpSpPr/>
        <p:nvPr/>
      </p:nvGrpSpPr>
      <p:grpSpPr>
        <a:xfrm>
          <a:off x="0" y="0"/>
          <a:ext cx="0" cy="0"/>
        </a:xfrm>
      </p:grpSpPr>
      <p:sp>
        <p:nvSpPr>
          <p:cNvPr id="783" name="Google Shape;783;g2603c9a2b7f_0_3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2603c9a2b7f_0_3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95" name="Shape 795"/>
        <p:cNvGrpSpPr/>
        <p:nvPr/>
      </p:nvGrpSpPr>
      <p:grpSpPr>
        <a:xfrm>
          <a:off x="0" y="0"/>
          <a:ext cx="0" cy="0"/>
        </a:xfrm>
      </p:grpSpPr>
      <p:sp>
        <p:nvSpPr>
          <p:cNvPr id="796" name="Google Shape;796;g2603c9a2b7f_0_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2603c9a2b7f_0_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06" name="Shape 806"/>
        <p:cNvGrpSpPr/>
        <p:nvPr/>
      </p:nvGrpSpPr>
      <p:grpSpPr>
        <a:xfrm>
          <a:off x="0" y="0"/>
          <a:ext cx="0" cy="0"/>
        </a:xfrm>
      </p:grpSpPr>
      <p:sp>
        <p:nvSpPr>
          <p:cNvPr id="807" name="Google Shape;807;g2603c9a2b7f_0_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2603c9a2b7f_0_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22" name="Shape 822"/>
        <p:cNvGrpSpPr/>
        <p:nvPr/>
      </p:nvGrpSpPr>
      <p:grpSpPr>
        <a:xfrm>
          <a:off x="0" y="0"/>
          <a:ext cx="0" cy="0"/>
        </a:xfrm>
      </p:grpSpPr>
      <p:sp>
        <p:nvSpPr>
          <p:cNvPr id="823" name="Google Shape;823;g2603c9a2b7f_0_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2603c9a2b7f_0_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33" name="Shape 833"/>
        <p:cNvGrpSpPr/>
        <p:nvPr/>
      </p:nvGrpSpPr>
      <p:grpSpPr>
        <a:xfrm>
          <a:off x="0" y="0"/>
          <a:ext cx="0" cy="0"/>
        </a:xfrm>
      </p:grpSpPr>
      <p:sp>
        <p:nvSpPr>
          <p:cNvPr id="834" name="Google Shape;834;g2603c9a2b7f_0_6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2603c9a2b7f_0_6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68" name="Shape 868"/>
        <p:cNvGrpSpPr/>
        <p:nvPr/>
      </p:nvGrpSpPr>
      <p:grpSpPr>
        <a:xfrm>
          <a:off x="0" y="0"/>
          <a:ext cx="0" cy="0"/>
        </a:xfrm>
      </p:grpSpPr>
      <p:sp>
        <p:nvSpPr>
          <p:cNvPr id="869" name="Google Shape;869;g298be0381b5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298be0381b5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76" name="Shape 876"/>
        <p:cNvGrpSpPr/>
        <p:nvPr/>
      </p:nvGrpSpPr>
      <p:grpSpPr>
        <a:xfrm>
          <a:off x="0" y="0"/>
          <a:ext cx="0" cy="0"/>
        </a:xfrm>
      </p:grpSpPr>
      <p:sp>
        <p:nvSpPr>
          <p:cNvPr id="877" name="Google Shape;877;g2603c9a2b7f_0_7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g2603c9a2b7f_0_7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92" name="Shape 892"/>
        <p:cNvGrpSpPr/>
        <p:nvPr/>
      </p:nvGrpSpPr>
      <p:grpSpPr>
        <a:xfrm>
          <a:off x="0" y="0"/>
          <a:ext cx="0" cy="0"/>
        </a:xfrm>
      </p:grpSpPr>
      <p:sp>
        <p:nvSpPr>
          <p:cNvPr id="893" name="Google Shape;893;g2603c9a2b7f_0_21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" name="Google Shape;894;g2603c9a2b7f_0_2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99" name="Shape 899"/>
        <p:cNvGrpSpPr/>
        <p:nvPr/>
      </p:nvGrpSpPr>
      <p:grpSpPr>
        <a:xfrm>
          <a:off x="0" y="0"/>
          <a:ext cx="0" cy="0"/>
        </a:xfrm>
      </p:grpSpPr>
      <p:sp>
        <p:nvSpPr>
          <p:cNvPr id="900" name="Google Shape;900;g2603c9a2b7f_0_11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1" name="Google Shape;901;g2603c9a2b7f_0_1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41" name="Shape 941"/>
        <p:cNvGrpSpPr/>
        <p:nvPr/>
      </p:nvGrpSpPr>
      <p:grpSpPr>
        <a:xfrm>
          <a:off x="0" y="0"/>
          <a:ext cx="0" cy="0"/>
        </a:xfrm>
      </p:grpSpPr>
      <p:sp>
        <p:nvSpPr>
          <p:cNvPr id="942" name="Google Shape;942;g2603c9a2b7f_0_26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3" name="Google Shape;943;g2603c9a2b7f_0_26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48" name="Shape 948"/>
        <p:cNvGrpSpPr/>
        <p:nvPr/>
      </p:nvGrpSpPr>
      <p:grpSpPr>
        <a:xfrm>
          <a:off x="0" y="0"/>
          <a:ext cx="0" cy="0"/>
        </a:xfrm>
      </p:grpSpPr>
      <p:sp>
        <p:nvSpPr>
          <p:cNvPr id="949" name="Google Shape;949;g2603c9a2b7f_0_30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2603c9a2b7f_0_30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64" name="Shape 964"/>
        <p:cNvGrpSpPr/>
        <p:nvPr/>
      </p:nvGrpSpPr>
      <p:grpSpPr>
        <a:xfrm>
          <a:off x="0" y="0"/>
          <a:ext cx="0" cy="0"/>
        </a:xfrm>
      </p:grpSpPr>
      <p:sp>
        <p:nvSpPr>
          <p:cNvPr id="965" name="Google Shape;965;g2603c9a2b7f_0_42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6" name="Google Shape;966;g2603c9a2b7f_0_42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10" name="Shape 1010"/>
        <p:cNvGrpSpPr/>
        <p:nvPr/>
      </p:nvGrpSpPr>
      <p:grpSpPr>
        <a:xfrm>
          <a:off x="0" y="0"/>
          <a:ext cx="0" cy="0"/>
        </a:xfrm>
      </p:grpSpPr>
      <p:sp>
        <p:nvSpPr>
          <p:cNvPr id="1011" name="Google Shape;1011;g2603c9a2b7f_0_46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2" name="Google Shape;1012;g2603c9a2b7f_0_46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20" name="Shape 1020"/>
        <p:cNvGrpSpPr/>
        <p:nvPr/>
      </p:nvGrpSpPr>
      <p:grpSpPr>
        <a:xfrm>
          <a:off x="0" y="0"/>
          <a:ext cx="0" cy="0"/>
        </a:xfrm>
      </p:grpSpPr>
      <p:sp>
        <p:nvSpPr>
          <p:cNvPr id="1021" name="Google Shape;1021;g2603c9a2b7f_0_47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2" name="Google Shape;1022;g2603c9a2b7f_0_47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42" name="Shape 1042"/>
        <p:cNvGrpSpPr/>
        <p:nvPr/>
      </p:nvGrpSpPr>
      <p:grpSpPr>
        <a:xfrm>
          <a:off x="0" y="0"/>
          <a:ext cx="0" cy="0"/>
        </a:xfrm>
      </p:grpSpPr>
      <p:sp>
        <p:nvSpPr>
          <p:cNvPr id="1043" name="Google Shape;1043;g2603c9a2b7f_0_2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4" name="Google Shape;1044;g2603c9a2b7f_0_2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50" name="Shape 1050"/>
        <p:cNvGrpSpPr/>
        <p:nvPr/>
      </p:nvGrpSpPr>
      <p:grpSpPr>
        <a:xfrm>
          <a:off x="0" y="0"/>
          <a:ext cx="0" cy="0"/>
        </a:xfrm>
      </p:grpSpPr>
      <p:sp>
        <p:nvSpPr>
          <p:cNvPr id="1051" name="Google Shape;1051;g2603c9a2b7f_0_4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2" name="Google Shape;1052;g2603c9a2b7f_0_4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66" name="Shape 1066"/>
        <p:cNvGrpSpPr/>
        <p:nvPr/>
      </p:nvGrpSpPr>
      <p:grpSpPr>
        <a:xfrm>
          <a:off x="0" y="0"/>
          <a:ext cx="0" cy="0"/>
        </a:xfrm>
      </p:grpSpPr>
      <p:sp>
        <p:nvSpPr>
          <p:cNvPr id="1067" name="Google Shape;1067;g2603c9a2b7f_0_7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2603c9a2b7f_0_7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90" name="Shape 1090"/>
        <p:cNvGrpSpPr/>
        <p:nvPr/>
      </p:nvGrpSpPr>
      <p:grpSpPr>
        <a:xfrm>
          <a:off x="0" y="0"/>
          <a:ext cx="0" cy="0"/>
        </a:xfrm>
      </p:grpSpPr>
      <p:sp>
        <p:nvSpPr>
          <p:cNvPr id="1091" name="Google Shape;1091;g298be0381b5_0_1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2" name="Google Shape;1092;g298be0381b5_0_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11" name="Shape 1111"/>
        <p:cNvGrpSpPr/>
        <p:nvPr/>
      </p:nvGrpSpPr>
      <p:grpSpPr>
        <a:xfrm>
          <a:off x="0" y="0"/>
          <a:ext cx="0" cy="0"/>
        </a:xfrm>
      </p:grpSpPr>
      <p:sp>
        <p:nvSpPr>
          <p:cNvPr id="1112" name="Google Shape;1112;g2603c9a2b7f_0_8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2603c9a2b7f_0_8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31" name="Shape 1131"/>
        <p:cNvGrpSpPr/>
        <p:nvPr/>
      </p:nvGrpSpPr>
      <p:grpSpPr>
        <a:xfrm>
          <a:off x="0" y="0"/>
          <a:ext cx="0" cy="0"/>
        </a:xfrm>
      </p:grpSpPr>
      <p:sp>
        <p:nvSpPr>
          <p:cNvPr id="1132" name="Google Shape;1132;g29816454ab1_0_1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29816454ab1_0_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40" name="Shape 1140"/>
        <p:cNvGrpSpPr/>
        <p:nvPr/>
      </p:nvGrpSpPr>
      <p:grpSpPr>
        <a:xfrm>
          <a:off x="0" y="0"/>
          <a:ext cx="0" cy="0"/>
        </a:xfrm>
      </p:grpSpPr>
      <p:sp>
        <p:nvSpPr>
          <p:cNvPr id="1141" name="Google Shape;1141;g2603c9a2b7f_0_9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2" name="Google Shape;1142;g2603c9a2b7f_0_9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48" name="Shape 1148"/>
        <p:cNvGrpSpPr/>
        <p:nvPr/>
      </p:nvGrpSpPr>
      <p:grpSpPr>
        <a:xfrm>
          <a:off x="0" y="0"/>
          <a:ext cx="0" cy="0"/>
        </a:xfrm>
      </p:grpSpPr>
      <p:sp>
        <p:nvSpPr>
          <p:cNvPr id="1149" name="Google Shape;1149;g2603c9a2b7f_0_9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0" name="Google Shape;1150;g2603c9a2b7f_0_9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63" name="Shape 1163"/>
        <p:cNvGrpSpPr/>
        <p:nvPr/>
      </p:nvGrpSpPr>
      <p:grpSpPr>
        <a:xfrm>
          <a:off x="0" y="0"/>
          <a:ext cx="0" cy="0"/>
        </a:xfrm>
      </p:grpSpPr>
      <p:sp>
        <p:nvSpPr>
          <p:cNvPr id="1164" name="Google Shape;1164;g2603c9a2b7f_0_10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5" name="Google Shape;1165;g2603c9a2b7f_0_10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71" name="Shape 1171"/>
        <p:cNvGrpSpPr/>
        <p:nvPr/>
      </p:nvGrpSpPr>
      <p:grpSpPr>
        <a:xfrm>
          <a:off x="0" y="0"/>
          <a:ext cx="0" cy="0"/>
        </a:xfrm>
      </p:grpSpPr>
      <p:sp>
        <p:nvSpPr>
          <p:cNvPr id="1172" name="Google Shape;1172;g2603c9a2b7f_0_10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2603c9a2b7f_0_10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85" name="Shape 1185"/>
        <p:cNvGrpSpPr/>
        <p:nvPr/>
      </p:nvGrpSpPr>
      <p:grpSpPr>
        <a:xfrm>
          <a:off x="0" y="0"/>
          <a:ext cx="0" cy="0"/>
        </a:xfrm>
      </p:grpSpPr>
      <p:sp>
        <p:nvSpPr>
          <p:cNvPr id="1186" name="Google Shape;1186;g29816454ab1_0_4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7" name="Google Shape;1187;g29816454ab1_0_4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95" name="Shape 1195"/>
        <p:cNvGrpSpPr/>
        <p:nvPr/>
      </p:nvGrpSpPr>
      <p:grpSpPr>
        <a:xfrm>
          <a:off x="0" y="0"/>
          <a:ext cx="0" cy="0"/>
        </a:xfrm>
      </p:grpSpPr>
      <p:sp>
        <p:nvSpPr>
          <p:cNvPr id="1196" name="Google Shape;1196;g2603c9a2b7f_0_12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2603c9a2b7f_0_1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09" name="Shape 1209"/>
        <p:cNvGrpSpPr/>
        <p:nvPr/>
      </p:nvGrpSpPr>
      <p:grpSpPr>
        <a:xfrm>
          <a:off x="0" y="0"/>
          <a:ext cx="0" cy="0"/>
        </a:xfrm>
      </p:grpSpPr>
      <p:sp>
        <p:nvSpPr>
          <p:cNvPr id="1210" name="Google Shape;1210;g29816454ab1_0_7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1" name="Google Shape;1211;g29816454ab1_0_7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19" name="Shape 1219"/>
        <p:cNvGrpSpPr/>
        <p:nvPr/>
      </p:nvGrpSpPr>
      <p:grpSpPr>
        <a:xfrm>
          <a:off x="0" y="0"/>
          <a:ext cx="0" cy="0"/>
        </a:xfrm>
      </p:grpSpPr>
      <p:sp>
        <p:nvSpPr>
          <p:cNvPr id="1220" name="Google Shape;1220;g29816454ab1_0_10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1" name="Google Shape;1221;g29816454ab1_0_10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27" name="Shape 1227"/>
        <p:cNvGrpSpPr/>
        <p:nvPr/>
      </p:nvGrpSpPr>
      <p:grpSpPr>
        <a:xfrm>
          <a:off x="0" y="0"/>
          <a:ext cx="0" cy="0"/>
        </a:xfrm>
      </p:grpSpPr>
      <p:sp>
        <p:nvSpPr>
          <p:cNvPr id="1228" name="Google Shape;1228;g29816454ab1_0_1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9" name="Google Shape;1229;g29816454ab1_0_1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45" name="Shape 1245"/>
        <p:cNvGrpSpPr/>
        <p:nvPr/>
      </p:nvGrpSpPr>
      <p:grpSpPr>
        <a:xfrm>
          <a:off x="0" y="0"/>
          <a:ext cx="0" cy="0"/>
        </a:xfrm>
      </p:grpSpPr>
      <p:sp>
        <p:nvSpPr>
          <p:cNvPr id="1246" name="Google Shape;1246;g29816454ab1_0_13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29816454ab1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59" name="Shape 1259"/>
        <p:cNvGrpSpPr/>
        <p:nvPr/>
      </p:nvGrpSpPr>
      <p:grpSpPr>
        <a:xfrm>
          <a:off x="0" y="0"/>
          <a:ext cx="0" cy="0"/>
        </a:xfrm>
      </p:grpSpPr>
      <p:sp>
        <p:nvSpPr>
          <p:cNvPr id="1260" name="Google Shape;1260;g29816454ab1_0_14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1" name="Google Shape;1261;g29816454ab1_0_1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68" name="Shape 1268"/>
        <p:cNvGrpSpPr/>
        <p:nvPr/>
      </p:nvGrpSpPr>
      <p:grpSpPr>
        <a:xfrm>
          <a:off x="0" y="0"/>
          <a:ext cx="0" cy="0"/>
        </a:xfrm>
      </p:grpSpPr>
      <p:sp>
        <p:nvSpPr>
          <p:cNvPr id="1269" name="Google Shape;1269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74" name="Shape 1274"/>
        <p:cNvGrpSpPr/>
        <p:nvPr/>
      </p:nvGrpSpPr>
      <p:grpSpPr>
        <a:xfrm>
          <a:off x="0" y="0"/>
          <a:ext cx="0" cy="0"/>
        </a:xfrm>
      </p:grpSpPr>
      <p:sp>
        <p:nvSpPr>
          <p:cNvPr id="1275" name="Google Shape;1275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6" name="Google Shape;1276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type="subTitle" idx="1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type="subTitle" idx="2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type="subTitle" idx="3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type="subTitle" idx="4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type="subTitle" idx="1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type="subTitle" idx="2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type="subTitle" idx="3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type="subTitle" idx="4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type="subTitle" idx="1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type="subTitle" idx="2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type="subTitle" idx="3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type="subTitle" idx="4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type="subTitle" idx="5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type="subTitle" idx="1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type="subTitle" idx="2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type="subTitle" idx="3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type="subTitle" idx="4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5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</a:xfrm>
      </p:grpSpPr>
      <p:pic>
        <p:nvPicPr>
          <p:cNvPr id="169" name="Google Shape;169;p20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pic>
        <p:nvPicPr>
          <p:cNvPr id="187" name="Google Shape;187;p21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1" name="Google Shape;21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pic>
        <p:nvPicPr>
          <p:cNvPr id="216" name="Google Shape;21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8" name="Google Shape;21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</a:xfrm>
      </p:grpSpPr>
      <p:pic>
        <p:nvPicPr>
          <p:cNvPr id="223" name="Google Shape;223;p2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5" name="Google Shape;225;p2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</a:xfrm>
      </p:grpSpPr>
      <p:pic>
        <p:nvPicPr>
          <p:cNvPr id="230" name="Google Shape;230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2" name="Google Shape;232;p2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0" name="Google Shape;240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3" name="Google Shape;253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6" name="Google Shape;266;p28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9" name="Google Shape;279;p29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</a:xfrm>
      </p:grpSpPr>
      <p:pic>
        <p:nvPicPr>
          <p:cNvPr id="312" name="Google Shape;312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</a:xfrm>
      </p:grpSpPr>
      <p:pic>
        <p:nvPicPr>
          <p:cNvPr id="335" name="Google Shape;335;p3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</a:xfrm>
      </p:grpSpPr>
      <p:pic>
        <p:nvPicPr>
          <p:cNvPr id="358" name="Google Shape;358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</a:xfrm>
      </p:grpSpPr>
      <p:pic>
        <p:nvPicPr>
          <p:cNvPr id="400" name="Google Shape;400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</a:xfrm>
      </p:grpSpPr>
      <p:pic>
        <p:nvPicPr>
          <p:cNvPr id="419" name="Google Shape;419;p3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</a:xfrm>
      </p:grpSpPr>
      <p:pic>
        <p:nvPicPr>
          <p:cNvPr id="438" name="Google Shape;438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</a:xfrm>
      </p:grpSpPr>
      <p:pic>
        <p:nvPicPr>
          <p:cNvPr id="480" name="Google Shape;480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</a:xfrm>
      </p:grpSpPr>
      <p:pic>
        <p:nvPicPr>
          <p:cNvPr id="503" name="Google Shape;503;p4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</a:xfrm>
      </p:grpSpPr>
      <p:pic>
        <p:nvPicPr>
          <p:cNvPr id="526" name="Google Shape;526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6" name="Google Shape;556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7" name="Google Shape;557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</a:xfrm>
      </p:grpSpPr>
      <p:pic>
        <p:nvPicPr>
          <p:cNvPr id="568" name="Google Shape;568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5" name="Google Shape;575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6" name="Google Shape;576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</a:xfrm>
      </p:grpSpPr>
      <p:pic>
        <p:nvPicPr>
          <p:cNvPr id="587" name="Google Shape;587;p4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4" name="Google Shape;594;p44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5" name="Google Shape;595;p44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</a:xfrm>
      </p:grpSpPr>
      <p:pic>
        <p:nvPicPr>
          <p:cNvPr id="606" name="Google Shape;606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3" name="Google Shape;613;p45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4" name="Google Shape;614;p45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7" name="Google Shape;62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</a:xfrm>
      </p:grpSpPr>
      <p:pic>
        <p:nvPicPr>
          <p:cNvPr id="632" name="Google Shape;63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4" name="Google Shape;63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</a:xfrm>
      </p:grpSpPr>
      <p:pic>
        <p:nvPicPr>
          <p:cNvPr id="639" name="Google Shape;639;p4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1" name="Google Shape;64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</a:xfrm>
      </p:grpSpPr>
      <p:pic>
        <p:nvPicPr>
          <p:cNvPr id="646" name="Google Shape;646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8" name="Google Shape;648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5" name="Google Shape;655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</a:xfrm>
      </p:grpSpPr>
      <p:pic>
        <p:nvPicPr>
          <p:cNvPr id="661" name="Google Shape;661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3" name="Google Shape;663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</a:xfrm>
      </p:grpSpPr>
      <p:pic>
        <p:nvPicPr>
          <p:cNvPr id="669" name="Google Shape;669;p5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1" name="Google Shape;671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</a:xfrm>
      </p:grpSpPr>
      <p:pic>
        <p:nvPicPr>
          <p:cNvPr id="677" name="Google Shape;677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9" name="Google Shape;679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7" name="Google Shape;687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</a:xfrm>
      </p:grpSpPr>
      <p:pic>
        <p:nvPicPr>
          <p:cNvPr id="693" name="Google Shape;693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5" name="Google Shape;695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</a:xfrm>
      </p:grpSpPr>
      <p:pic>
        <p:nvPicPr>
          <p:cNvPr id="701" name="Google Shape;701;p5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3" name="Google Shape;703;p5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</a:xfrm>
      </p:grpSpPr>
      <p:pic>
        <p:nvPicPr>
          <p:cNvPr id="709" name="Google Shape;709;p5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1" name="Google Shape;711;p5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slideLayout" Target="../slideLayouts/slideLayout62.xml" /><Relationship Id="rId63" Type="http://schemas.openxmlformats.org/officeDocument/2006/relationships/image" Target="../media/image42.png" /><Relationship Id="rId64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notesSlide" Target="../notesSlides/notesSlide5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43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8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46.png" /><Relationship Id="rId4" Type="http://schemas.openxmlformats.org/officeDocument/2006/relationships/image" Target="../media/image47.png" /><Relationship Id="rId5" Type="http://schemas.openxmlformats.org/officeDocument/2006/relationships/image" Target="../media/image48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44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5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49.png" /><Relationship Id="rId4" Type="http://schemas.openxmlformats.org/officeDocument/2006/relationships/image" Target="../media/image50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2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3.xml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5.xml" /><Relationship Id="rId2" Type="http://schemas.openxmlformats.org/officeDocument/2006/relationships/notesSlide" Target="../notesSlides/notesSlide14.xml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51.png" /><Relationship Id="rId4" Type="http://schemas.openxmlformats.org/officeDocument/2006/relationships/image" Target="../media/image52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16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53.png" /><Relationship Id="rId4" Type="http://schemas.openxmlformats.org/officeDocument/2006/relationships/image" Target="../media/image54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51.png" /><Relationship Id="rId4" Type="http://schemas.openxmlformats.org/officeDocument/2006/relationships/image" Target="../media/image52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19.xml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53.png" /><Relationship Id="rId4" Type="http://schemas.openxmlformats.org/officeDocument/2006/relationships/image" Target="../media/image55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43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56.png" /><Relationship Id="rId4" Type="http://schemas.openxmlformats.org/officeDocument/2006/relationships/image" Target="../media/image47.png" /><Relationship Id="rId5" Type="http://schemas.openxmlformats.org/officeDocument/2006/relationships/image" Target="../media/image57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57.png" /><Relationship Id="rId4" Type="http://schemas.openxmlformats.org/officeDocument/2006/relationships/image" Target="../media/image47.png" /><Relationship Id="rId5" Type="http://schemas.openxmlformats.org/officeDocument/2006/relationships/image" Target="../media/image56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58.png" /><Relationship Id="rId4" Type="http://schemas.openxmlformats.org/officeDocument/2006/relationships/image" Target="../media/image59.png" /><Relationship Id="rId5" Type="http://schemas.openxmlformats.org/officeDocument/2006/relationships/image" Target="../media/image60.png" /><Relationship Id="rId6" Type="http://schemas.openxmlformats.org/officeDocument/2006/relationships/image" Target="../media/image61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62.png" /><Relationship Id="rId4" Type="http://schemas.openxmlformats.org/officeDocument/2006/relationships/image" Target="../media/image63.png" /><Relationship Id="rId5" Type="http://schemas.openxmlformats.org/officeDocument/2006/relationships/image" Target="../media/image47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6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64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7.xml" /><Relationship Id="rId3" Type="http://schemas.openxmlformats.org/officeDocument/2006/relationships/image" Target="../media/image65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66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67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0.xml" /><Relationship Id="rId3" Type="http://schemas.openxmlformats.org/officeDocument/2006/relationships/image" Target="../media/image68.png" /><Relationship Id="rId4" Type="http://schemas.openxmlformats.org/officeDocument/2006/relationships/image" Target="../media/image47.png" /><Relationship Id="rId5" Type="http://schemas.openxmlformats.org/officeDocument/2006/relationships/image" Target="../media/image69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0.xml" /><Relationship Id="rId2" Type="http://schemas.openxmlformats.org/officeDocument/2006/relationships/notesSlide" Target="../notesSlides/notesSlide31.xml" /><Relationship Id="rId3" Type="http://schemas.openxmlformats.org/officeDocument/2006/relationships/image" Target="../media/image70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32.xml" /><Relationship Id="rId3" Type="http://schemas.openxmlformats.org/officeDocument/2006/relationships/image" Target="../media/image71.png" /><Relationship Id="rId4" Type="http://schemas.openxmlformats.org/officeDocument/2006/relationships/image" Target="../media/image72.png" /><Relationship Id="rId5" Type="http://schemas.openxmlformats.org/officeDocument/2006/relationships/image" Target="../media/image73.pn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33.xml" /><Relationship Id="rId3" Type="http://schemas.openxmlformats.org/officeDocument/2006/relationships/image" Target="../media/image74.png" /><Relationship Id="rId4" Type="http://schemas.openxmlformats.org/officeDocument/2006/relationships/image" Target="../media/image75.png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34.xml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35.xml" /><Relationship Id="rId3" Type="http://schemas.openxmlformats.org/officeDocument/2006/relationships/image" Target="../media/image71.png" /><Relationship Id="rId4" Type="http://schemas.openxmlformats.org/officeDocument/2006/relationships/image" Target="../media/image72.png" /><Relationship Id="rId5" Type="http://schemas.openxmlformats.org/officeDocument/2006/relationships/image" Target="../media/image73.png" /><Relationship Id="rId6" Type="http://schemas.openxmlformats.org/officeDocument/2006/relationships/image" Target="../media/image70.png" /><Relationship Id="rId7" Type="http://schemas.openxmlformats.org/officeDocument/2006/relationships/image" Target="../media/image76.png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36.xml" /><Relationship Id="rId3" Type="http://schemas.openxmlformats.org/officeDocument/2006/relationships/image" Target="../media/image74.png" /><Relationship Id="rId4" Type="http://schemas.openxmlformats.org/officeDocument/2006/relationships/image" Target="../media/image75.png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37.xml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7.xml" /><Relationship Id="rId2" Type="http://schemas.openxmlformats.org/officeDocument/2006/relationships/notesSlide" Target="../notesSlides/notesSlide38.xml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39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7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49" name="Shape 749"/>
        <p:cNvGrpSpPr/>
        <p:nvPr/>
      </p:nvGrpSpPr>
      <p:grpSpPr>
        <a:xfrm>
          <a:off x="0" y="0"/>
          <a: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and calculating the range</a:t>
            </a:r>
            <a:endParaRPr/>
          </a:p>
        </p:txBody>
      </p:sp>
      <p:sp>
        <p:nvSpPr>
          <p:cNvPr id="751" name="Google Shape;751;p64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Numerical summaries of data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5" name="Shape 755"/>
        <p:cNvGrpSpPr/>
        <p:nvPr/>
      </p:nvGrpSpPr>
      <p:grpSpPr>
        <a:xfrm>
          <a:off x="0" y="0"/>
          <a: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0" name="Shape 760"/>
        <p:cNvGrpSpPr/>
        <p:nvPr/>
      </p:nvGrpSpPr>
      <p:grpSpPr>
        <a:xfrm>
          <a:off x="0" y="0"/>
          <a:ext cx="0" cy="0"/>
        </a:xfrm>
      </p:grpSpPr>
      <p:sp>
        <p:nvSpPr>
          <p:cNvPr id="761" name="Google Shape;761;p66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understand what the range is measuring, how it is measuring it and calculate the range from data presented in a range of different ways.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5" name="Shape 765"/>
        <p:cNvGrpSpPr/>
        <p:nvPr/>
      </p:nvGrpSpPr>
      <p:grpSpPr>
        <a:xfrm>
          <a:off x="0" y="0"/>
          <a:ext cx="0" cy="0"/>
        </a:xfrm>
      </p:grpSpPr>
      <p:sp>
        <p:nvSpPr>
          <p:cNvPr id="766" name="Google Shape;766;p67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/>
              <a:t>range</a:t>
            </a:r>
            <a:endParaRPr/>
          </a:p>
        </p:txBody>
      </p:sp>
      <p:sp>
        <p:nvSpPr>
          <p:cNvPr id="767" name="Google Shape;767;p67"/>
          <p:cNvSpPr txBox="1"/>
          <p:nvPr>
            <p:ph type="subTitle" idx="2"/>
          </p:nvPr>
        </p:nvSpPr>
        <p:spPr>
          <a:xfrm>
            <a:off x="324001" y="25435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/>
              <a:t>spread/dispersion</a:t>
            </a:r>
            <a:endParaRPr/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1" name="Shape 771"/>
        <p:cNvGrpSpPr/>
        <p:nvPr/>
      </p:nvGrpSpPr>
      <p:grpSpPr>
        <a:xfrm>
          <a:off x="0" y="0"/>
          <a:ext cx="0" cy="0"/>
        </a:xfrm>
      </p:grpSpPr>
      <p:sp>
        <p:nvSpPr>
          <p:cNvPr id="772" name="Google Shape;772;p68"/>
          <p:cNvSpPr txBox="1"/>
          <p:nvPr>
            <p:ph type="subTitle" idx="1"/>
          </p:nvPr>
        </p:nvSpPr>
        <p:spPr>
          <a:xfrm>
            <a:off x="324000" y="993650"/>
            <a:ext cx="71352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lang="en-GB" b="1"/>
              <a:t>range </a:t>
            </a:r>
            <a:r>
              <a:rPr lang="en-GB"/>
              <a:t>is a measure of </a:t>
            </a:r>
            <a:r>
              <a:rPr lang="en-GB" b="1"/>
              <a:t>spread</a:t>
            </a:r>
            <a:r>
              <a:rPr lang="en-GB"/>
              <a:t>. It is found by finding the difference between the two extreme points; the lowest and highest values.</a:t>
            </a:r>
            <a:endParaRPr/>
          </a:p>
        </p:txBody>
      </p:sp>
      <p:sp>
        <p:nvSpPr>
          <p:cNvPr id="773" name="Google Shape;773;p68"/>
          <p:cNvSpPr txBox="1"/>
          <p:nvPr>
            <p:ph type="subTitle" idx="2"/>
          </p:nvPr>
        </p:nvSpPr>
        <p:spPr>
          <a:xfrm>
            <a:off x="324001" y="25435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lang="en-GB" b="1"/>
              <a:t>spread/dispersion </a:t>
            </a:r>
            <a:r>
              <a:rPr lang="en-GB"/>
              <a:t>of data values is how varied they are. </a:t>
            </a:r>
            <a:endParaRPr/>
          </a:p>
        </p:txBody>
      </p:sp>
    </p:spTree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7" name="Shape 777"/>
        <p:cNvGrpSpPr/>
        <p:nvPr/>
      </p:nvGrpSpPr>
      <p:grpSpPr>
        <a:xfrm>
          <a:off x="0" y="0"/>
          <a:ext cx="0" cy="0"/>
        </a:xfrm>
      </p:grpSpPr>
      <p:sp>
        <p:nvSpPr>
          <p:cNvPr id="778" name="Google Shape;778;p6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What is the range?</a:t>
            </a:r>
            <a:endParaRPr/>
          </a:p>
        </p:txBody>
      </p:sp>
      <p:sp>
        <p:nvSpPr>
          <p:cNvPr id="779" name="Google Shape;779;p69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Extreme values in different representations</a:t>
            </a:r>
            <a:endParaRPr/>
          </a:p>
        </p:txBody>
      </p:sp>
      <p:sp>
        <p:nvSpPr>
          <p:cNvPr id="780" name="Google Shape;780;p6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and calculating the range</a:t>
            </a:r>
            <a:endParaRPr/>
          </a:p>
        </p:txBody>
      </p:sp>
      <p:pic>
        <p:nvPicPr>
          <p:cNvPr id="781" name="Google Shape;781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374" y="205932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85" name="Shape 785"/>
        <p:cNvGrpSpPr/>
        <p:nvPr/>
      </p:nvGrpSpPr>
      <p:grpSpPr>
        <a:xfrm>
          <a:off x="0" y="0"/>
          <a:ext cx="0" cy="0"/>
        </a:xfrm>
      </p:grpSpPr>
      <p:sp>
        <p:nvSpPr>
          <p:cNvPr id="786" name="Google Shape;786;p70"/>
          <p:cNvSpPr txBox="1"/>
          <p:nvPr>
            <p:ph type="body" idx="1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Which dot plot shows more </a:t>
            </a:r>
            <a:r>
              <a:rPr lang="en-GB" b="1"/>
              <a:t>spread</a:t>
            </a:r>
            <a:r>
              <a:rPr lang="en-GB"/>
              <a:t> out data?</a:t>
            </a:r>
            <a:endParaRPr/>
          </a:p>
        </p:txBody>
      </p:sp>
      <p:sp>
        <p:nvSpPr>
          <p:cNvPr id="787" name="Google Shape;787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What is the range?</a:t>
            </a:r>
            <a:endParaRPr/>
          </a:p>
        </p:txBody>
      </p:sp>
      <p:pic>
        <p:nvPicPr>
          <p:cNvPr id="788" name="Google Shape;788;p70"/>
          <p:cNvPicPr preferRelativeResize="0"/>
          <p:nvPr/>
        </p:nvPicPr>
        <p:blipFill>
          <a:blip r:embed="rId3">
            <a:alphaModFix/>
          </a:blip>
          <a:srcRect l="2360" r="3980"/>
          <a:stretch>
            <a:fillRect/>
          </a:stretch>
        </p:blipFill>
        <p:spPr>
          <a:xfrm>
            <a:off x="361200" y="1232400"/>
            <a:ext cx="8278725" cy="99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70"/>
          <p:cNvPicPr preferRelativeResize="0"/>
          <p:nvPr/>
        </p:nvPicPr>
        <p:blipFill>
          <a:blip r:embed="rId4">
            <a:alphaModFix/>
          </a:blip>
          <a:srcRect l="2360" r="3980"/>
          <a:stretch>
            <a:fillRect/>
          </a:stretch>
        </p:blipFill>
        <p:spPr>
          <a:xfrm>
            <a:off x="361200" y="2837975"/>
            <a:ext cx="8278726" cy="965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0" name="Google Shape;790;p70"/>
          <p:cNvCxnSpPr/>
          <p:nvPr/>
        </p:nvCxnSpPr>
        <p:spPr>
          <a:xfrm>
            <a:off x="1184750" y="2288825"/>
            <a:ext cx="2506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stealth" w="med" len="med"/>
            <a:tailEnd type="stealth" w="med" len="med"/>
          </a:ln>
        </p:spPr>
      </p:cxnSp>
      <p:cxnSp>
        <p:nvCxnSpPr>
          <p:cNvPr id="791" name="Google Shape;791;p70"/>
          <p:cNvCxnSpPr/>
          <p:nvPr/>
        </p:nvCxnSpPr>
        <p:spPr>
          <a:xfrm>
            <a:off x="752000" y="3987150"/>
            <a:ext cx="74907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stealth" w="med" len="med"/>
            <a:tailEnd type="stealth" w="med" len="med"/>
          </a:ln>
        </p:spPr>
      </p:cxnSp>
      <p:sp>
        <p:nvSpPr>
          <p:cNvPr id="792" name="Google Shape;792;p70"/>
          <p:cNvSpPr txBox="1"/>
          <p:nvPr/>
        </p:nvSpPr>
        <p:spPr>
          <a:xfrm>
            <a:off x="5774400" y="1288025"/>
            <a:ext cx="3120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b is more </a:t>
            </a:r>
            <a:r>
              <a:rPr lang="en-GB" sz="2200" b="1">
                <a:latin typeface="Kalam"/>
                <a:ea typeface="Kalam"/>
                <a:cs typeface="Kalam"/>
                <a:sym typeface="Kalam"/>
              </a:rPr>
              <a:t>spread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out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793" name="Google Shape;793;p70"/>
          <p:cNvSpPr txBox="1"/>
          <p:nvPr/>
        </p:nvSpPr>
        <p:spPr>
          <a:xfrm>
            <a:off x="324000" y="1284300"/>
            <a:ext cx="457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4" name="Google Shape;794;p70"/>
          <p:cNvSpPr txBox="1"/>
          <p:nvPr/>
        </p:nvSpPr>
        <p:spPr>
          <a:xfrm>
            <a:off x="324000" y="2700000"/>
            <a:ext cx="457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98" name="Shape 798"/>
        <p:cNvGrpSpPr/>
        <p:nvPr/>
      </p:nvGrpSpPr>
      <p:grpSpPr>
        <a:xfrm>
          <a:off x="0" y="0"/>
          <a:ext cx="0" cy="0"/>
        </a:xfrm>
      </p:grpSpPr>
      <p:sp>
        <p:nvSpPr>
          <p:cNvPr id="799" name="Google Shape;799;p71"/>
          <p:cNvSpPr txBox="1"/>
          <p:nvPr>
            <p:ph type="body" idx="1"/>
          </p:nvPr>
        </p:nvSpPr>
        <p:spPr>
          <a:xfrm>
            <a:off x="324000" y="759300"/>
            <a:ext cx="82377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Which data set is more </a:t>
            </a:r>
            <a:r>
              <a:rPr lang="en-GB" b="1"/>
              <a:t>spread </a:t>
            </a:r>
            <a:r>
              <a:rPr lang="en-GB"/>
              <a:t>out?</a:t>
            </a:r>
            <a:endParaRPr/>
          </a:p>
        </p:txBody>
      </p:sp>
      <p:sp>
        <p:nvSpPr>
          <p:cNvPr id="800" name="Google Shape;800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What is the range?</a:t>
            </a:r>
            <a:endParaRPr/>
          </a:p>
        </p:txBody>
      </p:sp>
      <p:sp>
        <p:nvSpPr>
          <p:cNvPr id="801" name="Google Shape;801;p71"/>
          <p:cNvSpPr txBox="1"/>
          <p:nvPr/>
        </p:nvSpPr>
        <p:spPr>
          <a:xfrm>
            <a:off x="781200" y="2478300"/>
            <a:ext cx="6678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15, 16, 19, 19, 26, 27, 34, 34, 37, 38, 49, 57, 81, 96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2" name="Google Shape;802;p71"/>
          <p:cNvSpPr txBox="1"/>
          <p:nvPr/>
        </p:nvSpPr>
        <p:spPr>
          <a:xfrm>
            <a:off x="781200" y="1284450"/>
            <a:ext cx="5663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5, 12, 12, 19, 25, 28, 33, 39, 47, 53, 87, 960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3" name="Google Shape;803;p71"/>
          <p:cNvSpPr txBox="1"/>
          <p:nvPr/>
        </p:nvSpPr>
        <p:spPr>
          <a:xfrm>
            <a:off x="1480900" y="3453100"/>
            <a:ext cx="3120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a is more </a:t>
            </a:r>
            <a:r>
              <a:rPr lang="en-GB" sz="2200" b="1">
                <a:latin typeface="Kalam"/>
                <a:ea typeface="Kalam"/>
                <a:cs typeface="Kalam"/>
                <a:sym typeface="Kalam"/>
              </a:rPr>
              <a:t>spread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out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4" name="Google Shape;804;p71"/>
          <p:cNvSpPr txBox="1"/>
          <p:nvPr/>
        </p:nvSpPr>
        <p:spPr>
          <a:xfrm>
            <a:off x="324000" y="1284300"/>
            <a:ext cx="516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5" name="Google Shape;805;p71"/>
          <p:cNvSpPr txBox="1"/>
          <p:nvPr/>
        </p:nvSpPr>
        <p:spPr>
          <a:xfrm>
            <a:off x="324000" y="2447700"/>
            <a:ext cx="516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09" name="Shape 809"/>
        <p:cNvGrpSpPr/>
        <p:nvPr/>
      </p:nvGrpSpPr>
      <p:grpSpPr>
        <a:xfrm>
          <a:off x="0" y="0"/>
          <a:ext cx="0" cy="0"/>
        </a:xfrm>
      </p:grpSpPr>
      <p:sp>
        <p:nvSpPr>
          <p:cNvPr id="810" name="Google Shape;810;p72"/>
          <p:cNvSpPr txBox="1"/>
          <p:nvPr>
            <p:ph type="body" idx="1"/>
          </p:nvPr>
        </p:nvSpPr>
        <p:spPr>
          <a:xfrm>
            <a:off x="324000" y="759300"/>
            <a:ext cx="82377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On a school trip, Izzy and Aisha get to try archery. </a:t>
            </a:r>
            <a:endParaRPr sz="2000"/>
          </a:p>
        </p:txBody>
      </p:sp>
      <p:sp>
        <p:nvSpPr>
          <p:cNvPr id="811" name="Google Shape;811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What is the range?</a:t>
            </a:r>
            <a:endParaRPr/>
          </a:p>
        </p:txBody>
      </p:sp>
      <p:grpSp>
        <p:nvGrpSpPr>
          <p:cNvPr id="812" name="Google Shape;812;p72"/>
          <p:cNvGrpSpPr/>
          <p:nvPr/>
        </p:nvGrpSpPr>
        <p:grpSpPr>
          <a:xfrm>
            <a:off x="1456072" y="1437325"/>
            <a:ext cx="2863928" cy="2380944"/>
            <a:chOff x="1456072" y="1437325"/>
            <a:chExt cx="2863928" cy="2380944"/>
          </a:xfrm>
        </p:grpSpPr>
        <p:pic>
          <p:nvPicPr>
            <p:cNvPr id="813" name="Google Shape;813;p7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456072" y="1886529"/>
              <a:ext cx="574426" cy="1931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4" name="Google Shape;814;p72"/>
            <p:cNvPicPr preferRelativeResize="0"/>
            <p:nvPr/>
          </p:nvPicPr>
          <p:blipFill>
            <a:blip r:embed="rId4">
              <a:alphaModFix/>
            </a:blip>
            <a:srcRect t="56280" r="69082"/>
            <a:stretch>
              <a:fillRect/>
            </a:stretch>
          </p:blipFill>
          <p:spPr>
            <a:xfrm flipH="1">
              <a:off x="2148598" y="1437325"/>
              <a:ext cx="2171402" cy="14617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5" name="Google Shape;815;p72"/>
            <p:cNvSpPr txBox="1"/>
            <p:nvPr/>
          </p:nvSpPr>
          <p:spPr>
            <a:xfrm>
              <a:off x="2365700" y="1649025"/>
              <a:ext cx="18723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got 4, 2, 6, 6, 8, 10, 0, 0, 3, 5 with my arrows.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16" name="Google Shape;816;p72"/>
          <p:cNvGrpSpPr/>
          <p:nvPr/>
        </p:nvGrpSpPr>
        <p:grpSpPr>
          <a:xfrm>
            <a:off x="4515024" y="1185525"/>
            <a:ext cx="2647725" cy="2672372"/>
            <a:chOff x="4515024" y="1185525"/>
            <a:chExt cx="2647725" cy="2672372"/>
          </a:xfrm>
        </p:grpSpPr>
        <p:pic>
          <p:nvPicPr>
            <p:cNvPr id="817" name="Google Shape;817;p7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6634541" y="1926156"/>
              <a:ext cx="528208" cy="19317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8" name="Google Shape;818;p72"/>
            <p:cNvPicPr preferRelativeResize="0"/>
            <p:nvPr/>
          </p:nvPicPr>
          <p:blipFill>
            <a:blip r:embed="rId4">
              <a:alphaModFix/>
            </a:blip>
            <a:srcRect t="56280" r="70143"/>
            <a:stretch>
              <a:fillRect/>
            </a:stretch>
          </p:blipFill>
          <p:spPr>
            <a:xfrm>
              <a:off x="4515024" y="1185525"/>
              <a:ext cx="2064727" cy="1439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9" name="Google Shape;819;p72"/>
            <p:cNvSpPr txBox="1"/>
            <p:nvPr/>
          </p:nvSpPr>
          <p:spPr>
            <a:xfrm>
              <a:off x="4655925" y="1447988"/>
              <a:ext cx="18729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got 3, 5, 5, 6, 4, 3, 5, 2, 5, 4 with my arrows.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20" name="Google Shape;820;p72"/>
          <p:cNvSpPr txBox="1"/>
          <p:nvPr/>
        </p:nvSpPr>
        <p:spPr>
          <a:xfrm>
            <a:off x="476775" y="3922650"/>
            <a:ext cx="32001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Who was more consistent?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72"/>
          <p:cNvSpPr txBox="1"/>
          <p:nvPr/>
        </p:nvSpPr>
        <p:spPr>
          <a:xfrm>
            <a:off x="3937100" y="3893750"/>
            <a:ext cx="4161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Aisha was more consistent as her scores were less </a:t>
            </a:r>
            <a:r>
              <a:rPr lang="en-GB" sz="2000" b="1">
                <a:latin typeface="Kalam"/>
                <a:ea typeface="Kalam"/>
                <a:cs typeface="Kalam"/>
                <a:sym typeface="Kalam"/>
              </a:rPr>
              <a:t>spread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25" name="Shape 825"/>
        <p:cNvGrpSpPr/>
        <p:nvPr/>
      </p:nvGrpSpPr>
      <p:grpSpPr>
        <a:xfrm>
          <a:off x="0" y="0"/>
          <a:ext cx="0" cy="0"/>
        </a:xfrm>
      </p:grpSpPr>
      <p:sp>
        <p:nvSpPr>
          <p:cNvPr id="826" name="Google Shape;826;p73"/>
          <p:cNvSpPr txBox="1"/>
          <p:nvPr>
            <p:ph type="body" idx="1"/>
          </p:nvPr>
        </p:nvSpPr>
        <p:spPr>
          <a:xfrm>
            <a:off x="287880" y="759300"/>
            <a:ext cx="8237700" cy="396600"/>
          </a:xfrm>
          <a:prstGeom prst="rect">
            <a:avLst/>
          </a:prstGeom>
        </p:spPr>
        <p:txBody>
          <a:bodyPr spcFirstLastPara="1" wrap="square" lIns="90000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The </a:t>
            </a:r>
            <a:r>
              <a:rPr lang="en-GB" sz="2000" b="1"/>
              <a:t>range</a:t>
            </a:r>
            <a:r>
              <a:rPr lang="en-GB" sz="2000"/>
              <a:t> is a measure of how </a:t>
            </a:r>
            <a:r>
              <a:rPr lang="en-GB" sz="2000" b="1"/>
              <a:t>spread </a:t>
            </a:r>
            <a:r>
              <a:rPr lang="en-GB" sz="2000"/>
              <a:t>out,</a:t>
            </a:r>
            <a:r>
              <a:rPr lang="en-GB" sz="2000" b="1"/>
              <a:t> </a:t>
            </a:r>
            <a:r>
              <a:rPr lang="en-GB" sz="2000"/>
              <a:t>or </a:t>
            </a:r>
            <a:r>
              <a:rPr lang="en-GB" sz="2000" b="1"/>
              <a:t>dispersed</a:t>
            </a:r>
            <a:r>
              <a:rPr lang="en-GB" sz="2000"/>
              <a:t>, data is.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endParaRPr sz="1800"/>
          </a:p>
        </p:txBody>
      </p:sp>
      <p:sp>
        <p:nvSpPr>
          <p:cNvPr id="827" name="Google Shape;827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What is the range?</a:t>
            </a:r>
            <a:endParaRPr/>
          </a:p>
        </p:txBody>
      </p:sp>
      <p:pic>
        <p:nvPicPr>
          <p:cNvPr id="828" name="Google Shape;828;p73"/>
          <p:cNvPicPr preferRelativeResize="0"/>
          <p:nvPr/>
        </p:nvPicPr>
        <p:blipFill>
          <a:blip r:embed="rId3">
            <a:alphaModFix/>
          </a:blip>
          <a:srcRect l="2360" r="3980"/>
          <a:stretch>
            <a:fillRect/>
          </a:stretch>
        </p:blipFill>
        <p:spPr>
          <a:xfrm>
            <a:off x="361200" y="1994400"/>
            <a:ext cx="8278725" cy="995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9" name="Google Shape;829;p73"/>
          <p:cNvCxnSpPr/>
          <p:nvPr/>
        </p:nvCxnSpPr>
        <p:spPr>
          <a:xfrm>
            <a:off x="1184750" y="3050825"/>
            <a:ext cx="2506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stealth" w="med" len="med"/>
            <a:tailEnd type="stealth" w="med" len="med"/>
          </a:ln>
        </p:spPr>
      </p:cxnSp>
      <p:sp>
        <p:nvSpPr>
          <p:cNvPr id="830" name="Google Shape;830;p73"/>
          <p:cNvSpPr txBox="1"/>
          <p:nvPr/>
        </p:nvSpPr>
        <p:spPr>
          <a:xfrm>
            <a:off x="287880" y="1244976"/>
            <a:ext cx="8278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2000" b="1">
                <a:latin typeface="Lexend"/>
                <a:ea typeface="Lexend"/>
                <a:cs typeface="Lexend"/>
                <a:sym typeface="Lexend"/>
              </a:rPr>
              <a:t>range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is calculated using the two extreme values in the data set; the lowest and the highest.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3"/>
          <p:cNvSpPr txBox="1"/>
          <p:nvPr/>
        </p:nvSpPr>
        <p:spPr>
          <a:xfrm>
            <a:off x="287880" y="3347301"/>
            <a:ext cx="7737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dot plot </a:t>
            </a:r>
            <a:r>
              <a:rPr lang="en-GB" sz="2000" b="1"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is indicated by the arrow.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73"/>
          <p:cNvSpPr txBox="1"/>
          <p:nvPr/>
        </p:nvSpPr>
        <p:spPr>
          <a:xfrm>
            <a:off x="279005" y="3899625"/>
            <a:ext cx="7975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It’s length is the difference between 29 and 12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2000" b="1"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is 17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36" name="Shape 836"/>
        <p:cNvGrpSpPr/>
        <p:nvPr/>
      </p:nvGrpSpPr>
      <p:grpSpPr>
        <a:xfrm>
          <a:off x="0" y="0"/>
          <a:ext cx="0" cy="0"/>
        </a:xfrm>
      </p:grpSpPr>
      <p:sp>
        <p:nvSpPr>
          <p:cNvPr id="837" name="Google Shape;837;p74"/>
          <p:cNvSpPr txBox="1"/>
          <p:nvPr>
            <p:ph type="subTitle" idx="1"/>
          </p:nvPr>
        </p:nvSpPr>
        <p:spPr>
          <a:xfrm>
            <a:off x="337825" y="810000"/>
            <a:ext cx="39822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is the </a:t>
            </a:r>
            <a:r>
              <a:rPr lang="en-GB" sz="2000" b="1"/>
              <a:t>range </a:t>
            </a:r>
            <a:r>
              <a:rPr lang="en-GB" sz="2000"/>
              <a:t>of this data?</a:t>
            </a:r>
            <a:endParaRPr sz="2000"/>
          </a:p>
        </p:txBody>
      </p:sp>
      <p:sp>
        <p:nvSpPr>
          <p:cNvPr id="838" name="Google Shape;838;p7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What is the range?</a:t>
            </a:r>
            <a:endParaRPr/>
          </a:p>
        </p:txBody>
      </p:sp>
      <p:sp>
        <p:nvSpPr>
          <p:cNvPr id="839" name="Google Shape;839;p74"/>
          <p:cNvSpPr txBox="1"/>
          <p:nvPr>
            <p:ph type="subTitle" idx="2"/>
          </p:nvPr>
        </p:nvSpPr>
        <p:spPr>
          <a:xfrm>
            <a:off x="4824000" y="810000"/>
            <a:ext cx="3982200" cy="3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is the </a:t>
            </a:r>
            <a:r>
              <a:rPr lang="en-GB" sz="2000" b="1"/>
              <a:t>range </a:t>
            </a:r>
            <a:r>
              <a:rPr lang="en-GB" sz="2000"/>
              <a:t>of this data?</a:t>
            </a:r>
            <a:endParaRPr sz="2000"/>
          </a:p>
        </p:txBody>
      </p:sp>
      <p:sp>
        <p:nvSpPr>
          <p:cNvPr id="840" name="Google Shape;840;p74"/>
          <p:cNvSpPr txBox="1"/>
          <p:nvPr>
            <p:ph type="subTitle" idx="1"/>
          </p:nvPr>
        </p:nvSpPr>
        <p:spPr>
          <a:xfrm>
            <a:off x="324000" y="2160000"/>
            <a:ext cx="3982200" cy="94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The extreme values are 19 and 30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The </a:t>
            </a:r>
            <a:r>
              <a:rPr lang="en-GB" sz="2000" b="1"/>
              <a:t>range </a:t>
            </a:r>
            <a:r>
              <a:rPr lang="en-GB" sz="2000"/>
              <a:t>is 30 </a:t>
            </a:r>
            <a:r>
              <a:rPr lang="en-GB" sz="2000">
                <a:solidFill>
                  <a:srgbClr val="202124"/>
                </a:solidFill>
              </a:rPr>
              <a:t>−</a:t>
            </a:r>
            <a:r>
              <a:rPr lang="en-GB" sz="2000"/>
              <a:t> 19 = 11</a:t>
            </a:r>
            <a:endParaRPr sz="2000"/>
          </a:p>
        </p:txBody>
      </p:sp>
      <p:grpSp>
        <p:nvGrpSpPr>
          <p:cNvPr id="841" name="Google Shape;841;p74"/>
          <p:cNvGrpSpPr/>
          <p:nvPr/>
        </p:nvGrpSpPr>
        <p:grpSpPr>
          <a:xfrm>
            <a:off x="359500" y="1366650"/>
            <a:ext cx="3930175" cy="735873"/>
            <a:chOff x="359500" y="1366650"/>
            <a:chExt cx="3930175" cy="735873"/>
          </a:xfrm>
        </p:grpSpPr>
        <p:pic>
          <p:nvPicPr>
            <p:cNvPr id="842" name="Google Shape;842;p74"/>
            <p:cNvPicPr preferRelativeResize="0"/>
            <p:nvPr/>
          </p:nvPicPr>
          <p:blipFill>
            <a:blip r:embed="rId3">
              <a:alphaModFix/>
            </a:blip>
            <a:srcRect b="18712"/>
            <a:stretch>
              <a:fillRect/>
            </a:stretch>
          </p:blipFill>
          <p:spPr>
            <a:xfrm>
              <a:off x="359500" y="1366650"/>
              <a:ext cx="3930175" cy="439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3" name="Google Shape;843;p74"/>
            <p:cNvSpPr txBox="1"/>
            <p:nvPr/>
          </p:nvSpPr>
          <p:spPr>
            <a:xfrm>
              <a:off x="411776" y="17947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19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4" name="Google Shape;844;p74"/>
            <p:cNvSpPr txBox="1"/>
            <p:nvPr/>
          </p:nvSpPr>
          <p:spPr>
            <a:xfrm>
              <a:off x="723800" y="17947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20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5" name="Google Shape;845;p74"/>
            <p:cNvSpPr txBox="1"/>
            <p:nvPr/>
          </p:nvSpPr>
          <p:spPr>
            <a:xfrm>
              <a:off x="1076428" y="17947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21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6" name="Google Shape;846;p74"/>
            <p:cNvSpPr txBox="1"/>
            <p:nvPr/>
          </p:nvSpPr>
          <p:spPr>
            <a:xfrm>
              <a:off x="1397440" y="17947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7" name="Google Shape;847;p74"/>
            <p:cNvSpPr txBox="1"/>
            <p:nvPr/>
          </p:nvSpPr>
          <p:spPr>
            <a:xfrm>
              <a:off x="1718453" y="17947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23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8" name="Google Shape;848;p74"/>
            <p:cNvSpPr txBox="1"/>
            <p:nvPr/>
          </p:nvSpPr>
          <p:spPr>
            <a:xfrm>
              <a:off x="2035413" y="17947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24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9" name="Google Shape;849;p74"/>
            <p:cNvSpPr txBox="1"/>
            <p:nvPr/>
          </p:nvSpPr>
          <p:spPr>
            <a:xfrm>
              <a:off x="2383987" y="17947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25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0" name="Google Shape;850;p74"/>
            <p:cNvSpPr txBox="1"/>
            <p:nvPr/>
          </p:nvSpPr>
          <p:spPr>
            <a:xfrm>
              <a:off x="2705000" y="17947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26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1" name="Google Shape;851;p74"/>
            <p:cNvSpPr txBox="1"/>
            <p:nvPr/>
          </p:nvSpPr>
          <p:spPr>
            <a:xfrm>
              <a:off x="3026013" y="17947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27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2" name="Google Shape;852;p74"/>
            <p:cNvSpPr txBox="1"/>
            <p:nvPr/>
          </p:nvSpPr>
          <p:spPr>
            <a:xfrm>
              <a:off x="3366481" y="17947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28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3" name="Google Shape;853;p74"/>
            <p:cNvSpPr txBox="1"/>
            <p:nvPr/>
          </p:nvSpPr>
          <p:spPr>
            <a:xfrm>
              <a:off x="3695600" y="17947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29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4" name="Google Shape;854;p74"/>
            <p:cNvSpPr txBox="1"/>
            <p:nvPr/>
          </p:nvSpPr>
          <p:spPr>
            <a:xfrm>
              <a:off x="4012560" y="17947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30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55" name="Google Shape;855;p74"/>
          <p:cNvGrpSpPr/>
          <p:nvPr/>
        </p:nvGrpSpPr>
        <p:grpSpPr>
          <a:xfrm>
            <a:off x="4999075" y="1217250"/>
            <a:ext cx="3727376" cy="797140"/>
            <a:chOff x="4999075" y="1217250"/>
            <a:chExt cx="3727376" cy="797140"/>
          </a:xfrm>
        </p:grpSpPr>
        <p:pic>
          <p:nvPicPr>
            <p:cNvPr id="856" name="Google Shape;856;p7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999075" y="1217250"/>
              <a:ext cx="3727376" cy="698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7" name="Google Shape;857;p74"/>
            <p:cNvSpPr txBox="1"/>
            <p:nvPr/>
          </p:nvSpPr>
          <p:spPr>
            <a:xfrm>
              <a:off x="5101094" y="1706590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23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8" name="Google Shape;858;p74"/>
            <p:cNvSpPr txBox="1"/>
            <p:nvPr/>
          </p:nvSpPr>
          <p:spPr>
            <a:xfrm>
              <a:off x="5463786" y="1706590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24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9" name="Google Shape;859;p74"/>
            <p:cNvSpPr txBox="1"/>
            <p:nvPr/>
          </p:nvSpPr>
          <p:spPr>
            <a:xfrm>
              <a:off x="5826477" y="1706590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25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0" name="Google Shape;860;p74"/>
            <p:cNvSpPr txBox="1"/>
            <p:nvPr/>
          </p:nvSpPr>
          <p:spPr>
            <a:xfrm>
              <a:off x="6189169" y="1706590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26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1" name="Google Shape;861;p74"/>
            <p:cNvSpPr txBox="1"/>
            <p:nvPr/>
          </p:nvSpPr>
          <p:spPr>
            <a:xfrm>
              <a:off x="6551860" y="1706590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27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2" name="Google Shape;862;p74"/>
            <p:cNvSpPr txBox="1"/>
            <p:nvPr/>
          </p:nvSpPr>
          <p:spPr>
            <a:xfrm>
              <a:off x="6914552" y="1706590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28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3" name="Google Shape;863;p74"/>
            <p:cNvSpPr txBox="1"/>
            <p:nvPr/>
          </p:nvSpPr>
          <p:spPr>
            <a:xfrm>
              <a:off x="7277243" y="1706590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29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4" name="Google Shape;864;p74"/>
            <p:cNvSpPr txBox="1"/>
            <p:nvPr/>
          </p:nvSpPr>
          <p:spPr>
            <a:xfrm>
              <a:off x="7639935" y="1706590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30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5" name="Google Shape;865;p74"/>
            <p:cNvSpPr txBox="1"/>
            <p:nvPr/>
          </p:nvSpPr>
          <p:spPr>
            <a:xfrm>
              <a:off x="8002626" y="1706590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31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6" name="Google Shape;866;p74"/>
            <p:cNvSpPr txBox="1"/>
            <p:nvPr/>
          </p:nvSpPr>
          <p:spPr>
            <a:xfrm>
              <a:off x="8365318" y="1706590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32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67" name="Google Shape;867;p74"/>
          <p:cNvSpPr txBox="1"/>
          <p:nvPr/>
        </p:nvSpPr>
        <p:spPr>
          <a:xfrm>
            <a:off x="4734600" y="2241725"/>
            <a:ext cx="4161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extreme values are 23 and 32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sz="2000" b="1">
                <a:latin typeface="Kalam"/>
                <a:ea typeface="Kalam"/>
                <a:cs typeface="Kalam"/>
                <a:sym typeface="Kalam"/>
              </a:rPr>
              <a:t>range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is 32 </a:t>
            </a:r>
            <a:r>
              <a:rPr lang="en-GB" sz="2000">
                <a:solidFill>
                  <a:srgbClr val="202124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23 = 9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71" name="Shape 871"/>
        <p:cNvGrpSpPr/>
        <p:nvPr/>
      </p:nvGrpSpPr>
      <p:grpSpPr>
        <a:xfrm>
          <a:off x="0" y="0"/>
          <a:ext cx="0" cy="0"/>
        </a:xfrm>
      </p:grpSpPr>
      <p:sp>
        <p:nvSpPr>
          <p:cNvPr id="872" name="Google Shape;872;p75"/>
          <p:cNvSpPr txBox="1"/>
          <p:nvPr>
            <p:ph type="body" idx="1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Here is a golf scorecard. </a:t>
            </a:r>
            <a:endParaRPr/>
          </a:p>
        </p:txBody>
      </p:sp>
      <p:sp>
        <p:nvSpPr>
          <p:cNvPr id="873" name="Google Shape;873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What is the range?</a:t>
            </a:r>
            <a:endParaRPr/>
          </a:p>
        </p:txBody>
      </p:sp>
      <p:graphicFrame>
        <p:nvGraphicFramePr>
          <p:cNvPr id="874" name="Google Shape;874;p75"/>
          <p:cNvGraphicFramePr>
            <a:graphicFrameLocks noGrp="1"/>
          </p:cNvGraphicFramePr>
          <p:nvPr/>
        </p:nvGraphicFramePr>
        <p:xfrm>
          <a:off x="1212138" y="133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{18BC4710-33F2-46C0-9526-A7E3CD8BD6A4}</a:tableStyleId>
              </a:tblPr>
              <a:tblGrid>
                <a:gridCol w="1027200"/>
                <a:gridCol w="316250"/>
                <a:gridCol w="316250"/>
                <a:gridCol w="316250"/>
                <a:gridCol w="316250"/>
                <a:gridCol w="316250"/>
                <a:gridCol w="316250"/>
                <a:gridCol w="316250"/>
                <a:gridCol w="316250"/>
                <a:gridCol w="316250"/>
                <a:gridCol w="316250"/>
                <a:gridCol w="316250"/>
                <a:gridCol w="316250"/>
                <a:gridCol w="316250"/>
                <a:gridCol w="316250"/>
                <a:gridCol w="316250"/>
                <a:gridCol w="316250"/>
                <a:gridCol w="316250"/>
                <a:gridCol w="316250"/>
              </a:tblGrid>
              <a:tr h="2257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Hole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54000" marB="54000"/>
                </a:tc>
              </a:tr>
              <a:tr h="3877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Score (+/</a:t>
                      </a:r>
                      <a:r>
                        <a:rPr lang="en-GB" sz="1800">
                          <a:solidFill>
                            <a:srgbClr val="202124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par)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54000" marB="54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54000" marB="54000"/>
                </a:tc>
              </a:tr>
            </a:tbl>
          </a:graphicData>
        </a:graphic>
      </p:graphicFrame>
      <p:sp>
        <p:nvSpPr>
          <p:cNvPr id="875" name="Google Shape;875;p75"/>
          <p:cNvSpPr txBox="1"/>
          <p:nvPr>
            <p:ph type="body" idx="1"/>
          </p:nvPr>
        </p:nvSpPr>
        <p:spPr>
          <a:xfrm>
            <a:off x="324000" y="2539650"/>
            <a:ext cx="849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golfer scores from 2 under par to 2 over par.</a:t>
            </a:r>
            <a:br>
              <a:rPr lang="en-GB"/>
            </a:br>
            <a:r>
              <a:rPr lang="en-GB"/>
              <a:t>They have a </a:t>
            </a:r>
            <a:r>
              <a:rPr lang="en-GB" b="1"/>
              <a:t>range </a:t>
            </a:r>
            <a:r>
              <a:rPr lang="en-GB"/>
              <a:t>of 4 			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2 − (</a:t>
            </a:r>
            <a:r>
              <a:rPr lang="en-GB">
                <a:solidFill>
                  <a:srgbClr val="202124"/>
                </a:solidFill>
                <a:highlight>
                  <a:srgbClr val="FFFFFF"/>
                </a:highlight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2) = 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79" name="Shape 879"/>
        <p:cNvGrpSpPr/>
        <p:nvPr/>
      </p:nvGrpSpPr>
      <p:grpSpPr>
        <a:xfrm>
          <a:off x="0" y="0"/>
          <a:ext cx="0" cy="0"/>
        </a:xfrm>
      </p:grpSpPr>
      <p:sp>
        <p:nvSpPr>
          <p:cNvPr id="880" name="Google Shape;880;p76"/>
          <p:cNvSpPr txBox="1"/>
          <p:nvPr/>
        </p:nvSpPr>
        <p:spPr>
          <a:xfrm>
            <a:off x="1758900" y="3818989"/>
            <a:ext cx="857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°C</a:t>
            </a:r>
            <a:endParaRPr/>
          </a:p>
        </p:txBody>
      </p:sp>
      <p:sp>
        <p:nvSpPr>
          <p:cNvPr id="881" name="Google Shape;881;p76"/>
          <p:cNvSpPr txBox="1"/>
          <p:nvPr>
            <p:ph type="body" idx="1"/>
          </p:nvPr>
        </p:nvSpPr>
        <p:spPr>
          <a:xfrm>
            <a:off x="324000" y="759300"/>
            <a:ext cx="8237700" cy="205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air temperature is recorded throughout an autumn day.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The </a:t>
            </a:r>
            <a:r>
              <a:rPr lang="en-GB" b="1"/>
              <a:t>range</a:t>
            </a:r>
            <a:r>
              <a:rPr lang="en-GB"/>
              <a:t> of the temperatures is 9°C.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The hottest temperature recorded was 16°C.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was the coldest temperature recorded?</a:t>
            </a:r>
            <a:endParaRPr/>
          </a:p>
        </p:txBody>
      </p:sp>
      <p:sp>
        <p:nvSpPr>
          <p:cNvPr id="882" name="Google Shape;882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What is the range?</a:t>
            </a:r>
            <a:endParaRPr/>
          </a:p>
        </p:txBody>
      </p:sp>
      <p:cxnSp>
        <p:nvCxnSpPr>
          <p:cNvPr id="883" name="Google Shape;883;p76"/>
          <p:cNvCxnSpPr/>
          <p:nvPr/>
        </p:nvCxnSpPr>
        <p:spPr>
          <a:xfrm flipH="1">
            <a:off x="6256811" y="3721858"/>
            <a:ext cx="0" cy="202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4" name="Google Shape;884;p76"/>
          <p:cNvSpPr txBox="1"/>
          <p:nvPr/>
        </p:nvSpPr>
        <p:spPr>
          <a:xfrm>
            <a:off x="5963625" y="3819625"/>
            <a:ext cx="857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16°C</a:t>
            </a:r>
            <a:endParaRPr/>
          </a:p>
        </p:txBody>
      </p:sp>
      <p:cxnSp>
        <p:nvCxnSpPr>
          <p:cNvPr id="885" name="Google Shape;885;p76"/>
          <p:cNvCxnSpPr/>
          <p:nvPr/>
        </p:nvCxnSpPr>
        <p:spPr>
          <a:xfrm>
            <a:off x="2010829" y="3502125"/>
            <a:ext cx="42717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886" name="Google Shape;886;p76"/>
          <p:cNvSpPr txBox="1"/>
          <p:nvPr/>
        </p:nvSpPr>
        <p:spPr>
          <a:xfrm>
            <a:off x="3789975" y="3052963"/>
            <a:ext cx="713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9°C</a:t>
            </a:r>
            <a:endParaRPr/>
          </a:p>
        </p:txBody>
      </p:sp>
      <p:sp>
        <p:nvSpPr>
          <p:cNvPr id="887" name="Google Shape;887;p76"/>
          <p:cNvSpPr txBox="1"/>
          <p:nvPr/>
        </p:nvSpPr>
        <p:spPr>
          <a:xfrm>
            <a:off x="5833200" y="2924975"/>
            <a:ext cx="1056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hottest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8" name="Google Shape;888;p76"/>
          <p:cNvSpPr txBox="1"/>
          <p:nvPr/>
        </p:nvSpPr>
        <p:spPr>
          <a:xfrm>
            <a:off x="1541250" y="2924975"/>
            <a:ext cx="1110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coldest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9" name="Google Shape;889;p76"/>
          <p:cNvSpPr txBox="1"/>
          <p:nvPr/>
        </p:nvSpPr>
        <p:spPr>
          <a:xfrm>
            <a:off x="1747950" y="3819625"/>
            <a:ext cx="857700" cy="52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 °C</a:t>
            </a:r>
            <a:endParaRPr/>
          </a:p>
        </p:txBody>
      </p:sp>
      <p:cxnSp>
        <p:nvCxnSpPr>
          <p:cNvPr id="890" name="Google Shape;890;p76"/>
          <p:cNvCxnSpPr/>
          <p:nvPr/>
        </p:nvCxnSpPr>
        <p:spPr>
          <a:xfrm flipH="1">
            <a:off x="2049311" y="3721858"/>
            <a:ext cx="0" cy="202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1" name="Google Shape;891;p76"/>
          <p:cNvCxnSpPr/>
          <p:nvPr/>
        </p:nvCxnSpPr>
        <p:spPr>
          <a:xfrm>
            <a:off x="865900" y="3819625"/>
            <a:ext cx="68889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95" name="Shape 895"/>
        <p:cNvGrpSpPr/>
        <p:nvPr/>
      </p:nvGrpSpPr>
      <p:grpSpPr>
        <a:xfrm>
          <a:off x="0" y="0"/>
          <a:ext cx="0" cy="0"/>
        </a:xfrm>
      </p:grpSpPr>
      <p:sp>
        <p:nvSpPr>
          <p:cNvPr id="896" name="Google Shape;896;p7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Over the course of a month, the temperature is recorded at midday.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The lowest recorded temperature is </a:t>
            </a:r>
            <a:r>
              <a:rPr lang="en-GB">
                <a:solidFill>
                  <a:srgbClr val="202124"/>
                </a:solidFill>
              </a:rPr>
              <a:t>−</a:t>
            </a:r>
            <a:r>
              <a:rPr lang="en-GB"/>
              <a:t>4°C and the </a:t>
            </a:r>
            <a:r>
              <a:rPr lang="en-GB" b="1"/>
              <a:t>range</a:t>
            </a:r>
            <a:r>
              <a:rPr lang="en-GB"/>
              <a:t> is 22°C.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was the highest recorded temperature that month?</a:t>
            </a:r>
            <a:endParaRPr/>
          </a:p>
        </p:txBody>
      </p:sp>
      <p:sp>
        <p:nvSpPr>
          <p:cNvPr id="897" name="Google Shape;897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What is the range?</a:t>
            </a:r>
            <a:endParaRPr/>
          </a:p>
        </p:txBody>
      </p:sp>
      <p:sp>
        <p:nvSpPr>
          <p:cNvPr id="898" name="Google Shape;898;p77"/>
          <p:cNvSpPr txBox="1"/>
          <p:nvPr/>
        </p:nvSpPr>
        <p:spPr>
          <a:xfrm>
            <a:off x="342125" y="3333750"/>
            <a:ext cx="827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18°C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02" name="Shape 902"/>
        <p:cNvGrpSpPr/>
        <p:nvPr/>
      </p:nvGrpSpPr>
      <p:grpSpPr>
        <a:xfrm>
          <a:off x="0" y="0"/>
          <a:ext cx="0" cy="0"/>
        </a:xfrm>
      </p:grpSpPr>
      <p:sp>
        <p:nvSpPr>
          <p:cNvPr id="903" name="Google Shape;903;p78"/>
          <p:cNvSpPr txBox="1"/>
          <p:nvPr>
            <p:ph type="body" idx="1"/>
          </p:nvPr>
        </p:nvSpPr>
        <p:spPr>
          <a:xfrm>
            <a:off x="324000" y="759300"/>
            <a:ext cx="8237700" cy="95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1) For each dot plot, work out the </a:t>
            </a:r>
            <a:r>
              <a:rPr lang="en-GB" b="1"/>
              <a:t>range</a:t>
            </a:r>
            <a:r>
              <a:rPr lang="en-GB"/>
              <a:t>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a) </a:t>
            </a:r>
            <a:endParaRPr/>
          </a:p>
        </p:txBody>
      </p:sp>
      <p:sp>
        <p:nvSpPr>
          <p:cNvPr id="904" name="Google Shape;904;p78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What is the range?</a:t>
            </a:r>
            <a:endParaRPr/>
          </a:p>
        </p:txBody>
      </p:sp>
      <p:grpSp>
        <p:nvGrpSpPr>
          <p:cNvPr id="905" name="Google Shape;905;p78"/>
          <p:cNvGrpSpPr/>
          <p:nvPr/>
        </p:nvGrpSpPr>
        <p:grpSpPr>
          <a:xfrm>
            <a:off x="831100" y="1156375"/>
            <a:ext cx="5425702" cy="1708148"/>
            <a:chOff x="831100" y="1308775"/>
            <a:chExt cx="5425702" cy="1708148"/>
          </a:xfrm>
        </p:grpSpPr>
        <p:pic>
          <p:nvPicPr>
            <p:cNvPr id="906" name="Google Shape;906;p78"/>
            <p:cNvPicPr preferRelativeResize="0"/>
            <p:nvPr/>
          </p:nvPicPr>
          <p:blipFill>
            <a:blip r:embed="rId3">
              <a:alphaModFix/>
            </a:blip>
            <a:srcRect b="7885"/>
            <a:stretch>
              <a:fillRect/>
            </a:stretch>
          </p:blipFill>
          <p:spPr>
            <a:xfrm>
              <a:off x="831100" y="1308775"/>
              <a:ext cx="5425702" cy="1391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7" name="Google Shape;907;p78"/>
            <p:cNvSpPr txBox="1"/>
            <p:nvPr/>
          </p:nvSpPr>
          <p:spPr>
            <a:xfrm>
              <a:off x="838485" y="27091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20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8" name="Google Shape;908;p78"/>
            <p:cNvSpPr txBox="1"/>
            <p:nvPr/>
          </p:nvSpPr>
          <p:spPr>
            <a:xfrm>
              <a:off x="1208599" y="27091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21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9" name="Google Shape;909;p78"/>
            <p:cNvSpPr txBox="1"/>
            <p:nvPr/>
          </p:nvSpPr>
          <p:spPr>
            <a:xfrm>
              <a:off x="1578713" y="27091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0" name="Google Shape;910;p78"/>
            <p:cNvSpPr txBox="1"/>
            <p:nvPr/>
          </p:nvSpPr>
          <p:spPr>
            <a:xfrm>
              <a:off x="1948828" y="27091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23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1" name="Google Shape;911;p78"/>
            <p:cNvSpPr txBox="1"/>
            <p:nvPr/>
          </p:nvSpPr>
          <p:spPr>
            <a:xfrm>
              <a:off x="2318942" y="27091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24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2" name="Google Shape;912;p78"/>
            <p:cNvSpPr txBox="1"/>
            <p:nvPr/>
          </p:nvSpPr>
          <p:spPr>
            <a:xfrm>
              <a:off x="2689056" y="27091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25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3" name="Google Shape;913;p78"/>
            <p:cNvSpPr txBox="1"/>
            <p:nvPr/>
          </p:nvSpPr>
          <p:spPr>
            <a:xfrm>
              <a:off x="3059171" y="27091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26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4" name="Google Shape;914;p78"/>
            <p:cNvSpPr txBox="1"/>
            <p:nvPr/>
          </p:nvSpPr>
          <p:spPr>
            <a:xfrm>
              <a:off x="3429285" y="27091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27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5" name="Google Shape;915;p78"/>
            <p:cNvSpPr txBox="1"/>
            <p:nvPr/>
          </p:nvSpPr>
          <p:spPr>
            <a:xfrm>
              <a:off x="3799399" y="27091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28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6" name="Google Shape;916;p78"/>
            <p:cNvSpPr txBox="1"/>
            <p:nvPr/>
          </p:nvSpPr>
          <p:spPr>
            <a:xfrm>
              <a:off x="4169513" y="27091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29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7" name="Google Shape;917;p78"/>
            <p:cNvSpPr txBox="1"/>
            <p:nvPr/>
          </p:nvSpPr>
          <p:spPr>
            <a:xfrm>
              <a:off x="4539628" y="27091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30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8" name="Google Shape;918;p78"/>
            <p:cNvSpPr txBox="1"/>
            <p:nvPr/>
          </p:nvSpPr>
          <p:spPr>
            <a:xfrm>
              <a:off x="4909742" y="27091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31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9" name="Google Shape;919;p78"/>
            <p:cNvSpPr txBox="1"/>
            <p:nvPr/>
          </p:nvSpPr>
          <p:spPr>
            <a:xfrm>
              <a:off x="5279856" y="27091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32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0" name="Google Shape;920;p78"/>
            <p:cNvSpPr txBox="1"/>
            <p:nvPr/>
          </p:nvSpPr>
          <p:spPr>
            <a:xfrm>
              <a:off x="5649971" y="27091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33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1" name="Google Shape;921;p78"/>
            <p:cNvSpPr txBox="1"/>
            <p:nvPr/>
          </p:nvSpPr>
          <p:spPr>
            <a:xfrm>
              <a:off x="6020085" y="27091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34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22" name="Google Shape;922;p78"/>
          <p:cNvSpPr txBox="1"/>
          <p:nvPr/>
        </p:nvSpPr>
        <p:spPr>
          <a:xfrm>
            <a:off x="240525" y="2928050"/>
            <a:ext cx="590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23" name="Google Shape;923;p78"/>
          <p:cNvGrpSpPr/>
          <p:nvPr/>
        </p:nvGrpSpPr>
        <p:grpSpPr>
          <a:xfrm>
            <a:off x="745375" y="2987650"/>
            <a:ext cx="6188125" cy="1400873"/>
            <a:chOff x="745375" y="2987650"/>
            <a:chExt cx="6188125" cy="1400873"/>
          </a:xfrm>
        </p:grpSpPr>
        <p:pic>
          <p:nvPicPr>
            <p:cNvPr id="924" name="Google Shape;924;p78"/>
            <p:cNvPicPr preferRelativeResize="0"/>
            <p:nvPr/>
          </p:nvPicPr>
          <p:blipFill>
            <a:blip r:embed="rId4">
              <a:alphaModFix/>
            </a:blip>
            <a:srcRect b="14236"/>
            <a:stretch>
              <a:fillRect/>
            </a:stretch>
          </p:blipFill>
          <p:spPr>
            <a:xfrm>
              <a:off x="745375" y="2987650"/>
              <a:ext cx="6188125" cy="11013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25" name="Google Shape;925;p78"/>
            <p:cNvGrpSpPr/>
            <p:nvPr/>
          </p:nvGrpSpPr>
          <p:grpSpPr>
            <a:xfrm>
              <a:off x="838485" y="4080723"/>
              <a:ext cx="6042825" cy="307800"/>
              <a:chOff x="838485" y="2709123"/>
              <a:chExt cx="6042825" cy="307800"/>
            </a:xfrm>
          </p:grpSpPr>
          <p:sp>
            <p:nvSpPr>
              <p:cNvPr id="926" name="Google Shape;926;p78"/>
              <p:cNvSpPr txBox="1"/>
              <p:nvPr/>
            </p:nvSpPr>
            <p:spPr>
              <a:xfrm>
                <a:off x="838485" y="2709123"/>
                <a:ext cx="2166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58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27" name="Google Shape;927;p78"/>
              <p:cNvSpPr txBox="1"/>
              <p:nvPr/>
            </p:nvSpPr>
            <p:spPr>
              <a:xfrm>
                <a:off x="1254644" y="2709123"/>
                <a:ext cx="2166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59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28" name="Google Shape;928;p78"/>
              <p:cNvSpPr txBox="1"/>
              <p:nvPr/>
            </p:nvSpPr>
            <p:spPr>
              <a:xfrm>
                <a:off x="1670803" y="2709123"/>
                <a:ext cx="2166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60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29" name="Google Shape;929;p78"/>
              <p:cNvSpPr txBox="1"/>
              <p:nvPr/>
            </p:nvSpPr>
            <p:spPr>
              <a:xfrm>
                <a:off x="2086962" y="2709123"/>
                <a:ext cx="2166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61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30" name="Google Shape;930;p78"/>
              <p:cNvSpPr txBox="1"/>
              <p:nvPr/>
            </p:nvSpPr>
            <p:spPr>
              <a:xfrm>
                <a:off x="2503121" y="2709123"/>
                <a:ext cx="2166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62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31" name="Google Shape;931;p78"/>
              <p:cNvSpPr txBox="1"/>
              <p:nvPr/>
            </p:nvSpPr>
            <p:spPr>
              <a:xfrm>
                <a:off x="2919279" y="2709123"/>
                <a:ext cx="2166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63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32" name="Google Shape;932;p78"/>
              <p:cNvSpPr txBox="1"/>
              <p:nvPr/>
            </p:nvSpPr>
            <p:spPr>
              <a:xfrm>
                <a:off x="3335438" y="2709123"/>
                <a:ext cx="2166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64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33" name="Google Shape;933;p78"/>
              <p:cNvSpPr txBox="1"/>
              <p:nvPr/>
            </p:nvSpPr>
            <p:spPr>
              <a:xfrm>
                <a:off x="3751597" y="2709123"/>
                <a:ext cx="2166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65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34" name="Google Shape;934;p78"/>
              <p:cNvSpPr txBox="1"/>
              <p:nvPr/>
            </p:nvSpPr>
            <p:spPr>
              <a:xfrm>
                <a:off x="4167756" y="2709123"/>
                <a:ext cx="2166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66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35" name="Google Shape;935;p78"/>
              <p:cNvSpPr txBox="1"/>
              <p:nvPr/>
            </p:nvSpPr>
            <p:spPr>
              <a:xfrm>
                <a:off x="4583915" y="2709123"/>
                <a:ext cx="2166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67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36" name="Google Shape;936;p78"/>
              <p:cNvSpPr txBox="1"/>
              <p:nvPr/>
            </p:nvSpPr>
            <p:spPr>
              <a:xfrm>
                <a:off x="5000074" y="2709123"/>
                <a:ext cx="2166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68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37" name="Google Shape;937;p78"/>
              <p:cNvSpPr txBox="1"/>
              <p:nvPr/>
            </p:nvSpPr>
            <p:spPr>
              <a:xfrm>
                <a:off x="5416233" y="2709123"/>
                <a:ext cx="2166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69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38" name="Google Shape;938;p78"/>
              <p:cNvSpPr txBox="1"/>
              <p:nvPr/>
            </p:nvSpPr>
            <p:spPr>
              <a:xfrm>
                <a:off x="5832392" y="2709123"/>
                <a:ext cx="2166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70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39" name="Google Shape;939;p78"/>
              <p:cNvSpPr txBox="1"/>
              <p:nvPr/>
            </p:nvSpPr>
            <p:spPr>
              <a:xfrm>
                <a:off x="6248551" y="2709123"/>
                <a:ext cx="2166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71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40" name="Google Shape;940;p78"/>
              <p:cNvSpPr txBox="1"/>
              <p:nvPr/>
            </p:nvSpPr>
            <p:spPr>
              <a:xfrm>
                <a:off x="6664710" y="2709123"/>
                <a:ext cx="2166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72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</p:spTree>
  </p:cSld>
  <p:clrMapOvr>
    <a:masterClrMapping/>
  </p:clrMapOvr>
  <p:transition/>
  <p:timing/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44" name="Shape 944"/>
        <p:cNvGrpSpPr/>
        <p:nvPr/>
      </p:nvGrpSpPr>
      <p:grpSpPr>
        <a:xfrm>
          <a:off x="0" y="0"/>
          <a:ext cx="0" cy="0"/>
        </a:xfrm>
      </p:grpSpPr>
      <p:sp>
        <p:nvSpPr>
          <p:cNvPr id="945" name="Google Shape;945;p79"/>
          <p:cNvSpPr txBox="1"/>
          <p:nvPr>
            <p:ph type="body" idx="1"/>
          </p:nvPr>
        </p:nvSpPr>
        <p:spPr>
          <a:xfrm>
            <a:off x="324000" y="759300"/>
            <a:ext cx="8496000" cy="293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2) For each set of data, work out the </a:t>
            </a:r>
            <a:r>
              <a:rPr lang="en-GB" b="1"/>
              <a:t>range</a:t>
            </a:r>
            <a:r>
              <a:rPr lang="en-GB"/>
              <a:t>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a) -1, 0,	 1, 1, 1, 2, 4, 5, 7, 7, 8, 8, 8, 10, 10, 10, 14, 17, 17, 20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b) -7, 6, 6, -3, -9, -9, -5, 6, -1, 6, 5, -6, -8, -4, -4, -3, 4, -6, 2, 6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c)  16.2, 15.3, 1.1, 19.4, 13.7, 6.7, 4.7, 12.1, 16.3, 9.4, 8.4, 18.2, 11.9, 1.6, 17.8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946" name="Google Shape;946;p79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What is the range?</a:t>
            </a:r>
            <a:endParaRPr/>
          </a:p>
        </p:txBody>
      </p:sp>
      <p:sp>
        <p:nvSpPr>
          <p:cNvPr id="947" name="Google Shape;947;p79"/>
          <p:cNvSpPr txBox="1"/>
          <p:nvPr/>
        </p:nvSpPr>
        <p:spPr>
          <a:xfrm>
            <a:off x="244667" y="1863633"/>
            <a:ext cx="8052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51" name="Shape 951"/>
        <p:cNvGrpSpPr/>
        <p:nvPr/>
      </p:nvGrpSpPr>
      <p:grpSpPr>
        <a:xfrm>
          <a:off x="0" y="0"/>
          <a:ext cx="0" cy="0"/>
        </a:xfrm>
      </p:grpSpPr>
      <p:sp>
        <p:nvSpPr>
          <p:cNvPr id="952" name="Google Shape;952;p80"/>
          <p:cNvSpPr txBox="1"/>
          <p:nvPr>
            <p:ph type="body" idx="1"/>
          </p:nvPr>
        </p:nvSpPr>
        <p:spPr>
          <a:xfrm>
            <a:off x="324000" y="759300"/>
            <a:ext cx="359100" cy="37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3)                     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953" name="Google Shape;953;p8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What is the range?</a:t>
            </a:r>
            <a:endParaRPr/>
          </a:p>
        </p:txBody>
      </p:sp>
      <p:pic>
        <p:nvPicPr>
          <p:cNvPr id="954" name="Google Shape;954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351" y="809651"/>
            <a:ext cx="564168" cy="738901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80"/>
          <p:cNvSpPr txBox="1"/>
          <p:nvPr/>
        </p:nvSpPr>
        <p:spPr>
          <a:xfrm>
            <a:off x="1452800" y="788950"/>
            <a:ext cx="73218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Laura had just finished her homework on working out the </a:t>
            </a: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when her ink pen started to leak. What values has the ink spoiled?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6" name="Google Shape;956;p80"/>
          <p:cNvSpPr txBox="1"/>
          <p:nvPr/>
        </p:nvSpPr>
        <p:spPr>
          <a:xfrm>
            <a:off x="324000" y="2110050"/>
            <a:ext cx="8450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Largest number is              , smallest number is 14 so the </a:t>
            </a: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10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57" name="Google Shape;957;p80"/>
          <p:cNvPicPr preferRelativeResize="0"/>
          <p:nvPr/>
        </p:nvPicPr>
        <p:blipFill>
          <a:blip r:embed="rId4">
            <a:alphaModFix/>
          </a:blip>
          <a:srcRect l="21789" t="44261" r="69611"/>
          <a:stretch>
            <a:fillRect/>
          </a:stretch>
        </p:blipFill>
        <p:spPr>
          <a:xfrm>
            <a:off x="2819075" y="2055138"/>
            <a:ext cx="760073" cy="5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80"/>
          <p:cNvSpPr txBox="1"/>
          <p:nvPr/>
        </p:nvSpPr>
        <p:spPr>
          <a:xfrm>
            <a:off x="346650" y="2754900"/>
            <a:ext cx="8450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Largest number is 8, smallest number is               so the</a:t>
            </a: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 range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12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59" name="Google Shape;959;p80"/>
          <p:cNvPicPr preferRelativeResize="0"/>
          <p:nvPr/>
        </p:nvPicPr>
        <p:blipFill>
          <a:blip r:embed="rId4">
            <a:alphaModFix/>
          </a:blip>
          <a:srcRect l="21789" t="44261" r="69611"/>
          <a:stretch>
            <a:fillRect/>
          </a:stretch>
        </p:blipFill>
        <p:spPr>
          <a:xfrm>
            <a:off x="5198900" y="2699988"/>
            <a:ext cx="760073" cy="5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960" name="Google Shape;960;p80"/>
          <p:cNvSpPr txBox="1"/>
          <p:nvPr/>
        </p:nvSpPr>
        <p:spPr>
          <a:xfrm>
            <a:off x="346650" y="3454688"/>
            <a:ext cx="8450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 In order: </a:t>
            </a:r>
            <a:r>
              <a:rPr lang="en-GB" sz="18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3, </a:t>
            </a:r>
            <a:r>
              <a:rPr lang="en-GB" sz="18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1, </a:t>
            </a:r>
            <a:r>
              <a:rPr lang="en-GB" sz="18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1, 0,             , 6, 7, 10   so the </a:t>
            </a: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13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61" name="Google Shape;961;p80"/>
          <p:cNvPicPr preferRelativeResize="0"/>
          <p:nvPr/>
        </p:nvPicPr>
        <p:blipFill>
          <a:blip r:embed="rId4">
            <a:alphaModFix/>
          </a:blip>
          <a:srcRect l="21789" t="44261" r="69611"/>
          <a:stretch>
            <a:fillRect/>
          </a:stretch>
        </p:blipFill>
        <p:spPr>
          <a:xfrm>
            <a:off x="4169313" y="4034238"/>
            <a:ext cx="760073" cy="5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80"/>
          <p:cNvSpPr txBox="1"/>
          <p:nvPr/>
        </p:nvSpPr>
        <p:spPr>
          <a:xfrm>
            <a:off x="369300" y="4083663"/>
            <a:ext cx="8450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 Any order: 3, 5, 3, 7, 10, 12, 6, 8,               so the </a:t>
            </a: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11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63" name="Google Shape;963;p80"/>
          <p:cNvPicPr preferRelativeResize="0"/>
          <p:nvPr/>
        </p:nvPicPr>
        <p:blipFill>
          <a:blip r:embed="rId4">
            <a:alphaModFix/>
          </a:blip>
          <a:srcRect l="21789" t="44261" r="69611"/>
          <a:stretch>
            <a:fillRect/>
          </a:stretch>
        </p:blipFill>
        <p:spPr>
          <a:xfrm>
            <a:off x="3141962" y="3435445"/>
            <a:ext cx="760073" cy="5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67" name="Shape 967"/>
        <p:cNvGrpSpPr/>
        <p:nvPr/>
      </p:nvGrpSpPr>
      <p:grpSpPr>
        <a:xfrm>
          <a:off x="0" y="0"/>
          <a:ext cx="0" cy="0"/>
        </a:xfrm>
      </p:grpSpPr>
      <p:sp>
        <p:nvSpPr>
          <p:cNvPr id="968" name="Google Shape;968;p8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1) For each dot plot, work out the </a:t>
            </a:r>
            <a:r>
              <a:rPr lang="en-GB" b="1"/>
              <a:t>range</a:t>
            </a:r>
            <a:r>
              <a:rPr lang="en-GB"/>
              <a:t>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969" name="Google Shape;969;p8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What is the range?</a:t>
            </a:r>
            <a:endParaRPr/>
          </a:p>
        </p:txBody>
      </p:sp>
      <p:grpSp>
        <p:nvGrpSpPr>
          <p:cNvPr id="970" name="Google Shape;970;p81"/>
          <p:cNvGrpSpPr/>
          <p:nvPr/>
        </p:nvGrpSpPr>
        <p:grpSpPr>
          <a:xfrm>
            <a:off x="831100" y="1156375"/>
            <a:ext cx="5425702" cy="1708148"/>
            <a:chOff x="831100" y="1308775"/>
            <a:chExt cx="5425702" cy="1708148"/>
          </a:xfrm>
        </p:grpSpPr>
        <p:pic>
          <p:nvPicPr>
            <p:cNvPr id="971" name="Google Shape;971;p81"/>
            <p:cNvPicPr preferRelativeResize="0"/>
            <p:nvPr/>
          </p:nvPicPr>
          <p:blipFill>
            <a:blip r:embed="rId3">
              <a:alphaModFix/>
            </a:blip>
            <a:srcRect b="7885"/>
            <a:stretch>
              <a:fillRect/>
            </a:stretch>
          </p:blipFill>
          <p:spPr>
            <a:xfrm>
              <a:off x="831100" y="1308775"/>
              <a:ext cx="5425702" cy="1391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2" name="Google Shape;972;p81"/>
            <p:cNvSpPr txBox="1"/>
            <p:nvPr/>
          </p:nvSpPr>
          <p:spPr>
            <a:xfrm>
              <a:off x="838485" y="27091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20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3" name="Google Shape;973;p81"/>
            <p:cNvSpPr txBox="1"/>
            <p:nvPr/>
          </p:nvSpPr>
          <p:spPr>
            <a:xfrm>
              <a:off x="1208599" y="27091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21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4" name="Google Shape;974;p81"/>
            <p:cNvSpPr txBox="1"/>
            <p:nvPr/>
          </p:nvSpPr>
          <p:spPr>
            <a:xfrm>
              <a:off x="1578713" y="27091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5" name="Google Shape;975;p81"/>
            <p:cNvSpPr txBox="1"/>
            <p:nvPr/>
          </p:nvSpPr>
          <p:spPr>
            <a:xfrm>
              <a:off x="1948828" y="27091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23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6" name="Google Shape;976;p81"/>
            <p:cNvSpPr txBox="1"/>
            <p:nvPr/>
          </p:nvSpPr>
          <p:spPr>
            <a:xfrm>
              <a:off x="2318942" y="27091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24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7" name="Google Shape;977;p81"/>
            <p:cNvSpPr txBox="1"/>
            <p:nvPr/>
          </p:nvSpPr>
          <p:spPr>
            <a:xfrm>
              <a:off x="2689056" y="27091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25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8" name="Google Shape;978;p81"/>
            <p:cNvSpPr txBox="1"/>
            <p:nvPr/>
          </p:nvSpPr>
          <p:spPr>
            <a:xfrm>
              <a:off x="3059171" y="27091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26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9" name="Google Shape;979;p81"/>
            <p:cNvSpPr txBox="1"/>
            <p:nvPr/>
          </p:nvSpPr>
          <p:spPr>
            <a:xfrm>
              <a:off x="3429285" y="27091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27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0" name="Google Shape;980;p81"/>
            <p:cNvSpPr txBox="1"/>
            <p:nvPr/>
          </p:nvSpPr>
          <p:spPr>
            <a:xfrm>
              <a:off x="3799399" y="27091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28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1" name="Google Shape;981;p81"/>
            <p:cNvSpPr txBox="1"/>
            <p:nvPr/>
          </p:nvSpPr>
          <p:spPr>
            <a:xfrm>
              <a:off x="4169513" y="27091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29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2" name="Google Shape;982;p81"/>
            <p:cNvSpPr txBox="1"/>
            <p:nvPr/>
          </p:nvSpPr>
          <p:spPr>
            <a:xfrm>
              <a:off x="4539628" y="27091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30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3" name="Google Shape;983;p81"/>
            <p:cNvSpPr txBox="1"/>
            <p:nvPr/>
          </p:nvSpPr>
          <p:spPr>
            <a:xfrm>
              <a:off x="4909742" y="27091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31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4" name="Google Shape;984;p81"/>
            <p:cNvSpPr txBox="1"/>
            <p:nvPr/>
          </p:nvSpPr>
          <p:spPr>
            <a:xfrm>
              <a:off x="5279856" y="27091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32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5" name="Google Shape;985;p81"/>
            <p:cNvSpPr txBox="1"/>
            <p:nvPr/>
          </p:nvSpPr>
          <p:spPr>
            <a:xfrm>
              <a:off x="5649971" y="27091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33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6" name="Google Shape;986;p81"/>
            <p:cNvSpPr txBox="1"/>
            <p:nvPr/>
          </p:nvSpPr>
          <p:spPr>
            <a:xfrm>
              <a:off x="6020085" y="2709123"/>
              <a:ext cx="216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34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87" name="Google Shape;987;p81"/>
          <p:cNvSpPr txBox="1"/>
          <p:nvPr/>
        </p:nvSpPr>
        <p:spPr>
          <a:xfrm>
            <a:off x="240524" y="2928050"/>
            <a:ext cx="504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88" name="Google Shape;988;p81"/>
          <p:cNvGrpSpPr/>
          <p:nvPr/>
        </p:nvGrpSpPr>
        <p:grpSpPr>
          <a:xfrm>
            <a:off x="745375" y="2987650"/>
            <a:ext cx="6188125" cy="1400873"/>
            <a:chOff x="745375" y="2987650"/>
            <a:chExt cx="6188125" cy="1400873"/>
          </a:xfrm>
        </p:grpSpPr>
        <p:pic>
          <p:nvPicPr>
            <p:cNvPr id="989" name="Google Shape;989;p81"/>
            <p:cNvPicPr preferRelativeResize="0"/>
            <p:nvPr/>
          </p:nvPicPr>
          <p:blipFill>
            <a:blip r:embed="rId4">
              <a:alphaModFix/>
            </a:blip>
            <a:srcRect b="14236"/>
            <a:stretch>
              <a:fillRect/>
            </a:stretch>
          </p:blipFill>
          <p:spPr>
            <a:xfrm>
              <a:off x="745375" y="2987650"/>
              <a:ext cx="6188125" cy="11013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90" name="Google Shape;990;p81"/>
            <p:cNvGrpSpPr/>
            <p:nvPr/>
          </p:nvGrpSpPr>
          <p:grpSpPr>
            <a:xfrm>
              <a:off x="838485" y="4080723"/>
              <a:ext cx="6042825" cy="307800"/>
              <a:chOff x="838485" y="2709123"/>
              <a:chExt cx="6042825" cy="307800"/>
            </a:xfrm>
          </p:grpSpPr>
          <p:sp>
            <p:nvSpPr>
              <p:cNvPr id="991" name="Google Shape;991;p81"/>
              <p:cNvSpPr txBox="1"/>
              <p:nvPr/>
            </p:nvSpPr>
            <p:spPr>
              <a:xfrm>
                <a:off x="838485" y="2709123"/>
                <a:ext cx="2166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58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92" name="Google Shape;992;p81"/>
              <p:cNvSpPr txBox="1"/>
              <p:nvPr/>
            </p:nvSpPr>
            <p:spPr>
              <a:xfrm>
                <a:off x="1254644" y="2709123"/>
                <a:ext cx="2166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59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93" name="Google Shape;993;p81"/>
              <p:cNvSpPr txBox="1"/>
              <p:nvPr/>
            </p:nvSpPr>
            <p:spPr>
              <a:xfrm>
                <a:off x="1670803" y="2709123"/>
                <a:ext cx="2166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60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94" name="Google Shape;994;p81"/>
              <p:cNvSpPr txBox="1"/>
              <p:nvPr/>
            </p:nvSpPr>
            <p:spPr>
              <a:xfrm>
                <a:off x="2086962" y="2709123"/>
                <a:ext cx="2166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61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95" name="Google Shape;995;p81"/>
              <p:cNvSpPr txBox="1"/>
              <p:nvPr/>
            </p:nvSpPr>
            <p:spPr>
              <a:xfrm>
                <a:off x="2503121" y="2709123"/>
                <a:ext cx="2166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62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96" name="Google Shape;996;p81"/>
              <p:cNvSpPr txBox="1"/>
              <p:nvPr/>
            </p:nvSpPr>
            <p:spPr>
              <a:xfrm>
                <a:off x="2919279" y="2709123"/>
                <a:ext cx="2166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63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97" name="Google Shape;997;p81"/>
              <p:cNvSpPr txBox="1"/>
              <p:nvPr/>
            </p:nvSpPr>
            <p:spPr>
              <a:xfrm>
                <a:off x="3335438" y="2709123"/>
                <a:ext cx="2166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64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98" name="Google Shape;998;p81"/>
              <p:cNvSpPr txBox="1"/>
              <p:nvPr/>
            </p:nvSpPr>
            <p:spPr>
              <a:xfrm>
                <a:off x="3751597" y="2709123"/>
                <a:ext cx="2166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65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99" name="Google Shape;999;p81"/>
              <p:cNvSpPr txBox="1"/>
              <p:nvPr/>
            </p:nvSpPr>
            <p:spPr>
              <a:xfrm>
                <a:off x="4167756" y="2709123"/>
                <a:ext cx="2166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66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00" name="Google Shape;1000;p81"/>
              <p:cNvSpPr txBox="1"/>
              <p:nvPr/>
            </p:nvSpPr>
            <p:spPr>
              <a:xfrm>
                <a:off x="4583915" y="2709123"/>
                <a:ext cx="2166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67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01" name="Google Shape;1001;p81"/>
              <p:cNvSpPr txBox="1"/>
              <p:nvPr/>
            </p:nvSpPr>
            <p:spPr>
              <a:xfrm>
                <a:off x="5000074" y="2709123"/>
                <a:ext cx="2166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68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02" name="Google Shape;1002;p81"/>
              <p:cNvSpPr txBox="1"/>
              <p:nvPr/>
            </p:nvSpPr>
            <p:spPr>
              <a:xfrm>
                <a:off x="5416233" y="2709123"/>
                <a:ext cx="2166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69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03" name="Google Shape;1003;p81"/>
              <p:cNvSpPr txBox="1"/>
              <p:nvPr/>
            </p:nvSpPr>
            <p:spPr>
              <a:xfrm>
                <a:off x="5832392" y="2709123"/>
                <a:ext cx="2166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70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04" name="Google Shape;1004;p81"/>
              <p:cNvSpPr txBox="1"/>
              <p:nvPr/>
            </p:nvSpPr>
            <p:spPr>
              <a:xfrm>
                <a:off x="6248551" y="2709123"/>
                <a:ext cx="2166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71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05" name="Google Shape;1005;p81"/>
              <p:cNvSpPr txBox="1"/>
              <p:nvPr/>
            </p:nvSpPr>
            <p:spPr>
              <a:xfrm>
                <a:off x="6664710" y="2709123"/>
                <a:ext cx="2166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72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cxnSp>
        <p:nvCxnSpPr>
          <p:cNvPr id="1006" name="Google Shape;1006;p81"/>
          <p:cNvCxnSpPr>
            <a:stCxn id="972" idx="2"/>
            <a:endCxn id="986" idx="2"/>
          </p:cNvCxnSpPr>
          <p:nvPr/>
        </p:nvCxnSpPr>
        <p:spPr>
          <a:xfrm>
            <a:off x="946785" y="2864523"/>
            <a:ext cx="5181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07" name="Google Shape;1007;p81"/>
          <p:cNvSpPr txBox="1"/>
          <p:nvPr/>
        </p:nvSpPr>
        <p:spPr>
          <a:xfrm>
            <a:off x="6580900" y="1298875"/>
            <a:ext cx="25785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latin typeface="Kalam"/>
                <a:ea typeface="Kalam"/>
                <a:cs typeface="Kalam"/>
                <a:sym typeface="Kalam"/>
              </a:rPr>
              <a:t>range </a:t>
            </a:r>
            <a:endParaRPr sz="2000" b="1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34 - 20 = 14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008" name="Google Shape;1008;p81"/>
          <p:cNvCxnSpPr>
            <a:stCxn id="991" idx="2"/>
            <a:endCxn id="1005" idx="2"/>
          </p:cNvCxnSpPr>
          <p:nvPr/>
        </p:nvCxnSpPr>
        <p:spPr>
          <a:xfrm>
            <a:off x="946785" y="4388523"/>
            <a:ext cx="58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09" name="Google Shape;1009;p81"/>
          <p:cNvSpPr txBox="1"/>
          <p:nvPr/>
        </p:nvSpPr>
        <p:spPr>
          <a:xfrm>
            <a:off x="6973825" y="3038775"/>
            <a:ext cx="25785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latin typeface="Kalam"/>
                <a:ea typeface="Kalam"/>
                <a:cs typeface="Kalam"/>
                <a:sym typeface="Kalam"/>
              </a:rPr>
              <a:t>range </a:t>
            </a:r>
            <a:endParaRPr sz="2000" b="1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72 - 58 = 14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13" name="Shape 1013"/>
        <p:cNvGrpSpPr/>
        <p:nvPr/>
      </p:nvGrpSpPr>
      <p:grpSpPr>
        <a:xfrm>
          <a:off x="0" y="0"/>
          <a:ext cx="0" cy="0"/>
        </a:xfrm>
      </p:grpSpPr>
      <p:sp>
        <p:nvSpPr>
          <p:cNvPr id="1014" name="Google Shape;1014;p8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What is the range?</a:t>
            </a:r>
            <a:endParaRPr/>
          </a:p>
        </p:txBody>
      </p:sp>
      <p:sp>
        <p:nvSpPr>
          <p:cNvPr id="1015" name="Google Shape;1015;p82"/>
          <p:cNvSpPr txBox="1"/>
          <p:nvPr/>
        </p:nvSpPr>
        <p:spPr>
          <a:xfrm>
            <a:off x="244667" y="1863633"/>
            <a:ext cx="8052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6" name="Google Shape;1016;p82"/>
          <p:cNvSpPr txBox="1"/>
          <p:nvPr/>
        </p:nvSpPr>
        <p:spPr>
          <a:xfrm>
            <a:off x="2231400" y="1667400"/>
            <a:ext cx="4177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latin typeface="Kalam"/>
                <a:ea typeface="Kalam"/>
                <a:cs typeface="Kalam"/>
                <a:sym typeface="Kalam"/>
              </a:rPr>
              <a:t>range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20 </a:t>
            </a:r>
            <a:r>
              <a:rPr lang="en-GB" sz="2000">
                <a:solidFill>
                  <a:srgbClr val="202124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(</a:t>
            </a:r>
            <a:r>
              <a:rPr lang="en-GB" sz="2000">
                <a:solidFill>
                  <a:srgbClr val="202124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1) = 21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7" name="Google Shape;1017;p82"/>
          <p:cNvSpPr txBox="1"/>
          <p:nvPr/>
        </p:nvSpPr>
        <p:spPr>
          <a:xfrm>
            <a:off x="2354250" y="2602513"/>
            <a:ext cx="4177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latin typeface="Kalam"/>
                <a:ea typeface="Kalam"/>
                <a:cs typeface="Kalam"/>
                <a:sym typeface="Kalam"/>
              </a:rPr>
              <a:t>range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6 </a:t>
            </a:r>
            <a:r>
              <a:rPr lang="en-GB" sz="2000">
                <a:solidFill>
                  <a:srgbClr val="202124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(</a:t>
            </a:r>
            <a:r>
              <a:rPr lang="en-GB" sz="2000">
                <a:solidFill>
                  <a:srgbClr val="202124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9) = 15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8" name="Google Shape;1018;p82"/>
          <p:cNvSpPr txBox="1"/>
          <p:nvPr/>
        </p:nvSpPr>
        <p:spPr>
          <a:xfrm>
            <a:off x="2354250" y="3584025"/>
            <a:ext cx="4177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latin typeface="Kalam"/>
                <a:ea typeface="Kalam"/>
                <a:cs typeface="Kalam"/>
                <a:sym typeface="Kalam"/>
              </a:rPr>
              <a:t>range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19.4 </a:t>
            </a:r>
            <a:r>
              <a:rPr lang="en-GB" sz="2000">
                <a:solidFill>
                  <a:srgbClr val="202124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1.1 = 18.3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9" name="Google Shape;1019;p8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2) For each set of data, work out the </a:t>
            </a:r>
            <a:r>
              <a:rPr lang="en-GB" b="1"/>
              <a:t>range</a:t>
            </a:r>
            <a:r>
              <a:rPr lang="en-GB"/>
              <a:t>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a) </a:t>
            </a:r>
            <a:r>
              <a:rPr lang="en-GB" sz="2000">
                <a:solidFill>
                  <a:srgbClr val="202124"/>
                </a:solidFill>
              </a:rPr>
              <a:t>−</a:t>
            </a:r>
            <a:r>
              <a:rPr lang="en-GB" sz="2000"/>
              <a:t>1, 0, 1, 1, 1, 2, 4, 5, 7, 7, 8, 8, 8, 10, 10, 10, 14, 17, 17, 20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b) </a:t>
            </a:r>
            <a:r>
              <a:rPr lang="en-GB" sz="2000">
                <a:solidFill>
                  <a:srgbClr val="202124"/>
                </a:solidFill>
              </a:rPr>
              <a:t>−</a:t>
            </a:r>
            <a:r>
              <a:rPr lang="en-GB" sz="2000"/>
              <a:t>7, 6, 6, </a:t>
            </a:r>
            <a:r>
              <a:rPr lang="en-GB" sz="2000">
                <a:solidFill>
                  <a:srgbClr val="202124"/>
                </a:solidFill>
              </a:rPr>
              <a:t>−</a:t>
            </a:r>
            <a:r>
              <a:rPr lang="en-GB" sz="2000"/>
              <a:t>3, </a:t>
            </a:r>
            <a:r>
              <a:rPr lang="en-GB" sz="2000">
                <a:solidFill>
                  <a:srgbClr val="202124"/>
                </a:solidFill>
              </a:rPr>
              <a:t>−</a:t>
            </a:r>
            <a:r>
              <a:rPr lang="en-GB" sz="2000"/>
              <a:t>9, </a:t>
            </a:r>
            <a:r>
              <a:rPr lang="en-GB" sz="2000">
                <a:solidFill>
                  <a:srgbClr val="202124"/>
                </a:solidFill>
              </a:rPr>
              <a:t>−</a:t>
            </a:r>
            <a:r>
              <a:rPr lang="en-GB" sz="2000"/>
              <a:t>9, </a:t>
            </a:r>
            <a:r>
              <a:rPr lang="en-GB" sz="2000">
                <a:solidFill>
                  <a:srgbClr val="202124"/>
                </a:solidFill>
              </a:rPr>
              <a:t>−</a:t>
            </a:r>
            <a:r>
              <a:rPr lang="en-GB" sz="2000"/>
              <a:t>5, 6, </a:t>
            </a:r>
            <a:r>
              <a:rPr lang="en-GB" sz="2000">
                <a:solidFill>
                  <a:srgbClr val="202124"/>
                </a:solidFill>
              </a:rPr>
              <a:t>−</a:t>
            </a:r>
            <a:r>
              <a:rPr lang="en-GB" sz="2000"/>
              <a:t>1, 6, 5, </a:t>
            </a:r>
            <a:r>
              <a:rPr lang="en-GB" sz="2000">
                <a:solidFill>
                  <a:srgbClr val="202124"/>
                </a:solidFill>
              </a:rPr>
              <a:t>−</a:t>
            </a:r>
            <a:r>
              <a:rPr lang="en-GB" sz="2000"/>
              <a:t>6, </a:t>
            </a:r>
            <a:r>
              <a:rPr lang="en-GB" sz="2000">
                <a:solidFill>
                  <a:srgbClr val="202124"/>
                </a:solidFill>
              </a:rPr>
              <a:t>−</a:t>
            </a:r>
            <a:r>
              <a:rPr lang="en-GB" sz="2000"/>
              <a:t>8, </a:t>
            </a:r>
            <a:r>
              <a:rPr lang="en-GB" sz="2000">
                <a:solidFill>
                  <a:srgbClr val="202124"/>
                </a:solidFill>
              </a:rPr>
              <a:t>−</a:t>
            </a:r>
            <a:r>
              <a:rPr lang="en-GB" sz="2000"/>
              <a:t>4, </a:t>
            </a:r>
            <a:r>
              <a:rPr lang="en-GB" sz="2000">
                <a:solidFill>
                  <a:srgbClr val="202124"/>
                </a:solidFill>
              </a:rPr>
              <a:t>−</a:t>
            </a:r>
            <a:r>
              <a:rPr lang="en-GB" sz="2000"/>
              <a:t>4, </a:t>
            </a:r>
            <a:r>
              <a:rPr lang="en-GB" sz="2000">
                <a:solidFill>
                  <a:srgbClr val="202124"/>
                </a:solidFill>
              </a:rPr>
              <a:t>−</a:t>
            </a:r>
            <a:r>
              <a:rPr lang="en-GB" sz="2000"/>
              <a:t>3, 4, </a:t>
            </a:r>
            <a:r>
              <a:rPr lang="en-GB" sz="2000">
                <a:solidFill>
                  <a:srgbClr val="202124"/>
                </a:solidFill>
              </a:rPr>
              <a:t>−</a:t>
            </a:r>
            <a:r>
              <a:rPr lang="en-GB" sz="2000"/>
              <a:t>6, 2, 6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c)  16.2, 15.3, 1.1, 19.4, 13.7, 6.7, 4.7, 12.1, 16.3, 9.4, 8.4, 18.2, 11.9, 1.6, 17.8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23" name="Shape 1023"/>
        <p:cNvGrpSpPr/>
        <p:nvPr/>
      </p:nvGrpSpPr>
      <p:grpSpPr>
        <a:xfrm>
          <a:off x="0" y="0"/>
          <a:ext cx="0" cy="0"/>
        </a:xfrm>
      </p:grpSpPr>
      <p:sp>
        <p:nvSpPr>
          <p:cNvPr id="1024" name="Google Shape;1024;p83"/>
          <p:cNvSpPr txBox="1"/>
          <p:nvPr/>
        </p:nvSpPr>
        <p:spPr>
          <a:xfrm>
            <a:off x="369300" y="4083663"/>
            <a:ext cx="8450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 Any order: 3, 5, 3, 7, 10, 12, 6, 8,               so the </a:t>
            </a: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11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5" name="Google Shape;1025;p8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3)                     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026" name="Google Shape;1026;p8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What is the range?</a:t>
            </a:r>
            <a:endParaRPr/>
          </a:p>
        </p:txBody>
      </p:sp>
      <p:pic>
        <p:nvPicPr>
          <p:cNvPr id="1027" name="Google Shape;1027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351" y="809651"/>
            <a:ext cx="564168" cy="7389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8" name="Google Shape;1028;p83"/>
          <p:cNvSpPr txBox="1"/>
          <p:nvPr/>
        </p:nvSpPr>
        <p:spPr>
          <a:xfrm>
            <a:off x="1452800" y="788950"/>
            <a:ext cx="73218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Laura had just finished her homework on working out the </a:t>
            </a: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when her ink pen started to leak. What number has the ink spoiled in each case?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83"/>
          <p:cNvSpPr txBox="1"/>
          <p:nvPr/>
        </p:nvSpPr>
        <p:spPr>
          <a:xfrm>
            <a:off x="324000" y="2110050"/>
            <a:ext cx="8450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Largest number is              , smallest number is 14 so the </a:t>
            </a: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10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83"/>
          <p:cNvSpPr txBox="1"/>
          <p:nvPr/>
        </p:nvSpPr>
        <p:spPr>
          <a:xfrm>
            <a:off x="346650" y="2754900"/>
            <a:ext cx="8450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Largest number is 8, smallest number is               so the </a:t>
            </a: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12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1" name="Google Shape;1031;p83"/>
          <p:cNvSpPr txBox="1"/>
          <p:nvPr/>
        </p:nvSpPr>
        <p:spPr>
          <a:xfrm>
            <a:off x="346650" y="3454688"/>
            <a:ext cx="8450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 In order: -3, -1, -1, 0,             , 6, 7, 10   so the </a:t>
            </a: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13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2" name="Google Shape;1032;p83"/>
          <p:cNvPicPr preferRelativeResize="0"/>
          <p:nvPr/>
        </p:nvPicPr>
        <p:blipFill>
          <a:blip r:embed="rId4">
            <a:alphaModFix/>
          </a:blip>
          <a:srcRect l="21795" t="46116" r="69892" b="6983"/>
          <a:stretch>
            <a:fillRect/>
          </a:stretch>
        </p:blipFill>
        <p:spPr>
          <a:xfrm>
            <a:off x="2809375" y="2092163"/>
            <a:ext cx="760050" cy="49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3" name="Google Shape;1033;p83"/>
          <p:cNvPicPr preferRelativeResize="0"/>
          <p:nvPr/>
        </p:nvPicPr>
        <p:blipFill>
          <a:blip r:embed="rId4">
            <a:alphaModFix/>
          </a:blip>
          <a:srcRect l="21795" t="46116" r="69892" b="6983"/>
          <a:stretch>
            <a:fillRect/>
          </a:stretch>
        </p:blipFill>
        <p:spPr>
          <a:xfrm>
            <a:off x="5242000" y="2737013"/>
            <a:ext cx="760050" cy="49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4" name="Google Shape;1034;p83"/>
          <p:cNvPicPr preferRelativeResize="0"/>
          <p:nvPr/>
        </p:nvPicPr>
        <p:blipFill>
          <a:blip r:embed="rId4">
            <a:alphaModFix/>
          </a:blip>
          <a:srcRect l="21795" t="46116" r="69892" b="6983"/>
          <a:stretch>
            <a:fillRect/>
          </a:stretch>
        </p:blipFill>
        <p:spPr>
          <a:xfrm>
            <a:off x="2913375" y="3414650"/>
            <a:ext cx="760050" cy="49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5" name="Google Shape;1035;p83"/>
          <p:cNvPicPr preferRelativeResize="0"/>
          <p:nvPr/>
        </p:nvPicPr>
        <p:blipFill>
          <a:blip r:embed="rId4">
            <a:alphaModFix/>
          </a:blip>
          <a:srcRect l="21795" t="46116" r="69892" b="6983"/>
          <a:stretch>
            <a:fillRect/>
          </a:stretch>
        </p:blipFill>
        <p:spPr>
          <a:xfrm>
            <a:off x="4214625" y="4067113"/>
            <a:ext cx="760050" cy="497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6" name="Google Shape;1036;p83"/>
          <p:cNvSpPr txBox="1"/>
          <p:nvPr/>
        </p:nvSpPr>
        <p:spPr>
          <a:xfrm>
            <a:off x="2939200" y="2075075"/>
            <a:ext cx="500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7" name="Google Shape;1037;p83"/>
          <p:cNvSpPr txBox="1"/>
          <p:nvPr/>
        </p:nvSpPr>
        <p:spPr>
          <a:xfrm>
            <a:off x="6785100" y="3339400"/>
            <a:ext cx="20349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Any number between 0 and 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8" name="Google Shape;1038;p83"/>
          <p:cNvSpPr txBox="1"/>
          <p:nvPr/>
        </p:nvSpPr>
        <p:spPr>
          <a:xfrm>
            <a:off x="5371825" y="2766925"/>
            <a:ext cx="500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-4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9" name="Google Shape;1039;p83"/>
          <p:cNvSpPr txBox="1"/>
          <p:nvPr/>
        </p:nvSpPr>
        <p:spPr>
          <a:xfrm>
            <a:off x="7180525" y="4067125"/>
            <a:ext cx="99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 or 14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0" name="Google Shape;1040;p83"/>
          <p:cNvSpPr txBox="1"/>
          <p:nvPr/>
        </p:nvSpPr>
        <p:spPr>
          <a:xfrm>
            <a:off x="4243350" y="4078291"/>
            <a:ext cx="7026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 1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1" name="Google Shape;1041;p83"/>
          <p:cNvSpPr txBox="1"/>
          <p:nvPr/>
        </p:nvSpPr>
        <p:spPr>
          <a:xfrm>
            <a:off x="2939200" y="3419300"/>
            <a:ext cx="760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 2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45" name="Shape 1045"/>
        <p:cNvGrpSpPr/>
        <p:nvPr/>
      </p:nvGrpSpPr>
      <p:grpSpPr>
        <a:xfrm>
          <a:off x="0" y="0"/>
          <a:ext cx="0" cy="0"/>
        </a:xfrm>
      </p:grpSpPr>
      <p:sp>
        <p:nvSpPr>
          <p:cNvPr id="1046" name="Google Shape;1046;p84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What is the range?</a:t>
            </a:r>
            <a:endParaRPr/>
          </a:p>
        </p:txBody>
      </p:sp>
      <p:sp>
        <p:nvSpPr>
          <p:cNvPr id="1047" name="Google Shape;1047;p84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Extreme values in different representations</a:t>
            </a:r>
            <a:endParaRPr/>
          </a:p>
        </p:txBody>
      </p:sp>
      <p:sp>
        <p:nvSpPr>
          <p:cNvPr id="1048" name="Google Shape;1048;p84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and calculating the range</a:t>
            </a:r>
            <a:endParaRPr/>
          </a:p>
        </p:txBody>
      </p:sp>
      <p:pic>
        <p:nvPicPr>
          <p:cNvPr id="1049" name="Google Shape;1049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149" y="2995598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53" name="Shape 1053"/>
        <p:cNvGrpSpPr/>
        <p:nvPr/>
      </p:nvGrpSpPr>
      <p:grpSpPr>
        <a:xfrm>
          <a:off x="0" y="0"/>
          <a:ext cx="0" cy="0"/>
        </a:xfrm>
      </p:grpSpPr>
      <p:sp>
        <p:nvSpPr>
          <p:cNvPr id="1054" name="Google Shape;1054;p85"/>
          <p:cNvSpPr txBox="1"/>
          <p:nvPr>
            <p:ph type="body" idx="1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lang="en-GB" b="1"/>
              <a:t>range </a:t>
            </a:r>
            <a:r>
              <a:rPr lang="en-GB"/>
              <a:t>does not consider any of the values within the data, only the two extreme values; the lowest and highest.</a:t>
            </a:r>
            <a:endParaRPr/>
          </a:p>
        </p:txBody>
      </p:sp>
      <p:sp>
        <p:nvSpPr>
          <p:cNvPr id="1055" name="Google Shape;1055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Extreme values in different representations</a:t>
            </a:r>
            <a:endParaRPr/>
          </a:p>
        </p:txBody>
      </p:sp>
      <p:grpSp>
        <p:nvGrpSpPr>
          <p:cNvPr id="1056" name="Google Shape;1056;p85"/>
          <p:cNvGrpSpPr/>
          <p:nvPr/>
        </p:nvGrpSpPr>
        <p:grpSpPr>
          <a:xfrm>
            <a:off x="1072862" y="1812313"/>
            <a:ext cx="3422963" cy="2681513"/>
            <a:chOff x="1072862" y="1812313"/>
            <a:chExt cx="3422963" cy="2681513"/>
          </a:xfrm>
        </p:grpSpPr>
        <p:pic>
          <p:nvPicPr>
            <p:cNvPr id="1057" name="Google Shape;1057;p8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1228875" y="3158625"/>
              <a:ext cx="727175" cy="8957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8" name="Google Shape;1058;p85"/>
            <p:cNvSpPr txBox="1"/>
            <p:nvPr/>
          </p:nvSpPr>
          <p:spPr>
            <a:xfrm>
              <a:off x="1072862" y="3907925"/>
              <a:ext cx="1039200" cy="5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Jacob</a:t>
              </a:r>
              <a:endParaRPr sz="18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059" name="Google Shape;1059;p85"/>
            <p:cNvPicPr preferRelativeResize="0"/>
            <p:nvPr/>
          </p:nvPicPr>
          <p:blipFill>
            <a:blip r:embed="rId4">
              <a:alphaModFix/>
            </a:blip>
            <a:srcRect r="57905" b="43690"/>
            <a:stretch>
              <a:fillRect/>
            </a:stretch>
          </p:blipFill>
          <p:spPr>
            <a:xfrm flipH="1">
              <a:off x="1813759" y="1812313"/>
              <a:ext cx="2662052" cy="16953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0" name="Google Shape;1060;p85"/>
            <p:cNvSpPr txBox="1"/>
            <p:nvPr/>
          </p:nvSpPr>
          <p:spPr>
            <a:xfrm>
              <a:off x="1947625" y="1865625"/>
              <a:ext cx="25482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Is it necessary, when we have the averages: mean, mode and median?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1" name="Google Shape;1061;p85"/>
          <p:cNvGrpSpPr/>
          <p:nvPr/>
        </p:nvGrpSpPr>
        <p:grpSpPr>
          <a:xfrm>
            <a:off x="4701108" y="1812313"/>
            <a:ext cx="3571017" cy="2553588"/>
            <a:chOff x="4701108" y="1812313"/>
            <a:chExt cx="3571017" cy="2553588"/>
          </a:xfrm>
        </p:grpSpPr>
        <p:sp>
          <p:nvSpPr>
            <p:cNvPr id="1062" name="Google Shape;1062;p85"/>
            <p:cNvSpPr txBox="1"/>
            <p:nvPr/>
          </p:nvSpPr>
          <p:spPr>
            <a:xfrm>
              <a:off x="7300425" y="3780000"/>
              <a:ext cx="971700" cy="5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Sofia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063" name="Google Shape;1063;p8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382390" y="3055288"/>
              <a:ext cx="807760" cy="8960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4" name="Google Shape;1064;p85"/>
            <p:cNvPicPr preferRelativeResize="0"/>
            <p:nvPr/>
          </p:nvPicPr>
          <p:blipFill>
            <a:blip r:embed="rId4">
              <a:alphaModFix/>
            </a:blip>
            <a:srcRect r="57905" b="43690"/>
            <a:stretch>
              <a:fillRect/>
            </a:stretch>
          </p:blipFill>
          <p:spPr>
            <a:xfrm>
              <a:off x="4720359" y="1812313"/>
              <a:ext cx="2662052" cy="16953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5" name="Google Shape;1065;p85"/>
            <p:cNvSpPr txBox="1"/>
            <p:nvPr/>
          </p:nvSpPr>
          <p:spPr>
            <a:xfrm>
              <a:off x="4701108" y="1827140"/>
              <a:ext cx="26205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They are measures of central tendency, whereas the </a:t>
              </a:r>
              <a:r>
                <a:rPr lang="en-GB" sz="1800" b="1">
                  <a:latin typeface="Lexend"/>
                  <a:ea typeface="Lexend"/>
                  <a:cs typeface="Lexend"/>
                  <a:sym typeface="Lexend"/>
                </a:rPr>
                <a:t>range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is a measure of </a:t>
              </a:r>
              <a:r>
                <a:rPr lang="en-GB" sz="1800" b="1">
                  <a:latin typeface="Lexend"/>
                  <a:ea typeface="Lexend"/>
                  <a:cs typeface="Lexend"/>
                  <a:sym typeface="Lexend"/>
                </a:rPr>
                <a:t>spread.</a:t>
              </a:r>
              <a:endParaRPr sz="1800" b="1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69" name="Shape 1069"/>
        <p:cNvGrpSpPr/>
        <p:nvPr/>
      </p:nvGrpSpPr>
      <p:grpSpPr>
        <a:xfrm>
          <a:off x="0" y="0"/>
          <a:ext cx="0" cy="0"/>
        </a:xfrm>
      </p:grpSpPr>
      <p:sp>
        <p:nvSpPr>
          <p:cNvPr id="1070" name="Google Shape;1070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Extreme values in different representations</a:t>
            </a:r>
            <a:endParaRPr/>
          </a:p>
        </p:txBody>
      </p:sp>
      <p:grpSp>
        <p:nvGrpSpPr>
          <p:cNvPr id="1071" name="Google Shape;1071;p86"/>
          <p:cNvGrpSpPr/>
          <p:nvPr/>
        </p:nvGrpSpPr>
        <p:grpSpPr>
          <a:xfrm>
            <a:off x="300658" y="564550"/>
            <a:ext cx="2764142" cy="2568950"/>
            <a:chOff x="681658" y="716950"/>
            <a:chExt cx="2764142" cy="2568950"/>
          </a:xfrm>
        </p:grpSpPr>
        <p:sp>
          <p:nvSpPr>
            <p:cNvPr id="1072" name="Google Shape;1072;p86"/>
            <p:cNvSpPr txBox="1"/>
            <p:nvPr/>
          </p:nvSpPr>
          <p:spPr>
            <a:xfrm flipH="1">
              <a:off x="681658" y="2700000"/>
              <a:ext cx="971700" cy="5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Sofia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073" name="Google Shape;1073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763633" y="1949688"/>
              <a:ext cx="807760" cy="8960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4" name="Google Shape;1074;p86"/>
            <p:cNvPicPr preferRelativeResize="0"/>
            <p:nvPr/>
          </p:nvPicPr>
          <p:blipFill>
            <a:blip r:embed="rId4">
              <a:alphaModFix/>
            </a:blip>
            <a:srcRect t="56280" r="69082"/>
            <a:stretch>
              <a:fillRect/>
            </a:stretch>
          </p:blipFill>
          <p:spPr>
            <a:xfrm flipH="1">
              <a:off x="1350924" y="716950"/>
              <a:ext cx="2093476" cy="1409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5" name="Google Shape;1075;p86"/>
            <p:cNvSpPr txBox="1"/>
            <p:nvPr/>
          </p:nvSpPr>
          <p:spPr>
            <a:xfrm flipH="1">
              <a:off x="1427100" y="856925"/>
              <a:ext cx="20187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These four data sets, all have a mean of 7.</a:t>
              </a:r>
              <a:endParaRPr sz="1800" b="1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76" name="Google Shape;1076;p86"/>
          <p:cNvSpPr/>
          <p:nvPr/>
        </p:nvSpPr>
        <p:spPr>
          <a:xfrm>
            <a:off x="5774400" y="770200"/>
            <a:ext cx="2713200" cy="808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1, 1, 1, 1, 1, 1, 43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86"/>
          <p:cNvSpPr/>
          <p:nvPr/>
        </p:nvSpPr>
        <p:spPr>
          <a:xfrm>
            <a:off x="5724625" y="1735100"/>
            <a:ext cx="2713200" cy="808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7, 7, 7, 7, 7, 7, 7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86"/>
          <p:cNvSpPr/>
          <p:nvPr/>
        </p:nvSpPr>
        <p:spPr>
          <a:xfrm>
            <a:off x="5724625" y="2710125"/>
            <a:ext cx="2713200" cy="808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3.5, 4.8, 6.1, 6.9, </a:t>
            </a:r>
            <a:br>
              <a:rPr lang="en-GB" sz="2200">
                <a:latin typeface="Lexend"/>
                <a:ea typeface="Lexend"/>
                <a:cs typeface="Lexend"/>
                <a:sym typeface="Lexend"/>
              </a:rPr>
            </a:b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13.9, 17.4, 17.4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86"/>
          <p:cNvSpPr/>
          <p:nvPr/>
        </p:nvSpPr>
        <p:spPr>
          <a:xfrm>
            <a:off x="5800825" y="3685150"/>
            <a:ext cx="2713200" cy="808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4, 5, 6, 7, 8, 9, 10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86"/>
          <p:cNvSpPr txBox="1"/>
          <p:nvPr/>
        </p:nvSpPr>
        <p:spPr>
          <a:xfrm>
            <a:off x="5083303" y="39449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8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81" name="Google Shape;1081;p86"/>
          <p:cNvGrpSpPr/>
          <p:nvPr/>
        </p:nvGrpSpPr>
        <p:grpSpPr>
          <a:xfrm>
            <a:off x="1403562" y="2367800"/>
            <a:ext cx="3092263" cy="2535950"/>
            <a:chOff x="1403562" y="1910600"/>
            <a:chExt cx="3092263" cy="2535950"/>
          </a:xfrm>
        </p:grpSpPr>
        <p:pic>
          <p:nvPicPr>
            <p:cNvPr id="1082" name="Google Shape;1082;p8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1507350" y="3061125"/>
              <a:ext cx="727175" cy="8957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3" name="Google Shape;1083;p86"/>
            <p:cNvSpPr txBox="1"/>
            <p:nvPr/>
          </p:nvSpPr>
          <p:spPr>
            <a:xfrm>
              <a:off x="1403562" y="3860650"/>
              <a:ext cx="1039200" cy="5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Jacob</a:t>
              </a:r>
              <a:endParaRPr sz="18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084" name="Google Shape;1084;p86"/>
            <p:cNvPicPr preferRelativeResize="0"/>
            <p:nvPr/>
          </p:nvPicPr>
          <p:blipFill>
            <a:blip r:embed="rId4">
              <a:alphaModFix/>
            </a:blip>
            <a:srcRect r="57905" b="43690"/>
            <a:stretch>
              <a:fillRect/>
            </a:stretch>
          </p:blipFill>
          <p:spPr>
            <a:xfrm flipH="1">
              <a:off x="1813748" y="1910600"/>
              <a:ext cx="2662052" cy="13676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5" name="Google Shape;1085;p86"/>
            <p:cNvSpPr txBox="1"/>
            <p:nvPr/>
          </p:nvSpPr>
          <p:spPr>
            <a:xfrm>
              <a:off x="1947625" y="1985675"/>
              <a:ext cx="25482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What?! They feel really different to each other though!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86" name="Google Shape;1086;p86"/>
          <p:cNvSpPr txBox="1"/>
          <p:nvPr/>
        </p:nvSpPr>
        <p:spPr>
          <a:xfrm>
            <a:off x="5572250" y="912700"/>
            <a:ext cx="537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7" name="Google Shape;1087;p86"/>
          <p:cNvSpPr txBox="1"/>
          <p:nvPr/>
        </p:nvSpPr>
        <p:spPr>
          <a:xfrm>
            <a:off x="5572250" y="1877600"/>
            <a:ext cx="537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8" name="Google Shape;1088;p86"/>
          <p:cNvSpPr txBox="1"/>
          <p:nvPr/>
        </p:nvSpPr>
        <p:spPr>
          <a:xfrm>
            <a:off x="5572250" y="2852625"/>
            <a:ext cx="537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86"/>
          <p:cNvSpPr txBox="1"/>
          <p:nvPr/>
        </p:nvSpPr>
        <p:spPr>
          <a:xfrm>
            <a:off x="5572250" y="3827650"/>
            <a:ext cx="537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93" name="Shape 1093"/>
        <p:cNvGrpSpPr/>
        <p:nvPr/>
      </p:nvGrpSpPr>
      <p:grpSpPr>
        <a:xfrm>
          <a:off x="0" y="0"/>
          <a:ext cx="0" cy="0"/>
        </a:xfrm>
      </p:grpSpPr>
      <p:sp>
        <p:nvSpPr>
          <p:cNvPr id="1094" name="Google Shape;1094;p87"/>
          <p:cNvSpPr txBox="1"/>
          <p:nvPr>
            <p:ph type="body" idx="1"/>
          </p:nvPr>
        </p:nvSpPr>
        <p:spPr>
          <a:xfrm>
            <a:off x="324000" y="759300"/>
            <a:ext cx="8237700" cy="4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four data sets shown as dot plots show the differences.</a:t>
            </a:r>
            <a:endParaRPr sz="1800"/>
          </a:p>
        </p:txBody>
      </p:sp>
      <p:sp>
        <p:nvSpPr>
          <p:cNvPr id="1095" name="Google Shape;1095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Extreme values in different representations</a:t>
            </a:r>
            <a:endParaRPr/>
          </a:p>
        </p:txBody>
      </p:sp>
      <p:pic>
        <p:nvPicPr>
          <p:cNvPr id="1096" name="Google Shape;1096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8700" y="2571750"/>
            <a:ext cx="1706764" cy="144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7" name="Google Shape;1097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3552" y="2571738"/>
            <a:ext cx="3481200" cy="65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8" name="Google Shape;1098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3562" y="3837800"/>
            <a:ext cx="1833525" cy="4685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99" name="Google Shape;1099;p87"/>
          <p:cNvCxnSpPr/>
          <p:nvPr/>
        </p:nvCxnSpPr>
        <p:spPr>
          <a:xfrm>
            <a:off x="5299750" y="3210375"/>
            <a:ext cx="2272200" cy="14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00" name="Google Shape;1100;p87"/>
          <p:cNvCxnSpPr/>
          <p:nvPr/>
        </p:nvCxnSpPr>
        <p:spPr>
          <a:xfrm>
            <a:off x="5299750" y="4337400"/>
            <a:ext cx="1051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pic>
        <p:nvPicPr>
          <p:cNvPr id="1101" name="Google Shape;1101;p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8700" y="1106387"/>
            <a:ext cx="7437201" cy="11860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2" name="Google Shape;1102;p87"/>
          <p:cNvCxnSpPr/>
          <p:nvPr/>
        </p:nvCxnSpPr>
        <p:spPr>
          <a:xfrm>
            <a:off x="1247150" y="2298613"/>
            <a:ext cx="68925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03" name="Google Shape;1103;p87"/>
          <p:cNvSpPr txBox="1"/>
          <p:nvPr/>
        </p:nvSpPr>
        <p:spPr>
          <a:xfrm>
            <a:off x="3983175" y="1318100"/>
            <a:ext cx="2368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= 43 </a:t>
            </a:r>
            <a:r>
              <a:rPr lang="en-GB" sz="18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1 = 42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87"/>
          <p:cNvSpPr txBox="1"/>
          <p:nvPr/>
        </p:nvSpPr>
        <p:spPr>
          <a:xfrm>
            <a:off x="906338" y="4106550"/>
            <a:ext cx="2272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range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7 </a:t>
            </a:r>
            <a:r>
              <a:rPr lang="en-GB" sz="18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7 = 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87"/>
          <p:cNvSpPr txBox="1"/>
          <p:nvPr/>
        </p:nvSpPr>
        <p:spPr>
          <a:xfrm>
            <a:off x="5126678" y="3300288"/>
            <a:ext cx="2767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= 17.4 </a:t>
            </a:r>
            <a:r>
              <a:rPr lang="en-GB" sz="18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3.5 = 13.9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87"/>
          <p:cNvSpPr txBox="1"/>
          <p:nvPr/>
        </p:nvSpPr>
        <p:spPr>
          <a:xfrm>
            <a:off x="5371853" y="4368475"/>
            <a:ext cx="2767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= 10 </a:t>
            </a:r>
            <a:r>
              <a:rPr lang="en-GB" sz="18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4 = 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87"/>
          <p:cNvSpPr txBox="1"/>
          <p:nvPr/>
        </p:nvSpPr>
        <p:spPr>
          <a:xfrm>
            <a:off x="429025" y="1358400"/>
            <a:ext cx="537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87"/>
          <p:cNvSpPr txBox="1"/>
          <p:nvPr/>
        </p:nvSpPr>
        <p:spPr>
          <a:xfrm>
            <a:off x="429025" y="2571750"/>
            <a:ext cx="537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87"/>
          <p:cNvSpPr txBox="1"/>
          <p:nvPr/>
        </p:nvSpPr>
        <p:spPr>
          <a:xfrm>
            <a:off x="3782100" y="2700000"/>
            <a:ext cx="537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0" name="Google Shape;1110;p87"/>
          <p:cNvSpPr txBox="1"/>
          <p:nvPr/>
        </p:nvSpPr>
        <p:spPr>
          <a:xfrm>
            <a:off x="3782100" y="3810463"/>
            <a:ext cx="537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14" name="Shape 1114"/>
        <p:cNvGrpSpPr/>
        <p:nvPr/>
      </p:nvGrpSpPr>
      <p:grpSpPr>
        <a:xfrm>
          <a:off x="0" y="0"/>
          <a:ext cx="0" cy="0"/>
        </a:xfrm>
      </p:grpSpPr>
      <p:sp>
        <p:nvSpPr>
          <p:cNvPr id="1115" name="Google Shape;1115;p88"/>
          <p:cNvSpPr txBox="1"/>
          <p:nvPr>
            <p:ph type="body" idx="1"/>
          </p:nvPr>
        </p:nvSpPr>
        <p:spPr>
          <a:xfrm>
            <a:off x="324000" y="759300"/>
            <a:ext cx="8237700" cy="34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This line graph shows the classroom temperature over the course of day.</a:t>
            </a:r>
            <a:endParaRPr sz="1800"/>
          </a:p>
        </p:txBody>
      </p:sp>
      <p:sp>
        <p:nvSpPr>
          <p:cNvPr id="1116" name="Google Shape;1116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Extreme values in different representations</a:t>
            </a:r>
            <a:endParaRPr/>
          </a:p>
        </p:txBody>
      </p:sp>
      <p:sp>
        <p:nvSpPr>
          <p:cNvPr id="1117" name="Google Shape;1117;p88"/>
          <p:cNvSpPr txBox="1"/>
          <p:nvPr/>
        </p:nvSpPr>
        <p:spPr>
          <a:xfrm>
            <a:off x="3207125" y="4205575"/>
            <a:ext cx="7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8" name="Google Shape;1118;p88"/>
          <p:cNvPicPr preferRelativeResize="0"/>
          <p:nvPr/>
        </p:nvPicPr>
        <p:blipFill>
          <a:blip r:embed="rId3">
            <a:alphaModFix/>
          </a:blip>
          <a:srcRect t="12751" b="4556"/>
          <a:stretch>
            <a:fillRect/>
          </a:stretch>
        </p:blipFill>
        <p:spPr>
          <a:xfrm>
            <a:off x="324000" y="1169701"/>
            <a:ext cx="5356551" cy="265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88"/>
          <p:cNvSpPr txBox="1"/>
          <p:nvPr/>
        </p:nvSpPr>
        <p:spPr>
          <a:xfrm>
            <a:off x="5732700" y="1248500"/>
            <a:ext cx="2829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calculate the</a:t>
            </a:r>
            <a:r>
              <a:rPr lang="en-GB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range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temperature we need to identify the two extreme values.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20" name="Google Shape;1120;p88"/>
          <p:cNvGrpSpPr/>
          <p:nvPr/>
        </p:nvGrpSpPr>
        <p:grpSpPr>
          <a:xfrm>
            <a:off x="5476375" y="2825013"/>
            <a:ext cx="2965025" cy="1906563"/>
            <a:chOff x="5476375" y="2825013"/>
            <a:chExt cx="2965025" cy="1906563"/>
          </a:xfrm>
        </p:grpSpPr>
        <p:sp>
          <p:nvSpPr>
            <p:cNvPr id="1121" name="Google Shape;1121;p88"/>
            <p:cNvSpPr txBox="1"/>
            <p:nvPr/>
          </p:nvSpPr>
          <p:spPr>
            <a:xfrm>
              <a:off x="5476375" y="4383575"/>
              <a:ext cx="954900" cy="3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Lucas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122" name="Google Shape;1122;p8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680549" y="3827375"/>
              <a:ext cx="546543" cy="61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3" name="Google Shape;1123;p88"/>
            <p:cNvPicPr preferRelativeResize="0"/>
            <p:nvPr/>
          </p:nvPicPr>
          <p:blipFill>
            <a:blip r:embed="rId5">
              <a:alphaModFix/>
            </a:blip>
            <a:srcRect r="57905" b="43690"/>
            <a:stretch>
              <a:fillRect/>
            </a:stretch>
          </p:blipFill>
          <p:spPr>
            <a:xfrm flipH="1">
              <a:off x="6050949" y="2825025"/>
              <a:ext cx="2390451" cy="1269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4" name="Google Shape;1124;p88"/>
            <p:cNvSpPr txBox="1"/>
            <p:nvPr/>
          </p:nvSpPr>
          <p:spPr>
            <a:xfrm>
              <a:off x="6227100" y="2825013"/>
              <a:ext cx="22143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They will be the highest point and the lowest point.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25" name="Google Shape;1125;p88"/>
          <p:cNvSpPr/>
          <p:nvPr/>
        </p:nvSpPr>
        <p:spPr>
          <a:xfrm>
            <a:off x="3797103" y="1520353"/>
            <a:ext cx="242100" cy="2421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6" name="Google Shape;1126;p88"/>
          <p:cNvSpPr/>
          <p:nvPr/>
        </p:nvSpPr>
        <p:spPr>
          <a:xfrm>
            <a:off x="1228995" y="1999685"/>
            <a:ext cx="242100" cy="2421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27" name="Google Shape;1127;p88"/>
          <p:cNvCxnSpPr/>
          <p:nvPr/>
        </p:nvCxnSpPr>
        <p:spPr>
          <a:xfrm flipH="1">
            <a:off x="1021139" y="1652900"/>
            <a:ext cx="0" cy="48420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28" name="Google Shape;1128;p88"/>
          <p:cNvCxnSpPr>
            <a:endCxn id="1125" idx="6"/>
          </p:cNvCxnSpPr>
          <p:nvPr/>
        </p:nvCxnSpPr>
        <p:spPr>
          <a:xfrm rot="10800000" flipH="1">
            <a:off x="1028703" y="1641403"/>
            <a:ext cx="3010500" cy="15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129" name="Google Shape;1129;p88"/>
          <p:cNvCxnSpPr>
            <a:endCxn id="1126" idx="6"/>
          </p:cNvCxnSpPr>
          <p:nvPr/>
        </p:nvCxnSpPr>
        <p:spPr>
          <a:xfrm>
            <a:off x="1021095" y="2120735"/>
            <a:ext cx="450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30" name="Google Shape;1130;p88"/>
          <p:cNvSpPr txBox="1"/>
          <p:nvPr/>
        </p:nvSpPr>
        <p:spPr>
          <a:xfrm>
            <a:off x="695875" y="4137475"/>
            <a:ext cx="470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 temperature is 6°C.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34" name="Shape 1134"/>
        <p:cNvGrpSpPr/>
        <p:nvPr/>
      </p:nvGrpSpPr>
      <p:grpSpPr>
        <a:xfrm>
          <a:off x="0" y="0"/>
          <a:ext cx="0" cy="0"/>
        </a:xfrm>
      </p:grpSpPr>
      <p:sp>
        <p:nvSpPr>
          <p:cNvPr id="1135" name="Google Shape;1135;p8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What is the </a:t>
            </a:r>
            <a:r>
              <a:rPr lang="en-GB" b="1"/>
              <a:t>range </a:t>
            </a:r>
            <a:r>
              <a:rPr lang="en-GB"/>
              <a:t>time taken to travel to work?</a:t>
            </a:r>
            <a:r>
              <a:rPr lang="en-GB" b="1"/>
              <a:t> </a:t>
            </a:r>
            <a:endParaRPr/>
          </a:p>
        </p:txBody>
      </p:sp>
      <p:sp>
        <p:nvSpPr>
          <p:cNvPr id="1136" name="Google Shape;1136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Extreme values in different representations</a:t>
            </a:r>
            <a:endParaRPr/>
          </a:p>
        </p:txBody>
      </p:sp>
      <p:pic>
        <p:nvPicPr>
          <p:cNvPr id="1137" name="Google Shape;1137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975" y="1281175"/>
            <a:ext cx="4797600" cy="316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89"/>
          <p:cNvSpPr txBox="1"/>
          <p:nvPr/>
        </p:nvSpPr>
        <p:spPr>
          <a:xfrm>
            <a:off x="5521700" y="1848438"/>
            <a:ext cx="3343200" cy="22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Longest time: 26 mins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Shortest time: 18 mins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Range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26 </a:t>
            </a:r>
            <a:r>
              <a:rPr lang="en-GB" sz="2200">
                <a:solidFill>
                  <a:srgbClr val="202124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18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8 minutes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139" name="Google Shape;1139;p89"/>
          <p:cNvCxnSpPr/>
          <p:nvPr/>
        </p:nvCxnSpPr>
        <p:spPr>
          <a:xfrm flipH="1">
            <a:off x="1164850" y="1883425"/>
            <a:ext cx="0" cy="145230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43" name="Shape 1143"/>
        <p:cNvGrpSpPr/>
        <p:nvPr/>
      </p:nvGrpSpPr>
      <p:grpSpPr>
        <a:xfrm>
          <a:off x="0" y="0"/>
          <a:ext cx="0" cy="0"/>
        </a:xfrm>
      </p:grpSpPr>
      <p:sp>
        <p:nvSpPr>
          <p:cNvPr id="1144" name="Google Shape;1144;p90"/>
          <p:cNvSpPr txBox="1"/>
          <p:nvPr>
            <p:ph type="body" idx="1"/>
          </p:nvPr>
        </p:nvSpPr>
        <p:spPr>
          <a:xfrm>
            <a:off x="324000" y="759300"/>
            <a:ext cx="8237700" cy="73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To find the </a:t>
            </a:r>
            <a:r>
              <a:rPr lang="en-GB" sz="2000" b="1"/>
              <a:t>range </a:t>
            </a:r>
            <a:r>
              <a:rPr lang="en-GB" sz="2000"/>
              <a:t>of attendance marks in these five pupils, we need to find the highest mark and the lowest mark.</a:t>
            </a:r>
            <a:r>
              <a:rPr lang="en-GB" sz="2000" b="1"/>
              <a:t> </a:t>
            </a:r>
            <a:endParaRPr sz="2000" b="1"/>
          </a:p>
        </p:txBody>
      </p:sp>
      <p:sp>
        <p:nvSpPr>
          <p:cNvPr id="1145" name="Google Shape;1145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Extreme values in different representations</a:t>
            </a:r>
            <a:endParaRPr/>
          </a:p>
        </p:txBody>
      </p:sp>
      <p:pic>
        <p:nvPicPr>
          <p:cNvPr id="1146" name="Google Shape;1146;p90"/>
          <p:cNvPicPr preferRelativeResize="0"/>
          <p:nvPr/>
        </p:nvPicPr>
        <p:blipFill>
          <a:blip r:embed="rId3">
            <a:alphaModFix/>
          </a:blip>
          <a:srcRect t="14030"/>
          <a:stretch>
            <a:fillRect/>
          </a:stretch>
        </p:blipFill>
        <p:spPr>
          <a:xfrm>
            <a:off x="324000" y="1497675"/>
            <a:ext cx="5665676" cy="28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7" name="Google Shape;1147;p90"/>
          <p:cNvSpPr txBox="1"/>
          <p:nvPr/>
        </p:nvSpPr>
        <p:spPr>
          <a:xfrm>
            <a:off x="6073900" y="1643400"/>
            <a:ext cx="28590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Lucas: 26 marks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Sam/Andeep: 23 marks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Range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attendance marks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26 </a:t>
            </a:r>
            <a:r>
              <a:rPr lang="en-GB" sz="18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23 = 3 marks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51" name="Shape 1151"/>
        <p:cNvGrpSpPr/>
        <p:nvPr/>
      </p:nvGrpSpPr>
      <p:grpSpPr>
        <a:xfrm>
          <a:off x="0" y="0"/>
          <a:ext cx="0" cy="0"/>
        </a:xfrm>
      </p:grpSpPr>
      <p:sp>
        <p:nvSpPr>
          <p:cNvPr id="1152" name="Google Shape;1152;p91"/>
          <p:cNvSpPr txBox="1"/>
          <p:nvPr>
            <p:ph type="body" idx="1"/>
          </p:nvPr>
        </p:nvSpPr>
        <p:spPr>
          <a:xfrm>
            <a:off x="324000" y="759300"/>
            <a:ext cx="8237700" cy="54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frequency table and bar chart both show the same data.</a:t>
            </a:r>
            <a:endParaRPr sz="1800"/>
          </a:p>
        </p:txBody>
      </p:sp>
      <p:sp>
        <p:nvSpPr>
          <p:cNvPr id="1153" name="Google Shape;1153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Extreme values in different representations</a:t>
            </a:r>
            <a:endParaRPr/>
          </a:p>
        </p:txBody>
      </p:sp>
      <p:graphicFrame>
        <p:nvGraphicFramePr>
          <p:cNvPr id="1154" name="Google Shape;1154;p91"/>
          <p:cNvGraphicFramePr>
            <a:graphicFrameLocks noGrp="1"/>
          </p:cNvGraphicFramePr>
          <p:nvPr/>
        </p:nvGraphicFramePr>
        <p:xfrm>
          <a:off x="929100" y="125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{41EE63E7-9836-4BAC-8ABD-735EA2CCE832}</a:tableStyleId>
              </a:tblPr>
              <a:tblGrid>
                <a:gridCol w="1031250"/>
                <a:gridCol w="1168825"/>
              </a:tblGrid>
              <a:tr h="457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sweets per pack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309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9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9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9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155" name="Google Shape;1155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0053" y="1123450"/>
            <a:ext cx="4248047" cy="259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6" name="Google Shape;1156;p91"/>
          <p:cNvSpPr txBox="1"/>
          <p:nvPr/>
        </p:nvSpPr>
        <p:spPr>
          <a:xfrm>
            <a:off x="446275" y="3488850"/>
            <a:ext cx="435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are the extreme values?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7" name="Google Shape;1157;p91"/>
          <p:cNvSpPr txBox="1"/>
          <p:nvPr/>
        </p:nvSpPr>
        <p:spPr>
          <a:xfrm>
            <a:off x="446275" y="3950550"/>
            <a:ext cx="78438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data is about the number of sweets per pack. The lowest amount is 7 and the highest amount is 10. So these are the extreme values.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91"/>
          <p:cNvSpPr/>
          <p:nvPr/>
        </p:nvSpPr>
        <p:spPr>
          <a:xfrm>
            <a:off x="1308561" y="1853172"/>
            <a:ext cx="272400" cy="2916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9" name="Google Shape;1159;p91"/>
          <p:cNvSpPr/>
          <p:nvPr/>
        </p:nvSpPr>
        <p:spPr>
          <a:xfrm>
            <a:off x="1285296" y="2912411"/>
            <a:ext cx="325200" cy="2916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0" name="Google Shape;1160;p91"/>
          <p:cNvSpPr/>
          <p:nvPr/>
        </p:nvSpPr>
        <p:spPr>
          <a:xfrm>
            <a:off x="4687811" y="3239997"/>
            <a:ext cx="272400" cy="2916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91"/>
          <p:cNvSpPr/>
          <p:nvPr/>
        </p:nvSpPr>
        <p:spPr>
          <a:xfrm>
            <a:off x="7427086" y="3239997"/>
            <a:ext cx="272400" cy="2916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62" name="Google Shape;1162;p91"/>
          <p:cNvCxnSpPr/>
          <p:nvPr/>
        </p:nvCxnSpPr>
        <p:spPr>
          <a:xfrm>
            <a:off x="4803175" y="3719700"/>
            <a:ext cx="27759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66" name="Shape 1166"/>
        <p:cNvGrpSpPr/>
        <p:nvPr/>
      </p:nvGrpSpPr>
      <p:grpSpPr>
        <a:xfrm>
          <a:off x="0" y="0"/>
          <a:ext cx="0" cy="0"/>
        </a:xfrm>
      </p:grpSpPr>
      <p:sp>
        <p:nvSpPr>
          <p:cNvPr id="1167" name="Google Shape;1167;p9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This bar chart shows the number of each satisfaction score a company received. </a:t>
            </a:r>
            <a:endParaRPr sz="2000"/>
          </a:p>
        </p:txBody>
      </p:sp>
      <p:sp>
        <p:nvSpPr>
          <p:cNvPr id="1168" name="Google Shape;1168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Extreme values in different representations</a:t>
            </a:r>
            <a:endParaRPr/>
          </a:p>
        </p:txBody>
      </p:sp>
      <p:pic>
        <p:nvPicPr>
          <p:cNvPr id="1169" name="Google Shape;1169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275" y="1450575"/>
            <a:ext cx="3249200" cy="3178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0" name="Google Shape;1170;p92"/>
          <p:cNvSpPr txBox="1"/>
          <p:nvPr/>
        </p:nvSpPr>
        <p:spPr>
          <a:xfrm>
            <a:off x="4046725" y="1369075"/>
            <a:ext cx="43569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scores received </a:t>
            </a: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between 5 and 0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scores is therefore 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74" name="Shape 1174"/>
        <p:cNvGrpSpPr/>
        <p:nvPr/>
      </p:nvGrpSpPr>
      <p:grpSpPr>
        <a:xfrm>
          <a:off x="0" y="0"/>
          <a:ext cx="0" cy="0"/>
        </a:xfrm>
      </p:grpSpPr>
      <p:sp>
        <p:nvSpPr>
          <p:cNvPr id="1175" name="Google Shape;1175;p93"/>
          <p:cNvSpPr txBox="1"/>
          <p:nvPr>
            <p:ph type="body" idx="1"/>
          </p:nvPr>
        </p:nvSpPr>
        <p:spPr>
          <a:xfrm>
            <a:off x="324000" y="759300"/>
            <a:ext cx="82377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Data is collected about types of pets within a class. It is shown as a bar chart.</a:t>
            </a:r>
            <a:endParaRPr sz="1800"/>
          </a:p>
        </p:txBody>
      </p:sp>
      <p:sp>
        <p:nvSpPr>
          <p:cNvPr id="1176" name="Google Shape;1176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Extreme values in different representations</a:t>
            </a:r>
            <a:endParaRPr/>
          </a:p>
        </p:txBody>
      </p:sp>
      <p:pic>
        <p:nvPicPr>
          <p:cNvPr id="1177" name="Google Shape;1177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99" y="1422000"/>
            <a:ext cx="4390001" cy="3207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8" name="Google Shape;1178;p93"/>
          <p:cNvGrpSpPr/>
          <p:nvPr/>
        </p:nvGrpSpPr>
        <p:grpSpPr>
          <a:xfrm>
            <a:off x="5432575" y="1126625"/>
            <a:ext cx="3266125" cy="2616875"/>
            <a:chOff x="5432575" y="1126625"/>
            <a:chExt cx="3266125" cy="2616875"/>
          </a:xfrm>
        </p:grpSpPr>
        <p:pic>
          <p:nvPicPr>
            <p:cNvPr id="1179" name="Google Shape;1179;p93"/>
            <p:cNvPicPr preferRelativeResize="0"/>
            <p:nvPr/>
          </p:nvPicPr>
          <p:blipFill>
            <a:blip r:embed="rId4">
              <a:alphaModFix/>
            </a:blip>
            <a:srcRect r="57905" b="43690"/>
            <a:stretch>
              <a:fillRect/>
            </a:stretch>
          </p:blipFill>
          <p:spPr>
            <a:xfrm flipH="1">
              <a:off x="5975609" y="1126625"/>
              <a:ext cx="2662052" cy="1695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0" name="Google Shape;1180;p9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5629953" y="2621412"/>
              <a:ext cx="626850" cy="808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1" name="Google Shape;1181;p93"/>
            <p:cNvSpPr txBox="1"/>
            <p:nvPr/>
          </p:nvSpPr>
          <p:spPr>
            <a:xfrm>
              <a:off x="5432575" y="3429700"/>
              <a:ext cx="1117800" cy="3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Andeep</a:t>
              </a:r>
              <a:endParaRPr sz="1800"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2" name="Google Shape;1182;p93"/>
            <p:cNvSpPr txBox="1"/>
            <p:nvPr/>
          </p:nvSpPr>
          <p:spPr>
            <a:xfrm>
              <a:off x="6232700" y="1179975"/>
              <a:ext cx="24660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As the data is about pet type, I do not think there are ‘extreme’ values.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83" name="Google Shape;1183;p93"/>
          <p:cNvSpPr txBox="1"/>
          <p:nvPr/>
        </p:nvSpPr>
        <p:spPr>
          <a:xfrm>
            <a:off x="6595775" y="2912150"/>
            <a:ext cx="2382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Andeep correct?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4" name="Google Shape;1184;p93"/>
          <p:cNvSpPr txBox="1"/>
          <p:nvPr/>
        </p:nvSpPr>
        <p:spPr>
          <a:xfrm>
            <a:off x="4787975" y="3950075"/>
            <a:ext cx="41904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Yes, there is no fixed order to this data. You cannot find the </a:t>
            </a:r>
            <a:r>
              <a:rPr lang="en-GB" sz="2000" b="1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range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88" name="Shape 1188"/>
        <p:cNvGrpSpPr/>
        <p:nvPr/>
      </p:nvGrpSpPr>
      <p:grpSpPr>
        <a:xfrm>
          <a:off x="0" y="0"/>
          <a:ext cx="0" cy="0"/>
        </a:xfrm>
      </p:grpSpPr>
      <p:sp>
        <p:nvSpPr>
          <p:cNvPr id="1189" name="Google Shape;1189;p94"/>
          <p:cNvSpPr txBox="1"/>
          <p:nvPr>
            <p:ph type="subTitle" idx="2"/>
          </p:nvPr>
        </p:nvSpPr>
        <p:spPr>
          <a:xfrm>
            <a:off x="980575" y="3049188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But, the method is different depending on the type of bar chart.</a:t>
            </a:r>
            <a:endParaRPr/>
          </a:p>
        </p:txBody>
      </p:sp>
      <p:sp>
        <p:nvSpPr>
          <p:cNvPr id="1190" name="Google Shape;1190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Extreme values in different representations</a:t>
            </a:r>
            <a:endParaRPr/>
          </a:p>
        </p:txBody>
      </p:sp>
      <p:sp>
        <p:nvSpPr>
          <p:cNvPr id="1191" name="Google Shape;1191;p94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lang="en-GB" b="1"/>
              <a:t>range </a:t>
            </a:r>
            <a:r>
              <a:rPr lang="en-GB"/>
              <a:t>can be found on all bar charts.</a:t>
            </a:r>
            <a:endParaRPr/>
          </a:p>
        </p:txBody>
      </p:sp>
      <p:sp>
        <p:nvSpPr>
          <p:cNvPr id="1192" name="Google Shape;1192;p94"/>
          <p:cNvSpPr txBox="1"/>
          <p:nvPr>
            <p:ph type="subTitle" idx="3"/>
          </p:nvPr>
        </p:nvSpPr>
        <p:spPr>
          <a:xfrm>
            <a:off x="980575" y="4034873"/>
            <a:ext cx="7452600" cy="41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You cannot find the </a:t>
            </a:r>
            <a:r>
              <a:rPr lang="en-GB" b="1"/>
              <a:t>range</a:t>
            </a:r>
            <a:r>
              <a:rPr lang="en-GB"/>
              <a:t> of qualitative data.</a:t>
            </a:r>
            <a:endParaRPr/>
          </a:p>
        </p:txBody>
      </p:sp>
      <p:pic>
        <p:nvPicPr>
          <p:cNvPr id="1193" name="Google Shape;1193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0733" y="39845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4" name="Google Shape;1194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8" y="17970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98" name="Shape 1198"/>
        <p:cNvGrpSpPr/>
        <p:nvPr/>
      </p:nvGrpSpPr>
      <p:grpSpPr>
        <a:xfrm>
          <a:off x="0" y="0"/>
          <a:ext cx="0" cy="0"/>
        </a:xfrm>
      </p:grpSpPr>
      <p:sp>
        <p:nvSpPr>
          <p:cNvPr id="1199" name="Google Shape;1199;p95"/>
          <p:cNvSpPr txBox="1"/>
          <p:nvPr>
            <p:ph type="body" idx="1"/>
          </p:nvPr>
        </p:nvSpPr>
        <p:spPr>
          <a:xfrm>
            <a:off x="324000" y="759300"/>
            <a:ext cx="82377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1) Which of these representations can you find the </a:t>
            </a:r>
            <a:r>
              <a:rPr lang="en-GB" sz="2000" b="1"/>
              <a:t>range?</a:t>
            </a:r>
            <a:endParaRPr sz="2000" b="1"/>
          </a:p>
        </p:txBody>
      </p:sp>
      <p:sp>
        <p:nvSpPr>
          <p:cNvPr id="1200" name="Google Shape;1200;p95"/>
          <p:cNvSpPr txBox="1"/>
          <p:nvPr>
            <p:ph type="subTitle" idx="2"/>
          </p:nvPr>
        </p:nvSpPr>
        <p:spPr>
          <a:xfrm>
            <a:off x="1570025" y="115250"/>
            <a:ext cx="68553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Extreme values in different representations</a:t>
            </a:r>
            <a:endParaRPr/>
          </a:p>
        </p:txBody>
      </p:sp>
      <p:pic>
        <p:nvPicPr>
          <p:cNvPr id="1201" name="Google Shape;1201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0100" y="1215449"/>
            <a:ext cx="2362494" cy="171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2" name="Google Shape;1202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3775" y="1157400"/>
            <a:ext cx="2645250" cy="1685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3" name="Google Shape;1203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46741" y="2915200"/>
            <a:ext cx="2575634" cy="187055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04" name="Google Shape;1204;p95"/>
          <p:cNvGraphicFramePr>
            <a:graphicFrameLocks noGrp="1"/>
          </p:cNvGraphicFramePr>
          <p:nvPr/>
        </p:nvGraphicFramePr>
        <p:xfrm>
          <a:off x="1126425" y="358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{18BC4710-33F2-46C0-9526-A7E3CD8BD6A4}</a:tableStyleId>
              </a:tblPr>
              <a:tblGrid>
                <a:gridCol w="1460075"/>
                <a:gridCol w="455700"/>
                <a:gridCol w="455700"/>
                <a:gridCol w="455700"/>
                <a:gridCol w="455700"/>
              </a:tblGrid>
              <a:tr h="420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Shoe size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4934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1205" name="Google Shape;1205;p95"/>
          <p:cNvSpPr txBox="1"/>
          <p:nvPr/>
        </p:nvSpPr>
        <p:spPr>
          <a:xfrm>
            <a:off x="324000" y="1157400"/>
            <a:ext cx="537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6" name="Google Shape;1206;p95"/>
          <p:cNvSpPr txBox="1"/>
          <p:nvPr/>
        </p:nvSpPr>
        <p:spPr>
          <a:xfrm>
            <a:off x="4572000" y="1157400"/>
            <a:ext cx="537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7" name="Google Shape;1207;p95"/>
          <p:cNvSpPr txBox="1"/>
          <p:nvPr/>
        </p:nvSpPr>
        <p:spPr>
          <a:xfrm>
            <a:off x="324000" y="3604175"/>
            <a:ext cx="537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8" name="Google Shape;1208;p95"/>
          <p:cNvSpPr txBox="1"/>
          <p:nvPr/>
        </p:nvSpPr>
        <p:spPr>
          <a:xfrm>
            <a:off x="4572000" y="3518400"/>
            <a:ext cx="537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12" name="Shape 1212"/>
        <p:cNvGrpSpPr/>
        <p:nvPr/>
      </p:nvGrpSpPr>
      <p:grpSpPr>
        <a:xfrm>
          <a:off x="0" y="0"/>
          <a:ext cx="0" cy="0"/>
        </a:xfrm>
      </p:grpSpPr>
      <p:sp>
        <p:nvSpPr>
          <p:cNvPr id="1213" name="Google Shape;1213;p96"/>
          <p:cNvSpPr txBox="1"/>
          <p:nvPr>
            <p:ph type="body" idx="1"/>
          </p:nvPr>
        </p:nvSpPr>
        <p:spPr>
          <a:xfrm>
            <a:off x="324000" y="759300"/>
            <a:ext cx="82377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2) For each of the following bar charts, find the </a:t>
            </a:r>
            <a:r>
              <a:rPr lang="en-GB" sz="2000" b="1"/>
              <a:t>range.</a:t>
            </a:r>
            <a:endParaRPr sz="2000" b="1"/>
          </a:p>
        </p:txBody>
      </p:sp>
      <p:sp>
        <p:nvSpPr>
          <p:cNvPr id="1214" name="Google Shape;1214;p96"/>
          <p:cNvSpPr txBox="1"/>
          <p:nvPr>
            <p:ph type="subTitle" idx="2"/>
          </p:nvPr>
        </p:nvSpPr>
        <p:spPr>
          <a:xfrm>
            <a:off x="1570025" y="123950"/>
            <a:ext cx="68553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Extreme values in different representations</a:t>
            </a:r>
            <a:endParaRPr/>
          </a:p>
        </p:txBody>
      </p:sp>
      <p:pic>
        <p:nvPicPr>
          <p:cNvPr id="1215" name="Google Shape;1215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700" y="1157412"/>
            <a:ext cx="3935300" cy="277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6" name="Google Shape;1216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5025" y="1195225"/>
            <a:ext cx="3742275" cy="247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7" name="Google Shape;1217;p96"/>
          <p:cNvSpPr txBox="1"/>
          <p:nvPr/>
        </p:nvSpPr>
        <p:spPr>
          <a:xfrm>
            <a:off x="287450" y="1089219"/>
            <a:ext cx="445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8" name="Google Shape;1218;p96"/>
          <p:cNvSpPr txBox="1"/>
          <p:nvPr/>
        </p:nvSpPr>
        <p:spPr>
          <a:xfrm>
            <a:off x="4601400" y="1104669"/>
            <a:ext cx="445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22" name="Shape 1222"/>
        <p:cNvGrpSpPr/>
        <p:nvPr/>
      </p:nvGrpSpPr>
      <p:grpSpPr>
        <a:xfrm>
          <a:off x="0" y="0"/>
          <a:ext cx="0" cy="0"/>
        </a:xfrm>
      </p:grpSpPr>
      <p:sp>
        <p:nvSpPr>
          <p:cNvPr id="1223" name="Google Shape;1223;p97"/>
          <p:cNvSpPr txBox="1"/>
          <p:nvPr>
            <p:ph type="body" idx="1"/>
          </p:nvPr>
        </p:nvSpPr>
        <p:spPr>
          <a:xfrm>
            <a:off x="628800" y="759300"/>
            <a:ext cx="7979100" cy="6174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-269999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3) Some data is represented in this frequency table about wait times at a fast food restaurant.</a:t>
            </a:r>
            <a:r>
              <a:rPr lang="en-GB" sz="1800"/>
              <a:t>  </a:t>
            </a:r>
            <a:endParaRPr sz="1800" b="1"/>
          </a:p>
        </p:txBody>
      </p:sp>
      <p:sp>
        <p:nvSpPr>
          <p:cNvPr id="1224" name="Google Shape;1224;p97"/>
          <p:cNvSpPr txBox="1"/>
          <p:nvPr>
            <p:ph type="subTitle" idx="2"/>
          </p:nvPr>
        </p:nvSpPr>
        <p:spPr>
          <a:xfrm>
            <a:off x="1570025" y="106550"/>
            <a:ext cx="68553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Extreme values in different representations</a:t>
            </a:r>
            <a:endParaRPr/>
          </a:p>
        </p:txBody>
      </p:sp>
      <p:graphicFrame>
        <p:nvGraphicFramePr>
          <p:cNvPr id="1225" name="Google Shape;1225;p97"/>
          <p:cNvGraphicFramePr>
            <a:graphicFrameLocks noGrp="1"/>
          </p:cNvGraphicFramePr>
          <p:nvPr/>
        </p:nvGraphicFramePr>
        <p:xfrm>
          <a:off x="1471475" y="157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{18BC4710-33F2-46C0-9526-A7E3CD8BD6A4}</a:tableStyleId>
              </a:tblPr>
              <a:tblGrid>
                <a:gridCol w="2026725"/>
                <a:gridCol w="495125"/>
                <a:gridCol w="495125"/>
                <a:gridCol w="495125"/>
                <a:gridCol w="495125"/>
                <a:gridCol w="495125"/>
                <a:gridCol w="495125"/>
                <a:gridCol w="495125"/>
                <a:gridCol w="495125"/>
              </a:tblGrid>
              <a:tr h="3716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Wait time (mins)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401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1226" name="Google Shape;1226;p97"/>
          <p:cNvSpPr txBox="1"/>
          <p:nvPr/>
        </p:nvSpPr>
        <p:spPr>
          <a:xfrm>
            <a:off x="620250" y="2707900"/>
            <a:ext cx="76017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local newspaper reported that customers’ wait time </a:t>
            </a: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ranged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by 38 minutes. Do you agree?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30" name="Shape 1230"/>
        <p:cNvGrpSpPr/>
        <p:nvPr/>
      </p:nvGrpSpPr>
      <p:grpSpPr>
        <a:xfrm>
          <a:off x="0" y="0"/>
          <a:ext cx="0" cy="0"/>
        </a:xfrm>
      </p:grpSpPr>
      <p:sp>
        <p:nvSpPr>
          <p:cNvPr id="1231" name="Google Shape;1231;p9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1) Which of these representations can you find the </a:t>
            </a:r>
            <a:r>
              <a:rPr lang="en-GB" sz="2000" b="1"/>
              <a:t>range?</a:t>
            </a:r>
            <a:endParaRPr sz="2000" b="1"/>
          </a:p>
        </p:txBody>
      </p:sp>
      <p:sp>
        <p:nvSpPr>
          <p:cNvPr id="1232" name="Google Shape;1232;p98"/>
          <p:cNvSpPr txBox="1"/>
          <p:nvPr>
            <p:ph type="subTitle" idx="2"/>
          </p:nvPr>
        </p:nvSpPr>
        <p:spPr>
          <a:xfrm>
            <a:off x="1570025" y="134975"/>
            <a:ext cx="68553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Extreme values in different representations</a:t>
            </a:r>
            <a:endParaRPr/>
          </a:p>
        </p:txBody>
      </p:sp>
      <p:pic>
        <p:nvPicPr>
          <p:cNvPr id="1233" name="Google Shape;1233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0100" y="1215449"/>
            <a:ext cx="2362494" cy="171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4" name="Google Shape;1234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3775" y="1157400"/>
            <a:ext cx="2645250" cy="1685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5" name="Google Shape;1235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46741" y="2915200"/>
            <a:ext cx="2575634" cy="187055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36" name="Google Shape;1236;p98"/>
          <p:cNvGraphicFramePr>
            <a:graphicFrameLocks noGrp="1"/>
          </p:cNvGraphicFramePr>
          <p:nvPr/>
        </p:nvGraphicFramePr>
        <p:xfrm>
          <a:off x="1126425" y="358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{18BC4710-33F2-46C0-9526-A7E3CD8BD6A4}</a:tableStyleId>
              </a:tblPr>
              <a:tblGrid>
                <a:gridCol w="1460075"/>
                <a:gridCol w="455700"/>
                <a:gridCol w="455700"/>
                <a:gridCol w="455700"/>
                <a:gridCol w="455700"/>
              </a:tblGrid>
              <a:tr h="4206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Shoe size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</a:tr>
              <a:tr h="4934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237" name="Google Shape;1237;p9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72158" y="20601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8" name="Google Shape;1238;p9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24108" y="40405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9" name="Google Shape;1239;p9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04658" y="39841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0" name="Google Shape;1240;p9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90163" y="2159992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41" name="Google Shape;1241;p98"/>
          <p:cNvSpPr txBox="1"/>
          <p:nvPr/>
        </p:nvSpPr>
        <p:spPr>
          <a:xfrm>
            <a:off x="324000" y="1157400"/>
            <a:ext cx="537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98"/>
          <p:cNvSpPr txBox="1"/>
          <p:nvPr/>
        </p:nvSpPr>
        <p:spPr>
          <a:xfrm>
            <a:off x="4572000" y="1157400"/>
            <a:ext cx="537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3" name="Google Shape;1243;p98"/>
          <p:cNvSpPr txBox="1"/>
          <p:nvPr/>
        </p:nvSpPr>
        <p:spPr>
          <a:xfrm>
            <a:off x="324000" y="3604175"/>
            <a:ext cx="537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4" name="Google Shape;1244;p98"/>
          <p:cNvSpPr txBox="1"/>
          <p:nvPr/>
        </p:nvSpPr>
        <p:spPr>
          <a:xfrm>
            <a:off x="4572000" y="3518400"/>
            <a:ext cx="537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48" name="Shape 1248"/>
        <p:cNvGrpSpPr/>
        <p:nvPr/>
      </p:nvGrpSpPr>
      <p:grpSpPr>
        <a:xfrm>
          <a:off x="0" y="0"/>
          <a:ext cx="0" cy="0"/>
        </a:xfrm>
      </p:grpSpPr>
      <p:sp>
        <p:nvSpPr>
          <p:cNvPr id="1249" name="Google Shape;1249;p9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2) For each of the following bar charts, find the </a:t>
            </a:r>
            <a:r>
              <a:rPr lang="en-GB" sz="2000" b="1"/>
              <a:t>range.</a:t>
            </a:r>
            <a:endParaRPr sz="2000" b="1"/>
          </a:p>
        </p:txBody>
      </p:sp>
      <p:sp>
        <p:nvSpPr>
          <p:cNvPr id="1250" name="Google Shape;1250;p99"/>
          <p:cNvSpPr txBox="1"/>
          <p:nvPr>
            <p:ph type="subTitle" idx="2"/>
          </p:nvPr>
        </p:nvSpPr>
        <p:spPr>
          <a:xfrm>
            <a:off x="1570025" y="134975"/>
            <a:ext cx="68553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Extreme values in different representations</a:t>
            </a:r>
            <a:endParaRPr/>
          </a:p>
        </p:txBody>
      </p:sp>
      <p:pic>
        <p:nvPicPr>
          <p:cNvPr id="1251" name="Google Shape;1251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700" y="1157412"/>
            <a:ext cx="3935300" cy="277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2" name="Google Shape;1252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5025" y="1195225"/>
            <a:ext cx="3742275" cy="247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3" name="Google Shape;1253;p99"/>
          <p:cNvSpPr txBox="1"/>
          <p:nvPr/>
        </p:nvSpPr>
        <p:spPr>
          <a:xfrm>
            <a:off x="287450" y="1089219"/>
            <a:ext cx="445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4" name="Google Shape;1254;p99"/>
          <p:cNvSpPr txBox="1"/>
          <p:nvPr/>
        </p:nvSpPr>
        <p:spPr>
          <a:xfrm>
            <a:off x="4601400" y="1089219"/>
            <a:ext cx="445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5" name="Google Shape;1255;p99"/>
          <p:cNvSpPr txBox="1"/>
          <p:nvPr/>
        </p:nvSpPr>
        <p:spPr>
          <a:xfrm>
            <a:off x="763950" y="4114800"/>
            <a:ext cx="3260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Range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of cars: 4 </a:t>
            </a:r>
            <a:r>
              <a:rPr lang="en-GB" sz="2000">
                <a:solidFill>
                  <a:srgbClr val="202124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0 = 4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6" name="Google Shape;1256;p99"/>
          <p:cNvSpPr txBox="1"/>
          <p:nvPr/>
        </p:nvSpPr>
        <p:spPr>
          <a:xfrm>
            <a:off x="5333700" y="3933275"/>
            <a:ext cx="30396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Range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of occupied seats: 65 </a:t>
            </a:r>
            <a:r>
              <a:rPr lang="en-GB" sz="2000">
                <a:solidFill>
                  <a:srgbClr val="202124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28 = 37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257" name="Google Shape;1257;p99"/>
          <p:cNvCxnSpPr/>
          <p:nvPr/>
        </p:nvCxnSpPr>
        <p:spPr>
          <a:xfrm>
            <a:off x="1399325" y="3812250"/>
            <a:ext cx="27684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258" name="Google Shape;1258;p99"/>
          <p:cNvCxnSpPr/>
          <p:nvPr/>
        </p:nvCxnSpPr>
        <p:spPr>
          <a:xfrm flipH="1">
            <a:off x="5488251" y="1515875"/>
            <a:ext cx="0" cy="106230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62" name="Shape 1262"/>
        <p:cNvGrpSpPr/>
        <p:nvPr/>
      </p:nvGrpSpPr>
      <p:grpSpPr>
        <a:xfrm>
          <a:off x="0" y="0"/>
          <a:ext cx="0" cy="0"/>
        </a:xfrm>
      </p:grpSpPr>
      <p:sp>
        <p:nvSpPr>
          <p:cNvPr id="1263" name="Google Shape;1263;p100"/>
          <p:cNvSpPr txBox="1"/>
          <p:nvPr>
            <p:ph type="body" idx="1"/>
          </p:nvPr>
        </p:nvSpPr>
        <p:spPr>
          <a:xfrm>
            <a:off x="628800" y="759300"/>
            <a:ext cx="8237700" cy="3020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-269999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3) Some data is represented in this frequency table about wait times at a fast food restaurant.</a:t>
            </a:r>
            <a:r>
              <a:rPr lang="en-GB" sz="1800"/>
              <a:t>  </a:t>
            </a:r>
            <a:endParaRPr sz="1800" b="1"/>
          </a:p>
        </p:txBody>
      </p:sp>
      <p:sp>
        <p:nvSpPr>
          <p:cNvPr id="1264" name="Google Shape;1264;p100"/>
          <p:cNvSpPr txBox="1"/>
          <p:nvPr>
            <p:ph type="subTitle" idx="2"/>
          </p:nvPr>
        </p:nvSpPr>
        <p:spPr>
          <a:xfrm>
            <a:off x="1570025" y="134975"/>
            <a:ext cx="68553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Extreme values in different representations</a:t>
            </a:r>
            <a:endParaRPr/>
          </a:p>
        </p:txBody>
      </p:sp>
      <p:graphicFrame>
        <p:nvGraphicFramePr>
          <p:cNvPr id="1265" name="Google Shape;1265;p100"/>
          <p:cNvGraphicFramePr>
            <a:graphicFrameLocks noGrp="1"/>
          </p:cNvGraphicFramePr>
          <p:nvPr/>
        </p:nvGraphicFramePr>
        <p:xfrm>
          <a:off x="1471475" y="157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{18BC4710-33F2-46C0-9526-A7E3CD8BD6A4}</a:tableStyleId>
              </a:tblPr>
              <a:tblGrid>
                <a:gridCol w="2026725"/>
                <a:gridCol w="495125"/>
                <a:gridCol w="495125"/>
                <a:gridCol w="495125"/>
                <a:gridCol w="495125"/>
                <a:gridCol w="495125"/>
                <a:gridCol w="495125"/>
                <a:gridCol w="495125"/>
                <a:gridCol w="495125"/>
              </a:tblGrid>
              <a:tr h="3716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Wait time (mins)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401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1266" name="Google Shape;1266;p100"/>
          <p:cNvSpPr txBox="1"/>
          <p:nvPr/>
        </p:nvSpPr>
        <p:spPr>
          <a:xfrm>
            <a:off x="572375" y="2716488"/>
            <a:ext cx="76017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local newspaper reported that customers’ wait time </a:t>
            </a: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ranged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by 38 minutes. Do you agree?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7" name="Google Shape;1267;p100"/>
          <p:cNvSpPr txBox="1"/>
          <p:nvPr/>
        </p:nvSpPr>
        <p:spPr>
          <a:xfrm>
            <a:off x="572363" y="3527775"/>
            <a:ext cx="7601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No, the </a:t>
            </a:r>
            <a:r>
              <a:rPr lang="en-GB" sz="2000" b="1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range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of wait times is 7 mins; from the longest wait time of 11 minutes to the shortest wait time of 4 minutes.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71" name="Shape 1271"/>
        <p:cNvGrpSpPr/>
        <p:nvPr/>
      </p:nvGrpSpPr>
      <p:grpSpPr>
        <a:xfrm>
          <a:off x="0" y="0"/>
          <a:ext cx="0" cy="0"/>
        </a:xfrm>
      </p:grpSpPr>
      <p:sp>
        <p:nvSpPr>
          <p:cNvPr id="1272" name="Google Shape;1272;p101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</a:t>
            </a:r>
            <a:r>
              <a:rPr lang="en-GB" b="1"/>
              <a:t>range </a:t>
            </a:r>
            <a:r>
              <a:rPr lang="en-GB"/>
              <a:t>is the difference between the two extreme values.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The </a:t>
            </a:r>
            <a:r>
              <a:rPr lang="en-GB" b="1"/>
              <a:t>range </a:t>
            </a:r>
            <a:r>
              <a:rPr lang="en-GB"/>
              <a:t>is a measure of </a:t>
            </a:r>
            <a:r>
              <a:rPr lang="en-GB" b="1"/>
              <a:t>spread </a:t>
            </a:r>
            <a:r>
              <a:rPr lang="en-GB"/>
              <a:t>or</a:t>
            </a:r>
            <a:r>
              <a:rPr lang="en-GB" b="1"/>
              <a:t> dispersion.</a:t>
            </a:r>
            <a:r>
              <a:rPr lang="en-GB"/>
              <a:t> It allows you to see how varied the values in the data set are.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type of diagram/chart will dictate where the </a:t>
            </a:r>
            <a:r>
              <a:rPr lang="en-GB" b="1"/>
              <a:t>range </a:t>
            </a:r>
            <a:r>
              <a:rPr lang="en-GB"/>
              <a:t>is found.</a:t>
            </a:r>
            <a:endParaRPr/>
          </a:p>
        </p:txBody>
      </p:sp>
      <p:sp>
        <p:nvSpPr>
          <p:cNvPr id="1273" name="Google Shape;1273;p101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and calculating the range</a:t>
            </a:r>
            <a:endParaRPr/>
          </a:p>
        </p:txBody>
      </p:sp>
    </p:spTree>
  </p:cSld>
  <p:clrMapOvr>
    <a:masterClrMapping/>
  </p:clrMapOvr>
  <p:transition/>
  <p:timing/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77" name="Shape 1277"/>
        <p:cNvGrpSpPr/>
        <p:nvPr/>
      </p:nvGrpSpPr>
      <p:grpSpPr>
        <a:xfrm>
          <a:off x="0" y="0"/>
          <a:ext cx="0" cy="0"/>
        </a:xfrm>
      </p:grpSpPr>
      <p:sp>
        <p:nvSpPr>
          <p:cNvPr id="1278" name="Google Shape;1278;p102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279" name="Google Shape;1279;p1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295</Paragraphs>
  <Slides>39</Slides>
  <Notes>39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baseType="lpstr" size="47">
      <vt:lpstr>Arial</vt:lpstr>
      <vt:lpstr>Lexend</vt:lpstr>
      <vt:lpstr>Lexend Medium</vt:lpstr>
      <vt:lpstr>Kalam</vt:lpstr>
      <vt:lpstr>Lexend Light</vt:lpstr>
      <vt:lpstr>Calibri</vt:lpstr>
      <vt:lpstr>ABeeZee</vt:lpstr>
      <vt:lpstr>simple-light-2</vt:lpstr>
      <vt:lpstr>Understanding and calculating the range</vt:lpstr>
      <vt:lpstr>PowerPoint Presentation</vt:lpstr>
      <vt:lpstr>PowerPoint Presentation</vt:lpstr>
      <vt:lpstr>PowerPoint Presentation</vt:lpstr>
      <vt:lpstr>PowerPoint Presentation</vt:lpstr>
      <vt:lpstr>What is the range?</vt:lpstr>
      <vt:lpstr>What is the range?</vt:lpstr>
      <vt:lpstr>What is the range?</vt:lpstr>
      <vt:lpstr>What is the range?</vt:lpstr>
      <vt:lpstr>What is the range?</vt:lpstr>
      <vt:lpstr>What is the range?</vt:lpstr>
      <vt:lpstr>What is the range?</vt:lpstr>
      <vt:lpstr>What is the range?</vt:lpstr>
      <vt:lpstr>What is the range?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the range?</vt:lpstr>
      <vt:lpstr>Extreme values in different representations</vt:lpstr>
      <vt:lpstr>Extreme values in different representations</vt:lpstr>
      <vt:lpstr>Extreme values in different representations</vt:lpstr>
      <vt:lpstr>Extreme values in different representations</vt:lpstr>
      <vt:lpstr>Extreme values in different representations</vt:lpstr>
      <vt:lpstr>Extreme values in different representations</vt:lpstr>
      <vt:lpstr>Extreme values in different representations</vt:lpstr>
      <vt:lpstr>Extreme values in different representations</vt:lpstr>
      <vt:lpstr>Extreme values in different representations</vt:lpstr>
      <vt:lpstr>Extreme values in different representations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Understanding and calculating the range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2023-12-08T09:45:04.396</cp:lastPrinted>
  <dcterms:created xsi:type="dcterms:W3CDTF">2023-12-08T09:45:04Z</dcterms:created>
  <dcterms:modified xsi:type="dcterms:W3CDTF">2023-12-08T09:45:18Z</dcterms:modified>
</cp:coreProperties>
</file>