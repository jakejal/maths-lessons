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7D9EFA0-B1FA-4E57-853E-6A5D227115C9}">
  <a:tblStyle styleId="{37D9EFA0-B1FA-4E57-853E-6A5D227115C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9b9b8d4051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9b9b8d40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9b9b8d4051_0_7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9b9b8d405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Summarising data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713350"/>
            <a:ext cx="6624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Complete the information showing the mean, median, and mode for the following datasets.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380050"/>
            <a:ext cx="6624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Calculating all of the averages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5" name="Google Shape;165;p20"/>
          <p:cNvGraphicFramePr/>
          <p:nvPr/>
        </p:nvGraphicFramePr>
        <p:xfrm>
          <a:off x="806150" y="21678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{37D9EFA0-B1FA-4E57-853E-6A5D227115C9}</a:tableStyleId>
              </a:tblPr>
              <a:tblGrid>
                <a:gridCol w="660650"/>
                <a:gridCol w="660650"/>
                <a:gridCol w="660650"/>
                <a:gridCol w="660650"/>
                <a:gridCol w="660650"/>
                <a:gridCol w="6606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6" name="Google Shape;166;p20"/>
          <p:cNvSpPr txBox="1"/>
          <p:nvPr/>
        </p:nvSpPr>
        <p:spPr>
          <a:xfrm>
            <a:off x="468000" y="2195903"/>
            <a:ext cx="41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7" name="Google Shape;167;p20"/>
          <p:cNvGraphicFramePr/>
          <p:nvPr/>
        </p:nvGraphicFramePr>
        <p:xfrm>
          <a:off x="-159445" y="25531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{37D9EFA0-B1FA-4E57-853E-6A5D227115C9}</a:tableStyleId>
              </a:tblPr>
              <a:tblGrid>
                <a:gridCol w="1166575"/>
                <a:gridCol w="1166575"/>
                <a:gridCol w="1166575"/>
                <a:gridCol w="1166575"/>
                <a:gridCol w="1166575"/>
                <a:gridCol w="116657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3.83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8" name="Google Shape;168;p20"/>
          <p:cNvGraphicFramePr/>
          <p:nvPr/>
        </p:nvGraphicFramePr>
        <p:xfrm>
          <a:off x="806150" y="3284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{37D9EFA0-B1FA-4E57-853E-6A5D227115C9}</a:tableStyleId>
              </a:tblPr>
              <a:tblGrid>
                <a:gridCol w="667300"/>
                <a:gridCol w="667300"/>
                <a:gridCol w="667300"/>
                <a:gridCol w="667300"/>
                <a:gridCol w="667300"/>
                <a:gridCol w="667300"/>
                <a:gridCol w="6673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9" name="Google Shape;169;p20"/>
          <p:cNvSpPr txBox="1"/>
          <p:nvPr/>
        </p:nvSpPr>
        <p:spPr>
          <a:xfrm>
            <a:off x="468000" y="3313000"/>
            <a:ext cx="41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0" name="Google Shape;170;p20"/>
          <p:cNvGraphicFramePr/>
          <p:nvPr/>
        </p:nvGraphicFramePr>
        <p:xfrm>
          <a:off x="-159445" y="36792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{37D9EFA0-B1FA-4E57-853E-6A5D227115C9}</a:tableStyleId>
              </a:tblPr>
              <a:tblGrid>
                <a:gridCol w="1166575"/>
                <a:gridCol w="1166575"/>
                <a:gridCol w="1166575"/>
                <a:gridCol w="1166575"/>
                <a:gridCol w="1166575"/>
                <a:gridCol w="116657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1" name="Google Shape;171;p20"/>
          <p:cNvGraphicFramePr/>
          <p:nvPr/>
        </p:nvGraphicFramePr>
        <p:xfrm>
          <a:off x="806150" y="4402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{37D9EFA0-B1FA-4E57-853E-6A5D227115C9}</a:tableStyleId>
              </a:tblPr>
              <a:tblGrid>
                <a:gridCol w="673775"/>
                <a:gridCol w="673775"/>
                <a:gridCol w="673775"/>
                <a:gridCol w="673775"/>
                <a:gridCol w="673775"/>
                <a:gridCol w="673775"/>
                <a:gridCol w="673775"/>
                <a:gridCol w="673775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2" name="Google Shape;172;p20"/>
          <p:cNvSpPr txBox="1"/>
          <p:nvPr/>
        </p:nvSpPr>
        <p:spPr>
          <a:xfrm>
            <a:off x="468000" y="4430100"/>
            <a:ext cx="41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3" name="Google Shape;173;p20"/>
          <p:cNvGraphicFramePr/>
          <p:nvPr/>
        </p:nvGraphicFramePr>
        <p:xfrm>
          <a:off x="-159445" y="47963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{37D9EFA0-B1FA-4E57-853E-6A5D227115C9}</a:tableStyleId>
              </a:tblPr>
              <a:tblGrid>
                <a:gridCol w="1193150"/>
                <a:gridCol w="1193150"/>
                <a:gridCol w="1193150"/>
                <a:gridCol w="1193150"/>
                <a:gridCol w="1193150"/>
                <a:gridCol w="11931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  mode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4" name="Google Shape;174;p20"/>
          <p:cNvSpPr txBox="1"/>
          <p:nvPr/>
        </p:nvSpPr>
        <p:spPr>
          <a:xfrm>
            <a:off x="468000" y="5377950"/>
            <a:ext cx="8495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Calculate the mean, median, and mode of these three datasets.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/>
          <p:nvPr/>
        </p:nvGraphicFramePr>
        <p:xfrm>
          <a:off x="806150" y="57230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{37D9EFA0-B1FA-4E57-853E-6A5D227115C9}</a:tableStyleId>
              </a:tblPr>
              <a:tblGrid>
                <a:gridCol w="660650"/>
                <a:gridCol w="660650"/>
                <a:gridCol w="660650"/>
                <a:gridCol w="660650"/>
                <a:gridCol w="6606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" name="Google Shape;176;p20"/>
          <p:cNvSpPr txBox="1"/>
          <p:nvPr/>
        </p:nvSpPr>
        <p:spPr>
          <a:xfrm>
            <a:off x="468000" y="5751153"/>
            <a:ext cx="41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7" name="Google Shape;177;p20"/>
          <p:cNvGraphicFramePr/>
          <p:nvPr/>
        </p:nvGraphicFramePr>
        <p:xfrm>
          <a:off x="-159445" y="61193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{37D9EFA0-B1FA-4E57-853E-6A5D227115C9}</a:tableStyleId>
              </a:tblPr>
              <a:tblGrid>
                <a:gridCol w="1208575"/>
                <a:gridCol w="1208575"/>
                <a:gridCol w="1208575"/>
                <a:gridCol w="1208575"/>
                <a:gridCol w="1208575"/>
                <a:gridCol w="120857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8" name="Google Shape;178;p20"/>
          <p:cNvGraphicFramePr/>
          <p:nvPr/>
        </p:nvGraphicFramePr>
        <p:xfrm>
          <a:off x="806150" y="6840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{37D9EFA0-B1FA-4E57-853E-6A5D227115C9}</a:tableStyleId>
              </a:tblPr>
              <a:tblGrid>
                <a:gridCol w="667300"/>
                <a:gridCol w="667300"/>
                <a:gridCol w="667300"/>
                <a:gridCol w="667300"/>
                <a:gridCol w="667300"/>
                <a:gridCol w="6673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9" name="Google Shape;179;p20"/>
          <p:cNvSpPr txBox="1"/>
          <p:nvPr/>
        </p:nvSpPr>
        <p:spPr>
          <a:xfrm>
            <a:off x="468000" y="6868250"/>
            <a:ext cx="41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0" name="Google Shape;180;p20"/>
          <p:cNvGraphicFramePr/>
          <p:nvPr/>
        </p:nvGraphicFramePr>
        <p:xfrm>
          <a:off x="-247245" y="72355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{37D9EFA0-B1FA-4E57-853E-6A5D227115C9}</a:tableStyleId>
              </a:tblPr>
              <a:tblGrid>
                <a:gridCol w="1223200"/>
                <a:gridCol w="1223200"/>
                <a:gridCol w="1223200"/>
                <a:gridCol w="1223200"/>
                <a:gridCol w="1223200"/>
                <a:gridCol w="12232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1" name="Google Shape;181;p20"/>
          <p:cNvGraphicFramePr/>
          <p:nvPr/>
        </p:nvGraphicFramePr>
        <p:xfrm>
          <a:off x="806150" y="7957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{37D9EFA0-B1FA-4E57-853E-6A5D227115C9}</a:tableStyleId>
              </a:tblPr>
              <a:tblGrid>
                <a:gridCol w="598900"/>
                <a:gridCol w="598900"/>
                <a:gridCol w="598900"/>
                <a:gridCol w="598900"/>
                <a:gridCol w="598900"/>
                <a:gridCol w="598900"/>
                <a:gridCol w="598900"/>
                <a:gridCol w="598900"/>
                <a:gridCol w="5989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2" name="Google Shape;182;p20"/>
          <p:cNvSpPr txBox="1"/>
          <p:nvPr/>
        </p:nvSpPr>
        <p:spPr>
          <a:xfrm>
            <a:off x="468000" y="7985350"/>
            <a:ext cx="41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3" name="Google Shape;183;p20"/>
          <p:cNvGraphicFramePr/>
          <p:nvPr/>
        </p:nvGraphicFramePr>
        <p:xfrm>
          <a:off x="-159445" y="84060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{37D9EFA0-B1FA-4E57-853E-6A5D227115C9}</a:tableStyleId>
              </a:tblPr>
              <a:tblGrid>
                <a:gridCol w="1208575"/>
                <a:gridCol w="1208575"/>
                <a:gridCol w="1208575"/>
                <a:gridCol w="1208575"/>
                <a:gridCol w="1208575"/>
                <a:gridCol w="120857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4" name="Google Shape;184;p20"/>
          <p:cNvSpPr txBox="1"/>
          <p:nvPr/>
        </p:nvSpPr>
        <p:spPr>
          <a:xfrm>
            <a:off x="468000" y="8978675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For question 2, which of the datasets was the odd one out? Justify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5" name="Google Shape;185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Summarising data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468000" y="3216900"/>
            <a:ext cx="6861600" cy="20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Calculate the mean of this dataset.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Explain whether the mean is a representative summary of the dataset or not.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462750" y="1047300"/>
            <a:ext cx="4507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Match the mean to each dataset.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468000" y="7101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Dealing with an unrepresentative mean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4" name="Google Shape;194;p21"/>
          <p:cNvGraphicFramePr/>
          <p:nvPr/>
        </p:nvGraphicFramePr>
        <p:xfrm>
          <a:off x="835200" y="23332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{37D9EFA0-B1FA-4E57-853E-6A5D227115C9}</a:tableStyleId>
              </a:tblPr>
              <a:tblGrid>
                <a:gridCol w="526850"/>
                <a:gridCol w="526850"/>
                <a:gridCol w="526850"/>
                <a:gridCol w="526850"/>
                <a:gridCol w="526850"/>
                <a:gridCol w="526850"/>
                <a:gridCol w="526850"/>
                <a:gridCol w="5268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5" name="Google Shape;195;p21"/>
          <p:cNvGraphicFramePr/>
          <p:nvPr/>
        </p:nvGraphicFramePr>
        <p:xfrm>
          <a:off x="835200" y="18892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{37D9EFA0-B1FA-4E57-853E-6A5D227115C9}</a:tableStyleId>
              </a:tblPr>
              <a:tblGrid>
                <a:gridCol w="468300"/>
                <a:gridCol w="468300"/>
                <a:gridCol w="468300"/>
                <a:gridCol w="468300"/>
                <a:gridCol w="468300"/>
                <a:gridCol w="468300"/>
                <a:gridCol w="468300"/>
                <a:gridCol w="468300"/>
                <a:gridCol w="4683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6" name="Google Shape;196;p21"/>
          <p:cNvGraphicFramePr/>
          <p:nvPr/>
        </p:nvGraphicFramePr>
        <p:xfrm>
          <a:off x="835200" y="14453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{37D9EFA0-B1FA-4E57-853E-6A5D227115C9}</a:tableStyleId>
              </a:tblPr>
              <a:tblGrid>
                <a:gridCol w="468300"/>
                <a:gridCol w="468300"/>
                <a:gridCol w="468300"/>
                <a:gridCol w="468300"/>
                <a:gridCol w="468300"/>
                <a:gridCol w="468300"/>
                <a:gridCol w="468300"/>
                <a:gridCol w="468300"/>
                <a:gridCol w="4683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7" name="Google Shape;197;p21"/>
          <p:cNvSpPr txBox="1"/>
          <p:nvPr/>
        </p:nvSpPr>
        <p:spPr>
          <a:xfrm>
            <a:off x="462750" y="1445283"/>
            <a:ext cx="3726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62750" y="1889246"/>
            <a:ext cx="3726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62750" y="2333221"/>
            <a:ext cx="3726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5731200" y="1193058"/>
            <a:ext cx="1360800" cy="277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mean = </a:t>
            </a:r>
            <a:r>
              <a:rPr lang="en-GB" sz="1200">
                <a:solidFill>
                  <a:srgbClr val="202124"/>
                </a:solidFill>
                <a:highlight>
                  <a:srgbClr val="FFFFFF"/>
                </a:highlight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5731200" y="1682292"/>
            <a:ext cx="1360800" cy="277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mean = 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5731200" y="2171525"/>
            <a:ext cx="1360800" cy="277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mean = 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5731200" y="2660758"/>
            <a:ext cx="1360800" cy="277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mean = 14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4" name="Google Shape;204;p21"/>
          <p:cNvGraphicFramePr/>
          <p:nvPr/>
        </p:nvGraphicFramePr>
        <p:xfrm>
          <a:off x="1058700" y="3236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{37D9EFA0-B1FA-4E57-853E-6A5D227115C9}</a:tableStyleId>
              </a:tblPr>
              <a:tblGrid>
                <a:gridCol w="558100"/>
                <a:gridCol w="558100"/>
                <a:gridCol w="558100"/>
                <a:gridCol w="558100"/>
                <a:gridCol w="558100"/>
                <a:gridCol w="558100"/>
                <a:gridCol w="558100"/>
                <a:gridCol w="558100"/>
                <a:gridCol w="558100"/>
                <a:gridCol w="5581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5" name="Google Shape;205;p21"/>
          <p:cNvSpPr txBox="1"/>
          <p:nvPr/>
        </p:nvSpPr>
        <p:spPr>
          <a:xfrm>
            <a:off x="468000" y="6327550"/>
            <a:ext cx="430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Match the mean to each dot plot.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682209" y="6707925"/>
            <a:ext cx="1360800" cy="15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mean = 5.3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682209" y="6975350"/>
            <a:ext cx="1360800" cy="15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mean = 10.2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682209" y="7242800"/>
            <a:ext cx="1360800" cy="15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mean = 11.9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682208" y="7510250"/>
            <a:ext cx="1360800" cy="151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mean = 17.1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0" name="Google Shape;2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0002" y="6207382"/>
            <a:ext cx="1099375" cy="2347154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1" name="Google Shape;21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7374" y="6206400"/>
            <a:ext cx="1026854" cy="234715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2" name="Google Shape;212;p21"/>
          <p:cNvPicPr preferRelativeResize="0"/>
          <p:nvPr/>
        </p:nvPicPr>
        <p:blipFill rotWithShape="1">
          <a:blip r:embed="rId5">
            <a:alphaModFix/>
          </a:blip>
          <a:srcRect b="0" l="0" r="10889" t="0"/>
          <a:stretch/>
        </p:blipFill>
        <p:spPr>
          <a:xfrm>
            <a:off x="5722217" y="6206400"/>
            <a:ext cx="1123285" cy="234715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3" name="Google Shape;213;p21"/>
          <p:cNvSpPr txBox="1"/>
          <p:nvPr/>
        </p:nvSpPr>
        <p:spPr>
          <a:xfrm>
            <a:off x="3357950" y="6098225"/>
            <a:ext cx="46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564050" y="6098225"/>
            <a:ext cx="46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5675000" y="6098225"/>
            <a:ext cx="46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Summarising data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468000" y="612850"/>
            <a:ext cx="661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Dealing with an unrepresentative median or mode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468000" y="932847"/>
            <a:ext cx="66240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For which one of these datasets is the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median the more representative summary, and for which one is the mode the more representative summary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must write one sentence why you chose that one over the other.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4" name="Google Shape;2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476" y="1757893"/>
            <a:ext cx="2417443" cy="90654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25" name="Google Shape;225;p22"/>
          <p:cNvGrpSpPr/>
          <p:nvPr/>
        </p:nvGrpSpPr>
        <p:grpSpPr>
          <a:xfrm>
            <a:off x="4016580" y="1757857"/>
            <a:ext cx="1756261" cy="942451"/>
            <a:chOff x="4821227" y="1538842"/>
            <a:chExt cx="3998774" cy="2145835"/>
          </a:xfrm>
        </p:grpSpPr>
        <p:pic>
          <p:nvPicPr>
            <p:cNvPr id="226" name="Google Shape;226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821227" y="1538842"/>
              <a:ext cx="3998774" cy="2145835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227" name="Google Shape;227;p22"/>
            <p:cNvPicPr preferRelativeResize="0"/>
            <p:nvPr/>
          </p:nvPicPr>
          <p:blipFill rotWithShape="1">
            <a:blip r:embed="rId4">
              <a:alphaModFix/>
            </a:blip>
            <a:srcRect b="11803" l="7355" r="84880" t="22981"/>
            <a:stretch/>
          </p:blipFill>
          <p:spPr>
            <a:xfrm>
              <a:off x="8145886" y="2032000"/>
              <a:ext cx="310449" cy="139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22"/>
            <p:cNvPicPr preferRelativeResize="0"/>
            <p:nvPr/>
          </p:nvPicPr>
          <p:blipFill rotWithShape="1">
            <a:blip r:embed="rId4">
              <a:alphaModFix/>
            </a:blip>
            <a:srcRect b="11804" l="7355" r="84880" t="67525"/>
            <a:stretch/>
          </p:blipFill>
          <p:spPr>
            <a:xfrm>
              <a:off x="8480575" y="2987850"/>
              <a:ext cx="310449" cy="4435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9" name="Google Shape;229;p22"/>
          <p:cNvSpPr txBox="1"/>
          <p:nvPr/>
        </p:nvSpPr>
        <p:spPr>
          <a:xfrm>
            <a:off x="468000" y="3834758"/>
            <a:ext cx="66240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Answer parts a, b, and c for both these datasets.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467993" y="5169733"/>
            <a:ext cx="62751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Calculate the mean, median, and mode for this dataset.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Which averages do you think are the most representative summaries of this dataset?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What benefit might there be to still using the average that is least representative?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1" name="Google Shape;231;p22"/>
          <p:cNvGraphicFramePr/>
          <p:nvPr/>
        </p:nvGraphicFramePr>
        <p:xfrm>
          <a:off x="1448613" y="4090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{37D9EFA0-B1FA-4E57-853E-6A5D227115C9}</a:tableStyleId>
              </a:tblPr>
              <a:tblGrid>
                <a:gridCol w="403100"/>
                <a:gridCol w="403100"/>
                <a:gridCol w="403100"/>
                <a:gridCol w="403100"/>
                <a:gridCol w="403100"/>
                <a:gridCol w="403100"/>
                <a:gridCol w="403100"/>
                <a:gridCol w="403100"/>
                <a:gridCol w="403100"/>
                <a:gridCol w="403100"/>
                <a:gridCol w="403100"/>
                <a:gridCol w="403100"/>
                <a:gridCol w="403100"/>
                <a:gridCol w="403100"/>
              </a:tblGrid>
              <a:tr h="39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2" name="Google Shape;232;p22"/>
          <p:cNvGraphicFramePr/>
          <p:nvPr/>
        </p:nvGraphicFramePr>
        <p:xfrm>
          <a:off x="1448475" y="47384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{37D9EFA0-B1FA-4E57-853E-6A5D227115C9}</a:tableStyleId>
              </a:tblPr>
              <a:tblGrid>
                <a:gridCol w="434100"/>
                <a:gridCol w="434100"/>
                <a:gridCol w="434100"/>
                <a:gridCol w="434100"/>
                <a:gridCol w="434100"/>
                <a:gridCol w="434100"/>
                <a:gridCol w="434100"/>
                <a:gridCol w="434100"/>
                <a:gridCol w="434100"/>
                <a:gridCol w="434100"/>
                <a:gridCol w="434100"/>
                <a:gridCol w="434100"/>
                <a:gridCol w="434100"/>
              </a:tblGrid>
              <a:tr h="39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3" name="Google Shape;233;p22"/>
          <p:cNvSpPr txBox="1"/>
          <p:nvPr/>
        </p:nvSpPr>
        <p:spPr>
          <a:xfrm>
            <a:off x="10788" y="4094595"/>
            <a:ext cx="11718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dataset 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10788" y="4742808"/>
            <a:ext cx="11718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dataset 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842475" y="2737497"/>
            <a:ext cx="1269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median =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4002600" y="2752625"/>
            <a:ext cx="15132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lphaLcParenR" startAt="2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median = 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38" name="Google Shape;238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