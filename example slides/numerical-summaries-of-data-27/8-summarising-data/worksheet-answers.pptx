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4"/>
    <p:sldMasterId id="2147483666" r:id="rId5"/>
  </p:sldMasterIdLst>
  <p:notesMasterIdLst>
    <p:notesMasterId r:id="rId6"/>
  </p:notesMasterIdLst>
  <p:sldIdLst>
    <p:sldId id="256" r:id="rId7"/>
    <p:sldId id="257" r:id="rId8"/>
    <p:sldId id="258" r:id="rId9"/>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E74BE41-31CC-49F5-AA4C-077352E049A1}">
  <a:tblStyle styleId="{2E74BE41-31CC-49F5-AA4C-077352E049A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9b967f5fa8_0_0: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9b967f5f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9b967f5fa8_0_11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9b967f5fa8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p:cSld name="SECTION_HEADER_1_1_1_1_1_1_1_1_1_2_2">
    <p:spTree>
      <p:nvGrpSpPr>
        <p:cNvPr id="9" name="Shape 9"/>
        <p:cNvGrpSpPr/>
        <p:nvPr/>
      </p:nvGrpSpPr>
      <p:grpSpPr>
        <a:xfrm>
          <a:off x="0" y="0"/>
          <a:ext cx="0" cy="0"/>
          <a:chOff x="0" y="0"/>
          <a:chExt cx="0" cy="0"/>
        </a:xfrm>
      </p:grpSpPr>
      <p:sp>
        <p:nvSpPr>
          <p:cNvPr id="10" name="Google Shape;10;p2"/>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 name="Google Shape;11;p2"/>
          <p:cNvSpPr txBox="1"/>
          <p:nvPr>
            <p:ph idx="1"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2" name="Google Shape;12;p2"/>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pic>
        <p:nvPicPr>
          <p:cNvPr id="14" name="Google Shape;14;p2"/>
          <p:cNvPicPr preferRelativeResize="0"/>
          <p:nvPr/>
        </p:nvPicPr>
        <p:blipFill>
          <a:blip r:embed="rId4">
            <a:alphaModFix/>
          </a:blip>
          <a:stretch>
            <a:fillRect/>
          </a:stretch>
        </p:blipFill>
        <p:spPr>
          <a:xfrm>
            <a:off x="6261625" y="161271"/>
            <a:ext cx="805956" cy="498600"/>
          </a:xfrm>
          <a:prstGeom prst="rect">
            <a:avLst/>
          </a:prstGeom>
          <a:noFill/>
          <a:ln>
            <a:noFill/>
          </a:ln>
        </p:spPr>
      </p:pic>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1">
  <p:cSld name="SECTION_HEADER_1_1_1_1_1_1_1_1_1_2_1">
    <p:spTree>
      <p:nvGrpSpPr>
        <p:cNvPr id="15" name="Shape 15"/>
        <p:cNvGrpSpPr/>
        <p:nvPr/>
      </p:nvGrpSpPr>
      <p:grpSpPr>
        <a:xfrm>
          <a:off x="0" y="0"/>
          <a:ext cx="0" cy="0"/>
          <a:chOff x="0" y="0"/>
          <a:chExt cx="0" cy="0"/>
        </a:xfrm>
      </p:grpSpPr>
      <p:sp>
        <p:nvSpPr>
          <p:cNvPr id="16" name="Google Shape;16;p3"/>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 name="Google Shape;17;p3"/>
          <p:cNvSpPr txBox="1"/>
          <p:nvPr>
            <p:ph idx="1" type="subTitle"/>
          </p:nvPr>
        </p:nvSpPr>
        <p:spPr>
          <a:xfrm>
            <a:off x="466825" y="17801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 name="Google Shape;18;p3"/>
          <p:cNvSpPr txBox="1"/>
          <p:nvPr>
            <p:ph idx="2" type="subTitle"/>
          </p:nvPr>
        </p:nvSpPr>
        <p:spPr>
          <a:xfrm>
            <a:off x="2807400"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 name="Google Shape;19;p3"/>
          <p:cNvSpPr txBox="1"/>
          <p:nvPr>
            <p:ph idx="3"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 name="Google Shape;20;p3"/>
          <p:cNvSpPr txBox="1"/>
          <p:nvPr>
            <p:ph idx="4" type="subTitle"/>
          </p:nvPr>
        </p:nvSpPr>
        <p:spPr>
          <a:xfrm>
            <a:off x="4127250"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p:nvPr>
            <p:ph idx="5" type="subTitle"/>
          </p:nvPr>
        </p:nvSpPr>
        <p:spPr>
          <a:xfrm>
            <a:off x="468000" y="5866375"/>
            <a:ext cx="65817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 name="Google Shape;22;p3"/>
          <p:cNvSpPr txBox="1"/>
          <p:nvPr>
            <p:ph idx="6" type="subTitle"/>
          </p:nvPr>
        </p:nvSpPr>
        <p:spPr>
          <a:xfrm>
            <a:off x="466825"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 name="Google Shape;23;p3"/>
          <p:cNvSpPr txBox="1"/>
          <p:nvPr>
            <p:ph idx="7" type="subTitle"/>
          </p:nvPr>
        </p:nvSpPr>
        <p:spPr>
          <a:xfrm>
            <a:off x="46682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4" name="Google Shape;24;p3"/>
          <p:cNvSpPr txBox="1"/>
          <p:nvPr>
            <p:ph idx="8" type="subTitle"/>
          </p:nvPr>
        </p:nvSpPr>
        <p:spPr>
          <a:xfrm>
            <a:off x="514797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25" name="Google Shape;25;p3"/>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26" name="Google Shape;26;p3"/>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grpSp>
        <p:nvGrpSpPr>
          <p:cNvPr id="27" name="Google Shape;27;p3"/>
          <p:cNvGrpSpPr/>
          <p:nvPr/>
        </p:nvGrpSpPr>
        <p:grpSpPr>
          <a:xfrm>
            <a:off x="466900" y="962525"/>
            <a:ext cx="2953200" cy="162000"/>
            <a:chOff x="466900" y="962525"/>
            <a:chExt cx="2953200" cy="162000"/>
          </a:xfrm>
        </p:grpSpPr>
        <p:sp>
          <p:nvSpPr>
            <p:cNvPr id="28" name="Google Shape;28;p3"/>
            <p:cNvSpPr txBox="1"/>
            <p:nvPr/>
          </p:nvSpPr>
          <p:spPr>
            <a:xfrm>
              <a:off x="466900" y="962525"/>
              <a:ext cx="29532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000">
                  <a:solidFill>
                    <a:schemeClr val="dk2"/>
                  </a:solidFill>
                  <a:latin typeface="Lexend"/>
                  <a:ea typeface="Lexend"/>
                  <a:cs typeface="Lexend"/>
                  <a:sym typeface="Lexend"/>
                </a:rPr>
                <a:t>Name</a:t>
              </a:r>
              <a:r>
                <a:rPr b="1" lang="en-GB" sz="1000">
                  <a:solidFill>
                    <a:schemeClr val="dk2"/>
                  </a:solidFill>
                  <a:latin typeface="Lexend"/>
                  <a:ea typeface="Lexend"/>
                  <a:cs typeface="Lexend"/>
                  <a:sym typeface="Lexend"/>
                </a:rPr>
                <a:t>: </a:t>
              </a:r>
              <a:endParaRPr b="1" sz="1000">
                <a:solidFill>
                  <a:schemeClr val="dk2"/>
                </a:solidFill>
                <a:latin typeface="Lexend"/>
                <a:ea typeface="Lexend"/>
                <a:cs typeface="Lexend"/>
                <a:sym typeface="Lexend"/>
              </a:endParaRPr>
            </a:p>
          </p:txBody>
        </p:sp>
        <p:cxnSp>
          <p:nvCxnSpPr>
            <p:cNvPr id="29" name="Google Shape;29;p3"/>
            <p:cNvCxnSpPr/>
            <p:nvPr/>
          </p:nvCxnSpPr>
          <p:spPr>
            <a:xfrm flipH="1" rot="10800000">
              <a:off x="943904" y="1116425"/>
              <a:ext cx="1998900" cy="8100"/>
            </a:xfrm>
            <a:prstGeom prst="straightConnector1">
              <a:avLst/>
            </a:prstGeom>
            <a:noFill/>
            <a:ln cap="flat" cmpd="sng" w="9525">
              <a:solidFill>
                <a:schemeClr val="dk2"/>
              </a:solidFill>
              <a:prstDash val="solid"/>
              <a:round/>
              <a:headEnd len="med" w="med" type="none"/>
              <a:tailEnd len="med" w="med" type="none"/>
            </a:ln>
          </p:spPr>
        </p:cxnSp>
      </p:grpSp>
      <p:pic>
        <p:nvPicPr>
          <p:cNvPr id="30" name="Google Shape;30;p3"/>
          <p:cNvPicPr preferRelativeResize="0"/>
          <p:nvPr/>
        </p:nvPicPr>
        <p:blipFill>
          <a:blip r:embed="rId4">
            <a:alphaModFix/>
          </a:blip>
          <a:stretch>
            <a:fillRect/>
          </a:stretch>
        </p:blipFill>
        <p:spPr>
          <a:xfrm>
            <a:off x="6261625" y="161271"/>
            <a:ext cx="805956" cy="498600"/>
          </a:xfrm>
          <a:prstGeom prst="rect">
            <a:avLst/>
          </a:prstGeom>
          <a:noFill/>
          <a:ln>
            <a:noFill/>
          </a:ln>
        </p:spPr>
      </p:pic>
      <p:sp>
        <p:nvSpPr>
          <p:cNvPr id="31" name="Google Shape;31;p3"/>
          <p:cNvSpPr txBox="1"/>
          <p:nvPr>
            <p:ph idx="9" type="subTitle"/>
          </p:nvPr>
        </p:nvSpPr>
        <p:spPr>
          <a:xfrm>
            <a:off x="466825" y="13698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1">
  <p:cSld name="SECTION_HEADER_1_1_1_1_1_1_1_1_1_1">
    <p:spTree>
      <p:nvGrpSpPr>
        <p:cNvPr id="32" name="Shape 32"/>
        <p:cNvGrpSpPr/>
        <p:nvPr/>
      </p:nvGrpSpPr>
      <p:grpSpPr>
        <a:xfrm>
          <a:off x="0" y="0"/>
          <a:ext cx="0" cy="0"/>
          <a:chOff x="0" y="0"/>
          <a:chExt cx="0" cy="0"/>
        </a:xfrm>
      </p:grpSpPr>
      <p:sp>
        <p:nvSpPr>
          <p:cNvPr id="33" name="Google Shape;33;p4"/>
          <p:cNvSpPr txBox="1"/>
          <p:nvPr>
            <p:ph idx="1" type="subTitle"/>
          </p:nvPr>
        </p:nvSpPr>
        <p:spPr>
          <a:xfrm>
            <a:off x="466825" y="16277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 name="Google Shape;34;p4"/>
          <p:cNvSpPr txBox="1"/>
          <p:nvPr>
            <p:ph idx="2" type="subTitle"/>
          </p:nvPr>
        </p:nvSpPr>
        <p:spPr>
          <a:xfrm>
            <a:off x="4127250"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 name="Google Shape;35;p4"/>
          <p:cNvSpPr txBox="1"/>
          <p:nvPr>
            <p:ph idx="3" type="subTitle"/>
          </p:nvPr>
        </p:nvSpPr>
        <p:spPr>
          <a:xfrm>
            <a:off x="466825"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36" name="Google Shape;36;p4"/>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37" name="Google Shape;37;p4"/>
          <p:cNvSpPr txBox="1"/>
          <p:nvPr>
            <p:ph idx="4"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2">
  <p:cSld name="SECTION_HEADER_1_1_1_1_1_1_1_1_1_1_1">
    <p:spTree>
      <p:nvGrpSpPr>
        <p:cNvPr id="38" name="Shape 38"/>
        <p:cNvGrpSpPr/>
        <p:nvPr/>
      </p:nvGrpSpPr>
      <p:grpSpPr>
        <a:xfrm>
          <a:off x="0" y="0"/>
          <a:ext cx="0" cy="0"/>
          <a:chOff x="0" y="0"/>
          <a:chExt cx="0" cy="0"/>
        </a:xfrm>
      </p:grpSpPr>
      <p:sp>
        <p:nvSpPr>
          <p:cNvPr id="39" name="Google Shape;39;p5"/>
          <p:cNvSpPr txBox="1"/>
          <p:nvPr>
            <p:ph idx="1" type="subTitle"/>
          </p:nvPr>
        </p:nvSpPr>
        <p:spPr>
          <a:xfrm>
            <a:off x="2807400"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5"/>
          <p:cNvSpPr txBox="1"/>
          <p:nvPr>
            <p:ph idx="2" type="subTitle"/>
          </p:nvPr>
        </p:nvSpPr>
        <p:spPr>
          <a:xfrm>
            <a:off x="467950" y="2493013"/>
            <a:ext cx="66240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1" name="Google Shape;41;p5"/>
          <p:cNvSpPr txBox="1"/>
          <p:nvPr>
            <p:ph idx="3" type="subTitle"/>
          </p:nvPr>
        </p:nvSpPr>
        <p:spPr>
          <a:xfrm>
            <a:off x="46682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 name="Google Shape;42;p5"/>
          <p:cNvSpPr txBox="1"/>
          <p:nvPr>
            <p:ph idx="4" type="subTitle"/>
          </p:nvPr>
        </p:nvSpPr>
        <p:spPr>
          <a:xfrm>
            <a:off x="514797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43" name="Google Shape;43;p5"/>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44" name="Google Shape;44;p5"/>
          <p:cNvSpPr txBox="1"/>
          <p:nvPr>
            <p:ph idx="5"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3">
  <p:cSld name="SECTION_HEADER_1_1_1_1_1_1_1_1_1_1_1_2">
    <p:spTree>
      <p:nvGrpSpPr>
        <p:cNvPr id="45" name="Shape 45"/>
        <p:cNvGrpSpPr/>
        <p:nvPr/>
      </p:nvGrpSpPr>
      <p:grpSpPr>
        <a:xfrm>
          <a:off x="0" y="0"/>
          <a:ext cx="0" cy="0"/>
          <a:chOff x="0" y="0"/>
          <a:chExt cx="0" cy="0"/>
        </a:xfrm>
      </p:grpSpPr>
      <p:sp>
        <p:nvSpPr>
          <p:cNvPr id="46" name="Google Shape;46;p6"/>
          <p:cNvSpPr txBox="1"/>
          <p:nvPr>
            <p:ph idx="1" type="subTitle"/>
          </p:nvPr>
        </p:nvSpPr>
        <p:spPr>
          <a:xfrm>
            <a:off x="46682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7" name="Google Shape;47;p6"/>
          <p:cNvSpPr txBox="1"/>
          <p:nvPr>
            <p:ph idx="2" type="subTitle"/>
          </p:nvPr>
        </p:nvSpPr>
        <p:spPr>
          <a:xfrm>
            <a:off x="2807400"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8" name="Google Shape;48;p6"/>
          <p:cNvSpPr txBox="1"/>
          <p:nvPr>
            <p:ph idx="3" type="subTitle"/>
          </p:nvPr>
        </p:nvSpPr>
        <p:spPr>
          <a:xfrm>
            <a:off x="514797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6"/>
          <p:cNvSpPr txBox="1"/>
          <p:nvPr>
            <p:ph idx="4" type="subTitle"/>
          </p:nvPr>
        </p:nvSpPr>
        <p:spPr>
          <a:xfrm>
            <a:off x="466825" y="170220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0" name="Google Shape;50;p6"/>
          <p:cNvSpPr txBox="1"/>
          <p:nvPr>
            <p:ph idx="5" type="subTitle"/>
          </p:nvPr>
        </p:nvSpPr>
        <p:spPr>
          <a:xfrm>
            <a:off x="466825"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1" name="Google Shape;51;p6"/>
          <p:cNvSpPr txBox="1"/>
          <p:nvPr>
            <p:ph idx="6" type="subTitle"/>
          </p:nvPr>
        </p:nvSpPr>
        <p:spPr>
          <a:xfrm>
            <a:off x="4127250"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2" name="Google Shape;52;p6"/>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3" name="Google Shape;53;p6"/>
          <p:cNvSpPr txBox="1"/>
          <p:nvPr>
            <p:ph idx="7"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4">
  <p:cSld name="SECTION_HEADER_1_1_1_1_1_1_1_1_1_1_1_2_1">
    <p:spTree>
      <p:nvGrpSpPr>
        <p:cNvPr id="54" name="Shape 54"/>
        <p:cNvGrpSpPr/>
        <p:nvPr/>
      </p:nvGrpSpPr>
      <p:grpSpPr>
        <a:xfrm>
          <a:off x="0" y="0"/>
          <a:ext cx="0" cy="0"/>
          <a:chOff x="0" y="0"/>
          <a:chExt cx="0" cy="0"/>
        </a:xfrm>
      </p:grpSpPr>
      <p:sp>
        <p:nvSpPr>
          <p:cNvPr id="55" name="Google Shape;55;p7"/>
          <p:cNvSpPr txBox="1"/>
          <p:nvPr>
            <p:ph idx="1" type="subTitle"/>
          </p:nvPr>
        </p:nvSpPr>
        <p:spPr>
          <a:xfrm>
            <a:off x="468000" y="1327649"/>
            <a:ext cx="6624000" cy="38436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6" name="Google Shape;56;p7"/>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7" name="Google Shape;57;p7"/>
          <p:cNvSpPr txBox="1"/>
          <p:nvPr>
            <p:ph idx="2"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lements to copy and paste">
  <p:cSld name="SECTION_HEADER_1_1_1_1_1_1_1_1_1_1_1_2_1_1">
    <p:spTree>
      <p:nvGrpSpPr>
        <p:cNvPr id="58" name="Shape 58"/>
        <p:cNvGrpSpPr/>
        <p:nvPr/>
      </p:nvGrpSpPr>
      <p:grpSpPr>
        <a:xfrm>
          <a:off x="0" y="0"/>
          <a:ext cx="0" cy="0"/>
          <a:chOff x="0" y="0"/>
          <a:chExt cx="0" cy="0"/>
        </a:xfrm>
      </p:grpSpPr>
      <p:sp>
        <p:nvSpPr>
          <p:cNvPr id="59" name="Google Shape;59;p8"/>
          <p:cNvSpPr txBox="1"/>
          <p:nvPr/>
        </p:nvSpPr>
        <p:spPr>
          <a:xfrm>
            <a:off x="493450" y="416654"/>
            <a:ext cx="6624000" cy="2154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GB">
                <a:latin typeface="Lexend"/>
                <a:ea typeface="Lexend"/>
                <a:cs typeface="Lexend"/>
                <a:sym typeface="Lexend"/>
              </a:rPr>
              <a:t>Elements to copy and paste</a:t>
            </a:r>
            <a:endParaRPr sz="1100">
              <a:latin typeface="Lexend"/>
              <a:ea typeface="Lexend"/>
              <a:cs typeface="Lexend"/>
              <a:sym typeface="Lexend"/>
            </a:endParaRPr>
          </a:p>
        </p:txBody>
      </p:sp>
      <p:pic>
        <p:nvPicPr>
          <p:cNvPr id="60" name="Google Shape;60;p8"/>
          <p:cNvPicPr preferRelativeResize="0"/>
          <p:nvPr/>
        </p:nvPicPr>
        <p:blipFill>
          <a:blip r:embed="rId2">
            <a:alphaModFix/>
          </a:blip>
          <a:stretch>
            <a:fillRect/>
          </a:stretch>
        </p:blipFill>
        <p:spPr>
          <a:xfrm>
            <a:off x="6886512" y="10041210"/>
            <a:ext cx="181075" cy="246288"/>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65" name="Shape 65"/>
        <p:cNvGrpSpPr/>
        <p:nvPr/>
      </p:nvGrpSpPr>
      <p:grpSpPr>
        <a:xfrm>
          <a:off x="0" y="0"/>
          <a:ext cx="0" cy="0"/>
          <a:chOff x="0" y="0"/>
          <a:chExt cx="0" cy="0"/>
        </a:xfrm>
      </p:grpSpPr>
      <p:pic>
        <p:nvPicPr>
          <p:cNvPr id="66" name="Google Shape;66;p10"/>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7" name="Google Shape;67;p1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8" name="Google Shape;68;p10"/>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9" name="Google Shape;69;p10"/>
          <p:cNvPicPr preferRelativeResize="0"/>
          <p:nvPr/>
        </p:nvPicPr>
        <p:blipFill>
          <a:blip r:embed="rId3">
            <a:alphaModFix/>
          </a:blip>
          <a:stretch>
            <a:fillRect/>
          </a:stretch>
        </p:blipFill>
        <p:spPr>
          <a:xfrm>
            <a:off x="5722275" y="215699"/>
            <a:ext cx="504000" cy="504000"/>
          </a:xfrm>
          <a:prstGeom prst="rect">
            <a:avLst/>
          </a:prstGeom>
          <a:noFill/>
          <a:ln>
            <a:noFill/>
          </a:ln>
        </p:spPr>
      </p:pic>
      <p:pic>
        <p:nvPicPr>
          <p:cNvPr id="70" name="Google Shape;70;p10"/>
          <p:cNvPicPr preferRelativeResize="0"/>
          <p:nvPr/>
        </p:nvPicPr>
        <p:blipFill>
          <a:blip r:embed="rId4">
            <a:alphaModFix/>
          </a:blip>
          <a:stretch>
            <a:fillRect/>
          </a:stretch>
        </p:blipFill>
        <p:spPr>
          <a:xfrm>
            <a:off x="468000" y="1242003"/>
            <a:ext cx="6624000" cy="66240"/>
          </a:xfrm>
          <a:prstGeom prst="rect">
            <a:avLst/>
          </a:prstGeom>
          <a:noFill/>
          <a:ln>
            <a:noFill/>
          </a:ln>
        </p:spPr>
      </p:pic>
      <p:sp>
        <p:nvSpPr>
          <p:cNvPr id="71" name="Google Shape;71;p10"/>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72" name="Google Shape;72;p10"/>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73" name="Google Shape;73;p10"/>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74" name="Shape 74"/>
        <p:cNvGrpSpPr/>
        <p:nvPr/>
      </p:nvGrpSpPr>
      <p:grpSpPr>
        <a:xfrm>
          <a:off x="0" y="0"/>
          <a:ext cx="0" cy="0"/>
          <a:chOff x="0" y="0"/>
          <a:chExt cx="0" cy="0"/>
        </a:xfrm>
      </p:grpSpPr>
      <p:pic>
        <p:nvPicPr>
          <p:cNvPr id="75" name="Google Shape;75;p11"/>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76" name="Google Shape;76;p1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7" name="Google Shape;77;p11"/>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8" name="Google Shape;78;p11"/>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79" name="Google Shape;79;p11"/>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80" name="Google Shape;80;p11"/>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81" name="Google Shape;81;p11"/>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82" name="Google Shape;82;p11"/>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83" name="Shape 83"/>
        <p:cNvGrpSpPr/>
        <p:nvPr/>
      </p:nvGrpSpPr>
      <p:grpSpPr>
        <a:xfrm>
          <a:off x="0" y="0"/>
          <a:ext cx="0" cy="0"/>
          <a:chOff x="0" y="0"/>
          <a:chExt cx="0" cy="0"/>
        </a:xfrm>
      </p:grpSpPr>
      <p:pic>
        <p:nvPicPr>
          <p:cNvPr id="84" name="Google Shape;84;p1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85" name="Google Shape;85;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6" name="Google Shape;86;p12"/>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87" name="Google Shape;87;p12"/>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88" name="Google Shape;88;p12"/>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89" name="Google Shape;89;p1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90" name="Shape 90"/>
        <p:cNvGrpSpPr/>
        <p:nvPr/>
      </p:nvGrpSpPr>
      <p:grpSpPr>
        <a:xfrm>
          <a:off x="0" y="0"/>
          <a:ext cx="0" cy="0"/>
          <a:chOff x="0" y="0"/>
          <a:chExt cx="0" cy="0"/>
        </a:xfrm>
      </p:grpSpPr>
      <p:pic>
        <p:nvPicPr>
          <p:cNvPr id="91" name="Google Shape;91;p1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92" name="Google Shape;92;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3" name="Google Shape;93;p13"/>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94" name="Google Shape;94;p13"/>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95" name="Google Shape;95;p13"/>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96" name="Google Shape;96;p1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7" name="Google Shape;97;p13"/>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8" name="Google Shape;98;p13"/>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9" name="Google Shape;99;p13"/>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00" name="Google Shape;100;p13"/>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101" name="Shape 101"/>
        <p:cNvGrpSpPr/>
        <p:nvPr/>
      </p:nvGrpSpPr>
      <p:grpSpPr>
        <a:xfrm>
          <a:off x="0" y="0"/>
          <a:ext cx="0" cy="0"/>
          <a:chOff x="0" y="0"/>
          <a:chExt cx="0" cy="0"/>
        </a:xfrm>
      </p:grpSpPr>
      <p:pic>
        <p:nvPicPr>
          <p:cNvPr id="102" name="Google Shape;102;p1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03" name="Google Shape;103;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4" name="Google Shape;104;p14"/>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5" name="Google Shape;105;p14"/>
          <p:cNvPicPr preferRelativeResize="0"/>
          <p:nvPr/>
        </p:nvPicPr>
        <p:blipFill>
          <a:blip r:embed="rId3">
            <a:alphaModFix/>
          </a:blip>
          <a:stretch>
            <a:fillRect/>
          </a:stretch>
        </p:blipFill>
        <p:spPr>
          <a:xfrm>
            <a:off x="468000" y="1242003"/>
            <a:ext cx="6624000" cy="66240"/>
          </a:xfrm>
          <a:prstGeom prst="rect">
            <a:avLst/>
          </a:prstGeom>
          <a:noFill/>
          <a:ln>
            <a:noFill/>
          </a:ln>
        </p:spPr>
      </p:pic>
      <p:pic>
        <p:nvPicPr>
          <p:cNvPr id="106" name="Google Shape;106;p14"/>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07" name="Google Shape;107;p14"/>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08" name="Google Shape;108;p14"/>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09" name="Google Shape;109;p1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10" name="Google Shape;110;p14"/>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11" name="Google Shape;111;p14"/>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12" name="Google Shape;112;p14"/>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13" name="Google Shape;113;p14"/>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114" name="Shape 114"/>
        <p:cNvGrpSpPr/>
        <p:nvPr/>
      </p:nvGrpSpPr>
      <p:grpSpPr>
        <a:xfrm>
          <a:off x="0" y="0"/>
          <a:ext cx="0" cy="0"/>
          <a:chOff x="0" y="0"/>
          <a:chExt cx="0" cy="0"/>
        </a:xfrm>
      </p:grpSpPr>
      <p:pic>
        <p:nvPicPr>
          <p:cNvPr id="115" name="Google Shape;115;p1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6" name="Google Shape;116;p1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17" name="Google Shape;117;p15"/>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18" name="Google Shape;118;p15"/>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119" name="Google Shape;119;p15"/>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20" name="Google Shape;120;p15"/>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21" name="Google Shape;121;p15"/>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22" name="Google Shape;122;p1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23" name="Google Shape;123;p1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4" name="Google Shape;124;p1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25" name="Google Shape;125;p1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26" name="Google Shape;126;p15"/>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127" name="Shape 127"/>
        <p:cNvGrpSpPr/>
        <p:nvPr/>
      </p:nvGrpSpPr>
      <p:grpSpPr>
        <a:xfrm>
          <a:off x="0" y="0"/>
          <a:ext cx="0" cy="0"/>
          <a:chOff x="0" y="0"/>
          <a:chExt cx="0" cy="0"/>
        </a:xfrm>
      </p:grpSpPr>
      <p:pic>
        <p:nvPicPr>
          <p:cNvPr id="128" name="Google Shape;128;p16"/>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29" name="Google Shape;129;p16"/>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0" name="Google Shape;130;p16"/>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1" name="Google Shape;131;p16"/>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32" name="Google Shape;132;p16"/>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33" name="Google Shape;133;p16"/>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34" name="Google Shape;134;p16"/>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35" name="Google Shape;135;p16"/>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136" name="Shape 136"/>
        <p:cNvGrpSpPr/>
        <p:nvPr/>
      </p:nvGrpSpPr>
      <p:grpSpPr>
        <a:xfrm>
          <a:off x="0" y="0"/>
          <a:ext cx="0" cy="0"/>
          <a:chOff x="0" y="0"/>
          <a:chExt cx="0" cy="0"/>
        </a:xfrm>
      </p:grpSpPr>
      <p:pic>
        <p:nvPicPr>
          <p:cNvPr id="137" name="Google Shape;137;p17"/>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38" name="Google Shape;138;p17"/>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9" name="Google Shape;139;p17"/>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0" name="Google Shape;140;p17"/>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1" name="Google Shape;141;p17"/>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2" name="Google Shape;142;p17"/>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143" name="Shape 143"/>
        <p:cNvGrpSpPr/>
        <p:nvPr/>
      </p:nvGrpSpPr>
      <p:grpSpPr>
        <a:xfrm>
          <a:off x="0" y="0"/>
          <a:ext cx="0" cy="0"/>
          <a:chOff x="0" y="0"/>
          <a:chExt cx="0" cy="0"/>
        </a:xfrm>
      </p:grpSpPr>
      <p:pic>
        <p:nvPicPr>
          <p:cNvPr id="144" name="Google Shape;144;p1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45" name="Google Shape;145;p1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46" name="Google Shape;146;p18"/>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7" name="Google Shape;147;p18"/>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8" name="Google Shape;148;p1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9" name="Google Shape;149;p18"/>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0" name="Google Shape;150;p18"/>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1" name="Google Shape;151;p18"/>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52" name="Google Shape;152;p18"/>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3" name="Google Shape;153;p18"/>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154" name="Shape 154"/>
        <p:cNvGrpSpPr/>
        <p:nvPr/>
      </p:nvGrpSpPr>
      <p:grpSpPr>
        <a:xfrm>
          <a:off x="0" y="0"/>
          <a:ext cx="0" cy="0"/>
          <a:chOff x="0" y="0"/>
          <a:chExt cx="0" cy="0"/>
        </a:xfrm>
      </p:grpSpPr>
      <p:pic>
        <p:nvPicPr>
          <p:cNvPr id="155" name="Google Shape;155;p1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56" name="Google Shape;156;p1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57" name="Google Shape;157;p19"/>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9"/>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59" name="Google Shape;159;p19"/>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60" name="Google Shape;160;p19"/>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61" name="Google Shape;161;p19"/>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62" name="Google Shape;162;p1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63" name="Google Shape;163;p19"/>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64" name="Google Shape;164;p19"/>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65" name="Google Shape;165;p19"/>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66" name="Google Shape;166;p19"/>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11" Type="http://schemas.openxmlformats.org/officeDocument/2006/relationships/theme" Target="../theme/theme3.xml"/><Relationship Id="rId10" Type="http://schemas.openxmlformats.org/officeDocument/2006/relationships/slideLayout" Target="../slideLayouts/slideLayout17.xml"/><Relationship Id="rId9" Type="http://schemas.openxmlformats.org/officeDocument/2006/relationships/slideLayout" Target="../slideLayouts/slideLayout16.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1" name="Shape 61"/>
        <p:cNvGrpSpPr/>
        <p:nvPr/>
      </p:nvGrpSpPr>
      <p:grpSpPr>
        <a:xfrm>
          <a:off x="0" y="0"/>
          <a:ext cx="0" cy="0"/>
          <a:chOff x="0" y="0"/>
          <a:chExt cx="0" cy="0"/>
        </a:xfrm>
      </p:grpSpPr>
      <p:sp>
        <p:nvSpPr>
          <p:cNvPr id="62" name="Google Shape;62;p9"/>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63" name="Google Shape;63;p9"/>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64" name="Google Shape;64;p9"/>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2" name="Google Shape;172;p20"/>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Summarising data</a:t>
            </a:r>
            <a:endParaRPr/>
          </a:p>
        </p:txBody>
      </p:sp>
      <p:sp>
        <p:nvSpPr>
          <p:cNvPr id="173" name="Google Shape;173;p20"/>
          <p:cNvSpPr txBox="1"/>
          <p:nvPr/>
        </p:nvSpPr>
        <p:spPr>
          <a:xfrm>
            <a:off x="468000" y="1713350"/>
            <a:ext cx="6610500" cy="42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1) Complete the information showing the mean, median, and mode for the following datasets.</a:t>
            </a:r>
            <a:endParaRPr sz="1200">
              <a:solidFill>
                <a:srgbClr val="000000"/>
              </a:solidFill>
              <a:latin typeface="Lexend"/>
              <a:ea typeface="Lexend"/>
              <a:cs typeface="Lexend"/>
              <a:sym typeface="Lexend"/>
            </a:endParaRPr>
          </a:p>
        </p:txBody>
      </p:sp>
      <p:sp>
        <p:nvSpPr>
          <p:cNvPr id="174" name="Google Shape;174;p20"/>
          <p:cNvSpPr txBox="1"/>
          <p:nvPr/>
        </p:nvSpPr>
        <p:spPr>
          <a:xfrm>
            <a:off x="468000" y="1380050"/>
            <a:ext cx="6624000" cy="3333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b="1" lang="en-GB">
                <a:solidFill>
                  <a:schemeClr val="dk1"/>
                </a:solidFill>
                <a:latin typeface="Lexend"/>
                <a:ea typeface="Lexend"/>
                <a:cs typeface="Lexend"/>
                <a:sym typeface="Lexend"/>
              </a:rPr>
              <a:t>Task A: </a:t>
            </a:r>
            <a:r>
              <a:rPr b="1" lang="en-GB">
                <a:solidFill>
                  <a:schemeClr val="dk1"/>
                </a:solidFill>
                <a:latin typeface="Lexend"/>
                <a:ea typeface="Lexend"/>
                <a:cs typeface="Lexend"/>
                <a:sym typeface="Lexend"/>
              </a:rPr>
              <a:t>Calculating all of the averages</a:t>
            </a:r>
            <a:endParaRPr b="1">
              <a:solidFill>
                <a:schemeClr val="dk1"/>
              </a:solidFill>
              <a:latin typeface="Lexend"/>
              <a:ea typeface="Lexend"/>
              <a:cs typeface="Lexend"/>
              <a:sym typeface="Lexend"/>
            </a:endParaRPr>
          </a:p>
        </p:txBody>
      </p:sp>
      <p:graphicFrame>
        <p:nvGraphicFramePr>
          <p:cNvPr id="175" name="Google Shape;175;p20"/>
          <p:cNvGraphicFramePr/>
          <p:nvPr/>
        </p:nvGraphicFramePr>
        <p:xfrm>
          <a:off x="806150" y="2167815"/>
          <a:ext cx="3000000" cy="3000000"/>
        </p:xfrm>
        <a:graphic>
          <a:graphicData uri="http://schemas.openxmlformats.org/drawingml/2006/table">
            <a:tbl>
              <a:tblPr>
                <a:noFill/>
                <a:tableStyleId>{2E74BE41-31CC-49F5-AA4C-077352E049A1}</a:tableStyleId>
              </a:tblPr>
              <a:tblGrid>
                <a:gridCol w="660650"/>
                <a:gridCol w="660650"/>
                <a:gridCol w="660650"/>
                <a:gridCol w="660650"/>
                <a:gridCol w="660650"/>
                <a:gridCol w="660650"/>
              </a:tblGrid>
              <a:tr h="33337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76" name="Google Shape;176;p20"/>
          <p:cNvSpPr txBox="1"/>
          <p:nvPr/>
        </p:nvSpPr>
        <p:spPr>
          <a:xfrm>
            <a:off x="468000" y="2195903"/>
            <a:ext cx="4170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a) </a:t>
            </a:r>
            <a:endParaRPr sz="1200">
              <a:solidFill>
                <a:srgbClr val="000000"/>
              </a:solidFill>
              <a:latin typeface="Lexend"/>
              <a:ea typeface="Lexend"/>
              <a:cs typeface="Lexend"/>
              <a:sym typeface="Lexend"/>
            </a:endParaRPr>
          </a:p>
        </p:txBody>
      </p:sp>
      <p:graphicFrame>
        <p:nvGraphicFramePr>
          <p:cNvPr id="177" name="Google Shape;177;p20"/>
          <p:cNvGraphicFramePr/>
          <p:nvPr/>
        </p:nvGraphicFramePr>
        <p:xfrm>
          <a:off x="-159445" y="2553187"/>
          <a:ext cx="3000000" cy="3000000"/>
        </p:xfrm>
        <a:graphic>
          <a:graphicData uri="http://schemas.openxmlformats.org/drawingml/2006/table">
            <a:tbl>
              <a:tblPr>
                <a:noFill/>
                <a:tableStyleId>{2E74BE41-31CC-49F5-AA4C-077352E049A1}</a:tableStyleId>
              </a:tblPr>
              <a:tblGrid>
                <a:gridCol w="1166575"/>
                <a:gridCol w="1166575"/>
                <a:gridCol w="1166575"/>
                <a:gridCol w="1166575"/>
                <a:gridCol w="1166575"/>
                <a:gridCol w="1166575"/>
              </a:tblGrid>
              <a:tr h="333375">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mean</a:t>
                      </a:r>
                      <a:endParaRPr sz="12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3.83</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median</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Kalam"/>
                          <a:ea typeface="Kalam"/>
                          <a:cs typeface="Kalam"/>
                          <a:sym typeface="Kalam"/>
                        </a:rPr>
                        <a:t>2</a:t>
                      </a:r>
                      <a:endParaRPr sz="1200">
                        <a:latin typeface="Kalam"/>
                        <a:ea typeface="Kalam"/>
                        <a:cs typeface="Kalam"/>
                        <a:sym typeface="Kalam"/>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mode</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GB" sz="1200">
                          <a:solidFill>
                            <a:srgbClr val="000000"/>
                          </a:solidFill>
                          <a:latin typeface="Kalam"/>
                          <a:ea typeface="Kalam"/>
                          <a:cs typeface="Kalam"/>
                          <a:sym typeface="Kalam"/>
                        </a:rPr>
                        <a:t>1</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graphicFrame>
        <p:nvGraphicFramePr>
          <p:cNvPr id="178" name="Google Shape;178;p20"/>
          <p:cNvGraphicFramePr/>
          <p:nvPr/>
        </p:nvGraphicFramePr>
        <p:xfrm>
          <a:off x="806150" y="3284913"/>
          <a:ext cx="3000000" cy="3000000"/>
        </p:xfrm>
        <a:graphic>
          <a:graphicData uri="http://schemas.openxmlformats.org/drawingml/2006/table">
            <a:tbl>
              <a:tblPr>
                <a:noFill/>
                <a:tableStyleId>{2E74BE41-31CC-49F5-AA4C-077352E049A1}</a:tableStyleId>
              </a:tblPr>
              <a:tblGrid>
                <a:gridCol w="667300"/>
                <a:gridCol w="667300"/>
                <a:gridCol w="667300"/>
                <a:gridCol w="667300"/>
                <a:gridCol w="667300"/>
                <a:gridCol w="667300"/>
                <a:gridCol w="667300"/>
              </a:tblGrid>
              <a:tr h="33337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14</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23</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24</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27</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27</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28</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79" name="Google Shape;179;p20"/>
          <p:cNvSpPr txBox="1"/>
          <p:nvPr/>
        </p:nvSpPr>
        <p:spPr>
          <a:xfrm>
            <a:off x="468000" y="3313000"/>
            <a:ext cx="4170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b) </a:t>
            </a:r>
            <a:endParaRPr sz="1200">
              <a:solidFill>
                <a:srgbClr val="000000"/>
              </a:solidFill>
              <a:latin typeface="Lexend"/>
              <a:ea typeface="Lexend"/>
              <a:cs typeface="Lexend"/>
              <a:sym typeface="Lexend"/>
            </a:endParaRPr>
          </a:p>
        </p:txBody>
      </p:sp>
      <p:graphicFrame>
        <p:nvGraphicFramePr>
          <p:cNvPr id="180" name="Google Shape;180;p20"/>
          <p:cNvGraphicFramePr/>
          <p:nvPr/>
        </p:nvGraphicFramePr>
        <p:xfrm>
          <a:off x="-159445" y="3679296"/>
          <a:ext cx="3000000" cy="3000000"/>
        </p:xfrm>
        <a:graphic>
          <a:graphicData uri="http://schemas.openxmlformats.org/drawingml/2006/table">
            <a:tbl>
              <a:tblPr>
                <a:noFill/>
                <a:tableStyleId>{2E74BE41-31CC-49F5-AA4C-077352E049A1}</a:tableStyleId>
              </a:tblPr>
              <a:tblGrid>
                <a:gridCol w="1166575"/>
                <a:gridCol w="1166575"/>
                <a:gridCol w="1166575"/>
                <a:gridCol w="1166575"/>
                <a:gridCol w="1166575"/>
                <a:gridCol w="1166575"/>
              </a:tblGrid>
              <a:tr h="333375">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mean</a:t>
                      </a:r>
                      <a:endParaRPr sz="12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 </a:t>
                      </a:r>
                      <a:r>
                        <a:rPr lang="en-GB" sz="1200">
                          <a:solidFill>
                            <a:srgbClr val="000000"/>
                          </a:solidFill>
                          <a:latin typeface="Kalam"/>
                          <a:ea typeface="Kalam"/>
                          <a:cs typeface="Kalam"/>
                          <a:sym typeface="Kalam"/>
                        </a:rPr>
                        <a:t>24</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median</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GB" sz="1200">
                          <a:solidFill>
                            <a:srgbClr val="000000"/>
                          </a:solidFill>
                          <a:latin typeface="Kalam"/>
                          <a:ea typeface="Kalam"/>
                          <a:cs typeface="Kalam"/>
                          <a:sym typeface="Kalam"/>
                        </a:rPr>
                        <a:t>25</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mode</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27</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graphicFrame>
        <p:nvGraphicFramePr>
          <p:cNvPr id="181" name="Google Shape;181;p20"/>
          <p:cNvGraphicFramePr/>
          <p:nvPr/>
        </p:nvGraphicFramePr>
        <p:xfrm>
          <a:off x="806150" y="4402013"/>
          <a:ext cx="3000000" cy="3000000"/>
        </p:xfrm>
        <a:graphic>
          <a:graphicData uri="http://schemas.openxmlformats.org/drawingml/2006/table">
            <a:tbl>
              <a:tblPr>
                <a:noFill/>
                <a:tableStyleId>{2E74BE41-31CC-49F5-AA4C-077352E049A1}</a:tableStyleId>
              </a:tblPr>
              <a:tblGrid>
                <a:gridCol w="673775"/>
                <a:gridCol w="673775"/>
                <a:gridCol w="673775"/>
                <a:gridCol w="673775"/>
                <a:gridCol w="673775"/>
                <a:gridCol w="673775"/>
                <a:gridCol w="673775"/>
                <a:gridCol w="673775"/>
              </a:tblGrid>
              <a:tr h="33337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82" name="Google Shape;182;p20"/>
          <p:cNvSpPr txBox="1"/>
          <p:nvPr/>
        </p:nvSpPr>
        <p:spPr>
          <a:xfrm>
            <a:off x="468000" y="4430100"/>
            <a:ext cx="4170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b) </a:t>
            </a:r>
            <a:endParaRPr sz="1200">
              <a:solidFill>
                <a:srgbClr val="000000"/>
              </a:solidFill>
              <a:latin typeface="Lexend"/>
              <a:ea typeface="Lexend"/>
              <a:cs typeface="Lexend"/>
              <a:sym typeface="Lexend"/>
            </a:endParaRPr>
          </a:p>
        </p:txBody>
      </p:sp>
      <p:graphicFrame>
        <p:nvGraphicFramePr>
          <p:cNvPr id="183" name="Google Shape;183;p20"/>
          <p:cNvGraphicFramePr/>
          <p:nvPr/>
        </p:nvGraphicFramePr>
        <p:xfrm>
          <a:off x="-159445" y="4796396"/>
          <a:ext cx="3000000" cy="3000000"/>
        </p:xfrm>
        <a:graphic>
          <a:graphicData uri="http://schemas.openxmlformats.org/drawingml/2006/table">
            <a:tbl>
              <a:tblPr>
                <a:noFill/>
                <a:tableStyleId>{2E74BE41-31CC-49F5-AA4C-077352E049A1}</a:tableStyleId>
              </a:tblPr>
              <a:tblGrid>
                <a:gridCol w="1193150"/>
                <a:gridCol w="1193150"/>
                <a:gridCol w="1193150"/>
                <a:gridCol w="1193150"/>
                <a:gridCol w="1193150"/>
                <a:gridCol w="1193150"/>
              </a:tblGrid>
              <a:tr h="333375">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mean</a:t>
                      </a:r>
                      <a:endParaRPr sz="12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 </a:t>
                      </a:r>
                      <a:r>
                        <a:rPr lang="en-GB" sz="1200">
                          <a:solidFill>
                            <a:srgbClr val="000000"/>
                          </a:solidFill>
                          <a:latin typeface="Kalam"/>
                          <a:ea typeface="Kalam"/>
                          <a:cs typeface="Kalam"/>
                          <a:sym typeface="Kalam"/>
                        </a:rPr>
                        <a:t>5.81</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median</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6.25</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           </a:t>
                      </a:r>
                      <a:r>
                        <a:rPr lang="en-GB" sz="1200">
                          <a:latin typeface="Lexend"/>
                          <a:ea typeface="Lexend"/>
                          <a:cs typeface="Lexend"/>
                          <a:sym typeface="Lexend"/>
                        </a:rPr>
                        <a:t>mode</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GB" sz="1200">
                          <a:solidFill>
                            <a:srgbClr val="000000"/>
                          </a:solidFill>
                          <a:latin typeface="Kalam"/>
                          <a:ea typeface="Kalam"/>
                          <a:cs typeface="Kalam"/>
                          <a:sym typeface="Kalam"/>
                        </a:rPr>
                        <a:t>bimodal at 7 and 8.5</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sp>
        <p:nvSpPr>
          <p:cNvPr id="184" name="Google Shape;184;p20"/>
          <p:cNvSpPr txBox="1"/>
          <p:nvPr/>
        </p:nvSpPr>
        <p:spPr>
          <a:xfrm>
            <a:off x="468000" y="5377950"/>
            <a:ext cx="84957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2) Calculate the mean, median, and mode of these three datasets.</a:t>
            </a:r>
            <a:endParaRPr sz="1200">
              <a:solidFill>
                <a:srgbClr val="000000"/>
              </a:solidFill>
              <a:latin typeface="Lexend"/>
              <a:ea typeface="Lexend"/>
              <a:cs typeface="Lexend"/>
              <a:sym typeface="Lexend"/>
            </a:endParaRPr>
          </a:p>
        </p:txBody>
      </p:sp>
      <p:graphicFrame>
        <p:nvGraphicFramePr>
          <p:cNvPr id="185" name="Google Shape;185;p20"/>
          <p:cNvGraphicFramePr/>
          <p:nvPr/>
        </p:nvGraphicFramePr>
        <p:xfrm>
          <a:off x="806150" y="5723065"/>
          <a:ext cx="3000000" cy="3000000"/>
        </p:xfrm>
        <a:graphic>
          <a:graphicData uri="http://schemas.openxmlformats.org/drawingml/2006/table">
            <a:tbl>
              <a:tblPr>
                <a:noFill/>
                <a:tableStyleId>{2E74BE41-31CC-49F5-AA4C-077352E049A1}</a:tableStyleId>
              </a:tblPr>
              <a:tblGrid>
                <a:gridCol w="660650"/>
                <a:gridCol w="660650"/>
                <a:gridCol w="660650"/>
                <a:gridCol w="660650"/>
                <a:gridCol w="660650"/>
              </a:tblGrid>
              <a:tr h="33337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9</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10.5</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86" name="Google Shape;186;p20"/>
          <p:cNvSpPr txBox="1"/>
          <p:nvPr/>
        </p:nvSpPr>
        <p:spPr>
          <a:xfrm>
            <a:off x="468000" y="5751153"/>
            <a:ext cx="4170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a) </a:t>
            </a:r>
            <a:endParaRPr sz="1200">
              <a:solidFill>
                <a:srgbClr val="000000"/>
              </a:solidFill>
              <a:latin typeface="Lexend"/>
              <a:ea typeface="Lexend"/>
              <a:cs typeface="Lexend"/>
              <a:sym typeface="Lexend"/>
            </a:endParaRPr>
          </a:p>
        </p:txBody>
      </p:sp>
      <p:graphicFrame>
        <p:nvGraphicFramePr>
          <p:cNvPr id="187" name="Google Shape;187;p20"/>
          <p:cNvGraphicFramePr/>
          <p:nvPr/>
        </p:nvGraphicFramePr>
        <p:xfrm>
          <a:off x="-159445" y="6119399"/>
          <a:ext cx="3000000" cy="3000000"/>
        </p:xfrm>
        <a:graphic>
          <a:graphicData uri="http://schemas.openxmlformats.org/drawingml/2006/table">
            <a:tbl>
              <a:tblPr>
                <a:noFill/>
                <a:tableStyleId>{2E74BE41-31CC-49F5-AA4C-077352E049A1}</a:tableStyleId>
              </a:tblPr>
              <a:tblGrid>
                <a:gridCol w="1208575"/>
                <a:gridCol w="1208575"/>
                <a:gridCol w="1208575"/>
                <a:gridCol w="1208575"/>
                <a:gridCol w="1208575"/>
                <a:gridCol w="1208575"/>
              </a:tblGrid>
              <a:tr h="333375">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mean</a:t>
                      </a:r>
                      <a:endParaRPr sz="12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GB" sz="1200">
                          <a:solidFill>
                            <a:srgbClr val="000000"/>
                          </a:solidFill>
                          <a:latin typeface="Kalam"/>
                          <a:ea typeface="Kalam"/>
                          <a:cs typeface="Kalam"/>
                          <a:sym typeface="Kalam"/>
                        </a:rPr>
                        <a:t>5.7</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median</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GB" sz="1200">
                          <a:solidFill>
                            <a:srgbClr val="000000"/>
                          </a:solidFill>
                          <a:latin typeface="Kalam"/>
                          <a:ea typeface="Kalam"/>
                          <a:cs typeface="Kalam"/>
                          <a:sym typeface="Kalam"/>
                        </a:rPr>
                        <a:t>4</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mode</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GB" sz="1200">
                          <a:solidFill>
                            <a:srgbClr val="000000"/>
                          </a:solidFill>
                          <a:latin typeface="Kalam"/>
                          <a:ea typeface="Kalam"/>
                          <a:cs typeface="Kalam"/>
                          <a:sym typeface="Kalam"/>
                        </a:rPr>
                        <a:t>2.5</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graphicFrame>
        <p:nvGraphicFramePr>
          <p:cNvPr id="188" name="Google Shape;188;p20"/>
          <p:cNvGraphicFramePr/>
          <p:nvPr/>
        </p:nvGraphicFramePr>
        <p:xfrm>
          <a:off x="806150" y="6840163"/>
          <a:ext cx="3000000" cy="3000000"/>
        </p:xfrm>
        <a:graphic>
          <a:graphicData uri="http://schemas.openxmlformats.org/drawingml/2006/table">
            <a:tbl>
              <a:tblPr>
                <a:noFill/>
                <a:tableStyleId>{2E74BE41-31CC-49F5-AA4C-077352E049A1}</a:tableStyleId>
              </a:tblPr>
              <a:tblGrid>
                <a:gridCol w="667300"/>
                <a:gridCol w="667300"/>
                <a:gridCol w="667300"/>
                <a:gridCol w="667300"/>
                <a:gridCol w="667300"/>
                <a:gridCol w="667300"/>
              </a:tblGrid>
              <a:tr h="33337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18</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23</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24</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89" name="Google Shape;189;p20"/>
          <p:cNvSpPr txBox="1"/>
          <p:nvPr/>
        </p:nvSpPr>
        <p:spPr>
          <a:xfrm>
            <a:off x="468000" y="6868250"/>
            <a:ext cx="4170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b) </a:t>
            </a:r>
            <a:endParaRPr sz="1200">
              <a:solidFill>
                <a:srgbClr val="000000"/>
              </a:solidFill>
              <a:latin typeface="Lexend"/>
              <a:ea typeface="Lexend"/>
              <a:cs typeface="Lexend"/>
              <a:sym typeface="Lexend"/>
            </a:endParaRPr>
          </a:p>
        </p:txBody>
      </p:sp>
      <p:graphicFrame>
        <p:nvGraphicFramePr>
          <p:cNvPr id="190" name="Google Shape;190;p20"/>
          <p:cNvGraphicFramePr/>
          <p:nvPr/>
        </p:nvGraphicFramePr>
        <p:xfrm>
          <a:off x="-247245" y="7235521"/>
          <a:ext cx="3000000" cy="3000000"/>
        </p:xfrm>
        <a:graphic>
          <a:graphicData uri="http://schemas.openxmlformats.org/drawingml/2006/table">
            <a:tbl>
              <a:tblPr>
                <a:noFill/>
                <a:tableStyleId>{2E74BE41-31CC-49F5-AA4C-077352E049A1}</a:tableStyleId>
              </a:tblPr>
              <a:tblGrid>
                <a:gridCol w="1223200"/>
                <a:gridCol w="1223200"/>
                <a:gridCol w="1223200"/>
                <a:gridCol w="1223200"/>
                <a:gridCol w="1223200"/>
                <a:gridCol w="1223200"/>
              </a:tblGrid>
              <a:tr h="333375">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mean</a:t>
                      </a:r>
                      <a:endParaRPr sz="12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 </a:t>
                      </a:r>
                      <a:r>
                        <a:rPr lang="en-GB" sz="1200">
                          <a:solidFill>
                            <a:srgbClr val="000000"/>
                          </a:solidFill>
                          <a:latin typeface="Kalam"/>
                          <a:ea typeface="Kalam"/>
                          <a:cs typeface="Kalam"/>
                          <a:sym typeface="Kalam"/>
                        </a:rPr>
                        <a:t>20</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median</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GB" sz="1200">
                          <a:solidFill>
                            <a:srgbClr val="000000"/>
                          </a:solidFill>
                          <a:latin typeface="Kalam"/>
                          <a:ea typeface="Kalam"/>
                          <a:cs typeface="Kalam"/>
                          <a:sym typeface="Kalam"/>
                        </a:rPr>
                        <a:t>20</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mode</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GB" sz="1200">
                          <a:solidFill>
                            <a:srgbClr val="000000"/>
                          </a:solidFill>
                          <a:latin typeface="Kalam"/>
                          <a:ea typeface="Kalam"/>
                          <a:cs typeface="Kalam"/>
                          <a:sym typeface="Kalam"/>
                        </a:rPr>
                        <a:t>20</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graphicFrame>
        <p:nvGraphicFramePr>
          <p:cNvPr id="191" name="Google Shape;191;p20"/>
          <p:cNvGraphicFramePr/>
          <p:nvPr/>
        </p:nvGraphicFramePr>
        <p:xfrm>
          <a:off x="806150" y="7957263"/>
          <a:ext cx="3000000" cy="3000000"/>
        </p:xfrm>
        <a:graphic>
          <a:graphicData uri="http://schemas.openxmlformats.org/drawingml/2006/table">
            <a:tbl>
              <a:tblPr>
                <a:noFill/>
                <a:tableStyleId>{2E74BE41-31CC-49F5-AA4C-077352E049A1}</a:tableStyleId>
              </a:tblPr>
              <a:tblGrid>
                <a:gridCol w="598900"/>
                <a:gridCol w="598900"/>
                <a:gridCol w="598900"/>
                <a:gridCol w="598900"/>
                <a:gridCol w="598900"/>
                <a:gridCol w="598900"/>
                <a:gridCol w="598900"/>
                <a:gridCol w="598900"/>
                <a:gridCol w="598900"/>
              </a:tblGrid>
              <a:tr h="333375">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7</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8</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latin typeface="Lexend"/>
                          <a:ea typeface="Lexend"/>
                          <a:cs typeface="Lexend"/>
                          <a:sym typeface="Lexend"/>
                        </a:rPr>
                        <a:t>8</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92" name="Google Shape;192;p20"/>
          <p:cNvSpPr txBox="1"/>
          <p:nvPr/>
        </p:nvSpPr>
        <p:spPr>
          <a:xfrm>
            <a:off x="468000" y="7985350"/>
            <a:ext cx="4170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b) </a:t>
            </a:r>
            <a:endParaRPr sz="1200">
              <a:solidFill>
                <a:srgbClr val="000000"/>
              </a:solidFill>
              <a:latin typeface="Lexend"/>
              <a:ea typeface="Lexend"/>
              <a:cs typeface="Lexend"/>
              <a:sym typeface="Lexend"/>
            </a:endParaRPr>
          </a:p>
        </p:txBody>
      </p:sp>
      <p:graphicFrame>
        <p:nvGraphicFramePr>
          <p:cNvPr id="193" name="Google Shape;193;p20"/>
          <p:cNvGraphicFramePr/>
          <p:nvPr/>
        </p:nvGraphicFramePr>
        <p:xfrm>
          <a:off x="-159445" y="8406096"/>
          <a:ext cx="3000000" cy="3000000"/>
        </p:xfrm>
        <a:graphic>
          <a:graphicData uri="http://schemas.openxmlformats.org/drawingml/2006/table">
            <a:tbl>
              <a:tblPr>
                <a:noFill/>
                <a:tableStyleId>{2E74BE41-31CC-49F5-AA4C-077352E049A1}</a:tableStyleId>
              </a:tblPr>
              <a:tblGrid>
                <a:gridCol w="1208575"/>
                <a:gridCol w="1208575"/>
                <a:gridCol w="1208575"/>
                <a:gridCol w="1208575"/>
                <a:gridCol w="1208575"/>
                <a:gridCol w="1208575"/>
              </a:tblGrid>
              <a:tr h="333375">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mean</a:t>
                      </a:r>
                      <a:endParaRPr sz="1200">
                        <a:latin typeface="Lexend"/>
                        <a:ea typeface="Lexend"/>
                        <a:cs typeface="Lexend"/>
                        <a:sym typeface="Lexend"/>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GB" sz="1200">
                          <a:solidFill>
                            <a:srgbClr val="000000"/>
                          </a:solidFill>
                          <a:latin typeface="Kalam"/>
                          <a:ea typeface="Kalam"/>
                          <a:cs typeface="Kalam"/>
                          <a:sym typeface="Kalam"/>
                        </a:rPr>
                        <a:t>6</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median</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GB" sz="1200">
                          <a:solidFill>
                            <a:srgbClr val="000000"/>
                          </a:solidFill>
                          <a:latin typeface="Kalam"/>
                          <a:ea typeface="Kalam"/>
                          <a:cs typeface="Kalam"/>
                          <a:sym typeface="Kalam"/>
                        </a:rPr>
                        <a:t>7</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GB" sz="1200">
                          <a:latin typeface="Lexend"/>
                          <a:ea typeface="Lexend"/>
                          <a:cs typeface="Lexend"/>
                          <a:sym typeface="Lexend"/>
                        </a:rPr>
                        <a:t>mode</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GB" sz="1200">
                          <a:solidFill>
                            <a:srgbClr val="000000"/>
                          </a:solidFill>
                          <a:latin typeface="Kalam"/>
                          <a:ea typeface="Kalam"/>
                          <a:cs typeface="Kalam"/>
                          <a:sym typeface="Kalam"/>
                        </a:rPr>
                        <a:t>bimodal at 4, 7</a:t>
                      </a:r>
                      <a:endParaRPr sz="1200">
                        <a:latin typeface="Lexend"/>
                        <a:ea typeface="Lexend"/>
                        <a:cs typeface="Lexend"/>
                        <a:sym typeface="Lexend"/>
                      </a:endParaRPr>
                    </a:p>
                  </a:txBody>
                  <a:tcPr marT="19050" marB="19050" marR="28575" marL="28575" anchor="ctr">
                    <a:lnL cap="flat" cmpd="sng" w="9525">
                      <a:solidFill>
                        <a:srgbClr val="282828"/>
                      </a:solidFill>
                      <a:prstDash val="solid"/>
                      <a:round/>
                      <a:headEnd len="sm" w="sm" type="none"/>
                      <a:tailEnd len="sm" w="sm" type="none"/>
                    </a:lnL>
                    <a:lnR cap="flat" cmpd="sng" w="9525">
                      <a:solidFill>
                        <a:srgbClr val="282828"/>
                      </a:solidFill>
                      <a:prstDash val="solid"/>
                      <a:round/>
                      <a:headEnd len="sm" w="sm" type="none"/>
                      <a:tailEnd len="sm" w="sm" type="none"/>
                    </a:lnR>
                    <a:lnT cap="flat" cmpd="sng" w="9525">
                      <a:solidFill>
                        <a:srgbClr val="282828"/>
                      </a:solidFill>
                      <a:prstDash val="solid"/>
                      <a:round/>
                      <a:headEnd len="sm" w="sm" type="none"/>
                      <a:tailEnd len="sm" w="sm" type="none"/>
                    </a:lnT>
                    <a:lnB cap="flat" cmpd="sng" w="9525">
                      <a:solidFill>
                        <a:srgbClr val="282828"/>
                      </a:solidFill>
                      <a:prstDash val="solid"/>
                      <a:round/>
                      <a:headEnd len="sm" w="sm" type="none"/>
                      <a:tailEnd len="sm" w="sm" type="none"/>
                    </a:lnB>
                  </a:tcPr>
                </a:tc>
              </a:tr>
            </a:tbl>
          </a:graphicData>
        </a:graphic>
      </p:graphicFrame>
      <p:sp>
        <p:nvSpPr>
          <p:cNvPr id="194" name="Google Shape;194;p20"/>
          <p:cNvSpPr txBox="1"/>
          <p:nvPr/>
        </p:nvSpPr>
        <p:spPr>
          <a:xfrm>
            <a:off x="468000" y="8978675"/>
            <a:ext cx="66240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3) For question 2, which of the datasets was the odd one out? Justify your answer.</a:t>
            </a:r>
            <a:endParaRPr sz="1200">
              <a:solidFill>
                <a:srgbClr val="000000"/>
              </a:solidFill>
              <a:latin typeface="Lexend"/>
              <a:ea typeface="Lexend"/>
              <a:cs typeface="Lexend"/>
              <a:sym typeface="Lexend"/>
            </a:endParaRPr>
          </a:p>
        </p:txBody>
      </p:sp>
      <p:sp>
        <p:nvSpPr>
          <p:cNvPr id="195" name="Google Shape;195;p20"/>
          <p:cNvSpPr txBox="1"/>
          <p:nvPr/>
        </p:nvSpPr>
        <p:spPr>
          <a:xfrm>
            <a:off x="468000" y="9194875"/>
            <a:ext cx="6624000" cy="737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There are many possible responses, including:</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rPr lang="en-GB" sz="1200">
                <a:solidFill>
                  <a:srgbClr val="000000"/>
                </a:solidFill>
                <a:latin typeface="Kalam"/>
                <a:ea typeface="Kalam"/>
                <a:cs typeface="Kalam"/>
                <a:sym typeface="Kalam"/>
              </a:rPr>
              <a:t>b is the only dataset where the mean, median, and mode are all the same.</a:t>
            </a:r>
            <a:r>
              <a:rPr lang="en-GB" sz="1200">
                <a:latin typeface="Kalam"/>
                <a:ea typeface="Kalam"/>
                <a:cs typeface="Kalam"/>
                <a:sym typeface="Kalam"/>
              </a:rPr>
              <a:t> </a:t>
            </a:r>
            <a:r>
              <a:rPr lang="en-GB" sz="1200">
                <a:solidFill>
                  <a:srgbClr val="000000"/>
                </a:solidFill>
                <a:latin typeface="Kalam"/>
                <a:ea typeface="Kalam"/>
                <a:cs typeface="Kalam"/>
                <a:sym typeface="Kalam"/>
              </a:rPr>
              <a:t>c is the only dataset where the mode is bimodal.</a:t>
            </a:r>
            <a:r>
              <a:rPr lang="en-GB" sz="1200">
                <a:latin typeface="Kalam"/>
                <a:ea typeface="Kalam"/>
                <a:cs typeface="Kalam"/>
                <a:sym typeface="Kalam"/>
              </a:rPr>
              <a:t> </a:t>
            </a:r>
            <a:r>
              <a:rPr lang="en-GB" sz="1200">
                <a:solidFill>
                  <a:srgbClr val="000000"/>
                </a:solidFill>
                <a:latin typeface="Kalam"/>
                <a:ea typeface="Kalam"/>
                <a:cs typeface="Kalam"/>
                <a:sym typeface="Kalam"/>
              </a:rPr>
              <a:t>a is the only dataset where the mean and mode are decimals.</a:t>
            </a:r>
            <a:endParaRPr sz="1200">
              <a:solidFill>
                <a:srgbClr val="000000"/>
              </a:solidFill>
              <a:latin typeface="Kalam"/>
              <a:ea typeface="Kalam"/>
              <a:cs typeface="Kalam"/>
              <a:sym typeface="Kalam"/>
            </a:endParaRPr>
          </a:p>
        </p:txBody>
      </p:sp>
      <p:cxnSp>
        <p:nvCxnSpPr>
          <p:cNvPr id="196" name="Google Shape;196;p20"/>
          <p:cNvCxnSpPr/>
          <p:nvPr/>
        </p:nvCxnSpPr>
        <p:spPr>
          <a:xfrm>
            <a:off x="474757" y="9971988"/>
            <a:ext cx="6610500" cy="0"/>
          </a:xfrm>
          <a:prstGeom prst="straightConnector1">
            <a:avLst/>
          </a:prstGeom>
          <a:noFill/>
          <a:ln cap="flat" cmpd="sng" w="38100">
            <a:solidFill>
              <a:srgbClr val="000000"/>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1"/>
          <p:cNvSpPr txBox="1"/>
          <p:nvPr/>
        </p:nvSpPr>
        <p:spPr>
          <a:xfrm>
            <a:off x="468000" y="3216900"/>
            <a:ext cx="6861600" cy="2026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0"/>
              </a:spcAft>
              <a:buNone/>
            </a:pPr>
            <a:r>
              <a:rPr lang="en-GB" sz="1200">
                <a:solidFill>
                  <a:srgbClr val="000000"/>
                </a:solidFill>
                <a:latin typeface="Lexend"/>
                <a:ea typeface="Lexend"/>
                <a:cs typeface="Lexend"/>
                <a:sym typeface="Lexend"/>
              </a:rPr>
              <a:t>2) </a:t>
            </a:r>
            <a:endParaRPr sz="1200">
              <a:solidFill>
                <a:srgbClr val="000000"/>
              </a:solidFill>
              <a:latin typeface="Lexend"/>
              <a:ea typeface="Lexend"/>
              <a:cs typeface="Lexend"/>
              <a:sym typeface="Lexend"/>
            </a:endParaRPr>
          </a:p>
          <a:p>
            <a:pPr indent="0" lvl="0" marL="0" rtl="0" algn="l">
              <a:lnSpc>
                <a:spcPct val="130000"/>
              </a:lnSpc>
              <a:spcBef>
                <a:spcPts val="1000"/>
              </a:spcBef>
              <a:spcAft>
                <a:spcPts val="0"/>
              </a:spcAft>
              <a:buNone/>
            </a:pPr>
            <a:r>
              <a:t/>
            </a:r>
            <a:endParaRPr sz="1200">
              <a:latin typeface="Lexend"/>
              <a:ea typeface="Lexend"/>
              <a:cs typeface="Lexend"/>
              <a:sym typeface="Lexend"/>
            </a:endParaRPr>
          </a:p>
          <a:p>
            <a:pPr indent="0" lvl="0" marL="0" rtl="0" algn="l">
              <a:lnSpc>
                <a:spcPct val="130000"/>
              </a:lnSpc>
              <a:spcBef>
                <a:spcPts val="1000"/>
              </a:spcBef>
              <a:spcAft>
                <a:spcPts val="0"/>
              </a:spcAft>
              <a:buNone/>
            </a:pPr>
            <a:r>
              <a:rPr lang="en-GB" sz="1200">
                <a:solidFill>
                  <a:srgbClr val="000000"/>
                </a:solidFill>
                <a:latin typeface="Lexend"/>
                <a:ea typeface="Lexend"/>
                <a:cs typeface="Lexend"/>
                <a:sym typeface="Lexend"/>
              </a:rPr>
              <a:t>a) Calculate the mean of this dataset.</a:t>
            </a:r>
            <a:endParaRPr sz="1200">
              <a:solidFill>
                <a:srgbClr val="000000"/>
              </a:solidFill>
              <a:latin typeface="Lexend"/>
              <a:ea typeface="Lexend"/>
              <a:cs typeface="Lexend"/>
              <a:sym typeface="Lexend"/>
            </a:endParaRPr>
          </a:p>
          <a:p>
            <a:pPr indent="0" lvl="0" marL="0" rtl="0" algn="l">
              <a:lnSpc>
                <a:spcPct val="130000"/>
              </a:lnSpc>
              <a:spcBef>
                <a:spcPts val="1000"/>
              </a:spcBef>
              <a:spcAft>
                <a:spcPts val="0"/>
              </a:spcAft>
              <a:buNone/>
            </a:pPr>
            <a:r>
              <a:t/>
            </a:r>
            <a:endParaRPr sz="1200">
              <a:latin typeface="Lexend"/>
              <a:ea typeface="Lexend"/>
              <a:cs typeface="Lexend"/>
              <a:sym typeface="Lexend"/>
            </a:endParaRPr>
          </a:p>
          <a:p>
            <a:pPr indent="0" lvl="0" marL="0" rtl="0" algn="l">
              <a:lnSpc>
                <a:spcPct val="130000"/>
              </a:lnSpc>
              <a:spcBef>
                <a:spcPts val="1000"/>
              </a:spcBef>
              <a:spcAft>
                <a:spcPts val="0"/>
              </a:spcAft>
              <a:buNone/>
            </a:pPr>
            <a:r>
              <a:t/>
            </a:r>
            <a:endParaRPr sz="1200">
              <a:latin typeface="Lexend"/>
              <a:ea typeface="Lexend"/>
              <a:cs typeface="Lexend"/>
              <a:sym typeface="Lexend"/>
            </a:endParaRPr>
          </a:p>
          <a:p>
            <a:pPr indent="0" lvl="0" marL="0" rtl="0" algn="l">
              <a:lnSpc>
                <a:spcPct val="130000"/>
              </a:lnSpc>
              <a:spcBef>
                <a:spcPts val="1000"/>
              </a:spcBef>
              <a:spcAft>
                <a:spcPts val="1000"/>
              </a:spcAft>
              <a:buNone/>
            </a:pPr>
            <a:r>
              <a:rPr lang="en-GB" sz="1200">
                <a:solidFill>
                  <a:srgbClr val="000000"/>
                </a:solidFill>
                <a:latin typeface="Lexend"/>
                <a:ea typeface="Lexend"/>
                <a:cs typeface="Lexend"/>
                <a:sym typeface="Lexend"/>
              </a:rPr>
              <a:t>b) Explain whether the mean is a representative summary of the dataset or not.</a:t>
            </a:r>
            <a:endParaRPr sz="1200">
              <a:solidFill>
                <a:srgbClr val="000000"/>
              </a:solidFill>
              <a:latin typeface="Lexend"/>
              <a:ea typeface="Lexend"/>
              <a:cs typeface="Lexend"/>
              <a:sym typeface="Lexend"/>
            </a:endParaRPr>
          </a:p>
        </p:txBody>
      </p:sp>
      <p:sp>
        <p:nvSpPr>
          <p:cNvPr id="202" name="Google Shape;202;p21"/>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1100"/>
              <a:buFont typeface="Arial"/>
              <a:buNone/>
            </a:pPr>
            <a:r>
              <a:rPr lang="en-GB">
                <a:solidFill>
                  <a:schemeClr val="dk1"/>
                </a:solidFill>
              </a:rPr>
              <a:t>Summarising data</a:t>
            </a:r>
            <a:endParaRPr/>
          </a:p>
        </p:txBody>
      </p:sp>
      <p:sp>
        <p:nvSpPr>
          <p:cNvPr id="203" name="Google Shape;203;p21"/>
          <p:cNvSpPr txBox="1"/>
          <p:nvPr/>
        </p:nvSpPr>
        <p:spPr>
          <a:xfrm>
            <a:off x="462750" y="1047300"/>
            <a:ext cx="45078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1) Match the mean to each dataset.</a:t>
            </a:r>
            <a:endParaRPr sz="1200">
              <a:solidFill>
                <a:srgbClr val="000000"/>
              </a:solidFill>
              <a:latin typeface="Lexend"/>
              <a:ea typeface="Lexend"/>
              <a:cs typeface="Lexend"/>
              <a:sym typeface="Lexend"/>
            </a:endParaRPr>
          </a:p>
        </p:txBody>
      </p:sp>
      <p:sp>
        <p:nvSpPr>
          <p:cNvPr id="204" name="Google Shape;204;p21"/>
          <p:cNvSpPr txBox="1"/>
          <p:nvPr/>
        </p:nvSpPr>
        <p:spPr>
          <a:xfrm>
            <a:off x="468000" y="710100"/>
            <a:ext cx="66240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b="1" lang="en-GB">
                <a:solidFill>
                  <a:schemeClr val="dk1"/>
                </a:solidFill>
                <a:latin typeface="Lexend"/>
                <a:ea typeface="Lexend"/>
                <a:cs typeface="Lexend"/>
                <a:sym typeface="Lexend"/>
              </a:rPr>
              <a:t>Task B: </a:t>
            </a:r>
            <a:r>
              <a:rPr b="1" lang="en-GB">
                <a:solidFill>
                  <a:schemeClr val="dk1"/>
                </a:solidFill>
                <a:latin typeface="Lexend"/>
                <a:ea typeface="Lexend"/>
                <a:cs typeface="Lexend"/>
                <a:sym typeface="Lexend"/>
              </a:rPr>
              <a:t>Dealing with an unrepresentative mean</a:t>
            </a:r>
            <a:endParaRPr b="1">
              <a:solidFill>
                <a:schemeClr val="dk1"/>
              </a:solidFill>
              <a:latin typeface="Lexend"/>
              <a:ea typeface="Lexend"/>
              <a:cs typeface="Lexend"/>
              <a:sym typeface="Lexend"/>
            </a:endParaRPr>
          </a:p>
        </p:txBody>
      </p:sp>
      <p:graphicFrame>
        <p:nvGraphicFramePr>
          <p:cNvPr id="205" name="Google Shape;205;p21"/>
          <p:cNvGraphicFramePr/>
          <p:nvPr/>
        </p:nvGraphicFramePr>
        <p:xfrm>
          <a:off x="835200" y="2333246"/>
          <a:ext cx="3000000" cy="3000000"/>
        </p:xfrm>
        <a:graphic>
          <a:graphicData uri="http://schemas.openxmlformats.org/drawingml/2006/table">
            <a:tbl>
              <a:tblPr>
                <a:noFill/>
                <a:tableStyleId>{2E74BE41-31CC-49F5-AA4C-077352E049A1}</a:tableStyleId>
              </a:tblPr>
              <a:tblGrid>
                <a:gridCol w="526850"/>
                <a:gridCol w="526850"/>
                <a:gridCol w="526850"/>
                <a:gridCol w="526850"/>
                <a:gridCol w="526850"/>
                <a:gridCol w="526850"/>
                <a:gridCol w="526850"/>
                <a:gridCol w="526850"/>
              </a:tblGrid>
              <a:tr h="33337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32</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32</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206" name="Google Shape;206;p21"/>
          <p:cNvGraphicFramePr/>
          <p:nvPr/>
        </p:nvGraphicFramePr>
        <p:xfrm>
          <a:off x="835200" y="1889277"/>
          <a:ext cx="3000000" cy="3000000"/>
        </p:xfrm>
        <a:graphic>
          <a:graphicData uri="http://schemas.openxmlformats.org/drawingml/2006/table">
            <a:tbl>
              <a:tblPr>
                <a:noFill/>
                <a:tableStyleId>{2E74BE41-31CC-49F5-AA4C-077352E049A1}</a:tableStyleId>
              </a:tblPr>
              <a:tblGrid>
                <a:gridCol w="468300"/>
                <a:gridCol w="468300"/>
                <a:gridCol w="468300"/>
                <a:gridCol w="468300"/>
                <a:gridCol w="468300"/>
                <a:gridCol w="468300"/>
                <a:gridCol w="468300"/>
                <a:gridCol w="468300"/>
                <a:gridCol w="468300"/>
              </a:tblGrid>
              <a:tr h="333375">
                <a:tc>
                  <a:txBody>
                    <a:bodyPr/>
                    <a:lstStyle/>
                    <a:p>
                      <a:pPr indent="0" lvl="0" marL="0" rtl="0" algn="ctr">
                        <a:lnSpc>
                          <a:spcPct val="115000"/>
                        </a:lnSpc>
                        <a:spcBef>
                          <a:spcPts val="0"/>
                        </a:spcBef>
                        <a:spcAft>
                          <a:spcPts val="0"/>
                        </a:spcAft>
                        <a:buNone/>
                      </a:pPr>
                      <a:r>
                        <a:rPr lang="en-GB" sz="1200">
                          <a:solidFill>
                            <a:srgbClr val="202124"/>
                          </a:solidFill>
                          <a:highlight>
                            <a:srgbClr val="FFFFFF"/>
                          </a:highlight>
                          <a:latin typeface="Kalam"/>
                          <a:ea typeface="Kalam"/>
                          <a:cs typeface="Kalam"/>
                          <a:sym typeface="Kalam"/>
                        </a:rPr>
                        <a:t>−</a:t>
                      </a:r>
                      <a:r>
                        <a:rPr lang="en-GB" sz="1200">
                          <a:latin typeface="Lexend"/>
                          <a:ea typeface="Lexend"/>
                          <a:cs typeface="Lexend"/>
                          <a:sym typeface="Lexend"/>
                        </a:rPr>
                        <a:t>4</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solidFill>
                            <a:srgbClr val="202124"/>
                          </a:solidFill>
                          <a:highlight>
                            <a:srgbClr val="FFFFFF"/>
                          </a:highlight>
                          <a:latin typeface="Kalam"/>
                          <a:ea typeface="Kalam"/>
                          <a:cs typeface="Kalam"/>
                          <a:sym typeface="Kalam"/>
                        </a:rPr>
                        <a:t>−</a:t>
                      </a:r>
                      <a:r>
                        <a:rPr lang="en-GB" sz="1200">
                          <a:latin typeface="Lexend"/>
                          <a:ea typeface="Lexend"/>
                          <a:cs typeface="Lexend"/>
                          <a:sym typeface="Lexend"/>
                        </a:rPr>
                        <a:t>3</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solidFill>
                            <a:srgbClr val="202124"/>
                          </a:solidFill>
                          <a:highlight>
                            <a:srgbClr val="FFFFFF"/>
                          </a:highlight>
                          <a:latin typeface="Kalam"/>
                          <a:ea typeface="Kalam"/>
                          <a:cs typeface="Kalam"/>
                          <a:sym typeface="Kalam"/>
                        </a:rPr>
                        <a:t>−</a:t>
                      </a:r>
                      <a:r>
                        <a:rPr lang="en-GB" sz="1200">
                          <a:latin typeface="Lexend"/>
                          <a:ea typeface="Lexend"/>
                          <a:cs typeface="Lexend"/>
                          <a:sym typeface="Lexend"/>
                        </a:rPr>
                        <a:t>3</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solidFill>
                            <a:srgbClr val="202124"/>
                          </a:solidFill>
                          <a:highlight>
                            <a:srgbClr val="FFFFFF"/>
                          </a:highlight>
                          <a:latin typeface="Kalam"/>
                          <a:ea typeface="Kalam"/>
                          <a:cs typeface="Kalam"/>
                          <a:sym typeface="Kalam"/>
                        </a:rPr>
                        <a:t>−</a:t>
                      </a:r>
                      <a:r>
                        <a:rPr lang="en-GB" sz="1200">
                          <a:latin typeface="Lexend"/>
                          <a:ea typeface="Lexend"/>
                          <a:cs typeface="Lexend"/>
                          <a:sym typeface="Lexend"/>
                        </a:rPr>
                        <a:t>3</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solidFill>
                            <a:srgbClr val="202124"/>
                          </a:solidFill>
                          <a:highlight>
                            <a:srgbClr val="FFFFFF"/>
                          </a:highlight>
                          <a:latin typeface="Kalam"/>
                          <a:ea typeface="Kalam"/>
                          <a:cs typeface="Kalam"/>
                          <a:sym typeface="Kalam"/>
                        </a:rPr>
                        <a:t>−</a:t>
                      </a:r>
                      <a:r>
                        <a:rPr lang="en-GB" sz="1200">
                          <a:latin typeface="Lexend"/>
                          <a:ea typeface="Lexend"/>
                          <a:cs typeface="Lexend"/>
                          <a:sym typeface="Lexend"/>
                        </a:rPr>
                        <a:t>1</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207" name="Google Shape;207;p21"/>
          <p:cNvGraphicFramePr/>
          <p:nvPr/>
        </p:nvGraphicFramePr>
        <p:xfrm>
          <a:off x="835200" y="1445308"/>
          <a:ext cx="3000000" cy="3000000"/>
        </p:xfrm>
        <a:graphic>
          <a:graphicData uri="http://schemas.openxmlformats.org/drawingml/2006/table">
            <a:tbl>
              <a:tblPr>
                <a:noFill/>
                <a:tableStyleId>{2E74BE41-31CC-49F5-AA4C-077352E049A1}</a:tableStyleId>
              </a:tblPr>
              <a:tblGrid>
                <a:gridCol w="468300"/>
                <a:gridCol w="468300"/>
                <a:gridCol w="468300"/>
                <a:gridCol w="468300"/>
                <a:gridCol w="468300"/>
                <a:gridCol w="468300"/>
                <a:gridCol w="468300"/>
                <a:gridCol w="468300"/>
                <a:gridCol w="468300"/>
              </a:tblGrid>
              <a:tr h="33337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9</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08" name="Google Shape;208;p21"/>
          <p:cNvSpPr txBox="1"/>
          <p:nvPr/>
        </p:nvSpPr>
        <p:spPr>
          <a:xfrm>
            <a:off x="462750" y="1445283"/>
            <a:ext cx="372600" cy="3525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a) </a:t>
            </a:r>
            <a:endParaRPr sz="1200">
              <a:solidFill>
                <a:srgbClr val="000000"/>
              </a:solidFill>
              <a:latin typeface="Lexend"/>
              <a:ea typeface="Lexend"/>
              <a:cs typeface="Lexend"/>
              <a:sym typeface="Lexend"/>
            </a:endParaRPr>
          </a:p>
        </p:txBody>
      </p:sp>
      <p:sp>
        <p:nvSpPr>
          <p:cNvPr id="209" name="Google Shape;209;p21"/>
          <p:cNvSpPr txBox="1"/>
          <p:nvPr/>
        </p:nvSpPr>
        <p:spPr>
          <a:xfrm>
            <a:off x="462750" y="1889246"/>
            <a:ext cx="372600" cy="3525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b) </a:t>
            </a:r>
            <a:endParaRPr sz="1200">
              <a:solidFill>
                <a:srgbClr val="000000"/>
              </a:solidFill>
              <a:latin typeface="Lexend"/>
              <a:ea typeface="Lexend"/>
              <a:cs typeface="Lexend"/>
              <a:sym typeface="Lexend"/>
            </a:endParaRPr>
          </a:p>
        </p:txBody>
      </p:sp>
      <p:sp>
        <p:nvSpPr>
          <p:cNvPr id="210" name="Google Shape;210;p21"/>
          <p:cNvSpPr txBox="1"/>
          <p:nvPr/>
        </p:nvSpPr>
        <p:spPr>
          <a:xfrm>
            <a:off x="462750" y="2333221"/>
            <a:ext cx="372600" cy="3525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c) </a:t>
            </a:r>
            <a:endParaRPr sz="1200">
              <a:solidFill>
                <a:srgbClr val="000000"/>
              </a:solidFill>
              <a:latin typeface="Lexend"/>
              <a:ea typeface="Lexend"/>
              <a:cs typeface="Lexend"/>
              <a:sym typeface="Lexend"/>
            </a:endParaRPr>
          </a:p>
        </p:txBody>
      </p:sp>
      <p:sp>
        <p:nvSpPr>
          <p:cNvPr id="211" name="Google Shape;211;p21"/>
          <p:cNvSpPr/>
          <p:nvPr/>
        </p:nvSpPr>
        <p:spPr>
          <a:xfrm>
            <a:off x="5731200" y="1193058"/>
            <a:ext cx="1360800" cy="2772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200">
                <a:solidFill>
                  <a:srgbClr val="000000"/>
                </a:solidFill>
                <a:latin typeface="Lexend"/>
                <a:ea typeface="Lexend"/>
                <a:cs typeface="Lexend"/>
                <a:sym typeface="Lexend"/>
              </a:rPr>
              <a:t>mean = </a:t>
            </a:r>
            <a:r>
              <a:rPr lang="en-GB" sz="1200">
                <a:solidFill>
                  <a:srgbClr val="202124"/>
                </a:solidFill>
                <a:highlight>
                  <a:srgbClr val="FFFFFF"/>
                </a:highlight>
                <a:latin typeface="Kalam"/>
                <a:ea typeface="Kalam"/>
                <a:cs typeface="Kalam"/>
                <a:sym typeface="Kalam"/>
              </a:rPr>
              <a:t>−</a:t>
            </a:r>
            <a:r>
              <a:rPr lang="en-GB" sz="1200">
                <a:solidFill>
                  <a:srgbClr val="000000"/>
                </a:solidFill>
                <a:latin typeface="Lexend"/>
                <a:ea typeface="Lexend"/>
                <a:cs typeface="Lexend"/>
                <a:sym typeface="Lexend"/>
              </a:rPr>
              <a:t>3</a:t>
            </a:r>
            <a:endParaRPr sz="1200">
              <a:solidFill>
                <a:srgbClr val="000000"/>
              </a:solidFill>
              <a:latin typeface="Lexend"/>
              <a:ea typeface="Lexend"/>
              <a:cs typeface="Lexend"/>
              <a:sym typeface="Lexend"/>
            </a:endParaRPr>
          </a:p>
        </p:txBody>
      </p:sp>
      <p:sp>
        <p:nvSpPr>
          <p:cNvPr id="212" name="Google Shape;212;p21"/>
          <p:cNvSpPr/>
          <p:nvPr/>
        </p:nvSpPr>
        <p:spPr>
          <a:xfrm>
            <a:off x="5731200" y="1682292"/>
            <a:ext cx="1360800" cy="2772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200">
                <a:solidFill>
                  <a:srgbClr val="000000"/>
                </a:solidFill>
                <a:latin typeface="Lexend"/>
                <a:ea typeface="Lexend"/>
                <a:cs typeface="Lexend"/>
                <a:sym typeface="Lexend"/>
              </a:rPr>
              <a:t>mean = 0</a:t>
            </a:r>
            <a:endParaRPr sz="1200">
              <a:solidFill>
                <a:srgbClr val="000000"/>
              </a:solidFill>
              <a:latin typeface="Lexend"/>
              <a:ea typeface="Lexend"/>
              <a:cs typeface="Lexend"/>
              <a:sym typeface="Lexend"/>
            </a:endParaRPr>
          </a:p>
        </p:txBody>
      </p:sp>
      <p:sp>
        <p:nvSpPr>
          <p:cNvPr id="213" name="Google Shape;213;p21"/>
          <p:cNvSpPr/>
          <p:nvPr/>
        </p:nvSpPr>
        <p:spPr>
          <a:xfrm>
            <a:off x="5731200" y="2171525"/>
            <a:ext cx="1360800" cy="2772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200">
                <a:solidFill>
                  <a:srgbClr val="000000"/>
                </a:solidFill>
                <a:latin typeface="Lexend"/>
                <a:ea typeface="Lexend"/>
                <a:cs typeface="Lexend"/>
                <a:sym typeface="Lexend"/>
              </a:rPr>
              <a:t>mean = 6</a:t>
            </a:r>
            <a:endParaRPr sz="1200">
              <a:solidFill>
                <a:srgbClr val="000000"/>
              </a:solidFill>
              <a:latin typeface="Lexend"/>
              <a:ea typeface="Lexend"/>
              <a:cs typeface="Lexend"/>
              <a:sym typeface="Lexend"/>
            </a:endParaRPr>
          </a:p>
        </p:txBody>
      </p:sp>
      <p:sp>
        <p:nvSpPr>
          <p:cNvPr id="214" name="Google Shape;214;p21"/>
          <p:cNvSpPr/>
          <p:nvPr/>
        </p:nvSpPr>
        <p:spPr>
          <a:xfrm>
            <a:off x="5731200" y="2660758"/>
            <a:ext cx="1360800" cy="2772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200">
                <a:solidFill>
                  <a:srgbClr val="000000"/>
                </a:solidFill>
                <a:latin typeface="Lexend"/>
                <a:ea typeface="Lexend"/>
                <a:cs typeface="Lexend"/>
                <a:sym typeface="Lexend"/>
              </a:rPr>
              <a:t>mean = 14</a:t>
            </a:r>
            <a:endParaRPr sz="1200">
              <a:solidFill>
                <a:srgbClr val="000000"/>
              </a:solidFill>
              <a:latin typeface="Lexend"/>
              <a:ea typeface="Lexend"/>
              <a:cs typeface="Lexend"/>
              <a:sym typeface="Lexend"/>
            </a:endParaRPr>
          </a:p>
        </p:txBody>
      </p:sp>
      <p:cxnSp>
        <p:nvCxnSpPr>
          <p:cNvPr id="215" name="Google Shape;215;p21"/>
          <p:cNvCxnSpPr>
            <a:endCxn id="213" idx="1"/>
          </p:cNvCxnSpPr>
          <p:nvPr/>
        </p:nvCxnSpPr>
        <p:spPr>
          <a:xfrm>
            <a:off x="5073300" y="1590425"/>
            <a:ext cx="657900" cy="719700"/>
          </a:xfrm>
          <a:prstGeom prst="straightConnector1">
            <a:avLst/>
          </a:prstGeom>
          <a:noFill/>
          <a:ln cap="flat" cmpd="sng" w="38100">
            <a:solidFill>
              <a:schemeClr val="dk1"/>
            </a:solidFill>
            <a:prstDash val="solid"/>
            <a:round/>
            <a:headEnd len="med" w="med" type="none"/>
            <a:tailEnd len="med" w="med" type="none"/>
          </a:ln>
        </p:spPr>
      </p:cxnSp>
      <p:cxnSp>
        <p:nvCxnSpPr>
          <p:cNvPr id="216" name="Google Shape;216;p21"/>
          <p:cNvCxnSpPr>
            <a:endCxn id="212" idx="1"/>
          </p:cNvCxnSpPr>
          <p:nvPr/>
        </p:nvCxnSpPr>
        <p:spPr>
          <a:xfrm flipH="1" rot="10800000">
            <a:off x="5058300" y="1820892"/>
            <a:ext cx="672900" cy="238800"/>
          </a:xfrm>
          <a:prstGeom prst="straightConnector1">
            <a:avLst/>
          </a:prstGeom>
          <a:noFill/>
          <a:ln cap="flat" cmpd="sng" w="38100">
            <a:solidFill>
              <a:schemeClr val="dk1"/>
            </a:solidFill>
            <a:prstDash val="solid"/>
            <a:round/>
            <a:headEnd len="med" w="med" type="none"/>
            <a:tailEnd len="med" w="med" type="none"/>
          </a:ln>
        </p:spPr>
      </p:cxnSp>
      <p:cxnSp>
        <p:nvCxnSpPr>
          <p:cNvPr id="217" name="Google Shape;217;p21"/>
          <p:cNvCxnSpPr>
            <a:endCxn id="214" idx="1"/>
          </p:cNvCxnSpPr>
          <p:nvPr/>
        </p:nvCxnSpPr>
        <p:spPr>
          <a:xfrm>
            <a:off x="5058300" y="2498758"/>
            <a:ext cx="672900" cy="300600"/>
          </a:xfrm>
          <a:prstGeom prst="straightConnector1">
            <a:avLst/>
          </a:prstGeom>
          <a:noFill/>
          <a:ln cap="flat" cmpd="sng" w="38100">
            <a:solidFill>
              <a:schemeClr val="dk1"/>
            </a:solidFill>
            <a:prstDash val="solid"/>
            <a:round/>
            <a:headEnd len="med" w="med" type="none"/>
            <a:tailEnd len="med" w="med" type="none"/>
          </a:ln>
        </p:spPr>
      </p:cxnSp>
      <p:graphicFrame>
        <p:nvGraphicFramePr>
          <p:cNvPr id="218" name="Google Shape;218;p21"/>
          <p:cNvGraphicFramePr/>
          <p:nvPr/>
        </p:nvGraphicFramePr>
        <p:xfrm>
          <a:off x="1058700" y="3236100"/>
          <a:ext cx="3000000" cy="3000000"/>
        </p:xfrm>
        <a:graphic>
          <a:graphicData uri="http://schemas.openxmlformats.org/drawingml/2006/table">
            <a:tbl>
              <a:tblPr>
                <a:noFill/>
                <a:tableStyleId>{2E74BE41-31CC-49F5-AA4C-077352E049A1}</a:tableStyleId>
              </a:tblPr>
              <a:tblGrid>
                <a:gridCol w="558100"/>
                <a:gridCol w="558100"/>
                <a:gridCol w="558100"/>
                <a:gridCol w="558100"/>
                <a:gridCol w="558100"/>
                <a:gridCol w="558100"/>
                <a:gridCol w="558100"/>
                <a:gridCol w="558100"/>
                <a:gridCol w="558100"/>
                <a:gridCol w="558100"/>
              </a:tblGrid>
              <a:tr h="33337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49</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51</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51</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51</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51</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51</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53</a:t>
                      </a:r>
                      <a:endParaRPr sz="1200">
                        <a:latin typeface="Lexend"/>
                        <a:ea typeface="Lexend"/>
                        <a:cs typeface="Lexend"/>
                        <a:sym typeface="Lexend"/>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19" name="Google Shape;219;p21"/>
          <p:cNvSpPr txBox="1"/>
          <p:nvPr/>
        </p:nvSpPr>
        <p:spPr>
          <a:xfrm>
            <a:off x="462750" y="4359506"/>
            <a:ext cx="1496100" cy="277200"/>
          </a:xfrm>
          <a:prstGeom prst="rect">
            <a:avLst/>
          </a:prstGeom>
          <a:noFill/>
          <a:ln>
            <a:noFill/>
          </a:ln>
        </p:spPr>
        <p:txBody>
          <a:bodyPr anchorCtr="0" anchor="ctr" bIns="0" lIns="0" spcFirstLastPara="1" rIns="0" wrap="square" tIns="0">
            <a:noAutofit/>
          </a:bodyPr>
          <a:lstStyle/>
          <a:p>
            <a:pPr indent="0" lvl="0" marL="0" rtl="0" algn="l">
              <a:lnSpc>
                <a:spcPct val="130000"/>
              </a:lnSpc>
              <a:spcBef>
                <a:spcPts val="0"/>
              </a:spcBef>
              <a:spcAft>
                <a:spcPts val="1000"/>
              </a:spcAft>
              <a:buNone/>
            </a:pPr>
            <a:r>
              <a:rPr lang="en-GB" sz="1200">
                <a:latin typeface="Kalam"/>
                <a:ea typeface="Kalam"/>
                <a:cs typeface="Kalam"/>
                <a:sym typeface="Kalam"/>
              </a:rPr>
              <a:t>m</a:t>
            </a:r>
            <a:r>
              <a:rPr lang="en-GB" sz="1200">
                <a:solidFill>
                  <a:srgbClr val="000000"/>
                </a:solidFill>
                <a:latin typeface="Kalam"/>
                <a:ea typeface="Kalam"/>
                <a:cs typeface="Kalam"/>
                <a:sym typeface="Kalam"/>
              </a:rPr>
              <a:t>ean = 39</a:t>
            </a:r>
            <a:endParaRPr sz="1200">
              <a:solidFill>
                <a:srgbClr val="000000"/>
              </a:solidFill>
              <a:latin typeface="Kalam"/>
              <a:ea typeface="Kalam"/>
              <a:cs typeface="Kalam"/>
              <a:sym typeface="Kalam"/>
            </a:endParaRPr>
          </a:p>
        </p:txBody>
      </p:sp>
      <p:sp>
        <p:nvSpPr>
          <p:cNvPr id="220" name="Google Shape;220;p21"/>
          <p:cNvSpPr txBox="1"/>
          <p:nvPr/>
        </p:nvSpPr>
        <p:spPr>
          <a:xfrm>
            <a:off x="475250" y="5426738"/>
            <a:ext cx="66240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No, as 39 is neither near the centre of the dataset, nor is it close to any data points.</a:t>
            </a:r>
            <a:endParaRPr sz="1200">
              <a:solidFill>
                <a:srgbClr val="000000"/>
              </a:solidFill>
              <a:latin typeface="Kalam"/>
              <a:ea typeface="Kalam"/>
              <a:cs typeface="Kalam"/>
              <a:sym typeface="Kalam"/>
            </a:endParaRPr>
          </a:p>
        </p:txBody>
      </p:sp>
      <p:sp>
        <p:nvSpPr>
          <p:cNvPr id="221" name="Google Shape;221;p21"/>
          <p:cNvSpPr txBox="1"/>
          <p:nvPr/>
        </p:nvSpPr>
        <p:spPr>
          <a:xfrm>
            <a:off x="468000" y="6556150"/>
            <a:ext cx="4301100" cy="184800"/>
          </a:xfrm>
          <a:prstGeom prst="rect">
            <a:avLst/>
          </a:prstGeom>
          <a:noFill/>
          <a:ln>
            <a:noFill/>
          </a:ln>
        </p:spPr>
        <p:txBody>
          <a:bodyPr anchorCtr="0" anchor="t" bIns="0" lIns="0" spcFirstLastPara="1" rIns="0" wrap="square" tIns="0">
            <a:spAutoFit/>
          </a:bodyPr>
          <a:lstStyle/>
          <a:p>
            <a:pPr indent="0" lvl="0" marL="0" rtl="0" algn="l">
              <a:lnSpc>
                <a:spcPct val="130000"/>
              </a:lnSpc>
              <a:spcBef>
                <a:spcPts val="0"/>
              </a:spcBef>
              <a:spcAft>
                <a:spcPts val="1000"/>
              </a:spcAft>
              <a:buNone/>
            </a:pPr>
            <a:r>
              <a:rPr lang="en-GB" sz="1200">
                <a:latin typeface="Lexend"/>
                <a:ea typeface="Lexend"/>
                <a:cs typeface="Lexend"/>
                <a:sym typeface="Lexend"/>
              </a:rPr>
              <a:t>3</a:t>
            </a:r>
            <a:r>
              <a:rPr lang="en-GB" sz="1200">
                <a:solidFill>
                  <a:srgbClr val="000000"/>
                </a:solidFill>
                <a:latin typeface="Lexend"/>
                <a:ea typeface="Lexend"/>
                <a:cs typeface="Lexend"/>
                <a:sym typeface="Lexend"/>
              </a:rPr>
              <a:t>) Match the mean to each dot plot.</a:t>
            </a:r>
            <a:endParaRPr sz="1200">
              <a:solidFill>
                <a:srgbClr val="000000"/>
              </a:solidFill>
              <a:latin typeface="Lexend"/>
              <a:ea typeface="Lexend"/>
              <a:cs typeface="Lexend"/>
              <a:sym typeface="Lexend"/>
            </a:endParaRPr>
          </a:p>
        </p:txBody>
      </p:sp>
      <p:sp>
        <p:nvSpPr>
          <p:cNvPr id="222" name="Google Shape;222;p21"/>
          <p:cNvSpPr/>
          <p:nvPr/>
        </p:nvSpPr>
        <p:spPr>
          <a:xfrm>
            <a:off x="682209" y="6936525"/>
            <a:ext cx="1360800" cy="1518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200">
                <a:solidFill>
                  <a:srgbClr val="000000"/>
                </a:solidFill>
                <a:latin typeface="Lexend"/>
                <a:ea typeface="Lexend"/>
                <a:cs typeface="Lexend"/>
                <a:sym typeface="Lexend"/>
              </a:rPr>
              <a:t>mean = 5.3</a:t>
            </a:r>
            <a:endParaRPr sz="1200">
              <a:solidFill>
                <a:srgbClr val="000000"/>
              </a:solidFill>
              <a:latin typeface="Lexend"/>
              <a:ea typeface="Lexend"/>
              <a:cs typeface="Lexend"/>
              <a:sym typeface="Lexend"/>
            </a:endParaRPr>
          </a:p>
        </p:txBody>
      </p:sp>
      <p:sp>
        <p:nvSpPr>
          <p:cNvPr id="223" name="Google Shape;223;p21"/>
          <p:cNvSpPr/>
          <p:nvPr/>
        </p:nvSpPr>
        <p:spPr>
          <a:xfrm>
            <a:off x="682209" y="7203950"/>
            <a:ext cx="1360800" cy="1518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200">
                <a:solidFill>
                  <a:srgbClr val="000000"/>
                </a:solidFill>
                <a:latin typeface="Lexend"/>
                <a:ea typeface="Lexend"/>
                <a:cs typeface="Lexend"/>
                <a:sym typeface="Lexend"/>
              </a:rPr>
              <a:t>mean = 10.2</a:t>
            </a:r>
            <a:endParaRPr sz="1200">
              <a:solidFill>
                <a:srgbClr val="000000"/>
              </a:solidFill>
              <a:latin typeface="Lexend"/>
              <a:ea typeface="Lexend"/>
              <a:cs typeface="Lexend"/>
              <a:sym typeface="Lexend"/>
            </a:endParaRPr>
          </a:p>
        </p:txBody>
      </p:sp>
      <p:sp>
        <p:nvSpPr>
          <p:cNvPr id="224" name="Google Shape;224;p21"/>
          <p:cNvSpPr/>
          <p:nvPr/>
        </p:nvSpPr>
        <p:spPr>
          <a:xfrm>
            <a:off x="682209" y="7471400"/>
            <a:ext cx="1360800" cy="1518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200">
                <a:solidFill>
                  <a:srgbClr val="000000"/>
                </a:solidFill>
                <a:latin typeface="Lexend"/>
                <a:ea typeface="Lexend"/>
                <a:cs typeface="Lexend"/>
                <a:sym typeface="Lexend"/>
              </a:rPr>
              <a:t>mean = 11.9</a:t>
            </a:r>
            <a:endParaRPr sz="1200">
              <a:solidFill>
                <a:srgbClr val="000000"/>
              </a:solidFill>
              <a:latin typeface="Lexend"/>
              <a:ea typeface="Lexend"/>
              <a:cs typeface="Lexend"/>
              <a:sym typeface="Lexend"/>
            </a:endParaRPr>
          </a:p>
        </p:txBody>
      </p:sp>
      <p:sp>
        <p:nvSpPr>
          <p:cNvPr id="225" name="Google Shape;225;p21"/>
          <p:cNvSpPr/>
          <p:nvPr/>
        </p:nvSpPr>
        <p:spPr>
          <a:xfrm>
            <a:off x="682208" y="7738850"/>
            <a:ext cx="1360800" cy="1518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200">
                <a:solidFill>
                  <a:srgbClr val="000000"/>
                </a:solidFill>
                <a:latin typeface="Lexend"/>
                <a:ea typeface="Lexend"/>
                <a:cs typeface="Lexend"/>
                <a:sym typeface="Lexend"/>
              </a:rPr>
              <a:t>mean = 17.1</a:t>
            </a:r>
            <a:endParaRPr sz="1200">
              <a:solidFill>
                <a:srgbClr val="000000"/>
              </a:solidFill>
              <a:latin typeface="Lexend"/>
              <a:ea typeface="Lexend"/>
              <a:cs typeface="Lexend"/>
              <a:sym typeface="Lexend"/>
            </a:endParaRPr>
          </a:p>
        </p:txBody>
      </p:sp>
      <p:pic>
        <p:nvPicPr>
          <p:cNvPr id="226" name="Google Shape;226;p21"/>
          <p:cNvPicPr preferRelativeResize="0"/>
          <p:nvPr/>
        </p:nvPicPr>
        <p:blipFill>
          <a:blip r:embed="rId3">
            <a:alphaModFix/>
          </a:blip>
          <a:stretch>
            <a:fillRect/>
          </a:stretch>
        </p:blipFill>
        <p:spPr>
          <a:xfrm>
            <a:off x="3420002" y="6435982"/>
            <a:ext cx="1099375" cy="2347154"/>
          </a:xfrm>
          <a:prstGeom prst="rect">
            <a:avLst/>
          </a:prstGeom>
          <a:noFill/>
          <a:ln cap="flat" cmpd="sng" w="19050">
            <a:solidFill>
              <a:srgbClr val="000000"/>
            </a:solidFill>
            <a:prstDash val="solid"/>
            <a:round/>
            <a:headEnd len="sm" w="sm" type="none"/>
            <a:tailEnd len="sm" w="sm" type="none"/>
          </a:ln>
        </p:spPr>
      </p:pic>
      <p:pic>
        <p:nvPicPr>
          <p:cNvPr id="227" name="Google Shape;227;p21"/>
          <p:cNvPicPr preferRelativeResize="0"/>
          <p:nvPr/>
        </p:nvPicPr>
        <p:blipFill>
          <a:blip r:embed="rId4">
            <a:alphaModFix/>
          </a:blip>
          <a:stretch>
            <a:fillRect/>
          </a:stretch>
        </p:blipFill>
        <p:spPr>
          <a:xfrm>
            <a:off x="4607374" y="6435000"/>
            <a:ext cx="1026854" cy="2347153"/>
          </a:xfrm>
          <a:prstGeom prst="rect">
            <a:avLst/>
          </a:prstGeom>
          <a:noFill/>
          <a:ln cap="flat" cmpd="sng" w="19050">
            <a:solidFill>
              <a:srgbClr val="000000"/>
            </a:solidFill>
            <a:prstDash val="solid"/>
            <a:round/>
            <a:headEnd len="sm" w="sm" type="none"/>
            <a:tailEnd len="sm" w="sm" type="none"/>
          </a:ln>
        </p:spPr>
      </p:pic>
      <p:pic>
        <p:nvPicPr>
          <p:cNvPr id="228" name="Google Shape;228;p21"/>
          <p:cNvPicPr preferRelativeResize="0"/>
          <p:nvPr/>
        </p:nvPicPr>
        <p:blipFill>
          <a:blip r:embed="rId5">
            <a:alphaModFix/>
          </a:blip>
          <a:stretch>
            <a:fillRect/>
          </a:stretch>
        </p:blipFill>
        <p:spPr>
          <a:xfrm>
            <a:off x="468002" y="7699871"/>
            <a:ext cx="200475" cy="229466"/>
          </a:xfrm>
          <a:prstGeom prst="rect">
            <a:avLst/>
          </a:prstGeom>
          <a:noFill/>
          <a:ln>
            <a:noFill/>
          </a:ln>
        </p:spPr>
      </p:pic>
      <p:pic>
        <p:nvPicPr>
          <p:cNvPr id="229" name="Google Shape;229;p21"/>
          <p:cNvPicPr preferRelativeResize="0"/>
          <p:nvPr/>
        </p:nvPicPr>
        <p:blipFill rotWithShape="1">
          <a:blip r:embed="rId6">
            <a:alphaModFix/>
          </a:blip>
          <a:srcRect b="0" l="0" r="10889" t="0"/>
          <a:stretch/>
        </p:blipFill>
        <p:spPr>
          <a:xfrm>
            <a:off x="5722217" y="6435000"/>
            <a:ext cx="1123285" cy="2347155"/>
          </a:xfrm>
          <a:prstGeom prst="rect">
            <a:avLst/>
          </a:prstGeom>
          <a:noFill/>
          <a:ln cap="flat" cmpd="sng" w="19050">
            <a:solidFill>
              <a:srgbClr val="000000"/>
            </a:solidFill>
            <a:prstDash val="solid"/>
            <a:round/>
            <a:headEnd len="sm" w="sm" type="none"/>
            <a:tailEnd len="sm" w="sm" type="none"/>
          </a:ln>
        </p:spPr>
      </p:pic>
      <p:sp>
        <p:nvSpPr>
          <p:cNvPr id="230" name="Google Shape;230;p21"/>
          <p:cNvSpPr txBox="1"/>
          <p:nvPr/>
        </p:nvSpPr>
        <p:spPr>
          <a:xfrm>
            <a:off x="3357950" y="6326825"/>
            <a:ext cx="461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a)</a:t>
            </a:r>
            <a:endParaRPr sz="1200">
              <a:solidFill>
                <a:srgbClr val="000000"/>
              </a:solidFill>
              <a:latin typeface="Lexend"/>
              <a:ea typeface="Lexend"/>
              <a:cs typeface="Lexend"/>
              <a:sym typeface="Lexend"/>
            </a:endParaRPr>
          </a:p>
        </p:txBody>
      </p:sp>
      <p:sp>
        <p:nvSpPr>
          <p:cNvPr id="231" name="Google Shape;231;p21"/>
          <p:cNvSpPr txBox="1"/>
          <p:nvPr/>
        </p:nvSpPr>
        <p:spPr>
          <a:xfrm>
            <a:off x="4564050" y="6326825"/>
            <a:ext cx="461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b)</a:t>
            </a:r>
            <a:endParaRPr sz="1200">
              <a:solidFill>
                <a:srgbClr val="000000"/>
              </a:solidFill>
              <a:latin typeface="Lexend"/>
              <a:ea typeface="Lexend"/>
              <a:cs typeface="Lexend"/>
              <a:sym typeface="Lexend"/>
            </a:endParaRPr>
          </a:p>
        </p:txBody>
      </p:sp>
      <p:sp>
        <p:nvSpPr>
          <p:cNvPr id="232" name="Google Shape;232;p21"/>
          <p:cNvSpPr txBox="1"/>
          <p:nvPr/>
        </p:nvSpPr>
        <p:spPr>
          <a:xfrm>
            <a:off x="5675000" y="6326825"/>
            <a:ext cx="461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c)</a:t>
            </a:r>
            <a:endParaRPr sz="1200">
              <a:solidFill>
                <a:srgbClr val="000000"/>
              </a:solidFill>
              <a:latin typeface="Lexend"/>
              <a:ea typeface="Lexend"/>
              <a:cs typeface="Lexend"/>
              <a:sym typeface="Lexend"/>
            </a:endParaRPr>
          </a:p>
        </p:txBody>
      </p:sp>
      <p:sp>
        <p:nvSpPr>
          <p:cNvPr id="233" name="Google Shape;233;p21"/>
          <p:cNvSpPr txBox="1"/>
          <p:nvPr/>
        </p:nvSpPr>
        <p:spPr>
          <a:xfrm>
            <a:off x="382475" y="7095200"/>
            <a:ext cx="461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a)</a:t>
            </a:r>
            <a:endParaRPr sz="1200">
              <a:solidFill>
                <a:srgbClr val="000000"/>
              </a:solidFill>
              <a:latin typeface="Lexend"/>
              <a:ea typeface="Lexend"/>
              <a:cs typeface="Lexend"/>
              <a:sym typeface="Lexend"/>
            </a:endParaRPr>
          </a:p>
        </p:txBody>
      </p:sp>
      <p:sp>
        <p:nvSpPr>
          <p:cNvPr id="234" name="Google Shape;234;p21"/>
          <p:cNvSpPr txBox="1"/>
          <p:nvPr/>
        </p:nvSpPr>
        <p:spPr>
          <a:xfrm>
            <a:off x="382463" y="7362650"/>
            <a:ext cx="461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b)</a:t>
            </a:r>
            <a:endParaRPr sz="1200">
              <a:solidFill>
                <a:srgbClr val="000000"/>
              </a:solidFill>
              <a:latin typeface="Lexend"/>
              <a:ea typeface="Lexend"/>
              <a:cs typeface="Lexend"/>
              <a:sym typeface="Lexend"/>
            </a:endParaRPr>
          </a:p>
        </p:txBody>
      </p:sp>
      <p:sp>
        <p:nvSpPr>
          <p:cNvPr id="235" name="Google Shape;235;p21"/>
          <p:cNvSpPr txBox="1"/>
          <p:nvPr/>
        </p:nvSpPr>
        <p:spPr>
          <a:xfrm>
            <a:off x="382475" y="6827775"/>
            <a:ext cx="461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c)</a:t>
            </a:r>
            <a:endParaRPr sz="1200">
              <a:solidFill>
                <a:srgbClr val="000000"/>
              </a:solidFill>
              <a:latin typeface="Lexend"/>
              <a:ea typeface="Lexend"/>
              <a:cs typeface="Lexend"/>
              <a:sym typeface="Lexend"/>
            </a:endParaRPr>
          </a:p>
        </p:txBody>
      </p:sp>
      <p:sp>
        <p:nvSpPr>
          <p:cNvPr id="236" name="Google Shape;236;p2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2"/>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1100"/>
              <a:buFont typeface="Arial"/>
              <a:buNone/>
            </a:pPr>
            <a:r>
              <a:rPr lang="en-GB">
                <a:solidFill>
                  <a:schemeClr val="dk1"/>
                </a:solidFill>
              </a:rPr>
              <a:t>Summarising data</a:t>
            </a:r>
            <a:endParaRPr/>
          </a:p>
        </p:txBody>
      </p:sp>
      <p:sp>
        <p:nvSpPr>
          <p:cNvPr id="242" name="Google Shape;242;p22"/>
          <p:cNvSpPr txBox="1"/>
          <p:nvPr/>
        </p:nvSpPr>
        <p:spPr>
          <a:xfrm>
            <a:off x="468000" y="689050"/>
            <a:ext cx="66105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b="1" lang="en-GB">
                <a:solidFill>
                  <a:schemeClr val="dk1"/>
                </a:solidFill>
                <a:latin typeface="Lexend"/>
                <a:ea typeface="Lexend"/>
                <a:cs typeface="Lexend"/>
                <a:sym typeface="Lexend"/>
              </a:rPr>
              <a:t>Task C: </a:t>
            </a:r>
            <a:r>
              <a:rPr b="1" lang="en-GB">
                <a:solidFill>
                  <a:schemeClr val="dk1"/>
                </a:solidFill>
                <a:latin typeface="Lexend"/>
                <a:ea typeface="Lexend"/>
                <a:cs typeface="Lexend"/>
                <a:sym typeface="Lexend"/>
              </a:rPr>
              <a:t>Dealing with an unrepresentative median or mode</a:t>
            </a:r>
            <a:endParaRPr b="1">
              <a:solidFill>
                <a:schemeClr val="dk1"/>
              </a:solidFill>
              <a:latin typeface="Lexend"/>
              <a:ea typeface="Lexend"/>
              <a:cs typeface="Lexend"/>
              <a:sym typeface="Lexend"/>
            </a:endParaRPr>
          </a:p>
        </p:txBody>
      </p:sp>
      <p:sp>
        <p:nvSpPr>
          <p:cNvPr id="243" name="Google Shape;243;p22"/>
          <p:cNvSpPr txBox="1"/>
          <p:nvPr/>
        </p:nvSpPr>
        <p:spPr>
          <a:xfrm>
            <a:off x="3780000" y="3091722"/>
            <a:ext cx="3312000" cy="381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latin typeface="Kalam"/>
                <a:ea typeface="Kalam"/>
                <a:cs typeface="Kalam"/>
                <a:sym typeface="Kalam"/>
              </a:rPr>
              <a:t>The mode is more representative. This is because the median is not near any high-frequency values.</a:t>
            </a:r>
            <a:endParaRPr sz="1200">
              <a:latin typeface="Kalam"/>
              <a:ea typeface="Kalam"/>
              <a:cs typeface="Kalam"/>
              <a:sym typeface="Kalam"/>
            </a:endParaRPr>
          </a:p>
        </p:txBody>
      </p:sp>
      <p:sp>
        <p:nvSpPr>
          <p:cNvPr id="244" name="Google Shape;244;p22"/>
          <p:cNvSpPr txBox="1"/>
          <p:nvPr/>
        </p:nvSpPr>
        <p:spPr>
          <a:xfrm>
            <a:off x="468000" y="1009047"/>
            <a:ext cx="6624000" cy="27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latin typeface="Lexend"/>
                <a:ea typeface="Lexend"/>
                <a:cs typeface="Lexend"/>
                <a:sym typeface="Lexend"/>
              </a:rPr>
              <a:t>1</a:t>
            </a:r>
            <a:r>
              <a:rPr lang="en-GB" sz="1200">
                <a:solidFill>
                  <a:srgbClr val="000000"/>
                </a:solidFill>
                <a:latin typeface="Lexend"/>
                <a:ea typeface="Lexend"/>
                <a:cs typeface="Lexend"/>
                <a:sym typeface="Lexend"/>
              </a:rPr>
              <a:t>) For which one of these datasets is the </a:t>
            </a:r>
            <a:r>
              <a:rPr lang="en-GB" sz="1200">
                <a:latin typeface="Lexend"/>
                <a:ea typeface="Lexend"/>
                <a:cs typeface="Lexend"/>
                <a:sym typeface="Lexend"/>
              </a:rPr>
              <a:t>median the more representative summary, and for which one is the mode the more representative summary</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rPr lang="en-GB" sz="1200">
                <a:solidFill>
                  <a:srgbClr val="000000"/>
                </a:solidFill>
                <a:latin typeface="Lexend"/>
                <a:ea typeface="Lexend"/>
                <a:cs typeface="Lexend"/>
                <a:sym typeface="Lexend"/>
              </a:rPr>
              <a:t>You must write one sentence why you chose that one over the other.</a:t>
            </a:r>
            <a:endParaRPr sz="1200">
              <a:solidFill>
                <a:srgbClr val="000000"/>
              </a:solidFill>
              <a:latin typeface="Lexend"/>
              <a:ea typeface="Lexend"/>
              <a:cs typeface="Lexend"/>
              <a:sym typeface="Lexend"/>
            </a:endParaRPr>
          </a:p>
        </p:txBody>
      </p:sp>
      <p:pic>
        <p:nvPicPr>
          <p:cNvPr id="245" name="Google Shape;245;p22"/>
          <p:cNvPicPr preferRelativeResize="0"/>
          <p:nvPr/>
        </p:nvPicPr>
        <p:blipFill>
          <a:blip r:embed="rId3">
            <a:alphaModFix/>
          </a:blip>
          <a:stretch>
            <a:fillRect/>
          </a:stretch>
        </p:blipFill>
        <p:spPr>
          <a:xfrm>
            <a:off x="842476" y="1834093"/>
            <a:ext cx="2417443" cy="906542"/>
          </a:xfrm>
          <a:prstGeom prst="rect">
            <a:avLst/>
          </a:prstGeom>
          <a:noFill/>
          <a:ln cap="flat" cmpd="sng" w="9525">
            <a:solidFill>
              <a:srgbClr val="000000"/>
            </a:solidFill>
            <a:prstDash val="solid"/>
            <a:round/>
            <a:headEnd len="sm" w="sm" type="none"/>
            <a:tailEnd len="sm" w="sm" type="none"/>
          </a:ln>
        </p:spPr>
      </p:pic>
      <p:sp>
        <p:nvSpPr>
          <p:cNvPr id="246" name="Google Shape;246;p22"/>
          <p:cNvSpPr txBox="1"/>
          <p:nvPr/>
        </p:nvSpPr>
        <p:spPr>
          <a:xfrm>
            <a:off x="468000" y="3091722"/>
            <a:ext cx="2952000" cy="381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latin typeface="Kalam"/>
                <a:ea typeface="Kalam"/>
                <a:cs typeface="Kalam"/>
                <a:sym typeface="Kalam"/>
              </a:rPr>
              <a:t>The median is more representative. This is because there is no mode.</a:t>
            </a:r>
            <a:endParaRPr sz="1200">
              <a:latin typeface="Kalam"/>
              <a:ea typeface="Kalam"/>
              <a:cs typeface="Kalam"/>
              <a:sym typeface="Kalam"/>
            </a:endParaRPr>
          </a:p>
        </p:txBody>
      </p:sp>
      <p:grpSp>
        <p:nvGrpSpPr>
          <p:cNvPr id="247" name="Google Shape;247;p22"/>
          <p:cNvGrpSpPr/>
          <p:nvPr/>
        </p:nvGrpSpPr>
        <p:grpSpPr>
          <a:xfrm>
            <a:off x="4016580" y="1834057"/>
            <a:ext cx="1756261" cy="942451"/>
            <a:chOff x="4821227" y="1538842"/>
            <a:chExt cx="3998774" cy="2145835"/>
          </a:xfrm>
        </p:grpSpPr>
        <p:pic>
          <p:nvPicPr>
            <p:cNvPr id="248" name="Google Shape;248;p22"/>
            <p:cNvPicPr preferRelativeResize="0"/>
            <p:nvPr/>
          </p:nvPicPr>
          <p:blipFill>
            <a:blip r:embed="rId4">
              <a:alphaModFix/>
            </a:blip>
            <a:stretch>
              <a:fillRect/>
            </a:stretch>
          </p:blipFill>
          <p:spPr>
            <a:xfrm>
              <a:off x="4821227" y="1538842"/>
              <a:ext cx="3998774" cy="2145835"/>
            </a:xfrm>
            <a:prstGeom prst="rect">
              <a:avLst/>
            </a:prstGeom>
            <a:noFill/>
            <a:ln cap="flat" cmpd="sng" w="9525">
              <a:solidFill>
                <a:srgbClr val="000000"/>
              </a:solidFill>
              <a:prstDash val="solid"/>
              <a:round/>
              <a:headEnd len="sm" w="sm" type="none"/>
              <a:tailEnd len="sm" w="sm" type="none"/>
            </a:ln>
          </p:spPr>
        </p:pic>
        <p:pic>
          <p:nvPicPr>
            <p:cNvPr id="249" name="Google Shape;249;p22"/>
            <p:cNvPicPr preferRelativeResize="0"/>
            <p:nvPr/>
          </p:nvPicPr>
          <p:blipFill rotWithShape="1">
            <a:blip r:embed="rId4">
              <a:alphaModFix/>
            </a:blip>
            <a:srcRect b="11803" l="7355" r="84880" t="22981"/>
            <a:stretch/>
          </p:blipFill>
          <p:spPr>
            <a:xfrm>
              <a:off x="8145886" y="2032000"/>
              <a:ext cx="310449" cy="1399400"/>
            </a:xfrm>
            <a:prstGeom prst="rect">
              <a:avLst/>
            </a:prstGeom>
            <a:noFill/>
            <a:ln>
              <a:noFill/>
            </a:ln>
          </p:spPr>
        </p:pic>
        <p:pic>
          <p:nvPicPr>
            <p:cNvPr id="250" name="Google Shape;250;p22"/>
            <p:cNvPicPr preferRelativeResize="0"/>
            <p:nvPr/>
          </p:nvPicPr>
          <p:blipFill rotWithShape="1">
            <a:blip r:embed="rId4">
              <a:alphaModFix/>
            </a:blip>
            <a:srcRect b="11804" l="7355" r="84880" t="67525"/>
            <a:stretch/>
          </p:blipFill>
          <p:spPr>
            <a:xfrm>
              <a:off x="8480575" y="2987850"/>
              <a:ext cx="310449" cy="443550"/>
            </a:xfrm>
            <a:prstGeom prst="rect">
              <a:avLst/>
            </a:prstGeom>
            <a:noFill/>
            <a:ln>
              <a:noFill/>
            </a:ln>
          </p:spPr>
        </p:pic>
      </p:grpSp>
      <p:sp>
        <p:nvSpPr>
          <p:cNvPr id="251" name="Google Shape;251;p22"/>
          <p:cNvSpPr txBox="1"/>
          <p:nvPr/>
        </p:nvSpPr>
        <p:spPr>
          <a:xfrm>
            <a:off x="468000" y="4291958"/>
            <a:ext cx="6624000" cy="381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latin typeface="Lexend"/>
                <a:ea typeface="Lexend"/>
                <a:cs typeface="Lexend"/>
                <a:sym typeface="Lexend"/>
              </a:rPr>
              <a:t>2</a:t>
            </a:r>
            <a:r>
              <a:rPr lang="en-GB" sz="1200">
                <a:solidFill>
                  <a:srgbClr val="000000"/>
                </a:solidFill>
                <a:latin typeface="Lexend"/>
                <a:ea typeface="Lexend"/>
                <a:cs typeface="Lexend"/>
                <a:sym typeface="Lexend"/>
              </a:rPr>
              <a:t>) </a:t>
            </a:r>
            <a:r>
              <a:rPr lang="en-GB" sz="1200">
                <a:latin typeface="Lexend"/>
                <a:ea typeface="Lexend"/>
                <a:cs typeface="Lexend"/>
                <a:sym typeface="Lexend"/>
              </a:rPr>
              <a:t>Answer parts a, b, and c for both these datasets.</a:t>
            </a:r>
            <a:endParaRPr sz="1200">
              <a:latin typeface="Lexend"/>
              <a:ea typeface="Lexend"/>
              <a:cs typeface="Lexend"/>
              <a:sym typeface="Lexend"/>
            </a:endParaRPr>
          </a:p>
        </p:txBody>
      </p:sp>
      <p:sp>
        <p:nvSpPr>
          <p:cNvPr id="252" name="Google Shape;252;p22"/>
          <p:cNvSpPr txBox="1"/>
          <p:nvPr/>
        </p:nvSpPr>
        <p:spPr>
          <a:xfrm>
            <a:off x="467993" y="5626933"/>
            <a:ext cx="6275100" cy="381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a) Calculate the mean, median, and mode for this dataset.</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rgbClr val="000000"/>
                </a:solidFill>
                <a:latin typeface="Lexend"/>
                <a:ea typeface="Lexend"/>
                <a:cs typeface="Lexend"/>
                <a:sym typeface="Lexend"/>
              </a:rPr>
              <a:t>b) Which averages do you think are the most representative summaries of this dataset?</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rPr lang="en-GB" sz="1200">
                <a:solidFill>
                  <a:srgbClr val="000000"/>
                </a:solidFill>
                <a:latin typeface="Lexend"/>
                <a:ea typeface="Lexend"/>
                <a:cs typeface="Lexend"/>
                <a:sym typeface="Lexend"/>
              </a:rPr>
              <a:t>c) What benefit might there be to still using the average that is least representative? </a:t>
            </a:r>
            <a:endParaRPr sz="1200">
              <a:solidFill>
                <a:srgbClr val="000000"/>
              </a:solidFill>
              <a:latin typeface="Lexend"/>
              <a:ea typeface="Lexend"/>
              <a:cs typeface="Lexend"/>
              <a:sym typeface="Lexend"/>
            </a:endParaRPr>
          </a:p>
        </p:txBody>
      </p:sp>
      <p:graphicFrame>
        <p:nvGraphicFramePr>
          <p:cNvPr id="253" name="Google Shape;253;p22"/>
          <p:cNvGraphicFramePr/>
          <p:nvPr/>
        </p:nvGraphicFramePr>
        <p:xfrm>
          <a:off x="1448613" y="4547480"/>
          <a:ext cx="3000000" cy="3000000"/>
        </p:xfrm>
        <a:graphic>
          <a:graphicData uri="http://schemas.openxmlformats.org/drawingml/2006/table">
            <a:tbl>
              <a:tblPr>
                <a:noFill/>
                <a:tableStyleId>{2E74BE41-31CC-49F5-AA4C-077352E049A1}</a:tableStyleId>
              </a:tblPr>
              <a:tblGrid>
                <a:gridCol w="403100"/>
                <a:gridCol w="403100"/>
                <a:gridCol w="403100"/>
                <a:gridCol w="403100"/>
                <a:gridCol w="403100"/>
                <a:gridCol w="403100"/>
                <a:gridCol w="403100"/>
                <a:gridCol w="403100"/>
                <a:gridCol w="403100"/>
                <a:gridCol w="403100"/>
                <a:gridCol w="403100"/>
                <a:gridCol w="403100"/>
                <a:gridCol w="403100"/>
                <a:gridCol w="403100"/>
              </a:tblGrid>
              <a:tr h="39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9</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57</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bl>
          </a:graphicData>
        </a:graphic>
      </p:graphicFrame>
      <p:graphicFrame>
        <p:nvGraphicFramePr>
          <p:cNvPr id="254" name="Google Shape;254;p22"/>
          <p:cNvGraphicFramePr/>
          <p:nvPr/>
        </p:nvGraphicFramePr>
        <p:xfrm>
          <a:off x="1448475" y="5195695"/>
          <a:ext cx="3000000" cy="3000000"/>
        </p:xfrm>
        <a:graphic>
          <a:graphicData uri="http://schemas.openxmlformats.org/drawingml/2006/table">
            <a:tbl>
              <a:tblPr>
                <a:noFill/>
                <a:tableStyleId>{2E74BE41-31CC-49F5-AA4C-077352E049A1}</a:tableStyleId>
              </a:tblPr>
              <a:tblGrid>
                <a:gridCol w="434100"/>
                <a:gridCol w="434100"/>
                <a:gridCol w="434100"/>
                <a:gridCol w="434100"/>
                <a:gridCol w="434100"/>
                <a:gridCol w="434100"/>
                <a:gridCol w="434100"/>
                <a:gridCol w="434100"/>
                <a:gridCol w="434100"/>
                <a:gridCol w="434100"/>
                <a:gridCol w="434100"/>
                <a:gridCol w="434100"/>
                <a:gridCol w="434100"/>
              </a:tblGrid>
              <a:tr h="39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a:t>
                      </a:r>
                      <a:endParaRPr sz="1200">
                        <a:latin typeface="Lexend"/>
                        <a:ea typeface="Lexend"/>
                        <a:cs typeface="Lexend"/>
                        <a:sym typeface="Lexend"/>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bl>
          </a:graphicData>
        </a:graphic>
      </p:graphicFrame>
      <p:sp>
        <p:nvSpPr>
          <p:cNvPr id="255" name="Google Shape;255;p22"/>
          <p:cNvSpPr txBox="1"/>
          <p:nvPr/>
        </p:nvSpPr>
        <p:spPr>
          <a:xfrm>
            <a:off x="10788" y="4551795"/>
            <a:ext cx="1171800" cy="381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None/>
            </a:pPr>
            <a:r>
              <a:rPr lang="en-GB" sz="1200">
                <a:latin typeface="Lexend"/>
                <a:ea typeface="Lexend"/>
                <a:cs typeface="Lexend"/>
                <a:sym typeface="Lexend"/>
              </a:rPr>
              <a:t>dataset 1</a:t>
            </a:r>
            <a:endParaRPr sz="1200">
              <a:latin typeface="Lexend"/>
              <a:ea typeface="Lexend"/>
              <a:cs typeface="Lexend"/>
              <a:sym typeface="Lexend"/>
            </a:endParaRPr>
          </a:p>
        </p:txBody>
      </p:sp>
      <p:sp>
        <p:nvSpPr>
          <p:cNvPr id="256" name="Google Shape;256;p22"/>
          <p:cNvSpPr txBox="1"/>
          <p:nvPr/>
        </p:nvSpPr>
        <p:spPr>
          <a:xfrm>
            <a:off x="10788" y="5200008"/>
            <a:ext cx="1171800" cy="381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None/>
            </a:pPr>
            <a:r>
              <a:rPr lang="en-GB" sz="1200">
                <a:latin typeface="Lexend"/>
                <a:ea typeface="Lexend"/>
                <a:cs typeface="Lexend"/>
                <a:sym typeface="Lexend"/>
              </a:rPr>
              <a:t>dataset 2</a:t>
            </a:r>
            <a:endParaRPr sz="1200">
              <a:latin typeface="Lexend"/>
              <a:ea typeface="Lexend"/>
              <a:cs typeface="Lexend"/>
              <a:sym typeface="Lexend"/>
            </a:endParaRPr>
          </a:p>
        </p:txBody>
      </p:sp>
      <p:sp>
        <p:nvSpPr>
          <p:cNvPr id="257" name="Google Shape;257;p22"/>
          <p:cNvSpPr txBox="1"/>
          <p:nvPr/>
        </p:nvSpPr>
        <p:spPr>
          <a:xfrm>
            <a:off x="468000" y="6729474"/>
            <a:ext cx="6624000" cy="1644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latin typeface="Kalam"/>
                <a:ea typeface="Kalam"/>
                <a:cs typeface="Kalam"/>
                <a:sym typeface="Kalam"/>
              </a:rPr>
              <a:t>Dataset 1</a:t>
            </a:r>
            <a:endParaRPr sz="1200">
              <a:latin typeface="Kalam"/>
              <a:ea typeface="Kalam"/>
              <a:cs typeface="Kalam"/>
              <a:sym typeface="Kalam"/>
            </a:endParaRPr>
          </a:p>
          <a:p>
            <a:pPr indent="0" lvl="0" marL="0" rtl="0" algn="l">
              <a:lnSpc>
                <a:spcPct val="115000"/>
              </a:lnSpc>
              <a:spcBef>
                <a:spcPts val="1000"/>
              </a:spcBef>
              <a:spcAft>
                <a:spcPts val="0"/>
              </a:spcAft>
              <a:buNone/>
            </a:pPr>
            <a:r>
              <a:rPr lang="en-GB" sz="1200">
                <a:latin typeface="Kalam"/>
                <a:ea typeface="Kalam"/>
                <a:cs typeface="Kalam"/>
                <a:sym typeface="Kalam"/>
              </a:rPr>
              <a:t>a) </a:t>
            </a:r>
            <a:r>
              <a:rPr lang="en-GB" sz="1200">
                <a:solidFill>
                  <a:srgbClr val="000000"/>
                </a:solidFill>
                <a:latin typeface="Kalam"/>
                <a:ea typeface="Kalam"/>
                <a:cs typeface="Kalam"/>
                <a:sym typeface="Kalam"/>
              </a:rPr>
              <a:t>mean ≈ 7.4          median = 3          mode = 3</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latin typeface="Kalam"/>
                <a:ea typeface="Kalam"/>
                <a:cs typeface="Kalam"/>
                <a:sym typeface="Kalam"/>
              </a:rPr>
              <a:t>b) The median and mode are the most representative summaries. This is because they are both similar in value. 3 is by far the most frequent value, and is also the value in the middle of the data.</a:t>
            </a:r>
            <a:endParaRPr sz="1200">
              <a:latin typeface="Kalam"/>
              <a:ea typeface="Kalam"/>
              <a:cs typeface="Kalam"/>
              <a:sym typeface="Kalam"/>
            </a:endParaRPr>
          </a:p>
          <a:p>
            <a:pPr indent="0" lvl="0" marL="0" rtl="0" algn="l">
              <a:lnSpc>
                <a:spcPct val="115000"/>
              </a:lnSpc>
              <a:spcBef>
                <a:spcPts val="1000"/>
              </a:spcBef>
              <a:spcAft>
                <a:spcPts val="1000"/>
              </a:spcAft>
              <a:buNone/>
            </a:pPr>
            <a:r>
              <a:rPr lang="en-GB" sz="1200">
                <a:latin typeface="Kalam"/>
                <a:ea typeface="Kalam"/>
                <a:cs typeface="Kalam"/>
                <a:sym typeface="Kalam"/>
              </a:rPr>
              <a:t>c)The mean may still be useful because it shows how unbalanced the data points are. If all the values of the data points were added together and evenly distributed, then the value of many data points would change a lot.</a:t>
            </a:r>
            <a:endParaRPr sz="1200">
              <a:latin typeface="Kalam"/>
              <a:ea typeface="Kalam"/>
              <a:cs typeface="Kalam"/>
              <a:sym typeface="Kalam"/>
            </a:endParaRPr>
          </a:p>
        </p:txBody>
      </p:sp>
      <p:sp>
        <p:nvSpPr>
          <p:cNvPr id="258" name="Google Shape;258;p22"/>
          <p:cNvSpPr txBox="1"/>
          <p:nvPr/>
        </p:nvSpPr>
        <p:spPr>
          <a:xfrm>
            <a:off x="842475" y="2813697"/>
            <a:ext cx="1269900" cy="270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200"/>
              <a:buFont typeface="Lexend"/>
              <a:buAutoNum type="alphaLcParenR"/>
            </a:pPr>
            <a:r>
              <a:rPr lang="en-GB" sz="1200">
                <a:latin typeface="Lexend"/>
                <a:ea typeface="Lexend"/>
                <a:cs typeface="Lexend"/>
                <a:sym typeface="Lexend"/>
              </a:rPr>
              <a:t>median = 7</a:t>
            </a:r>
            <a:endParaRPr sz="1200">
              <a:solidFill>
                <a:srgbClr val="000000"/>
              </a:solidFill>
              <a:latin typeface="Lexend"/>
              <a:ea typeface="Lexend"/>
              <a:cs typeface="Lexend"/>
              <a:sym typeface="Lexend"/>
            </a:endParaRPr>
          </a:p>
        </p:txBody>
      </p:sp>
      <p:sp>
        <p:nvSpPr>
          <p:cNvPr id="259" name="Google Shape;259;p22"/>
          <p:cNvSpPr txBox="1"/>
          <p:nvPr/>
        </p:nvSpPr>
        <p:spPr>
          <a:xfrm>
            <a:off x="4002600" y="2828825"/>
            <a:ext cx="1513200" cy="2706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SzPts val="1200"/>
              <a:buFont typeface="Lexend"/>
              <a:buAutoNum type="alphaLcParenR" startAt="2"/>
            </a:pPr>
            <a:r>
              <a:rPr lang="en-GB" sz="1200">
                <a:latin typeface="Lexend"/>
                <a:ea typeface="Lexend"/>
                <a:cs typeface="Lexend"/>
                <a:sym typeface="Lexend"/>
              </a:rPr>
              <a:t>median = 6</a:t>
            </a:r>
            <a:endParaRPr sz="1200">
              <a:solidFill>
                <a:srgbClr val="000000"/>
              </a:solidFill>
              <a:latin typeface="Lexend"/>
              <a:ea typeface="Lexend"/>
              <a:cs typeface="Lexend"/>
              <a:sym typeface="Lexend"/>
            </a:endParaRPr>
          </a:p>
        </p:txBody>
      </p:sp>
      <p:sp>
        <p:nvSpPr>
          <p:cNvPr id="260" name="Google Shape;260;p2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61" name="Google Shape;261;p22"/>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GB"/>
              <a:t>Mathematics in Education and Industry.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LD">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orksheet Answers September 2023">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