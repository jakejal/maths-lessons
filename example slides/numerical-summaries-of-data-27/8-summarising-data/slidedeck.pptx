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1F9DB1-44A7-4DC4-A338-CBB8A8854EF6}">
  <a:tblStyle styleId="{941F9DB1-44A7-4DC4-A338-CBB8A8854EF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9ad332a8c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9ad332a8c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9ad332a8c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9ad332a8c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9ad332a8c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9ad332a8c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9ad332a8c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9ad332a8c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9fc57ed1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9fc57ed1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9ad332a8c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9ad332a8c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9ad332a8c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9ad332a8c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9ad332a8ca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9ad332a8c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29ad332a8ca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29ad332a8ca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9ad332a8ca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9ad332a8ca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29ad332a8ca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29ad332a8ca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9ad332a8ca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29ad332a8ca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9ad332a8ca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29ad332a8ca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29ad332a8ca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29ad332a8ca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29ad332a8ca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29ad332a8ca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29ad332a8ca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29ad332a8ca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29ad332a8ca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29ad332a8ca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9ad332a8ca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29ad332a8ca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9ad332a8ca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9ad332a8ca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9ad332a8ca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29ad332a8ca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29ad332a8ca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29ad332a8ca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9ad332a8ca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9ad332a8ca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29ad332a8ca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29ad332a8ca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9ad332a8ca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29ad332a8ca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9ad332a8ca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29ad332a8ca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9ad332a8ca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29ad332a8ca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29ad332a8ca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29ad332a8ca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9ad332a8ca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29ad332a8ca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29ad332a8ca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29ad332a8ca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29ad332a8ca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29ad332a8ca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29ad332a8ca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29ad332a8ca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29ad332a8ca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29ad332a8ca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29ad332a8ca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29ad332a8ca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29ad332a8ca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29ad332a8ca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29ad332a8ca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29ad332a8ca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29ad332a8ca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29ad332a8ca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9ad332a8ca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9ad332a8ca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29ad332a8ca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29ad332a8ca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29ad332a8ca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29ad332a8ca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29ad332a8ca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1" name="Google Shape;1391;g29ad332a8ca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29ad332a8ca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29ad332a8ca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9ad332a8ca_0_1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29ad332a8ca_0_1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29ad332a8ca_0_1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29ad332a8ca_0_1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29ad332a8ca_0_1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29ad332a8ca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29ad332a8ca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29ad332a8ca_0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29ad332a8ca_0_1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g29ad332a8ca_0_1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g29ad332a8ca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7" name="Google Shape;1497;g29ad332a8ca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g29ad332a8ca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3" name="Google Shape;1503;g29ad332a8ca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18.pn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82.png"/><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image" Target="../media/image1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82.png"/><Relationship Id="rId4" Type="http://schemas.openxmlformats.org/officeDocument/2006/relationships/image" Target="../media/image24.png"/><Relationship Id="rId9"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2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82.png"/><Relationship Id="rId4" Type="http://schemas.openxmlformats.org/officeDocument/2006/relationships/image" Target="../media/image30.png"/><Relationship Id="rId11" Type="http://schemas.openxmlformats.org/officeDocument/2006/relationships/image" Target="../media/image19.png"/><Relationship Id="rId10" Type="http://schemas.openxmlformats.org/officeDocument/2006/relationships/image" Target="../media/image39.png"/><Relationship Id="rId9"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3.png"/><Relationship Id="rId8"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4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9.png"/><Relationship Id="rId4" Type="http://schemas.openxmlformats.org/officeDocument/2006/relationships/image" Target="../media/image4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 Id="rId3" Type="http://schemas.openxmlformats.org/officeDocument/2006/relationships/image" Target="../media/image44.png"/><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xml"/><Relationship Id="rId3" Type="http://schemas.openxmlformats.org/officeDocument/2006/relationships/image" Target="../media/image56.png"/><Relationship Id="rId4" Type="http://schemas.openxmlformats.org/officeDocument/2006/relationships/image" Target="../media/image59.png"/><Relationship Id="rId9"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0.png"/><Relationship Id="rId7" Type="http://schemas.openxmlformats.org/officeDocument/2006/relationships/image" Target="../media/image43.png"/><Relationship Id="rId8"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66.png"/><Relationship Id="rId4" Type="http://schemas.openxmlformats.org/officeDocument/2006/relationships/image" Target="../media/image65.png"/><Relationship Id="rId5" Type="http://schemas.openxmlformats.org/officeDocument/2006/relationships/image" Target="../media/image63.png"/><Relationship Id="rId6" Type="http://schemas.openxmlformats.org/officeDocument/2006/relationships/image" Target="../media/image6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66.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7.png"/><Relationship Id="rId7" Type="http://schemas.openxmlformats.org/officeDocument/2006/relationships/image" Target="../media/image6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 Id="rId3" Type="http://schemas.openxmlformats.org/officeDocument/2006/relationships/image" Target="../media/image71.png"/><Relationship Id="rId4" Type="http://schemas.openxmlformats.org/officeDocument/2006/relationships/image" Target="../media/image44.png"/><Relationship Id="rId5"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5.xml"/><Relationship Id="rId3" Type="http://schemas.openxmlformats.org/officeDocument/2006/relationships/image" Target="../media/image70.png"/><Relationship Id="rId4" Type="http://schemas.openxmlformats.org/officeDocument/2006/relationships/image" Target="../media/image69.png"/><Relationship Id="rId5" Type="http://schemas.openxmlformats.org/officeDocument/2006/relationships/image" Target="../media/image6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7.xml"/><Relationship Id="rId3" Type="http://schemas.openxmlformats.org/officeDocument/2006/relationships/image" Target="../media/image70.png"/><Relationship Id="rId4" Type="http://schemas.openxmlformats.org/officeDocument/2006/relationships/image" Target="../media/image69.png"/><Relationship Id="rId5" Type="http://schemas.openxmlformats.org/officeDocument/2006/relationships/image" Target="../media/image6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7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7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 Id="rId3" Type="http://schemas.openxmlformats.org/officeDocument/2006/relationships/image" Target="../media/image76.png"/><Relationship Id="rId4" Type="http://schemas.openxmlformats.org/officeDocument/2006/relationships/image" Target="../media/image7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 Id="rId3" Type="http://schemas.openxmlformats.org/officeDocument/2006/relationships/image" Target="../media/image74.png"/><Relationship Id="rId4" Type="http://schemas.openxmlformats.org/officeDocument/2006/relationships/image" Target="../media/image7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4.xml"/><Relationship Id="rId3" Type="http://schemas.openxmlformats.org/officeDocument/2006/relationships/image" Target="../media/image77.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5.xml"/><Relationship Id="rId3" Type="http://schemas.openxmlformats.org/officeDocument/2006/relationships/image" Target="../media/image77.png"/><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 Id="rId3" Type="http://schemas.openxmlformats.org/officeDocument/2006/relationships/image" Target="../media/image64.png"/><Relationship Id="rId4" Type="http://schemas.openxmlformats.org/officeDocument/2006/relationships/image" Target="../media/image78.png"/><Relationship Id="rId5" Type="http://schemas.openxmlformats.org/officeDocument/2006/relationships/image" Target="../media/image80.png"/><Relationship Id="rId6" Type="http://schemas.openxmlformats.org/officeDocument/2006/relationships/image" Target="../media/image79.png"/><Relationship Id="rId7" Type="http://schemas.openxmlformats.org/officeDocument/2006/relationships/image" Target="../media/image8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 Id="rId3" Type="http://schemas.openxmlformats.org/officeDocument/2006/relationships/image" Target="../media/image64.png"/><Relationship Id="rId4" Type="http://schemas.openxmlformats.org/officeDocument/2006/relationships/image" Target="../media/image78.png"/><Relationship Id="rId5" Type="http://schemas.openxmlformats.org/officeDocument/2006/relationships/image" Target="../media/image80.png"/><Relationship Id="rId6" Type="http://schemas.openxmlformats.org/officeDocument/2006/relationships/image" Target="../media/image7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 Id="rId3" Type="http://schemas.openxmlformats.org/officeDocument/2006/relationships/image" Target="../media/image64.png"/><Relationship Id="rId4" Type="http://schemas.openxmlformats.org/officeDocument/2006/relationships/image" Target="../media/image78.png"/><Relationship Id="rId5" Type="http://schemas.openxmlformats.org/officeDocument/2006/relationships/image" Target="../media/image7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 Id="rId3" Type="http://schemas.openxmlformats.org/officeDocument/2006/relationships/image" Target="../media/image84.png"/><Relationship Id="rId4" Type="http://schemas.openxmlformats.org/officeDocument/2006/relationships/image" Target="../media/image80.png"/><Relationship Id="rId5" Type="http://schemas.openxmlformats.org/officeDocument/2006/relationships/image" Target="../media/image7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0.xml"/><Relationship Id="rId3" Type="http://schemas.openxmlformats.org/officeDocument/2006/relationships/image" Target="../media/image86.png"/><Relationship Id="rId4" Type="http://schemas.openxmlformats.org/officeDocument/2006/relationships/image" Target="../media/image83.png"/><Relationship Id="rId5"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1.xml"/><Relationship Id="rId3" Type="http://schemas.openxmlformats.org/officeDocument/2006/relationships/image" Target="../media/image86.png"/><Relationship Id="rId4" Type="http://schemas.openxmlformats.org/officeDocument/2006/relationships/image" Target="../media/image83.png"/><Relationship Id="rId5"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2.xml"/><Relationship Id="rId3" Type="http://schemas.openxmlformats.org/officeDocument/2006/relationships/image" Target="../media/image85.png"/><Relationship Id="rId4" Type="http://schemas.openxmlformats.org/officeDocument/2006/relationships/image" Target="../media/image8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4.xml"/><Relationship Id="rId3" Type="http://schemas.openxmlformats.org/officeDocument/2006/relationships/image" Target="../media/image85.png"/><Relationship Id="rId4" Type="http://schemas.openxmlformats.org/officeDocument/2006/relationships/image" Target="../media/image8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Summarising data</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Numerical summaries of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see that the different measures of central tendency offer a summary of a set of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24000" y="76650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2200"/>
              <a:t>d</a:t>
            </a:r>
            <a:r>
              <a:rPr b="1" lang="en-GB" sz="2200"/>
              <a:t>ata</a:t>
            </a:r>
            <a:endParaRPr sz="2200"/>
          </a:p>
        </p:txBody>
      </p:sp>
      <p:sp>
        <p:nvSpPr>
          <p:cNvPr id="767" name="Google Shape;767;p67"/>
          <p:cNvSpPr txBox="1"/>
          <p:nvPr>
            <p:ph idx="2" type="subTitle"/>
          </p:nvPr>
        </p:nvSpPr>
        <p:spPr>
          <a:xfrm>
            <a:off x="324000" y="149810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2200"/>
              <a:t>mean</a:t>
            </a:r>
            <a:endParaRPr sz="2200"/>
          </a:p>
        </p:txBody>
      </p:sp>
      <p:sp>
        <p:nvSpPr>
          <p:cNvPr id="768" name="Google Shape;768;p67"/>
          <p:cNvSpPr txBox="1"/>
          <p:nvPr>
            <p:ph idx="3" type="subTitle"/>
          </p:nvPr>
        </p:nvSpPr>
        <p:spPr>
          <a:xfrm>
            <a:off x="324000" y="2264450"/>
            <a:ext cx="8496000" cy="389700"/>
          </a:xfrm>
          <a:prstGeom prst="rect">
            <a:avLst/>
          </a:prstGeom>
        </p:spPr>
        <p:txBody>
          <a:bodyPr anchorCtr="0" anchor="t" bIns="0" lIns="0" spcFirstLastPara="1" rIns="0" wrap="square" tIns="0">
            <a:noAutofit/>
          </a:bodyPr>
          <a:lstStyle/>
          <a:p>
            <a:pPr indent="0" lvl="0" marL="0" marR="0" rtl="0" algn="l">
              <a:spcBef>
                <a:spcPts val="0"/>
              </a:spcBef>
              <a:spcAft>
                <a:spcPts val="0"/>
              </a:spcAft>
              <a:buNone/>
            </a:pPr>
            <a:r>
              <a:rPr b="1" lang="en-GB" sz="2200"/>
              <a:t>median</a:t>
            </a:r>
            <a:endParaRPr sz="2200"/>
          </a:p>
          <a:p>
            <a:pPr indent="0" lvl="0" marL="0" rtl="0" algn="l">
              <a:spcBef>
                <a:spcPts val="0"/>
              </a:spcBef>
              <a:spcAft>
                <a:spcPts val="1000"/>
              </a:spcAft>
              <a:buNone/>
            </a:pPr>
            <a:r>
              <a:t/>
            </a:r>
            <a:endParaRPr sz="1800"/>
          </a:p>
        </p:txBody>
      </p:sp>
      <p:sp>
        <p:nvSpPr>
          <p:cNvPr id="769" name="Google Shape;769;p67"/>
          <p:cNvSpPr txBox="1"/>
          <p:nvPr>
            <p:ph idx="4" type="subTitle"/>
          </p:nvPr>
        </p:nvSpPr>
        <p:spPr>
          <a:xfrm>
            <a:off x="324000" y="3062175"/>
            <a:ext cx="8496000" cy="38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200"/>
              <a:t>m</a:t>
            </a:r>
            <a:r>
              <a:rPr b="1" lang="en-GB" sz="2200"/>
              <a:t>ode</a:t>
            </a:r>
            <a:endParaRPr sz="2200"/>
          </a:p>
          <a:p>
            <a:pPr indent="0" lvl="0" marL="0" rtl="0" algn="l">
              <a:spcBef>
                <a:spcPts val="1000"/>
              </a:spcBef>
              <a:spcAft>
                <a:spcPts val="1000"/>
              </a:spcAft>
              <a:buNone/>
            </a:pPr>
            <a:r>
              <a:t/>
            </a:r>
            <a:endParaRPr sz="1800"/>
          </a:p>
        </p:txBody>
      </p:sp>
      <p:sp>
        <p:nvSpPr>
          <p:cNvPr id="770" name="Google Shape;770;p67"/>
          <p:cNvSpPr txBox="1"/>
          <p:nvPr>
            <p:ph idx="5" type="subTitle"/>
          </p:nvPr>
        </p:nvSpPr>
        <p:spPr>
          <a:xfrm>
            <a:off x="324000" y="3875225"/>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2200">
                <a:highlight>
                  <a:srgbClr val="FFFFFF"/>
                </a:highlight>
              </a:rPr>
              <a:t>measure of centra</a:t>
            </a:r>
            <a:r>
              <a:rPr b="1" lang="en-GB" sz="2200"/>
              <a:t>l tendency</a:t>
            </a:r>
            <a:r>
              <a:rPr lang="en-GB" sz="2200">
                <a:highlight>
                  <a:srgbClr val="FFFFFF"/>
                </a:highlight>
              </a:rPr>
              <a:t>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8"/>
          <p:cNvSpPr txBox="1"/>
          <p:nvPr>
            <p:ph idx="1" type="subTitle"/>
          </p:nvPr>
        </p:nvSpPr>
        <p:spPr>
          <a:xfrm>
            <a:off x="324000" y="76650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sz="1800"/>
              <a:t>Data</a:t>
            </a:r>
            <a:r>
              <a:rPr lang="en-GB" sz="1800"/>
              <a:t> are a collection of information.</a:t>
            </a:r>
            <a:endParaRPr sz="1800"/>
          </a:p>
        </p:txBody>
      </p:sp>
      <p:sp>
        <p:nvSpPr>
          <p:cNvPr id="776" name="Google Shape;776;p68"/>
          <p:cNvSpPr txBox="1"/>
          <p:nvPr>
            <p:ph idx="2" type="subTitle"/>
          </p:nvPr>
        </p:nvSpPr>
        <p:spPr>
          <a:xfrm>
            <a:off x="324000" y="119330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(arithmetic) </a:t>
            </a:r>
            <a:r>
              <a:rPr b="1" lang="en-GB" sz="1800"/>
              <a:t>mean</a:t>
            </a:r>
            <a:r>
              <a:rPr lang="en-GB" sz="1800"/>
              <a:t> for a set of numerical </a:t>
            </a:r>
            <a:r>
              <a:rPr b="1" lang="en-GB" sz="1800"/>
              <a:t>data</a:t>
            </a:r>
            <a:r>
              <a:rPr lang="en-GB" sz="1800"/>
              <a:t> is the sum of the values divided by the number of values. It is a </a:t>
            </a:r>
            <a:r>
              <a:rPr b="1" lang="en-GB" sz="1800"/>
              <a:t>measure of central tendency</a:t>
            </a:r>
            <a:r>
              <a:rPr lang="en-GB" sz="1800"/>
              <a:t> representing the average of the values. </a:t>
            </a:r>
            <a:endParaRPr sz="1800"/>
          </a:p>
        </p:txBody>
      </p:sp>
      <p:sp>
        <p:nvSpPr>
          <p:cNvPr id="777" name="Google Shape;777;p68"/>
          <p:cNvSpPr txBox="1"/>
          <p:nvPr>
            <p:ph idx="3" type="subTitle"/>
          </p:nvPr>
        </p:nvSpPr>
        <p:spPr>
          <a:xfrm>
            <a:off x="324000" y="2264450"/>
            <a:ext cx="8496000" cy="389700"/>
          </a:xfrm>
          <a:prstGeom prst="rect">
            <a:avLst/>
          </a:prstGeom>
        </p:spPr>
        <p:txBody>
          <a:bodyPr anchorCtr="0" anchor="t" bIns="0" lIns="0" spcFirstLastPara="1" rIns="0" wrap="square" tIns="0">
            <a:noAutofit/>
          </a:bodyPr>
          <a:lstStyle/>
          <a:p>
            <a:pPr indent="0" lvl="0" marL="0" marR="0" rtl="0" algn="l">
              <a:spcBef>
                <a:spcPts val="0"/>
              </a:spcBef>
              <a:spcAft>
                <a:spcPts val="0"/>
              </a:spcAft>
              <a:buNone/>
            </a:pPr>
            <a:r>
              <a:rPr lang="en-GB" sz="1800"/>
              <a:t>The </a:t>
            </a:r>
            <a:r>
              <a:rPr b="1" lang="en-GB" sz="1800"/>
              <a:t>median</a:t>
            </a:r>
            <a:r>
              <a:rPr lang="en-GB" sz="1800"/>
              <a:t> is the central (middle) piece of </a:t>
            </a:r>
            <a:r>
              <a:rPr b="1" lang="en-GB" sz="1800"/>
              <a:t>data</a:t>
            </a:r>
            <a:r>
              <a:rPr lang="en-GB" sz="1800"/>
              <a:t> when the </a:t>
            </a:r>
            <a:r>
              <a:rPr b="1" lang="en-GB" sz="1800"/>
              <a:t>data</a:t>
            </a:r>
            <a:r>
              <a:rPr lang="en-GB" sz="1800"/>
              <a:t> are in numerical order. </a:t>
            </a:r>
            <a:endParaRPr sz="1800"/>
          </a:p>
          <a:p>
            <a:pPr indent="0" lvl="0" marL="0" rtl="0" algn="l">
              <a:spcBef>
                <a:spcPts val="0"/>
              </a:spcBef>
              <a:spcAft>
                <a:spcPts val="1000"/>
              </a:spcAft>
              <a:buNone/>
            </a:pPr>
            <a:r>
              <a:t/>
            </a:r>
            <a:endParaRPr sz="1800"/>
          </a:p>
        </p:txBody>
      </p:sp>
      <p:sp>
        <p:nvSpPr>
          <p:cNvPr id="778" name="Google Shape;778;p68"/>
          <p:cNvSpPr txBox="1"/>
          <p:nvPr>
            <p:ph idx="4" type="subTitle"/>
          </p:nvPr>
        </p:nvSpPr>
        <p:spPr>
          <a:xfrm>
            <a:off x="324000" y="2985975"/>
            <a:ext cx="8496000" cy="38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1800"/>
              <a:t>Mode</a:t>
            </a:r>
            <a:r>
              <a:rPr lang="en-GB" sz="1800"/>
              <a:t> is the most frequent value. It is a </a:t>
            </a:r>
            <a:r>
              <a:rPr b="1" lang="en-GB" sz="1800"/>
              <a:t>measure of central tendency</a:t>
            </a:r>
            <a:r>
              <a:rPr lang="en-GB" sz="1800"/>
              <a:t> representing the average of the values. </a:t>
            </a:r>
            <a:endParaRPr sz="1800"/>
          </a:p>
          <a:p>
            <a:pPr indent="0" lvl="0" marL="0" rtl="0" algn="l">
              <a:spcBef>
                <a:spcPts val="1000"/>
              </a:spcBef>
              <a:spcAft>
                <a:spcPts val="1000"/>
              </a:spcAft>
              <a:buNone/>
            </a:pPr>
            <a:r>
              <a:t/>
            </a:r>
            <a:endParaRPr sz="1800"/>
          </a:p>
        </p:txBody>
      </p:sp>
      <p:sp>
        <p:nvSpPr>
          <p:cNvPr id="779" name="Google Shape;779;p68"/>
          <p:cNvSpPr txBox="1"/>
          <p:nvPr>
            <p:ph idx="5" type="subTitle"/>
          </p:nvPr>
        </p:nvSpPr>
        <p:spPr>
          <a:xfrm>
            <a:off x="324000" y="3875225"/>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highlight>
                  <a:srgbClr val="FFFFFF"/>
                </a:highlight>
              </a:rPr>
              <a:t>A </a:t>
            </a:r>
            <a:r>
              <a:rPr b="1" lang="en-GB" sz="1800">
                <a:highlight>
                  <a:srgbClr val="FFFFFF"/>
                </a:highlight>
              </a:rPr>
              <a:t>measure of centra</a:t>
            </a:r>
            <a:r>
              <a:rPr b="1" lang="en-GB" sz="1800"/>
              <a:t>l tendency</a:t>
            </a:r>
            <a:r>
              <a:rPr lang="en-GB" sz="1800"/>
              <a:t> is a </a:t>
            </a:r>
            <a:r>
              <a:rPr lang="en-GB" sz="1800">
                <a:highlight>
                  <a:srgbClr val="FFFFFF"/>
                </a:highlight>
              </a:rPr>
              <a:t>summary measure that attempts to describe a whole set of </a:t>
            </a:r>
            <a:r>
              <a:rPr b="1" lang="en-GB" sz="1800">
                <a:highlight>
                  <a:srgbClr val="FFFFFF"/>
                </a:highlight>
              </a:rPr>
              <a:t>data</a:t>
            </a:r>
            <a:r>
              <a:rPr lang="en-GB" sz="1800">
                <a:highlight>
                  <a:srgbClr val="FFFFFF"/>
                </a:highlight>
              </a:rPr>
              <a:t> with a single value that represents the middle or centre of its distribution.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9"/>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all of the averages</a:t>
            </a:r>
            <a:endParaRPr/>
          </a:p>
        </p:txBody>
      </p:sp>
      <p:sp>
        <p:nvSpPr>
          <p:cNvPr id="785" name="Google Shape;785;p6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Summarising data</a:t>
            </a:r>
            <a:endParaRPr/>
          </a:p>
        </p:txBody>
      </p:sp>
      <p:pic>
        <p:nvPicPr>
          <p:cNvPr id="786" name="Google Shape;786;p69"/>
          <p:cNvPicPr preferRelativeResize="0"/>
          <p:nvPr/>
        </p:nvPicPr>
        <p:blipFill>
          <a:blip r:embed="rId3">
            <a:alphaModFix/>
          </a:blip>
          <a:stretch>
            <a:fillRect/>
          </a:stretch>
        </p:blipFill>
        <p:spPr>
          <a:xfrm>
            <a:off x="413650" y="1740996"/>
            <a:ext cx="450575" cy="446750"/>
          </a:xfrm>
          <a:prstGeom prst="rect">
            <a:avLst/>
          </a:prstGeom>
          <a:noFill/>
          <a:ln>
            <a:noFill/>
          </a:ln>
        </p:spPr>
      </p:pic>
      <p:sp>
        <p:nvSpPr>
          <p:cNvPr id="787" name="Google Shape;787;p6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sp>
        <p:nvSpPr>
          <p:cNvPr id="788" name="Google Shape;788;p6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70"/>
          <p:cNvSpPr txBox="1"/>
          <p:nvPr>
            <p:ph idx="1" type="body"/>
          </p:nvPr>
        </p:nvSpPr>
        <p:spPr>
          <a:xfrm>
            <a:off x="324000" y="622588"/>
            <a:ext cx="84960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All averages are methods of summarising a </a:t>
            </a:r>
            <a:r>
              <a:rPr b="1" lang="en-GB" sz="1800"/>
              <a:t>data</a:t>
            </a:r>
            <a:r>
              <a:rPr lang="en-GB" sz="1800"/>
              <a:t> set.</a:t>
            </a:r>
            <a:endParaRPr sz="1800"/>
          </a:p>
        </p:txBody>
      </p:sp>
      <p:sp>
        <p:nvSpPr>
          <p:cNvPr id="794" name="Google Shape;794;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all of the averages</a:t>
            </a:r>
            <a:endParaRPr/>
          </a:p>
        </p:txBody>
      </p:sp>
      <p:graphicFrame>
        <p:nvGraphicFramePr>
          <p:cNvPr id="795" name="Google Shape;795;p70"/>
          <p:cNvGraphicFramePr/>
          <p:nvPr/>
        </p:nvGraphicFramePr>
        <p:xfrm>
          <a:off x="324000" y="2205384"/>
          <a:ext cx="3000000" cy="3000000"/>
        </p:xfrm>
        <a:graphic>
          <a:graphicData uri="http://schemas.openxmlformats.org/drawingml/2006/table">
            <a:tbl>
              <a:tblPr>
                <a:noFill/>
                <a:tableStyleId>{941F9DB1-44A7-4DC4-A338-CBB8A8854EF6}</a:tableStyleId>
              </a:tblPr>
              <a:tblGrid>
                <a:gridCol w="692025"/>
                <a:gridCol w="692025"/>
                <a:gridCol w="692025"/>
                <a:gridCol w="692025"/>
                <a:gridCol w="692025"/>
                <a:gridCol w="692025"/>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graphicFrame>
        <p:nvGraphicFramePr>
          <p:cNvPr id="796" name="Google Shape;796;p70"/>
          <p:cNvGraphicFramePr/>
          <p:nvPr/>
        </p:nvGraphicFramePr>
        <p:xfrm>
          <a:off x="324000" y="3117771"/>
          <a:ext cx="3000000" cy="3000000"/>
        </p:xfrm>
        <a:graphic>
          <a:graphicData uri="http://schemas.openxmlformats.org/drawingml/2006/table">
            <a:tbl>
              <a:tblPr>
                <a:noFill/>
                <a:tableStyleId>{941F9DB1-44A7-4DC4-A338-CBB8A8854EF6}</a:tableStyleId>
              </a:tblPr>
              <a:tblGrid>
                <a:gridCol w="692025"/>
                <a:gridCol w="692025"/>
                <a:gridCol w="692025"/>
                <a:gridCol w="692025"/>
                <a:gridCol w="692025"/>
                <a:gridCol w="692025"/>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graphicFrame>
        <p:nvGraphicFramePr>
          <p:cNvPr id="797" name="Google Shape;797;p70"/>
          <p:cNvGraphicFramePr/>
          <p:nvPr/>
        </p:nvGraphicFramePr>
        <p:xfrm>
          <a:off x="324000" y="4030159"/>
          <a:ext cx="3000000" cy="3000000"/>
        </p:xfrm>
        <a:graphic>
          <a:graphicData uri="http://schemas.openxmlformats.org/drawingml/2006/table">
            <a:tbl>
              <a:tblPr>
                <a:noFill/>
                <a:tableStyleId>{941F9DB1-44A7-4DC4-A338-CBB8A8854EF6}</a:tableStyleId>
              </a:tblPr>
              <a:tblGrid>
                <a:gridCol w="692025"/>
                <a:gridCol w="692025"/>
                <a:gridCol w="692025"/>
                <a:gridCol w="692025"/>
                <a:gridCol w="692025"/>
                <a:gridCol w="692025"/>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sp>
        <p:nvSpPr>
          <p:cNvPr id="798" name="Google Shape;798;p70"/>
          <p:cNvSpPr txBox="1"/>
          <p:nvPr>
            <p:ph idx="1" type="body"/>
          </p:nvPr>
        </p:nvSpPr>
        <p:spPr>
          <a:xfrm>
            <a:off x="4540975" y="2205384"/>
            <a:ext cx="4278900" cy="3906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GB" sz="1800"/>
              <a:t>mean</a:t>
            </a:r>
            <a:r>
              <a:rPr lang="en-GB" sz="1800"/>
              <a:t>: </a:t>
            </a:r>
            <a:endParaRPr sz="1800"/>
          </a:p>
        </p:txBody>
      </p:sp>
      <p:pic>
        <p:nvPicPr>
          <p:cNvPr descr="&lt;math xmlns=&quot;http://www.w3.org/1998/Math/MathML&quot; display=&quot;block&quot; data-is-equatio=&quot;1&quot; data-latex=&quot;\frac{4+7+9+16+16+20}{6}=\frac{72}{6}=12&quot;&gt;&lt;mfrac&gt;&lt;mrow&gt;&lt;mn&gt;4&lt;/mn&gt;&lt;mo&gt;+&lt;/mo&gt;&lt;mn&gt;7&lt;/mn&gt;&lt;mo&gt;+&lt;/mo&gt;&lt;mn&gt;9&lt;/mn&gt;&lt;mo&gt;+&lt;/mo&gt;&lt;mn&gt;16&lt;/mn&gt;&lt;mo&gt;+&lt;/mo&gt;&lt;mn&gt;16&lt;/mn&gt;&lt;mo&gt;+&lt;/mo&gt;&lt;mn&gt;20&lt;/mn&gt;&lt;/mrow&gt;&lt;mn&gt;6&lt;/mn&gt;&lt;/mfrac&gt;&lt;mo&gt;=&lt;/mo&gt;&lt;mfrac&gt;&lt;mn&gt;72&lt;/mn&gt;&lt;mn&gt;6&lt;/mn&gt;&lt;/mfrac&gt;&lt;mo&gt;=&lt;/mo&gt;&lt;mn&gt;12&lt;/mn&gt;&lt;/math&gt;" id="799" name="Google Shape;799;p70" title="the fraction with numerator 4 plus 7 plus 9 plus 16 plus 16 plus 20 and denominator 6 equals 72 over 6 equals 12"/>
          <p:cNvPicPr preferRelativeResize="0"/>
          <p:nvPr/>
        </p:nvPicPr>
        <p:blipFill>
          <a:blip r:embed="rId3">
            <a:alphaModFix/>
          </a:blip>
          <a:stretch>
            <a:fillRect/>
          </a:stretch>
        </p:blipFill>
        <p:spPr>
          <a:xfrm>
            <a:off x="5283207" y="2160959"/>
            <a:ext cx="3496525" cy="479375"/>
          </a:xfrm>
          <a:prstGeom prst="rect">
            <a:avLst/>
          </a:prstGeom>
          <a:noFill/>
          <a:ln>
            <a:noFill/>
          </a:ln>
        </p:spPr>
      </p:pic>
      <p:sp>
        <p:nvSpPr>
          <p:cNvPr id="800" name="Google Shape;800;p70"/>
          <p:cNvSpPr txBox="1"/>
          <p:nvPr>
            <p:ph idx="1" type="body"/>
          </p:nvPr>
        </p:nvSpPr>
        <p:spPr>
          <a:xfrm>
            <a:off x="4540975" y="3117746"/>
            <a:ext cx="4278900" cy="3906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GB" sz="1800"/>
              <a:t>median</a:t>
            </a:r>
            <a:r>
              <a:rPr lang="en-GB" sz="1800"/>
              <a:t>: </a:t>
            </a:r>
            <a:endParaRPr sz="1800"/>
          </a:p>
        </p:txBody>
      </p:sp>
      <p:cxnSp>
        <p:nvCxnSpPr>
          <p:cNvPr id="801" name="Google Shape;801;p70"/>
          <p:cNvCxnSpPr/>
          <p:nvPr/>
        </p:nvCxnSpPr>
        <p:spPr>
          <a:xfrm rot="10800000">
            <a:off x="2400075" y="3275809"/>
            <a:ext cx="0" cy="450900"/>
          </a:xfrm>
          <a:prstGeom prst="straightConnector1">
            <a:avLst/>
          </a:prstGeom>
          <a:noFill/>
          <a:ln cap="flat" cmpd="sng" w="38100">
            <a:solidFill>
              <a:srgbClr val="845AD9"/>
            </a:solidFill>
            <a:prstDash val="solid"/>
            <a:round/>
            <a:headEnd len="med" w="med" type="none"/>
            <a:tailEnd len="med" w="med" type="triangle"/>
          </a:ln>
        </p:spPr>
      </p:cxnSp>
      <p:pic>
        <p:nvPicPr>
          <p:cNvPr descr="&lt;math xmlns=&quot;http://www.w3.org/1998/Math/MathML&quot; display=&quot;block&quot; data-is-equatio=&quot;1&quot; data-latex=&quot;\frac{9+16}{2}=\frac{25}{2}=12.5&quot;&gt;&lt;mfrac&gt;&lt;mrow&gt;&lt;mn&gt;9&lt;/mn&gt;&lt;mo&gt;+&lt;/mo&gt;&lt;mn&gt;16&lt;/mn&gt;&lt;/mrow&gt;&lt;mn&gt;2&lt;/mn&gt;&lt;/mfrac&gt;&lt;mo&gt;=&lt;/mo&gt;&lt;mfrac&gt;&lt;mn&gt;25&lt;/mn&gt;&lt;mn&gt;2&lt;/mn&gt;&lt;/mfrac&gt;&lt;mo&gt;=&lt;/mo&gt;&lt;mn&gt;12.5&lt;/mn&gt;&lt;/math&gt;" id="802" name="Google Shape;802;p70" title="the fraction with numerator 9 plus 16 and denominator 2 equals 25 over 2 equals 12.5"/>
          <p:cNvPicPr preferRelativeResize="0"/>
          <p:nvPr/>
        </p:nvPicPr>
        <p:blipFill>
          <a:blip r:embed="rId4">
            <a:alphaModFix/>
          </a:blip>
          <a:stretch>
            <a:fillRect/>
          </a:stretch>
        </p:blipFill>
        <p:spPr>
          <a:xfrm>
            <a:off x="5473993" y="3073646"/>
            <a:ext cx="1944664" cy="478800"/>
          </a:xfrm>
          <a:prstGeom prst="rect">
            <a:avLst/>
          </a:prstGeom>
          <a:noFill/>
          <a:ln>
            <a:noFill/>
          </a:ln>
        </p:spPr>
      </p:pic>
      <p:sp>
        <p:nvSpPr>
          <p:cNvPr id="803" name="Google Shape;803;p70"/>
          <p:cNvSpPr txBox="1"/>
          <p:nvPr>
            <p:ph idx="1" type="body"/>
          </p:nvPr>
        </p:nvSpPr>
        <p:spPr>
          <a:xfrm>
            <a:off x="4540975" y="4030121"/>
            <a:ext cx="4278900" cy="3906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GB" sz="1800"/>
              <a:t>mode</a:t>
            </a:r>
            <a:r>
              <a:rPr lang="en-GB" sz="1800"/>
              <a:t>: the most frequent number is 16 </a:t>
            </a:r>
            <a:endParaRPr sz="1800"/>
          </a:p>
        </p:txBody>
      </p:sp>
      <p:sp>
        <p:nvSpPr>
          <p:cNvPr id="804" name="Google Shape;804;p70"/>
          <p:cNvSpPr/>
          <p:nvPr/>
        </p:nvSpPr>
        <p:spPr>
          <a:xfrm>
            <a:off x="2400075" y="4030109"/>
            <a:ext cx="1384200" cy="390600"/>
          </a:xfrm>
          <a:prstGeom prst="roundRect">
            <a:avLst>
              <a:gd fmla="val 31215" name="adj"/>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5" name="Google Shape;805;p70"/>
          <p:cNvSpPr txBox="1"/>
          <p:nvPr>
            <p:ph idx="1" type="body"/>
          </p:nvPr>
        </p:nvSpPr>
        <p:spPr>
          <a:xfrm>
            <a:off x="324000" y="1062427"/>
            <a:ext cx="84960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measures of central tendency (the </a:t>
            </a:r>
            <a:r>
              <a:rPr b="1" lang="en-GB" sz="1800"/>
              <a:t>mean</a:t>
            </a:r>
            <a:r>
              <a:rPr lang="en-GB" sz="1800"/>
              <a:t>, </a:t>
            </a:r>
            <a:r>
              <a:rPr b="1" lang="en-GB" sz="1800"/>
              <a:t>median</a:t>
            </a:r>
            <a:r>
              <a:rPr lang="en-GB" sz="1800"/>
              <a:t>, and </a:t>
            </a:r>
            <a:r>
              <a:rPr b="1" lang="en-GB" sz="1800"/>
              <a:t>mode</a:t>
            </a:r>
            <a:r>
              <a:rPr lang="en-GB" sz="1800"/>
              <a:t>) all aim to summarise the </a:t>
            </a:r>
            <a:r>
              <a:rPr b="1" lang="en-GB" sz="1800"/>
              <a:t>data</a:t>
            </a:r>
            <a:r>
              <a:rPr lang="en-GB" sz="1800"/>
              <a:t> set with a single value that represents the centre of its distribution.</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1"/>
          <p:cNvSpPr txBox="1"/>
          <p:nvPr>
            <p:ph idx="1" type="body"/>
          </p:nvPr>
        </p:nvSpPr>
        <p:spPr>
          <a:xfrm>
            <a:off x="324200" y="728525"/>
            <a:ext cx="84957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Which of these numbers is the </a:t>
            </a:r>
            <a:r>
              <a:rPr b="1" lang="en-GB" sz="1800"/>
              <a:t>mode</a:t>
            </a:r>
            <a:r>
              <a:rPr lang="en-GB" sz="1800"/>
              <a:t> of this </a:t>
            </a:r>
            <a:r>
              <a:rPr b="1" lang="en-GB" sz="1800"/>
              <a:t>data</a:t>
            </a:r>
            <a:r>
              <a:rPr lang="en-GB" sz="1800"/>
              <a:t> set?</a:t>
            </a:r>
            <a:endParaRPr sz="1800"/>
          </a:p>
        </p:txBody>
      </p:sp>
      <p:sp>
        <p:nvSpPr>
          <p:cNvPr id="811" name="Google Shape;811;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all of the averages</a:t>
            </a:r>
            <a:endParaRPr/>
          </a:p>
        </p:txBody>
      </p:sp>
      <p:graphicFrame>
        <p:nvGraphicFramePr>
          <p:cNvPr id="812" name="Google Shape;812;p71"/>
          <p:cNvGraphicFramePr/>
          <p:nvPr/>
        </p:nvGraphicFramePr>
        <p:xfrm>
          <a:off x="1409100" y="1242175"/>
          <a:ext cx="3000000" cy="3000000"/>
        </p:xfrm>
        <a:graphic>
          <a:graphicData uri="http://schemas.openxmlformats.org/drawingml/2006/table">
            <a:tbl>
              <a:tblPr>
                <a:noFill/>
                <a:tableStyleId>{941F9DB1-44A7-4DC4-A338-CBB8A8854EF6}</a:tableStyleId>
              </a:tblPr>
              <a:tblGrid>
                <a:gridCol w="816425"/>
                <a:gridCol w="816425"/>
                <a:gridCol w="816425"/>
                <a:gridCol w="816425"/>
                <a:gridCol w="816425"/>
                <a:gridCol w="816425"/>
                <a:gridCol w="816425"/>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813" name="Google Shape;813;p71"/>
          <p:cNvPicPr preferRelativeResize="0"/>
          <p:nvPr/>
        </p:nvPicPr>
        <p:blipFill>
          <a:blip r:embed="rId3">
            <a:alphaModFix/>
          </a:blip>
          <a:stretch>
            <a:fillRect/>
          </a:stretch>
        </p:blipFill>
        <p:spPr>
          <a:xfrm>
            <a:off x="3901796" y="2737350"/>
            <a:ext cx="396000" cy="419100"/>
          </a:xfrm>
          <a:prstGeom prst="rect">
            <a:avLst/>
          </a:prstGeom>
          <a:noFill/>
          <a:ln>
            <a:noFill/>
          </a:ln>
        </p:spPr>
      </p:pic>
      <p:sp>
        <p:nvSpPr>
          <p:cNvPr id="814" name="Google Shape;814;p71"/>
          <p:cNvSpPr txBox="1"/>
          <p:nvPr>
            <p:ph idx="1" type="body"/>
          </p:nvPr>
        </p:nvSpPr>
        <p:spPr>
          <a:xfrm>
            <a:off x="1160100" y="3492275"/>
            <a:ext cx="6963600" cy="1144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If a </a:t>
            </a:r>
            <a:r>
              <a:rPr b="1" lang="en-GB" sz="2000">
                <a:latin typeface="Kalam"/>
                <a:ea typeface="Kalam"/>
                <a:cs typeface="Kalam"/>
                <a:sym typeface="Kalam"/>
              </a:rPr>
              <a:t>data</a:t>
            </a:r>
            <a:r>
              <a:rPr lang="en-GB" sz="2000">
                <a:latin typeface="Kalam"/>
                <a:ea typeface="Kalam"/>
                <a:cs typeface="Kalam"/>
                <a:sym typeface="Kalam"/>
              </a:rPr>
              <a:t> set has two </a:t>
            </a:r>
            <a:r>
              <a:rPr b="1" lang="en-GB" sz="2000">
                <a:latin typeface="Kalam"/>
                <a:ea typeface="Kalam"/>
                <a:cs typeface="Kalam"/>
                <a:sym typeface="Kalam"/>
              </a:rPr>
              <a:t>modes</a:t>
            </a:r>
            <a:r>
              <a:rPr lang="en-GB" sz="2000">
                <a:latin typeface="Kalam"/>
                <a:ea typeface="Kalam"/>
                <a:cs typeface="Kalam"/>
                <a:sym typeface="Kalam"/>
              </a:rPr>
              <a:t>, it is called bimodal.</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You keep both </a:t>
            </a:r>
            <a:r>
              <a:rPr b="1" lang="en-GB" sz="2000">
                <a:latin typeface="Kalam"/>
                <a:ea typeface="Kalam"/>
                <a:cs typeface="Kalam"/>
                <a:sym typeface="Kalam"/>
              </a:rPr>
              <a:t>modes</a:t>
            </a:r>
            <a:r>
              <a:rPr lang="en-GB" sz="2000">
                <a:latin typeface="Kalam"/>
                <a:ea typeface="Kalam"/>
                <a:cs typeface="Kalam"/>
                <a:sym typeface="Kalam"/>
              </a:rPr>
              <a:t>; you do not find the middle of them (like you do with the </a:t>
            </a:r>
            <a:r>
              <a:rPr b="1" lang="en-GB" sz="2000">
                <a:latin typeface="Kalam"/>
                <a:ea typeface="Kalam"/>
                <a:cs typeface="Kalam"/>
                <a:sym typeface="Kalam"/>
              </a:rPr>
              <a:t>median</a:t>
            </a:r>
            <a:r>
              <a:rPr lang="en-GB" sz="2000">
                <a:latin typeface="Kalam"/>
                <a:ea typeface="Kalam"/>
                <a:cs typeface="Kalam"/>
                <a:sym typeface="Kalam"/>
              </a:rPr>
              <a:t>).</a:t>
            </a:r>
            <a:endParaRPr sz="2000">
              <a:latin typeface="Kalam"/>
              <a:ea typeface="Kalam"/>
              <a:cs typeface="Kalam"/>
              <a:sym typeface="Kalam"/>
            </a:endParaRPr>
          </a:p>
        </p:txBody>
      </p:sp>
      <p:pic>
        <p:nvPicPr>
          <p:cNvPr id="815" name="Google Shape;815;p71"/>
          <p:cNvPicPr preferRelativeResize="0"/>
          <p:nvPr/>
        </p:nvPicPr>
        <p:blipFill>
          <a:blip r:embed="rId3">
            <a:alphaModFix/>
          </a:blip>
          <a:stretch>
            <a:fillRect/>
          </a:stretch>
        </p:blipFill>
        <p:spPr>
          <a:xfrm>
            <a:off x="6704971" y="2737350"/>
            <a:ext cx="396000" cy="419100"/>
          </a:xfrm>
          <a:prstGeom prst="rect">
            <a:avLst/>
          </a:prstGeom>
          <a:noFill/>
          <a:ln>
            <a:noFill/>
          </a:ln>
        </p:spPr>
      </p:pic>
      <p:grpSp>
        <p:nvGrpSpPr>
          <p:cNvPr id="816" name="Google Shape;816;p71"/>
          <p:cNvGrpSpPr/>
          <p:nvPr/>
        </p:nvGrpSpPr>
        <p:grpSpPr>
          <a:xfrm>
            <a:off x="700716" y="2343138"/>
            <a:ext cx="457200" cy="457200"/>
            <a:chOff x="1020916" y="1442088"/>
            <a:chExt cx="457200" cy="457200"/>
          </a:xfrm>
        </p:grpSpPr>
        <p:pic>
          <p:nvPicPr>
            <p:cNvPr id="817" name="Google Shape;817;p7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818" name="Google Shape;818;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819" name="Google Shape;819;p71"/>
          <p:cNvGrpSpPr/>
          <p:nvPr/>
        </p:nvGrpSpPr>
        <p:grpSpPr>
          <a:xfrm>
            <a:off x="2043366" y="2343150"/>
            <a:ext cx="457200" cy="457200"/>
            <a:chOff x="1020916" y="1442088"/>
            <a:chExt cx="457200" cy="457200"/>
          </a:xfrm>
        </p:grpSpPr>
        <p:pic>
          <p:nvPicPr>
            <p:cNvPr id="820" name="Google Shape;820;p7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821" name="Google Shape;821;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822" name="Google Shape;822;p71"/>
          <p:cNvGrpSpPr/>
          <p:nvPr/>
        </p:nvGrpSpPr>
        <p:grpSpPr>
          <a:xfrm>
            <a:off x="3438103" y="2343138"/>
            <a:ext cx="457200" cy="457200"/>
            <a:chOff x="1020916" y="1442088"/>
            <a:chExt cx="457200" cy="457200"/>
          </a:xfrm>
        </p:grpSpPr>
        <p:pic>
          <p:nvPicPr>
            <p:cNvPr id="823" name="Google Shape;823;p7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824" name="Google Shape;824;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825" name="Google Shape;825;p71"/>
          <p:cNvGrpSpPr/>
          <p:nvPr/>
        </p:nvGrpSpPr>
        <p:grpSpPr>
          <a:xfrm>
            <a:off x="4636653" y="2343150"/>
            <a:ext cx="457200" cy="457200"/>
            <a:chOff x="1020916" y="1442088"/>
            <a:chExt cx="457200" cy="457200"/>
          </a:xfrm>
        </p:grpSpPr>
        <p:pic>
          <p:nvPicPr>
            <p:cNvPr id="826" name="Google Shape;826;p7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827" name="Google Shape;827;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828" name="Google Shape;828;p71"/>
          <p:cNvGrpSpPr/>
          <p:nvPr/>
        </p:nvGrpSpPr>
        <p:grpSpPr>
          <a:xfrm>
            <a:off x="6103691" y="2343138"/>
            <a:ext cx="457200" cy="457200"/>
            <a:chOff x="1020916" y="1442088"/>
            <a:chExt cx="457200" cy="457200"/>
          </a:xfrm>
        </p:grpSpPr>
        <p:pic>
          <p:nvPicPr>
            <p:cNvPr id="829" name="Google Shape;829;p7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830" name="Google Shape;830;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sp>
        <p:nvSpPr>
          <p:cNvPr id="831" name="Google Shape;831;p71"/>
          <p:cNvSpPr txBox="1"/>
          <p:nvPr/>
        </p:nvSpPr>
        <p:spPr>
          <a:xfrm>
            <a:off x="1212800" y="2340888"/>
            <a:ext cx="58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a:t>
            </a:r>
            <a:endParaRPr sz="1800">
              <a:solidFill>
                <a:schemeClr val="dk1"/>
              </a:solidFill>
              <a:latin typeface="Lexend"/>
              <a:ea typeface="Lexend"/>
              <a:cs typeface="Lexend"/>
              <a:sym typeface="Lexend"/>
            </a:endParaRPr>
          </a:p>
        </p:txBody>
      </p:sp>
      <p:sp>
        <p:nvSpPr>
          <p:cNvPr id="832" name="Google Shape;832;p71"/>
          <p:cNvSpPr txBox="1"/>
          <p:nvPr/>
        </p:nvSpPr>
        <p:spPr>
          <a:xfrm>
            <a:off x="2525400" y="2340888"/>
            <a:ext cx="58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13</a:t>
            </a:r>
            <a:endParaRPr sz="1800">
              <a:solidFill>
                <a:schemeClr val="dk1"/>
              </a:solidFill>
              <a:latin typeface="Lexend"/>
              <a:ea typeface="Lexend"/>
              <a:cs typeface="Lexend"/>
              <a:sym typeface="Lexend"/>
            </a:endParaRPr>
          </a:p>
        </p:txBody>
      </p:sp>
      <p:sp>
        <p:nvSpPr>
          <p:cNvPr id="833" name="Google Shape;833;p71"/>
          <p:cNvSpPr txBox="1"/>
          <p:nvPr/>
        </p:nvSpPr>
        <p:spPr>
          <a:xfrm>
            <a:off x="3838013" y="2340888"/>
            <a:ext cx="58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a:t>
            </a:r>
            <a:endParaRPr sz="1800">
              <a:solidFill>
                <a:schemeClr val="dk1"/>
              </a:solidFill>
              <a:latin typeface="Lexend"/>
              <a:ea typeface="Lexend"/>
              <a:cs typeface="Lexend"/>
              <a:sym typeface="Lexend"/>
            </a:endParaRPr>
          </a:p>
        </p:txBody>
      </p:sp>
      <p:sp>
        <p:nvSpPr>
          <p:cNvPr id="834" name="Google Shape;834;p71"/>
          <p:cNvSpPr txBox="1"/>
          <p:nvPr/>
        </p:nvSpPr>
        <p:spPr>
          <a:xfrm>
            <a:off x="5086775" y="2340900"/>
            <a:ext cx="83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17.5</a:t>
            </a:r>
            <a:endParaRPr sz="1800">
              <a:solidFill>
                <a:schemeClr val="dk1"/>
              </a:solidFill>
              <a:latin typeface="Lexend"/>
              <a:ea typeface="Lexend"/>
              <a:cs typeface="Lexend"/>
              <a:sym typeface="Lexend"/>
            </a:endParaRPr>
          </a:p>
        </p:txBody>
      </p:sp>
      <p:sp>
        <p:nvSpPr>
          <p:cNvPr id="835" name="Google Shape;835;p71"/>
          <p:cNvSpPr txBox="1"/>
          <p:nvPr/>
        </p:nvSpPr>
        <p:spPr>
          <a:xfrm>
            <a:off x="6609275" y="2340888"/>
            <a:ext cx="58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72"/>
          <p:cNvSpPr txBox="1"/>
          <p:nvPr>
            <p:ph idx="4294967295" type="body"/>
          </p:nvPr>
        </p:nvSpPr>
        <p:spPr>
          <a:xfrm>
            <a:off x="324200" y="652325"/>
            <a:ext cx="8495700" cy="63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1) Complete the tables showing the </a:t>
            </a:r>
            <a:r>
              <a:rPr lang="en-GB" sz="1800"/>
              <a:t>mean</a:t>
            </a:r>
            <a:r>
              <a:rPr lang="en-GB" sz="1800"/>
              <a:t>, median, and mode for the following data sets.</a:t>
            </a:r>
            <a:endParaRPr sz="1800"/>
          </a:p>
        </p:txBody>
      </p:sp>
      <p:sp>
        <p:nvSpPr>
          <p:cNvPr id="841" name="Google Shape;841;p7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Calculating all of the averages</a:t>
            </a:r>
            <a:endParaRPr/>
          </a:p>
        </p:txBody>
      </p:sp>
      <p:graphicFrame>
        <p:nvGraphicFramePr>
          <p:cNvPr id="842" name="Google Shape;842;p72"/>
          <p:cNvGraphicFramePr/>
          <p:nvPr/>
        </p:nvGraphicFramePr>
        <p:xfrm>
          <a:off x="662350" y="1378440"/>
          <a:ext cx="3000000" cy="3000000"/>
        </p:xfrm>
        <a:graphic>
          <a:graphicData uri="http://schemas.openxmlformats.org/drawingml/2006/table">
            <a:tbl>
              <a:tblPr>
                <a:noFill/>
                <a:tableStyleId>{941F9DB1-44A7-4DC4-A338-CBB8A8854EF6}</a:tableStyleId>
              </a:tblPr>
              <a:tblGrid>
                <a:gridCol w="660650"/>
                <a:gridCol w="660650"/>
                <a:gridCol w="660650"/>
                <a:gridCol w="660650"/>
                <a:gridCol w="660650"/>
                <a:gridCol w="66065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43" name="Google Shape;843;p72"/>
          <p:cNvSpPr txBox="1"/>
          <p:nvPr>
            <p:ph idx="4294967295" type="body"/>
          </p:nvPr>
        </p:nvSpPr>
        <p:spPr>
          <a:xfrm>
            <a:off x="324200" y="1406528"/>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 </a:t>
            </a:r>
            <a:endParaRPr sz="1800"/>
          </a:p>
        </p:txBody>
      </p:sp>
      <p:graphicFrame>
        <p:nvGraphicFramePr>
          <p:cNvPr id="844" name="Google Shape;844;p72"/>
          <p:cNvGraphicFramePr/>
          <p:nvPr/>
        </p:nvGraphicFramePr>
        <p:xfrm>
          <a:off x="980380" y="1772824"/>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3.83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45" name="Google Shape;845;p72"/>
          <p:cNvGraphicFramePr/>
          <p:nvPr/>
        </p:nvGraphicFramePr>
        <p:xfrm>
          <a:off x="662350" y="2571738"/>
          <a:ext cx="3000000" cy="3000000"/>
        </p:xfrm>
        <a:graphic>
          <a:graphicData uri="http://schemas.openxmlformats.org/drawingml/2006/table">
            <a:tbl>
              <a:tblPr>
                <a:noFill/>
                <a:tableStyleId>{941F9DB1-44A7-4DC4-A338-CBB8A8854EF6}</a:tableStyleId>
              </a:tblPr>
              <a:tblGrid>
                <a:gridCol w="667300"/>
                <a:gridCol w="667300"/>
                <a:gridCol w="667300"/>
                <a:gridCol w="667300"/>
                <a:gridCol w="667300"/>
                <a:gridCol w="667300"/>
                <a:gridCol w="66730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46" name="Google Shape;846;p72"/>
          <p:cNvSpPr txBox="1"/>
          <p:nvPr>
            <p:ph idx="4294967295" type="body"/>
          </p:nvPr>
        </p:nvSpPr>
        <p:spPr>
          <a:xfrm>
            <a:off x="324200" y="25998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b) </a:t>
            </a:r>
            <a:endParaRPr sz="1800"/>
          </a:p>
        </p:txBody>
      </p:sp>
      <p:graphicFrame>
        <p:nvGraphicFramePr>
          <p:cNvPr id="847" name="Google Shape;847;p72"/>
          <p:cNvGraphicFramePr/>
          <p:nvPr/>
        </p:nvGraphicFramePr>
        <p:xfrm>
          <a:off x="980380" y="29661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48" name="Google Shape;848;p72"/>
          <p:cNvGraphicFramePr/>
          <p:nvPr/>
        </p:nvGraphicFramePr>
        <p:xfrm>
          <a:off x="662350" y="3765038"/>
          <a:ext cx="3000000" cy="3000000"/>
        </p:xfrm>
        <a:graphic>
          <a:graphicData uri="http://schemas.openxmlformats.org/drawingml/2006/table">
            <a:tbl>
              <a:tblPr>
                <a:noFill/>
                <a:tableStyleId>{941F9DB1-44A7-4DC4-A338-CBB8A8854EF6}</a:tableStyleId>
              </a:tblPr>
              <a:tblGrid>
                <a:gridCol w="673775"/>
                <a:gridCol w="673775"/>
                <a:gridCol w="673775"/>
                <a:gridCol w="673775"/>
                <a:gridCol w="673775"/>
                <a:gridCol w="673775"/>
                <a:gridCol w="673775"/>
                <a:gridCol w="673775"/>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3.5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49" name="Google Shape;849;p72"/>
          <p:cNvSpPr txBox="1"/>
          <p:nvPr>
            <p:ph idx="4294967295" type="body"/>
          </p:nvPr>
        </p:nvSpPr>
        <p:spPr>
          <a:xfrm>
            <a:off x="324200" y="37931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c</a:t>
            </a:r>
            <a:r>
              <a:rPr lang="en-GB" sz="1800"/>
              <a:t>) </a:t>
            </a:r>
            <a:endParaRPr sz="1800"/>
          </a:p>
        </p:txBody>
      </p:sp>
      <p:graphicFrame>
        <p:nvGraphicFramePr>
          <p:cNvPr id="850" name="Google Shape;850;p72"/>
          <p:cNvGraphicFramePr/>
          <p:nvPr/>
        </p:nvGraphicFramePr>
        <p:xfrm>
          <a:off x="980380" y="41594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6.25</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73"/>
          <p:cNvSpPr txBox="1"/>
          <p:nvPr>
            <p:ph idx="4294967295" type="body"/>
          </p:nvPr>
        </p:nvSpPr>
        <p:spPr>
          <a:xfrm>
            <a:off x="324200" y="4183580"/>
            <a:ext cx="7965900" cy="63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3) For question 2, which of the data sets was the odd one out? Justify your answer.</a:t>
            </a:r>
            <a:endParaRPr sz="1800"/>
          </a:p>
        </p:txBody>
      </p:sp>
      <p:sp>
        <p:nvSpPr>
          <p:cNvPr id="856" name="Google Shape;856;p73"/>
          <p:cNvSpPr txBox="1"/>
          <p:nvPr>
            <p:ph idx="4294967295" type="body"/>
          </p:nvPr>
        </p:nvSpPr>
        <p:spPr>
          <a:xfrm>
            <a:off x="324200" y="652325"/>
            <a:ext cx="84957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2) Calculate the mean, median, and mode of these three data sets.</a:t>
            </a:r>
            <a:endParaRPr sz="1800"/>
          </a:p>
        </p:txBody>
      </p:sp>
      <p:sp>
        <p:nvSpPr>
          <p:cNvPr id="857" name="Google Shape;857;p7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Calculating all of the averages</a:t>
            </a:r>
            <a:endParaRPr/>
          </a:p>
        </p:txBody>
      </p:sp>
      <p:graphicFrame>
        <p:nvGraphicFramePr>
          <p:cNvPr id="858" name="Google Shape;858;p73"/>
          <p:cNvGraphicFramePr/>
          <p:nvPr/>
        </p:nvGraphicFramePr>
        <p:xfrm>
          <a:off x="662350" y="997440"/>
          <a:ext cx="3000000" cy="3000000"/>
        </p:xfrm>
        <a:graphic>
          <a:graphicData uri="http://schemas.openxmlformats.org/drawingml/2006/table">
            <a:tbl>
              <a:tblPr>
                <a:noFill/>
                <a:tableStyleId>{941F9DB1-44A7-4DC4-A338-CBB8A8854EF6}</a:tableStyleId>
              </a:tblPr>
              <a:tblGrid>
                <a:gridCol w="660650"/>
                <a:gridCol w="660650"/>
                <a:gridCol w="660650"/>
                <a:gridCol w="660650"/>
                <a:gridCol w="66065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59" name="Google Shape;859;p73"/>
          <p:cNvSpPr txBox="1"/>
          <p:nvPr>
            <p:ph idx="4294967295" type="body"/>
          </p:nvPr>
        </p:nvSpPr>
        <p:spPr>
          <a:xfrm>
            <a:off x="324200" y="1025528"/>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 </a:t>
            </a:r>
            <a:endParaRPr sz="1800"/>
          </a:p>
        </p:txBody>
      </p:sp>
      <p:graphicFrame>
        <p:nvGraphicFramePr>
          <p:cNvPr id="860" name="Google Shape;860;p73"/>
          <p:cNvGraphicFramePr/>
          <p:nvPr/>
        </p:nvGraphicFramePr>
        <p:xfrm>
          <a:off x="980380" y="1391824"/>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61" name="Google Shape;861;p73"/>
          <p:cNvGraphicFramePr/>
          <p:nvPr/>
        </p:nvGraphicFramePr>
        <p:xfrm>
          <a:off x="662350" y="2114538"/>
          <a:ext cx="3000000" cy="3000000"/>
        </p:xfrm>
        <a:graphic>
          <a:graphicData uri="http://schemas.openxmlformats.org/drawingml/2006/table">
            <a:tbl>
              <a:tblPr>
                <a:noFill/>
                <a:tableStyleId>{941F9DB1-44A7-4DC4-A338-CBB8A8854EF6}</a:tableStyleId>
              </a:tblPr>
              <a:tblGrid>
                <a:gridCol w="667300"/>
                <a:gridCol w="667300"/>
                <a:gridCol w="667300"/>
                <a:gridCol w="667300"/>
                <a:gridCol w="667300"/>
                <a:gridCol w="66730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62" name="Google Shape;862;p73"/>
          <p:cNvSpPr txBox="1"/>
          <p:nvPr>
            <p:ph idx="4294967295" type="body"/>
          </p:nvPr>
        </p:nvSpPr>
        <p:spPr>
          <a:xfrm>
            <a:off x="324200" y="21426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b) </a:t>
            </a:r>
            <a:endParaRPr sz="1800"/>
          </a:p>
        </p:txBody>
      </p:sp>
      <p:graphicFrame>
        <p:nvGraphicFramePr>
          <p:cNvPr id="863" name="Google Shape;863;p73"/>
          <p:cNvGraphicFramePr/>
          <p:nvPr/>
        </p:nvGraphicFramePr>
        <p:xfrm>
          <a:off x="980380" y="25089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64" name="Google Shape;864;p73"/>
          <p:cNvGraphicFramePr/>
          <p:nvPr/>
        </p:nvGraphicFramePr>
        <p:xfrm>
          <a:off x="662350" y="3231638"/>
          <a:ext cx="3000000" cy="3000000"/>
        </p:xfrm>
        <a:graphic>
          <a:graphicData uri="http://schemas.openxmlformats.org/drawingml/2006/table">
            <a:tbl>
              <a:tblPr>
                <a:noFill/>
                <a:tableStyleId>{941F9DB1-44A7-4DC4-A338-CBB8A8854EF6}</a:tableStyleId>
              </a:tblPr>
              <a:tblGrid>
                <a:gridCol w="598900"/>
                <a:gridCol w="598900"/>
                <a:gridCol w="598900"/>
                <a:gridCol w="598900"/>
                <a:gridCol w="598900"/>
                <a:gridCol w="598900"/>
                <a:gridCol w="598900"/>
                <a:gridCol w="598900"/>
                <a:gridCol w="59890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65" name="Google Shape;865;p73"/>
          <p:cNvSpPr txBox="1"/>
          <p:nvPr>
            <p:ph idx="4294967295" type="body"/>
          </p:nvPr>
        </p:nvSpPr>
        <p:spPr>
          <a:xfrm>
            <a:off x="324200" y="32597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c</a:t>
            </a:r>
            <a:r>
              <a:rPr lang="en-GB" sz="1800"/>
              <a:t>) </a:t>
            </a:r>
            <a:endParaRPr sz="1800"/>
          </a:p>
        </p:txBody>
      </p:sp>
      <p:graphicFrame>
        <p:nvGraphicFramePr>
          <p:cNvPr id="866" name="Google Shape;866;p73"/>
          <p:cNvGraphicFramePr/>
          <p:nvPr/>
        </p:nvGraphicFramePr>
        <p:xfrm>
          <a:off x="980380" y="36260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74"/>
          <p:cNvSpPr txBox="1"/>
          <p:nvPr>
            <p:ph idx="4294967295" type="body"/>
          </p:nvPr>
        </p:nvSpPr>
        <p:spPr>
          <a:xfrm>
            <a:off x="324200" y="652325"/>
            <a:ext cx="8495700" cy="63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1) Complete the information showing the mean, median, and mode for the following data sets.</a:t>
            </a:r>
            <a:endParaRPr sz="1800"/>
          </a:p>
        </p:txBody>
      </p:sp>
      <p:sp>
        <p:nvSpPr>
          <p:cNvPr id="872" name="Google Shape;872;p7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Calculating all of the averages</a:t>
            </a:r>
            <a:endParaRPr/>
          </a:p>
        </p:txBody>
      </p:sp>
      <p:graphicFrame>
        <p:nvGraphicFramePr>
          <p:cNvPr id="873" name="Google Shape;873;p74"/>
          <p:cNvGraphicFramePr/>
          <p:nvPr/>
        </p:nvGraphicFramePr>
        <p:xfrm>
          <a:off x="662350" y="1378440"/>
          <a:ext cx="3000000" cy="3000000"/>
        </p:xfrm>
        <a:graphic>
          <a:graphicData uri="http://schemas.openxmlformats.org/drawingml/2006/table">
            <a:tbl>
              <a:tblPr>
                <a:noFill/>
                <a:tableStyleId>{941F9DB1-44A7-4DC4-A338-CBB8A8854EF6}</a:tableStyleId>
              </a:tblPr>
              <a:tblGrid>
                <a:gridCol w="660650"/>
                <a:gridCol w="660650"/>
                <a:gridCol w="660650"/>
                <a:gridCol w="660650"/>
                <a:gridCol w="660650"/>
                <a:gridCol w="66065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74" name="Google Shape;874;p74"/>
          <p:cNvSpPr txBox="1"/>
          <p:nvPr>
            <p:ph idx="4294967295" type="body"/>
          </p:nvPr>
        </p:nvSpPr>
        <p:spPr>
          <a:xfrm>
            <a:off x="324200" y="1406528"/>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 </a:t>
            </a:r>
            <a:endParaRPr sz="1800"/>
          </a:p>
        </p:txBody>
      </p:sp>
      <p:graphicFrame>
        <p:nvGraphicFramePr>
          <p:cNvPr id="875" name="Google Shape;875;p74"/>
          <p:cNvGraphicFramePr/>
          <p:nvPr/>
        </p:nvGraphicFramePr>
        <p:xfrm>
          <a:off x="980380" y="1772824"/>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3.83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2000">
                          <a:latin typeface="Kalam"/>
                          <a:ea typeface="Kalam"/>
                          <a:cs typeface="Kalam"/>
                          <a:sym typeface="Kalam"/>
                        </a:rPr>
                        <a:t>2</a:t>
                      </a:r>
                      <a:endParaRPr sz="2000">
                        <a:latin typeface="Kalam"/>
                        <a:ea typeface="Kalam"/>
                        <a:cs typeface="Kalam"/>
                        <a:sym typeface="Kalam"/>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76" name="Google Shape;876;p74"/>
          <p:cNvGraphicFramePr/>
          <p:nvPr/>
        </p:nvGraphicFramePr>
        <p:xfrm>
          <a:off x="662350" y="2571738"/>
          <a:ext cx="3000000" cy="3000000"/>
        </p:xfrm>
        <a:graphic>
          <a:graphicData uri="http://schemas.openxmlformats.org/drawingml/2006/table">
            <a:tbl>
              <a:tblPr>
                <a:noFill/>
                <a:tableStyleId>{941F9DB1-44A7-4DC4-A338-CBB8A8854EF6}</a:tableStyleId>
              </a:tblPr>
              <a:tblGrid>
                <a:gridCol w="667300"/>
                <a:gridCol w="667300"/>
                <a:gridCol w="667300"/>
                <a:gridCol w="667300"/>
                <a:gridCol w="667300"/>
                <a:gridCol w="667300"/>
                <a:gridCol w="66730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77" name="Google Shape;877;p74"/>
          <p:cNvSpPr txBox="1"/>
          <p:nvPr>
            <p:ph idx="4294967295" type="body"/>
          </p:nvPr>
        </p:nvSpPr>
        <p:spPr>
          <a:xfrm>
            <a:off x="324200" y="25998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b) </a:t>
            </a:r>
            <a:endParaRPr sz="1800"/>
          </a:p>
        </p:txBody>
      </p:sp>
      <p:graphicFrame>
        <p:nvGraphicFramePr>
          <p:cNvPr id="878" name="Google Shape;878;p74"/>
          <p:cNvGraphicFramePr/>
          <p:nvPr/>
        </p:nvGraphicFramePr>
        <p:xfrm>
          <a:off x="980380" y="29661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 </a:t>
                      </a:r>
                      <a:r>
                        <a:rPr lang="en-GB" sz="2000">
                          <a:solidFill>
                            <a:schemeClr val="dk1"/>
                          </a:solidFill>
                          <a:latin typeface="Kalam"/>
                          <a:ea typeface="Kalam"/>
                          <a:cs typeface="Kalam"/>
                          <a:sym typeface="Kalam"/>
                        </a:rPr>
                        <a:t>24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25</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79" name="Google Shape;879;p74"/>
          <p:cNvGraphicFramePr/>
          <p:nvPr/>
        </p:nvGraphicFramePr>
        <p:xfrm>
          <a:off x="662350" y="3765038"/>
          <a:ext cx="3000000" cy="3000000"/>
        </p:xfrm>
        <a:graphic>
          <a:graphicData uri="http://schemas.openxmlformats.org/drawingml/2006/table">
            <a:tbl>
              <a:tblPr>
                <a:noFill/>
                <a:tableStyleId>{941F9DB1-44A7-4DC4-A338-CBB8A8854EF6}</a:tableStyleId>
              </a:tblPr>
              <a:tblGrid>
                <a:gridCol w="673775"/>
                <a:gridCol w="673775"/>
                <a:gridCol w="673775"/>
                <a:gridCol w="673775"/>
                <a:gridCol w="673775"/>
                <a:gridCol w="673775"/>
                <a:gridCol w="673775"/>
                <a:gridCol w="673775"/>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3.5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80" name="Google Shape;880;p74"/>
          <p:cNvSpPr txBox="1"/>
          <p:nvPr>
            <p:ph idx="4294967295" type="body"/>
          </p:nvPr>
        </p:nvSpPr>
        <p:spPr>
          <a:xfrm>
            <a:off x="324200" y="37931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c</a:t>
            </a:r>
            <a:r>
              <a:rPr lang="en-GB" sz="1800"/>
              <a:t>) </a:t>
            </a:r>
            <a:endParaRPr sz="1800"/>
          </a:p>
        </p:txBody>
      </p:sp>
      <p:graphicFrame>
        <p:nvGraphicFramePr>
          <p:cNvPr id="881" name="Google Shape;881;p74"/>
          <p:cNvGraphicFramePr/>
          <p:nvPr/>
        </p:nvGraphicFramePr>
        <p:xfrm>
          <a:off x="980380" y="41594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 </a:t>
                      </a:r>
                      <a:r>
                        <a:rPr lang="en-GB" sz="2000">
                          <a:solidFill>
                            <a:schemeClr val="dk1"/>
                          </a:solidFill>
                          <a:latin typeface="Kalam"/>
                          <a:ea typeface="Kalam"/>
                          <a:cs typeface="Kalam"/>
                          <a:sym typeface="Kalam"/>
                        </a:rPr>
                        <a:t>5.81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6.25</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bimodal at 7 and 8.5</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5"/>
          <p:cNvSpPr txBox="1"/>
          <p:nvPr>
            <p:ph idx="4294967295" type="body"/>
          </p:nvPr>
        </p:nvSpPr>
        <p:spPr>
          <a:xfrm>
            <a:off x="324200" y="652325"/>
            <a:ext cx="84957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2) Calculate the mean, median, and mode of these three data sets.</a:t>
            </a:r>
            <a:endParaRPr sz="1800"/>
          </a:p>
        </p:txBody>
      </p:sp>
      <p:sp>
        <p:nvSpPr>
          <p:cNvPr id="887" name="Google Shape;887;p7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Calculating all of the averages</a:t>
            </a:r>
            <a:endParaRPr/>
          </a:p>
        </p:txBody>
      </p:sp>
      <p:graphicFrame>
        <p:nvGraphicFramePr>
          <p:cNvPr id="888" name="Google Shape;888;p75"/>
          <p:cNvGraphicFramePr/>
          <p:nvPr/>
        </p:nvGraphicFramePr>
        <p:xfrm>
          <a:off x="662350" y="997440"/>
          <a:ext cx="3000000" cy="3000000"/>
        </p:xfrm>
        <a:graphic>
          <a:graphicData uri="http://schemas.openxmlformats.org/drawingml/2006/table">
            <a:tbl>
              <a:tblPr>
                <a:noFill/>
                <a:tableStyleId>{941F9DB1-44A7-4DC4-A338-CBB8A8854EF6}</a:tableStyleId>
              </a:tblPr>
              <a:tblGrid>
                <a:gridCol w="660650"/>
                <a:gridCol w="660650"/>
                <a:gridCol w="660650"/>
                <a:gridCol w="660650"/>
                <a:gridCol w="66065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10.5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89" name="Google Shape;889;p75"/>
          <p:cNvSpPr txBox="1"/>
          <p:nvPr>
            <p:ph idx="4294967295" type="body"/>
          </p:nvPr>
        </p:nvSpPr>
        <p:spPr>
          <a:xfrm>
            <a:off x="324200" y="1025528"/>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 </a:t>
            </a:r>
            <a:endParaRPr sz="1800"/>
          </a:p>
        </p:txBody>
      </p:sp>
      <p:graphicFrame>
        <p:nvGraphicFramePr>
          <p:cNvPr id="890" name="Google Shape;890;p75"/>
          <p:cNvGraphicFramePr/>
          <p:nvPr/>
        </p:nvGraphicFramePr>
        <p:xfrm>
          <a:off x="980380" y="1391824"/>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5.7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4</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2.5</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91" name="Google Shape;891;p75"/>
          <p:cNvGraphicFramePr/>
          <p:nvPr/>
        </p:nvGraphicFramePr>
        <p:xfrm>
          <a:off x="662350" y="2114538"/>
          <a:ext cx="3000000" cy="3000000"/>
        </p:xfrm>
        <a:graphic>
          <a:graphicData uri="http://schemas.openxmlformats.org/drawingml/2006/table">
            <a:tbl>
              <a:tblPr>
                <a:noFill/>
                <a:tableStyleId>{941F9DB1-44A7-4DC4-A338-CBB8A8854EF6}</a:tableStyleId>
              </a:tblPr>
              <a:tblGrid>
                <a:gridCol w="667300"/>
                <a:gridCol w="667300"/>
                <a:gridCol w="667300"/>
                <a:gridCol w="667300"/>
                <a:gridCol w="667300"/>
                <a:gridCol w="66730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92" name="Google Shape;892;p75"/>
          <p:cNvSpPr txBox="1"/>
          <p:nvPr>
            <p:ph idx="4294967295" type="body"/>
          </p:nvPr>
        </p:nvSpPr>
        <p:spPr>
          <a:xfrm>
            <a:off x="324200" y="21426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b) </a:t>
            </a:r>
            <a:endParaRPr sz="1800"/>
          </a:p>
        </p:txBody>
      </p:sp>
      <p:graphicFrame>
        <p:nvGraphicFramePr>
          <p:cNvPr id="893" name="Google Shape;893;p75"/>
          <p:cNvGraphicFramePr/>
          <p:nvPr/>
        </p:nvGraphicFramePr>
        <p:xfrm>
          <a:off x="980380" y="25089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 </a:t>
                      </a:r>
                      <a:r>
                        <a:rPr lang="en-GB" sz="2000">
                          <a:solidFill>
                            <a:schemeClr val="dk1"/>
                          </a:solidFill>
                          <a:latin typeface="Kalam"/>
                          <a:ea typeface="Kalam"/>
                          <a:cs typeface="Kalam"/>
                          <a:sym typeface="Kalam"/>
                        </a:rPr>
                        <a:t>20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20</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20</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894" name="Google Shape;894;p75"/>
          <p:cNvGraphicFramePr/>
          <p:nvPr/>
        </p:nvGraphicFramePr>
        <p:xfrm>
          <a:off x="662350" y="3231638"/>
          <a:ext cx="3000000" cy="3000000"/>
        </p:xfrm>
        <a:graphic>
          <a:graphicData uri="http://schemas.openxmlformats.org/drawingml/2006/table">
            <a:tbl>
              <a:tblPr>
                <a:noFill/>
                <a:tableStyleId>{941F9DB1-44A7-4DC4-A338-CBB8A8854EF6}</a:tableStyleId>
              </a:tblPr>
              <a:tblGrid>
                <a:gridCol w="598900"/>
                <a:gridCol w="598900"/>
                <a:gridCol w="598900"/>
                <a:gridCol w="598900"/>
                <a:gridCol w="598900"/>
                <a:gridCol w="598900"/>
                <a:gridCol w="598900"/>
                <a:gridCol w="598900"/>
                <a:gridCol w="598900"/>
              </a:tblGrid>
              <a:tr h="333375">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c>
                  <a:txBody>
                    <a:bodyPr/>
                    <a:lstStyle/>
                    <a:p>
                      <a:pPr indent="0" lvl="0" marL="0" rtl="0" algn="ctr">
                        <a:lnSpc>
                          <a:spcPct val="100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3EEFB"/>
                    </a:solidFill>
                  </a:tcPr>
                </a:tc>
              </a:tr>
            </a:tbl>
          </a:graphicData>
        </a:graphic>
      </p:graphicFrame>
      <p:sp>
        <p:nvSpPr>
          <p:cNvPr id="895" name="Google Shape;895;p75"/>
          <p:cNvSpPr txBox="1"/>
          <p:nvPr>
            <p:ph idx="4294967295" type="body"/>
          </p:nvPr>
        </p:nvSpPr>
        <p:spPr>
          <a:xfrm>
            <a:off x="324200" y="3259725"/>
            <a:ext cx="417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c</a:t>
            </a:r>
            <a:r>
              <a:rPr lang="en-GB" sz="1800"/>
              <a:t>) </a:t>
            </a:r>
            <a:endParaRPr sz="1800"/>
          </a:p>
        </p:txBody>
      </p:sp>
      <p:graphicFrame>
        <p:nvGraphicFramePr>
          <p:cNvPr id="896" name="Google Shape;896;p75"/>
          <p:cNvGraphicFramePr/>
          <p:nvPr/>
        </p:nvGraphicFramePr>
        <p:xfrm>
          <a:off x="980380" y="3626021"/>
          <a:ext cx="3000000" cy="3000000"/>
        </p:xfrm>
        <a:graphic>
          <a:graphicData uri="http://schemas.openxmlformats.org/drawingml/2006/table">
            <a:tbl>
              <a:tblPr>
                <a:noFill/>
                <a:tableStyleId>{941F9DB1-44A7-4DC4-A338-CBB8A8854EF6}</a:tableStyleId>
              </a:tblPr>
              <a:tblGrid>
                <a:gridCol w="1249500"/>
                <a:gridCol w="1249500"/>
                <a:gridCol w="1249500"/>
                <a:gridCol w="1249500"/>
                <a:gridCol w="1249500"/>
                <a:gridCol w="1249500"/>
              </a:tblGrid>
              <a:tr h="333375">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mean</a:t>
                      </a:r>
                      <a:endParaRPr sz="18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2000">
                          <a:solidFill>
                            <a:schemeClr val="dk1"/>
                          </a:solidFill>
                          <a:latin typeface="Kalam"/>
                          <a:ea typeface="Kalam"/>
                          <a:cs typeface="Kalam"/>
                          <a:sym typeface="Kalam"/>
                        </a:rPr>
                        <a:t>6</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median</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7</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800">
                          <a:latin typeface="Lexend"/>
                          <a:ea typeface="Lexend"/>
                          <a:cs typeface="Lexend"/>
                          <a:sym typeface="Lexend"/>
                        </a:rPr>
                        <a:t>mode</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bimodal at 4, 7</a:t>
                      </a:r>
                      <a:endParaRPr sz="18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76"/>
          <p:cNvSpPr txBox="1"/>
          <p:nvPr>
            <p:ph idx="4294967295" type="body"/>
          </p:nvPr>
        </p:nvSpPr>
        <p:spPr>
          <a:xfrm>
            <a:off x="324200" y="643630"/>
            <a:ext cx="7965900" cy="63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3) For question 2, which of the data sets was the odd one out? Justify your answer.</a:t>
            </a:r>
            <a:endParaRPr sz="1800"/>
          </a:p>
        </p:txBody>
      </p:sp>
      <p:sp>
        <p:nvSpPr>
          <p:cNvPr id="902" name="Google Shape;902;p7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Calculating all of the averages</a:t>
            </a:r>
            <a:endParaRPr/>
          </a:p>
        </p:txBody>
      </p:sp>
      <p:sp>
        <p:nvSpPr>
          <p:cNvPr id="903" name="Google Shape;903;p76"/>
          <p:cNvSpPr txBox="1"/>
          <p:nvPr>
            <p:ph idx="4294967295" type="body"/>
          </p:nvPr>
        </p:nvSpPr>
        <p:spPr>
          <a:xfrm>
            <a:off x="816900" y="1604675"/>
            <a:ext cx="7473300" cy="2293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There are many possible responses, including:</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b) is the only data set where the mean, median, and mode are all the same.</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c) is the only data set where the mode is bimodal.</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a) is the only data set where the mean and mode are decimals.</a:t>
            </a:r>
            <a:endParaRPr sz="2000">
              <a:latin typeface="Kalam"/>
              <a:ea typeface="Kalam"/>
              <a:cs typeface="Kalam"/>
              <a:sym typeface="Kala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77"/>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all of the averages</a:t>
            </a:r>
            <a:endParaRPr/>
          </a:p>
        </p:txBody>
      </p:sp>
      <p:sp>
        <p:nvSpPr>
          <p:cNvPr id="909" name="Google Shape;909;p77"/>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Summarising data</a:t>
            </a:r>
            <a:endParaRPr/>
          </a:p>
        </p:txBody>
      </p:sp>
      <p:pic>
        <p:nvPicPr>
          <p:cNvPr id="910" name="Google Shape;910;p77"/>
          <p:cNvPicPr preferRelativeResize="0"/>
          <p:nvPr/>
        </p:nvPicPr>
        <p:blipFill>
          <a:blip r:embed="rId3">
            <a:alphaModFix/>
          </a:blip>
          <a:stretch>
            <a:fillRect/>
          </a:stretch>
        </p:blipFill>
        <p:spPr>
          <a:xfrm>
            <a:off x="413650" y="2766071"/>
            <a:ext cx="450575" cy="446750"/>
          </a:xfrm>
          <a:prstGeom prst="rect">
            <a:avLst/>
          </a:prstGeom>
          <a:noFill/>
          <a:ln>
            <a:noFill/>
          </a:ln>
        </p:spPr>
      </p:pic>
      <p:sp>
        <p:nvSpPr>
          <p:cNvPr id="911" name="Google Shape;911;p77"/>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sp>
        <p:nvSpPr>
          <p:cNvPr id="912" name="Google Shape;912;p77"/>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78"/>
          <p:cNvSpPr txBox="1"/>
          <p:nvPr>
            <p:ph idx="1" type="body"/>
          </p:nvPr>
        </p:nvSpPr>
        <p:spPr>
          <a:xfrm>
            <a:off x="324000" y="1542375"/>
            <a:ext cx="7737300" cy="2224200"/>
          </a:xfrm>
          <a:prstGeom prst="rect">
            <a:avLst/>
          </a:prstGeom>
        </p:spPr>
        <p:txBody>
          <a:bodyPr anchorCtr="0" anchor="t" bIns="0" lIns="0" spcFirstLastPara="1" rIns="0" wrap="square" tIns="0">
            <a:spAutoFit/>
          </a:bodyPr>
          <a:lstStyle/>
          <a:p>
            <a:pPr indent="-368300" lvl="0" marL="457200" rtl="0" algn="l">
              <a:spcBef>
                <a:spcPts val="0"/>
              </a:spcBef>
              <a:spcAft>
                <a:spcPts val="0"/>
              </a:spcAft>
              <a:buSzPts val="2200"/>
              <a:buChar char="●"/>
            </a:pPr>
            <a:r>
              <a:rPr lang="en-GB"/>
              <a:t>t</a:t>
            </a:r>
            <a:r>
              <a:rPr lang="en-GB"/>
              <a:t>he </a:t>
            </a:r>
            <a:r>
              <a:rPr b="1" lang="en-GB"/>
              <a:t>mean</a:t>
            </a:r>
            <a:r>
              <a:rPr lang="en-GB"/>
              <a:t> lies close to groups of common values (as the </a:t>
            </a:r>
            <a:r>
              <a:rPr b="1" lang="en-GB"/>
              <a:t>mean</a:t>
            </a:r>
            <a:r>
              <a:rPr lang="en-GB"/>
              <a:t> can represent a typical value in a </a:t>
            </a:r>
            <a:r>
              <a:rPr b="1" lang="en-GB"/>
              <a:t>data</a:t>
            </a:r>
            <a:r>
              <a:rPr lang="en-GB"/>
              <a:t> set)</a:t>
            </a:r>
            <a:endParaRPr/>
          </a:p>
          <a:p>
            <a:pPr indent="-342900" lvl="0" marL="457200" rtl="0" algn="l">
              <a:spcBef>
                <a:spcPts val="0"/>
              </a:spcBef>
              <a:spcAft>
                <a:spcPts val="0"/>
              </a:spcAft>
              <a:buSzPts val="1800"/>
              <a:buChar char="●"/>
            </a:pPr>
            <a:r>
              <a:rPr lang="en-GB"/>
              <a:t>or if the </a:t>
            </a:r>
            <a:r>
              <a:rPr b="1" lang="en-GB"/>
              <a:t>mean</a:t>
            </a:r>
            <a:r>
              <a:rPr lang="en-GB"/>
              <a:t> lies towards the centre of the values in a </a:t>
            </a:r>
            <a:r>
              <a:rPr b="1" lang="en-GB"/>
              <a:t>data</a:t>
            </a:r>
            <a:r>
              <a:rPr lang="en-GB"/>
              <a:t> set (as the </a:t>
            </a:r>
            <a:r>
              <a:rPr b="1" lang="en-GB"/>
              <a:t>mean</a:t>
            </a:r>
            <a:r>
              <a:rPr lang="en-GB"/>
              <a:t> is a </a:t>
            </a:r>
            <a:r>
              <a:rPr b="1" lang="en-GB"/>
              <a:t>measure of central tendency</a:t>
            </a:r>
            <a:r>
              <a:rPr lang="en-GB"/>
              <a:t>)</a:t>
            </a:r>
            <a:br>
              <a:rPr lang="en-GB" sz="1800"/>
            </a:br>
            <a:endParaRPr sz="1800"/>
          </a:p>
        </p:txBody>
      </p:sp>
      <p:sp>
        <p:nvSpPr>
          <p:cNvPr id="918" name="Google Shape;918;p78"/>
          <p:cNvSpPr txBox="1"/>
          <p:nvPr>
            <p:ph idx="1" type="body"/>
          </p:nvPr>
        </p:nvSpPr>
        <p:spPr>
          <a:xfrm>
            <a:off x="324000" y="683100"/>
            <a:ext cx="71352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a:t>
            </a:r>
            <a:r>
              <a:rPr b="1" lang="en-GB"/>
              <a:t>mean</a:t>
            </a:r>
            <a:r>
              <a:rPr lang="en-GB"/>
              <a:t> can be a </a:t>
            </a:r>
            <a:r>
              <a:rPr lang="en-GB"/>
              <a:t>useful </a:t>
            </a:r>
            <a:r>
              <a:rPr lang="en-GB"/>
              <a:t>representation of the </a:t>
            </a:r>
            <a:r>
              <a:rPr b="1" lang="en-GB"/>
              <a:t>data</a:t>
            </a:r>
            <a:r>
              <a:rPr lang="en-GB"/>
              <a:t> set when:</a:t>
            </a:r>
            <a:endParaRPr/>
          </a:p>
        </p:txBody>
      </p:sp>
      <p:sp>
        <p:nvSpPr>
          <p:cNvPr id="919" name="Google Shape;919;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pic>
        <p:nvPicPr>
          <p:cNvPr id="925" name="Google Shape;925;p79"/>
          <p:cNvPicPr preferRelativeResize="0"/>
          <p:nvPr/>
        </p:nvPicPr>
        <p:blipFill>
          <a:blip r:embed="rId3">
            <a:alphaModFix/>
          </a:blip>
          <a:stretch>
            <a:fillRect/>
          </a:stretch>
        </p:blipFill>
        <p:spPr>
          <a:xfrm>
            <a:off x="709250" y="751244"/>
            <a:ext cx="4161524" cy="2807274"/>
          </a:xfrm>
          <a:prstGeom prst="rect">
            <a:avLst/>
          </a:prstGeom>
          <a:noFill/>
          <a:ln cap="flat" cmpd="sng" w="9525">
            <a:solidFill>
              <a:schemeClr val="dk1"/>
            </a:solidFill>
            <a:prstDash val="solid"/>
            <a:round/>
            <a:headEnd len="sm" w="sm" type="none"/>
            <a:tailEnd len="sm" w="sm" type="none"/>
          </a:ln>
        </p:spPr>
      </p:pic>
      <p:sp>
        <p:nvSpPr>
          <p:cNvPr id="926" name="Google Shape;926;p79"/>
          <p:cNvSpPr txBox="1"/>
          <p:nvPr>
            <p:ph idx="1" type="body"/>
          </p:nvPr>
        </p:nvSpPr>
        <p:spPr>
          <a:xfrm>
            <a:off x="5006750" y="759300"/>
            <a:ext cx="3813000" cy="136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This </a:t>
            </a:r>
            <a:r>
              <a:rPr b="1" lang="en-GB" sz="1800"/>
              <a:t>data</a:t>
            </a:r>
            <a:r>
              <a:rPr lang="en-GB" sz="1800"/>
              <a:t> set is represented on a dot plot.</a:t>
            </a:r>
            <a:endParaRPr sz="1800"/>
          </a:p>
          <a:p>
            <a:pPr indent="0" lvl="0" marL="0" rtl="0" algn="l">
              <a:spcBef>
                <a:spcPts val="1000"/>
              </a:spcBef>
              <a:spcAft>
                <a:spcPts val="1000"/>
              </a:spcAft>
              <a:buNone/>
            </a:pPr>
            <a:r>
              <a:rPr lang="en-GB" sz="1800"/>
              <a:t>The </a:t>
            </a:r>
            <a:r>
              <a:rPr b="1" lang="en-GB" sz="1800"/>
              <a:t>mean</a:t>
            </a:r>
            <a:r>
              <a:rPr lang="en-GB" sz="1800"/>
              <a:t> of this </a:t>
            </a:r>
            <a:r>
              <a:rPr b="1" lang="en-GB" sz="1800"/>
              <a:t>data</a:t>
            </a:r>
            <a:r>
              <a:rPr lang="en-GB" sz="1800"/>
              <a:t> set is approximately 42.4</a:t>
            </a:r>
            <a:endParaRPr sz="1800"/>
          </a:p>
        </p:txBody>
      </p:sp>
      <p:sp>
        <p:nvSpPr>
          <p:cNvPr id="927" name="Google Shape;927;p79"/>
          <p:cNvSpPr/>
          <p:nvPr/>
        </p:nvSpPr>
        <p:spPr>
          <a:xfrm>
            <a:off x="2429858" y="3276769"/>
            <a:ext cx="309000" cy="3090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8" name="Google Shape;928;p79"/>
          <p:cNvSpPr txBox="1"/>
          <p:nvPr>
            <p:ph idx="1" type="body"/>
          </p:nvPr>
        </p:nvSpPr>
        <p:spPr>
          <a:xfrm>
            <a:off x="5006750" y="2325718"/>
            <a:ext cx="38130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mean</a:t>
            </a:r>
            <a:r>
              <a:rPr lang="en-GB" sz="1800"/>
              <a:t> of 42.4 is a representative summary of this </a:t>
            </a:r>
            <a:r>
              <a:rPr b="1" lang="en-GB" sz="1800"/>
              <a:t>data</a:t>
            </a:r>
            <a:r>
              <a:rPr lang="en-GB" sz="1800"/>
              <a:t> set, as it both:</a:t>
            </a:r>
            <a:endParaRPr sz="1800"/>
          </a:p>
        </p:txBody>
      </p:sp>
      <p:sp>
        <p:nvSpPr>
          <p:cNvPr id="929" name="Google Shape;929;p79"/>
          <p:cNvSpPr/>
          <p:nvPr/>
        </p:nvSpPr>
        <p:spPr>
          <a:xfrm>
            <a:off x="2778921" y="3276769"/>
            <a:ext cx="309000" cy="3090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0" name="Google Shape;930;p79"/>
          <p:cNvSpPr txBox="1"/>
          <p:nvPr>
            <p:ph idx="1" type="body"/>
          </p:nvPr>
        </p:nvSpPr>
        <p:spPr>
          <a:xfrm>
            <a:off x="2295300" y="3617194"/>
            <a:ext cx="273300" cy="2772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GB" sz="1800"/>
              <a:t>42</a:t>
            </a:r>
            <a:endParaRPr sz="1800"/>
          </a:p>
        </p:txBody>
      </p:sp>
      <p:sp>
        <p:nvSpPr>
          <p:cNvPr id="931" name="Google Shape;931;p79"/>
          <p:cNvSpPr txBox="1"/>
          <p:nvPr>
            <p:ph idx="1" type="body"/>
          </p:nvPr>
        </p:nvSpPr>
        <p:spPr>
          <a:xfrm>
            <a:off x="2949175" y="3617194"/>
            <a:ext cx="273300" cy="2772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GB" sz="1800"/>
              <a:t>43</a:t>
            </a:r>
            <a:endParaRPr sz="1800"/>
          </a:p>
        </p:txBody>
      </p:sp>
      <p:cxnSp>
        <p:nvCxnSpPr>
          <p:cNvPr id="932" name="Google Shape;932;p79"/>
          <p:cNvCxnSpPr/>
          <p:nvPr/>
        </p:nvCxnSpPr>
        <p:spPr>
          <a:xfrm>
            <a:off x="2736185" y="751244"/>
            <a:ext cx="0" cy="2957700"/>
          </a:xfrm>
          <a:prstGeom prst="straightConnector1">
            <a:avLst/>
          </a:prstGeom>
          <a:noFill/>
          <a:ln cap="flat" cmpd="sng" w="38100">
            <a:solidFill>
              <a:schemeClr val="accent5"/>
            </a:solidFill>
            <a:prstDash val="dash"/>
            <a:round/>
            <a:headEnd len="med" w="med" type="none"/>
            <a:tailEnd len="med" w="med" type="none"/>
          </a:ln>
        </p:spPr>
      </p:cxnSp>
      <p:sp>
        <p:nvSpPr>
          <p:cNvPr id="933" name="Google Shape;933;p79"/>
          <p:cNvSpPr txBox="1"/>
          <p:nvPr>
            <p:ph idx="1" type="body"/>
          </p:nvPr>
        </p:nvSpPr>
        <p:spPr>
          <a:xfrm>
            <a:off x="5006750" y="3376150"/>
            <a:ext cx="3813000" cy="12330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Char char="●"/>
            </a:pPr>
            <a:r>
              <a:rPr lang="en-GB" sz="1800"/>
              <a:t>lies close to other common </a:t>
            </a:r>
            <a:r>
              <a:rPr b="1" lang="en-GB" sz="1800"/>
              <a:t>data</a:t>
            </a:r>
            <a:r>
              <a:rPr lang="en-GB" sz="1800"/>
              <a:t> points </a:t>
            </a:r>
            <a:endParaRPr sz="1800"/>
          </a:p>
          <a:p>
            <a:pPr indent="-342900" lvl="0" marL="457200" rtl="0" algn="l">
              <a:spcBef>
                <a:spcPts val="0"/>
              </a:spcBef>
              <a:spcAft>
                <a:spcPts val="0"/>
              </a:spcAft>
              <a:buSzPts val="1800"/>
              <a:buChar char="●"/>
            </a:pPr>
            <a:r>
              <a:rPr lang="en-GB" sz="1800"/>
              <a:t>is located close to the centre of the </a:t>
            </a:r>
            <a:r>
              <a:rPr b="1" lang="en-GB" sz="1800"/>
              <a:t>data</a:t>
            </a:r>
            <a:r>
              <a:rPr lang="en-GB" sz="1800"/>
              <a:t> set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80"/>
          <p:cNvSpPr txBox="1"/>
          <p:nvPr>
            <p:ph idx="1" type="body"/>
          </p:nvPr>
        </p:nvSpPr>
        <p:spPr>
          <a:xfrm>
            <a:off x="324000" y="2952250"/>
            <a:ext cx="40932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mean</a:t>
            </a:r>
            <a:r>
              <a:rPr lang="en-GB" sz="1800"/>
              <a:t> of 23.3 is a representative summary of the </a:t>
            </a:r>
            <a:r>
              <a:rPr b="1" lang="en-GB" sz="1800"/>
              <a:t>data</a:t>
            </a:r>
            <a:r>
              <a:rPr lang="en-GB" sz="1800"/>
              <a:t>, as its value is close to the centre of the </a:t>
            </a:r>
            <a:r>
              <a:rPr b="1" lang="en-GB" sz="1800"/>
              <a:t>data</a:t>
            </a:r>
            <a:r>
              <a:rPr lang="en-GB" sz="1800"/>
              <a:t> set.</a:t>
            </a:r>
            <a:endParaRPr sz="1800"/>
          </a:p>
        </p:txBody>
      </p:sp>
      <p:sp>
        <p:nvSpPr>
          <p:cNvPr id="939" name="Google Shape;939;p80"/>
          <p:cNvSpPr txBox="1"/>
          <p:nvPr>
            <p:ph idx="1" type="body"/>
          </p:nvPr>
        </p:nvSpPr>
        <p:spPr>
          <a:xfrm>
            <a:off x="324000" y="6714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mean</a:t>
            </a:r>
            <a:r>
              <a:rPr lang="en-GB" sz="1800"/>
              <a:t> can also be a useful summary if calculated from raw </a:t>
            </a:r>
            <a:r>
              <a:rPr b="1" lang="en-GB" sz="1800"/>
              <a:t>data</a:t>
            </a:r>
            <a:r>
              <a:rPr lang="en-GB" sz="1800"/>
              <a:t>.</a:t>
            </a:r>
            <a:endParaRPr sz="1800"/>
          </a:p>
        </p:txBody>
      </p:sp>
      <p:sp>
        <p:nvSpPr>
          <p:cNvPr id="940" name="Google Shape;94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graphicFrame>
        <p:nvGraphicFramePr>
          <p:cNvPr id="941" name="Google Shape;941;p80"/>
          <p:cNvGraphicFramePr/>
          <p:nvPr/>
        </p:nvGraphicFramePr>
        <p:xfrm>
          <a:off x="324000" y="1155125"/>
          <a:ext cx="3000000" cy="3000000"/>
        </p:xfrm>
        <a:graphic>
          <a:graphicData uri="http://schemas.openxmlformats.org/drawingml/2006/table">
            <a:tbl>
              <a:tblPr>
                <a:noFill/>
                <a:tableStyleId>{941F9DB1-44A7-4DC4-A338-CBB8A8854EF6}</a:tableStyleId>
              </a:tblPr>
              <a:tblGrid>
                <a:gridCol w="542925"/>
                <a:gridCol w="542925"/>
                <a:gridCol w="542925"/>
                <a:gridCol w="542925"/>
                <a:gridCol w="542925"/>
                <a:gridCol w="542925"/>
                <a:gridCol w="542925"/>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3+16+20+23+27+30+34}{7}\approx23.3&quot;&gt;&lt;mfrac&gt;&lt;mrow&gt;&lt;mn&gt;13&lt;/mn&gt;&lt;mo&gt;+&lt;/mo&gt;&lt;mn&gt;16&lt;/mn&gt;&lt;mo&gt;+&lt;/mo&gt;&lt;mn&gt;20&lt;/mn&gt;&lt;mo&gt;+&lt;/mo&gt;&lt;mn&gt;23&lt;/mn&gt;&lt;mo&gt;+&lt;/mo&gt;&lt;mn&gt;27&lt;/mn&gt;&lt;mo&gt;+&lt;/mo&gt;&lt;mn&gt;30&lt;/mn&gt;&lt;mo&gt;+&lt;/mo&gt;&lt;mn&gt;34&lt;/mn&gt;&lt;/mrow&gt;&lt;mn&gt;7&lt;/mn&gt;&lt;/mfrac&gt;&lt;mo&gt;≈&lt;/mo&gt;&lt;mn&gt;23.3&lt;/mn&gt;&lt;/math&gt;" id="942" name="Google Shape;942;p80" title="the fraction with numerator 13 plus 16 plus 20 plus 23 plus 27 plus 30 plus 34 and denominator 7 almost equals 23.3"/>
          <p:cNvPicPr preferRelativeResize="0"/>
          <p:nvPr/>
        </p:nvPicPr>
        <p:blipFill>
          <a:blip r:embed="rId3">
            <a:alphaModFix/>
          </a:blip>
          <a:stretch>
            <a:fillRect/>
          </a:stretch>
        </p:blipFill>
        <p:spPr>
          <a:xfrm>
            <a:off x="324000" y="2009553"/>
            <a:ext cx="3929842" cy="478800"/>
          </a:xfrm>
          <a:prstGeom prst="rect">
            <a:avLst/>
          </a:prstGeom>
          <a:noFill/>
          <a:ln>
            <a:noFill/>
          </a:ln>
        </p:spPr>
      </p:pic>
      <p:cxnSp>
        <p:nvCxnSpPr>
          <p:cNvPr id="943" name="Google Shape;943;p80"/>
          <p:cNvCxnSpPr/>
          <p:nvPr/>
        </p:nvCxnSpPr>
        <p:spPr>
          <a:xfrm>
            <a:off x="2239376" y="1515394"/>
            <a:ext cx="0" cy="365100"/>
          </a:xfrm>
          <a:prstGeom prst="straightConnector1">
            <a:avLst/>
          </a:prstGeom>
          <a:noFill/>
          <a:ln cap="flat" cmpd="sng" w="38100">
            <a:solidFill>
              <a:schemeClr val="accent5"/>
            </a:solidFill>
            <a:prstDash val="dash"/>
            <a:round/>
            <a:headEnd len="med" w="med" type="stealth"/>
            <a:tailEnd len="med" w="med" type="none"/>
          </a:ln>
        </p:spPr>
      </p:cxnSp>
      <p:sp>
        <p:nvSpPr>
          <p:cNvPr id="944" name="Google Shape;944;p80"/>
          <p:cNvSpPr/>
          <p:nvPr/>
        </p:nvSpPr>
        <p:spPr>
          <a:xfrm>
            <a:off x="3812750" y="2052194"/>
            <a:ext cx="507300" cy="390600"/>
          </a:xfrm>
          <a:prstGeom prst="roundRect">
            <a:avLst>
              <a:gd fmla="val 31215"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945" name="Google Shape;945;p80"/>
          <p:cNvGraphicFramePr/>
          <p:nvPr/>
        </p:nvGraphicFramePr>
        <p:xfrm>
          <a:off x="4824000" y="1147561"/>
          <a:ext cx="3000000" cy="3000000"/>
        </p:xfrm>
        <a:graphic>
          <a:graphicData uri="http://schemas.openxmlformats.org/drawingml/2006/table">
            <a:tbl>
              <a:tblPr>
                <a:noFill/>
                <a:tableStyleId>{941F9DB1-44A7-4DC4-A338-CBB8A8854EF6}</a:tableStyleId>
              </a:tblPr>
              <a:tblGrid>
                <a:gridCol w="399600"/>
                <a:gridCol w="399600"/>
                <a:gridCol w="399600"/>
                <a:gridCol w="399600"/>
                <a:gridCol w="399600"/>
                <a:gridCol w="399600"/>
                <a:gridCol w="399600"/>
                <a:gridCol w="399600"/>
                <a:gridCol w="399600"/>
                <a:gridCol w="399600"/>
              </a:tblGrid>
              <a:tr h="390525">
                <a:tc>
                  <a:txBody>
                    <a:bodyPr/>
                    <a:lstStyle/>
                    <a:p>
                      <a:pPr indent="0" lvl="0" marL="0" rtl="0" algn="ctr">
                        <a:spcBef>
                          <a:spcPts val="0"/>
                        </a:spcBef>
                        <a:spcAft>
                          <a:spcPts val="0"/>
                        </a:spcAft>
                        <a:buNone/>
                      </a:pPr>
                      <a:r>
                        <a:rPr lang="en-GB" sz="1800">
                          <a:latin typeface="Lexend"/>
                          <a:ea typeface="Lexend"/>
                          <a:cs typeface="Lexend"/>
                          <a:sym typeface="Lexend"/>
                        </a:rPr>
                        <a:t>49</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53</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53</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56</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56</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56</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77</a:t>
                      </a:r>
                      <a:endParaRPr sz="1800">
                        <a:latin typeface="Lexend"/>
                        <a:ea typeface="Lexend"/>
                        <a:cs typeface="Lexend"/>
                        <a:sym typeface="Lexend"/>
                      </a:endParaRPr>
                    </a:p>
                  </a:txBody>
                  <a:tcPr marT="91425" marB="91425" marR="0" marL="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946" name="Google Shape;946;p80"/>
          <p:cNvSpPr txBox="1"/>
          <p:nvPr>
            <p:ph idx="1" type="body"/>
          </p:nvPr>
        </p:nvSpPr>
        <p:spPr>
          <a:xfrm>
            <a:off x="4824000" y="2523336"/>
            <a:ext cx="3996000" cy="167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Whilst the </a:t>
            </a:r>
            <a:r>
              <a:rPr b="1" lang="en-GB" sz="1800"/>
              <a:t>mean</a:t>
            </a:r>
            <a:r>
              <a:rPr lang="en-GB" sz="1800"/>
              <a:t> of 55.2 isn’t as central, it is still close to groups of common </a:t>
            </a:r>
            <a:r>
              <a:rPr b="1" lang="en-GB" sz="1800"/>
              <a:t>data</a:t>
            </a:r>
            <a:r>
              <a:rPr lang="en-GB" sz="1800"/>
              <a:t> points: the 53 and 56. </a:t>
            </a:r>
            <a:endParaRPr sz="1800"/>
          </a:p>
          <a:p>
            <a:pPr indent="0" lvl="0" marL="0" rtl="0" algn="l">
              <a:spcBef>
                <a:spcPts val="1000"/>
              </a:spcBef>
              <a:spcAft>
                <a:spcPts val="1000"/>
              </a:spcAft>
              <a:buNone/>
            </a:pPr>
            <a:r>
              <a:rPr lang="en-GB" sz="1800"/>
              <a:t>55.2 is a representative summary of the </a:t>
            </a:r>
            <a:r>
              <a:rPr b="1" lang="en-GB" sz="1800"/>
              <a:t>data</a:t>
            </a:r>
            <a:r>
              <a:rPr lang="en-GB" sz="1800"/>
              <a:t> set.</a:t>
            </a:r>
            <a:endParaRPr sz="1800"/>
          </a:p>
        </p:txBody>
      </p:sp>
      <p:pic>
        <p:nvPicPr>
          <p:cNvPr descr="&lt;math xmlns=&quot;http://www.w3.org/1998/Math/MathML&quot; display=&quot;block&quot; data-is-equatio=&quot;1&quot; data-latex=&quot;\frac{552}{10}=55.2&quot;&gt;&lt;mfrac&gt;&lt;mn&gt;552&lt;/mn&gt;&lt;mn&gt;10&lt;/mn&gt;&lt;/mfrac&gt;&lt;mo&gt;=&lt;/mo&gt;&lt;mn&gt;55.2&lt;/mn&gt;&lt;/math&gt;" id="947" name="Google Shape;947;p80" title="552 over 10 equals 55.2"/>
          <p:cNvPicPr preferRelativeResize="0"/>
          <p:nvPr/>
        </p:nvPicPr>
        <p:blipFill>
          <a:blip r:embed="rId4">
            <a:alphaModFix/>
          </a:blip>
          <a:stretch>
            <a:fillRect/>
          </a:stretch>
        </p:blipFill>
        <p:spPr>
          <a:xfrm>
            <a:off x="6280588" y="1809386"/>
            <a:ext cx="1082825" cy="478800"/>
          </a:xfrm>
          <a:prstGeom prst="rect">
            <a:avLst/>
          </a:prstGeom>
          <a:noFill/>
          <a:ln>
            <a:noFill/>
          </a:ln>
        </p:spPr>
      </p:pic>
      <p:sp>
        <p:nvSpPr>
          <p:cNvPr id="948" name="Google Shape;948;p80"/>
          <p:cNvSpPr/>
          <p:nvPr/>
        </p:nvSpPr>
        <p:spPr>
          <a:xfrm>
            <a:off x="6913975" y="1869680"/>
            <a:ext cx="507300" cy="390600"/>
          </a:xfrm>
          <a:prstGeom prst="roundRect">
            <a:avLst>
              <a:gd fmla="val 31215"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49" name="Google Shape;949;p80"/>
          <p:cNvCxnSpPr/>
          <p:nvPr/>
        </p:nvCxnSpPr>
        <p:spPr>
          <a:xfrm>
            <a:off x="7221589" y="1582280"/>
            <a:ext cx="0" cy="365100"/>
          </a:xfrm>
          <a:prstGeom prst="straightConnector1">
            <a:avLst/>
          </a:prstGeom>
          <a:noFill/>
          <a:ln cap="flat" cmpd="sng" w="38100">
            <a:solidFill>
              <a:schemeClr val="accent5"/>
            </a:solidFill>
            <a:prstDash val="dash"/>
            <a:round/>
            <a:headEnd len="med" w="med" type="stealth"/>
            <a:tailEnd len="med" w="med" type="none"/>
          </a:ln>
        </p:spPr>
      </p:cxnSp>
      <p:cxnSp>
        <p:nvCxnSpPr>
          <p:cNvPr id="950" name="Google Shape;950;p80"/>
          <p:cNvCxnSpPr/>
          <p:nvPr/>
        </p:nvCxnSpPr>
        <p:spPr>
          <a:xfrm>
            <a:off x="4572000" y="1160391"/>
            <a:ext cx="0" cy="36654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81"/>
          <p:cNvSpPr txBox="1"/>
          <p:nvPr>
            <p:ph idx="1" type="body"/>
          </p:nvPr>
        </p:nvSpPr>
        <p:spPr>
          <a:xfrm>
            <a:off x="324000" y="683100"/>
            <a:ext cx="82377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This </a:t>
            </a:r>
            <a:r>
              <a:rPr b="1" lang="en-GB" sz="1800"/>
              <a:t>data</a:t>
            </a:r>
            <a:r>
              <a:rPr lang="en-GB" sz="1800"/>
              <a:t> set</a:t>
            </a:r>
            <a:r>
              <a:rPr lang="en-GB" sz="1800"/>
              <a:t> has one or two extremely large values.</a:t>
            </a:r>
            <a:endParaRPr sz="1800"/>
          </a:p>
        </p:txBody>
      </p:sp>
      <p:sp>
        <p:nvSpPr>
          <p:cNvPr id="956" name="Google Shape;956;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graphicFrame>
        <p:nvGraphicFramePr>
          <p:cNvPr id="957" name="Google Shape;957;p81"/>
          <p:cNvGraphicFramePr/>
          <p:nvPr/>
        </p:nvGraphicFramePr>
        <p:xfrm>
          <a:off x="709250" y="1010400"/>
          <a:ext cx="3000000" cy="3000000"/>
        </p:xfrm>
        <a:graphic>
          <a:graphicData uri="http://schemas.openxmlformats.org/drawingml/2006/table">
            <a:tbl>
              <a:tblPr>
                <a:noFill/>
                <a:tableStyleId>{941F9DB1-44A7-4DC4-A338-CBB8A8854EF6}</a:tableStyleId>
              </a:tblPr>
              <a:tblGrid>
                <a:gridCol w="542925"/>
                <a:gridCol w="542925"/>
                <a:gridCol w="542925"/>
                <a:gridCol w="542925"/>
                <a:gridCol w="542925"/>
                <a:gridCol w="542925"/>
                <a:gridCol w="542925"/>
                <a:gridCol w="542925"/>
                <a:gridCol w="542925"/>
                <a:gridCol w="542925"/>
                <a:gridCol w="542925"/>
                <a:gridCol w="542925"/>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49</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pic>
        <p:nvPicPr>
          <p:cNvPr id="958" name="Google Shape;958;p81"/>
          <p:cNvPicPr preferRelativeResize="0"/>
          <p:nvPr/>
        </p:nvPicPr>
        <p:blipFill>
          <a:blip r:embed="rId3">
            <a:alphaModFix/>
          </a:blip>
          <a:stretch>
            <a:fillRect/>
          </a:stretch>
        </p:blipFill>
        <p:spPr>
          <a:xfrm>
            <a:off x="709250" y="2433250"/>
            <a:ext cx="6515102" cy="819307"/>
          </a:xfrm>
          <a:prstGeom prst="rect">
            <a:avLst/>
          </a:prstGeom>
          <a:noFill/>
          <a:ln cap="flat" cmpd="sng" w="9525">
            <a:solidFill>
              <a:schemeClr val="dk1"/>
            </a:solidFill>
            <a:prstDash val="solid"/>
            <a:round/>
            <a:headEnd len="sm" w="sm" type="none"/>
            <a:tailEnd len="sm" w="sm" type="none"/>
          </a:ln>
        </p:spPr>
      </p:pic>
      <p:sp>
        <p:nvSpPr>
          <p:cNvPr id="959" name="Google Shape;959;p81"/>
          <p:cNvSpPr txBox="1"/>
          <p:nvPr>
            <p:ph idx="1" type="body"/>
          </p:nvPr>
        </p:nvSpPr>
        <p:spPr>
          <a:xfrm>
            <a:off x="324000" y="3568165"/>
            <a:ext cx="8110800" cy="104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The dot plot represents the same </a:t>
            </a:r>
            <a:r>
              <a:rPr b="1" lang="en-GB" sz="1800"/>
              <a:t>data</a:t>
            </a:r>
            <a:r>
              <a:rPr lang="en-GB" sz="1800"/>
              <a:t> set</a:t>
            </a:r>
            <a:r>
              <a:rPr lang="en-GB" sz="1800"/>
              <a:t> as the list of numbers… But the number 49 is so extreme, it couldn’t even fit on the plot!</a:t>
            </a:r>
            <a:endParaRPr sz="1800"/>
          </a:p>
          <a:p>
            <a:pPr indent="0" lvl="0" marL="0" rtl="0" algn="l">
              <a:spcBef>
                <a:spcPts val="1000"/>
              </a:spcBef>
              <a:spcAft>
                <a:spcPts val="1000"/>
              </a:spcAft>
              <a:buNone/>
            </a:pPr>
            <a:r>
              <a:rPr lang="en-GB" sz="1800"/>
              <a:t>The </a:t>
            </a:r>
            <a:r>
              <a:rPr b="1" lang="en-GB" sz="1800"/>
              <a:t>mean</a:t>
            </a:r>
            <a:r>
              <a:rPr lang="en-GB" sz="1800"/>
              <a:t> is neither central nor anywhere near many </a:t>
            </a:r>
            <a:r>
              <a:rPr b="1" lang="en-GB" sz="1800"/>
              <a:t>data</a:t>
            </a:r>
            <a:r>
              <a:rPr lang="en-GB" sz="1800"/>
              <a:t> points.</a:t>
            </a:r>
            <a:endParaRPr sz="1800"/>
          </a:p>
        </p:txBody>
      </p:sp>
      <p:pic>
        <p:nvPicPr>
          <p:cNvPr descr="&lt;math xmlns=&quot;http://www.w3.org/1998/Math/MathML&quot; display=&quot;block&quot; data-is-equatio=&quot;1&quot; data-latex=&quot;\frac{7+7+8+8+9+10+11+11+12+14+27+49}{12}=\frac{173}{12}\approx14.4&quot;&gt;&lt;mfrac&gt;&lt;mrow&gt;&lt;mn&gt;7&lt;/mn&gt;&lt;mo&gt;+&lt;/mo&gt;&lt;mn&gt;7&lt;/mn&gt;&lt;mo&gt;+&lt;/mo&gt;&lt;mn&gt;8&lt;/mn&gt;&lt;mo&gt;+&lt;/mo&gt;&lt;mn&gt;8&lt;/mn&gt;&lt;mo&gt;+&lt;/mo&gt;&lt;mn&gt;9&lt;/mn&gt;&lt;mo&gt;+&lt;/mo&gt;&lt;mn&gt;10&lt;/mn&gt;&lt;mo&gt;+&lt;/mo&gt;&lt;mn&gt;11&lt;/mn&gt;&lt;mo&gt;+&lt;/mo&gt;&lt;mn&gt;11&lt;/mn&gt;&lt;mo&gt;+&lt;/mo&gt;&lt;mn&gt;12&lt;/mn&gt;&lt;mo&gt;+&lt;/mo&gt;&lt;mn&gt;14&lt;/mn&gt;&lt;mo&gt;+&lt;/mo&gt;&lt;mn&gt;27&lt;/mn&gt;&lt;mo&gt;+&lt;/mo&gt;&lt;mn&gt;49&lt;/mn&gt;&lt;/mrow&gt;&lt;mn&gt;12&lt;/mn&gt;&lt;/mfrac&gt;&lt;mo&gt;=&lt;/mo&gt;&lt;mfrac&gt;&lt;mn&gt;173&lt;/mn&gt;&lt;mn&gt;12&lt;/mn&gt;&lt;/mfrac&gt;&lt;mo&gt;≈&lt;/mo&gt;&lt;mn&gt;14.4&lt;/mn&gt;&lt;/math&gt;" id="960" name="Google Shape;960;p81" title="the fraction with numerator 7 plus 7 plus 8 plus 8 plus 9 plus 10 plus 11 plus 11 plus 12 plus 14 plus 27 plus 49 and denominator 12 equals 173 over 12 almost equals 14.4"/>
          <p:cNvPicPr preferRelativeResize="0"/>
          <p:nvPr/>
        </p:nvPicPr>
        <p:blipFill>
          <a:blip r:embed="rId4">
            <a:alphaModFix/>
          </a:blip>
          <a:stretch>
            <a:fillRect/>
          </a:stretch>
        </p:blipFill>
        <p:spPr>
          <a:xfrm>
            <a:off x="709250" y="1707437"/>
            <a:ext cx="6530095" cy="478800"/>
          </a:xfrm>
          <a:prstGeom prst="rect">
            <a:avLst/>
          </a:prstGeom>
          <a:noFill/>
          <a:ln>
            <a:noFill/>
          </a:ln>
        </p:spPr>
      </p:pic>
      <p:cxnSp>
        <p:nvCxnSpPr>
          <p:cNvPr id="961" name="Google Shape;961;p81"/>
          <p:cNvCxnSpPr/>
          <p:nvPr/>
        </p:nvCxnSpPr>
        <p:spPr>
          <a:xfrm>
            <a:off x="6138498" y="1400914"/>
            <a:ext cx="0" cy="365100"/>
          </a:xfrm>
          <a:prstGeom prst="straightConnector1">
            <a:avLst/>
          </a:prstGeom>
          <a:noFill/>
          <a:ln cap="flat" cmpd="sng" w="38100">
            <a:solidFill>
              <a:schemeClr val="accent5"/>
            </a:solidFill>
            <a:prstDash val="dash"/>
            <a:round/>
            <a:headEnd len="med" w="med" type="stealth"/>
            <a:tailEnd len="med" w="med" type="none"/>
          </a:ln>
        </p:spPr>
      </p:cxnSp>
      <p:sp>
        <p:nvSpPr>
          <p:cNvPr id="962" name="Google Shape;962;p81"/>
          <p:cNvSpPr/>
          <p:nvPr/>
        </p:nvSpPr>
        <p:spPr>
          <a:xfrm>
            <a:off x="6796332" y="1741901"/>
            <a:ext cx="507300" cy="390600"/>
          </a:xfrm>
          <a:prstGeom prst="roundRect">
            <a:avLst>
              <a:gd fmla="val 31215"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63" name="Google Shape;963;p81"/>
          <p:cNvCxnSpPr/>
          <p:nvPr/>
        </p:nvCxnSpPr>
        <p:spPr>
          <a:xfrm>
            <a:off x="3152948" y="3004789"/>
            <a:ext cx="0" cy="365100"/>
          </a:xfrm>
          <a:prstGeom prst="straightConnector1">
            <a:avLst/>
          </a:prstGeom>
          <a:noFill/>
          <a:ln cap="flat" cmpd="sng" w="38100">
            <a:solidFill>
              <a:schemeClr val="accent4"/>
            </a:solidFill>
            <a:prstDash val="dash"/>
            <a:round/>
            <a:headEnd len="med" w="med" type="stealth"/>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82"/>
          <p:cNvSpPr txBox="1"/>
          <p:nvPr>
            <p:ph idx="1" type="body"/>
          </p:nvPr>
        </p:nvSpPr>
        <p:spPr>
          <a:xfrm>
            <a:off x="324000" y="683100"/>
            <a:ext cx="82377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In which of these dot plots would the </a:t>
            </a:r>
            <a:r>
              <a:rPr b="1" lang="en-GB" sz="1800"/>
              <a:t>mean</a:t>
            </a:r>
            <a:r>
              <a:rPr lang="en-GB" sz="1800"/>
              <a:t> be a representative average?</a:t>
            </a:r>
            <a:endParaRPr sz="1800"/>
          </a:p>
        </p:txBody>
      </p:sp>
      <p:sp>
        <p:nvSpPr>
          <p:cNvPr id="969" name="Google Shape;969;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Dealing with an unrepresentative mean</a:t>
            </a:r>
            <a:endParaRPr/>
          </a:p>
        </p:txBody>
      </p:sp>
      <p:pic>
        <p:nvPicPr>
          <p:cNvPr descr="&lt;math xmlns=&quot;http://www.w3.org/1998/Math/MathML&quot; data-is-equatio=&quot;1&quot; data-equatio-url=&quot;https://equatio-api.texthelp.com/desmos/get/25-10-2023/74dec4b0-4fdc-4e77-8a6e-997c2d83b4a0&quot; data-equatio-type=&quot;desmos&quot;&gt;&lt;mglyph src=&quot;https://equatio-api.texthelp.com/desmos/get/25-10-2023/74dec4b0-4fdc-4e77-8a6e-997c2d83b4a0&quot; alt=&quot;Equatio Desmos Graph&quot;/&gt;&lt;/math&gt;" id="970" name="Google Shape;970;p82" title="Equatio Desmos Graph"/>
          <p:cNvPicPr preferRelativeResize="0"/>
          <p:nvPr/>
        </p:nvPicPr>
        <p:blipFill rotWithShape="1">
          <a:blip r:embed="rId3">
            <a:alphaModFix/>
          </a:blip>
          <a:srcRect b="15166" l="5891" r="52819" t="54494"/>
          <a:stretch/>
        </p:blipFill>
        <p:spPr>
          <a:xfrm>
            <a:off x="767825" y="1610042"/>
            <a:ext cx="1959726" cy="1080000"/>
          </a:xfrm>
          <a:prstGeom prst="rect">
            <a:avLst/>
          </a:prstGeom>
          <a:noFill/>
          <a:ln cap="flat" cmpd="sng" w="9525">
            <a:solidFill>
              <a:schemeClr val="dk1"/>
            </a:solidFill>
            <a:prstDash val="solid"/>
            <a:round/>
            <a:headEnd len="sm" w="sm" type="none"/>
            <a:tailEnd len="sm" w="sm" type="none"/>
          </a:ln>
        </p:spPr>
      </p:pic>
      <p:pic>
        <p:nvPicPr>
          <p:cNvPr descr="&lt;math xmlns=&quot;http://www.w3.org/1998/Math/MathML&quot; data-is-equatio=&quot;1&quot; data-equatio-url=&quot;https://equatio-api.texthelp.com/desmos/get/25-10-2023/dbeaa527-708c-4ea0-a3dc-b28b4c974d29&quot; data-equatio-type=&quot;desmos&quot;&gt;&lt;mglyph src=&quot;https://equatio-api.texthelp.com/desmos/get/25-10-2023/dbeaa527-708c-4ea0-a3dc-b28b4c974d29&quot; alt=&quot;Equatio Desmos Graph&quot;/&gt;&lt;/math&gt;" id="971" name="Google Shape;971;p82" title="Equatio Desmos Graph"/>
          <p:cNvPicPr preferRelativeResize="0"/>
          <p:nvPr/>
        </p:nvPicPr>
        <p:blipFill rotWithShape="1">
          <a:blip r:embed="rId4">
            <a:alphaModFix/>
          </a:blip>
          <a:srcRect b="12091" l="1915" r="32034" t="34072"/>
          <a:stretch/>
        </p:blipFill>
        <p:spPr>
          <a:xfrm>
            <a:off x="831162" y="3212725"/>
            <a:ext cx="2602626" cy="1591050"/>
          </a:xfrm>
          <a:prstGeom prst="rect">
            <a:avLst/>
          </a:prstGeom>
          <a:noFill/>
          <a:ln cap="flat" cmpd="sng" w="9525">
            <a:solidFill>
              <a:schemeClr val="dk1"/>
            </a:solidFill>
            <a:prstDash val="solid"/>
            <a:round/>
            <a:headEnd len="sm" w="sm" type="none"/>
            <a:tailEnd len="sm" w="sm" type="none"/>
          </a:ln>
        </p:spPr>
      </p:pic>
      <p:pic>
        <p:nvPicPr>
          <p:cNvPr descr="&lt;math xmlns=&quot;http://www.w3.org/1998/Math/MathML&quot; data-is-equatio=&quot;1&quot; data-equatio-url=&quot;https://equatio-api.texthelp.com/desmos/get/25-10-2023/c5d0955a-66ba-4a2d-a7e1-5e097cccbab0&quot; data-equatio-type=&quot;desmos&quot;&gt;&lt;mglyph src=&quot;https://equatio-api.texthelp.com/desmos/get/25-10-2023/c5d0955a-66ba-4a2d-a7e1-5e097cccbab0&quot; alt=&quot;Equatio Desmos Graph&quot;/&gt;&lt;/math&gt;" id="972" name="Google Shape;972;p82" title="Equatio Desmos Graph"/>
          <p:cNvPicPr preferRelativeResize="0"/>
          <p:nvPr/>
        </p:nvPicPr>
        <p:blipFill rotWithShape="1">
          <a:blip r:embed="rId5">
            <a:alphaModFix/>
          </a:blip>
          <a:srcRect b="0" l="12905" r="37985" t="38867"/>
          <a:stretch/>
        </p:blipFill>
        <p:spPr>
          <a:xfrm>
            <a:off x="5035572" y="3018200"/>
            <a:ext cx="1928800" cy="1800799"/>
          </a:xfrm>
          <a:prstGeom prst="rect">
            <a:avLst/>
          </a:prstGeom>
          <a:noFill/>
          <a:ln cap="flat" cmpd="sng" w="9525">
            <a:solidFill>
              <a:schemeClr val="dk1"/>
            </a:solidFill>
            <a:prstDash val="solid"/>
            <a:round/>
            <a:headEnd len="sm" w="sm" type="none"/>
            <a:tailEnd len="sm" w="sm" type="none"/>
          </a:ln>
        </p:spPr>
      </p:pic>
      <p:pic>
        <p:nvPicPr>
          <p:cNvPr descr="&lt;math xmlns=&quot;http://www.w3.org/1998/Math/MathML&quot; data-is-equatio=&quot;1&quot; data-equatio-url=&quot;https://equatio-api.texthelp.com/desmos/get/25-10-2023/48e30813-c63c-4731-b28f-8ba6b04d69d5&quot; data-equatio-type=&quot;desmos&quot;&gt;&lt;mglyph src=&quot;https://equatio-api.texthelp.com/desmos/get/25-10-2023/48e30813-c63c-4731-b28f-8ba6b04d69d5&quot; alt=&quot;Equatio Desmos Graph&quot;/&gt;&lt;/math&gt;" id="973" name="Google Shape;973;p82" title="Equatio Desmos Graph"/>
          <p:cNvPicPr preferRelativeResize="0"/>
          <p:nvPr/>
        </p:nvPicPr>
        <p:blipFill rotWithShape="1">
          <a:blip r:embed="rId6">
            <a:alphaModFix/>
          </a:blip>
          <a:srcRect b="16028" l="4780" r="0" t="53649"/>
          <a:stretch/>
        </p:blipFill>
        <p:spPr>
          <a:xfrm>
            <a:off x="3875525" y="1454404"/>
            <a:ext cx="4944476" cy="1180850"/>
          </a:xfrm>
          <a:prstGeom prst="rect">
            <a:avLst/>
          </a:prstGeom>
          <a:noFill/>
          <a:ln cap="flat" cmpd="sng" w="9525">
            <a:solidFill>
              <a:schemeClr val="dk1"/>
            </a:solidFill>
            <a:prstDash val="solid"/>
            <a:round/>
            <a:headEnd len="sm" w="sm" type="none"/>
            <a:tailEnd len="sm" w="sm" type="none"/>
          </a:ln>
        </p:spPr>
      </p:pic>
      <p:grpSp>
        <p:nvGrpSpPr>
          <p:cNvPr id="974" name="Google Shape;974;p82"/>
          <p:cNvGrpSpPr/>
          <p:nvPr/>
        </p:nvGrpSpPr>
        <p:grpSpPr>
          <a:xfrm>
            <a:off x="323997" y="1308592"/>
            <a:ext cx="386288" cy="386288"/>
            <a:chOff x="1020916" y="1442088"/>
            <a:chExt cx="457200" cy="457200"/>
          </a:xfrm>
        </p:grpSpPr>
        <p:pic>
          <p:nvPicPr>
            <p:cNvPr id="975" name="Google Shape;975;p82"/>
            <p:cNvPicPr preferRelativeResize="0"/>
            <p:nvPr/>
          </p:nvPicPr>
          <p:blipFill>
            <a:blip r:embed="rId7">
              <a:alphaModFix/>
            </a:blip>
            <a:stretch>
              <a:fillRect/>
            </a:stretch>
          </p:blipFill>
          <p:spPr>
            <a:xfrm>
              <a:off x="1020916" y="1442088"/>
              <a:ext cx="457200" cy="457200"/>
            </a:xfrm>
            <a:prstGeom prst="rect">
              <a:avLst/>
            </a:prstGeom>
            <a:noFill/>
            <a:ln>
              <a:noFill/>
            </a:ln>
          </p:spPr>
        </p:pic>
        <p:sp>
          <p:nvSpPr>
            <p:cNvPr id="976" name="Google Shape;976;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977" name="Google Shape;977;p82"/>
          <p:cNvGrpSpPr/>
          <p:nvPr/>
        </p:nvGrpSpPr>
        <p:grpSpPr>
          <a:xfrm>
            <a:off x="3371985" y="1232392"/>
            <a:ext cx="386288" cy="386288"/>
            <a:chOff x="1020916" y="1442088"/>
            <a:chExt cx="457200" cy="457200"/>
          </a:xfrm>
        </p:grpSpPr>
        <p:pic>
          <p:nvPicPr>
            <p:cNvPr id="978" name="Google Shape;978;p82"/>
            <p:cNvPicPr preferRelativeResize="0"/>
            <p:nvPr/>
          </p:nvPicPr>
          <p:blipFill>
            <a:blip r:embed="rId7">
              <a:alphaModFix/>
            </a:blip>
            <a:stretch>
              <a:fillRect/>
            </a:stretch>
          </p:blipFill>
          <p:spPr>
            <a:xfrm>
              <a:off x="1020916" y="1442088"/>
              <a:ext cx="457200" cy="457200"/>
            </a:xfrm>
            <a:prstGeom prst="rect">
              <a:avLst/>
            </a:prstGeom>
            <a:noFill/>
            <a:ln>
              <a:noFill/>
            </a:ln>
          </p:spPr>
        </p:pic>
        <p:sp>
          <p:nvSpPr>
            <p:cNvPr id="979" name="Google Shape;979;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980" name="Google Shape;980;p82"/>
          <p:cNvGrpSpPr/>
          <p:nvPr/>
        </p:nvGrpSpPr>
        <p:grpSpPr>
          <a:xfrm>
            <a:off x="323985" y="3019588"/>
            <a:ext cx="386288" cy="386288"/>
            <a:chOff x="1020916" y="1442088"/>
            <a:chExt cx="457200" cy="457200"/>
          </a:xfrm>
        </p:grpSpPr>
        <p:pic>
          <p:nvPicPr>
            <p:cNvPr id="981" name="Google Shape;981;p82"/>
            <p:cNvPicPr preferRelativeResize="0"/>
            <p:nvPr/>
          </p:nvPicPr>
          <p:blipFill>
            <a:blip r:embed="rId7">
              <a:alphaModFix/>
            </a:blip>
            <a:stretch>
              <a:fillRect/>
            </a:stretch>
          </p:blipFill>
          <p:spPr>
            <a:xfrm>
              <a:off x="1020916" y="1442088"/>
              <a:ext cx="457200" cy="457200"/>
            </a:xfrm>
            <a:prstGeom prst="rect">
              <a:avLst/>
            </a:prstGeom>
            <a:noFill/>
            <a:ln>
              <a:noFill/>
            </a:ln>
          </p:spPr>
        </p:pic>
        <p:sp>
          <p:nvSpPr>
            <p:cNvPr id="982" name="Google Shape;982;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983" name="Google Shape;983;p82"/>
          <p:cNvGrpSpPr/>
          <p:nvPr/>
        </p:nvGrpSpPr>
        <p:grpSpPr>
          <a:xfrm>
            <a:off x="4319994" y="3123051"/>
            <a:ext cx="386288" cy="386288"/>
            <a:chOff x="1020916" y="1442088"/>
            <a:chExt cx="457200" cy="457200"/>
          </a:xfrm>
        </p:grpSpPr>
        <p:pic>
          <p:nvPicPr>
            <p:cNvPr id="984" name="Google Shape;984;p82"/>
            <p:cNvPicPr preferRelativeResize="0"/>
            <p:nvPr/>
          </p:nvPicPr>
          <p:blipFill>
            <a:blip r:embed="rId7">
              <a:alphaModFix/>
            </a:blip>
            <a:stretch>
              <a:fillRect/>
            </a:stretch>
          </p:blipFill>
          <p:spPr>
            <a:xfrm>
              <a:off x="1020916" y="1442088"/>
              <a:ext cx="457200" cy="457200"/>
            </a:xfrm>
            <a:prstGeom prst="rect">
              <a:avLst/>
            </a:prstGeom>
            <a:noFill/>
            <a:ln>
              <a:noFill/>
            </a:ln>
          </p:spPr>
        </p:pic>
        <p:sp>
          <p:nvSpPr>
            <p:cNvPr id="985" name="Google Shape;985;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986" name="Google Shape;986;p82"/>
          <p:cNvPicPr preferRelativeResize="0"/>
          <p:nvPr/>
        </p:nvPicPr>
        <p:blipFill>
          <a:blip r:embed="rId8">
            <a:alphaModFix/>
          </a:blip>
          <a:stretch>
            <a:fillRect/>
          </a:stretch>
        </p:blipFill>
        <p:spPr>
          <a:xfrm>
            <a:off x="319146" y="1975267"/>
            <a:ext cx="396000" cy="419100"/>
          </a:xfrm>
          <a:prstGeom prst="rect">
            <a:avLst/>
          </a:prstGeom>
          <a:noFill/>
          <a:ln>
            <a:noFill/>
          </a:ln>
        </p:spPr>
      </p:pic>
      <p:pic>
        <p:nvPicPr>
          <p:cNvPr id="987" name="Google Shape;987;p82"/>
          <p:cNvPicPr preferRelativeResize="0"/>
          <p:nvPr/>
        </p:nvPicPr>
        <p:blipFill>
          <a:blip r:embed="rId8">
            <a:alphaModFix/>
          </a:blip>
          <a:stretch>
            <a:fillRect/>
          </a:stretch>
        </p:blipFill>
        <p:spPr>
          <a:xfrm>
            <a:off x="4374005" y="3736300"/>
            <a:ext cx="396000" cy="419100"/>
          </a:xfrm>
          <a:prstGeom prst="rect">
            <a:avLst/>
          </a:prstGeom>
          <a:noFill/>
          <a:ln>
            <a:noFill/>
          </a:ln>
        </p:spPr>
      </p:pic>
      <p:pic>
        <p:nvPicPr>
          <p:cNvPr id="988" name="Google Shape;988;p82"/>
          <p:cNvPicPr preferRelativeResize="0"/>
          <p:nvPr/>
        </p:nvPicPr>
        <p:blipFill>
          <a:blip r:embed="rId9">
            <a:alphaModFix/>
          </a:blip>
          <a:stretch>
            <a:fillRect/>
          </a:stretch>
        </p:blipFill>
        <p:spPr>
          <a:xfrm>
            <a:off x="3357825" y="1827496"/>
            <a:ext cx="396000" cy="419760"/>
          </a:xfrm>
          <a:prstGeom prst="rect">
            <a:avLst/>
          </a:prstGeom>
          <a:noFill/>
          <a:ln>
            <a:noFill/>
          </a:ln>
        </p:spPr>
      </p:pic>
      <p:pic>
        <p:nvPicPr>
          <p:cNvPr id="989" name="Google Shape;989;p82"/>
          <p:cNvPicPr preferRelativeResize="0"/>
          <p:nvPr/>
        </p:nvPicPr>
        <p:blipFill>
          <a:blip r:embed="rId9">
            <a:alphaModFix/>
          </a:blip>
          <a:stretch>
            <a:fillRect/>
          </a:stretch>
        </p:blipFill>
        <p:spPr>
          <a:xfrm>
            <a:off x="319125" y="3659767"/>
            <a:ext cx="396000" cy="419760"/>
          </a:xfrm>
          <a:prstGeom prst="rect">
            <a:avLst/>
          </a:prstGeom>
          <a:noFill/>
          <a:ln>
            <a:noFill/>
          </a:ln>
        </p:spPr>
      </p:pic>
      <p:sp>
        <p:nvSpPr>
          <p:cNvPr id="990" name="Google Shape;990;p82"/>
          <p:cNvSpPr txBox="1"/>
          <p:nvPr>
            <p:ph idx="1" type="body"/>
          </p:nvPr>
        </p:nvSpPr>
        <p:spPr>
          <a:xfrm>
            <a:off x="767825" y="1332816"/>
            <a:ext cx="1959600" cy="277200"/>
          </a:xfrm>
          <a:prstGeom prst="rect">
            <a:avLst/>
          </a:prstGeom>
        </p:spPr>
        <p:txBody>
          <a:bodyPr anchorCtr="0" anchor="t" bIns="0" lIns="0" spcFirstLastPara="1" rIns="0" wrap="square" tIns="0">
            <a:spAutoFit/>
          </a:bodyPr>
          <a:lstStyle/>
          <a:p>
            <a:pPr indent="0" lvl="0" marL="0" rtl="0" algn="ctr">
              <a:spcBef>
                <a:spcPts val="0"/>
              </a:spcBef>
              <a:spcAft>
                <a:spcPts val="1000"/>
              </a:spcAft>
              <a:buNone/>
            </a:pPr>
            <a:r>
              <a:rPr b="1" lang="en-GB" sz="1800"/>
              <a:t>mean</a:t>
            </a:r>
            <a:r>
              <a:rPr lang="en-GB" sz="1800"/>
              <a:t> = 4.5</a:t>
            </a:r>
            <a:endParaRPr sz="1800"/>
          </a:p>
        </p:txBody>
      </p:sp>
      <p:sp>
        <p:nvSpPr>
          <p:cNvPr id="991" name="Google Shape;991;p82"/>
          <p:cNvSpPr txBox="1"/>
          <p:nvPr>
            <p:ph idx="1" type="body"/>
          </p:nvPr>
        </p:nvSpPr>
        <p:spPr>
          <a:xfrm>
            <a:off x="3880375" y="1175679"/>
            <a:ext cx="2409600" cy="277200"/>
          </a:xfrm>
          <a:prstGeom prst="rect">
            <a:avLst/>
          </a:prstGeom>
        </p:spPr>
        <p:txBody>
          <a:bodyPr anchorCtr="0" anchor="t" bIns="0" lIns="0" spcFirstLastPara="1" rIns="0" wrap="square" tIns="0">
            <a:spAutoFit/>
          </a:bodyPr>
          <a:lstStyle/>
          <a:p>
            <a:pPr indent="0" lvl="0" marL="0" rtl="0" algn="ctr">
              <a:spcBef>
                <a:spcPts val="0"/>
              </a:spcBef>
              <a:spcAft>
                <a:spcPts val="1000"/>
              </a:spcAft>
              <a:buNone/>
            </a:pPr>
            <a:r>
              <a:rPr b="1" lang="en-GB" sz="1800"/>
              <a:t>mean</a:t>
            </a:r>
            <a:r>
              <a:rPr lang="en-GB" sz="1800"/>
              <a:t> = 4.8</a:t>
            </a:r>
            <a:endParaRPr sz="1800"/>
          </a:p>
        </p:txBody>
      </p:sp>
      <p:pic>
        <p:nvPicPr>
          <p:cNvPr descr="&lt;math xmlns=&quot;http://www.w3.org/1998/Math/MathML&quot; data-is-equatio=&quot;1&quot; data-equatio-url=&quot;https://equatio-api.texthelp.com/desmos/get/25-10-2023/48e30813-c63c-4731-b28f-8ba6b04d69d5&quot; data-equatio-type=&quot;desmos&quot;&gt;&lt;mglyph src=&quot;https://equatio-api.texthelp.com/desmos/get/25-10-2023/48e30813-c63c-4731-b28f-8ba6b04d69d5&quot; alt=&quot;Equatio Desmos Graph&quot;/&gt;&lt;/math&gt;" id="992" name="Google Shape;992;p82" title="Equatio Desmos Graph"/>
          <p:cNvPicPr preferRelativeResize="0"/>
          <p:nvPr/>
        </p:nvPicPr>
        <p:blipFill rotWithShape="1">
          <a:blip r:embed="rId6">
            <a:alphaModFix/>
          </a:blip>
          <a:srcRect b="29448" l="50903" r="24741" t="54797"/>
          <a:stretch/>
        </p:blipFill>
        <p:spPr>
          <a:xfrm>
            <a:off x="4712998" y="1499171"/>
            <a:ext cx="1264674" cy="613500"/>
          </a:xfrm>
          <a:prstGeom prst="rect">
            <a:avLst/>
          </a:prstGeom>
          <a:noFill/>
          <a:ln>
            <a:noFill/>
          </a:ln>
        </p:spPr>
      </p:pic>
      <p:pic>
        <p:nvPicPr>
          <p:cNvPr descr="&lt;math xmlns=&quot;http://www.w3.org/1998/Math/MathML&quot; data-is-equatio=&quot;1&quot; data-equatio-url=&quot;https://equatio-api.texthelp.com/desmos/get/25-10-2023/48e30813-c63c-4731-b28f-8ba6b04d69d5&quot; data-equatio-type=&quot;desmos&quot;&gt;&lt;mglyph src=&quot;https://equatio-api.texthelp.com/desmos/get/25-10-2023/48e30813-c63c-4731-b28f-8ba6b04d69d5&quot; alt=&quot;Equatio Desmos Graph&quot;/&gt;&lt;/math&gt;" id="993" name="Google Shape;993;p82" title="Equatio Desmos Graph"/>
          <p:cNvPicPr preferRelativeResize="0"/>
          <p:nvPr/>
        </p:nvPicPr>
        <p:blipFill rotWithShape="1">
          <a:blip r:embed="rId6">
            <a:alphaModFix/>
          </a:blip>
          <a:srcRect b="38084" l="56489" r="24742" t="54797"/>
          <a:stretch/>
        </p:blipFill>
        <p:spPr>
          <a:xfrm>
            <a:off x="5003125" y="2112679"/>
            <a:ext cx="974550" cy="277200"/>
          </a:xfrm>
          <a:prstGeom prst="rect">
            <a:avLst/>
          </a:prstGeom>
          <a:noFill/>
          <a:ln>
            <a:noFill/>
          </a:ln>
        </p:spPr>
      </p:pic>
      <p:pic>
        <p:nvPicPr>
          <p:cNvPr descr="&lt;math xmlns=&quot;http://www.w3.org/1998/Math/MathML&quot; data-is-equatio=&quot;1&quot; data-equatio-url=&quot;https://equatio-api.texthelp.com/desmos/get/25-10-2023/dbeaa527-708c-4ea0-a3dc-b28b4c974d29&quot; data-equatio-type=&quot;desmos&quot;&gt;&lt;mglyph src=&quot;https://equatio-api.texthelp.com/desmos/get/25-10-2023/dbeaa527-708c-4ea0-a3dc-b28b4c974d29&quot; alt=&quot;Equatio Desmos Graph&quot;/&gt;&lt;/math&gt;" id="994" name="Google Shape;994;p82" title="Equatio Desmos Graph"/>
          <p:cNvPicPr preferRelativeResize="0"/>
          <p:nvPr/>
        </p:nvPicPr>
        <p:blipFill rotWithShape="1">
          <a:blip r:embed="rId4">
            <a:alphaModFix/>
          </a:blip>
          <a:srcRect b="38964" l="21030" r="70884" t="48458"/>
          <a:stretch/>
        </p:blipFill>
        <p:spPr>
          <a:xfrm>
            <a:off x="1584313" y="4214875"/>
            <a:ext cx="318600" cy="371700"/>
          </a:xfrm>
          <a:prstGeom prst="rect">
            <a:avLst/>
          </a:prstGeom>
          <a:noFill/>
          <a:ln>
            <a:noFill/>
          </a:ln>
        </p:spPr>
      </p:pic>
      <p:pic>
        <p:nvPicPr>
          <p:cNvPr descr="&lt;math xmlns=&quot;http://www.w3.org/1998/Math/MathML&quot; data-is-equatio=&quot;1&quot; data-equatio-url=&quot;https://equatio-api.texthelp.com/desmos/get/25-10-2023/dbeaa527-708c-4ea0-a3dc-b28b4c974d29&quot; data-equatio-type=&quot;desmos&quot;&gt;&lt;mglyph src=&quot;https://equatio-api.texthelp.com/desmos/get/25-10-2023/dbeaa527-708c-4ea0-a3dc-b28b4c974d29&quot; alt=&quot;Equatio Desmos Graph&quot;/&gt;&lt;/math&gt;" id="995" name="Google Shape;995;p82" title="Equatio Desmos Graph"/>
          <p:cNvPicPr preferRelativeResize="0"/>
          <p:nvPr/>
        </p:nvPicPr>
        <p:blipFill rotWithShape="1">
          <a:blip r:embed="rId4">
            <a:alphaModFix/>
          </a:blip>
          <a:srcRect b="20336" l="1914" r="93261" t="35220"/>
          <a:stretch/>
        </p:blipFill>
        <p:spPr>
          <a:xfrm>
            <a:off x="3234700" y="3246541"/>
            <a:ext cx="190074" cy="1313449"/>
          </a:xfrm>
          <a:prstGeom prst="rect">
            <a:avLst/>
          </a:prstGeom>
          <a:noFill/>
          <a:ln>
            <a:noFill/>
          </a:ln>
        </p:spPr>
      </p:pic>
      <p:sp>
        <p:nvSpPr>
          <p:cNvPr id="996" name="Google Shape;996;p82"/>
          <p:cNvSpPr txBox="1"/>
          <p:nvPr>
            <p:ph idx="1" type="body"/>
          </p:nvPr>
        </p:nvSpPr>
        <p:spPr>
          <a:xfrm>
            <a:off x="831229" y="2935525"/>
            <a:ext cx="2602800" cy="277200"/>
          </a:xfrm>
          <a:prstGeom prst="rect">
            <a:avLst/>
          </a:prstGeom>
        </p:spPr>
        <p:txBody>
          <a:bodyPr anchorCtr="0" anchor="t" bIns="0" lIns="0" spcFirstLastPara="1" rIns="0" wrap="square" tIns="0">
            <a:spAutoFit/>
          </a:bodyPr>
          <a:lstStyle/>
          <a:p>
            <a:pPr indent="0" lvl="0" marL="0" rtl="0" algn="ctr">
              <a:spcBef>
                <a:spcPts val="0"/>
              </a:spcBef>
              <a:spcAft>
                <a:spcPts val="1000"/>
              </a:spcAft>
              <a:buNone/>
            </a:pPr>
            <a:r>
              <a:rPr b="1" lang="en-GB" sz="1800"/>
              <a:t>mean</a:t>
            </a:r>
            <a:r>
              <a:rPr lang="en-GB" sz="1800"/>
              <a:t> = 4.5</a:t>
            </a:r>
            <a:endParaRPr sz="1800"/>
          </a:p>
        </p:txBody>
      </p:sp>
      <p:sp>
        <p:nvSpPr>
          <p:cNvPr id="997" name="Google Shape;997;p82"/>
          <p:cNvSpPr txBox="1"/>
          <p:nvPr>
            <p:ph idx="1" type="body"/>
          </p:nvPr>
        </p:nvSpPr>
        <p:spPr>
          <a:xfrm>
            <a:off x="5437725" y="2741000"/>
            <a:ext cx="1073700" cy="277200"/>
          </a:xfrm>
          <a:prstGeom prst="rect">
            <a:avLst/>
          </a:prstGeom>
        </p:spPr>
        <p:txBody>
          <a:bodyPr anchorCtr="0" anchor="t" bIns="0" lIns="0" spcFirstLastPara="1" rIns="0" wrap="square" tIns="0">
            <a:spAutoFit/>
          </a:bodyPr>
          <a:lstStyle/>
          <a:p>
            <a:pPr indent="0" lvl="0" marL="0" rtl="0" algn="ctr">
              <a:spcBef>
                <a:spcPts val="0"/>
              </a:spcBef>
              <a:spcAft>
                <a:spcPts val="1000"/>
              </a:spcAft>
              <a:buNone/>
            </a:pPr>
            <a:r>
              <a:rPr b="1" lang="en-GB" sz="1800"/>
              <a:t>mean </a:t>
            </a:r>
            <a:r>
              <a:rPr lang="en-GB" sz="1800"/>
              <a:t>= 4</a:t>
            </a:r>
            <a:endParaRPr sz="1800"/>
          </a:p>
        </p:txBody>
      </p:sp>
      <p:cxnSp>
        <p:nvCxnSpPr>
          <p:cNvPr id="998" name="Google Shape;998;p82"/>
          <p:cNvCxnSpPr/>
          <p:nvPr/>
        </p:nvCxnSpPr>
        <p:spPr>
          <a:xfrm rot="10800000">
            <a:off x="1714766" y="1560974"/>
            <a:ext cx="0" cy="952800"/>
          </a:xfrm>
          <a:prstGeom prst="straightConnector1">
            <a:avLst/>
          </a:prstGeom>
          <a:noFill/>
          <a:ln cap="flat" cmpd="sng" w="38100">
            <a:solidFill>
              <a:schemeClr val="accent5"/>
            </a:solidFill>
            <a:prstDash val="solid"/>
            <a:round/>
            <a:headEnd len="med" w="med" type="stealth"/>
            <a:tailEnd len="med" w="med" type="none"/>
          </a:ln>
        </p:spPr>
      </p:cxnSp>
      <p:cxnSp>
        <p:nvCxnSpPr>
          <p:cNvPr id="999" name="Google Shape;999;p82"/>
          <p:cNvCxnSpPr/>
          <p:nvPr/>
        </p:nvCxnSpPr>
        <p:spPr>
          <a:xfrm rot="10800000">
            <a:off x="5035566" y="1388433"/>
            <a:ext cx="0" cy="1081200"/>
          </a:xfrm>
          <a:prstGeom prst="straightConnector1">
            <a:avLst/>
          </a:prstGeom>
          <a:noFill/>
          <a:ln cap="flat" cmpd="sng" w="38100">
            <a:solidFill>
              <a:schemeClr val="accent5"/>
            </a:solidFill>
            <a:prstDash val="solid"/>
            <a:round/>
            <a:headEnd len="med" w="med" type="stealth"/>
            <a:tailEnd len="med" w="med" type="none"/>
          </a:ln>
        </p:spPr>
      </p:cxnSp>
      <p:cxnSp>
        <p:nvCxnSpPr>
          <p:cNvPr id="1000" name="Google Shape;1000;p82"/>
          <p:cNvCxnSpPr/>
          <p:nvPr/>
        </p:nvCxnSpPr>
        <p:spPr>
          <a:xfrm rot="10800000">
            <a:off x="1883354" y="3173429"/>
            <a:ext cx="0" cy="1474500"/>
          </a:xfrm>
          <a:prstGeom prst="straightConnector1">
            <a:avLst/>
          </a:prstGeom>
          <a:noFill/>
          <a:ln cap="flat" cmpd="sng" w="38100">
            <a:solidFill>
              <a:schemeClr val="accent5"/>
            </a:solidFill>
            <a:prstDash val="solid"/>
            <a:round/>
            <a:headEnd len="med" w="med" type="stealth"/>
            <a:tailEnd len="med" w="med" type="none"/>
          </a:ln>
        </p:spPr>
      </p:cxnSp>
      <p:cxnSp>
        <p:nvCxnSpPr>
          <p:cNvPr id="1001" name="Google Shape;1001;p82"/>
          <p:cNvCxnSpPr/>
          <p:nvPr/>
        </p:nvCxnSpPr>
        <p:spPr>
          <a:xfrm rot="10800000">
            <a:off x="5974579" y="2970354"/>
            <a:ext cx="0" cy="1795800"/>
          </a:xfrm>
          <a:prstGeom prst="straightConnector1">
            <a:avLst/>
          </a:prstGeom>
          <a:noFill/>
          <a:ln cap="flat" cmpd="sng" w="38100">
            <a:solidFill>
              <a:schemeClr val="accent5"/>
            </a:solidFill>
            <a:prstDash val="solid"/>
            <a:round/>
            <a:headEnd len="med" w="med" type="stealth"/>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83"/>
          <p:cNvSpPr txBox="1"/>
          <p:nvPr>
            <p:ph idx="1" type="body"/>
          </p:nvPr>
        </p:nvSpPr>
        <p:spPr>
          <a:xfrm>
            <a:off x="324000" y="7593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In which of these small </a:t>
            </a:r>
            <a:r>
              <a:rPr b="1" lang="en-GB" sz="1800"/>
              <a:t>data</a:t>
            </a:r>
            <a:r>
              <a:rPr lang="en-GB" sz="1800"/>
              <a:t> set</a:t>
            </a:r>
            <a:r>
              <a:rPr lang="en-GB" sz="1800"/>
              <a:t>s would the </a:t>
            </a:r>
            <a:r>
              <a:rPr b="1" lang="en-GB" sz="1800"/>
              <a:t>mean</a:t>
            </a:r>
            <a:r>
              <a:rPr lang="en-GB" sz="1800"/>
              <a:t> be a suitable average (or </a:t>
            </a:r>
            <a:r>
              <a:rPr b="1" lang="en-GB" sz="1800"/>
              <a:t>measure of central tendency</a:t>
            </a:r>
            <a:r>
              <a:rPr lang="en-GB" sz="1800"/>
              <a:t>)?</a:t>
            </a:r>
            <a:endParaRPr sz="1800"/>
          </a:p>
        </p:txBody>
      </p:sp>
      <p:sp>
        <p:nvSpPr>
          <p:cNvPr id="1007" name="Google Shape;1007;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grpSp>
        <p:nvGrpSpPr>
          <p:cNvPr id="1008" name="Google Shape;1008;p83"/>
          <p:cNvGrpSpPr/>
          <p:nvPr/>
        </p:nvGrpSpPr>
        <p:grpSpPr>
          <a:xfrm>
            <a:off x="389022" y="1501963"/>
            <a:ext cx="386288" cy="386288"/>
            <a:chOff x="1020916" y="1442088"/>
            <a:chExt cx="457200" cy="457200"/>
          </a:xfrm>
        </p:grpSpPr>
        <p:pic>
          <p:nvPicPr>
            <p:cNvPr id="1009" name="Google Shape;1009;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10" name="Google Shape;1010;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pic>
        <p:nvPicPr>
          <p:cNvPr id="1011" name="Google Shape;1011;p83"/>
          <p:cNvPicPr preferRelativeResize="0"/>
          <p:nvPr/>
        </p:nvPicPr>
        <p:blipFill>
          <a:blip r:embed="rId4">
            <a:alphaModFix/>
          </a:blip>
          <a:stretch>
            <a:fillRect/>
          </a:stretch>
        </p:blipFill>
        <p:spPr>
          <a:xfrm>
            <a:off x="7982723" y="1485563"/>
            <a:ext cx="396000" cy="419100"/>
          </a:xfrm>
          <a:prstGeom prst="rect">
            <a:avLst/>
          </a:prstGeom>
          <a:noFill/>
          <a:ln>
            <a:noFill/>
          </a:ln>
        </p:spPr>
      </p:pic>
      <p:pic>
        <p:nvPicPr>
          <p:cNvPr id="1012" name="Google Shape;1012;p83"/>
          <p:cNvPicPr preferRelativeResize="0"/>
          <p:nvPr/>
        </p:nvPicPr>
        <p:blipFill>
          <a:blip r:embed="rId5">
            <a:alphaModFix/>
          </a:blip>
          <a:stretch>
            <a:fillRect/>
          </a:stretch>
        </p:blipFill>
        <p:spPr>
          <a:xfrm>
            <a:off x="7982723" y="2111317"/>
            <a:ext cx="396000" cy="419760"/>
          </a:xfrm>
          <a:prstGeom prst="rect">
            <a:avLst/>
          </a:prstGeom>
          <a:noFill/>
          <a:ln>
            <a:noFill/>
          </a:ln>
        </p:spPr>
      </p:pic>
      <p:graphicFrame>
        <p:nvGraphicFramePr>
          <p:cNvPr id="1013" name="Google Shape;1013;p83"/>
          <p:cNvGraphicFramePr/>
          <p:nvPr/>
        </p:nvGraphicFramePr>
        <p:xfrm>
          <a:off x="775300" y="1499850"/>
          <a:ext cx="3000000" cy="3000000"/>
        </p:xfrm>
        <a:graphic>
          <a:graphicData uri="http://schemas.openxmlformats.org/drawingml/2006/table">
            <a:tbl>
              <a:tblPr>
                <a:noFill/>
                <a:tableStyleId>{941F9DB1-44A7-4DC4-A338-CBB8A8854EF6}</a:tableStyleId>
              </a:tblPr>
              <a:tblGrid>
                <a:gridCol w="478950"/>
                <a:gridCol w="478950"/>
                <a:gridCol w="478950"/>
                <a:gridCol w="478950"/>
                <a:gridCol w="478950"/>
                <a:gridCol w="478950"/>
                <a:gridCol w="478950"/>
                <a:gridCol w="478950"/>
                <a:gridCol w="478950"/>
                <a:gridCol w="478950"/>
                <a:gridCol w="478950"/>
                <a:gridCol w="478950"/>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graphicFrame>
        <p:nvGraphicFramePr>
          <p:cNvPr id="1014" name="Google Shape;1014;p83"/>
          <p:cNvGraphicFramePr/>
          <p:nvPr/>
        </p:nvGraphicFramePr>
        <p:xfrm>
          <a:off x="775300" y="2839700"/>
          <a:ext cx="3000000" cy="3000000"/>
        </p:xfrm>
        <a:graphic>
          <a:graphicData uri="http://schemas.openxmlformats.org/drawingml/2006/table">
            <a:tbl>
              <a:tblPr>
                <a:noFill/>
                <a:tableStyleId>{941F9DB1-44A7-4DC4-A338-CBB8A8854EF6}</a:tableStyleId>
              </a:tblPr>
              <a:tblGrid>
                <a:gridCol w="478950"/>
                <a:gridCol w="478950"/>
                <a:gridCol w="478950"/>
                <a:gridCol w="478950"/>
                <a:gridCol w="478950"/>
                <a:gridCol w="478950"/>
                <a:gridCol w="478950"/>
                <a:gridCol w="478950"/>
                <a:gridCol w="478950"/>
                <a:gridCol w="478950"/>
                <a:gridCol w="478950"/>
                <a:gridCol w="478950"/>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grpSp>
        <p:nvGrpSpPr>
          <p:cNvPr id="1015" name="Google Shape;1015;p83"/>
          <p:cNvGrpSpPr/>
          <p:nvPr/>
        </p:nvGrpSpPr>
        <p:grpSpPr>
          <a:xfrm>
            <a:off x="389022" y="2171888"/>
            <a:ext cx="386288" cy="386288"/>
            <a:chOff x="1020916" y="1442088"/>
            <a:chExt cx="457200" cy="457200"/>
          </a:xfrm>
        </p:grpSpPr>
        <p:pic>
          <p:nvPicPr>
            <p:cNvPr id="1016" name="Google Shape;1016;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17" name="Google Shape;1017;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018" name="Google Shape;1018;p83"/>
          <p:cNvSpPr txBox="1"/>
          <p:nvPr>
            <p:ph idx="1" type="body"/>
          </p:nvPr>
        </p:nvSpPr>
        <p:spPr>
          <a:xfrm>
            <a:off x="324000" y="3951594"/>
            <a:ext cx="8054700" cy="923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en-GB" sz="2000">
                <a:latin typeface="Kalam"/>
                <a:ea typeface="Kalam"/>
                <a:cs typeface="Kalam"/>
                <a:sym typeface="Kalam"/>
              </a:rPr>
              <a:t>Whilst b is fairly central, it is very far away from any </a:t>
            </a:r>
            <a:r>
              <a:rPr b="1" lang="en-GB" sz="2000">
                <a:latin typeface="Kalam"/>
                <a:ea typeface="Kalam"/>
                <a:cs typeface="Kalam"/>
                <a:sym typeface="Kalam"/>
              </a:rPr>
              <a:t>data</a:t>
            </a:r>
            <a:r>
              <a:rPr lang="en-GB" sz="2000">
                <a:latin typeface="Kalam"/>
                <a:ea typeface="Kalam"/>
                <a:cs typeface="Kalam"/>
                <a:sym typeface="Kalam"/>
              </a:rPr>
              <a:t> points.</a:t>
            </a:r>
            <a:endParaRPr sz="2000">
              <a:latin typeface="Kalam"/>
              <a:ea typeface="Kalam"/>
              <a:cs typeface="Kalam"/>
              <a:sym typeface="Kalam"/>
            </a:endParaRPr>
          </a:p>
          <a:p>
            <a:pPr indent="0" lvl="0" marL="0" rtl="0" algn="l">
              <a:lnSpc>
                <a:spcPct val="100000"/>
              </a:lnSpc>
              <a:spcBef>
                <a:spcPts val="0"/>
              </a:spcBef>
              <a:spcAft>
                <a:spcPts val="0"/>
              </a:spcAft>
              <a:buNone/>
            </a:pPr>
            <a:r>
              <a:rPr lang="en-GB" sz="2000">
                <a:latin typeface="Kalam"/>
                <a:ea typeface="Kalam"/>
                <a:cs typeface="Kalam"/>
                <a:sym typeface="Kalam"/>
              </a:rPr>
              <a:t>d is definitely not central, and it is far away from common </a:t>
            </a:r>
            <a:r>
              <a:rPr b="1" lang="en-GB" sz="2000">
                <a:latin typeface="Kalam"/>
                <a:ea typeface="Kalam"/>
                <a:cs typeface="Kalam"/>
                <a:sym typeface="Kalam"/>
              </a:rPr>
              <a:t>data</a:t>
            </a:r>
            <a:r>
              <a:rPr lang="en-GB" sz="2000">
                <a:latin typeface="Kalam"/>
                <a:ea typeface="Kalam"/>
                <a:cs typeface="Kalam"/>
                <a:sym typeface="Kalam"/>
              </a:rPr>
              <a:t> points of 44 and 47.</a:t>
            </a:r>
            <a:endParaRPr sz="2000">
              <a:latin typeface="Kalam"/>
              <a:ea typeface="Kalam"/>
              <a:cs typeface="Kalam"/>
              <a:sym typeface="Kalam"/>
            </a:endParaRPr>
          </a:p>
        </p:txBody>
      </p:sp>
      <p:grpSp>
        <p:nvGrpSpPr>
          <p:cNvPr id="1019" name="Google Shape;1019;p83"/>
          <p:cNvGrpSpPr/>
          <p:nvPr/>
        </p:nvGrpSpPr>
        <p:grpSpPr>
          <a:xfrm>
            <a:off x="389022" y="2841813"/>
            <a:ext cx="386288" cy="386288"/>
            <a:chOff x="1020916" y="1442088"/>
            <a:chExt cx="457200" cy="457200"/>
          </a:xfrm>
        </p:grpSpPr>
        <p:pic>
          <p:nvPicPr>
            <p:cNvPr id="1020" name="Google Shape;1020;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21" name="Google Shape;1021;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22" name="Google Shape;1022;p83"/>
          <p:cNvGrpSpPr/>
          <p:nvPr/>
        </p:nvGrpSpPr>
        <p:grpSpPr>
          <a:xfrm>
            <a:off x="389022" y="3509613"/>
            <a:ext cx="386288" cy="386288"/>
            <a:chOff x="1020916" y="1442088"/>
            <a:chExt cx="457200" cy="457200"/>
          </a:xfrm>
        </p:grpSpPr>
        <p:pic>
          <p:nvPicPr>
            <p:cNvPr id="1023" name="Google Shape;1023;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24" name="Google Shape;1024;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1025" name="Google Shape;1025;p83"/>
          <p:cNvPicPr preferRelativeResize="0"/>
          <p:nvPr/>
        </p:nvPicPr>
        <p:blipFill>
          <a:blip r:embed="rId4">
            <a:alphaModFix/>
          </a:blip>
          <a:stretch>
            <a:fillRect/>
          </a:stretch>
        </p:blipFill>
        <p:spPr>
          <a:xfrm>
            <a:off x="7982723" y="2825413"/>
            <a:ext cx="396000" cy="419100"/>
          </a:xfrm>
          <a:prstGeom prst="rect">
            <a:avLst/>
          </a:prstGeom>
          <a:noFill/>
          <a:ln>
            <a:noFill/>
          </a:ln>
        </p:spPr>
      </p:pic>
      <p:pic>
        <p:nvPicPr>
          <p:cNvPr id="1026" name="Google Shape;1026;p83"/>
          <p:cNvPicPr preferRelativeResize="0"/>
          <p:nvPr/>
        </p:nvPicPr>
        <p:blipFill>
          <a:blip r:embed="rId5">
            <a:alphaModFix/>
          </a:blip>
          <a:stretch>
            <a:fillRect/>
          </a:stretch>
        </p:blipFill>
        <p:spPr>
          <a:xfrm>
            <a:off x="7982723" y="3495004"/>
            <a:ext cx="396000" cy="419760"/>
          </a:xfrm>
          <a:prstGeom prst="rect">
            <a:avLst/>
          </a:prstGeom>
          <a:noFill/>
          <a:ln>
            <a:noFill/>
          </a:ln>
        </p:spPr>
      </p:pic>
      <p:sp>
        <p:nvSpPr>
          <p:cNvPr id="1027" name="Google Shape;1027;p83"/>
          <p:cNvSpPr txBox="1"/>
          <p:nvPr>
            <p:ph idx="1" type="body"/>
          </p:nvPr>
        </p:nvSpPr>
        <p:spPr>
          <a:xfrm>
            <a:off x="6522700" y="1500900"/>
            <a:ext cx="1351500" cy="277200"/>
          </a:xfrm>
          <a:prstGeom prst="rect">
            <a:avLst/>
          </a:prstGeom>
        </p:spPr>
        <p:txBody>
          <a:bodyPr anchorCtr="0" anchor="ctr" bIns="0" lIns="0" spcFirstLastPara="1" rIns="0" wrap="square" tIns="0">
            <a:spAutoFit/>
          </a:bodyPr>
          <a:lstStyle/>
          <a:p>
            <a:pPr indent="0" lvl="0" marL="0" rtl="0" algn="l">
              <a:spcBef>
                <a:spcPts val="0"/>
              </a:spcBef>
              <a:spcAft>
                <a:spcPts val="1000"/>
              </a:spcAft>
              <a:buNone/>
            </a:pPr>
            <a:r>
              <a:rPr b="1" lang="en-GB" sz="1800"/>
              <a:t>mean </a:t>
            </a:r>
            <a:r>
              <a:rPr lang="en-GB" sz="1800"/>
              <a:t>= 4.7</a:t>
            </a:r>
            <a:endParaRPr sz="1800"/>
          </a:p>
        </p:txBody>
      </p:sp>
      <p:sp>
        <p:nvSpPr>
          <p:cNvPr id="1028" name="Google Shape;1028;p83"/>
          <p:cNvSpPr txBox="1"/>
          <p:nvPr>
            <p:ph idx="1" type="body"/>
          </p:nvPr>
        </p:nvSpPr>
        <p:spPr>
          <a:xfrm>
            <a:off x="6522700" y="2839650"/>
            <a:ext cx="1351500" cy="277200"/>
          </a:xfrm>
          <a:prstGeom prst="rect">
            <a:avLst/>
          </a:prstGeom>
        </p:spPr>
        <p:txBody>
          <a:bodyPr anchorCtr="0" anchor="ctr" bIns="0" lIns="0" spcFirstLastPara="1" rIns="0" wrap="square" tIns="0">
            <a:spAutoFit/>
          </a:bodyPr>
          <a:lstStyle/>
          <a:p>
            <a:pPr indent="0" lvl="0" marL="0" rtl="0" algn="l">
              <a:spcBef>
                <a:spcPts val="0"/>
              </a:spcBef>
              <a:spcAft>
                <a:spcPts val="1000"/>
              </a:spcAft>
              <a:buNone/>
            </a:pPr>
            <a:r>
              <a:rPr b="1" lang="en-GB" sz="1800"/>
              <a:t>mean</a:t>
            </a:r>
            <a:r>
              <a:rPr lang="en-GB" sz="1800"/>
              <a:t> = 9.4</a:t>
            </a:r>
            <a:endParaRPr sz="1800"/>
          </a:p>
        </p:txBody>
      </p:sp>
      <p:graphicFrame>
        <p:nvGraphicFramePr>
          <p:cNvPr id="1029" name="Google Shape;1029;p83"/>
          <p:cNvGraphicFramePr/>
          <p:nvPr/>
        </p:nvGraphicFramePr>
        <p:xfrm>
          <a:off x="775300" y="2169775"/>
          <a:ext cx="3000000" cy="3000000"/>
        </p:xfrm>
        <a:graphic>
          <a:graphicData uri="http://schemas.openxmlformats.org/drawingml/2006/table">
            <a:tbl>
              <a:tblPr>
                <a:noFill/>
                <a:tableStyleId>{941F9DB1-44A7-4DC4-A338-CBB8A8854EF6}</a:tableStyleId>
              </a:tblPr>
              <a:tblGrid>
                <a:gridCol w="478950"/>
                <a:gridCol w="478950"/>
                <a:gridCol w="478950"/>
                <a:gridCol w="478950"/>
                <a:gridCol w="478950"/>
                <a:gridCol w="478950"/>
                <a:gridCol w="478950"/>
                <a:gridCol w="478950"/>
                <a:gridCol w="478950"/>
                <a:gridCol w="478950"/>
                <a:gridCol w="478950"/>
                <a:gridCol w="478950"/>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19</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sp>
        <p:nvSpPr>
          <p:cNvPr id="1030" name="Google Shape;1030;p83"/>
          <p:cNvSpPr txBox="1"/>
          <p:nvPr>
            <p:ph idx="1" type="body"/>
          </p:nvPr>
        </p:nvSpPr>
        <p:spPr>
          <a:xfrm>
            <a:off x="6522700" y="2169738"/>
            <a:ext cx="1351500" cy="277200"/>
          </a:xfrm>
          <a:prstGeom prst="rect">
            <a:avLst/>
          </a:prstGeom>
        </p:spPr>
        <p:txBody>
          <a:bodyPr anchorCtr="0" anchor="ctr" bIns="0" lIns="0" spcFirstLastPara="1" rIns="0" wrap="square" tIns="0">
            <a:spAutoFit/>
          </a:bodyPr>
          <a:lstStyle/>
          <a:p>
            <a:pPr indent="0" lvl="0" marL="0" rtl="0" algn="l">
              <a:spcBef>
                <a:spcPts val="0"/>
              </a:spcBef>
              <a:spcAft>
                <a:spcPts val="1000"/>
              </a:spcAft>
              <a:buNone/>
            </a:pPr>
            <a:r>
              <a:rPr b="1" lang="en-GB" sz="1800"/>
              <a:t>mean </a:t>
            </a:r>
            <a:r>
              <a:rPr lang="en-GB" sz="1800"/>
              <a:t>= 8.2</a:t>
            </a:r>
            <a:endParaRPr sz="1800"/>
          </a:p>
        </p:txBody>
      </p:sp>
      <p:graphicFrame>
        <p:nvGraphicFramePr>
          <p:cNvPr id="1031" name="Google Shape;1031;p83"/>
          <p:cNvGraphicFramePr/>
          <p:nvPr/>
        </p:nvGraphicFramePr>
        <p:xfrm>
          <a:off x="775300" y="3509625"/>
          <a:ext cx="3000000" cy="3000000"/>
        </p:xfrm>
        <a:graphic>
          <a:graphicData uri="http://schemas.openxmlformats.org/drawingml/2006/table">
            <a:tbl>
              <a:tblPr>
                <a:noFill/>
                <a:tableStyleId>{941F9DB1-44A7-4DC4-A338-CBB8A8854EF6}</a:tableStyleId>
              </a:tblPr>
              <a:tblGrid>
                <a:gridCol w="478950"/>
                <a:gridCol w="478950"/>
                <a:gridCol w="478950"/>
                <a:gridCol w="478950"/>
                <a:gridCol w="478950"/>
                <a:gridCol w="478950"/>
                <a:gridCol w="478950"/>
                <a:gridCol w="478950"/>
                <a:gridCol w="478950"/>
                <a:gridCol w="478950"/>
                <a:gridCol w="478950"/>
                <a:gridCol w="478950"/>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42</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43</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44</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47</a:t>
                      </a:r>
                      <a:endParaRPr sz="1800">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tcPr>
                </a:tc>
              </a:tr>
            </a:tbl>
          </a:graphicData>
        </a:graphic>
      </p:graphicFrame>
      <p:sp>
        <p:nvSpPr>
          <p:cNvPr id="1032" name="Google Shape;1032;p83"/>
          <p:cNvSpPr txBox="1"/>
          <p:nvPr>
            <p:ph idx="1" type="body"/>
          </p:nvPr>
        </p:nvSpPr>
        <p:spPr>
          <a:xfrm>
            <a:off x="6522700" y="3509550"/>
            <a:ext cx="1351500" cy="277200"/>
          </a:xfrm>
          <a:prstGeom prst="rect">
            <a:avLst/>
          </a:prstGeom>
        </p:spPr>
        <p:txBody>
          <a:bodyPr anchorCtr="0" anchor="ctr" bIns="0" lIns="0" spcFirstLastPara="1" rIns="0" wrap="square" tIns="0">
            <a:spAutoFit/>
          </a:bodyPr>
          <a:lstStyle/>
          <a:p>
            <a:pPr indent="0" lvl="0" marL="0" rtl="0" algn="l">
              <a:spcBef>
                <a:spcPts val="0"/>
              </a:spcBef>
              <a:spcAft>
                <a:spcPts val="1000"/>
              </a:spcAft>
              <a:buNone/>
            </a:pPr>
            <a:r>
              <a:rPr b="1" lang="en-GB" sz="1800"/>
              <a:t>mean</a:t>
            </a:r>
            <a:r>
              <a:rPr lang="en-GB" sz="1800"/>
              <a:t> = 41</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84"/>
          <p:cNvSpPr txBox="1"/>
          <p:nvPr>
            <p:ph idx="1" type="body"/>
          </p:nvPr>
        </p:nvSpPr>
        <p:spPr>
          <a:xfrm>
            <a:off x="3894875" y="2458375"/>
            <a:ext cx="492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Who is correct – Sofia or Laura?</a:t>
            </a:r>
            <a:endParaRPr sz="1800"/>
          </a:p>
        </p:txBody>
      </p:sp>
      <p:sp>
        <p:nvSpPr>
          <p:cNvPr id="1038" name="Google Shape;1038;p84"/>
          <p:cNvSpPr txBox="1"/>
          <p:nvPr>
            <p:ph idx="1" type="body"/>
          </p:nvPr>
        </p:nvSpPr>
        <p:spPr>
          <a:xfrm>
            <a:off x="3894875" y="2461026"/>
            <a:ext cx="492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Laura is correct.</a:t>
            </a:r>
            <a:endParaRPr sz="1800"/>
          </a:p>
        </p:txBody>
      </p:sp>
      <p:pic>
        <p:nvPicPr>
          <p:cNvPr id="1039" name="Google Shape;1039;p84"/>
          <p:cNvPicPr preferRelativeResize="0"/>
          <p:nvPr/>
        </p:nvPicPr>
        <p:blipFill>
          <a:blip r:embed="rId3">
            <a:alphaModFix/>
          </a:blip>
          <a:stretch>
            <a:fillRect/>
          </a:stretch>
        </p:blipFill>
        <p:spPr>
          <a:xfrm>
            <a:off x="3936300" y="1116350"/>
            <a:ext cx="4883600" cy="1205226"/>
          </a:xfrm>
          <a:prstGeom prst="rect">
            <a:avLst/>
          </a:prstGeom>
          <a:noFill/>
          <a:ln cap="flat" cmpd="sng" w="19050">
            <a:solidFill>
              <a:schemeClr val="dk1"/>
            </a:solidFill>
            <a:prstDash val="solid"/>
            <a:round/>
            <a:headEnd len="sm" w="sm" type="none"/>
            <a:tailEnd len="sm" w="sm" type="none"/>
          </a:ln>
        </p:spPr>
      </p:pic>
      <p:sp>
        <p:nvSpPr>
          <p:cNvPr id="1040" name="Google Shape;1040;p84"/>
          <p:cNvSpPr txBox="1"/>
          <p:nvPr>
            <p:ph idx="1" type="body"/>
          </p:nvPr>
        </p:nvSpPr>
        <p:spPr>
          <a:xfrm>
            <a:off x="324000" y="70235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What is the </a:t>
            </a:r>
            <a:r>
              <a:rPr b="1" lang="en-GB" sz="1800"/>
              <a:t>mean</a:t>
            </a:r>
            <a:r>
              <a:rPr lang="en-GB" sz="1800"/>
              <a:t> of this </a:t>
            </a:r>
            <a:r>
              <a:rPr b="1" lang="en-GB" sz="1800"/>
              <a:t>data</a:t>
            </a:r>
            <a:r>
              <a:rPr lang="en-GB" sz="1800"/>
              <a:t> set</a:t>
            </a:r>
            <a:r>
              <a:rPr lang="en-GB" sz="1800"/>
              <a:t>?</a:t>
            </a:r>
            <a:endParaRPr sz="1800"/>
          </a:p>
        </p:txBody>
      </p:sp>
      <p:sp>
        <p:nvSpPr>
          <p:cNvPr id="1041" name="Google Shape;1041;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graphicFrame>
        <p:nvGraphicFramePr>
          <p:cNvPr id="1042" name="Google Shape;1042;p84"/>
          <p:cNvGraphicFramePr/>
          <p:nvPr/>
        </p:nvGraphicFramePr>
        <p:xfrm>
          <a:off x="324000" y="1116360"/>
          <a:ext cx="3000000" cy="3000000"/>
        </p:xfrm>
        <a:graphic>
          <a:graphicData uri="http://schemas.openxmlformats.org/drawingml/2006/table">
            <a:tbl>
              <a:tblPr>
                <a:noFill/>
                <a:tableStyleId>{941F9DB1-44A7-4DC4-A338-CBB8A8854EF6}</a:tableStyleId>
              </a:tblPr>
              <a:tblGrid>
                <a:gridCol w="319450"/>
                <a:gridCol w="319450"/>
                <a:gridCol w="319450"/>
                <a:gridCol w="319450"/>
                <a:gridCol w="319450"/>
                <a:gridCol w="319450"/>
                <a:gridCol w="319450"/>
                <a:gridCol w="319450"/>
                <a:gridCol w="319450"/>
                <a:gridCol w="319450"/>
                <a:gridCol w="319450"/>
              </a:tblGrid>
              <a:tr h="3315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1043" name="Google Shape;1043;p84"/>
          <p:cNvSpPr txBox="1"/>
          <p:nvPr/>
        </p:nvSpPr>
        <p:spPr>
          <a:xfrm flipH="1">
            <a:off x="323992" y="2862952"/>
            <a:ext cx="10842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sp>
        <p:nvSpPr>
          <p:cNvPr id="1044" name="Google Shape;1044;p84"/>
          <p:cNvSpPr txBox="1"/>
          <p:nvPr/>
        </p:nvSpPr>
        <p:spPr>
          <a:xfrm>
            <a:off x="324000" y="4571425"/>
            <a:ext cx="8637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1045" name="Google Shape;1045;p84"/>
          <p:cNvPicPr preferRelativeResize="0"/>
          <p:nvPr/>
        </p:nvPicPr>
        <p:blipFill>
          <a:blip r:embed="rId4">
            <a:alphaModFix/>
          </a:blip>
          <a:stretch>
            <a:fillRect/>
          </a:stretch>
        </p:blipFill>
        <p:spPr>
          <a:xfrm>
            <a:off x="411521" y="3779996"/>
            <a:ext cx="622074" cy="814727"/>
          </a:xfrm>
          <a:prstGeom prst="rect">
            <a:avLst/>
          </a:prstGeom>
          <a:noFill/>
          <a:ln>
            <a:noFill/>
          </a:ln>
        </p:spPr>
      </p:pic>
      <p:pic>
        <p:nvPicPr>
          <p:cNvPr id="1046" name="Google Shape;1046;p84"/>
          <p:cNvPicPr preferRelativeResize="0"/>
          <p:nvPr/>
        </p:nvPicPr>
        <p:blipFill>
          <a:blip r:embed="rId5">
            <a:alphaModFix/>
          </a:blip>
          <a:stretch>
            <a:fillRect/>
          </a:stretch>
        </p:blipFill>
        <p:spPr>
          <a:xfrm flipH="1">
            <a:off x="555019" y="2127461"/>
            <a:ext cx="622081" cy="690100"/>
          </a:xfrm>
          <a:prstGeom prst="rect">
            <a:avLst/>
          </a:prstGeom>
          <a:noFill/>
          <a:ln>
            <a:noFill/>
          </a:ln>
        </p:spPr>
      </p:pic>
      <p:pic>
        <p:nvPicPr>
          <p:cNvPr id="1047" name="Google Shape;1047;p84"/>
          <p:cNvPicPr preferRelativeResize="0"/>
          <p:nvPr/>
        </p:nvPicPr>
        <p:blipFill rotWithShape="1">
          <a:blip r:embed="rId6">
            <a:alphaModFix/>
          </a:blip>
          <a:srcRect b="43690" l="0" r="57905" t="0"/>
          <a:stretch/>
        </p:blipFill>
        <p:spPr>
          <a:xfrm flipH="1">
            <a:off x="1177102" y="1696325"/>
            <a:ext cx="1538698" cy="814725"/>
          </a:xfrm>
          <a:prstGeom prst="rect">
            <a:avLst/>
          </a:prstGeom>
          <a:noFill/>
          <a:ln>
            <a:noFill/>
          </a:ln>
        </p:spPr>
      </p:pic>
      <p:sp>
        <p:nvSpPr>
          <p:cNvPr id="1048" name="Google Shape;1048;p84"/>
          <p:cNvSpPr txBox="1"/>
          <p:nvPr>
            <p:ph idx="1" type="body"/>
          </p:nvPr>
        </p:nvSpPr>
        <p:spPr>
          <a:xfrm>
            <a:off x="1278214" y="1739597"/>
            <a:ext cx="13974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mean </a:t>
            </a:r>
            <a:r>
              <a:rPr lang="en-GB" sz="1800"/>
              <a:t>is 27.75</a:t>
            </a:r>
            <a:endParaRPr sz="1800"/>
          </a:p>
        </p:txBody>
      </p:sp>
      <p:pic>
        <p:nvPicPr>
          <p:cNvPr id="1049" name="Google Shape;1049;p84"/>
          <p:cNvPicPr preferRelativeResize="0"/>
          <p:nvPr/>
        </p:nvPicPr>
        <p:blipFill rotWithShape="1">
          <a:blip r:embed="rId6">
            <a:alphaModFix/>
          </a:blip>
          <a:srcRect b="43690" l="0" r="57905" t="0"/>
          <a:stretch/>
        </p:blipFill>
        <p:spPr>
          <a:xfrm flipH="1">
            <a:off x="1100900" y="2896625"/>
            <a:ext cx="2417500" cy="1752699"/>
          </a:xfrm>
          <a:prstGeom prst="rect">
            <a:avLst/>
          </a:prstGeom>
          <a:noFill/>
          <a:ln>
            <a:noFill/>
          </a:ln>
        </p:spPr>
      </p:pic>
      <p:sp>
        <p:nvSpPr>
          <p:cNvPr id="1050" name="Google Shape;1050;p84"/>
          <p:cNvSpPr txBox="1"/>
          <p:nvPr>
            <p:ph idx="1" type="body"/>
          </p:nvPr>
        </p:nvSpPr>
        <p:spPr>
          <a:xfrm>
            <a:off x="1259761" y="2960638"/>
            <a:ext cx="2195700" cy="136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That makes no sense! </a:t>
            </a:r>
            <a:endParaRPr sz="1800"/>
          </a:p>
          <a:p>
            <a:pPr indent="0" lvl="0" marL="0" rtl="0" algn="l">
              <a:spcBef>
                <a:spcPts val="1000"/>
              </a:spcBef>
              <a:spcAft>
                <a:spcPts val="1000"/>
              </a:spcAft>
              <a:buNone/>
            </a:pPr>
            <a:r>
              <a:rPr lang="en-GB" sz="1800"/>
              <a:t>27.75 is bigger than all the </a:t>
            </a:r>
            <a:r>
              <a:rPr b="1" lang="en-GB" sz="1800"/>
              <a:t>data</a:t>
            </a:r>
            <a:r>
              <a:rPr lang="en-GB" sz="1800"/>
              <a:t> points!</a:t>
            </a:r>
            <a:endParaRPr sz="1800"/>
          </a:p>
        </p:txBody>
      </p:sp>
      <p:sp>
        <p:nvSpPr>
          <p:cNvPr id="1051" name="Google Shape;1051;p84"/>
          <p:cNvSpPr txBox="1"/>
          <p:nvPr>
            <p:ph idx="1" type="body"/>
          </p:nvPr>
        </p:nvSpPr>
        <p:spPr>
          <a:xfrm>
            <a:off x="3894875" y="2852718"/>
            <a:ext cx="4925100" cy="167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None of the averages can have a value greater than the largest </a:t>
            </a:r>
            <a:r>
              <a:rPr b="1" lang="en-GB" sz="1800"/>
              <a:t>data</a:t>
            </a:r>
            <a:r>
              <a:rPr lang="en-GB" sz="1800"/>
              <a:t> point, or less than the smallest </a:t>
            </a:r>
            <a:r>
              <a:rPr b="1" lang="en-GB" sz="1800"/>
              <a:t>data</a:t>
            </a:r>
            <a:r>
              <a:rPr lang="en-GB" sz="1800"/>
              <a:t> point.</a:t>
            </a:r>
            <a:endParaRPr sz="1800"/>
          </a:p>
          <a:p>
            <a:pPr indent="0" lvl="0" marL="0" rtl="0" algn="l">
              <a:spcBef>
                <a:spcPts val="1000"/>
              </a:spcBef>
              <a:spcAft>
                <a:spcPts val="1000"/>
              </a:spcAft>
              <a:buNone/>
            </a:pPr>
            <a:r>
              <a:rPr lang="en-GB" sz="1800"/>
              <a:t>The </a:t>
            </a:r>
            <a:r>
              <a:rPr b="1" lang="en-GB" sz="1800"/>
              <a:t>mean</a:t>
            </a:r>
            <a:r>
              <a:rPr lang="en-GB" sz="1800"/>
              <a:t> must lie somewhere between 4 and 22 on this dot plot.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3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pic>
        <p:nvPicPr>
          <p:cNvPr id="1056" name="Google Shape;1056;p85"/>
          <p:cNvPicPr preferRelativeResize="0"/>
          <p:nvPr/>
        </p:nvPicPr>
        <p:blipFill>
          <a:blip r:embed="rId3">
            <a:alphaModFix/>
          </a:blip>
          <a:stretch>
            <a:fillRect/>
          </a:stretch>
        </p:blipFill>
        <p:spPr>
          <a:xfrm>
            <a:off x="3936300" y="1116350"/>
            <a:ext cx="4883600" cy="1205226"/>
          </a:xfrm>
          <a:prstGeom prst="rect">
            <a:avLst/>
          </a:prstGeom>
          <a:noFill/>
          <a:ln cap="flat" cmpd="sng" w="19050">
            <a:solidFill>
              <a:schemeClr val="dk1"/>
            </a:solidFill>
            <a:prstDash val="solid"/>
            <a:round/>
            <a:headEnd len="sm" w="sm" type="none"/>
            <a:tailEnd len="sm" w="sm" type="none"/>
          </a:ln>
        </p:spPr>
      </p:pic>
      <p:sp>
        <p:nvSpPr>
          <p:cNvPr id="1057" name="Google Shape;1057;p85"/>
          <p:cNvSpPr txBox="1"/>
          <p:nvPr>
            <p:ph idx="1" type="body"/>
          </p:nvPr>
        </p:nvSpPr>
        <p:spPr>
          <a:xfrm>
            <a:off x="324000" y="70235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What is the </a:t>
            </a:r>
            <a:r>
              <a:rPr b="1" lang="en-GB" sz="1800"/>
              <a:t>mean</a:t>
            </a:r>
            <a:r>
              <a:rPr lang="en-GB" sz="1800"/>
              <a:t> of this </a:t>
            </a:r>
            <a:r>
              <a:rPr b="1" lang="en-GB" sz="1800"/>
              <a:t>data</a:t>
            </a:r>
            <a:r>
              <a:rPr lang="en-GB" sz="1800"/>
              <a:t> set</a:t>
            </a:r>
            <a:r>
              <a:rPr lang="en-GB" sz="1800"/>
              <a:t>?</a:t>
            </a:r>
            <a:endParaRPr sz="1800"/>
          </a:p>
        </p:txBody>
      </p:sp>
      <p:sp>
        <p:nvSpPr>
          <p:cNvPr id="1058" name="Google Shape;1058;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graphicFrame>
        <p:nvGraphicFramePr>
          <p:cNvPr id="1059" name="Google Shape;1059;p85"/>
          <p:cNvGraphicFramePr/>
          <p:nvPr/>
        </p:nvGraphicFramePr>
        <p:xfrm>
          <a:off x="324000" y="1116360"/>
          <a:ext cx="3000000" cy="3000000"/>
        </p:xfrm>
        <a:graphic>
          <a:graphicData uri="http://schemas.openxmlformats.org/drawingml/2006/table">
            <a:tbl>
              <a:tblPr>
                <a:noFill/>
                <a:tableStyleId>{941F9DB1-44A7-4DC4-A338-CBB8A8854EF6}</a:tableStyleId>
              </a:tblPr>
              <a:tblGrid>
                <a:gridCol w="319450"/>
                <a:gridCol w="319450"/>
                <a:gridCol w="319450"/>
                <a:gridCol w="319450"/>
                <a:gridCol w="319450"/>
                <a:gridCol w="319450"/>
                <a:gridCol w="319450"/>
                <a:gridCol w="319450"/>
                <a:gridCol w="319450"/>
                <a:gridCol w="319450"/>
                <a:gridCol w="319450"/>
              </a:tblGrid>
              <a:tr h="331550">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8000" marB="18000" marR="18000" marL="18000"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1060" name="Google Shape;1060;p85"/>
          <p:cNvSpPr txBox="1"/>
          <p:nvPr/>
        </p:nvSpPr>
        <p:spPr>
          <a:xfrm flipH="1">
            <a:off x="323992" y="3396352"/>
            <a:ext cx="10842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061" name="Google Shape;1061;p85"/>
          <p:cNvPicPr preferRelativeResize="0"/>
          <p:nvPr/>
        </p:nvPicPr>
        <p:blipFill>
          <a:blip r:embed="rId4">
            <a:alphaModFix/>
          </a:blip>
          <a:stretch>
            <a:fillRect/>
          </a:stretch>
        </p:blipFill>
        <p:spPr>
          <a:xfrm flipH="1">
            <a:off x="555019" y="2660861"/>
            <a:ext cx="622081" cy="690100"/>
          </a:xfrm>
          <a:prstGeom prst="rect">
            <a:avLst/>
          </a:prstGeom>
          <a:noFill/>
          <a:ln>
            <a:noFill/>
          </a:ln>
        </p:spPr>
      </p:pic>
      <p:sp>
        <p:nvSpPr>
          <p:cNvPr id="1062" name="Google Shape;1062;p85"/>
          <p:cNvSpPr txBox="1"/>
          <p:nvPr>
            <p:ph idx="1" type="body"/>
          </p:nvPr>
        </p:nvSpPr>
        <p:spPr>
          <a:xfrm>
            <a:off x="5997925" y="2458366"/>
            <a:ext cx="2822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Sofia shows her method. </a:t>
            </a:r>
            <a:endParaRPr sz="1800"/>
          </a:p>
        </p:txBody>
      </p:sp>
      <p:pic>
        <p:nvPicPr>
          <p:cNvPr id="1063" name="Google Shape;1063;p85"/>
          <p:cNvPicPr preferRelativeResize="0"/>
          <p:nvPr/>
        </p:nvPicPr>
        <p:blipFill rotWithShape="1">
          <a:blip r:embed="rId5">
            <a:alphaModFix/>
          </a:blip>
          <a:srcRect b="43690" l="0" r="57905" t="0"/>
          <a:stretch/>
        </p:blipFill>
        <p:spPr>
          <a:xfrm flipH="1">
            <a:off x="1063179" y="1696325"/>
            <a:ext cx="2759199" cy="1594976"/>
          </a:xfrm>
          <a:prstGeom prst="rect">
            <a:avLst/>
          </a:prstGeom>
          <a:noFill/>
          <a:ln>
            <a:noFill/>
          </a:ln>
        </p:spPr>
      </p:pic>
      <p:sp>
        <p:nvSpPr>
          <p:cNvPr id="1064" name="Google Shape;1064;p85"/>
          <p:cNvSpPr txBox="1"/>
          <p:nvPr>
            <p:ph idx="1" type="body"/>
          </p:nvPr>
        </p:nvSpPr>
        <p:spPr>
          <a:xfrm>
            <a:off x="1301425" y="1773925"/>
            <a:ext cx="2448900" cy="1233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I divided by 4 because there are four columns of </a:t>
            </a:r>
            <a:r>
              <a:rPr b="1" lang="en-GB" sz="1800"/>
              <a:t>data</a:t>
            </a:r>
            <a:r>
              <a:rPr lang="en-GB" sz="1800"/>
              <a:t> on the dot plot.</a:t>
            </a:r>
            <a:endParaRPr sz="1800"/>
          </a:p>
        </p:txBody>
      </p:sp>
      <p:pic>
        <p:nvPicPr>
          <p:cNvPr descr="&lt;math xmlns=&quot;http://www.w3.org/1998/Math/MathML&quot; display=&quot;block&quot; data-is-equatio=&quot;1&quot; data-latex=&quot;\frac{4+4+4+6+6+7+7+7+22+22+22}{4}=27.75&quot;&gt;&lt;mfrac&gt;&lt;mrow&gt;&lt;mn&gt;4&lt;/mn&gt;&lt;mo&gt;+&lt;/mo&gt;&lt;mn&gt;4&lt;/mn&gt;&lt;mo&gt;+&lt;/mo&gt;&lt;mn&gt;4&lt;/mn&gt;&lt;mo&gt;+&lt;/mo&gt;&lt;mn&gt;6&lt;/mn&gt;&lt;mo&gt;+&lt;/mo&gt;&lt;mn&gt;6&lt;/mn&gt;&lt;mo&gt;+&lt;/mo&gt;&lt;mn&gt;7&lt;/mn&gt;&lt;mo&gt;+&lt;/mo&gt;&lt;mn&gt;7&lt;/mn&gt;&lt;mo&gt;+&lt;/mo&gt;&lt;mn&gt;7&lt;/mn&gt;&lt;mo&gt;+&lt;/mo&gt;&lt;mn&gt;22&lt;/mn&gt;&lt;mo&gt;+&lt;/mo&gt;&lt;mn&gt;22&lt;/mn&gt;&lt;mo&gt;+&lt;/mo&gt;&lt;mn&gt;22&lt;/mn&gt;&lt;/mrow&gt;&lt;mn&gt;4&lt;/mn&gt;&lt;/mfrac&gt;&lt;mo&gt;=&lt;/mo&gt;&lt;mn&gt;27.75&lt;/mn&gt;&lt;/math&gt;" id="1065" name="Google Shape;1065;p85" title="the fraction with numerator 4 plus 4 plus 4 plus 6 plus 6 plus 7 plus 7 plus 7 plus 22 plus 22 plus 22 and denominator 4 equals 27.75"/>
          <p:cNvPicPr preferRelativeResize="0"/>
          <p:nvPr/>
        </p:nvPicPr>
        <p:blipFill rotWithShape="1">
          <a:blip r:embed="rId6">
            <a:alphaModFix/>
          </a:blip>
          <a:srcRect b="0" l="0" r="15002" t="0"/>
          <a:stretch/>
        </p:blipFill>
        <p:spPr>
          <a:xfrm>
            <a:off x="4017500" y="2907514"/>
            <a:ext cx="4017476" cy="443225"/>
          </a:xfrm>
          <a:prstGeom prst="rect">
            <a:avLst/>
          </a:prstGeom>
          <a:noFill/>
          <a:ln>
            <a:noFill/>
          </a:ln>
        </p:spPr>
      </p:pic>
      <p:pic>
        <p:nvPicPr>
          <p:cNvPr descr="&lt;math xmlns=&quot;http://www.w3.org/1998/Math/MathML&quot; display=&quot;block&quot; data-is-equatio=&quot;1&quot; data-latex=&quot;\frac{4+4+4+6+6+7+7+7+22+22+22}{4}=27.75&quot;&gt;&lt;mfrac&gt;&lt;mrow&gt;&lt;mn&gt;4&lt;/mn&gt;&lt;mo&gt;+&lt;/mo&gt;&lt;mn&gt;4&lt;/mn&gt;&lt;mo&gt;+&lt;/mo&gt;&lt;mn&gt;4&lt;/mn&gt;&lt;mo&gt;+&lt;/mo&gt;&lt;mn&gt;6&lt;/mn&gt;&lt;mo&gt;+&lt;/mo&gt;&lt;mn&gt;6&lt;/mn&gt;&lt;mo&gt;+&lt;/mo&gt;&lt;mn&gt;7&lt;/mn&gt;&lt;mo&gt;+&lt;/mo&gt;&lt;mn&gt;7&lt;/mn&gt;&lt;mo&gt;+&lt;/mo&gt;&lt;mn&gt;7&lt;/mn&gt;&lt;mo&gt;+&lt;/mo&gt;&lt;mn&gt;22&lt;/mn&gt;&lt;mo&gt;+&lt;/mo&gt;&lt;mn&gt;22&lt;/mn&gt;&lt;mo&gt;+&lt;/mo&gt;&lt;mn&gt;22&lt;/mn&gt;&lt;/mrow&gt;&lt;mn&gt;4&lt;/mn&gt;&lt;/mfrac&gt;&lt;mo&gt;=&lt;/mo&gt;&lt;mn&gt;27.75&lt;/mn&gt;&lt;/math&gt;" id="1066" name="Google Shape;1066;p85" title="the fraction with numerator 4 plus 4 plus 4 plus 6 plus 6 plus 7 plus 7 plus 7 plus 22 plus 22 plus 22 and denominator 4 equals 27.75"/>
          <p:cNvPicPr preferRelativeResize="0"/>
          <p:nvPr/>
        </p:nvPicPr>
        <p:blipFill rotWithShape="1">
          <a:blip r:embed="rId6">
            <a:alphaModFix/>
          </a:blip>
          <a:srcRect b="0" l="84368" r="0" t="0"/>
          <a:stretch/>
        </p:blipFill>
        <p:spPr>
          <a:xfrm>
            <a:off x="7978425" y="2907525"/>
            <a:ext cx="738824" cy="443225"/>
          </a:xfrm>
          <a:prstGeom prst="rect">
            <a:avLst/>
          </a:prstGeom>
          <a:noFill/>
          <a:ln>
            <a:noFill/>
          </a:ln>
        </p:spPr>
      </p:pic>
      <p:sp>
        <p:nvSpPr>
          <p:cNvPr id="1067" name="Google Shape;1067;p85"/>
          <p:cNvSpPr/>
          <p:nvPr/>
        </p:nvSpPr>
        <p:spPr>
          <a:xfrm>
            <a:off x="5852270" y="3151100"/>
            <a:ext cx="312300" cy="252300"/>
          </a:xfrm>
          <a:prstGeom prst="roundRect">
            <a:avLst>
              <a:gd fmla="val 31215"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8" name="Google Shape;1068;p85"/>
          <p:cNvSpPr txBox="1"/>
          <p:nvPr>
            <p:ph idx="1" type="body"/>
          </p:nvPr>
        </p:nvSpPr>
        <p:spPr>
          <a:xfrm>
            <a:off x="3894875" y="3715701"/>
            <a:ext cx="49251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At what step in her method did Sofia go wrong?</a:t>
            </a:r>
            <a:endParaRPr sz="1800"/>
          </a:p>
        </p:txBody>
      </p:sp>
      <p:sp>
        <p:nvSpPr>
          <p:cNvPr id="1069" name="Google Shape;1069;p85"/>
          <p:cNvSpPr txBox="1"/>
          <p:nvPr/>
        </p:nvSpPr>
        <p:spPr>
          <a:xfrm flipH="1">
            <a:off x="5025200" y="4571425"/>
            <a:ext cx="8637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1070" name="Google Shape;1070;p85"/>
          <p:cNvPicPr preferRelativeResize="0"/>
          <p:nvPr/>
        </p:nvPicPr>
        <p:blipFill>
          <a:blip r:embed="rId7">
            <a:alphaModFix/>
          </a:blip>
          <a:stretch>
            <a:fillRect/>
          </a:stretch>
        </p:blipFill>
        <p:spPr>
          <a:xfrm flipH="1">
            <a:off x="5179305" y="3779996"/>
            <a:ext cx="622074" cy="814727"/>
          </a:xfrm>
          <a:prstGeom prst="rect">
            <a:avLst/>
          </a:prstGeom>
          <a:noFill/>
          <a:ln>
            <a:noFill/>
          </a:ln>
        </p:spPr>
      </p:pic>
      <p:pic>
        <p:nvPicPr>
          <p:cNvPr id="1071" name="Google Shape;1071;p85"/>
          <p:cNvPicPr preferRelativeResize="0"/>
          <p:nvPr/>
        </p:nvPicPr>
        <p:blipFill rotWithShape="1">
          <a:blip r:embed="rId5">
            <a:alphaModFix/>
          </a:blip>
          <a:srcRect b="43690" l="0" r="57905" t="0"/>
          <a:stretch/>
        </p:blipFill>
        <p:spPr>
          <a:xfrm>
            <a:off x="1333175" y="3280375"/>
            <a:ext cx="3778826" cy="1205224"/>
          </a:xfrm>
          <a:prstGeom prst="rect">
            <a:avLst/>
          </a:prstGeom>
          <a:noFill/>
          <a:ln>
            <a:noFill/>
          </a:ln>
        </p:spPr>
      </p:pic>
      <p:sp>
        <p:nvSpPr>
          <p:cNvPr id="1072" name="Google Shape;1072;p85"/>
          <p:cNvSpPr txBox="1"/>
          <p:nvPr>
            <p:ph idx="1" type="body"/>
          </p:nvPr>
        </p:nvSpPr>
        <p:spPr>
          <a:xfrm flipH="1">
            <a:off x="1408100" y="3330375"/>
            <a:ext cx="34794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This is wrong. You still need to divide by 11, as there are 11 dots on the dot plot!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6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86"/>
          <p:cNvSpPr txBox="1"/>
          <p:nvPr>
            <p:ph idx="1" type="body"/>
          </p:nvPr>
        </p:nvSpPr>
        <p:spPr>
          <a:xfrm>
            <a:off x="324000" y="683100"/>
            <a:ext cx="4706700" cy="149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000"/>
              <a:t>Three of the five values below show the averages for this dot plot.</a:t>
            </a:r>
            <a:endParaRPr sz="2000"/>
          </a:p>
          <a:p>
            <a:pPr indent="0" lvl="0" marL="0" rtl="0" algn="l">
              <a:spcBef>
                <a:spcPts val="1000"/>
              </a:spcBef>
              <a:spcAft>
                <a:spcPts val="1000"/>
              </a:spcAft>
              <a:buNone/>
            </a:pPr>
            <a:r>
              <a:rPr lang="en-GB" sz="2000"/>
              <a:t>Which values do not represent an average, and why?</a:t>
            </a:r>
            <a:endParaRPr sz="2000"/>
          </a:p>
        </p:txBody>
      </p:sp>
      <p:sp>
        <p:nvSpPr>
          <p:cNvPr id="1078" name="Google Shape;1078;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Dealing with an unrepresentative mean</a:t>
            </a:r>
            <a:endParaRPr/>
          </a:p>
        </p:txBody>
      </p:sp>
      <p:pic>
        <p:nvPicPr>
          <p:cNvPr id="1079" name="Google Shape;1079;p86"/>
          <p:cNvPicPr preferRelativeResize="0"/>
          <p:nvPr/>
        </p:nvPicPr>
        <p:blipFill>
          <a:blip r:embed="rId3">
            <a:alphaModFix/>
          </a:blip>
          <a:stretch>
            <a:fillRect/>
          </a:stretch>
        </p:blipFill>
        <p:spPr>
          <a:xfrm>
            <a:off x="5094100" y="683100"/>
            <a:ext cx="3725901" cy="3715324"/>
          </a:xfrm>
          <a:prstGeom prst="rect">
            <a:avLst/>
          </a:prstGeom>
          <a:noFill/>
          <a:ln cap="flat" cmpd="sng" w="19050">
            <a:solidFill>
              <a:schemeClr val="dk1"/>
            </a:solidFill>
            <a:prstDash val="solid"/>
            <a:round/>
            <a:headEnd len="sm" w="sm" type="none"/>
            <a:tailEnd len="sm" w="sm" type="none"/>
          </a:ln>
        </p:spPr>
      </p:pic>
      <p:pic>
        <p:nvPicPr>
          <p:cNvPr id="1080" name="Google Shape;1080;p86"/>
          <p:cNvPicPr preferRelativeResize="0"/>
          <p:nvPr/>
        </p:nvPicPr>
        <p:blipFill>
          <a:blip r:embed="rId4">
            <a:alphaModFix/>
          </a:blip>
          <a:stretch>
            <a:fillRect/>
          </a:stretch>
        </p:blipFill>
        <p:spPr>
          <a:xfrm>
            <a:off x="4319996" y="3015371"/>
            <a:ext cx="396000" cy="419100"/>
          </a:xfrm>
          <a:prstGeom prst="rect">
            <a:avLst/>
          </a:prstGeom>
          <a:noFill/>
          <a:ln>
            <a:noFill/>
          </a:ln>
        </p:spPr>
      </p:pic>
      <p:sp>
        <p:nvSpPr>
          <p:cNvPr id="1081" name="Google Shape;1081;p86"/>
          <p:cNvSpPr txBox="1"/>
          <p:nvPr>
            <p:ph idx="1" type="body"/>
          </p:nvPr>
        </p:nvSpPr>
        <p:spPr>
          <a:xfrm>
            <a:off x="324000" y="3719817"/>
            <a:ext cx="47067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49 is bigger than the maximum value in the </a:t>
            </a:r>
            <a:r>
              <a:rPr b="1" lang="en-GB" sz="2000">
                <a:latin typeface="Kalam"/>
                <a:ea typeface="Kalam"/>
                <a:cs typeface="Kalam"/>
                <a:sym typeface="Kalam"/>
              </a:rPr>
              <a:t>data</a:t>
            </a:r>
            <a:r>
              <a:rPr lang="en-GB" sz="2000">
                <a:latin typeface="Kalam"/>
                <a:ea typeface="Kalam"/>
                <a:cs typeface="Kalam"/>
                <a:sym typeface="Kalam"/>
              </a:rPr>
              <a:t> set</a:t>
            </a:r>
            <a:r>
              <a:rPr lang="en-GB" sz="2000">
                <a:latin typeface="Kalam"/>
                <a:ea typeface="Kalam"/>
                <a:cs typeface="Kalam"/>
                <a:sym typeface="Kalam"/>
              </a:rPr>
              <a:t>. 16 is the maximum value, with a low frequency of 1.</a:t>
            </a:r>
            <a:endParaRPr sz="2000">
              <a:latin typeface="Kalam"/>
              <a:ea typeface="Kalam"/>
              <a:cs typeface="Kalam"/>
              <a:sym typeface="Kalam"/>
            </a:endParaRPr>
          </a:p>
        </p:txBody>
      </p:sp>
      <p:pic>
        <p:nvPicPr>
          <p:cNvPr id="1082" name="Google Shape;1082;p86"/>
          <p:cNvPicPr preferRelativeResize="0"/>
          <p:nvPr/>
        </p:nvPicPr>
        <p:blipFill>
          <a:blip r:embed="rId4">
            <a:alphaModFix/>
          </a:blip>
          <a:stretch>
            <a:fillRect/>
          </a:stretch>
        </p:blipFill>
        <p:spPr>
          <a:xfrm>
            <a:off x="2841096" y="2517496"/>
            <a:ext cx="396000" cy="419100"/>
          </a:xfrm>
          <a:prstGeom prst="rect">
            <a:avLst/>
          </a:prstGeom>
          <a:noFill/>
          <a:ln>
            <a:noFill/>
          </a:ln>
        </p:spPr>
      </p:pic>
      <p:grpSp>
        <p:nvGrpSpPr>
          <p:cNvPr id="1083" name="Google Shape;1083;p86"/>
          <p:cNvGrpSpPr/>
          <p:nvPr/>
        </p:nvGrpSpPr>
        <p:grpSpPr>
          <a:xfrm>
            <a:off x="323991" y="2418600"/>
            <a:ext cx="457200" cy="457200"/>
            <a:chOff x="1020916" y="1442088"/>
            <a:chExt cx="457200" cy="457200"/>
          </a:xfrm>
        </p:grpSpPr>
        <p:pic>
          <p:nvPicPr>
            <p:cNvPr id="1084" name="Google Shape;1084;p86"/>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85" name="Google Shape;1085;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86" name="Google Shape;1086;p86"/>
          <p:cNvGrpSpPr/>
          <p:nvPr/>
        </p:nvGrpSpPr>
        <p:grpSpPr>
          <a:xfrm>
            <a:off x="1739216" y="2498425"/>
            <a:ext cx="457200" cy="457200"/>
            <a:chOff x="1020916" y="1442088"/>
            <a:chExt cx="457200" cy="457200"/>
          </a:xfrm>
        </p:grpSpPr>
        <p:pic>
          <p:nvPicPr>
            <p:cNvPr id="1087" name="Google Shape;1087;p86"/>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88" name="Google Shape;1088;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89" name="Google Shape;1089;p86"/>
          <p:cNvGrpSpPr/>
          <p:nvPr/>
        </p:nvGrpSpPr>
        <p:grpSpPr>
          <a:xfrm>
            <a:off x="323991" y="2981688"/>
            <a:ext cx="457200" cy="457200"/>
            <a:chOff x="1020916" y="1442088"/>
            <a:chExt cx="457200" cy="457200"/>
          </a:xfrm>
        </p:grpSpPr>
        <p:pic>
          <p:nvPicPr>
            <p:cNvPr id="1090" name="Google Shape;1090;p86"/>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91" name="Google Shape;1091;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92" name="Google Shape;1092;p86"/>
          <p:cNvGrpSpPr/>
          <p:nvPr/>
        </p:nvGrpSpPr>
        <p:grpSpPr>
          <a:xfrm>
            <a:off x="1739216" y="3015563"/>
            <a:ext cx="457200" cy="457200"/>
            <a:chOff x="1020916" y="1442088"/>
            <a:chExt cx="457200" cy="457200"/>
          </a:xfrm>
        </p:grpSpPr>
        <p:pic>
          <p:nvPicPr>
            <p:cNvPr id="1093" name="Google Shape;1093;p86"/>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94" name="Google Shape;1094;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095" name="Google Shape;1095;p86"/>
          <p:cNvGrpSpPr/>
          <p:nvPr/>
        </p:nvGrpSpPr>
        <p:grpSpPr>
          <a:xfrm>
            <a:off x="3369591" y="2996313"/>
            <a:ext cx="457200" cy="457200"/>
            <a:chOff x="1020916" y="1442088"/>
            <a:chExt cx="457200" cy="457200"/>
          </a:xfrm>
        </p:grpSpPr>
        <p:pic>
          <p:nvPicPr>
            <p:cNvPr id="1096" name="Google Shape;1096;p86"/>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97" name="Google Shape;1097;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sp>
        <p:nvSpPr>
          <p:cNvPr id="1098" name="Google Shape;1098;p86"/>
          <p:cNvSpPr txBox="1"/>
          <p:nvPr/>
        </p:nvSpPr>
        <p:spPr>
          <a:xfrm>
            <a:off x="826750" y="2446425"/>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p:txBody>
      </p:sp>
      <p:sp>
        <p:nvSpPr>
          <p:cNvPr id="1099" name="Google Shape;1099;p86"/>
          <p:cNvSpPr txBox="1"/>
          <p:nvPr/>
        </p:nvSpPr>
        <p:spPr>
          <a:xfrm>
            <a:off x="2276763" y="2496188"/>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16</a:t>
            </a:r>
            <a:endParaRPr sz="1800">
              <a:solidFill>
                <a:schemeClr val="dk1"/>
              </a:solidFill>
              <a:latin typeface="Lexend"/>
              <a:ea typeface="Lexend"/>
              <a:cs typeface="Lexend"/>
              <a:sym typeface="Lexend"/>
            </a:endParaRPr>
          </a:p>
        </p:txBody>
      </p:sp>
      <p:sp>
        <p:nvSpPr>
          <p:cNvPr id="1100" name="Google Shape;1100;p86"/>
          <p:cNvSpPr txBox="1"/>
          <p:nvPr/>
        </p:nvSpPr>
        <p:spPr>
          <a:xfrm>
            <a:off x="826750" y="2989575"/>
            <a:ext cx="85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7.82</a:t>
            </a:r>
            <a:endParaRPr sz="1800">
              <a:solidFill>
                <a:schemeClr val="dk1"/>
              </a:solidFill>
              <a:latin typeface="Lexend"/>
              <a:ea typeface="Lexend"/>
              <a:cs typeface="Lexend"/>
              <a:sym typeface="Lexend"/>
            </a:endParaRPr>
          </a:p>
        </p:txBody>
      </p:sp>
      <p:sp>
        <p:nvSpPr>
          <p:cNvPr id="1101" name="Google Shape;1101;p86"/>
          <p:cNvSpPr txBox="1"/>
          <p:nvPr/>
        </p:nvSpPr>
        <p:spPr>
          <a:xfrm>
            <a:off x="2276775" y="3025250"/>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102" name="Google Shape;1102;p86"/>
          <p:cNvSpPr txBox="1"/>
          <p:nvPr/>
        </p:nvSpPr>
        <p:spPr>
          <a:xfrm>
            <a:off x="3826800" y="2994050"/>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49</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87"/>
          <p:cNvSpPr txBox="1"/>
          <p:nvPr>
            <p:ph idx="4294967295" type="body"/>
          </p:nvPr>
        </p:nvSpPr>
        <p:spPr>
          <a:xfrm>
            <a:off x="324000" y="62615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1) Match the mean to each </a:t>
            </a:r>
            <a:r>
              <a:rPr lang="en-GB" sz="1800"/>
              <a:t>data set</a:t>
            </a:r>
            <a:r>
              <a:rPr lang="en-GB" sz="1800"/>
              <a:t>.</a:t>
            </a:r>
            <a:endParaRPr sz="1800"/>
          </a:p>
        </p:txBody>
      </p:sp>
      <p:sp>
        <p:nvSpPr>
          <p:cNvPr id="1108" name="Google Shape;1108;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mean</a:t>
            </a:r>
            <a:endParaRPr/>
          </a:p>
        </p:txBody>
      </p:sp>
      <p:graphicFrame>
        <p:nvGraphicFramePr>
          <p:cNvPr id="1109" name="Google Shape;1109;p87"/>
          <p:cNvGraphicFramePr/>
          <p:nvPr/>
        </p:nvGraphicFramePr>
        <p:xfrm>
          <a:off x="919950" y="1895796"/>
          <a:ext cx="3000000" cy="3000000"/>
        </p:xfrm>
        <a:graphic>
          <a:graphicData uri="http://schemas.openxmlformats.org/drawingml/2006/table">
            <a:tbl>
              <a:tblPr>
                <a:noFill/>
                <a:tableStyleId>{941F9DB1-44A7-4DC4-A338-CBB8A8854EF6}</a:tableStyleId>
              </a:tblPr>
              <a:tblGrid>
                <a:gridCol w="620100"/>
                <a:gridCol w="620100"/>
                <a:gridCol w="620100"/>
                <a:gridCol w="620100"/>
                <a:gridCol w="620100"/>
                <a:gridCol w="620100"/>
                <a:gridCol w="620100"/>
                <a:gridCol w="620100"/>
              </a:tblGrid>
              <a:tr h="33337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110" name="Google Shape;1110;p87"/>
          <p:cNvGraphicFramePr/>
          <p:nvPr/>
        </p:nvGraphicFramePr>
        <p:xfrm>
          <a:off x="919950" y="1451827"/>
          <a:ext cx="3000000" cy="3000000"/>
        </p:xfrm>
        <a:graphic>
          <a:graphicData uri="http://schemas.openxmlformats.org/drawingml/2006/table">
            <a:tbl>
              <a:tblPr>
                <a:noFill/>
                <a:tableStyleId>{941F9DB1-44A7-4DC4-A338-CBB8A8854EF6}</a:tableStyleId>
              </a:tblPr>
              <a:tblGrid>
                <a:gridCol w="620100"/>
                <a:gridCol w="620100"/>
                <a:gridCol w="620100"/>
                <a:gridCol w="620100"/>
                <a:gridCol w="620100"/>
                <a:gridCol w="620100"/>
                <a:gridCol w="620100"/>
                <a:gridCol w="620100"/>
                <a:gridCol w="620100"/>
              </a:tblGrid>
              <a:tr h="333375">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111" name="Google Shape;1111;p87"/>
          <p:cNvGraphicFramePr/>
          <p:nvPr/>
        </p:nvGraphicFramePr>
        <p:xfrm>
          <a:off x="919950" y="1007858"/>
          <a:ext cx="3000000" cy="3000000"/>
        </p:xfrm>
        <a:graphic>
          <a:graphicData uri="http://schemas.openxmlformats.org/drawingml/2006/table">
            <a:tbl>
              <a:tblPr>
                <a:noFill/>
                <a:tableStyleId>{941F9DB1-44A7-4DC4-A338-CBB8A8854EF6}</a:tableStyleId>
              </a:tblPr>
              <a:tblGrid>
                <a:gridCol w="620100"/>
                <a:gridCol w="620100"/>
                <a:gridCol w="620100"/>
                <a:gridCol w="620100"/>
                <a:gridCol w="620100"/>
                <a:gridCol w="620100"/>
                <a:gridCol w="620100"/>
                <a:gridCol w="620100"/>
                <a:gridCol w="620100"/>
              </a:tblGrid>
              <a:tr h="33337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12" name="Google Shape;1112;p87"/>
          <p:cNvSpPr txBox="1"/>
          <p:nvPr>
            <p:ph idx="4294967295" type="body"/>
          </p:nvPr>
        </p:nvSpPr>
        <p:spPr>
          <a:xfrm>
            <a:off x="547500" y="1007833"/>
            <a:ext cx="372600" cy="352500"/>
          </a:xfrm>
          <a:prstGeom prst="rect">
            <a:avLst/>
          </a:prstGeom>
        </p:spPr>
        <p:txBody>
          <a:bodyPr anchorCtr="0" anchor="ctr" bIns="91425" lIns="0" spcFirstLastPara="1" rIns="91425" wrap="square" tIns="91425">
            <a:noAutofit/>
          </a:bodyPr>
          <a:lstStyle/>
          <a:p>
            <a:pPr indent="0" lvl="0" marL="0" rtl="0" algn="l">
              <a:lnSpc>
                <a:spcPct val="100000"/>
              </a:lnSpc>
              <a:spcBef>
                <a:spcPts val="0"/>
              </a:spcBef>
              <a:spcAft>
                <a:spcPts val="0"/>
              </a:spcAft>
              <a:buNone/>
            </a:pPr>
            <a:r>
              <a:rPr lang="en-GB" sz="1800"/>
              <a:t>a) </a:t>
            </a:r>
            <a:endParaRPr sz="1800"/>
          </a:p>
        </p:txBody>
      </p:sp>
      <p:sp>
        <p:nvSpPr>
          <p:cNvPr id="1113" name="Google Shape;1113;p87"/>
          <p:cNvSpPr txBox="1"/>
          <p:nvPr>
            <p:ph idx="4294967295" type="body"/>
          </p:nvPr>
        </p:nvSpPr>
        <p:spPr>
          <a:xfrm>
            <a:off x="547500" y="1451796"/>
            <a:ext cx="372600" cy="352500"/>
          </a:xfrm>
          <a:prstGeom prst="rect">
            <a:avLst/>
          </a:prstGeom>
        </p:spPr>
        <p:txBody>
          <a:bodyPr anchorCtr="0" anchor="ctr" bIns="91425" lIns="0" spcFirstLastPara="1" rIns="91425" wrap="square" tIns="91425">
            <a:noAutofit/>
          </a:bodyPr>
          <a:lstStyle/>
          <a:p>
            <a:pPr indent="0" lvl="0" marL="0" rtl="0" algn="l">
              <a:lnSpc>
                <a:spcPct val="100000"/>
              </a:lnSpc>
              <a:spcBef>
                <a:spcPts val="0"/>
              </a:spcBef>
              <a:spcAft>
                <a:spcPts val="0"/>
              </a:spcAft>
              <a:buNone/>
            </a:pPr>
            <a:r>
              <a:rPr lang="en-GB" sz="1800"/>
              <a:t>b) </a:t>
            </a:r>
            <a:endParaRPr sz="1800"/>
          </a:p>
        </p:txBody>
      </p:sp>
      <p:sp>
        <p:nvSpPr>
          <p:cNvPr id="1114" name="Google Shape;1114;p87"/>
          <p:cNvSpPr txBox="1"/>
          <p:nvPr>
            <p:ph idx="4294967295" type="body"/>
          </p:nvPr>
        </p:nvSpPr>
        <p:spPr>
          <a:xfrm>
            <a:off x="547500" y="1895771"/>
            <a:ext cx="372600" cy="352500"/>
          </a:xfrm>
          <a:prstGeom prst="rect">
            <a:avLst/>
          </a:prstGeom>
        </p:spPr>
        <p:txBody>
          <a:bodyPr anchorCtr="0" anchor="ctr" bIns="91425" lIns="0" spcFirstLastPara="1" rIns="91425" wrap="square" tIns="91425">
            <a:noAutofit/>
          </a:bodyPr>
          <a:lstStyle/>
          <a:p>
            <a:pPr indent="0" lvl="0" marL="0" rtl="0" algn="l">
              <a:lnSpc>
                <a:spcPct val="100000"/>
              </a:lnSpc>
              <a:spcBef>
                <a:spcPts val="0"/>
              </a:spcBef>
              <a:spcAft>
                <a:spcPts val="0"/>
              </a:spcAft>
              <a:buNone/>
            </a:pPr>
            <a:r>
              <a:rPr lang="en-GB" sz="1800"/>
              <a:t>c) </a:t>
            </a:r>
            <a:endParaRPr sz="1800"/>
          </a:p>
        </p:txBody>
      </p:sp>
      <p:sp>
        <p:nvSpPr>
          <p:cNvPr id="1115" name="Google Shape;1115;p87"/>
          <p:cNvSpPr/>
          <p:nvPr/>
        </p:nvSpPr>
        <p:spPr>
          <a:xfrm>
            <a:off x="7459200" y="755608"/>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a:t>
            </a:r>
            <a:r>
              <a:rPr lang="en-GB" sz="1800">
                <a:solidFill>
                  <a:srgbClr val="202124"/>
                </a:solidFill>
                <a:latin typeface="Lexend"/>
                <a:ea typeface="Lexend"/>
                <a:cs typeface="Lexend"/>
                <a:sym typeface="Lexend"/>
              </a:rPr>
              <a:t>−</a:t>
            </a: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116" name="Google Shape;1116;p87"/>
          <p:cNvSpPr/>
          <p:nvPr/>
        </p:nvSpPr>
        <p:spPr>
          <a:xfrm>
            <a:off x="7459200" y="1244842"/>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0</a:t>
            </a:r>
            <a:endParaRPr sz="1800">
              <a:solidFill>
                <a:schemeClr val="dk1"/>
              </a:solidFill>
              <a:latin typeface="Lexend"/>
              <a:ea typeface="Lexend"/>
              <a:cs typeface="Lexend"/>
              <a:sym typeface="Lexend"/>
            </a:endParaRPr>
          </a:p>
        </p:txBody>
      </p:sp>
      <p:sp>
        <p:nvSpPr>
          <p:cNvPr id="1117" name="Google Shape;1117;p87"/>
          <p:cNvSpPr/>
          <p:nvPr/>
        </p:nvSpPr>
        <p:spPr>
          <a:xfrm>
            <a:off x="7459200" y="1734075"/>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6</a:t>
            </a:r>
            <a:endParaRPr sz="1800">
              <a:solidFill>
                <a:schemeClr val="dk1"/>
              </a:solidFill>
              <a:latin typeface="Lexend"/>
              <a:ea typeface="Lexend"/>
              <a:cs typeface="Lexend"/>
              <a:sym typeface="Lexend"/>
            </a:endParaRPr>
          </a:p>
        </p:txBody>
      </p:sp>
      <p:sp>
        <p:nvSpPr>
          <p:cNvPr id="1118" name="Google Shape;1118;p87"/>
          <p:cNvSpPr/>
          <p:nvPr/>
        </p:nvSpPr>
        <p:spPr>
          <a:xfrm>
            <a:off x="7459200" y="2223308"/>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14</a:t>
            </a:r>
            <a:endParaRPr sz="1800">
              <a:solidFill>
                <a:schemeClr val="dk1"/>
              </a:solidFill>
              <a:latin typeface="Lexend"/>
              <a:ea typeface="Lexend"/>
              <a:cs typeface="Lexend"/>
              <a:sym typeface="Lexend"/>
            </a:endParaRPr>
          </a:p>
        </p:txBody>
      </p:sp>
      <p:graphicFrame>
        <p:nvGraphicFramePr>
          <p:cNvPr id="1119" name="Google Shape;1119;p87"/>
          <p:cNvGraphicFramePr/>
          <p:nvPr/>
        </p:nvGraphicFramePr>
        <p:xfrm>
          <a:off x="919950" y="2962800"/>
          <a:ext cx="3000000" cy="3000000"/>
        </p:xfrm>
        <a:graphic>
          <a:graphicData uri="http://schemas.openxmlformats.org/drawingml/2006/table">
            <a:tbl>
              <a:tblPr>
                <a:noFill/>
                <a:tableStyleId>{941F9DB1-44A7-4DC4-A338-CBB8A8854EF6}</a:tableStyleId>
              </a:tblPr>
              <a:tblGrid>
                <a:gridCol w="558100"/>
                <a:gridCol w="558100"/>
                <a:gridCol w="558100"/>
                <a:gridCol w="558100"/>
                <a:gridCol w="558100"/>
                <a:gridCol w="558100"/>
                <a:gridCol w="558100"/>
                <a:gridCol w="558100"/>
                <a:gridCol w="558100"/>
                <a:gridCol w="558100"/>
              </a:tblGrid>
              <a:tr h="33337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49</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20" name="Google Shape;1120;p87"/>
          <p:cNvSpPr txBox="1"/>
          <p:nvPr>
            <p:ph idx="4294967295" type="body"/>
          </p:nvPr>
        </p:nvSpPr>
        <p:spPr>
          <a:xfrm>
            <a:off x="324000" y="2962800"/>
            <a:ext cx="8496000" cy="1614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2) </a:t>
            </a:r>
            <a:endParaRPr sz="1800"/>
          </a:p>
          <a:p>
            <a:pPr indent="0" lvl="0" marL="0" rtl="0" algn="l">
              <a:spcBef>
                <a:spcPts val="1000"/>
              </a:spcBef>
              <a:spcAft>
                <a:spcPts val="0"/>
              </a:spcAft>
              <a:buNone/>
            </a:pPr>
            <a:r>
              <a:rPr lang="en-GB" sz="1800"/>
              <a:t>a) Calculate the mean of this </a:t>
            </a:r>
            <a:r>
              <a:rPr lang="en-GB" sz="1800"/>
              <a:t>data set</a:t>
            </a:r>
            <a:r>
              <a:rPr lang="en-GB" sz="1800"/>
              <a:t>.</a:t>
            </a:r>
            <a:endParaRPr sz="1800"/>
          </a:p>
          <a:p>
            <a:pPr indent="0" lvl="0" marL="0" rtl="0" algn="l">
              <a:spcBef>
                <a:spcPts val="1000"/>
              </a:spcBef>
              <a:spcAft>
                <a:spcPts val="1000"/>
              </a:spcAft>
              <a:buNone/>
            </a:pPr>
            <a:r>
              <a:rPr lang="en-GB" sz="1800"/>
              <a:t>b) Explain whether the mean is a representative summary of the </a:t>
            </a:r>
            <a:r>
              <a:rPr lang="en-GB" sz="1800"/>
              <a:t>data set</a:t>
            </a:r>
            <a:r>
              <a:rPr lang="en-GB" sz="1800"/>
              <a:t> or not.</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88"/>
          <p:cNvSpPr txBox="1"/>
          <p:nvPr>
            <p:ph idx="4294967295" type="body"/>
          </p:nvPr>
        </p:nvSpPr>
        <p:spPr>
          <a:xfrm>
            <a:off x="324000" y="62615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3</a:t>
            </a:r>
            <a:r>
              <a:rPr lang="en-GB" sz="1800"/>
              <a:t>) Match the mean to each dot plot.</a:t>
            </a:r>
            <a:endParaRPr sz="1800"/>
          </a:p>
        </p:txBody>
      </p:sp>
      <p:sp>
        <p:nvSpPr>
          <p:cNvPr id="1126" name="Google Shape;1126;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mean</a:t>
            </a:r>
            <a:endParaRPr/>
          </a:p>
        </p:txBody>
      </p:sp>
      <p:sp>
        <p:nvSpPr>
          <p:cNvPr id="1127" name="Google Shape;1127;p88"/>
          <p:cNvSpPr/>
          <p:nvPr/>
        </p:nvSpPr>
        <p:spPr>
          <a:xfrm>
            <a:off x="7417750" y="755600"/>
            <a:ext cx="14022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5.3</a:t>
            </a:r>
            <a:endParaRPr sz="1800">
              <a:solidFill>
                <a:schemeClr val="dk1"/>
              </a:solidFill>
              <a:latin typeface="Lexend"/>
              <a:ea typeface="Lexend"/>
              <a:cs typeface="Lexend"/>
              <a:sym typeface="Lexend"/>
            </a:endParaRPr>
          </a:p>
        </p:txBody>
      </p:sp>
      <p:sp>
        <p:nvSpPr>
          <p:cNvPr id="1128" name="Google Shape;1128;p88"/>
          <p:cNvSpPr/>
          <p:nvPr/>
        </p:nvSpPr>
        <p:spPr>
          <a:xfrm>
            <a:off x="7417800" y="1244850"/>
            <a:ext cx="14022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10.2</a:t>
            </a:r>
            <a:endParaRPr sz="1800">
              <a:solidFill>
                <a:schemeClr val="dk1"/>
              </a:solidFill>
              <a:latin typeface="Lexend"/>
              <a:ea typeface="Lexend"/>
              <a:cs typeface="Lexend"/>
              <a:sym typeface="Lexend"/>
            </a:endParaRPr>
          </a:p>
        </p:txBody>
      </p:sp>
      <p:sp>
        <p:nvSpPr>
          <p:cNvPr id="1129" name="Google Shape;1129;p88"/>
          <p:cNvSpPr/>
          <p:nvPr/>
        </p:nvSpPr>
        <p:spPr>
          <a:xfrm>
            <a:off x="7417800" y="1734075"/>
            <a:ext cx="14022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11.9</a:t>
            </a:r>
            <a:endParaRPr sz="1800">
              <a:solidFill>
                <a:schemeClr val="dk1"/>
              </a:solidFill>
              <a:latin typeface="Lexend"/>
              <a:ea typeface="Lexend"/>
              <a:cs typeface="Lexend"/>
              <a:sym typeface="Lexend"/>
            </a:endParaRPr>
          </a:p>
        </p:txBody>
      </p:sp>
      <p:sp>
        <p:nvSpPr>
          <p:cNvPr id="1130" name="Google Shape;1130;p88"/>
          <p:cNvSpPr/>
          <p:nvPr/>
        </p:nvSpPr>
        <p:spPr>
          <a:xfrm>
            <a:off x="7417800" y="2223300"/>
            <a:ext cx="14022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17.1</a:t>
            </a:r>
            <a:endParaRPr sz="1800">
              <a:solidFill>
                <a:schemeClr val="dk1"/>
              </a:solidFill>
              <a:latin typeface="Lexend"/>
              <a:ea typeface="Lexend"/>
              <a:cs typeface="Lexend"/>
              <a:sym typeface="Lexend"/>
            </a:endParaRPr>
          </a:p>
        </p:txBody>
      </p:sp>
      <p:pic>
        <p:nvPicPr>
          <p:cNvPr id="1131" name="Google Shape;1131;p88"/>
          <p:cNvPicPr preferRelativeResize="0"/>
          <p:nvPr/>
        </p:nvPicPr>
        <p:blipFill rotWithShape="1">
          <a:blip r:embed="rId3">
            <a:alphaModFix/>
          </a:blip>
          <a:srcRect b="0" l="0" r="10889" t="0"/>
          <a:stretch/>
        </p:blipFill>
        <p:spPr>
          <a:xfrm>
            <a:off x="5301925" y="979550"/>
            <a:ext cx="1945475" cy="3764650"/>
          </a:xfrm>
          <a:prstGeom prst="rect">
            <a:avLst/>
          </a:prstGeom>
          <a:noFill/>
          <a:ln cap="flat" cmpd="sng" w="19050">
            <a:solidFill>
              <a:schemeClr val="dk1"/>
            </a:solidFill>
            <a:prstDash val="solid"/>
            <a:round/>
            <a:headEnd len="sm" w="sm" type="none"/>
            <a:tailEnd len="sm" w="sm" type="none"/>
          </a:ln>
        </p:spPr>
      </p:pic>
      <p:pic>
        <p:nvPicPr>
          <p:cNvPr id="1132" name="Google Shape;1132;p88"/>
          <p:cNvPicPr preferRelativeResize="0"/>
          <p:nvPr/>
        </p:nvPicPr>
        <p:blipFill>
          <a:blip r:embed="rId4">
            <a:alphaModFix/>
          </a:blip>
          <a:stretch>
            <a:fillRect/>
          </a:stretch>
        </p:blipFill>
        <p:spPr>
          <a:xfrm>
            <a:off x="628807" y="981125"/>
            <a:ext cx="1904064" cy="3764650"/>
          </a:xfrm>
          <a:prstGeom prst="rect">
            <a:avLst/>
          </a:prstGeom>
          <a:noFill/>
          <a:ln cap="flat" cmpd="sng" w="19050">
            <a:solidFill>
              <a:schemeClr val="dk1"/>
            </a:solidFill>
            <a:prstDash val="solid"/>
            <a:round/>
            <a:headEnd len="sm" w="sm" type="none"/>
            <a:tailEnd len="sm" w="sm" type="none"/>
          </a:ln>
        </p:spPr>
      </p:pic>
      <p:pic>
        <p:nvPicPr>
          <p:cNvPr id="1133" name="Google Shape;1133;p88"/>
          <p:cNvPicPr preferRelativeResize="0"/>
          <p:nvPr/>
        </p:nvPicPr>
        <p:blipFill>
          <a:blip r:embed="rId5">
            <a:alphaModFix/>
          </a:blip>
          <a:stretch>
            <a:fillRect/>
          </a:stretch>
        </p:blipFill>
        <p:spPr>
          <a:xfrm>
            <a:off x="2990075" y="979550"/>
            <a:ext cx="1778460" cy="3764651"/>
          </a:xfrm>
          <a:prstGeom prst="rect">
            <a:avLst/>
          </a:prstGeom>
          <a:noFill/>
          <a:ln cap="flat" cmpd="sng" w="19050">
            <a:solidFill>
              <a:schemeClr val="dk1"/>
            </a:solidFill>
            <a:prstDash val="solid"/>
            <a:round/>
            <a:headEnd len="sm" w="sm" type="none"/>
            <a:tailEnd len="sm" w="sm" type="none"/>
          </a:ln>
        </p:spPr>
      </p:pic>
      <p:sp>
        <p:nvSpPr>
          <p:cNvPr id="1134" name="Google Shape;1134;p88"/>
          <p:cNvSpPr txBox="1"/>
          <p:nvPr/>
        </p:nvSpPr>
        <p:spPr>
          <a:xfrm>
            <a:off x="226000" y="981125"/>
            <a:ext cx="46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35" name="Google Shape;1135;p88"/>
          <p:cNvSpPr txBox="1"/>
          <p:nvPr/>
        </p:nvSpPr>
        <p:spPr>
          <a:xfrm>
            <a:off x="2532875" y="981125"/>
            <a:ext cx="46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136" name="Google Shape;1136;p88"/>
          <p:cNvSpPr txBox="1"/>
          <p:nvPr/>
        </p:nvSpPr>
        <p:spPr>
          <a:xfrm>
            <a:off x="4804525" y="981125"/>
            <a:ext cx="46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89"/>
          <p:cNvSpPr txBox="1"/>
          <p:nvPr>
            <p:ph idx="4294967295" type="body"/>
          </p:nvPr>
        </p:nvSpPr>
        <p:spPr>
          <a:xfrm>
            <a:off x="324000" y="62615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1) Match the mean to each </a:t>
            </a:r>
            <a:r>
              <a:rPr lang="en-GB" sz="1800"/>
              <a:t>data set</a:t>
            </a:r>
            <a:r>
              <a:rPr lang="en-GB" sz="1800"/>
              <a:t>.</a:t>
            </a:r>
            <a:endParaRPr sz="1800"/>
          </a:p>
        </p:txBody>
      </p:sp>
      <p:sp>
        <p:nvSpPr>
          <p:cNvPr id="1142" name="Google Shape;1142;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mean</a:t>
            </a:r>
            <a:endParaRPr/>
          </a:p>
        </p:txBody>
      </p:sp>
      <p:graphicFrame>
        <p:nvGraphicFramePr>
          <p:cNvPr id="1143" name="Google Shape;1143;p89"/>
          <p:cNvGraphicFramePr/>
          <p:nvPr/>
        </p:nvGraphicFramePr>
        <p:xfrm>
          <a:off x="919950" y="1895796"/>
          <a:ext cx="3000000" cy="3000000"/>
        </p:xfrm>
        <a:graphic>
          <a:graphicData uri="http://schemas.openxmlformats.org/drawingml/2006/table">
            <a:tbl>
              <a:tblPr>
                <a:noFill/>
                <a:tableStyleId>{941F9DB1-44A7-4DC4-A338-CBB8A8854EF6}</a:tableStyleId>
              </a:tblPr>
              <a:tblGrid>
                <a:gridCol w="620100"/>
                <a:gridCol w="620100"/>
                <a:gridCol w="620100"/>
                <a:gridCol w="620100"/>
                <a:gridCol w="620100"/>
                <a:gridCol w="620100"/>
                <a:gridCol w="620100"/>
                <a:gridCol w="620100"/>
              </a:tblGrid>
              <a:tr h="33337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144" name="Google Shape;1144;p89"/>
          <p:cNvGraphicFramePr/>
          <p:nvPr/>
        </p:nvGraphicFramePr>
        <p:xfrm>
          <a:off x="919950" y="1451827"/>
          <a:ext cx="3000000" cy="3000000"/>
        </p:xfrm>
        <a:graphic>
          <a:graphicData uri="http://schemas.openxmlformats.org/drawingml/2006/table">
            <a:tbl>
              <a:tblPr>
                <a:noFill/>
                <a:tableStyleId>{941F9DB1-44A7-4DC4-A338-CBB8A8854EF6}</a:tableStyleId>
              </a:tblPr>
              <a:tblGrid>
                <a:gridCol w="620100"/>
                <a:gridCol w="620100"/>
                <a:gridCol w="620100"/>
                <a:gridCol w="620100"/>
                <a:gridCol w="620100"/>
                <a:gridCol w="620100"/>
                <a:gridCol w="620100"/>
                <a:gridCol w="620100"/>
                <a:gridCol w="620100"/>
              </a:tblGrid>
              <a:tr h="333375">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solidFill>
                            <a:srgbClr val="202124"/>
                          </a:solidFill>
                          <a:latin typeface="Lexend"/>
                          <a:ea typeface="Lexend"/>
                          <a:cs typeface="Lexend"/>
                          <a:sym typeface="Lexend"/>
                        </a:rPr>
                        <a:t>−</a:t>
                      </a: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145" name="Google Shape;1145;p89"/>
          <p:cNvGraphicFramePr/>
          <p:nvPr/>
        </p:nvGraphicFramePr>
        <p:xfrm>
          <a:off x="919950" y="1007858"/>
          <a:ext cx="3000000" cy="3000000"/>
        </p:xfrm>
        <a:graphic>
          <a:graphicData uri="http://schemas.openxmlformats.org/drawingml/2006/table">
            <a:tbl>
              <a:tblPr>
                <a:noFill/>
                <a:tableStyleId>{941F9DB1-44A7-4DC4-A338-CBB8A8854EF6}</a:tableStyleId>
              </a:tblPr>
              <a:tblGrid>
                <a:gridCol w="620100"/>
                <a:gridCol w="620100"/>
                <a:gridCol w="620100"/>
                <a:gridCol w="620100"/>
                <a:gridCol w="620100"/>
                <a:gridCol w="620100"/>
                <a:gridCol w="620100"/>
                <a:gridCol w="620100"/>
                <a:gridCol w="620100"/>
              </a:tblGrid>
              <a:tr h="33337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46" name="Google Shape;1146;p89"/>
          <p:cNvSpPr txBox="1"/>
          <p:nvPr>
            <p:ph idx="4294967295" type="body"/>
          </p:nvPr>
        </p:nvSpPr>
        <p:spPr>
          <a:xfrm>
            <a:off x="547500" y="1007833"/>
            <a:ext cx="372600" cy="352500"/>
          </a:xfrm>
          <a:prstGeom prst="rect">
            <a:avLst/>
          </a:prstGeom>
        </p:spPr>
        <p:txBody>
          <a:bodyPr anchorCtr="0" anchor="ctr" bIns="91425" lIns="0" spcFirstLastPara="1" rIns="91425" wrap="square" tIns="91425">
            <a:noAutofit/>
          </a:bodyPr>
          <a:lstStyle/>
          <a:p>
            <a:pPr indent="0" lvl="0" marL="0" rtl="0" algn="l">
              <a:lnSpc>
                <a:spcPct val="100000"/>
              </a:lnSpc>
              <a:spcBef>
                <a:spcPts val="0"/>
              </a:spcBef>
              <a:spcAft>
                <a:spcPts val="0"/>
              </a:spcAft>
              <a:buNone/>
            </a:pPr>
            <a:r>
              <a:rPr lang="en-GB" sz="1800"/>
              <a:t>a) </a:t>
            </a:r>
            <a:endParaRPr sz="1800"/>
          </a:p>
        </p:txBody>
      </p:sp>
      <p:sp>
        <p:nvSpPr>
          <p:cNvPr id="1147" name="Google Shape;1147;p89"/>
          <p:cNvSpPr txBox="1"/>
          <p:nvPr>
            <p:ph idx="4294967295" type="body"/>
          </p:nvPr>
        </p:nvSpPr>
        <p:spPr>
          <a:xfrm>
            <a:off x="547500" y="1451796"/>
            <a:ext cx="372600" cy="352500"/>
          </a:xfrm>
          <a:prstGeom prst="rect">
            <a:avLst/>
          </a:prstGeom>
        </p:spPr>
        <p:txBody>
          <a:bodyPr anchorCtr="0" anchor="ctr" bIns="91425" lIns="0" spcFirstLastPara="1" rIns="91425" wrap="square" tIns="91425">
            <a:noAutofit/>
          </a:bodyPr>
          <a:lstStyle/>
          <a:p>
            <a:pPr indent="0" lvl="0" marL="0" rtl="0" algn="l">
              <a:lnSpc>
                <a:spcPct val="100000"/>
              </a:lnSpc>
              <a:spcBef>
                <a:spcPts val="0"/>
              </a:spcBef>
              <a:spcAft>
                <a:spcPts val="0"/>
              </a:spcAft>
              <a:buNone/>
            </a:pPr>
            <a:r>
              <a:rPr lang="en-GB" sz="1800"/>
              <a:t>b) </a:t>
            </a:r>
            <a:endParaRPr sz="1800"/>
          </a:p>
        </p:txBody>
      </p:sp>
      <p:sp>
        <p:nvSpPr>
          <p:cNvPr id="1148" name="Google Shape;1148;p89"/>
          <p:cNvSpPr txBox="1"/>
          <p:nvPr>
            <p:ph idx="4294967295" type="body"/>
          </p:nvPr>
        </p:nvSpPr>
        <p:spPr>
          <a:xfrm>
            <a:off x="547500" y="1895771"/>
            <a:ext cx="372600" cy="352500"/>
          </a:xfrm>
          <a:prstGeom prst="rect">
            <a:avLst/>
          </a:prstGeom>
        </p:spPr>
        <p:txBody>
          <a:bodyPr anchorCtr="0" anchor="ctr" bIns="91425" lIns="0" spcFirstLastPara="1" rIns="91425" wrap="square" tIns="91425">
            <a:noAutofit/>
          </a:bodyPr>
          <a:lstStyle/>
          <a:p>
            <a:pPr indent="0" lvl="0" marL="0" rtl="0" algn="l">
              <a:lnSpc>
                <a:spcPct val="100000"/>
              </a:lnSpc>
              <a:spcBef>
                <a:spcPts val="0"/>
              </a:spcBef>
              <a:spcAft>
                <a:spcPts val="0"/>
              </a:spcAft>
              <a:buNone/>
            </a:pPr>
            <a:r>
              <a:rPr lang="en-GB" sz="1800"/>
              <a:t>c) </a:t>
            </a:r>
            <a:endParaRPr sz="1800"/>
          </a:p>
        </p:txBody>
      </p:sp>
      <p:sp>
        <p:nvSpPr>
          <p:cNvPr id="1149" name="Google Shape;1149;p89"/>
          <p:cNvSpPr/>
          <p:nvPr/>
        </p:nvSpPr>
        <p:spPr>
          <a:xfrm>
            <a:off x="7459200" y="755608"/>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a:t>
            </a:r>
            <a:r>
              <a:rPr lang="en-GB" sz="1800">
                <a:solidFill>
                  <a:srgbClr val="202124"/>
                </a:solidFill>
                <a:latin typeface="Lexend"/>
                <a:ea typeface="Lexend"/>
                <a:cs typeface="Lexend"/>
                <a:sym typeface="Lexend"/>
              </a:rPr>
              <a:t>−</a:t>
            </a: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150" name="Google Shape;1150;p89"/>
          <p:cNvSpPr/>
          <p:nvPr/>
        </p:nvSpPr>
        <p:spPr>
          <a:xfrm>
            <a:off x="7459200" y="1244842"/>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0</a:t>
            </a:r>
            <a:endParaRPr sz="1800">
              <a:solidFill>
                <a:schemeClr val="dk1"/>
              </a:solidFill>
              <a:latin typeface="Lexend"/>
              <a:ea typeface="Lexend"/>
              <a:cs typeface="Lexend"/>
              <a:sym typeface="Lexend"/>
            </a:endParaRPr>
          </a:p>
        </p:txBody>
      </p:sp>
      <p:sp>
        <p:nvSpPr>
          <p:cNvPr id="1151" name="Google Shape;1151;p89"/>
          <p:cNvSpPr/>
          <p:nvPr/>
        </p:nvSpPr>
        <p:spPr>
          <a:xfrm>
            <a:off x="7459200" y="1734075"/>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6</a:t>
            </a:r>
            <a:endParaRPr sz="1800">
              <a:solidFill>
                <a:schemeClr val="dk1"/>
              </a:solidFill>
              <a:latin typeface="Lexend"/>
              <a:ea typeface="Lexend"/>
              <a:cs typeface="Lexend"/>
              <a:sym typeface="Lexend"/>
            </a:endParaRPr>
          </a:p>
        </p:txBody>
      </p:sp>
      <p:sp>
        <p:nvSpPr>
          <p:cNvPr id="1152" name="Google Shape;1152;p89"/>
          <p:cNvSpPr/>
          <p:nvPr/>
        </p:nvSpPr>
        <p:spPr>
          <a:xfrm>
            <a:off x="7459200" y="2223308"/>
            <a:ext cx="1360800" cy="27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14</a:t>
            </a:r>
            <a:endParaRPr sz="1800">
              <a:solidFill>
                <a:schemeClr val="dk1"/>
              </a:solidFill>
              <a:latin typeface="Lexend"/>
              <a:ea typeface="Lexend"/>
              <a:cs typeface="Lexend"/>
              <a:sym typeface="Lexend"/>
            </a:endParaRPr>
          </a:p>
        </p:txBody>
      </p:sp>
      <p:cxnSp>
        <p:nvCxnSpPr>
          <p:cNvPr id="1153" name="Google Shape;1153;p89"/>
          <p:cNvCxnSpPr>
            <a:endCxn id="1151" idx="1"/>
          </p:cNvCxnSpPr>
          <p:nvPr/>
        </p:nvCxnSpPr>
        <p:spPr>
          <a:xfrm>
            <a:off x="6519300" y="1185375"/>
            <a:ext cx="939900" cy="687300"/>
          </a:xfrm>
          <a:prstGeom prst="straightConnector1">
            <a:avLst/>
          </a:prstGeom>
          <a:noFill/>
          <a:ln cap="flat" cmpd="sng" w="38100">
            <a:solidFill>
              <a:schemeClr val="dk2"/>
            </a:solidFill>
            <a:prstDash val="solid"/>
            <a:round/>
            <a:headEnd len="med" w="med" type="none"/>
            <a:tailEnd len="med" w="med" type="none"/>
          </a:ln>
        </p:spPr>
      </p:cxnSp>
      <p:cxnSp>
        <p:nvCxnSpPr>
          <p:cNvPr id="1154" name="Google Shape;1154;p89"/>
          <p:cNvCxnSpPr>
            <a:endCxn id="1150" idx="1"/>
          </p:cNvCxnSpPr>
          <p:nvPr/>
        </p:nvCxnSpPr>
        <p:spPr>
          <a:xfrm flipH="1" rot="10800000">
            <a:off x="6519300" y="1383442"/>
            <a:ext cx="939900" cy="236700"/>
          </a:xfrm>
          <a:prstGeom prst="straightConnector1">
            <a:avLst/>
          </a:prstGeom>
          <a:noFill/>
          <a:ln cap="flat" cmpd="sng" w="38100">
            <a:solidFill>
              <a:schemeClr val="dk2"/>
            </a:solidFill>
            <a:prstDash val="solid"/>
            <a:round/>
            <a:headEnd len="med" w="med" type="none"/>
            <a:tailEnd len="med" w="med" type="none"/>
          </a:ln>
        </p:spPr>
      </p:cxnSp>
      <p:cxnSp>
        <p:nvCxnSpPr>
          <p:cNvPr id="1155" name="Google Shape;1155;p89"/>
          <p:cNvCxnSpPr>
            <a:endCxn id="1152" idx="1"/>
          </p:cNvCxnSpPr>
          <p:nvPr/>
        </p:nvCxnSpPr>
        <p:spPr>
          <a:xfrm>
            <a:off x="5905500" y="2081408"/>
            <a:ext cx="1553700" cy="280500"/>
          </a:xfrm>
          <a:prstGeom prst="straightConnector1">
            <a:avLst/>
          </a:prstGeom>
          <a:noFill/>
          <a:ln cap="flat" cmpd="sng" w="38100">
            <a:solidFill>
              <a:schemeClr val="dk2"/>
            </a:solidFill>
            <a:prstDash val="solid"/>
            <a:round/>
            <a:headEnd len="med" w="med" type="none"/>
            <a:tailEnd len="med" w="med" type="none"/>
          </a:ln>
        </p:spPr>
      </p:cxnSp>
      <p:graphicFrame>
        <p:nvGraphicFramePr>
          <p:cNvPr id="1156" name="Google Shape;1156;p89"/>
          <p:cNvGraphicFramePr/>
          <p:nvPr/>
        </p:nvGraphicFramePr>
        <p:xfrm>
          <a:off x="919950" y="2962800"/>
          <a:ext cx="3000000" cy="3000000"/>
        </p:xfrm>
        <a:graphic>
          <a:graphicData uri="http://schemas.openxmlformats.org/drawingml/2006/table">
            <a:tbl>
              <a:tblPr>
                <a:noFill/>
                <a:tableStyleId>{941F9DB1-44A7-4DC4-A338-CBB8A8854EF6}</a:tableStyleId>
              </a:tblPr>
              <a:tblGrid>
                <a:gridCol w="558100"/>
                <a:gridCol w="558100"/>
                <a:gridCol w="558100"/>
                <a:gridCol w="558100"/>
                <a:gridCol w="558100"/>
                <a:gridCol w="558100"/>
                <a:gridCol w="558100"/>
                <a:gridCol w="558100"/>
                <a:gridCol w="558100"/>
                <a:gridCol w="558100"/>
              </a:tblGrid>
              <a:tr h="33337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49</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51</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53</a:t>
                      </a:r>
                      <a:endParaRPr sz="18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57" name="Google Shape;1157;p89"/>
          <p:cNvSpPr txBox="1"/>
          <p:nvPr>
            <p:ph idx="4294967295" type="body"/>
          </p:nvPr>
        </p:nvSpPr>
        <p:spPr>
          <a:xfrm>
            <a:off x="4640550" y="3451188"/>
            <a:ext cx="1496100" cy="277200"/>
          </a:xfrm>
          <a:prstGeom prst="rect">
            <a:avLst/>
          </a:prstGeom>
        </p:spPr>
        <p:txBody>
          <a:bodyPr anchorCtr="0" anchor="ctr"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mean = 39</a:t>
            </a:r>
            <a:endParaRPr sz="2000">
              <a:latin typeface="Kalam"/>
              <a:ea typeface="Kalam"/>
              <a:cs typeface="Kalam"/>
              <a:sym typeface="Kalam"/>
            </a:endParaRPr>
          </a:p>
        </p:txBody>
      </p:sp>
      <p:sp>
        <p:nvSpPr>
          <p:cNvPr id="1158" name="Google Shape;1158;p89"/>
          <p:cNvSpPr txBox="1"/>
          <p:nvPr>
            <p:ph idx="4294967295" type="body"/>
          </p:nvPr>
        </p:nvSpPr>
        <p:spPr>
          <a:xfrm>
            <a:off x="919950" y="4194575"/>
            <a:ext cx="7331700" cy="6258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No, as 39 is neither near the centre of the </a:t>
            </a:r>
            <a:r>
              <a:rPr lang="en-GB" sz="2000">
                <a:latin typeface="Kalam"/>
                <a:ea typeface="Kalam"/>
                <a:cs typeface="Kalam"/>
                <a:sym typeface="Kalam"/>
              </a:rPr>
              <a:t>data set</a:t>
            </a:r>
            <a:r>
              <a:rPr lang="en-GB" sz="2000">
                <a:latin typeface="Kalam"/>
                <a:ea typeface="Kalam"/>
                <a:cs typeface="Kalam"/>
                <a:sym typeface="Kalam"/>
              </a:rPr>
              <a:t>, nor is it close to any data points.</a:t>
            </a:r>
            <a:endParaRPr sz="2000">
              <a:latin typeface="Kalam"/>
              <a:ea typeface="Kalam"/>
              <a:cs typeface="Kalam"/>
              <a:sym typeface="Kalam"/>
            </a:endParaRPr>
          </a:p>
        </p:txBody>
      </p:sp>
      <p:sp>
        <p:nvSpPr>
          <p:cNvPr id="1159" name="Google Shape;1159;p89"/>
          <p:cNvSpPr txBox="1"/>
          <p:nvPr>
            <p:ph idx="4294967295" type="body"/>
          </p:nvPr>
        </p:nvSpPr>
        <p:spPr>
          <a:xfrm>
            <a:off x="324000" y="2962800"/>
            <a:ext cx="8496000" cy="1614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2) </a:t>
            </a:r>
            <a:endParaRPr sz="1800"/>
          </a:p>
          <a:p>
            <a:pPr indent="0" lvl="0" marL="0" rtl="0" algn="l">
              <a:spcBef>
                <a:spcPts val="1000"/>
              </a:spcBef>
              <a:spcAft>
                <a:spcPts val="0"/>
              </a:spcAft>
              <a:buNone/>
            </a:pPr>
            <a:r>
              <a:rPr lang="en-GB" sz="1800"/>
              <a:t>a) Calculate the mean of this </a:t>
            </a:r>
            <a:r>
              <a:rPr lang="en-GB" sz="1800"/>
              <a:t>data set</a:t>
            </a:r>
            <a:r>
              <a:rPr lang="en-GB" sz="1800"/>
              <a:t>.</a:t>
            </a:r>
            <a:endParaRPr sz="1800"/>
          </a:p>
          <a:p>
            <a:pPr indent="0" lvl="0" marL="0" rtl="0" algn="l">
              <a:spcBef>
                <a:spcPts val="1000"/>
              </a:spcBef>
              <a:spcAft>
                <a:spcPts val="1000"/>
              </a:spcAft>
              <a:buNone/>
            </a:pPr>
            <a:r>
              <a:rPr lang="en-GB" sz="1800"/>
              <a:t>b) Explain whether the mean is a representative summary of the </a:t>
            </a:r>
            <a:r>
              <a:rPr lang="en-GB" sz="1800"/>
              <a:t>data set</a:t>
            </a:r>
            <a:r>
              <a:rPr lang="en-GB" sz="1800"/>
              <a:t> or not.</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90"/>
          <p:cNvSpPr txBox="1"/>
          <p:nvPr>
            <p:ph idx="4294967295" type="body"/>
          </p:nvPr>
        </p:nvSpPr>
        <p:spPr>
          <a:xfrm>
            <a:off x="324000" y="62615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3</a:t>
            </a:r>
            <a:r>
              <a:rPr lang="en-GB" sz="1800"/>
              <a:t>) Match the mean to each dot plot.</a:t>
            </a:r>
            <a:endParaRPr sz="1800"/>
          </a:p>
        </p:txBody>
      </p:sp>
      <p:sp>
        <p:nvSpPr>
          <p:cNvPr id="1165" name="Google Shape;1165;p9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mean</a:t>
            </a:r>
            <a:endParaRPr/>
          </a:p>
        </p:txBody>
      </p:sp>
      <p:pic>
        <p:nvPicPr>
          <p:cNvPr id="1166" name="Google Shape;1166;p90"/>
          <p:cNvPicPr preferRelativeResize="0"/>
          <p:nvPr/>
        </p:nvPicPr>
        <p:blipFill rotWithShape="1">
          <a:blip r:embed="rId3">
            <a:alphaModFix/>
          </a:blip>
          <a:srcRect b="0" l="0" r="10889" t="0"/>
          <a:stretch/>
        </p:blipFill>
        <p:spPr>
          <a:xfrm>
            <a:off x="5301925" y="979550"/>
            <a:ext cx="1945475" cy="3764650"/>
          </a:xfrm>
          <a:prstGeom prst="rect">
            <a:avLst/>
          </a:prstGeom>
          <a:noFill/>
          <a:ln cap="flat" cmpd="sng" w="19050">
            <a:solidFill>
              <a:schemeClr val="dk1"/>
            </a:solidFill>
            <a:prstDash val="solid"/>
            <a:round/>
            <a:headEnd len="sm" w="sm" type="none"/>
            <a:tailEnd len="sm" w="sm" type="none"/>
          </a:ln>
        </p:spPr>
      </p:pic>
      <p:pic>
        <p:nvPicPr>
          <p:cNvPr id="1167" name="Google Shape;1167;p90"/>
          <p:cNvPicPr preferRelativeResize="0"/>
          <p:nvPr/>
        </p:nvPicPr>
        <p:blipFill>
          <a:blip r:embed="rId4">
            <a:alphaModFix/>
          </a:blip>
          <a:stretch>
            <a:fillRect/>
          </a:stretch>
        </p:blipFill>
        <p:spPr>
          <a:xfrm>
            <a:off x="628807" y="981125"/>
            <a:ext cx="1904064" cy="3764650"/>
          </a:xfrm>
          <a:prstGeom prst="rect">
            <a:avLst/>
          </a:prstGeom>
          <a:noFill/>
          <a:ln cap="flat" cmpd="sng" w="19050">
            <a:solidFill>
              <a:schemeClr val="dk1"/>
            </a:solidFill>
            <a:prstDash val="solid"/>
            <a:round/>
            <a:headEnd len="sm" w="sm" type="none"/>
            <a:tailEnd len="sm" w="sm" type="none"/>
          </a:ln>
        </p:spPr>
      </p:pic>
      <p:pic>
        <p:nvPicPr>
          <p:cNvPr id="1168" name="Google Shape;1168;p90"/>
          <p:cNvPicPr preferRelativeResize="0"/>
          <p:nvPr/>
        </p:nvPicPr>
        <p:blipFill>
          <a:blip r:embed="rId5">
            <a:alphaModFix/>
          </a:blip>
          <a:stretch>
            <a:fillRect/>
          </a:stretch>
        </p:blipFill>
        <p:spPr>
          <a:xfrm>
            <a:off x="2990075" y="979550"/>
            <a:ext cx="1778460" cy="3764651"/>
          </a:xfrm>
          <a:prstGeom prst="rect">
            <a:avLst/>
          </a:prstGeom>
          <a:noFill/>
          <a:ln cap="flat" cmpd="sng" w="19050">
            <a:solidFill>
              <a:schemeClr val="dk1"/>
            </a:solidFill>
            <a:prstDash val="solid"/>
            <a:round/>
            <a:headEnd len="sm" w="sm" type="none"/>
            <a:tailEnd len="sm" w="sm" type="none"/>
          </a:ln>
        </p:spPr>
      </p:pic>
      <p:sp>
        <p:nvSpPr>
          <p:cNvPr id="1169" name="Google Shape;1169;p90"/>
          <p:cNvSpPr txBox="1"/>
          <p:nvPr/>
        </p:nvSpPr>
        <p:spPr>
          <a:xfrm>
            <a:off x="226000" y="981125"/>
            <a:ext cx="46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70" name="Google Shape;1170;p90"/>
          <p:cNvSpPr txBox="1"/>
          <p:nvPr/>
        </p:nvSpPr>
        <p:spPr>
          <a:xfrm>
            <a:off x="2532875" y="981125"/>
            <a:ext cx="46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171" name="Google Shape;1171;p90"/>
          <p:cNvSpPr txBox="1"/>
          <p:nvPr/>
        </p:nvSpPr>
        <p:spPr>
          <a:xfrm>
            <a:off x="4804525" y="981125"/>
            <a:ext cx="46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172" name="Google Shape;1172;p90"/>
          <p:cNvSpPr/>
          <p:nvPr/>
        </p:nvSpPr>
        <p:spPr>
          <a:xfrm>
            <a:off x="5566963" y="941400"/>
            <a:ext cx="1415400" cy="2772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5.3</a:t>
            </a:r>
            <a:endParaRPr sz="1800">
              <a:solidFill>
                <a:schemeClr val="dk1"/>
              </a:solidFill>
              <a:latin typeface="Lexend"/>
              <a:ea typeface="Lexend"/>
              <a:cs typeface="Lexend"/>
              <a:sym typeface="Lexend"/>
            </a:endParaRPr>
          </a:p>
        </p:txBody>
      </p:sp>
      <p:sp>
        <p:nvSpPr>
          <p:cNvPr id="1173" name="Google Shape;1173;p90"/>
          <p:cNvSpPr/>
          <p:nvPr/>
        </p:nvSpPr>
        <p:spPr>
          <a:xfrm>
            <a:off x="873138" y="941400"/>
            <a:ext cx="1415400" cy="2772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10.2</a:t>
            </a:r>
            <a:endParaRPr sz="1800">
              <a:solidFill>
                <a:schemeClr val="dk1"/>
              </a:solidFill>
              <a:latin typeface="Lexend"/>
              <a:ea typeface="Lexend"/>
              <a:cs typeface="Lexend"/>
              <a:sym typeface="Lexend"/>
            </a:endParaRPr>
          </a:p>
        </p:txBody>
      </p:sp>
      <p:sp>
        <p:nvSpPr>
          <p:cNvPr id="1174" name="Google Shape;1174;p90"/>
          <p:cNvSpPr/>
          <p:nvPr/>
        </p:nvSpPr>
        <p:spPr>
          <a:xfrm>
            <a:off x="3171600" y="941400"/>
            <a:ext cx="1415400" cy="277200"/>
          </a:xfrm>
          <a:prstGeom prst="roundRect">
            <a:avLst>
              <a:gd fmla="val 16667" name="adj"/>
            </a:avLst>
          </a:prstGeom>
          <a:solidFill>
            <a:schemeClr val="lt1"/>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mean = 11.9</a:t>
            </a:r>
            <a:endParaRPr sz="1800">
              <a:solidFill>
                <a:schemeClr val="dk1"/>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91"/>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all of the averages</a:t>
            </a:r>
            <a:endParaRPr/>
          </a:p>
        </p:txBody>
      </p:sp>
      <p:sp>
        <p:nvSpPr>
          <p:cNvPr id="1180" name="Google Shape;1180;p91"/>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Summarising data</a:t>
            </a:r>
            <a:endParaRPr/>
          </a:p>
        </p:txBody>
      </p:sp>
      <p:pic>
        <p:nvPicPr>
          <p:cNvPr id="1181" name="Google Shape;1181;p91"/>
          <p:cNvPicPr preferRelativeResize="0"/>
          <p:nvPr/>
        </p:nvPicPr>
        <p:blipFill>
          <a:blip r:embed="rId3">
            <a:alphaModFix/>
          </a:blip>
          <a:stretch>
            <a:fillRect/>
          </a:stretch>
        </p:blipFill>
        <p:spPr>
          <a:xfrm>
            <a:off x="413650" y="3700471"/>
            <a:ext cx="450575" cy="446750"/>
          </a:xfrm>
          <a:prstGeom prst="rect">
            <a:avLst/>
          </a:prstGeom>
          <a:noFill/>
          <a:ln>
            <a:noFill/>
          </a:ln>
        </p:spPr>
      </p:pic>
      <p:sp>
        <p:nvSpPr>
          <p:cNvPr id="1182" name="Google Shape;1182;p91"/>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mean</a:t>
            </a:r>
            <a:endParaRPr/>
          </a:p>
        </p:txBody>
      </p:sp>
      <p:sp>
        <p:nvSpPr>
          <p:cNvPr id="1183" name="Google Shape;1183;p91"/>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189" name="Google Shape;1189;p92"/>
          <p:cNvSpPr txBox="1"/>
          <p:nvPr>
            <p:ph idx="1" type="body"/>
          </p:nvPr>
        </p:nvSpPr>
        <p:spPr>
          <a:xfrm>
            <a:off x="324000" y="7593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An advantage of the </a:t>
            </a:r>
            <a:r>
              <a:rPr b="1" lang="en-GB"/>
              <a:t>mode</a:t>
            </a:r>
            <a:r>
              <a:rPr lang="en-GB"/>
              <a:t> is:</a:t>
            </a:r>
            <a:endParaRPr/>
          </a:p>
        </p:txBody>
      </p:sp>
      <p:sp>
        <p:nvSpPr>
          <p:cNvPr id="1190" name="Google Shape;1190;p92"/>
          <p:cNvSpPr txBox="1"/>
          <p:nvPr>
            <p:ph idx="1" type="body"/>
          </p:nvPr>
        </p:nvSpPr>
        <p:spPr>
          <a:xfrm>
            <a:off x="709250" y="1250648"/>
            <a:ext cx="55953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If a </a:t>
            </a:r>
            <a:r>
              <a:rPr b="1" lang="en-GB"/>
              <a:t>mode</a:t>
            </a:r>
            <a:r>
              <a:rPr lang="en-GB"/>
              <a:t> exists, it is usually easy to spot.</a:t>
            </a:r>
            <a:endParaRPr/>
          </a:p>
        </p:txBody>
      </p:sp>
      <p:pic>
        <p:nvPicPr>
          <p:cNvPr id="1191" name="Google Shape;1191;p92"/>
          <p:cNvPicPr preferRelativeResize="0"/>
          <p:nvPr/>
        </p:nvPicPr>
        <p:blipFill>
          <a:blip r:embed="rId3">
            <a:alphaModFix/>
          </a:blip>
          <a:stretch>
            <a:fillRect/>
          </a:stretch>
        </p:blipFill>
        <p:spPr>
          <a:xfrm>
            <a:off x="6304677" y="683100"/>
            <a:ext cx="1904525" cy="3938800"/>
          </a:xfrm>
          <a:prstGeom prst="rect">
            <a:avLst/>
          </a:prstGeom>
          <a:noFill/>
          <a:ln cap="flat" cmpd="sng" w="9525">
            <a:solidFill>
              <a:schemeClr val="dk1"/>
            </a:solidFill>
            <a:prstDash val="solid"/>
            <a:round/>
            <a:headEnd len="sm" w="sm" type="none"/>
            <a:tailEnd len="sm" w="sm" type="none"/>
          </a:ln>
        </p:spPr>
      </p:pic>
      <p:pic>
        <p:nvPicPr>
          <p:cNvPr id="1192" name="Google Shape;1192;p92"/>
          <p:cNvPicPr preferRelativeResize="0"/>
          <p:nvPr/>
        </p:nvPicPr>
        <p:blipFill rotWithShape="1">
          <a:blip r:embed="rId3">
            <a:alphaModFix/>
          </a:blip>
          <a:srcRect b="2162" l="0" r="0" t="0"/>
          <a:stretch/>
        </p:blipFill>
        <p:spPr>
          <a:xfrm>
            <a:off x="6304675" y="683100"/>
            <a:ext cx="1904525" cy="3853475"/>
          </a:xfrm>
          <a:prstGeom prst="rect">
            <a:avLst/>
          </a:prstGeom>
          <a:noFill/>
          <a:ln>
            <a:noFill/>
          </a:ln>
        </p:spPr>
      </p:pic>
      <p:sp>
        <p:nvSpPr>
          <p:cNvPr id="1193" name="Google Shape;1193;p92"/>
          <p:cNvSpPr txBox="1"/>
          <p:nvPr>
            <p:ph idx="1" type="body"/>
          </p:nvPr>
        </p:nvSpPr>
        <p:spPr>
          <a:xfrm>
            <a:off x="709250" y="2150748"/>
            <a:ext cx="5595300" cy="1117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Calculating the </a:t>
            </a:r>
            <a:r>
              <a:rPr b="1" lang="en-GB"/>
              <a:t>mean</a:t>
            </a:r>
            <a:r>
              <a:rPr lang="en-GB"/>
              <a:t> or </a:t>
            </a:r>
            <a:r>
              <a:rPr b="1" lang="en-GB"/>
              <a:t>median</a:t>
            </a:r>
            <a:r>
              <a:rPr lang="en-GB"/>
              <a:t> for this 173 element </a:t>
            </a:r>
            <a:r>
              <a:rPr b="1" lang="en-GB"/>
              <a:t>data</a:t>
            </a:r>
            <a:r>
              <a:rPr lang="en-GB"/>
              <a:t> set</a:t>
            </a:r>
            <a:r>
              <a:rPr lang="en-GB"/>
              <a:t> would take a long time.</a:t>
            </a:r>
            <a:endParaRPr/>
          </a:p>
        </p:txBody>
      </p:sp>
      <p:sp>
        <p:nvSpPr>
          <p:cNvPr id="1194" name="Google Shape;1194;p92"/>
          <p:cNvSpPr txBox="1"/>
          <p:nvPr>
            <p:ph idx="1" type="body"/>
          </p:nvPr>
        </p:nvSpPr>
        <p:spPr>
          <a:xfrm>
            <a:off x="709250" y="3521848"/>
            <a:ext cx="55953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But even without knowing the value of the </a:t>
            </a:r>
            <a:r>
              <a:rPr b="1" lang="en-GB"/>
              <a:t>data</a:t>
            </a:r>
            <a:r>
              <a:rPr lang="en-GB"/>
              <a:t>, you can see the </a:t>
            </a:r>
            <a:r>
              <a:rPr b="1" lang="en-GB"/>
              <a:t>mode</a:t>
            </a:r>
            <a:r>
              <a:rPr lang="en-GB"/>
              <a:t> is here.</a:t>
            </a:r>
            <a:endParaRPr/>
          </a:p>
        </p:txBody>
      </p:sp>
      <p:cxnSp>
        <p:nvCxnSpPr>
          <p:cNvPr id="1195" name="Google Shape;1195;p92"/>
          <p:cNvCxnSpPr/>
          <p:nvPr/>
        </p:nvCxnSpPr>
        <p:spPr>
          <a:xfrm>
            <a:off x="7535975" y="743050"/>
            <a:ext cx="0" cy="3768600"/>
          </a:xfrm>
          <a:prstGeom prst="straightConnector1">
            <a:avLst/>
          </a:prstGeom>
          <a:noFill/>
          <a:ln cap="flat" cmpd="sng" w="38100">
            <a:solidFill>
              <a:schemeClr val="accent4"/>
            </a:solidFill>
            <a:prstDash val="dash"/>
            <a:round/>
            <a:headEnd len="med" w="med" type="none"/>
            <a:tailEnd len="med" w="med" type="stealth"/>
          </a:ln>
        </p:spPr>
      </p:cxnSp>
      <p:grpSp>
        <p:nvGrpSpPr>
          <p:cNvPr id="1196" name="Google Shape;1196;p92"/>
          <p:cNvGrpSpPr/>
          <p:nvPr/>
        </p:nvGrpSpPr>
        <p:grpSpPr>
          <a:xfrm>
            <a:off x="7037786" y="4401199"/>
            <a:ext cx="650721" cy="423813"/>
            <a:chOff x="774563" y="4011187"/>
            <a:chExt cx="650721" cy="423813"/>
          </a:xfrm>
        </p:grpSpPr>
        <p:sp>
          <p:nvSpPr>
            <p:cNvPr id="1197" name="Google Shape;1197;p92"/>
            <p:cNvSpPr/>
            <p:nvPr/>
          </p:nvSpPr>
          <p:spPr>
            <a:xfrm>
              <a:off x="1116283" y="4011187"/>
              <a:ext cx="309000" cy="3090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8" name="Google Shape;1198;p92"/>
            <p:cNvSpPr/>
            <p:nvPr/>
          </p:nvSpPr>
          <p:spPr>
            <a:xfrm>
              <a:off x="774563" y="4165600"/>
              <a:ext cx="438300" cy="269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93"/>
          <p:cNvSpPr txBox="1"/>
          <p:nvPr>
            <p:ph idx="1" type="body"/>
          </p:nvPr>
        </p:nvSpPr>
        <p:spPr>
          <a:xfrm>
            <a:off x="324000" y="683100"/>
            <a:ext cx="8237700" cy="307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The </a:t>
            </a:r>
            <a:r>
              <a:rPr b="1" lang="en-GB" sz="2000"/>
              <a:t>mode</a:t>
            </a:r>
            <a:r>
              <a:rPr lang="en-GB" sz="2000"/>
              <a:t> can be useful if the </a:t>
            </a:r>
            <a:r>
              <a:rPr b="1" lang="en-GB" sz="2000"/>
              <a:t>data</a:t>
            </a:r>
            <a:r>
              <a:rPr lang="en-GB" sz="2000"/>
              <a:t> set</a:t>
            </a:r>
            <a:r>
              <a:rPr lang="en-GB" sz="2000"/>
              <a:t> is distinctly bimodal:</a:t>
            </a:r>
            <a:endParaRPr sz="2000"/>
          </a:p>
        </p:txBody>
      </p:sp>
      <p:sp>
        <p:nvSpPr>
          <p:cNvPr id="1204" name="Google Shape;120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205" name="Google Shape;1205;p93"/>
          <p:cNvSpPr txBox="1"/>
          <p:nvPr>
            <p:ph idx="1" type="body"/>
          </p:nvPr>
        </p:nvSpPr>
        <p:spPr>
          <a:xfrm>
            <a:off x="4572000" y="1320850"/>
            <a:ext cx="4248000" cy="2206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000"/>
              <a:t>This </a:t>
            </a:r>
            <a:r>
              <a:rPr b="1" lang="en-GB" sz="2000"/>
              <a:t>data</a:t>
            </a:r>
            <a:r>
              <a:rPr lang="en-GB" sz="2000"/>
              <a:t> set</a:t>
            </a:r>
            <a:r>
              <a:rPr lang="en-GB" sz="2000"/>
              <a:t> has two distinct </a:t>
            </a:r>
            <a:r>
              <a:rPr b="1" lang="en-GB" sz="2000"/>
              <a:t>modes</a:t>
            </a:r>
            <a:r>
              <a:rPr lang="en-GB" sz="2000"/>
              <a:t> that are relatively far apart in the </a:t>
            </a:r>
            <a:r>
              <a:rPr b="1" lang="en-GB" sz="2000"/>
              <a:t>data</a:t>
            </a:r>
            <a:r>
              <a:rPr lang="en-GB" sz="2000"/>
              <a:t>.</a:t>
            </a:r>
            <a:endParaRPr sz="2000"/>
          </a:p>
          <a:p>
            <a:pPr indent="0" lvl="0" marL="0" rtl="0" algn="l">
              <a:spcBef>
                <a:spcPts val="1000"/>
              </a:spcBef>
              <a:spcAft>
                <a:spcPts val="1000"/>
              </a:spcAft>
              <a:buNone/>
            </a:pPr>
            <a:r>
              <a:rPr lang="en-GB" sz="2000"/>
              <a:t>None of the other averages summarise a </a:t>
            </a:r>
            <a:r>
              <a:rPr b="1" lang="en-GB" sz="2000"/>
              <a:t>data</a:t>
            </a:r>
            <a:r>
              <a:rPr lang="en-GB" sz="2000"/>
              <a:t> set</a:t>
            </a:r>
            <a:r>
              <a:rPr lang="en-GB" sz="2000"/>
              <a:t> using two (or more) values.</a:t>
            </a:r>
            <a:endParaRPr sz="2000"/>
          </a:p>
        </p:txBody>
      </p:sp>
      <p:pic>
        <p:nvPicPr>
          <p:cNvPr id="1206" name="Google Shape;1206;p93"/>
          <p:cNvPicPr preferRelativeResize="0"/>
          <p:nvPr/>
        </p:nvPicPr>
        <p:blipFill>
          <a:blip r:embed="rId3">
            <a:alphaModFix/>
          </a:blip>
          <a:stretch>
            <a:fillRect/>
          </a:stretch>
        </p:blipFill>
        <p:spPr>
          <a:xfrm>
            <a:off x="324000" y="1092250"/>
            <a:ext cx="4132675" cy="3215500"/>
          </a:xfrm>
          <a:prstGeom prst="rect">
            <a:avLst/>
          </a:prstGeom>
          <a:noFill/>
          <a:ln cap="flat" cmpd="sng" w="9525">
            <a:solidFill>
              <a:schemeClr val="dk1"/>
            </a:solidFill>
            <a:prstDash val="solid"/>
            <a:round/>
            <a:headEnd len="sm" w="sm" type="none"/>
            <a:tailEnd len="sm" w="sm" type="none"/>
          </a:ln>
        </p:spPr>
      </p:pic>
      <p:grpSp>
        <p:nvGrpSpPr>
          <p:cNvPr id="1207" name="Google Shape;1207;p93"/>
          <p:cNvGrpSpPr/>
          <p:nvPr/>
        </p:nvGrpSpPr>
        <p:grpSpPr>
          <a:xfrm>
            <a:off x="584875" y="4080093"/>
            <a:ext cx="856051" cy="423807"/>
            <a:chOff x="569232" y="4011187"/>
            <a:chExt cx="856051" cy="423807"/>
          </a:xfrm>
        </p:grpSpPr>
        <p:sp>
          <p:nvSpPr>
            <p:cNvPr id="1208" name="Google Shape;1208;p93"/>
            <p:cNvSpPr/>
            <p:nvPr/>
          </p:nvSpPr>
          <p:spPr>
            <a:xfrm>
              <a:off x="1116283" y="4011187"/>
              <a:ext cx="309000" cy="3090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9" name="Google Shape;1209;p93"/>
            <p:cNvSpPr/>
            <p:nvPr/>
          </p:nvSpPr>
          <p:spPr>
            <a:xfrm>
              <a:off x="569232" y="4165595"/>
              <a:ext cx="607500" cy="269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74.5</a:t>
              </a:r>
              <a:endParaRPr sz="1800">
                <a:latin typeface="Lexend"/>
                <a:ea typeface="Lexend"/>
                <a:cs typeface="Lexend"/>
                <a:sym typeface="Lexend"/>
              </a:endParaRPr>
            </a:p>
          </p:txBody>
        </p:sp>
      </p:grpSp>
      <p:grpSp>
        <p:nvGrpSpPr>
          <p:cNvPr id="1210" name="Google Shape;1210;p93"/>
          <p:cNvGrpSpPr/>
          <p:nvPr/>
        </p:nvGrpSpPr>
        <p:grpSpPr>
          <a:xfrm flipH="1">
            <a:off x="3512697" y="4080093"/>
            <a:ext cx="650721" cy="423813"/>
            <a:chOff x="774563" y="4011187"/>
            <a:chExt cx="650721" cy="423813"/>
          </a:xfrm>
        </p:grpSpPr>
        <p:sp>
          <p:nvSpPr>
            <p:cNvPr id="1211" name="Google Shape;1211;p93"/>
            <p:cNvSpPr/>
            <p:nvPr/>
          </p:nvSpPr>
          <p:spPr>
            <a:xfrm>
              <a:off x="1116283" y="4011187"/>
              <a:ext cx="309000" cy="309000"/>
            </a:xfrm>
            <a:prstGeom prst="ellipse">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2" name="Google Shape;1212;p93"/>
            <p:cNvSpPr/>
            <p:nvPr/>
          </p:nvSpPr>
          <p:spPr>
            <a:xfrm>
              <a:off x="774563" y="4165600"/>
              <a:ext cx="438300" cy="269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80</a:t>
              </a:r>
              <a:endParaRPr sz="1800">
                <a:latin typeface="Lexend"/>
                <a:ea typeface="Lexend"/>
                <a:cs typeface="Lexend"/>
                <a:sym typeface="Lexend"/>
              </a:endParaRPr>
            </a:p>
          </p:txBody>
        </p:sp>
      </p:grpSp>
      <p:sp>
        <p:nvSpPr>
          <p:cNvPr id="1213" name="Google Shape;1213;p93"/>
          <p:cNvSpPr txBox="1"/>
          <p:nvPr>
            <p:ph idx="1" type="body"/>
          </p:nvPr>
        </p:nvSpPr>
        <p:spPr>
          <a:xfrm>
            <a:off x="4572000" y="4030550"/>
            <a:ext cx="42480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This </a:t>
            </a:r>
            <a:r>
              <a:rPr b="1" lang="en-GB" sz="2000"/>
              <a:t>data</a:t>
            </a:r>
            <a:r>
              <a:rPr lang="en-GB" sz="2000"/>
              <a:t> set</a:t>
            </a:r>
            <a:r>
              <a:rPr lang="en-GB" sz="2000"/>
              <a:t> is bimodal at 74.5 and 80.</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94"/>
          <p:cNvSpPr txBox="1"/>
          <p:nvPr>
            <p:ph idx="1" type="body"/>
          </p:nvPr>
        </p:nvSpPr>
        <p:spPr>
          <a:xfrm>
            <a:off x="6870950" y="1801751"/>
            <a:ext cx="1948800" cy="2507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These </a:t>
            </a:r>
            <a:r>
              <a:rPr b="1" lang="en-GB" sz="1800"/>
              <a:t>modes</a:t>
            </a:r>
            <a:r>
              <a:rPr lang="en-GB" sz="1800"/>
              <a:t> do not represent any distinct peaks in the </a:t>
            </a:r>
            <a:r>
              <a:rPr b="1" lang="en-GB" sz="1800"/>
              <a:t>data</a:t>
            </a:r>
            <a:r>
              <a:rPr lang="en-GB" sz="1800"/>
              <a:t>, or a frequency much higher than any other value.</a:t>
            </a:r>
            <a:endParaRPr sz="1800"/>
          </a:p>
        </p:txBody>
      </p:sp>
      <p:sp>
        <p:nvSpPr>
          <p:cNvPr id="1219" name="Google Shape;1219;p94"/>
          <p:cNvSpPr txBox="1"/>
          <p:nvPr>
            <p:ph idx="1" type="body"/>
          </p:nvPr>
        </p:nvSpPr>
        <p:spPr>
          <a:xfrm>
            <a:off x="6870950" y="1800625"/>
            <a:ext cx="1948800" cy="2954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This </a:t>
            </a:r>
            <a:r>
              <a:rPr b="1" lang="en-GB" sz="1800"/>
              <a:t>data </a:t>
            </a:r>
            <a:r>
              <a:rPr lang="en-GB" sz="1800"/>
              <a:t>set</a:t>
            </a:r>
            <a:r>
              <a:rPr lang="en-GB" sz="1800"/>
              <a:t> is bimodal at 16 and 22.</a:t>
            </a:r>
            <a:endParaRPr sz="1800"/>
          </a:p>
          <a:p>
            <a:pPr indent="0" lvl="0" marL="0" rtl="0" algn="l">
              <a:spcBef>
                <a:spcPts val="1000"/>
              </a:spcBef>
              <a:spcAft>
                <a:spcPts val="1000"/>
              </a:spcAft>
              <a:buNone/>
            </a:pPr>
            <a:r>
              <a:rPr lang="en-GB" sz="1800"/>
              <a:t>However, 16 and 22 barely have a frequency greater than many other </a:t>
            </a:r>
            <a:r>
              <a:rPr b="1" lang="en-GB" sz="1800"/>
              <a:t>data </a:t>
            </a:r>
            <a:r>
              <a:rPr lang="en-GB" sz="1800"/>
              <a:t>points.</a:t>
            </a:r>
            <a:endParaRPr sz="1800"/>
          </a:p>
        </p:txBody>
      </p:sp>
      <p:sp>
        <p:nvSpPr>
          <p:cNvPr id="1220" name="Google Shape;1220;p94"/>
          <p:cNvSpPr txBox="1"/>
          <p:nvPr>
            <p:ph idx="1" type="body"/>
          </p:nvPr>
        </p:nvSpPr>
        <p:spPr>
          <a:xfrm>
            <a:off x="324000" y="68310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However, the </a:t>
            </a:r>
            <a:r>
              <a:rPr b="1" lang="en-GB" sz="1800"/>
              <a:t>mode</a:t>
            </a:r>
            <a:r>
              <a:rPr lang="en-GB" sz="1800"/>
              <a:t> may not as effectively represent the </a:t>
            </a:r>
            <a:r>
              <a:rPr b="1" lang="en-GB" sz="1800"/>
              <a:t>data</a:t>
            </a:r>
            <a:r>
              <a:rPr lang="en-GB" sz="1800"/>
              <a:t> if the modal frequency isn’t much higher than some of the other values in the </a:t>
            </a:r>
            <a:r>
              <a:rPr b="1" lang="en-GB" sz="1800"/>
              <a:t>data</a:t>
            </a:r>
            <a:r>
              <a:rPr lang="en-GB" sz="1800"/>
              <a:t> set</a:t>
            </a:r>
            <a:r>
              <a:rPr lang="en-GB" sz="1800"/>
              <a:t>.</a:t>
            </a:r>
            <a:endParaRPr sz="1800"/>
          </a:p>
        </p:txBody>
      </p:sp>
      <p:sp>
        <p:nvSpPr>
          <p:cNvPr id="1221" name="Google Shape;1221;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pic>
        <p:nvPicPr>
          <p:cNvPr id="1222" name="Google Shape;1222;p94"/>
          <p:cNvPicPr preferRelativeResize="0"/>
          <p:nvPr/>
        </p:nvPicPr>
        <p:blipFill>
          <a:blip r:embed="rId3">
            <a:alphaModFix/>
          </a:blip>
          <a:stretch>
            <a:fillRect/>
          </a:stretch>
        </p:blipFill>
        <p:spPr>
          <a:xfrm>
            <a:off x="324000" y="1800625"/>
            <a:ext cx="2173775" cy="2925975"/>
          </a:xfrm>
          <a:prstGeom prst="rect">
            <a:avLst/>
          </a:prstGeom>
          <a:noFill/>
          <a:ln cap="flat" cmpd="sng" w="19050">
            <a:solidFill>
              <a:schemeClr val="dk1"/>
            </a:solidFill>
            <a:prstDash val="solid"/>
            <a:round/>
            <a:headEnd len="sm" w="sm" type="none"/>
            <a:tailEnd len="sm" w="sm" type="none"/>
          </a:ln>
        </p:spPr>
      </p:pic>
      <p:cxnSp>
        <p:nvCxnSpPr>
          <p:cNvPr id="1223" name="Google Shape;1223;p94"/>
          <p:cNvCxnSpPr/>
          <p:nvPr/>
        </p:nvCxnSpPr>
        <p:spPr>
          <a:xfrm>
            <a:off x="4572000" y="1441300"/>
            <a:ext cx="0" cy="3285300"/>
          </a:xfrm>
          <a:prstGeom prst="straightConnector1">
            <a:avLst/>
          </a:prstGeom>
          <a:noFill/>
          <a:ln cap="flat" cmpd="sng" w="38100">
            <a:solidFill>
              <a:schemeClr val="accent2"/>
            </a:solidFill>
            <a:prstDash val="solid"/>
            <a:round/>
            <a:headEnd len="med" w="med" type="none"/>
            <a:tailEnd len="med" w="med" type="none"/>
          </a:ln>
        </p:spPr>
      </p:cxnSp>
      <p:sp>
        <p:nvSpPr>
          <p:cNvPr id="1224" name="Google Shape;1224;p94"/>
          <p:cNvSpPr txBox="1"/>
          <p:nvPr>
            <p:ph idx="1" type="body"/>
          </p:nvPr>
        </p:nvSpPr>
        <p:spPr>
          <a:xfrm>
            <a:off x="2557625" y="1800625"/>
            <a:ext cx="1830000" cy="231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This </a:t>
            </a:r>
            <a:r>
              <a:rPr b="1" lang="en-GB" sz="1800"/>
              <a:t>data </a:t>
            </a:r>
            <a:r>
              <a:rPr lang="en-GB" sz="1800"/>
              <a:t>set</a:t>
            </a:r>
            <a:r>
              <a:rPr lang="en-GB" sz="1800"/>
              <a:t> is clearly bimodal at 12 and 19.</a:t>
            </a:r>
            <a:endParaRPr sz="1800"/>
          </a:p>
          <a:p>
            <a:pPr indent="0" lvl="0" marL="0" rtl="0" algn="l">
              <a:spcBef>
                <a:spcPts val="1000"/>
              </a:spcBef>
              <a:spcAft>
                <a:spcPts val="1000"/>
              </a:spcAft>
              <a:buNone/>
            </a:pPr>
            <a:r>
              <a:rPr lang="en-GB" sz="1800"/>
              <a:t>12 and 19 both represent the distinct peaks of the </a:t>
            </a:r>
            <a:r>
              <a:rPr b="1" lang="en-GB" sz="1800"/>
              <a:t>data </a:t>
            </a:r>
            <a:r>
              <a:rPr lang="en-GB" sz="1800"/>
              <a:t>set</a:t>
            </a:r>
            <a:r>
              <a:rPr lang="en-GB" sz="1800"/>
              <a:t>.</a:t>
            </a:r>
            <a:endParaRPr sz="1800"/>
          </a:p>
        </p:txBody>
      </p:sp>
      <p:pic>
        <p:nvPicPr>
          <p:cNvPr id="1225" name="Google Shape;1225;p94"/>
          <p:cNvPicPr preferRelativeResize="0"/>
          <p:nvPr/>
        </p:nvPicPr>
        <p:blipFill>
          <a:blip r:embed="rId4">
            <a:alphaModFix/>
          </a:blip>
          <a:stretch>
            <a:fillRect/>
          </a:stretch>
        </p:blipFill>
        <p:spPr>
          <a:xfrm>
            <a:off x="4671600" y="1800625"/>
            <a:ext cx="2099750" cy="2567519"/>
          </a:xfrm>
          <a:prstGeom prst="rect">
            <a:avLst/>
          </a:prstGeom>
          <a:noFill/>
          <a:ln cap="flat" cmpd="sng" w="19050">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1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95"/>
          <p:cNvSpPr txBox="1"/>
          <p:nvPr>
            <p:ph idx="1" type="body"/>
          </p:nvPr>
        </p:nvSpPr>
        <p:spPr>
          <a:xfrm>
            <a:off x="324000" y="3905026"/>
            <a:ext cx="41484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If the </a:t>
            </a:r>
            <a:r>
              <a:rPr b="1" lang="en-GB" sz="1800"/>
              <a:t>data </a:t>
            </a:r>
            <a:r>
              <a:rPr lang="en-GB" sz="1800"/>
              <a:t>set</a:t>
            </a:r>
            <a:r>
              <a:rPr lang="en-GB" sz="1800"/>
              <a:t> has more than 3 </a:t>
            </a:r>
            <a:r>
              <a:rPr b="1" lang="en-GB" sz="1800"/>
              <a:t>modes</a:t>
            </a:r>
            <a:r>
              <a:rPr lang="en-GB" sz="1800"/>
              <a:t> (trimodal), it is usually best to not summarise using the </a:t>
            </a:r>
            <a:r>
              <a:rPr b="1" lang="en-GB" sz="1800"/>
              <a:t>mode</a:t>
            </a:r>
            <a:r>
              <a:rPr lang="en-GB" sz="1800"/>
              <a:t>.</a:t>
            </a:r>
            <a:endParaRPr sz="1800"/>
          </a:p>
        </p:txBody>
      </p:sp>
      <p:sp>
        <p:nvSpPr>
          <p:cNvPr id="1231" name="Google Shape;1231;p95"/>
          <p:cNvSpPr txBox="1"/>
          <p:nvPr>
            <p:ph idx="1" type="body"/>
          </p:nvPr>
        </p:nvSpPr>
        <p:spPr>
          <a:xfrm>
            <a:off x="2946200" y="1684676"/>
            <a:ext cx="1526100" cy="1233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This </a:t>
            </a:r>
            <a:r>
              <a:rPr b="1" lang="en-GB" sz="1800"/>
              <a:t>data</a:t>
            </a:r>
            <a:r>
              <a:rPr lang="en-GB" sz="1800"/>
              <a:t> set</a:t>
            </a:r>
            <a:r>
              <a:rPr lang="en-GB" sz="1800"/>
              <a:t> has </a:t>
            </a:r>
            <a:r>
              <a:rPr b="1" lang="en-GB" sz="1800"/>
              <a:t>modes</a:t>
            </a:r>
            <a:r>
              <a:rPr lang="en-GB" sz="1800"/>
              <a:t> at: 0, 2, 4, 6, 8, 10, and 12.</a:t>
            </a:r>
            <a:endParaRPr sz="1800"/>
          </a:p>
        </p:txBody>
      </p:sp>
      <p:sp>
        <p:nvSpPr>
          <p:cNvPr id="1232" name="Google Shape;1232;p95"/>
          <p:cNvSpPr txBox="1"/>
          <p:nvPr>
            <p:ph idx="1" type="body"/>
          </p:nvPr>
        </p:nvSpPr>
        <p:spPr>
          <a:xfrm>
            <a:off x="324000" y="683100"/>
            <a:ext cx="8496000" cy="723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This is also true for </a:t>
            </a:r>
            <a:r>
              <a:rPr b="1" lang="en-GB" sz="1800"/>
              <a:t>data</a:t>
            </a:r>
            <a:r>
              <a:rPr lang="en-GB" sz="1800"/>
              <a:t> set</a:t>
            </a:r>
            <a:r>
              <a:rPr lang="en-GB" sz="1800"/>
              <a:t>s with too many </a:t>
            </a:r>
            <a:r>
              <a:rPr b="1" lang="en-GB" sz="1800"/>
              <a:t>modes</a:t>
            </a:r>
            <a:r>
              <a:rPr lang="en-GB" sz="1800"/>
              <a:t>.</a:t>
            </a:r>
            <a:endParaRPr sz="1800"/>
          </a:p>
          <a:p>
            <a:pPr indent="0" lvl="0" marL="0" rtl="0" algn="l">
              <a:spcBef>
                <a:spcPts val="1000"/>
              </a:spcBef>
              <a:spcAft>
                <a:spcPts val="1000"/>
              </a:spcAft>
              <a:buNone/>
            </a:pPr>
            <a:r>
              <a:rPr lang="en-GB" sz="1800"/>
              <a:t>Is there any significance in representing the </a:t>
            </a:r>
            <a:r>
              <a:rPr b="1" lang="en-GB" sz="1800"/>
              <a:t>data</a:t>
            </a:r>
            <a:r>
              <a:rPr lang="en-GB" sz="1800"/>
              <a:t> by several values?</a:t>
            </a:r>
            <a:endParaRPr sz="1800"/>
          </a:p>
        </p:txBody>
      </p:sp>
      <p:sp>
        <p:nvSpPr>
          <p:cNvPr id="1233" name="Google Shape;1233;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234" name="Google Shape;1234;p95"/>
          <p:cNvSpPr txBox="1"/>
          <p:nvPr>
            <p:ph idx="1" type="body"/>
          </p:nvPr>
        </p:nvSpPr>
        <p:spPr>
          <a:xfrm>
            <a:off x="6870950" y="1801751"/>
            <a:ext cx="1948800" cy="2507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These </a:t>
            </a:r>
            <a:r>
              <a:rPr b="1" lang="en-GB" sz="1800"/>
              <a:t>modes</a:t>
            </a:r>
            <a:r>
              <a:rPr lang="en-GB" sz="1800"/>
              <a:t> do not represent any distinct peaks in the </a:t>
            </a:r>
            <a:r>
              <a:rPr b="1" lang="en-GB" sz="1800"/>
              <a:t>data</a:t>
            </a:r>
            <a:r>
              <a:rPr lang="en-GB" sz="1800"/>
              <a:t>, or a frequency much higher than any other value.</a:t>
            </a:r>
            <a:endParaRPr sz="1800"/>
          </a:p>
        </p:txBody>
      </p:sp>
      <p:cxnSp>
        <p:nvCxnSpPr>
          <p:cNvPr id="1235" name="Google Shape;1235;p95"/>
          <p:cNvCxnSpPr/>
          <p:nvPr/>
        </p:nvCxnSpPr>
        <p:spPr>
          <a:xfrm>
            <a:off x="4572000" y="1441300"/>
            <a:ext cx="0" cy="3285300"/>
          </a:xfrm>
          <a:prstGeom prst="straightConnector1">
            <a:avLst/>
          </a:prstGeom>
          <a:noFill/>
          <a:ln cap="flat" cmpd="sng" w="38100">
            <a:solidFill>
              <a:schemeClr val="accent2"/>
            </a:solidFill>
            <a:prstDash val="solid"/>
            <a:round/>
            <a:headEnd len="med" w="med" type="none"/>
            <a:tailEnd len="med" w="med" type="none"/>
          </a:ln>
        </p:spPr>
      </p:cxnSp>
      <p:pic>
        <p:nvPicPr>
          <p:cNvPr id="1236" name="Google Shape;1236;p95"/>
          <p:cNvPicPr preferRelativeResize="0"/>
          <p:nvPr/>
        </p:nvPicPr>
        <p:blipFill>
          <a:blip r:embed="rId3">
            <a:alphaModFix/>
          </a:blip>
          <a:stretch>
            <a:fillRect/>
          </a:stretch>
        </p:blipFill>
        <p:spPr>
          <a:xfrm>
            <a:off x="4671600" y="1800625"/>
            <a:ext cx="2099750" cy="2567519"/>
          </a:xfrm>
          <a:prstGeom prst="rect">
            <a:avLst/>
          </a:prstGeom>
          <a:noFill/>
          <a:ln cap="flat" cmpd="sng" w="19050">
            <a:solidFill>
              <a:schemeClr val="dk1"/>
            </a:solidFill>
            <a:prstDash val="solid"/>
            <a:round/>
            <a:headEnd len="sm" w="sm" type="none"/>
            <a:tailEnd len="sm" w="sm" type="none"/>
          </a:ln>
        </p:spPr>
      </p:pic>
      <p:sp>
        <p:nvSpPr>
          <p:cNvPr id="1237" name="Google Shape;1237;p95"/>
          <p:cNvSpPr txBox="1"/>
          <p:nvPr>
            <p:ph idx="1" type="body"/>
          </p:nvPr>
        </p:nvSpPr>
        <p:spPr>
          <a:xfrm>
            <a:off x="324000" y="3905026"/>
            <a:ext cx="41484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Is it really a summary if we try to represent the </a:t>
            </a:r>
            <a:r>
              <a:rPr b="1" lang="en-GB" sz="1800"/>
              <a:t>data </a:t>
            </a:r>
            <a:r>
              <a:rPr lang="en-GB" sz="1800"/>
              <a:t>set</a:t>
            </a:r>
            <a:r>
              <a:rPr lang="en-GB" sz="1800"/>
              <a:t> with 7 </a:t>
            </a:r>
            <a:r>
              <a:rPr b="1" lang="en-GB" sz="1800"/>
              <a:t>modes</a:t>
            </a:r>
            <a:r>
              <a:rPr lang="en-GB" sz="1800"/>
              <a:t>?</a:t>
            </a:r>
            <a:endParaRPr sz="1800"/>
          </a:p>
        </p:txBody>
      </p:sp>
      <p:pic>
        <p:nvPicPr>
          <p:cNvPr id="1238" name="Google Shape;1238;p95"/>
          <p:cNvPicPr preferRelativeResize="0"/>
          <p:nvPr/>
        </p:nvPicPr>
        <p:blipFill>
          <a:blip r:embed="rId4">
            <a:alphaModFix/>
          </a:blip>
          <a:stretch>
            <a:fillRect/>
          </a:stretch>
        </p:blipFill>
        <p:spPr>
          <a:xfrm>
            <a:off x="324000" y="1683551"/>
            <a:ext cx="2563200" cy="2150814"/>
          </a:xfrm>
          <a:prstGeom prst="rect">
            <a:avLst/>
          </a:prstGeom>
          <a:noFill/>
          <a:ln cap="flat" cmpd="sng" w="19050">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96"/>
          <p:cNvSpPr txBox="1"/>
          <p:nvPr>
            <p:ph idx="1" type="body"/>
          </p:nvPr>
        </p:nvSpPr>
        <p:spPr>
          <a:xfrm>
            <a:off x="635875" y="1064100"/>
            <a:ext cx="79257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It is the only one of these three averages that can be used to summarise qualitative </a:t>
            </a:r>
            <a:r>
              <a:rPr b="1" lang="en-GB" sz="2000"/>
              <a:t>data</a:t>
            </a:r>
            <a:r>
              <a:rPr lang="en-GB" sz="2000"/>
              <a:t>.</a:t>
            </a:r>
            <a:endParaRPr sz="2000"/>
          </a:p>
        </p:txBody>
      </p:sp>
      <p:sp>
        <p:nvSpPr>
          <p:cNvPr id="1244" name="Google Shape;1244;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245" name="Google Shape;1245;p96"/>
          <p:cNvSpPr txBox="1"/>
          <p:nvPr>
            <p:ph idx="1" type="body"/>
          </p:nvPr>
        </p:nvSpPr>
        <p:spPr>
          <a:xfrm>
            <a:off x="324000" y="683100"/>
            <a:ext cx="8496000" cy="307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Another advantage of the </a:t>
            </a:r>
            <a:r>
              <a:rPr b="1" lang="en-GB" sz="2000"/>
              <a:t>mode</a:t>
            </a:r>
            <a:r>
              <a:rPr lang="en-GB" sz="2000"/>
              <a:t> is:</a:t>
            </a:r>
            <a:endParaRPr sz="2000"/>
          </a:p>
        </p:txBody>
      </p:sp>
      <p:graphicFrame>
        <p:nvGraphicFramePr>
          <p:cNvPr id="1246" name="Google Shape;1246;p96"/>
          <p:cNvGraphicFramePr/>
          <p:nvPr/>
        </p:nvGraphicFramePr>
        <p:xfrm>
          <a:off x="324000" y="1870563"/>
          <a:ext cx="3000000" cy="3000000"/>
        </p:xfrm>
        <a:graphic>
          <a:graphicData uri="http://schemas.openxmlformats.org/drawingml/2006/table">
            <a:tbl>
              <a:tblPr>
                <a:noFill/>
                <a:tableStyleId>{941F9DB1-44A7-4DC4-A338-CBB8A8854EF6}</a:tableStyleId>
              </a:tblPr>
              <a:tblGrid>
                <a:gridCol w="586875"/>
                <a:gridCol w="586875"/>
                <a:gridCol w="586875"/>
                <a:gridCol w="586875"/>
                <a:gridCol w="586875"/>
                <a:gridCol w="617175"/>
                <a:gridCol w="617175"/>
                <a:gridCol w="617175"/>
                <a:gridCol w="702000"/>
                <a:gridCol w="702000"/>
                <a:gridCol w="702000"/>
                <a:gridCol w="802025"/>
                <a:gridCol w="802025"/>
              </a:tblGrid>
              <a:tr h="578875">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PINK</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D02AA7"/>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PINK</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D02AA7"/>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PINK</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D02AA7"/>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PINK</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D02AA7"/>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PINK</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D02AA7"/>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BLUE</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374CF1"/>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BLUE</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374CF1"/>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BLUE</a:t>
                      </a:r>
                      <a:endParaRPr sz="1500">
                        <a:solidFill>
                          <a:srgbClr val="FFFFFF"/>
                        </a:solidFill>
                        <a:latin typeface="Lexend"/>
                        <a:ea typeface="Lexend"/>
                        <a:cs typeface="Lexend"/>
                        <a:sym typeface="Lexend"/>
                      </a:endParaRPr>
                    </a:p>
                  </a:txBody>
                  <a:tcPr marT="19050" marB="19050" marR="28575" marL="28575"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374CF1"/>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GREEN</a:t>
                      </a:r>
                      <a:endParaRPr sz="1500">
                        <a:solidFill>
                          <a:srgbClr val="FFFFFF"/>
                        </a:solidFill>
                        <a:latin typeface="Lexend"/>
                        <a:ea typeface="Lexend"/>
                        <a:cs typeface="Lexend"/>
                        <a:sym typeface="Lexend"/>
                      </a:endParaRPr>
                    </a:p>
                  </a:txBody>
                  <a:tcPr marT="0" marB="0" marR="0" marL="0"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037B7D"/>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GREEN</a:t>
                      </a:r>
                      <a:endParaRPr sz="1500">
                        <a:solidFill>
                          <a:srgbClr val="FFFFFF"/>
                        </a:solidFill>
                        <a:latin typeface="Lexend"/>
                        <a:ea typeface="Lexend"/>
                        <a:cs typeface="Lexend"/>
                        <a:sym typeface="Lexend"/>
                      </a:endParaRPr>
                    </a:p>
                  </a:txBody>
                  <a:tcPr marT="0" marB="0" marR="0" marL="0"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037B7D"/>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GREEN</a:t>
                      </a:r>
                      <a:endParaRPr sz="1500">
                        <a:solidFill>
                          <a:srgbClr val="FFFFFF"/>
                        </a:solidFill>
                        <a:latin typeface="Lexend"/>
                        <a:ea typeface="Lexend"/>
                        <a:cs typeface="Lexend"/>
                        <a:sym typeface="Lexend"/>
                      </a:endParaRPr>
                    </a:p>
                  </a:txBody>
                  <a:tcPr marT="0" marB="0" marR="0" marL="0"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037B7D"/>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PURPLE</a:t>
                      </a:r>
                      <a:endParaRPr sz="1500">
                        <a:solidFill>
                          <a:srgbClr val="FFFFFF"/>
                        </a:solidFill>
                        <a:latin typeface="Lexend"/>
                        <a:ea typeface="Lexend"/>
                        <a:cs typeface="Lexend"/>
                        <a:sym typeface="Lexend"/>
                      </a:endParaRPr>
                    </a:p>
                  </a:txBody>
                  <a:tcPr marT="0" marB="0" marR="0" marL="0"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845AD9"/>
                    </a:solidFill>
                  </a:tcPr>
                </a:tc>
                <a:tc>
                  <a:txBody>
                    <a:bodyPr/>
                    <a:lstStyle/>
                    <a:p>
                      <a:pPr indent="0" lvl="0" marL="0" rtl="0" algn="ctr">
                        <a:lnSpc>
                          <a:spcPct val="115000"/>
                        </a:lnSpc>
                        <a:spcBef>
                          <a:spcPts val="0"/>
                        </a:spcBef>
                        <a:spcAft>
                          <a:spcPts val="0"/>
                        </a:spcAft>
                        <a:buNone/>
                      </a:pPr>
                      <a:r>
                        <a:rPr lang="en-GB" sz="1500">
                          <a:solidFill>
                            <a:srgbClr val="FFFFFF"/>
                          </a:solidFill>
                          <a:latin typeface="Lexend"/>
                          <a:ea typeface="Lexend"/>
                          <a:cs typeface="Lexend"/>
                          <a:sym typeface="Lexend"/>
                        </a:rPr>
                        <a:t>PURPLE</a:t>
                      </a:r>
                      <a:endParaRPr sz="1500">
                        <a:solidFill>
                          <a:srgbClr val="FFFFFF"/>
                        </a:solidFill>
                        <a:latin typeface="Lexend"/>
                        <a:ea typeface="Lexend"/>
                        <a:cs typeface="Lexend"/>
                        <a:sym typeface="Lexend"/>
                      </a:endParaRPr>
                    </a:p>
                  </a:txBody>
                  <a:tcPr marT="0" marB="0" marR="0" marL="0" anchor="ctr">
                    <a:lnL cap="flat" cmpd="sng" w="10575">
                      <a:solidFill>
                        <a:srgbClr val="B7B7B7"/>
                      </a:solidFill>
                      <a:prstDash val="solid"/>
                      <a:round/>
                      <a:headEnd len="sm" w="sm" type="none"/>
                      <a:tailEnd len="sm" w="sm" type="none"/>
                    </a:lnL>
                    <a:lnR cap="flat" cmpd="sng" w="10575">
                      <a:solidFill>
                        <a:srgbClr val="B7B7B7"/>
                      </a:solidFill>
                      <a:prstDash val="solid"/>
                      <a:round/>
                      <a:headEnd len="sm" w="sm" type="none"/>
                      <a:tailEnd len="sm" w="sm" type="none"/>
                    </a:lnR>
                    <a:lnT cap="flat" cmpd="sng" w="10575">
                      <a:solidFill>
                        <a:srgbClr val="B7B7B7"/>
                      </a:solidFill>
                      <a:prstDash val="solid"/>
                      <a:round/>
                      <a:headEnd len="sm" w="sm" type="none"/>
                      <a:tailEnd len="sm" w="sm" type="none"/>
                    </a:lnT>
                    <a:lnB cap="flat" cmpd="sng" w="10575">
                      <a:solidFill>
                        <a:srgbClr val="B7B7B7"/>
                      </a:solidFill>
                      <a:prstDash val="solid"/>
                      <a:round/>
                      <a:headEnd len="sm" w="sm" type="none"/>
                      <a:tailEnd len="sm" w="sm" type="none"/>
                    </a:lnB>
                    <a:solidFill>
                      <a:srgbClr val="845AD9"/>
                    </a:solidFill>
                  </a:tcPr>
                </a:tc>
              </a:tr>
            </a:tbl>
          </a:graphicData>
        </a:graphic>
      </p:graphicFrame>
      <p:sp>
        <p:nvSpPr>
          <p:cNvPr id="1247" name="Google Shape;1247;p96"/>
          <p:cNvSpPr txBox="1"/>
          <p:nvPr>
            <p:ph idx="1" type="body"/>
          </p:nvPr>
        </p:nvSpPr>
        <p:spPr>
          <a:xfrm>
            <a:off x="709250" y="2644200"/>
            <a:ext cx="8110800" cy="101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The </a:t>
            </a:r>
            <a:r>
              <a:rPr b="1" lang="en-GB" sz="2000"/>
              <a:t>mean</a:t>
            </a:r>
            <a:r>
              <a:rPr lang="en-GB" sz="2000"/>
              <a:t> is impossible because you can’t add colours, whilst there is no defined order to make finding the </a:t>
            </a:r>
            <a:r>
              <a:rPr b="1" lang="en-GB" sz="2000"/>
              <a:t>median</a:t>
            </a:r>
            <a:r>
              <a:rPr lang="en-GB" sz="2000"/>
              <a:t> value possible.</a:t>
            </a:r>
            <a:endParaRPr sz="2000"/>
          </a:p>
        </p:txBody>
      </p:sp>
      <p:sp>
        <p:nvSpPr>
          <p:cNvPr id="1248" name="Google Shape;1248;p96"/>
          <p:cNvSpPr txBox="1"/>
          <p:nvPr>
            <p:ph idx="1" type="body"/>
          </p:nvPr>
        </p:nvSpPr>
        <p:spPr>
          <a:xfrm>
            <a:off x="709250" y="3952500"/>
            <a:ext cx="81108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The </a:t>
            </a:r>
            <a:r>
              <a:rPr b="1" lang="en-GB" sz="2000"/>
              <a:t>mode</a:t>
            </a:r>
            <a:r>
              <a:rPr lang="en-GB" sz="2000"/>
              <a:t> is clear to see; the most frequently occurring colour is pink.</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97"/>
          <p:cNvSpPr txBox="1"/>
          <p:nvPr>
            <p:ph idx="1" type="body"/>
          </p:nvPr>
        </p:nvSpPr>
        <p:spPr>
          <a:xfrm>
            <a:off x="4867779" y="3862800"/>
            <a:ext cx="3437400" cy="9144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startAt="4"/>
            </a:pPr>
            <a:r>
              <a:rPr lang="en-GB" sz="1800"/>
              <a:t>It has two </a:t>
            </a:r>
            <a:r>
              <a:rPr b="1" lang="en-GB" sz="1800"/>
              <a:t>modes</a:t>
            </a:r>
            <a:r>
              <a:rPr lang="en-GB" sz="1800"/>
              <a:t> (bimodal) which are both representative</a:t>
            </a:r>
            <a:endParaRPr sz="1800"/>
          </a:p>
        </p:txBody>
      </p:sp>
      <p:sp>
        <p:nvSpPr>
          <p:cNvPr id="1254" name="Google Shape;1254;p97"/>
          <p:cNvSpPr txBox="1"/>
          <p:nvPr>
            <p:ph idx="1" type="body"/>
          </p:nvPr>
        </p:nvSpPr>
        <p:spPr>
          <a:xfrm>
            <a:off x="324000" y="6831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Match the dot plot to the statement about its </a:t>
            </a:r>
            <a:r>
              <a:rPr b="1" lang="en-GB" sz="1800"/>
              <a:t>mode</a:t>
            </a:r>
            <a:r>
              <a:rPr lang="en-GB" sz="1800"/>
              <a:t>.</a:t>
            </a:r>
            <a:endParaRPr sz="1800"/>
          </a:p>
        </p:txBody>
      </p:sp>
      <p:sp>
        <p:nvSpPr>
          <p:cNvPr id="1255" name="Google Shape;1255;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256" name="Google Shape;1256;p97"/>
          <p:cNvSpPr txBox="1"/>
          <p:nvPr>
            <p:ph idx="1" type="body"/>
          </p:nvPr>
        </p:nvSpPr>
        <p:spPr>
          <a:xfrm>
            <a:off x="650000" y="3390417"/>
            <a:ext cx="1709700" cy="2772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a:pPr>
            <a:r>
              <a:rPr lang="en-GB" sz="1800"/>
              <a:t>No </a:t>
            </a:r>
            <a:r>
              <a:rPr b="1" lang="en-GB" sz="1800"/>
              <a:t>mode</a:t>
            </a:r>
            <a:endParaRPr b="1" sz="1800"/>
          </a:p>
        </p:txBody>
      </p:sp>
      <p:sp>
        <p:nvSpPr>
          <p:cNvPr id="1257" name="Google Shape;1257;p97"/>
          <p:cNvSpPr txBox="1"/>
          <p:nvPr>
            <p:ph idx="1" type="body"/>
          </p:nvPr>
        </p:nvSpPr>
        <p:spPr>
          <a:xfrm>
            <a:off x="650000" y="3829800"/>
            <a:ext cx="3963600" cy="9144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startAt="3"/>
            </a:pPr>
            <a:r>
              <a:rPr lang="en-GB" sz="1800"/>
              <a:t>It has two </a:t>
            </a:r>
            <a:r>
              <a:rPr b="1" lang="en-GB" sz="1800"/>
              <a:t>modes</a:t>
            </a:r>
            <a:r>
              <a:rPr lang="en-GB" sz="1800"/>
              <a:t> (bimodal), but they aren’t very representative</a:t>
            </a:r>
            <a:endParaRPr sz="1800"/>
          </a:p>
        </p:txBody>
      </p:sp>
      <p:sp>
        <p:nvSpPr>
          <p:cNvPr id="1258" name="Google Shape;1258;p97"/>
          <p:cNvSpPr txBox="1"/>
          <p:nvPr>
            <p:ph idx="1" type="body"/>
          </p:nvPr>
        </p:nvSpPr>
        <p:spPr>
          <a:xfrm>
            <a:off x="4867776" y="3282000"/>
            <a:ext cx="3437400" cy="5958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startAt="2"/>
            </a:pPr>
            <a:r>
              <a:rPr lang="en-GB" sz="1800"/>
              <a:t>It has a single </a:t>
            </a:r>
            <a:r>
              <a:rPr b="1" lang="en-GB" sz="1800"/>
              <a:t>mode</a:t>
            </a:r>
            <a:r>
              <a:rPr lang="en-GB" sz="1800"/>
              <a:t> which is representative</a:t>
            </a:r>
            <a:endParaRPr sz="1800"/>
          </a:p>
        </p:txBody>
      </p:sp>
      <p:pic>
        <p:nvPicPr>
          <p:cNvPr id="1259" name="Google Shape;1259;p97"/>
          <p:cNvPicPr preferRelativeResize="0"/>
          <p:nvPr/>
        </p:nvPicPr>
        <p:blipFill rotWithShape="1">
          <a:blip r:embed="rId3">
            <a:alphaModFix/>
          </a:blip>
          <a:srcRect b="0" l="0" r="80279" t="0"/>
          <a:stretch/>
        </p:blipFill>
        <p:spPr>
          <a:xfrm>
            <a:off x="871321" y="1080000"/>
            <a:ext cx="1415001" cy="2120550"/>
          </a:xfrm>
          <a:prstGeom prst="rect">
            <a:avLst/>
          </a:prstGeom>
          <a:noFill/>
          <a:ln cap="flat" cmpd="sng" w="19050">
            <a:solidFill>
              <a:schemeClr val="dk1"/>
            </a:solidFill>
            <a:prstDash val="solid"/>
            <a:round/>
            <a:headEnd len="sm" w="sm" type="none"/>
            <a:tailEnd len="sm" w="sm" type="none"/>
          </a:ln>
        </p:spPr>
      </p:pic>
      <p:pic>
        <p:nvPicPr>
          <p:cNvPr id="1260" name="Google Shape;1260;p97"/>
          <p:cNvPicPr preferRelativeResize="0"/>
          <p:nvPr/>
        </p:nvPicPr>
        <p:blipFill rotWithShape="1">
          <a:blip r:embed="rId3">
            <a:alphaModFix/>
          </a:blip>
          <a:srcRect b="0" l="25807" r="53401" t="0"/>
          <a:stretch/>
        </p:blipFill>
        <p:spPr>
          <a:xfrm>
            <a:off x="2969765" y="1080000"/>
            <a:ext cx="1491775" cy="2120550"/>
          </a:xfrm>
          <a:prstGeom prst="rect">
            <a:avLst/>
          </a:prstGeom>
          <a:noFill/>
          <a:ln cap="flat" cmpd="sng" w="19050">
            <a:solidFill>
              <a:schemeClr val="dk1"/>
            </a:solidFill>
            <a:prstDash val="solid"/>
            <a:round/>
            <a:headEnd len="sm" w="sm" type="none"/>
            <a:tailEnd len="sm" w="sm" type="none"/>
          </a:ln>
        </p:spPr>
      </p:pic>
      <p:pic>
        <p:nvPicPr>
          <p:cNvPr id="1261" name="Google Shape;1261;p97"/>
          <p:cNvPicPr preferRelativeResize="0"/>
          <p:nvPr/>
        </p:nvPicPr>
        <p:blipFill rotWithShape="1">
          <a:blip r:embed="rId3">
            <a:alphaModFix/>
          </a:blip>
          <a:srcRect b="0" l="52662" r="25365" t="0"/>
          <a:stretch/>
        </p:blipFill>
        <p:spPr>
          <a:xfrm>
            <a:off x="5144982" y="1080000"/>
            <a:ext cx="1576576" cy="2120550"/>
          </a:xfrm>
          <a:prstGeom prst="rect">
            <a:avLst/>
          </a:prstGeom>
          <a:noFill/>
          <a:ln cap="flat" cmpd="sng" w="19050">
            <a:solidFill>
              <a:schemeClr val="dk1"/>
            </a:solidFill>
            <a:prstDash val="solid"/>
            <a:round/>
            <a:headEnd len="sm" w="sm" type="none"/>
            <a:tailEnd len="sm" w="sm" type="none"/>
          </a:ln>
        </p:spPr>
      </p:pic>
      <p:pic>
        <p:nvPicPr>
          <p:cNvPr id="1262" name="Google Shape;1262;p97"/>
          <p:cNvPicPr preferRelativeResize="0"/>
          <p:nvPr/>
        </p:nvPicPr>
        <p:blipFill rotWithShape="1">
          <a:blip r:embed="rId3">
            <a:alphaModFix/>
          </a:blip>
          <a:srcRect b="0" l="80383" r="-104" t="0"/>
          <a:stretch/>
        </p:blipFill>
        <p:spPr>
          <a:xfrm>
            <a:off x="7405000" y="1080000"/>
            <a:ext cx="1415001" cy="2120550"/>
          </a:xfrm>
          <a:prstGeom prst="rect">
            <a:avLst/>
          </a:prstGeom>
          <a:noFill/>
          <a:ln cap="flat" cmpd="sng" w="19050">
            <a:solidFill>
              <a:schemeClr val="dk1"/>
            </a:solidFill>
            <a:prstDash val="solid"/>
            <a:round/>
            <a:headEnd len="sm" w="sm" type="none"/>
            <a:tailEnd len="sm" w="sm" type="none"/>
          </a:ln>
        </p:spPr>
      </p:pic>
      <p:grpSp>
        <p:nvGrpSpPr>
          <p:cNvPr id="1263" name="Google Shape;1263;p97"/>
          <p:cNvGrpSpPr/>
          <p:nvPr/>
        </p:nvGrpSpPr>
        <p:grpSpPr>
          <a:xfrm>
            <a:off x="323991" y="1080000"/>
            <a:ext cx="457200" cy="457200"/>
            <a:chOff x="1020916" y="1442088"/>
            <a:chExt cx="457200" cy="457200"/>
          </a:xfrm>
        </p:grpSpPr>
        <p:pic>
          <p:nvPicPr>
            <p:cNvPr id="1264" name="Google Shape;1264;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5" name="Google Shape;1265;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66" name="Google Shape;1266;p97"/>
          <p:cNvGrpSpPr/>
          <p:nvPr/>
        </p:nvGrpSpPr>
        <p:grpSpPr>
          <a:xfrm>
            <a:off x="2399441" y="1080000"/>
            <a:ext cx="457200" cy="457200"/>
            <a:chOff x="1020916" y="1442088"/>
            <a:chExt cx="457200" cy="457200"/>
          </a:xfrm>
        </p:grpSpPr>
        <p:pic>
          <p:nvPicPr>
            <p:cNvPr id="1267" name="Google Shape;1267;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8" name="Google Shape;1268;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69" name="Google Shape;1269;p97"/>
          <p:cNvGrpSpPr/>
          <p:nvPr/>
        </p:nvGrpSpPr>
        <p:grpSpPr>
          <a:xfrm>
            <a:off x="4574653" y="1080000"/>
            <a:ext cx="457200" cy="457200"/>
            <a:chOff x="1020916" y="1442088"/>
            <a:chExt cx="457200" cy="457200"/>
          </a:xfrm>
        </p:grpSpPr>
        <p:pic>
          <p:nvPicPr>
            <p:cNvPr id="1270" name="Google Shape;1270;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1" name="Google Shape;1271;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72" name="Google Shape;1272;p97"/>
          <p:cNvGrpSpPr/>
          <p:nvPr/>
        </p:nvGrpSpPr>
        <p:grpSpPr>
          <a:xfrm>
            <a:off x="6834666" y="1080000"/>
            <a:ext cx="457200" cy="457200"/>
            <a:chOff x="1020916" y="1442088"/>
            <a:chExt cx="457200" cy="457200"/>
          </a:xfrm>
        </p:grpSpPr>
        <p:pic>
          <p:nvPicPr>
            <p:cNvPr id="1273" name="Google Shape;1273;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4" name="Google Shape;1274;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98"/>
          <p:cNvSpPr txBox="1"/>
          <p:nvPr>
            <p:ph idx="1" type="body"/>
          </p:nvPr>
        </p:nvSpPr>
        <p:spPr>
          <a:xfrm>
            <a:off x="324000" y="6831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Match the dot plot to the statement about its </a:t>
            </a:r>
            <a:r>
              <a:rPr b="1" lang="en-GB" sz="1800"/>
              <a:t>mode</a:t>
            </a:r>
            <a:r>
              <a:rPr lang="en-GB" sz="1800"/>
              <a:t>.</a:t>
            </a:r>
            <a:endParaRPr sz="1800"/>
          </a:p>
        </p:txBody>
      </p:sp>
      <p:sp>
        <p:nvSpPr>
          <p:cNvPr id="1280" name="Google Shape;1280;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pic>
        <p:nvPicPr>
          <p:cNvPr id="1281" name="Google Shape;1281;p98"/>
          <p:cNvPicPr preferRelativeResize="0"/>
          <p:nvPr/>
        </p:nvPicPr>
        <p:blipFill rotWithShape="1">
          <a:blip r:embed="rId3">
            <a:alphaModFix/>
          </a:blip>
          <a:srcRect b="0" l="0" r="80279" t="0"/>
          <a:stretch/>
        </p:blipFill>
        <p:spPr>
          <a:xfrm>
            <a:off x="871321" y="1080000"/>
            <a:ext cx="1415001" cy="2120550"/>
          </a:xfrm>
          <a:prstGeom prst="rect">
            <a:avLst/>
          </a:prstGeom>
          <a:noFill/>
          <a:ln cap="flat" cmpd="sng" w="19050">
            <a:solidFill>
              <a:schemeClr val="dk1"/>
            </a:solidFill>
            <a:prstDash val="solid"/>
            <a:round/>
            <a:headEnd len="sm" w="sm" type="none"/>
            <a:tailEnd len="sm" w="sm" type="none"/>
          </a:ln>
        </p:spPr>
      </p:pic>
      <p:pic>
        <p:nvPicPr>
          <p:cNvPr id="1282" name="Google Shape;1282;p98"/>
          <p:cNvPicPr preferRelativeResize="0"/>
          <p:nvPr/>
        </p:nvPicPr>
        <p:blipFill rotWithShape="1">
          <a:blip r:embed="rId3">
            <a:alphaModFix/>
          </a:blip>
          <a:srcRect b="0" l="25807" r="53401" t="0"/>
          <a:stretch/>
        </p:blipFill>
        <p:spPr>
          <a:xfrm>
            <a:off x="2969765" y="1080000"/>
            <a:ext cx="1491775" cy="2120550"/>
          </a:xfrm>
          <a:prstGeom prst="rect">
            <a:avLst/>
          </a:prstGeom>
          <a:noFill/>
          <a:ln cap="flat" cmpd="sng" w="19050">
            <a:solidFill>
              <a:schemeClr val="dk1"/>
            </a:solidFill>
            <a:prstDash val="solid"/>
            <a:round/>
            <a:headEnd len="sm" w="sm" type="none"/>
            <a:tailEnd len="sm" w="sm" type="none"/>
          </a:ln>
        </p:spPr>
      </p:pic>
      <p:pic>
        <p:nvPicPr>
          <p:cNvPr id="1283" name="Google Shape;1283;p98"/>
          <p:cNvPicPr preferRelativeResize="0"/>
          <p:nvPr/>
        </p:nvPicPr>
        <p:blipFill rotWithShape="1">
          <a:blip r:embed="rId3">
            <a:alphaModFix/>
          </a:blip>
          <a:srcRect b="0" l="52662" r="25365" t="0"/>
          <a:stretch/>
        </p:blipFill>
        <p:spPr>
          <a:xfrm>
            <a:off x="5144982" y="1080000"/>
            <a:ext cx="1576576" cy="2120550"/>
          </a:xfrm>
          <a:prstGeom prst="rect">
            <a:avLst/>
          </a:prstGeom>
          <a:noFill/>
          <a:ln cap="flat" cmpd="sng" w="19050">
            <a:solidFill>
              <a:schemeClr val="dk1"/>
            </a:solidFill>
            <a:prstDash val="solid"/>
            <a:round/>
            <a:headEnd len="sm" w="sm" type="none"/>
            <a:tailEnd len="sm" w="sm" type="none"/>
          </a:ln>
        </p:spPr>
      </p:pic>
      <p:pic>
        <p:nvPicPr>
          <p:cNvPr id="1284" name="Google Shape;1284;p98"/>
          <p:cNvPicPr preferRelativeResize="0"/>
          <p:nvPr/>
        </p:nvPicPr>
        <p:blipFill rotWithShape="1">
          <a:blip r:embed="rId3">
            <a:alphaModFix/>
          </a:blip>
          <a:srcRect b="0" l="80383" r="-104" t="0"/>
          <a:stretch/>
        </p:blipFill>
        <p:spPr>
          <a:xfrm>
            <a:off x="7405000" y="1080000"/>
            <a:ext cx="1415001" cy="2120550"/>
          </a:xfrm>
          <a:prstGeom prst="rect">
            <a:avLst/>
          </a:prstGeom>
          <a:noFill/>
          <a:ln cap="flat" cmpd="sng" w="19050">
            <a:solidFill>
              <a:schemeClr val="dk1"/>
            </a:solidFill>
            <a:prstDash val="solid"/>
            <a:round/>
            <a:headEnd len="sm" w="sm" type="none"/>
            <a:tailEnd len="sm" w="sm" type="none"/>
          </a:ln>
        </p:spPr>
      </p:pic>
      <p:sp>
        <p:nvSpPr>
          <p:cNvPr id="1285" name="Google Shape;1285;p98"/>
          <p:cNvSpPr txBox="1"/>
          <p:nvPr>
            <p:ph idx="1" type="body"/>
          </p:nvPr>
        </p:nvSpPr>
        <p:spPr>
          <a:xfrm>
            <a:off x="7405000" y="3240000"/>
            <a:ext cx="14151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No </a:t>
            </a:r>
            <a:r>
              <a:rPr b="1" lang="en-GB" sz="1600"/>
              <a:t>mode</a:t>
            </a:r>
            <a:endParaRPr b="1" sz="1600"/>
          </a:p>
        </p:txBody>
      </p:sp>
      <p:sp>
        <p:nvSpPr>
          <p:cNvPr id="1286" name="Google Shape;1286;p98"/>
          <p:cNvSpPr txBox="1"/>
          <p:nvPr>
            <p:ph idx="1" type="body"/>
          </p:nvPr>
        </p:nvSpPr>
        <p:spPr>
          <a:xfrm>
            <a:off x="755546" y="3240000"/>
            <a:ext cx="1646700" cy="1379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It has two </a:t>
            </a:r>
            <a:r>
              <a:rPr b="1" lang="en-GB" sz="1600"/>
              <a:t>modes</a:t>
            </a:r>
            <a:r>
              <a:rPr lang="en-GB" sz="1600"/>
              <a:t> (bimodal), but they aren’t very representative</a:t>
            </a:r>
            <a:endParaRPr sz="1600"/>
          </a:p>
        </p:txBody>
      </p:sp>
      <p:sp>
        <p:nvSpPr>
          <p:cNvPr id="1287" name="Google Shape;1287;p98"/>
          <p:cNvSpPr txBox="1"/>
          <p:nvPr>
            <p:ph idx="1" type="body"/>
          </p:nvPr>
        </p:nvSpPr>
        <p:spPr>
          <a:xfrm>
            <a:off x="2831248" y="3240000"/>
            <a:ext cx="17541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It has a single </a:t>
            </a:r>
            <a:r>
              <a:rPr b="1" lang="en-GB" sz="1600"/>
              <a:t>mode</a:t>
            </a:r>
            <a:r>
              <a:rPr lang="en-GB" sz="1600"/>
              <a:t> which is representative</a:t>
            </a:r>
            <a:endParaRPr sz="1600"/>
          </a:p>
        </p:txBody>
      </p:sp>
      <p:sp>
        <p:nvSpPr>
          <p:cNvPr id="1288" name="Google Shape;1288;p98"/>
          <p:cNvSpPr txBox="1"/>
          <p:nvPr>
            <p:ph idx="1" type="body"/>
          </p:nvPr>
        </p:nvSpPr>
        <p:spPr>
          <a:xfrm>
            <a:off x="5056174" y="3240000"/>
            <a:ext cx="17541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It has two </a:t>
            </a:r>
            <a:r>
              <a:rPr b="1" lang="en-GB" sz="1600"/>
              <a:t>modes</a:t>
            </a:r>
            <a:r>
              <a:rPr lang="en-GB" sz="1600"/>
              <a:t> (bimodal) which are both representative</a:t>
            </a:r>
            <a:endParaRPr sz="1600"/>
          </a:p>
        </p:txBody>
      </p:sp>
      <p:grpSp>
        <p:nvGrpSpPr>
          <p:cNvPr id="1289" name="Google Shape;1289;p98"/>
          <p:cNvGrpSpPr/>
          <p:nvPr/>
        </p:nvGrpSpPr>
        <p:grpSpPr>
          <a:xfrm>
            <a:off x="323991" y="1080000"/>
            <a:ext cx="457200" cy="457200"/>
            <a:chOff x="1020916" y="1442088"/>
            <a:chExt cx="457200" cy="457200"/>
          </a:xfrm>
        </p:grpSpPr>
        <p:pic>
          <p:nvPicPr>
            <p:cNvPr id="1290" name="Google Shape;1290;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1" name="Google Shape;1291;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92" name="Google Shape;1292;p98"/>
          <p:cNvGrpSpPr/>
          <p:nvPr/>
        </p:nvGrpSpPr>
        <p:grpSpPr>
          <a:xfrm>
            <a:off x="2399441" y="1080000"/>
            <a:ext cx="457200" cy="457200"/>
            <a:chOff x="1020916" y="1442088"/>
            <a:chExt cx="457200" cy="457200"/>
          </a:xfrm>
        </p:grpSpPr>
        <p:pic>
          <p:nvPicPr>
            <p:cNvPr id="1293" name="Google Shape;1293;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4" name="Google Shape;1294;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95" name="Google Shape;1295;p98"/>
          <p:cNvGrpSpPr/>
          <p:nvPr/>
        </p:nvGrpSpPr>
        <p:grpSpPr>
          <a:xfrm>
            <a:off x="4574653" y="1080000"/>
            <a:ext cx="457200" cy="457200"/>
            <a:chOff x="1020916" y="1442088"/>
            <a:chExt cx="457200" cy="457200"/>
          </a:xfrm>
        </p:grpSpPr>
        <p:pic>
          <p:nvPicPr>
            <p:cNvPr id="1296" name="Google Shape;1296;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7" name="Google Shape;1297;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98" name="Google Shape;1298;p98"/>
          <p:cNvGrpSpPr/>
          <p:nvPr/>
        </p:nvGrpSpPr>
        <p:grpSpPr>
          <a:xfrm>
            <a:off x="6834666" y="1080000"/>
            <a:ext cx="457200" cy="457200"/>
            <a:chOff x="1020916" y="1442088"/>
            <a:chExt cx="457200" cy="457200"/>
          </a:xfrm>
        </p:grpSpPr>
        <p:pic>
          <p:nvPicPr>
            <p:cNvPr id="1299" name="Google Shape;1299;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0" name="Google Shape;1300;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301" name="Google Shape;1301;p98"/>
          <p:cNvSpPr txBox="1"/>
          <p:nvPr/>
        </p:nvSpPr>
        <p:spPr>
          <a:xfrm>
            <a:off x="6857325" y="1620000"/>
            <a:ext cx="41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302" name="Google Shape;1302;p98"/>
          <p:cNvSpPr txBox="1"/>
          <p:nvPr/>
        </p:nvSpPr>
        <p:spPr>
          <a:xfrm>
            <a:off x="4597328" y="1656900"/>
            <a:ext cx="54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03" name="Google Shape;1303;p98"/>
          <p:cNvSpPr txBox="1"/>
          <p:nvPr/>
        </p:nvSpPr>
        <p:spPr>
          <a:xfrm>
            <a:off x="346650" y="1656900"/>
            <a:ext cx="41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304" name="Google Shape;1304;p98"/>
          <p:cNvSpPr txBox="1"/>
          <p:nvPr/>
        </p:nvSpPr>
        <p:spPr>
          <a:xfrm>
            <a:off x="2422100" y="1656900"/>
            <a:ext cx="41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pic>
        <p:nvPicPr>
          <p:cNvPr id="1309" name="Google Shape;1309;p99"/>
          <p:cNvPicPr preferRelativeResize="0"/>
          <p:nvPr/>
        </p:nvPicPr>
        <p:blipFill rotWithShape="1">
          <a:blip r:embed="rId3">
            <a:alphaModFix/>
          </a:blip>
          <a:srcRect b="43690" l="0" r="57905" t="0"/>
          <a:stretch/>
        </p:blipFill>
        <p:spPr>
          <a:xfrm>
            <a:off x="5041551" y="2744225"/>
            <a:ext cx="2840428" cy="1982426"/>
          </a:xfrm>
          <a:prstGeom prst="rect">
            <a:avLst/>
          </a:prstGeom>
          <a:noFill/>
          <a:ln>
            <a:noFill/>
          </a:ln>
        </p:spPr>
      </p:pic>
      <p:sp>
        <p:nvSpPr>
          <p:cNvPr id="1310" name="Google Shape;1310;p99"/>
          <p:cNvSpPr txBox="1"/>
          <p:nvPr>
            <p:ph idx="1" type="body"/>
          </p:nvPr>
        </p:nvSpPr>
        <p:spPr>
          <a:xfrm flipH="1">
            <a:off x="5099021" y="2802497"/>
            <a:ext cx="25797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median</a:t>
            </a:r>
            <a:r>
              <a:rPr lang="en-GB" sz="1800"/>
              <a:t> will be 6, since that’s the middle </a:t>
            </a:r>
            <a:r>
              <a:rPr b="1" lang="en-GB" sz="1800"/>
              <a:t>data </a:t>
            </a:r>
            <a:r>
              <a:rPr lang="en-GB" sz="1800"/>
              <a:t>point, no matter how spread out the </a:t>
            </a:r>
            <a:r>
              <a:rPr b="1" lang="en-GB" sz="1800"/>
              <a:t>data </a:t>
            </a:r>
            <a:r>
              <a:rPr lang="en-GB" sz="1800"/>
              <a:t>is.</a:t>
            </a:r>
            <a:endParaRPr sz="1800"/>
          </a:p>
        </p:txBody>
      </p:sp>
      <p:sp>
        <p:nvSpPr>
          <p:cNvPr id="1311" name="Google Shape;1311;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312" name="Google Shape;1312;p99"/>
          <p:cNvSpPr txBox="1"/>
          <p:nvPr>
            <p:ph idx="1" type="body"/>
          </p:nvPr>
        </p:nvSpPr>
        <p:spPr>
          <a:xfrm>
            <a:off x="324000" y="6831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Where would the </a:t>
            </a:r>
            <a:r>
              <a:rPr b="1" lang="en-GB" sz="1800"/>
              <a:t>median</a:t>
            </a:r>
            <a:r>
              <a:rPr lang="en-GB" sz="1800"/>
              <a:t> be on this dot plot?</a:t>
            </a:r>
            <a:endParaRPr sz="1800"/>
          </a:p>
        </p:txBody>
      </p:sp>
      <p:grpSp>
        <p:nvGrpSpPr>
          <p:cNvPr id="1313" name="Google Shape;1313;p99"/>
          <p:cNvGrpSpPr/>
          <p:nvPr/>
        </p:nvGrpSpPr>
        <p:grpSpPr>
          <a:xfrm>
            <a:off x="849858" y="1079988"/>
            <a:ext cx="7444284" cy="1513325"/>
            <a:chOff x="849858" y="1774063"/>
            <a:chExt cx="7444284" cy="1513325"/>
          </a:xfrm>
        </p:grpSpPr>
        <p:pic>
          <p:nvPicPr>
            <p:cNvPr id="1314" name="Google Shape;1314;p99"/>
            <p:cNvPicPr preferRelativeResize="0"/>
            <p:nvPr/>
          </p:nvPicPr>
          <p:blipFill>
            <a:blip r:embed="rId4">
              <a:alphaModFix/>
            </a:blip>
            <a:stretch>
              <a:fillRect/>
            </a:stretch>
          </p:blipFill>
          <p:spPr>
            <a:xfrm>
              <a:off x="849858" y="1774063"/>
              <a:ext cx="7444284" cy="1513325"/>
            </a:xfrm>
            <a:prstGeom prst="rect">
              <a:avLst/>
            </a:prstGeom>
            <a:noFill/>
            <a:ln cap="flat" cmpd="sng" w="9525">
              <a:solidFill>
                <a:schemeClr val="dk1"/>
              </a:solidFill>
              <a:prstDash val="solid"/>
              <a:round/>
              <a:headEnd len="sm" w="sm" type="none"/>
              <a:tailEnd len="sm" w="sm" type="none"/>
            </a:ln>
          </p:spPr>
        </p:pic>
        <p:pic>
          <p:nvPicPr>
            <p:cNvPr id="1315" name="Google Shape;1315;p99"/>
            <p:cNvPicPr preferRelativeResize="0"/>
            <p:nvPr/>
          </p:nvPicPr>
          <p:blipFill rotWithShape="1">
            <a:blip r:embed="rId4">
              <a:alphaModFix/>
            </a:blip>
            <a:srcRect b="28562" l="32352" r="65458" t="15112"/>
            <a:stretch/>
          </p:blipFill>
          <p:spPr>
            <a:xfrm>
              <a:off x="854876" y="1923950"/>
              <a:ext cx="162948" cy="852400"/>
            </a:xfrm>
            <a:prstGeom prst="rect">
              <a:avLst/>
            </a:prstGeom>
            <a:noFill/>
            <a:ln>
              <a:noFill/>
            </a:ln>
          </p:spPr>
        </p:pic>
        <p:pic>
          <p:nvPicPr>
            <p:cNvPr id="1316" name="Google Shape;1316;p99"/>
            <p:cNvPicPr preferRelativeResize="0"/>
            <p:nvPr/>
          </p:nvPicPr>
          <p:blipFill rotWithShape="1">
            <a:blip r:embed="rId4">
              <a:alphaModFix/>
            </a:blip>
            <a:srcRect b="66172" l="3375" r="93400" t="7541"/>
            <a:stretch/>
          </p:blipFill>
          <p:spPr>
            <a:xfrm>
              <a:off x="1101100" y="2302201"/>
              <a:ext cx="240024" cy="397800"/>
            </a:xfrm>
            <a:prstGeom prst="rect">
              <a:avLst/>
            </a:prstGeom>
            <a:noFill/>
            <a:ln>
              <a:noFill/>
            </a:ln>
          </p:spPr>
        </p:pic>
        <p:pic>
          <p:nvPicPr>
            <p:cNvPr id="1317" name="Google Shape;1317;p99"/>
            <p:cNvPicPr preferRelativeResize="0"/>
            <p:nvPr/>
          </p:nvPicPr>
          <p:blipFill rotWithShape="1">
            <a:blip r:embed="rId4">
              <a:alphaModFix/>
            </a:blip>
            <a:srcRect b="18116" l="96703" r="814" t="58339"/>
            <a:stretch/>
          </p:blipFill>
          <p:spPr>
            <a:xfrm>
              <a:off x="8048412" y="2397944"/>
              <a:ext cx="184825" cy="356300"/>
            </a:xfrm>
            <a:prstGeom prst="rect">
              <a:avLst/>
            </a:prstGeom>
            <a:noFill/>
            <a:ln>
              <a:noFill/>
            </a:ln>
          </p:spPr>
        </p:pic>
      </p:grpSp>
      <p:sp>
        <p:nvSpPr>
          <p:cNvPr id="1318" name="Google Shape;1318;p99"/>
          <p:cNvSpPr txBox="1"/>
          <p:nvPr/>
        </p:nvSpPr>
        <p:spPr>
          <a:xfrm flipH="1">
            <a:off x="323992" y="4585427"/>
            <a:ext cx="10842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a:t>
            </a:r>
            <a:endParaRPr sz="1800">
              <a:latin typeface="Lexend"/>
              <a:ea typeface="Lexend"/>
              <a:cs typeface="Lexend"/>
              <a:sym typeface="Lexend"/>
            </a:endParaRPr>
          </a:p>
        </p:txBody>
      </p:sp>
      <p:sp>
        <p:nvSpPr>
          <p:cNvPr id="1319" name="Google Shape;1319;p99"/>
          <p:cNvSpPr txBox="1"/>
          <p:nvPr/>
        </p:nvSpPr>
        <p:spPr>
          <a:xfrm flipH="1">
            <a:off x="7615350" y="4545450"/>
            <a:ext cx="8637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b="1" sz="1800">
              <a:latin typeface="Lexend"/>
              <a:ea typeface="Lexend"/>
              <a:cs typeface="Lexend"/>
              <a:sym typeface="Lexend"/>
            </a:endParaRPr>
          </a:p>
        </p:txBody>
      </p:sp>
      <p:pic>
        <p:nvPicPr>
          <p:cNvPr id="1320" name="Google Shape;1320;p99"/>
          <p:cNvPicPr preferRelativeResize="0"/>
          <p:nvPr/>
        </p:nvPicPr>
        <p:blipFill rotWithShape="1">
          <a:blip r:embed="rId3">
            <a:alphaModFix/>
          </a:blip>
          <a:srcRect b="43690" l="0" r="57905" t="0"/>
          <a:stretch/>
        </p:blipFill>
        <p:spPr>
          <a:xfrm flipH="1">
            <a:off x="1100900" y="2744225"/>
            <a:ext cx="2417500" cy="1982426"/>
          </a:xfrm>
          <a:prstGeom prst="rect">
            <a:avLst/>
          </a:prstGeom>
          <a:noFill/>
          <a:ln>
            <a:noFill/>
          </a:ln>
        </p:spPr>
      </p:pic>
      <p:sp>
        <p:nvSpPr>
          <p:cNvPr id="1321" name="Google Shape;1321;p99"/>
          <p:cNvSpPr txBox="1"/>
          <p:nvPr>
            <p:ph idx="1" type="body"/>
          </p:nvPr>
        </p:nvSpPr>
        <p:spPr>
          <a:xfrm>
            <a:off x="1273892" y="2802497"/>
            <a:ext cx="21957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median</a:t>
            </a:r>
            <a:r>
              <a:rPr lang="en-GB" sz="1800"/>
              <a:t> will be around 16, since that’s the middle of the number line being used.</a:t>
            </a:r>
            <a:endParaRPr sz="1800"/>
          </a:p>
        </p:txBody>
      </p:sp>
      <p:pic>
        <p:nvPicPr>
          <p:cNvPr id="1322" name="Google Shape;1322;p99"/>
          <p:cNvPicPr preferRelativeResize="0"/>
          <p:nvPr/>
        </p:nvPicPr>
        <p:blipFill>
          <a:blip r:embed="rId5">
            <a:alphaModFix/>
          </a:blip>
          <a:stretch>
            <a:fillRect/>
          </a:stretch>
        </p:blipFill>
        <p:spPr>
          <a:xfrm>
            <a:off x="661111" y="3779998"/>
            <a:ext cx="409992" cy="774178"/>
          </a:xfrm>
          <a:prstGeom prst="rect">
            <a:avLst/>
          </a:prstGeom>
          <a:noFill/>
          <a:ln>
            <a:noFill/>
          </a:ln>
        </p:spPr>
      </p:pic>
      <p:pic>
        <p:nvPicPr>
          <p:cNvPr id="1323" name="Google Shape;1323;p99"/>
          <p:cNvPicPr preferRelativeResize="0"/>
          <p:nvPr/>
        </p:nvPicPr>
        <p:blipFill>
          <a:blip r:embed="rId6">
            <a:alphaModFix/>
          </a:blip>
          <a:stretch>
            <a:fillRect/>
          </a:stretch>
        </p:blipFill>
        <p:spPr>
          <a:xfrm flipH="1">
            <a:off x="7784664" y="3956041"/>
            <a:ext cx="525075" cy="589407"/>
          </a:xfrm>
          <a:prstGeom prst="rect">
            <a:avLst/>
          </a:prstGeom>
          <a:noFill/>
          <a:ln>
            <a:noFill/>
          </a:ln>
        </p:spPr>
      </p:pic>
      <p:sp>
        <p:nvSpPr>
          <p:cNvPr id="1324" name="Google Shape;1324;p99"/>
          <p:cNvSpPr txBox="1"/>
          <p:nvPr>
            <p:ph idx="1" type="body"/>
          </p:nvPr>
        </p:nvSpPr>
        <p:spPr>
          <a:xfrm>
            <a:off x="950125" y="1141225"/>
            <a:ext cx="5724000" cy="1401000"/>
          </a:xfrm>
          <a:prstGeom prst="rect">
            <a:avLst/>
          </a:prstGeom>
          <a:solidFill>
            <a:schemeClr val="lt1"/>
          </a:solidFill>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sz="1800"/>
              <a:t>There are 16 </a:t>
            </a:r>
            <a:r>
              <a:rPr b="1" lang="en-GB" sz="1800"/>
              <a:t>data </a:t>
            </a:r>
            <a:r>
              <a:rPr lang="en-GB" sz="1800"/>
              <a:t>points, so the </a:t>
            </a:r>
            <a:r>
              <a:rPr b="1" lang="en-GB" sz="1800"/>
              <a:t>median</a:t>
            </a:r>
            <a:r>
              <a:rPr lang="en-GB" sz="1800"/>
              <a:t> </a:t>
            </a:r>
            <a:r>
              <a:rPr lang="en-GB" sz="1800"/>
              <a:t>will be the                                 </a:t>
            </a:r>
            <a:endParaRPr sz="1800"/>
          </a:p>
          <a:p>
            <a:pPr indent="0" lvl="0" marL="0" rtl="0" algn="l">
              <a:lnSpc>
                <a:spcPct val="150000"/>
              </a:lnSpc>
              <a:spcBef>
                <a:spcPts val="1000"/>
              </a:spcBef>
              <a:spcAft>
                <a:spcPts val="0"/>
              </a:spcAft>
              <a:buNone/>
            </a:pPr>
            <a:r>
              <a:t/>
            </a:r>
            <a:endParaRPr sz="1800"/>
          </a:p>
          <a:p>
            <a:pPr indent="0" lvl="0" marL="0" rtl="0" algn="l">
              <a:lnSpc>
                <a:spcPct val="150000"/>
              </a:lnSpc>
              <a:spcBef>
                <a:spcPts val="1000"/>
              </a:spcBef>
              <a:spcAft>
                <a:spcPts val="1000"/>
              </a:spcAft>
              <a:buNone/>
            </a:pPr>
            <a:r>
              <a:rPr lang="en-GB" sz="1800"/>
              <a:t>This will be in between the 8th and 9th </a:t>
            </a:r>
            <a:r>
              <a:rPr b="1" lang="en-GB" sz="1800"/>
              <a:t>data</a:t>
            </a:r>
            <a:r>
              <a:rPr lang="en-GB" sz="1800"/>
              <a:t> points.</a:t>
            </a:r>
            <a:endParaRPr sz="1800"/>
          </a:p>
        </p:txBody>
      </p:sp>
      <p:pic>
        <p:nvPicPr>
          <p:cNvPr id="1325" name="Google Shape;1325;p99"/>
          <p:cNvPicPr preferRelativeResize="0"/>
          <p:nvPr/>
        </p:nvPicPr>
        <p:blipFill>
          <a:blip r:embed="rId7">
            <a:alphaModFix/>
          </a:blip>
          <a:stretch>
            <a:fillRect/>
          </a:stretch>
        </p:blipFill>
        <p:spPr>
          <a:xfrm>
            <a:off x="1071096" y="1476325"/>
            <a:ext cx="1638144" cy="568800"/>
          </a:xfrm>
          <a:prstGeom prst="rect">
            <a:avLst/>
          </a:prstGeom>
          <a:noFill/>
          <a:ln>
            <a:noFill/>
          </a:ln>
        </p:spPr>
      </p:pic>
      <p:sp>
        <p:nvSpPr>
          <p:cNvPr id="1326" name="Google Shape;1326;p99"/>
          <p:cNvSpPr txBox="1"/>
          <p:nvPr/>
        </p:nvSpPr>
        <p:spPr>
          <a:xfrm>
            <a:off x="2935875" y="1529875"/>
            <a:ext cx="15306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Clr>
                <a:schemeClr val="dk1"/>
              </a:buClr>
              <a:buSzPts val="1100"/>
              <a:buFont typeface="Arial"/>
              <a:buNone/>
            </a:pPr>
            <a:r>
              <a:rPr b="1" lang="en-GB" sz="1800">
                <a:solidFill>
                  <a:schemeClr val="dk1"/>
                </a:solidFill>
                <a:latin typeface="Lexend"/>
                <a:ea typeface="Lexend"/>
                <a:cs typeface="Lexend"/>
                <a:sym typeface="Lexend"/>
              </a:rPr>
              <a:t>data </a:t>
            </a:r>
            <a:r>
              <a:rPr lang="en-GB" sz="1800">
                <a:solidFill>
                  <a:schemeClr val="dk1"/>
                </a:solidFill>
                <a:latin typeface="Lexend"/>
                <a:ea typeface="Lexend"/>
                <a:cs typeface="Lexend"/>
                <a:sym typeface="Lexend"/>
              </a:rPr>
              <a:t>point.</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pic>
        <p:nvPicPr>
          <p:cNvPr id="1331" name="Google Shape;1331;p100"/>
          <p:cNvPicPr preferRelativeResize="0"/>
          <p:nvPr/>
        </p:nvPicPr>
        <p:blipFill rotWithShape="1">
          <a:blip r:embed="rId3">
            <a:alphaModFix/>
          </a:blip>
          <a:srcRect b="43690" l="0" r="57905" t="0"/>
          <a:stretch/>
        </p:blipFill>
        <p:spPr>
          <a:xfrm>
            <a:off x="5041551" y="2744225"/>
            <a:ext cx="2840428" cy="1982426"/>
          </a:xfrm>
          <a:prstGeom prst="rect">
            <a:avLst/>
          </a:prstGeom>
          <a:noFill/>
          <a:ln>
            <a:noFill/>
          </a:ln>
        </p:spPr>
      </p:pic>
      <p:sp>
        <p:nvSpPr>
          <p:cNvPr id="1332" name="Google Shape;1332;p100"/>
          <p:cNvSpPr txBox="1"/>
          <p:nvPr>
            <p:ph idx="1" type="body"/>
          </p:nvPr>
        </p:nvSpPr>
        <p:spPr>
          <a:xfrm flipH="1">
            <a:off x="5099021" y="2802497"/>
            <a:ext cx="25797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median</a:t>
            </a:r>
            <a:r>
              <a:rPr lang="en-GB" sz="1800"/>
              <a:t> will be 6, since that’s the middle </a:t>
            </a:r>
            <a:r>
              <a:rPr b="1" lang="en-GB" sz="1800"/>
              <a:t>data</a:t>
            </a:r>
            <a:r>
              <a:rPr lang="en-GB" sz="1800"/>
              <a:t> point, no matter how spread out the </a:t>
            </a:r>
            <a:r>
              <a:rPr b="1" lang="en-GB" sz="1800"/>
              <a:t>data</a:t>
            </a:r>
            <a:r>
              <a:rPr lang="en-GB" sz="1800"/>
              <a:t> is.</a:t>
            </a:r>
            <a:endParaRPr sz="1800"/>
          </a:p>
        </p:txBody>
      </p:sp>
      <p:sp>
        <p:nvSpPr>
          <p:cNvPr id="1333" name="Google Shape;1333;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334" name="Google Shape;1334;p100"/>
          <p:cNvSpPr txBox="1"/>
          <p:nvPr>
            <p:ph idx="1" type="body"/>
          </p:nvPr>
        </p:nvSpPr>
        <p:spPr>
          <a:xfrm>
            <a:off x="324000" y="6831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Where would the </a:t>
            </a:r>
            <a:r>
              <a:rPr b="1" lang="en-GB" sz="1800"/>
              <a:t>median</a:t>
            </a:r>
            <a:r>
              <a:rPr lang="en-GB" sz="1800"/>
              <a:t> be on this dot plot?</a:t>
            </a:r>
            <a:endParaRPr sz="1800"/>
          </a:p>
        </p:txBody>
      </p:sp>
      <p:grpSp>
        <p:nvGrpSpPr>
          <p:cNvPr id="1335" name="Google Shape;1335;p100"/>
          <p:cNvGrpSpPr/>
          <p:nvPr/>
        </p:nvGrpSpPr>
        <p:grpSpPr>
          <a:xfrm>
            <a:off x="849858" y="1079988"/>
            <a:ext cx="7444284" cy="1513325"/>
            <a:chOff x="849858" y="1774063"/>
            <a:chExt cx="7444284" cy="1513325"/>
          </a:xfrm>
        </p:grpSpPr>
        <p:pic>
          <p:nvPicPr>
            <p:cNvPr id="1336" name="Google Shape;1336;p100"/>
            <p:cNvPicPr preferRelativeResize="0"/>
            <p:nvPr/>
          </p:nvPicPr>
          <p:blipFill>
            <a:blip r:embed="rId4">
              <a:alphaModFix/>
            </a:blip>
            <a:stretch>
              <a:fillRect/>
            </a:stretch>
          </p:blipFill>
          <p:spPr>
            <a:xfrm>
              <a:off x="849858" y="1774063"/>
              <a:ext cx="7444284" cy="1513325"/>
            </a:xfrm>
            <a:prstGeom prst="rect">
              <a:avLst/>
            </a:prstGeom>
            <a:noFill/>
            <a:ln cap="flat" cmpd="sng" w="9525">
              <a:solidFill>
                <a:schemeClr val="dk1"/>
              </a:solidFill>
              <a:prstDash val="solid"/>
              <a:round/>
              <a:headEnd len="sm" w="sm" type="none"/>
              <a:tailEnd len="sm" w="sm" type="none"/>
            </a:ln>
          </p:spPr>
        </p:pic>
        <p:pic>
          <p:nvPicPr>
            <p:cNvPr id="1337" name="Google Shape;1337;p100"/>
            <p:cNvPicPr preferRelativeResize="0"/>
            <p:nvPr/>
          </p:nvPicPr>
          <p:blipFill rotWithShape="1">
            <a:blip r:embed="rId4">
              <a:alphaModFix/>
            </a:blip>
            <a:srcRect b="28562" l="32352" r="65458" t="15112"/>
            <a:stretch/>
          </p:blipFill>
          <p:spPr>
            <a:xfrm>
              <a:off x="854876" y="1923950"/>
              <a:ext cx="162948" cy="852400"/>
            </a:xfrm>
            <a:prstGeom prst="rect">
              <a:avLst/>
            </a:prstGeom>
            <a:noFill/>
            <a:ln>
              <a:noFill/>
            </a:ln>
          </p:spPr>
        </p:pic>
        <p:pic>
          <p:nvPicPr>
            <p:cNvPr id="1338" name="Google Shape;1338;p100"/>
            <p:cNvPicPr preferRelativeResize="0"/>
            <p:nvPr/>
          </p:nvPicPr>
          <p:blipFill rotWithShape="1">
            <a:blip r:embed="rId4">
              <a:alphaModFix/>
            </a:blip>
            <a:srcRect b="66172" l="3375" r="93400" t="7541"/>
            <a:stretch/>
          </p:blipFill>
          <p:spPr>
            <a:xfrm>
              <a:off x="1101100" y="2302201"/>
              <a:ext cx="240024" cy="397800"/>
            </a:xfrm>
            <a:prstGeom prst="rect">
              <a:avLst/>
            </a:prstGeom>
            <a:noFill/>
            <a:ln>
              <a:noFill/>
            </a:ln>
          </p:spPr>
        </p:pic>
        <p:pic>
          <p:nvPicPr>
            <p:cNvPr id="1339" name="Google Shape;1339;p100"/>
            <p:cNvPicPr preferRelativeResize="0"/>
            <p:nvPr/>
          </p:nvPicPr>
          <p:blipFill rotWithShape="1">
            <a:blip r:embed="rId4">
              <a:alphaModFix/>
            </a:blip>
            <a:srcRect b="18116" l="96703" r="814" t="58339"/>
            <a:stretch/>
          </p:blipFill>
          <p:spPr>
            <a:xfrm>
              <a:off x="8048412" y="2397944"/>
              <a:ext cx="184825" cy="356300"/>
            </a:xfrm>
            <a:prstGeom prst="rect">
              <a:avLst/>
            </a:prstGeom>
            <a:noFill/>
            <a:ln>
              <a:noFill/>
            </a:ln>
          </p:spPr>
        </p:pic>
      </p:grpSp>
      <p:sp>
        <p:nvSpPr>
          <p:cNvPr id="1340" name="Google Shape;1340;p100"/>
          <p:cNvSpPr txBox="1"/>
          <p:nvPr/>
        </p:nvSpPr>
        <p:spPr>
          <a:xfrm flipH="1">
            <a:off x="323992" y="4585427"/>
            <a:ext cx="10842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a:t>
            </a:r>
            <a:endParaRPr sz="1800">
              <a:latin typeface="Lexend"/>
              <a:ea typeface="Lexend"/>
              <a:cs typeface="Lexend"/>
              <a:sym typeface="Lexend"/>
            </a:endParaRPr>
          </a:p>
        </p:txBody>
      </p:sp>
      <p:sp>
        <p:nvSpPr>
          <p:cNvPr id="1341" name="Google Shape;1341;p100"/>
          <p:cNvSpPr txBox="1"/>
          <p:nvPr/>
        </p:nvSpPr>
        <p:spPr>
          <a:xfrm flipH="1">
            <a:off x="7615350" y="4545450"/>
            <a:ext cx="8637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b="1" sz="1800">
              <a:latin typeface="Lexend"/>
              <a:ea typeface="Lexend"/>
              <a:cs typeface="Lexend"/>
              <a:sym typeface="Lexend"/>
            </a:endParaRPr>
          </a:p>
        </p:txBody>
      </p:sp>
      <p:pic>
        <p:nvPicPr>
          <p:cNvPr id="1342" name="Google Shape;1342;p100"/>
          <p:cNvPicPr preferRelativeResize="0"/>
          <p:nvPr/>
        </p:nvPicPr>
        <p:blipFill rotWithShape="1">
          <a:blip r:embed="rId3">
            <a:alphaModFix/>
          </a:blip>
          <a:srcRect b="43690" l="0" r="57905" t="0"/>
          <a:stretch/>
        </p:blipFill>
        <p:spPr>
          <a:xfrm flipH="1">
            <a:off x="1100900" y="2744225"/>
            <a:ext cx="2417500" cy="1982426"/>
          </a:xfrm>
          <a:prstGeom prst="rect">
            <a:avLst/>
          </a:prstGeom>
          <a:noFill/>
          <a:ln>
            <a:noFill/>
          </a:ln>
        </p:spPr>
      </p:pic>
      <p:sp>
        <p:nvSpPr>
          <p:cNvPr id="1343" name="Google Shape;1343;p100"/>
          <p:cNvSpPr txBox="1"/>
          <p:nvPr>
            <p:ph idx="1" type="body"/>
          </p:nvPr>
        </p:nvSpPr>
        <p:spPr>
          <a:xfrm>
            <a:off x="1273892" y="2802497"/>
            <a:ext cx="21957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median</a:t>
            </a:r>
            <a:r>
              <a:rPr lang="en-GB" sz="1800"/>
              <a:t> will be around 16, since that’s the middle of the number line being used.</a:t>
            </a:r>
            <a:endParaRPr sz="1800"/>
          </a:p>
        </p:txBody>
      </p:sp>
      <p:pic>
        <p:nvPicPr>
          <p:cNvPr id="1344" name="Google Shape;1344;p100"/>
          <p:cNvPicPr preferRelativeResize="0"/>
          <p:nvPr/>
        </p:nvPicPr>
        <p:blipFill>
          <a:blip r:embed="rId5">
            <a:alphaModFix/>
          </a:blip>
          <a:stretch>
            <a:fillRect/>
          </a:stretch>
        </p:blipFill>
        <p:spPr>
          <a:xfrm>
            <a:off x="661111" y="3779998"/>
            <a:ext cx="409992" cy="774178"/>
          </a:xfrm>
          <a:prstGeom prst="rect">
            <a:avLst/>
          </a:prstGeom>
          <a:noFill/>
          <a:ln>
            <a:noFill/>
          </a:ln>
        </p:spPr>
      </p:pic>
      <p:pic>
        <p:nvPicPr>
          <p:cNvPr id="1345" name="Google Shape;1345;p100"/>
          <p:cNvPicPr preferRelativeResize="0"/>
          <p:nvPr/>
        </p:nvPicPr>
        <p:blipFill>
          <a:blip r:embed="rId6">
            <a:alphaModFix/>
          </a:blip>
          <a:stretch>
            <a:fillRect/>
          </a:stretch>
        </p:blipFill>
        <p:spPr>
          <a:xfrm flipH="1">
            <a:off x="7784664" y="3956041"/>
            <a:ext cx="525075" cy="589407"/>
          </a:xfrm>
          <a:prstGeom prst="rect">
            <a:avLst/>
          </a:prstGeom>
          <a:noFill/>
          <a:ln>
            <a:noFill/>
          </a:ln>
        </p:spPr>
      </p:pic>
      <p:sp>
        <p:nvSpPr>
          <p:cNvPr id="1346" name="Google Shape;1346;p100"/>
          <p:cNvSpPr/>
          <p:nvPr/>
        </p:nvSpPr>
        <p:spPr>
          <a:xfrm>
            <a:off x="802400" y="2061625"/>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7" name="Google Shape;1347;p100"/>
          <p:cNvSpPr/>
          <p:nvPr/>
        </p:nvSpPr>
        <p:spPr>
          <a:xfrm>
            <a:off x="1071100" y="2061625"/>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8" name="Google Shape;1348;p100"/>
          <p:cNvSpPr/>
          <p:nvPr/>
        </p:nvSpPr>
        <p:spPr>
          <a:xfrm>
            <a:off x="1341400" y="2061625"/>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9" name="Google Shape;1349;p100"/>
          <p:cNvSpPr/>
          <p:nvPr/>
        </p:nvSpPr>
        <p:spPr>
          <a:xfrm>
            <a:off x="1341400" y="1813087"/>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0" name="Google Shape;1350;p100"/>
          <p:cNvSpPr/>
          <p:nvPr/>
        </p:nvSpPr>
        <p:spPr>
          <a:xfrm>
            <a:off x="1341400" y="1551100"/>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1" name="Google Shape;1351;p100"/>
          <p:cNvSpPr/>
          <p:nvPr/>
        </p:nvSpPr>
        <p:spPr>
          <a:xfrm>
            <a:off x="1341400" y="1296655"/>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2" name="Google Shape;1352;p100"/>
          <p:cNvSpPr/>
          <p:nvPr/>
        </p:nvSpPr>
        <p:spPr>
          <a:xfrm>
            <a:off x="1604170" y="2061630"/>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3" name="Google Shape;1353;p100"/>
          <p:cNvSpPr/>
          <p:nvPr/>
        </p:nvSpPr>
        <p:spPr>
          <a:xfrm>
            <a:off x="1604170" y="1813080"/>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4" name="Google Shape;1354;p100"/>
          <p:cNvSpPr/>
          <p:nvPr/>
        </p:nvSpPr>
        <p:spPr>
          <a:xfrm>
            <a:off x="1604170" y="1551105"/>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4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pic>
        <p:nvPicPr>
          <p:cNvPr id="1359" name="Google Shape;1359;p101"/>
          <p:cNvPicPr preferRelativeResize="0"/>
          <p:nvPr/>
        </p:nvPicPr>
        <p:blipFill rotWithShape="1">
          <a:blip r:embed="rId3">
            <a:alphaModFix/>
          </a:blip>
          <a:srcRect b="43690" l="0" r="57905" t="0"/>
          <a:stretch/>
        </p:blipFill>
        <p:spPr>
          <a:xfrm>
            <a:off x="5234400" y="2744225"/>
            <a:ext cx="2827628" cy="2076175"/>
          </a:xfrm>
          <a:prstGeom prst="rect">
            <a:avLst/>
          </a:prstGeom>
          <a:noFill/>
          <a:ln>
            <a:noFill/>
          </a:ln>
        </p:spPr>
      </p:pic>
      <p:sp>
        <p:nvSpPr>
          <p:cNvPr id="1360" name="Google Shape;1360;p101"/>
          <p:cNvSpPr txBox="1"/>
          <p:nvPr>
            <p:ph idx="1" type="body"/>
          </p:nvPr>
        </p:nvSpPr>
        <p:spPr>
          <a:xfrm flipH="1">
            <a:off x="5310774" y="2844900"/>
            <a:ext cx="25761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median</a:t>
            </a:r>
            <a:r>
              <a:rPr lang="en-GB" sz="1800"/>
              <a:t> will be 6, since that’s the middle </a:t>
            </a:r>
            <a:r>
              <a:rPr b="1" lang="en-GB" sz="1800"/>
              <a:t>data </a:t>
            </a:r>
            <a:r>
              <a:rPr lang="en-GB" sz="1800"/>
              <a:t>point, no matter how spread out the </a:t>
            </a:r>
            <a:r>
              <a:rPr b="1" lang="en-GB" sz="1800"/>
              <a:t>data </a:t>
            </a:r>
            <a:r>
              <a:rPr lang="en-GB" sz="1800"/>
              <a:t>is.</a:t>
            </a:r>
            <a:endParaRPr sz="1800"/>
          </a:p>
        </p:txBody>
      </p:sp>
      <p:sp>
        <p:nvSpPr>
          <p:cNvPr id="1361" name="Google Shape;1361;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362" name="Google Shape;1362;p101"/>
          <p:cNvSpPr txBox="1"/>
          <p:nvPr>
            <p:ph idx="1" type="body"/>
          </p:nvPr>
        </p:nvSpPr>
        <p:spPr>
          <a:xfrm>
            <a:off x="324000" y="6831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Where would the </a:t>
            </a:r>
            <a:r>
              <a:rPr b="1" lang="en-GB" sz="1800"/>
              <a:t>median</a:t>
            </a:r>
            <a:r>
              <a:rPr lang="en-GB" sz="1800"/>
              <a:t> be on this dot plot?</a:t>
            </a:r>
            <a:endParaRPr sz="1800"/>
          </a:p>
        </p:txBody>
      </p:sp>
      <p:grpSp>
        <p:nvGrpSpPr>
          <p:cNvPr id="1363" name="Google Shape;1363;p101"/>
          <p:cNvGrpSpPr/>
          <p:nvPr/>
        </p:nvGrpSpPr>
        <p:grpSpPr>
          <a:xfrm>
            <a:off x="849858" y="1079988"/>
            <a:ext cx="7444284" cy="1513325"/>
            <a:chOff x="849858" y="1774063"/>
            <a:chExt cx="7444284" cy="1513325"/>
          </a:xfrm>
        </p:grpSpPr>
        <p:pic>
          <p:nvPicPr>
            <p:cNvPr id="1364" name="Google Shape;1364;p101"/>
            <p:cNvPicPr preferRelativeResize="0"/>
            <p:nvPr/>
          </p:nvPicPr>
          <p:blipFill>
            <a:blip r:embed="rId4">
              <a:alphaModFix/>
            </a:blip>
            <a:stretch>
              <a:fillRect/>
            </a:stretch>
          </p:blipFill>
          <p:spPr>
            <a:xfrm>
              <a:off x="849858" y="1774063"/>
              <a:ext cx="7444284" cy="1513325"/>
            </a:xfrm>
            <a:prstGeom prst="rect">
              <a:avLst/>
            </a:prstGeom>
            <a:noFill/>
            <a:ln cap="flat" cmpd="sng" w="9525">
              <a:solidFill>
                <a:schemeClr val="dk1"/>
              </a:solidFill>
              <a:prstDash val="solid"/>
              <a:round/>
              <a:headEnd len="sm" w="sm" type="none"/>
              <a:tailEnd len="sm" w="sm" type="none"/>
            </a:ln>
          </p:spPr>
        </p:pic>
        <p:pic>
          <p:nvPicPr>
            <p:cNvPr id="1365" name="Google Shape;1365;p101"/>
            <p:cNvPicPr preferRelativeResize="0"/>
            <p:nvPr/>
          </p:nvPicPr>
          <p:blipFill rotWithShape="1">
            <a:blip r:embed="rId4">
              <a:alphaModFix/>
            </a:blip>
            <a:srcRect b="28562" l="32352" r="65458" t="15112"/>
            <a:stretch/>
          </p:blipFill>
          <p:spPr>
            <a:xfrm>
              <a:off x="854876" y="1923950"/>
              <a:ext cx="162948" cy="852400"/>
            </a:xfrm>
            <a:prstGeom prst="rect">
              <a:avLst/>
            </a:prstGeom>
            <a:noFill/>
            <a:ln>
              <a:noFill/>
            </a:ln>
          </p:spPr>
        </p:pic>
        <p:pic>
          <p:nvPicPr>
            <p:cNvPr id="1366" name="Google Shape;1366;p101"/>
            <p:cNvPicPr preferRelativeResize="0"/>
            <p:nvPr/>
          </p:nvPicPr>
          <p:blipFill rotWithShape="1">
            <a:blip r:embed="rId4">
              <a:alphaModFix/>
            </a:blip>
            <a:srcRect b="66172" l="3375" r="93400" t="7541"/>
            <a:stretch/>
          </p:blipFill>
          <p:spPr>
            <a:xfrm>
              <a:off x="1101100" y="2302201"/>
              <a:ext cx="240024" cy="397800"/>
            </a:xfrm>
            <a:prstGeom prst="rect">
              <a:avLst/>
            </a:prstGeom>
            <a:noFill/>
            <a:ln>
              <a:noFill/>
            </a:ln>
          </p:spPr>
        </p:pic>
        <p:pic>
          <p:nvPicPr>
            <p:cNvPr id="1367" name="Google Shape;1367;p101"/>
            <p:cNvPicPr preferRelativeResize="0"/>
            <p:nvPr/>
          </p:nvPicPr>
          <p:blipFill rotWithShape="1">
            <a:blip r:embed="rId4">
              <a:alphaModFix/>
            </a:blip>
            <a:srcRect b="18116" l="96703" r="814" t="58339"/>
            <a:stretch/>
          </p:blipFill>
          <p:spPr>
            <a:xfrm>
              <a:off x="8048412" y="2397944"/>
              <a:ext cx="184825" cy="356300"/>
            </a:xfrm>
            <a:prstGeom prst="rect">
              <a:avLst/>
            </a:prstGeom>
            <a:noFill/>
            <a:ln>
              <a:noFill/>
            </a:ln>
          </p:spPr>
        </p:pic>
      </p:grpSp>
      <p:sp>
        <p:nvSpPr>
          <p:cNvPr id="1368" name="Google Shape;1368;p101"/>
          <p:cNvSpPr txBox="1"/>
          <p:nvPr/>
        </p:nvSpPr>
        <p:spPr>
          <a:xfrm flipH="1">
            <a:off x="7767750" y="4545450"/>
            <a:ext cx="8637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b="1" sz="1800">
              <a:latin typeface="Lexend"/>
              <a:ea typeface="Lexend"/>
              <a:cs typeface="Lexend"/>
              <a:sym typeface="Lexend"/>
            </a:endParaRPr>
          </a:p>
        </p:txBody>
      </p:sp>
      <p:pic>
        <p:nvPicPr>
          <p:cNvPr id="1369" name="Google Shape;1369;p101"/>
          <p:cNvPicPr preferRelativeResize="0"/>
          <p:nvPr/>
        </p:nvPicPr>
        <p:blipFill>
          <a:blip r:embed="rId5">
            <a:alphaModFix/>
          </a:blip>
          <a:stretch>
            <a:fillRect/>
          </a:stretch>
        </p:blipFill>
        <p:spPr>
          <a:xfrm flipH="1">
            <a:off x="7937064" y="3956041"/>
            <a:ext cx="525075" cy="589407"/>
          </a:xfrm>
          <a:prstGeom prst="rect">
            <a:avLst/>
          </a:prstGeom>
          <a:noFill/>
          <a:ln>
            <a:noFill/>
          </a:ln>
        </p:spPr>
      </p:pic>
      <p:sp>
        <p:nvSpPr>
          <p:cNvPr id="1370" name="Google Shape;1370;p101"/>
          <p:cNvSpPr txBox="1"/>
          <p:nvPr>
            <p:ph idx="1" type="body"/>
          </p:nvPr>
        </p:nvSpPr>
        <p:spPr>
          <a:xfrm>
            <a:off x="324000" y="2640875"/>
            <a:ext cx="4858800" cy="1998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Lucas is correct. </a:t>
            </a:r>
            <a:endParaRPr sz="1800"/>
          </a:p>
          <a:p>
            <a:pPr indent="0" lvl="0" marL="0" rtl="0" algn="l">
              <a:spcBef>
                <a:spcPts val="1000"/>
              </a:spcBef>
              <a:spcAft>
                <a:spcPts val="1000"/>
              </a:spcAft>
              <a:buNone/>
            </a:pPr>
            <a:r>
              <a:rPr lang="en-GB" sz="1800"/>
              <a:t>The benefit of the </a:t>
            </a:r>
            <a:r>
              <a:rPr b="1" lang="en-GB" sz="1800"/>
              <a:t>median</a:t>
            </a:r>
            <a:r>
              <a:rPr lang="en-GB" sz="1800"/>
              <a:t> is that it will represent a central value of an ordered </a:t>
            </a:r>
            <a:r>
              <a:rPr b="1" lang="en-GB" sz="1800"/>
              <a:t>data </a:t>
            </a:r>
            <a:r>
              <a:rPr lang="en-GB" sz="1800"/>
              <a:t>set</a:t>
            </a:r>
            <a:r>
              <a:rPr lang="en-GB" sz="1800"/>
              <a:t> most of the time, no matter how spread out a </a:t>
            </a:r>
            <a:r>
              <a:rPr b="1" lang="en-GB" sz="1800"/>
              <a:t>data </a:t>
            </a:r>
            <a:r>
              <a:rPr lang="en-GB" sz="1800"/>
              <a:t>set</a:t>
            </a:r>
            <a:r>
              <a:rPr lang="en-GB" sz="1800"/>
              <a:t> is, or how extremely small or large some of its </a:t>
            </a:r>
            <a:r>
              <a:rPr b="1" lang="en-GB" sz="1800"/>
              <a:t>data </a:t>
            </a:r>
            <a:r>
              <a:rPr lang="en-GB" sz="1800"/>
              <a:t>points are.</a:t>
            </a:r>
            <a:endParaRPr sz="1800"/>
          </a:p>
        </p:txBody>
      </p:sp>
      <p:sp>
        <p:nvSpPr>
          <p:cNvPr id="1371" name="Google Shape;1371;p101"/>
          <p:cNvSpPr/>
          <p:nvPr/>
        </p:nvSpPr>
        <p:spPr>
          <a:xfrm>
            <a:off x="1604170" y="1813080"/>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2" name="Google Shape;1372;p101"/>
          <p:cNvSpPr/>
          <p:nvPr/>
        </p:nvSpPr>
        <p:spPr>
          <a:xfrm>
            <a:off x="1604170" y="1551105"/>
            <a:ext cx="270300" cy="270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102"/>
          <p:cNvSpPr/>
          <p:nvPr/>
        </p:nvSpPr>
        <p:spPr>
          <a:xfrm>
            <a:off x="1836975" y="2642400"/>
            <a:ext cx="3347700" cy="2100000"/>
          </a:xfrm>
          <a:prstGeom prst="wedgeRoundRectCallout">
            <a:avLst>
              <a:gd fmla="val -71949" name="adj1"/>
              <a:gd fmla="val 32429" name="adj2"/>
              <a:gd fmla="val 0" name="adj3"/>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8" name="Google Shape;1378;p102"/>
          <p:cNvSpPr/>
          <p:nvPr/>
        </p:nvSpPr>
        <p:spPr>
          <a:xfrm>
            <a:off x="1363600" y="1080000"/>
            <a:ext cx="3956700" cy="1138200"/>
          </a:xfrm>
          <a:prstGeom prst="wedgeRoundRectCallout">
            <a:avLst>
              <a:gd fmla="val -53729" name="adj1"/>
              <a:gd fmla="val 81297" name="adj2"/>
              <a:gd fmla="val 0" name="adj3"/>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379" name="Google Shape;1379;p102"/>
          <p:cNvPicPr preferRelativeResize="0"/>
          <p:nvPr/>
        </p:nvPicPr>
        <p:blipFill>
          <a:blip r:embed="rId3">
            <a:alphaModFix/>
          </a:blip>
          <a:stretch>
            <a:fillRect/>
          </a:stretch>
        </p:blipFill>
        <p:spPr>
          <a:xfrm>
            <a:off x="5623925" y="759300"/>
            <a:ext cx="3196075" cy="2653614"/>
          </a:xfrm>
          <a:prstGeom prst="rect">
            <a:avLst/>
          </a:prstGeom>
          <a:noFill/>
          <a:ln cap="flat" cmpd="sng" w="19050">
            <a:solidFill>
              <a:schemeClr val="dk1"/>
            </a:solidFill>
            <a:prstDash val="solid"/>
            <a:round/>
            <a:headEnd len="sm" w="sm" type="none"/>
            <a:tailEnd len="sm" w="sm" type="none"/>
          </a:ln>
        </p:spPr>
      </p:pic>
      <p:sp>
        <p:nvSpPr>
          <p:cNvPr id="1380" name="Google Shape;1380;p102"/>
          <p:cNvSpPr txBox="1"/>
          <p:nvPr>
            <p:ph idx="1" type="body"/>
          </p:nvPr>
        </p:nvSpPr>
        <p:spPr>
          <a:xfrm>
            <a:off x="324000" y="635161"/>
            <a:ext cx="49962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Whose statement is correct for this dotplot?</a:t>
            </a:r>
            <a:endParaRPr sz="1800"/>
          </a:p>
        </p:txBody>
      </p:sp>
      <p:sp>
        <p:nvSpPr>
          <p:cNvPr id="1381" name="Google Shape;1381;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sp>
        <p:nvSpPr>
          <p:cNvPr id="1382" name="Google Shape;1382;p102"/>
          <p:cNvSpPr txBox="1"/>
          <p:nvPr/>
        </p:nvSpPr>
        <p:spPr>
          <a:xfrm flipH="1">
            <a:off x="323992" y="3023502"/>
            <a:ext cx="10842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a:t>
            </a:r>
            <a:endParaRPr sz="1800">
              <a:latin typeface="Lexend"/>
              <a:ea typeface="Lexend"/>
              <a:cs typeface="Lexend"/>
              <a:sym typeface="Lexend"/>
            </a:endParaRPr>
          </a:p>
        </p:txBody>
      </p:sp>
      <p:sp>
        <p:nvSpPr>
          <p:cNvPr id="1383" name="Google Shape;1383;p102"/>
          <p:cNvSpPr txBox="1"/>
          <p:nvPr>
            <p:ph idx="1" type="body"/>
          </p:nvPr>
        </p:nvSpPr>
        <p:spPr>
          <a:xfrm>
            <a:off x="1449400" y="1119700"/>
            <a:ext cx="38271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a:t>
            </a:r>
            <a:r>
              <a:rPr b="1" lang="en-GB" sz="1800"/>
              <a:t>mode</a:t>
            </a:r>
            <a:r>
              <a:rPr lang="en-GB" sz="1800"/>
              <a:t> is a representative summary, as the </a:t>
            </a:r>
            <a:r>
              <a:rPr b="1" lang="en-GB" sz="1800"/>
              <a:t>data</a:t>
            </a:r>
            <a:r>
              <a:rPr lang="en-GB" sz="1800"/>
              <a:t> set</a:t>
            </a:r>
            <a:r>
              <a:rPr lang="en-GB" sz="1800"/>
              <a:t> is distinctly bimodal at 64 and 80.</a:t>
            </a:r>
            <a:endParaRPr sz="1800"/>
          </a:p>
        </p:txBody>
      </p:sp>
      <p:pic>
        <p:nvPicPr>
          <p:cNvPr id="1384" name="Google Shape;1384;p102"/>
          <p:cNvPicPr preferRelativeResize="0"/>
          <p:nvPr/>
        </p:nvPicPr>
        <p:blipFill>
          <a:blip r:embed="rId4">
            <a:alphaModFix/>
          </a:blip>
          <a:stretch>
            <a:fillRect/>
          </a:stretch>
        </p:blipFill>
        <p:spPr>
          <a:xfrm>
            <a:off x="661111" y="2218073"/>
            <a:ext cx="409992" cy="774178"/>
          </a:xfrm>
          <a:prstGeom prst="rect">
            <a:avLst/>
          </a:prstGeom>
          <a:noFill/>
          <a:ln>
            <a:noFill/>
          </a:ln>
        </p:spPr>
      </p:pic>
      <p:sp>
        <p:nvSpPr>
          <p:cNvPr id="1385" name="Google Shape;1385;p102"/>
          <p:cNvSpPr txBox="1"/>
          <p:nvPr>
            <p:ph idx="1" type="body"/>
          </p:nvPr>
        </p:nvSpPr>
        <p:spPr>
          <a:xfrm>
            <a:off x="1992412" y="2710261"/>
            <a:ext cx="3201300" cy="1998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The </a:t>
            </a:r>
            <a:r>
              <a:rPr b="1" lang="en-GB" sz="1800"/>
              <a:t>median</a:t>
            </a:r>
            <a:r>
              <a:rPr lang="en-GB" sz="1800"/>
              <a:t> is not a representative summary of this </a:t>
            </a:r>
            <a:r>
              <a:rPr b="1" lang="en-GB" sz="1800"/>
              <a:t>data</a:t>
            </a:r>
            <a:r>
              <a:rPr lang="en-GB" sz="1800"/>
              <a:t> set</a:t>
            </a:r>
            <a:r>
              <a:rPr lang="en-GB" sz="1800"/>
              <a:t>, as the </a:t>
            </a:r>
            <a:r>
              <a:rPr b="1" lang="en-GB" sz="1800"/>
              <a:t>median</a:t>
            </a:r>
            <a:r>
              <a:rPr lang="en-GB" sz="1800"/>
              <a:t> of 72 isn’t even a </a:t>
            </a:r>
            <a:r>
              <a:rPr b="1" lang="en-GB" sz="1800"/>
              <a:t>data</a:t>
            </a:r>
            <a:r>
              <a:rPr lang="en-GB" sz="1800"/>
              <a:t> point!</a:t>
            </a:r>
            <a:endParaRPr sz="1800"/>
          </a:p>
          <a:p>
            <a:pPr indent="0" lvl="0" marL="0" rtl="0" algn="l">
              <a:spcBef>
                <a:spcPts val="1000"/>
              </a:spcBef>
              <a:spcAft>
                <a:spcPts val="1000"/>
              </a:spcAft>
              <a:buNone/>
            </a:pPr>
            <a:r>
              <a:rPr lang="en-GB" sz="1800"/>
              <a:t>Oh, and it also isn’t close to many frequent values!</a:t>
            </a:r>
            <a:endParaRPr sz="1800"/>
          </a:p>
        </p:txBody>
      </p:sp>
      <p:sp>
        <p:nvSpPr>
          <p:cNvPr id="1386" name="Google Shape;1386;p102"/>
          <p:cNvSpPr txBox="1"/>
          <p:nvPr/>
        </p:nvSpPr>
        <p:spPr>
          <a:xfrm>
            <a:off x="346488" y="4559575"/>
            <a:ext cx="863700" cy="181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b="1" sz="1800">
              <a:latin typeface="Lexend"/>
              <a:ea typeface="Lexend"/>
              <a:cs typeface="Lexend"/>
              <a:sym typeface="Lexend"/>
            </a:endParaRPr>
          </a:p>
        </p:txBody>
      </p:sp>
      <p:pic>
        <p:nvPicPr>
          <p:cNvPr id="1387" name="Google Shape;1387;p102"/>
          <p:cNvPicPr preferRelativeResize="0"/>
          <p:nvPr/>
        </p:nvPicPr>
        <p:blipFill>
          <a:blip r:embed="rId5">
            <a:alphaModFix/>
          </a:blip>
          <a:stretch>
            <a:fillRect/>
          </a:stretch>
        </p:blipFill>
        <p:spPr>
          <a:xfrm>
            <a:off x="515798" y="3970166"/>
            <a:ext cx="525075" cy="589407"/>
          </a:xfrm>
          <a:prstGeom prst="rect">
            <a:avLst/>
          </a:prstGeom>
          <a:noFill/>
          <a:ln>
            <a:noFill/>
          </a:ln>
        </p:spPr>
      </p:pic>
      <p:sp>
        <p:nvSpPr>
          <p:cNvPr id="1388" name="Google Shape;1388;p102"/>
          <p:cNvSpPr txBox="1"/>
          <p:nvPr>
            <p:ph idx="1" type="body"/>
          </p:nvPr>
        </p:nvSpPr>
        <p:spPr>
          <a:xfrm>
            <a:off x="5330227" y="3460739"/>
            <a:ext cx="3408000" cy="136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They are both correct!</a:t>
            </a:r>
            <a:endParaRPr sz="1800"/>
          </a:p>
          <a:p>
            <a:pPr indent="0" lvl="0" marL="0" rtl="0" algn="l">
              <a:spcBef>
                <a:spcPts val="1000"/>
              </a:spcBef>
              <a:spcAft>
                <a:spcPts val="1000"/>
              </a:spcAft>
              <a:buNone/>
            </a:pPr>
            <a:r>
              <a:rPr lang="en-GB" sz="1800"/>
              <a:t>Sometimes, one summary is far more representative than a different one.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103"/>
          <p:cNvSpPr txBox="1"/>
          <p:nvPr>
            <p:ph idx="1" type="body"/>
          </p:nvPr>
        </p:nvSpPr>
        <p:spPr>
          <a:xfrm>
            <a:off x="323900" y="4257900"/>
            <a:ext cx="8496000" cy="5958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startAt="3"/>
            </a:pPr>
            <a:r>
              <a:rPr lang="en-GB" sz="1800"/>
              <a:t>Both its </a:t>
            </a:r>
            <a:r>
              <a:rPr b="1" lang="en-GB" sz="1800"/>
              <a:t>median</a:t>
            </a:r>
            <a:r>
              <a:rPr lang="en-GB" sz="1800"/>
              <a:t> and its </a:t>
            </a:r>
            <a:r>
              <a:rPr b="1" lang="en-GB" sz="1800"/>
              <a:t>mode</a:t>
            </a:r>
            <a:r>
              <a:rPr lang="en-GB" sz="1800"/>
              <a:t> are representative summaries, and it is bimodal.</a:t>
            </a:r>
            <a:endParaRPr sz="1800"/>
          </a:p>
        </p:txBody>
      </p:sp>
      <p:sp>
        <p:nvSpPr>
          <p:cNvPr id="1394" name="Google Shape;1394;p103"/>
          <p:cNvSpPr txBox="1"/>
          <p:nvPr>
            <p:ph idx="1" type="body"/>
          </p:nvPr>
        </p:nvSpPr>
        <p:spPr>
          <a:xfrm>
            <a:off x="323900" y="3852525"/>
            <a:ext cx="8496000" cy="2772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startAt="2"/>
            </a:pPr>
            <a:r>
              <a:rPr lang="en-GB" sz="1800"/>
              <a:t>Its </a:t>
            </a:r>
            <a:r>
              <a:rPr b="1" lang="en-GB" sz="1800"/>
              <a:t>median</a:t>
            </a:r>
            <a:r>
              <a:rPr lang="en-GB" sz="1800"/>
              <a:t> is a representative summary, and it has no </a:t>
            </a:r>
            <a:r>
              <a:rPr b="1" lang="en-GB" sz="1800"/>
              <a:t>mode</a:t>
            </a:r>
            <a:r>
              <a:rPr lang="en-GB" sz="1800"/>
              <a:t>.</a:t>
            </a:r>
            <a:endParaRPr sz="1800"/>
          </a:p>
        </p:txBody>
      </p:sp>
      <p:sp>
        <p:nvSpPr>
          <p:cNvPr id="1395" name="Google Shape;1395;p103"/>
          <p:cNvSpPr txBox="1"/>
          <p:nvPr>
            <p:ph idx="1" type="body"/>
          </p:nvPr>
        </p:nvSpPr>
        <p:spPr>
          <a:xfrm>
            <a:off x="324000" y="6831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Match the dot plot to the statement about its </a:t>
            </a:r>
            <a:r>
              <a:rPr b="1" lang="en-GB" sz="1800"/>
              <a:t>median</a:t>
            </a:r>
            <a:r>
              <a:rPr lang="en-GB" sz="1800"/>
              <a:t> and </a:t>
            </a:r>
            <a:r>
              <a:rPr b="1" lang="en-GB" sz="1800"/>
              <a:t>mode</a:t>
            </a:r>
            <a:r>
              <a:rPr lang="en-GB" sz="1800"/>
              <a:t>.</a:t>
            </a:r>
            <a:endParaRPr sz="1800"/>
          </a:p>
        </p:txBody>
      </p:sp>
      <p:sp>
        <p:nvSpPr>
          <p:cNvPr id="1396" name="Google Shape;1396;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pic>
        <p:nvPicPr>
          <p:cNvPr id="1397" name="Google Shape;1397;p103"/>
          <p:cNvPicPr preferRelativeResize="0"/>
          <p:nvPr/>
        </p:nvPicPr>
        <p:blipFill rotWithShape="1">
          <a:blip r:embed="rId3">
            <a:alphaModFix/>
          </a:blip>
          <a:srcRect b="0" l="0" r="61367" t="0"/>
          <a:stretch/>
        </p:blipFill>
        <p:spPr>
          <a:xfrm>
            <a:off x="602125" y="1002789"/>
            <a:ext cx="1826134" cy="1556920"/>
          </a:xfrm>
          <a:prstGeom prst="rect">
            <a:avLst/>
          </a:prstGeom>
          <a:noFill/>
          <a:ln cap="flat" cmpd="sng" w="19050">
            <a:solidFill>
              <a:schemeClr val="dk1"/>
            </a:solidFill>
            <a:prstDash val="solid"/>
            <a:round/>
            <a:headEnd len="sm" w="sm" type="none"/>
            <a:tailEnd len="sm" w="sm" type="none"/>
          </a:ln>
        </p:spPr>
      </p:pic>
      <p:pic>
        <p:nvPicPr>
          <p:cNvPr id="1398" name="Google Shape;1398;p103"/>
          <p:cNvPicPr preferRelativeResize="0"/>
          <p:nvPr/>
        </p:nvPicPr>
        <p:blipFill>
          <a:blip r:embed="rId4">
            <a:alphaModFix/>
          </a:blip>
          <a:stretch>
            <a:fillRect/>
          </a:stretch>
        </p:blipFill>
        <p:spPr>
          <a:xfrm>
            <a:off x="5411738" y="1002789"/>
            <a:ext cx="3130137" cy="1556916"/>
          </a:xfrm>
          <a:prstGeom prst="rect">
            <a:avLst/>
          </a:prstGeom>
          <a:noFill/>
          <a:ln cap="flat" cmpd="sng" w="19050">
            <a:solidFill>
              <a:schemeClr val="dk1"/>
            </a:solidFill>
            <a:prstDash val="solid"/>
            <a:round/>
            <a:headEnd len="sm" w="sm" type="none"/>
            <a:tailEnd len="sm" w="sm" type="none"/>
          </a:ln>
        </p:spPr>
      </p:pic>
      <p:pic>
        <p:nvPicPr>
          <p:cNvPr id="1399" name="Google Shape;1399;p103"/>
          <p:cNvPicPr preferRelativeResize="0"/>
          <p:nvPr/>
        </p:nvPicPr>
        <p:blipFill rotWithShape="1">
          <a:blip r:embed="rId3">
            <a:alphaModFix/>
          </a:blip>
          <a:srcRect b="0" l="50743" r="0" t="0"/>
          <a:stretch/>
        </p:blipFill>
        <p:spPr>
          <a:xfrm>
            <a:off x="2755836" y="1002789"/>
            <a:ext cx="2328325" cy="1556920"/>
          </a:xfrm>
          <a:prstGeom prst="rect">
            <a:avLst/>
          </a:prstGeom>
          <a:noFill/>
          <a:ln cap="flat" cmpd="sng" w="19050">
            <a:solidFill>
              <a:schemeClr val="dk1"/>
            </a:solidFill>
            <a:prstDash val="solid"/>
            <a:round/>
            <a:headEnd len="sm" w="sm" type="none"/>
            <a:tailEnd len="sm" w="sm" type="none"/>
          </a:ln>
        </p:spPr>
      </p:pic>
      <p:sp>
        <p:nvSpPr>
          <p:cNvPr id="1400" name="Google Shape;1400;p103"/>
          <p:cNvSpPr txBox="1"/>
          <p:nvPr>
            <p:ph idx="1" type="body"/>
          </p:nvPr>
        </p:nvSpPr>
        <p:spPr>
          <a:xfrm>
            <a:off x="323900" y="3161825"/>
            <a:ext cx="8496000" cy="5958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a:pPr>
            <a:r>
              <a:rPr lang="en-GB" sz="1800"/>
              <a:t>Its </a:t>
            </a:r>
            <a:r>
              <a:rPr b="1" lang="en-GB" sz="1800"/>
              <a:t>mode</a:t>
            </a:r>
            <a:r>
              <a:rPr lang="en-GB" sz="1800"/>
              <a:t> is a more representative summary than its </a:t>
            </a:r>
            <a:r>
              <a:rPr b="1" lang="en-GB" sz="1800"/>
              <a:t>median</a:t>
            </a:r>
            <a:r>
              <a:rPr lang="en-GB" sz="1800"/>
              <a:t>, and it is bimodal.</a:t>
            </a:r>
            <a:endParaRPr sz="1800"/>
          </a:p>
        </p:txBody>
      </p:sp>
      <p:sp>
        <p:nvSpPr>
          <p:cNvPr id="1401" name="Google Shape;1401;p103"/>
          <p:cNvSpPr txBox="1"/>
          <p:nvPr>
            <p:ph idx="1" type="body"/>
          </p:nvPr>
        </p:nvSpPr>
        <p:spPr>
          <a:xfrm>
            <a:off x="1017826" y="2666426"/>
            <a:ext cx="159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median</a:t>
            </a:r>
            <a:r>
              <a:rPr lang="en-GB" sz="1800"/>
              <a:t> = 20</a:t>
            </a:r>
            <a:endParaRPr sz="1800"/>
          </a:p>
        </p:txBody>
      </p:sp>
      <p:sp>
        <p:nvSpPr>
          <p:cNvPr id="1402" name="Google Shape;1402;p103"/>
          <p:cNvSpPr txBox="1"/>
          <p:nvPr>
            <p:ph idx="1" type="body"/>
          </p:nvPr>
        </p:nvSpPr>
        <p:spPr>
          <a:xfrm>
            <a:off x="3289214" y="2666413"/>
            <a:ext cx="159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median</a:t>
            </a:r>
            <a:r>
              <a:rPr lang="en-GB" sz="1800"/>
              <a:t> = 37</a:t>
            </a:r>
            <a:endParaRPr sz="1800"/>
          </a:p>
        </p:txBody>
      </p:sp>
      <p:sp>
        <p:nvSpPr>
          <p:cNvPr id="1403" name="Google Shape;1403;p103"/>
          <p:cNvSpPr txBox="1"/>
          <p:nvPr>
            <p:ph idx="1" type="body"/>
          </p:nvPr>
        </p:nvSpPr>
        <p:spPr>
          <a:xfrm>
            <a:off x="5956220" y="2666413"/>
            <a:ext cx="159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median</a:t>
            </a:r>
            <a:r>
              <a:rPr lang="en-GB" sz="1800"/>
              <a:t> = 72</a:t>
            </a:r>
            <a:endParaRPr sz="1800"/>
          </a:p>
        </p:txBody>
      </p:sp>
      <p:grpSp>
        <p:nvGrpSpPr>
          <p:cNvPr id="1404" name="Google Shape;1404;p103"/>
          <p:cNvGrpSpPr/>
          <p:nvPr/>
        </p:nvGrpSpPr>
        <p:grpSpPr>
          <a:xfrm>
            <a:off x="484416" y="2602200"/>
            <a:ext cx="457200" cy="457200"/>
            <a:chOff x="1020916" y="1442088"/>
            <a:chExt cx="457200" cy="457200"/>
          </a:xfrm>
        </p:grpSpPr>
        <p:pic>
          <p:nvPicPr>
            <p:cNvPr id="1405" name="Google Shape;1405;p103"/>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406" name="Google Shape;1406;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07" name="Google Shape;1407;p103"/>
          <p:cNvGrpSpPr/>
          <p:nvPr/>
        </p:nvGrpSpPr>
        <p:grpSpPr>
          <a:xfrm>
            <a:off x="2755816" y="2602200"/>
            <a:ext cx="457200" cy="457200"/>
            <a:chOff x="1020916" y="1442088"/>
            <a:chExt cx="457200" cy="457200"/>
          </a:xfrm>
        </p:grpSpPr>
        <p:pic>
          <p:nvPicPr>
            <p:cNvPr id="1408" name="Google Shape;1408;p103"/>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409" name="Google Shape;1409;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10" name="Google Shape;1410;p103"/>
          <p:cNvGrpSpPr/>
          <p:nvPr/>
        </p:nvGrpSpPr>
        <p:grpSpPr>
          <a:xfrm>
            <a:off x="5422816" y="2602200"/>
            <a:ext cx="457200" cy="457200"/>
            <a:chOff x="1020916" y="1442088"/>
            <a:chExt cx="457200" cy="457200"/>
          </a:xfrm>
        </p:grpSpPr>
        <p:pic>
          <p:nvPicPr>
            <p:cNvPr id="1411" name="Google Shape;1411;p103"/>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412" name="Google Shape;1412;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104"/>
          <p:cNvSpPr txBox="1"/>
          <p:nvPr>
            <p:ph idx="1" type="body"/>
          </p:nvPr>
        </p:nvSpPr>
        <p:spPr>
          <a:xfrm>
            <a:off x="324000" y="683100"/>
            <a:ext cx="8496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Match the dot plot to the statement about its </a:t>
            </a:r>
            <a:r>
              <a:rPr b="1" lang="en-GB" sz="1800"/>
              <a:t>median</a:t>
            </a:r>
            <a:r>
              <a:rPr lang="en-GB" sz="1800"/>
              <a:t> and </a:t>
            </a:r>
            <a:r>
              <a:rPr b="1" lang="en-GB" sz="1800"/>
              <a:t>mode</a:t>
            </a:r>
            <a:r>
              <a:rPr lang="en-GB" sz="1800"/>
              <a:t>.</a:t>
            </a:r>
            <a:endParaRPr sz="1800"/>
          </a:p>
        </p:txBody>
      </p:sp>
      <p:sp>
        <p:nvSpPr>
          <p:cNvPr id="1418" name="Google Shape;1418;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Dealing with an unrepresentative median or mode</a:t>
            </a:r>
            <a:endParaRPr/>
          </a:p>
        </p:txBody>
      </p:sp>
      <p:pic>
        <p:nvPicPr>
          <p:cNvPr id="1419" name="Google Shape;1419;p104"/>
          <p:cNvPicPr preferRelativeResize="0"/>
          <p:nvPr/>
        </p:nvPicPr>
        <p:blipFill rotWithShape="1">
          <a:blip r:embed="rId3">
            <a:alphaModFix/>
          </a:blip>
          <a:srcRect b="0" l="0" r="61367" t="0"/>
          <a:stretch/>
        </p:blipFill>
        <p:spPr>
          <a:xfrm>
            <a:off x="602125" y="1002789"/>
            <a:ext cx="1826134" cy="1556920"/>
          </a:xfrm>
          <a:prstGeom prst="rect">
            <a:avLst/>
          </a:prstGeom>
          <a:noFill/>
          <a:ln cap="flat" cmpd="sng" w="19050">
            <a:solidFill>
              <a:schemeClr val="dk1"/>
            </a:solidFill>
            <a:prstDash val="solid"/>
            <a:round/>
            <a:headEnd len="sm" w="sm" type="none"/>
            <a:tailEnd len="sm" w="sm" type="none"/>
          </a:ln>
        </p:spPr>
      </p:pic>
      <p:pic>
        <p:nvPicPr>
          <p:cNvPr id="1420" name="Google Shape;1420;p104"/>
          <p:cNvPicPr preferRelativeResize="0"/>
          <p:nvPr/>
        </p:nvPicPr>
        <p:blipFill>
          <a:blip r:embed="rId4">
            <a:alphaModFix/>
          </a:blip>
          <a:stretch>
            <a:fillRect/>
          </a:stretch>
        </p:blipFill>
        <p:spPr>
          <a:xfrm>
            <a:off x="5411738" y="1002789"/>
            <a:ext cx="3130137" cy="1556916"/>
          </a:xfrm>
          <a:prstGeom prst="rect">
            <a:avLst/>
          </a:prstGeom>
          <a:noFill/>
          <a:ln cap="flat" cmpd="sng" w="19050">
            <a:solidFill>
              <a:schemeClr val="dk1"/>
            </a:solidFill>
            <a:prstDash val="solid"/>
            <a:round/>
            <a:headEnd len="sm" w="sm" type="none"/>
            <a:tailEnd len="sm" w="sm" type="none"/>
          </a:ln>
        </p:spPr>
      </p:pic>
      <p:pic>
        <p:nvPicPr>
          <p:cNvPr id="1421" name="Google Shape;1421;p104"/>
          <p:cNvPicPr preferRelativeResize="0"/>
          <p:nvPr/>
        </p:nvPicPr>
        <p:blipFill rotWithShape="1">
          <a:blip r:embed="rId3">
            <a:alphaModFix/>
          </a:blip>
          <a:srcRect b="0" l="50743" r="0" t="0"/>
          <a:stretch/>
        </p:blipFill>
        <p:spPr>
          <a:xfrm>
            <a:off x="2755836" y="1002789"/>
            <a:ext cx="2328325" cy="1556920"/>
          </a:xfrm>
          <a:prstGeom prst="rect">
            <a:avLst/>
          </a:prstGeom>
          <a:noFill/>
          <a:ln cap="flat" cmpd="sng" w="19050">
            <a:solidFill>
              <a:schemeClr val="dk1"/>
            </a:solidFill>
            <a:prstDash val="solid"/>
            <a:round/>
            <a:headEnd len="sm" w="sm" type="none"/>
            <a:tailEnd len="sm" w="sm" type="none"/>
          </a:ln>
        </p:spPr>
      </p:pic>
      <p:sp>
        <p:nvSpPr>
          <p:cNvPr id="1422" name="Google Shape;1422;p104"/>
          <p:cNvSpPr txBox="1"/>
          <p:nvPr>
            <p:ph idx="1" type="body"/>
          </p:nvPr>
        </p:nvSpPr>
        <p:spPr>
          <a:xfrm>
            <a:off x="1017826" y="2666426"/>
            <a:ext cx="159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median</a:t>
            </a:r>
            <a:r>
              <a:rPr lang="en-GB" sz="1800"/>
              <a:t> = 20</a:t>
            </a:r>
            <a:endParaRPr sz="1800"/>
          </a:p>
        </p:txBody>
      </p:sp>
      <p:sp>
        <p:nvSpPr>
          <p:cNvPr id="1423" name="Google Shape;1423;p104"/>
          <p:cNvSpPr txBox="1"/>
          <p:nvPr>
            <p:ph idx="1" type="body"/>
          </p:nvPr>
        </p:nvSpPr>
        <p:spPr>
          <a:xfrm>
            <a:off x="3289214" y="2666413"/>
            <a:ext cx="159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median</a:t>
            </a:r>
            <a:r>
              <a:rPr lang="en-GB" sz="1800"/>
              <a:t> = 37</a:t>
            </a:r>
            <a:endParaRPr sz="1800"/>
          </a:p>
        </p:txBody>
      </p:sp>
      <p:sp>
        <p:nvSpPr>
          <p:cNvPr id="1424" name="Google Shape;1424;p104"/>
          <p:cNvSpPr txBox="1"/>
          <p:nvPr>
            <p:ph idx="1" type="body"/>
          </p:nvPr>
        </p:nvSpPr>
        <p:spPr>
          <a:xfrm>
            <a:off x="5956220" y="2666413"/>
            <a:ext cx="159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median</a:t>
            </a:r>
            <a:r>
              <a:rPr lang="en-GB" sz="1800"/>
              <a:t> = 72</a:t>
            </a:r>
            <a:endParaRPr sz="1800"/>
          </a:p>
        </p:txBody>
      </p:sp>
      <p:grpSp>
        <p:nvGrpSpPr>
          <p:cNvPr id="1425" name="Google Shape;1425;p104"/>
          <p:cNvGrpSpPr/>
          <p:nvPr/>
        </p:nvGrpSpPr>
        <p:grpSpPr>
          <a:xfrm>
            <a:off x="484416" y="2602200"/>
            <a:ext cx="457200" cy="457200"/>
            <a:chOff x="1020916" y="1442088"/>
            <a:chExt cx="457200" cy="457200"/>
          </a:xfrm>
        </p:grpSpPr>
        <p:pic>
          <p:nvPicPr>
            <p:cNvPr id="1426" name="Google Shape;1426;p104"/>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427" name="Google Shape;1427;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28" name="Google Shape;1428;p104"/>
          <p:cNvGrpSpPr/>
          <p:nvPr/>
        </p:nvGrpSpPr>
        <p:grpSpPr>
          <a:xfrm>
            <a:off x="2755816" y="2602200"/>
            <a:ext cx="457200" cy="457200"/>
            <a:chOff x="1020916" y="1442088"/>
            <a:chExt cx="457200" cy="457200"/>
          </a:xfrm>
        </p:grpSpPr>
        <p:pic>
          <p:nvPicPr>
            <p:cNvPr id="1429" name="Google Shape;1429;p104"/>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430" name="Google Shape;1430;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31" name="Google Shape;1431;p104"/>
          <p:cNvGrpSpPr/>
          <p:nvPr/>
        </p:nvGrpSpPr>
        <p:grpSpPr>
          <a:xfrm>
            <a:off x="5422816" y="2602200"/>
            <a:ext cx="457200" cy="457200"/>
            <a:chOff x="1020916" y="1442088"/>
            <a:chExt cx="457200" cy="457200"/>
          </a:xfrm>
        </p:grpSpPr>
        <p:pic>
          <p:nvPicPr>
            <p:cNvPr id="1432" name="Google Shape;1432;p104"/>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433" name="Google Shape;1433;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434" name="Google Shape;1434;p104"/>
          <p:cNvSpPr txBox="1"/>
          <p:nvPr>
            <p:ph idx="1" type="body"/>
          </p:nvPr>
        </p:nvSpPr>
        <p:spPr>
          <a:xfrm>
            <a:off x="323900" y="4257900"/>
            <a:ext cx="8496000" cy="5958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startAt="3"/>
            </a:pPr>
            <a:r>
              <a:rPr lang="en-GB" sz="1800"/>
              <a:t>Both its </a:t>
            </a:r>
            <a:r>
              <a:rPr b="1" lang="en-GB" sz="1800"/>
              <a:t>median</a:t>
            </a:r>
            <a:r>
              <a:rPr lang="en-GB" sz="1800"/>
              <a:t> and its </a:t>
            </a:r>
            <a:r>
              <a:rPr b="1" lang="en-GB" sz="1800"/>
              <a:t>mode</a:t>
            </a:r>
            <a:r>
              <a:rPr lang="en-GB" sz="1800"/>
              <a:t> are representative summaries, and it is bimodal.</a:t>
            </a:r>
            <a:endParaRPr sz="1800"/>
          </a:p>
        </p:txBody>
      </p:sp>
      <p:sp>
        <p:nvSpPr>
          <p:cNvPr id="1435" name="Google Shape;1435;p104"/>
          <p:cNvSpPr txBox="1"/>
          <p:nvPr>
            <p:ph idx="1" type="body"/>
          </p:nvPr>
        </p:nvSpPr>
        <p:spPr>
          <a:xfrm>
            <a:off x="323900" y="3852525"/>
            <a:ext cx="8496000" cy="2772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startAt="2"/>
            </a:pPr>
            <a:r>
              <a:rPr lang="en-GB" sz="1800"/>
              <a:t>Its </a:t>
            </a:r>
            <a:r>
              <a:rPr b="1" lang="en-GB" sz="1800"/>
              <a:t>median</a:t>
            </a:r>
            <a:r>
              <a:rPr lang="en-GB" sz="1800"/>
              <a:t> is a representative summary, and it has no </a:t>
            </a:r>
            <a:r>
              <a:rPr b="1" lang="en-GB" sz="1800"/>
              <a:t>mode</a:t>
            </a:r>
            <a:r>
              <a:rPr lang="en-GB" sz="1800"/>
              <a:t>.</a:t>
            </a:r>
            <a:endParaRPr sz="1800"/>
          </a:p>
        </p:txBody>
      </p:sp>
      <p:sp>
        <p:nvSpPr>
          <p:cNvPr id="1436" name="Google Shape;1436;p104"/>
          <p:cNvSpPr txBox="1"/>
          <p:nvPr>
            <p:ph idx="1" type="body"/>
          </p:nvPr>
        </p:nvSpPr>
        <p:spPr>
          <a:xfrm>
            <a:off x="323900" y="3161825"/>
            <a:ext cx="8496000" cy="5958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AutoNum type="arabicParenR"/>
            </a:pPr>
            <a:r>
              <a:rPr lang="en-GB" sz="1800"/>
              <a:t>Its </a:t>
            </a:r>
            <a:r>
              <a:rPr b="1" lang="en-GB" sz="1800"/>
              <a:t>mode</a:t>
            </a:r>
            <a:r>
              <a:rPr lang="en-GB" sz="1800"/>
              <a:t> is a more representative summary than its</a:t>
            </a:r>
            <a:r>
              <a:rPr b="1" lang="en-GB" sz="1800"/>
              <a:t> median</a:t>
            </a:r>
            <a:r>
              <a:rPr lang="en-GB" sz="1800"/>
              <a:t>, and it is bimodal.</a:t>
            </a:r>
            <a:endParaRPr sz="1800"/>
          </a:p>
        </p:txBody>
      </p:sp>
      <p:sp>
        <p:nvSpPr>
          <p:cNvPr id="1437" name="Google Shape;1437;p104"/>
          <p:cNvSpPr txBox="1"/>
          <p:nvPr/>
        </p:nvSpPr>
        <p:spPr>
          <a:xfrm>
            <a:off x="1221900" y="953700"/>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highlight>
                  <a:schemeClr val="lt1"/>
                </a:highlight>
                <a:latin typeface="Lexend"/>
                <a:ea typeface="Lexend"/>
                <a:cs typeface="Lexend"/>
                <a:sym typeface="Lexend"/>
              </a:rPr>
              <a:t>3)</a:t>
            </a:r>
            <a:endParaRPr sz="1800">
              <a:solidFill>
                <a:schemeClr val="dk1"/>
              </a:solidFill>
              <a:highlight>
                <a:schemeClr val="lt1"/>
              </a:highlight>
              <a:latin typeface="Lexend"/>
              <a:ea typeface="Lexend"/>
              <a:cs typeface="Lexend"/>
              <a:sym typeface="Lexend"/>
            </a:endParaRPr>
          </a:p>
        </p:txBody>
      </p:sp>
      <p:sp>
        <p:nvSpPr>
          <p:cNvPr id="1438" name="Google Shape;1438;p104"/>
          <p:cNvSpPr txBox="1"/>
          <p:nvPr/>
        </p:nvSpPr>
        <p:spPr>
          <a:xfrm>
            <a:off x="3629650" y="953700"/>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highlight>
                  <a:schemeClr val="lt1"/>
                </a:highlight>
                <a:latin typeface="Lexend"/>
                <a:ea typeface="Lexend"/>
                <a:cs typeface="Lexend"/>
                <a:sym typeface="Lexend"/>
              </a:rPr>
              <a:t>1</a:t>
            </a:r>
            <a:r>
              <a:rPr lang="en-GB" sz="1800">
                <a:solidFill>
                  <a:schemeClr val="dk1"/>
                </a:solidFill>
                <a:highlight>
                  <a:schemeClr val="lt1"/>
                </a:highlight>
                <a:latin typeface="Lexend"/>
                <a:ea typeface="Lexend"/>
                <a:cs typeface="Lexend"/>
                <a:sym typeface="Lexend"/>
              </a:rPr>
              <a:t>)</a:t>
            </a:r>
            <a:endParaRPr sz="1800">
              <a:solidFill>
                <a:schemeClr val="dk1"/>
              </a:solidFill>
              <a:highlight>
                <a:schemeClr val="lt1"/>
              </a:highlight>
              <a:latin typeface="Lexend"/>
              <a:ea typeface="Lexend"/>
              <a:cs typeface="Lexend"/>
              <a:sym typeface="Lexend"/>
            </a:endParaRPr>
          </a:p>
        </p:txBody>
      </p:sp>
      <p:sp>
        <p:nvSpPr>
          <p:cNvPr id="1439" name="Google Shape;1439;p104"/>
          <p:cNvSpPr txBox="1"/>
          <p:nvPr/>
        </p:nvSpPr>
        <p:spPr>
          <a:xfrm>
            <a:off x="8209200" y="925350"/>
            <a:ext cx="45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highlight>
                  <a:schemeClr val="lt1"/>
                </a:highlight>
                <a:latin typeface="Lexend"/>
                <a:ea typeface="Lexend"/>
                <a:cs typeface="Lexend"/>
                <a:sym typeface="Lexend"/>
              </a:rPr>
              <a:t>2</a:t>
            </a:r>
            <a:r>
              <a:rPr lang="en-GB" sz="1800">
                <a:solidFill>
                  <a:schemeClr val="dk1"/>
                </a:solidFill>
                <a:highlight>
                  <a:schemeClr val="lt1"/>
                </a:highlight>
                <a:latin typeface="Lexend"/>
                <a:ea typeface="Lexend"/>
                <a:cs typeface="Lexend"/>
                <a:sym typeface="Lexend"/>
              </a:rPr>
              <a:t>)</a:t>
            </a:r>
            <a:endParaRPr sz="1800">
              <a:solidFill>
                <a:schemeClr val="dk1"/>
              </a:solidFill>
              <a:highlight>
                <a:schemeClr val="lt1"/>
              </a:highlight>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0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median or mode</a:t>
            </a:r>
            <a:endParaRPr/>
          </a:p>
        </p:txBody>
      </p:sp>
      <p:sp>
        <p:nvSpPr>
          <p:cNvPr id="1445" name="Google Shape;1445;p105"/>
          <p:cNvSpPr txBox="1"/>
          <p:nvPr/>
        </p:nvSpPr>
        <p:spPr>
          <a:xfrm>
            <a:off x="324000" y="678925"/>
            <a:ext cx="8496000" cy="131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1</a:t>
            </a:r>
            <a:r>
              <a:rPr lang="en-GB" sz="1800">
                <a:solidFill>
                  <a:srgbClr val="000000"/>
                </a:solidFill>
                <a:latin typeface="Lexend"/>
                <a:ea typeface="Lexend"/>
                <a:cs typeface="Lexend"/>
                <a:sym typeface="Lexend"/>
              </a:rPr>
              <a:t>) For which one of these </a:t>
            </a:r>
            <a:r>
              <a:rPr lang="en-GB" sz="1800">
                <a:latin typeface="Lexend"/>
                <a:ea typeface="Lexend"/>
                <a:cs typeface="Lexend"/>
                <a:sym typeface="Lexend"/>
              </a:rPr>
              <a:t>data set</a:t>
            </a:r>
            <a:r>
              <a:rPr lang="en-GB" sz="1800">
                <a:solidFill>
                  <a:srgbClr val="000000"/>
                </a:solidFill>
                <a:latin typeface="Lexend"/>
                <a:ea typeface="Lexend"/>
                <a:cs typeface="Lexend"/>
                <a:sym typeface="Lexend"/>
              </a:rPr>
              <a:t>s is the </a:t>
            </a:r>
            <a:r>
              <a:rPr lang="en-GB" sz="1800">
                <a:latin typeface="Lexend"/>
                <a:ea typeface="Lexend"/>
                <a:cs typeface="Lexend"/>
                <a:sym typeface="Lexend"/>
              </a:rPr>
              <a:t>median the more representative summary, and for which one is the mode the more representative summary</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rgbClr val="000000"/>
                </a:solidFill>
                <a:latin typeface="Lexend"/>
                <a:ea typeface="Lexend"/>
                <a:cs typeface="Lexend"/>
                <a:sym typeface="Lexend"/>
              </a:rPr>
              <a:t>You must write one sentence why you chose that one over the other.</a:t>
            </a:r>
            <a:endParaRPr sz="1800">
              <a:solidFill>
                <a:srgbClr val="000000"/>
              </a:solidFill>
              <a:latin typeface="Lexend"/>
              <a:ea typeface="Lexend"/>
              <a:cs typeface="Lexend"/>
              <a:sym typeface="Lexend"/>
            </a:endParaRPr>
          </a:p>
        </p:txBody>
      </p:sp>
      <p:pic>
        <p:nvPicPr>
          <p:cNvPr id="1446" name="Google Shape;1446;p105"/>
          <p:cNvPicPr preferRelativeResize="0"/>
          <p:nvPr/>
        </p:nvPicPr>
        <p:blipFill>
          <a:blip r:embed="rId3">
            <a:alphaModFix/>
          </a:blip>
          <a:stretch>
            <a:fillRect/>
          </a:stretch>
        </p:blipFill>
        <p:spPr>
          <a:xfrm>
            <a:off x="324000" y="2224640"/>
            <a:ext cx="4016705" cy="1506269"/>
          </a:xfrm>
          <a:prstGeom prst="rect">
            <a:avLst/>
          </a:prstGeom>
          <a:noFill/>
          <a:ln cap="flat" cmpd="sng" w="9525">
            <a:solidFill>
              <a:srgbClr val="000000"/>
            </a:solidFill>
            <a:prstDash val="solid"/>
            <a:round/>
            <a:headEnd len="sm" w="sm" type="none"/>
            <a:tailEnd len="sm" w="sm" type="none"/>
          </a:ln>
        </p:spPr>
      </p:pic>
      <p:sp>
        <p:nvSpPr>
          <p:cNvPr id="1447" name="Google Shape;1447;p105"/>
          <p:cNvSpPr txBox="1"/>
          <p:nvPr/>
        </p:nvSpPr>
        <p:spPr>
          <a:xfrm>
            <a:off x="324000" y="3801450"/>
            <a:ext cx="1971900" cy="2706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Font typeface="Lexend"/>
              <a:buAutoNum type="alphaLcParenR"/>
            </a:pPr>
            <a:r>
              <a:rPr lang="en-GB" sz="1800">
                <a:latin typeface="Lexend"/>
                <a:ea typeface="Lexend"/>
                <a:cs typeface="Lexend"/>
                <a:sym typeface="Lexend"/>
              </a:rPr>
              <a:t>median = 7</a:t>
            </a:r>
            <a:endParaRPr sz="1800">
              <a:solidFill>
                <a:srgbClr val="000000"/>
              </a:solidFill>
              <a:latin typeface="Lexend"/>
              <a:ea typeface="Lexend"/>
              <a:cs typeface="Lexend"/>
              <a:sym typeface="Lexend"/>
            </a:endParaRPr>
          </a:p>
        </p:txBody>
      </p:sp>
      <p:sp>
        <p:nvSpPr>
          <p:cNvPr id="1448" name="Google Shape;1448;p105"/>
          <p:cNvSpPr txBox="1"/>
          <p:nvPr/>
        </p:nvSpPr>
        <p:spPr>
          <a:xfrm>
            <a:off x="4824000" y="4430400"/>
            <a:ext cx="3131700" cy="2706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Font typeface="Lexend"/>
              <a:buAutoNum type="alphaLcParenR" startAt="2"/>
            </a:pPr>
            <a:r>
              <a:rPr lang="en-GB" sz="1800">
                <a:latin typeface="Lexend"/>
                <a:ea typeface="Lexend"/>
                <a:cs typeface="Lexend"/>
                <a:sym typeface="Lexend"/>
              </a:rPr>
              <a:t>median = 6</a:t>
            </a:r>
            <a:endParaRPr sz="1800">
              <a:solidFill>
                <a:srgbClr val="000000"/>
              </a:solidFill>
              <a:latin typeface="Lexend"/>
              <a:ea typeface="Lexend"/>
              <a:cs typeface="Lexend"/>
              <a:sym typeface="Lexend"/>
            </a:endParaRPr>
          </a:p>
        </p:txBody>
      </p:sp>
      <p:grpSp>
        <p:nvGrpSpPr>
          <p:cNvPr id="1449" name="Google Shape;1449;p105"/>
          <p:cNvGrpSpPr/>
          <p:nvPr/>
        </p:nvGrpSpPr>
        <p:grpSpPr>
          <a:xfrm>
            <a:off x="4821227" y="2224642"/>
            <a:ext cx="3998774" cy="2145835"/>
            <a:chOff x="4821227" y="1538842"/>
            <a:chExt cx="3998774" cy="2145835"/>
          </a:xfrm>
        </p:grpSpPr>
        <p:pic>
          <p:nvPicPr>
            <p:cNvPr id="1450" name="Google Shape;1450;p105"/>
            <p:cNvPicPr preferRelativeResize="0"/>
            <p:nvPr/>
          </p:nvPicPr>
          <p:blipFill>
            <a:blip r:embed="rId4">
              <a:alphaModFix/>
            </a:blip>
            <a:stretch>
              <a:fillRect/>
            </a:stretch>
          </p:blipFill>
          <p:spPr>
            <a:xfrm>
              <a:off x="4821227" y="1538842"/>
              <a:ext cx="3998774" cy="2145835"/>
            </a:xfrm>
            <a:prstGeom prst="rect">
              <a:avLst/>
            </a:prstGeom>
            <a:noFill/>
            <a:ln cap="flat" cmpd="sng" w="9525">
              <a:solidFill>
                <a:srgbClr val="000000"/>
              </a:solidFill>
              <a:prstDash val="solid"/>
              <a:round/>
              <a:headEnd len="sm" w="sm" type="none"/>
              <a:tailEnd len="sm" w="sm" type="none"/>
            </a:ln>
          </p:spPr>
        </p:pic>
        <p:pic>
          <p:nvPicPr>
            <p:cNvPr id="1451" name="Google Shape;1451;p105"/>
            <p:cNvPicPr preferRelativeResize="0"/>
            <p:nvPr/>
          </p:nvPicPr>
          <p:blipFill rotWithShape="1">
            <a:blip r:embed="rId4">
              <a:alphaModFix/>
            </a:blip>
            <a:srcRect b="11803" l="7355" r="84880" t="22981"/>
            <a:stretch/>
          </p:blipFill>
          <p:spPr>
            <a:xfrm>
              <a:off x="8145886" y="2032000"/>
              <a:ext cx="310449" cy="1399400"/>
            </a:xfrm>
            <a:prstGeom prst="rect">
              <a:avLst/>
            </a:prstGeom>
            <a:noFill/>
            <a:ln>
              <a:noFill/>
            </a:ln>
          </p:spPr>
        </p:pic>
        <p:pic>
          <p:nvPicPr>
            <p:cNvPr id="1452" name="Google Shape;1452;p105"/>
            <p:cNvPicPr preferRelativeResize="0"/>
            <p:nvPr/>
          </p:nvPicPr>
          <p:blipFill rotWithShape="1">
            <a:blip r:embed="rId4">
              <a:alphaModFix/>
            </a:blip>
            <a:srcRect b="11804" l="7355" r="84880" t="67525"/>
            <a:stretch/>
          </p:blipFill>
          <p:spPr>
            <a:xfrm>
              <a:off x="8480575" y="2987850"/>
              <a:ext cx="310449" cy="443550"/>
            </a:xfrm>
            <a:prstGeom prst="rect">
              <a:avLst/>
            </a:prstGeom>
            <a:noFill/>
            <a:ln>
              <a:noFill/>
            </a:ln>
          </p:spPr>
        </p:pic>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06"/>
          <p:cNvSpPr txBox="1"/>
          <p:nvPr/>
        </p:nvSpPr>
        <p:spPr>
          <a:xfrm>
            <a:off x="324000" y="2359500"/>
            <a:ext cx="84960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a:t>
            </a:r>
            <a:r>
              <a:rPr lang="en-GB" sz="1800">
                <a:solidFill>
                  <a:srgbClr val="000000"/>
                </a:solidFill>
                <a:latin typeface="Lexend"/>
                <a:ea typeface="Lexend"/>
                <a:cs typeface="Lexend"/>
                <a:sym typeface="Lexend"/>
              </a:rPr>
              <a:t>) </a:t>
            </a:r>
            <a:r>
              <a:rPr lang="en-GB" sz="1800">
                <a:latin typeface="Lexend"/>
                <a:ea typeface="Lexend"/>
                <a:cs typeface="Lexend"/>
                <a:sym typeface="Lexend"/>
              </a:rPr>
              <a:t>Answer parts a, b, and c for both these </a:t>
            </a:r>
            <a:r>
              <a:rPr lang="en-GB" sz="1800">
                <a:latin typeface="Lexend"/>
                <a:ea typeface="Lexend"/>
                <a:cs typeface="Lexend"/>
                <a:sym typeface="Lexend"/>
              </a:rPr>
              <a:t>data set</a:t>
            </a:r>
            <a:r>
              <a:rPr lang="en-GB" sz="1800">
                <a:latin typeface="Lexend"/>
                <a:ea typeface="Lexend"/>
                <a:cs typeface="Lexend"/>
                <a:sym typeface="Lexend"/>
              </a:rPr>
              <a:t>s.</a:t>
            </a:r>
            <a:endParaRPr sz="1800">
              <a:latin typeface="Lexend"/>
              <a:ea typeface="Lexend"/>
              <a:cs typeface="Lexend"/>
              <a:sym typeface="Lexend"/>
            </a:endParaRPr>
          </a:p>
        </p:txBody>
      </p:sp>
      <p:sp>
        <p:nvSpPr>
          <p:cNvPr id="1458" name="Google Shape;1458;p10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median or mode</a:t>
            </a:r>
            <a:endParaRPr/>
          </a:p>
        </p:txBody>
      </p:sp>
      <p:graphicFrame>
        <p:nvGraphicFramePr>
          <p:cNvPr id="1459" name="Google Shape;1459;p106"/>
          <p:cNvGraphicFramePr/>
          <p:nvPr/>
        </p:nvGraphicFramePr>
        <p:xfrm>
          <a:off x="1761863" y="806072"/>
          <a:ext cx="3000000" cy="3000000"/>
        </p:xfrm>
        <a:graphic>
          <a:graphicData uri="http://schemas.openxmlformats.org/drawingml/2006/table">
            <a:tbl>
              <a:tblPr>
                <a:noFill/>
                <a:tableStyleId>{941F9DB1-44A7-4DC4-A338-CBB8A8854EF6}</a:tableStyleId>
              </a:tblPr>
              <a:tblGrid>
                <a:gridCol w="504150"/>
                <a:gridCol w="504150"/>
                <a:gridCol w="504150"/>
                <a:gridCol w="504150"/>
                <a:gridCol w="504150"/>
                <a:gridCol w="504150"/>
                <a:gridCol w="504150"/>
                <a:gridCol w="504150"/>
                <a:gridCol w="504150"/>
                <a:gridCol w="504150"/>
                <a:gridCol w="504150"/>
                <a:gridCol w="504150"/>
                <a:gridCol w="504150"/>
                <a:gridCol w="504150"/>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57</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graphicFrame>
        <p:nvGraphicFramePr>
          <p:cNvPr id="1460" name="Google Shape;1460;p106"/>
          <p:cNvGraphicFramePr/>
          <p:nvPr/>
        </p:nvGraphicFramePr>
        <p:xfrm>
          <a:off x="1761725" y="1454288"/>
          <a:ext cx="3000000" cy="3000000"/>
        </p:xfrm>
        <a:graphic>
          <a:graphicData uri="http://schemas.openxmlformats.org/drawingml/2006/table">
            <a:tbl>
              <a:tblPr>
                <a:noFill/>
                <a:tableStyleId>{941F9DB1-44A7-4DC4-A338-CBB8A8854EF6}</a:tableStyleId>
              </a:tblPr>
              <a:tblGrid>
                <a:gridCol w="542925"/>
                <a:gridCol w="542925"/>
                <a:gridCol w="542925"/>
                <a:gridCol w="542925"/>
                <a:gridCol w="542925"/>
                <a:gridCol w="542925"/>
                <a:gridCol w="542925"/>
                <a:gridCol w="542925"/>
                <a:gridCol w="542925"/>
                <a:gridCol w="542925"/>
                <a:gridCol w="542925"/>
                <a:gridCol w="542925"/>
                <a:gridCol w="542925"/>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
        <p:nvSpPr>
          <p:cNvPr id="1461" name="Google Shape;1461;p106"/>
          <p:cNvSpPr txBox="1"/>
          <p:nvPr/>
        </p:nvSpPr>
        <p:spPr>
          <a:xfrm>
            <a:off x="771525" y="2837500"/>
            <a:ext cx="80484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a) Calculate the mean, median, and mode for this </a:t>
            </a:r>
            <a:r>
              <a:rPr lang="en-GB" sz="1800">
                <a:solidFill>
                  <a:schemeClr val="dk1"/>
                </a:solidFill>
                <a:latin typeface="Lexend"/>
                <a:ea typeface="Lexend"/>
                <a:cs typeface="Lexend"/>
                <a:sym typeface="Lexend"/>
              </a:rPr>
              <a:t>data set</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chemeClr val="dk1"/>
                </a:solidFill>
                <a:latin typeface="Lexend"/>
                <a:ea typeface="Lexend"/>
                <a:cs typeface="Lexend"/>
                <a:sym typeface="Lexend"/>
              </a:rPr>
              <a:t>b) Which averages do you think are the most representative summaries of this </a:t>
            </a:r>
            <a:r>
              <a:rPr lang="en-GB" sz="1800">
                <a:solidFill>
                  <a:schemeClr val="dk1"/>
                </a:solidFill>
                <a:latin typeface="Lexend"/>
                <a:ea typeface="Lexend"/>
                <a:cs typeface="Lexend"/>
                <a:sym typeface="Lexend"/>
              </a:rPr>
              <a:t>data set</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chemeClr val="dk1"/>
                </a:solidFill>
                <a:latin typeface="Lexend"/>
                <a:ea typeface="Lexend"/>
                <a:cs typeface="Lexend"/>
                <a:sym typeface="Lexend"/>
              </a:rPr>
              <a:t>c) What benefit might there be to still using the average that is least representative? </a:t>
            </a:r>
            <a:endParaRPr sz="1800">
              <a:solidFill>
                <a:schemeClr val="dk1"/>
              </a:solidFill>
              <a:latin typeface="Lexend"/>
              <a:ea typeface="Lexend"/>
              <a:cs typeface="Lexend"/>
              <a:sym typeface="Lexend"/>
            </a:endParaRPr>
          </a:p>
        </p:txBody>
      </p:sp>
      <p:sp>
        <p:nvSpPr>
          <p:cNvPr id="1462" name="Google Shape;1462;p106"/>
          <p:cNvSpPr txBox="1"/>
          <p:nvPr/>
        </p:nvSpPr>
        <p:spPr>
          <a:xfrm>
            <a:off x="324038" y="810388"/>
            <a:ext cx="1171800" cy="381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lang="en-GB" sz="1800">
                <a:latin typeface="Lexend"/>
                <a:ea typeface="Lexend"/>
                <a:cs typeface="Lexend"/>
                <a:sym typeface="Lexend"/>
              </a:rPr>
              <a:t>data set</a:t>
            </a:r>
            <a:r>
              <a:rPr lang="en-GB" sz="1800">
                <a:latin typeface="Lexend"/>
                <a:ea typeface="Lexend"/>
                <a:cs typeface="Lexend"/>
                <a:sym typeface="Lexend"/>
              </a:rPr>
              <a:t> 1</a:t>
            </a:r>
            <a:endParaRPr sz="1800">
              <a:latin typeface="Lexend"/>
              <a:ea typeface="Lexend"/>
              <a:cs typeface="Lexend"/>
              <a:sym typeface="Lexend"/>
            </a:endParaRPr>
          </a:p>
        </p:txBody>
      </p:sp>
      <p:sp>
        <p:nvSpPr>
          <p:cNvPr id="1463" name="Google Shape;1463;p106"/>
          <p:cNvSpPr txBox="1"/>
          <p:nvPr/>
        </p:nvSpPr>
        <p:spPr>
          <a:xfrm>
            <a:off x="324038" y="1458600"/>
            <a:ext cx="1171800" cy="381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lang="en-GB" sz="1800">
                <a:latin typeface="Lexend"/>
                <a:ea typeface="Lexend"/>
                <a:cs typeface="Lexend"/>
                <a:sym typeface="Lexend"/>
              </a:rPr>
              <a:t>data set</a:t>
            </a:r>
            <a:r>
              <a:rPr lang="en-GB" sz="1800">
                <a:latin typeface="Lexend"/>
                <a:ea typeface="Lexend"/>
                <a:cs typeface="Lexend"/>
                <a:sym typeface="Lexend"/>
              </a:rPr>
              <a:t> 2</a:t>
            </a:r>
            <a:endParaRPr sz="1800">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07"/>
          <p:cNvSpPr txBox="1"/>
          <p:nvPr/>
        </p:nvSpPr>
        <p:spPr>
          <a:xfrm>
            <a:off x="4812279" y="3730200"/>
            <a:ext cx="40167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The mode is more representative. This is because the median is not near any high-frequency values.</a:t>
            </a:r>
            <a:endParaRPr sz="2000">
              <a:latin typeface="Kalam"/>
              <a:ea typeface="Kalam"/>
              <a:cs typeface="Kalam"/>
              <a:sym typeface="Kalam"/>
            </a:endParaRPr>
          </a:p>
        </p:txBody>
      </p:sp>
      <p:sp>
        <p:nvSpPr>
          <p:cNvPr id="1469" name="Google Shape;1469;p10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median or mode</a:t>
            </a:r>
            <a:endParaRPr/>
          </a:p>
        </p:txBody>
      </p:sp>
      <p:sp>
        <p:nvSpPr>
          <p:cNvPr id="1470" name="Google Shape;1470;p107"/>
          <p:cNvSpPr txBox="1"/>
          <p:nvPr/>
        </p:nvSpPr>
        <p:spPr>
          <a:xfrm>
            <a:off x="324000" y="678925"/>
            <a:ext cx="8496000" cy="110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1</a:t>
            </a:r>
            <a:r>
              <a:rPr lang="en-GB" sz="1800">
                <a:solidFill>
                  <a:srgbClr val="000000"/>
                </a:solidFill>
                <a:latin typeface="Lexend"/>
                <a:ea typeface="Lexend"/>
                <a:cs typeface="Lexend"/>
                <a:sym typeface="Lexend"/>
              </a:rPr>
              <a:t>) For which one of these </a:t>
            </a:r>
            <a:r>
              <a:rPr lang="en-GB" sz="1800">
                <a:latin typeface="Lexend"/>
                <a:ea typeface="Lexend"/>
                <a:cs typeface="Lexend"/>
                <a:sym typeface="Lexend"/>
              </a:rPr>
              <a:t>data set</a:t>
            </a:r>
            <a:r>
              <a:rPr lang="en-GB" sz="1800">
                <a:solidFill>
                  <a:srgbClr val="000000"/>
                </a:solidFill>
                <a:latin typeface="Lexend"/>
                <a:ea typeface="Lexend"/>
                <a:cs typeface="Lexend"/>
                <a:sym typeface="Lexend"/>
              </a:rPr>
              <a:t>s is the </a:t>
            </a:r>
            <a:r>
              <a:rPr lang="en-GB" sz="1800">
                <a:latin typeface="Lexend"/>
                <a:ea typeface="Lexend"/>
                <a:cs typeface="Lexend"/>
                <a:sym typeface="Lexend"/>
              </a:rPr>
              <a:t>median the more representative summary, and for which one is the mode the more representative summary</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rgbClr val="000000"/>
                </a:solidFill>
                <a:latin typeface="Lexend"/>
                <a:ea typeface="Lexend"/>
                <a:cs typeface="Lexend"/>
                <a:sym typeface="Lexend"/>
              </a:rPr>
              <a:t>You must write one sentence why you chose that one over the other.</a:t>
            </a:r>
            <a:endParaRPr sz="1800">
              <a:solidFill>
                <a:srgbClr val="000000"/>
              </a:solidFill>
              <a:latin typeface="Lexend"/>
              <a:ea typeface="Lexend"/>
              <a:cs typeface="Lexend"/>
              <a:sym typeface="Lexend"/>
            </a:endParaRPr>
          </a:p>
        </p:txBody>
      </p:sp>
      <p:pic>
        <p:nvPicPr>
          <p:cNvPr id="1471" name="Google Shape;1471;p107"/>
          <p:cNvPicPr preferRelativeResize="0"/>
          <p:nvPr/>
        </p:nvPicPr>
        <p:blipFill>
          <a:blip r:embed="rId3">
            <a:alphaModFix/>
          </a:blip>
          <a:stretch>
            <a:fillRect/>
          </a:stretch>
        </p:blipFill>
        <p:spPr>
          <a:xfrm>
            <a:off x="324000" y="1843640"/>
            <a:ext cx="4016705" cy="1506269"/>
          </a:xfrm>
          <a:prstGeom prst="rect">
            <a:avLst/>
          </a:prstGeom>
          <a:noFill/>
          <a:ln cap="flat" cmpd="sng" w="9525">
            <a:solidFill>
              <a:srgbClr val="000000"/>
            </a:solidFill>
            <a:prstDash val="solid"/>
            <a:round/>
            <a:headEnd len="sm" w="sm" type="none"/>
            <a:tailEnd len="sm" w="sm" type="none"/>
          </a:ln>
        </p:spPr>
      </p:pic>
      <p:sp>
        <p:nvSpPr>
          <p:cNvPr id="1472" name="Google Shape;1472;p107"/>
          <p:cNvSpPr txBox="1"/>
          <p:nvPr/>
        </p:nvSpPr>
        <p:spPr>
          <a:xfrm>
            <a:off x="324000" y="3409500"/>
            <a:ext cx="1729200" cy="2706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Font typeface="Lexend"/>
              <a:buAutoNum type="alphaLcParenR"/>
            </a:pPr>
            <a:r>
              <a:rPr lang="en-GB" sz="1800">
                <a:latin typeface="Lexend"/>
                <a:ea typeface="Lexend"/>
                <a:cs typeface="Lexend"/>
                <a:sym typeface="Lexend"/>
              </a:rPr>
              <a:t>median = 7</a:t>
            </a:r>
            <a:endParaRPr sz="1800">
              <a:solidFill>
                <a:srgbClr val="000000"/>
              </a:solidFill>
              <a:latin typeface="Lexend"/>
              <a:ea typeface="Lexend"/>
              <a:cs typeface="Lexend"/>
              <a:sym typeface="Lexend"/>
            </a:endParaRPr>
          </a:p>
        </p:txBody>
      </p:sp>
      <p:sp>
        <p:nvSpPr>
          <p:cNvPr id="1473" name="Google Shape;1473;p107"/>
          <p:cNvSpPr txBox="1"/>
          <p:nvPr/>
        </p:nvSpPr>
        <p:spPr>
          <a:xfrm>
            <a:off x="5890800" y="3459600"/>
            <a:ext cx="2635200" cy="2706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Font typeface="Lexend"/>
              <a:buAutoNum type="alphaLcParenR" startAt="2"/>
            </a:pPr>
            <a:r>
              <a:rPr lang="en-GB" sz="1800">
                <a:latin typeface="Lexend"/>
                <a:ea typeface="Lexend"/>
                <a:cs typeface="Lexend"/>
                <a:sym typeface="Lexend"/>
              </a:rPr>
              <a:t>median = 6</a:t>
            </a:r>
            <a:endParaRPr sz="1800">
              <a:solidFill>
                <a:srgbClr val="000000"/>
              </a:solidFill>
              <a:latin typeface="Lexend"/>
              <a:ea typeface="Lexend"/>
              <a:cs typeface="Lexend"/>
              <a:sym typeface="Lexend"/>
            </a:endParaRPr>
          </a:p>
        </p:txBody>
      </p:sp>
      <p:sp>
        <p:nvSpPr>
          <p:cNvPr id="1474" name="Google Shape;1474;p107"/>
          <p:cNvSpPr txBox="1"/>
          <p:nvPr/>
        </p:nvSpPr>
        <p:spPr>
          <a:xfrm>
            <a:off x="324000" y="3883500"/>
            <a:ext cx="40167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The median is more representative. This is because there is no mode.</a:t>
            </a:r>
            <a:endParaRPr sz="2000">
              <a:latin typeface="Kalam"/>
              <a:ea typeface="Kalam"/>
              <a:cs typeface="Kalam"/>
              <a:sym typeface="Kalam"/>
            </a:endParaRPr>
          </a:p>
        </p:txBody>
      </p:sp>
      <p:grpSp>
        <p:nvGrpSpPr>
          <p:cNvPr id="1475" name="Google Shape;1475;p107"/>
          <p:cNvGrpSpPr/>
          <p:nvPr/>
        </p:nvGrpSpPr>
        <p:grpSpPr>
          <a:xfrm>
            <a:off x="5901709" y="1843651"/>
            <a:ext cx="2918305" cy="1566031"/>
            <a:chOff x="4821227" y="1538842"/>
            <a:chExt cx="3998774" cy="2145835"/>
          </a:xfrm>
        </p:grpSpPr>
        <p:pic>
          <p:nvPicPr>
            <p:cNvPr id="1476" name="Google Shape;1476;p107"/>
            <p:cNvPicPr preferRelativeResize="0"/>
            <p:nvPr/>
          </p:nvPicPr>
          <p:blipFill>
            <a:blip r:embed="rId4">
              <a:alphaModFix/>
            </a:blip>
            <a:stretch>
              <a:fillRect/>
            </a:stretch>
          </p:blipFill>
          <p:spPr>
            <a:xfrm>
              <a:off x="4821227" y="1538842"/>
              <a:ext cx="3998774" cy="2145835"/>
            </a:xfrm>
            <a:prstGeom prst="rect">
              <a:avLst/>
            </a:prstGeom>
            <a:noFill/>
            <a:ln cap="flat" cmpd="sng" w="9525">
              <a:solidFill>
                <a:srgbClr val="000000"/>
              </a:solidFill>
              <a:prstDash val="solid"/>
              <a:round/>
              <a:headEnd len="sm" w="sm" type="none"/>
              <a:tailEnd len="sm" w="sm" type="none"/>
            </a:ln>
          </p:spPr>
        </p:pic>
        <p:pic>
          <p:nvPicPr>
            <p:cNvPr id="1477" name="Google Shape;1477;p107"/>
            <p:cNvPicPr preferRelativeResize="0"/>
            <p:nvPr/>
          </p:nvPicPr>
          <p:blipFill rotWithShape="1">
            <a:blip r:embed="rId4">
              <a:alphaModFix/>
            </a:blip>
            <a:srcRect b="11803" l="7355" r="84880" t="22981"/>
            <a:stretch/>
          </p:blipFill>
          <p:spPr>
            <a:xfrm>
              <a:off x="8145886" y="2032000"/>
              <a:ext cx="310449" cy="1399400"/>
            </a:xfrm>
            <a:prstGeom prst="rect">
              <a:avLst/>
            </a:prstGeom>
            <a:noFill/>
            <a:ln>
              <a:noFill/>
            </a:ln>
          </p:spPr>
        </p:pic>
        <p:pic>
          <p:nvPicPr>
            <p:cNvPr id="1478" name="Google Shape;1478;p107"/>
            <p:cNvPicPr preferRelativeResize="0"/>
            <p:nvPr/>
          </p:nvPicPr>
          <p:blipFill rotWithShape="1">
            <a:blip r:embed="rId4">
              <a:alphaModFix/>
            </a:blip>
            <a:srcRect b="11804" l="7355" r="84880" t="67525"/>
            <a:stretch/>
          </p:blipFill>
          <p:spPr>
            <a:xfrm>
              <a:off x="8480575" y="2987850"/>
              <a:ext cx="310449" cy="443550"/>
            </a:xfrm>
            <a:prstGeom prst="rect">
              <a:avLst/>
            </a:prstGeom>
            <a:noFill/>
            <a:ln>
              <a:noFill/>
            </a:ln>
          </p:spPr>
        </p:pic>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10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median or mode</a:t>
            </a:r>
            <a:endParaRPr/>
          </a:p>
        </p:txBody>
      </p:sp>
      <p:graphicFrame>
        <p:nvGraphicFramePr>
          <p:cNvPr id="1484" name="Google Shape;1484;p108"/>
          <p:cNvGraphicFramePr/>
          <p:nvPr/>
        </p:nvGraphicFramePr>
        <p:xfrm>
          <a:off x="1761863" y="806072"/>
          <a:ext cx="3000000" cy="3000000"/>
        </p:xfrm>
        <a:graphic>
          <a:graphicData uri="http://schemas.openxmlformats.org/drawingml/2006/table">
            <a:tbl>
              <a:tblPr>
                <a:noFill/>
                <a:tableStyleId>{941F9DB1-44A7-4DC4-A338-CBB8A8854EF6}</a:tableStyleId>
              </a:tblPr>
              <a:tblGrid>
                <a:gridCol w="504150"/>
                <a:gridCol w="504150"/>
                <a:gridCol w="504150"/>
                <a:gridCol w="504150"/>
                <a:gridCol w="504150"/>
                <a:gridCol w="504150"/>
                <a:gridCol w="504150"/>
                <a:gridCol w="504150"/>
                <a:gridCol w="504150"/>
                <a:gridCol w="504150"/>
                <a:gridCol w="504150"/>
                <a:gridCol w="504150"/>
                <a:gridCol w="504150"/>
                <a:gridCol w="504150"/>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57</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
        <p:nvSpPr>
          <p:cNvPr id="1485" name="Google Shape;1485;p108"/>
          <p:cNvSpPr txBox="1"/>
          <p:nvPr/>
        </p:nvSpPr>
        <p:spPr>
          <a:xfrm>
            <a:off x="323995" y="1398925"/>
            <a:ext cx="8505000" cy="2484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2</a:t>
            </a:r>
            <a:r>
              <a:rPr lang="en-GB" sz="2000">
                <a:latin typeface="Kalam"/>
                <a:ea typeface="Kalam"/>
                <a:cs typeface="Kalam"/>
                <a:sym typeface="Kalam"/>
              </a:rPr>
              <a:t>a) </a:t>
            </a:r>
            <a:r>
              <a:rPr lang="en-GB" sz="2000">
                <a:solidFill>
                  <a:schemeClr val="dk1"/>
                </a:solidFill>
                <a:latin typeface="Kalam"/>
                <a:ea typeface="Kalam"/>
                <a:cs typeface="Kalam"/>
                <a:sym typeface="Kalam"/>
              </a:rPr>
              <a:t>mean ≈ 7.4          median = 3          mode = 3</a:t>
            </a:r>
            <a:endParaRPr sz="20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000">
                <a:latin typeface="Kalam"/>
                <a:ea typeface="Kalam"/>
                <a:cs typeface="Kalam"/>
                <a:sym typeface="Kalam"/>
              </a:rPr>
              <a:t>b) The median and mode are the most representative summaries. This is because they are both similar in value. 3 is by far the most frequent value, and is also the value in the middle of the data.</a:t>
            </a:r>
            <a:endParaRPr sz="2000">
              <a:latin typeface="Kalam"/>
              <a:ea typeface="Kalam"/>
              <a:cs typeface="Kalam"/>
              <a:sym typeface="Kalam"/>
            </a:endParaRPr>
          </a:p>
          <a:p>
            <a:pPr indent="0" lvl="0" marL="0" rtl="0" algn="l">
              <a:lnSpc>
                <a:spcPct val="115000"/>
              </a:lnSpc>
              <a:spcBef>
                <a:spcPts val="1000"/>
              </a:spcBef>
              <a:spcAft>
                <a:spcPts val="1000"/>
              </a:spcAft>
              <a:buNone/>
            </a:pPr>
            <a:r>
              <a:rPr lang="en-GB" sz="2000">
                <a:latin typeface="Kalam"/>
                <a:ea typeface="Kalam"/>
                <a:cs typeface="Kalam"/>
                <a:sym typeface="Kalam"/>
              </a:rPr>
              <a:t>c)The mean may still be useful because it shows how unbalanced the data points are. If all the values of the data points were added together and evenly distributed, then the value of many data points would change a lot.</a:t>
            </a:r>
            <a:endParaRPr sz="2000">
              <a:latin typeface="Kalam"/>
              <a:ea typeface="Kalam"/>
              <a:cs typeface="Kalam"/>
              <a:sym typeface="Kalam"/>
            </a:endParaRPr>
          </a:p>
        </p:txBody>
      </p:sp>
      <p:sp>
        <p:nvSpPr>
          <p:cNvPr id="1486" name="Google Shape;1486;p108"/>
          <p:cNvSpPr txBox="1"/>
          <p:nvPr/>
        </p:nvSpPr>
        <p:spPr>
          <a:xfrm>
            <a:off x="324038" y="810388"/>
            <a:ext cx="1171800" cy="381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lang="en-GB" sz="1800">
                <a:latin typeface="Lexend"/>
                <a:ea typeface="Lexend"/>
                <a:cs typeface="Lexend"/>
                <a:sym typeface="Lexend"/>
              </a:rPr>
              <a:t>data set</a:t>
            </a:r>
            <a:r>
              <a:rPr lang="en-GB" sz="1800">
                <a:latin typeface="Lexend"/>
                <a:ea typeface="Lexend"/>
                <a:cs typeface="Lexend"/>
                <a:sym typeface="Lexend"/>
              </a:rPr>
              <a:t> 1</a:t>
            </a:r>
            <a:endParaRPr sz="1800">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109"/>
          <p:cNvSpPr txBox="1"/>
          <p:nvPr/>
        </p:nvSpPr>
        <p:spPr>
          <a:xfrm>
            <a:off x="323995" y="1398925"/>
            <a:ext cx="8505000" cy="2484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2</a:t>
            </a:r>
            <a:r>
              <a:rPr lang="en-GB" sz="2000">
                <a:latin typeface="Kalam"/>
                <a:ea typeface="Kalam"/>
                <a:cs typeface="Kalam"/>
                <a:sym typeface="Kalam"/>
              </a:rPr>
              <a:t>a) </a:t>
            </a:r>
            <a:r>
              <a:rPr lang="en-GB" sz="2000">
                <a:solidFill>
                  <a:schemeClr val="dk1"/>
                </a:solidFill>
                <a:latin typeface="Kalam"/>
                <a:ea typeface="Kalam"/>
                <a:cs typeface="Kalam"/>
                <a:sym typeface="Kalam"/>
              </a:rPr>
              <a:t>mean ≈ 4.4          median = 4          mode = trimodal at 2, 4, 6</a:t>
            </a:r>
            <a:endParaRPr sz="2000">
              <a:solidFill>
                <a:schemeClr val="dk1"/>
              </a:solidFill>
              <a:latin typeface="Kalam"/>
              <a:ea typeface="Kalam"/>
              <a:cs typeface="Kalam"/>
              <a:sym typeface="Kalam"/>
            </a:endParaRPr>
          </a:p>
          <a:p>
            <a:pPr indent="0" lvl="0" marL="0" rtl="0" algn="l">
              <a:lnSpc>
                <a:spcPct val="115000"/>
              </a:lnSpc>
              <a:spcBef>
                <a:spcPts val="1000"/>
              </a:spcBef>
              <a:spcAft>
                <a:spcPts val="0"/>
              </a:spcAft>
              <a:buNone/>
            </a:pPr>
            <a:r>
              <a:rPr lang="en-GB" sz="2000">
                <a:latin typeface="Kalam"/>
                <a:ea typeface="Kalam"/>
                <a:cs typeface="Kalam"/>
                <a:sym typeface="Kalam"/>
              </a:rPr>
              <a:t>b) The median and mean are the most representative summaries. This is because they are both similar and represent data points close to the centre of the </a:t>
            </a:r>
            <a:r>
              <a:rPr lang="en-GB" sz="2000">
                <a:latin typeface="Kalam"/>
                <a:ea typeface="Kalam"/>
                <a:cs typeface="Kalam"/>
                <a:sym typeface="Kalam"/>
              </a:rPr>
              <a:t>data set</a:t>
            </a:r>
            <a:r>
              <a:rPr lang="en-GB" sz="2000">
                <a:latin typeface="Kalam"/>
                <a:ea typeface="Kalam"/>
                <a:cs typeface="Kalam"/>
                <a:sym typeface="Kalam"/>
              </a:rPr>
              <a:t>.</a:t>
            </a:r>
            <a:endParaRPr sz="2000">
              <a:latin typeface="Kalam"/>
              <a:ea typeface="Kalam"/>
              <a:cs typeface="Kalam"/>
              <a:sym typeface="Kalam"/>
            </a:endParaRPr>
          </a:p>
          <a:p>
            <a:pPr indent="0" lvl="0" marL="0" rtl="0" algn="l">
              <a:lnSpc>
                <a:spcPct val="115000"/>
              </a:lnSpc>
              <a:spcBef>
                <a:spcPts val="1000"/>
              </a:spcBef>
              <a:spcAft>
                <a:spcPts val="1000"/>
              </a:spcAft>
              <a:buNone/>
            </a:pPr>
            <a:r>
              <a:rPr lang="en-GB" sz="2000">
                <a:latin typeface="Kalam"/>
                <a:ea typeface="Kalam"/>
                <a:cs typeface="Kalam"/>
                <a:sym typeface="Kalam"/>
              </a:rPr>
              <a:t>c)The </a:t>
            </a:r>
            <a:r>
              <a:rPr lang="en-GB" sz="2000">
                <a:latin typeface="Kalam"/>
                <a:ea typeface="Kalam"/>
                <a:cs typeface="Kalam"/>
                <a:sym typeface="Kalam"/>
              </a:rPr>
              <a:t>data set</a:t>
            </a:r>
            <a:r>
              <a:rPr lang="en-GB" sz="2000">
                <a:latin typeface="Kalam"/>
                <a:ea typeface="Kalam"/>
                <a:cs typeface="Kalam"/>
                <a:sym typeface="Kalam"/>
              </a:rPr>
              <a:t> being trimodal means each mode may lose its significance, but it does show the </a:t>
            </a:r>
            <a:r>
              <a:rPr lang="en-GB" sz="2000">
                <a:latin typeface="Kalam"/>
                <a:ea typeface="Kalam"/>
                <a:cs typeface="Kalam"/>
                <a:sym typeface="Kalam"/>
              </a:rPr>
              <a:t>data set</a:t>
            </a:r>
            <a:r>
              <a:rPr lang="en-GB" sz="2000">
                <a:latin typeface="Kalam"/>
                <a:ea typeface="Kalam"/>
                <a:cs typeface="Kalam"/>
                <a:sym typeface="Kalam"/>
              </a:rPr>
              <a:t> does not have any value that is far more frequent than the others.</a:t>
            </a:r>
            <a:endParaRPr sz="2000">
              <a:latin typeface="Kalam"/>
              <a:ea typeface="Kalam"/>
              <a:cs typeface="Kalam"/>
              <a:sym typeface="Kalam"/>
            </a:endParaRPr>
          </a:p>
        </p:txBody>
      </p:sp>
      <p:sp>
        <p:nvSpPr>
          <p:cNvPr id="1492" name="Google Shape;1492;p10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Dealing with an unrepresentative median or mode</a:t>
            </a:r>
            <a:endParaRPr/>
          </a:p>
        </p:txBody>
      </p:sp>
      <p:graphicFrame>
        <p:nvGraphicFramePr>
          <p:cNvPr id="1493" name="Google Shape;1493;p109"/>
          <p:cNvGraphicFramePr/>
          <p:nvPr/>
        </p:nvGraphicFramePr>
        <p:xfrm>
          <a:off x="1761725" y="806075"/>
          <a:ext cx="3000000" cy="3000000"/>
        </p:xfrm>
        <a:graphic>
          <a:graphicData uri="http://schemas.openxmlformats.org/drawingml/2006/table">
            <a:tbl>
              <a:tblPr>
                <a:noFill/>
                <a:tableStyleId>{941F9DB1-44A7-4DC4-A338-CBB8A8854EF6}</a:tableStyleId>
              </a:tblPr>
              <a:tblGrid>
                <a:gridCol w="542925"/>
                <a:gridCol w="542925"/>
                <a:gridCol w="542925"/>
                <a:gridCol w="542925"/>
                <a:gridCol w="542925"/>
                <a:gridCol w="542925"/>
                <a:gridCol w="542925"/>
                <a:gridCol w="542925"/>
                <a:gridCol w="542925"/>
                <a:gridCol w="542925"/>
                <a:gridCol w="542925"/>
                <a:gridCol w="542925"/>
                <a:gridCol w="542925"/>
              </a:tblGrid>
              <a:tr h="3905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
        <p:nvSpPr>
          <p:cNvPr id="1494" name="Google Shape;1494;p109"/>
          <p:cNvSpPr txBox="1"/>
          <p:nvPr/>
        </p:nvSpPr>
        <p:spPr>
          <a:xfrm>
            <a:off x="324038" y="810388"/>
            <a:ext cx="1171800" cy="381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lang="en-GB" sz="1800">
                <a:latin typeface="Lexend"/>
                <a:ea typeface="Lexend"/>
                <a:cs typeface="Lexend"/>
                <a:sym typeface="Lexend"/>
              </a:rPr>
              <a:t>data set</a:t>
            </a:r>
            <a:r>
              <a:rPr lang="en-GB" sz="1800">
                <a:latin typeface="Lexend"/>
                <a:ea typeface="Lexend"/>
                <a:cs typeface="Lexend"/>
                <a:sym typeface="Lexend"/>
              </a:rPr>
              <a:t> 2</a:t>
            </a:r>
            <a:endParaRPr sz="1800">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10"/>
          <p:cNvSpPr txBox="1"/>
          <p:nvPr/>
        </p:nvSpPr>
        <p:spPr>
          <a:xfrm>
            <a:off x="324000" y="810000"/>
            <a:ext cx="8496000" cy="271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Acknowledging that the </a:t>
            </a:r>
            <a:r>
              <a:rPr b="1" lang="en-GB" sz="1800">
                <a:latin typeface="Lexend"/>
                <a:ea typeface="Lexend"/>
                <a:cs typeface="Lexend"/>
                <a:sym typeface="Lexend"/>
              </a:rPr>
              <a:t>mean</a:t>
            </a:r>
            <a:r>
              <a:rPr lang="en-GB" sz="1800">
                <a:latin typeface="Lexend"/>
                <a:ea typeface="Lexend"/>
                <a:cs typeface="Lexend"/>
                <a:sym typeface="Lexend"/>
              </a:rPr>
              <a:t>, </a:t>
            </a:r>
            <a:r>
              <a:rPr b="1" lang="en-GB" sz="1800">
                <a:latin typeface="Lexend"/>
                <a:ea typeface="Lexend"/>
                <a:cs typeface="Lexend"/>
                <a:sym typeface="Lexend"/>
              </a:rPr>
              <a:t>median</a:t>
            </a:r>
            <a:r>
              <a:rPr lang="en-GB" sz="1800">
                <a:latin typeface="Lexend"/>
                <a:ea typeface="Lexend"/>
                <a:cs typeface="Lexend"/>
                <a:sym typeface="Lexend"/>
              </a:rPr>
              <a:t>, and </a:t>
            </a:r>
            <a:r>
              <a:rPr b="1" lang="en-GB" sz="1800">
                <a:latin typeface="Lexend"/>
                <a:ea typeface="Lexend"/>
                <a:cs typeface="Lexend"/>
                <a:sym typeface="Lexend"/>
              </a:rPr>
              <a:t>mode</a:t>
            </a:r>
            <a:r>
              <a:rPr lang="en-GB" sz="1800">
                <a:latin typeface="Lexend"/>
                <a:ea typeface="Lexend"/>
                <a:cs typeface="Lexend"/>
                <a:sym typeface="Lexend"/>
              </a:rPr>
              <a:t> are all different summaries of </a:t>
            </a:r>
            <a:r>
              <a:rPr b="1" lang="en-GB" sz="1800">
                <a:latin typeface="Lexend"/>
                <a:ea typeface="Lexend"/>
                <a:cs typeface="Lexend"/>
                <a:sym typeface="Lexend"/>
              </a:rPr>
              <a:t>data</a:t>
            </a:r>
            <a:r>
              <a:rPr lang="en-GB" sz="1800">
                <a:latin typeface="Lexend"/>
                <a:ea typeface="Lexend"/>
                <a:cs typeface="Lexend"/>
                <a:sym typeface="Lexend"/>
              </a:rPr>
              <a:t>, and each can take on the same or different values to the others.</a:t>
            </a:r>
            <a:endParaRPr sz="1800">
              <a:latin typeface="Lexend"/>
              <a:ea typeface="Lexend"/>
              <a:cs typeface="Lexend"/>
              <a:sym typeface="Lexend"/>
            </a:endParaRPr>
          </a:p>
          <a:p>
            <a:pPr indent="0" lvl="0" marL="0" rtl="0" algn="l">
              <a:lnSpc>
                <a:spcPct val="115000"/>
              </a:lnSpc>
              <a:spcBef>
                <a:spcPts val="1000"/>
              </a:spcBef>
              <a:spcAft>
                <a:spcPts val="0"/>
              </a:spcAft>
              <a:buNone/>
            </a:pPr>
            <a:r>
              <a:rPr lang="en-GB" sz="1800">
                <a:latin typeface="Lexend"/>
                <a:ea typeface="Lexend"/>
                <a:cs typeface="Lexend"/>
                <a:sym typeface="Lexend"/>
              </a:rPr>
              <a:t>Understanding that sometimes the value of an average may deviate away from the other values. This is okay, as long as it has been calculated correctly. </a:t>
            </a:r>
            <a:endParaRPr sz="1800">
              <a:latin typeface="Lexend"/>
              <a:ea typeface="Lexend"/>
              <a:cs typeface="Lexend"/>
              <a:sym typeface="Lexend"/>
            </a:endParaRPr>
          </a:p>
          <a:p>
            <a:pPr indent="0" lvl="0" marL="0" rtl="0" algn="l">
              <a:lnSpc>
                <a:spcPct val="115000"/>
              </a:lnSpc>
              <a:spcBef>
                <a:spcPts val="1000"/>
              </a:spcBef>
              <a:spcAft>
                <a:spcPts val="0"/>
              </a:spcAft>
              <a:buNone/>
            </a:pPr>
            <a:r>
              <a:rPr lang="en-GB" sz="1800">
                <a:latin typeface="Lexend"/>
                <a:ea typeface="Lexend"/>
                <a:cs typeface="Lexend"/>
                <a:sym typeface="Lexend"/>
              </a:rPr>
              <a:t>Some averages may be more representative as summaries than others, and it is important to identify the representative averages for a given </a:t>
            </a:r>
            <a:r>
              <a:rPr b="1" lang="en-GB" sz="1800">
                <a:latin typeface="Lexend"/>
                <a:ea typeface="Lexend"/>
                <a:cs typeface="Lexend"/>
                <a:sym typeface="Lexend"/>
              </a:rPr>
              <a:t>data</a:t>
            </a:r>
            <a:r>
              <a:rPr lang="en-GB" sz="1800">
                <a:latin typeface="Lexend"/>
                <a:ea typeface="Lexend"/>
                <a:cs typeface="Lexend"/>
                <a:sym typeface="Lexend"/>
              </a:rPr>
              <a:t> set</a:t>
            </a:r>
            <a:r>
              <a:rPr lang="en-GB" sz="1800">
                <a:latin typeface="Lexend"/>
                <a:ea typeface="Lexend"/>
                <a:cs typeface="Lexend"/>
                <a:sym typeface="Lexend"/>
              </a:rPr>
              <a:t>.</a:t>
            </a:r>
            <a:endParaRPr sz="1800">
              <a:latin typeface="Lexend"/>
              <a:ea typeface="Lexend"/>
              <a:cs typeface="Lexend"/>
              <a:sym typeface="Lexend"/>
            </a:endParaRPr>
          </a:p>
          <a:p>
            <a:pPr indent="0" lvl="0" marL="0" rtl="0" algn="l">
              <a:lnSpc>
                <a:spcPct val="115000"/>
              </a:lnSpc>
              <a:spcBef>
                <a:spcPts val="1000"/>
              </a:spcBef>
              <a:spcAft>
                <a:spcPts val="1000"/>
              </a:spcAft>
              <a:buNone/>
            </a:pPr>
            <a:r>
              <a:rPr lang="en-GB" sz="1800">
                <a:latin typeface="Lexend"/>
                <a:ea typeface="Lexend"/>
                <a:cs typeface="Lexend"/>
                <a:sym typeface="Lexend"/>
              </a:rPr>
              <a:t>Acknowledging that an unrepresentative summary may still have usefulness to the </a:t>
            </a:r>
            <a:r>
              <a:rPr b="1" lang="en-GB" sz="1800">
                <a:latin typeface="Lexend"/>
                <a:ea typeface="Lexend"/>
                <a:cs typeface="Lexend"/>
                <a:sym typeface="Lexend"/>
              </a:rPr>
              <a:t>data</a:t>
            </a:r>
            <a:r>
              <a:rPr lang="en-GB" sz="1800">
                <a:latin typeface="Lexend"/>
                <a:ea typeface="Lexend"/>
                <a:cs typeface="Lexend"/>
                <a:sym typeface="Lexend"/>
              </a:rPr>
              <a:t> set</a:t>
            </a:r>
            <a:r>
              <a:rPr lang="en-GB" sz="1800">
                <a:latin typeface="Lexend"/>
                <a:ea typeface="Lexend"/>
                <a:cs typeface="Lexend"/>
                <a:sym typeface="Lexend"/>
              </a:rPr>
              <a:t> is an important part of considering the averages.</a:t>
            </a:r>
            <a:endParaRPr sz="1800">
              <a:latin typeface="Lexend"/>
              <a:ea typeface="Lexend"/>
              <a:cs typeface="Lexend"/>
              <a:sym typeface="Lexend"/>
            </a:endParaRPr>
          </a:p>
        </p:txBody>
      </p:sp>
      <p:sp>
        <p:nvSpPr>
          <p:cNvPr id="1500" name="Google Shape;1500;p110"/>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Summarising data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11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06" name="Google Shape;1506;p11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