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20E57F-BB28-40BA-92CF-FB20D5802EF3}">
  <a:tblStyle styleId="{0220E57F-BB28-40BA-92CF-FB20D5802EF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D845122-889A-4BEF-B4EB-29024A99EFC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954d1eb9a2_0_3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3" name="Google Shape;813;g2954d1eb9a2_0_3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954d1eb9a2_0_3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g2954d1eb9a2_0_3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954d1eb9a2_0_3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g2954d1eb9a2_0_3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954d1eb9a2_0_3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" name="Google Shape;829;g2954d1eb9a2_0_3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9fe4049c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g29fe4049c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954d1eb9a2_0_3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g2954d1eb9a2_0_3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954d1eb9a2_0_3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g2954d1eb9a2_0_3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954d1eb9a2_0_38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g2954d1eb9a2_0_3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2902eaaca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g32902eaac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954d1eb9a2_0_42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g2954d1eb9a2_0_4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954d1eb9a2_0_4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g2954d1eb9a2_0_4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954d1eb9a2_0_4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0" name="Google Shape;1070;g2954d1eb9a2_0_4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954d1eb9a2_0_4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9" name="Google Shape;1089;g2954d1eb9a2_0_4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2902eaaca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g32902eaaca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954d1eb9a2_0_4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g2954d1eb9a2_0_4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954d1eb9a2_0_4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5" name="Google Shape;1255;g2954d1eb9a2_0_4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2954d1eb9a2_0_4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3" name="Google Shape;1313;g2954d1eb9a2_0_4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2954d1eb9a2_0_4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2" name="Google Shape;1322;g2954d1eb9a2_0_4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2954d1eb9a2_0_4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6" name="Google Shape;1376;g2954d1eb9a2_0_4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2954d1eb9a2_0_4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2" name="Google Shape;1432;g2954d1eb9a2_0_4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954d1eb9a2_0_5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8" name="Google Shape;1488;g2954d1eb9a2_0_5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2954d1eb9a2_0_5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1" name="Google Shape;1541;g2954d1eb9a2_0_5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2954d1eb9a2_0_5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7" name="Google Shape;1597;g2954d1eb9a2_0_5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2954d1eb9a2_0_5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0" name="Google Shape;1650;g2954d1eb9a2_0_5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g2954d1eb9a2_0_5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6" name="Google Shape;1706;g2954d1eb9a2_0_5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2954d1eb9a2_0_5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0" name="Google Shape;1780;g2954d1eb9a2_0_5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2954d1eb9a2_0_5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6" name="Google Shape;1796;g2954d1eb9a2_0_5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2954d1eb9a2_0_5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5" name="Google Shape;1805;g2954d1eb9a2_0_5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2954d1eb9a2_0_5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4" name="Google Shape;1824;g2954d1eb9a2_0_5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2954d1eb9a2_0_5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6" name="Google Shape;1836;g2954d1eb9a2_0_5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2954d1eb9a2_0_5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1" name="Google Shape;1851;g2954d1eb9a2_0_5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g2954d1eb9a2_0_5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1" name="Google Shape;1861;g2954d1eb9a2_0_5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2954d1eb9a2_0_5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2" name="Google Shape;1872;g2954d1eb9a2_0_5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2954d1eb9a2_0_5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2" name="Google Shape;1882;g2954d1eb9a2_0_5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g2954d1eb9a2_0_5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1" name="Google Shape;1891;g2954d1eb9a2_0_5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3290875a95c_2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4" name="Google Shape;1904;g3290875a95c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3290875a95c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4" name="Google Shape;1924;g3290875a95c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g2954d1eb9a2_0_7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2" name="Google Shape;1942;g2954d1eb9a2_0_7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2954d1eb9a2_0_7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2954d1eb9a2_0_7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2954d1eb9a2_0_7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3" name="Google Shape;1983;g2954d1eb9a2_0_7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2954d1eb9a2_0_7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2954d1eb9a2_0_7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2954d1eb9a2_0_7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" name="Google Shape;2011;g2954d1eb9a2_0_7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2954d1eb9a2_0_7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2954d1eb9a2_0_7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g2954d1eb9a2_0_7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9" name="Google Shape;2059;g2954d1eb9a2_0_7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2954d1eb9a2_0_7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2954d1eb9a2_0_7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g2954d1eb9a2_0_7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6" name="Google Shape;2096;g2954d1eb9a2_0_7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2954d1eb9a2_0_6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6" name="Google Shape;2126;g2954d1eb9a2_0_6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2954d1eb9a2_0_6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2" name="Google Shape;2132;g2954d1eb9a2_0_6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5.png"/><Relationship Id="rId4" Type="http://schemas.openxmlformats.org/officeDocument/2006/relationships/image" Target="../media/image7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3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3.png"/><Relationship Id="rId4" Type="http://schemas.openxmlformats.org/officeDocument/2006/relationships/image" Target="../media/image33.png"/><Relationship Id="rId11" Type="http://schemas.openxmlformats.org/officeDocument/2006/relationships/image" Target="../media/image23.png"/><Relationship Id="rId10" Type="http://schemas.openxmlformats.org/officeDocument/2006/relationships/image" Target="../media/image34.png"/><Relationship Id="rId9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3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 1">
  <p:cSld name="CUSTOM_27_1_1_1_1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8" name="Google Shape;748;p6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4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4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1" name="Google Shape;751;p64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52" name="Google Shape;752;p64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53" name="Google Shape;753;p64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4" name="Google Shape;754;p6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 1">
  <p:cSld name="CUSTOM_3_2_1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6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65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6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6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6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2" name="Google Shape;762;p65"/>
          <p:cNvCxnSpPr>
            <a:endCxn id="763" idx="2"/>
          </p:cNvCxnSpPr>
          <p:nvPr/>
        </p:nvCxnSpPr>
        <p:spPr>
          <a:xfrm>
            <a:off x="647802" y="1841897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63" name="Google Shape;763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6" name="Google Shape;766;p6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7" name="Google Shape;767;p6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0" name="Google Shape;770;p65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 1">
  <p:cSld name="TITLE_AND_TWO_COLUMNS_1_1_5_1_3_1_1_2"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" name="Google Shape;774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7" name="Google Shape;777;p66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9" name="Google Shape;77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 1">
  <p:cSld name="TITLE_AND_TWO_COLUMNS_1_1_5_1_3_1_1_1_2">
    <p:bg>
      <p:bgPr>
        <a:solidFill>
          <a:srgbClr val="F3EEFB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 1">
  <p:cSld name="TITLE_AND_TWO_COLUMNS_1_1_5_1_3_1_1_1_1_3"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3" name="Google Shape;793;p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 1">
  <p:cSld name="TITLE_AND_TWO_COLUMNS_1_1_5_1_3_1_1_1_1_2_1">
    <p:bg>
      <p:bgPr>
        <a:solidFill>
          <a:srgbClr val="E6F2F2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1" name="Google Shape;801;p69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3" name="Google Shape;803;p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4" name="Google Shape;80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 1">
  <p:cSld name="TITLE_AND_TWO_COLUMNS_1_1_5_1_2_1_1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0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7" name="Google Shape;807;p7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7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9" name="Google Shape;809;p7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theme" Target="../theme/theme2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4.png"/><Relationship Id="rId4" Type="http://schemas.openxmlformats.org/officeDocument/2006/relationships/image" Target="../media/image43.png"/><Relationship Id="rId5" Type="http://schemas.openxmlformats.org/officeDocument/2006/relationships/image" Target="../media/image6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4.png"/><Relationship Id="rId4" Type="http://schemas.openxmlformats.org/officeDocument/2006/relationships/image" Target="../media/image43.png"/><Relationship Id="rId5" Type="http://schemas.openxmlformats.org/officeDocument/2006/relationships/image" Target="../media/image6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Relationship Id="rId4" Type="http://schemas.openxmlformats.org/officeDocument/2006/relationships/image" Target="../media/image6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Numerical summaries of data</a:t>
            </a:r>
            <a:endParaRPr/>
          </a:p>
        </p:txBody>
      </p:sp>
      <p:sp>
        <p:nvSpPr>
          <p:cNvPr id="816" name="Google Shape;816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Changing a data point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2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I can see how certain statistical measures may change as a result of changes in the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4"/>
          <p:cNvSpPr txBox="1"/>
          <p:nvPr>
            <p:ph idx="1" type="subTitle"/>
          </p:nvPr>
        </p:nvSpPr>
        <p:spPr>
          <a:xfrm>
            <a:off x="324000" y="744050"/>
            <a:ext cx="713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b="1" lang="en-GB" sz="2200"/>
              <a:t>bimodal</a:t>
            </a:r>
            <a:endParaRPr sz="2200"/>
          </a:p>
        </p:txBody>
      </p:sp>
      <p:sp>
        <p:nvSpPr>
          <p:cNvPr id="832" name="Google Shape;832;p74"/>
          <p:cNvSpPr txBox="1"/>
          <p:nvPr>
            <p:ph idx="2" type="subTitle"/>
          </p:nvPr>
        </p:nvSpPr>
        <p:spPr>
          <a:xfrm>
            <a:off x="324000" y="1675733"/>
            <a:ext cx="849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b="1" lang="en-GB" sz="2200"/>
              <a:t>mean</a:t>
            </a:r>
            <a:endParaRPr sz="2200"/>
          </a:p>
        </p:txBody>
      </p:sp>
      <p:sp>
        <p:nvSpPr>
          <p:cNvPr id="833" name="Google Shape;833;p74"/>
          <p:cNvSpPr txBox="1"/>
          <p:nvPr>
            <p:ph idx="2" type="subTitle"/>
          </p:nvPr>
        </p:nvSpPr>
        <p:spPr>
          <a:xfrm>
            <a:off x="324000" y="2858217"/>
            <a:ext cx="849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b="1" lang="en-GB" sz="2200"/>
              <a:t>median</a:t>
            </a:r>
            <a:endParaRPr sz="2200"/>
          </a:p>
        </p:txBody>
      </p:sp>
      <p:sp>
        <p:nvSpPr>
          <p:cNvPr id="834" name="Google Shape;834;p74"/>
          <p:cNvSpPr txBox="1"/>
          <p:nvPr>
            <p:ph idx="2" type="subTitle"/>
          </p:nvPr>
        </p:nvSpPr>
        <p:spPr>
          <a:xfrm>
            <a:off x="324000" y="3964500"/>
            <a:ext cx="849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b="1" lang="en-GB" sz="2200"/>
              <a:t>mode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5"/>
          <p:cNvSpPr txBox="1"/>
          <p:nvPr>
            <p:ph idx="1" type="subTitle"/>
          </p:nvPr>
        </p:nvSpPr>
        <p:spPr>
          <a:xfrm>
            <a:off x="324000" y="744050"/>
            <a:ext cx="7135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Sets of data which have two </a:t>
            </a:r>
            <a:r>
              <a:rPr b="1" lang="en-GB"/>
              <a:t>modes</a:t>
            </a:r>
            <a:r>
              <a:rPr lang="en-GB"/>
              <a:t> are known as </a:t>
            </a:r>
            <a:r>
              <a:rPr b="1" lang="en-GB"/>
              <a:t>bimodal</a:t>
            </a:r>
            <a:r>
              <a:rPr lang="en-GB"/>
              <a:t> data. </a:t>
            </a:r>
            <a:endParaRPr/>
          </a:p>
        </p:txBody>
      </p:sp>
      <p:sp>
        <p:nvSpPr>
          <p:cNvPr id="840" name="Google Shape;840;p75"/>
          <p:cNvSpPr txBox="1"/>
          <p:nvPr>
            <p:ph idx="2" type="subTitle"/>
          </p:nvPr>
        </p:nvSpPr>
        <p:spPr>
          <a:xfrm>
            <a:off x="324000" y="1523333"/>
            <a:ext cx="849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The (arithmetic) </a:t>
            </a:r>
            <a:r>
              <a:rPr b="1" lang="en-GB"/>
              <a:t>mean</a:t>
            </a:r>
            <a:r>
              <a:rPr lang="en-GB"/>
              <a:t> for a set of numerical data is the sum of the values divided by the number of values. It is a measure of central tendency representing the average of the values. </a:t>
            </a:r>
            <a:endParaRPr/>
          </a:p>
        </p:txBody>
      </p:sp>
      <p:sp>
        <p:nvSpPr>
          <p:cNvPr id="841" name="Google Shape;841;p75"/>
          <p:cNvSpPr txBox="1"/>
          <p:nvPr>
            <p:ph idx="2" type="subTitle"/>
          </p:nvPr>
        </p:nvSpPr>
        <p:spPr>
          <a:xfrm>
            <a:off x="324000" y="2705817"/>
            <a:ext cx="849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The </a:t>
            </a:r>
            <a:r>
              <a:rPr b="1" lang="en-GB"/>
              <a:t>median</a:t>
            </a:r>
            <a:r>
              <a:rPr lang="en-GB"/>
              <a:t> is the central (middle) piece of data when a set of numerical data is in numerical order. It is a measure of central tendency representing the average of the values. </a:t>
            </a:r>
            <a:endParaRPr/>
          </a:p>
        </p:txBody>
      </p:sp>
      <p:sp>
        <p:nvSpPr>
          <p:cNvPr id="842" name="Google Shape;842;p75"/>
          <p:cNvSpPr txBox="1"/>
          <p:nvPr>
            <p:ph idx="2" type="subTitle"/>
          </p:nvPr>
        </p:nvSpPr>
        <p:spPr>
          <a:xfrm>
            <a:off x="324000" y="3964500"/>
            <a:ext cx="849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The </a:t>
            </a:r>
            <a:r>
              <a:rPr b="1" lang="en-GB"/>
              <a:t>mode</a:t>
            </a:r>
            <a:r>
              <a:rPr lang="en-GB"/>
              <a:t> is the most frequent value. It is a measure of central tendency representing the average of the values.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sp>
        <p:nvSpPr>
          <p:cNvPr id="848" name="Google Shape;848;p7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sp>
        <p:nvSpPr>
          <p:cNvPr id="849" name="Google Shape;849;p7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Changing a data point</a:t>
            </a:r>
            <a:endParaRPr/>
          </a:p>
        </p:txBody>
      </p:sp>
      <p:sp>
        <p:nvSpPr>
          <p:cNvPr id="850" name="Google Shape;850;p7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pic>
        <p:nvPicPr>
          <p:cNvPr id="851" name="Google Shape;85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630" y="174471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7"/>
          <p:cNvSpPr txBox="1"/>
          <p:nvPr>
            <p:ph idx="1" type="body"/>
          </p:nvPr>
        </p:nvSpPr>
        <p:spPr>
          <a:xfrm>
            <a:off x="324000" y="759300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We will look at three similar situations during the lesson.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will happen to the </a:t>
            </a:r>
            <a:r>
              <a:rPr b="1" lang="en-GB" sz="1800"/>
              <a:t>mode</a:t>
            </a:r>
            <a:r>
              <a:rPr lang="en-GB" sz="1800"/>
              <a:t>, </a:t>
            </a:r>
            <a:r>
              <a:rPr b="1" lang="en-GB" sz="1800"/>
              <a:t>median</a:t>
            </a:r>
            <a:r>
              <a:rPr lang="en-GB" sz="1800"/>
              <a:t>, or </a:t>
            </a:r>
            <a:r>
              <a:rPr b="1" lang="en-GB" sz="1800"/>
              <a:t>mean</a:t>
            </a:r>
            <a:r>
              <a:rPr lang="en-GB" sz="1800"/>
              <a:t>, if:</a:t>
            </a:r>
            <a:endParaRPr sz="1800"/>
          </a:p>
        </p:txBody>
      </p:sp>
      <p:sp>
        <p:nvSpPr>
          <p:cNvPr id="857" name="Google Shape;85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sp>
        <p:nvSpPr>
          <p:cNvPr id="858" name="Google Shape;858;p77"/>
          <p:cNvSpPr txBox="1"/>
          <p:nvPr>
            <p:ph idx="1" type="body"/>
          </p:nvPr>
        </p:nvSpPr>
        <p:spPr>
          <a:xfrm>
            <a:off x="458600" y="1418400"/>
            <a:ext cx="7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value of a data point changes</a:t>
            </a:r>
            <a:endParaRPr sz="1800"/>
          </a:p>
        </p:txBody>
      </p:sp>
      <p:sp>
        <p:nvSpPr>
          <p:cNvPr id="859" name="Google Shape;859;p77"/>
          <p:cNvSpPr txBox="1"/>
          <p:nvPr>
            <p:ph idx="1" type="body"/>
          </p:nvPr>
        </p:nvSpPr>
        <p:spPr>
          <a:xfrm>
            <a:off x="324000" y="2741600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Whilst we cannot just freely alter data that we have collected, there are certain situations where:</a:t>
            </a:r>
            <a:endParaRPr sz="1800"/>
          </a:p>
        </p:txBody>
      </p:sp>
      <p:sp>
        <p:nvSpPr>
          <p:cNvPr id="860" name="Google Shape;860;p77"/>
          <p:cNvSpPr txBox="1"/>
          <p:nvPr>
            <p:ph idx="1" type="body"/>
          </p:nvPr>
        </p:nvSpPr>
        <p:spPr>
          <a:xfrm>
            <a:off x="458600" y="1811483"/>
            <a:ext cx="7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an extra data point needs to be included</a:t>
            </a:r>
            <a:endParaRPr sz="1800"/>
          </a:p>
        </p:txBody>
      </p:sp>
      <p:sp>
        <p:nvSpPr>
          <p:cNvPr id="861" name="Google Shape;861;p77"/>
          <p:cNvSpPr txBox="1"/>
          <p:nvPr>
            <p:ph idx="1" type="body"/>
          </p:nvPr>
        </p:nvSpPr>
        <p:spPr>
          <a:xfrm>
            <a:off x="458600" y="2204567"/>
            <a:ext cx="7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 data point is removed</a:t>
            </a:r>
            <a:endParaRPr sz="1800"/>
          </a:p>
        </p:txBody>
      </p:sp>
      <p:sp>
        <p:nvSpPr>
          <p:cNvPr id="862" name="Google Shape;862;p77"/>
          <p:cNvSpPr txBox="1"/>
          <p:nvPr>
            <p:ph idx="1" type="body"/>
          </p:nvPr>
        </p:nvSpPr>
        <p:spPr>
          <a:xfrm>
            <a:off x="458600" y="3393983"/>
            <a:ext cx="7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errors need to be corrected</a:t>
            </a:r>
            <a:endParaRPr sz="1800"/>
          </a:p>
        </p:txBody>
      </p:sp>
      <p:sp>
        <p:nvSpPr>
          <p:cNvPr id="863" name="Google Shape;863;p77"/>
          <p:cNvSpPr txBox="1"/>
          <p:nvPr>
            <p:ph idx="1" type="body"/>
          </p:nvPr>
        </p:nvSpPr>
        <p:spPr>
          <a:xfrm>
            <a:off x="458600" y="4459725"/>
            <a:ext cx="7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data needs to be added to simulate possible future data points</a:t>
            </a:r>
            <a:endParaRPr sz="1800"/>
          </a:p>
        </p:txBody>
      </p:sp>
      <p:sp>
        <p:nvSpPr>
          <p:cNvPr id="864" name="Google Shape;864;p77"/>
          <p:cNvSpPr txBox="1"/>
          <p:nvPr>
            <p:ph idx="1" type="body"/>
          </p:nvPr>
        </p:nvSpPr>
        <p:spPr>
          <a:xfrm>
            <a:off x="458600" y="3767554"/>
            <a:ext cx="7980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data points need to be removed if the source of that data is no longer relevant to the </a:t>
            </a:r>
            <a:r>
              <a:rPr lang="en-GB" sz="1800"/>
              <a:t>data set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8"/>
          <p:cNvSpPr txBox="1"/>
          <p:nvPr>
            <p:ph idx="1" type="body"/>
          </p:nvPr>
        </p:nvSpPr>
        <p:spPr>
          <a:xfrm>
            <a:off x="3260750" y="765900"/>
            <a:ext cx="17265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This </a:t>
            </a:r>
            <a:r>
              <a:rPr lang="en-GB" sz="1800"/>
              <a:t>data set</a:t>
            </a:r>
            <a:r>
              <a:rPr lang="en-GB" sz="1800"/>
              <a:t> can be represented as a dot plot.</a:t>
            </a:r>
            <a:endParaRPr sz="1800"/>
          </a:p>
        </p:txBody>
      </p:sp>
      <p:sp>
        <p:nvSpPr>
          <p:cNvPr id="870" name="Google Shape;87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grpSp>
        <p:nvGrpSpPr>
          <p:cNvPr id="871" name="Google Shape;871;p78"/>
          <p:cNvGrpSpPr/>
          <p:nvPr/>
        </p:nvGrpSpPr>
        <p:grpSpPr>
          <a:xfrm>
            <a:off x="5024600" y="765900"/>
            <a:ext cx="3795399" cy="2754850"/>
            <a:chOff x="5024600" y="765900"/>
            <a:chExt cx="3795399" cy="2754850"/>
          </a:xfrm>
        </p:grpSpPr>
        <p:pic>
          <p:nvPicPr>
            <p:cNvPr id="872" name="Google Shape;872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24600" y="765900"/>
              <a:ext cx="3795399" cy="275485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73" name="Google Shape;873;p78"/>
            <p:cNvSpPr/>
            <p:nvPr/>
          </p:nvSpPr>
          <p:spPr>
            <a:xfrm>
              <a:off x="6432803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4" name="Google Shape;874;p78"/>
            <p:cNvSpPr/>
            <p:nvPr/>
          </p:nvSpPr>
          <p:spPr>
            <a:xfrm>
              <a:off x="6432803" y="146249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5" name="Google Shape;875;p78"/>
            <p:cNvSpPr/>
            <p:nvPr/>
          </p:nvSpPr>
          <p:spPr>
            <a:xfrm>
              <a:off x="6432803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6" name="Google Shape;876;p78"/>
            <p:cNvSpPr/>
            <p:nvPr/>
          </p:nvSpPr>
          <p:spPr>
            <a:xfrm>
              <a:off x="6432803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7" name="Google Shape;877;p78"/>
            <p:cNvSpPr/>
            <p:nvPr/>
          </p:nvSpPr>
          <p:spPr>
            <a:xfrm>
              <a:off x="6432803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8" name="Google Shape;878;p78"/>
            <p:cNvSpPr/>
            <p:nvPr/>
          </p:nvSpPr>
          <p:spPr>
            <a:xfrm>
              <a:off x="6432803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9" name="Google Shape;879;p78"/>
            <p:cNvSpPr/>
            <p:nvPr/>
          </p:nvSpPr>
          <p:spPr>
            <a:xfrm>
              <a:off x="6432803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0" name="Google Shape;880;p78"/>
            <p:cNvSpPr/>
            <p:nvPr/>
          </p:nvSpPr>
          <p:spPr>
            <a:xfrm>
              <a:off x="6432803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1" name="Google Shape;881;p78"/>
            <p:cNvSpPr/>
            <p:nvPr/>
          </p:nvSpPr>
          <p:spPr>
            <a:xfrm>
              <a:off x="685909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2" name="Google Shape;882;p78"/>
            <p:cNvSpPr/>
            <p:nvPr/>
          </p:nvSpPr>
          <p:spPr>
            <a:xfrm>
              <a:off x="6859095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3" name="Google Shape;883;p78"/>
            <p:cNvSpPr/>
            <p:nvPr/>
          </p:nvSpPr>
          <p:spPr>
            <a:xfrm>
              <a:off x="6859095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4" name="Google Shape;884;p78"/>
            <p:cNvSpPr/>
            <p:nvPr/>
          </p:nvSpPr>
          <p:spPr>
            <a:xfrm>
              <a:off x="6859095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5" name="Google Shape;885;p78"/>
            <p:cNvSpPr/>
            <p:nvPr/>
          </p:nvSpPr>
          <p:spPr>
            <a:xfrm>
              <a:off x="6859095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6" name="Google Shape;886;p78"/>
            <p:cNvSpPr/>
            <p:nvPr/>
          </p:nvSpPr>
          <p:spPr>
            <a:xfrm>
              <a:off x="685909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7" name="Google Shape;887;p78"/>
            <p:cNvSpPr/>
            <p:nvPr/>
          </p:nvSpPr>
          <p:spPr>
            <a:xfrm>
              <a:off x="685909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8" name="Google Shape;888;p78"/>
            <p:cNvSpPr/>
            <p:nvPr/>
          </p:nvSpPr>
          <p:spPr>
            <a:xfrm>
              <a:off x="601144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9" name="Google Shape;889;p78"/>
            <p:cNvSpPr/>
            <p:nvPr/>
          </p:nvSpPr>
          <p:spPr>
            <a:xfrm>
              <a:off x="6011449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0" name="Google Shape;890;p78"/>
            <p:cNvSpPr/>
            <p:nvPr/>
          </p:nvSpPr>
          <p:spPr>
            <a:xfrm>
              <a:off x="6011449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1" name="Google Shape;891;p78"/>
            <p:cNvSpPr/>
            <p:nvPr/>
          </p:nvSpPr>
          <p:spPr>
            <a:xfrm>
              <a:off x="6011449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2" name="Google Shape;892;p78"/>
            <p:cNvSpPr/>
            <p:nvPr/>
          </p:nvSpPr>
          <p:spPr>
            <a:xfrm>
              <a:off x="6011449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3" name="Google Shape;893;p78"/>
            <p:cNvSpPr/>
            <p:nvPr/>
          </p:nvSpPr>
          <p:spPr>
            <a:xfrm>
              <a:off x="601144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4" name="Google Shape;894;p78"/>
            <p:cNvSpPr/>
            <p:nvPr/>
          </p:nvSpPr>
          <p:spPr>
            <a:xfrm>
              <a:off x="5586138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5" name="Google Shape;895;p78"/>
            <p:cNvSpPr/>
            <p:nvPr/>
          </p:nvSpPr>
          <p:spPr>
            <a:xfrm>
              <a:off x="5586138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6" name="Google Shape;896;p78"/>
            <p:cNvSpPr/>
            <p:nvPr/>
          </p:nvSpPr>
          <p:spPr>
            <a:xfrm>
              <a:off x="5586138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7" name="Google Shape;897;p78"/>
            <p:cNvSpPr/>
            <p:nvPr/>
          </p:nvSpPr>
          <p:spPr>
            <a:xfrm>
              <a:off x="5586138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8" name="Google Shape;898;p78"/>
            <p:cNvSpPr/>
            <p:nvPr/>
          </p:nvSpPr>
          <p:spPr>
            <a:xfrm>
              <a:off x="516580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9" name="Google Shape;899;p78"/>
            <p:cNvSpPr/>
            <p:nvPr/>
          </p:nvSpPr>
          <p:spPr>
            <a:xfrm>
              <a:off x="516580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0" name="Google Shape;900;p78"/>
            <p:cNvSpPr/>
            <p:nvPr/>
          </p:nvSpPr>
          <p:spPr>
            <a:xfrm>
              <a:off x="7278282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1" name="Google Shape;901;p78"/>
            <p:cNvSpPr/>
            <p:nvPr/>
          </p:nvSpPr>
          <p:spPr>
            <a:xfrm>
              <a:off x="7278282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2" name="Google Shape;902;p78"/>
            <p:cNvSpPr/>
            <p:nvPr/>
          </p:nvSpPr>
          <p:spPr>
            <a:xfrm>
              <a:off x="7278282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3" name="Google Shape;903;p78"/>
            <p:cNvSpPr/>
            <p:nvPr/>
          </p:nvSpPr>
          <p:spPr>
            <a:xfrm>
              <a:off x="7278282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4" name="Google Shape;904;p78"/>
            <p:cNvSpPr/>
            <p:nvPr/>
          </p:nvSpPr>
          <p:spPr>
            <a:xfrm>
              <a:off x="7705997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5" name="Google Shape;905;p78"/>
            <p:cNvSpPr/>
            <p:nvPr/>
          </p:nvSpPr>
          <p:spPr>
            <a:xfrm>
              <a:off x="7705997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6" name="Google Shape;906;p78"/>
            <p:cNvSpPr/>
            <p:nvPr/>
          </p:nvSpPr>
          <p:spPr>
            <a:xfrm>
              <a:off x="7705997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7" name="Google Shape;907;p78"/>
            <p:cNvSpPr/>
            <p:nvPr/>
          </p:nvSpPr>
          <p:spPr>
            <a:xfrm>
              <a:off x="812463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8" name="Google Shape;908;p78"/>
            <p:cNvSpPr/>
            <p:nvPr/>
          </p:nvSpPr>
          <p:spPr>
            <a:xfrm>
              <a:off x="812463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9" name="Google Shape;909;p78"/>
            <p:cNvSpPr/>
            <p:nvPr/>
          </p:nvSpPr>
          <p:spPr>
            <a:xfrm>
              <a:off x="812463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0" name="Google Shape;910;p78"/>
            <p:cNvSpPr/>
            <p:nvPr/>
          </p:nvSpPr>
          <p:spPr>
            <a:xfrm>
              <a:off x="8551300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1" name="Google Shape;911;p78"/>
          <p:cNvSpPr txBox="1"/>
          <p:nvPr>
            <p:ph idx="1" type="body"/>
          </p:nvPr>
        </p:nvSpPr>
        <p:spPr>
          <a:xfrm>
            <a:off x="295375" y="2791888"/>
            <a:ext cx="47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</a:t>
            </a:r>
            <a:r>
              <a:rPr lang="en-GB" sz="1800"/>
              <a:t>he </a:t>
            </a:r>
            <a:r>
              <a:rPr b="1" lang="en-GB" sz="1800"/>
              <a:t>mode</a:t>
            </a:r>
            <a:r>
              <a:rPr lang="en-GB" sz="1800"/>
              <a:t> is currently 4</a:t>
            </a:r>
            <a:endParaRPr sz="1800"/>
          </a:p>
        </p:txBody>
      </p:sp>
      <p:sp>
        <p:nvSpPr>
          <p:cNvPr id="912" name="Google Shape;912;p78"/>
          <p:cNvSpPr txBox="1"/>
          <p:nvPr>
            <p:ph idx="1" type="body"/>
          </p:nvPr>
        </p:nvSpPr>
        <p:spPr>
          <a:xfrm>
            <a:off x="295375" y="3289188"/>
            <a:ext cx="47292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would happen if the value of a data point had to be </a:t>
            </a:r>
            <a:r>
              <a:rPr lang="en-GB" sz="1800">
                <a:solidFill>
                  <a:srgbClr val="845AD9"/>
                </a:solidFill>
              </a:rPr>
              <a:t>modified</a:t>
            </a:r>
            <a:r>
              <a:rPr lang="en-GB" sz="1800"/>
              <a:t> </a:t>
            </a:r>
            <a:r>
              <a:rPr lang="en-GB" sz="1800"/>
              <a:t>d</a:t>
            </a:r>
            <a:r>
              <a:rPr lang="en-GB" sz="1800"/>
              <a:t>ue to an error?</a:t>
            </a:r>
            <a:endParaRPr sz="1800"/>
          </a:p>
        </p:txBody>
      </p:sp>
      <p:graphicFrame>
        <p:nvGraphicFramePr>
          <p:cNvPr id="913" name="Google Shape;913;p78"/>
          <p:cNvGraphicFramePr/>
          <p:nvPr/>
        </p:nvGraphicFramePr>
        <p:xfrm>
          <a:off x="295375" y="76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</a:tblGrid>
              <a:tr h="45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4" name="Google Shape;914;p78"/>
          <p:cNvSpPr txBox="1"/>
          <p:nvPr>
            <p:ph idx="1" type="body"/>
          </p:nvPr>
        </p:nvSpPr>
        <p:spPr>
          <a:xfrm>
            <a:off x="295375" y="4105100"/>
            <a:ext cx="47292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Visualise it as a dot on the dot plot moving </a:t>
            </a:r>
            <a:r>
              <a:rPr lang="en-GB" sz="1800"/>
              <a:t>location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915" name="Google Shape;915;p78"/>
          <p:cNvSpPr txBox="1"/>
          <p:nvPr>
            <p:ph idx="1" type="body"/>
          </p:nvPr>
        </p:nvSpPr>
        <p:spPr>
          <a:xfrm>
            <a:off x="5372475" y="3619625"/>
            <a:ext cx="3447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Can you move a dot to make the </a:t>
            </a:r>
            <a:r>
              <a:rPr b="1" lang="en-GB" sz="1800"/>
              <a:t>mode</a:t>
            </a:r>
            <a:r>
              <a:rPr lang="en-GB" sz="1800"/>
              <a:t> of 4 change?</a:t>
            </a:r>
            <a:endParaRPr sz="1800"/>
          </a:p>
        </p:txBody>
      </p:sp>
      <p:sp>
        <p:nvSpPr>
          <p:cNvPr id="916" name="Google Shape;916;p78"/>
          <p:cNvSpPr/>
          <p:nvPr/>
        </p:nvSpPr>
        <p:spPr>
          <a:xfrm>
            <a:off x="6432803" y="1250871"/>
            <a:ext cx="157500" cy="157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8"/>
          <p:cNvSpPr/>
          <p:nvPr/>
        </p:nvSpPr>
        <p:spPr>
          <a:xfrm>
            <a:off x="6420653" y="1242076"/>
            <a:ext cx="181800" cy="181800"/>
          </a:xfrm>
          <a:prstGeom prst="ellipse">
            <a:avLst/>
          </a:prstGeom>
          <a:solidFill>
            <a:srgbClr val="374CF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8"/>
          <p:cNvSpPr/>
          <p:nvPr/>
        </p:nvSpPr>
        <p:spPr>
          <a:xfrm>
            <a:off x="5573988" y="2073049"/>
            <a:ext cx="181800" cy="181800"/>
          </a:xfrm>
          <a:prstGeom prst="ellipse">
            <a:avLst/>
          </a:prstGeom>
          <a:solidFill>
            <a:srgbClr val="374CF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8"/>
          <p:cNvSpPr/>
          <p:nvPr/>
        </p:nvSpPr>
        <p:spPr>
          <a:xfrm>
            <a:off x="7693847" y="2284669"/>
            <a:ext cx="181800" cy="181800"/>
          </a:xfrm>
          <a:prstGeom prst="ellipse">
            <a:avLst/>
          </a:prstGeom>
          <a:solidFill>
            <a:srgbClr val="374CF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8"/>
          <p:cNvSpPr/>
          <p:nvPr/>
        </p:nvSpPr>
        <p:spPr>
          <a:xfrm>
            <a:off x="5999299" y="1661961"/>
            <a:ext cx="181800" cy="181800"/>
          </a:xfrm>
          <a:prstGeom prst="ellipse">
            <a:avLst/>
          </a:prstGeom>
          <a:solidFill>
            <a:srgbClr val="374CF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pic>
        <p:nvPicPr>
          <p:cNvPr id="926" name="Google Shape;92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828" y="885058"/>
            <a:ext cx="4489958" cy="32589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7" name="Google Shape;927;p79"/>
          <p:cNvSpPr/>
          <p:nvPr/>
        </p:nvSpPr>
        <p:spPr>
          <a:xfrm>
            <a:off x="2011732" y="3461546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9"/>
          <p:cNvSpPr/>
          <p:nvPr/>
        </p:nvSpPr>
        <p:spPr>
          <a:xfrm>
            <a:off x="2011732" y="1709125"/>
            <a:ext cx="186322" cy="186322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9"/>
          <p:cNvSpPr/>
          <p:nvPr/>
        </p:nvSpPr>
        <p:spPr>
          <a:xfrm>
            <a:off x="2011732" y="1959471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9"/>
          <p:cNvSpPr/>
          <p:nvPr/>
        </p:nvSpPr>
        <p:spPr>
          <a:xfrm>
            <a:off x="2011732" y="2209816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9"/>
          <p:cNvSpPr/>
          <p:nvPr/>
        </p:nvSpPr>
        <p:spPr>
          <a:xfrm>
            <a:off x="2011732" y="2460163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9"/>
          <p:cNvSpPr/>
          <p:nvPr/>
        </p:nvSpPr>
        <p:spPr>
          <a:xfrm>
            <a:off x="2011732" y="2710508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9"/>
          <p:cNvSpPr/>
          <p:nvPr/>
        </p:nvSpPr>
        <p:spPr>
          <a:xfrm>
            <a:off x="2011732" y="2960855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9"/>
          <p:cNvSpPr/>
          <p:nvPr/>
        </p:nvSpPr>
        <p:spPr>
          <a:xfrm>
            <a:off x="2011732" y="3211201"/>
            <a:ext cx="186322" cy="186323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9"/>
          <p:cNvSpPr/>
          <p:nvPr/>
        </p:nvSpPr>
        <p:spPr>
          <a:xfrm>
            <a:off x="2516035" y="3461546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9"/>
          <p:cNvSpPr/>
          <p:nvPr/>
        </p:nvSpPr>
        <p:spPr>
          <a:xfrm>
            <a:off x="2516035" y="1959471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9"/>
          <p:cNvSpPr/>
          <p:nvPr/>
        </p:nvSpPr>
        <p:spPr>
          <a:xfrm>
            <a:off x="2516035" y="2209816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9"/>
          <p:cNvSpPr/>
          <p:nvPr/>
        </p:nvSpPr>
        <p:spPr>
          <a:xfrm>
            <a:off x="2516035" y="2460163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9"/>
          <p:cNvSpPr/>
          <p:nvPr/>
        </p:nvSpPr>
        <p:spPr>
          <a:xfrm>
            <a:off x="2516035" y="2710508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9"/>
          <p:cNvSpPr/>
          <p:nvPr/>
        </p:nvSpPr>
        <p:spPr>
          <a:xfrm>
            <a:off x="2516035" y="2960855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9"/>
          <p:cNvSpPr/>
          <p:nvPr/>
        </p:nvSpPr>
        <p:spPr>
          <a:xfrm>
            <a:off x="2516035" y="3211201"/>
            <a:ext cx="186322" cy="186323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9"/>
          <p:cNvSpPr/>
          <p:nvPr/>
        </p:nvSpPr>
        <p:spPr>
          <a:xfrm>
            <a:off x="1513270" y="3461546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9"/>
          <p:cNvSpPr/>
          <p:nvPr/>
        </p:nvSpPr>
        <p:spPr>
          <a:xfrm>
            <a:off x="1513270" y="2209816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9"/>
          <p:cNvSpPr/>
          <p:nvPr/>
        </p:nvSpPr>
        <p:spPr>
          <a:xfrm>
            <a:off x="1513270" y="2460163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9"/>
          <p:cNvSpPr/>
          <p:nvPr/>
        </p:nvSpPr>
        <p:spPr>
          <a:xfrm>
            <a:off x="1513270" y="2710508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9"/>
          <p:cNvSpPr/>
          <p:nvPr/>
        </p:nvSpPr>
        <p:spPr>
          <a:xfrm>
            <a:off x="1513270" y="2960855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9"/>
          <p:cNvSpPr/>
          <p:nvPr/>
        </p:nvSpPr>
        <p:spPr>
          <a:xfrm>
            <a:off x="1513270" y="3211201"/>
            <a:ext cx="186322" cy="186323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9"/>
          <p:cNvSpPr/>
          <p:nvPr/>
        </p:nvSpPr>
        <p:spPr>
          <a:xfrm>
            <a:off x="1010127" y="3461546"/>
            <a:ext cx="186323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9"/>
          <p:cNvSpPr/>
          <p:nvPr/>
        </p:nvSpPr>
        <p:spPr>
          <a:xfrm>
            <a:off x="1010127" y="2710508"/>
            <a:ext cx="186323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9"/>
          <p:cNvSpPr/>
          <p:nvPr/>
        </p:nvSpPr>
        <p:spPr>
          <a:xfrm>
            <a:off x="1010127" y="2960855"/>
            <a:ext cx="186323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9"/>
          <p:cNvSpPr/>
          <p:nvPr/>
        </p:nvSpPr>
        <p:spPr>
          <a:xfrm>
            <a:off x="1010127" y="3211201"/>
            <a:ext cx="186323" cy="186323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9"/>
          <p:cNvSpPr/>
          <p:nvPr/>
        </p:nvSpPr>
        <p:spPr>
          <a:xfrm>
            <a:off x="512878" y="3461546"/>
            <a:ext cx="186323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9"/>
          <p:cNvSpPr/>
          <p:nvPr/>
        </p:nvSpPr>
        <p:spPr>
          <a:xfrm>
            <a:off x="512878" y="3211201"/>
            <a:ext cx="186323" cy="186323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9"/>
          <p:cNvSpPr/>
          <p:nvPr/>
        </p:nvSpPr>
        <p:spPr>
          <a:xfrm>
            <a:off x="3011933" y="3461546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9"/>
          <p:cNvSpPr/>
          <p:nvPr/>
        </p:nvSpPr>
        <p:spPr>
          <a:xfrm>
            <a:off x="3011933" y="2710508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9"/>
          <p:cNvSpPr/>
          <p:nvPr/>
        </p:nvSpPr>
        <p:spPr>
          <a:xfrm>
            <a:off x="3011933" y="2960855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9"/>
          <p:cNvSpPr/>
          <p:nvPr/>
        </p:nvSpPr>
        <p:spPr>
          <a:xfrm>
            <a:off x="3011933" y="3211201"/>
            <a:ext cx="186322" cy="186323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9"/>
          <p:cNvSpPr/>
          <p:nvPr/>
        </p:nvSpPr>
        <p:spPr>
          <a:xfrm>
            <a:off x="3517920" y="3461546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9"/>
          <p:cNvSpPr/>
          <p:nvPr/>
        </p:nvSpPr>
        <p:spPr>
          <a:xfrm>
            <a:off x="3517920" y="2960855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9"/>
          <p:cNvSpPr/>
          <p:nvPr/>
        </p:nvSpPr>
        <p:spPr>
          <a:xfrm>
            <a:off x="3517920" y="3211201"/>
            <a:ext cx="186322" cy="186323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9"/>
          <p:cNvSpPr/>
          <p:nvPr/>
        </p:nvSpPr>
        <p:spPr>
          <a:xfrm>
            <a:off x="4013169" y="3461546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9"/>
          <p:cNvSpPr/>
          <p:nvPr/>
        </p:nvSpPr>
        <p:spPr>
          <a:xfrm>
            <a:off x="4013169" y="2960855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9"/>
          <p:cNvSpPr/>
          <p:nvPr/>
        </p:nvSpPr>
        <p:spPr>
          <a:xfrm>
            <a:off x="4013169" y="3211201"/>
            <a:ext cx="186322" cy="186323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9"/>
          <p:cNvSpPr/>
          <p:nvPr/>
        </p:nvSpPr>
        <p:spPr>
          <a:xfrm>
            <a:off x="4517914" y="3461546"/>
            <a:ext cx="186322" cy="186322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9"/>
          <p:cNvSpPr txBox="1"/>
          <p:nvPr>
            <p:ph idx="1" type="body"/>
          </p:nvPr>
        </p:nvSpPr>
        <p:spPr>
          <a:xfrm>
            <a:off x="5415675" y="1367900"/>
            <a:ext cx="296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is the </a:t>
            </a:r>
            <a:r>
              <a:rPr b="1" lang="en-GB" sz="1800"/>
              <a:t>mode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966" name="Google Shape;966;p79"/>
          <p:cNvSpPr txBox="1"/>
          <p:nvPr>
            <p:ph idx="1" type="body"/>
          </p:nvPr>
        </p:nvSpPr>
        <p:spPr>
          <a:xfrm>
            <a:off x="5415675" y="2129900"/>
            <a:ext cx="296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is the </a:t>
            </a:r>
            <a:r>
              <a:rPr b="1" lang="en-GB" sz="1800"/>
              <a:t>mode </a:t>
            </a:r>
            <a:r>
              <a:rPr lang="en-GB" sz="1800"/>
              <a:t>now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967" name="Google Shape;967;p79"/>
          <p:cNvSpPr/>
          <p:nvPr/>
        </p:nvSpPr>
        <p:spPr>
          <a:xfrm>
            <a:off x="2502694" y="1698391"/>
            <a:ext cx="215100" cy="215100"/>
          </a:xfrm>
          <a:prstGeom prst="ellipse">
            <a:avLst/>
          </a:prstGeom>
          <a:solidFill>
            <a:srgbClr val="374CF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9"/>
          <p:cNvSpPr/>
          <p:nvPr/>
        </p:nvSpPr>
        <p:spPr>
          <a:xfrm>
            <a:off x="1997869" y="1698391"/>
            <a:ext cx="215100" cy="2151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9" name="Google Shape;969;p79"/>
          <p:cNvCxnSpPr/>
          <p:nvPr/>
        </p:nvCxnSpPr>
        <p:spPr>
          <a:xfrm flipH="1" rot="10800000">
            <a:off x="2714100" y="1230300"/>
            <a:ext cx="743100" cy="42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0" name="Google Shape;970;p79"/>
          <p:cNvSpPr txBox="1"/>
          <p:nvPr>
            <p:ph idx="1" type="body"/>
          </p:nvPr>
        </p:nvSpPr>
        <p:spPr>
          <a:xfrm>
            <a:off x="2729100" y="948425"/>
            <a:ext cx="296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Modified data point</a:t>
            </a:r>
            <a:endParaRPr sz="1600"/>
          </a:p>
        </p:txBody>
      </p:sp>
      <p:cxnSp>
        <p:nvCxnSpPr>
          <p:cNvPr id="971" name="Google Shape;971;p79"/>
          <p:cNvCxnSpPr/>
          <p:nvPr/>
        </p:nvCxnSpPr>
        <p:spPr>
          <a:xfrm>
            <a:off x="1524000" y="1266825"/>
            <a:ext cx="390600" cy="37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2" name="Google Shape;972;p79"/>
          <p:cNvSpPr txBox="1"/>
          <p:nvPr>
            <p:ph idx="1" type="body"/>
          </p:nvPr>
        </p:nvSpPr>
        <p:spPr>
          <a:xfrm>
            <a:off x="381225" y="946950"/>
            <a:ext cx="296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600"/>
              <a:t>Additional</a:t>
            </a:r>
            <a:r>
              <a:rPr lang="en-GB" sz="1600"/>
              <a:t> data point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80"/>
          <p:cNvSpPr txBox="1"/>
          <p:nvPr>
            <p:ph idx="1" type="body"/>
          </p:nvPr>
        </p:nvSpPr>
        <p:spPr>
          <a:xfrm>
            <a:off x="333000" y="2824650"/>
            <a:ext cx="8487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If one extra data point was collected and added to the data set, what value would it have to have in order for it to change the properties of the </a:t>
            </a:r>
            <a:r>
              <a:rPr b="1" lang="en-GB" sz="1800"/>
              <a:t>mode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978" name="Google Shape;97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sp>
        <p:nvSpPr>
          <p:cNvPr id="979" name="Google Shape;979;p80"/>
          <p:cNvSpPr txBox="1"/>
          <p:nvPr>
            <p:ph idx="1" type="body"/>
          </p:nvPr>
        </p:nvSpPr>
        <p:spPr>
          <a:xfrm>
            <a:off x="333000" y="1939799"/>
            <a:ext cx="427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is the </a:t>
            </a:r>
            <a:r>
              <a:rPr b="1" lang="en-GB" sz="1800"/>
              <a:t>mode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?</a:t>
            </a:r>
            <a:endParaRPr sz="1800"/>
          </a:p>
        </p:txBody>
      </p:sp>
      <p:graphicFrame>
        <p:nvGraphicFramePr>
          <p:cNvPr id="980" name="Google Shape;980;p80"/>
          <p:cNvGraphicFramePr/>
          <p:nvPr/>
        </p:nvGraphicFramePr>
        <p:xfrm>
          <a:off x="955050" y="84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602825"/>
                <a:gridCol w="602825"/>
                <a:gridCol w="602825"/>
                <a:gridCol w="602825"/>
                <a:gridCol w="602825"/>
                <a:gridCol w="602825"/>
                <a:gridCol w="602825"/>
                <a:gridCol w="602825"/>
                <a:gridCol w="602825"/>
                <a:gridCol w="602825"/>
                <a:gridCol w="602825"/>
                <a:gridCol w="602825"/>
              </a:tblGrid>
              <a:tr h="47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1" name="Google Shape;981;p80"/>
          <p:cNvSpPr/>
          <p:nvPr/>
        </p:nvSpPr>
        <p:spPr>
          <a:xfrm>
            <a:off x="2160700" y="844825"/>
            <a:ext cx="2411100" cy="47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0"/>
          <p:cNvSpPr txBox="1"/>
          <p:nvPr>
            <p:ph idx="1" type="body"/>
          </p:nvPr>
        </p:nvSpPr>
        <p:spPr>
          <a:xfrm>
            <a:off x="333000" y="2377824"/>
            <a:ext cx="797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most frequent value is 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3" name="Google Shape;983;p80"/>
          <p:cNvSpPr txBox="1"/>
          <p:nvPr>
            <p:ph idx="1" type="body"/>
          </p:nvPr>
        </p:nvSpPr>
        <p:spPr>
          <a:xfrm>
            <a:off x="312575" y="3595822"/>
            <a:ext cx="797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would have to be either a 7 or an 8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80"/>
          <p:cNvSpPr/>
          <p:nvPr/>
        </p:nvSpPr>
        <p:spPr>
          <a:xfrm>
            <a:off x="4568850" y="844825"/>
            <a:ext cx="1811700" cy="47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0"/>
          <p:cNvSpPr/>
          <p:nvPr/>
        </p:nvSpPr>
        <p:spPr>
          <a:xfrm>
            <a:off x="6380550" y="844825"/>
            <a:ext cx="1811700" cy="47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80"/>
          <p:cNvSpPr txBox="1"/>
          <p:nvPr>
            <p:ph idx="1" type="body"/>
          </p:nvPr>
        </p:nvSpPr>
        <p:spPr>
          <a:xfrm>
            <a:off x="312575" y="4002794"/>
            <a:ext cx="79740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a 7 or an 8 was added, then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data set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would become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bimodal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it was any other number,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mode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would not change.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987" name="Google Shape;987;p80"/>
          <p:cNvGraphicFramePr/>
          <p:nvPr/>
        </p:nvGraphicFramePr>
        <p:xfrm>
          <a:off x="955050" y="138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602825"/>
                <a:gridCol w="602825"/>
                <a:gridCol w="602825"/>
                <a:gridCol w="602825"/>
                <a:gridCol w="602825"/>
                <a:gridCol w="602825"/>
                <a:gridCol w="602825"/>
                <a:gridCol w="602825"/>
                <a:gridCol w="602825"/>
                <a:gridCol w="602825"/>
                <a:gridCol w="602825"/>
                <a:gridCol w="602825"/>
              </a:tblGrid>
              <a:tr h="47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88" name="Google Shape;988;p80"/>
          <p:cNvGraphicFramePr/>
          <p:nvPr/>
        </p:nvGraphicFramePr>
        <p:xfrm>
          <a:off x="8187427" y="138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602825"/>
              </a:tblGrid>
              <a:tr h="47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989" name="Google Shape;989;p80"/>
          <p:cNvSpPr/>
          <p:nvPr/>
        </p:nvSpPr>
        <p:spPr>
          <a:xfrm>
            <a:off x="2160700" y="1384775"/>
            <a:ext cx="2411100" cy="47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80"/>
          <p:cNvSpPr/>
          <p:nvPr/>
        </p:nvSpPr>
        <p:spPr>
          <a:xfrm>
            <a:off x="6380550" y="1384800"/>
            <a:ext cx="2411100" cy="47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pic>
        <p:nvPicPr>
          <p:cNvPr id="996" name="Google Shape;996;p81"/>
          <p:cNvPicPr preferRelativeResize="0"/>
          <p:nvPr/>
        </p:nvPicPr>
        <p:blipFill rotWithShape="1">
          <a:blip r:embed="rId3">
            <a:alphaModFix/>
          </a:blip>
          <a:srcRect b="0" l="0" r="0" t="14258"/>
          <a:stretch/>
        </p:blipFill>
        <p:spPr>
          <a:xfrm>
            <a:off x="4736931" y="762301"/>
            <a:ext cx="4083069" cy="2541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7" name="Google Shape;997;p81"/>
          <p:cNvSpPr txBox="1"/>
          <p:nvPr>
            <p:ph idx="1" type="body"/>
          </p:nvPr>
        </p:nvSpPr>
        <p:spPr>
          <a:xfrm>
            <a:off x="371575" y="765450"/>
            <a:ext cx="4208700" cy="21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If an extra data point had to be added, what value must it have in order to change the </a:t>
            </a:r>
            <a:r>
              <a:rPr b="1" lang="en-GB" sz="1800"/>
              <a:t>mode</a:t>
            </a:r>
            <a:r>
              <a:rPr lang="en-GB" sz="1800"/>
              <a:t> of the data set?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And to what would the </a:t>
            </a:r>
            <a:r>
              <a:rPr b="1" lang="en-GB" sz="1800"/>
              <a:t>mode</a:t>
            </a:r>
            <a:r>
              <a:rPr lang="en-GB" sz="1800"/>
              <a:t> change into?</a:t>
            </a:r>
            <a:endParaRPr sz="1800"/>
          </a:p>
        </p:txBody>
      </p:sp>
      <p:sp>
        <p:nvSpPr>
          <p:cNvPr id="998" name="Google Shape;998;p81"/>
          <p:cNvSpPr/>
          <p:nvPr/>
        </p:nvSpPr>
        <p:spPr>
          <a:xfrm>
            <a:off x="6251875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1"/>
          <p:cNvSpPr/>
          <p:nvPr/>
        </p:nvSpPr>
        <p:spPr>
          <a:xfrm>
            <a:off x="6251875" y="177215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1"/>
          <p:cNvSpPr/>
          <p:nvPr/>
        </p:nvSpPr>
        <p:spPr>
          <a:xfrm>
            <a:off x="6251875" y="1999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1"/>
          <p:cNvSpPr/>
          <p:nvPr/>
        </p:nvSpPr>
        <p:spPr>
          <a:xfrm>
            <a:off x="6251875" y="2227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1"/>
          <p:cNvSpPr/>
          <p:nvPr/>
        </p:nvSpPr>
        <p:spPr>
          <a:xfrm>
            <a:off x="6251875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1"/>
          <p:cNvSpPr/>
          <p:nvPr/>
        </p:nvSpPr>
        <p:spPr>
          <a:xfrm>
            <a:off x="6710476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1"/>
          <p:cNvSpPr/>
          <p:nvPr/>
        </p:nvSpPr>
        <p:spPr>
          <a:xfrm>
            <a:off x="6710476" y="177215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1"/>
          <p:cNvSpPr/>
          <p:nvPr/>
        </p:nvSpPr>
        <p:spPr>
          <a:xfrm>
            <a:off x="6710476" y="1999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81"/>
          <p:cNvSpPr/>
          <p:nvPr/>
        </p:nvSpPr>
        <p:spPr>
          <a:xfrm>
            <a:off x="6710476" y="2227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1"/>
          <p:cNvSpPr/>
          <p:nvPr/>
        </p:nvSpPr>
        <p:spPr>
          <a:xfrm>
            <a:off x="6710476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81"/>
          <p:cNvSpPr/>
          <p:nvPr/>
        </p:nvSpPr>
        <p:spPr>
          <a:xfrm>
            <a:off x="5798948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1"/>
          <p:cNvSpPr/>
          <p:nvPr/>
        </p:nvSpPr>
        <p:spPr>
          <a:xfrm>
            <a:off x="5798948" y="2227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1"/>
          <p:cNvSpPr/>
          <p:nvPr/>
        </p:nvSpPr>
        <p:spPr>
          <a:xfrm>
            <a:off x="5798948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1"/>
          <p:cNvSpPr/>
          <p:nvPr/>
        </p:nvSpPr>
        <p:spPr>
          <a:xfrm>
            <a:off x="5340549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1"/>
          <p:cNvSpPr/>
          <p:nvPr/>
        </p:nvSpPr>
        <p:spPr>
          <a:xfrm>
            <a:off x="5340549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81"/>
          <p:cNvSpPr/>
          <p:nvPr/>
        </p:nvSpPr>
        <p:spPr>
          <a:xfrm>
            <a:off x="4889495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81"/>
          <p:cNvSpPr/>
          <p:nvPr/>
        </p:nvSpPr>
        <p:spPr>
          <a:xfrm>
            <a:off x="7161019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81"/>
          <p:cNvSpPr/>
          <p:nvPr/>
        </p:nvSpPr>
        <p:spPr>
          <a:xfrm>
            <a:off x="6251869" y="131683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81"/>
          <p:cNvSpPr/>
          <p:nvPr/>
        </p:nvSpPr>
        <p:spPr>
          <a:xfrm>
            <a:off x="6251869" y="1544493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1"/>
          <p:cNvSpPr/>
          <p:nvPr/>
        </p:nvSpPr>
        <p:spPr>
          <a:xfrm>
            <a:off x="7161019" y="177215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81"/>
          <p:cNvSpPr/>
          <p:nvPr/>
        </p:nvSpPr>
        <p:spPr>
          <a:xfrm>
            <a:off x="7161019" y="1999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1"/>
          <p:cNvSpPr/>
          <p:nvPr/>
        </p:nvSpPr>
        <p:spPr>
          <a:xfrm>
            <a:off x="7161019" y="2227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1"/>
          <p:cNvSpPr/>
          <p:nvPr/>
        </p:nvSpPr>
        <p:spPr>
          <a:xfrm>
            <a:off x="7161019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1"/>
          <p:cNvSpPr/>
          <p:nvPr/>
        </p:nvSpPr>
        <p:spPr>
          <a:xfrm>
            <a:off x="7620338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1"/>
          <p:cNvSpPr/>
          <p:nvPr/>
        </p:nvSpPr>
        <p:spPr>
          <a:xfrm>
            <a:off x="6251879" y="86152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1"/>
          <p:cNvSpPr/>
          <p:nvPr/>
        </p:nvSpPr>
        <p:spPr>
          <a:xfrm>
            <a:off x="6251879" y="108917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1"/>
          <p:cNvSpPr/>
          <p:nvPr/>
        </p:nvSpPr>
        <p:spPr>
          <a:xfrm>
            <a:off x="7620338" y="177215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1"/>
          <p:cNvSpPr/>
          <p:nvPr/>
        </p:nvSpPr>
        <p:spPr>
          <a:xfrm>
            <a:off x="7620338" y="1999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1"/>
          <p:cNvSpPr/>
          <p:nvPr/>
        </p:nvSpPr>
        <p:spPr>
          <a:xfrm>
            <a:off x="7620338" y="2227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1"/>
          <p:cNvSpPr/>
          <p:nvPr/>
        </p:nvSpPr>
        <p:spPr>
          <a:xfrm>
            <a:off x="7620338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1"/>
          <p:cNvSpPr/>
          <p:nvPr/>
        </p:nvSpPr>
        <p:spPr>
          <a:xfrm>
            <a:off x="8072181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1"/>
          <p:cNvSpPr/>
          <p:nvPr/>
        </p:nvSpPr>
        <p:spPr>
          <a:xfrm>
            <a:off x="8072181" y="108917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1"/>
          <p:cNvSpPr/>
          <p:nvPr/>
        </p:nvSpPr>
        <p:spPr>
          <a:xfrm>
            <a:off x="8072181" y="131683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81"/>
          <p:cNvSpPr/>
          <p:nvPr/>
        </p:nvSpPr>
        <p:spPr>
          <a:xfrm>
            <a:off x="8072181" y="1544493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1"/>
          <p:cNvSpPr/>
          <p:nvPr/>
        </p:nvSpPr>
        <p:spPr>
          <a:xfrm>
            <a:off x="8072181" y="177215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1"/>
          <p:cNvSpPr/>
          <p:nvPr/>
        </p:nvSpPr>
        <p:spPr>
          <a:xfrm>
            <a:off x="8072181" y="1999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1"/>
          <p:cNvSpPr/>
          <p:nvPr/>
        </p:nvSpPr>
        <p:spPr>
          <a:xfrm>
            <a:off x="8072181" y="2227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1"/>
          <p:cNvSpPr/>
          <p:nvPr/>
        </p:nvSpPr>
        <p:spPr>
          <a:xfrm>
            <a:off x="8072181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1"/>
          <p:cNvSpPr/>
          <p:nvPr/>
        </p:nvSpPr>
        <p:spPr>
          <a:xfrm>
            <a:off x="8529683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1"/>
          <p:cNvSpPr/>
          <p:nvPr/>
        </p:nvSpPr>
        <p:spPr>
          <a:xfrm>
            <a:off x="8529683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8" name="Google Shape;1038;p81"/>
          <p:cNvGrpSpPr/>
          <p:nvPr/>
        </p:nvGrpSpPr>
        <p:grpSpPr>
          <a:xfrm>
            <a:off x="323998" y="3413052"/>
            <a:ext cx="386288" cy="386288"/>
            <a:chOff x="1020916" y="1442088"/>
            <a:chExt cx="457200" cy="457200"/>
          </a:xfrm>
        </p:grpSpPr>
        <p:pic>
          <p:nvPicPr>
            <p:cNvPr id="1039" name="Google Shape;1039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0" name="Google Shape;1040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1" name="Google Shape;1041;p81"/>
          <p:cNvSpPr txBox="1"/>
          <p:nvPr/>
        </p:nvSpPr>
        <p:spPr>
          <a:xfrm>
            <a:off x="809200" y="3467613"/>
            <a:ext cx="226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a 4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2" name="Google Shape;1042;p81"/>
          <p:cNvGrpSpPr/>
          <p:nvPr/>
        </p:nvGrpSpPr>
        <p:grpSpPr>
          <a:xfrm>
            <a:off x="323998" y="3907602"/>
            <a:ext cx="386288" cy="386288"/>
            <a:chOff x="1020916" y="1442088"/>
            <a:chExt cx="457200" cy="457200"/>
          </a:xfrm>
        </p:grpSpPr>
        <p:pic>
          <p:nvPicPr>
            <p:cNvPr id="1043" name="Google Shape;1043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5" name="Google Shape;1045;p81"/>
          <p:cNvGrpSpPr/>
          <p:nvPr/>
        </p:nvGrpSpPr>
        <p:grpSpPr>
          <a:xfrm>
            <a:off x="323998" y="4402152"/>
            <a:ext cx="386288" cy="386288"/>
            <a:chOff x="1020916" y="1442088"/>
            <a:chExt cx="457200" cy="457200"/>
          </a:xfrm>
        </p:grpSpPr>
        <p:pic>
          <p:nvPicPr>
            <p:cNvPr id="1046" name="Google Shape;1046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8" name="Google Shape;1048;p81"/>
          <p:cNvSpPr txBox="1"/>
          <p:nvPr/>
        </p:nvSpPr>
        <p:spPr>
          <a:xfrm>
            <a:off x="809200" y="4456713"/>
            <a:ext cx="22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 an 8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9" name="Google Shape;1049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7133" y="38912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81"/>
          <p:cNvSpPr txBox="1"/>
          <p:nvPr/>
        </p:nvSpPr>
        <p:spPr>
          <a:xfrm>
            <a:off x="809200" y="3962163"/>
            <a:ext cx="22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 a 6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1" name="Google Shape;1051;p81"/>
          <p:cNvGrpSpPr/>
          <p:nvPr/>
        </p:nvGrpSpPr>
        <p:grpSpPr>
          <a:xfrm>
            <a:off x="3889223" y="3413052"/>
            <a:ext cx="386288" cy="386288"/>
            <a:chOff x="1020916" y="1442088"/>
            <a:chExt cx="457200" cy="457200"/>
          </a:xfrm>
        </p:grpSpPr>
        <p:pic>
          <p:nvPicPr>
            <p:cNvPr id="1052" name="Google Shape;1052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3" name="Google Shape;1053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4" name="Google Shape;1054;p81"/>
          <p:cNvGrpSpPr/>
          <p:nvPr/>
        </p:nvGrpSpPr>
        <p:grpSpPr>
          <a:xfrm>
            <a:off x="3889223" y="3907602"/>
            <a:ext cx="386288" cy="386288"/>
            <a:chOff x="1020916" y="1442088"/>
            <a:chExt cx="457200" cy="457200"/>
          </a:xfrm>
        </p:grpSpPr>
        <p:pic>
          <p:nvPicPr>
            <p:cNvPr id="1055" name="Google Shape;1055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6" name="Google Shape;1056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7" name="Google Shape;1057;p81"/>
          <p:cNvGrpSpPr/>
          <p:nvPr/>
        </p:nvGrpSpPr>
        <p:grpSpPr>
          <a:xfrm>
            <a:off x="3889223" y="4402152"/>
            <a:ext cx="386288" cy="386288"/>
            <a:chOff x="1020916" y="1442088"/>
            <a:chExt cx="457200" cy="457200"/>
          </a:xfrm>
        </p:grpSpPr>
        <p:pic>
          <p:nvPicPr>
            <p:cNvPr id="1058" name="Google Shape;1058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9" name="Google Shape;1059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0" name="Google Shape;1060;p81"/>
          <p:cNvSpPr txBox="1"/>
          <p:nvPr/>
        </p:nvSpPr>
        <p:spPr>
          <a:xfrm>
            <a:off x="4374425" y="4456725"/>
            <a:ext cx="316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becomes </a:t>
            </a:r>
            <a:r>
              <a:rPr b="1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bimodal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1"/>
          <p:cNvSpPr txBox="1"/>
          <p:nvPr/>
        </p:nvSpPr>
        <p:spPr>
          <a:xfrm>
            <a:off x="4374425" y="3962175"/>
            <a:ext cx="295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becomes 8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2" name="Google Shape;1062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8858" y="438576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81"/>
          <p:cNvSpPr/>
          <p:nvPr/>
        </p:nvSpPr>
        <p:spPr>
          <a:xfrm>
            <a:off x="7162026" y="131685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1"/>
          <p:cNvSpPr/>
          <p:nvPr/>
        </p:nvSpPr>
        <p:spPr>
          <a:xfrm>
            <a:off x="7162026" y="15445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1"/>
          <p:cNvSpPr/>
          <p:nvPr/>
        </p:nvSpPr>
        <p:spPr>
          <a:xfrm>
            <a:off x="7162026" y="108920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6" name="Google Shape;1066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7133" y="43857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81"/>
          <p:cNvSpPr txBox="1"/>
          <p:nvPr/>
        </p:nvSpPr>
        <p:spPr>
          <a:xfrm>
            <a:off x="4374425" y="3467625"/>
            <a:ext cx="295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becomes 6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sp>
        <p:nvSpPr>
          <p:cNvPr id="1073" name="Google Shape;1073;p82"/>
          <p:cNvSpPr txBox="1"/>
          <p:nvPr>
            <p:ph idx="1" type="body"/>
          </p:nvPr>
        </p:nvSpPr>
        <p:spPr>
          <a:xfrm>
            <a:off x="295375" y="1451250"/>
            <a:ext cx="85245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mode</a:t>
            </a:r>
            <a:r>
              <a:rPr lang="en-GB" sz="1800"/>
              <a:t> is currently 17.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Match the statements about changing, adding, or removing a data point to its effect on the </a:t>
            </a:r>
            <a:r>
              <a:rPr b="1" lang="en-GB" sz="1800"/>
              <a:t>mode</a:t>
            </a:r>
            <a:r>
              <a:rPr lang="en-GB" sz="1800"/>
              <a:t> of the data set.</a:t>
            </a:r>
            <a:endParaRPr sz="1800"/>
          </a:p>
        </p:txBody>
      </p:sp>
      <p:graphicFrame>
        <p:nvGraphicFramePr>
          <p:cNvPr id="1074" name="Google Shape;1074;p82"/>
          <p:cNvGraphicFramePr/>
          <p:nvPr/>
        </p:nvGraphicFramePr>
        <p:xfrm>
          <a:off x="1690688" y="802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5" name="Google Shape;1075;p82"/>
          <p:cNvSpPr/>
          <p:nvPr/>
        </p:nvSpPr>
        <p:spPr>
          <a:xfrm>
            <a:off x="1690550" y="802275"/>
            <a:ext cx="1571700" cy="35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2"/>
          <p:cNvSpPr/>
          <p:nvPr/>
        </p:nvSpPr>
        <p:spPr>
          <a:xfrm>
            <a:off x="3262325" y="802313"/>
            <a:ext cx="1571700" cy="35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2"/>
          <p:cNvSpPr/>
          <p:nvPr/>
        </p:nvSpPr>
        <p:spPr>
          <a:xfrm>
            <a:off x="5357825" y="802275"/>
            <a:ext cx="2095500" cy="35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2"/>
          <p:cNvSpPr txBox="1"/>
          <p:nvPr/>
        </p:nvSpPr>
        <p:spPr>
          <a:xfrm>
            <a:off x="5843025" y="2859650"/>
            <a:ext cx="297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doesn’t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change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2"/>
          <p:cNvSpPr txBox="1"/>
          <p:nvPr/>
        </p:nvSpPr>
        <p:spPr>
          <a:xfrm>
            <a:off x="5843025" y="3848750"/>
            <a:ext cx="28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 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becomes trimodal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2"/>
          <p:cNvSpPr txBox="1"/>
          <p:nvPr/>
        </p:nvSpPr>
        <p:spPr>
          <a:xfrm>
            <a:off x="5843025" y="3354200"/>
            <a:ext cx="28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 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becomes bimodal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2"/>
          <p:cNvSpPr txBox="1"/>
          <p:nvPr/>
        </p:nvSpPr>
        <p:spPr>
          <a:xfrm>
            <a:off x="1204053" y="2859625"/>
            <a:ext cx="28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the data point 15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2"/>
          <p:cNvSpPr txBox="1"/>
          <p:nvPr/>
        </p:nvSpPr>
        <p:spPr>
          <a:xfrm>
            <a:off x="1204053" y="3848725"/>
            <a:ext cx="28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modify 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13 to a 16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2"/>
          <p:cNvSpPr txBox="1"/>
          <p:nvPr/>
        </p:nvSpPr>
        <p:spPr>
          <a:xfrm>
            <a:off x="1204053" y="3354175"/>
            <a:ext cx="28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the data point 17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4" name="Google Shape;1084;p82"/>
          <p:cNvCxnSpPr>
            <a:stCxn id="1081" idx="3"/>
            <a:endCxn id="1080" idx="1"/>
          </p:cNvCxnSpPr>
          <p:nvPr/>
        </p:nvCxnSpPr>
        <p:spPr>
          <a:xfrm>
            <a:off x="4035453" y="2998225"/>
            <a:ext cx="1807500" cy="494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82"/>
          <p:cNvCxnSpPr>
            <a:stCxn id="1083" idx="3"/>
            <a:endCxn id="1079" idx="1"/>
          </p:cNvCxnSpPr>
          <p:nvPr/>
        </p:nvCxnSpPr>
        <p:spPr>
          <a:xfrm>
            <a:off x="4035453" y="3492775"/>
            <a:ext cx="1807500" cy="494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82"/>
          <p:cNvCxnSpPr>
            <a:stCxn id="1082" idx="3"/>
            <a:endCxn id="1078" idx="1"/>
          </p:cNvCxnSpPr>
          <p:nvPr/>
        </p:nvCxnSpPr>
        <p:spPr>
          <a:xfrm flipH="1" rot="10800000">
            <a:off x="4035453" y="2998225"/>
            <a:ext cx="1807500" cy="989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83"/>
          <p:cNvSpPr txBox="1"/>
          <p:nvPr>
            <p:ph idx="4294967295" type="body"/>
          </p:nvPr>
        </p:nvSpPr>
        <p:spPr>
          <a:xfrm>
            <a:off x="666300" y="696400"/>
            <a:ext cx="831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Add one point to change the mode for each of the following:</a:t>
            </a:r>
            <a:endParaRPr sz="1800"/>
          </a:p>
        </p:txBody>
      </p:sp>
      <p:sp>
        <p:nvSpPr>
          <p:cNvPr id="1092" name="Google Shape;1092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sp>
        <p:nvSpPr>
          <p:cNvPr id="1093" name="Google Shape;1093;p83"/>
          <p:cNvSpPr txBox="1"/>
          <p:nvPr>
            <p:ph idx="4294967295" type="body"/>
          </p:nvPr>
        </p:nvSpPr>
        <p:spPr>
          <a:xfrm>
            <a:off x="295375" y="6964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1)</a:t>
            </a:r>
            <a:endParaRPr sz="1800"/>
          </a:p>
        </p:txBody>
      </p:sp>
      <p:pic>
        <p:nvPicPr>
          <p:cNvPr id="1094" name="Google Shape;1094;p83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317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5" name="Google Shape;1095;p83"/>
          <p:cNvSpPr/>
          <p:nvPr/>
        </p:nvSpPr>
        <p:spPr>
          <a:xfrm>
            <a:off x="1832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3"/>
          <p:cNvSpPr/>
          <p:nvPr/>
        </p:nvSpPr>
        <p:spPr>
          <a:xfrm>
            <a:off x="920950" y="2380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3"/>
          <p:cNvSpPr/>
          <p:nvPr/>
        </p:nvSpPr>
        <p:spPr>
          <a:xfrm>
            <a:off x="920950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3"/>
          <p:cNvSpPr/>
          <p:nvPr/>
        </p:nvSpPr>
        <p:spPr>
          <a:xfrm>
            <a:off x="920950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3"/>
          <p:cNvSpPr/>
          <p:nvPr/>
        </p:nvSpPr>
        <p:spPr>
          <a:xfrm>
            <a:off x="1379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3"/>
          <p:cNvSpPr/>
          <p:nvPr/>
        </p:nvSpPr>
        <p:spPr>
          <a:xfrm>
            <a:off x="1379348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3"/>
          <p:cNvSpPr/>
          <p:nvPr/>
        </p:nvSpPr>
        <p:spPr>
          <a:xfrm>
            <a:off x="13793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3"/>
          <p:cNvSpPr/>
          <p:nvPr/>
        </p:nvSpPr>
        <p:spPr>
          <a:xfrm>
            <a:off x="920949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3"/>
          <p:cNvSpPr/>
          <p:nvPr/>
        </p:nvSpPr>
        <p:spPr>
          <a:xfrm>
            <a:off x="469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3"/>
          <p:cNvSpPr/>
          <p:nvPr/>
        </p:nvSpPr>
        <p:spPr>
          <a:xfrm>
            <a:off x="18365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5" name="Google Shape;1105;p83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2603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6" name="Google Shape;1106;p83"/>
          <p:cNvSpPr/>
          <p:nvPr/>
        </p:nvSpPr>
        <p:spPr>
          <a:xfrm>
            <a:off x="4118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3"/>
          <p:cNvSpPr/>
          <p:nvPr/>
        </p:nvSpPr>
        <p:spPr>
          <a:xfrm>
            <a:off x="3206950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3"/>
          <p:cNvSpPr/>
          <p:nvPr/>
        </p:nvSpPr>
        <p:spPr>
          <a:xfrm>
            <a:off x="3206950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3"/>
          <p:cNvSpPr/>
          <p:nvPr/>
        </p:nvSpPr>
        <p:spPr>
          <a:xfrm>
            <a:off x="3665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3"/>
          <p:cNvSpPr/>
          <p:nvPr/>
        </p:nvSpPr>
        <p:spPr>
          <a:xfrm>
            <a:off x="3665348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3"/>
          <p:cNvSpPr/>
          <p:nvPr/>
        </p:nvSpPr>
        <p:spPr>
          <a:xfrm>
            <a:off x="36653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83"/>
          <p:cNvSpPr/>
          <p:nvPr/>
        </p:nvSpPr>
        <p:spPr>
          <a:xfrm>
            <a:off x="3206949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3"/>
          <p:cNvSpPr/>
          <p:nvPr/>
        </p:nvSpPr>
        <p:spPr>
          <a:xfrm>
            <a:off x="2755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3"/>
          <p:cNvSpPr/>
          <p:nvPr/>
        </p:nvSpPr>
        <p:spPr>
          <a:xfrm>
            <a:off x="41225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5" name="Google Shape;1115;p83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4889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6" name="Google Shape;1116;p83"/>
          <p:cNvSpPr/>
          <p:nvPr/>
        </p:nvSpPr>
        <p:spPr>
          <a:xfrm>
            <a:off x="6404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3"/>
          <p:cNvSpPr/>
          <p:nvPr/>
        </p:nvSpPr>
        <p:spPr>
          <a:xfrm>
            <a:off x="5951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3"/>
          <p:cNvSpPr/>
          <p:nvPr/>
        </p:nvSpPr>
        <p:spPr>
          <a:xfrm>
            <a:off x="5041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3"/>
          <p:cNvSpPr/>
          <p:nvPr/>
        </p:nvSpPr>
        <p:spPr>
          <a:xfrm>
            <a:off x="64085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83"/>
          <p:cNvSpPr/>
          <p:nvPr/>
        </p:nvSpPr>
        <p:spPr>
          <a:xfrm>
            <a:off x="5045274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3"/>
          <p:cNvSpPr/>
          <p:nvPr/>
        </p:nvSpPr>
        <p:spPr>
          <a:xfrm>
            <a:off x="6408548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2" name="Google Shape;1122;p83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7175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3" name="Google Shape;1123;p83"/>
          <p:cNvSpPr/>
          <p:nvPr/>
        </p:nvSpPr>
        <p:spPr>
          <a:xfrm>
            <a:off x="8690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3"/>
          <p:cNvSpPr/>
          <p:nvPr/>
        </p:nvSpPr>
        <p:spPr>
          <a:xfrm>
            <a:off x="8237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3"/>
          <p:cNvSpPr/>
          <p:nvPr/>
        </p:nvSpPr>
        <p:spPr>
          <a:xfrm>
            <a:off x="7327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3"/>
          <p:cNvSpPr/>
          <p:nvPr/>
        </p:nvSpPr>
        <p:spPr>
          <a:xfrm>
            <a:off x="82373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3"/>
          <p:cNvSpPr/>
          <p:nvPr/>
        </p:nvSpPr>
        <p:spPr>
          <a:xfrm>
            <a:off x="7331274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83"/>
          <p:cNvSpPr/>
          <p:nvPr/>
        </p:nvSpPr>
        <p:spPr>
          <a:xfrm>
            <a:off x="77801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3"/>
          <p:cNvSpPr/>
          <p:nvPr/>
        </p:nvSpPr>
        <p:spPr>
          <a:xfrm>
            <a:off x="7331274" y="26075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3"/>
          <p:cNvSpPr/>
          <p:nvPr/>
        </p:nvSpPr>
        <p:spPr>
          <a:xfrm>
            <a:off x="7331274" y="23789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3"/>
          <p:cNvSpPr/>
          <p:nvPr/>
        </p:nvSpPr>
        <p:spPr>
          <a:xfrm>
            <a:off x="7788474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3"/>
          <p:cNvSpPr/>
          <p:nvPr/>
        </p:nvSpPr>
        <p:spPr>
          <a:xfrm>
            <a:off x="7788474" y="26075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3"/>
          <p:cNvSpPr txBox="1"/>
          <p:nvPr>
            <p:ph idx="4294967295" type="body"/>
          </p:nvPr>
        </p:nvSpPr>
        <p:spPr>
          <a:xfrm>
            <a:off x="285300" y="3820600"/>
            <a:ext cx="241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Original mode: </a:t>
            </a:r>
            <a:br>
              <a:rPr lang="en-GB" sz="1400"/>
            </a:br>
            <a:r>
              <a:rPr lang="en-GB" sz="1400"/>
              <a:t>New mode:</a:t>
            </a:r>
            <a:endParaRPr sz="1400"/>
          </a:p>
        </p:txBody>
      </p:sp>
      <p:sp>
        <p:nvSpPr>
          <p:cNvPr id="1134" name="Google Shape;1134;p83"/>
          <p:cNvSpPr txBox="1"/>
          <p:nvPr>
            <p:ph idx="4294967295" type="body"/>
          </p:nvPr>
        </p:nvSpPr>
        <p:spPr>
          <a:xfrm>
            <a:off x="2571300" y="3820600"/>
            <a:ext cx="241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Original mode: </a:t>
            </a:r>
            <a:br>
              <a:rPr lang="en-GB" sz="1400"/>
            </a:br>
            <a:r>
              <a:rPr lang="en-GB" sz="1400"/>
              <a:t>New mode:</a:t>
            </a:r>
            <a:endParaRPr sz="1400"/>
          </a:p>
        </p:txBody>
      </p:sp>
      <p:sp>
        <p:nvSpPr>
          <p:cNvPr id="1135" name="Google Shape;1135;p83"/>
          <p:cNvSpPr txBox="1"/>
          <p:nvPr>
            <p:ph idx="4294967295" type="body"/>
          </p:nvPr>
        </p:nvSpPr>
        <p:spPr>
          <a:xfrm>
            <a:off x="4889807" y="3820600"/>
            <a:ext cx="241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Original mode: </a:t>
            </a:r>
            <a:br>
              <a:rPr lang="en-GB" sz="1400"/>
            </a:br>
            <a:r>
              <a:rPr lang="en-GB" sz="1400"/>
              <a:t>New mode:</a:t>
            </a:r>
            <a:endParaRPr sz="1400"/>
          </a:p>
        </p:txBody>
      </p:sp>
      <p:sp>
        <p:nvSpPr>
          <p:cNvPr id="1136" name="Google Shape;1136;p83"/>
          <p:cNvSpPr txBox="1"/>
          <p:nvPr>
            <p:ph idx="4294967295" type="body"/>
          </p:nvPr>
        </p:nvSpPr>
        <p:spPr>
          <a:xfrm>
            <a:off x="7175802" y="3820600"/>
            <a:ext cx="189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Original mode: </a:t>
            </a:r>
            <a:br>
              <a:rPr lang="en-GB" sz="1400"/>
            </a:br>
            <a:r>
              <a:rPr lang="en-GB" sz="1400"/>
              <a:t>New mode:</a:t>
            </a:r>
            <a:endParaRPr sz="1400"/>
          </a:p>
        </p:txBody>
      </p:sp>
      <p:sp>
        <p:nvSpPr>
          <p:cNvPr id="1137" name="Google Shape;1137;p83"/>
          <p:cNvSpPr txBox="1"/>
          <p:nvPr>
            <p:ph idx="4294967295" type="body"/>
          </p:nvPr>
        </p:nvSpPr>
        <p:spPr>
          <a:xfrm>
            <a:off x="312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138" name="Google Shape;1138;p83"/>
          <p:cNvSpPr txBox="1"/>
          <p:nvPr>
            <p:ph idx="4294967295" type="body"/>
          </p:nvPr>
        </p:nvSpPr>
        <p:spPr>
          <a:xfrm>
            <a:off x="2598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b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139" name="Google Shape;1139;p83"/>
          <p:cNvSpPr txBox="1"/>
          <p:nvPr>
            <p:ph idx="4294967295" type="body"/>
          </p:nvPr>
        </p:nvSpPr>
        <p:spPr>
          <a:xfrm>
            <a:off x="4884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140" name="Google Shape;1140;p83"/>
          <p:cNvSpPr txBox="1"/>
          <p:nvPr>
            <p:ph idx="4294967295" type="body"/>
          </p:nvPr>
        </p:nvSpPr>
        <p:spPr>
          <a:xfrm>
            <a:off x="7170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d</a:t>
            </a:r>
            <a:r>
              <a:rPr lang="en-GB" sz="1800"/>
              <a:t>)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4"/>
          <p:cNvSpPr txBox="1"/>
          <p:nvPr>
            <p:ph idx="4294967295" type="body"/>
          </p:nvPr>
        </p:nvSpPr>
        <p:spPr>
          <a:xfrm>
            <a:off x="666300" y="696400"/>
            <a:ext cx="831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M</a:t>
            </a:r>
            <a:r>
              <a:rPr lang="en-GB" sz="1800"/>
              <a:t>odify one point with an arrow to change the mode for each of the following:</a:t>
            </a:r>
            <a:endParaRPr sz="1800"/>
          </a:p>
        </p:txBody>
      </p:sp>
      <p:sp>
        <p:nvSpPr>
          <p:cNvPr id="1146" name="Google Shape;1146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sp>
        <p:nvSpPr>
          <p:cNvPr id="1147" name="Google Shape;1147;p84"/>
          <p:cNvSpPr txBox="1"/>
          <p:nvPr>
            <p:ph idx="4294967295" type="body"/>
          </p:nvPr>
        </p:nvSpPr>
        <p:spPr>
          <a:xfrm>
            <a:off x="295375" y="6964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2</a:t>
            </a:r>
            <a:r>
              <a:rPr lang="en-GB" sz="1800"/>
              <a:t>)</a:t>
            </a:r>
            <a:endParaRPr sz="1800"/>
          </a:p>
        </p:txBody>
      </p:sp>
      <p:pic>
        <p:nvPicPr>
          <p:cNvPr id="1148" name="Google Shape;1148;p84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317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9" name="Google Shape;1149;p84"/>
          <p:cNvSpPr/>
          <p:nvPr/>
        </p:nvSpPr>
        <p:spPr>
          <a:xfrm>
            <a:off x="1832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4"/>
          <p:cNvSpPr/>
          <p:nvPr/>
        </p:nvSpPr>
        <p:spPr>
          <a:xfrm>
            <a:off x="920950" y="2380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4"/>
          <p:cNvSpPr/>
          <p:nvPr/>
        </p:nvSpPr>
        <p:spPr>
          <a:xfrm>
            <a:off x="920950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4"/>
          <p:cNvSpPr/>
          <p:nvPr/>
        </p:nvSpPr>
        <p:spPr>
          <a:xfrm>
            <a:off x="920950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4"/>
          <p:cNvSpPr/>
          <p:nvPr/>
        </p:nvSpPr>
        <p:spPr>
          <a:xfrm>
            <a:off x="1379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4"/>
          <p:cNvSpPr/>
          <p:nvPr/>
        </p:nvSpPr>
        <p:spPr>
          <a:xfrm>
            <a:off x="1379348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84"/>
          <p:cNvSpPr/>
          <p:nvPr/>
        </p:nvSpPr>
        <p:spPr>
          <a:xfrm>
            <a:off x="13793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84"/>
          <p:cNvSpPr/>
          <p:nvPr/>
        </p:nvSpPr>
        <p:spPr>
          <a:xfrm>
            <a:off x="920949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84"/>
          <p:cNvSpPr/>
          <p:nvPr/>
        </p:nvSpPr>
        <p:spPr>
          <a:xfrm>
            <a:off x="469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4"/>
          <p:cNvSpPr/>
          <p:nvPr/>
        </p:nvSpPr>
        <p:spPr>
          <a:xfrm>
            <a:off x="18365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9" name="Google Shape;1159;p84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2603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0" name="Google Shape;1160;p84"/>
          <p:cNvSpPr/>
          <p:nvPr/>
        </p:nvSpPr>
        <p:spPr>
          <a:xfrm>
            <a:off x="4118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4"/>
          <p:cNvSpPr/>
          <p:nvPr/>
        </p:nvSpPr>
        <p:spPr>
          <a:xfrm>
            <a:off x="3206950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4"/>
          <p:cNvSpPr/>
          <p:nvPr/>
        </p:nvSpPr>
        <p:spPr>
          <a:xfrm>
            <a:off x="3206950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4"/>
          <p:cNvSpPr/>
          <p:nvPr/>
        </p:nvSpPr>
        <p:spPr>
          <a:xfrm>
            <a:off x="3665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4"/>
          <p:cNvSpPr/>
          <p:nvPr/>
        </p:nvSpPr>
        <p:spPr>
          <a:xfrm>
            <a:off x="3665348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4"/>
          <p:cNvSpPr/>
          <p:nvPr/>
        </p:nvSpPr>
        <p:spPr>
          <a:xfrm>
            <a:off x="36653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84"/>
          <p:cNvSpPr/>
          <p:nvPr/>
        </p:nvSpPr>
        <p:spPr>
          <a:xfrm>
            <a:off x="3206949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4"/>
          <p:cNvSpPr/>
          <p:nvPr/>
        </p:nvSpPr>
        <p:spPr>
          <a:xfrm>
            <a:off x="2755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4"/>
          <p:cNvSpPr/>
          <p:nvPr/>
        </p:nvSpPr>
        <p:spPr>
          <a:xfrm>
            <a:off x="41225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9" name="Google Shape;1169;p84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4889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0" name="Google Shape;1170;p84"/>
          <p:cNvSpPr/>
          <p:nvPr/>
        </p:nvSpPr>
        <p:spPr>
          <a:xfrm>
            <a:off x="6404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4"/>
          <p:cNvSpPr/>
          <p:nvPr/>
        </p:nvSpPr>
        <p:spPr>
          <a:xfrm>
            <a:off x="5951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84"/>
          <p:cNvSpPr/>
          <p:nvPr/>
        </p:nvSpPr>
        <p:spPr>
          <a:xfrm>
            <a:off x="5041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4"/>
          <p:cNvSpPr/>
          <p:nvPr/>
        </p:nvSpPr>
        <p:spPr>
          <a:xfrm>
            <a:off x="64085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4"/>
          <p:cNvSpPr/>
          <p:nvPr/>
        </p:nvSpPr>
        <p:spPr>
          <a:xfrm>
            <a:off x="5045274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4"/>
          <p:cNvSpPr/>
          <p:nvPr/>
        </p:nvSpPr>
        <p:spPr>
          <a:xfrm>
            <a:off x="6408548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6" name="Google Shape;1176;p84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7175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7" name="Google Shape;1177;p84"/>
          <p:cNvSpPr/>
          <p:nvPr/>
        </p:nvSpPr>
        <p:spPr>
          <a:xfrm>
            <a:off x="8690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4"/>
          <p:cNvSpPr/>
          <p:nvPr/>
        </p:nvSpPr>
        <p:spPr>
          <a:xfrm>
            <a:off x="8237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4"/>
          <p:cNvSpPr/>
          <p:nvPr/>
        </p:nvSpPr>
        <p:spPr>
          <a:xfrm>
            <a:off x="7327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4"/>
          <p:cNvSpPr/>
          <p:nvPr/>
        </p:nvSpPr>
        <p:spPr>
          <a:xfrm>
            <a:off x="82373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4"/>
          <p:cNvSpPr/>
          <p:nvPr/>
        </p:nvSpPr>
        <p:spPr>
          <a:xfrm>
            <a:off x="7331274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4"/>
          <p:cNvSpPr/>
          <p:nvPr/>
        </p:nvSpPr>
        <p:spPr>
          <a:xfrm>
            <a:off x="77801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4"/>
          <p:cNvSpPr/>
          <p:nvPr/>
        </p:nvSpPr>
        <p:spPr>
          <a:xfrm>
            <a:off x="7331274" y="26075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4"/>
          <p:cNvSpPr/>
          <p:nvPr/>
        </p:nvSpPr>
        <p:spPr>
          <a:xfrm>
            <a:off x="7331274" y="23789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4"/>
          <p:cNvSpPr/>
          <p:nvPr/>
        </p:nvSpPr>
        <p:spPr>
          <a:xfrm>
            <a:off x="7788474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4"/>
          <p:cNvSpPr/>
          <p:nvPr/>
        </p:nvSpPr>
        <p:spPr>
          <a:xfrm>
            <a:off x="7788474" y="26075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4"/>
          <p:cNvSpPr txBox="1"/>
          <p:nvPr>
            <p:ph idx="4294967295" type="body"/>
          </p:nvPr>
        </p:nvSpPr>
        <p:spPr>
          <a:xfrm>
            <a:off x="285300" y="3820600"/>
            <a:ext cx="241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New mode:</a:t>
            </a:r>
            <a:endParaRPr sz="1400"/>
          </a:p>
        </p:txBody>
      </p:sp>
      <p:sp>
        <p:nvSpPr>
          <p:cNvPr id="1188" name="Google Shape;1188;p84"/>
          <p:cNvSpPr txBox="1"/>
          <p:nvPr>
            <p:ph idx="4294967295" type="body"/>
          </p:nvPr>
        </p:nvSpPr>
        <p:spPr>
          <a:xfrm>
            <a:off x="2571300" y="3820600"/>
            <a:ext cx="241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New mode:</a:t>
            </a:r>
            <a:endParaRPr sz="1400"/>
          </a:p>
        </p:txBody>
      </p:sp>
      <p:sp>
        <p:nvSpPr>
          <p:cNvPr id="1189" name="Google Shape;1189;p84"/>
          <p:cNvSpPr txBox="1"/>
          <p:nvPr>
            <p:ph idx="4294967295" type="body"/>
          </p:nvPr>
        </p:nvSpPr>
        <p:spPr>
          <a:xfrm>
            <a:off x="4889807" y="3820600"/>
            <a:ext cx="241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New mode:</a:t>
            </a:r>
            <a:endParaRPr sz="1400"/>
          </a:p>
        </p:txBody>
      </p:sp>
      <p:sp>
        <p:nvSpPr>
          <p:cNvPr id="1190" name="Google Shape;1190;p84"/>
          <p:cNvSpPr txBox="1"/>
          <p:nvPr>
            <p:ph idx="4294967295" type="body"/>
          </p:nvPr>
        </p:nvSpPr>
        <p:spPr>
          <a:xfrm>
            <a:off x="7175802" y="3820600"/>
            <a:ext cx="189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New mode:</a:t>
            </a:r>
            <a:endParaRPr sz="1400"/>
          </a:p>
        </p:txBody>
      </p:sp>
      <p:sp>
        <p:nvSpPr>
          <p:cNvPr id="1191" name="Google Shape;1191;p84"/>
          <p:cNvSpPr txBox="1"/>
          <p:nvPr>
            <p:ph idx="4294967295" type="body"/>
          </p:nvPr>
        </p:nvSpPr>
        <p:spPr>
          <a:xfrm>
            <a:off x="312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192" name="Google Shape;1192;p84"/>
          <p:cNvSpPr txBox="1"/>
          <p:nvPr>
            <p:ph idx="4294967295" type="body"/>
          </p:nvPr>
        </p:nvSpPr>
        <p:spPr>
          <a:xfrm>
            <a:off x="2598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193" name="Google Shape;1193;p84"/>
          <p:cNvSpPr txBox="1"/>
          <p:nvPr>
            <p:ph idx="4294967295" type="body"/>
          </p:nvPr>
        </p:nvSpPr>
        <p:spPr>
          <a:xfrm>
            <a:off x="4884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194" name="Google Shape;1194;p84"/>
          <p:cNvSpPr txBox="1"/>
          <p:nvPr>
            <p:ph idx="4294967295" type="body"/>
          </p:nvPr>
        </p:nvSpPr>
        <p:spPr>
          <a:xfrm>
            <a:off x="7170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d)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sp>
        <p:nvSpPr>
          <p:cNvPr id="1200" name="Google Shape;1200;p85"/>
          <p:cNvSpPr txBox="1"/>
          <p:nvPr>
            <p:ph idx="4294967295" type="body"/>
          </p:nvPr>
        </p:nvSpPr>
        <p:spPr>
          <a:xfrm>
            <a:off x="666300" y="696400"/>
            <a:ext cx="831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Add one point to change the mode for each of the following:</a:t>
            </a:r>
            <a:endParaRPr sz="1800"/>
          </a:p>
        </p:txBody>
      </p:sp>
      <p:sp>
        <p:nvSpPr>
          <p:cNvPr id="1201" name="Google Shape;1201;p85"/>
          <p:cNvSpPr txBox="1"/>
          <p:nvPr>
            <p:ph idx="4294967295" type="body"/>
          </p:nvPr>
        </p:nvSpPr>
        <p:spPr>
          <a:xfrm>
            <a:off x="295375" y="6964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1)</a:t>
            </a:r>
            <a:endParaRPr sz="1800"/>
          </a:p>
        </p:txBody>
      </p:sp>
      <p:pic>
        <p:nvPicPr>
          <p:cNvPr id="1202" name="Google Shape;1202;p85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317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3" name="Google Shape;1203;p85"/>
          <p:cNvSpPr/>
          <p:nvPr/>
        </p:nvSpPr>
        <p:spPr>
          <a:xfrm>
            <a:off x="1832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5"/>
          <p:cNvSpPr/>
          <p:nvPr/>
        </p:nvSpPr>
        <p:spPr>
          <a:xfrm>
            <a:off x="920950" y="2380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5"/>
          <p:cNvSpPr/>
          <p:nvPr/>
        </p:nvSpPr>
        <p:spPr>
          <a:xfrm>
            <a:off x="920950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5"/>
          <p:cNvSpPr/>
          <p:nvPr/>
        </p:nvSpPr>
        <p:spPr>
          <a:xfrm>
            <a:off x="920950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5"/>
          <p:cNvSpPr/>
          <p:nvPr/>
        </p:nvSpPr>
        <p:spPr>
          <a:xfrm>
            <a:off x="1379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5"/>
          <p:cNvSpPr/>
          <p:nvPr/>
        </p:nvSpPr>
        <p:spPr>
          <a:xfrm>
            <a:off x="1379348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5"/>
          <p:cNvSpPr/>
          <p:nvPr/>
        </p:nvSpPr>
        <p:spPr>
          <a:xfrm>
            <a:off x="13793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5"/>
          <p:cNvSpPr/>
          <p:nvPr/>
        </p:nvSpPr>
        <p:spPr>
          <a:xfrm>
            <a:off x="920949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5"/>
          <p:cNvSpPr/>
          <p:nvPr/>
        </p:nvSpPr>
        <p:spPr>
          <a:xfrm>
            <a:off x="469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5"/>
          <p:cNvSpPr/>
          <p:nvPr/>
        </p:nvSpPr>
        <p:spPr>
          <a:xfrm>
            <a:off x="18365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3" name="Google Shape;1213;p85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2603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4" name="Google Shape;1214;p85"/>
          <p:cNvSpPr/>
          <p:nvPr/>
        </p:nvSpPr>
        <p:spPr>
          <a:xfrm>
            <a:off x="4118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5"/>
          <p:cNvSpPr/>
          <p:nvPr/>
        </p:nvSpPr>
        <p:spPr>
          <a:xfrm>
            <a:off x="3206950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5"/>
          <p:cNvSpPr/>
          <p:nvPr/>
        </p:nvSpPr>
        <p:spPr>
          <a:xfrm>
            <a:off x="3206950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5"/>
          <p:cNvSpPr/>
          <p:nvPr/>
        </p:nvSpPr>
        <p:spPr>
          <a:xfrm>
            <a:off x="3665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5"/>
          <p:cNvSpPr/>
          <p:nvPr/>
        </p:nvSpPr>
        <p:spPr>
          <a:xfrm>
            <a:off x="3665348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5"/>
          <p:cNvSpPr/>
          <p:nvPr/>
        </p:nvSpPr>
        <p:spPr>
          <a:xfrm>
            <a:off x="36653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5"/>
          <p:cNvSpPr/>
          <p:nvPr/>
        </p:nvSpPr>
        <p:spPr>
          <a:xfrm>
            <a:off x="3206949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5"/>
          <p:cNvSpPr/>
          <p:nvPr/>
        </p:nvSpPr>
        <p:spPr>
          <a:xfrm>
            <a:off x="2755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5"/>
          <p:cNvSpPr/>
          <p:nvPr/>
        </p:nvSpPr>
        <p:spPr>
          <a:xfrm>
            <a:off x="41225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3" name="Google Shape;1223;p85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4889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4" name="Google Shape;1224;p85"/>
          <p:cNvSpPr/>
          <p:nvPr/>
        </p:nvSpPr>
        <p:spPr>
          <a:xfrm>
            <a:off x="6404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5"/>
          <p:cNvSpPr/>
          <p:nvPr/>
        </p:nvSpPr>
        <p:spPr>
          <a:xfrm>
            <a:off x="5951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85"/>
          <p:cNvSpPr/>
          <p:nvPr/>
        </p:nvSpPr>
        <p:spPr>
          <a:xfrm>
            <a:off x="5041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85"/>
          <p:cNvSpPr/>
          <p:nvPr/>
        </p:nvSpPr>
        <p:spPr>
          <a:xfrm>
            <a:off x="64085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5"/>
          <p:cNvSpPr/>
          <p:nvPr/>
        </p:nvSpPr>
        <p:spPr>
          <a:xfrm>
            <a:off x="5045274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85"/>
          <p:cNvSpPr/>
          <p:nvPr/>
        </p:nvSpPr>
        <p:spPr>
          <a:xfrm>
            <a:off x="6408548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0" name="Google Shape;1230;p85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7175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1" name="Google Shape;1231;p85"/>
          <p:cNvSpPr/>
          <p:nvPr/>
        </p:nvSpPr>
        <p:spPr>
          <a:xfrm>
            <a:off x="8690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5"/>
          <p:cNvSpPr/>
          <p:nvPr/>
        </p:nvSpPr>
        <p:spPr>
          <a:xfrm>
            <a:off x="8237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85"/>
          <p:cNvSpPr/>
          <p:nvPr/>
        </p:nvSpPr>
        <p:spPr>
          <a:xfrm>
            <a:off x="7327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5"/>
          <p:cNvSpPr/>
          <p:nvPr/>
        </p:nvSpPr>
        <p:spPr>
          <a:xfrm>
            <a:off x="82373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85"/>
          <p:cNvSpPr/>
          <p:nvPr/>
        </p:nvSpPr>
        <p:spPr>
          <a:xfrm>
            <a:off x="7331274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5"/>
          <p:cNvSpPr/>
          <p:nvPr/>
        </p:nvSpPr>
        <p:spPr>
          <a:xfrm>
            <a:off x="77801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5"/>
          <p:cNvSpPr/>
          <p:nvPr/>
        </p:nvSpPr>
        <p:spPr>
          <a:xfrm>
            <a:off x="7331274" y="26075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85"/>
          <p:cNvSpPr/>
          <p:nvPr/>
        </p:nvSpPr>
        <p:spPr>
          <a:xfrm>
            <a:off x="7331274" y="23789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5"/>
          <p:cNvSpPr/>
          <p:nvPr/>
        </p:nvSpPr>
        <p:spPr>
          <a:xfrm>
            <a:off x="7788474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85"/>
          <p:cNvSpPr/>
          <p:nvPr/>
        </p:nvSpPr>
        <p:spPr>
          <a:xfrm>
            <a:off x="7788474" y="26075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5"/>
          <p:cNvSpPr txBox="1"/>
          <p:nvPr>
            <p:ph idx="4294967295" type="body"/>
          </p:nvPr>
        </p:nvSpPr>
        <p:spPr>
          <a:xfrm>
            <a:off x="285300" y="3820600"/>
            <a:ext cx="241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Original mode: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400"/>
              <a:t> </a:t>
            </a:r>
            <a:br>
              <a:rPr lang="en-GB" sz="1400"/>
            </a:br>
            <a:r>
              <a:rPr lang="en-GB" sz="1400"/>
              <a:t>New mode: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2, 3</a:t>
            </a:r>
            <a:endParaRPr sz="1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2" name="Google Shape;1242;p85"/>
          <p:cNvSpPr txBox="1"/>
          <p:nvPr>
            <p:ph idx="4294967295" type="body"/>
          </p:nvPr>
        </p:nvSpPr>
        <p:spPr>
          <a:xfrm>
            <a:off x="2571300" y="3820600"/>
            <a:ext cx="241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Original mode: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2, 3 </a:t>
            </a:r>
            <a:br>
              <a:rPr lang="en-GB" sz="1400"/>
            </a:br>
            <a:r>
              <a:rPr lang="en-GB" sz="1400"/>
              <a:t>New mode: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3</a:t>
            </a:r>
            <a:endParaRPr sz="1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3" name="Google Shape;1243;p85"/>
          <p:cNvSpPr txBox="1"/>
          <p:nvPr>
            <p:ph idx="4294967295" type="body"/>
          </p:nvPr>
        </p:nvSpPr>
        <p:spPr>
          <a:xfrm>
            <a:off x="4889807" y="3820600"/>
            <a:ext cx="241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Original mode: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400"/>
              <a:t> </a:t>
            </a:r>
            <a:br>
              <a:rPr lang="en-GB" sz="1400"/>
            </a:br>
            <a:r>
              <a:rPr lang="en-GB" sz="1400"/>
              <a:t>New mode: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1, 4</a:t>
            </a:r>
            <a:endParaRPr sz="1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4" name="Google Shape;1244;p85"/>
          <p:cNvSpPr txBox="1"/>
          <p:nvPr>
            <p:ph idx="4294967295" type="body"/>
          </p:nvPr>
        </p:nvSpPr>
        <p:spPr>
          <a:xfrm>
            <a:off x="7175802" y="3820600"/>
            <a:ext cx="189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Original mode: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400"/>
              <a:t> </a:t>
            </a:r>
            <a:br>
              <a:rPr lang="en-GB" sz="1400"/>
            </a:br>
            <a:r>
              <a:rPr lang="en-GB" sz="1400"/>
              <a:t>New mode: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1, 2</a:t>
            </a:r>
            <a:endParaRPr sz="1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5" name="Google Shape;1245;p85"/>
          <p:cNvSpPr txBox="1"/>
          <p:nvPr>
            <p:ph idx="4294967295" type="body"/>
          </p:nvPr>
        </p:nvSpPr>
        <p:spPr>
          <a:xfrm>
            <a:off x="312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246" name="Google Shape;1246;p85"/>
          <p:cNvSpPr txBox="1"/>
          <p:nvPr>
            <p:ph idx="4294967295" type="body"/>
          </p:nvPr>
        </p:nvSpPr>
        <p:spPr>
          <a:xfrm>
            <a:off x="2598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247" name="Google Shape;1247;p85"/>
          <p:cNvSpPr txBox="1"/>
          <p:nvPr>
            <p:ph idx="4294967295" type="body"/>
          </p:nvPr>
        </p:nvSpPr>
        <p:spPr>
          <a:xfrm>
            <a:off x="4884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248" name="Google Shape;1248;p85"/>
          <p:cNvSpPr txBox="1"/>
          <p:nvPr>
            <p:ph idx="4294967295" type="body"/>
          </p:nvPr>
        </p:nvSpPr>
        <p:spPr>
          <a:xfrm>
            <a:off x="7170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d)</a:t>
            </a:r>
            <a:endParaRPr sz="1800"/>
          </a:p>
        </p:txBody>
      </p:sp>
      <p:sp>
        <p:nvSpPr>
          <p:cNvPr id="1249" name="Google Shape;1249;p85"/>
          <p:cNvSpPr/>
          <p:nvPr/>
        </p:nvSpPr>
        <p:spPr>
          <a:xfrm>
            <a:off x="1378150" y="2380808"/>
            <a:ext cx="169500" cy="169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5"/>
          <p:cNvSpPr/>
          <p:nvPr/>
        </p:nvSpPr>
        <p:spPr>
          <a:xfrm>
            <a:off x="3664150" y="2380808"/>
            <a:ext cx="169500" cy="169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5"/>
          <p:cNvSpPr/>
          <p:nvPr/>
        </p:nvSpPr>
        <p:spPr>
          <a:xfrm>
            <a:off x="5035750" y="2609408"/>
            <a:ext cx="169500" cy="169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5"/>
          <p:cNvSpPr/>
          <p:nvPr/>
        </p:nvSpPr>
        <p:spPr>
          <a:xfrm>
            <a:off x="7796427" y="2380808"/>
            <a:ext cx="169500" cy="1695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sp>
        <p:nvSpPr>
          <p:cNvPr id="1258" name="Google Shape;1258;p86"/>
          <p:cNvSpPr txBox="1"/>
          <p:nvPr>
            <p:ph idx="4294967295" type="body"/>
          </p:nvPr>
        </p:nvSpPr>
        <p:spPr>
          <a:xfrm>
            <a:off x="666300" y="696400"/>
            <a:ext cx="831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Modify one point with an arrow to change the mode for each of the following:</a:t>
            </a:r>
            <a:endParaRPr sz="1800"/>
          </a:p>
        </p:txBody>
      </p:sp>
      <p:sp>
        <p:nvSpPr>
          <p:cNvPr id="1259" name="Google Shape;1259;p86"/>
          <p:cNvSpPr txBox="1"/>
          <p:nvPr>
            <p:ph idx="4294967295" type="body"/>
          </p:nvPr>
        </p:nvSpPr>
        <p:spPr>
          <a:xfrm>
            <a:off x="295375" y="6964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2)</a:t>
            </a:r>
            <a:endParaRPr sz="1800"/>
          </a:p>
        </p:txBody>
      </p:sp>
      <p:pic>
        <p:nvPicPr>
          <p:cNvPr id="1260" name="Google Shape;1260;p86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317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1" name="Google Shape;1261;p86"/>
          <p:cNvSpPr/>
          <p:nvPr/>
        </p:nvSpPr>
        <p:spPr>
          <a:xfrm>
            <a:off x="1832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6"/>
          <p:cNvSpPr/>
          <p:nvPr/>
        </p:nvSpPr>
        <p:spPr>
          <a:xfrm>
            <a:off x="920950" y="2380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6"/>
          <p:cNvSpPr/>
          <p:nvPr/>
        </p:nvSpPr>
        <p:spPr>
          <a:xfrm>
            <a:off x="920950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6"/>
          <p:cNvSpPr/>
          <p:nvPr/>
        </p:nvSpPr>
        <p:spPr>
          <a:xfrm>
            <a:off x="920950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6"/>
          <p:cNvSpPr/>
          <p:nvPr/>
        </p:nvSpPr>
        <p:spPr>
          <a:xfrm>
            <a:off x="1379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6"/>
          <p:cNvSpPr/>
          <p:nvPr/>
        </p:nvSpPr>
        <p:spPr>
          <a:xfrm>
            <a:off x="1379348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86"/>
          <p:cNvSpPr/>
          <p:nvPr/>
        </p:nvSpPr>
        <p:spPr>
          <a:xfrm>
            <a:off x="13793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86"/>
          <p:cNvSpPr/>
          <p:nvPr/>
        </p:nvSpPr>
        <p:spPr>
          <a:xfrm>
            <a:off x="920949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86"/>
          <p:cNvSpPr/>
          <p:nvPr/>
        </p:nvSpPr>
        <p:spPr>
          <a:xfrm>
            <a:off x="469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86"/>
          <p:cNvSpPr/>
          <p:nvPr/>
        </p:nvSpPr>
        <p:spPr>
          <a:xfrm>
            <a:off x="18365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1" name="Google Shape;1271;p86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2603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72" name="Google Shape;1272;p86"/>
          <p:cNvSpPr/>
          <p:nvPr/>
        </p:nvSpPr>
        <p:spPr>
          <a:xfrm>
            <a:off x="4118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86"/>
          <p:cNvSpPr/>
          <p:nvPr/>
        </p:nvSpPr>
        <p:spPr>
          <a:xfrm>
            <a:off x="3206950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86"/>
          <p:cNvSpPr/>
          <p:nvPr/>
        </p:nvSpPr>
        <p:spPr>
          <a:xfrm>
            <a:off x="3206950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86"/>
          <p:cNvSpPr/>
          <p:nvPr/>
        </p:nvSpPr>
        <p:spPr>
          <a:xfrm>
            <a:off x="3665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6"/>
          <p:cNvSpPr/>
          <p:nvPr/>
        </p:nvSpPr>
        <p:spPr>
          <a:xfrm>
            <a:off x="3665348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6"/>
          <p:cNvSpPr/>
          <p:nvPr/>
        </p:nvSpPr>
        <p:spPr>
          <a:xfrm>
            <a:off x="36653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86"/>
          <p:cNvSpPr/>
          <p:nvPr/>
        </p:nvSpPr>
        <p:spPr>
          <a:xfrm>
            <a:off x="3206949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86"/>
          <p:cNvSpPr/>
          <p:nvPr/>
        </p:nvSpPr>
        <p:spPr>
          <a:xfrm>
            <a:off x="2755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86"/>
          <p:cNvSpPr/>
          <p:nvPr/>
        </p:nvSpPr>
        <p:spPr>
          <a:xfrm>
            <a:off x="41225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1" name="Google Shape;1281;p86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4889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2" name="Google Shape;1282;p86"/>
          <p:cNvSpPr/>
          <p:nvPr/>
        </p:nvSpPr>
        <p:spPr>
          <a:xfrm>
            <a:off x="6404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86"/>
          <p:cNvSpPr/>
          <p:nvPr/>
        </p:nvSpPr>
        <p:spPr>
          <a:xfrm>
            <a:off x="5951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86"/>
          <p:cNvSpPr/>
          <p:nvPr/>
        </p:nvSpPr>
        <p:spPr>
          <a:xfrm>
            <a:off x="5041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86"/>
          <p:cNvSpPr/>
          <p:nvPr/>
        </p:nvSpPr>
        <p:spPr>
          <a:xfrm>
            <a:off x="64085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86"/>
          <p:cNvSpPr/>
          <p:nvPr/>
        </p:nvSpPr>
        <p:spPr>
          <a:xfrm>
            <a:off x="5045274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86"/>
          <p:cNvSpPr/>
          <p:nvPr/>
        </p:nvSpPr>
        <p:spPr>
          <a:xfrm>
            <a:off x="6408548" y="2608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8" name="Google Shape;1288;p86"/>
          <p:cNvPicPr preferRelativeResize="0"/>
          <p:nvPr/>
        </p:nvPicPr>
        <p:blipFill rotWithShape="1">
          <a:blip r:embed="rId3">
            <a:alphaModFix/>
          </a:blip>
          <a:srcRect b="0" l="0" r="55750" t="33208"/>
          <a:stretch/>
        </p:blipFill>
        <p:spPr>
          <a:xfrm>
            <a:off x="7175325" y="1704975"/>
            <a:ext cx="1806750" cy="197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9" name="Google Shape;1289;p86"/>
          <p:cNvSpPr/>
          <p:nvPr/>
        </p:nvSpPr>
        <p:spPr>
          <a:xfrm>
            <a:off x="869027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6"/>
          <p:cNvSpPr/>
          <p:nvPr/>
        </p:nvSpPr>
        <p:spPr>
          <a:xfrm>
            <a:off x="82373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6"/>
          <p:cNvSpPr/>
          <p:nvPr/>
        </p:nvSpPr>
        <p:spPr>
          <a:xfrm>
            <a:off x="7327895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6"/>
          <p:cNvSpPr/>
          <p:nvPr/>
        </p:nvSpPr>
        <p:spPr>
          <a:xfrm>
            <a:off x="8237348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86"/>
          <p:cNvSpPr/>
          <p:nvPr/>
        </p:nvSpPr>
        <p:spPr>
          <a:xfrm>
            <a:off x="7331274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86"/>
          <p:cNvSpPr/>
          <p:nvPr/>
        </p:nvSpPr>
        <p:spPr>
          <a:xfrm>
            <a:off x="7780148" y="3063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86"/>
          <p:cNvSpPr/>
          <p:nvPr/>
        </p:nvSpPr>
        <p:spPr>
          <a:xfrm>
            <a:off x="7331274" y="26075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86"/>
          <p:cNvSpPr/>
          <p:nvPr/>
        </p:nvSpPr>
        <p:spPr>
          <a:xfrm>
            <a:off x="7331274" y="23789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86"/>
          <p:cNvSpPr/>
          <p:nvPr/>
        </p:nvSpPr>
        <p:spPr>
          <a:xfrm>
            <a:off x="7788474" y="2836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86"/>
          <p:cNvSpPr/>
          <p:nvPr/>
        </p:nvSpPr>
        <p:spPr>
          <a:xfrm>
            <a:off x="7788474" y="26075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6"/>
          <p:cNvSpPr txBox="1"/>
          <p:nvPr>
            <p:ph idx="4294967295" type="body"/>
          </p:nvPr>
        </p:nvSpPr>
        <p:spPr>
          <a:xfrm>
            <a:off x="285300" y="3820600"/>
            <a:ext cx="241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New mode: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2, 3, 4</a:t>
            </a:r>
            <a:endParaRPr sz="1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0" name="Google Shape;1300;p86"/>
          <p:cNvSpPr txBox="1"/>
          <p:nvPr>
            <p:ph idx="4294967295" type="body"/>
          </p:nvPr>
        </p:nvSpPr>
        <p:spPr>
          <a:xfrm>
            <a:off x="2571300" y="3820600"/>
            <a:ext cx="241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New mode: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3</a:t>
            </a:r>
            <a:endParaRPr sz="1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1" name="Google Shape;1301;p86"/>
          <p:cNvSpPr txBox="1"/>
          <p:nvPr>
            <p:ph idx="4294967295" type="body"/>
          </p:nvPr>
        </p:nvSpPr>
        <p:spPr>
          <a:xfrm>
            <a:off x="4889807" y="3820600"/>
            <a:ext cx="241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New mode: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1, 4</a:t>
            </a:r>
            <a:endParaRPr sz="1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2" name="Google Shape;1302;p86"/>
          <p:cNvSpPr txBox="1"/>
          <p:nvPr>
            <p:ph idx="4294967295" type="body"/>
          </p:nvPr>
        </p:nvSpPr>
        <p:spPr>
          <a:xfrm>
            <a:off x="7175802" y="3820600"/>
            <a:ext cx="189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400"/>
              <a:t>New mode: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400"/>
              <a:t> </a:t>
            </a:r>
            <a:endParaRPr sz="1400"/>
          </a:p>
        </p:txBody>
      </p:sp>
      <p:sp>
        <p:nvSpPr>
          <p:cNvPr id="1303" name="Google Shape;1303;p86"/>
          <p:cNvSpPr txBox="1"/>
          <p:nvPr>
            <p:ph idx="4294967295" type="body"/>
          </p:nvPr>
        </p:nvSpPr>
        <p:spPr>
          <a:xfrm>
            <a:off x="312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304" name="Google Shape;1304;p86"/>
          <p:cNvSpPr txBox="1"/>
          <p:nvPr>
            <p:ph idx="4294967295" type="body"/>
          </p:nvPr>
        </p:nvSpPr>
        <p:spPr>
          <a:xfrm>
            <a:off x="2598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305" name="Google Shape;1305;p86"/>
          <p:cNvSpPr txBox="1"/>
          <p:nvPr>
            <p:ph idx="4294967295" type="body"/>
          </p:nvPr>
        </p:nvSpPr>
        <p:spPr>
          <a:xfrm>
            <a:off x="4884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306" name="Google Shape;1306;p86"/>
          <p:cNvSpPr txBox="1"/>
          <p:nvPr>
            <p:ph idx="4294967295" type="body"/>
          </p:nvPr>
        </p:nvSpPr>
        <p:spPr>
          <a:xfrm>
            <a:off x="7170852" y="1382200"/>
            <a:ext cx="2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d)</a:t>
            </a:r>
            <a:endParaRPr sz="1800"/>
          </a:p>
        </p:txBody>
      </p:sp>
      <p:pic>
        <p:nvPicPr>
          <p:cNvPr id="1307" name="Google Shape;1307;p86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>
            <a:off x="832940" y="1703225"/>
            <a:ext cx="1171824" cy="752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86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>
            <a:off x="3195149" y="1627025"/>
            <a:ext cx="662400" cy="752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86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>
            <a:off x="5032678" y="1855625"/>
            <a:ext cx="1171824" cy="752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86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>
            <a:off x="7286177" y="1703225"/>
            <a:ext cx="662400" cy="752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8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sp>
        <p:nvSpPr>
          <p:cNvPr id="1316" name="Google Shape;1316;p8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sp>
        <p:nvSpPr>
          <p:cNvPr id="1317" name="Google Shape;1317;p8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Changing a data point</a:t>
            </a:r>
            <a:endParaRPr/>
          </a:p>
        </p:txBody>
      </p:sp>
      <p:sp>
        <p:nvSpPr>
          <p:cNvPr id="1318" name="Google Shape;1318;p8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pic>
        <p:nvPicPr>
          <p:cNvPr id="1319" name="Google Shape;131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630" y="276606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4" name="Google Shape;1324;p88"/>
          <p:cNvGraphicFramePr/>
          <p:nvPr/>
        </p:nvGraphicFramePr>
        <p:xfrm>
          <a:off x="371575" y="76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</a:tblGrid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5" name="Google Shape;1325;p88"/>
          <p:cNvSpPr txBox="1"/>
          <p:nvPr>
            <p:ph idx="1" type="body"/>
          </p:nvPr>
        </p:nvSpPr>
        <p:spPr>
          <a:xfrm>
            <a:off x="494250" y="4039250"/>
            <a:ext cx="677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placing an arrow at around 4.5 on the dot plot</a:t>
            </a:r>
            <a:endParaRPr sz="1800"/>
          </a:p>
        </p:txBody>
      </p:sp>
      <p:sp>
        <p:nvSpPr>
          <p:cNvPr id="1326" name="Google Shape;132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sp>
        <p:nvSpPr>
          <p:cNvPr id="1327" name="Google Shape;1327;p88"/>
          <p:cNvSpPr txBox="1"/>
          <p:nvPr>
            <p:ph idx="1" type="body"/>
          </p:nvPr>
        </p:nvSpPr>
        <p:spPr>
          <a:xfrm>
            <a:off x="3336950" y="765900"/>
            <a:ext cx="17265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This </a:t>
            </a:r>
            <a:r>
              <a:rPr lang="en-GB" sz="1800"/>
              <a:t>data set</a:t>
            </a:r>
            <a:r>
              <a:rPr lang="en-GB" sz="1800"/>
              <a:t> can be represented as a dot plot.</a:t>
            </a:r>
            <a:endParaRPr sz="1800"/>
          </a:p>
        </p:txBody>
      </p:sp>
      <p:grpSp>
        <p:nvGrpSpPr>
          <p:cNvPr id="1328" name="Google Shape;1328;p88"/>
          <p:cNvGrpSpPr/>
          <p:nvPr/>
        </p:nvGrpSpPr>
        <p:grpSpPr>
          <a:xfrm>
            <a:off x="5024600" y="765900"/>
            <a:ext cx="3795399" cy="2754850"/>
            <a:chOff x="5024600" y="765900"/>
            <a:chExt cx="3795399" cy="2754850"/>
          </a:xfrm>
        </p:grpSpPr>
        <p:pic>
          <p:nvPicPr>
            <p:cNvPr id="1329" name="Google Shape;1329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24600" y="765900"/>
              <a:ext cx="3795399" cy="275485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330" name="Google Shape;1330;p88"/>
            <p:cNvSpPr/>
            <p:nvPr/>
          </p:nvSpPr>
          <p:spPr>
            <a:xfrm>
              <a:off x="6432803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1" name="Google Shape;1331;p88"/>
            <p:cNvSpPr/>
            <p:nvPr/>
          </p:nvSpPr>
          <p:spPr>
            <a:xfrm>
              <a:off x="6432803" y="125087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2" name="Google Shape;1332;p88"/>
            <p:cNvSpPr/>
            <p:nvPr/>
          </p:nvSpPr>
          <p:spPr>
            <a:xfrm>
              <a:off x="6432803" y="146249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3" name="Google Shape;1333;p88"/>
            <p:cNvSpPr/>
            <p:nvPr/>
          </p:nvSpPr>
          <p:spPr>
            <a:xfrm>
              <a:off x="6432803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4" name="Google Shape;1334;p88"/>
            <p:cNvSpPr/>
            <p:nvPr/>
          </p:nvSpPr>
          <p:spPr>
            <a:xfrm>
              <a:off x="6432803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88"/>
            <p:cNvSpPr/>
            <p:nvPr/>
          </p:nvSpPr>
          <p:spPr>
            <a:xfrm>
              <a:off x="6432803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6" name="Google Shape;1336;p88"/>
            <p:cNvSpPr/>
            <p:nvPr/>
          </p:nvSpPr>
          <p:spPr>
            <a:xfrm>
              <a:off x="6432803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7" name="Google Shape;1337;p88"/>
            <p:cNvSpPr/>
            <p:nvPr/>
          </p:nvSpPr>
          <p:spPr>
            <a:xfrm>
              <a:off x="6432803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8" name="Google Shape;1338;p88"/>
            <p:cNvSpPr/>
            <p:nvPr/>
          </p:nvSpPr>
          <p:spPr>
            <a:xfrm>
              <a:off x="6432803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9" name="Google Shape;1339;p88"/>
            <p:cNvSpPr/>
            <p:nvPr/>
          </p:nvSpPr>
          <p:spPr>
            <a:xfrm>
              <a:off x="685909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0" name="Google Shape;1340;p88"/>
            <p:cNvSpPr/>
            <p:nvPr/>
          </p:nvSpPr>
          <p:spPr>
            <a:xfrm>
              <a:off x="6859095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1" name="Google Shape;1341;p88"/>
            <p:cNvSpPr/>
            <p:nvPr/>
          </p:nvSpPr>
          <p:spPr>
            <a:xfrm>
              <a:off x="6859095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2" name="Google Shape;1342;p88"/>
            <p:cNvSpPr/>
            <p:nvPr/>
          </p:nvSpPr>
          <p:spPr>
            <a:xfrm>
              <a:off x="6859095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3" name="Google Shape;1343;p88"/>
            <p:cNvSpPr/>
            <p:nvPr/>
          </p:nvSpPr>
          <p:spPr>
            <a:xfrm>
              <a:off x="6859095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4" name="Google Shape;1344;p88"/>
            <p:cNvSpPr/>
            <p:nvPr/>
          </p:nvSpPr>
          <p:spPr>
            <a:xfrm>
              <a:off x="685909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5" name="Google Shape;1345;p88"/>
            <p:cNvSpPr/>
            <p:nvPr/>
          </p:nvSpPr>
          <p:spPr>
            <a:xfrm>
              <a:off x="685909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6" name="Google Shape;1346;p88"/>
            <p:cNvSpPr/>
            <p:nvPr/>
          </p:nvSpPr>
          <p:spPr>
            <a:xfrm>
              <a:off x="601144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7" name="Google Shape;1347;p88"/>
            <p:cNvSpPr/>
            <p:nvPr/>
          </p:nvSpPr>
          <p:spPr>
            <a:xfrm>
              <a:off x="6011449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8" name="Google Shape;1348;p88"/>
            <p:cNvSpPr/>
            <p:nvPr/>
          </p:nvSpPr>
          <p:spPr>
            <a:xfrm>
              <a:off x="6011449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9" name="Google Shape;1349;p88"/>
            <p:cNvSpPr/>
            <p:nvPr/>
          </p:nvSpPr>
          <p:spPr>
            <a:xfrm>
              <a:off x="6011449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0" name="Google Shape;1350;p88"/>
            <p:cNvSpPr/>
            <p:nvPr/>
          </p:nvSpPr>
          <p:spPr>
            <a:xfrm>
              <a:off x="6011449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1" name="Google Shape;1351;p88"/>
            <p:cNvSpPr/>
            <p:nvPr/>
          </p:nvSpPr>
          <p:spPr>
            <a:xfrm>
              <a:off x="601144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2" name="Google Shape;1352;p88"/>
            <p:cNvSpPr/>
            <p:nvPr/>
          </p:nvSpPr>
          <p:spPr>
            <a:xfrm>
              <a:off x="5586138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3" name="Google Shape;1353;p88"/>
            <p:cNvSpPr/>
            <p:nvPr/>
          </p:nvSpPr>
          <p:spPr>
            <a:xfrm>
              <a:off x="5586138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4" name="Google Shape;1354;p88"/>
            <p:cNvSpPr/>
            <p:nvPr/>
          </p:nvSpPr>
          <p:spPr>
            <a:xfrm>
              <a:off x="5586138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5" name="Google Shape;1355;p88"/>
            <p:cNvSpPr/>
            <p:nvPr/>
          </p:nvSpPr>
          <p:spPr>
            <a:xfrm>
              <a:off x="5586138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6" name="Google Shape;1356;p88"/>
            <p:cNvSpPr/>
            <p:nvPr/>
          </p:nvSpPr>
          <p:spPr>
            <a:xfrm>
              <a:off x="516580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7" name="Google Shape;1357;p88"/>
            <p:cNvSpPr/>
            <p:nvPr/>
          </p:nvSpPr>
          <p:spPr>
            <a:xfrm>
              <a:off x="516580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8" name="Google Shape;1358;p88"/>
            <p:cNvSpPr/>
            <p:nvPr/>
          </p:nvSpPr>
          <p:spPr>
            <a:xfrm>
              <a:off x="7278282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9" name="Google Shape;1359;p88"/>
            <p:cNvSpPr/>
            <p:nvPr/>
          </p:nvSpPr>
          <p:spPr>
            <a:xfrm>
              <a:off x="7278282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0" name="Google Shape;1360;p88"/>
            <p:cNvSpPr/>
            <p:nvPr/>
          </p:nvSpPr>
          <p:spPr>
            <a:xfrm>
              <a:off x="7278282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1" name="Google Shape;1361;p88"/>
            <p:cNvSpPr/>
            <p:nvPr/>
          </p:nvSpPr>
          <p:spPr>
            <a:xfrm>
              <a:off x="7278282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2" name="Google Shape;1362;p88"/>
            <p:cNvSpPr/>
            <p:nvPr/>
          </p:nvSpPr>
          <p:spPr>
            <a:xfrm>
              <a:off x="7705997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3" name="Google Shape;1363;p88"/>
            <p:cNvSpPr/>
            <p:nvPr/>
          </p:nvSpPr>
          <p:spPr>
            <a:xfrm>
              <a:off x="7705997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4" name="Google Shape;1364;p88"/>
            <p:cNvSpPr/>
            <p:nvPr/>
          </p:nvSpPr>
          <p:spPr>
            <a:xfrm>
              <a:off x="7705997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5" name="Google Shape;1365;p88"/>
            <p:cNvSpPr/>
            <p:nvPr/>
          </p:nvSpPr>
          <p:spPr>
            <a:xfrm>
              <a:off x="812463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6" name="Google Shape;1366;p88"/>
            <p:cNvSpPr/>
            <p:nvPr/>
          </p:nvSpPr>
          <p:spPr>
            <a:xfrm>
              <a:off x="812463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7" name="Google Shape;1367;p88"/>
            <p:cNvSpPr/>
            <p:nvPr/>
          </p:nvSpPr>
          <p:spPr>
            <a:xfrm>
              <a:off x="812463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8" name="Google Shape;1368;p88"/>
            <p:cNvSpPr/>
            <p:nvPr/>
          </p:nvSpPr>
          <p:spPr>
            <a:xfrm>
              <a:off x="8551300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69" name="Google Shape;1369;p88"/>
          <p:cNvSpPr txBox="1"/>
          <p:nvPr>
            <p:ph idx="1" type="body"/>
          </p:nvPr>
        </p:nvSpPr>
        <p:spPr>
          <a:xfrm>
            <a:off x="371575" y="2410888"/>
            <a:ext cx="47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mean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 is 4.5 (1 d.p.)</a:t>
            </a:r>
            <a:endParaRPr sz="1800"/>
          </a:p>
        </p:txBody>
      </p:sp>
      <p:sp>
        <p:nvSpPr>
          <p:cNvPr id="1370" name="Google Shape;1370;p88"/>
          <p:cNvSpPr txBox="1"/>
          <p:nvPr>
            <p:ph idx="1" type="body"/>
          </p:nvPr>
        </p:nvSpPr>
        <p:spPr>
          <a:xfrm>
            <a:off x="371575" y="3289200"/>
            <a:ext cx="47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We can visualise the </a:t>
            </a:r>
            <a:r>
              <a:rPr b="1" lang="en-GB" sz="1800"/>
              <a:t>mean</a:t>
            </a:r>
            <a:r>
              <a:rPr lang="en-GB" sz="1800"/>
              <a:t> by either:</a:t>
            </a:r>
            <a:endParaRPr sz="1800"/>
          </a:p>
        </p:txBody>
      </p:sp>
      <p:sp>
        <p:nvSpPr>
          <p:cNvPr id="1371" name="Google Shape;1371;p88"/>
          <p:cNvSpPr txBox="1"/>
          <p:nvPr>
            <p:ph idx="1" type="body"/>
          </p:nvPr>
        </p:nvSpPr>
        <p:spPr>
          <a:xfrm>
            <a:off x="494250" y="3641400"/>
            <a:ext cx="677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placing an arrow between 4 and 5 in the list of numbers</a:t>
            </a:r>
            <a:endParaRPr sz="1800"/>
          </a:p>
        </p:txBody>
      </p:sp>
      <p:cxnSp>
        <p:nvCxnSpPr>
          <p:cNvPr id="1372" name="Google Shape;1372;p88"/>
          <p:cNvCxnSpPr/>
          <p:nvPr/>
        </p:nvCxnSpPr>
        <p:spPr>
          <a:xfrm>
            <a:off x="663926" y="1533877"/>
            <a:ext cx="0" cy="365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  <p:cxnSp>
        <p:nvCxnSpPr>
          <p:cNvPr id="1373" name="Google Shape;1373;p88"/>
          <p:cNvCxnSpPr/>
          <p:nvPr/>
        </p:nvCxnSpPr>
        <p:spPr>
          <a:xfrm rot="10800000">
            <a:off x="6738351" y="748511"/>
            <a:ext cx="0" cy="24915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grpSp>
        <p:nvGrpSpPr>
          <p:cNvPr id="1379" name="Google Shape;1379;p89"/>
          <p:cNvGrpSpPr/>
          <p:nvPr/>
        </p:nvGrpSpPr>
        <p:grpSpPr>
          <a:xfrm>
            <a:off x="5024600" y="765900"/>
            <a:ext cx="3795399" cy="2754850"/>
            <a:chOff x="5024600" y="765900"/>
            <a:chExt cx="3795399" cy="2754850"/>
          </a:xfrm>
        </p:grpSpPr>
        <p:pic>
          <p:nvPicPr>
            <p:cNvPr id="1380" name="Google Shape;1380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24600" y="765900"/>
              <a:ext cx="3795399" cy="275485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381" name="Google Shape;1381;p89"/>
            <p:cNvSpPr/>
            <p:nvPr/>
          </p:nvSpPr>
          <p:spPr>
            <a:xfrm>
              <a:off x="6432803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2" name="Google Shape;1382;p89"/>
            <p:cNvSpPr/>
            <p:nvPr/>
          </p:nvSpPr>
          <p:spPr>
            <a:xfrm>
              <a:off x="6432803" y="125087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3" name="Google Shape;1383;p89"/>
            <p:cNvSpPr/>
            <p:nvPr/>
          </p:nvSpPr>
          <p:spPr>
            <a:xfrm>
              <a:off x="6432803" y="146249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4" name="Google Shape;1384;p89"/>
            <p:cNvSpPr/>
            <p:nvPr/>
          </p:nvSpPr>
          <p:spPr>
            <a:xfrm>
              <a:off x="6432803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5" name="Google Shape;1385;p89"/>
            <p:cNvSpPr/>
            <p:nvPr/>
          </p:nvSpPr>
          <p:spPr>
            <a:xfrm>
              <a:off x="6432803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6" name="Google Shape;1386;p89"/>
            <p:cNvSpPr/>
            <p:nvPr/>
          </p:nvSpPr>
          <p:spPr>
            <a:xfrm>
              <a:off x="6432803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7" name="Google Shape;1387;p89"/>
            <p:cNvSpPr/>
            <p:nvPr/>
          </p:nvSpPr>
          <p:spPr>
            <a:xfrm>
              <a:off x="6432803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8" name="Google Shape;1388;p89"/>
            <p:cNvSpPr/>
            <p:nvPr/>
          </p:nvSpPr>
          <p:spPr>
            <a:xfrm>
              <a:off x="6432803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89"/>
            <p:cNvSpPr/>
            <p:nvPr/>
          </p:nvSpPr>
          <p:spPr>
            <a:xfrm>
              <a:off x="6432803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0" name="Google Shape;1390;p89"/>
            <p:cNvSpPr/>
            <p:nvPr/>
          </p:nvSpPr>
          <p:spPr>
            <a:xfrm>
              <a:off x="685909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1" name="Google Shape;1391;p89"/>
            <p:cNvSpPr/>
            <p:nvPr/>
          </p:nvSpPr>
          <p:spPr>
            <a:xfrm>
              <a:off x="6859095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2" name="Google Shape;1392;p89"/>
            <p:cNvSpPr/>
            <p:nvPr/>
          </p:nvSpPr>
          <p:spPr>
            <a:xfrm>
              <a:off x="6859095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3" name="Google Shape;1393;p89"/>
            <p:cNvSpPr/>
            <p:nvPr/>
          </p:nvSpPr>
          <p:spPr>
            <a:xfrm>
              <a:off x="6859095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4" name="Google Shape;1394;p89"/>
            <p:cNvSpPr/>
            <p:nvPr/>
          </p:nvSpPr>
          <p:spPr>
            <a:xfrm>
              <a:off x="6859095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5" name="Google Shape;1395;p89"/>
            <p:cNvSpPr/>
            <p:nvPr/>
          </p:nvSpPr>
          <p:spPr>
            <a:xfrm>
              <a:off x="685909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6" name="Google Shape;1396;p89"/>
            <p:cNvSpPr/>
            <p:nvPr/>
          </p:nvSpPr>
          <p:spPr>
            <a:xfrm>
              <a:off x="685909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7" name="Google Shape;1397;p89"/>
            <p:cNvSpPr/>
            <p:nvPr/>
          </p:nvSpPr>
          <p:spPr>
            <a:xfrm>
              <a:off x="601144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8" name="Google Shape;1398;p89"/>
            <p:cNvSpPr/>
            <p:nvPr/>
          </p:nvSpPr>
          <p:spPr>
            <a:xfrm>
              <a:off x="6011449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9" name="Google Shape;1399;p89"/>
            <p:cNvSpPr/>
            <p:nvPr/>
          </p:nvSpPr>
          <p:spPr>
            <a:xfrm>
              <a:off x="6011449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0" name="Google Shape;1400;p89"/>
            <p:cNvSpPr/>
            <p:nvPr/>
          </p:nvSpPr>
          <p:spPr>
            <a:xfrm>
              <a:off x="6011449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1" name="Google Shape;1401;p89"/>
            <p:cNvSpPr/>
            <p:nvPr/>
          </p:nvSpPr>
          <p:spPr>
            <a:xfrm>
              <a:off x="6011449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2" name="Google Shape;1402;p89"/>
            <p:cNvSpPr/>
            <p:nvPr/>
          </p:nvSpPr>
          <p:spPr>
            <a:xfrm>
              <a:off x="601144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3" name="Google Shape;1403;p89"/>
            <p:cNvSpPr/>
            <p:nvPr/>
          </p:nvSpPr>
          <p:spPr>
            <a:xfrm>
              <a:off x="5586138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4" name="Google Shape;1404;p89"/>
            <p:cNvSpPr/>
            <p:nvPr/>
          </p:nvSpPr>
          <p:spPr>
            <a:xfrm>
              <a:off x="5586138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5" name="Google Shape;1405;p89"/>
            <p:cNvSpPr/>
            <p:nvPr/>
          </p:nvSpPr>
          <p:spPr>
            <a:xfrm>
              <a:off x="5586138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6" name="Google Shape;1406;p89"/>
            <p:cNvSpPr/>
            <p:nvPr/>
          </p:nvSpPr>
          <p:spPr>
            <a:xfrm>
              <a:off x="5586138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7" name="Google Shape;1407;p89"/>
            <p:cNvSpPr/>
            <p:nvPr/>
          </p:nvSpPr>
          <p:spPr>
            <a:xfrm>
              <a:off x="516580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8" name="Google Shape;1408;p89"/>
            <p:cNvSpPr/>
            <p:nvPr/>
          </p:nvSpPr>
          <p:spPr>
            <a:xfrm>
              <a:off x="516580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9" name="Google Shape;1409;p89"/>
            <p:cNvSpPr/>
            <p:nvPr/>
          </p:nvSpPr>
          <p:spPr>
            <a:xfrm>
              <a:off x="7278282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0" name="Google Shape;1410;p89"/>
            <p:cNvSpPr/>
            <p:nvPr/>
          </p:nvSpPr>
          <p:spPr>
            <a:xfrm>
              <a:off x="7278282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1" name="Google Shape;1411;p89"/>
            <p:cNvSpPr/>
            <p:nvPr/>
          </p:nvSpPr>
          <p:spPr>
            <a:xfrm>
              <a:off x="7278282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2" name="Google Shape;1412;p89"/>
            <p:cNvSpPr/>
            <p:nvPr/>
          </p:nvSpPr>
          <p:spPr>
            <a:xfrm>
              <a:off x="7278282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3" name="Google Shape;1413;p89"/>
            <p:cNvSpPr/>
            <p:nvPr/>
          </p:nvSpPr>
          <p:spPr>
            <a:xfrm>
              <a:off x="7705997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4" name="Google Shape;1414;p89"/>
            <p:cNvSpPr/>
            <p:nvPr/>
          </p:nvSpPr>
          <p:spPr>
            <a:xfrm>
              <a:off x="7705997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5" name="Google Shape;1415;p89"/>
            <p:cNvSpPr/>
            <p:nvPr/>
          </p:nvSpPr>
          <p:spPr>
            <a:xfrm>
              <a:off x="7705997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6" name="Google Shape;1416;p89"/>
            <p:cNvSpPr/>
            <p:nvPr/>
          </p:nvSpPr>
          <p:spPr>
            <a:xfrm>
              <a:off x="812463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7" name="Google Shape;1417;p89"/>
            <p:cNvSpPr/>
            <p:nvPr/>
          </p:nvSpPr>
          <p:spPr>
            <a:xfrm>
              <a:off x="812463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8" name="Google Shape;1418;p89"/>
            <p:cNvSpPr/>
            <p:nvPr/>
          </p:nvSpPr>
          <p:spPr>
            <a:xfrm>
              <a:off x="812463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9" name="Google Shape;1419;p89"/>
            <p:cNvSpPr/>
            <p:nvPr/>
          </p:nvSpPr>
          <p:spPr>
            <a:xfrm>
              <a:off x="8551300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0" name="Google Shape;1420;p89"/>
          <p:cNvSpPr txBox="1"/>
          <p:nvPr>
            <p:ph idx="1" type="body"/>
          </p:nvPr>
        </p:nvSpPr>
        <p:spPr>
          <a:xfrm>
            <a:off x="371575" y="2410888"/>
            <a:ext cx="47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mean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 is </a:t>
            </a:r>
            <a:r>
              <a:rPr lang="en-GB" sz="1800"/>
              <a:t>4.5 (1 d.p.)</a:t>
            </a:r>
            <a:endParaRPr sz="1800"/>
          </a:p>
        </p:txBody>
      </p:sp>
      <p:sp>
        <p:nvSpPr>
          <p:cNvPr id="1421" name="Google Shape;1421;p89"/>
          <p:cNvSpPr txBox="1"/>
          <p:nvPr>
            <p:ph idx="1" type="body"/>
          </p:nvPr>
        </p:nvSpPr>
        <p:spPr>
          <a:xfrm>
            <a:off x="371575" y="2908200"/>
            <a:ext cx="47292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would happen to the </a:t>
            </a:r>
            <a:r>
              <a:rPr b="1" lang="en-GB" sz="1800"/>
              <a:t>mean</a:t>
            </a:r>
            <a:r>
              <a:rPr lang="en-GB" sz="1800"/>
              <a:t> if a newly collected data point was added?</a:t>
            </a:r>
            <a:endParaRPr sz="1800"/>
          </a:p>
        </p:txBody>
      </p:sp>
      <p:cxnSp>
        <p:nvCxnSpPr>
          <p:cNvPr id="1422" name="Google Shape;1422;p89"/>
          <p:cNvCxnSpPr/>
          <p:nvPr/>
        </p:nvCxnSpPr>
        <p:spPr>
          <a:xfrm rot="10800000">
            <a:off x="6738351" y="748511"/>
            <a:ext cx="0" cy="24915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  <p:sp>
        <p:nvSpPr>
          <p:cNvPr id="1423" name="Google Shape;1423;p89"/>
          <p:cNvSpPr txBox="1"/>
          <p:nvPr>
            <p:ph idx="1" type="body"/>
          </p:nvPr>
        </p:nvSpPr>
        <p:spPr>
          <a:xfrm>
            <a:off x="469400" y="3645975"/>
            <a:ext cx="321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the data point added has a value above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increase.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4" name="Google Shape;1424;p89"/>
          <p:cNvSpPr/>
          <p:nvPr/>
        </p:nvSpPr>
        <p:spPr>
          <a:xfrm>
            <a:off x="8124060" y="2307408"/>
            <a:ext cx="157500" cy="1575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89"/>
          <p:cNvSpPr txBox="1"/>
          <p:nvPr>
            <p:ph idx="1" type="body"/>
          </p:nvPr>
        </p:nvSpPr>
        <p:spPr>
          <a:xfrm>
            <a:off x="5024600" y="3780000"/>
            <a:ext cx="3600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example, if an 8 was added,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increases to 4.625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26" name="Google Shape;1426;p89"/>
          <p:cNvCxnSpPr/>
          <p:nvPr/>
        </p:nvCxnSpPr>
        <p:spPr>
          <a:xfrm rot="10800000">
            <a:off x="6966526" y="1327361"/>
            <a:ext cx="768000" cy="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427" name="Google Shape;1427;p89"/>
          <p:cNvSpPr txBox="1"/>
          <p:nvPr>
            <p:ph idx="1" type="body"/>
          </p:nvPr>
        </p:nvSpPr>
        <p:spPr>
          <a:xfrm>
            <a:off x="7734525" y="865650"/>
            <a:ext cx="9642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would increase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28" name="Google Shape;1428;p89"/>
          <p:cNvGraphicFramePr/>
          <p:nvPr/>
        </p:nvGraphicFramePr>
        <p:xfrm>
          <a:off x="371575" y="76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</a:tblGrid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429" name="Google Shape;1429;p89"/>
          <p:cNvCxnSpPr/>
          <p:nvPr/>
        </p:nvCxnSpPr>
        <p:spPr>
          <a:xfrm>
            <a:off x="663926" y="1533877"/>
            <a:ext cx="0" cy="365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grpSp>
        <p:nvGrpSpPr>
          <p:cNvPr id="1435" name="Google Shape;1435;p90"/>
          <p:cNvGrpSpPr/>
          <p:nvPr/>
        </p:nvGrpSpPr>
        <p:grpSpPr>
          <a:xfrm>
            <a:off x="5024600" y="765900"/>
            <a:ext cx="3795399" cy="2754850"/>
            <a:chOff x="5024600" y="765900"/>
            <a:chExt cx="3795399" cy="2754850"/>
          </a:xfrm>
        </p:grpSpPr>
        <p:pic>
          <p:nvPicPr>
            <p:cNvPr id="1436" name="Google Shape;1436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24600" y="765900"/>
              <a:ext cx="3795399" cy="275485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437" name="Google Shape;1437;p90"/>
            <p:cNvSpPr/>
            <p:nvPr/>
          </p:nvSpPr>
          <p:spPr>
            <a:xfrm>
              <a:off x="6432803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8" name="Google Shape;1438;p90"/>
            <p:cNvSpPr/>
            <p:nvPr/>
          </p:nvSpPr>
          <p:spPr>
            <a:xfrm>
              <a:off x="6432803" y="125087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9" name="Google Shape;1439;p90"/>
            <p:cNvSpPr/>
            <p:nvPr/>
          </p:nvSpPr>
          <p:spPr>
            <a:xfrm>
              <a:off x="6432803" y="146249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0" name="Google Shape;1440;p90"/>
            <p:cNvSpPr/>
            <p:nvPr/>
          </p:nvSpPr>
          <p:spPr>
            <a:xfrm>
              <a:off x="6432803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1" name="Google Shape;1441;p90"/>
            <p:cNvSpPr/>
            <p:nvPr/>
          </p:nvSpPr>
          <p:spPr>
            <a:xfrm>
              <a:off x="6432803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2" name="Google Shape;1442;p90"/>
            <p:cNvSpPr/>
            <p:nvPr/>
          </p:nvSpPr>
          <p:spPr>
            <a:xfrm>
              <a:off x="6432803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3" name="Google Shape;1443;p90"/>
            <p:cNvSpPr/>
            <p:nvPr/>
          </p:nvSpPr>
          <p:spPr>
            <a:xfrm>
              <a:off x="6432803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4" name="Google Shape;1444;p90"/>
            <p:cNvSpPr/>
            <p:nvPr/>
          </p:nvSpPr>
          <p:spPr>
            <a:xfrm>
              <a:off x="6432803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5" name="Google Shape;1445;p90"/>
            <p:cNvSpPr/>
            <p:nvPr/>
          </p:nvSpPr>
          <p:spPr>
            <a:xfrm>
              <a:off x="6432803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6" name="Google Shape;1446;p90"/>
            <p:cNvSpPr/>
            <p:nvPr/>
          </p:nvSpPr>
          <p:spPr>
            <a:xfrm>
              <a:off x="685909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7" name="Google Shape;1447;p90"/>
            <p:cNvSpPr/>
            <p:nvPr/>
          </p:nvSpPr>
          <p:spPr>
            <a:xfrm>
              <a:off x="6859095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8" name="Google Shape;1448;p90"/>
            <p:cNvSpPr/>
            <p:nvPr/>
          </p:nvSpPr>
          <p:spPr>
            <a:xfrm>
              <a:off x="6859095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9" name="Google Shape;1449;p90"/>
            <p:cNvSpPr/>
            <p:nvPr/>
          </p:nvSpPr>
          <p:spPr>
            <a:xfrm>
              <a:off x="6859095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0" name="Google Shape;1450;p90"/>
            <p:cNvSpPr/>
            <p:nvPr/>
          </p:nvSpPr>
          <p:spPr>
            <a:xfrm>
              <a:off x="6859095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1" name="Google Shape;1451;p90"/>
            <p:cNvSpPr/>
            <p:nvPr/>
          </p:nvSpPr>
          <p:spPr>
            <a:xfrm>
              <a:off x="685909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2" name="Google Shape;1452;p90"/>
            <p:cNvSpPr/>
            <p:nvPr/>
          </p:nvSpPr>
          <p:spPr>
            <a:xfrm>
              <a:off x="685909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3" name="Google Shape;1453;p90"/>
            <p:cNvSpPr/>
            <p:nvPr/>
          </p:nvSpPr>
          <p:spPr>
            <a:xfrm>
              <a:off x="601144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4" name="Google Shape;1454;p90"/>
            <p:cNvSpPr/>
            <p:nvPr/>
          </p:nvSpPr>
          <p:spPr>
            <a:xfrm>
              <a:off x="6011449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5" name="Google Shape;1455;p90"/>
            <p:cNvSpPr/>
            <p:nvPr/>
          </p:nvSpPr>
          <p:spPr>
            <a:xfrm>
              <a:off x="6011449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6" name="Google Shape;1456;p90"/>
            <p:cNvSpPr/>
            <p:nvPr/>
          </p:nvSpPr>
          <p:spPr>
            <a:xfrm>
              <a:off x="6011449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7" name="Google Shape;1457;p90"/>
            <p:cNvSpPr/>
            <p:nvPr/>
          </p:nvSpPr>
          <p:spPr>
            <a:xfrm>
              <a:off x="6011449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8" name="Google Shape;1458;p90"/>
            <p:cNvSpPr/>
            <p:nvPr/>
          </p:nvSpPr>
          <p:spPr>
            <a:xfrm>
              <a:off x="601144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9" name="Google Shape;1459;p90"/>
            <p:cNvSpPr/>
            <p:nvPr/>
          </p:nvSpPr>
          <p:spPr>
            <a:xfrm>
              <a:off x="5586138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0" name="Google Shape;1460;p90"/>
            <p:cNvSpPr/>
            <p:nvPr/>
          </p:nvSpPr>
          <p:spPr>
            <a:xfrm>
              <a:off x="5586138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1" name="Google Shape;1461;p90"/>
            <p:cNvSpPr/>
            <p:nvPr/>
          </p:nvSpPr>
          <p:spPr>
            <a:xfrm>
              <a:off x="5586138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2" name="Google Shape;1462;p90"/>
            <p:cNvSpPr/>
            <p:nvPr/>
          </p:nvSpPr>
          <p:spPr>
            <a:xfrm>
              <a:off x="5586138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3" name="Google Shape;1463;p90"/>
            <p:cNvSpPr/>
            <p:nvPr/>
          </p:nvSpPr>
          <p:spPr>
            <a:xfrm>
              <a:off x="516580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4" name="Google Shape;1464;p90"/>
            <p:cNvSpPr/>
            <p:nvPr/>
          </p:nvSpPr>
          <p:spPr>
            <a:xfrm>
              <a:off x="516580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5" name="Google Shape;1465;p90"/>
            <p:cNvSpPr/>
            <p:nvPr/>
          </p:nvSpPr>
          <p:spPr>
            <a:xfrm>
              <a:off x="7278282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6" name="Google Shape;1466;p90"/>
            <p:cNvSpPr/>
            <p:nvPr/>
          </p:nvSpPr>
          <p:spPr>
            <a:xfrm>
              <a:off x="7278282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7" name="Google Shape;1467;p90"/>
            <p:cNvSpPr/>
            <p:nvPr/>
          </p:nvSpPr>
          <p:spPr>
            <a:xfrm>
              <a:off x="7278282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8" name="Google Shape;1468;p90"/>
            <p:cNvSpPr/>
            <p:nvPr/>
          </p:nvSpPr>
          <p:spPr>
            <a:xfrm>
              <a:off x="7278282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9" name="Google Shape;1469;p90"/>
            <p:cNvSpPr/>
            <p:nvPr/>
          </p:nvSpPr>
          <p:spPr>
            <a:xfrm>
              <a:off x="7705997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0" name="Google Shape;1470;p90"/>
            <p:cNvSpPr/>
            <p:nvPr/>
          </p:nvSpPr>
          <p:spPr>
            <a:xfrm>
              <a:off x="7705997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1" name="Google Shape;1471;p90"/>
            <p:cNvSpPr/>
            <p:nvPr/>
          </p:nvSpPr>
          <p:spPr>
            <a:xfrm>
              <a:off x="7705997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2" name="Google Shape;1472;p90"/>
            <p:cNvSpPr/>
            <p:nvPr/>
          </p:nvSpPr>
          <p:spPr>
            <a:xfrm>
              <a:off x="812463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3" name="Google Shape;1473;p90"/>
            <p:cNvSpPr/>
            <p:nvPr/>
          </p:nvSpPr>
          <p:spPr>
            <a:xfrm>
              <a:off x="812463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4" name="Google Shape;1474;p90"/>
            <p:cNvSpPr/>
            <p:nvPr/>
          </p:nvSpPr>
          <p:spPr>
            <a:xfrm>
              <a:off x="812463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5" name="Google Shape;1475;p90"/>
            <p:cNvSpPr/>
            <p:nvPr/>
          </p:nvSpPr>
          <p:spPr>
            <a:xfrm>
              <a:off x="8551300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76" name="Google Shape;1476;p90"/>
          <p:cNvSpPr txBox="1"/>
          <p:nvPr>
            <p:ph idx="1" type="body"/>
          </p:nvPr>
        </p:nvSpPr>
        <p:spPr>
          <a:xfrm>
            <a:off x="371575" y="2410888"/>
            <a:ext cx="47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mean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 is </a:t>
            </a:r>
            <a:r>
              <a:rPr lang="en-GB" sz="1800"/>
              <a:t>4.5 (1 d.p.)</a:t>
            </a:r>
            <a:endParaRPr sz="1800"/>
          </a:p>
        </p:txBody>
      </p:sp>
      <p:sp>
        <p:nvSpPr>
          <p:cNvPr id="1477" name="Google Shape;1477;p90"/>
          <p:cNvSpPr txBox="1"/>
          <p:nvPr>
            <p:ph idx="1" type="body"/>
          </p:nvPr>
        </p:nvSpPr>
        <p:spPr>
          <a:xfrm>
            <a:off x="371575" y="2908200"/>
            <a:ext cx="47292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would happen to the </a:t>
            </a:r>
            <a:r>
              <a:rPr b="1" lang="en-GB" sz="1800"/>
              <a:t>mean</a:t>
            </a:r>
            <a:r>
              <a:rPr lang="en-GB" sz="1800"/>
              <a:t> if a newly collected data point was added?</a:t>
            </a:r>
            <a:endParaRPr sz="1800"/>
          </a:p>
        </p:txBody>
      </p:sp>
      <p:cxnSp>
        <p:nvCxnSpPr>
          <p:cNvPr id="1478" name="Google Shape;1478;p90"/>
          <p:cNvCxnSpPr/>
          <p:nvPr/>
        </p:nvCxnSpPr>
        <p:spPr>
          <a:xfrm rot="10800000">
            <a:off x="6738351" y="748511"/>
            <a:ext cx="0" cy="24915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  <p:sp>
        <p:nvSpPr>
          <p:cNvPr id="1479" name="Google Shape;1479;p90"/>
          <p:cNvSpPr txBox="1"/>
          <p:nvPr>
            <p:ph idx="1" type="body"/>
          </p:nvPr>
        </p:nvSpPr>
        <p:spPr>
          <a:xfrm>
            <a:off x="469400" y="3645975"/>
            <a:ext cx="321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the data point added has a value below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decrease.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0" name="Google Shape;1480;p90"/>
          <p:cNvSpPr/>
          <p:nvPr/>
        </p:nvSpPr>
        <p:spPr>
          <a:xfrm>
            <a:off x="5166961" y="2516376"/>
            <a:ext cx="157500" cy="1575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90"/>
          <p:cNvSpPr txBox="1"/>
          <p:nvPr>
            <p:ph idx="1" type="body"/>
          </p:nvPr>
        </p:nvSpPr>
        <p:spPr>
          <a:xfrm>
            <a:off x="5014550" y="3662750"/>
            <a:ext cx="3600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example, if a 1 was added,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decreases to 4.45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82" name="Google Shape;1482;p90"/>
          <p:cNvCxnSpPr/>
          <p:nvPr/>
        </p:nvCxnSpPr>
        <p:spPr>
          <a:xfrm>
            <a:off x="5948777" y="1120996"/>
            <a:ext cx="729300" cy="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483" name="Google Shape;1483;p90"/>
          <p:cNvSpPr txBox="1"/>
          <p:nvPr>
            <p:ph idx="1" type="body"/>
          </p:nvPr>
        </p:nvSpPr>
        <p:spPr>
          <a:xfrm flipH="1">
            <a:off x="5033178" y="773985"/>
            <a:ext cx="9156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would decrease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84" name="Google Shape;1484;p90"/>
          <p:cNvGraphicFramePr/>
          <p:nvPr/>
        </p:nvGraphicFramePr>
        <p:xfrm>
          <a:off x="371575" y="76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</a:tblGrid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485" name="Google Shape;1485;p90"/>
          <p:cNvCxnSpPr/>
          <p:nvPr/>
        </p:nvCxnSpPr>
        <p:spPr>
          <a:xfrm>
            <a:off x="663926" y="1533877"/>
            <a:ext cx="0" cy="365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grpSp>
        <p:nvGrpSpPr>
          <p:cNvPr id="1491" name="Google Shape;1491;p91"/>
          <p:cNvGrpSpPr/>
          <p:nvPr/>
        </p:nvGrpSpPr>
        <p:grpSpPr>
          <a:xfrm>
            <a:off x="5024600" y="765900"/>
            <a:ext cx="3795399" cy="2754850"/>
            <a:chOff x="5024600" y="765900"/>
            <a:chExt cx="3795399" cy="2754850"/>
          </a:xfrm>
        </p:grpSpPr>
        <p:pic>
          <p:nvPicPr>
            <p:cNvPr id="1492" name="Google Shape;1492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24600" y="765900"/>
              <a:ext cx="3795399" cy="275485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493" name="Google Shape;1493;p91"/>
            <p:cNvSpPr/>
            <p:nvPr/>
          </p:nvSpPr>
          <p:spPr>
            <a:xfrm>
              <a:off x="6432803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4" name="Google Shape;1494;p91"/>
            <p:cNvSpPr/>
            <p:nvPr/>
          </p:nvSpPr>
          <p:spPr>
            <a:xfrm>
              <a:off x="6432803" y="125087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5" name="Google Shape;1495;p91"/>
            <p:cNvSpPr/>
            <p:nvPr/>
          </p:nvSpPr>
          <p:spPr>
            <a:xfrm>
              <a:off x="6432803" y="146249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6" name="Google Shape;1496;p91"/>
            <p:cNvSpPr/>
            <p:nvPr/>
          </p:nvSpPr>
          <p:spPr>
            <a:xfrm>
              <a:off x="6432803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7" name="Google Shape;1497;p91"/>
            <p:cNvSpPr/>
            <p:nvPr/>
          </p:nvSpPr>
          <p:spPr>
            <a:xfrm>
              <a:off x="6432803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8" name="Google Shape;1498;p91"/>
            <p:cNvSpPr/>
            <p:nvPr/>
          </p:nvSpPr>
          <p:spPr>
            <a:xfrm>
              <a:off x="6432803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9" name="Google Shape;1499;p91"/>
            <p:cNvSpPr/>
            <p:nvPr/>
          </p:nvSpPr>
          <p:spPr>
            <a:xfrm>
              <a:off x="6432803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0" name="Google Shape;1500;p91"/>
            <p:cNvSpPr/>
            <p:nvPr/>
          </p:nvSpPr>
          <p:spPr>
            <a:xfrm>
              <a:off x="6432803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1" name="Google Shape;1501;p91"/>
            <p:cNvSpPr/>
            <p:nvPr/>
          </p:nvSpPr>
          <p:spPr>
            <a:xfrm>
              <a:off x="6432803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2" name="Google Shape;1502;p91"/>
            <p:cNvSpPr/>
            <p:nvPr/>
          </p:nvSpPr>
          <p:spPr>
            <a:xfrm>
              <a:off x="685909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3" name="Google Shape;1503;p91"/>
            <p:cNvSpPr/>
            <p:nvPr/>
          </p:nvSpPr>
          <p:spPr>
            <a:xfrm>
              <a:off x="6859095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4" name="Google Shape;1504;p91"/>
            <p:cNvSpPr/>
            <p:nvPr/>
          </p:nvSpPr>
          <p:spPr>
            <a:xfrm>
              <a:off x="6859095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5" name="Google Shape;1505;p91"/>
            <p:cNvSpPr/>
            <p:nvPr/>
          </p:nvSpPr>
          <p:spPr>
            <a:xfrm>
              <a:off x="6859095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6" name="Google Shape;1506;p91"/>
            <p:cNvSpPr/>
            <p:nvPr/>
          </p:nvSpPr>
          <p:spPr>
            <a:xfrm>
              <a:off x="6859095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7" name="Google Shape;1507;p91"/>
            <p:cNvSpPr/>
            <p:nvPr/>
          </p:nvSpPr>
          <p:spPr>
            <a:xfrm>
              <a:off x="685909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8" name="Google Shape;1508;p91"/>
            <p:cNvSpPr/>
            <p:nvPr/>
          </p:nvSpPr>
          <p:spPr>
            <a:xfrm>
              <a:off x="685909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9" name="Google Shape;1509;p91"/>
            <p:cNvSpPr/>
            <p:nvPr/>
          </p:nvSpPr>
          <p:spPr>
            <a:xfrm>
              <a:off x="601144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0" name="Google Shape;1510;p91"/>
            <p:cNvSpPr/>
            <p:nvPr/>
          </p:nvSpPr>
          <p:spPr>
            <a:xfrm>
              <a:off x="6011449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1" name="Google Shape;1511;p91"/>
            <p:cNvSpPr/>
            <p:nvPr/>
          </p:nvSpPr>
          <p:spPr>
            <a:xfrm>
              <a:off x="6011449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2" name="Google Shape;1512;p91"/>
            <p:cNvSpPr/>
            <p:nvPr/>
          </p:nvSpPr>
          <p:spPr>
            <a:xfrm>
              <a:off x="6011449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3" name="Google Shape;1513;p91"/>
            <p:cNvSpPr/>
            <p:nvPr/>
          </p:nvSpPr>
          <p:spPr>
            <a:xfrm>
              <a:off x="6011449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4" name="Google Shape;1514;p91"/>
            <p:cNvSpPr/>
            <p:nvPr/>
          </p:nvSpPr>
          <p:spPr>
            <a:xfrm>
              <a:off x="601144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5" name="Google Shape;1515;p91"/>
            <p:cNvSpPr/>
            <p:nvPr/>
          </p:nvSpPr>
          <p:spPr>
            <a:xfrm>
              <a:off x="5586138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6" name="Google Shape;1516;p91"/>
            <p:cNvSpPr/>
            <p:nvPr/>
          </p:nvSpPr>
          <p:spPr>
            <a:xfrm>
              <a:off x="5586138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7" name="Google Shape;1517;p91"/>
            <p:cNvSpPr/>
            <p:nvPr/>
          </p:nvSpPr>
          <p:spPr>
            <a:xfrm>
              <a:off x="5586138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8" name="Google Shape;1518;p91"/>
            <p:cNvSpPr/>
            <p:nvPr/>
          </p:nvSpPr>
          <p:spPr>
            <a:xfrm>
              <a:off x="5586138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9" name="Google Shape;1519;p91"/>
            <p:cNvSpPr/>
            <p:nvPr/>
          </p:nvSpPr>
          <p:spPr>
            <a:xfrm>
              <a:off x="516580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0" name="Google Shape;1520;p91"/>
            <p:cNvSpPr/>
            <p:nvPr/>
          </p:nvSpPr>
          <p:spPr>
            <a:xfrm>
              <a:off x="516580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1" name="Google Shape;1521;p91"/>
            <p:cNvSpPr/>
            <p:nvPr/>
          </p:nvSpPr>
          <p:spPr>
            <a:xfrm>
              <a:off x="7278282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2" name="Google Shape;1522;p91"/>
            <p:cNvSpPr/>
            <p:nvPr/>
          </p:nvSpPr>
          <p:spPr>
            <a:xfrm>
              <a:off x="7278282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3" name="Google Shape;1523;p91"/>
            <p:cNvSpPr/>
            <p:nvPr/>
          </p:nvSpPr>
          <p:spPr>
            <a:xfrm>
              <a:off x="7278282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4" name="Google Shape;1524;p91"/>
            <p:cNvSpPr/>
            <p:nvPr/>
          </p:nvSpPr>
          <p:spPr>
            <a:xfrm>
              <a:off x="7278282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5" name="Google Shape;1525;p91"/>
            <p:cNvSpPr/>
            <p:nvPr/>
          </p:nvSpPr>
          <p:spPr>
            <a:xfrm>
              <a:off x="7705997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6" name="Google Shape;1526;p91"/>
            <p:cNvSpPr/>
            <p:nvPr/>
          </p:nvSpPr>
          <p:spPr>
            <a:xfrm>
              <a:off x="7705997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7" name="Google Shape;1527;p91"/>
            <p:cNvSpPr/>
            <p:nvPr/>
          </p:nvSpPr>
          <p:spPr>
            <a:xfrm>
              <a:off x="7705997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8" name="Google Shape;1528;p91"/>
            <p:cNvSpPr/>
            <p:nvPr/>
          </p:nvSpPr>
          <p:spPr>
            <a:xfrm>
              <a:off x="812463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9" name="Google Shape;1529;p91"/>
            <p:cNvSpPr/>
            <p:nvPr/>
          </p:nvSpPr>
          <p:spPr>
            <a:xfrm>
              <a:off x="812463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0" name="Google Shape;1530;p91"/>
            <p:cNvSpPr/>
            <p:nvPr/>
          </p:nvSpPr>
          <p:spPr>
            <a:xfrm>
              <a:off x="812463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1" name="Google Shape;1531;p91"/>
            <p:cNvSpPr/>
            <p:nvPr/>
          </p:nvSpPr>
          <p:spPr>
            <a:xfrm>
              <a:off x="8551300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2" name="Google Shape;1532;p91"/>
          <p:cNvSpPr txBox="1"/>
          <p:nvPr>
            <p:ph idx="1" type="body"/>
          </p:nvPr>
        </p:nvSpPr>
        <p:spPr>
          <a:xfrm>
            <a:off x="371575" y="2410888"/>
            <a:ext cx="47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mean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 is </a:t>
            </a:r>
            <a:r>
              <a:rPr lang="en-GB" sz="1800"/>
              <a:t>4.5 (1 d.p.)</a:t>
            </a:r>
            <a:endParaRPr sz="1800"/>
          </a:p>
        </p:txBody>
      </p:sp>
      <p:sp>
        <p:nvSpPr>
          <p:cNvPr id="1533" name="Google Shape;1533;p91"/>
          <p:cNvSpPr txBox="1"/>
          <p:nvPr>
            <p:ph idx="1" type="body"/>
          </p:nvPr>
        </p:nvSpPr>
        <p:spPr>
          <a:xfrm>
            <a:off x="371575" y="2908200"/>
            <a:ext cx="40848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would happen to the </a:t>
            </a:r>
            <a:r>
              <a:rPr b="1" lang="en-GB" sz="1800"/>
              <a:t>mean</a:t>
            </a:r>
            <a:r>
              <a:rPr lang="en-GB" sz="1800"/>
              <a:t> if a data point had to be removed?</a:t>
            </a:r>
            <a:endParaRPr sz="1800"/>
          </a:p>
        </p:txBody>
      </p:sp>
      <p:cxnSp>
        <p:nvCxnSpPr>
          <p:cNvPr id="1534" name="Google Shape;1534;p91"/>
          <p:cNvCxnSpPr/>
          <p:nvPr/>
        </p:nvCxnSpPr>
        <p:spPr>
          <a:xfrm rot="10800000">
            <a:off x="6738351" y="748511"/>
            <a:ext cx="0" cy="24915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  <p:sp>
        <p:nvSpPr>
          <p:cNvPr id="1535" name="Google Shape;1535;p91"/>
          <p:cNvSpPr txBox="1"/>
          <p:nvPr>
            <p:ph idx="1" type="body"/>
          </p:nvPr>
        </p:nvSpPr>
        <p:spPr>
          <a:xfrm>
            <a:off x="393200" y="3569775"/>
            <a:ext cx="827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opposite effect would happen compared to adding a data point.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6" name="Google Shape;1536;p91"/>
          <p:cNvSpPr txBox="1"/>
          <p:nvPr>
            <p:ph idx="1" type="body"/>
          </p:nvPr>
        </p:nvSpPr>
        <p:spPr>
          <a:xfrm>
            <a:off x="393200" y="4012200"/>
            <a:ext cx="4555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Removing a data point smaller than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would make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increase.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537" name="Google Shape;1537;p91"/>
          <p:cNvGraphicFramePr/>
          <p:nvPr/>
        </p:nvGraphicFramePr>
        <p:xfrm>
          <a:off x="371575" y="76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</a:tblGrid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38" name="Google Shape;1538;p91"/>
          <p:cNvCxnSpPr/>
          <p:nvPr/>
        </p:nvCxnSpPr>
        <p:spPr>
          <a:xfrm>
            <a:off x="663926" y="1533877"/>
            <a:ext cx="0" cy="365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grpSp>
        <p:nvGrpSpPr>
          <p:cNvPr id="1544" name="Google Shape;1544;p92"/>
          <p:cNvGrpSpPr/>
          <p:nvPr/>
        </p:nvGrpSpPr>
        <p:grpSpPr>
          <a:xfrm>
            <a:off x="5024600" y="765900"/>
            <a:ext cx="3795399" cy="2754850"/>
            <a:chOff x="5024600" y="765900"/>
            <a:chExt cx="3795399" cy="2754850"/>
          </a:xfrm>
        </p:grpSpPr>
        <p:pic>
          <p:nvPicPr>
            <p:cNvPr id="1545" name="Google Shape;1545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24600" y="765900"/>
              <a:ext cx="3795399" cy="275485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546" name="Google Shape;1546;p92"/>
            <p:cNvSpPr/>
            <p:nvPr/>
          </p:nvSpPr>
          <p:spPr>
            <a:xfrm>
              <a:off x="6432803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7" name="Google Shape;1547;p92"/>
            <p:cNvSpPr/>
            <p:nvPr/>
          </p:nvSpPr>
          <p:spPr>
            <a:xfrm>
              <a:off x="6432803" y="125087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8" name="Google Shape;1548;p92"/>
            <p:cNvSpPr/>
            <p:nvPr/>
          </p:nvSpPr>
          <p:spPr>
            <a:xfrm>
              <a:off x="6432803" y="146249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9" name="Google Shape;1549;p92"/>
            <p:cNvSpPr/>
            <p:nvPr/>
          </p:nvSpPr>
          <p:spPr>
            <a:xfrm>
              <a:off x="6432803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0" name="Google Shape;1550;p92"/>
            <p:cNvSpPr/>
            <p:nvPr/>
          </p:nvSpPr>
          <p:spPr>
            <a:xfrm>
              <a:off x="6432803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1" name="Google Shape;1551;p92"/>
            <p:cNvSpPr/>
            <p:nvPr/>
          </p:nvSpPr>
          <p:spPr>
            <a:xfrm>
              <a:off x="6432803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2" name="Google Shape;1552;p92"/>
            <p:cNvSpPr/>
            <p:nvPr/>
          </p:nvSpPr>
          <p:spPr>
            <a:xfrm>
              <a:off x="6432803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3" name="Google Shape;1553;p92"/>
            <p:cNvSpPr/>
            <p:nvPr/>
          </p:nvSpPr>
          <p:spPr>
            <a:xfrm>
              <a:off x="6432803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4" name="Google Shape;1554;p92"/>
            <p:cNvSpPr/>
            <p:nvPr/>
          </p:nvSpPr>
          <p:spPr>
            <a:xfrm>
              <a:off x="6432803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5" name="Google Shape;1555;p92"/>
            <p:cNvSpPr/>
            <p:nvPr/>
          </p:nvSpPr>
          <p:spPr>
            <a:xfrm>
              <a:off x="685909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6" name="Google Shape;1556;p92"/>
            <p:cNvSpPr/>
            <p:nvPr/>
          </p:nvSpPr>
          <p:spPr>
            <a:xfrm>
              <a:off x="6859095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7" name="Google Shape;1557;p92"/>
            <p:cNvSpPr/>
            <p:nvPr/>
          </p:nvSpPr>
          <p:spPr>
            <a:xfrm>
              <a:off x="6859095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8" name="Google Shape;1558;p92"/>
            <p:cNvSpPr/>
            <p:nvPr/>
          </p:nvSpPr>
          <p:spPr>
            <a:xfrm>
              <a:off x="6859095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9" name="Google Shape;1559;p92"/>
            <p:cNvSpPr/>
            <p:nvPr/>
          </p:nvSpPr>
          <p:spPr>
            <a:xfrm>
              <a:off x="6859095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0" name="Google Shape;1560;p92"/>
            <p:cNvSpPr/>
            <p:nvPr/>
          </p:nvSpPr>
          <p:spPr>
            <a:xfrm>
              <a:off x="685909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1" name="Google Shape;1561;p92"/>
            <p:cNvSpPr/>
            <p:nvPr/>
          </p:nvSpPr>
          <p:spPr>
            <a:xfrm>
              <a:off x="685909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2" name="Google Shape;1562;p92"/>
            <p:cNvSpPr/>
            <p:nvPr/>
          </p:nvSpPr>
          <p:spPr>
            <a:xfrm>
              <a:off x="601144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3" name="Google Shape;1563;p92"/>
            <p:cNvSpPr/>
            <p:nvPr/>
          </p:nvSpPr>
          <p:spPr>
            <a:xfrm>
              <a:off x="6011449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4" name="Google Shape;1564;p92"/>
            <p:cNvSpPr/>
            <p:nvPr/>
          </p:nvSpPr>
          <p:spPr>
            <a:xfrm>
              <a:off x="6011449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5" name="Google Shape;1565;p92"/>
            <p:cNvSpPr/>
            <p:nvPr/>
          </p:nvSpPr>
          <p:spPr>
            <a:xfrm>
              <a:off x="6011449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6" name="Google Shape;1566;p92"/>
            <p:cNvSpPr/>
            <p:nvPr/>
          </p:nvSpPr>
          <p:spPr>
            <a:xfrm>
              <a:off x="6011449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92"/>
            <p:cNvSpPr/>
            <p:nvPr/>
          </p:nvSpPr>
          <p:spPr>
            <a:xfrm>
              <a:off x="601144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8" name="Google Shape;1568;p92"/>
            <p:cNvSpPr/>
            <p:nvPr/>
          </p:nvSpPr>
          <p:spPr>
            <a:xfrm>
              <a:off x="5586138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9" name="Google Shape;1569;p92"/>
            <p:cNvSpPr/>
            <p:nvPr/>
          </p:nvSpPr>
          <p:spPr>
            <a:xfrm>
              <a:off x="5586138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0" name="Google Shape;1570;p92"/>
            <p:cNvSpPr/>
            <p:nvPr/>
          </p:nvSpPr>
          <p:spPr>
            <a:xfrm>
              <a:off x="5586138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1" name="Google Shape;1571;p92"/>
            <p:cNvSpPr/>
            <p:nvPr/>
          </p:nvSpPr>
          <p:spPr>
            <a:xfrm>
              <a:off x="5586138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2" name="Google Shape;1572;p92"/>
            <p:cNvSpPr/>
            <p:nvPr/>
          </p:nvSpPr>
          <p:spPr>
            <a:xfrm>
              <a:off x="516580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3" name="Google Shape;1573;p92"/>
            <p:cNvSpPr/>
            <p:nvPr/>
          </p:nvSpPr>
          <p:spPr>
            <a:xfrm>
              <a:off x="516580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4" name="Google Shape;1574;p92"/>
            <p:cNvSpPr/>
            <p:nvPr/>
          </p:nvSpPr>
          <p:spPr>
            <a:xfrm>
              <a:off x="7278282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5" name="Google Shape;1575;p92"/>
            <p:cNvSpPr/>
            <p:nvPr/>
          </p:nvSpPr>
          <p:spPr>
            <a:xfrm>
              <a:off x="7278282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6" name="Google Shape;1576;p92"/>
            <p:cNvSpPr/>
            <p:nvPr/>
          </p:nvSpPr>
          <p:spPr>
            <a:xfrm>
              <a:off x="7278282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7" name="Google Shape;1577;p92"/>
            <p:cNvSpPr/>
            <p:nvPr/>
          </p:nvSpPr>
          <p:spPr>
            <a:xfrm>
              <a:off x="7278282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8" name="Google Shape;1578;p92"/>
            <p:cNvSpPr/>
            <p:nvPr/>
          </p:nvSpPr>
          <p:spPr>
            <a:xfrm>
              <a:off x="7705997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9" name="Google Shape;1579;p92"/>
            <p:cNvSpPr/>
            <p:nvPr/>
          </p:nvSpPr>
          <p:spPr>
            <a:xfrm>
              <a:off x="7705997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0" name="Google Shape;1580;p92"/>
            <p:cNvSpPr/>
            <p:nvPr/>
          </p:nvSpPr>
          <p:spPr>
            <a:xfrm>
              <a:off x="7705997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1" name="Google Shape;1581;p92"/>
            <p:cNvSpPr/>
            <p:nvPr/>
          </p:nvSpPr>
          <p:spPr>
            <a:xfrm>
              <a:off x="812463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2" name="Google Shape;1582;p92"/>
            <p:cNvSpPr/>
            <p:nvPr/>
          </p:nvSpPr>
          <p:spPr>
            <a:xfrm>
              <a:off x="812463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3" name="Google Shape;1583;p92"/>
            <p:cNvSpPr/>
            <p:nvPr/>
          </p:nvSpPr>
          <p:spPr>
            <a:xfrm>
              <a:off x="812463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4" name="Google Shape;1584;p92"/>
            <p:cNvSpPr/>
            <p:nvPr/>
          </p:nvSpPr>
          <p:spPr>
            <a:xfrm>
              <a:off x="8551300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5" name="Google Shape;1585;p92"/>
          <p:cNvSpPr txBox="1"/>
          <p:nvPr>
            <p:ph idx="1" type="body"/>
          </p:nvPr>
        </p:nvSpPr>
        <p:spPr>
          <a:xfrm>
            <a:off x="371575" y="2410888"/>
            <a:ext cx="47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mean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 is </a:t>
            </a:r>
            <a:r>
              <a:rPr lang="en-GB" sz="1800"/>
              <a:t>4.5 (1 d.p.)</a:t>
            </a:r>
            <a:endParaRPr sz="1800"/>
          </a:p>
        </p:txBody>
      </p:sp>
      <p:sp>
        <p:nvSpPr>
          <p:cNvPr id="1586" name="Google Shape;1586;p92"/>
          <p:cNvSpPr txBox="1"/>
          <p:nvPr>
            <p:ph idx="1" type="body"/>
          </p:nvPr>
        </p:nvSpPr>
        <p:spPr>
          <a:xfrm>
            <a:off x="371575" y="2908200"/>
            <a:ext cx="4110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GB" sz="1800"/>
              <a:t>What would happen to the </a:t>
            </a:r>
            <a:r>
              <a:rPr b="1" lang="en-GB" sz="1800"/>
              <a:t>mean</a:t>
            </a:r>
            <a:r>
              <a:rPr lang="en-GB" sz="1800"/>
              <a:t> if a data point had to be removed?</a:t>
            </a:r>
            <a:endParaRPr sz="1800"/>
          </a:p>
        </p:txBody>
      </p:sp>
      <p:cxnSp>
        <p:nvCxnSpPr>
          <p:cNvPr id="1587" name="Google Shape;1587;p92"/>
          <p:cNvCxnSpPr/>
          <p:nvPr/>
        </p:nvCxnSpPr>
        <p:spPr>
          <a:xfrm rot="10800000">
            <a:off x="6738351" y="748511"/>
            <a:ext cx="0" cy="24915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  <p:sp>
        <p:nvSpPr>
          <p:cNvPr id="1588" name="Google Shape;1588;p92"/>
          <p:cNvSpPr txBox="1"/>
          <p:nvPr>
            <p:ph idx="1" type="body"/>
          </p:nvPr>
        </p:nvSpPr>
        <p:spPr>
          <a:xfrm>
            <a:off x="317000" y="3645975"/>
            <a:ext cx="827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opposite effect would happen compared to adding a data point.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9" name="Google Shape;1589;p92"/>
          <p:cNvSpPr/>
          <p:nvPr/>
        </p:nvSpPr>
        <p:spPr>
          <a:xfrm>
            <a:off x="5405662" y="2130113"/>
            <a:ext cx="516900" cy="516900"/>
          </a:xfrm>
          <a:prstGeom prst="mathMultiply">
            <a:avLst>
              <a:gd fmla="val 14287" name="adj1"/>
            </a:avLst>
          </a:prstGeom>
          <a:solidFill>
            <a:srgbClr val="E6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92"/>
          <p:cNvSpPr txBox="1"/>
          <p:nvPr>
            <p:ph idx="1" type="body"/>
          </p:nvPr>
        </p:nvSpPr>
        <p:spPr>
          <a:xfrm>
            <a:off x="317000" y="4088400"/>
            <a:ext cx="4555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Removing the data point 2 would make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increase to 4.61 (2 d.p.)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91" name="Google Shape;1591;p92"/>
          <p:cNvCxnSpPr/>
          <p:nvPr/>
        </p:nvCxnSpPr>
        <p:spPr>
          <a:xfrm rot="10800000">
            <a:off x="6966526" y="1327361"/>
            <a:ext cx="768000" cy="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592" name="Google Shape;1592;p92"/>
          <p:cNvSpPr txBox="1"/>
          <p:nvPr>
            <p:ph idx="1" type="body"/>
          </p:nvPr>
        </p:nvSpPr>
        <p:spPr>
          <a:xfrm>
            <a:off x="7734525" y="865650"/>
            <a:ext cx="9642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would increase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593" name="Google Shape;1593;p92"/>
          <p:cNvGraphicFramePr/>
          <p:nvPr/>
        </p:nvGraphicFramePr>
        <p:xfrm>
          <a:off x="371575" y="76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</a:tblGrid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94" name="Google Shape;1594;p92"/>
          <p:cNvCxnSpPr/>
          <p:nvPr/>
        </p:nvCxnSpPr>
        <p:spPr>
          <a:xfrm>
            <a:off x="663926" y="1533877"/>
            <a:ext cx="0" cy="365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grpSp>
        <p:nvGrpSpPr>
          <p:cNvPr id="1600" name="Google Shape;1600;p93"/>
          <p:cNvGrpSpPr/>
          <p:nvPr/>
        </p:nvGrpSpPr>
        <p:grpSpPr>
          <a:xfrm>
            <a:off x="5024600" y="765900"/>
            <a:ext cx="3795399" cy="2754850"/>
            <a:chOff x="5024600" y="765900"/>
            <a:chExt cx="3795399" cy="2754850"/>
          </a:xfrm>
        </p:grpSpPr>
        <p:pic>
          <p:nvPicPr>
            <p:cNvPr id="1601" name="Google Shape;1601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24600" y="765900"/>
              <a:ext cx="3795399" cy="275485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02" name="Google Shape;1602;p93"/>
            <p:cNvSpPr/>
            <p:nvPr/>
          </p:nvSpPr>
          <p:spPr>
            <a:xfrm>
              <a:off x="6432803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3" name="Google Shape;1603;p93"/>
            <p:cNvSpPr/>
            <p:nvPr/>
          </p:nvSpPr>
          <p:spPr>
            <a:xfrm>
              <a:off x="6432803" y="125087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4" name="Google Shape;1604;p93"/>
            <p:cNvSpPr/>
            <p:nvPr/>
          </p:nvSpPr>
          <p:spPr>
            <a:xfrm>
              <a:off x="6432803" y="146249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5" name="Google Shape;1605;p93"/>
            <p:cNvSpPr/>
            <p:nvPr/>
          </p:nvSpPr>
          <p:spPr>
            <a:xfrm>
              <a:off x="6432803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6" name="Google Shape;1606;p93"/>
            <p:cNvSpPr/>
            <p:nvPr/>
          </p:nvSpPr>
          <p:spPr>
            <a:xfrm>
              <a:off x="6432803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7" name="Google Shape;1607;p93"/>
            <p:cNvSpPr/>
            <p:nvPr/>
          </p:nvSpPr>
          <p:spPr>
            <a:xfrm>
              <a:off x="6432803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8" name="Google Shape;1608;p93"/>
            <p:cNvSpPr/>
            <p:nvPr/>
          </p:nvSpPr>
          <p:spPr>
            <a:xfrm>
              <a:off x="6432803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9" name="Google Shape;1609;p93"/>
            <p:cNvSpPr/>
            <p:nvPr/>
          </p:nvSpPr>
          <p:spPr>
            <a:xfrm>
              <a:off x="6432803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0" name="Google Shape;1610;p93"/>
            <p:cNvSpPr/>
            <p:nvPr/>
          </p:nvSpPr>
          <p:spPr>
            <a:xfrm>
              <a:off x="6432803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1" name="Google Shape;1611;p93"/>
            <p:cNvSpPr/>
            <p:nvPr/>
          </p:nvSpPr>
          <p:spPr>
            <a:xfrm>
              <a:off x="685909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2" name="Google Shape;1612;p93"/>
            <p:cNvSpPr/>
            <p:nvPr/>
          </p:nvSpPr>
          <p:spPr>
            <a:xfrm>
              <a:off x="6859095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3" name="Google Shape;1613;p93"/>
            <p:cNvSpPr/>
            <p:nvPr/>
          </p:nvSpPr>
          <p:spPr>
            <a:xfrm>
              <a:off x="6859095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4" name="Google Shape;1614;p93"/>
            <p:cNvSpPr/>
            <p:nvPr/>
          </p:nvSpPr>
          <p:spPr>
            <a:xfrm>
              <a:off x="6859095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5" name="Google Shape;1615;p93"/>
            <p:cNvSpPr/>
            <p:nvPr/>
          </p:nvSpPr>
          <p:spPr>
            <a:xfrm>
              <a:off x="6859095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6" name="Google Shape;1616;p93"/>
            <p:cNvSpPr/>
            <p:nvPr/>
          </p:nvSpPr>
          <p:spPr>
            <a:xfrm>
              <a:off x="685909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7" name="Google Shape;1617;p93"/>
            <p:cNvSpPr/>
            <p:nvPr/>
          </p:nvSpPr>
          <p:spPr>
            <a:xfrm>
              <a:off x="685909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8" name="Google Shape;1618;p93"/>
            <p:cNvSpPr/>
            <p:nvPr/>
          </p:nvSpPr>
          <p:spPr>
            <a:xfrm>
              <a:off x="601144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9" name="Google Shape;1619;p93"/>
            <p:cNvSpPr/>
            <p:nvPr/>
          </p:nvSpPr>
          <p:spPr>
            <a:xfrm>
              <a:off x="6011449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0" name="Google Shape;1620;p93"/>
            <p:cNvSpPr/>
            <p:nvPr/>
          </p:nvSpPr>
          <p:spPr>
            <a:xfrm>
              <a:off x="6011449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1" name="Google Shape;1621;p93"/>
            <p:cNvSpPr/>
            <p:nvPr/>
          </p:nvSpPr>
          <p:spPr>
            <a:xfrm>
              <a:off x="6011449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2" name="Google Shape;1622;p93"/>
            <p:cNvSpPr/>
            <p:nvPr/>
          </p:nvSpPr>
          <p:spPr>
            <a:xfrm>
              <a:off x="6011449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3" name="Google Shape;1623;p93"/>
            <p:cNvSpPr/>
            <p:nvPr/>
          </p:nvSpPr>
          <p:spPr>
            <a:xfrm>
              <a:off x="601144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4" name="Google Shape;1624;p93"/>
            <p:cNvSpPr/>
            <p:nvPr/>
          </p:nvSpPr>
          <p:spPr>
            <a:xfrm>
              <a:off x="5586138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5" name="Google Shape;1625;p93"/>
            <p:cNvSpPr/>
            <p:nvPr/>
          </p:nvSpPr>
          <p:spPr>
            <a:xfrm>
              <a:off x="5586138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6" name="Google Shape;1626;p93"/>
            <p:cNvSpPr/>
            <p:nvPr/>
          </p:nvSpPr>
          <p:spPr>
            <a:xfrm>
              <a:off x="5586138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7" name="Google Shape;1627;p93"/>
            <p:cNvSpPr/>
            <p:nvPr/>
          </p:nvSpPr>
          <p:spPr>
            <a:xfrm>
              <a:off x="5586138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8" name="Google Shape;1628;p93"/>
            <p:cNvSpPr/>
            <p:nvPr/>
          </p:nvSpPr>
          <p:spPr>
            <a:xfrm>
              <a:off x="516580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9" name="Google Shape;1629;p93"/>
            <p:cNvSpPr/>
            <p:nvPr/>
          </p:nvSpPr>
          <p:spPr>
            <a:xfrm>
              <a:off x="516580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0" name="Google Shape;1630;p93"/>
            <p:cNvSpPr/>
            <p:nvPr/>
          </p:nvSpPr>
          <p:spPr>
            <a:xfrm>
              <a:off x="7278282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1" name="Google Shape;1631;p93"/>
            <p:cNvSpPr/>
            <p:nvPr/>
          </p:nvSpPr>
          <p:spPr>
            <a:xfrm>
              <a:off x="7278282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2" name="Google Shape;1632;p93"/>
            <p:cNvSpPr/>
            <p:nvPr/>
          </p:nvSpPr>
          <p:spPr>
            <a:xfrm>
              <a:off x="7278282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3" name="Google Shape;1633;p93"/>
            <p:cNvSpPr/>
            <p:nvPr/>
          </p:nvSpPr>
          <p:spPr>
            <a:xfrm>
              <a:off x="7278282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4" name="Google Shape;1634;p93"/>
            <p:cNvSpPr/>
            <p:nvPr/>
          </p:nvSpPr>
          <p:spPr>
            <a:xfrm>
              <a:off x="7705997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5" name="Google Shape;1635;p93"/>
            <p:cNvSpPr/>
            <p:nvPr/>
          </p:nvSpPr>
          <p:spPr>
            <a:xfrm>
              <a:off x="7705997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6" name="Google Shape;1636;p93"/>
            <p:cNvSpPr/>
            <p:nvPr/>
          </p:nvSpPr>
          <p:spPr>
            <a:xfrm>
              <a:off x="7705997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7" name="Google Shape;1637;p93"/>
            <p:cNvSpPr/>
            <p:nvPr/>
          </p:nvSpPr>
          <p:spPr>
            <a:xfrm>
              <a:off x="812463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8" name="Google Shape;1638;p93"/>
            <p:cNvSpPr/>
            <p:nvPr/>
          </p:nvSpPr>
          <p:spPr>
            <a:xfrm>
              <a:off x="812463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9" name="Google Shape;1639;p93"/>
            <p:cNvSpPr/>
            <p:nvPr/>
          </p:nvSpPr>
          <p:spPr>
            <a:xfrm>
              <a:off x="812463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0" name="Google Shape;1640;p93"/>
            <p:cNvSpPr/>
            <p:nvPr/>
          </p:nvSpPr>
          <p:spPr>
            <a:xfrm>
              <a:off x="8551300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41" name="Google Shape;1641;p93"/>
          <p:cNvSpPr txBox="1"/>
          <p:nvPr>
            <p:ph idx="1" type="body"/>
          </p:nvPr>
        </p:nvSpPr>
        <p:spPr>
          <a:xfrm>
            <a:off x="371575" y="2410888"/>
            <a:ext cx="47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mean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 is </a:t>
            </a:r>
            <a:r>
              <a:rPr lang="en-GB" sz="1800"/>
              <a:t>4.5 (1 d.p.)</a:t>
            </a:r>
            <a:endParaRPr sz="1800"/>
          </a:p>
        </p:txBody>
      </p:sp>
      <p:sp>
        <p:nvSpPr>
          <p:cNvPr id="1642" name="Google Shape;1642;p93"/>
          <p:cNvSpPr txBox="1"/>
          <p:nvPr>
            <p:ph idx="1" type="body"/>
          </p:nvPr>
        </p:nvSpPr>
        <p:spPr>
          <a:xfrm>
            <a:off x="371575" y="2908200"/>
            <a:ext cx="427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would happen to the </a:t>
            </a:r>
            <a:r>
              <a:rPr b="1" lang="en-GB" sz="1800"/>
              <a:t>mean</a:t>
            </a:r>
            <a:r>
              <a:rPr lang="en-GB" sz="1800"/>
              <a:t> if we had to modify the value of a data point?</a:t>
            </a:r>
            <a:endParaRPr sz="1800"/>
          </a:p>
        </p:txBody>
      </p:sp>
      <p:cxnSp>
        <p:nvCxnSpPr>
          <p:cNvPr id="1643" name="Google Shape;1643;p93"/>
          <p:cNvCxnSpPr/>
          <p:nvPr/>
        </p:nvCxnSpPr>
        <p:spPr>
          <a:xfrm rot="10800000">
            <a:off x="6738351" y="748511"/>
            <a:ext cx="0" cy="24915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  <p:sp>
        <p:nvSpPr>
          <p:cNvPr id="1644" name="Google Shape;1644;p93"/>
          <p:cNvSpPr txBox="1"/>
          <p:nvPr>
            <p:ph idx="1" type="body"/>
          </p:nvPr>
        </p:nvSpPr>
        <p:spPr>
          <a:xfrm>
            <a:off x="393200" y="3911494"/>
            <a:ext cx="827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you make the value of a data point larger,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increase.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5" name="Google Shape;1645;p93"/>
          <p:cNvSpPr txBox="1"/>
          <p:nvPr>
            <p:ph idx="1" type="body"/>
          </p:nvPr>
        </p:nvSpPr>
        <p:spPr>
          <a:xfrm>
            <a:off x="393200" y="4384044"/>
            <a:ext cx="827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you make the value of a data point smaller,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decrease.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646" name="Google Shape;1646;p93"/>
          <p:cNvGraphicFramePr/>
          <p:nvPr/>
        </p:nvGraphicFramePr>
        <p:xfrm>
          <a:off x="371575" y="76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</a:tblGrid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47" name="Google Shape;1647;p93"/>
          <p:cNvCxnSpPr/>
          <p:nvPr/>
        </p:nvCxnSpPr>
        <p:spPr>
          <a:xfrm>
            <a:off x="663926" y="1533877"/>
            <a:ext cx="0" cy="365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94"/>
          <p:cNvSpPr txBox="1"/>
          <p:nvPr>
            <p:ph idx="1" type="body"/>
          </p:nvPr>
        </p:nvSpPr>
        <p:spPr>
          <a:xfrm>
            <a:off x="393200" y="3911494"/>
            <a:ext cx="827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I modified the value of a 2 to a 9…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3" name="Google Shape;165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grpSp>
        <p:nvGrpSpPr>
          <p:cNvPr id="1654" name="Google Shape;1654;p94"/>
          <p:cNvGrpSpPr/>
          <p:nvPr/>
        </p:nvGrpSpPr>
        <p:grpSpPr>
          <a:xfrm>
            <a:off x="5024600" y="765900"/>
            <a:ext cx="3795399" cy="2754850"/>
            <a:chOff x="5024600" y="765900"/>
            <a:chExt cx="3795399" cy="2754850"/>
          </a:xfrm>
        </p:grpSpPr>
        <p:pic>
          <p:nvPicPr>
            <p:cNvPr id="1655" name="Google Shape;1655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24600" y="765900"/>
              <a:ext cx="3795399" cy="275485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656" name="Google Shape;1656;p94"/>
            <p:cNvSpPr/>
            <p:nvPr/>
          </p:nvSpPr>
          <p:spPr>
            <a:xfrm>
              <a:off x="6432803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7" name="Google Shape;1657;p94"/>
            <p:cNvSpPr/>
            <p:nvPr/>
          </p:nvSpPr>
          <p:spPr>
            <a:xfrm>
              <a:off x="6432803" y="125087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8" name="Google Shape;1658;p94"/>
            <p:cNvSpPr/>
            <p:nvPr/>
          </p:nvSpPr>
          <p:spPr>
            <a:xfrm>
              <a:off x="6432803" y="146249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9" name="Google Shape;1659;p94"/>
            <p:cNvSpPr/>
            <p:nvPr/>
          </p:nvSpPr>
          <p:spPr>
            <a:xfrm>
              <a:off x="6432803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0" name="Google Shape;1660;p94"/>
            <p:cNvSpPr/>
            <p:nvPr/>
          </p:nvSpPr>
          <p:spPr>
            <a:xfrm>
              <a:off x="6432803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1" name="Google Shape;1661;p94"/>
            <p:cNvSpPr/>
            <p:nvPr/>
          </p:nvSpPr>
          <p:spPr>
            <a:xfrm>
              <a:off x="6432803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2" name="Google Shape;1662;p94"/>
            <p:cNvSpPr/>
            <p:nvPr/>
          </p:nvSpPr>
          <p:spPr>
            <a:xfrm>
              <a:off x="6432803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3" name="Google Shape;1663;p94"/>
            <p:cNvSpPr/>
            <p:nvPr/>
          </p:nvSpPr>
          <p:spPr>
            <a:xfrm>
              <a:off x="6432803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4" name="Google Shape;1664;p94"/>
            <p:cNvSpPr/>
            <p:nvPr/>
          </p:nvSpPr>
          <p:spPr>
            <a:xfrm>
              <a:off x="6432803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5" name="Google Shape;1665;p94"/>
            <p:cNvSpPr/>
            <p:nvPr/>
          </p:nvSpPr>
          <p:spPr>
            <a:xfrm>
              <a:off x="685909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6" name="Google Shape;1666;p94"/>
            <p:cNvSpPr/>
            <p:nvPr/>
          </p:nvSpPr>
          <p:spPr>
            <a:xfrm>
              <a:off x="6859095" y="1674111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7" name="Google Shape;1667;p94"/>
            <p:cNvSpPr/>
            <p:nvPr/>
          </p:nvSpPr>
          <p:spPr>
            <a:xfrm>
              <a:off x="6859095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8" name="Google Shape;1668;p94"/>
            <p:cNvSpPr/>
            <p:nvPr/>
          </p:nvSpPr>
          <p:spPr>
            <a:xfrm>
              <a:off x="6859095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9" name="Google Shape;1669;p94"/>
            <p:cNvSpPr/>
            <p:nvPr/>
          </p:nvSpPr>
          <p:spPr>
            <a:xfrm>
              <a:off x="6859095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0" name="Google Shape;1670;p94"/>
            <p:cNvSpPr/>
            <p:nvPr/>
          </p:nvSpPr>
          <p:spPr>
            <a:xfrm>
              <a:off x="685909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1" name="Google Shape;1671;p94"/>
            <p:cNvSpPr/>
            <p:nvPr/>
          </p:nvSpPr>
          <p:spPr>
            <a:xfrm>
              <a:off x="685909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2" name="Google Shape;1672;p94"/>
            <p:cNvSpPr/>
            <p:nvPr/>
          </p:nvSpPr>
          <p:spPr>
            <a:xfrm>
              <a:off x="601144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3" name="Google Shape;1673;p94"/>
            <p:cNvSpPr/>
            <p:nvPr/>
          </p:nvSpPr>
          <p:spPr>
            <a:xfrm>
              <a:off x="6011449" y="188573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4" name="Google Shape;1674;p94"/>
            <p:cNvSpPr/>
            <p:nvPr/>
          </p:nvSpPr>
          <p:spPr>
            <a:xfrm>
              <a:off x="6011449" y="2097350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5" name="Google Shape;1675;p94"/>
            <p:cNvSpPr/>
            <p:nvPr/>
          </p:nvSpPr>
          <p:spPr>
            <a:xfrm>
              <a:off x="6011449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6" name="Google Shape;1676;p94"/>
            <p:cNvSpPr/>
            <p:nvPr/>
          </p:nvSpPr>
          <p:spPr>
            <a:xfrm>
              <a:off x="6011449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7" name="Google Shape;1677;p94"/>
            <p:cNvSpPr/>
            <p:nvPr/>
          </p:nvSpPr>
          <p:spPr>
            <a:xfrm>
              <a:off x="601144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8" name="Google Shape;1678;p94"/>
            <p:cNvSpPr/>
            <p:nvPr/>
          </p:nvSpPr>
          <p:spPr>
            <a:xfrm>
              <a:off x="5586138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9" name="Google Shape;1679;p94"/>
            <p:cNvSpPr/>
            <p:nvPr/>
          </p:nvSpPr>
          <p:spPr>
            <a:xfrm>
              <a:off x="5586138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0" name="Google Shape;1680;p94"/>
            <p:cNvSpPr/>
            <p:nvPr/>
          </p:nvSpPr>
          <p:spPr>
            <a:xfrm>
              <a:off x="5586138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1" name="Google Shape;1681;p94"/>
            <p:cNvSpPr/>
            <p:nvPr/>
          </p:nvSpPr>
          <p:spPr>
            <a:xfrm>
              <a:off x="5165809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2" name="Google Shape;1682;p94"/>
            <p:cNvSpPr/>
            <p:nvPr/>
          </p:nvSpPr>
          <p:spPr>
            <a:xfrm>
              <a:off x="5165809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3" name="Google Shape;1683;p94"/>
            <p:cNvSpPr/>
            <p:nvPr/>
          </p:nvSpPr>
          <p:spPr>
            <a:xfrm>
              <a:off x="7278282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4" name="Google Shape;1684;p94"/>
            <p:cNvSpPr/>
            <p:nvPr/>
          </p:nvSpPr>
          <p:spPr>
            <a:xfrm>
              <a:off x="7278282" y="230896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5" name="Google Shape;1685;p94"/>
            <p:cNvSpPr/>
            <p:nvPr/>
          </p:nvSpPr>
          <p:spPr>
            <a:xfrm>
              <a:off x="7278282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6" name="Google Shape;1686;p94"/>
            <p:cNvSpPr/>
            <p:nvPr/>
          </p:nvSpPr>
          <p:spPr>
            <a:xfrm>
              <a:off x="7278282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7" name="Google Shape;1687;p94"/>
            <p:cNvSpPr/>
            <p:nvPr/>
          </p:nvSpPr>
          <p:spPr>
            <a:xfrm>
              <a:off x="7705997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8" name="Google Shape;1688;p94"/>
            <p:cNvSpPr/>
            <p:nvPr/>
          </p:nvSpPr>
          <p:spPr>
            <a:xfrm>
              <a:off x="7705997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9" name="Google Shape;1689;p94"/>
            <p:cNvSpPr/>
            <p:nvPr/>
          </p:nvSpPr>
          <p:spPr>
            <a:xfrm>
              <a:off x="7705997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0" name="Google Shape;1690;p94"/>
            <p:cNvSpPr/>
            <p:nvPr/>
          </p:nvSpPr>
          <p:spPr>
            <a:xfrm>
              <a:off x="8124635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1" name="Google Shape;1691;p94"/>
            <p:cNvSpPr/>
            <p:nvPr/>
          </p:nvSpPr>
          <p:spPr>
            <a:xfrm>
              <a:off x="8124635" y="252058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2" name="Google Shape;1692;p94"/>
            <p:cNvSpPr/>
            <p:nvPr/>
          </p:nvSpPr>
          <p:spPr>
            <a:xfrm>
              <a:off x="8124635" y="2732209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3" name="Google Shape;1693;p94"/>
            <p:cNvSpPr/>
            <p:nvPr/>
          </p:nvSpPr>
          <p:spPr>
            <a:xfrm>
              <a:off x="8551300" y="2943828"/>
              <a:ext cx="157500" cy="157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94" name="Google Shape;1694;p94"/>
          <p:cNvSpPr txBox="1"/>
          <p:nvPr>
            <p:ph idx="1" type="body"/>
          </p:nvPr>
        </p:nvSpPr>
        <p:spPr>
          <a:xfrm>
            <a:off x="371575" y="2410888"/>
            <a:ext cx="47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mean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 is </a:t>
            </a:r>
            <a:r>
              <a:rPr lang="en-GB" sz="1800"/>
              <a:t>4.5 (1 d.p.)</a:t>
            </a:r>
            <a:endParaRPr sz="1800"/>
          </a:p>
        </p:txBody>
      </p:sp>
      <p:sp>
        <p:nvSpPr>
          <p:cNvPr id="1695" name="Google Shape;1695;p94"/>
          <p:cNvSpPr txBox="1"/>
          <p:nvPr>
            <p:ph idx="1" type="body"/>
          </p:nvPr>
        </p:nvSpPr>
        <p:spPr>
          <a:xfrm>
            <a:off x="371575" y="2908200"/>
            <a:ext cx="4294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would happen to the </a:t>
            </a:r>
            <a:r>
              <a:rPr b="1" lang="en-GB" sz="1800"/>
              <a:t>mean</a:t>
            </a:r>
            <a:r>
              <a:rPr lang="en-GB" sz="1800"/>
              <a:t> if we had to modify the value of a data point?</a:t>
            </a:r>
            <a:endParaRPr sz="1800"/>
          </a:p>
        </p:txBody>
      </p:sp>
      <p:cxnSp>
        <p:nvCxnSpPr>
          <p:cNvPr id="1696" name="Google Shape;1696;p94"/>
          <p:cNvCxnSpPr/>
          <p:nvPr/>
        </p:nvCxnSpPr>
        <p:spPr>
          <a:xfrm rot="10800000">
            <a:off x="6738351" y="748511"/>
            <a:ext cx="0" cy="24915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  <p:sp>
        <p:nvSpPr>
          <p:cNvPr id="1697" name="Google Shape;1697;p94"/>
          <p:cNvSpPr/>
          <p:nvPr/>
        </p:nvSpPr>
        <p:spPr>
          <a:xfrm>
            <a:off x="5586138" y="2308969"/>
            <a:ext cx="157500" cy="1575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94"/>
          <p:cNvSpPr/>
          <p:nvPr/>
        </p:nvSpPr>
        <p:spPr>
          <a:xfrm>
            <a:off x="8551061" y="2733427"/>
            <a:ext cx="157500" cy="1575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94"/>
          <p:cNvSpPr txBox="1"/>
          <p:nvPr>
            <p:ph idx="1" type="body"/>
          </p:nvPr>
        </p:nvSpPr>
        <p:spPr>
          <a:xfrm>
            <a:off x="393200" y="4305244"/>
            <a:ext cx="827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increases to 4.72 (2 d.p.)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00" name="Google Shape;1700;p94"/>
          <p:cNvCxnSpPr/>
          <p:nvPr/>
        </p:nvCxnSpPr>
        <p:spPr>
          <a:xfrm rot="10800000">
            <a:off x="6966526" y="1327361"/>
            <a:ext cx="768000" cy="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701" name="Google Shape;1701;p94"/>
          <p:cNvSpPr txBox="1"/>
          <p:nvPr>
            <p:ph idx="1" type="body"/>
          </p:nvPr>
        </p:nvSpPr>
        <p:spPr>
          <a:xfrm>
            <a:off x="7734525" y="865650"/>
            <a:ext cx="9642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would increase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02" name="Google Shape;1702;p94"/>
          <p:cNvGraphicFramePr/>
          <p:nvPr/>
        </p:nvGraphicFramePr>
        <p:xfrm>
          <a:off x="371575" y="76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  <a:gridCol w="292350"/>
              </a:tblGrid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03" name="Google Shape;1703;p94"/>
          <p:cNvCxnSpPr/>
          <p:nvPr/>
        </p:nvCxnSpPr>
        <p:spPr>
          <a:xfrm>
            <a:off x="663926" y="1533877"/>
            <a:ext cx="0" cy="365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95"/>
          <p:cNvSpPr txBox="1"/>
          <p:nvPr>
            <p:ph idx="1" type="body"/>
          </p:nvPr>
        </p:nvSpPr>
        <p:spPr>
          <a:xfrm>
            <a:off x="371575" y="765450"/>
            <a:ext cx="4377300" cy="21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mean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 is 5.58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 new piece of data was collected and added to the </a:t>
            </a:r>
            <a:r>
              <a:rPr lang="en-GB" sz="1800"/>
              <a:t>data set</a:t>
            </a:r>
            <a:r>
              <a:rPr lang="en-GB" sz="1800"/>
              <a:t>. As a result, the </a:t>
            </a:r>
            <a:r>
              <a:rPr b="1" lang="en-GB" sz="1800"/>
              <a:t>mean</a:t>
            </a:r>
            <a:r>
              <a:rPr lang="en-GB" sz="1800"/>
              <a:t> decreased.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Which of these are possible values of this newly collected data point?</a:t>
            </a:r>
            <a:endParaRPr sz="1800"/>
          </a:p>
        </p:txBody>
      </p:sp>
      <p:sp>
        <p:nvSpPr>
          <p:cNvPr id="1709" name="Google Shape;170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pic>
        <p:nvPicPr>
          <p:cNvPr id="1710" name="Google Shape;1710;p95"/>
          <p:cNvPicPr preferRelativeResize="0"/>
          <p:nvPr/>
        </p:nvPicPr>
        <p:blipFill rotWithShape="1">
          <a:blip r:embed="rId3">
            <a:alphaModFix/>
          </a:blip>
          <a:srcRect b="0" l="0" r="0" t="14258"/>
          <a:stretch/>
        </p:blipFill>
        <p:spPr>
          <a:xfrm>
            <a:off x="4736931" y="762301"/>
            <a:ext cx="4083069" cy="2541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11" name="Google Shape;1711;p95"/>
          <p:cNvSpPr/>
          <p:nvPr/>
        </p:nvSpPr>
        <p:spPr>
          <a:xfrm>
            <a:off x="6251875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95"/>
          <p:cNvSpPr/>
          <p:nvPr/>
        </p:nvSpPr>
        <p:spPr>
          <a:xfrm>
            <a:off x="6251875" y="177215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95"/>
          <p:cNvSpPr/>
          <p:nvPr/>
        </p:nvSpPr>
        <p:spPr>
          <a:xfrm>
            <a:off x="6251875" y="1999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95"/>
          <p:cNvSpPr/>
          <p:nvPr/>
        </p:nvSpPr>
        <p:spPr>
          <a:xfrm>
            <a:off x="6251875" y="2227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95"/>
          <p:cNvSpPr/>
          <p:nvPr/>
        </p:nvSpPr>
        <p:spPr>
          <a:xfrm>
            <a:off x="6251875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95"/>
          <p:cNvSpPr/>
          <p:nvPr/>
        </p:nvSpPr>
        <p:spPr>
          <a:xfrm>
            <a:off x="6710476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95"/>
          <p:cNvSpPr/>
          <p:nvPr/>
        </p:nvSpPr>
        <p:spPr>
          <a:xfrm>
            <a:off x="6710476" y="177215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95"/>
          <p:cNvSpPr/>
          <p:nvPr/>
        </p:nvSpPr>
        <p:spPr>
          <a:xfrm>
            <a:off x="6710476" y="1999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95"/>
          <p:cNvSpPr/>
          <p:nvPr/>
        </p:nvSpPr>
        <p:spPr>
          <a:xfrm>
            <a:off x="6710476" y="2227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95"/>
          <p:cNvSpPr/>
          <p:nvPr/>
        </p:nvSpPr>
        <p:spPr>
          <a:xfrm>
            <a:off x="6710476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95"/>
          <p:cNvSpPr/>
          <p:nvPr/>
        </p:nvSpPr>
        <p:spPr>
          <a:xfrm>
            <a:off x="5798948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95"/>
          <p:cNvSpPr/>
          <p:nvPr/>
        </p:nvSpPr>
        <p:spPr>
          <a:xfrm>
            <a:off x="5798948" y="2227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95"/>
          <p:cNvSpPr/>
          <p:nvPr/>
        </p:nvSpPr>
        <p:spPr>
          <a:xfrm>
            <a:off x="5798948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95"/>
          <p:cNvSpPr/>
          <p:nvPr/>
        </p:nvSpPr>
        <p:spPr>
          <a:xfrm>
            <a:off x="5340549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95"/>
          <p:cNvSpPr/>
          <p:nvPr/>
        </p:nvSpPr>
        <p:spPr>
          <a:xfrm>
            <a:off x="5340549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95"/>
          <p:cNvSpPr/>
          <p:nvPr/>
        </p:nvSpPr>
        <p:spPr>
          <a:xfrm>
            <a:off x="4889495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95"/>
          <p:cNvSpPr/>
          <p:nvPr/>
        </p:nvSpPr>
        <p:spPr>
          <a:xfrm>
            <a:off x="7161019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95"/>
          <p:cNvSpPr/>
          <p:nvPr/>
        </p:nvSpPr>
        <p:spPr>
          <a:xfrm>
            <a:off x="6251869" y="131683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95"/>
          <p:cNvSpPr/>
          <p:nvPr/>
        </p:nvSpPr>
        <p:spPr>
          <a:xfrm>
            <a:off x="6251869" y="1544493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95"/>
          <p:cNvSpPr/>
          <p:nvPr/>
        </p:nvSpPr>
        <p:spPr>
          <a:xfrm>
            <a:off x="7161019" y="177215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95"/>
          <p:cNvSpPr/>
          <p:nvPr/>
        </p:nvSpPr>
        <p:spPr>
          <a:xfrm>
            <a:off x="7161019" y="1999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95"/>
          <p:cNvSpPr/>
          <p:nvPr/>
        </p:nvSpPr>
        <p:spPr>
          <a:xfrm>
            <a:off x="7161019" y="2227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95"/>
          <p:cNvSpPr/>
          <p:nvPr/>
        </p:nvSpPr>
        <p:spPr>
          <a:xfrm>
            <a:off x="7161019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95"/>
          <p:cNvSpPr/>
          <p:nvPr/>
        </p:nvSpPr>
        <p:spPr>
          <a:xfrm>
            <a:off x="7620338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95"/>
          <p:cNvSpPr/>
          <p:nvPr/>
        </p:nvSpPr>
        <p:spPr>
          <a:xfrm>
            <a:off x="6251879" y="86152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95"/>
          <p:cNvSpPr/>
          <p:nvPr/>
        </p:nvSpPr>
        <p:spPr>
          <a:xfrm>
            <a:off x="6251879" y="108917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95"/>
          <p:cNvSpPr/>
          <p:nvPr/>
        </p:nvSpPr>
        <p:spPr>
          <a:xfrm>
            <a:off x="7620338" y="177215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95"/>
          <p:cNvSpPr/>
          <p:nvPr/>
        </p:nvSpPr>
        <p:spPr>
          <a:xfrm>
            <a:off x="7620338" y="1999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95"/>
          <p:cNvSpPr/>
          <p:nvPr/>
        </p:nvSpPr>
        <p:spPr>
          <a:xfrm>
            <a:off x="7620338" y="2227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95"/>
          <p:cNvSpPr/>
          <p:nvPr/>
        </p:nvSpPr>
        <p:spPr>
          <a:xfrm>
            <a:off x="7620338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95"/>
          <p:cNvSpPr/>
          <p:nvPr/>
        </p:nvSpPr>
        <p:spPr>
          <a:xfrm>
            <a:off x="8072181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95"/>
          <p:cNvSpPr/>
          <p:nvPr/>
        </p:nvSpPr>
        <p:spPr>
          <a:xfrm>
            <a:off x="8072181" y="108917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95"/>
          <p:cNvSpPr/>
          <p:nvPr/>
        </p:nvSpPr>
        <p:spPr>
          <a:xfrm>
            <a:off x="8072181" y="131683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95"/>
          <p:cNvSpPr/>
          <p:nvPr/>
        </p:nvSpPr>
        <p:spPr>
          <a:xfrm>
            <a:off x="8072181" y="1544493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95"/>
          <p:cNvSpPr/>
          <p:nvPr/>
        </p:nvSpPr>
        <p:spPr>
          <a:xfrm>
            <a:off x="8072181" y="177215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95"/>
          <p:cNvSpPr/>
          <p:nvPr/>
        </p:nvSpPr>
        <p:spPr>
          <a:xfrm>
            <a:off x="8072181" y="19998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95"/>
          <p:cNvSpPr/>
          <p:nvPr/>
        </p:nvSpPr>
        <p:spPr>
          <a:xfrm>
            <a:off x="8072181" y="2227466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95"/>
          <p:cNvSpPr/>
          <p:nvPr/>
        </p:nvSpPr>
        <p:spPr>
          <a:xfrm>
            <a:off x="8072181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95"/>
          <p:cNvSpPr/>
          <p:nvPr/>
        </p:nvSpPr>
        <p:spPr>
          <a:xfrm>
            <a:off x="8529683" y="268278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5"/>
          <p:cNvSpPr/>
          <p:nvPr/>
        </p:nvSpPr>
        <p:spPr>
          <a:xfrm>
            <a:off x="8529683" y="2455124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1" name="Google Shape;1751;p95"/>
          <p:cNvGrpSpPr/>
          <p:nvPr/>
        </p:nvGrpSpPr>
        <p:grpSpPr>
          <a:xfrm>
            <a:off x="371573" y="3158977"/>
            <a:ext cx="386288" cy="386288"/>
            <a:chOff x="1020916" y="1442088"/>
            <a:chExt cx="457200" cy="457200"/>
          </a:xfrm>
        </p:grpSpPr>
        <p:pic>
          <p:nvPicPr>
            <p:cNvPr id="1752" name="Google Shape;1752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3" name="Google Shape;175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4" name="Google Shape;1754;p95"/>
          <p:cNvSpPr txBox="1"/>
          <p:nvPr/>
        </p:nvSpPr>
        <p:spPr>
          <a:xfrm>
            <a:off x="856775" y="3213550"/>
            <a:ext cx="99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a 1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5" name="Google Shape;1755;p95"/>
          <p:cNvGrpSpPr/>
          <p:nvPr/>
        </p:nvGrpSpPr>
        <p:grpSpPr>
          <a:xfrm>
            <a:off x="371573" y="3653527"/>
            <a:ext cx="386288" cy="386288"/>
            <a:chOff x="1020916" y="1442088"/>
            <a:chExt cx="457200" cy="457200"/>
          </a:xfrm>
        </p:grpSpPr>
        <p:pic>
          <p:nvPicPr>
            <p:cNvPr id="1756" name="Google Shape;1756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7" name="Google Shape;175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8" name="Google Shape;1758;p95"/>
          <p:cNvGrpSpPr/>
          <p:nvPr/>
        </p:nvGrpSpPr>
        <p:grpSpPr>
          <a:xfrm>
            <a:off x="371573" y="4148077"/>
            <a:ext cx="386288" cy="386288"/>
            <a:chOff x="1020916" y="1442088"/>
            <a:chExt cx="457200" cy="457200"/>
          </a:xfrm>
        </p:grpSpPr>
        <p:pic>
          <p:nvPicPr>
            <p:cNvPr id="1759" name="Google Shape;1759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0" name="Google Shape;176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1" name="Google Shape;1761;p95"/>
          <p:cNvSpPr txBox="1"/>
          <p:nvPr/>
        </p:nvSpPr>
        <p:spPr>
          <a:xfrm>
            <a:off x="856775" y="4202650"/>
            <a:ext cx="99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 a 5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2" name="Google Shape;1762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4708" y="36371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95"/>
          <p:cNvSpPr txBox="1"/>
          <p:nvPr/>
        </p:nvSpPr>
        <p:spPr>
          <a:xfrm>
            <a:off x="856775" y="3708100"/>
            <a:ext cx="99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 a 3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95"/>
          <p:cNvSpPr/>
          <p:nvPr/>
        </p:nvSpPr>
        <p:spPr>
          <a:xfrm>
            <a:off x="7162026" y="131685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95"/>
          <p:cNvSpPr/>
          <p:nvPr/>
        </p:nvSpPr>
        <p:spPr>
          <a:xfrm>
            <a:off x="7162026" y="1544508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95"/>
          <p:cNvSpPr/>
          <p:nvPr/>
        </p:nvSpPr>
        <p:spPr>
          <a:xfrm>
            <a:off x="7162026" y="1089201"/>
            <a:ext cx="169500" cy="1695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7" name="Google Shape;1767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4708" y="413167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8" name="Google Shape;1768;p95"/>
          <p:cNvGrpSpPr/>
          <p:nvPr/>
        </p:nvGrpSpPr>
        <p:grpSpPr>
          <a:xfrm>
            <a:off x="2639423" y="3158977"/>
            <a:ext cx="386288" cy="386288"/>
            <a:chOff x="1020916" y="1442088"/>
            <a:chExt cx="457200" cy="457200"/>
          </a:xfrm>
        </p:grpSpPr>
        <p:pic>
          <p:nvPicPr>
            <p:cNvPr id="1769" name="Google Shape;1769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0" name="Google Shape;177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71" name="Google Shape;1771;p95"/>
          <p:cNvGrpSpPr/>
          <p:nvPr/>
        </p:nvGrpSpPr>
        <p:grpSpPr>
          <a:xfrm>
            <a:off x="2639423" y="3653527"/>
            <a:ext cx="386288" cy="386288"/>
            <a:chOff x="1020916" y="1442088"/>
            <a:chExt cx="457200" cy="457200"/>
          </a:xfrm>
        </p:grpSpPr>
        <p:pic>
          <p:nvPicPr>
            <p:cNvPr id="1772" name="Google Shape;1772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3" name="Google Shape;177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4" name="Google Shape;1774;p95"/>
          <p:cNvSpPr txBox="1"/>
          <p:nvPr/>
        </p:nvSpPr>
        <p:spPr>
          <a:xfrm>
            <a:off x="3124625" y="3708100"/>
            <a:ext cx="99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 a 9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95"/>
          <p:cNvSpPr txBox="1"/>
          <p:nvPr/>
        </p:nvSpPr>
        <p:spPr>
          <a:xfrm>
            <a:off x="3124625" y="3213550"/>
            <a:ext cx="99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 a 7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6" name="Google Shape;1776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4708" y="3142575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7" name="Google Shape;1777;p95"/>
          <p:cNvCxnSpPr/>
          <p:nvPr/>
        </p:nvCxnSpPr>
        <p:spPr>
          <a:xfrm rot="10800000">
            <a:off x="7026318" y="748511"/>
            <a:ext cx="0" cy="24915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dash"/>
            <a:round/>
            <a:headEnd len="med" w="med" type="stealth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sp>
        <p:nvSpPr>
          <p:cNvPr id="1783" name="Google Shape;1783;p96"/>
          <p:cNvSpPr txBox="1"/>
          <p:nvPr>
            <p:ph idx="1" type="body"/>
          </p:nvPr>
        </p:nvSpPr>
        <p:spPr>
          <a:xfrm>
            <a:off x="371575" y="1451250"/>
            <a:ext cx="85245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mean</a:t>
            </a:r>
            <a:r>
              <a:rPr lang="en-GB" sz="1800"/>
              <a:t> is currently 15.27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Match the statements about modifying, adding, or removing a data point to its effect on the </a:t>
            </a:r>
            <a:r>
              <a:rPr b="1" lang="en-GB" sz="1800"/>
              <a:t>mean</a:t>
            </a:r>
            <a:r>
              <a:rPr lang="en-GB" sz="1800"/>
              <a:t> of the </a:t>
            </a:r>
            <a:r>
              <a:rPr lang="en-GB" sz="1800"/>
              <a:t>data set</a:t>
            </a:r>
            <a:r>
              <a:rPr lang="en-GB" sz="1800"/>
              <a:t>.</a:t>
            </a:r>
            <a:endParaRPr sz="1800"/>
          </a:p>
        </p:txBody>
      </p:sp>
      <p:graphicFrame>
        <p:nvGraphicFramePr>
          <p:cNvPr id="1784" name="Google Shape;1784;p96"/>
          <p:cNvGraphicFramePr/>
          <p:nvPr/>
        </p:nvGraphicFramePr>
        <p:xfrm>
          <a:off x="1690688" y="802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5" name="Google Shape;1785;p96"/>
          <p:cNvSpPr txBox="1"/>
          <p:nvPr/>
        </p:nvSpPr>
        <p:spPr>
          <a:xfrm>
            <a:off x="885400" y="2859625"/>
            <a:ext cx="280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the data point 15.27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96"/>
          <p:cNvSpPr txBox="1"/>
          <p:nvPr/>
        </p:nvSpPr>
        <p:spPr>
          <a:xfrm>
            <a:off x="885400" y="3848725"/>
            <a:ext cx="280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modify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17 to an 11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96"/>
          <p:cNvSpPr txBox="1"/>
          <p:nvPr/>
        </p:nvSpPr>
        <p:spPr>
          <a:xfrm>
            <a:off x="885400" y="3354175"/>
            <a:ext cx="280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the data point 13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96"/>
          <p:cNvSpPr txBox="1"/>
          <p:nvPr/>
        </p:nvSpPr>
        <p:spPr>
          <a:xfrm>
            <a:off x="5919225" y="2859650"/>
            <a:ext cx="230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increases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96"/>
          <p:cNvSpPr txBox="1"/>
          <p:nvPr/>
        </p:nvSpPr>
        <p:spPr>
          <a:xfrm>
            <a:off x="5919225" y="3848750"/>
            <a:ext cx="290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remains invariant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96"/>
          <p:cNvSpPr txBox="1"/>
          <p:nvPr/>
        </p:nvSpPr>
        <p:spPr>
          <a:xfrm>
            <a:off x="5919225" y="3354200"/>
            <a:ext cx="230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decreases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1" name="Google Shape;1791;p96"/>
          <p:cNvCxnSpPr>
            <a:endCxn id="1789" idx="1"/>
          </p:cNvCxnSpPr>
          <p:nvPr/>
        </p:nvCxnSpPr>
        <p:spPr>
          <a:xfrm>
            <a:off x="3693825" y="2998250"/>
            <a:ext cx="2225400" cy="989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2" name="Google Shape;1792;p96"/>
          <p:cNvCxnSpPr>
            <a:stCxn id="1787" idx="3"/>
            <a:endCxn id="1788" idx="1"/>
          </p:cNvCxnSpPr>
          <p:nvPr/>
        </p:nvCxnSpPr>
        <p:spPr>
          <a:xfrm flipH="1" rot="10800000">
            <a:off x="3693700" y="2998375"/>
            <a:ext cx="2225400" cy="494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3" name="Google Shape;1793;p96"/>
          <p:cNvCxnSpPr>
            <a:endCxn id="1790" idx="1"/>
          </p:cNvCxnSpPr>
          <p:nvPr/>
        </p:nvCxnSpPr>
        <p:spPr>
          <a:xfrm flipH="1" rot="10800000">
            <a:off x="3693825" y="3492800"/>
            <a:ext cx="2225400" cy="494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sp>
        <p:nvSpPr>
          <p:cNvPr id="1799" name="Google Shape;1799;p97"/>
          <p:cNvSpPr txBox="1"/>
          <p:nvPr>
            <p:ph idx="1" type="body"/>
          </p:nvPr>
        </p:nvSpPr>
        <p:spPr>
          <a:xfrm>
            <a:off x="371575" y="710950"/>
            <a:ext cx="74103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Izzy is now taking part in the junior regional go-kart championship, consisting of 9 races.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Below are the points she’s earnt for each of the first 8 races.</a:t>
            </a:r>
            <a:endParaRPr sz="1800"/>
          </a:p>
        </p:txBody>
      </p:sp>
      <p:sp>
        <p:nvSpPr>
          <p:cNvPr id="1800" name="Google Shape;1800;p97"/>
          <p:cNvSpPr txBox="1"/>
          <p:nvPr>
            <p:ph idx="1" type="body"/>
          </p:nvPr>
        </p:nvSpPr>
        <p:spPr>
          <a:xfrm>
            <a:off x="371575" y="3118675"/>
            <a:ext cx="8524500" cy="13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In order for her to advance to the national championship, she needs to have a </a:t>
            </a:r>
            <a:r>
              <a:rPr b="1" lang="en-GB" sz="1800"/>
              <a:t>mean</a:t>
            </a:r>
            <a:r>
              <a:rPr lang="en-GB" sz="1800"/>
              <a:t> score of at least 7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is the minimum number of points she must score in race 9 to advance to the national championship?</a:t>
            </a:r>
            <a:endParaRPr sz="1800"/>
          </a:p>
        </p:txBody>
      </p:sp>
      <p:pic>
        <p:nvPicPr>
          <p:cNvPr id="1801" name="Google Shape;1801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5625" y="740062"/>
            <a:ext cx="1114250" cy="1078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2" name="Google Shape;1802;p97"/>
          <p:cNvGraphicFramePr/>
          <p:nvPr/>
        </p:nvGraphicFramePr>
        <p:xfrm>
          <a:off x="400200" y="209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928600"/>
                <a:gridCol w="592075"/>
                <a:gridCol w="592075"/>
                <a:gridCol w="592075"/>
                <a:gridCol w="592075"/>
                <a:gridCol w="592075"/>
                <a:gridCol w="592075"/>
                <a:gridCol w="592075"/>
                <a:gridCol w="592075"/>
                <a:gridCol w="592075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ace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00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oints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98"/>
          <p:cNvSpPr txBox="1"/>
          <p:nvPr>
            <p:ph idx="1" type="body"/>
          </p:nvPr>
        </p:nvSpPr>
        <p:spPr>
          <a:xfrm>
            <a:off x="371575" y="674863"/>
            <a:ext cx="8524500" cy="13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In order for her to advance to the national championship, she needs to have a </a:t>
            </a:r>
            <a:r>
              <a:rPr b="1" lang="en-GB" sz="1800"/>
              <a:t>mean</a:t>
            </a:r>
            <a:r>
              <a:rPr lang="en-GB" sz="1800"/>
              <a:t> score of at least 7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is the minimum number of points she must score in race 9 to advance to the national championship?</a:t>
            </a:r>
            <a:endParaRPr sz="1800"/>
          </a:p>
        </p:txBody>
      </p:sp>
      <p:sp>
        <p:nvSpPr>
          <p:cNvPr id="1808" name="Google Shape;1808;p98"/>
          <p:cNvSpPr/>
          <p:nvPr/>
        </p:nvSpPr>
        <p:spPr>
          <a:xfrm>
            <a:off x="2204875" y="972003"/>
            <a:ext cx="1064700" cy="292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9" name="Google Shape;1809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graphicFrame>
        <p:nvGraphicFramePr>
          <p:cNvPr id="1810" name="Google Shape;1810;p98"/>
          <p:cNvGraphicFramePr/>
          <p:nvPr/>
        </p:nvGraphicFramePr>
        <p:xfrm>
          <a:off x="400200" y="2160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928600"/>
                <a:gridCol w="592075"/>
                <a:gridCol w="592075"/>
                <a:gridCol w="592075"/>
                <a:gridCol w="592075"/>
                <a:gridCol w="592075"/>
                <a:gridCol w="592075"/>
                <a:gridCol w="592075"/>
                <a:gridCol w="592075"/>
                <a:gridCol w="592075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ace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00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oints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1" name="Google Shape;1811;p98"/>
          <p:cNvSpPr txBox="1"/>
          <p:nvPr>
            <p:ph idx="1" type="body"/>
          </p:nvPr>
        </p:nvSpPr>
        <p:spPr>
          <a:xfrm>
            <a:off x="371575" y="3087425"/>
            <a:ext cx="8397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 </a:t>
            </a:r>
            <a:r>
              <a:rPr b="1" lang="en-GB" sz="1800"/>
              <a:t>mean</a:t>
            </a:r>
            <a:r>
              <a:rPr lang="en-GB" sz="1800"/>
              <a:t> score of 7 points across 9 races means Izzy’s total score across the 9 races must be:</a:t>
            </a:r>
            <a:endParaRPr sz="1800"/>
          </a:p>
        </p:txBody>
      </p:sp>
      <p:sp>
        <p:nvSpPr>
          <p:cNvPr id="1812" name="Google Shape;1812;p98"/>
          <p:cNvSpPr/>
          <p:nvPr/>
        </p:nvSpPr>
        <p:spPr>
          <a:xfrm>
            <a:off x="6657475" y="1424175"/>
            <a:ext cx="808800" cy="292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98"/>
          <p:cNvSpPr txBox="1"/>
          <p:nvPr>
            <p:ph idx="1" type="body"/>
          </p:nvPr>
        </p:nvSpPr>
        <p:spPr>
          <a:xfrm>
            <a:off x="4076300" y="3641400"/>
            <a:ext cx="111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7 × 9 =</a:t>
            </a:r>
            <a:endParaRPr sz="1800"/>
          </a:p>
        </p:txBody>
      </p:sp>
      <p:sp>
        <p:nvSpPr>
          <p:cNvPr id="1814" name="Google Shape;1814;p98"/>
          <p:cNvSpPr txBox="1"/>
          <p:nvPr>
            <p:ph idx="1" type="body"/>
          </p:nvPr>
        </p:nvSpPr>
        <p:spPr>
          <a:xfrm>
            <a:off x="371575" y="4022088"/>
            <a:ext cx="852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points total of her first 8 races is:</a:t>
            </a:r>
            <a:endParaRPr sz="1800"/>
          </a:p>
        </p:txBody>
      </p:sp>
      <p:sp>
        <p:nvSpPr>
          <p:cNvPr id="1815" name="Google Shape;1815;p98"/>
          <p:cNvSpPr txBox="1"/>
          <p:nvPr>
            <p:ph idx="1" type="body"/>
          </p:nvPr>
        </p:nvSpPr>
        <p:spPr>
          <a:xfrm>
            <a:off x="4725077" y="3641400"/>
            <a:ext cx="46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63</a:t>
            </a:r>
            <a:endParaRPr sz="1800"/>
          </a:p>
        </p:txBody>
      </p:sp>
      <p:sp>
        <p:nvSpPr>
          <p:cNvPr id="1816" name="Google Shape;1816;p98"/>
          <p:cNvSpPr txBox="1"/>
          <p:nvPr>
            <p:ph idx="1" type="body"/>
          </p:nvPr>
        </p:nvSpPr>
        <p:spPr>
          <a:xfrm>
            <a:off x="2061525" y="4299300"/>
            <a:ext cx="514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3 + 5 + 8 + 4 + 10 + 10 + 7 + 8 = 55</a:t>
            </a:r>
            <a:endParaRPr sz="1800"/>
          </a:p>
        </p:txBody>
      </p:sp>
      <p:sp>
        <p:nvSpPr>
          <p:cNvPr id="1817" name="Google Shape;1817;p98"/>
          <p:cNvSpPr/>
          <p:nvPr/>
        </p:nvSpPr>
        <p:spPr>
          <a:xfrm>
            <a:off x="4778100" y="3633600"/>
            <a:ext cx="363900" cy="292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98"/>
          <p:cNvSpPr/>
          <p:nvPr/>
        </p:nvSpPr>
        <p:spPr>
          <a:xfrm>
            <a:off x="5399850" y="4291500"/>
            <a:ext cx="363900" cy="292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98"/>
          <p:cNvSpPr txBox="1"/>
          <p:nvPr>
            <p:ph idx="1" type="body"/>
          </p:nvPr>
        </p:nvSpPr>
        <p:spPr>
          <a:xfrm>
            <a:off x="5920325" y="3852663"/>
            <a:ext cx="111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63 </a:t>
            </a:r>
            <a:r>
              <a:rPr lang="en-GB" sz="1800">
                <a:solidFill>
                  <a:srgbClr val="202124"/>
                </a:solidFill>
              </a:rPr>
              <a:t>−</a:t>
            </a:r>
            <a:r>
              <a:rPr lang="en-GB" sz="1800"/>
              <a:t> 55 = </a:t>
            </a:r>
            <a:endParaRPr sz="1800"/>
          </a:p>
        </p:txBody>
      </p:sp>
      <p:graphicFrame>
        <p:nvGraphicFramePr>
          <p:cNvPr id="1820" name="Google Shape;1820;p98"/>
          <p:cNvGraphicFramePr/>
          <p:nvPr/>
        </p:nvGraphicFramePr>
        <p:xfrm>
          <a:off x="6065400" y="2561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592075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1" name="Google Shape;1821;p98"/>
          <p:cNvSpPr txBox="1"/>
          <p:nvPr>
            <p:ph idx="1" type="body"/>
          </p:nvPr>
        </p:nvSpPr>
        <p:spPr>
          <a:xfrm>
            <a:off x="6922225" y="3852675"/>
            <a:ext cx="19737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8 at least in the final race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99"/>
          <p:cNvSpPr txBox="1"/>
          <p:nvPr/>
        </p:nvSpPr>
        <p:spPr>
          <a:xfrm>
            <a:off x="295375" y="1945225"/>
            <a:ext cx="4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original total of all 5 data points is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sp>
        <p:nvSpPr>
          <p:cNvPr id="1828" name="Google Shape;1828;p99"/>
          <p:cNvSpPr txBox="1"/>
          <p:nvPr>
            <p:ph idx="1" type="body"/>
          </p:nvPr>
        </p:nvSpPr>
        <p:spPr>
          <a:xfrm>
            <a:off x="371575" y="733800"/>
            <a:ext cx="852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mean</a:t>
            </a:r>
            <a:r>
              <a:rPr lang="en-GB" sz="1800"/>
              <a:t> of 5 numbers is 20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Match the statements to the calculations that complete each sentence.</a:t>
            </a:r>
            <a:endParaRPr sz="1800"/>
          </a:p>
        </p:txBody>
      </p:sp>
      <p:sp>
        <p:nvSpPr>
          <p:cNvPr id="1829" name="Google Shape;1829;p99"/>
          <p:cNvSpPr txBox="1"/>
          <p:nvPr/>
        </p:nvSpPr>
        <p:spPr>
          <a:xfrm>
            <a:off x="295375" y="3696325"/>
            <a:ext cx="4848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the new </a:t>
            </a:r>
            <a:r>
              <a:rPr b="1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this modified data set is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99"/>
          <p:cNvSpPr txBox="1"/>
          <p:nvPr/>
        </p:nvSpPr>
        <p:spPr>
          <a:xfrm>
            <a:off x="295375" y="2661475"/>
            <a:ext cx="4848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 data point had to be increased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from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16 to 26, the new total of all 5 data points is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99"/>
          <p:cNvSpPr txBox="1"/>
          <p:nvPr/>
        </p:nvSpPr>
        <p:spPr>
          <a:xfrm>
            <a:off x="6909825" y="1945250"/>
            <a:ext cx="160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110 ÷ 5 = 22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99"/>
          <p:cNvSpPr txBox="1"/>
          <p:nvPr/>
        </p:nvSpPr>
        <p:spPr>
          <a:xfrm>
            <a:off x="6909825" y="3696350"/>
            <a:ext cx="185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 + 10 = 110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99"/>
          <p:cNvSpPr txBox="1"/>
          <p:nvPr/>
        </p:nvSpPr>
        <p:spPr>
          <a:xfrm>
            <a:off x="6909825" y="2820800"/>
            <a:ext cx="160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20 = 100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sp>
        <p:nvSpPr>
          <p:cNvPr id="1839" name="Google Shape;1839;p100"/>
          <p:cNvSpPr txBox="1"/>
          <p:nvPr>
            <p:ph idx="1" type="body"/>
          </p:nvPr>
        </p:nvSpPr>
        <p:spPr>
          <a:xfrm>
            <a:off x="371575" y="733800"/>
            <a:ext cx="852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mean</a:t>
            </a:r>
            <a:r>
              <a:rPr lang="en-GB" sz="1800"/>
              <a:t> of 5 numbers is 20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Match the statements to the calculations that complete each sentence.</a:t>
            </a:r>
            <a:endParaRPr sz="1800"/>
          </a:p>
        </p:txBody>
      </p:sp>
      <p:sp>
        <p:nvSpPr>
          <p:cNvPr id="1840" name="Google Shape;1840;p100"/>
          <p:cNvSpPr txBox="1"/>
          <p:nvPr/>
        </p:nvSpPr>
        <p:spPr>
          <a:xfrm>
            <a:off x="295375" y="1945225"/>
            <a:ext cx="4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original total of all 5 data points is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100"/>
          <p:cNvSpPr txBox="1"/>
          <p:nvPr/>
        </p:nvSpPr>
        <p:spPr>
          <a:xfrm>
            <a:off x="295375" y="3696325"/>
            <a:ext cx="4848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the new </a:t>
            </a:r>
            <a:r>
              <a:rPr b="1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this modified data set is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00"/>
          <p:cNvSpPr txBox="1"/>
          <p:nvPr/>
        </p:nvSpPr>
        <p:spPr>
          <a:xfrm>
            <a:off x="295375" y="2661475"/>
            <a:ext cx="4848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 data point had to be increased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from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16 to 26, the new total of all 5 data points is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3" name="Google Shape;1843;p100"/>
          <p:cNvSpPr txBox="1"/>
          <p:nvPr/>
        </p:nvSpPr>
        <p:spPr>
          <a:xfrm>
            <a:off x="6909825" y="1945250"/>
            <a:ext cx="160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110 ÷ 5 = 22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100"/>
          <p:cNvSpPr txBox="1"/>
          <p:nvPr/>
        </p:nvSpPr>
        <p:spPr>
          <a:xfrm>
            <a:off x="6909825" y="3696350"/>
            <a:ext cx="185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 + 10 = 110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100"/>
          <p:cNvSpPr txBox="1"/>
          <p:nvPr/>
        </p:nvSpPr>
        <p:spPr>
          <a:xfrm>
            <a:off x="6909825" y="2820800"/>
            <a:ext cx="160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20 = 100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6" name="Google Shape;1846;p100"/>
          <p:cNvCxnSpPr>
            <a:endCxn id="1845" idx="1"/>
          </p:cNvCxnSpPr>
          <p:nvPr/>
        </p:nvCxnSpPr>
        <p:spPr>
          <a:xfrm>
            <a:off x="5144325" y="2083700"/>
            <a:ext cx="1765500" cy="875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7" name="Google Shape;1847;p100"/>
          <p:cNvCxnSpPr>
            <a:endCxn id="1844" idx="1"/>
          </p:cNvCxnSpPr>
          <p:nvPr/>
        </p:nvCxnSpPr>
        <p:spPr>
          <a:xfrm>
            <a:off x="5144325" y="2959250"/>
            <a:ext cx="1765500" cy="875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100"/>
          <p:cNvCxnSpPr>
            <a:endCxn id="1843" idx="1"/>
          </p:cNvCxnSpPr>
          <p:nvPr/>
        </p:nvCxnSpPr>
        <p:spPr>
          <a:xfrm flipH="1" rot="10800000">
            <a:off x="5144325" y="2083850"/>
            <a:ext cx="1765500" cy="1910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01"/>
          <p:cNvSpPr txBox="1"/>
          <p:nvPr>
            <p:ph idx="4294967295" type="body"/>
          </p:nvPr>
        </p:nvSpPr>
        <p:spPr>
          <a:xfrm>
            <a:off x="538275" y="2894050"/>
            <a:ext cx="8281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c) One extra data point is added to the original </a:t>
            </a:r>
            <a:r>
              <a:rPr lang="en-GB" sz="1800"/>
              <a:t>data set</a:t>
            </a:r>
            <a:r>
              <a:rPr lang="en-GB" sz="1800"/>
              <a:t>. The mean stays the same. What is the value of this extra data point?</a:t>
            </a:r>
            <a:endParaRPr sz="1800"/>
          </a:p>
        </p:txBody>
      </p:sp>
      <p:sp>
        <p:nvSpPr>
          <p:cNvPr id="1854" name="Google Shape;1854;p101"/>
          <p:cNvSpPr txBox="1"/>
          <p:nvPr>
            <p:ph idx="4294967295" type="body"/>
          </p:nvPr>
        </p:nvSpPr>
        <p:spPr>
          <a:xfrm>
            <a:off x="538275" y="1943725"/>
            <a:ext cx="8281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b) If I had to modify one data point from 3 to 8, by how much would the mean increase?</a:t>
            </a:r>
            <a:endParaRPr sz="1800"/>
          </a:p>
        </p:txBody>
      </p:sp>
      <p:sp>
        <p:nvSpPr>
          <p:cNvPr id="1855" name="Google Shape;1855;p101"/>
          <p:cNvSpPr txBox="1"/>
          <p:nvPr>
            <p:ph idx="4294967295" type="body"/>
          </p:nvPr>
        </p:nvSpPr>
        <p:spPr>
          <a:xfrm>
            <a:off x="538275" y="1353400"/>
            <a:ext cx="828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a) What is the total value of this </a:t>
            </a:r>
            <a:r>
              <a:rPr lang="en-GB" sz="1800"/>
              <a:t>data set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856" name="Google Shape;1856;p101"/>
          <p:cNvSpPr txBox="1"/>
          <p:nvPr>
            <p:ph idx="4294967295" type="body"/>
          </p:nvPr>
        </p:nvSpPr>
        <p:spPr>
          <a:xfrm>
            <a:off x="365246" y="875825"/>
            <a:ext cx="849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1</a:t>
            </a:r>
            <a:r>
              <a:rPr lang="en-GB" sz="1800"/>
              <a:t>) The mean of 5 numbers is 4</a:t>
            </a:r>
            <a:endParaRPr sz="1800"/>
          </a:p>
        </p:txBody>
      </p:sp>
      <p:sp>
        <p:nvSpPr>
          <p:cNvPr id="1857" name="Google Shape;1857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sp>
        <p:nvSpPr>
          <p:cNvPr id="1858" name="Google Shape;1858;p101"/>
          <p:cNvSpPr txBox="1"/>
          <p:nvPr>
            <p:ph idx="4294967295" type="body"/>
          </p:nvPr>
        </p:nvSpPr>
        <p:spPr>
          <a:xfrm>
            <a:off x="538275" y="3844375"/>
            <a:ext cx="8281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d) One data point is removed from the original </a:t>
            </a:r>
            <a:r>
              <a:rPr lang="en-GB" sz="1800"/>
              <a:t>data set</a:t>
            </a:r>
            <a:r>
              <a:rPr lang="en-GB" sz="1800"/>
              <a:t>. The mean decreases to 3. What is the value of the data point that was removed?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sp>
        <p:nvSpPr>
          <p:cNvPr id="1864" name="Google Shape;1864;p102"/>
          <p:cNvSpPr txBox="1"/>
          <p:nvPr>
            <p:ph idx="4294967295" type="body"/>
          </p:nvPr>
        </p:nvSpPr>
        <p:spPr>
          <a:xfrm>
            <a:off x="538275" y="2553325"/>
            <a:ext cx="8281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GB" sz="1800"/>
              <a:t>b) If I had to modify one data point from 3 to 8, by how much would the mean increase?</a:t>
            </a:r>
            <a:endParaRPr sz="1800"/>
          </a:p>
        </p:txBody>
      </p:sp>
      <p:sp>
        <p:nvSpPr>
          <p:cNvPr id="1865" name="Google Shape;1865;p102"/>
          <p:cNvSpPr txBox="1"/>
          <p:nvPr>
            <p:ph idx="4294967295" type="body"/>
          </p:nvPr>
        </p:nvSpPr>
        <p:spPr>
          <a:xfrm>
            <a:off x="538275" y="1353400"/>
            <a:ext cx="828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a) What is the total value of this </a:t>
            </a:r>
            <a:r>
              <a:rPr lang="en-GB" sz="1800"/>
              <a:t>data set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866" name="Google Shape;1866;p102"/>
          <p:cNvSpPr txBox="1"/>
          <p:nvPr>
            <p:ph idx="4294967295" type="body"/>
          </p:nvPr>
        </p:nvSpPr>
        <p:spPr>
          <a:xfrm>
            <a:off x="371575" y="875825"/>
            <a:ext cx="852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1</a:t>
            </a:r>
            <a:r>
              <a:rPr lang="en-GB" sz="1800"/>
              <a:t>) The mean of 5 numbers is 4</a:t>
            </a:r>
            <a:endParaRPr sz="1800"/>
          </a:p>
        </p:txBody>
      </p:sp>
      <p:sp>
        <p:nvSpPr>
          <p:cNvPr id="1867" name="Google Shape;1867;p102"/>
          <p:cNvSpPr txBox="1"/>
          <p:nvPr>
            <p:ph idx="4294967295" type="body"/>
          </p:nvPr>
        </p:nvSpPr>
        <p:spPr>
          <a:xfrm>
            <a:off x="1227450" y="1767878"/>
            <a:ext cx="37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4 = 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8" name="Google Shape;1868;p102"/>
          <p:cNvSpPr txBox="1"/>
          <p:nvPr>
            <p:ph idx="4294967295" type="body"/>
          </p:nvPr>
        </p:nvSpPr>
        <p:spPr>
          <a:xfrm>
            <a:off x="1227450" y="3680375"/>
            <a:ext cx="759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÷ 5 = 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mean increases by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9" name="Google Shape;1869;p102"/>
          <p:cNvSpPr txBox="1"/>
          <p:nvPr>
            <p:ph idx="4294967295" type="body"/>
          </p:nvPr>
        </p:nvSpPr>
        <p:spPr>
          <a:xfrm>
            <a:off x="1227450" y="3281550"/>
            <a:ext cx="759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increases by 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sp>
        <p:nvSpPr>
          <p:cNvPr id="1875" name="Google Shape;1875;p103"/>
          <p:cNvSpPr txBox="1"/>
          <p:nvPr>
            <p:ph idx="4294967295" type="body"/>
          </p:nvPr>
        </p:nvSpPr>
        <p:spPr>
          <a:xfrm>
            <a:off x="538275" y="1353400"/>
            <a:ext cx="8281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c) </a:t>
            </a:r>
            <a:r>
              <a:rPr lang="en-GB" sz="1800"/>
              <a:t>One extra data point is added to the original data set. The mean stays the same. What is the value of this extra data point?</a:t>
            </a:r>
            <a:endParaRPr sz="1800"/>
          </a:p>
        </p:txBody>
      </p:sp>
      <p:sp>
        <p:nvSpPr>
          <p:cNvPr id="1876" name="Google Shape;1876;p103"/>
          <p:cNvSpPr txBox="1"/>
          <p:nvPr>
            <p:ph idx="4294967295" type="body"/>
          </p:nvPr>
        </p:nvSpPr>
        <p:spPr>
          <a:xfrm>
            <a:off x="371575" y="875825"/>
            <a:ext cx="852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1</a:t>
            </a:r>
            <a:r>
              <a:rPr lang="en-GB" sz="1800"/>
              <a:t>) The mean of 5 numbers is 4</a:t>
            </a:r>
            <a:endParaRPr sz="1800"/>
          </a:p>
        </p:txBody>
      </p:sp>
      <p:sp>
        <p:nvSpPr>
          <p:cNvPr id="1877" name="Google Shape;1877;p103"/>
          <p:cNvSpPr txBox="1"/>
          <p:nvPr>
            <p:ph idx="4294967295" type="body"/>
          </p:nvPr>
        </p:nvSpPr>
        <p:spPr>
          <a:xfrm>
            <a:off x="1227450" y="2072675"/>
            <a:ext cx="759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now 6 numbers in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data set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 × 4 = 24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value of the new data point is 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8" name="Google Shape;1878;p103"/>
          <p:cNvSpPr txBox="1"/>
          <p:nvPr>
            <p:ph idx="4294967295" type="body"/>
          </p:nvPr>
        </p:nvSpPr>
        <p:spPr>
          <a:xfrm>
            <a:off x="538275" y="3082375"/>
            <a:ext cx="82818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d) </a:t>
            </a:r>
            <a:r>
              <a:rPr lang="en-GB" sz="1800"/>
              <a:t>One data point is removed from the original data set. The mean decreases to 3. What is the value of the data point that was removed?</a:t>
            </a:r>
            <a:endParaRPr sz="18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t/>
            </a:r>
            <a:endParaRPr sz="1800"/>
          </a:p>
        </p:txBody>
      </p:sp>
      <p:sp>
        <p:nvSpPr>
          <p:cNvPr id="1879" name="Google Shape;1879;p103"/>
          <p:cNvSpPr txBox="1"/>
          <p:nvPr>
            <p:ph idx="4294967295" type="body"/>
          </p:nvPr>
        </p:nvSpPr>
        <p:spPr>
          <a:xfrm>
            <a:off x="1227450" y="3734342"/>
            <a:ext cx="759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now 4 numbers in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data set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× 3 = 12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value of the data point that was removed is 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04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How a changed data point influences the mode</a:t>
            </a:r>
            <a:endParaRPr/>
          </a:p>
        </p:txBody>
      </p:sp>
      <p:sp>
        <p:nvSpPr>
          <p:cNvPr id="1885" name="Google Shape;1885;p104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sp>
        <p:nvSpPr>
          <p:cNvPr id="1886" name="Google Shape;1886;p10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Changing a data point</a:t>
            </a:r>
            <a:endParaRPr/>
          </a:p>
        </p:txBody>
      </p:sp>
      <p:sp>
        <p:nvSpPr>
          <p:cNvPr id="1887" name="Google Shape;1887;p104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How a changed data point influences the mean</a:t>
            </a:r>
            <a:endParaRPr/>
          </a:p>
        </p:txBody>
      </p:sp>
      <p:pic>
        <p:nvPicPr>
          <p:cNvPr id="1888" name="Google Shape;1888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630" y="370046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sp>
        <p:nvSpPr>
          <p:cNvPr id="1894" name="Google Shape;1894;p105"/>
          <p:cNvSpPr txBox="1"/>
          <p:nvPr>
            <p:ph idx="1" type="body"/>
          </p:nvPr>
        </p:nvSpPr>
        <p:spPr>
          <a:xfrm>
            <a:off x="324000" y="718050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median</a:t>
            </a:r>
            <a:r>
              <a:rPr lang="en-GB" sz="1800"/>
              <a:t> is the middle of an ordered data set. We can visualise an ordered data set as a line of squares like so:</a:t>
            </a:r>
            <a:endParaRPr sz="1800"/>
          </a:p>
        </p:txBody>
      </p:sp>
      <p:sp>
        <p:nvSpPr>
          <p:cNvPr id="1895" name="Google Shape;1895;p105"/>
          <p:cNvSpPr/>
          <p:nvPr/>
        </p:nvSpPr>
        <p:spPr>
          <a:xfrm>
            <a:off x="2813800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105"/>
          <p:cNvSpPr/>
          <p:nvPr/>
        </p:nvSpPr>
        <p:spPr>
          <a:xfrm>
            <a:off x="3571775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7" name="Google Shape;1897;p105"/>
          <p:cNvSpPr/>
          <p:nvPr/>
        </p:nvSpPr>
        <p:spPr>
          <a:xfrm>
            <a:off x="4329738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105"/>
          <p:cNvSpPr/>
          <p:nvPr/>
        </p:nvSpPr>
        <p:spPr>
          <a:xfrm>
            <a:off x="5087713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105"/>
          <p:cNvSpPr/>
          <p:nvPr/>
        </p:nvSpPr>
        <p:spPr>
          <a:xfrm>
            <a:off x="5845688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0" name="Google Shape;1900;p105"/>
          <p:cNvCxnSpPr/>
          <p:nvPr/>
        </p:nvCxnSpPr>
        <p:spPr>
          <a:xfrm>
            <a:off x="4572000" y="1877400"/>
            <a:ext cx="0" cy="50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1" name="Google Shape;1901;p105"/>
          <p:cNvSpPr txBox="1"/>
          <p:nvPr>
            <p:ph idx="1" type="body"/>
          </p:nvPr>
        </p:nvSpPr>
        <p:spPr>
          <a:xfrm>
            <a:off x="3600600" y="1524070"/>
            <a:ext cx="219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Original </a:t>
            </a:r>
            <a:r>
              <a:rPr b="1" lang="en-GB" sz="1800"/>
              <a:t>m</a:t>
            </a:r>
            <a:r>
              <a:rPr b="1" lang="en-GB" sz="1800"/>
              <a:t>edian</a:t>
            </a:r>
            <a:endParaRPr b="1"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sp>
        <p:nvSpPr>
          <p:cNvPr id="1907" name="Google Shape;1907;p106"/>
          <p:cNvSpPr txBox="1"/>
          <p:nvPr>
            <p:ph idx="1" type="body"/>
          </p:nvPr>
        </p:nvSpPr>
        <p:spPr>
          <a:xfrm>
            <a:off x="324000" y="718050"/>
            <a:ext cx="8496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What happens to the </a:t>
            </a:r>
            <a:r>
              <a:rPr b="1" lang="en-GB" sz="1800"/>
              <a:t>median</a:t>
            </a:r>
            <a:r>
              <a:rPr lang="en-GB" sz="1800"/>
              <a:t> when we add a new value to the </a:t>
            </a:r>
            <a:r>
              <a:rPr lang="en-GB" sz="1800"/>
              <a:t>right</a:t>
            </a:r>
            <a:r>
              <a:rPr lang="en-GB" sz="1800"/>
              <a:t>?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about to the left?</a:t>
            </a:r>
            <a:endParaRPr sz="1800"/>
          </a:p>
        </p:txBody>
      </p:sp>
      <p:sp>
        <p:nvSpPr>
          <p:cNvPr id="1908" name="Google Shape;1908;p106"/>
          <p:cNvSpPr/>
          <p:nvPr/>
        </p:nvSpPr>
        <p:spPr>
          <a:xfrm>
            <a:off x="2813800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9" name="Google Shape;1909;p106"/>
          <p:cNvSpPr/>
          <p:nvPr/>
        </p:nvSpPr>
        <p:spPr>
          <a:xfrm>
            <a:off x="3571775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0" name="Google Shape;1910;p106"/>
          <p:cNvSpPr/>
          <p:nvPr/>
        </p:nvSpPr>
        <p:spPr>
          <a:xfrm>
            <a:off x="4329738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106"/>
          <p:cNvSpPr/>
          <p:nvPr/>
        </p:nvSpPr>
        <p:spPr>
          <a:xfrm>
            <a:off x="5087713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106"/>
          <p:cNvSpPr/>
          <p:nvPr/>
        </p:nvSpPr>
        <p:spPr>
          <a:xfrm>
            <a:off x="5845688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3" name="Google Shape;1913;p106"/>
          <p:cNvCxnSpPr/>
          <p:nvPr/>
        </p:nvCxnSpPr>
        <p:spPr>
          <a:xfrm>
            <a:off x="4572000" y="1877400"/>
            <a:ext cx="0" cy="50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4" name="Google Shape;1914;p106"/>
          <p:cNvSpPr/>
          <p:nvPr/>
        </p:nvSpPr>
        <p:spPr>
          <a:xfrm>
            <a:off x="6603663" y="2487875"/>
            <a:ext cx="484500" cy="484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5" name="Google Shape;1915;p106"/>
          <p:cNvCxnSpPr/>
          <p:nvPr/>
        </p:nvCxnSpPr>
        <p:spPr>
          <a:xfrm rot="10800000">
            <a:off x="4955532" y="3224600"/>
            <a:ext cx="0" cy="45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6" name="Google Shape;1916;p106"/>
          <p:cNvSpPr txBox="1"/>
          <p:nvPr>
            <p:ph idx="1" type="body"/>
          </p:nvPr>
        </p:nvSpPr>
        <p:spPr>
          <a:xfrm>
            <a:off x="4134000" y="3763575"/>
            <a:ext cx="190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New </a:t>
            </a:r>
            <a:r>
              <a:rPr b="1" lang="en-GB" sz="1800"/>
              <a:t>median</a:t>
            </a:r>
            <a:endParaRPr b="1" sz="1800"/>
          </a:p>
        </p:txBody>
      </p:sp>
      <p:sp>
        <p:nvSpPr>
          <p:cNvPr id="1917" name="Google Shape;1917;p106"/>
          <p:cNvSpPr/>
          <p:nvPr/>
        </p:nvSpPr>
        <p:spPr>
          <a:xfrm>
            <a:off x="2055813" y="2487875"/>
            <a:ext cx="484500" cy="484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8" name="Google Shape;1918;p106"/>
          <p:cNvCxnSpPr/>
          <p:nvPr/>
        </p:nvCxnSpPr>
        <p:spPr>
          <a:xfrm rot="10800000">
            <a:off x="4193532" y="3224600"/>
            <a:ext cx="0" cy="45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9" name="Google Shape;1919;p106"/>
          <p:cNvCxnSpPr/>
          <p:nvPr/>
        </p:nvCxnSpPr>
        <p:spPr>
          <a:xfrm>
            <a:off x="4958540" y="2216369"/>
            <a:ext cx="0" cy="94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20" name="Google Shape;1920;p106"/>
          <p:cNvCxnSpPr/>
          <p:nvPr/>
        </p:nvCxnSpPr>
        <p:spPr>
          <a:xfrm>
            <a:off x="4196540" y="2216369"/>
            <a:ext cx="0" cy="94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21" name="Google Shape;1921;p106"/>
          <p:cNvSpPr txBox="1"/>
          <p:nvPr>
            <p:ph idx="1" type="body"/>
          </p:nvPr>
        </p:nvSpPr>
        <p:spPr>
          <a:xfrm>
            <a:off x="3600600" y="1524070"/>
            <a:ext cx="219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Original </a:t>
            </a:r>
            <a:r>
              <a:rPr b="1" lang="en-GB" sz="1800"/>
              <a:t>median</a:t>
            </a:r>
            <a:endParaRPr b="1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sp>
        <p:nvSpPr>
          <p:cNvPr id="1927" name="Google Shape;1927;p107"/>
          <p:cNvSpPr txBox="1"/>
          <p:nvPr>
            <p:ph idx="1" type="body"/>
          </p:nvPr>
        </p:nvSpPr>
        <p:spPr>
          <a:xfrm>
            <a:off x="324000" y="71805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about when we take a value out of a data set? </a:t>
            </a:r>
            <a:endParaRPr sz="1800"/>
          </a:p>
        </p:txBody>
      </p:sp>
      <p:sp>
        <p:nvSpPr>
          <p:cNvPr id="1928" name="Google Shape;1928;p107"/>
          <p:cNvSpPr/>
          <p:nvPr/>
        </p:nvSpPr>
        <p:spPr>
          <a:xfrm>
            <a:off x="2813800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107"/>
          <p:cNvSpPr/>
          <p:nvPr/>
        </p:nvSpPr>
        <p:spPr>
          <a:xfrm>
            <a:off x="3571775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107"/>
          <p:cNvSpPr/>
          <p:nvPr/>
        </p:nvSpPr>
        <p:spPr>
          <a:xfrm>
            <a:off x="4329738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p107"/>
          <p:cNvSpPr/>
          <p:nvPr/>
        </p:nvSpPr>
        <p:spPr>
          <a:xfrm>
            <a:off x="5087713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107"/>
          <p:cNvSpPr/>
          <p:nvPr/>
        </p:nvSpPr>
        <p:spPr>
          <a:xfrm>
            <a:off x="5845688" y="2487875"/>
            <a:ext cx="484500" cy="484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3" name="Google Shape;1933;p107"/>
          <p:cNvCxnSpPr/>
          <p:nvPr/>
        </p:nvCxnSpPr>
        <p:spPr>
          <a:xfrm>
            <a:off x="4572000" y="1642825"/>
            <a:ext cx="0" cy="739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4" name="Google Shape;1934;p107"/>
          <p:cNvSpPr txBox="1"/>
          <p:nvPr>
            <p:ph idx="1" type="body"/>
          </p:nvPr>
        </p:nvSpPr>
        <p:spPr>
          <a:xfrm>
            <a:off x="3600600" y="1325175"/>
            <a:ext cx="265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Original </a:t>
            </a:r>
            <a:r>
              <a:rPr b="1" lang="en-GB" sz="1800"/>
              <a:t>m</a:t>
            </a:r>
            <a:r>
              <a:rPr b="1" lang="en-GB" sz="1800"/>
              <a:t>edian</a:t>
            </a:r>
            <a:endParaRPr b="1" sz="1800"/>
          </a:p>
        </p:txBody>
      </p:sp>
      <p:cxnSp>
        <p:nvCxnSpPr>
          <p:cNvPr id="1935" name="Google Shape;1935;p107"/>
          <p:cNvCxnSpPr/>
          <p:nvPr/>
        </p:nvCxnSpPr>
        <p:spPr>
          <a:xfrm rot="10800000">
            <a:off x="4955532" y="3224600"/>
            <a:ext cx="0" cy="45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6" name="Google Shape;1936;p107"/>
          <p:cNvSpPr txBox="1"/>
          <p:nvPr>
            <p:ph idx="1" type="body"/>
          </p:nvPr>
        </p:nvSpPr>
        <p:spPr>
          <a:xfrm>
            <a:off x="4134000" y="3763575"/>
            <a:ext cx="190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New </a:t>
            </a:r>
            <a:r>
              <a:rPr b="1" lang="en-GB" sz="1800"/>
              <a:t>median</a:t>
            </a:r>
            <a:endParaRPr b="1" sz="1800"/>
          </a:p>
        </p:txBody>
      </p:sp>
      <p:cxnSp>
        <p:nvCxnSpPr>
          <p:cNvPr id="1937" name="Google Shape;1937;p107"/>
          <p:cNvCxnSpPr/>
          <p:nvPr/>
        </p:nvCxnSpPr>
        <p:spPr>
          <a:xfrm rot="10800000">
            <a:off x="4193532" y="3224600"/>
            <a:ext cx="0" cy="45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8" name="Google Shape;1938;p107"/>
          <p:cNvCxnSpPr/>
          <p:nvPr/>
        </p:nvCxnSpPr>
        <p:spPr>
          <a:xfrm>
            <a:off x="4958540" y="2216369"/>
            <a:ext cx="0" cy="94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39" name="Google Shape;1939;p107"/>
          <p:cNvCxnSpPr/>
          <p:nvPr/>
        </p:nvCxnSpPr>
        <p:spPr>
          <a:xfrm>
            <a:off x="4196540" y="2216369"/>
            <a:ext cx="0" cy="94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graphicFrame>
        <p:nvGraphicFramePr>
          <p:cNvPr id="1945" name="Google Shape;1945;p108"/>
          <p:cNvGraphicFramePr/>
          <p:nvPr/>
        </p:nvGraphicFramePr>
        <p:xfrm>
          <a:off x="5349550" y="1936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946" name="Google Shape;1946;p108"/>
          <p:cNvCxnSpPr/>
          <p:nvPr/>
        </p:nvCxnSpPr>
        <p:spPr>
          <a:xfrm>
            <a:off x="6635800" y="1493925"/>
            <a:ext cx="0" cy="4008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7" name="Google Shape;1947;p108"/>
          <p:cNvSpPr txBox="1"/>
          <p:nvPr>
            <p:ph idx="1" type="body"/>
          </p:nvPr>
        </p:nvSpPr>
        <p:spPr>
          <a:xfrm>
            <a:off x="371575" y="792375"/>
            <a:ext cx="5010300" cy="14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</a:t>
            </a:r>
            <a:r>
              <a:rPr b="1" lang="en-GB" sz="1800"/>
              <a:t>median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 is currently 44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data point of 65 is added to the </a:t>
            </a:r>
            <a:r>
              <a:rPr lang="en-GB" sz="1800"/>
              <a:t>data set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Which of these best describes how the </a:t>
            </a:r>
            <a:r>
              <a:rPr b="1" lang="en-GB" sz="1800"/>
              <a:t>median</a:t>
            </a:r>
            <a:r>
              <a:rPr lang="en-GB" sz="1800"/>
              <a:t> changes?</a:t>
            </a:r>
            <a:endParaRPr sz="1800"/>
          </a:p>
        </p:txBody>
      </p:sp>
      <p:graphicFrame>
        <p:nvGraphicFramePr>
          <p:cNvPr id="1948" name="Google Shape;1948;p108"/>
          <p:cNvGraphicFramePr/>
          <p:nvPr/>
        </p:nvGraphicFramePr>
        <p:xfrm>
          <a:off x="5349550" y="1936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9" name="Google Shape;1949;p108"/>
          <p:cNvSpPr txBox="1"/>
          <p:nvPr>
            <p:ph idx="1" type="body"/>
          </p:nvPr>
        </p:nvSpPr>
        <p:spPr>
          <a:xfrm>
            <a:off x="5964412" y="856437"/>
            <a:ext cx="13428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 sz="1800"/>
              <a:t>median</a:t>
            </a:r>
            <a:r>
              <a:rPr lang="en-GB" sz="1800"/>
              <a:t> of 44</a:t>
            </a:r>
            <a:endParaRPr sz="1800"/>
          </a:p>
        </p:txBody>
      </p:sp>
      <p:grpSp>
        <p:nvGrpSpPr>
          <p:cNvPr id="1950" name="Google Shape;1950;p108"/>
          <p:cNvGrpSpPr/>
          <p:nvPr/>
        </p:nvGrpSpPr>
        <p:grpSpPr>
          <a:xfrm>
            <a:off x="857898" y="3396364"/>
            <a:ext cx="386288" cy="386288"/>
            <a:chOff x="1020916" y="1442088"/>
            <a:chExt cx="457200" cy="457200"/>
          </a:xfrm>
        </p:grpSpPr>
        <p:pic>
          <p:nvPicPr>
            <p:cNvPr id="1951" name="Google Shape;1951;p10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2" name="Google Shape;1952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53" name="Google Shape;1953;p108"/>
          <p:cNvSpPr txBox="1"/>
          <p:nvPr/>
        </p:nvSpPr>
        <p:spPr>
          <a:xfrm>
            <a:off x="1343100" y="3945462"/>
            <a:ext cx="747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shifts position by half a data point to become 52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4" name="Google Shape;1954;p108"/>
          <p:cNvGrpSpPr/>
          <p:nvPr/>
        </p:nvGrpSpPr>
        <p:grpSpPr>
          <a:xfrm>
            <a:off x="857898" y="3890914"/>
            <a:ext cx="386288" cy="386288"/>
            <a:chOff x="1020916" y="1442088"/>
            <a:chExt cx="457200" cy="457200"/>
          </a:xfrm>
        </p:grpSpPr>
        <p:pic>
          <p:nvPicPr>
            <p:cNvPr id="1955" name="Google Shape;1955;p10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6" name="Google Shape;1956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7" name="Google Shape;1957;p108"/>
          <p:cNvGrpSpPr/>
          <p:nvPr/>
        </p:nvGrpSpPr>
        <p:grpSpPr>
          <a:xfrm>
            <a:off x="857898" y="2901814"/>
            <a:ext cx="386288" cy="386288"/>
            <a:chOff x="1020916" y="1442088"/>
            <a:chExt cx="457200" cy="457200"/>
          </a:xfrm>
        </p:grpSpPr>
        <p:pic>
          <p:nvPicPr>
            <p:cNvPr id="1958" name="Google Shape;1958;p10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9" name="Google Shape;1959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0" name="Google Shape;1960;p108"/>
          <p:cNvSpPr txBox="1"/>
          <p:nvPr/>
        </p:nvSpPr>
        <p:spPr>
          <a:xfrm>
            <a:off x="1343100" y="3450912"/>
            <a:ext cx="747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shifts position by one data point to become 60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1" name="Google Shape;1961;p108"/>
          <p:cNvSpPr txBox="1"/>
          <p:nvPr/>
        </p:nvSpPr>
        <p:spPr>
          <a:xfrm>
            <a:off x="1343100" y="2956362"/>
            <a:ext cx="747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edian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changes position, but stays 44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2" name="Google Shape;1962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08" y="3874512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3" name="Google Shape;1963;p108"/>
          <p:cNvCxnSpPr/>
          <p:nvPr/>
        </p:nvCxnSpPr>
        <p:spPr>
          <a:xfrm>
            <a:off x="6895580" y="1493925"/>
            <a:ext cx="0" cy="4008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4" name="Google Shape;1964;p108"/>
          <p:cNvSpPr txBox="1"/>
          <p:nvPr>
            <p:ph idx="1" type="body"/>
          </p:nvPr>
        </p:nvSpPr>
        <p:spPr>
          <a:xfrm>
            <a:off x="6224192" y="856437"/>
            <a:ext cx="13428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1" lang="en-GB" sz="1800"/>
              <a:t>median</a:t>
            </a:r>
            <a:r>
              <a:rPr lang="en-GB" sz="1800"/>
              <a:t> of 52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109"/>
          <p:cNvSpPr txBox="1"/>
          <p:nvPr>
            <p:ph idx="1" type="body"/>
          </p:nvPr>
        </p:nvSpPr>
        <p:spPr>
          <a:xfrm>
            <a:off x="324000" y="683100"/>
            <a:ext cx="84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Match the modified </a:t>
            </a:r>
            <a:r>
              <a:rPr lang="en-GB" sz="1800"/>
              <a:t>data set</a:t>
            </a:r>
            <a:r>
              <a:rPr lang="en-GB" sz="1800"/>
              <a:t>s with the changed median description. There is one odd one out.</a:t>
            </a:r>
            <a:endParaRPr sz="1800"/>
          </a:p>
        </p:txBody>
      </p:sp>
      <p:sp>
        <p:nvSpPr>
          <p:cNvPr id="1970" name="Google Shape;1970;p1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graphicFrame>
        <p:nvGraphicFramePr>
          <p:cNvPr id="1971" name="Google Shape;1971;p109"/>
          <p:cNvGraphicFramePr/>
          <p:nvPr/>
        </p:nvGraphicFramePr>
        <p:xfrm>
          <a:off x="324000" y="1684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2" name="Google Shape;1972;p109"/>
          <p:cNvSpPr txBox="1"/>
          <p:nvPr>
            <p:ph idx="1" type="body"/>
          </p:nvPr>
        </p:nvSpPr>
        <p:spPr>
          <a:xfrm>
            <a:off x="324000" y="2101225"/>
            <a:ext cx="3087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ata point of 17 added</a:t>
            </a:r>
            <a:endParaRPr sz="1800"/>
          </a:p>
        </p:txBody>
      </p:sp>
      <p:sp>
        <p:nvSpPr>
          <p:cNvPr id="1973" name="Google Shape;1973;p109"/>
          <p:cNvSpPr txBox="1"/>
          <p:nvPr>
            <p:ph idx="1" type="body"/>
          </p:nvPr>
        </p:nvSpPr>
        <p:spPr>
          <a:xfrm>
            <a:off x="324000" y="3117150"/>
            <a:ext cx="3087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16 removed</a:t>
            </a:r>
            <a:endParaRPr sz="1800"/>
          </a:p>
        </p:txBody>
      </p:sp>
      <p:graphicFrame>
        <p:nvGraphicFramePr>
          <p:cNvPr id="1974" name="Google Shape;1974;p109"/>
          <p:cNvGraphicFramePr/>
          <p:nvPr/>
        </p:nvGraphicFramePr>
        <p:xfrm>
          <a:off x="324000" y="3715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5" name="Google Shape;1975;p109"/>
          <p:cNvSpPr txBox="1"/>
          <p:nvPr>
            <p:ph idx="1" type="body"/>
          </p:nvPr>
        </p:nvSpPr>
        <p:spPr>
          <a:xfrm>
            <a:off x="324000" y="4133075"/>
            <a:ext cx="3087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14 modified to 16</a:t>
            </a:r>
            <a:endParaRPr sz="1800"/>
          </a:p>
        </p:txBody>
      </p:sp>
      <p:graphicFrame>
        <p:nvGraphicFramePr>
          <p:cNvPr id="1976" name="Google Shape;1976;p109"/>
          <p:cNvGraphicFramePr/>
          <p:nvPr/>
        </p:nvGraphicFramePr>
        <p:xfrm>
          <a:off x="324000" y="269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7" name="Google Shape;1977;p109"/>
          <p:cNvSpPr txBox="1"/>
          <p:nvPr/>
        </p:nvSpPr>
        <p:spPr>
          <a:xfrm>
            <a:off x="5822200" y="1745875"/>
            <a:ext cx="299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edian becomes 14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109"/>
          <p:cNvSpPr txBox="1"/>
          <p:nvPr/>
        </p:nvSpPr>
        <p:spPr>
          <a:xfrm>
            <a:off x="5822200" y="2368250"/>
            <a:ext cx="299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becomes 15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109"/>
          <p:cNvSpPr txBox="1"/>
          <p:nvPr/>
        </p:nvSpPr>
        <p:spPr>
          <a:xfrm>
            <a:off x="5822200" y="2990625"/>
            <a:ext cx="299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becomes 16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09"/>
          <p:cNvSpPr txBox="1"/>
          <p:nvPr/>
        </p:nvSpPr>
        <p:spPr>
          <a:xfrm>
            <a:off x="5822200" y="3613000"/>
            <a:ext cx="299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becomes 17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110"/>
          <p:cNvSpPr txBox="1"/>
          <p:nvPr>
            <p:ph idx="1" type="body"/>
          </p:nvPr>
        </p:nvSpPr>
        <p:spPr>
          <a:xfrm>
            <a:off x="324000" y="683100"/>
            <a:ext cx="84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Fill in the blanks that fully describe how each of these medians have changed.</a:t>
            </a:r>
            <a:endParaRPr sz="1800"/>
          </a:p>
        </p:txBody>
      </p:sp>
      <p:sp>
        <p:nvSpPr>
          <p:cNvPr id="1986" name="Google Shape;1986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sp>
        <p:nvSpPr>
          <p:cNvPr id="1987" name="Google Shape;1987;p110"/>
          <p:cNvSpPr txBox="1"/>
          <p:nvPr>
            <p:ph idx="1" type="body"/>
          </p:nvPr>
        </p:nvSpPr>
        <p:spPr>
          <a:xfrm>
            <a:off x="324000" y="2772000"/>
            <a:ext cx="3996000" cy="13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median used to have a value of 99, but has been shifted left by half a data point(s), and now has a value of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1800"/>
              <a:t>.</a:t>
            </a:r>
            <a:endParaRPr sz="1800"/>
          </a:p>
        </p:txBody>
      </p:sp>
      <p:graphicFrame>
        <p:nvGraphicFramePr>
          <p:cNvPr id="1988" name="Google Shape;1988;p110"/>
          <p:cNvGraphicFramePr/>
          <p:nvPr/>
        </p:nvGraphicFramePr>
        <p:xfrm>
          <a:off x="324000" y="1684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9" name="Google Shape;1989;p110"/>
          <p:cNvSpPr txBox="1"/>
          <p:nvPr>
            <p:ph idx="1" type="body"/>
          </p:nvPr>
        </p:nvSpPr>
        <p:spPr>
          <a:xfrm>
            <a:off x="324000" y="2101225"/>
            <a:ext cx="39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109 removed</a:t>
            </a:r>
            <a:endParaRPr sz="1800"/>
          </a:p>
        </p:txBody>
      </p:sp>
      <p:graphicFrame>
        <p:nvGraphicFramePr>
          <p:cNvPr id="1990" name="Google Shape;1990;p110"/>
          <p:cNvGraphicFramePr/>
          <p:nvPr/>
        </p:nvGraphicFramePr>
        <p:xfrm>
          <a:off x="4824000" y="1684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1" name="Google Shape;1991;p110"/>
          <p:cNvSpPr txBox="1"/>
          <p:nvPr>
            <p:ph idx="1" type="body"/>
          </p:nvPr>
        </p:nvSpPr>
        <p:spPr>
          <a:xfrm>
            <a:off x="4824000" y="2101225"/>
            <a:ext cx="39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73 changed to 48</a:t>
            </a:r>
            <a:endParaRPr sz="1800"/>
          </a:p>
        </p:txBody>
      </p:sp>
      <p:sp>
        <p:nvSpPr>
          <p:cNvPr id="1992" name="Google Shape;1992;p110"/>
          <p:cNvSpPr txBox="1"/>
          <p:nvPr>
            <p:ph idx="1" type="body"/>
          </p:nvPr>
        </p:nvSpPr>
        <p:spPr>
          <a:xfrm>
            <a:off x="4824000" y="2772000"/>
            <a:ext cx="3996000" cy="13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median used to have a value of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___</a:t>
            </a:r>
            <a:r>
              <a:rPr lang="en-GB" sz="1800"/>
              <a:t>, but has been shifted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_____</a:t>
            </a:r>
            <a:r>
              <a:rPr lang="en-GB" sz="1800"/>
              <a:t> by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_____</a:t>
            </a:r>
            <a:r>
              <a:rPr lang="en-GB" sz="1800"/>
              <a:t> data point(s), and now has a value of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1800"/>
              <a:t>.</a:t>
            </a:r>
            <a:endParaRPr sz="1800"/>
          </a:p>
        </p:txBody>
      </p:sp>
      <p:cxnSp>
        <p:nvCxnSpPr>
          <p:cNvPr id="1993" name="Google Shape;1993;p110"/>
          <p:cNvCxnSpPr/>
          <p:nvPr/>
        </p:nvCxnSpPr>
        <p:spPr>
          <a:xfrm>
            <a:off x="4572000" y="1409075"/>
            <a:ext cx="0" cy="3156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111"/>
          <p:cNvSpPr txBox="1"/>
          <p:nvPr>
            <p:ph idx="1" type="body"/>
          </p:nvPr>
        </p:nvSpPr>
        <p:spPr>
          <a:xfrm>
            <a:off x="324000" y="683100"/>
            <a:ext cx="84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Fill in the blanks that fully describe how each of these medians have changed. You must rewrite the list of numbers with the updated values before completing each sentence.</a:t>
            </a:r>
            <a:endParaRPr sz="1800"/>
          </a:p>
        </p:txBody>
      </p:sp>
      <p:sp>
        <p:nvSpPr>
          <p:cNvPr id="1999" name="Google Shape;1999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graphicFrame>
        <p:nvGraphicFramePr>
          <p:cNvPr id="2000" name="Google Shape;2000;p111"/>
          <p:cNvGraphicFramePr/>
          <p:nvPr/>
        </p:nvGraphicFramePr>
        <p:xfrm>
          <a:off x="324000" y="1810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1" name="Google Shape;2001;p111"/>
          <p:cNvSpPr txBox="1"/>
          <p:nvPr>
            <p:ph idx="1" type="body"/>
          </p:nvPr>
        </p:nvSpPr>
        <p:spPr>
          <a:xfrm>
            <a:off x="324000" y="2227175"/>
            <a:ext cx="39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101 modified to 95</a:t>
            </a:r>
            <a:endParaRPr sz="1800"/>
          </a:p>
        </p:txBody>
      </p:sp>
      <p:graphicFrame>
        <p:nvGraphicFramePr>
          <p:cNvPr id="2002" name="Google Shape;2002;p111"/>
          <p:cNvGraphicFramePr/>
          <p:nvPr/>
        </p:nvGraphicFramePr>
        <p:xfrm>
          <a:off x="4824000" y="1810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3" name="Google Shape;2003;p111"/>
          <p:cNvSpPr txBox="1"/>
          <p:nvPr>
            <p:ph idx="1" type="body"/>
          </p:nvPr>
        </p:nvSpPr>
        <p:spPr>
          <a:xfrm>
            <a:off x="4824000" y="2227175"/>
            <a:ext cx="39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66 removed</a:t>
            </a:r>
            <a:endParaRPr sz="1800"/>
          </a:p>
        </p:txBody>
      </p:sp>
      <p:cxnSp>
        <p:nvCxnSpPr>
          <p:cNvPr id="2004" name="Google Shape;2004;p111"/>
          <p:cNvCxnSpPr/>
          <p:nvPr/>
        </p:nvCxnSpPr>
        <p:spPr>
          <a:xfrm>
            <a:off x="4572000" y="1661700"/>
            <a:ext cx="0" cy="3156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005" name="Google Shape;2005;p111"/>
          <p:cNvGraphicFramePr/>
          <p:nvPr/>
        </p:nvGraphicFramePr>
        <p:xfrm>
          <a:off x="324000" y="269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06" name="Google Shape;2006;p111"/>
          <p:cNvGraphicFramePr/>
          <p:nvPr/>
        </p:nvGraphicFramePr>
        <p:xfrm>
          <a:off x="4824000" y="269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7" name="Google Shape;2007;p111"/>
          <p:cNvSpPr txBox="1"/>
          <p:nvPr>
            <p:ph idx="1" type="body"/>
          </p:nvPr>
        </p:nvSpPr>
        <p:spPr>
          <a:xfrm>
            <a:off x="324000" y="3393926"/>
            <a:ext cx="3996000" cy="7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median used to have a value of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___</a:t>
            </a:r>
            <a:r>
              <a:rPr lang="en-GB" sz="1800"/>
              <a:t>, but now has a value of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2008" name="Google Shape;2008;p111"/>
          <p:cNvSpPr txBox="1"/>
          <p:nvPr>
            <p:ph idx="1" type="body"/>
          </p:nvPr>
        </p:nvSpPr>
        <p:spPr>
          <a:xfrm>
            <a:off x="4824000" y="3393926"/>
            <a:ext cx="3996000" cy="74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median used to have a value of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___</a:t>
            </a:r>
            <a:r>
              <a:rPr lang="en-GB" sz="1800"/>
              <a:t>, but now has a value of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112"/>
          <p:cNvSpPr txBox="1"/>
          <p:nvPr>
            <p:ph idx="1" type="body"/>
          </p:nvPr>
        </p:nvSpPr>
        <p:spPr>
          <a:xfrm>
            <a:off x="324000" y="683100"/>
            <a:ext cx="84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</a:t>
            </a:r>
            <a:r>
              <a:rPr lang="en-GB" sz="1800"/>
              <a:t>) Two new products have been reviewed 9 times, each rated on a scale of 1 star to 5 stars.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Each star below represents a review for that product.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could the 10th ratings of each product be in order for their median rating to increase?</a:t>
            </a:r>
            <a:endParaRPr sz="1800"/>
          </a:p>
        </p:txBody>
      </p:sp>
      <p:sp>
        <p:nvSpPr>
          <p:cNvPr id="2014" name="Google Shape;2014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graphicFrame>
        <p:nvGraphicFramePr>
          <p:cNvPr id="2015" name="Google Shape;2015;p112"/>
          <p:cNvGraphicFramePr/>
          <p:nvPr/>
        </p:nvGraphicFramePr>
        <p:xfrm>
          <a:off x="819925" y="303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{4D845122-889A-4BEF-B4EB-29024A99EFCC}</a:tableStyleId>
              </a:tblPr>
              <a:tblGrid>
                <a:gridCol w="453400"/>
              </a:tblGrid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6" name="Google Shape;2016;p112"/>
          <p:cNvSpPr/>
          <p:nvPr/>
        </p:nvSpPr>
        <p:spPr>
          <a:xfrm>
            <a:off x="1316450" y="337850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112"/>
          <p:cNvSpPr/>
          <p:nvPr/>
        </p:nvSpPr>
        <p:spPr>
          <a:xfrm>
            <a:off x="1684800" y="337850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8" name="Google Shape;2018;p112"/>
          <p:cNvSpPr/>
          <p:nvPr/>
        </p:nvSpPr>
        <p:spPr>
          <a:xfrm>
            <a:off x="2053150" y="337850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12"/>
          <p:cNvSpPr/>
          <p:nvPr/>
        </p:nvSpPr>
        <p:spPr>
          <a:xfrm>
            <a:off x="2421500" y="337850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112"/>
          <p:cNvSpPr/>
          <p:nvPr/>
        </p:nvSpPr>
        <p:spPr>
          <a:xfrm>
            <a:off x="1316450" y="30370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112"/>
          <p:cNvSpPr/>
          <p:nvPr/>
        </p:nvSpPr>
        <p:spPr>
          <a:xfrm>
            <a:off x="1684800" y="30370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2" name="Google Shape;2022;p112"/>
          <p:cNvSpPr/>
          <p:nvPr/>
        </p:nvSpPr>
        <p:spPr>
          <a:xfrm>
            <a:off x="2053150" y="30370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3" name="Google Shape;2023;p112"/>
          <p:cNvSpPr/>
          <p:nvPr/>
        </p:nvSpPr>
        <p:spPr>
          <a:xfrm>
            <a:off x="2421500" y="30370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112"/>
          <p:cNvSpPr/>
          <p:nvPr/>
        </p:nvSpPr>
        <p:spPr>
          <a:xfrm>
            <a:off x="1316450" y="369572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112"/>
          <p:cNvSpPr txBox="1"/>
          <p:nvPr>
            <p:ph idx="1" type="body"/>
          </p:nvPr>
        </p:nvSpPr>
        <p:spPr>
          <a:xfrm>
            <a:off x="819925" y="2623800"/>
            <a:ext cx="19563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product A</a:t>
            </a:r>
            <a:endParaRPr sz="1800"/>
          </a:p>
        </p:txBody>
      </p:sp>
      <p:graphicFrame>
        <p:nvGraphicFramePr>
          <p:cNvPr id="2026" name="Google Shape;2026;p112"/>
          <p:cNvGraphicFramePr/>
          <p:nvPr/>
        </p:nvGraphicFramePr>
        <p:xfrm>
          <a:off x="5056913" y="303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{4D845122-889A-4BEF-B4EB-29024A99EFCC}</a:tableStyleId>
              </a:tblPr>
              <a:tblGrid>
                <a:gridCol w="453400"/>
              </a:tblGrid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27" name="Google Shape;2027;p112"/>
          <p:cNvSpPr/>
          <p:nvPr/>
        </p:nvSpPr>
        <p:spPr>
          <a:xfrm>
            <a:off x="5553438" y="337850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8" name="Google Shape;2028;p112"/>
          <p:cNvSpPr/>
          <p:nvPr/>
        </p:nvSpPr>
        <p:spPr>
          <a:xfrm>
            <a:off x="5921788" y="337850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112"/>
          <p:cNvSpPr/>
          <p:nvPr/>
        </p:nvSpPr>
        <p:spPr>
          <a:xfrm>
            <a:off x="5553438" y="30370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112"/>
          <p:cNvSpPr/>
          <p:nvPr/>
        </p:nvSpPr>
        <p:spPr>
          <a:xfrm>
            <a:off x="5553438" y="369572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1" name="Google Shape;2031;p112"/>
          <p:cNvSpPr/>
          <p:nvPr/>
        </p:nvSpPr>
        <p:spPr>
          <a:xfrm>
            <a:off x="5553438" y="44027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112"/>
          <p:cNvSpPr/>
          <p:nvPr/>
        </p:nvSpPr>
        <p:spPr>
          <a:xfrm>
            <a:off x="5921788" y="44027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112"/>
          <p:cNvSpPr/>
          <p:nvPr/>
        </p:nvSpPr>
        <p:spPr>
          <a:xfrm>
            <a:off x="6290138" y="44027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112"/>
          <p:cNvSpPr/>
          <p:nvPr/>
        </p:nvSpPr>
        <p:spPr>
          <a:xfrm>
            <a:off x="5553438" y="406135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112"/>
          <p:cNvSpPr/>
          <p:nvPr/>
        </p:nvSpPr>
        <p:spPr>
          <a:xfrm>
            <a:off x="5921788" y="406135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112"/>
          <p:cNvSpPr txBox="1"/>
          <p:nvPr>
            <p:ph idx="1" type="body"/>
          </p:nvPr>
        </p:nvSpPr>
        <p:spPr>
          <a:xfrm>
            <a:off x="5056850" y="2623800"/>
            <a:ext cx="19563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product B</a:t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sp>
        <p:nvSpPr>
          <p:cNvPr id="2042" name="Google Shape;2042;p113"/>
          <p:cNvSpPr txBox="1"/>
          <p:nvPr>
            <p:ph idx="1" type="body"/>
          </p:nvPr>
        </p:nvSpPr>
        <p:spPr>
          <a:xfrm>
            <a:off x="324000" y="683100"/>
            <a:ext cx="84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Match the modified </a:t>
            </a:r>
            <a:r>
              <a:rPr lang="en-GB" sz="1800"/>
              <a:t>data set</a:t>
            </a:r>
            <a:r>
              <a:rPr lang="en-GB" sz="1800"/>
              <a:t>s with the changed median description. There is one odd one out.</a:t>
            </a:r>
            <a:endParaRPr sz="1800"/>
          </a:p>
        </p:txBody>
      </p:sp>
      <p:graphicFrame>
        <p:nvGraphicFramePr>
          <p:cNvPr id="2043" name="Google Shape;2043;p113"/>
          <p:cNvGraphicFramePr/>
          <p:nvPr/>
        </p:nvGraphicFramePr>
        <p:xfrm>
          <a:off x="324000" y="1684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4" name="Google Shape;2044;p113"/>
          <p:cNvSpPr txBox="1"/>
          <p:nvPr>
            <p:ph idx="1" type="body"/>
          </p:nvPr>
        </p:nvSpPr>
        <p:spPr>
          <a:xfrm>
            <a:off x="324000" y="2101225"/>
            <a:ext cx="3087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17 added</a:t>
            </a:r>
            <a:endParaRPr sz="1800"/>
          </a:p>
        </p:txBody>
      </p:sp>
      <p:sp>
        <p:nvSpPr>
          <p:cNvPr id="2045" name="Google Shape;2045;p113"/>
          <p:cNvSpPr txBox="1"/>
          <p:nvPr>
            <p:ph idx="1" type="body"/>
          </p:nvPr>
        </p:nvSpPr>
        <p:spPr>
          <a:xfrm>
            <a:off x="324000" y="3117150"/>
            <a:ext cx="3087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16 removed</a:t>
            </a:r>
            <a:endParaRPr sz="1800"/>
          </a:p>
        </p:txBody>
      </p:sp>
      <p:graphicFrame>
        <p:nvGraphicFramePr>
          <p:cNvPr id="2046" name="Google Shape;2046;p113"/>
          <p:cNvGraphicFramePr/>
          <p:nvPr/>
        </p:nvGraphicFramePr>
        <p:xfrm>
          <a:off x="324000" y="3715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7" name="Google Shape;2047;p113"/>
          <p:cNvSpPr txBox="1"/>
          <p:nvPr>
            <p:ph idx="1" type="body"/>
          </p:nvPr>
        </p:nvSpPr>
        <p:spPr>
          <a:xfrm>
            <a:off x="324000" y="4133075"/>
            <a:ext cx="3087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14 modified to 16</a:t>
            </a:r>
            <a:endParaRPr sz="1800"/>
          </a:p>
        </p:txBody>
      </p:sp>
      <p:graphicFrame>
        <p:nvGraphicFramePr>
          <p:cNvPr id="2048" name="Google Shape;2048;p113"/>
          <p:cNvGraphicFramePr/>
          <p:nvPr/>
        </p:nvGraphicFramePr>
        <p:xfrm>
          <a:off x="324000" y="269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514500"/>
                <a:gridCol w="514500"/>
                <a:gridCol w="514500"/>
                <a:gridCol w="514500"/>
                <a:gridCol w="514500"/>
                <a:gridCol w="514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9" name="Google Shape;2049;p113"/>
          <p:cNvSpPr txBox="1"/>
          <p:nvPr/>
        </p:nvSpPr>
        <p:spPr>
          <a:xfrm>
            <a:off x="5822200" y="1745875"/>
            <a:ext cx="299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becomes 14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113"/>
          <p:cNvSpPr txBox="1"/>
          <p:nvPr/>
        </p:nvSpPr>
        <p:spPr>
          <a:xfrm>
            <a:off x="5822200" y="2368250"/>
            <a:ext cx="299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becomes 15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113"/>
          <p:cNvSpPr txBox="1"/>
          <p:nvPr/>
        </p:nvSpPr>
        <p:spPr>
          <a:xfrm>
            <a:off x="5822200" y="2990625"/>
            <a:ext cx="299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becomes 16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113"/>
          <p:cNvSpPr txBox="1"/>
          <p:nvPr/>
        </p:nvSpPr>
        <p:spPr>
          <a:xfrm>
            <a:off x="5822200" y="3613000"/>
            <a:ext cx="299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becomes 17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3" name="Google Shape;2053;p113"/>
          <p:cNvCxnSpPr>
            <a:stCxn id="2044" idx="3"/>
            <a:endCxn id="2051" idx="1"/>
          </p:cNvCxnSpPr>
          <p:nvPr/>
        </p:nvCxnSpPr>
        <p:spPr>
          <a:xfrm>
            <a:off x="3411000" y="2296225"/>
            <a:ext cx="2411100" cy="833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4" name="Google Shape;2054;p113"/>
          <p:cNvCxnSpPr>
            <a:endCxn id="2049" idx="1"/>
          </p:cNvCxnSpPr>
          <p:nvPr/>
        </p:nvCxnSpPr>
        <p:spPr>
          <a:xfrm flipH="1" rot="10800000">
            <a:off x="3411100" y="1884475"/>
            <a:ext cx="2411100" cy="142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5" name="Google Shape;2055;p113"/>
          <p:cNvCxnSpPr>
            <a:endCxn id="2050" idx="1"/>
          </p:cNvCxnSpPr>
          <p:nvPr/>
        </p:nvCxnSpPr>
        <p:spPr>
          <a:xfrm flipH="1" rot="10800000">
            <a:off x="3411100" y="2506850"/>
            <a:ext cx="2411100" cy="18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56" name="Google Shape;2056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8388" y="3612992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sp>
        <p:nvSpPr>
          <p:cNvPr id="2062" name="Google Shape;2062;p114"/>
          <p:cNvSpPr txBox="1"/>
          <p:nvPr>
            <p:ph idx="1" type="body"/>
          </p:nvPr>
        </p:nvSpPr>
        <p:spPr>
          <a:xfrm>
            <a:off x="324000" y="683100"/>
            <a:ext cx="84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Fill in the blanks that fully describe how each of these medians have changed.</a:t>
            </a:r>
            <a:endParaRPr sz="1800"/>
          </a:p>
        </p:txBody>
      </p:sp>
      <p:sp>
        <p:nvSpPr>
          <p:cNvPr id="2063" name="Google Shape;2063;p114"/>
          <p:cNvSpPr txBox="1"/>
          <p:nvPr>
            <p:ph idx="1" type="body"/>
          </p:nvPr>
        </p:nvSpPr>
        <p:spPr>
          <a:xfrm>
            <a:off x="324000" y="2772000"/>
            <a:ext cx="3996000" cy="13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median used to have a value of 99, but has been shifted left by half a data point(s), and now has a value of</a:t>
            </a:r>
            <a:r>
              <a:rPr lang="en-GB" sz="1800">
                <a:solidFill>
                  <a:srgbClr val="EBEDFE"/>
                </a:solidFill>
              </a:rPr>
              <a:t> </a:t>
            </a:r>
            <a:r>
              <a:rPr lang="en-GB">
                <a:solidFill>
                  <a:srgbClr val="EBEDFE"/>
                </a:solidFill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1800"/>
              <a:t>.</a:t>
            </a:r>
            <a:endParaRPr sz="1800"/>
          </a:p>
        </p:txBody>
      </p:sp>
      <p:graphicFrame>
        <p:nvGraphicFramePr>
          <p:cNvPr id="2064" name="Google Shape;2064;p114"/>
          <p:cNvGraphicFramePr/>
          <p:nvPr/>
        </p:nvGraphicFramePr>
        <p:xfrm>
          <a:off x="324000" y="1684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5" name="Google Shape;2065;p114"/>
          <p:cNvSpPr txBox="1"/>
          <p:nvPr>
            <p:ph idx="1" type="body"/>
          </p:nvPr>
        </p:nvSpPr>
        <p:spPr>
          <a:xfrm>
            <a:off x="324000" y="2101225"/>
            <a:ext cx="39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109 removed</a:t>
            </a:r>
            <a:endParaRPr sz="1800"/>
          </a:p>
        </p:txBody>
      </p:sp>
      <p:graphicFrame>
        <p:nvGraphicFramePr>
          <p:cNvPr id="2066" name="Google Shape;2066;p114"/>
          <p:cNvGraphicFramePr/>
          <p:nvPr/>
        </p:nvGraphicFramePr>
        <p:xfrm>
          <a:off x="4824000" y="1684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7" name="Google Shape;2067;p114"/>
          <p:cNvSpPr txBox="1"/>
          <p:nvPr>
            <p:ph idx="1" type="body"/>
          </p:nvPr>
        </p:nvSpPr>
        <p:spPr>
          <a:xfrm>
            <a:off x="4824000" y="2101225"/>
            <a:ext cx="39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73 changed to 48</a:t>
            </a:r>
            <a:endParaRPr sz="1800"/>
          </a:p>
        </p:txBody>
      </p:sp>
      <p:sp>
        <p:nvSpPr>
          <p:cNvPr id="2068" name="Google Shape;2068;p114"/>
          <p:cNvSpPr txBox="1"/>
          <p:nvPr>
            <p:ph idx="1" type="body"/>
          </p:nvPr>
        </p:nvSpPr>
        <p:spPr>
          <a:xfrm>
            <a:off x="4824000" y="2772000"/>
            <a:ext cx="3996000" cy="13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median used to have a value of </a:t>
            </a:r>
            <a:r>
              <a:rPr lang="en-GB">
                <a:solidFill>
                  <a:srgbClr val="EBEDFE"/>
                </a:solidFill>
                <a:latin typeface="Arial"/>
                <a:ea typeface="Arial"/>
                <a:cs typeface="Arial"/>
                <a:sym typeface="Arial"/>
              </a:rPr>
              <a:t>___</a:t>
            </a:r>
            <a:r>
              <a:rPr lang="en-GB" sz="1800"/>
              <a:t>, but has been shifted</a:t>
            </a:r>
            <a:r>
              <a:rPr lang="en-GB" sz="1800">
                <a:solidFill>
                  <a:srgbClr val="EBEDFE"/>
                </a:solidFill>
              </a:rPr>
              <a:t> </a:t>
            </a:r>
            <a:r>
              <a:rPr lang="en-GB">
                <a:solidFill>
                  <a:srgbClr val="EBEDFE"/>
                </a:solidFill>
                <a:latin typeface="Arial"/>
                <a:ea typeface="Arial"/>
                <a:cs typeface="Arial"/>
                <a:sym typeface="Arial"/>
              </a:rPr>
              <a:t>_____</a:t>
            </a:r>
            <a:r>
              <a:rPr lang="en-GB" sz="1800">
                <a:solidFill>
                  <a:srgbClr val="EBEDFE"/>
                </a:solidFill>
              </a:rPr>
              <a:t> </a:t>
            </a:r>
            <a:r>
              <a:rPr lang="en-GB" sz="1800"/>
              <a:t>by</a:t>
            </a:r>
            <a:r>
              <a:rPr lang="en-GB" sz="1800">
                <a:solidFill>
                  <a:srgbClr val="EBEDFE"/>
                </a:solidFill>
              </a:rPr>
              <a:t> </a:t>
            </a:r>
            <a:r>
              <a:rPr lang="en-GB">
                <a:solidFill>
                  <a:srgbClr val="EBEDFE"/>
                </a:solidFill>
                <a:latin typeface="Arial"/>
                <a:ea typeface="Arial"/>
                <a:cs typeface="Arial"/>
                <a:sym typeface="Arial"/>
              </a:rPr>
              <a:t>_____</a:t>
            </a:r>
            <a:r>
              <a:rPr lang="en-GB" sz="1800"/>
              <a:t> data point(s), and now has a value of</a:t>
            </a:r>
            <a:r>
              <a:rPr lang="en-GB" sz="1800">
                <a:solidFill>
                  <a:srgbClr val="EBEDFE"/>
                </a:solidFill>
              </a:rPr>
              <a:t> </a:t>
            </a:r>
            <a:r>
              <a:rPr lang="en-GB">
                <a:solidFill>
                  <a:srgbClr val="EBEDFE"/>
                </a:solidFill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1800"/>
              <a:t>.</a:t>
            </a:r>
            <a:endParaRPr sz="1800"/>
          </a:p>
        </p:txBody>
      </p:sp>
      <p:cxnSp>
        <p:nvCxnSpPr>
          <p:cNvPr id="2069" name="Google Shape;2069;p114"/>
          <p:cNvCxnSpPr/>
          <p:nvPr/>
        </p:nvCxnSpPr>
        <p:spPr>
          <a:xfrm>
            <a:off x="4572000" y="1409075"/>
            <a:ext cx="0" cy="3156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0" name="Google Shape;2070;p114"/>
          <p:cNvSpPr txBox="1"/>
          <p:nvPr>
            <p:ph idx="1" type="body"/>
          </p:nvPr>
        </p:nvSpPr>
        <p:spPr>
          <a:xfrm>
            <a:off x="1273975" y="3723800"/>
            <a:ext cx="588600" cy="2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1" name="Google Shape;2071;p114"/>
          <p:cNvSpPr txBox="1"/>
          <p:nvPr>
            <p:ph idx="1" type="body"/>
          </p:nvPr>
        </p:nvSpPr>
        <p:spPr>
          <a:xfrm>
            <a:off x="4824000" y="3125728"/>
            <a:ext cx="467400" cy="2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2" name="Google Shape;2072;p114"/>
          <p:cNvSpPr txBox="1"/>
          <p:nvPr>
            <p:ph idx="1" type="body"/>
          </p:nvPr>
        </p:nvSpPr>
        <p:spPr>
          <a:xfrm>
            <a:off x="7752050" y="3125728"/>
            <a:ext cx="771000" cy="2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left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3" name="Google Shape;2073;p114"/>
          <p:cNvSpPr txBox="1"/>
          <p:nvPr>
            <p:ph idx="1" type="body"/>
          </p:nvPr>
        </p:nvSpPr>
        <p:spPr>
          <a:xfrm>
            <a:off x="5169725" y="3516178"/>
            <a:ext cx="771000" cy="2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4" name="Google Shape;2074;p114"/>
          <p:cNvSpPr txBox="1"/>
          <p:nvPr>
            <p:ph idx="1" type="body"/>
          </p:nvPr>
        </p:nvSpPr>
        <p:spPr>
          <a:xfrm>
            <a:off x="6446775" y="3892844"/>
            <a:ext cx="588600" cy="2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53.5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115"/>
          <p:cNvSpPr txBox="1"/>
          <p:nvPr>
            <p:ph idx="1" type="body"/>
          </p:nvPr>
        </p:nvSpPr>
        <p:spPr>
          <a:xfrm>
            <a:off x="324000" y="3393928"/>
            <a:ext cx="3996000" cy="13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median used to have a value of </a:t>
            </a:r>
            <a:r>
              <a:rPr lang="en-GB">
                <a:solidFill>
                  <a:srgbClr val="EBEDFE"/>
                </a:solidFill>
                <a:latin typeface="Arial"/>
                <a:ea typeface="Arial"/>
                <a:cs typeface="Arial"/>
                <a:sym typeface="Arial"/>
              </a:rPr>
              <a:t>___</a:t>
            </a:r>
            <a:r>
              <a:rPr lang="en-GB" sz="1800"/>
              <a:t>, but now has a value of</a:t>
            </a:r>
            <a:r>
              <a:rPr lang="en-GB" sz="1800">
                <a:solidFill>
                  <a:srgbClr val="EBEDFE"/>
                </a:solidFill>
              </a:rPr>
              <a:t> </a:t>
            </a:r>
            <a:r>
              <a:rPr lang="en-GB">
                <a:solidFill>
                  <a:srgbClr val="EBEDFE"/>
                </a:solidFill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2080" name="Google Shape;2080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sp>
        <p:nvSpPr>
          <p:cNvPr id="2081" name="Google Shape;2081;p115"/>
          <p:cNvSpPr txBox="1"/>
          <p:nvPr>
            <p:ph idx="1" type="body"/>
          </p:nvPr>
        </p:nvSpPr>
        <p:spPr>
          <a:xfrm>
            <a:off x="324000" y="683100"/>
            <a:ext cx="84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Fill in the blanks that fully describe how each of these medians have changed. You must rewrite the list of numbers with the updated values before completing each sentence.</a:t>
            </a:r>
            <a:endParaRPr sz="1800"/>
          </a:p>
        </p:txBody>
      </p:sp>
      <p:graphicFrame>
        <p:nvGraphicFramePr>
          <p:cNvPr id="2082" name="Google Shape;2082;p115"/>
          <p:cNvGraphicFramePr/>
          <p:nvPr/>
        </p:nvGraphicFramePr>
        <p:xfrm>
          <a:off x="324000" y="1810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3" name="Google Shape;2083;p115"/>
          <p:cNvSpPr txBox="1"/>
          <p:nvPr>
            <p:ph idx="1" type="body"/>
          </p:nvPr>
        </p:nvSpPr>
        <p:spPr>
          <a:xfrm>
            <a:off x="324000" y="2227175"/>
            <a:ext cx="39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101 modified to 95</a:t>
            </a:r>
            <a:endParaRPr sz="1800"/>
          </a:p>
        </p:txBody>
      </p:sp>
      <p:graphicFrame>
        <p:nvGraphicFramePr>
          <p:cNvPr id="2084" name="Google Shape;2084;p115"/>
          <p:cNvGraphicFramePr/>
          <p:nvPr/>
        </p:nvGraphicFramePr>
        <p:xfrm>
          <a:off x="4824000" y="1810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5" name="Google Shape;2085;p115"/>
          <p:cNvSpPr txBox="1"/>
          <p:nvPr>
            <p:ph idx="1" type="body"/>
          </p:nvPr>
        </p:nvSpPr>
        <p:spPr>
          <a:xfrm>
            <a:off x="4824000" y="2227175"/>
            <a:ext cx="39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point of 66 removed</a:t>
            </a:r>
            <a:endParaRPr sz="1800"/>
          </a:p>
        </p:txBody>
      </p:sp>
      <p:cxnSp>
        <p:nvCxnSpPr>
          <p:cNvPr id="2086" name="Google Shape;2086;p115"/>
          <p:cNvCxnSpPr/>
          <p:nvPr/>
        </p:nvCxnSpPr>
        <p:spPr>
          <a:xfrm>
            <a:off x="4572000" y="1661700"/>
            <a:ext cx="0" cy="3156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087" name="Google Shape;2087;p115"/>
          <p:cNvGraphicFramePr/>
          <p:nvPr/>
        </p:nvGraphicFramePr>
        <p:xfrm>
          <a:off x="324000" y="269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89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93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93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95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97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88" name="Google Shape;2088;p115"/>
          <p:cNvGraphicFramePr/>
          <p:nvPr/>
        </p:nvGraphicFramePr>
        <p:xfrm>
          <a:off x="4824000" y="269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{0220E57F-BB28-40BA-92CF-FB20D5802EF3}</a:tableStyleId>
              </a:tblPr>
              <a:tblGrid>
                <a:gridCol w="499500"/>
                <a:gridCol w="499500"/>
                <a:gridCol w="499500"/>
                <a:gridCol w="499500"/>
                <a:gridCol w="499500"/>
                <a:gridCol w="499500"/>
                <a:gridCol w="499500"/>
              </a:tblGrid>
              <a:tr h="4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44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45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49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58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73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9" name="Google Shape;2089;p115"/>
          <p:cNvSpPr txBox="1"/>
          <p:nvPr>
            <p:ph idx="1" type="body"/>
          </p:nvPr>
        </p:nvSpPr>
        <p:spPr>
          <a:xfrm>
            <a:off x="324000" y="3712378"/>
            <a:ext cx="467400" cy="2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0" name="Google Shape;2090;p115"/>
          <p:cNvSpPr txBox="1"/>
          <p:nvPr>
            <p:ph idx="1" type="body"/>
          </p:nvPr>
        </p:nvSpPr>
        <p:spPr>
          <a:xfrm>
            <a:off x="3506050" y="3712369"/>
            <a:ext cx="588600" cy="2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1" name="Google Shape;2091;p115"/>
          <p:cNvSpPr txBox="1"/>
          <p:nvPr>
            <p:ph idx="1" type="body"/>
          </p:nvPr>
        </p:nvSpPr>
        <p:spPr>
          <a:xfrm>
            <a:off x="4824000" y="3393928"/>
            <a:ext cx="3996000" cy="13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median used to have a value of </a:t>
            </a:r>
            <a:r>
              <a:rPr lang="en-GB">
                <a:solidFill>
                  <a:srgbClr val="EBEDFE"/>
                </a:solidFill>
                <a:latin typeface="Arial"/>
                <a:ea typeface="Arial"/>
                <a:cs typeface="Arial"/>
                <a:sym typeface="Arial"/>
              </a:rPr>
              <a:t>___</a:t>
            </a:r>
            <a:r>
              <a:rPr lang="en-GB" sz="1800"/>
              <a:t>, but now has a value of</a:t>
            </a:r>
            <a:r>
              <a:rPr lang="en-GB" sz="1800">
                <a:solidFill>
                  <a:srgbClr val="EBEDFE"/>
                </a:solidFill>
              </a:rPr>
              <a:t> </a:t>
            </a:r>
            <a:r>
              <a:rPr lang="en-GB">
                <a:solidFill>
                  <a:srgbClr val="EBEDFE"/>
                </a:solidFill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2092" name="Google Shape;2092;p115"/>
          <p:cNvSpPr txBox="1"/>
          <p:nvPr>
            <p:ph idx="1" type="body"/>
          </p:nvPr>
        </p:nvSpPr>
        <p:spPr>
          <a:xfrm>
            <a:off x="4824000" y="3712378"/>
            <a:ext cx="467400" cy="2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3" name="Google Shape;2093;p115"/>
          <p:cNvSpPr txBox="1"/>
          <p:nvPr>
            <p:ph idx="1" type="body"/>
          </p:nvPr>
        </p:nvSpPr>
        <p:spPr>
          <a:xfrm>
            <a:off x="8006050" y="3712369"/>
            <a:ext cx="588600" cy="2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a changed data point influences the median</a:t>
            </a:r>
            <a:endParaRPr/>
          </a:p>
        </p:txBody>
      </p:sp>
      <p:sp>
        <p:nvSpPr>
          <p:cNvPr id="2099" name="Google Shape;2099;p116"/>
          <p:cNvSpPr txBox="1"/>
          <p:nvPr>
            <p:ph idx="1" type="body"/>
          </p:nvPr>
        </p:nvSpPr>
        <p:spPr>
          <a:xfrm>
            <a:off x="324000" y="683100"/>
            <a:ext cx="8496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Two new products have been reviewed 9 times, each rated on a scale of 1 star to 5 stars.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Each star below represents a review for that product.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could the 10th ratings of each product be in order for their median rating to increase?</a:t>
            </a:r>
            <a:endParaRPr sz="1800"/>
          </a:p>
        </p:txBody>
      </p:sp>
      <p:graphicFrame>
        <p:nvGraphicFramePr>
          <p:cNvPr id="2100" name="Google Shape;2100;p116"/>
          <p:cNvGraphicFramePr/>
          <p:nvPr/>
        </p:nvGraphicFramePr>
        <p:xfrm>
          <a:off x="819925" y="303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{4D845122-889A-4BEF-B4EB-29024A99EFCC}</a:tableStyleId>
              </a:tblPr>
              <a:tblGrid>
                <a:gridCol w="453400"/>
              </a:tblGrid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1" name="Google Shape;2101;p116"/>
          <p:cNvSpPr/>
          <p:nvPr/>
        </p:nvSpPr>
        <p:spPr>
          <a:xfrm>
            <a:off x="1316450" y="337850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2" name="Google Shape;2102;p116"/>
          <p:cNvSpPr/>
          <p:nvPr/>
        </p:nvSpPr>
        <p:spPr>
          <a:xfrm>
            <a:off x="1684800" y="337850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3" name="Google Shape;2103;p116"/>
          <p:cNvSpPr/>
          <p:nvPr/>
        </p:nvSpPr>
        <p:spPr>
          <a:xfrm>
            <a:off x="2053150" y="337850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4" name="Google Shape;2104;p116"/>
          <p:cNvSpPr/>
          <p:nvPr/>
        </p:nvSpPr>
        <p:spPr>
          <a:xfrm>
            <a:off x="2421500" y="337850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5" name="Google Shape;2105;p116"/>
          <p:cNvSpPr/>
          <p:nvPr/>
        </p:nvSpPr>
        <p:spPr>
          <a:xfrm>
            <a:off x="1316450" y="30370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6" name="Google Shape;2106;p116"/>
          <p:cNvSpPr/>
          <p:nvPr/>
        </p:nvSpPr>
        <p:spPr>
          <a:xfrm>
            <a:off x="1684800" y="30370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7" name="Google Shape;2107;p116"/>
          <p:cNvSpPr/>
          <p:nvPr/>
        </p:nvSpPr>
        <p:spPr>
          <a:xfrm>
            <a:off x="2053150" y="30370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16"/>
          <p:cNvSpPr/>
          <p:nvPr/>
        </p:nvSpPr>
        <p:spPr>
          <a:xfrm>
            <a:off x="2421500" y="30370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9" name="Google Shape;2109;p116"/>
          <p:cNvSpPr/>
          <p:nvPr/>
        </p:nvSpPr>
        <p:spPr>
          <a:xfrm>
            <a:off x="1316450" y="369572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845A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10" name="Google Shape;2110;p116"/>
          <p:cNvGraphicFramePr/>
          <p:nvPr/>
        </p:nvGraphicFramePr>
        <p:xfrm>
          <a:off x="5056913" y="303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{4D845122-889A-4BEF-B4EB-29024A99EFCC}</a:tableStyleId>
              </a:tblPr>
              <a:tblGrid>
                <a:gridCol w="453400"/>
              </a:tblGrid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1" name="Google Shape;2111;p116"/>
          <p:cNvSpPr/>
          <p:nvPr/>
        </p:nvSpPr>
        <p:spPr>
          <a:xfrm>
            <a:off x="5553438" y="337850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2" name="Google Shape;2112;p116"/>
          <p:cNvSpPr/>
          <p:nvPr/>
        </p:nvSpPr>
        <p:spPr>
          <a:xfrm>
            <a:off x="5921788" y="337850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3" name="Google Shape;2113;p116"/>
          <p:cNvSpPr/>
          <p:nvPr/>
        </p:nvSpPr>
        <p:spPr>
          <a:xfrm>
            <a:off x="5553438" y="30370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4" name="Google Shape;2114;p116"/>
          <p:cNvSpPr/>
          <p:nvPr/>
        </p:nvSpPr>
        <p:spPr>
          <a:xfrm>
            <a:off x="5553438" y="369572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5" name="Google Shape;2115;p116"/>
          <p:cNvSpPr/>
          <p:nvPr/>
        </p:nvSpPr>
        <p:spPr>
          <a:xfrm>
            <a:off x="5553438" y="44027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6" name="Google Shape;2116;p116"/>
          <p:cNvSpPr/>
          <p:nvPr/>
        </p:nvSpPr>
        <p:spPr>
          <a:xfrm>
            <a:off x="5921788" y="44027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7" name="Google Shape;2117;p116"/>
          <p:cNvSpPr/>
          <p:nvPr/>
        </p:nvSpPr>
        <p:spPr>
          <a:xfrm>
            <a:off x="6290138" y="4402775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116"/>
          <p:cNvSpPr/>
          <p:nvPr/>
        </p:nvSpPr>
        <p:spPr>
          <a:xfrm>
            <a:off x="5553438" y="406135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116"/>
          <p:cNvSpPr/>
          <p:nvPr/>
        </p:nvSpPr>
        <p:spPr>
          <a:xfrm>
            <a:off x="5921788" y="4061350"/>
            <a:ext cx="354600" cy="337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116"/>
          <p:cNvSpPr txBox="1"/>
          <p:nvPr>
            <p:ph idx="1" type="body"/>
          </p:nvPr>
        </p:nvSpPr>
        <p:spPr>
          <a:xfrm>
            <a:off x="819925" y="2623800"/>
            <a:ext cx="19563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product A</a:t>
            </a:r>
            <a:endParaRPr sz="1800"/>
          </a:p>
        </p:txBody>
      </p:sp>
      <p:sp>
        <p:nvSpPr>
          <p:cNvPr id="2121" name="Google Shape;2121;p116"/>
          <p:cNvSpPr txBox="1"/>
          <p:nvPr>
            <p:ph idx="1" type="body"/>
          </p:nvPr>
        </p:nvSpPr>
        <p:spPr>
          <a:xfrm>
            <a:off x="2887200" y="2588388"/>
            <a:ext cx="1684800" cy="2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Median rating of product A was 4.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10th rating needs to be 5.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2" name="Google Shape;2122;p116"/>
          <p:cNvSpPr txBox="1"/>
          <p:nvPr>
            <p:ph idx="1" type="body"/>
          </p:nvPr>
        </p:nvSpPr>
        <p:spPr>
          <a:xfrm>
            <a:off x="5056850" y="2623800"/>
            <a:ext cx="19563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product B</a:t>
            </a:r>
            <a:endParaRPr sz="1800"/>
          </a:p>
        </p:txBody>
      </p:sp>
      <p:sp>
        <p:nvSpPr>
          <p:cNvPr id="2123" name="Google Shape;2123;p116"/>
          <p:cNvSpPr txBox="1"/>
          <p:nvPr>
            <p:ph idx="1" type="body"/>
          </p:nvPr>
        </p:nvSpPr>
        <p:spPr>
          <a:xfrm>
            <a:off x="7135200" y="2588388"/>
            <a:ext cx="1684800" cy="2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Median rating of product B was 2.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10th rating needs to be 3 or above.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117"/>
          <p:cNvSpPr txBox="1"/>
          <p:nvPr>
            <p:ph idx="1" type="body"/>
          </p:nvPr>
        </p:nvSpPr>
        <p:spPr>
          <a:xfrm>
            <a:off x="324000" y="1082550"/>
            <a:ext cx="8496000" cy="30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If new data had to be added, outdated data had to be removed, or erroneous data had to be modified from a </a:t>
            </a:r>
            <a:r>
              <a:rPr lang="en-GB"/>
              <a:t>data set</a:t>
            </a:r>
            <a:r>
              <a:rPr lang="en-GB"/>
              <a:t>, then the </a:t>
            </a:r>
            <a:r>
              <a:rPr b="1" lang="en-GB"/>
              <a:t>mean</a:t>
            </a:r>
            <a:r>
              <a:rPr lang="en-GB"/>
              <a:t>, </a:t>
            </a:r>
            <a:r>
              <a:rPr b="1" lang="en-GB"/>
              <a:t>median</a:t>
            </a:r>
            <a:r>
              <a:rPr lang="en-GB"/>
              <a:t>, and </a:t>
            </a:r>
            <a:r>
              <a:rPr b="1" lang="en-GB"/>
              <a:t>mode</a:t>
            </a:r>
            <a:r>
              <a:rPr lang="en-GB"/>
              <a:t> may be affected.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/>
              <a:t>Visualising </a:t>
            </a:r>
            <a:r>
              <a:rPr lang="en-GB"/>
              <a:t>data set</a:t>
            </a:r>
            <a:r>
              <a:rPr lang="en-GB"/>
              <a:t>s on dot plots, or by using lists of the raw data, can help in understanding how these central tendencies are affected as the data set is changed.</a:t>
            </a:r>
            <a:endParaRPr/>
          </a:p>
        </p:txBody>
      </p:sp>
      <p:sp>
        <p:nvSpPr>
          <p:cNvPr id="2129" name="Google Shape;2129;p11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Changing a data point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11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35" name="Google Shape;2135;p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