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3706B1-A81C-4460-A313-B7D6570F1C05}">
  <a:tblStyle styleId="{0E3706B1-A81C-4460-A313-B7D6570F1C0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DFF9734-A52D-4F1F-A929-D94205EBDF7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eb51ac8e61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eb51ac8e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a data point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676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How a changed data point influences the mode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761548" y="1915600"/>
            <a:ext cx="54042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 one point to change the mode for each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520449" y="1915600"/>
            <a:ext cx="1689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610916" y="2645412"/>
            <a:ext cx="1174381" cy="128278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7" name="Google Shape;167;p20"/>
          <p:cNvSpPr/>
          <p:nvPr/>
        </p:nvSpPr>
        <p:spPr>
          <a:xfrm>
            <a:off x="1595627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1003270" y="308338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003270" y="32309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003270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130122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1301226" y="32309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1301226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1003269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71008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1598404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2249206" y="2645412"/>
            <a:ext cx="1174381" cy="128278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" name="Google Shape;178;p20"/>
          <p:cNvSpPr/>
          <p:nvPr/>
        </p:nvSpPr>
        <p:spPr>
          <a:xfrm>
            <a:off x="3233917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641560" y="32309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641560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93951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939516" y="32309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2939516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641559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34837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236694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3887496" y="2645412"/>
            <a:ext cx="1174381" cy="128278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8" name="Google Shape;188;p20"/>
          <p:cNvSpPr/>
          <p:nvPr/>
        </p:nvSpPr>
        <p:spPr>
          <a:xfrm>
            <a:off x="4872207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57780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398666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874984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988862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874984" y="32309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5525786" y="2645412"/>
            <a:ext cx="1174381" cy="128278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5" name="Google Shape;195;p20"/>
          <p:cNvSpPr/>
          <p:nvPr/>
        </p:nvSpPr>
        <p:spPr>
          <a:xfrm>
            <a:off x="651049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21609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624956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216096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627152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918918" y="35259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627152" y="323031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627152" y="308216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5924330" y="33784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924330" y="323031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90100" y="4016454"/>
            <a:ext cx="1569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Original mode: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mode: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2228390" y="4016454"/>
            <a:ext cx="1569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Original mode: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mode: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3887809" y="4016454"/>
            <a:ext cx="1569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Original mode: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mode: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526101" y="4016450"/>
            <a:ext cx="1569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Original mode: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mode: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531793" y="2360025"/>
            <a:ext cx="30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2170101" y="2360025"/>
            <a:ext cx="30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808408" y="2360025"/>
            <a:ext cx="30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446673" y="2360025"/>
            <a:ext cx="30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761550" y="5268400"/>
            <a:ext cx="59385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Modify one point with an arrow to change the mode for each of the following:</a:t>
            </a:r>
            <a:endParaRPr sz="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20449" y="5268400"/>
            <a:ext cx="1689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610916" y="5998212"/>
            <a:ext cx="1174381" cy="128278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6" name="Google Shape;216;p20"/>
          <p:cNvSpPr/>
          <p:nvPr/>
        </p:nvSpPr>
        <p:spPr>
          <a:xfrm>
            <a:off x="1595627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1003270" y="643618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1003270" y="65837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1003270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130122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1301226" y="65837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1301226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1003269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71008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1598404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" name="Google Shape;226;p20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2249206" y="5998212"/>
            <a:ext cx="1174381" cy="128278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7" name="Google Shape;227;p20"/>
          <p:cNvSpPr/>
          <p:nvPr/>
        </p:nvSpPr>
        <p:spPr>
          <a:xfrm>
            <a:off x="3233917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2641560" y="65837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2641560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293951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2939516" y="65837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2939516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2641559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234837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3236694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" name="Google Shape;236;p20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3887496" y="5998212"/>
            <a:ext cx="1174381" cy="128278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7" name="Google Shape;237;p20"/>
          <p:cNvSpPr/>
          <p:nvPr/>
        </p:nvSpPr>
        <p:spPr>
          <a:xfrm>
            <a:off x="4872207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457780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398666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4874984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3988862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4874984" y="658372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3" name="Google Shape;243;p20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5525786" y="5998212"/>
            <a:ext cx="1174381" cy="128278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4" name="Google Shape;244;p20"/>
          <p:cNvSpPr/>
          <p:nvPr/>
        </p:nvSpPr>
        <p:spPr>
          <a:xfrm>
            <a:off x="651049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621609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5624956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6216096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5627152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5918918" y="687879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5627152" y="658311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5627152" y="643496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5924330" y="6731259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5924330" y="6583114"/>
            <a:ext cx="110400" cy="1107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590100" y="7369254"/>
            <a:ext cx="1569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mode: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2228390" y="7369254"/>
            <a:ext cx="1569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mode: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3887809" y="7369254"/>
            <a:ext cx="1569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mode: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5526101" y="7369250"/>
            <a:ext cx="1569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mode: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531793" y="5712825"/>
            <a:ext cx="30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2170101" y="5712825"/>
            <a:ext cx="30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3808408" y="5712825"/>
            <a:ext cx="30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5446673" y="5712825"/>
            <a:ext cx="30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Changing a data point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468000" y="5815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How a changed data point influences the mean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599656" y="3275050"/>
            <a:ext cx="6357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One extra data point is added to the original data set. The mean stays the same. What is the value of this extra data point?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599656" y="2019925"/>
            <a:ext cx="6357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If I had to modify one data point from 3 to 8, by how much would the mean increase?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599656" y="1277200"/>
            <a:ext cx="635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total value of this data set?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66825" y="952025"/>
            <a:ext cx="652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mean of 5 numbers is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599656" y="4453975"/>
            <a:ext cx="6357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One data point is removed from the original data set. The mean decreases to 3. What is the value of the data point that was removed?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4" name="Google Shape;274;p21"/>
          <p:cNvCxnSpPr/>
          <p:nvPr/>
        </p:nvCxnSpPr>
        <p:spPr>
          <a:xfrm>
            <a:off x="474757" y="6107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21"/>
          <p:cNvSpPr txBox="1"/>
          <p:nvPr/>
        </p:nvSpPr>
        <p:spPr>
          <a:xfrm>
            <a:off x="467525" y="6258125"/>
            <a:ext cx="6624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How a changed data point influences the median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467525" y="6595325"/>
            <a:ext cx="6624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modified datasets with the changed median description. There is one odd one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77" name="Google Shape;277;p21"/>
          <p:cNvGraphicFramePr/>
          <p:nvPr/>
        </p:nvGraphicFramePr>
        <p:xfrm>
          <a:off x="462613" y="7168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{0E3706B1-A81C-4460-A313-B7D6570F1C05}</a:tableStyleId>
              </a:tblPr>
              <a:tblGrid>
                <a:gridCol w="514500"/>
                <a:gridCol w="514500"/>
                <a:gridCol w="514500"/>
                <a:gridCol w="514500"/>
                <a:gridCol w="514500"/>
                <a:gridCol w="514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8" name="Google Shape;278;p21"/>
          <p:cNvSpPr txBox="1"/>
          <p:nvPr/>
        </p:nvSpPr>
        <p:spPr>
          <a:xfrm>
            <a:off x="462613" y="7586025"/>
            <a:ext cx="3087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data point of 17 added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62613" y="8601950"/>
            <a:ext cx="3087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data point of 16 removed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0" name="Google Shape;280;p21"/>
          <p:cNvGraphicFramePr/>
          <p:nvPr/>
        </p:nvGraphicFramePr>
        <p:xfrm>
          <a:off x="462613" y="9200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{0E3706B1-A81C-4460-A313-B7D6570F1C05}</a:tableStyleId>
              </a:tblPr>
              <a:tblGrid>
                <a:gridCol w="514500"/>
                <a:gridCol w="514500"/>
                <a:gridCol w="514500"/>
                <a:gridCol w="514500"/>
                <a:gridCol w="514500"/>
                <a:gridCol w="514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1" name="Google Shape;281;p21"/>
          <p:cNvSpPr txBox="1"/>
          <p:nvPr/>
        </p:nvSpPr>
        <p:spPr>
          <a:xfrm>
            <a:off x="462613" y="9617875"/>
            <a:ext cx="3087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data point of 14 modified to 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2" name="Google Shape;282;p21"/>
          <p:cNvGraphicFramePr/>
          <p:nvPr/>
        </p:nvGraphicFramePr>
        <p:xfrm>
          <a:off x="462613" y="8184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{0E3706B1-A81C-4460-A313-B7D6570F1C05}</a:tableStyleId>
              </a:tblPr>
              <a:tblGrid>
                <a:gridCol w="514500"/>
                <a:gridCol w="514500"/>
                <a:gridCol w="514500"/>
                <a:gridCol w="514500"/>
                <a:gridCol w="514500"/>
                <a:gridCol w="514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3" name="Google Shape;283;p21"/>
          <p:cNvSpPr txBox="1"/>
          <p:nvPr/>
        </p:nvSpPr>
        <p:spPr>
          <a:xfrm>
            <a:off x="5293025" y="7313050"/>
            <a:ext cx="156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becomes 14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5293025" y="7935425"/>
            <a:ext cx="156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becomes 15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5293025" y="8557800"/>
            <a:ext cx="156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becomes 16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5293025" y="9180175"/>
            <a:ext cx="156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becomes 17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2" name="Google Shape;292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Changing a data point</a:t>
            </a:r>
            <a:endParaRPr/>
          </a:p>
        </p:txBody>
      </p:sp>
      <p:sp>
        <p:nvSpPr>
          <p:cNvPr id="293" name="Google Shape;293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468000" y="720000"/>
            <a:ext cx="8496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blanks that fully describe how each of these medians have changed.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468000" y="1802150"/>
            <a:ext cx="2952000" cy="16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median used to have a value of 99, but has been shifted left by half a data point(s), and now has a value of</a:t>
            </a:r>
            <a:r>
              <a:rPr lang="en-GB" sz="12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BEDFE"/>
                </a:solidFill>
              </a:rPr>
              <a:t>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97" name="Google Shape;297;p22"/>
          <p:cNvGraphicFramePr/>
          <p:nvPr/>
        </p:nvGraphicFramePr>
        <p:xfrm>
          <a:off x="468000" y="994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{0E3706B1-A81C-4460-A313-B7D6570F1C05}</a:tableStyleId>
              </a:tblPr>
              <a:tblGrid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8" name="Google Shape;298;p22"/>
          <p:cNvSpPr txBox="1"/>
          <p:nvPr/>
        </p:nvSpPr>
        <p:spPr>
          <a:xfrm>
            <a:off x="468000" y="1412150"/>
            <a:ext cx="295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data point of 109 removed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99" name="Google Shape;299;p22"/>
          <p:cNvGraphicFramePr/>
          <p:nvPr/>
        </p:nvGraphicFramePr>
        <p:xfrm>
          <a:off x="4149244" y="994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{0E3706B1-A81C-4460-A313-B7D6570F1C05}</a:tableStyleId>
              </a:tblPr>
              <a:tblGrid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0" name="Google Shape;300;p22"/>
          <p:cNvSpPr txBox="1"/>
          <p:nvPr/>
        </p:nvSpPr>
        <p:spPr>
          <a:xfrm>
            <a:off x="4140000" y="1412150"/>
            <a:ext cx="295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data point of 73 changed to 48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4134100" y="1802150"/>
            <a:ext cx="2952000" cy="1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median used to have a value of </a:t>
            </a:r>
            <a:r>
              <a:rPr lang="en-GB" sz="1200">
                <a:solidFill>
                  <a:srgbClr val="EBEDFE"/>
                </a:solidFill>
              </a:rPr>
              <a:t>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but has been shifted</a:t>
            </a:r>
            <a:r>
              <a:rPr lang="en-GB" sz="12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BEDFE"/>
                </a:solidFill>
              </a:rPr>
              <a:t>_____</a:t>
            </a:r>
            <a:r>
              <a:rPr lang="en-GB" sz="12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</a:t>
            </a:r>
            <a:r>
              <a:rPr lang="en-GB" sz="12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BEDFE"/>
                </a:solidFill>
              </a:rPr>
              <a:t>_____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data point(s), and now has a value of</a:t>
            </a:r>
            <a:r>
              <a:rPr lang="en-GB" sz="12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BEDFE"/>
                </a:solidFill>
              </a:rPr>
              <a:t>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2" name="Google Shape;302;p22"/>
          <p:cNvCxnSpPr/>
          <p:nvPr/>
        </p:nvCxnSpPr>
        <p:spPr>
          <a:xfrm>
            <a:off x="3777050" y="988844"/>
            <a:ext cx="0" cy="1650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22"/>
          <p:cNvSpPr txBox="1"/>
          <p:nvPr/>
        </p:nvSpPr>
        <p:spPr>
          <a:xfrm>
            <a:off x="468000" y="5010650"/>
            <a:ext cx="29520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median used to have a value of </a:t>
            </a:r>
            <a:r>
              <a:rPr lang="en-GB" sz="1200">
                <a:solidFill>
                  <a:srgbClr val="EBEDFE"/>
                </a:solidFill>
              </a:rPr>
              <a:t>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but now has a value of</a:t>
            </a:r>
            <a:r>
              <a:rPr lang="en-GB" sz="12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BEDFE"/>
                </a:solidFill>
              </a:rPr>
              <a:t>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468000" y="2942150"/>
            <a:ext cx="661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blanks that fully describe how each of these medians have changed. You must rewrite the list of numbers with the updated values before completing each sentence.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5" name="Google Shape;305;p22"/>
          <p:cNvGraphicFramePr/>
          <p:nvPr/>
        </p:nvGraphicFramePr>
        <p:xfrm>
          <a:off x="468000" y="3635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{0E3706B1-A81C-4460-A313-B7D6570F1C05}</a:tableStyleId>
              </a:tblPr>
              <a:tblGrid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6" name="Google Shape;306;p22"/>
          <p:cNvSpPr txBox="1"/>
          <p:nvPr/>
        </p:nvSpPr>
        <p:spPr>
          <a:xfrm>
            <a:off x="468000" y="4052600"/>
            <a:ext cx="295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data point of 101 modified to 95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7" name="Google Shape;307;p22"/>
          <p:cNvGraphicFramePr/>
          <p:nvPr/>
        </p:nvGraphicFramePr>
        <p:xfrm>
          <a:off x="4132800" y="36370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{0E3706B1-A81C-4460-A313-B7D6570F1C05}</a:tableStyleId>
              </a:tblPr>
              <a:tblGrid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8" name="Google Shape;308;p22"/>
          <p:cNvSpPr txBox="1"/>
          <p:nvPr/>
        </p:nvSpPr>
        <p:spPr>
          <a:xfrm>
            <a:off x="4132800" y="4052600"/>
            <a:ext cx="2952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data point of 66 removed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9" name="Google Shape;309;p22"/>
          <p:cNvCxnSpPr/>
          <p:nvPr/>
        </p:nvCxnSpPr>
        <p:spPr>
          <a:xfrm>
            <a:off x="3790866" y="3578850"/>
            <a:ext cx="0" cy="1881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10" name="Google Shape;310;p22"/>
          <p:cNvGraphicFramePr/>
          <p:nvPr/>
        </p:nvGraphicFramePr>
        <p:xfrm>
          <a:off x="468000" y="4523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{0E3706B1-A81C-4460-A313-B7D6570F1C05}</a:tableStyleId>
              </a:tblPr>
              <a:tblGrid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  <a:gridCol w="3690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89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93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93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95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97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1" name="Google Shape;311;p22"/>
          <p:cNvGraphicFramePr/>
          <p:nvPr/>
        </p:nvGraphicFramePr>
        <p:xfrm>
          <a:off x="4132800" y="4509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{0E3706B1-A81C-4460-A313-B7D6570F1C05}</a:tableStyleId>
              </a:tblPr>
              <a:tblGrid>
                <a:gridCol w="421725"/>
                <a:gridCol w="421725"/>
                <a:gridCol w="421725"/>
                <a:gridCol w="421725"/>
                <a:gridCol w="421725"/>
                <a:gridCol w="421725"/>
                <a:gridCol w="421725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44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45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49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58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73</a:t>
                      </a:r>
                      <a:endParaRPr sz="12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2" name="Google Shape;312;p22"/>
          <p:cNvSpPr txBox="1"/>
          <p:nvPr/>
        </p:nvSpPr>
        <p:spPr>
          <a:xfrm>
            <a:off x="4161750" y="5010650"/>
            <a:ext cx="2923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median used to have a value of </a:t>
            </a:r>
            <a:r>
              <a:rPr lang="en-GB" sz="1200">
                <a:solidFill>
                  <a:srgbClr val="EBEDFE"/>
                </a:solidFill>
              </a:rPr>
              <a:t>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but now has a value of</a:t>
            </a:r>
            <a:r>
              <a:rPr lang="en-GB" sz="12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BEDFE"/>
                </a:solidFill>
              </a:rPr>
              <a:t>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>
            <a:off x="468000" y="5694350"/>
            <a:ext cx="6618000" cy="1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Two new products have been reviewed 9 times, each rated on a scale of 1 star to 5 stars.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star below represents a review for that product.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could the 10th ratings of each product be in order for their median rating to increase?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14" name="Google Shape;314;p22"/>
          <p:cNvGraphicFramePr/>
          <p:nvPr/>
        </p:nvGraphicFramePr>
        <p:xfrm>
          <a:off x="468000" y="751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{ADFF9734-A52D-4F1F-A929-D94205EBDF78}</a:tableStyleId>
              </a:tblPr>
              <a:tblGrid>
                <a:gridCol w="453400"/>
              </a:tblGrid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5" name="Google Shape;315;p22"/>
          <p:cNvSpPr/>
          <p:nvPr/>
        </p:nvSpPr>
        <p:spPr>
          <a:xfrm>
            <a:off x="964525" y="785785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1332875" y="785785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1701225" y="785785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2069575" y="785785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964525" y="751642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1332875" y="751642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1701225" y="751642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2069575" y="751642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964525" y="81750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24" name="Google Shape;324;p22"/>
          <p:cNvGraphicFramePr/>
          <p:nvPr/>
        </p:nvGraphicFramePr>
        <p:xfrm>
          <a:off x="3795465" y="75166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{ADFF9734-A52D-4F1F-A929-D94205EBDF78}</a:tableStyleId>
              </a:tblPr>
              <a:tblGrid>
                <a:gridCol w="453400"/>
              </a:tblGrid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5" name="Google Shape;325;p22"/>
          <p:cNvSpPr/>
          <p:nvPr/>
        </p:nvSpPr>
        <p:spPr>
          <a:xfrm>
            <a:off x="4291990" y="7858048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4660340" y="7858048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4291990" y="7516623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4291990" y="8175273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4291990" y="8882323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4660340" y="8882323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5028690" y="8882323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4291990" y="8540898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4660340" y="8540898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468000" y="7103150"/>
            <a:ext cx="1956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product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3795402" y="7103348"/>
            <a:ext cx="1956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product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