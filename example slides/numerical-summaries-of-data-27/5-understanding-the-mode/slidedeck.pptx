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5481700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5481700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f57d639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f57d639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94145a61d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94145a61d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94145a61d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94145a61d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94145a61d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94145a61d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978d930bc8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978d930bc8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1ea5f8e8b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1ea5f8e8b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1ea5f8e8b5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1ea5f8e8b5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ea5f8e8b5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ea5f8e8b5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94145a61dc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94145a61dc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94145a61dc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94145a61dc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94145a61dc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94145a61dc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2954817008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2954817008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94145a61dc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94145a61dc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954817008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2954817008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954817008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954817008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954817008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954817008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2954817008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2954817008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954817008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954817008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94145a61d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94145a61d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94145a61dc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94145a61dc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954817008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954817008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ea5f8e8b5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1ea5f8e8b5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2954817008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954817008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954817008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954817008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1ea5f8e8b57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1ea5f8e8b5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1ea5f8e8b57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1ea5f8e8b5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1ea5f8e8b57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1ea5f8e8b5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1ea5f8e8b57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1ea5f8e8b57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1ea5f8e8b5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1ea5f8e8b5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1ea5f8e8b57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1ea5f8e8b57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56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6.png"/><Relationship Id="rId4" Type="http://schemas.openxmlformats.org/officeDocument/2006/relationships/image" Target="../media/image24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6.png"/><Relationship Id="rId4" Type="http://schemas.openxmlformats.org/officeDocument/2006/relationships/image" Target="../media/image32.png"/><Relationship Id="rId11" Type="http://schemas.openxmlformats.org/officeDocument/2006/relationships/image" Target="../media/image20.png"/><Relationship Id="rId10" Type="http://schemas.openxmlformats.org/officeDocument/2006/relationships/image" Target="../media/image35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49.png"/><Relationship Id="rId6" Type="http://schemas.openxmlformats.org/officeDocument/2006/relationships/image" Target="../media/image53.png"/><Relationship Id="rId7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9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1.png"/><Relationship Id="rId7" Type="http://schemas.openxmlformats.org/officeDocument/2006/relationships/image" Target="../media/image67.png"/><Relationship Id="rId8" Type="http://schemas.openxmlformats.org/officeDocument/2006/relationships/image" Target="../media/image6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8.png"/><Relationship Id="rId4" Type="http://schemas.openxmlformats.org/officeDocument/2006/relationships/image" Target="../media/image60.png"/><Relationship Id="rId5" Type="http://schemas.openxmlformats.org/officeDocument/2006/relationships/image" Target="../media/image6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3.png"/><Relationship Id="rId4" Type="http://schemas.openxmlformats.org/officeDocument/2006/relationships/image" Target="../media/image72.png"/><Relationship Id="rId5" Type="http://schemas.openxmlformats.org/officeDocument/2006/relationships/image" Target="../media/image71.png"/><Relationship Id="rId6" Type="http://schemas.openxmlformats.org/officeDocument/2006/relationships/image" Target="../media/image6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3.png"/><Relationship Id="rId4" Type="http://schemas.openxmlformats.org/officeDocument/2006/relationships/image" Target="../media/image6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3.png"/><Relationship Id="rId4" Type="http://schemas.openxmlformats.org/officeDocument/2006/relationships/image" Target="../media/image72.png"/><Relationship Id="rId5" Type="http://schemas.openxmlformats.org/officeDocument/2006/relationships/image" Target="../media/image71.png"/><Relationship Id="rId6" Type="http://schemas.openxmlformats.org/officeDocument/2006/relationships/image" Target="../media/image6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3.png"/><Relationship Id="rId4" Type="http://schemas.openxmlformats.org/officeDocument/2006/relationships/image" Target="../media/image6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7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7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mode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what the mode is measuring, how it is measuring it and find the mode from data presented in a list.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mode</a:t>
            </a:r>
            <a:endParaRPr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1" y="232815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bimodal</a:t>
            </a:r>
            <a:endParaRPr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t</a:t>
            </a:r>
            <a:r>
              <a:rPr b="1" lang="en-GB"/>
              <a:t>rimodal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idx="1" type="subTitle"/>
          </p:nvPr>
        </p:nvSpPr>
        <p:spPr>
          <a:xfrm>
            <a:off x="324000" y="841250"/>
            <a:ext cx="71352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mode </a:t>
            </a:r>
            <a:r>
              <a:rPr lang="en-GB"/>
              <a:t>is a measure of central tendency or average. It is the most common value or class with the largest frequency. Some data has no </a:t>
            </a:r>
            <a:r>
              <a:rPr b="1" lang="en-GB"/>
              <a:t>mode</a:t>
            </a:r>
            <a:r>
              <a:rPr lang="en-GB"/>
              <a:t> or more than one </a:t>
            </a:r>
            <a:r>
              <a:rPr b="1" lang="en-GB"/>
              <a:t>mode</a:t>
            </a:r>
            <a:r>
              <a:rPr lang="en-GB"/>
              <a:t>.</a:t>
            </a:r>
            <a:endParaRPr/>
          </a:p>
        </p:txBody>
      </p:sp>
      <p:sp>
        <p:nvSpPr>
          <p:cNvPr id="774" name="Google Shape;774;p68"/>
          <p:cNvSpPr txBox="1"/>
          <p:nvPr>
            <p:ph idx="2" type="subTitle"/>
          </p:nvPr>
        </p:nvSpPr>
        <p:spPr>
          <a:xfrm>
            <a:off x="324001" y="270915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Sets of data which have two </a:t>
            </a:r>
            <a:r>
              <a:rPr b="1" lang="en-GB"/>
              <a:t>modes </a:t>
            </a:r>
            <a:r>
              <a:rPr lang="en-GB"/>
              <a:t>are known as </a:t>
            </a:r>
            <a:r>
              <a:rPr b="1" lang="en-GB"/>
              <a:t>bimodal </a:t>
            </a:r>
            <a:r>
              <a:rPr lang="en-GB"/>
              <a:t>data.</a:t>
            </a:r>
            <a:endParaRPr/>
          </a:p>
        </p:txBody>
      </p:sp>
      <p:sp>
        <p:nvSpPr>
          <p:cNvPr id="775" name="Google Shape;775;p68"/>
          <p:cNvSpPr txBox="1"/>
          <p:nvPr>
            <p:ph idx="3" type="subTitle"/>
          </p:nvPr>
        </p:nvSpPr>
        <p:spPr>
          <a:xfrm>
            <a:off x="324001" y="37124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Trimodal </a:t>
            </a:r>
            <a:r>
              <a:rPr lang="en-GB"/>
              <a:t>data has three </a:t>
            </a:r>
            <a:r>
              <a:rPr b="1" lang="en-GB"/>
              <a:t>modes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  <p:sp>
        <p:nvSpPr>
          <p:cNvPr id="781" name="Google Shape;781;p6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  <p:sp>
        <p:nvSpPr>
          <p:cNvPr id="782" name="Google Shape;782;p6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mode</a:t>
            </a:r>
            <a:endParaRPr/>
          </a:p>
        </p:txBody>
      </p:sp>
      <p:pic>
        <p:nvPicPr>
          <p:cNvPr id="783" name="Google Shape;7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150" y="205932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0"/>
          <p:cNvSpPr txBox="1"/>
          <p:nvPr>
            <p:ph idx="1" type="body"/>
          </p:nvPr>
        </p:nvSpPr>
        <p:spPr>
          <a:xfrm>
            <a:off x="324000" y="759300"/>
            <a:ext cx="4624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animal appears the most?</a:t>
            </a:r>
            <a:endParaRPr/>
          </a:p>
        </p:txBody>
      </p:sp>
      <p:sp>
        <p:nvSpPr>
          <p:cNvPr id="789" name="Google Shape;78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  <p:sp>
        <p:nvSpPr>
          <p:cNvPr id="790" name="Google Shape;790;p70"/>
          <p:cNvSpPr txBox="1"/>
          <p:nvPr/>
        </p:nvSpPr>
        <p:spPr>
          <a:xfrm>
            <a:off x="4999025" y="973475"/>
            <a:ext cx="120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elephant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791" name="Google Shape;79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495" y="1217237"/>
            <a:ext cx="784350" cy="10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5245" y="1799412"/>
            <a:ext cx="784350" cy="10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795" y="3382737"/>
            <a:ext cx="784350" cy="10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645" y="1748037"/>
            <a:ext cx="784350" cy="10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1820" y="3199112"/>
            <a:ext cx="784350" cy="10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2720" y="2995337"/>
            <a:ext cx="784350" cy="10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9650" y="1362050"/>
            <a:ext cx="830500" cy="14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0225" y="1496675"/>
            <a:ext cx="830500" cy="14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0588" y="3110300"/>
            <a:ext cx="830500" cy="14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850" y="2228575"/>
            <a:ext cx="830500" cy="14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2650" y="2945375"/>
            <a:ext cx="830500" cy="14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1"/>
          <p:cNvSpPr txBox="1"/>
          <p:nvPr>
            <p:ph idx="1" type="body"/>
          </p:nvPr>
        </p:nvSpPr>
        <p:spPr>
          <a:xfrm>
            <a:off x="324000" y="759300"/>
            <a:ext cx="82377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Lucas empties his wallet. Which coin does he have most of?</a:t>
            </a:r>
            <a:endParaRPr/>
          </a:p>
        </p:txBody>
      </p:sp>
      <p:sp>
        <p:nvSpPr>
          <p:cNvPr id="807" name="Google Shape;80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  <p:sp>
        <p:nvSpPr>
          <p:cNvPr id="808" name="Google Shape;808;p71"/>
          <p:cNvSpPr txBox="1"/>
          <p:nvPr/>
        </p:nvSpPr>
        <p:spPr>
          <a:xfrm>
            <a:off x="7084550" y="1336925"/>
            <a:ext cx="120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5p coin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09" name="Google Shape;80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65" y="1718550"/>
            <a:ext cx="1039171" cy="1039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542" y="1888790"/>
            <a:ext cx="691580" cy="691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8486" y="1770286"/>
            <a:ext cx="923511" cy="920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398" y="2990964"/>
            <a:ext cx="1097985" cy="1095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04394" y="3039824"/>
            <a:ext cx="997634" cy="99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4442" y="3332290"/>
            <a:ext cx="691580" cy="691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0342" y="1814202"/>
            <a:ext cx="691580" cy="691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5410" y="2848589"/>
            <a:ext cx="1097985" cy="1095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2"/>
          <p:cNvSpPr txBox="1"/>
          <p:nvPr>
            <p:ph idx="1" type="body"/>
          </p:nvPr>
        </p:nvSpPr>
        <p:spPr>
          <a:xfrm>
            <a:off x="324000" y="759300"/>
            <a:ext cx="76512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letter appears the most on the keywords slide?</a:t>
            </a:r>
            <a:endParaRPr/>
          </a:p>
        </p:txBody>
      </p:sp>
      <p:sp>
        <p:nvSpPr>
          <p:cNvPr id="822" name="Google Shape;82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  <p:sp>
        <p:nvSpPr>
          <p:cNvPr id="823" name="Google Shape;823;p72"/>
          <p:cNvSpPr txBox="1"/>
          <p:nvPr/>
        </p:nvSpPr>
        <p:spPr>
          <a:xfrm>
            <a:off x="6538650" y="1798525"/>
            <a:ext cx="203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 - 28 times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24" name="Google Shape;82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75" y="1280500"/>
            <a:ext cx="5509299" cy="31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3"/>
          <p:cNvSpPr txBox="1"/>
          <p:nvPr>
            <p:ph idx="1" type="body"/>
          </p:nvPr>
        </p:nvSpPr>
        <p:spPr>
          <a:xfrm>
            <a:off x="324000" y="759300"/>
            <a:ext cx="8237700" cy="20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Elephant, 5p coin and ‘e’ were the </a:t>
            </a:r>
            <a:r>
              <a:rPr b="1" lang="en-GB"/>
              <a:t>modes</a:t>
            </a:r>
            <a:r>
              <a:rPr lang="en-GB"/>
              <a:t> of the data.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They were identifiable by looking for the ‘thing’ that appeared the most compared to the other ‘things’.</a:t>
            </a:r>
            <a:endParaRPr/>
          </a:p>
        </p:txBody>
      </p:sp>
      <p:sp>
        <p:nvSpPr>
          <p:cNvPr id="830" name="Google Shape;83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4"/>
          <p:cNvSpPr txBox="1"/>
          <p:nvPr>
            <p:ph idx="1" type="body"/>
          </p:nvPr>
        </p:nvSpPr>
        <p:spPr>
          <a:xfrm>
            <a:off x="324000" y="759300"/>
            <a:ext cx="8237700" cy="47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b="1" lang="en-GB"/>
              <a:t>modal </a:t>
            </a:r>
            <a:r>
              <a:rPr lang="en-GB"/>
              <a:t>fruit?</a:t>
            </a:r>
            <a:endParaRPr/>
          </a:p>
        </p:txBody>
      </p:sp>
      <p:sp>
        <p:nvSpPr>
          <p:cNvPr id="836" name="Google Shape;83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  <p:pic>
        <p:nvPicPr>
          <p:cNvPr id="837" name="Google Shape;837;p74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1657401" y="1634902"/>
            <a:ext cx="441262" cy="6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427" y="1800700"/>
            <a:ext cx="527401" cy="60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74"/>
          <p:cNvPicPr preferRelativeResize="0"/>
          <p:nvPr/>
        </p:nvPicPr>
        <p:blipFill rotWithShape="1">
          <a:blip r:embed="rId5">
            <a:alphaModFix/>
          </a:blip>
          <a:srcRect b="3240" l="-2249" r="71387" t="48970"/>
          <a:stretch/>
        </p:blipFill>
        <p:spPr>
          <a:xfrm>
            <a:off x="2261250" y="1691375"/>
            <a:ext cx="428400" cy="5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74"/>
          <p:cNvPicPr preferRelativeResize="0"/>
          <p:nvPr/>
        </p:nvPicPr>
        <p:blipFill rotWithShape="1">
          <a:blip r:embed="rId5">
            <a:alphaModFix/>
          </a:blip>
          <a:srcRect b="57667" l="2212" r="66924" t="-5457"/>
          <a:stretch/>
        </p:blipFill>
        <p:spPr>
          <a:xfrm>
            <a:off x="2712513" y="162000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74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2807151" y="2251577"/>
            <a:ext cx="441262" cy="6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5177" y="2417375"/>
            <a:ext cx="527401" cy="60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4"/>
          <p:cNvPicPr preferRelativeResize="0"/>
          <p:nvPr/>
        </p:nvPicPr>
        <p:blipFill rotWithShape="1">
          <a:blip r:embed="rId5">
            <a:alphaModFix/>
          </a:blip>
          <a:srcRect b="3240" l="-2249" r="71387" t="48970"/>
          <a:stretch/>
        </p:blipFill>
        <p:spPr>
          <a:xfrm>
            <a:off x="3228425" y="2652225"/>
            <a:ext cx="428400" cy="5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4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3400126" y="1634902"/>
            <a:ext cx="441262" cy="6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74"/>
          <p:cNvPicPr preferRelativeResize="0"/>
          <p:nvPr/>
        </p:nvPicPr>
        <p:blipFill rotWithShape="1">
          <a:blip r:embed="rId5">
            <a:alphaModFix/>
          </a:blip>
          <a:srcRect b="3240" l="-2249" r="71387" t="48970"/>
          <a:stretch/>
        </p:blipFill>
        <p:spPr>
          <a:xfrm>
            <a:off x="4003975" y="1691375"/>
            <a:ext cx="428400" cy="5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74"/>
          <p:cNvPicPr preferRelativeResize="0"/>
          <p:nvPr/>
        </p:nvPicPr>
        <p:blipFill rotWithShape="1">
          <a:blip r:embed="rId5">
            <a:alphaModFix/>
          </a:blip>
          <a:srcRect b="57667" l="2212" r="66924" t="-5457"/>
          <a:stretch/>
        </p:blipFill>
        <p:spPr>
          <a:xfrm>
            <a:off x="3795513" y="223912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4314" y="1664363"/>
            <a:ext cx="527401" cy="60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74"/>
          <p:cNvPicPr preferRelativeResize="0"/>
          <p:nvPr/>
        </p:nvPicPr>
        <p:blipFill rotWithShape="1">
          <a:blip r:embed="rId5">
            <a:alphaModFix/>
          </a:blip>
          <a:srcRect b="3240" l="-2249" r="71387" t="48970"/>
          <a:stretch/>
        </p:blipFill>
        <p:spPr>
          <a:xfrm>
            <a:off x="2711425" y="3197400"/>
            <a:ext cx="428400" cy="5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1602" y="3197400"/>
            <a:ext cx="527401" cy="60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74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4561001" y="2645077"/>
            <a:ext cx="441262" cy="6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4"/>
          <p:cNvPicPr preferRelativeResize="0"/>
          <p:nvPr/>
        </p:nvPicPr>
        <p:blipFill rotWithShape="1">
          <a:blip r:embed="rId5">
            <a:alphaModFix/>
          </a:blip>
          <a:srcRect b="3240" l="-2249" r="71387" t="48970"/>
          <a:stretch/>
        </p:blipFill>
        <p:spPr>
          <a:xfrm>
            <a:off x="3894713" y="2966125"/>
            <a:ext cx="428400" cy="5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74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3342251" y="3356752"/>
            <a:ext cx="441262" cy="6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74"/>
          <p:cNvPicPr preferRelativeResize="0"/>
          <p:nvPr/>
        </p:nvPicPr>
        <p:blipFill rotWithShape="1">
          <a:blip r:embed="rId5">
            <a:alphaModFix/>
          </a:blip>
          <a:srcRect b="3240" l="-2249" r="71387" t="48970"/>
          <a:stretch/>
        </p:blipFill>
        <p:spPr>
          <a:xfrm>
            <a:off x="980325" y="2595612"/>
            <a:ext cx="428400" cy="5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74"/>
          <p:cNvPicPr preferRelativeResize="0"/>
          <p:nvPr/>
        </p:nvPicPr>
        <p:blipFill rotWithShape="1">
          <a:blip r:embed="rId5">
            <a:alphaModFix/>
          </a:blip>
          <a:srcRect b="57667" l="2212" r="66924" t="-5457"/>
          <a:stretch/>
        </p:blipFill>
        <p:spPr>
          <a:xfrm>
            <a:off x="1431588" y="2524238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74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1337901" y="3199977"/>
            <a:ext cx="441262" cy="6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4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4351363" y="3402427"/>
            <a:ext cx="441262" cy="60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5"/>
          <p:cNvSpPr txBox="1"/>
          <p:nvPr>
            <p:ph idx="1" type="body"/>
          </p:nvPr>
        </p:nvSpPr>
        <p:spPr>
          <a:xfrm>
            <a:off x="324000" y="759300"/>
            <a:ext cx="8237700" cy="47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b="1" lang="en-GB"/>
              <a:t>modal </a:t>
            </a:r>
            <a:r>
              <a:rPr lang="en-GB"/>
              <a:t>fruit?</a:t>
            </a:r>
            <a:endParaRPr/>
          </a:p>
        </p:txBody>
      </p:sp>
      <p:sp>
        <p:nvSpPr>
          <p:cNvPr id="862" name="Google Shape;86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  <p:pic>
        <p:nvPicPr>
          <p:cNvPr id="863" name="Google Shape;863;p75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1025276" y="2109477"/>
            <a:ext cx="441262" cy="6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427" y="1467888"/>
            <a:ext cx="527401" cy="60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75"/>
          <p:cNvPicPr preferRelativeResize="0"/>
          <p:nvPr/>
        </p:nvPicPr>
        <p:blipFill rotWithShape="1">
          <a:blip r:embed="rId5">
            <a:alphaModFix/>
          </a:blip>
          <a:srcRect b="3240" l="-2249" r="71387" t="48970"/>
          <a:stretch/>
        </p:blipFill>
        <p:spPr>
          <a:xfrm>
            <a:off x="1483278" y="2751087"/>
            <a:ext cx="428400" cy="5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75"/>
          <p:cNvPicPr preferRelativeResize="0"/>
          <p:nvPr/>
        </p:nvPicPr>
        <p:blipFill rotWithShape="1">
          <a:blip r:embed="rId5">
            <a:alphaModFix/>
          </a:blip>
          <a:srcRect b="57667" l="2212" r="66924" t="-5457"/>
          <a:stretch/>
        </p:blipFill>
        <p:spPr>
          <a:xfrm>
            <a:off x="1412538" y="31999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75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2438844" y="2109477"/>
            <a:ext cx="441262" cy="6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9502" y="1467888"/>
            <a:ext cx="527401" cy="60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75"/>
          <p:cNvPicPr preferRelativeResize="0"/>
          <p:nvPr/>
        </p:nvPicPr>
        <p:blipFill rotWithShape="1">
          <a:blip r:embed="rId5">
            <a:alphaModFix/>
          </a:blip>
          <a:srcRect b="3240" l="-2249" r="71387" t="48970"/>
          <a:stretch/>
        </p:blipFill>
        <p:spPr>
          <a:xfrm>
            <a:off x="2415982" y="2751087"/>
            <a:ext cx="428400" cy="5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75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2910034" y="2109477"/>
            <a:ext cx="441262" cy="6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5"/>
          <p:cNvPicPr preferRelativeResize="0"/>
          <p:nvPr/>
        </p:nvPicPr>
        <p:blipFill rotWithShape="1">
          <a:blip r:embed="rId5">
            <a:alphaModFix/>
          </a:blip>
          <a:srcRect b="3240" l="-2249" r="71387" t="48970"/>
          <a:stretch/>
        </p:blipFill>
        <p:spPr>
          <a:xfrm>
            <a:off x="3348688" y="2751087"/>
            <a:ext cx="428400" cy="5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75"/>
          <p:cNvPicPr preferRelativeResize="0"/>
          <p:nvPr/>
        </p:nvPicPr>
        <p:blipFill rotWithShape="1">
          <a:blip r:embed="rId5">
            <a:alphaModFix/>
          </a:blip>
          <a:srcRect b="57667" l="2212" r="66924" t="-5457"/>
          <a:stretch/>
        </p:blipFill>
        <p:spPr>
          <a:xfrm>
            <a:off x="1895813" y="31999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4289" y="1467888"/>
            <a:ext cx="527401" cy="60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5"/>
          <p:cNvPicPr preferRelativeResize="0"/>
          <p:nvPr/>
        </p:nvPicPr>
        <p:blipFill rotWithShape="1">
          <a:blip r:embed="rId5">
            <a:alphaModFix/>
          </a:blip>
          <a:srcRect b="3240" l="-2249" r="71387" t="48970"/>
          <a:stretch/>
        </p:blipFill>
        <p:spPr>
          <a:xfrm>
            <a:off x="1949630" y="2751087"/>
            <a:ext cx="428400" cy="5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6902" y="1467888"/>
            <a:ext cx="527401" cy="60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5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3381224" y="2109477"/>
            <a:ext cx="441262" cy="6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75"/>
          <p:cNvPicPr preferRelativeResize="0"/>
          <p:nvPr/>
        </p:nvPicPr>
        <p:blipFill rotWithShape="1">
          <a:blip r:embed="rId5">
            <a:alphaModFix/>
          </a:blip>
          <a:srcRect b="3240" l="-2249" r="71387" t="48970"/>
          <a:stretch/>
        </p:blipFill>
        <p:spPr>
          <a:xfrm>
            <a:off x="2882335" y="2751087"/>
            <a:ext cx="428400" cy="5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75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1967655" y="2109477"/>
            <a:ext cx="441262" cy="6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75"/>
          <p:cNvPicPr preferRelativeResize="0"/>
          <p:nvPr/>
        </p:nvPicPr>
        <p:blipFill rotWithShape="1">
          <a:blip r:embed="rId5">
            <a:alphaModFix/>
          </a:blip>
          <a:srcRect b="3240" l="-2249" r="71387" t="48970"/>
          <a:stretch/>
        </p:blipFill>
        <p:spPr>
          <a:xfrm>
            <a:off x="1016925" y="2751087"/>
            <a:ext cx="428400" cy="5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75"/>
          <p:cNvPicPr preferRelativeResize="0"/>
          <p:nvPr/>
        </p:nvPicPr>
        <p:blipFill rotWithShape="1">
          <a:blip r:embed="rId5">
            <a:alphaModFix/>
          </a:blip>
          <a:srcRect b="57667" l="2212" r="66924" t="-5457"/>
          <a:stretch/>
        </p:blipFill>
        <p:spPr>
          <a:xfrm>
            <a:off x="942988" y="31999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75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1496465" y="2109477"/>
            <a:ext cx="441262" cy="6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75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3852413" y="2109477"/>
            <a:ext cx="441262" cy="601774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75"/>
          <p:cNvSpPr txBox="1"/>
          <p:nvPr/>
        </p:nvSpPr>
        <p:spPr>
          <a:xfrm>
            <a:off x="6210000" y="2417375"/>
            <a:ext cx="138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lemon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6"/>
          <p:cNvSpPr txBox="1"/>
          <p:nvPr>
            <p:ph idx="1" type="body"/>
          </p:nvPr>
        </p:nvSpPr>
        <p:spPr>
          <a:xfrm>
            <a:off x="324000" y="759300"/>
            <a:ext cx="83736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are being collected about months of birth.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  <p:pic>
        <p:nvPicPr>
          <p:cNvPr id="890" name="Google Shape;89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925" y="1228925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350" y="114869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6"/>
          <p:cNvSpPr txBox="1"/>
          <p:nvPr/>
        </p:nvSpPr>
        <p:spPr>
          <a:xfrm>
            <a:off x="213125" y="21599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6"/>
          <p:cNvSpPr txBox="1"/>
          <p:nvPr/>
        </p:nvSpPr>
        <p:spPr>
          <a:xfrm>
            <a:off x="2583903" y="215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6"/>
          <p:cNvSpPr txBox="1"/>
          <p:nvPr/>
        </p:nvSpPr>
        <p:spPr>
          <a:xfrm>
            <a:off x="1326794" y="215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5" name="Google Shape;895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2432" y="1228937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76"/>
          <p:cNvSpPr txBox="1"/>
          <p:nvPr/>
        </p:nvSpPr>
        <p:spPr>
          <a:xfrm>
            <a:off x="324000" y="2788475"/>
            <a:ext cx="12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January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6"/>
          <p:cNvSpPr txBox="1"/>
          <p:nvPr/>
        </p:nvSpPr>
        <p:spPr>
          <a:xfrm>
            <a:off x="1802425" y="2788475"/>
            <a:ext cx="12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6"/>
          <p:cNvSpPr txBox="1"/>
          <p:nvPr/>
        </p:nvSpPr>
        <p:spPr>
          <a:xfrm>
            <a:off x="2984000" y="2788475"/>
            <a:ext cx="173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December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6"/>
          <p:cNvSpPr txBox="1"/>
          <p:nvPr/>
        </p:nvSpPr>
        <p:spPr>
          <a:xfrm>
            <a:off x="411000" y="3396750"/>
            <a:ext cx="578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Which month is the most common?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6"/>
          <p:cNvSpPr txBox="1"/>
          <p:nvPr/>
        </p:nvSpPr>
        <p:spPr>
          <a:xfrm>
            <a:off x="4316625" y="21637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6"/>
          <p:cNvSpPr txBox="1"/>
          <p:nvPr/>
        </p:nvSpPr>
        <p:spPr>
          <a:xfrm>
            <a:off x="5591884" y="215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6"/>
          <p:cNvSpPr txBox="1"/>
          <p:nvPr/>
        </p:nvSpPr>
        <p:spPr>
          <a:xfrm>
            <a:off x="6840253" y="21385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3" name="Google Shape;903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7171" y="1228925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16602" y="1148702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6484" y="1195562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6"/>
          <p:cNvSpPr txBox="1"/>
          <p:nvPr/>
        </p:nvSpPr>
        <p:spPr>
          <a:xfrm>
            <a:off x="4413000" y="2788475"/>
            <a:ext cx="173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September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6"/>
          <p:cNvSpPr txBox="1"/>
          <p:nvPr/>
        </p:nvSpPr>
        <p:spPr>
          <a:xfrm>
            <a:off x="6096050" y="278847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April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6"/>
          <p:cNvSpPr txBox="1"/>
          <p:nvPr/>
        </p:nvSpPr>
        <p:spPr>
          <a:xfrm>
            <a:off x="7325838" y="2771300"/>
            <a:ext cx="7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July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6"/>
          <p:cNvSpPr txBox="1"/>
          <p:nvPr/>
        </p:nvSpPr>
        <p:spPr>
          <a:xfrm>
            <a:off x="1033350" y="4010850"/>
            <a:ext cx="69549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isn’t a repeated month.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6"/>
          <p:cNvSpPr txBox="1"/>
          <p:nvPr/>
        </p:nvSpPr>
        <p:spPr>
          <a:xfrm>
            <a:off x="428100" y="4018575"/>
            <a:ext cx="7620000" cy="8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There still isn’t a repeated month. The sample is relatively small so no repeats is fairly likely. The data have no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mode.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7"/>
          <p:cNvSpPr txBox="1"/>
          <p:nvPr>
            <p:ph idx="1" type="body"/>
          </p:nvPr>
        </p:nvSpPr>
        <p:spPr>
          <a:xfrm>
            <a:off x="324000" y="759300"/>
            <a:ext cx="8373600" cy="30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analysing data we might look for the most common piece of data, this is the measure of central tendency called the </a:t>
            </a:r>
            <a:r>
              <a:rPr b="1" lang="en-GB"/>
              <a:t>mode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Smaller data sets may not have a </a:t>
            </a:r>
            <a:r>
              <a:rPr b="1" lang="en-GB"/>
              <a:t>mode.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</a:t>
            </a:r>
            <a:r>
              <a:rPr b="1" lang="en-GB"/>
              <a:t> mode </a:t>
            </a:r>
            <a:r>
              <a:rPr lang="en-GB"/>
              <a:t>can be used on qualitative data, such as months, colours, animals etc.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78"/>
          <p:cNvSpPr txBox="1"/>
          <p:nvPr>
            <p:ph idx="1" type="body"/>
          </p:nvPr>
        </p:nvSpPr>
        <p:spPr>
          <a:xfrm>
            <a:off x="324000" y="759300"/>
            <a:ext cx="8373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ata is collected about shoe sizes in a class. </a:t>
            </a:r>
            <a:endParaRPr/>
          </a:p>
        </p:txBody>
      </p:sp>
      <p:sp>
        <p:nvSpPr>
          <p:cNvPr id="922" name="Google Shape;92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  <p:sp>
        <p:nvSpPr>
          <p:cNvPr id="923" name="Google Shape;923;p78"/>
          <p:cNvSpPr txBox="1"/>
          <p:nvPr/>
        </p:nvSpPr>
        <p:spPr>
          <a:xfrm>
            <a:off x="1885475" y="3973575"/>
            <a:ext cx="143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shoe size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8"/>
          <p:cNvSpPr txBox="1"/>
          <p:nvPr/>
        </p:nvSpPr>
        <p:spPr>
          <a:xfrm>
            <a:off x="4893300" y="1080000"/>
            <a:ext cx="3315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most common shoe size is size 7.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5" name="Google Shape;92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50" y="1560750"/>
            <a:ext cx="4574850" cy="2528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6" name="Google Shape;926;p78"/>
          <p:cNvCxnSpPr/>
          <p:nvPr/>
        </p:nvCxnSpPr>
        <p:spPr>
          <a:xfrm flipH="1" rot="10800000">
            <a:off x="2470625" y="1415850"/>
            <a:ext cx="2353500" cy="25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7" name="Google Shape;92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142550" y="332036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78"/>
          <p:cNvSpPr txBox="1"/>
          <p:nvPr/>
        </p:nvSpPr>
        <p:spPr>
          <a:xfrm>
            <a:off x="4945794" y="42344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9" name="Google Shape;929;p78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5774409" y="197730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78"/>
          <p:cNvSpPr txBox="1"/>
          <p:nvPr/>
        </p:nvSpPr>
        <p:spPr>
          <a:xfrm>
            <a:off x="5958225" y="2023900"/>
            <a:ext cx="2478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But size 6 and size 9 both have 5 dots, so 5 is the most common.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9"/>
          <p:cNvSpPr txBox="1"/>
          <p:nvPr>
            <p:ph idx="1" type="body"/>
          </p:nvPr>
        </p:nvSpPr>
        <p:spPr>
          <a:xfrm>
            <a:off x="324000" y="759300"/>
            <a:ext cx="8373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is collected about shoe sizes in a class. </a:t>
            </a:r>
            <a:endParaRPr/>
          </a:p>
        </p:txBody>
      </p:sp>
      <p:sp>
        <p:nvSpPr>
          <p:cNvPr id="936" name="Google Shape;93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  <p:sp>
        <p:nvSpPr>
          <p:cNvPr id="937" name="Google Shape;937;p79"/>
          <p:cNvSpPr txBox="1"/>
          <p:nvPr/>
        </p:nvSpPr>
        <p:spPr>
          <a:xfrm>
            <a:off x="1885475" y="3973575"/>
            <a:ext cx="143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shoe size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9"/>
          <p:cNvSpPr txBox="1"/>
          <p:nvPr/>
        </p:nvSpPr>
        <p:spPr>
          <a:xfrm>
            <a:off x="4893300" y="1182300"/>
            <a:ext cx="3315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most common shoe size is size 7.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9" name="Google Shape;93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50" y="1560750"/>
            <a:ext cx="4574850" cy="2528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0" name="Google Shape;940;p79"/>
          <p:cNvCxnSpPr/>
          <p:nvPr/>
        </p:nvCxnSpPr>
        <p:spPr>
          <a:xfrm flipH="1" rot="10800000">
            <a:off x="2470625" y="1415850"/>
            <a:ext cx="2353500" cy="25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1" name="Google Shape;941;p79"/>
          <p:cNvSpPr txBox="1"/>
          <p:nvPr/>
        </p:nvSpPr>
        <p:spPr>
          <a:xfrm>
            <a:off x="5272200" y="2224200"/>
            <a:ext cx="34254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Izzy has commented on the most common frequency not the most common shoe size.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80"/>
          <p:cNvSpPr txBox="1"/>
          <p:nvPr>
            <p:ph idx="1" type="body"/>
          </p:nvPr>
        </p:nvSpPr>
        <p:spPr>
          <a:xfrm>
            <a:off x="324000" y="7593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 a year 8 class, data is collected about shoe sizes.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is the </a:t>
            </a:r>
            <a:r>
              <a:rPr b="1" lang="en-GB" sz="1800"/>
              <a:t>modal</a:t>
            </a:r>
            <a:r>
              <a:rPr lang="en-GB" sz="1800"/>
              <a:t> shoe size in this year 8 class?</a:t>
            </a:r>
            <a:endParaRPr sz="1800"/>
          </a:p>
        </p:txBody>
      </p:sp>
      <p:sp>
        <p:nvSpPr>
          <p:cNvPr id="947" name="Google Shape;947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  <p:pic>
        <p:nvPicPr>
          <p:cNvPr id="948" name="Google Shape;94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00" y="1487100"/>
            <a:ext cx="4256768" cy="32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80"/>
          <p:cNvSpPr txBox="1"/>
          <p:nvPr/>
        </p:nvSpPr>
        <p:spPr>
          <a:xfrm>
            <a:off x="1878250" y="4317750"/>
            <a:ext cx="1613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shoe size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80"/>
          <p:cNvSpPr txBox="1"/>
          <p:nvPr/>
        </p:nvSpPr>
        <p:spPr>
          <a:xfrm>
            <a:off x="4893300" y="1487100"/>
            <a:ext cx="331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modal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shoe size is 6.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51" name="Google Shape;951;p80"/>
          <p:cNvCxnSpPr/>
          <p:nvPr/>
        </p:nvCxnSpPr>
        <p:spPr>
          <a:xfrm flipH="1" rot="10800000">
            <a:off x="2519400" y="1720775"/>
            <a:ext cx="2304600" cy="2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81"/>
          <p:cNvSpPr txBox="1"/>
          <p:nvPr>
            <p:ph idx="1" type="body"/>
          </p:nvPr>
        </p:nvSpPr>
        <p:spPr>
          <a:xfrm>
            <a:off x="324000" y="759300"/>
            <a:ext cx="8237700" cy="4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What is the </a:t>
            </a:r>
            <a:r>
              <a:rPr b="1" lang="en-GB"/>
              <a:t>modal</a:t>
            </a:r>
            <a:r>
              <a:rPr lang="en-GB"/>
              <a:t> animal?</a:t>
            </a:r>
            <a:endParaRPr/>
          </a:p>
        </p:txBody>
      </p:sp>
      <p:sp>
        <p:nvSpPr>
          <p:cNvPr id="957" name="Google Shape;957;p81"/>
          <p:cNvSpPr txBox="1"/>
          <p:nvPr>
            <p:ph idx="2" type="subTitle"/>
          </p:nvPr>
        </p:nvSpPr>
        <p:spPr>
          <a:xfrm>
            <a:off x="1570025" y="134975"/>
            <a:ext cx="6855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 mode</a:t>
            </a:r>
            <a:endParaRPr/>
          </a:p>
        </p:txBody>
      </p:sp>
      <p:pic>
        <p:nvPicPr>
          <p:cNvPr id="958" name="Google Shape;95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475" y="1229541"/>
            <a:ext cx="802514" cy="7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987" y="1202975"/>
            <a:ext cx="802514" cy="78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4566" y="1244731"/>
            <a:ext cx="565384" cy="70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81"/>
          <p:cNvPicPr preferRelativeResize="0"/>
          <p:nvPr/>
        </p:nvPicPr>
        <p:blipFill rotWithShape="1">
          <a:blip r:embed="rId6">
            <a:alphaModFix/>
          </a:blip>
          <a:srcRect b="10553" l="12016" r="11148" t="10220"/>
          <a:stretch/>
        </p:blipFill>
        <p:spPr>
          <a:xfrm>
            <a:off x="1373880" y="1460395"/>
            <a:ext cx="441857" cy="491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81"/>
          <p:cNvPicPr preferRelativeResize="0"/>
          <p:nvPr/>
        </p:nvPicPr>
        <p:blipFill rotWithShape="1">
          <a:blip r:embed="rId6">
            <a:alphaModFix/>
          </a:blip>
          <a:srcRect b="10553" l="12016" r="11148" t="10220"/>
          <a:stretch/>
        </p:blipFill>
        <p:spPr>
          <a:xfrm>
            <a:off x="5665391" y="1334958"/>
            <a:ext cx="441857" cy="491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0162" y="1229542"/>
            <a:ext cx="802514" cy="7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9307" y="1202975"/>
            <a:ext cx="802514" cy="78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7627" y="1202975"/>
            <a:ext cx="802514" cy="78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2887" y="1244730"/>
            <a:ext cx="565384" cy="70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3712" y="1286466"/>
            <a:ext cx="565384" cy="70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2032" y="1334840"/>
            <a:ext cx="565384" cy="70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81"/>
          <p:cNvPicPr preferRelativeResize="0"/>
          <p:nvPr/>
        </p:nvPicPr>
        <p:blipFill rotWithShape="1">
          <a:blip r:embed="rId6">
            <a:alphaModFix/>
          </a:blip>
          <a:srcRect b="10553" l="12016" r="11148" t="10220"/>
          <a:stretch/>
        </p:blipFill>
        <p:spPr>
          <a:xfrm>
            <a:off x="6159139" y="1334949"/>
            <a:ext cx="441857" cy="491359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81"/>
          <p:cNvSpPr txBox="1"/>
          <p:nvPr>
            <p:ph idx="1" type="body"/>
          </p:nvPr>
        </p:nvSpPr>
        <p:spPr>
          <a:xfrm>
            <a:off x="324000" y="2130900"/>
            <a:ext cx="82377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In this set of data, what is the </a:t>
            </a:r>
            <a:r>
              <a:rPr b="1" lang="en-GB"/>
              <a:t>mode</a:t>
            </a:r>
            <a:r>
              <a:rPr lang="en-GB"/>
              <a:t>?</a:t>
            </a:r>
            <a:br>
              <a:rPr lang="en-GB" sz="600"/>
            </a:br>
            <a:br>
              <a:rPr lang="en-GB" sz="1000"/>
            </a:br>
            <a:r>
              <a:rPr lang="en-GB"/>
              <a:t>    0, 0, 0, 0, 0, 1, 1, 1, 1, 1, 1, 2, 2, 2, 3, 3, 3, 3, 3, 4, 4, 5, 5, 5, 5</a:t>
            </a:r>
            <a:endParaRPr/>
          </a:p>
        </p:txBody>
      </p:sp>
      <p:sp>
        <p:nvSpPr>
          <p:cNvPr id="971" name="Google Shape;971;p81"/>
          <p:cNvSpPr txBox="1"/>
          <p:nvPr>
            <p:ph idx="1" type="body"/>
          </p:nvPr>
        </p:nvSpPr>
        <p:spPr>
          <a:xfrm>
            <a:off x="324000" y="3473350"/>
            <a:ext cx="82377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In this set of data, what is the </a:t>
            </a:r>
            <a:r>
              <a:rPr b="1" lang="en-GB"/>
              <a:t>mode</a:t>
            </a:r>
            <a:r>
              <a:rPr lang="en-GB"/>
              <a:t>?</a:t>
            </a:r>
            <a:br>
              <a:rPr lang="en-GB" sz="1200"/>
            </a:br>
            <a:br>
              <a:rPr lang="en-GB" sz="1200"/>
            </a:br>
            <a:r>
              <a:rPr lang="en-GB" sz="1200"/>
              <a:t>   </a:t>
            </a:r>
            <a:r>
              <a:rPr lang="en-GB"/>
              <a:t>  12, 16, 18, 12, 19, 18, 15, 16, 18, 19, 12, 12, 18, 15, 18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2"/>
          <p:cNvSpPr txBox="1"/>
          <p:nvPr>
            <p:ph idx="1" type="body"/>
          </p:nvPr>
        </p:nvSpPr>
        <p:spPr>
          <a:xfrm>
            <a:off x="324000" y="759300"/>
            <a:ext cx="5932800" cy="3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</a:t>
            </a:r>
            <a:r>
              <a:rPr lang="en-GB"/>
              <a:t>Sofia was rolling an eight-sided dice.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800"/>
            </a:br>
            <a:br>
              <a:rPr lang="en-GB" sz="1800"/>
            </a:b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was the </a:t>
            </a:r>
            <a:r>
              <a:rPr b="1" lang="en-GB"/>
              <a:t>mode</a:t>
            </a:r>
            <a:r>
              <a:rPr lang="en-GB"/>
              <a:t> score on a roll on the dice?</a:t>
            </a:r>
            <a:endParaRPr/>
          </a:p>
        </p:txBody>
      </p:sp>
      <p:sp>
        <p:nvSpPr>
          <p:cNvPr id="977" name="Google Shape;977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 mode</a:t>
            </a:r>
            <a:endParaRPr/>
          </a:p>
        </p:txBody>
      </p:sp>
      <p:pic>
        <p:nvPicPr>
          <p:cNvPr id="978" name="Google Shape;97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240" y="2567263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8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1305138" y="1202025"/>
            <a:ext cx="2845327" cy="1701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2"/>
          <p:cNvSpPr txBox="1"/>
          <p:nvPr/>
        </p:nvSpPr>
        <p:spPr>
          <a:xfrm>
            <a:off x="1320200" y="1210675"/>
            <a:ext cx="281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rolled a 6 ten times;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rolled a 7 twelve times;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rolled an 8 ten times.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83"/>
          <p:cNvSpPr txBox="1"/>
          <p:nvPr>
            <p:ph idx="1" type="body"/>
          </p:nvPr>
        </p:nvSpPr>
        <p:spPr>
          <a:xfrm>
            <a:off x="324000" y="759300"/>
            <a:ext cx="82377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What is the </a:t>
            </a:r>
            <a:r>
              <a:rPr b="1" lang="en-GB"/>
              <a:t>modal</a:t>
            </a:r>
            <a:r>
              <a:rPr lang="en-GB"/>
              <a:t> animal?</a:t>
            </a:r>
            <a:endParaRPr/>
          </a:p>
        </p:txBody>
      </p:sp>
      <p:sp>
        <p:nvSpPr>
          <p:cNvPr id="986" name="Google Shape;986;p83"/>
          <p:cNvSpPr txBox="1"/>
          <p:nvPr>
            <p:ph idx="2" type="subTitle"/>
          </p:nvPr>
        </p:nvSpPr>
        <p:spPr>
          <a:xfrm>
            <a:off x="1570025" y="134975"/>
            <a:ext cx="6855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 mode</a:t>
            </a:r>
            <a:endParaRPr/>
          </a:p>
        </p:txBody>
      </p:sp>
      <p:pic>
        <p:nvPicPr>
          <p:cNvPr id="987" name="Google Shape;98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172" y="1217700"/>
            <a:ext cx="1100325" cy="96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6625" y="2357850"/>
            <a:ext cx="1100325" cy="1077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175" y="3534425"/>
            <a:ext cx="775191" cy="96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83"/>
          <p:cNvPicPr preferRelativeResize="0"/>
          <p:nvPr/>
        </p:nvPicPr>
        <p:blipFill rotWithShape="1">
          <a:blip r:embed="rId6">
            <a:alphaModFix/>
          </a:blip>
          <a:srcRect b="10553" l="12016" r="11148" t="10220"/>
          <a:stretch/>
        </p:blipFill>
        <p:spPr>
          <a:xfrm>
            <a:off x="2720888" y="1552875"/>
            <a:ext cx="60582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83"/>
          <p:cNvPicPr preferRelativeResize="0"/>
          <p:nvPr/>
        </p:nvPicPr>
        <p:blipFill rotWithShape="1">
          <a:blip r:embed="rId6">
            <a:alphaModFix/>
          </a:blip>
          <a:srcRect b="10553" l="12016" r="11148" t="10220"/>
          <a:stretch/>
        </p:blipFill>
        <p:spPr>
          <a:xfrm>
            <a:off x="1027688" y="2469225"/>
            <a:ext cx="60582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4222" y="3684675"/>
            <a:ext cx="1100325" cy="96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5025" y="2469225"/>
            <a:ext cx="1100325" cy="1077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4100" y="1304837"/>
            <a:ext cx="1100325" cy="1077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6900" y="3684675"/>
            <a:ext cx="775191" cy="96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1225" y="2469225"/>
            <a:ext cx="775191" cy="96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4425" y="1362075"/>
            <a:ext cx="775191" cy="96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83"/>
          <p:cNvPicPr preferRelativeResize="0"/>
          <p:nvPr/>
        </p:nvPicPr>
        <p:blipFill rotWithShape="1">
          <a:blip r:embed="rId6">
            <a:alphaModFix/>
          </a:blip>
          <a:srcRect b="10553" l="12016" r="11148" t="10220"/>
          <a:stretch/>
        </p:blipFill>
        <p:spPr>
          <a:xfrm>
            <a:off x="4688638" y="3829213"/>
            <a:ext cx="605825" cy="67371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3"/>
          <p:cNvSpPr txBox="1"/>
          <p:nvPr/>
        </p:nvSpPr>
        <p:spPr>
          <a:xfrm>
            <a:off x="5635150" y="2145900"/>
            <a:ext cx="3140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spider as it appeared 4 times compared to 3 beetles, 3 cats and 2 dogs.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In this set of data, what is the </a:t>
            </a:r>
            <a:r>
              <a:rPr b="1" lang="en-GB"/>
              <a:t>mode</a:t>
            </a:r>
            <a:r>
              <a:rPr lang="en-GB"/>
              <a:t>?</a:t>
            </a:r>
            <a:br>
              <a:rPr lang="en-GB" sz="1000"/>
            </a:br>
            <a:br>
              <a:rPr lang="en-GB" sz="1000"/>
            </a:br>
            <a:r>
              <a:rPr lang="en-GB"/>
              <a:t>0, 0, 0, 0, 0, 1, 1, 1, 1, 1, 1, 2, 2, 2, 3, 3, 3, 3, 3, 4, 4, 5, 5, 5, 5</a:t>
            </a:r>
            <a:endParaRPr/>
          </a:p>
        </p:txBody>
      </p:sp>
      <p:sp>
        <p:nvSpPr>
          <p:cNvPr id="1005" name="Google Shape;1005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 mode</a:t>
            </a:r>
            <a:endParaRPr/>
          </a:p>
        </p:txBody>
      </p:sp>
      <p:sp>
        <p:nvSpPr>
          <p:cNvPr id="1006" name="Google Shape;1006;p84"/>
          <p:cNvSpPr txBox="1"/>
          <p:nvPr>
            <p:ph idx="1" type="body"/>
          </p:nvPr>
        </p:nvSpPr>
        <p:spPr>
          <a:xfrm>
            <a:off x="324000" y="2787550"/>
            <a:ext cx="82377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In this set of data, what is the </a:t>
            </a:r>
            <a:r>
              <a:rPr b="1" lang="en-GB"/>
              <a:t>mode</a:t>
            </a:r>
            <a:r>
              <a:rPr lang="en-GB"/>
              <a:t>?</a:t>
            </a:r>
            <a:br>
              <a:rPr lang="en-GB" sz="500"/>
            </a:br>
            <a:br>
              <a:rPr lang="en-GB" sz="500"/>
            </a:br>
            <a:r>
              <a:rPr lang="en-GB"/>
              <a:t>12, 16, 18, 12, 19, 18, 15, 16, 18, 19, 12, 12, 18, 15, 18</a:t>
            </a:r>
            <a:endParaRPr/>
          </a:p>
        </p:txBody>
      </p:sp>
      <p:sp>
        <p:nvSpPr>
          <p:cNvPr id="1007" name="Google Shape;1007;p84"/>
          <p:cNvSpPr txBox="1"/>
          <p:nvPr/>
        </p:nvSpPr>
        <p:spPr>
          <a:xfrm>
            <a:off x="324000" y="1812050"/>
            <a:ext cx="788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is the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mode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, it appears 6 times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which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is the most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occurrence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compared to the other data.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8" name="Google Shape;1008;p84"/>
          <p:cNvSpPr txBox="1"/>
          <p:nvPr/>
        </p:nvSpPr>
        <p:spPr>
          <a:xfrm>
            <a:off x="379500" y="3591200"/>
            <a:ext cx="7881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Ordering the data, shows the repeats more clearly: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12, 12, 12, 12, 15, 15, 16, 16, 18, 18, 18, 18, 18, 19, 19 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mode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is 18.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85"/>
          <p:cNvSpPr txBox="1"/>
          <p:nvPr>
            <p:ph idx="1" type="body"/>
          </p:nvPr>
        </p:nvSpPr>
        <p:spPr>
          <a:xfrm>
            <a:off x="324000" y="759300"/>
            <a:ext cx="4500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4"/>
            </a:pPr>
            <a:r>
              <a:rPr lang="en-GB"/>
              <a:t> Sofia was rolling an eight-sided dice.</a:t>
            </a:r>
            <a:br>
              <a:rPr lang="en-GB"/>
            </a:br>
            <a:br>
              <a:rPr lang="en-GB"/>
            </a:br>
            <a:r>
              <a:rPr lang="en-GB"/>
              <a:t>What was the</a:t>
            </a:r>
            <a:r>
              <a:rPr b="1" lang="en-GB"/>
              <a:t> mode</a:t>
            </a:r>
            <a:r>
              <a:rPr lang="en-GB"/>
              <a:t> roll on the dice?</a:t>
            </a:r>
            <a:endParaRPr/>
          </a:p>
        </p:txBody>
      </p:sp>
      <p:sp>
        <p:nvSpPr>
          <p:cNvPr id="1014" name="Google Shape;1014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 mode</a:t>
            </a:r>
            <a:endParaRPr/>
          </a:p>
        </p:txBody>
      </p:sp>
      <p:pic>
        <p:nvPicPr>
          <p:cNvPr id="1015" name="Google Shape;101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2565" y="2068813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85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156525" y="745500"/>
            <a:ext cx="2845327" cy="170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85"/>
          <p:cNvSpPr txBox="1"/>
          <p:nvPr/>
        </p:nvSpPr>
        <p:spPr>
          <a:xfrm>
            <a:off x="5156525" y="745500"/>
            <a:ext cx="281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rolled a 6 ten times;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rolled a 7 twelve times;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rolled an 8 ten times.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85"/>
          <p:cNvSpPr txBox="1"/>
          <p:nvPr/>
        </p:nvSpPr>
        <p:spPr>
          <a:xfrm>
            <a:off x="731050" y="3279875"/>
            <a:ext cx="5695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7 is the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mode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roll. It occurred 12 times compared to 10 times of each 6 and 8.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mode</a:t>
            </a:r>
            <a:endParaRPr/>
          </a:p>
        </p:txBody>
      </p:sp>
      <p:sp>
        <p:nvSpPr>
          <p:cNvPr id="1024" name="Google Shape;1024;p8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  <p:sp>
        <p:nvSpPr>
          <p:cNvPr id="1025" name="Google Shape;1025;p8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mode</a:t>
            </a:r>
            <a:endParaRPr/>
          </a:p>
        </p:txBody>
      </p:sp>
      <p:pic>
        <p:nvPicPr>
          <p:cNvPr id="1026" name="Google Shape;102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375" y="299559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  <p:sp>
        <p:nvSpPr>
          <p:cNvPr id="1032" name="Google Shape;1032;p87"/>
          <p:cNvSpPr txBox="1"/>
          <p:nvPr>
            <p:ph idx="1" type="body"/>
          </p:nvPr>
        </p:nvSpPr>
        <p:spPr>
          <a:xfrm>
            <a:off x="324000" y="759300"/>
            <a:ext cx="8237700" cy="10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</a:t>
            </a:r>
            <a:r>
              <a:rPr lang="en-GB" sz="2000"/>
              <a:t>have</a:t>
            </a:r>
            <a:r>
              <a:rPr lang="en-GB" sz="2000"/>
              <a:t> seen that s</a:t>
            </a:r>
            <a:r>
              <a:rPr lang="en-GB" sz="2000"/>
              <a:t>mall data sets </a:t>
            </a:r>
            <a:r>
              <a:rPr lang="en-GB" sz="2000">
                <a:solidFill>
                  <a:schemeClr val="accent5"/>
                </a:solidFill>
              </a:rPr>
              <a:t>may not</a:t>
            </a:r>
            <a:r>
              <a:rPr lang="en-GB" sz="2000"/>
              <a:t> have a </a:t>
            </a:r>
            <a:r>
              <a:rPr b="1" lang="en-GB" sz="2000"/>
              <a:t>mode.</a:t>
            </a:r>
            <a:endParaRPr b="1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Larger data sets are more likely to have a </a:t>
            </a:r>
            <a:r>
              <a:rPr b="1" lang="en-GB" sz="2000"/>
              <a:t>mode.</a:t>
            </a:r>
            <a:endParaRPr b="1"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2000"/>
          </a:p>
        </p:txBody>
      </p:sp>
      <p:pic>
        <p:nvPicPr>
          <p:cNvPr id="1033" name="Google Shape;103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38" y="1801375"/>
            <a:ext cx="8132526" cy="5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7"/>
          <p:cNvSpPr txBox="1"/>
          <p:nvPr/>
        </p:nvSpPr>
        <p:spPr>
          <a:xfrm>
            <a:off x="286175" y="2624350"/>
            <a:ext cx="705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data contains 52 points and there is one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Google Shape;103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2438" y="1528388"/>
            <a:ext cx="5563925" cy="24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  <p:sp>
        <p:nvSpPr>
          <p:cNvPr id="1041" name="Google Shape;1041;p88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dot plot shows the european shoe sizes of a group of pupils.</a:t>
            </a:r>
            <a:endParaRPr sz="1800"/>
          </a:p>
        </p:txBody>
      </p:sp>
      <p:cxnSp>
        <p:nvCxnSpPr>
          <p:cNvPr id="1042" name="Google Shape;1042;p88"/>
          <p:cNvCxnSpPr/>
          <p:nvPr/>
        </p:nvCxnSpPr>
        <p:spPr>
          <a:xfrm>
            <a:off x="2639825" y="1679225"/>
            <a:ext cx="1285800" cy="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3" name="Google Shape;1043;p88"/>
          <p:cNvSpPr txBox="1"/>
          <p:nvPr/>
        </p:nvSpPr>
        <p:spPr>
          <a:xfrm>
            <a:off x="474250" y="1551900"/>
            <a:ext cx="2559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is the highest frequency.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modal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shoe size is 31.5 and 40.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data is said to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bimodal.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8"/>
          <p:cNvSpPr txBox="1"/>
          <p:nvPr/>
        </p:nvSpPr>
        <p:spPr>
          <a:xfrm>
            <a:off x="294772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8"/>
          <p:cNvSpPr txBox="1"/>
          <p:nvPr/>
        </p:nvSpPr>
        <p:spPr>
          <a:xfrm>
            <a:off x="3553950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8"/>
          <p:cNvSpPr txBox="1"/>
          <p:nvPr/>
        </p:nvSpPr>
        <p:spPr>
          <a:xfrm>
            <a:off x="416017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8"/>
          <p:cNvSpPr txBox="1"/>
          <p:nvPr/>
        </p:nvSpPr>
        <p:spPr>
          <a:xfrm>
            <a:off x="4766400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8"/>
          <p:cNvSpPr txBox="1"/>
          <p:nvPr/>
        </p:nvSpPr>
        <p:spPr>
          <a:xfrm>
            <a:off x="533487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36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8"/>
          <p:cNvSpPr txBox="1"/>
          <p:nvPr/>
        </p:nvSpPr>
        <p:spPr>
          <a:xfrm>
            <a:off x="594112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8"/>
          <p:cNvSpPr txBox="1"/>
          <p:nvPr/>
        </p:nvSpPr>
        <p:spPr>
          <a:xfrm>
            <a:off x="654737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8"/>
          <p:cNvSpPr txBox="1"/>
          <p:nvPr/>
        </p:nvSpPr>
        <p:spPr>
          <a:xfrm>
            <a:off x="715362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8"/>
          <p:cNvSpPr txBox="1"/>
          <p:nvPr/>
        </p:nvSpPr>
        <p:spPr>
          <a:xfrm>
            <a:off x="775987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8"/>
          <p:cNvSpPr txBox="1"/>
          <p:nvPr/>
        </p:nvSpPr>
        <p:spPr>
          <a:xfrm>
            <a:off x="8328350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46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8"/>
          <p:cNvSpPr txBox="1"/>
          <p:nvPr/>
        </p:nvSpPr>
        <p:spPr>
          <a:xfrm>
            <a:off x="6315850" y="3938150"/>
            <a:ext cx="255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European shoe size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9" name="Google Shape;105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2438" y="1528388"/>
            <a:ext cx="5563925" cy="24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  <p:sp>
        <p:nvSpPr>
          <p:cNvPr id="1061" name="Google Shape;1061;p89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dot plot shows the european shoe sizes of a group of pupils.</a:t>
            </a:r>
            <a:endParaRPr sz="1800"/>
          </a:p>
        </p:txBody>
      </p:sp>
      <p:sp>
        <p:nvSpPr>
          <p:cNvPr id="1062" name="Google Shape;1062;p89"/>
          <p:cNvSpPr txBox="1"/>
          <p:nvPr/>
        </p:nvSpPr>
        <p:spPr>
          <a:xfrm>
            <a:off x="294772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9"/>
          <p:cNvSpPr txBox="1"/>
          <p:nvPr/>
        </p:nvSpPr>
        <p:spPr>
          <a:xfrm>
            <a:off x="3553950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9"/>
          <p:cNvSpPr txBox="1"/>
          <p:nvPr/>
        </p:nvSpPr>
        <p:spPr>
          <a:xfrm>
            <a:off x="416017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9"/>
          <p:cNvSpPr txBox="1"/>
          <p:nvPr/>
        </p:nvSpPr>
        <p:spPr>
          <a:xfrm>
            <a:off x="4766400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9"/>
          <p:cNvSpPr txBox="1"/>
          <p:nvPr/>
        </p:nvSpPr>
        <p:spPr>
          <a:xfrm>
            <a:off x="533487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36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9"/>
          <p:cNvSpPr txBox="1"/>
          <p:nvPr/>
        </p:nvSpPr>
        <p:spPr>
          <a:xfrm>
            <a:off x="594112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9"/>
          <p:cNvSpPr txBox="1"/>
          <p:nvPr/>
        </p:nvSpPr>
        <p:spPr>
          <a:xfrm>
            <a:off x="654737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9"/>
          <p:cNvSpPr txBox="1"/>
          <p:nvPr/>
        </p:nvSpPr>
        <p:spPr>
          <a:xfrm>
            <a:off x="715362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9"/>
          <p:cNvSpPr txBox="1"/>
          <p:nvPr/>
        </p:nvSpPr>
        <p:spPr>
          <a:xfrm>
            <a:off x="7759875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9"/>
          <p:cNvSpPr txBox="1"/>
          <p:nvPr/>
        </p:nvSpPr>
        <p:spPr>
          <a:xfrm>
            <a:off x="8328350" y="38116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46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9"/>
          <p:cNvSpPr txBox="1"/>
          <p:nvPr/>
        </p:nvSpPr>
        <p:spPr>
          <a:xfrm>
            <a:off x="6315850" y="3938150"/>
            <a:ext cx="255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European shoe size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9"/>
          <p:cNvSpPr/>
          <p:nvPr/>
        </p:nvSpPr>
        <p:spPr>
          <a:xfrm>
            <a:off x="3025600" y="1528400"/>
            <a:ext cx="1740900" cy="2132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9"/>
          <p:cNvSpPr/>
          <p:nvPr/>
        </p:nvSpPr>
        <p:spPr>
          <a:xfrm>
            <a:off x="5334875" y="1528400"/>
            <a:ext cx="2958600" cy="2132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9"/>
          <p:cNvSpPr txBox="1"/>
          <p:nvPr/>
        </p:nvSpPr>
        <p:spPr>
          <a:xfrm>
            <a:off x="3063300" y="1528400"/>
            <a:ext cx="3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9"/>
          <p:cNvSpPr txBox="1"/>
          <p:nvPr/>
        </p:nvSpPr>
        <p:spPr>
          <a:xfrm>
            <a:off x="5370775" y="1528400"/>
            <a:ext cx="3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9"/>
          <p:cNvSpPr txBox="1"/>
          <p:nvPr/>
        </p:nvSpPr>
        <p:spPr>
          <a:xfrm>
            <a:off x="285125" y="1174475"/>
            <a:ext cx="255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seems to have two subgroups.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9"/>
          <p:cNvSpPr txBox="1"/>
          <p:nvPr/>
        </p:nvSpPr>
        <p:spPr>
          <a:xfrm>
            <a:off x="285125" y="2046225"/>
            <a:ext cx="24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Why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might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this be?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9"/>
          <p:cNvSpPr txBox="1"/>
          <p:nvPr/>
        </p:nvSpPr>
        <p:spPr>
          <a:xfrm>
            <a:off x="408450" y="2624700"/>
            <a:ext cx="2412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Subgroup A may be a younger class and subgroup B may be an older class within a school.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  <p:sp>
        <p:nvSpPr>
          <p:cNvPr id="1085" name="Google Shape;1085;p90"/>
          <p:cNvSpPr txBox="1"/>
          <p:nvPr>
            <p:ph idx="1" type="body"/>
          </p:nvPr>
        </p:nvSpPr>
        <p:spPr>
          <a:xfrm>
            <a:off x="324000" y="759300"/>
            <a:ext cx="8237700" cy="4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More pupils are asked about their shoe size.</a:t>
            </a:r>
            <a:endParaRPr/>
          </a:p>
        </p:txBody>
      </p:sp>
      <p:pic>
        <p:nvPicPr>
          <p:cNvPr id="1086" name="Google Shape;108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150" y="1263325"/>
            <a:ext cx="6613701" cy="28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90"/>
          <p:cNvSpPr txBox="1"/>
          <p:nvPr/>
        </p:nvSpPr>
        <p:spPr>
          <a:xfrm>
            <a:off x="1279950" y="39578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90"/>
          <p:cNvSpPr txBox="1"/>
          <p:nvPr/>
        </p:nvSpPr>
        <p:spPr>
          <a:xfrm>
            <a:off x="1962375" y="39578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0"/>
          <p:cNvSpPr txBox="1"/>
          <p:nvPr/>
        </p:nvSpPr>
        <p:spPr>
          <a:xfrm>
            <a:off x="2659928" y="39578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0"/>
          <p:cNvSpPr txBox="1"/>
          <p:nvPr/>
        </p:nvSpPr>
        <p:spPr>
          <a:xfrm>
            <a:off x="3380733" y="39578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90"/>
          <p:cNvSpPr txBox="1"/>
          <p:nvPr/>
        </p:nvSpPr>
        <p:spPr>
          <a:xfrm>
            <a:off x="4094044" y="39578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36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90"/>
          <p:cNvSpPr txBox="1"/>
          <p:nvPr/>
        </p:nvSpPr>
        <p:spPr>
          <a:xfrm>
            <a:off x="4806750" y="39578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0"/>
          <p:cNvSpPr txBox="1"/>
          <p:nvPr/>
        </p:nvSpPr>
        <p:spPr>
          <a:xfrm>
            <a:off x="5474072" y="39578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0"/>
          <p:cNvSpPr txBox="1"/>
          <p:nvPr/>
        </p:nvSpPr>
        <p:spPr>
          <a:xfrm>
            <a:off x="6171650" y="39578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0"/>
          <p:cNvSpPr txBox="1"/>
          <p:nvPr/>
        </p:nvSpPr>
        <p:spPr>
          <a:xfrm>
            <a:off x="6884916" y="3950298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0"/>
          <p:cNvSpPr txBox="1"/>
          <p:nvPr/>
        </p:nvSpPr>
        <p:spPr>
          <a:xfrm>
            <a:off x="7582539" y="3957862"/>
            <a:ext cx="226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46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0"/>
          <p:cNvSpPr txBox="1"/>
          <p:nvPr/>
        </p:nvSpPr>
        <p:spPr>
          <a:xfrm>
            <a:off x="5486275" y="4084350"/>
            <a:ext cx="255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European shoe size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0"/>
          <p:cNvSpPr txBox="1"/>
          <p:nvPr/>
        </p:nvSpPr>
        <p:spPr>
          <a:xfrm>
            <a:off x="6702000" y="1142000"/>
            <a:ext cx="2118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Now the data is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trimodal.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modal shoe sizes are 31.5, 35 and 40.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0"/>
          <p:cNvSpPr/>
          <p:nvPr/>
        </p:nvSpPr>
        <p:spPr>
          <a:xfrm>
            <a:off x="2503675" y="1346375"/>
            <a:ext cx="156300" cy="2375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0"/>
          <p:cNvSpPr/>
          <p:nvPr/>
        </p:nvSpPr>
        <p:spPr>
          <a:xfrm>
            <a:off x="3745300" y="1333200"/>
            <a:ext cx="156300" cy="2375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0"/>
          <p:cNvSpPr/>
          <p:nvPr/>
        </p:nvSpPr>
        <p:spPr>
          <a:xfrm>
            <a:off x="5509325" y="1333200"/>
            <a:ext cx="156300" cy="2375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  <p:sp>
        <p:nvSpPr>
          <p:cNvPr id="1107" name="Google Shape;1107;p9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data might not have any </a:t>
            </a:r>
            <a:r>
              <a:rPr b="1" lang="en-GB"/>
              <a:t>mode</a:t>
            </a:r>
            <a:r>
              <a:rPr lang="en-GB"/>
              <a:t>.</a:t>
            </a:r>
            <a:endParaRPr/>
          </a:p>
        </p:txBody>
      </p:sp>
      <p:sp>
        <p:nvSpPr>
          <p:cNvPr id="1108" name="Google Shape;1108;p9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can only have one </a:t>
            </a:r>
            <a:r>
              <a:rPr b="1" lang="en-GB"/>
              <a:t>mode</a:t>
            </a:r>
            <a:r>
              <a:rPr lang="en-GB"/>
              <a:t>.</a:t>
            </a:r>
            <a:endParaRPr/>
          </a:p>
        </p:txBody>
      </p:sp>
      <p:sp>
        <p:nvSpPr>
          <p:cNvPr id="1109" name="Google Shape;1109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data might have no </a:t>
            </a:r>
            <a:r>
              <a:rPr b="1" lang="en-GB"/>
              <a:t>mode</a:t>
            </a:r>
            <a:r>
              <a:rPr lang="en-GB"/>
              <a:t>, one </a:t>
            </a:r>
            <a:r>
              <a:rPr b="1" lang="en-GB"/>
              <a:t>mode</a:t>
            </a:r>
            <a:r>
              <a:rPr lang="en-GB"/>
              <a:t>, two or more </a:t>
            </a:r>
            <a:r>
              <a:rPr b="1" lang="en-GB"/>
              <a:t>modes</a:t>
            </a:r>
            <a:r>
              <a:rPr lang="en-GB"/>
              <a:t>.</a:t>
            </a:r>
            <a:endParaRPr/>
          </a:p>
        </p:txBody>
      </p:sp>
      <p:pic>
        <p:nvPicPr>
          <p:cNvPr id="1110" name="Google Shape;111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883" y="44013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a data set of 20 that is </a:t>
            </a:r>
            <a:r>
              <a:rPr b="1" lang="en-GB"/>
              <a:t>bimodal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a data set of 10 that has no </a:t>
            </a:r>
            <a:r>
              <a:rPr b="1" lang="en-GB"/>
              <a:t>mode.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b="1" lang="en-GB"/>
            </a:br>
            <a:endParaRPr b="1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a data set of 20 that is </a:t>
            </a:r>
            <a:r>
              <a:rPr b="1" lang="en-GB"/>
              <a:t>trimodal</a:t>
            </a:r>
            <a:r>
              <a:rPr lang="en-GB"/>
              <a:t>.</a:t>
            </a:r>
            <a:endParaRPr/>
          </a:p>
        </p:txBody>
      </p:sp>
      <p:sp>
        <p:nvSpPr>
          <p:cNvPr id="1117" name="Google Shape;1117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93"/>
          <p:cNvSpPr txBox="1"/>
          <p:nvPr>
            <p:ph idx="1" type="body"/>
          </p:nvPr>
        </p:nvSpPr>
        <p:spPr>
          <a:xfrm>
            <a:off x="324000" y="759300"/>
            <a:ext cx="8677200" cy="4131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 startAt="4"/>
            </a:pPr>
            <a:r>
              <a:rPr lang="en-GB" sz="2000"/>
              <a:t>For each data set, write how many </a:t>
            </a:r>
            <a:r>
              <a:rPr b="1" lang="en-GB" sz="2000"/>
              <a:t>modes</a:t>
            </a:r>
            <a:r>
              <a:rPr lang="en-GB" sz="2000"/>
              <a:t> the data has, if any.</a:t>
            </a:r>
            <a:endParaRPr sz="2000"/>
          </a:p>
        </p:txBody>
      </p:sp>
      <p:sp>
        <p:nvSpPr>
          <p:cNvPr id="1123" name="Google Shape;1123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  <p:pic>
        <p:nvPicPr>
          <p:cNvPr id="1124" name="Google Shape;1124;p93"/>
          <p:cNvPicPr preferRelativeResize="0"/>
          <p:nvPr/>
        </p:nvPicPr>
        <p:blipFill rotWithShape="1">
          <a:blip r:embed="rId3">
            <a:alphaModFix/>
          </a:blip>
          <a:srcRect b="0" l="0" r="0" t="-4942"/>
          <a:stretch/>
        </p:blipFill>
        <p:spPr>
          <a:xfrm>
            <a:off x="802275" y="1080000"/>
            <a:ext cx="2764626" cy="179069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5" name="Google Shape;1125;p93"/>
          <p:cNvPicPr preferRelativeResize="0"/>
          <p:nvPr/>
        </p:nvPicPr>
        <p:blipFill rotWithShape="1">
          <a:blip r:embed="rId4">
            <a:alphaModFix/>
          </a:blip>
          <a:srcRect b="0" l="0" r="0" t="-8813"/>
          <a:stretch/>
        </p:blipFill>
        <p:spPr>
          <a:xfrm>
            <a:off x="4879888" y="3029700"/>
            <a:ext cx="2359814" cy="179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6" name="Google Shape;1126;p93"/>
          <p:cNvPicPr preferRelativeResize="0"/>
          <p:nvPr/>
        </p:nvPicPr>
        <p:blipFill rotWithShape="1">
          <a:blip r:embed="rId5">
            <a:alphaModFix/>
          </a:blip>
          <a:srcRect b="0" l="0" r="0" t="-4123"/>
          <a:stretch/>
        </p:blipFill>
        <p:spPr>
          <a:xfrm>
            <a:off x="802275" y="3029700"/>
            <a:ext cx="2764624" cy="179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7" name="Google Shape;1127;p93"/>
          <p:cNvPicPr preferRelativeResize="0"/>
          <p:nvPr/>
        </p:nvPicPr>
        <p:blipFill rotWithShape="1">
          <a:blip r:embed="rId6">
            <a:alphaModFix/>
          </a:blip>
          <a:srcRect b="0" l="0" r="0" t="-4220"/>
          <a:stretch/>
        </p:blipFill>
        <p:spPr>
          <a:xfrm>
            <a:off x="4879900" y="1080000"/>
            <a:ext cx="2446761" cy="179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94"/>
          <p:cNvSpPr txBox="1"/>
          <p:nvPr>
            <p:ph idx="1" type="body"/>
          </p:nvPr>
        </p:nvSpPr>
        <p:spPr>
          <a:xfrm>
            <a:off x="324000" y="759300"/>
            <a:ext cx="82377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5"/>
            </a:pPr>
            <a:r>
              <a:rPr lang="en-GB"/>
              <a:t>What is the </a:t>
            </a:r>
            <a:r>
              <a:rPr b="1" lang="en-GB"/>
              <a:t>mode</a:t>
            </a:r>
            <a:r>
              <a:rPr lang="en-GB"/>
              <a:t> of the data shown on this dot plot?</a:t>
            </a:r>
            <a:endParaRPr/>
          </a:p>
        </p:txBody>
      </p:sp>
      <p:sp>
        <p:nvSpPr>
          <p:cNvPr id="1133" name="Google Shape;1133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  <p:pic>
        <p:nvPicPr>
          <p:cNvPr id="1134" name="Google Shape;113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750" y="1339575"/>
            <a:ext cx="4132675" cy="3215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Write a data set of 20, that is </a:t>
            </a:r>
            <a:r>
              <a:rPr b="1" lang="en-GB"/>
              <a:t>bimodal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2) Write a data set of 10, that has no </a:t>
            </a:r>
            <a:r>
              <a:rPr b="1" lang="en-GB"/>
              <a:t>mode.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b="1" lang="en-GB"/>
            </a:b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3) </a:t>
            </a:r>
            <a:r>
              <a:rPr lang="en-GB"/>
              <a:t>Write a data set of 20, that is </a:t>
            </a:r>
            <a:r>
              <a:rPr b="1" lang="en-GB"/>
              <a:t>trimodal</a:t>
            </a:r>
            <a:r>
              <a:rPr lang="en-GB"/>
              <a:t>.</a:t>
            </a:r>
            <a:endParaRPr/>
          </a:p>
        </p:txBody>
      </p:sp>
      <p:sp>
        <p:nvSpPr>
          <p:cNvPr id="1140" name="Google Shape;1140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  <p:sp>
        <p:nvSpPr>
          <p:cNvPr id="1141" name="Google Shape;1141;p95"/>
          <p:cNvSpPr txBox="1"/>
          <p:nvPr/>
        </p:nvSpPr>
        <p:spPr>
          <a:xfrm>
            <a:off x="464250" y="1065900"/>
            <a:ext cx="795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multiple correct answers for this. Two values should be repeated the same number of times as each other.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example: 0, 0, 0, 1, 1, 2, 2, 3, 3, 3, 4, 4, 4, 4, 5, 5, 5, 5, 6, 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2" name="Google Shape;1142;p95"/>
          <p:cNvSpPr txBox="1"/>
          <p:nvPr/>
        </p:nvSpPr>
        <p:spPr>
          <a:xfrm>
            <a:off x="453825" y="2463925"/>
            <a:ext cx="857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multiple correct answers for this. Nothing should occur more than anything else.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example: pink, white, red, blue, green, orange, brown, yellow, purple, teal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3" name="Google Shape;1143;p95"/>
          <p:cNvSpPr txBox="1"/>
          <p:nvPr/>
        </p:nvSpPr>
        <p:spPr>
          <a:xfrm>
            <a:off x="464250" y="3819750"/>
            <a:ext cx="795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multiple correct answers for this. Three values should be repeated the same amount as each other.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example: 0, 0, 1, 1, 2, 2, 3, 3, 3, 3, 4, 4, 4, 4, 5, 5, 5, 5, 6, 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9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 startAt="4"/>
            </a:pPr>
            <a:r>
              <a:rPr lang="en-GB" sz="2000"/>
              <a:t>For each data set, write how many </a:t>
            </a:r>
            <a:r>
              <a:rPr b="1" lang="en-GB" sz="2000"/>
              <a:t>modes</a:t>
            </a:r>
            <a:r>
              <a:rPr lang="en-GB" sz="2000"/>
              <a:t> the data has, if any.</a:t>
            </a:r>
            <a:endParaRPr sz="2000"/>
          </a:p>
        </p:txBody>
      </p:sp>
      <p:sp>
        <p:nvSpPr>
          <p:cNvPr id="1149" name="Google Shape;1149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  <p:pic>
        <p:nvPicPr>
          <p:cNvPr id="1150" name="Google Shape;115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975" y="1240500"/>
            <a:ext cx="2230250" cy="1376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1" name="Google Shape;115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8175" y="3091751"/>
            <a:ext cx="1973821" cy="1376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2" name="Google Shape;1152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4975" y="3027675"/>
            <a:ext cx="2230251" cy="138733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3" name="Google Shape;1153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18175" y="1235687"/>
            <a:ext cx="1973824" cy="138610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4" name="Google Shape;1154;p96"/>
          <p:cNvSpPr txBox="1"/>
          <p:nvPr/>
        </p:nvSpPr>
        <p:spPr>
          <a:xfrm>
            <a:off x="3557900" y="1359600"/>
            <a:ext cx="1519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bimodal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- 2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modes</a:t>
            </a:r>
            <a:endParaRPr b="1"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5" name="Google Shape;1155;p96"/>
          <p:cNvSpPr txBox="1"/>
          <p:nvPr/>
        </p:nvSpPr>
        <p:spPr>
          <a:xfrm>
            <a:off x="3557900" y="3321150"/>
            <a:ext cx="1519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tr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imodal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- 3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modes</a:t>
            </a:r>
            <a:endParaRPr b="1"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6" name="Google Shape;1156;p96"/>
          <p:cNvSpPr txBox="1"/>
          <p:nvPr/>
        </p:nvSpPr>
        <p:spPr>
          <a:xfrm>
            <a:off x="7459200" y="3379775"/>
            <a:ext cx="135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mode</a:t>
            </a:r>
            <a:endParaRPr b="1"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7" name="Google Shape;1157;p96"/>
          <p:cNvSpPr txBox="1"/>
          <p:nvPr/>
        </p:nvSpPr>
        <p:spPr>
          <a:xfrm>
            <a:off x="7459200" y="1359600"/>
            <a:ext cx="1351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tr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imodal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- 3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modes</a:t>
            </a:r>
            <a:endParaRPr b="1"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5"/>
            </a:pPr>
            <a:r>
              <a:rPr lang="en-GB"/>
              <a:t>What is the </a:t>
            </a:r>
            <a:r>
              <a:rPr b="1" lang="en-GB"/>
              <a:t>mode</a:t>
            </a:r>
            <a:r>
              <a:rPr lang="en-GB"/>
              <a:t> of the data shown on this dot plot?</a:t>
            </a:r>
            <a:endParaRPr/>
          </a:p>
        </p:txBody>
      </p:sp>
      <p:sp>
        <p:nvSpPr>
          <p:cNvPr id="1163" name="Google Shape;1163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not always one mode</a:t>
            </a:r>
            <a:endParaRPr/>
          </a:p>
        </p:txBody>
      </p:sp>
      <p:pic>
        <p:nvPicPr>
          <p:cNvPr id="1164" name="Google Shape;116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750" y="1339575"/>
            <a:ext cx="4132675" cy="3215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5" name="Google Shape;1165;p97"/>
          <p:cNvSpPr txBox="1"/>
          <p:nvPr/>
        </p:nvSpPr>
        <p:spPr>
          <a:xfrm>
            <a:off x="5341275" y="1869450"/>
            <a:ext cx="355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data is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bimodal.</a:t>
            </a:r>
            <a:endParaRPr b="1"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modes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are 74.5 and 80.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9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mode </a:t>
            </a:r>
            <a:r>
              <a:rPr lang="en-GB"/>
              <a:t>is a measure of central tendency.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mode </a:t>
            </a:r>
            <a:r>
              <a:rPr lang="en-GB"/>
              <a:t>is the most frequently occurring value/object in a data set.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mode </a:t>
            </a:r>
            <a:r>
              <a:rPr lang="en-GB"/>
              <a:t>can be used for non-numerical data.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There can be more than one </a:t>
            </a:r>
            <a:r>
              <a:rPr b="1" lang="en-GB"/>
              <a:t>mode. </a:t>
            </a:r>
            <a:r>
              <a:rPr lang="en-GB"/>
              <a:t>Data can be </a:t>
            </a:r>
            <a:r>
              <a:rPr b="1" lang="en-GB"/>
              <a:t>bimodal </a:t>
            </a:r>
            <a:r>
              <a:rPr lang="en-GB"/>
              <a:t>or</a:t>
            </a:r>
            <a:r>
              <a:rPr b="1" lang="en-GB"/>
              <a:t> trimodal.</a:t>
            </a:r>
            <a:endParaRPr b="1"/>
          </a:p>
        </p:txBody>
      </p:sp>
      <p:sp>
        <p:nvSpPr>
          <p:cNvPr id="1171" name="Google Shape;1171;p9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mode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9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</a:t>
            </a:r>
            <a:r>
              <a:rPr lang="en-GB"/>
              <a:t>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77" name="Google Shape;1177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