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8273B6-345B-48E0-A3EC-145A30B00309}">
  <a:tblStyle styleId="{CA8273B6-345B-48E0-A3EC-145A30B00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5fafe548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5fafe548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9568ca111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568ca111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a621c03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621c03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568ca11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568ca11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9568ca111e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9568ca111e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9568ca111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568ca111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9568ca111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9568ca111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9568ca111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9568ca111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9568ca111e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9568ca111e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9568ca111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9568ca111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29568ca111e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29568ca111e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9568ca111e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9568ca111e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9568ca111e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9568ca111e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ea5fafe548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ea5fafe548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1ea5fafe548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1ea5fafe548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1ea5fafe54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1ea5fafe54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1ea5fafe548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1ea5fafe548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ea5fafe548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ea5fafe548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29568ca111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29568ca111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9568ca111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9568ca111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1ea5fafe548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1ea5fafe548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ea5fafe54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ea5fafe54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ea5fafe54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ea5fafe54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1ea5fafe54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1ea5fafe54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9568ca111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568ca111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ea5fafe54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1ea5fafe54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1ea5fafe548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1ea5fafe548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ea5fafe548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1ea5fafe548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29568ca111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29568ca111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9568ca111e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9568ca111e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1ea5fafe54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1ea5fafe54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1ea5fafe548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1ea5fafe548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ea5fafe548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2" name="Google Shape;1272;g1ea5fafe548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3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8.png"/><Relationship Id="rId11" Type="http://schemas.openxmlformats.org/officeDocument/2006/relationships/image" Target="../media/image14.png"/><Relationship Id="rId10" Type="http://schemas.openxmlformats.org/officeDocument/2006/relationships/image" Target="../media/image37.pn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56.png"/><Relationship Id="rId5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Relationship Id="rId4" Type="http://schemas.openxmlformats.org/officeDocument/2006/relationships/image" Target="../media/image49.png"/><Relationship Id="rId5" Type="http://schemas.openxmlformats.org/officeDocument/2006/relationships/image" Target="../media/image5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Relationship Id="rId4" Type="http://schemas.openxmlformats.org/officeDocument/2006/relationships/image" Target="../media/image49.png"/><Relationship Id="rId5" Type="http://schemas.openxmlformats.org/officeDocument/2006/relationships/image" Target="../media/image5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statistical summaries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choose appropriate statistical measures to explore a statistical problem.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08475"/>
            <a:ext cx="8496000" cy="96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A statistical </a:t>
            </a:r>
            <a:r>
              <a:rPr lang="en-GB" sz="1800">
                <a:solidFill>
                  <a:schemeClr val="dk1"/>
                </a:solidFill>
              </a:rPr>
              <a:t>summary </a:t>
            </a:r>
            <a:r>
              <a:rPr lang="en-GB" sz="1800">
                <a:solidFill>
                  <a:schemeClr val="dk1"/>
                </a:solidFill>
                <a:highlight>
                  <a:srgbClr val="FFFFFF"/>
                </a:highlight>
              </a:rPr>
              <a:t>sums up the features of a data set. It may contain the average (mean, median and/or mode) which measure the central tendency. It may also contain the range which measures the spread.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210425"/>
            <a:ext cx="8496000" cy="7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spread/dispersion of data values describes how far apart the pieces of data are.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0" y="3126275"/>
            <a:ext cx="8496000" cy="9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measure of central tendency</a:t>
            </a:r>
            <a:r>
              <a:rPr b="1" lang="en-GB" sz="1800"/>
              <a:t> </a:t>
            </a:r>
            <a:r>
              <a:rPr lang="en-GB" sz="1800"/>
              <a:t>is a summary measure that attempts to describe a whole set of data with a single value that represents the middle or centre of its distribution.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with </a:t>
            </a:r>
            <a:r>
              <a:rPr lang="en-GB"/>
              <a:t>statistical</a:t>
            </a:r>
            <a:r>
              <a:rPr lang="en-GB"/>
              <a:t> measures based on the data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</a:t>
            </a:r>
            <a:r>
              <a:rPr lang="en-GB"/>
              <a:t> </a:t>
            </a:r>
            <a:r>
              <a:rPr lang="en-GB"/>
              <a:t>statistical measures based on the context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statistical summaries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813925"/>
            <a:ext cx="8386200" cy="6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During a data handling investigation you need to decide how to </a:t>
            </a:r>
            <a:r>
              <a:rPr lang="en-GB" sz="1800">
                <a:solidFill>
                  <a:schemeClr val="accent4"/>
                </a:solidFill>
              </a:rPr>
              <a:t>analyse</a:t>
            </a:r>
            <a:r>
              <a:rPr lang="en-GB" sz="1800"/>
              <a:t> the data, once it has been </a:t>
            </a:r>
            <a:r>
              <a:rPr lang="en-GB" sz="1800"/>
              <a:t>collected and organised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783" name="Google Shape;783;p69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/>
        </p:nvSpPr>
        <p:spPr>
          <a:xfrm>
            <a:off x="5711415" y="2390088"/>
            <a:ext cx="193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3283625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1107120">
            <a:off x="5489498" y="1863696"/>
            <a:ext cx="535351" cy="6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3410690">
            <a:off x="5931823" y="2901996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7929491">
            <a:off x="2106149" y="3059845"/>
            <a:ext cx="535350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9"/>
          <p:cNvPicPr preferRelativeResize="0"/>
          <p:nvPr/>
        </p:nvPicPr>
        <p:blipFill rotWithShape="1">
          <a:blip r:embed="rId3">
            <a:alphaModFix/>
          </a:blip>
          <a:srcRect b="36882" l="74002" r="14809" t="50045"/>
          <a:stretch/>
        </p:blipFill>
        <p:spPr>
          <a:xfrm rot="-5400026">
            <a:off x="2560147" y="19807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796" name="Google Shape;796;p69"/>
          <p:cNvSpPr/>
          <p:nvPr/>
        </p:nvSpPr>
        <p:spPr>
          <a:xfrm>
            <a:off x="3283625" y="4286553"/>
            <a:ext cx="2144700" cy="3801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 txBox="1"/>
          <p:nvPr>
            <p:ph idx="1" type="body"/>
          </p:nvPr>
        </p:nvSpPr>
        <p:spPr>
          <a:xfrm>
            <a:off x="324000" y="759300"/>
            <a:ext cx="8492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</a:t>
            </a:r>
            <a:r>
              <a:rPr lang="en-GB" sz="1800"/>
              <a:t> large datasets, it can be </a:t>
            </a:r>
            <a:r>
              <a:rPr lang="en-GB" sz="1800"/>
              <a:t>difficult to get a </a:t>
            </a:r>
            <a:r>
              <a:rPr lang="en-GB" sz="1800">
                <a:solidFill>
                  <a:schemeClr val="accent4"/>
                </a:solidFill>
              </a:rPr>
              <a:t>sense</a:t>
            </a:r>
            <a:r>
              <a:rPr lang="en-GB" sz="1800"/>
              <a:t> of what the data </a:t>
            </a:r>
            <a:r>
              <a:rPr lang="en-GB" sz="1800"/>
              <a:t>tells us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03" name="Google Shape;803;p70"/>
          <p:cNvSpPr txBox="1"/>
          <p:nvPr/>
        </p:nvSpPr>
        <p:spPr>
          <a:xfrm>
            <a:off x="229654" y="1101375"/>
            <a:ext cx="85902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data below are from The Met Office and show total rainfall (mm) per month for two regions of the UK in 2021-22.</a:t>
            </a:r>
            <a:endParaRPr sz="1800"/>
          </a:p>
        </p:txBody>
      </p:sp>
      <p:sp>
        <p:nvSpPr>
          <p:cNvPr id="804" name="Google Shape;804;p70"/>
          <p:cNvSpPr txBox="1"/>
          <p:nvPr/>
        </p:nvSpPr>
        <p:spPr>
          <a:xfrm>
            <a:off x="1701921" y="1850703"/>
            <a:ext cx="13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Cardiff</a:t>
            </a:r>
            <a:endParaRPr sz="1200"/>
          </a:p>
        </p:txBody>
      </p:sp>
      <p:sp>
        <p:nvSpPr>
          <p:cNvPr id="805" name="Google Shape;805;p70"/>
          <p:cNvSpPr txBox="1"/>
          <p:nvPr/>
        </p:nvSpPr>
        <p:spPr>
          <a:xfrm>
            <a:off x="6199024" y="1839766"/>
            <a:ext cx="148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Stornoway</a:t>
            </a:r>
            <a:endParaRPr sz="1200"/>
          </a:p>
        </p:txBody>
      </p:sp>
      <p:sp>
        <p:nvSpPr>
          <p:cNvPr id="806" name="Google Shape;806;p70"/>
          <p:cNvSpPr txBox="1"/>
          <p:nvPr/>
        </p:nvSpPr>
        <p:spPr>
          <a:xfrm>
            <a:off x="5359953" y="2129843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123.6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98.2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123.2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41.8</a:t>
            </a:r>
            <a:endParaRPr sz="1200"/>
          </a:p>
        </p:txBody>
      </p:sp>
      <p:sp>
        <p:nvSpPr>
          <p:cNvPr id="807" name="Google Shape;807;p70"/>
          <p:cNvSpPr txBox="1"/>
          <p:nvPr/>
        </p:nvSpPr>
        <p:spPr>
          <a:xfrm>
            <a:off x="6187439" y="2129843"/>
            <a:ext cx="809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58.4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73.6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67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123.4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213.4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167</a:t>
            </a:r>
            <a:endParaRPr sz="1200"/>
          </a:p>
        </p:txBody>
      </p:sp>
      <p:sp>
        <p:nvSpPr>
          <p:cNvPr id="808" name="Google Shape;808;p70"/>
          <p:cNvSpPr txBox="1"/>
          <p:nvPr/>
        </p:nvSpPr>
        <p:spPr>
          <a:xfrm>
            <a:off x="7001669" y="2129843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110.4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114.4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145.8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69.2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25.4</a:t>
            </a:r>
            <a:endParaRPr sz="1200"/>
          </a:p>
        </p:txBody>
      </p:sp>
      <p:sp>
        <p:nvSpPr>
          <p:cNvPr id="809" name="Google Shape;809;p70"/>
          <p:cNvSpPr txBox="1"/>
          <p:nvPr/>
        </p:nvSpPr>
        <p:spPr>
          <a:xfrm>
            <a:off x="7785750" y="2206043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32.2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47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214.6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175.6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114.4</a:t>
            </a:r>
            <a:endParaRPr sz="1200"/>
          </a:p>
        </p:txBody>
      </p:sp>
      <p:sp>
        <p:nvSpPr>
          <p:cNvPr id="810" name="Google Shape;810;p70"/>
          <p:cNvSpPr txBox="1"/>
          <p:nvPr/>
        </p:nvSpPr>
        <p:spPr>
          <a:xfrm>
            <a:off x="625595" y="2140667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162.8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92.6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202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39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70"/>
          <p:cNvSpPr txBox="1"/>
          <p:nvPr/>
        </p:nvSpPr>
        <p:spPr>
          <a:xfrm>
            <a:off x="1453081" y="2140667"/>
            <a:ext cx="809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101.8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29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227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26.4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125.6</a:t>
            </a:r>
            <a:endParaRPr sz="1200"/>
          </a:p>
        </p:txBody>
      </p:sp>
      <p:sp>
        <p:nvSpPr>
          <p:cNvPr id="812" name="Google Shape;812;p70"/>
          <p:cNvSpPr txBox="1"/>
          <p:nvPr/>
        </p:nvSpPr>
        <p:spPr>
          <a:xfrm>
            <a:off x="2267311" y="2140667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65.4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116.8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62.4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44.4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53.4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82.2</a:t>
            </a:r>
            <a:endParaRPr sz="1200"/>
          </a:p>
        </p:txBody>
      </p:sp>
      <p:sp>
        <p:nvSpPr>
          <p:cNvPr id="813" name="Google Shape;813;p70"/>
          <p:cNvSpPr txBox="1"/>
          <p:nvPr/>
        </p:nvSpPr>
        <p:spPr>
          <a:xfrm>
            <a:off x="3051392" y="2140667"/>
            <a:ext cx="776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27.8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78.6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128.6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179.4</a:t>
            </a:r>
            <a:b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165.2</a:t>
            </a:r>
            <a:endParaRPr sz="1200"/>
          </a:p>
        </p:txBody>
      </p:sp>
      <p:sp>
        <p:nvSpPr>
          <p:cNvPr id="814" name="Google Shape;814;p70"/>
          <p:cNvSpPr txBox="1"/>
          <p:nvPr/>
        </p:nvSpPr>
        <p:spPr>
          <a:xfrm>
            <a:off x="226589" y="4023809"/>
            <a:ext cx="859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not obvious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region gets more rainfall.</a:t>
            </a:r>
            <a:endParaRPr/>
          </a:p>
        </p:txBody>
      </p:sp>
      <p:sp>
        <p:nvSpPr>
          <p:cNvPr id="815" name="Google Shape;815;p70"/>
          <p:cNvSpPr txBox="1"/>
          <p:nvPr/>
        </p:nvSpPr>
        <p:spPr>
          <a:xfrm>
            <a:off x="221871" y="4451530"/>
            <a:ext cx="859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we had used data from 1942-2022, there would be 960 numbers in each set.</a:t>
            </a:r>
            <a:endParaRPr sz="1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71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accent4"/>
                </a:solidFill>
              </a:rPr>
              <a:t>Statistical summaries</a:t>
            </a:r>
            <a:r>
              <a:rPr lang="en-GB" sz="1900"/>
              <a:t> can be used to represent an entire dataset with a small amount of information.</a:t>
            </a:r>
            <a:endParaRPr sz="1900"/>
          </a:p>
        </p:txBody>
      </p:sp>
      <p:sp>
        <p:nvSpPr>
          <p:cNvPr id="821" name="Google Shape;82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22" name="Google Shape;822;p71"/>
          <p:cNvSpPr txBox="1"/>
          <p:nvPr/>
        </p:nvSpPr>
        <p:spPr>
          <a:xfrm>
            <a:off x="1603641" y="2524467"/>
            <a:ext cx="132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Cardiff</a:t>
            </a:r>
            <a:endParaRPr sz="1200"/>
          </a:p>
        </p:txBody>
      </p:sp>
      <p:sp>
        <p:nvSpPr>
          <p:cNvPr id="823" name="Google Shape;823;p71"/>
          <p:cNvSpPr txBox="1"/>
          <p:nvPr/>
        </p:nvSpPr>
        <p:spPr>
          <a:xfrm>
            <a:off x="6351424" y="2524354"/>
            <a:ext cx="148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Stornoway</a:t>
            </a:r>
            <a:endParaRPr sz="1200"/>
          </a:p>
        </p:txBody>
      </p:sp>
      <p:sp>
        <p:nvSpPr>
          <p:cNvPr id="824" name="Google Shape;824;p71"/>
          <p:cNvSpPr txBox="1"/>
          <p:nvPr/>
        </p:nvSpPr>
        <p:spPr>
          <a:xfrm>
            <a:off x="5013150" y="2961300"/>
            <a:ext cx="390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ean rainfall (mm) per month = 105.7 </a:t>
            </a:r>
            <a:endParaRPr sz="1200"/>
          </a:p>
        </p:txBody>
      </p:sp>
      <p:sp>
        <p:nvSpPr>
          <p:cNvPr id="825" name="Google Shape;825;p71"/>
          <p:cNvSpPr txBox="1"/>
          <p:nvPr/>
        </p:nvSpPr>
        <p:spPr>
          <a:xfrm>
            <a:off x="226589" y="3838504"/>
            <a:ext cx="85902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easier to see that Stornoway got more rainfall on average than Cardiff.</a:t>
            </a:r>
            <a:endParaRPr sz="1900"/>
          </a:p>
        </p:txBody>
      </p:sp>
      <p:sp>
        <p:nvSpPr>
          <p:cNvPr id="826" name="Google Shape;826;p71"/>
          <p:cNvSpPr txBox="1"/>
          <p:nvPr/>
        </p:nvSpPr>
        <p:spPr>
          <a:xfrm>
            <a:off x="288750" y="2961300"/>
            <a:ext cx="390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rainfall (mm) per month = 91.3 </a:t>
            </a:r>
            <a:endParaRPr sz="1200"/>
          </a:p>
        </p:txBody>
      </p:sp>
      <p:sp>
        <p:nvSpPr>
          <p:cNvPr id="827" name="Google Shape;827;p71"/>
          <p:cNvSpPr txBox="1"/>
          <p:nvPr>
            <p:ph idx="1" type="body"/>
          </p:nvPr>
        </p:nvSpPr>
        <p:spPr>
          <a:xfrm>
            <a:off x="324000" y="1565625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Statistical summaries can make it easier to make comparisons or draw conclusions from data.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759300"/>
            <a:ext cx="8496000" cy="9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Statistical summaries may include </a:t>
            </a:r>
            <a:r>
              <a:rPr lang="en-GB" sz="1900">
                <a:solidFill>
                  <a:schemeClr val="accent4"/>
                </a:solidFill>
              </a:rPr>
              <a:t>averages</a:t>
            </a:r>
            <a:r>
              <a:rPr lang="en-GB" sz="1900"/>
              <a:t> and measures of </a:t>
            </a:r>
            <a:r>
              <a:rPr lang="en-GB" sz="1900">
                <a:solidFill>
                  <a:schemeClr val="accent4"/>
                </a:solidFill>
              </a:rPr>
              <a:t>spread</a:t>
            </a:r>
            <a:r>
              <a:rPr lang="en-GB" sz="1900"/>
              <a:t> for</a:t>
            </a:r>
            <a:r>
              <a:rPr lang="en-GB" sz="1900"/>
              <a:t> a dataset</a:t>
            </a:r>
            <a:r>
              <a:rPr lang="en-GB" sz="1900"/>
              <a:t>.</a:t>
            </a:r>
            <a:endParaRPr sz="1900"/>
          </a:p>
        </p:txBody>
      </p:sp>
      <p:sp>
        <p:nvSpPr>
          <p:cNvPr id="833" name="Google Shape;83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34" name="Google Shape;834;p72"/>
          <p:cNvSpPr txBox="1"/>
          <p:nvPr>
            <p:ph idx="1" type="body"/>
          </p:nvPr>
        </p:nvSpPr>
        <p:spPr>
          <a:xfrm>
            <a:off x="324000" y="1476000"/>
            <a:ext cx="8496000" cy="6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82828"/>
                </a:solidFill>
              </a:rPr>
              <a:t>An </a:t>
            </a:r>
            <a:r>
              <a:rPr lang="en-GB" sz="1900">
                <a:solidFill>
                  <a:schemeClr val="accent4"/>
                </a:solidFill>
              </a:rPr>
              <a:t>average </a:t>
            </a:r>
            <a:r>
              <a:rPr lang="en-GB" sz="1900">
                <a:solidFill>
                  <a:srgbClr val="282828"/>
                </a:solidFill>
              </a:rPr>
              <a:t>is a single number expressing the </a:t>
            </a:r>
            <a:r>
              <a:rPr lang="en-GB" sz="1900">
                <a:solidFill>
                  <a:schemeClr val="accent4"/>
                </a:solidFill>
              </a:rPr>
              <a:t>central</a:t>
            </a:r>
            <a:r>
              <a:rPr lang="en-GB" sz="1900">
                <a:solidFill>
                  <a:srgbClr val="282828"/>
                </a:solidFill>
              </a:rPr>
              <a:t> or </a:t>
            </a:r>
            <a:r>
              <a:rPr lang="en-GB" sz="1900">
                <a:solidFill>
                  <a:schemeClr val="accent4"/>
                </a:solidFill>
              </a:rPr>
              <a:t>typical</a:t>
            </a:r>
            <a:r>
              <a:rPr lang="en-GB" sz="1900">
                <a:solidFill>
                  <a:srgbClr val="282828"/>
                </a:solidFill>
              </a:rPr>
              <a:t> value in a set of data. These include:</a:t>
            </a:r>
            <a:endParaRPr sz="1900"/>
          </a:p>
        </p:txBody>
      </p:sp>
      <p:sp>
        <p:nvSpPr>
          <p:cNvPr id="835" name="Google Shape;835;p72"/>
          <p:cNvSpPr txBox="1"/>
          <p:nvPr/>
        </p:nvSpPr>
        <p:spPr>
          <a:xfrm>
            <a:off x="324000" y="2195925"/>
            <a:ext cx="849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calculated by adding up the data points and then dividing by the number of points.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most central (middle) piece of data.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mode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the data value with the highest frequency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324000" y="4072602"/>
            <a:ext cx="8496000" cy="6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rgbClr val="282828"/>
                </a:solidFill>
              </a:rPr>
              <a:t>The </a:t>
            </a:r>
            <a:r>
              <a:rPr lang="en-GB" sz="1900">
                <a:solidFill>
                  <a:schemeClr val="accent4"/>
                </a:solidFill>
              </a:rPr>
              <a:t>spread</a:t>
            </a:r>
            <a:r>
              <a:rPr lang="en-GB" sz="1900">
                <a:solidFill>
                  <a:srgbClr val="282828"/>
                </a:solidFill>
              </a:rPr>
              <a:t> of a dataset can be measured using the </a:t>
            </a:r>
            <a:r>
              <a:rPr lang="en-GB" sz="1900">
                <a:solidFill>
                  <a:schemeClr val="accent4"/>
                </a:solidFill>
              </a:rPr>
              <a:t>range</a:t>
            </a:r>
            <a:r>
              <a:rPr lang="en-GB" sz="1900">
                <a:solidFill>
                  <a:srgbClr val="282828"/>
                </a:solidFill>
              </a:rPr>
              <a:t>, by subtracting the lowest value from the highest value.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3"/>
          <p:cNvSpPr txBox="1"/>
          <p:nvPr>
            <p:ph idx="1" type="body"/>
          </p:nvPr>
        </p:nvSpPr>
        <p:spPr>
          <a:xfrm>
            <a:off x="324000" y="759300"/>
            <a:ext cx="8496000" cy="11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/>
              <a:t>statistical</a:t>
            </a:r>
            <a:r>
              <a:rPr lang="en-GB" sz="1900"/>
              <a:t> summaries below are based on weather data from The Met Office for two regions in the UK. The data is about maximum daily </a:t>
            </a:r>
            <a:r>
              <a:rPr lang="en-GB" sz="1900">
                <a:solidFill>
                  <a:schemeClr val="accent4"/>
                </a:solidFill>
              </a:rPr>
              <a:t>temperatures</a:t>
            </a:r>
            <a:r>
              <a:rPr lang="en-GB" sz="1900"/>
              <a:t> from </a:t>
            </a:r>
            <a:r>
              <a:rPr lang="en-GB" sz="1900"/>
              <a:t>1957-2022.</a:t>
            </a:r>
            <a:endParaRPr sz="1900"/>
          </a:p>
        </p:txBody>
      </p:sp>
      <p:sp>
        <p:nvSpPr>
          <p:cNvPr id="842" name="Google Shape;84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43" name="Google Shape;843;p73"/>
          <p:cNvSpPr txBox="1"/>
          <p:nvPr>
            <p:ph idx="1" type="body"/>
          </p:nvPr>
        </p:nvSpPr>
        <p:spPr>
          <a:xfrm>
            <a:off x="1951155" y="2728800"/>
            <a:ext cx="1786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median = 14.9</a:t>
            </a:r>
            <a:endParaRPr sz="1800"/>
          </a:p>
        </p:txBody>
      </p:sp>
      <p:sp>
        <p:nvSpPr>
          <p:cNvPr id="844" name="Google Shape;844;p73"/>
          <p:cNvSpPr txBox="1"/>
          <p:nvPr>
            <p:ph idx="1" type="body"/>
          </p:nvPr>
        </p:nvSpPr>
        <p:spPr>
          <a:xfrm>
            <a:off x="2134599" y="3086802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range = 27.5</a:t>
            </a:r>
            <a:endParaRPr sz="1800"/>
          </a:p>
        </p:txBody>
      </p:sp>
      <p:sp>
        <p:nvSpPr>
          <p:cNvPr id="845" name="Google Shape;845;p73"/>
          <p:cNvSpPr txBox="1"/>
          <p:nvPr>
            <p:ph idx="1" type="body"/>
          </p:nvPr>
        </p:nvSpPr>
        <p:spPr>
          <a:xfrm>
            <a:off x="2354225" y="2220450"/>
            <a:ext cx="13329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Heathrow</a:t>
            </a:r>
            <a:endParaRPr sz="1800"/>
          </a:p>
        </p:txBody>
      </p:sp>
      <p:sp>
        <p:nvSpPr>
          <p:cNvPr id="846" name="Google Shape;846;p73"/>
          <p:cNvSpPr txBox="1"/>
          <p:nvPr>
            <p:ph idx="1" type="body"/>
          </p:nvPr>
        </p:nvSpPr>
        <p:spPr>
          <a:xfrm>
            <a:off x="5334261" y="2728800"/>
            <a:ext cx="17862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median = 13</a:t>
            </a:r>
            <a:endParaRPr sz="1800"/>
          </a:p>
        </p:txBody>
      </p:sp>
      <p:sp>
        <p:nvSpPr>
          <p:cNvPr id="847" name="Google Shape;847;p73"/>
          <p:cNvSpPr txBox="1"/>
          <p:nvPr>
            <p:ph idx="1" type="body"/>
          </p:nvPr>
        </p:nvSpPr>
        <p:spPr>
          <a:xfrm>
            <a:off x="5517705" y="3098506"/>
            <a:ext cx="16515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range = 21.5</a:t>
            </a:r>
            <a:endParaRPr sz="1800"/>
          </a:p>
        </p:txBody>
      </p:sp>
      <p:sp>
        <p:nvSpPr>
          <p:cNvPr id="848" name="Google Shape;848;p73"/>
          <p:cNvSpPr txBox="1"/>
          <p:nvPr>
            <p:ph idx="1" type="body"/>
          </p:nvPr>
        </p:nvSpPr>
        <p:spPr>
          <a:xfrm>
            <a:off x="5807050" y="2220450"/>
            <a:ext cx="11868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Armagh</a:t>
            </a:r>
            <a:endParaRPr sz="1800"/>
          </a:p>
        </p:txBody>
      </p:sp>
      <p:sp>
        <p:nvSpPr>
          <p:cNvPr id="849" name="Google Shape;849;p73"/>
          <p:cNvSpPr txBox="1"/>
          <p:nvPr>
            <p:ph idx="1" type="body"/>
          </p:nvPr>
        </p:nvSpPr>
        <p:spPr>
          <a:xfrm>
            <a:off x="368150" y="3943800"/>
            <a:ext cx="84960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Which town tends to be warmer?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In which town are the temperatures more consistent?</a:t>
            </a:r>
            <a:endParaRPr sz="1900"/>
          </a:p>
        </p:txBody>
      </p:sp>
      <p:sp>
        <p:nvSpPr>
          <p:cNvPr id="850" name="Google Shape;850;p73"/>
          <p:cNvSpPr txBox="1"/>
          <p:nvPr>
            <p:ph idx="1" type="body"/>
          </p:nvPr>
        </p:nvSpPr>
        <p:spPr>
          <a:xfrm>
            <a:off x="4495800" y="3946070"/>
            <a:ext cx="13329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Heathrow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1" name="Google Shape;851;p73"/>
          <p:cNvSpPr txBox="1"/>
          <p:nvPr>
            <p:ph idx="1" type="body"/>
          </p:nvPr>
        </p:nvSpPr>
        <p:spPr>
          <a:xfrm>
            <a:off x="6815575" y="4390200"/>
            <a:ext cx="1332900" cy="4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Armagh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4"/>
          <p:cNvSpPr txBox="1"/>
          <p:nvPr>
            <p:ph idx="1" type="body"/>
          </p:nvPr>
        </p:nvSpPr>
        <p:spPr>
          <a:xfrm>
            <a:off x="324000" y="759300"/>
            <a:ext cx="82377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Not all types of averages are appropriate for every dataset.</a:t>
            </a:r>
            <a:endParaRPr sz="1900"/>
          </a:p>
        </p:txBody>
      </p:sp>
      <p:sp>
        <p:nvSpPr>
          <p:cNvPr id="857" name="Google Shape;85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324000" y="1290525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For example, t</a:t>
            </a:r>
            <a:r>
              <a:rPr lang="en-GB" sz="1900"/>
              <a:t>he data below is from a survey of ten people about how they travel to work.</a:t>
            </a:r>
            <a:r>
              <a:rPr lang="en-GB" sz="1900"/>
              <a:t> </a:t>
            </a:r>
            <a:endParaRPr sz="1900"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1405650" y="2191650"/>
            <a:ext cx="5583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car</a:t>
            </a:r>
            <a:endParaRPr sz="1900"/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2637900" y="2191650"/>
            <a:ext cx="5583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bus</a:t>
            </a:r>
            <a:endParaRPr sz="1900"/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3870150" y="2191650"/>
            <a:ext cx="706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walk</a:t>
            </a:r>
            <a:endParaRPr sz="1900"/>
          </a:p>
        </p:txBody>
      </p:sp>
      <p:sp>
        <p:nvSpPr>
          <p:cNvPr id="862" name="Google Shape;862;p74"/>
          <p:cNvSpPr txBox="1"/>
          <p:nvPr>
            <p:ph idx="1" type="body"/>
          </p:nvPr>
        </p:nvSpPr>
        <p:spPr>
          <a:xfrm>
            <a:off x="5250900" y="2191650"/>
            <a:ext cx="706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walk</a:t>
            </a:r>
            <a:endParaRPr sz="1900"/>
          </a:p>
        </p:txBody>
      </p:sp>
      <p:sp>
        <p:nvSpPr>
          <p:cNvPr id="863" name="Google Shape;863;p74"/>
          <p:cNvSpPr txBox="1"/>
          <p:nvPr>
            <p:ph idx="1" type="body"/>
          </p:nvPr>
        </p:nvSpPr>
        <p:spPr>
          <a:xfrm>
            <a:off x="6631650" y="2191650"/>
            <a:ext cx="5583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car</a:t>
            </a:r>
            <a:endParaRPr sz="1900"/>
          </a:p>
        </p:txBody>
      </p:sp>
      <p:sp>
        <p:nvSpPr>
          <p:cNvPr id="864" name="Google Shape;864;p74"/>
          <p:cNvSpPr txBox="1"/>
          <p:nvPr>
            <p:ph idx="1" type="body"/>
          </p:nvPr>
        </p:nvSpPr>
        <p:spPr>
          <a:xfrm>
            <a:off x="1405650" y="2953650"/>
            <a:ext cx="706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walk</a:t>
            </a:r>
            <a:endParaRPr sz="1900"/>
          </a:p>
        </p:txBody>
      </p:sp>
      <p:sp>
        <p:nvSpPr>
          <p:cNvPr id="865" name="Google Shape;865;p74"/>
          <p:cNvSpPr txBox="1"/>
          <p:nvPr>
            <p:ph idx="1" type="body"/>
          </p:nvPr>
        </p:nvSpPr>
        <p:spPr>
          <a:xfrm>
            <a:off x="2658900" y="2953650"/>
            <a:ext cx="5583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car</a:t>
            </a:r>
            <a:endParaRPr sz="1900"/>
          </a:p>
        </p:txBody>
      </p:sp>
      <p:sp>
        <p:nvSpPr>
          <p:cNvPr id="866" name="Google Shape;866;p74"/>
          <p:cNvSpPr txBox="1"/>
          <p:nvPr>
            <p:ph idx="1" type="body"/>
          </p:nvPr>
        </p:nvSpPr>
        <p:spPr>
          <a:xfrm>
            <a:off x="3888450" y="2953650"/>
            <a:ext cx="5583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bus</a:t>
            </a:r>
            <a:endParaRPr sz="1900"/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5260050" y="2953650"/>
            <a:ext cx="7068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walk</a:t>
            </a:r>
            <a:endParaRPr sz="1900"/>
          </a:p>
        </p:txBody>
      </p:sp>
      <p:sp>
        <p:nvSpPr>
          <p:cNvPr id="868" name="Google Shape;868;p74"/>
          <p:cNvSpPr txBox="1"/>
          <p:nvPr>
            <p:ph idx="1" type="body"/>
          </p:nvPr>
        </p:nvSpPr>
        <p:spPr>
          <a:xfrm>
            <a:off x="6631650" y="2953650"/>
            <a:ext cx="9612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bicycle</a:t>
            </a:r>
            <a:endParaRPr sz="1900"/>
          </a:p>
        </p:txBody>
      </p:sp>
      <p:sp>
        <p:nvSpPr>
          <p:cNvPr id="869" name="Google Shape;869;p74"/>
          <p:cNvSpPr txBox="1"/>
          <p:nvPr>
            <p:ph idx="1" type="body"/>
          </p:nvPr>
        </p:nvSpPr>
        <p:spPr>
          <a:xfrm>
            <a:off x="324000" y="3608700"/>
            <a:ext cx="8496000" cy="68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4"/>
                </a:solidFill>
              </a:rPr>
              <a:t>mean</a:t>
            </a:r>
            <a:r>
              <a:rPr lang="en-GB" sz="1900"/>
              <a:t> and </a:t>
            </a:r>
            <a:r>
              <a:rPr lang="en-GB" sz="1900">
                <a:solidFill>
                  <a:schemeClr val="accent4"/>
                </a:solidFill>
              </a:rPr>
              <a:t>median</a:t>
            </a:r>
            <a:r>
              <a:rPr lang="en-GB" sz="1900"/>
              <a:t> can only be used to represent numerical data, so are </a:t>
            </a:r>
            <a:r>
              <a:rPr lang="en-GB" sz="1900">
                <a:solidFill>
                  <a:schemeClr val="accent4"/>
                </a:solidFill>
              </a:rPr>
              <a:t>not appropriate</a:t>
            </a:r>
            <a:r>
              <a:rPr lang="en-GB" sz="1900"/>
              <a:t> averages to summarise this dataset.</a:t>
            </a:r>
            <a:endParaRPr sz="1900"/>
          </a:p>
        </p:txBody>
      </p:sp>
      <p:sp>
        <p:nvSpPr>
          <p:cNvPr id="870" name="Google Shape;870;p74"/>
          <p:cNvSpPr txBox="1"/>
          <p:nvPr>
            <p:ph idx="1" type="body"/>
          </p:nvPr>
        </p:nvSpPr>
        <p:spPr>
          <a:xfrm>
            <a:off x="324000" y="4439400"/>
            <a:ext cx="84960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4"/>
                </a:solidFill>
              </a:rPr>
              <a:t>mode</a:t>
            </a:r>
            <a:r>
              <a:rPr lang="en-GB" sz="1900"/>
              <a:t> would be an appropriate average for this data.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5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usefulness of an average can depend on the data that has been collected.</a:t>
            </a:r>
            <a:endParaRPr sz="2000"/>
          </a:p>
        </p:txBody>
      </p:sp>
      <p:sp>
        <p:nvSpPr>
          <p:cNvPr id="876" name="Google Shape;876;p75"/>
          <p:cNvSpPr txBox="1"/>
          <p:nvPr>
            <p:ph idx="2" type="subTitle"/>
          </p:nvPr>
        </p:nvSpPr>
        <p:spPr>
          <a:xfrm>
            <a:off x="324000" y="1080000"/>
            <a:ext cx="67224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mean is always the best average to use.</a:t>
            </a:r>
            <a:endParaRPr/>
          </a:p>
        </p:txBody>
      </p:sp>
      <p:sp>
        <p:nvSpPr>
          <p:cNvPr id="877" name="Google Shape;877;p7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mean performs a calculation using ever data point in the set.</a:t>
            </a:r>
            <a:endParaRPr sz="2000"/>
          </a:p>
        </p:txBody>
      </p:sp>
      <p:sp>
        <p:nvSpPr>
          <p:cNvPr id="878" name="Google Shape;878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pic>
        <p:nvPicPr>
          <p:cNvPr id="879" name="Google Shape;879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883" y="18320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8058" y="31961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6"/>
          <p:cNvSpPr/>
          <p:nvPr/>
        </p:nvSpPr>
        <p:spPr>
          <a:xfrm>
            <a:off x="4812000" y="2518500"/>
            <a:ext cx="2369700" cy="1682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6"/>
          <p:cNvSpPr txBox="1"/>
          <p:nvPr>
            <p:ph idx="1" type="body"/>
          </p:nvPr>
        </p:nvSpPr>
        <p:spPr>
          <a:xfrm>
            <a:off x="324000" y="759300"/>
            <a:ext cx="8496000" cy="15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Lucas collects data about the favourite genres of books from a sample of pupils in his school.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Which would be the most appropriate measure of average for Lucas’s data?</a:t>
            </a:r>
            <a:endParaRPr sz="2000"/>
          </a:p>
        </p:txBody>
      </p:sp>
      <p:sp>
        <p:nvSpPr>
          <p:cNvPr id="887" name="Google Shape;88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888" name="Google Shape;888;p76"/>
          <p:cNvSpPr txBox="1"/>
          <p:nvPr>
            <p:ph idx="1" type="body"/>
          </p:nvPr>
        </p:nvSpPr>
        <p:spPr>
          <a:xfrm>
            <a:off x="4811999" y="2655300"/>
            <a:ext cx="937800" cy="16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comedy</a:t>
            </a:r>
            <a:br>
              <a:rPr lang="en-GB" sz="1600"/>
            </a:br>
            <a:r>
              <a:rPr lang="en-GB" sz="1600"/>
              <a:t>h</a:t>
            </a:r>
            <a:r>
              <a:rPr lang="en-GB" sz="1600"/>
              <a:t>orror</a:t>
            </a:r>
            <a:br>
              <a:rPr lang="en-GB" sz="1600"/>
            </a:br>
            <a:r>
              <a:rPr lang="en-GB" sz="1600"/>
              <a:t>f</a:t>
            </a:r>
            <a:r>
              <a:rPr lang="en-GB" sz="1600"/>
              <a:t>antasy</a:t>
            </a:r>
            <a:br>
              <a:rPr lang="en-GB" sz="1600"/>
            </a:br>
            <a:r>
              <a:rPr lang="en-GB" sz="1600"/>
              <a:t>sci-fi</a:t>
            </a:r>
            <a:br>
              <a:rPr lang="en-GB" sz="1600"/>
            </a:br>
            <a:r>
              <a:rPr lang="en-GB" sz="1600"/>
              <a:t>romance</a:t>
            </a:r>
            <a:endParaRPr sz="1600"/>
          </a:p>
        </p:txBody>
      </p:sp>
      <p:grpSp>
        <p:nvGrpSpPr>
          <p:cNvPr id="889" name="Google Shape;889;p76"/>
          <p:cNvGrpSpPr/>
          <p:nvPr/>
        </p:nvGrpSpPr>
        <p:grpSpPr>
          <a:xfrm>
            <a:off x="5804881" y="2692904"/>
            <a:ext cx="1143319" cy="1313639"/>
            <a:chOff x="6833020" y="2121369"/>
            <a:chExt cx="1272900" cy="1462524"/>
          </a:xfrm>
        </p:grpSpPr>
        <p:grpSp>
          <p:nvGrpSpPr>
            <p:cNvPr id="890" name="Google Shape;890;p76"/>
            <p:cNvGrpSpPr/>
            <p:nvPr/>
          </p:nvGrpSpPr>
          <p:grpSpPr>
            <a:xfrm>
              <a:off x="6833020" y="2121369"/>
              <a:ext cx="329100" cy="235214"/>
              <a:chOff x="4190100" y="2395200"/>
              <a:chExt cx="329100" cy="304800"/>
            </a:xfrm>
          </p:grpSpPr>
          <p:cxnSp>
            <p:nvCxnSpPr>
              <p:cNvPr id="891" name="Google Shape;891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2" name="Google Shape;892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3" name="Google Shape;893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4" name="Google Shape;894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5" name="Google Shape;895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896" name="Google Shape;896;p76"/>
            <p:cNvGrpSpPr/>
            <p:nvPr/>
          </p:nvGrpSpPr>
          <p:grpSpPr>
            <a:xfrm>
              <a:off x="6888445" y="2426169"/>
              <a:ext cx="146600" cy="235214"/>
              <a:chOff x="4245525" y="2395200"/>
              <a:chExt cx="146600" cy="304800"/>
            </a:xfrm>
          </p:grpSpPr>
          <p:cxnSp>
            <p:nvCxnSpPr>
              <p:cNvPr id="897" name="Google Shape;897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" name="Google Shape;898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9" name="Google Shape;899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00" name="Google Shape;900;p76"/>
            <p:cNvGrpSpPr/>
            <p:nvPr/>
          </p:nvGrpSpPr>
          <p:grpSpPr>
            <a:xfrm>
              <a:off x="6833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901" name="Google Shape;901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2" name="Google Shape;902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3" name="Google Shape;903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4" name="Google Shape;904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5" name="Google Shape;905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06" name="Google Shape;906;p76"/>
            <p:cNvGrpSpPr/>
            <p:nvPr/>
          </p:nvGrpSpPr>
          <p:grpSpPr>
            <a:xfrm>
              <a:off x="6833020" y="3035769"/>
              <a:ext cx="329100" cy="235214"/>
              <a:chOff x="4190100" y="2395200"/>
              <a:chExt cx="329100" cy="304800"/>
            </a:xfrm>
          </p:grpSpPr>
          <p:cxnSp>
            <p:nvCxnSpPr>
              <p:cNvPr id="907" name="Google Shape;907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8" name="Google Shape;908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09" name="Google Shape;909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0" name="Google Shape;910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1" name="Google Shape;911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2" name="Google Shape;912;p76"/>
            <p:cNvGrpSpPr/>
            <p:nvPr/>
          </p:nvGrpSpPr>
          <p:grpSpPr>
            <a:xfrm>
              <a:off x="6833020" y="3340569"/>
              <a:ext cx="329100" cy="235214"/>
              <a:chOff x="4190100" y="2395200"/>
              <a:chExt cx="329100" cy="304800"/>
            </a:xfrm>
          </p:grpSpPr>
          <p:cxnSp>
            <p:nvCxnSpPr>
              <p:cNvPr id="913" name="Google Shape;913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4" name="Google Shape;914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5" name="Google Shape;915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6" name="Google Shape;916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7" name="Google Shape;917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18" name="Google Shape;918;p76"/>
            <p:cNvGrpSpPr/>
            <p:nvPr/>
          </p:nvGrpSpPr>
          <p:grpSpPr>
            <a:xfrm>
              <a:off x="7214020" y="2121369"/>
              <a:ext cx="329100" cy="235214"/>
              <a:chOff x="4190100" y="2395200"/>
              <a:chExt cx="329100" cy="304800"/>
            </a:xfrm>
          </p:grpSpPr>
          <p:cxnSp>
            <p:nvCxnSpPr>
              <p:cNvPr id="919" name="Google Shape;919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0" name="Google Shape;920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1" name="Google Shape;921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2" name="Google Shape;922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3" name="Google Shape;923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24" name="Google Shape;924;p76"/>
            <p:cNvGrpSpPr/>
            <p:nvPr/>
          </p:nvGrpSpPr>
          <p:grpSpPr>
            <a:xfrm>
              <a:off x="7214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925" name="Google Shape;925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6" name="Google Shape;926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7" name="Google Shape;927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8" name="Google Shape;928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" name="Google Shape;929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30" name="Google Shape;930;p76"/>
            <p:cNvGrpSpPr/>
            <p:nvPr/>
          </p:nvGrpSpPr>
          <p:grpSpPr>
            <a:xfrm>
              <a:off x="7595020" y="2730969"/>
              <a:ext cx="329100" cy="235214"/>
              <a:chOff x="4190100" y="2395200"/>
              <a:chExt cx="329100" cy="304800"/>
            </a:xfrm>
          </p:grpSpPr>
          <p:cxnSp>
            <p:nvCxnSpPr>
              <p:cNvPr id="931" name="Google Shape;931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2" name="Google Shape;932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3" name="Google Shape;933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4" name="Google Shape;934;p76"/>
              <p:cNvCxnSpPr/>
              <p:nvPr/>
            </p:nvCxnSpPr>
            <p:spPr>
              <a:xfrm>
                <a:off x="446425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5" name="Google Shape;935;p76"/>
              <p:cNvCxnSpPr/>
              <p:nvPr/>
            </p:nvCxnSpPr>
            <p:spPr>
              <a:xfrm flipH="1">
                <a:off x="4190100" y="2446050"/>
                <a:ext cx="329100" cy="1794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36" name="Google Shape;936;p76"/>
            <p:cNvGrpSpPr/>
            <p:nvPr/>
          </p:nvGrpSpPr>
          <p:grpSpPr>
            <a:xfrm>
              <a:off x="8031445" y="2730969"/>
              <a:ext cx="74475" cy="235214"/>
              <a:chOff x="4245525" y="2395200"/>
              <a:chExt cx="74475" cy="304800"/>
            </a:xfrm>
          </p:grpSpPr>
          <p:cxnSp>
            <p:nvCxnSpPr>
              <p:cNvPr id="937" name="Google Shape;937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38" name="Google Shape;938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939" name="Google Shape;939;p76"/>
            <p:cNvGrpSpPr/>
            <p:nvPr/>
          </p:nvGrpSpPr>
          <p:grpSpPr>
            <a:xfrm>
              <a:off x="7269445" y="3035769"/>
              <a:ext cx="146600" cy="235214"/>
              <a:chOff x="4245525" y="2395200"/>
              <a:chExt cx="146600" cy="304800"/>
            </a:xfrm>
          </p:grpSpPr>
          <p:cxnSp>
            <p:nvCxnSpPr>
              <p:cNvPr id="940" name="Google Shape;940;p76"/>
              <p:cNvCxnSpPr/>
              <p:nvPr/>
            </p:nvCxnSpPr>
            <p:spPr>
              <a:xfrm>
                <a:off x="42455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1" name="Google Shape;941;p76"/>
              <p:cNvCxnSpPr/>
              <p:nvPr/>
            </p:nvCxnSpPr>
            <p:spPr>
              <a:xfrm>
                <a:off x="4320000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42" name="Google Shape;942;p76"/>
              <p:cNvCxnSpPr/>
              <p:nvPr/>
            </p:nvCxnSpPr>
            <p:spPr>
              <a:xfrm>
                <a:off x="4392125" y="2395200"/>
                <a:ext cx="0" cy="30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943" name="Google Shape;943;p76"/>
            <p:cNvCxnSpPr/>
            <p:nvPr/>
          </p:nvCxnSpPr>
          <p:spPr>
            <a:xfrm>
              <a:off x="7266674" y="3348693"/>
              <a:ext cx="0" cy="235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4" name="Google Shape;944;p76"/>
          <p:cNvGrpSpPr/>
          <p:nvPr/>
        </p:nvGrpSpPr>
        <p:grpSpPr>
          <a:xfrm>
            <a:off x="339041" y="2577925"/>
            <a:ext cx="457200" cy="457200"/>
            <a:chOff x="1020916" y="1442088"/>
            <a:chExt cx="457200" cy="457200"/>
          </a:xfrm>
        </p:grpSpPr>
        <p:pic>
          <p:nvPicPr>
            <p:cNvPr id="945" name="Google Shape;945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7" name="Google Shape;947;p76"/>
          <p:cNvGrpSpPr/>
          <p:nvPr/>
        </p:nvGrpSpPr>
        <p:grpSpPr>
          <a:xfrm>
            <a:off x="353341" y="3339925"/>
            <a:ext cx="457200" cy="457200"/>
            <a:chOff x="1020916" y="1442088"/>
            <a:chExt cx="457200" cy="457200"/>
          </a:xfrm>
        </p:grpSpPr>
        <p:pic>
          <p:nvPicPr>
            <p:cNvPr id="948" name="Google Shape;948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0" name="Google Shape;950;p76"/>
          <p:cNvGrpSpPr/>
          <p:nvPr/>
        </p:nvGrpSpPr>
        <p:grpSpPr>
          <a:xfrm>
            <a:off x="360021" y="4101925"/>
            <a:ext cx="457200" cy="457200"/>
            <a:chOff x="1020916" y="1442088"/>
            <a:chExt cx="457200" cy="457200"/>
          </a:xfrm>
        </p:grpSpPr>
        <p:pic>
          <p:nvPicPr>
            <p:cNvPr id="951" name="Google Shape;95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2" name="Google Shape;952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3" name="Google Shape;953;p76"/>
          <p:cNvSpPr txBox="1"/>
          <p:nvPr>
            <p:ph idx="1" type="body"/>
          </p:nvPr>
        </p:nvSpPr>
        <p:spPr>
          <a:xfrm>
            <a:off x="956450" y="2598325"/>
            <a:ext cx="903000" cy="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mean</a:t>
            </a:r>
            <a:endParaRPr sz="2000"/>
          </a:p>
        </p:txBody>
      </p:sp>
      <p:sp>
        <p:nvSpPr>
          <p:cNvPr id="954" name="Google Shape;954;p76"/>
          <p:cNvSpPr txBox="1"/>
          <p:nvPr>
            <p:ph idx="1" type="body"/>
          </p:nvPr>
        </p:nvSpPr>
        <p:spPr>
          <a:xfrm>
            <a:off x="956450" y="3383185"/>
            <a:ext cx="1108800" cy="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median</a:t>
            </a:r>
            <a:endParaRPr sz="2000"/>
          </a:p>
        </p:txBody>
      </p:sp>
      <p:sp>
        <p:nvSpPr>
          <p:cNvPr id="955" name="Google Shape;955;p76"/>
          <p:cNvSpPr txBox="1"/>
          <p:nvPr>
            <p:ph idx="1" type="body"/>
          </p:nvPr>
        </p:nvSpPr>
        <p:spPr>
          <a:xfrm>
            <a:off x="956450" y="4168045"/>
            <a:ext cx="1108800" cy="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mode</a:t>
            </a:r>
            <a:endParaRPr sz="2000"/>
          </a:p>
        </p:txBody>
      </p:sp>
      <p:pic>
        <p:nvPicPr>
          <p:cNvPr id="956" name="Google Shape;956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048" y="3337456"/>
            <a:ext cx="1340864" cy="1472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768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1776" y="2333016"/>
            <a:ext cx="5446625" cy="132591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77"/>
          <p:cNvSpPr txBox="1"/>
          <p:nvPr>
            <p:ph idx="1" type="body"/>
          </p:nvPr>
        </p:nvSpPr>
        <p:spPr>
          <a:xfrm>
            <a:off x="324000" y="759300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usefulness of an average may depend on the </a:t>
            </a:r>
            <a:r>
              <a:rPr lang="en-GB" sz="2000">
                <a:solidFill>
                  <a:schemeClr val="accent4"/>
                </a:solidFill>
              </a:rPr>
              <a:t>shape</a:t>
            </a:r>
            <a:r>
              <a:rPr lang="en-GB" sz="2000"/>
              <a:t> of the data.</a:t>
            </a:r>
            <a:endParaRPr sz="2000"/>
          </a:p>
        </p:txBody>
      </p:sp>
      <p:sp>
        <p:nvSpPr>
          <p:cNvPr id="964" name="Google Shape;96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965" name="Google Shape;965;p77"/>
          <p:cNvSpPr txBox="1"/>
          <p:nvPr>
            <p:ph idx="1" type="body"/>
          </p:nvPr>
        </p:nvSpPr>
        <p:spPr>
          <a:xfrm>
            <a:off x="2125475" y="3932400"/>
            <a:ext cx="13608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mode = 40</a:t>
            </a:r>
            <a:endParaRPr sz="1800"/>
          </a:p>
        </p:txBody>
      </p:sp>
      <p:cxnSp>
        <p:nvCxnSpPr>
          <p:cNvPr id="966" name="Google Shape;966;p77"/>
          <p:cNvCxnSpPr/>
          <p:nvPr/>
        </p:nvCxnSpPr>
        <p:spPr>
          <a:xfrm>
            <a:off x="4520969" y="2485416"/>
            <a:ext cx="0" cy="132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7" name="Google Shape;967;p77"/>
          <p:cNvSpPr txBox="1"/>
          <p:nvPr>
            <p:ph idx="1" type="body"/>
          </p:nvPr>
        </p:nvSpPr>
        <p:spPr>
          <a:xfrm>
            <a:off x="4829100" y="3922009"/>
            <a:ext cx="17325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</a:t>
            </a:r>
            <a:r>
              <a:rPr lang="en-GB" sz="1800"/>
              <a:t>ean = 44.3</a:t>
            </a:r>
            <a:endParaRPr sz="1800"/>
          </a:p>
        </p:txBody>
      </p:sp>
      <p:sp>
        <p:nvSpPr>
          <p:cNvPr id="968" name="Google Shape;968;p77"/>
          <p:cNvSpPr txBox="1"/>
          <p:nvPr>
            <p:ph idx="1" type="body"/>
          </p:nvPr>
        </p:nvSpPr>
        <p:spPr>
          <a:xfrm>
            <a:off x="3186275" y="1700366"/>
            <a:ext cx="1793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median = 44</a:t>
            </a:r>
            <a:endParaRPr sz="1800"/>
          </a:p>
        </p:txBody>
      </p:sp>
      <p:cxnSp>
        <p:nvCxnSpPr>
          <p:cNvPr id="969" name="Google Shape;969;p77"/>
          <p:cNvCxnSpPr/>
          <p:nvPr/>
        </p:nvCxnSpPr>
        <p:spPr>
          <a:xfrm>
            <a:off x="3833425" y="1952800"/>
            <a:ext cx="389700" cy="735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77"/>
          <p:cNvCxnSpPr>
            <a:endCxn id="967" idx="1"/>
          </p:cNvCxnSpPr>
          <p:nvPr/>
        </p:nvCxnSpPr>
        <p:spPr>
          <a:xfrm>
            <a:off x="4521000" y="3610459"/>
            <a:ext cx="308100" cy="487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77"/>
          <p:cNvCxnSpPr/>
          <p:nvPr/>
        </p:nvCxnSpPr>
        <p:spPr>
          <a:xfrm>
            <a:off x="2232375" y="3578850"/>
            <a:ext cx="0" cy="38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2" name="Google Shape;972;p77"/>
          <p:cNvSpPr txBox="1"/>
          <p:nvPr>
            <p:ph idx="1" type="body"/>
          </p:nvPr>
        </p:nvSpPr>
        <p:spPr>
          <a:xfrm>
            <a:off x="324000" y="1181213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represents scores on a test for a class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973" name="Google Shape;973;p77"/>
          <p:cNvSpPr txBox="1"/>
          <p:nvPr>
            <p:ph idx="1" type="body"/>
          </p:nvPr>
        </p:nvSpPr>
        <p:spPr>
          <a:xfrm>
            <a:off x="324000" y="4498941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mode does not give an accurate </a:t>
            </a:r>
            <a:r>
              <a:rPr lang="en-GB" sz="2000"/>
              <a:t>representation</a:t>
            </a:r>
            <a:r>
              <a:rPr lang="en-GB" sz="2000"/>
              <a:t> of the class.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050" y="1880638"/>
            <a:ext cx="6445175" cy="1960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8"/>
          <p:cNvSpPr txBox="1"/>
          <p:nvPr>
            <p:ph idx="1" type="body"/>
          </p:nvPr>
        </p:nvSpPr>
        <p:spPr>
          <a:xfrm>
            <a:off x="324000" y="759300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usefulness of an average may depend on the </a:t>
            </a:r>
            <a:r>
              <a:rPr lang="en-GB" sz="2000">
                <a:solidFill>
                  <a:schemeClr val="accent4"/>
                </a:solidFill>
              </a:rPr>
              <a:t>shape</a:t>
            </a:r>
            <a:r>
              <a:rPr lang="en-GB" sz="2000"/>
              <a:t> of the data.</a:t>
            </a:r>
            <a:endParaRPr sz="2000"/>
          </a:p>
        </p:txBody>
      </p:sp>
      <p:sp>
        <p:nvSpPr>
          <p:cNvPr id="980" name="Google Shape;98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981" name="Google Shape;981;p78"/>
          <p:cNvSpPr txBox="1"/>
          <p:nvPr>
            <p:ph idx="1" type="body"/>
          </p:nvPr>
        </p:nvSpPr>
        <p:spPr>
          <a:xfrm>
            <a:off x="850243" y="4048233"/>
            <a:ext cx="1360800" cy="2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mode = 41</a:t>
            </a:r>
            <a:endParaRPr sz="1800"/>
          </a:p>
        </p:txBody>
      </p:sp>
      <p:cxnSp>
        <p:nvCxnSpPr>
          <p:cNvPr id="982" name="Google Shape;982;p78"/>
          <p:cNvCxnSpPr/>
          <p:nvPr/>
        </p:nvCxnSpPr>
        <p:spPr>
          <a:xfrm>
            <a:off x="2520000" y="2067225"/>
            <a:ext cx="0" cy="179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3" name="Google Shape;983;p78"/>
          <p:cNvSpPr txBox="1"/>
          <p:nvPr>
            <p:ph idx="1" type="body"/>
          </p:nvPr>
        </p:nvSpPr>
        <p:spPr>
          <a:xfrm>
            <a:off x="2896750" y="1720094"/>
            <a:ext cx="17325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mean = 43.1</a:t>
            </a:r>
            <a:endParaRPr sz="1800"/>
          </a:p>
        </p:txBody>
      </p:sp>
      <p:sp>
        <p:nvSpPr>
          <p:cNvPr id="984" name="Google Shape;984;p78"/>
          <p:cNvSpPr txBox="1"/>
          <p:nvPr>
            <p:ph idx="1" type="body"/>
          </p:nvPr>
        </p:nvSpPr>
        <p:spPr>
          <a:xfrm>
            <a:off x="2555830" y="4043891"/>
            <a:ext cx="1793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median = 42</a:t>
            </a:r>
            <a:endParaRPr sz="1800"/>
          </a:p>
        </p:txBody>
      </p:sp>
      <p:cxnSp>
        <p:nvCxnSpPr>
          <p:cNvPr id="985" name="Google Shape;985;p78"/>
          <p:cNvCxnSpPr/>
          <p:nvPr/>
        </p:nvCxnSpPr>
        <p:spPr>
          <a:xfrm rot="10800000">
            <a:off x="2223875" y="3499825"/>
            <a:ext cx="327300" cy="567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6" name="Google Shape;986;p78"/>
          <p:cNvCxnSpPr/>
          <p:nvPr/>
        </p:nvCxnSpPr>
        <p:spPr>
          <a:xfrm flipH="1" rot="10800000">
            <a:off x="2599247" y="1880659"/>
            <a:ext cx="248700" cy="21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7" name="Google Shape;987;p78"/>
          <p:cNvCxnSpPr/>
          <p:nvPr/>
        </p:nvCxnSpPr>
        <p:spPr>
          <a:xfrm flipH="1">
            <a:off x="1426750" y="3803525"/>
            <a:ext cx="372000" cy="300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78"/>
          <p:cNvSpPr txBox="1"/>
          <p:nvPr>
            <p:ph idx="1" type="body"/>
          </p:nvPr>
        </p:nvSpPr>
        <p:spPr>
          <a:xfrm>
            <a:off x="324000" y="1181213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represents scores on a test for another class.</a:t>
            </a:r>
            <a:endParaRPr sz="2000"/>
          </a:p>
        </p:txBody>
      </p:sp>
      <p:sp>
        <p:nvSpPr>
          <p:cNvPr id="989" name="Google Shape;989;p78"/>
          <p:cNvSpPr txBox="1"/>
          <p:nvPr>
            <p:ph idx="1" type="body"/>
          </p:nvPr>
        </p:nvSpPr>
        <p:spPr>
          <a:xfrm>
            <a:off x="324000" y="4498941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mean does not give an accurate representation of the class.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6674" y="2121587"/>
            <a:ext cx="4637926" cy="179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9"/>
          <p:cNvSpPr txBox="1"/>
          <p:nvPr>
            <p:ph idx="1" type="body"/>
          </p:nvPr>
        </p:nvSpPr>
        <p:spPr>
          <a:xfrm>
            <a:off x="324000" y="759300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usefulness of an average may depend on the </a:t>
            </a:r>
            <a:r>
              <a:rPr lang="en-GB" sz="2000">
                <a:solidFill>
                  <a:schemeClr val="accent4"/>
                </a:solidFill>
              </a:rPr>
              <a:t>shape</a:t>
            </a:r>
            <a:r>
              <a:rPr lang="en-GB" sz="2000"/>
              <a:t> of the data.</a:t>
            </a:r>
            <a:endParaRPr sz="2000"/>
          </a:p>
        </p:txBody>
      </p:sp>
      <p:sp>
        <p:nvSpPr>
          <p:cNvPr id="996" name="Google Shape;996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997" name="Google Shape;997;p79"/>
          <p:cNvSpPr txBox="1"/>
          <p:nvPr>
            <p:ph idx="1" type="body"/>
          </p:nvPr>
        </p:nvSpPr>
        <p:spPr>
          <a:xfrm>
            <a:off x="3212443" y="4048233"/>
            <a:ext cx="1360800" cy="2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mode = 45</a:t>
            </a:r>
            <a:endParaRPr sz="1800"/>
          </a:p>
        </p:txBody>
      </p:sp>
      <p:cxnSp>
        <p:nvCxnSpPr>
          <p:cNvPr id="998" name="Google Shape;998;p79"/>
          <p:cNvCxnSpPr/>
          <p:nvPr/>
        </p:nvCxnSpPr>
        <p:spPr>
          <a:xfrm>
            <a:off x="4587240" y="1689113"/>
            <a:ext cx="0" cy="2001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9" name="Google Shape;999;p79"/>
          <p:cNvSpPr txBox="1"/>
          <p:nvPr>
            <p:ph idx="1" type="body"/>
          </p:nvPr>
        </p:nvSpPr>
        <p:spPr>
          <a:xfrm>
            <a:off x="5137530" y="1720094"/>
            <a:ext cx="17325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mean = 45</a:t>
            </a:r>
            <a:endParaRPr sz="1800"/>
          </a:p>
        </p:txBody>
      </p:sp>
      <p:sp>
        <p:nvSpPr>
          <p:cNvPr id="1000" name="Google Shape;1000;p79"/>
          <p:cNvSpPr txBox="1"/>
          <p:nvPr>
            <p:ph idx="1" type="body"/>
          </p:nvPr>
        </p:nvSpPr>
        <p:spPr>
          <a:xfrm>
            <a:off x="4985130" y="4063666"/>
            <a:ext cx="17937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median = 45</a:t>
            </a:r>
            <a:endParaRPr sz="1800"/>
          </a:p>
        </p:txBody>
      </p:sp>
      <p:cxnSp>
        <p:nvCxnSpPr>
          <p:cNvPr id="1001" name="Google Shape;1001;p79"/>
          <p:cNvCxnSpPr/>
          <p:nvPr/>
        </p:nvCxnSpPr>
        <p:spPr>
          <a:xfrm rot="10800000">
            <a:off x="4660350" y="3032625"/>
            <a:ext cx="304200" cy="113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2" name="Google Shape;1002;p79"/>
          <p:cNvCxnSpPr>
            <a:endCxn id="999" idx="1"/>
          </p:cNvCxnSpPr>
          <p:nvPr/>
        </p:nvCxnSpPr>
        <p:spPr>
          <a:xfrm flipH="1" rot="10800000">
            <a:off x="4688130" y="1896044"/>
            <a:ext cx="449400" cy="11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79"/>
          <p:cNvCxnSpPr/>
          <p:nvPr/>
        </p:nvCxnSpPr>
        <p:spPr>
          <a:xfrm flipH="1">
            <a:off x="4347300" y="3856200"/>
            <a:ext cx="158700" cy="24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79"/>
          <p:cNvSpPr txBox="1"/>
          <p:nvPr>
            <p:ph idx="1" type="body"/>
          </p:nvPr>
        </p:nvSpPr>
        <p:spPr>
          <a:xfrm>
            <a:off x="324000" y="1181213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data below represents scores on a test for another class.</a:t>
            </a:r>
            <a:endParaRPr sz="2000"/>
          </a:p>
        </p:txBody>
      </p:sp>
      <p:sp>
        <p:nvSpPr>
          <p:cNvPr id="1005" name="Google Shape;1005;p79"/>
          <p:cNvSpPr txBox="1"/>
          <p:nvPr>
            <p:ph idx="1" type="body"/>
          </p:nvPr>
        </p:nvSpPr>
        <p:spPr>
          <a:xfrm>
            <a:off x="324000" y="4498941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All the averages give a similar representation of the data.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0"/>
          <p:cNvSpPr txBox="1"/>
          <p:nvPr>
            <p:ph type="title"/>
          </p:nvPr>
        </p:nvSpPr>
        <p:spPr>
          <a:xfrm>
            <a:off x="324000" y="748775"/>
            <a:ext cx="8496000" cy="81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measure of average would be different to the others in this set of numbers?</a:t>
            </a:r>
            <a:endParaRPr sz="2000"/>
          </a:p>
        </p:txBody>
      </p:sp>
      <p:sp>
        <p:nvSpPr>
          <p:cNvPr id="1011" name="Google Shape;1011;p8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1012" name="Google Shape;1012;p80"/>
          <p:cNvSpPr txBox="1"/>
          <p:nvPr>
            <p:ph idx="1" type="subTitle"/>
          </p:nvPr>
        </p:nvSpPr>
        <p:spPr>
          <a:xfrm>
            <a:off x="1034425" y="1837775"/>
            <a:ext cx="1266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1013" name="Google Shape;1013;p80"/>
          <p:cNvSpPr txBox="1"/>
          <p:nvPr>
            <p:ph idx="3" type="subTitle"/>
          </p:nvPr>
        </p:nvSpPr>
        <p:spPr>
          <a:xfrm>
            <a:off x="1034425" y="2794251"/>
            <a:ext cx="1266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1014" name="Google Shape;1014;p80"/>
          <p:cNvSpPr txBox="1"/>
          <p:nvPr>
            <p:ph idx="4" type="subTitle"/>
          </p:nvPr>
        </p:nvSpPr>
        <p:spPr>
          <a:xfrm>
            <a:off x="1034425" y="3766974"/>
            <a:ext cx="1259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sp>
        <p:nvSpPr>
          <p:cNvPr id="1015" name="Google Shape;1015;p80"/>
          <p:cNvSpPr txBox="1"/>
          <p:nvPr>
            <p:ph type="title"/>
          </p:nvPr>
        </p:nvSpPr>
        <p:spPr>
          <a:xfrm>
            <a:off x="3030900" y="1474720"/>
            <a:ext cx="3082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1, 1, 1, 5, 6, 7, 10, 11, 12</a:t>
            </a:r>
            <a:endParaRPr/>
          </a:p>
        </p:txBody>
      </p:sp>
      <p:pic>
        <p:nvPicPr>
          <p:cNvPr id="1016" name="Google Shape;101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133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1"/>
          <p:cNvSpPr txBox="1"/>
          <p:nvPr>
            <p:ph type="title"/>
          </p:nvPr>
        </p:nvSpPr>
        <p:spPr>
          <a:xfrm>
            <a:off x="324000" y="748775"/>
            <a:ext cx="8496000" cy="7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measure of average is least representative for the majority of  data in this dataset?</a:t>
            </a:r>
            <a:endParaRPr sz="2000"/>
          </a:p>
        </p:txBody>
      </p:sp>
      <p:sp>
        <p:nvSpPr>
          <p:cNvPr id="1022" name="Google Shape;1022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1023" name="Google Shape;1023;p81"/>
          <p:cNvSpPr txBox="1"/>
          <p:nvPr>
            <p:ph idx="1" type="subTitle"/>
          </p:nvPr>
        </p:nvSpPr>
        <p:spPr>
          <a:xfrm>
            <a:off x="1034425" y="1837775"/>
            <a:ext cx="1266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1024" name="Google Shape;1024;p81"/>
          <p:cNvSpPr txBox="1"/>
          <p:nvPr>
            <p:ph idx="3" type="subTitle"/>
          </p:nvPr>
        </p:nvSpPr>
        <p:spPr>
          <a:xfrm>
            <a:off x="1034425" y="2794251"/>
            <a:ext cx="12669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1025" name="Google Shape;1025;p81"/>
          <p:cNvSpPr txBox="1"/>
          <p:nvPr>
            <p:ph idx="4" type="subTitle"/>
          </p:nvPr>
        </p:nvSpPr>
        <p:spPr>
          <a:xfrm>
            <a:off x="1034425" y="3766974"/>
            <a:ext cx="1259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pic>
        <p:nvPicPr>
          <p:cNvPr id="1026" name="Google Shape;102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0" y="2142575"/>
            <a:ext cx="5059560" cy="22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1"/>
          <p:cNvSpPr txBox="1"/>
          <p:nvPr>
            <p:ph idx="4294967295" type="body"/>
          </p:nvPr>
        </p:nvSpPr>
        <p:spPr>
          <a:xfrm>
            <a:off x="7723493" y="1635518"/>
            <a:ext cx="1360800" cy="2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mode = 21</a:t>
            </a:r>
            <a:endParaRPr sz="1700"/>
          </a:p>
        </p:txBody>
      </p:sp>
      <p:cxnSp>
        <p:nvCxnSpPr>
          <p:cNvPr id="1028" name="Google Shape;1028;p81"/>
          <p:cNvCxnSpPr/>
          <p:nvPr/>
        </p:nvCxnSpPr>
        <p:spPr>
          <a:xfrm>
            <a:off x="6819910" y="2346018"/>
            <a:ext cx="0" cy="2001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9" name="Google Shape;1029;p81"/>
          <p:cNvSpPr txBox="1"/>
          <p:nvPr>
            <p:ph idx="4294967295" type="body"/>
          </p:nvPr>
        </p:nvSpPr>
        <p:spPr>
          <a:xfrm>
            <a:off x="4337610" y="1649784"/>
            <a:ext cx="17325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mean = 18.9</a:t>
            </a:r>
            <a:endParaRPr sz="1700"/>
          </a:p>
        </p:txBody>
      </p:sp>
      <p:sp>
        <p:nvSpPr>
          <p:cNvPr id="1030" name="Google Shape;1030;p81"/>
          <p:cNvSpPr txBox="1"/>
          <p:nvPr>
            <p:ph idx="4294967295" type="body"/>
          </p:nvPr>
        </p:nvSpPr>
        <p:spPr>
          <a:xfrm>
            <a:off x="6036676" y="1638275"/>
            <a:ext cx="1560600" cy="3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median = 20</a:t>
            </a:r>
            <a:endParaRPr sz="1700"/>
          </a:p>
        </p:txBody>
      </p:sp>
      <p:cxnSp>
        <p:nvCxnSpPr>
          <p:cNvPr id="1031" name="Google Shape;1031;p81"/>
          <p:cNvCxnSpPr/>
          <p:nvPr/>
        </p:nvCxnSpPr>
        <p:spPr>
          <a:xfrm rot="10800000">
            <a:off x="6770825" y="1881875"/>
            <a:ext cx="392100" cy="87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81"/>
          <p:cNvCxnSpPr/>
          <p:nvPr/>
        </p:nvCxnSpPr>
        <p:spPr>
          <a:xfrm>
            <a:off x="4958575" y="1902650"/>
            <a:ext cx="1837800" cy="1068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81"/>
          <p:cNvCxnSpPr/>
          <p:nvPr/>
        </p:nvCxnSpPr>
        <p:spPr>
          <a:xfrm flipH="1" rot="10800000">
            <a:off x="7574175" y="1883850"/>
            <a:ext cx="230700" cy="41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34" name="Google Shape;103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8133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2"/>
          <p:cNvSpPr txBox="1"/>
          <p:nvPr>
            <p:ph idx="1" type="body"/>
          </p:nvPr>
        </p:nvSpPr>
        <p:spPr>
          <a:xfrm>
            <a:off x="324000" y="759300"/>
            <a:ext cx="8496000" cy="9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r>
              <a:rPr lang="en-GB" sz="1600"/>
              <a:t>) The four sets of data all have a mean of seven.</a:t>
            </a:r>
            <a:br>
              <a:rPr lang="en-GB" sz="1600"/>
            </a:br>
            <a:r>
              <a:rPr lang="en-GB" sz="1600"/>
              <a:t>    In which sets of data do you think that this average provides a good summary of </a:t>
            </a:r>
            <a:br>
              <a:rPr lang="en-GB" sz="1600"/>
            </a:br>
            <a:r>
              <a:rPr lang="en-GB" sz="1600"/>
              <a:t>    the information? Give reasons for your answers.</a:t>
            </a:r>
            <a:endParaRPr sz="1600"/>
          </a:p>
        </p:txBody>
      </p:sp>
      <p:sp>
        <p:nvSpPr>
          <p:cNvPr id="1040" name="Google Shape;104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1041" name="Google Shape;1041;p82"/>
          <p:cNvSpPr txBox="1"/>
          <p:nvPr>
            <p:ph idx="1" type="body"/>
          </p:nvPr>
        </p:nvSpPr>
        <p:spPr>
          <a:xfrm>
            <a:off x="1342378" y="1848600"/>
            <a:ext cx="1877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</a:t>
            </a:r>
            <a:r>
              <a:rPr lang="en-GB" sz="1600"/>
              <a:t> 1, 1, 1, 1, 1, 1, 43</a:t>
            </a:r>
            <a:endParaRPr sz="1600"/>
          </a:p>
        </p:txBody>
      </p:sp>
      <p:sp>
        <p:nvSpPr>
          <p:cNvPr id="1042" name="Google Shape;1042;p82"/>
          <p:cNvSpPr txBox="1"/>
          <p:nvPr>
            <p:ph idx="1" type="body"/>
          </p:nvPr>
        </p:nvSpPr>
        <p:spPr>
          <a:xfrm>
            <a:off x="5425378" y="1848600"/>
            <a:ext cx="1877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 7, 7, 7, 7, 7, 7, 7</a:t>
            </a:r>
            <a:endParaRPr sz="1600"/>
          </a:p>
        </p:txBody>
      </p:sp>
      <p:sp>
        <p:nvSpPr>
          <p:cNvPr id="1043" name="Google Shape;1043;p82"/>
          <p:cNvSpPr txBox="1"/>
          <p:nvPr>
            <p:ph idx="1" type="body"/>
          </p:nvPr>
        </p:nvSpPr>
        <p:spPr>
          <a:xfrm>
            <a:off x="1346550" y="2501200"/>
            <a:ext cx="32073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 1.5, 2.8, 6.1, 6.9, 7.9, 9.4, 14.4</a:t>
            </a:r>
            <a:endParaRPr sz="1600"/>
          </a:p>
        </p:txBody>
      </p:sp>
      <p:sp>
        <p:nvSpPr>
          <p:cNvPr id="1044" name="Google Shape;1044;p82"/>
          <p:cNvSpPr txBox="1"/>
          <p:nvPr>
            <p:ph idx="1" type="body"/>
          </p:nvPr>
        </p:nvSpPr>
        <p:spPr>
          <a:xfrm>
            <a:off x="5425374" y="2501200"/>
            <a:ext cx="23361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 4, 5, 6, 7, 8, 9, 10</a:t>
            </a:r>
            <a:endParaRPr sz="1600"/>
          </a:p>
        </p:txBody>
      </p:sp>
      <p:sp>
        <p:nvSpPr>
          <p:cNvPr id="1045" name="Google Shape;1045;p82"/>
          <p:cNvSpPr txBox="1"/>
          <p:nvPr>
            <p:ph idx="1" type="body"/>
          </p:nvPr>
        </p:nvSpPr>
        <p:spPr>
          <a:xfrm>
            <a:off x="324000" y="3235323"/>
            <a:ext cx="84960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Find the mean, median and mode for the set of data.</a:t>
            </a:r>
            <a:endParaRPr sz="1600"/>
          </a:p>
        </p:txBody>
      </p:sp>
      <p:sp>
        <p:nvSpPr>
          <p:cNvPr id="1046" name="Google Shape;1046;p82"/>
          <p:cNvSpPr txBox="1"/>
          <p:nvPr>
            <p:ph idx="1" type="body"/>
          </p:nvPr>
        </p:nvSpPr>
        <p:spPr>
          <a:xfrm>
            <a:off x="575100" y="4302125"/>
            <a:ext cx="82449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Which average </a:t>
            </a:r>
            <a:r>
              <a:rPr lang="en-GB" sz="1600"/>
              <a:t>least represents</a:t>
            </a:r>
            <a:r>
              <a:rPr lang="en-GB" sz="1600"/>
              <a:t> the central </a:t>
            </a:r>
            <a:r>
              <a:rPr lang="en-GB" sz="1600"/>
              <a:t>tendency</a:t>
            </a:r>
            <a:r>
              <a:rPr lang="en-GB" sz="1600"/>
              <a:t> for this data? Explain why.</a:t>
            </a:r>
            <a:endParaRPr sz="1600"/>
          </a:p>
        </p:txBody>
      </p:sp>
      <p:sp>
        <p:nvSpPr>
          <p:cNvPr id="1047" name="Google Shape;1047;p82"/>
          <p:cNvSpPr txBox="1"/>
          <p:nvPr>
            <p:ph idx="1" type="body"/>
          </p:nvPr>
        </p:nvSpPr>
        <p:spPr>
          <a:xfrm>
            <a:off x="3339450" y="3768725"/>
            <a:ext cx="24651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1, 2, 3, 3, 4, 4, 5, 6, 9, 9, 9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83"/>
          <p:cNvSpPr txBox="1"/>
          <p:nvPr>
            <p:ph idx="1" type="body"/>
          </p:nvPr>
        </p:nvSpPr>
        <p:spPr>
          <a:xfrm>
            <a:off x="324000" y="759300"/>
            <a:ext cx="8454300" cy="9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four sets of data all have a mean of seven.</a:t>
            </a:r>
            <a:br>
              <a:rPr lang="en-GB" sz="1600"/>
            </a:br>
            <a:r>
              <a:rPr lang="en-GB" sz="1600"/>
              <a:t>    In which sets of data do you think that this average provides a good summary of </a:t>
            </a:r>
            <a:br>
              <a:rPr lang="en-GB" sz="1600"/>
            </a:br>
            <a:r>
              <a:rPr lang="en-GB" sz="1600"/>
              <a:t>    the information? Give reasons for your answers.</a:t>
            </a:r>
            <a:endParaRPr sz="1600"/>
          </a:p>
        </p:txBody>
      </p:sp>
      <p:sp>
        <p:nvSpPr>
          <p:cNvPr id="1053" name="Google Shape;105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1054" name="Google Shape;1054;p83"/>
          <p:cNvSpPr txBox="1"/>
          <p:nvPr>
            <p:ph idx="1" type="body"/>
          </p:nvPr>
        </p:nvSpPr>
        <p:spPr>
          <a:xfrm>
            <a:off x="565138" y="1848600"/>
            <a:ext cx="1877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1, 1, 1, 1, 1, 1, 43</a:t>
            </a:r>
            <a:endParaRPr sz="1600"/>
          </a:p>
        </p:txBody>
      </p:sp>
      <p:sp>
        <p:nvSpPr>
          <p:cNvPr id="1055" name="Google Shape;1055;p83"/>
          <p:cNvSpPr txBox="1"/>
          <p:nvPr>
            <p:ph idx="1" type="body"/>
          </p:nvPr>
        </p:nvSpPr>
        <p:spPr>
          <a:xfrm>
            <a:off x="548578" y="2624932"/>
            <a:ext cx="1877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7, 7, 7, 7, 7, 7, 7</a:t>
            </a:r>
            <a:endParaRPr sz="1600"/>
          </a:p>
        </p:txBody>
      </p:sp>
      <p:sp>
        <p:nvSpPr>
          <p:cNvPr id="1056" name="Google Shape;1056;p83"/>
          <p:cNvSpPr txBox="1"/>
          <p:nvPr>
            <p:ph idx="1" type="body"/>
          </p:nvPr>
        </p:nvSpPr>
        <p:spPr>
          <a:xfrm>
            <a:off x="561690" y="3401265"/>
            <a:ext cx="32073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</a:t>
            </a:r>
            <a:r>
              <a:rPr lang="en-GB" sz="1600"/>
              <a:t>) </a:t>
            </a:r>
            <a:r>
              <a:rPr lang="en-GB" sz="1600"/>
              <a:t>1.5, 2.8, 6.1, 6.9, 7.9, 9.4, 14.4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57" name="Google Shape;1057;p83"/>
          <p:cNvSpPr txBox="1"/>
          <p:nvPr>
            <p:ph idx="1" type="body"/>
          </p:nvPr>
        </p:nvSpPr>
        <p:spPr>
          <a:xfrm>
            <a:off x="556198" y="4177597"/>
            <a:ext cx="1877700" cy="3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4, 5, 6, 7, 8, 9, 10</a:t>
            </a:r>
            <a:endParaRPr sz="1600"/>
          </a:p>
        </p:txBody>
      </p:sp>
      <p:sp>
        <p:nvSpPr>
          <p:cNvPr id="1058" name="Google Shape;1058;p83"/>
          <p:cNvSpPr txBox="1"/>
          <p:nvPr/>
        </p:nvSpPr>
        <p:spPr>
          <a:xfrm>
            <a:off x="2880550" y="4078550"/>
            <a:ext cx="5897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is in the centre of the data. Each number that is below 7 has a matching pair which is just as much above 7.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9" name="Google Shape;105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6783" y="2534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9588" y="17944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83"/>
          <p:cNvSpPr txBox="1"/>
          <p:nvPr/>
        </p:nvSpPr>
        <p:spPr>
          <a:xfrm>
            <a:off x="2781410" y="1742760"/>
            <a:ext cx="6175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 is much bigger than all of the other numbers, which are all equal to 1.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2" name="Google Shape;1062;p83"/>
          <p:cNvSpPr txBox="1"/>
          <p:nvPr/>
        </p:nvSpPr>
        <p:spPr>
          <a:xfrm>
            <a:off x="2554325" y="2508305"/>
            <a:ext cx="609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of the numbers are 7.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3" name="Google Shape;106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9358" y="33474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83"/>
          <p:cNvSpPr txBox="1"/>
          <p:nvPr/>
        </p:nvSpPr>
        <p:spPr>
          <a:xfrm>
            <a:off x="4131650" y="3302215"/>
            <a:ext cx="48408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 is around the centre of the data and many of the numbers are close to 7.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5" name="Google Shape;106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9608" y="41439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Problems with statistical measures based on the data</a:t>
            </a:r>
            <a:endParaRPr/>
          </a:p>
        </p:txBody>
      </p:sp>
      <p:sp>
        <p:nvSpPr>
          <p:cNvPr id="1071" name="Google Shape;1071;p84"/>
          <p:cNvSpPr txBox="1"/>
          <p:nvPr>
            <p:ph idx="1" type="body"/>
          </p:nvPr>
        </p:nvSpPr>
        <p:spPr>
          <a:xfrm>
            <a:off x="324000" y="766443"/>
            <a:ext cx="84960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Find the mean, median and mode for the set of data.</a:t>
            </a:r>
            <a:endParaRPr sz="1600"/>
          </a:p>
        </p:txBody>
      </p:sp>
      <p:sp>
        <p:nvSpPr>
          <p:cNvPr id="1072" name="Google Shape;1072;p84"/>
          <p:cNvSpPr txBox="1"/>
          <p:nvPr>
            <p:ph idx="1" type="body"/>
          </p:nvPr>
        </p:nvSpPr>
        <p:spPr>
          <a:xfrm>
            <a:off x="575100" y="3357245"/>
            <a:ext cx="82449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Which average least represents the central tendency for this data? Explain why.</a:t>
            </a:r>
            <a:endParaRPr sz="1600"/>
          </a:p>
        </p:txBody>
      </p:sp>
      <p:sp>
        <p:nvSpPr>
          <p:cNvPr id="1073" name="Google Shape;1073;p84"/>
          <p:cNvSpPr txBox="1"/>
          <p:nvPr>
            <p:ph idx="1" type="body"/>
          </p:nvPr>
        </p:nvSpPr>
        <p:spPr>
          <a:xfrm>
            <a:off x="3339450" y="1299845"/>
            <a:ext cx="2465100" cy="25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1, 2, 3, 3, 4, 4, 5, 6, 9, 9, 9</a:t>
            </a:r>
            <a:endParaRPr sz="1600"/>
          </a:p>
        </p:txBody>
      </p:sp>
      <p:sp>
        <p:nvSpPr>
          <p:cNvPr id="1074" name="Google Shape;1074;p84"/>
          <p:cNvSpPr txBox="1"/>
          <p:nvPr/>
        </p:nvSpPr>
        <p:spPr>
          <a:xfrm>
            <a:off x="3369600" y="1833250"/>
            <a:ext cx="1995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= 5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edian = 4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ode =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84"/>
          <p:cNvSpPr txBox="1"/>
          <p:nvPr/>
        </p:nvSpPr>
        <p:spPr>
          <a:xfrm>
            <a:off x="3407700" y="3719700"/>
            <a:ext cx="130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mode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84"/>
          <p:cNvSpPr txBox="1"/>
          <p:nvPr/>
        </p:nvSpPr>
        <p:spPr>
          <a:xfrm>
            <a:off x="697025" y="4268350"/>
            <a:ext cx="7669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mode happens to be equal to the highest value in this data.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with statistical measures based on the data</a:t>
            </a:r>
            <a:endParaRPr/>
          </a:p>
        </p:txBody>
      </p:sp>
      <p:sp>
        <p:nvSpPr>
          <p:cNvPr id="1082" name="Google Shape;1082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Choosing </a:t>
            </a:r>
            <a:r>
              <a:rPr lang="en-GB"/>
              <a:t>statistical measures based on the context</a:t>
            </a:r>
            <a:endParaRPr/>
          </a:p>
        </p:txBody>
      </p:sp>
      <p:sp>
        <p:nvSpPr>
          <p:cNvPr id="1083" name="Google Shape;1083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statistical summaries</a:t>
            </a:r>
            <a:endParaRPr/>
          </a:p>
        </p:txBody>
      </p:sp>
      <p:pic>
        <p:nvPicPr>
          <p:cNvPr id="1084" name="Google Shape;108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6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6"/>
          <p:cNvSpPr txBox="1"/>
          <p:nvPr>
            <p:ph idx="1" type="body"/>
          </p:nvPr>
        </p:nvSpPr>
        <p:spPr>
          <a:xfrm>
            <a:off x="324000" y="759300"/>
            <a:ext cx="8496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choice of </a:t>
            </a:r>
            <a:r>
              <a:rPr lang="en-GB" sz="1900"/>
              <a:t>average</a:t>
            </a:r>
            <a:r>
              <a:rPr lang="en-GB" sz="1900"/>
              <a:t> in a statistical summary can depend on the context in which it is being used.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0" name="Google Shape;109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091" name="Google Shape;1091;p86"/>
          <p:cNvSpPr txBox="1"/>
          <p:nvPr>
            <p:ph idx="1" type="body"/>
          </p:nvPr>
        </p:nvSpPr>
        <p:spPr>
          <a:xfrm>
            <a:off x="324000" y="1633800"/>
            <a:ext cx="8496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5"/>
                </a:solidFill>
              </a:rPr>
              <a:t>type of data</a:t>
            </a:r>
            <a:r>
              <a:rPr lang="en-GB" sz="1900"/>
              <a:t> used can cause some measures of average to make less sense than others in context (e.g. </a:t>
            </a:r>
            <a:r>
              <a:rPr lang="en-GB" sz="1900"/>
              <a:t>if the data is non-numerical</a:t>
            </a:r>
            <a:r>
              <a:rPr lang="en-GB" sz="1900"/>
              <a:t>).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2" name="Google Shape;1092;p86"/>
          <p:cNvSpPr txBox="1"/>
          <p:nvPr>
            <p:ph idx="1" type="body"/>
          </p:nvPr>
        </p:nvSpPr>
        <p:spPr>
          <a:xfrm>
            <a:off x="324000" y="2548200"/>
            <a:ext cx="8496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</a:t>
            </a:r>
            <a:r>
              <a:rPr lang="en-GB" sz="1900"/>
              <a:t>he </a:t>
            </a:r>
            <a:r>
              <a:rPr lang="en-GB" sz="1900">
                <a:solidFill>
                  <a:schemeClr val="accent5"/>
                </a:solidFill>
              </a:rPr>
              <a:t>shape</a:t>
            </a:r>
            <a:r>
              <a:rPr lang="en-GB" sz="1900">
                <a:solidFill>
                  <a:schemeClr val="accent5"/>
                </a:solidFill>
              </a:rPr>
              <a:t> of data</a:t>
            </a:r>
            <a:r>
              <a:rPr lang="en-GB" sz="1900"/>
              <a:t> can cause some measures of average to be less representative than others for that data.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3" name="Google Shape;1093;p86"/>
          <p:cNvSpPr txBox="1"/>
          <p:nvPr>
            <p:ph idx="1" type="body"/>
          </p:nvPr>
        </p:nvSpPr>
        <p:spPr>
          <a:xfrm>
            <a:off x="324000" y="3462600"/>
            <a:ext cx="8496000" cy="7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Sometimes, the measure of average that someone chooses to use may depend on what </a:t>
            </a:r>
            <a:r>
              <a:rPr lang="en-GB" sz="1900">
                <a:solidFill>
                  <a:schemeClr val="accent5"/>
                </a:solidFill>
              </a:rPr>
              <a:t>message</a:t>
            </a:r>
            <a:r>
              <a:rPr lang="en-GB" sz="1900"/>
              <a:t> they are trying to communicate.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7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 shoe shop sells pairs of shoes in lots of different</a:t>
            </a:r>
            <a:r>
              <a:rPr lang="en-GB" sz="1900">
                <a:solidFill>
                  <a:schemeClr val="accent5"/>
                </a:solidFill>
              </a:rPr>
              <a:t> sizes</a:t>
            </a:r>
            <a:r>
              <a:rPr lang="en-GB" sz="1900"/>
              <a:t>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9" name="Google Shape;1099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00" name="Google Shape;1100;p87"/>
          <p:cNvSpPr txBox="1"/>
          <p:nvPr/>
        </p:nvSpPr>
        <p:spPr>
          <a:xfrm>
            <a:off x="229559" y="1905000"/>
            <a:ext cx="8496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below shows sizes of the last 19 pairs of shoes that they sold.</a:t>
            </a:r>
            <a:endParaRPr/>
          </a:p>
        </p:txBody>
      </p:sp>
      <p:sp>
        <p:nvSpPr>
          <p:cNvPr id="1101" name="Google Shape;1101;p87"/>
          <p:cNvSpPr txBox="1"/>
          <p:nvPr/>
        </p:nvSpPr>
        <p:spPr>
          <a:xfrm>
            <a:off x="221891" y="3238850"/>
            <a:ext cx="8496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mean, median and mode of this data.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7"/>
          <p:cNvSpPr txBox="1"/>
          <p:nvPr/>
        </p:nvSpPr>
        <p:spPr>
          <a:xfrm>
            <a:off x="221900" y="4310655"/>
            <a:ext cx="8598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measure of average do you think the manager should use?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7"/>
          <p:cNvSpPr txBox="1"/>
          <p:nvPr/>
        </p:nvSpPr>
        <p:spPr>
          <a:xfrm>
            <a:off x="935250" y="2602225"/>
            <a:ext cx="727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2,  3,  4,  4,  5,  5,  5,  6,  6,  7,  8,  8,  9,  9,  9,  10,  10,  12,  13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7"/>
          <p:cNvSpPr txBox="1"/>
          <p:nvPr/>
        </p:nvSpPr>
        <p:spPr>
          <a:xfrm>
            <a:off x="1358326" y="3753102"/>
            <a:ext cx="643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= 7.1        median = 7        mode = 5 and 9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87"/>
          <p:cNvSpPr txBox="1"/>
          <p:nvPr/>
        </p:nvSpPr>
        <p:spPr>
          <a:xfrm>
            <a:off x="220975" y="1066800"/>
            <a:ext cx="85980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manager is planning how many pairs of each size to stock. They intend to use </a:t>
            </a:r>
            <a:r>
              <a:rPr lang="en-GB" sz="1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averages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inform their decision.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32" y="1587301"/>
            <a:ext cx="6437337" cy="13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88"/>
          <p:cNvSpPr txBox="1"/>
          <p:nvPr>
            <p:ph idx="1" type="body"/>
          </p:nvPr>
        </p:nvSpPr>
        <p:spPr>
          <a:xfrm>
            <a:off x="324000" y="759300"/>
            <a:ext cx="84960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is the same data represented on a dotplot.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12" name="Google Shape;111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13" name="Google Shape;1113;p88"/>
          <p:cNvSpPr txBox="1"/>
          <p:nvPr/>
        </p:nvSpPr>
        <p:spPr>
          <a:xfrm>
            <a:off x="244760" y="3617235"/>
            <a:ext cx="8598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shape of the data shows that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in this case, was one of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least popular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shoe sizes. It would not be helpful to stock lots of size 7 shoes.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8"/>
          <p:cNvSpPr txBox="1"/>
          <p:nvPr/>
        </p:nvSpPr>
        <p:spPr>
          <a:xfrm>
            <a:off x="4834700" y="3035280"/>
            <a:ext cx="13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7.1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5" name="Google Shape;1115;p88"/>
          <p:cNvCxnSpPr/>
          <p:nvPr/>
        </p:nvCxnSpPr>
        <p:spPr>
          <a:xfrm>
            <a:off x="4420800" y="1941550"/>
            <a:ext cx="0" cy="922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16" name="Google Shape;1116;p88"/>
          <p:cNvSpPr txBox="1"/>
          <p:nvPr/>
        </p:nvSpPr>
        <p:spPr>
          <a:xfrm>
            <a:off x="3876730" y="1110480"/>
            <a:ext cx="9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8"/>
          <p:cNvSpPr txBox="1"/>
          <p:nvPr/>
        </p:nvSpPr>
        <p:spPr>
          <a:xfrm>
            <a:off x="2937250" y="3036325"/>
            <a:ext cx="9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8" name="Google Shape;1118;p88"/>
          <p:cNvCxnSpPr/>
          <p:nvPr/>
        </p:nvCxnSpPr>
        <p:spPr>
          <a:xfrm flipH="1">
            <a:off x="3388765" y="1400530"/>
            <a:ext cx="533700" cy="35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88"/>
          <p:cNvCxnSpPr/>
          <p:nvPr/>
        </p:nvCxnSpPr>
        <p:spPr>
          <a:xfrm>
            <a:off x="4659975" y="1424150"/>
            <a:ext cx="618900" cy="35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88"/>
          <p:cNvCxnSpPr/>
          <p:nvPr/>
        </p:nvCxnSpPr>
        <p:spPr>
          <a:xfrm flipH="1">
            <a:off x="3749400" y="2394950"/>
            <a:ext cx="510300" cy="73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1" name="Google Shape;1121;p88"/>
          <p:cNvCxnSpPr/>
          <p:nvPr/>
        </p:nvCxnSpPr>
        <p:spPr>
          <a:xfrm>
            <a:off x="4429710" y="2832805"/>
            <a:ext cx="465600" cy="33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" name="Google Shape;1126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32" y="1587301"/>
            <a:ext cx="6437337" cy="13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9"/>
          <p:cNvSpPr txBox="1"/>
          <p:nvPr>
            <p:ph idx="1" type="body"/>
          </p:nvPr>
        </p:nvSpPr>
        <p:spPr>
          <a:xfrm>
            <a:off x="324000" y="759300"/>
            <a:ext cx="84960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is the same data represented on a dotplot.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28" name="Google Shape;112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29" name="Google Shape;1129;p89"/>
          <p:cNvSpPr txBox="1"/>
          <p:nvPr/>
        </p:nvSpPr>
        <p:spPr>
          <a:xfrm>
            <a:off x="244750" y="3845825"/>
            <a:ext cx="8451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mean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suggests stocking more shoes that are sizes 7 and 8, but these were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least popular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shoe sizes.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9"/>
          <p:cNvSpPr txBox="1"/>
          <p:nvPr/>
        </p:nvSpPr>
        <p:spPr>
          <a:xfrm>
            <a:off x="4834700" y="3035280"/>
            <a:ext cx="13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7.1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1" name="Google Shape;1131;p89"/>
          <p:cNvCxnSpPr/>
          <p:nvPr/>
        </p:nvCxnSpPr>
        <p:spPr>
          <a:xfrm>
            <a:off x="4420800" y="1941550"/>
            <a:ext cx="0" cy="922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2" name="Google Shape;1132;p89"/>
          <p:cNvSpPr txBox="1"/>
          <p:nvPr/>
        </p:nvSpPr>
        <p:spPr>
          <a:xfrm>
            <a:off x="3876730" y="1110480"/>
            <a:ext cx="9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9"/>
          <p:cNvSpPr txBox="1"/>
          <p:nvPr/>
        </p:nvSpPr>
        <p:spPr>
          <a:xfrm>
            <a:off x="2937250" y="3036325"/>
            <a:ext cx="9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4" name="Google Shape;1134;p89"/>
          <p:cNvCxnSpPr/>
          <p:nvPr/>
        </p:nvCxnSpPr>
        <p:spPr>
          <a:xfrm flipH="1">
            <a:off x="3388765" y="1400530"/>
            <a:ext cx="533700" cy="35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89"/>
          <p:cNvCxnSpPr/>
          <p:nvPr/>
        </p:nvCxnSpPr>
        <p:spPr>
          <a:xfrm>
            <a:off x="4659975" y="1424150"/>
            <a:ext cx="618900" cy="35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6" name="Google Shape;1136;p89"/>
          <p:cNvCxnSpPr/>
          <p:nvPr/>
        </p:nvCxnSpPr>
        <p:spPr>
          <a:xfrm flipH="1">
            <a:off x="3749400" y="2394950"/>
            <a:ext cx="510300" cy="73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89"/>
          <p:cNvCxnSpPr/>
          <p:nvPr/>
        </p:nvCxnSpPr>
        <p:spPr>
          <a:xfrm>
            <a:off x="4429710" y="2832805"/>
            <a:ext cx="465600" cy="33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2" name="Google Shape;114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3232" y="1587301"/>
            <a:ext cx="6437337" cy="135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0"/>
          <p:cNvSpPr txBox="1"/>
          <p:nvPr>
            <p:ph idx="1" type="body"/>
          </p:nvPr>
        </p:nvSpPr>
        <p:spPr>
          <a:xfrm>
            <a:off x="324000" y="759300"/>
            <a:ext cx="84960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Here is the same data represented on a dotplot.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44" name="Google Shape;1144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45" name="Google Shape;1145;p90"/>
          <p:cNvSpPr txBox="1"/>
          <p:nvPr/>
        </p:nvSpPr>
        <p:spPr>
          <a:xfrm>
            <a:off x="244750" y="3376225"/>
            <a:ext cx="84960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tell the shop manager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most typical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shoe sizes sold. This would be the most appropriate measure of average for this context.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dot plot highlights why using the median or mean could have resulted in making inappropriate decisions, in the context of this problem.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0"/>
          <p:cNvSpPr txBox="1"/>
          <p:nvPr/>
        </p:nvSpPr>
        <p:spPr>
          <a:xfrm>
            <a:off x="4834700" y="3035280"/>
            <a:ext cx="131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7.1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7" name="Google Shape;1147;p90"/>
          <p:cNvCxnSpPr/>
          <p:nvPr/>
        </p:nvCxnSpPr>
        <p:spPr>
          <a:xfrm>
            <a:off x="4420800" y="1941550"/>
            <a:ext cx="0" cy="922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48" name="Google Shape;1148;p90"/>
          <p:cNvSpPr txBox="1"/>
          <p:nvPr/>
        </p:nvSpPr>
        <p:spPr>
          <a:xfrm>
            <a:off x="3876730" y="1110480"/>
            <a:ext cx="99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modes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90"/>
          <p:cNvSpPr txBox="1"/>
          <p:nvPr/>
        </p:nvSpPr>
        <p:spPr>
          <a:xfrm>
            <a:off x="2937250" y="3036325"/>
            <a:ext cx="93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0" name="Google Shape;1150;p90"/>
          <p:cNvCxnSpPr/>
          <p:nvPr/>
        </p:nvCxnSpPr>
        <p:spPr>
          <a:xfrm flipH="1">
            <a:off x="3388765" y="1400530"/>
            <a:ext cx="533700" cy="358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90"/>
          <p:cNvCxnSpPr/>
          <p:nvPr/>
        </p:nvCxnSpPr>
        <p:spPr>
          <a:xfrm>
            <a:off x="4659975" y="1424150"/>
            <a:ext cx="618900" cy="357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90"/>
          <p:cNvCxnSpPr/>
          <p:nvPr/>
        </p:nvCxnSpPr>
        <p:spPr>
          <a:xfrm flipH="1">
            <a:off x="3749400" y="2394950"/>
            <a:ext cx="510300" cy="73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3" name="Google Shape;1153;p90"/>
          <p:cNvCxnSpPr/>
          <p:nvPr/>
        </p:nvCxnSpPr>
        <p:spPr>
          <a:xfrm>
            <a:off x="4429710" y="2832805"/>
            <a:ext cx="465600" cy="331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8" name="Google Shape;115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988" y="1892050"/>
            <a:ext cx="6428033" cy="17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91"/>
          <p:cNvSpPr txBox="1"/>
          <p:nvPr>
            <p:ph idx="1" type="body"/>
          </p:nvPr>
        </p:nvSpPr>
        <p:spPr>
          <a:xfrm>
            <a:off x="324000" y="759300"/>
            <a:ext cx="84960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company has 37 employees. The dotplot shows the salary of each employee, rounded to the nearest thousand pounds.</a:t>
            </a:r>
            <a:endParaRPr sz="1800"/>
          </a:p>
        </p:txBody>
      </p:sp>
      <p:sp>
        <p:nvSpPr>
          <p:cNvPr id="1160" name="Google Shape;1160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61" name="Google Shape;1161;p91"/>
          <p:cNvSpPr txBox="1"/>
          <p:nvPr/>
        </p:nvSpPr>
        <p:spPr>
          <a:xfrm>
            <a:off x="266700" y="3916680"/>
            <a:ext cx="882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measure of average could be used to give the impression that people are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paid well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300"/>
          </a:p>
        </p:txBody>
      </p:sp>
      <p:sp>
        <p:nvSpPr>
          <p:cNvPr id="1162" name="Google Shape;1162;p91"/>
          <p:cNvSpPr txBox="1"/>
          <p:nvPr/>
        </p:nvSpPr>
        <p:spPr>
          <a:xfrm>
            <a:off x="7275325" y="3451175"/>
            <a:ext cx="15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(£ thousands)</a:t>
            </a:r>
            <a:endParaRPr sz="1100"/>
          </a:p>
        </p:txBody>
      </p:sp>
      <p:cxnSp>
        <p:nvCxnSpPr>
          <p:cNvPr id="1163" name="Google Shape;1163;p91"/>
          <p:cNvCxnSpPr/>
          <p:nvPr/>
        </p:nvCxnSpPr>
        <p:spPr>
          <a:xfrm>
            <a:off x="2756600" y="1975830"/>
            <a:ext cx="0" cy="170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64" name="Google Shape;1164;p91"/>
          <p:cNvSpPr txBox="1"/>
          <p:nvPr/>
        </p:nvSpPr>
        <p:spPr>
          <a:xfrm>
            <a:off x="3205500" y="1564380"/>
            <a:ext cx="14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ean = 25.1</a:t>
            </a:r>
            <a:endParaRPr sz="1600"/>
          </a:p>
        </p:txBody>
      </p:sp>
      <p:sp>
        <p:nvSpPr>
          <p:cNvPr id="1165" name="Google Shape;1165;p91"/>
          <p:cNvSpPr txBox="1"/>
          <p:nvPr/>
        </p:nvSpPr>
        <p:spPr>
          <a:xfrm>
            <a:off x="1004063" y="1564400"/>
            <a:ext cx="12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 = 24</a:t>
            </a:r>
            <a:endParaRPr sz="1600"/>
          </a:p>
        </p:txBody>
      </p:sp>
      <p:cxnSp>
        <p:nvCxnSpPr>
          <p:cNvPr id="1166" name="Google Shape;1166;p91"/>
          <p:cNvCxnSpPr/>
          <p:nvPr/>
        </p:nvCxnSpPr>
        <p:spPr>
          <a:xfrm>
            <a:off x="2131805" y="1838670"/>
            <a:ext cx="258900" cy="1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91"/>
          <p:cNvCxnSpPr/>
          <p:nvPr/>
        </p:nvCxnSpPr>
        <p:spPr>
          <a:xfrm flipH="1" rot="10800000">
            <a:off x="2810005" y="1823400"/>
            <a:ext cx="457200" cy="16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8" name="Google Shape;1168;p91"/>
          <p:cNvSpPr txBox="1"/>
          <p:nvPr/>
        </p:nvSpPr>
        <p:spPr>
          <a:xfrm>
            <a:off x="324002" y="2097800"/>
            <a:ext cx="139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24</a:t>
            </a:r>
            <a:endParaRPr sz="1600"/>
          </a:p>
        </p:txBody>
      </p:sp>
      <p:cxnSp>
        <p:nvCxnSpPr>
          <p:cNvPr id="1169" name="Google Shape;1169;p91"/>
          <p:cNvCxnSpPr/>
          <p:nvPr/>
        </p:nvCxnSpPr>
        <p:spPr>
          <a:xfrm>
            <a:off x="1637450" y="2408800"/>
            <a:ext cx="760500" cy="25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91"/>
          <p:cNvSpPr txBox="1"/>
          <p:nvPr/>
        </p:nvSpPr>
        <p:spPr>
          <a:xfrm>
            <a:off x="3656751" y="4320000"/>
            <a:ext cx="846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988" y="1892050"/>
            <a:ext cx="6428033" cy="17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2"/>
          <p:cNvSpPr txBox="1"/>
          <p:nvPr>
            <p:ph idx="1" type="body"/>
          </p:nvPr>
        </p:nvSpPr>
        <p:spPr>
          <a:xfrm>
            <a:off x="324000" y="759300"/>
            <a:ext cx="84960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company has 37 employees. The dotplot</a:t>
            </a:r>
            <a:r>
              <a:rPr lang="en-GB" sz="1800"/>
              <a:t> shows the salary </a:t>
            </a:r>
            <a:r>
              <a:rPr lang="en-GB" sz="1800"/>
              <a:t>of each employee, rounded to the nearest thousand pounds.</a:t>
            </a:r>
            <a:endParaRPr sz="1800"/>
          </a:p>
        </p:txBody>
      </p:sp>
      <p:sp>
        <p:nvSpPr>
          <p:cNvPr id="1177" name="Google Shape;117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78" name="Google Shape;1178;p92"/>
          <p:cNvSpPr txBox="1"/>
          <p:nvPr/>
        </p:nvSpPr>
        <p:spPr>
          <a:xfrm>
            <a:off x="266700" y="3916680"/>
            <a:ext cx="8820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measure of average could be used to give the impression that people are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paid less well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300"/>
          </a:p>
        </p:txBody>
      </p:sp>
      <p:sp>
        <p:nvSpPr>
          <p:cNvPr id="1179" name="Google Shape;1179;p92"/>
          <p:cNvSpPr txBox="1"/>
          <p:nvPr/>
        </p:nvSpPr>
        <p:spPr>
          <a:xfrm>
            <a:off x="7275325" y="3451175"/>
            <a:ext cx="154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(£ thousands)</a:t>
            </a:r>
            <a:endParaRPr sz="1100"/>
          </a:p>
        </p:txBody>
      </p:sp>
      <p:cxnSp>
        <p:nvCxnSpPr>
          <p:cNvPr id="1180" name="Google Shape;1180;p92"/>
          <p:cNvCxnSpPr/>
          <p:nvPr/>
        </p:nvCxnSpPr>
        <p:spPr>
          <a:xfrm>
            <a:off x="2685600" y="1975830"/>
            <a:ext cx="0" cy="170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81" name="Google Shape;1181;p92"/>
          <p:cNvSpPr txBox="1"/>
          <p:nvPr/>
        </p:nvSpPr>
        <p:spPr>
          <a:xfrm>
            <a:off x="3134500" y="1564380"/>
            <a:ext cx="14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25.1</a:t>
            </a:r>
            <a:endParaRPr sz="1600"/>
          </a:p>
        </p:txBody>
      </p:sp>
      <p:sp>
        <p:nvSpPr>
          <p:cNvPr id="1182" name="Google Shape;1182;p92"/>
          <p:cNvSpPr txBox="1"/>
          <p:nvPr/>
        </p:nvSpPr>
        <p:spPr>
          <a:xfrm>
            <a:off x="1004063" y="1564400"/>
            <a:ext cx="12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 = 24</a:t>
            </a:r>
            <a:endParaRPr sz="1600"/>
          </a:p>
        </p:txBody>
      </p:sp>
      <p:cxnSp>
        <p:nvCxnSpPr>
          <p:cNvPr id="1183" name="Google Shape;1183;p92"/>
          <p:cNvCxnSpPr/>
          <p:nvPr/>
        </p:nvCxnSpPr>
        <p:spPr>
          <a:xfrm>
            <a:off x="2131805" y="1838670"/>
            <a:ext cx="258900" cy="1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92"/>
          <p:cNvCxnSpPr/>
          <p:nvPr/>
        </p:nvCxnSpPr>
        <p:spPr>
          <a:xfrm flipH="1" rot="10800000">
            <a:off x="2739005" y="1823400"/>
            <a:ext cx="457200" cy="161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5" name="Google Shape;1185;p92"/>
          <p:cNvSpPr txBox="1"/>
          <p:nvPr/>
        </p:nvSpPr>
        <p:spPr>
          <a:xfrm>
            <a:off x="324002" y="2097800"/>
            <a:ext cx="139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= 24</a:t>
            </a:r>
            <a:endParaRPr sz="1600"/>
          </a:p>
        </p:txBody>
      </p:sp>
      <p:cxnSp>
        <p:nvCxnSpPr>
          <p:cNvPr id="1186" name="Google Shape;1186;p92"/>
          <p:cNvCxnSpPr/>
          <p:nvPr/>
        </p:nvCxnSpPr>
        <p:spPr>
          <a:xfrm>
            <a:off x="1637450" y="2408800"/>
            <a:ext cx="760500" cy="25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7" name="Google Shape;1187;p92"/>
          <p:cNvSpPr txBox="1"/>
          <p:nvPr/>
        </p:nvSpPr>
        <p:spPr>
          <a:xfrm>
            <a:off x="3609300" y="4320000"/>
            <a:ext cx="216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edian or mode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3"/>
          <p:cNvSpPr txBox="1"/>
          <p:nvPr>
            <p:ph type="title"/>
          </p:nvPr>
        </p:nvSpPr>
        <p:spPr>
          <a:xfrm>
            <a:off x="324000" y="748775"/>
            <a:ext cx="84720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data shows Sofia’s last 21 scores on a video game. Which average would be most useful to suggest that Sofia has </a:t>
            </a:r>
            <a:r>
              <a:rPr lang="en-GB" sz="1800">
                <a:solidFill>
                  <a:schemeClr val="accent5"/>
                </a:solidFill>
              </a:rPr>
              <a:t>scored well</a:t>
            </a:r>
            <a:r>
              <a:rPr lang="en-GB" sz="1800"/>
              <a:t>?</a:t>
            </a:r>
            <a:endParaRPr sz="2000"/>
          </a:p>
        </p:txBody>
      </p:sp>
      <p:sp>
        <p:nvSpPr>
          <p:cNvPr id="1193" name="Google Shape;1193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194" name="Google Shape;1194;p93"/>
          <p:cNvSpPr txBox="1"/>
          <p:nvPr>
            <p:ph idx="1" type="subTitle"/>
          </p:nvPr>
        </p:nvSpPr>
        <p:spPr>
          <a:xfrm>
            <a:off x="1034425" y="18377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1195" name="Google Shape;1195;p93"/>
          <p:cNvSpPr txBox="1"/>
          <p:nvPr>
            <p:ph idx="3" type="subTitle"/>
          </p:nvPr>
        </p:nvSpPr>
        <p:spPr>
          <a:xfrm>
            <a:off x="1034425" y="2794250"/>
            <a:ext cx="123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1196" name="Google Shape;1196;p93"/>
          <p:cNvSpPr txBox="1"/>
          <p:nvPr>
            <p:ph idx="4" type="subTitle"/>
          </p:nvPr>
        </p:nvSpPr>
        <p:spPr>
          <a:xfrm>
            <a:off x="1034425" y="37669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pic>
        <p:nvPicPr>
          <p:cNvPr id="1197" name="Google Shape;1197;p93"/>
          <p:cNvPicPr preferRelativeResize="0"/>
          <p:nvPr/>
        </p:nvPicPr>
        <p:blipFill rotWithShape="1">
          <a:blip r:embed="rId3">
            <a:alphaModFix/>
          </a:blip>
          <a:srcRect b="0" l="1630" r="4639" t="0"/>
          <a:stretch/>
        </p:blipFill>
        <p:spPr>
          <a:xfrm>
            <a:off x="2811000" y="3142325"/>
            <a:ext cx="5433950" cy="166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8" name="Google Shape;1198;p93"/>
          <p:cNvCxnSpPr/>
          <p:nvPr/>
        </p:nvCxnSpPr>
        <p:spPr>
          <a:xfrm>
            <a:off x="6970460" y="3318875"/>
            <a:ext cx="0" cy="158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99" name="Google Shape;1199;p93"/>
          <p:cNvSpPr txBox="1"/>
          <p:nvPr/>
        </p:nvSpPr>
        <p:spPr>
          <a:xfrm>
            <a:off x="4258527" y="2396544"/>
            <a:ext cx="14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52.3</a:t>
            </a:r>
            <a:endParaRPr sz="1600"/>
          </a:p>
        </p:txBody>
      </p:sp>
      <p:sp>
        <p:nvSpPr>
          <p:cNvPr id="1200" name="Google Shape;1200;p93"/>
          <p:cNvSpPr txBox="1"/>
          <p:nvPr/>
        </p:nvSpPr>
        <p:spPr>
          <a:xfrm>
            <a:off x="7625838" y="2394950"/>
            <a:ext cx="12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 = 54</a:t>
            </a:r>
            <a:endParaRPr sz="1600"/>
          </a:p>
        </p:txBody>
      </p:sp>
      <p:cxnSp>
        <p:nvCxnSpPr>
          <p:cNvPr id="1201" name="Google Shape;1201;p93"/>
          <p:cNvCxnSpPr/>
          <p:nvPr/>
        </p:nvCxnSpPr>
        <p:spPr>
          <a:xfrm>
            <a:off x="4907375" y="2729825"/>
            <a:ext cx="2063100" cy="92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2" name="Google Shape;1202;p93"/>
          <p:cNvCxnSpPr/>
          <p:nvPr/>
        </p:nvCxnSpPr>
        <p:spPr>
          <a:xfrm flipH="1" rot="10800000">
            <a:off x="7612085" y="2724150"/>
            <a:ext cx="294000" cy="56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Google Shape;1203;p93"/>
          <p:cNvSpPr txBox="1"/>
          <p:nvPr/>
        </p:nvSpPr>
        <p:spPr>
          <a:xfrm>
            <a:off x="5965332" y="2396550"/>
            <a:ext cx="139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= 53</a:t>
            </a:r>
            <a:endParaRPr sz="1600"/>
          </a:p>
        </p:txBody>
      </p:sp>
      <p:cxnSp>
        <p:nvCxnSpPr>
          <p:cNvPr id="1204" name="Google Shape;1204;p93"/>
          <p:cNvCxnSpPr/>
          <p:nvPr/>
        </p:nvCxnSpPr>
        <p:spPr>
          <a:xfrm>
            <a:off x="6773475" y="2726025"/>
            <a:ext cx="514800" cy="76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05" name="Google Shape;120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983" y="3696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9308" y="1523021"/>
            <a:ext cx="652817" cy="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4"/>
          <p:cNvSpPr txBox="1"/>
          <p:nvPr>
            <p:ph type="title"/>
          </p:nvPr>
        </p:nvSpPr>
        <p:spPr>
          <a:xfrm>
            <a:off x="324000" y="748775"/>
            <a:ext cx="8472000" cy="72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data shows Sofia’s last 21 scores on a video game. Which average would be most useful to suggest that Sofia has </a:t>
            </a:r>
            <a:r>
              <a:rPr lang="en-GB" sz="1800">
                <a:solidFill>
                  <a:schemeClr val="accent5"/>
                </a:solidFill>
              </a:rPr>
              <a:t>not scored well</a:t>
            </a:r>
            <a:r>
              <a:rPr lang="en-GB" sz="1800"/>
              <a:t>?</a:t>
            </a:r>
            <a:endParaRPr sz="2000"/>
          </a:p>
        </p:txBody>
      </p:sp>
      <p:sp>
        <p:nvSpPr>
          <p:cNvPr id="1212" name="Google Shape;1212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213" name="Google Shape;1213;p94"/>
          <p:cNvSpPr txBox="1"/>
          <p:nvPr>
            <p:ph idx="1" type="subTitle"/>
          </p:nvPr>
        </p:nvSpPr>
        <p:spPr>
          <a:xfrm>
            <a:off x="1034425" y="18377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mean</a:t>
            </a:r>
            <a:endParaRPr/>
          </a:p>
        </p:txBody>
      </p:sp>
      <p:sp>
        <p:nvSpPr>
          <p:cNvPr id="1214" name="Google Shape;1214;p94"/>
          <p:cNvSpPr txBox="1"/>
          <p:nvPr>
            <p:ph idx="3" type="subTitle"/>
          </p:nvPr>
        </p:nvSpPr>
        <p:spPr>
          <a:xfrm>
            <a:off x="1034425" y="2794250"/>
            <a:ext cx="123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median</a:t>
            </a:r>
            <a:endParaRPr/>
          </a:p>
        </p:txBody>
      </p:sp>
      <p:sp>
        <p:nvSpPr>
          <p:cNvPr id="1215" name="Google Shape;1215;p94"/>
          <p:cNvSpPr txBox="1"/>
          <p:nvPr>
            <p:ph idx="4" type="subTitle"/>
          </p:nvPr>
        </p:nvSpPr>
        <p:spPr>
          <a:xfrm>
            <a:off x="1034425" y="3766975"/>
            <a:ext cx="90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</a:t>
            </a:r>
            <a:endParaRPr/>
          </a:p>
        </p:txBody>
      </p:sp>
      <p:pic>
        <p:nvPicPr>
          <p:cNvPr id="1216" name="Google Shape;1216;p94"/>
          <p:cNvPicPr preferRelativeResize="0"/>
          <p:nvPr/>
        </p:nvPicPr>
        <p:blipFill rotWithShape="1">
          <a:blip r:embed="rId3">
            <a:alphaModFix/>
          </a:blip>
          <a:srcRect b="0" l="1630" r="4639" t="0"/>
          <a:stretch/>
        </p:blipFill>
        <p:spPr>
          <a:xfrm>
            <a:off x="2811000" y="3142325"/>
            <a:ext cx="5433950" cy="166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7" name="Google Shape;1217;p94"/>
          <p:cNvCxnSpPr/>
          <p:nvPr/>
        </p:nvCxnSpPr>
        <p:spPr>
          <a:xfrm>
            <a:off x="6970460" y="3318875"/>
            <a:ext cx="0" cy="1583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8" name="Google Shape;1218;p94"/>
          <p:cNvSpPr txBox="1"/>
          <p:nvPr/>
        </p:nvSpPr>
        <p:spPr>
          <a:xfrm>
            <a:off x="4258527" y="2396544"/>
            <a:ext cx="1495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mean = 52.3</a:t>
            </a:r>
            <a:endParaRPr sz="1600"/>
          </a:p>
        </p:txBody>
      </p:sp>
      <p:sp>
        <p:nvSpPr>
          <p:cNvPr id="1219" name="Google Shape;1219;p94"/>
          <p:cNvSpPr txBox="1"/>
          <p:nvPr/>
        </p:nvSpPr>
        <p:spPr>
          <a:xfrm>
            <a:off x="7625838" y="2394950"/>
            <a:ext cx="1250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mode = 54</a:t>
            </a:r>
            <a:endParaRPr sz="1600"/>
          </a:p>
        </p:txBody>
      </p:sp>
      <p:cxnSp>
        <p:nvCxnSpPr>
          <p:cNvPr id="1220" name="Google Shape;1220;p94"/>
          <p:cNvCxnSpPr/>
          <p:nvPr/>
        </p:nvCxnSpPr>
        <p:spPr>
          <a:xfrm>
            <a:off x="4907375" y="2729825"/>
            <a:ext cx="2063100" cy="92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94"/>
          <p:cNvCxnSpPr/>
          <p:nvPr/>
        </p:nvCxnSpPr>
        <p:spPr>
          <a:xfrm flipH="1" rot="10800000">
            <a:off x="7612085" y="2724150"/>
            <a:ext cx="294000" cy="560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94"/>
          <p:cNvSpPr txBox="1"/>
          <p:nvPr/>
        </p:nvSpPr>
        <p:spPr>
          <a:xfrm>
            <a:off x="5965332" y="2396550"/>
            <a:ext cx="139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median = 53</a:t>
            </a:r>
            <a:endParaRPr sz="1600"/>
          </a:p>
        </p:txBody>
      </p:sp>
      <p:cxnSp>
        <p:nvCxnSpPr>
          <p:cNvPr id="1223" name="Google Shape;1223;p94"/>
          <p:cNvCxnSpPr/>
          <p:nvPr/>
        </p:nvCxnSpPr>
        <p:spPr>
          <a:xfrm>
            <a:off x="6773475" y="2726025"/>
            <a:ext cx="514800" cy="763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24" name="Google Shape;1224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1983" y="17915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39308" y="1523021"/>
            <a:ext cx="652817" cy="7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5"/>
          <p:cNvSpPr txBox="1"/>
          <p:nvPr>
            <p:ph idx="1" type="body"/>
          </p:nvPr>
        </p:nvSpPr>
        <p:spPr>
          <a:xfrm>
            <a:off x="324000" y="759300"/>
            <a:ext cx="82377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table contains data from The Met Office about the weather in Cambridge in </a:t>
            </a:r>
            <a:br>
              <a:rPr lang="en-GB" sz="1600"/>
            </a:br>
            <a:r>
              <a:rPr lang="en-GB" sz="1600"/>
              <a:t>    2004. It shows the number of days in each month where there was frost.</a:t>
            </a:r>
            <a:endParaRPr sz="1600"/>
          </a:p>
        </p:txBody>
      </p:sp>
      <p:sp>
        <p:nvSpPr>
          <p:cNvPr id="1231" name="Google Shape;1231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graphicFrame>
        <p:nvGraphicFramePr>
          <p:cNvPr id="1232" name="Google Shape;1232;p95"/>
          <p:cNvGraphicFramePr/>
          <p:nvPr/>
        </p:nvGraphicFramePr>
        <p:xfrm>
          <a:off x="391663" y="14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{CA8273B6-345B-48E0-A3EC-145A30B00309}</a:tableStyleId>
              </a:tblPr>
              <a:tblGrid>
                <a:gridCol w="95962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  <a:gridCol w="622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onth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no. days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33" name="Google Shape;1233;p95"/>
          <p:cNvSpPr txBox="1"/>
          <p:nvPr>
            <p:ph idx="1" type="body"/>
          </p:nvPr>
        </p:nvSpPr>
        <p:spPr>
          <a:xfrm>
            <a:off x="324000" y="257175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</a:t>
            </a:r>
            <a:r>
              <a:rPr lang="en-GB" sz="1600"/>
              <a:t>) Find the mean number of days of frost in a month, giving your answer to 2 decimal places.</a:t>
            </a:r>
            <a:endParaRPr sz="1600"/>
          </a:p>
        </p:txBody>
      </p:sp>
      <p:sp>
        <p:nvSpPr>
          <p:cNvPr id="1234" name="Google Shape;1234;p95"/>
          <p:cNvSpPr txBox="1"/>
          <p:nvPr>
            <p:ph idx="1" type="body"/>
          </p:nvPr>
        </p:nvSpPr>
        <p:spPr>
          <a:xfrm>
            <a:off x="324000" y="31720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Find the median </a:t>
            </a:r>
            <a:r>
              <a:rPr lang="en-GB" sz="1600"/>
              <a:t>number of days of frost in a month</a:t>
            </a:r>
            <a:r>
              <a:rPr lang="en-GB" sz="1600"/>
              <a:t>.</a:t>
            </a:r>
            <a:endParaRPr sz="1600"/>
          </a:p>
        </p:txBody>
      </p:sp>
      <p:sp>
        <p:nvSpPr>
          <p:cNvPr id="1235" name="Google Shape;1235;p95"/>
          <p:cNvSpPr txBox="1"/>
          <p:nvPr>
            <p:ph idx="1" type="body"/>
          </p:nvPr>
        </p:nvSpPr>
        <p:spPr>
          <a:xfrm>
            <a:off x="324000" y="3595775"/>
            <a:ext cx="3051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) Find the mode.</a:t>
            </a:r>
            <a:endParaRPr sz="1600"/>
          </a:p>
        </p:txBody>
      </p:sp>
      <p:sp>
        <p:nvSpPr>
          <p:cNvPr id="1236" name="Google Shape;1236;p95"/>
          <p:cNvSpPr txBox="1"/>
          <p:nvPr>
            <p:ph idx="1" type="body"/>
          </p:nvPr>
        </p:nvSpPr>
        <p:spPr>
          <a:xfrm>
            <a:off x="324000" y="4019550"/>
            <a:ext cx="8496000" cy="6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Which measure of average would be the least useful for describing the amount of </a:t>
            </a:r>
            <a:br>
              <a:rPr lang="en-GB" sz="1600"/>
            </a:br>
            <a:r>
              <a:rPr lang="en-GB" sz="1600"/>
              <a:t>    frost that could be expected during a typical month in Cambridge? Explain why.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96"/>
          <p:cNvSpPr txBox="1"/>
          <p:nvPr>
            <p:ph idx="1" type="body"/>
          </p:nvPr>
        </p:nvSpPr>
        <p:spPr>
          <a:xfrm>
            <a:off x="324000" y="759300"/>
            <a:ext cx="8237700" cy="6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) A </a:t>
            </a:r>
            <a:r>
              <a:rPr lang="en-GB" sz="1600"/>
              <a:t>homeowner</a:t>
            </a:r>
            <a:r>
              <a:rPr lang="en-GB" sz="1600"/>
              <a:t> is selling their house. The data below shows the prices for the last </a:t>
            </a:r>
            <a:br>
              <a:rPr lang="en-GB" sz="1600"/>
            </a:br>
            <a:r>
              <a:rPr lang="en-GB" sz="1600"/>
              <a:t>    five houses that were sold on the same street.</a:t>
            </a:r>
            <a:endParaRPr sz="1600"/>
          </a:p>
        </p:txBody>
      </p:sp>
      <p:sp>
        <p:nvSpPr>
          <p:cNvPr id="1242" name="Google Shape;1242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243" name="Google Shape;1243;p96"/>
          <p:cNvSpPr txBox="1"/>
          <p:nvPr>
            <p:ph idx="1" type="body"/>
          </p:nvPr>
        </p:nvSpPr>
        <p:spPr>
          <a:xfrm>
            <a:off x="1158545" y="1620000"/>
            <a:ext cx="68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£150 000          £350 000          £360 000          £350 000          £210 000</a:t>
            </a:r>
            <a:endParaRPr sz="1600"/>
          </a:p>
        </p:txBody>
      </p:sp>
      <p:sp>
        <p:nvSpPr>
          <p:cNvPr id="1244" name="Google Shape;1244;p96"/>
          <p:cNvSpPr txBox="1"/>
          <p:nvPr>
            <p:ph idx="1" type="body"/>
          </p:nvPr>
        </p:nvSpPr>
        <p:spPr>
          <a:xfrm>
            <a:off x="324000" y="2183125"/>
            <a:ext cx="4354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Find the mean and median house price.</a:t>
            </a:r>
            <a:endParaRPr sz="1600"/>
          </a:p>
        </p:txBody>
      </p:sp>
      <p:sp>
        <p:nvSpPr>
          <p:cNvPr id="1245" name="Google Shape;1245;p96"/>
          <p:cNvSpPr txBox="1"/>
          <p:nvPr>
            <p:ph idx="1" type="body"/>
          </p:nvPr>
        </p:nvSpPr>
        <p:spPr>
          <a:xfrm>
            <a:off x="331450" y="2746244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</a:t>
            </a:r>
            <a:r>
              <a:rPr lang="en-GB" sz="1600"/>
              <a:t>) Which average s</a:t>
            </a:r>
            <a:r>
              <a:rPr lang="en-GB" sz="1600"/>
              <a:t>uggests</a:t>
            </a:r>
            <a:r>
              <a:rPr lang="en-GB" sz="1600"/>
              <a:t> </a:t>
            </a:r>
            <a:r>
              <a:rPr lang="en-GB" sz="1600"/>
              <a:t>that </a:t>
            </a:r>
            <a:r>
              <a:rPr lang="en-GB" sz="1600"/>
              <a:t>houses here are worth more money?</a:t>
            </a:r>
            <a:endParaRPr sz="1600"/>
          </a:p>
        </p:txBody>
      </p:sp>
      <p:sp>
        <p:nvSpPr>
          <p:cNvPr id="1246" name="Google Shape;1246;p96"/>
          <p:cNvSpPr txBox="1"/>
          <p:nvPr>
            <p:ph idx="1" type="body"/>
          </p:nvPr>
        </p:nvSpPr>
        <p:spPr>
          <a:xfrm>
            <a:off x="324000" y="3314438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Which average suggests that houses here are worth less money?</a:t>
            </a:r>
            <a:endParaRPr sz="1600"/>
          </a:p>
        </p:txBody>
      </p:sp>
      <p:sp>
        <p:nvSpPr>
          <p:cNvPr id="1247" name="Google Shape;1247;p96"/>
          <p:cNvSpPr txBox="1"/>
          <p:nvPr>
            <p:ph idx="1" type="body"/>
          </p:nvPr>
        </p:nvSpPr>
        <p:spPr>
          <a:xfrm>
            <a:off x="324000" y="3882657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</a:t>
            </a:r>
            <a:r>
              <a:rPr lang="en-GB" sz="1600"/>
              <a:t>) Which average </a:t>
            </a:r>
            <a:r>
              <a:rPr lang="en-GB" sz="1600"/>
              <a:t>might the seller prefer to use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248" name="Google Shape;1248;p96"/>
          <p:cNvSpPr txBox="1"/>
          <p:nvPr>
            <p:ph idx="1" type="body"/>
          </p:nvPr>
        </p:nvSpPr>
        <p:spPr>
          <a:xfrm>
            <a:off x="324000" y="4450851"/>
            <a:ext cx="84960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</a:t>
            </a:r>
            <a:r>
              <a:rPr lang="en-GB" sz="1600"/>
              <a:t>) Which average might the buyer prefer to use?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1) The table contains data from The Met Office about the weather in Cambridge in </a:t>
            </a:r>
            <a:br>
              <a:rPr lang="en-GB" sz="1600"/>
            </a:br>
            <a:r>
              <a:rPr lang="en-GB" sz="1600"/>
              <a:t>    2004. It shows the number of days in each month where there was frost.</a:t>
            </a:r>
            <a:endParaRPr sz="1600"/>
          </a:p>
        </p:txBody>
      </p:sp>
      <p:sp>
        <p:nvSpPr>
          <p:cNvPr id="1254" name="Google Shape;1254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graphicFrame>
        <p:nvGraphicFramePr>
          <p:cNvPr id="1255" name="Google Shape;1255;p97"/>
          <p:cNvGraphicFramePr/>
          <p:nvPr/>
        </p:nvGraphicFramePr>
        <p:xfrm>
          <a:off x="323938" y="145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{CA8273B6-345B-48E0-A3EC-145A30B00309}</a:tableStyleId>
              </a:tblPr>
              <a:tblGrid>
                <a:gridCol w="967950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no. days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6" name="Google Shape;1256;p97"/>
          <p:cNvSpPr txBox="1"/>
          <p:nvPr>
            <p:ph idx="1" type="body"/>
          </p:nvPr>
        </p:nvSpPr>
        <p:spPr>
          <a:xfrm>
            <a:off x="324000" y="2571750"/>
            <a:ext cx="5932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a) Find the mean, giving your answer to 2 decimal places.</a:t>
            </a:r>
            <a:endParaRPr sz="1600"/>
          </a:p>
        </p:txBody>
      </p:sp>
      <p:sp>
        <p:nvSpPr>
          <p:cNvPr id="1257" name="Google Shape;1257;p97"/>
          <p:cNvSpPr txBox="1"/>
          <p:nvPr>
            <p:ph idx="1" type="body"/>
          </p:nvPr>
        </p:nvSpPr>
        <p:spPr>
          <a:xfrm>
            <a:off x="324000" y="3054350"/>
            <a:ext cx="3051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Find the median.</a:t>
            </a:r>
            <a:endParaRPr sz="1600"/>
          </a:p>
        </p:txBody>
      </p:sp>
      <p:sp>
        <p:nvSpPr>
          <p:cNvPr id="1258" name="Google Shape;1258;p97"/>
          <p:cNvSpPr txBox="1"/>
          <p:nvPr>
            <p:ph idx="1" type="body"/>
          </p:nvPr>
        </p:nvSpPr>
        <p:spPr>
          <a:xfrm>
            <a:off x="324000" y="3536950"/>
            <a:ext cx="3051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Find the mode.</a:t>
            </a:r>
            <a:endParaRPr sz="1600"/>
          </a:p>
        </p:txBody>
      </p:sp>
      <p:sp>
        <p:nvSpPr>
          <p:cNvPr id="1259" name="Google Shape;1259;p97"/>
          <p:cNvSpPr txBox="1"/>
          <p:nvPr/>
        </p:nvSpPr>
        <p:spPr>
          <a:xfrm>
            <a:off x="6158425" y="2433090"/>
            <a:ext cx="68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2.75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97"/>
          <p:cNvSpPr txBox="1"/>
          <p:nvPr/>
        </p:nvSpPr>
        <p:spPr>
          <a:xfrm>
            <a:off x="2272225" y="2920770"/>
            <a:ext cx="41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1" name="Google Shape;1261;p97"/>
          <p:cNvSpPr txBox="1"/>
          <p:nvPr/>
        </p:nvSpPr>
        <p:spPr>
          <a:xfrm>
            <a:off x="2081725" y="3423690"/>
            <a:ext cx="41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267" name="Google Shape;1267;p98"/>
          <p:cNvSpPr txBox="1"/>
          <p:nvPr>
            <p:ph idx="1" type="body"/>
          </p:nvPr>
        </p:nvSpPr>
        <p:spPr>
          <a:xfrm>
            <a:off x="324000" y="1939290"/>
            <a:ext cx="8496000" cy="6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Which measure of average would be the least useful for describing the amount of </a:t>
            </a:r>
            <a:br>
              <a:rPr lang="en-GB" sz="1600"/>
            </a:br>
            <a:r>
              <a:rPr lang="en-GB" sz="1600"/>
              <a:t>    frost that could be expected during a typical month in Cambridge? Explain why.</a:t>
            </a:r>
            <a:endParaRPr sz="1600"/>
          </a:p>
        </p:txBody>
      </p:sp>
      <p:sp>
        <p:nvSpPr>
          <p:cNvPr id="1268" name="Google Shape;1268;p98"/>
          <p:cNvSpPr txBox="1"/>
          <p:nvPr/>
        </p:nvSpPr>
        <p:spPr>
          <a:xfrm>
            <a:off x="541850" y="2650490"/>
            <a:ext cx="8237700" cy="13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would suggest that each month typically has 2-3 days of frost, but most months do not have any frost.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69" name="Google Shape;1269;p98"/>
          <p:cNvGraphicFramePr/>
          <p:nvPr/>
        </p:nvGraphicFramePr>
        <p:xfrm>
          <a:off x="323938" y="84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{CA8273B6-345B-48E0-A3EC-145A30B00309}</a:tableStyleId>
              </a:tblPr>
              <a:tblGrid>
                <a:gridCol w="967950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  <a:gridCol w="62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Jul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Sep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Nov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Dec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no. days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2) A homeowner is selling their house. The data below shows the prices for the last </a:t>
            </a:r>
            <a:br>
              <a:rPr lang="en-GB" sz="1600"/>
            </a:br>
            <a:r>
              <a:rPr lang="en-GB" sz="1600"/>
              <a:t>    five houses that were sold on the same street.</a:t>
            </a:r>
            <a:endParaRPr sz="1600"/>
          </a:p>
        </p:txBody>
      </p:sp>
      <p:sp>
        <p:nvSpPr>
          <p:cNvPr id="1275" name="Google Shape;1275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statistical measures based on the context</a:t>
            </a:r>
            <a:endParaRPr/>
          </a:p>
        </p:txBody>
      </p:sp>
      <p:sp>
        <p:nvSpPr>
          <p:cNvPr id="1276" name="Google Shape;1276;p99"/>
          <p:cNvSpPr txBox="1"/>
          <p:nvPr>
            <p:ph idx="1" type="body"/>
          </p:nvPr>
        </p:nvSpPr>
        <p:spPr>
          <a:xfrm>
            <a:off x="1158545" y="1620000"/>
            <a:ext cx="68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£150 000          £350 000          £360 000          £350 000          £210 000</a:t>
            </a:r>
            <a:endParaRPr sz="1600"/>
          </a:p>
        </p:txBody>
      </p:sp>
      <p:sp>
        <p:nvSpPr>
          <p:cNvPr id="1277" name="Google Shape;1277;p99"/>
          <p:cNvSpPr txBox="1"/>
          <p:nvPr>
            <p:ph idx="1" type="body"/>
          </p:nvPr>
        </p:nvSpPr>
        <p:spPr>
          <a:xfrm>
            <a:off x="324000" y="2183125"/>
            <a:ext cx="4354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a) Find the mean and median house price.</a:t>
            </a:r>
            <a:endParaRPr sz="1600"/>
          </a:p>
        </p:txBody>
      </p:sp>
      <p:sp>
        <p:nvSpPr>
          <p:cNvPr id="1278" name="Google Shape;1278;p99"/>
          <p:cNvSpPr txBox="1"/>
          <p:nvPr>
            <p:ph idx="1" type="body"/>
          </p:nvPr>
        </p:nvSpPr>
        <p:spPr>
          <a:xfrm>
            <a:off x="324000" y="2933344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b) Which average suggests that houses here are worth more money?</a:t>
            </a:r>
            <a:endParaRPr sz="1600"/>
          </a:p>
        </p:txBody>
      </p:sp>
      <p:sp>
        <p:nvSpPr>
          <p:cNvPr id="1279" name="Google Shape;1279;p99"/>
          <p:cNvSpPr txBox="1"/>
          <p:nvPr>
            <p:ph idx="1" type="body"/>
          </p:nvPr>
        </p:nvSpPr>
        <p:spPr>
          <a:xfrm>
            <a:off x="331450" y="3580663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c) Which average suggests that houses here are worth less money?</a:t>
            </a:r>
            <a:endParaRPr sz="1600"/>
          </a:p>
        </p:txBody>
      </p:sp>
      <p:sp>
        <p:nvSpPr>
          <p:cNvPr id="1280" name="Google Shape;1280;p99"/>
          <p:cNvSpPr txBox="1"/>
          <p:nvPr>
            <p:ph idx="1" type="body"/>
          </p:nvPr>
        </p:nvSpPr>
        <p:spPr>
          <a:xfrm>
            <a:off x="331450" y="4151782"/>
            <a:ext cx="8496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d) Which average might the seller prefer to use?</a:t>
            </a:r>
            <a:endParaRPr sz="1600"/>
          </a:p>
        </p:txBody>
      </p:sp>
      <p:sp>
        <p:nvSpPr>
          <p:cNvPr id="1281" name="Google Shape;1281;p99"/>
          <p:cNvSpPr txBox="1"/>
          <p:nvPr>
            <p:ph idx="1" type="body"/>
          </p:nvPr>
        </p:nvSpPr>
        <p:spPr>
          <a:xfrm>
            <a:off x="331450" y="4570501"/>
            <a:ext cx="84960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e) Which average might the buyer prefer to use?</a:t>
            </a:r>
            <a:endParaRPr sz="1600"/>
          </a:p>
        </p:txBody>
      </p:sp>
      <p:sp>
        <p:nvSpPr>
          <p:cNvPr id="1282" name="Google Shape;1282;p99"/>
          <p:cNvSpPr txBox="1"/>
          <p:nvPr/>
        </p:nvSpPr>
        <p:spPr>
          <a:xfrm>
            <a:off x="4762513" y="2053695"/>
            <a:ext cx="2370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mean = £284 000 </a:t>
            </a:r>
            <a:b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median = £350 000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9"/>
          <p:cNvSpPr txBox="1"/>
          <p:nvPr/>
        </p:nvSpPr>
        <p:spPr>
          <a:xfrm>
            <a:off x="7246827" y="2808175"/>
            <a:ext cx="158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he median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9"/>
          <p:cNvSpPr txBox="1"/>
          <p:nvPr/>
        </p:nvSpPr>
        <p:spPr>
          <a:xfrm>
            <a:off x="7098601" y="3479963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mean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99"/>
          <p:cNvSpPr txBox="1"/>
          <p:nvPr/>
        </p:nvSpPr>
        <p:spPr>
          <a:xfrm>
            <a:off x="5151151" y="4022638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median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99"/>
          <p:cNvSpPr txBox="1"/>
          <p:nvPr/>
        </p:nvSpPr>
        <p:spPr>
          <a:xfrm>
            <a:off x="5215976" y="4456973"/>
            <a:ext cx="146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mean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0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type of data that we are handling may mean that certain </a:t>
            </a:r>
            <a:r>
              <a:rPr lang="en-GB"/>
              <a:t>statistical</a:t>
            </a:r>
            <a:r>
              <a:rPr lang="en-GB"/>
              <a:t> measures are not appropriate.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nature of the data may mean that certain statistical measures are not appropriate.</a:t>
            </a:r>
            <a:br>
              <a:rPr lang="en-GB"/>
            </a:b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Certain </a:t>
            </a:r>
            <a:r>
              <a:rPr lang="en-GB"/>
              <a:t>statistical</a:t>
            </a:r>
            <a:r>
              <a:rPr lang="en-GB"/>
              <a:t> measures may not make sense in the context of the data.</a:t>
            </a:r>
            <a:endParaRPr/>
          </a:p>
        </p:txBody>
      </p:sp>
      <p:sp>
        <p:nvSpPr>
          <p:cNvPr id="1292" name="Google Shape;1292;p10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Statistical problems - statistical summaries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01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98" name="Google Shape;1298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