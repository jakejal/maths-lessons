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71305D-8699-4A74-8690-8485B180B0E5}">
  <a:tblStyle styleId="{C771305D-8699-4A74-8690-8485B180B0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324493f8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324493f8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324493f8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324493f8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9324493f8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9324493f8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324493f8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324493f8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9324493f8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9324493f8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401baca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401baca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9324493f87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9324493f8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9324493f8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9324493f8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324493f8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324493f8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9324493f87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9324493f8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324493f8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324493f8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9401baca4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9401baca4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324493f8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324493f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9401baca4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9401baca4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9324493f87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9324493f87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9324493f8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9324493f8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9401baca4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9401baca4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9401baca43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9401baca4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9401baca4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9401baca4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9401baca43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9401baca4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401baca43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401baca43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9324493f8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9324493f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9324493f8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9324493f8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9401baca4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9401baca4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9324493f8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9324493f8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9324493f8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9324493f8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9324493f8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9324493f8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324493f8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324493f8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9324493f8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9324493f8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29324493f8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29324493f8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9401baca4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9401baca4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9324493f8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9324493f8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9401baca43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9401baca43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9401baca43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9401baca43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9401baca43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9401baca43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9401baca43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9401baca43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9401baca43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9401baca43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9401baca43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9401baca43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83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9.png"/><Relationship Id="rId11" Type="http://schemas.openxmlformats.org/officeDocument/2006/relationships/image" Target="../media/image19.png"/><Relationship Id="rId10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9" Type="http://schemas.openxmlformats.org/officeDocument/2006/relationships/image" Target="../media/image59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Relationship Id="rId8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1.png"/><Relationship Id="rId8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62.png"/><Relationship Id="rId9" Type="http://schemas.openxmlformats.org/officeDocument/2006/relationships/image" Target="../media/image54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5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Relationship Id="rId4" Type="http://schemas.openxmlformats.org/officeDocument/2006/relationships/image" Target="../media/image58.png"/><Relationship Id="rId5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0.png"/><Relationship Id="rId4" Type="http://schemas.openxmlformats.org/officeDocument/2006/relationships/image" Target="../media/image58.png"/><Relationship Id="rId9" Type="http://schemas.openxmlformats.org/officeDocument/2006/relationships/image" Target="../media/image76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3.png"/><Relationship Id="rId8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what the median is measuring, how it is measuring it and find the median from data presented in a list.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measure of central tendency is a summary measure that attempts to describe a whole set of data with a single value that represents the middle or centre of its distribution.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4564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Data are a collection of information.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M</a:t>
            </a:r>
            <a:r>
              <a:rPr b="1" lang="en-GB"/>
              <a:t>edian </a:t>
            </a:r>
            <a:r>
              <a:rPr lang="en-GB"/>
              <a:t>- we will explore this in the lesson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778" name="Google Shape;778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</a:t>
            </a:r>
            <a:r>
              <a:rPr lang="en-GB"/>
              <a:t>the middle in large data sets </a:t>
            </a:r>
            <a:endParaRPr/>
          </a:p>
        </p:txBody>
      </p:sp>
      <p:sp>
        <p:nvSpPr>
          <p:cNvPr id="779" name="Google Shape;779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pic>
        <p:nvPicPr>
          <p:cNvPr id="780" name="Google Shape;7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52" y="205932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786" name="Google Shape;786;p70"/>
          <p:cNvSpPr txBox="1"/>
          <p:nvPr/>
        </p:nvSpPr>
        <p:spPr>
          <a:xfrm>
            <a:off x="1907150" y="2181650"/>
            <a:ext cx="120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17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70"/>
          <p:cNvSpPr txBox="1"/>
          <p:nvPr/>
        </p:nvSpPr>
        <p:spPr>
          <a:xfrm>
            <a:off x="5774400" y="221125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85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70"/>
          <p:cNvSpPr txBox="1"/>
          <p:nvPr/>
        </p:nvSpPr>
        <p:spPr>
          <a:xfrm>
            <a:off x="3796375" y="2211250"/>
            <a:ext cx="129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45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70"/>
          <p:cNvSpPr/>
          <p:nvPr/>
        </p:nvSpPr>
        <p:spPr>
          <a:xfrm>
            <a:off x="3840775" y="2406250"/>
            <a:ext cx="1206600" cy="903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number is the middle value?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796" name="Google Shape;796;p71"/>
          <p:cNvSpPr txBox="1"/>
          <p:nvPr/>
        </p:nvSpPr>
        <p:spPr>
          <a:xfrm>
            <a:off x="1907150" y="2181650"/>
            <a:ext cx="120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18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1"/>
          <p:cNvSpPr txBox="1"/>
          <p:nvPr/>
        </p:nvSpPr>
        <p:spPr>
          <a:xfrm>
            <a:off x="3796375" y="2211250"/>
            <a:ext cx="129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92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71"/>
          <p:cNvSpPr txBox="1"/>
          <p:nvPr/>
        </p:nvSpPr>
        <p:spPr>
          <a:xfrm>
            <a:off x="5774400" y="221125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63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1"/>
          <p:cNvSpPr/>
          <p:nvPr/>
        </p:nvSpPr>
        <p:spPr>
          <a:xfrm>
            <a:off x="5776004" y="2383874"/>
            <a:ext cx="1206600" cy="903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7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number is the middle value?</a:t>
            </a:r>
            <a:endParaRPr/>
          </a:p>
        </p:txBody>
      </p:sp>
      <p:sp>
        <p:nvSpPr>
          <p:cNvPr id="801" name="Google Shape;801;p71"/>
          <p:cNvSpPr txBox="1"/>
          <p:nvPr/>
        </p:nvSpPr>
        <p:spPr>
          <a:xfrm>
            <a:off x="3820338" y="3286875"/>
            <a:ext cx="143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greatest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1"/>
          <p:cNvSpPr txBox="1"/>
          <p:nvPr/>
        </p:nvSpPr>
        <p:spPr>
          <a:xfrm>
            <a:off x="1988838" y="3286875"/>
            <a:ext cx="143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least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1"/>
          <p:cNvSpPr txBox="1"/>
          <p:nvPr/>
        </p:nvSpPr>
        <p:spPr>
          <a:xfrm>
            <a:off x="5720563" y="3286875"/>
            <a:ext cx="143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middle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809" name="Google Shape;809;p72"/>
          <p:cNvSpPr txBox="1"/>
          <p:nvPr/>
        </p:nvSpPr>
        <p:spPr>
          <a:xfrm>
            <a:off x="3019650" y="1155850"/>
            <a:ext cx="120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8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2"/>
          <p:cNvSpPr txBox="1"/>
          <p:nvPr/>
        </p:nvSpPr>
        <p:spPr>
          <a:xfrm>
            <a:off x="3837250" y="3133500"/>
            <a:ext cx="129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91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2"/>
          <p:cNvSpPr txBox="1"/>
          <p:nvPr/>
        </p:nvSpPr>
        <p:spPr>
          <a:xfrm>
            <a:off x="5413200" y="244885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74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2"/>
          <p:cNvSpPr/>
          <p:nvPr/>
        </p:nvSpPr>
        <p:spPr>
          <a:xfrm>
            <a:off x="4479004" y="1350849"/>
            <a:ext cx="1206600" cy="903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2"/>
          <p:cNvSpPr txBox="1"/>
          <p:nvPr/>
        </p:nvSpPr>
        <p:spPr>
          <a:xfrm>
            <a:off x="2163000" y="2391850"/>
            <a:ext cx="120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26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2"/>
          <p:cNvSpPr txBox="1"/>
          <p:nvPr/>
        </p:nvSpPr>
        <p:spPr>
          <a:xfrm>
            <a:off x="4479000" y="1155850"/>
            <a:ext cx="129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58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number is the middle value?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3"/>
          <p:cNvSpPr txBox="1"/>
          <p:nvPr/>
        </p:nvSpPr>
        <p:spPr>
          <a:xfrm>
            <a:off x="2851125" y="334650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28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822" name="Google Shape;822;p73"/>
          <p:cNvSpPr txBox="1"/>
          <p:nvPr/>
        </p:nvSpPr>
        <p:spPr>
          <a:xfrm>
            <a:off x="1553175" y="2211250"/>
            <a:ext cx="201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82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3"/>
          <p:cNvSpPr txBox="1"/>
          <p:nvPr/>
        </p:nvSpPr>
        <p:spPr>
          <a:xfrm>
            <a:off x="3796375" y="2211250"/>
            <a:ext cx="129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22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3"/>
          <p:cNvSpPr txBox="1"/>
          <p:nvPr/>
        </p:nvSpPr>
        <p:spPr>
          <a:xfrm>
            <a:off x="2480225" y="108000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88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3"/>
          <p:cNvSpPr/>
          <p:nvPr/>
        </p:nvSpPr>
        <p:spPr>
          <a:xfrm>
            <a:off x="2887204" y="3541499"/>
            <a:ext cx="1206600" cy="903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3"/>
          <p:cNvSpPr txBox="1"/>
          <p:nvPr/>
        </p:nvSpPr>
        <p:spPr>
          <a:xfrm>
            <a:off x="5160650" y="108000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80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3"/>
          <p:cNvSpPr txBox="1"/>
          <p:nvPr/>
        </p:nvSpPr>
        <p:spPr>
          <a:xfrm>
            <a:off x="5392500" y="302700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0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/>
        </p:nvSpPr>
        <p:spPr>
          <a:xfrm>
            <a:off x="6859675" y="2053500"/>
            <a:ext cx="18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>
                <a:latin typeface="Lexend"/>
                <a:ea typeface="Lexend"/>
                <a:cs typeface="Lexend"/>
                <a:sym typeface="Lexend"/>
              </a:rPr>
              <a:t>2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number is the middle value?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4"/>
          <p:cNvSpPr txBox="1"/>
          <p:nvPr>
            <p:ph idx="1" type="body"/>
          </p:nvPr>
        </p:nvSpPr>
        <p:spPr>
          <a:xfrm>
            <a:off x="324000" y="7593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median</a:t>
            </a:r>
            <a:r>
              <a:rPr lang="en-GB"/>
              <a:t> is </a:t>
            </a:r>
            <a:r>
              <a:rPr lang="en-GB"/>
              <a:t>a type of</a:t>
            </a:r>
            <a:r>
              <a:rPr lang="en-GB"/>
              <a:t> average as such it is a measure of central tendency. </a:t>
            </a:r>
            <a:endParaRPr/>
          </a:p>
        </p:txBody>
      </p:sp>
      <p:sp>
        <p:nvSpPr>
          <p:cNvPr id="835" name="Google Shape;83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836" name="Google Shape;836;p74"/>
          <p:cNvSpPr txBox="1"/>
          <p:nvPr/>
        </p:nvSpPr>
        <p:spPr>
          <a:xfrm>
            <a:off x="324000" y="3641925"/>
            <a:ext cx="8319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central (middle) piece of data when the data are in numerical order.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4"/>
          <p:cNvSpPr txBox="1"/>
          <p:nvPr/>
        </p:nvSpPr>
        <p:spPr>
          <a:xfrm>
            <a:off x="324000" y="2048850"/>
            <a:ext cx="8409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measure of central tendency is a single value which attempts to describe the data set by finding a central value.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5"/>
          <p:cNvSpPr txBox="1"/>
          <p:nvPr>
            <p:ph idx="1" type="body"/>
          </p:nvPr>
        </p:nvSpPr>
        <p:spPr>
          <a:xfrm>
            <a:off x="324000" y="7593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seven Oak Academy pupils.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Sofia is in the middle - does she have the </a:t>
            </a:r>
            <a:r>
              <a:rPr b="1" lang="en-GB" sz="1800"/>
              <a:t>median </a:t>
            </a:r>
            <a:r>
              <a:rPr lang="en-GB" sz="1800"/>
              <a:t>height?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43" name="Google Shape;84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pic>
        <p:nvPicPr>
          <p:cNvPr id="844" name="Google Shape;84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711" y="2024158"/>
            <a:ext cx="466900" cy="1686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286" y="1761390"/>
            <a:ext cx="528200" cy="194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9161" y="1594806"/>
            <a:ext cx="644650" cy="2115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875" y="1798991"/>
            <a:ext cx="568887" cy="1911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83837" y="1525214"/>
            <a:ext cx="528200" cy="218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34486" y="1521042"/>
            <a:ext cx="644654" cy="218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65162" y="1889239"/>
            <a:ext cx="498001" cy="18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5"/>
          <p:cNvSpPr txBox="1"/>
          <p:nvPr/>
        </p:nvSpPr>
        <p:spPr>
          <a:xfrm>
            <a:off x="324000" y="4052675"/>
            <a:ext cx="84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-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needs to be representing the ‘typical’ height of the group. They need to be in height order first.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2" name="Google Shape;852;p75"/>
          <p:cNvSpPr txBox="1"/>
          <p:nvPr/>
        </p:nvSpPr>
        <p:spPr>
          <a:xfrm>
            <a:off x="-7391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5"/>
          <p:cNvSpPr txBox="1"/>
          <p:nvPr/>
        </p:nvSpPr>
        <p:spPr>
          <a:xfrm>
            <a:off x="1367800" y="35816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5"/>
          <p:cNvSpPr txBox="1"/>
          <p:nvPr/>
        </p:nvSpPr>
        <p:spPr>
          <a:xfrm>
            <a:off x="254100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5"/>
          <p:cNvSpPr txBox="1"/>
          <p:nvPr/>
        </p:nvSpPr>
        <p:spPr>
          <a:xfrm>
            <a:off x="6185103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5"/>
          <p:cNvSpPr txBox="1"/>
          <p:nvPr/>
        </p:nvSpPr>
        <p:spPr>
          <a:xfrm>
            <a:off x="3835513" y="35816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5"/>
          <p:cNvSpPr txBox="1"/>
          <p:nvPr/>
        </p:nvSpPr>
        <p:spPr>
          <a:xfrm>
            <a:off x="485576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5"/>
          <p:cNvSpPr txBox="1"/>
          <p:nvPr/>
        </p:nvSpPr>
        <p:spPr>
          <a:xfrm>
            <a:off x="7528216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6"/>
          <p:cNvSpPr txBox="1"/>
          <p:nvPr>
            <p:ph idx="1" type="body"/>
          </p:nvPr>
        </p:nvSpPr>
        <p:spPr>
          <a:xfrm>
            <a:off x="324000" y="7593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Here are seven Oak Academy pupils.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Sofia is in the middle - does she therefore have the </a:t>
            </a:r>
            <a:r>
              <a:rPr b="1" lang="en-GB" sz="1800"/>
              <a:t>median </a:t>
            </a:r>
            <a:r>
              <a:rPr lang="en-GB" sz="1800"/>
              <a:t>height? </a:t>
            </a:r>
            <a:endParaRPr sz="1800"/>
          </a:p>
        </p:txBody>
      </p:sp>
      <p:sp>
        <p:nvSpPr>
          <p:cNvPr id="864" name="Google Shape;86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pic>
        <p:nvPicPr>
          <p:cNvPr id="865" name="Google Shape;86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36" y="2026549"/>
            <a:ext cx="466900" cy="1686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3199" y="1763780"/>
            <a:ext cx="528200" cy="194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879" y="1597196"/>
            <a:ext cx="644650" cy="2115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1007" y="1527605"/>
            <a:ext cx="528200" cy="218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41686" y="1523432"/>
            <a:ext cx="644654" cy="218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0616" y="1891629"/>
            <a:ext cx="498001" cy="18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6"/>
          <p:cNvSpPr txBox="1"/>
          <p:nvPr/>
        </p:nvSpPr>
        <p:spPr>
          <a:xfrm>
            <a:off x="324000" y="4106700"/>
            <a:ext cx="84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 is now the middle and Sam’s height is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height for this group. Sam’s height is more ‘typical’.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2" name="Google Shape;872;p76"/>
          <p:cNvSpPr txBox="1"/>
          <p:nvPr/>
        </p:nvSpPr>
        <p:spPr>
          <a:xfrm>
            <a:off x="-7391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6"/>
          <p:cNvSpPr txBox="1"/>
          <p:nvPr/>
        </p:nvSpPr>
        <p:spPr>
          <a:xfrm>
            <a:off x="1367800" y="35816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6"/>
          <p:cNvSpPr txBox="1"/>
          <p:nvPr/>
        </p:nvSpPr>
        <p:spPr>
          <a:xfrm>
            <a:off x="238860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6"/>
          <p:cNvSpPr txBox="1"/>
          <p:nvPr/>
        </p:nvSpPr>
        <p:spPr>
          <a:xfrm>
            <a:off x="6337503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6"/>
          <p:cNvSpPr txBox="1"/>
          <p:nvPr/>
        </p:nvSpPr>
        <p:spPr>
          <a:xfrm>
            <a:off x="3759313" y="35816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6"/>
          <p:cNvSpPr txBox="1"/>
          <p:nvPr/>
        </p:nvSpPr>
        <p:spPr>
          <a:xfrm>
            <a:off x="4931969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6"/>
          <p:cNvSpPr txBox="1"/>
          <p:nvPr/>
        </p:nvSpPr>
        <p:spPr>
          <a:xfrm>
            <a:off x="7528216" y="3581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47153" y="1801382"/>
            <a:ext cx="568887" cy="1911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7"/>
          <p:cNvSpPr txBox="1"/>
          <p:nvPr>
            <p:ph idx="1" type="body"/>
          </p:nvPr>
        </p:nvSpPr>
        <p:spPr>
          <a:xfrm>
            <a:off x="324000" y="759300"/>
            <a:ext cx="82377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has Sam done wrong?</a:t>
            </a:r>
            <a:endParaRPr/>
          </a:p>
        </p:txBody>
      </p:sp>
      <p:sp>
        <p:nvSpPr>
          <p:cNvPr id="885" name="Google Shape;88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pic>
        <p:nvPicPr>
          <p:cNvPr id="886" name="Google Shape;88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639" y="1926838"/>
            <a:ext cx="711725" cy="2626324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7"/>
          <p:cNvSpPr txBox="1"/>
          <p:nvPr/>
        </p:nvSpPr>
        <p:spPr>
          <a:xfrm>
            <a:off x="3369600" y="1698300"/>
            <a:ext cx="274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123, 105, 182, 63, 95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8" name="Google Shape;888;p77"/>
          <p:cNvCxnSpPr/>
          <p:nvPr/>
        </p:nvCxnSpPr>
        <p:spPr>
          <a:xfrm flipH="1">
            <a:off x="3568725" y="1755425"/>
            <a:ext cx="195000" cy="39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7"/>
          <p:cNvCxnSpPr/>
          <p:nvPr/>
        </p:nvCxnSpPr>
        <p:spPr>
          <a:xfrm flipH="1">
            <a:off x="5541600" y="1746000"/>
            <a:ext cx="195000" cy="39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77"/>
          <p:cNvCxnSpPr/>
          <p:nvPr/>
        </p:nvCxnSpPr>
        <p:spPr>
          <a:xfrm flipH="1">
            <a:off x="4090250" y="1746000"/>
            <a:ext cx="195000" cy="39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7"/>
          <p:cNvCxnSpPr/>
          <p:nvPr/>
        </p:nvCxnSpPr>
        <p:spPr>
          <a:xfrm flipH="1">
            <a:off x="5145650" y="1755425"/>
            <a:ext cx="195000" cy="39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77"/>
          <p:cNvSpPr txBox="1"/>
          <p:nvPr/>
        </p:nvSpPr>
        <p:spPr>
          <a:xfrm>
            <a:off x="3156925" y="2286875"/>
            <a:ext cx="3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value is 182.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7"/>
          <p:cNvSpPr txBox="1"/>
          <p:nvPr/>
        </p:nvSpPr>
        <p:spPr>
          <a:xfrm>
            <a:off x="3503650" y="3275700"/>
            <a:ext cx="466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 has not ordered the data set first.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8"/>
          <p:cNvSpPr txBox="1"/>
          <p:nvPr>
            <p:ph idx="1" type="body"/>
          </p:nvPr>
        </p:nvSpPr>
        <p:spPr>
          <a:xfrm>
            <a:off x="324000" y="727563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are some Oak Academy pupils and their favourite colours.</a:t>
            </a:r>
            <a:endParaRPr sz="1800"/>
          </a:p>
        </p:txBody>
      </p:sp>
      <p:sp>
        <p:nvSpPr>
          <p:cNvPr id="899" name="Google Shape;89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pic>
        <p:nvPicPr>
          <p:cNvPr id="900" name="Google Shape;90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0708" y="1188539"/>
            <a:ext cx="766830" cy="74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759" y="1231026"/>
            <a:ext cx="54254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3753" y="1304828"/>
            <a:ext cx="500444" cy="62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365" y="1120598"/>
            <a:ext cx="428989" cy="81002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8"/>
          <p:cNvSpPr txBox="1"/>
          <p:nvPr/>
        </p:nvSpPr>
        <p:spPr>
          <a:xfrm>
            <a:off x="5090013" y="17718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8"/>
          <p:cNvSpPr txBox="1"/>
          <p:nvPr/>
        </p:nvSpPr>
        <p:spPr>
          <a:xfrm>
            <a:off x="2495681" y="1771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8"/>
          <p:cNvSpPr txBox="1"/>
          <p:nvPr/>
        </p:nvSpPr>
        <p:spPr>
          <a:xfrm>
            <a:off x="258825" y="17718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8"/>
          <p:cNvSpPr txBox="1"/>
          <p:nvPr/>
        </p:nvSpPr>
        <p:spPr>
          <a:xfrm>
            <a:off x="1257434" y="1771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8"/>
          <p:cNvSpPr txBox="1"/>
          <p:nvPr/>
        </p:nvSpPr>
        <p:spPr>
          <a:xfrm>
            <a:off x="6241588" y="17718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8"/>
          <p:cNvSpPr txBox="1"/>
          <p:nvPr/>
        </p:nvSpPr>
        <p:spPr>
          <a:xfrm>
            <a:off x="3979338" y="17718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8"/>
          <p:cNvSpPr txBox="1"/>
          <p:nvPr/>
        </p:nvSpPr>
        <p:spPr>
          <a:xfrm>
            <a:off x="7320916" y="1771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70944" y="1313926"/>
            <a:ext cx="549404" cy="6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46910" y="1313932"/>
            <a:ext cx="534739" cy="616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67602" y="1313937"/>
            <a:ext cx="555902" cy="61669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8"/>
          <p:cNvSpPr txBox="1"/>
          <p:nvPr/>
        </p:nvSpPr>
        <p:spPr>
          <a:xfrm>
            <a:off x="287163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red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8"/>
          <p:cNvSpPr txBox="1"/>
          <p:nvPr/>
        </p:nvSpPr>
        <p:spPr>
          <a:xfrm>
            <a:off x="1257425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8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8"/>
          <p:cNvSpPr txBox="1"/>
          <p:nvPr/>
        </p:nvSpPr>
        <p:spPr>
          <a:xfrm>
            <a:off x="2693538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purple</a:t>
            </a:r>
            <a:endParaRPr sz="1800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8"/>
          <p:cNvSpPr txBox="1"/>
          <p:nvPr/>
        </p:nvSpPr>
        <p:spPr>
          <a:xfrm>
            <a:off x="3896725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blue</a:t>
            </a:r>
            <a:endParaRPr sz="18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8"/>
          <p:cNvSpPr txBox="1"/>
          <p:nvPr/>
        </p:nvSpPr>
        <p:spPr>
          <a:xfrm>
            <a:off x="5099913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endParaRPr sz="1800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8"/>
          <p:cNvSpPr txBox="1"/>
          <p:nvPr/>
        </p:nvSpPr>
        <p:spPr>
          <a:xfrm>
            <a:off x="6303100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pink</a:t>
            </a:r>
            <a:endParaRPr sz="1800">
              <a:solidFill>
                <a:srgbClr val="FF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8"/>
          <p:cNvSpPr txBox="1"/>
          <p:nvPr/>
        </p:nvSpPr>
        <p:spPr>
          <a:xfrm>
            <a:off x="7506288" y="21140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69138"/>
                </a:solidFill>
                <a:latin typeface="Lexend"/>
                <a:ea typeface="Lexend"/>
                <a:cs typeface="Lexend"/>
                <a:sym typeface="Lexend"/>
              </a:rPr>
              <a:t>orange</a:t>
            </a:r>
            <a:endParaRPr sz="1800">
              <a:solidFill>
                <a:srgbClr val="E6913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8"/>
          <p:cNvSpPr txBox="1"/>
          <p:nvPr/>
        </p:nvSpPr>
        <p:spPr>
          <a:xfrm>
            <a:off x="324000" y="2853500"/>
            <a:ext cx="479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favourite colour?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8"/>
          <p:cNvSpPr txBox="1"/>
          <p:nvPr/>
        </p:nvSpPr>
        <p:spPr>
          <a:xfrm>
            <a:off x="368425" y="3315200"/>
            <a:ext cx="8668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is in the middle, his favourite colour is blue.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However 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pupils could have lined up in any order and then the middle would be different.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Colours do not have a defined order and therefore there is not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928" name="Google Shape;928;p79"/>
          <p:cNvSpPr txBox="1"/>
          <p:nvPr>
            <p:ph type="title"/>
          </p:nvPr>
        </p:nvSpPr>
        <p:spPr>
          <a:xfrm>
            <a:off x="324000" y="9011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which of the following data sets can you find the </a:t>
            </a:r>
            <a:r>
              <a:rPr b="1" lang="en-GB"/>
              <a:t>median</a:t>
            </a:r>
            <a:r>
              <a:rPr lang="en-GB"/>
              <a:t>?</a:t>
            </a:r>
            <a:endParaRPr/>
          </a:p>
        </p:txBody>
      </p:sp>
      <p:sp>
        <p:nvSpPr>
          <p:cNvPr id="929" name="Google Shape;929;p7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</a:t>
            </a:r>
            <a:r>
              <a:rPr lang="en-GB"/>
              <a:t>ed, orange, yellow, green, blue, indigo, violet</a:t>
            </a:r>
            <a:endParaRPr/>
          </a:p>
        </p:txBody>
      </p:sp>
      <p:sp>
        <p:nvSpPr>
          <p:cNvPr id="930" name="Google Shape;930;p7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3, 5, 1, 10, 2, 5, 7, 8, 12</a:t>
            </a:r>
            <a:endParaRPr/>
          </a:p>
        </p:txBody>
      </p:sp>
      <p:sp>
        <p:nvSpPr>
          <p:cNvPr id="931" name="Google Shape;931;p7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–3.5, –3.1, –2.8, –2, –1.6, –1.02</a:t>
            </a:r>
            <a:endParaRPr/>
          </a:p>
        </p:txBody>
      </p:sp>
      <p:pic>
        <p:nvPicPr>
          <p:cNvPr id="932" name="Google Shape;93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0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75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939" name="Google Shape;939;p80"/>
          <p:cNvSpPr txBox="1"/>
          <p:nvPr>
            <p:ph idx="1" type="body"/>
          </p:nvPr>
        </p:nvSpPr>
        <p:spPr>
          <a:xfrm>
            <a:off x="324000" y="759300"/>
            <a:ext cx="81678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has been collected about the total sunshine hours in a year for Dunstaffnage.</a:t>
            </a:r>
            <a:endParaRPr sz="1800"/>
          </a:p>
        </p:txBody>
      </p:sp>
      <p:sp>
        <p:nvSpPr>
          <p:cNvPr id="940" name="Google Shape;940;p80"/>
          <p:cNvSpPr txBox="1"/>
          <p:nvPr/>
        </p:nvSpPr>
        <p:spPr>
          <a:xfrm>
            <a:off x="324000" y="1848650"/>
            <a:ext cx="699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sunshine hours in a year?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0"/>
          <p:cNvSpPr txBox="1"/>
          <p:nvPr/>
        </p:nvSpPr>
        <p:spPr>
          <a:xfrm>
            <a:off x="1678800" y="1431300"/>
            <a:ext cx="57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1287.2, 1075.5, 1256, 1039.8, 1431.1, 1268.2, 1163.3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0"/>
          <p:cNvSpPr txBox="1"/>
          <p:nvPr/>
        </p:nvSpPr>
        <p:spPr>
          <a:xfrm>
            <a:off x="3331225" y="2930850"/>
            <a:ext cx="54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1039.8, 1075.5, 1163.3, 1256, 1268.2,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1287.2, 1431.1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0"/>
          <p:cNvSpPr txBox="1"/>
          <p:nvPr/>
        </p:nvSpPr>
        <p:spPr>
          <a:xfrm>
            <a:off x="324000" y="2316750"/>
            <a:ext cx="84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data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needs to be ordered, then the middle piece of data is located: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4" name="Google Shape;94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762" y="360296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0"/>
          <p:cNvSpPr txBox="1"/>
          <p:nvPr/>
        </p:nvSpPr>
        <p:spPr>
          <a:xfrm>
            <a:off x="287863" y="4361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6" name="Google Shape;946;p8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264573" y="2890525"/>
            <a:ext cx="2112302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0"/>
          <p:cNvSpPr txBox="1"/>
          <p:nvPr/>
        </p:nvSpPr>
        <p:spPr>
          <a:xfrm>
            <a:off x="1354180" y="2976898"/>
            <a:ext cx="216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Work in from either end, cross off the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80"/>
          <p:cNvCxnSpPr/>
          <p:nvPr/>
        </p:nvCxnSpPr>
        <p:spPr>
          <a:xfrm flipH="1" rot="10800000">
            <a:off x="3514180" y="29834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80"/>
          <p:cNvCxnSpPr/>
          <p:nvPr/>
        </p:nvCxnSpPr>
        <p:spPr>
          <a:xfrm flipH="1" rot="10800000">
            <a:off x="8160605" y="298724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80"/>
          <p:cNvCxnSpPr/>
          <p:nvPr/>
        </p:nvCxnSpPr>
        <p:spPr>
          <a:xfrm flipH="1" rot="10800000">
            <a:off x="4371455" y="298724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80"/>
          <p:cNvCxnSpPr/>
          <p:nvPr/>
        </p:nvCxnSpPr>
        <p:spPr>
          <a:xfrm flipH="1" rot="10800000">
            <a:off x="7355655" y="298724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80"/>
          <p:cNvCxnSpPr/>
          <p:nvPr/>
        </p:nvCxnSpPr>
        <p:spPr>
          <a:xfrm flipH="1" rot="10800000">
            <a:off x="5165717" y="298724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80"/>
          <p:cNvCxnSpPr/>
          <p:nvPr/>
        </p:nvCxnSpPr>
        <p:spPr>
          <a:xfrm flipH="1" rot="10800000">
            <a:off x="6589542" y="298724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80"/>
          <p:cNvSpPr/>
          <p:nvPr/>
        </p:nvSpPr>
        <p:spPr>
          <a:xfrm>
            <a:off x="5800876" y="3034076"/>
            <a:ext cx="544500" cy="260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0"/>
          <p:cNvSpPr txBox="1"/>
          <p:nvPr/>
        </p:nvSpPr>
        <p:spPr>
          <a:xfrm flipH="1">
            <a:off x="3669825" y="3688175"/>
            <a:ext cx="46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1256 hours of sunshine in a year.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75" y="2165287"/>
            <a:ext cx="8084041" cy="1125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962" name="Google Shape;962;p8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data set: 27, 27, 28, 28, 28, 29, 31, 34, 35, 38, 39, 39 </a:t>
            </a:r>
            <a:br>
              <a:rPr lang="en-GB" sz="1800"/>
            </a:br>
            <a:r>
              <a:rPr lang="en-GB" sz="1800"/>
              <a:t>is shown on this dot plot.</a:t>
            </a:r>
            <a:endParaRPr sz="1800"/>
          </a:p>
        </p:txBody>
      </p:sp>
      <p:sp>
        <p:nvSpPr>
          <p:cNvPr id="963" name="Google Shape;963;p81"/>
          <p:cNvSpPr/>
          <p:nvPr/>
        </p:nvSpPr>
        <p:spPr>
          <a:xfrm>
            <a:off x="1152579" y="2761170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1"/>
          <p:cNvSpPr/>
          <p:nvPr/>
        </p:nvSpPr>
        <p:spPr>
          <a:xfrm>
            <a:off x="1152578" y="2508841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1"/>
          <p:cNvSpPr/>
          <p:nvPr/>
        </p:nvSpPr>
        <p:spPr>
          <a:xfrm>
            <a:off x="1713703" y="2761175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1"/>
          <p:cNvSpPr/>
          <p:nvPr/>
        </p:nvSpPr>
        <p:spPr>
          <a:xfrm>
            <a:off x="1713694" y="2508860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1"/>
          <p:cNvSpPr/>
          <p:nvPr/>
        </p:nvSpPr>
        <p:spPr>
          <a:xfrm>
            <a:off x="7863512" y="2508860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1"/>
          <p:cNvSpPr/>
          <p:nvPr/>
        </p:nvSpPr>
        <p:spPr>
          <a:xfrm>
            <a:off x="7863492" y="2761170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1"/>
          <p:cNvSpPr/>
          <p:nvPr/>
        </p:nvSpPr>
        <p:spPr>
          <a:xfrm>
            <a:off x="7306402" y="2761163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1"/>
          <p:cNvSpPr/>
          <p:nvPr/>
        </p:nvSpPr>
        <p:spPr>
          <a:xfrm>
            <a:off x="5623202" y="2761185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5066927" y="2761183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1713701" y="2249305"/>
            <a:ext cx="187800" cy="187800"/>
          </a:xfrm>
          <a:prstGeom prst="mathMultiply">
            <a:avLst>
              <a:gd fmla="val 11798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1"/>
          <p:cNvSpPr txBox="1"/>
          <p:nvPr/>
        </p:nvSpPr>
        <p:spPr>
          <a:xfrm>
            <a:off x="245629" y="1432897"/>
            <a:ext cx="845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12 pieces of data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means there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not a piece of data that is in the ‘middle’.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1"/>
          <p:cNvSpPr txBox="1"/>
          <p:nvPr/>
        </p:nvSpPr>
        <p:spPr>
          <a:xfrm>
            <a:off x="245627" y="3489025"/>
            <a:ext cx="818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feels like three options for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29, 30 or 31.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is most ‘average’?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1"/>
          <p:cNvSpPr txBox="1"/>
          <p:nvPr/>
        </p:nvSpPr>
        <p:spPr>
          <a:xfrm>
            <a:off x="1579675" y="3759075"/>
            <a:ext cx="608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       30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the mean of the two central data points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 is the midpoint of the two central data points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2"/>
          <p:cNvSpPr txBox="1"/>
          <p:nvPr/>
        </p:nvSpPr>
        <p:spPr>
          <a:xfrm>
            <a:off x="324000" y="2469150"/>
            <a:ext cx="84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the data needs to be ordered, then the middle piece of data is located: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982" name="Google Shape;982;p82"/>
          <p:cNvSpPr txBox="1"/>
          <p:nvPr>
            <p:ph idx="1" type="body"/>
          </p:nvPr>
        </p:nvSpPr>
        <p:spPr>
          <a:xfrm>
            <a:off x="324000" y="759300"/>
            <a:ext cx="8169000" cy="780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Data has been collected monthly about mean daily maximum </a:t>
            </a:r>
            <a:r>
              <a:rPr lang="en-GB" sz="1800"/>
              <a:t>temperatures (°C) in Eastbourne during 2022.</a:t>
            </a:r>
            <a:endParaRPr sz="1800"/>
          </a:p>
        </p:txBody>
      </p:sp>
      <p:sp>
        <p:nvSpPr>
          <p:cNvPr id="983" name="Google Shape;983;p82"/>
          <p:cNvSpPr txBox="1"/>
          <p:nvPr/>
        </p:nvSpPr>
        <p:spPr>
          <a:xfrm>
            <a:off x="1580075" y="1500900"/>
            <a:ext cx="68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9.7, 11, 11.8, 14.4, 17.9, 20.2, 24.3, 24.3, 20.3, 18.3, 13.9, 8.2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2"/>
          <p:cNvSpPr txBox="1"/>
          <p:nvPr/>
        </p:nvSpPr>
        <p:spPr>
          <a:xfrm>
            <a:off x="324000" y="2001050"/>
            <a:ext cx="41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temperature?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2"/>
          <p:cNvSpPr txBox="1"/>
          <p:nvPr/>
        </p:nvSpPr>
        <p:spPr>
          <a:xfrm>
            <a:off x="1580075" y="2958400"/>
            <a:ext cx="683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8.2,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9.7, 11, 11.8, 13.9, 14.4, 17.9, 18.3, 20.2, 20.3, 24.3, 24.3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6" name="Google Shape;986;p82"/>
          <p:cNvCxnSpPr/>
          <p:nvPr/>
        </p:nvCxnSpPr>
        <p:spPr>
          <a:xfrm flipH="1" rot="10800000">
            <a:off x="162870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82"/>
          <p:cNvCxnSpPr/>
          <p:nvPr/>
        </p:nvCxnSpPr>
        <p:spPr>
          <a:xfrm flipH="1" rot="10800000">
            <a:off x="7307480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82"/>
          <p:cNvCxnSpPr/>
          <p:nvPr/>
        </p:nvCxnSpPr>
        <p:spPr>
          <a:xfrm flipH="1" rot="10800000">
            <a:off x="207075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82"/>
          <p:cNvCxnSpPr/>
          <p:nvPr/>
        </p:nvCxnSpPr>
        <p:spPr>
          <a:xfrm flipH="1" rot="10800000">
            <a:off x="6788730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82"/>
          <p:cNvCxnSpPr/>
          <p:nvPr/>
        </p:nvCxnSpPr>
        <p:spPr>
          <a:xfrm flipH="1" rot="10800000">
            <a:off x="241890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82"/>
          <p:cNvCxnSpPr/>
          <p:nvPr/>
        </p:nvCxnSpPr>
        <p:spPr>
          <a:xfrm flipH="1" rot="10800000">
            <a:off x="616165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82"/>
          <p:cNvCxnSpPr/>
          <p:nvPr/>
        </p:nvCxnSpPr>
        <p:spPr>
          <a:xfrm flipH="1" rot="10800000">
            <a:off x="288720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82"/>
          <p:cNvCxnSpPr/>
          <p:nvPr/>
        </p:nvCxnSpPr>
        <p:spPr>
          <a:xfrm flipH="1" rot="10800000">
            <a:off x="342970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82"/>
          <p:cNvCxnSpPr/>
          <p:nvPr/>
        </p:nvCxnSpPr>
        <p:spPr>
          <a:xfrm flipH="1" rot="10800000">
            <a:off x="562650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82"/>
          <p:cNvCxnSpPr/>
          <p:nvPr/>
        </p:nvCxnSpPr>
        <p:spPr>
          <a:xfrm flipH="1" rot="10800000">
            <a:off x="5049255" y="3014798"/>
            <a:ext cx="401100" cy="34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82"/>
          <p:cNvCxnSpPr/>
          <p:nvPr/>
        </p:nvCxnSpPr>
        <p:spPr>
          <a:xfrm flipH="1">
            <a:off x="4435700" y="2875162"/>
            <a:ext cx="2100" cy="67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7" name="Google Shape;997;p82"/>
          <p:cNvSpPr/>
          <p:nvPr/>
        </p:nvSpPr>
        <p:spPr>
          <a:xfrm>
            <a:off x="3937100" y="2961850"/>
            <a:ext cx="1001400" cy="461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2"/>
          <p:cNvSpPr txBox="1"/>
          <p:nvPr/>
        </p:nvSpPr>
        <p:spPr>
          <a:xfrm>
            <a:off x="324000" y="3489200"/>
            <a:ext cx="774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Due to the even amount of data,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 mean of the two most central pieces of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2"/>
          <p:cNvSpPr txBox="1"/>
          <p:nvPr/>
        </p:nvSpPr>
        <p:spPr>
          <a:xfrm>
            <a:off x="3369600" y="4228100"/>
            <a:ext cx="277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median is 16.15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3"/>
          <p:cNvSpPr txBox="1"/>
          <p:nvPr>
            <p:ph idx="1" type="subTitle"/>
          </p:nvPr>
        </p:nvSpPr>
        <p:spPr>
          <a:xfrm>
            <a:off x="980575" y="3239988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the middle piece of data</a:t>
            </a:r>
            <a:endParaRPr/>
          </a:p>
        </p:txBody>
      </p:sp>
      <p:sp>
        <p:nvSpPr>
          <p:cNvPr id="1005" name="Google Shape;100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1006" name="Google Shape;1006;p83"/>
          <p:cNvSpPr txBox="1"/>
          <p:nvPr>
            <p:ph idx="2" type="subTitle"/>
          </p:nvPr>
        </p:nvSpPr>
        <p:spPr>
          <a:xfrm>
            <a:off x="324000" y="1080000"/>
            <a:ext cx="82293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median</a:t>
            </a:r>
            <a:r>
              <a:rPr b="1" lang="en-GB"/>
              <a:t> </a:t>
            </a:r>
            <a:r>
              <a:rPr lang="en-GB"/>
              <a:t>will always be a value in the data set.</a:t>
            </a:r>
            <a:endParaRPr/>
          </a:p>
        </p:txBody>
      </p:sp>
      <p:sp>
        <p:nvSpPr>
          <p:cNvPr id="1007" name="Google Shape;1007;p83"/>
          <p:cNvSpPr txBox="1"/>
          <p:nvPr>
            <p:ph idx="3" type="subTitle"/>
          </p:nvPr>
        </p:nvSpPr>
        <p:spPr>
          <a:xfrm>
            <a:off x="980575" y="395459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there are an even number of data points, the mean of the two central pieces is calculated</a:t>
            </a:r>
            <a:endParaRPr/>
          </a:p>
        </p:txBody>
      </p:sp>
      <p:pic>
        <p:nvPicPr>
          <p:cNvPr id="1008" name="Google Shape;100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43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6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4"/>
          <p:cNvSpPr txBox="1"/>
          <p:nvPr>
            <p:ph idx="1" type="body"/>
          </p:nvPr>
        </p:nvSpPr>
        <p:spPr>
          <a:xfrm>
            <a:off x="324000" y="759300"/>
            <a:ext cx="82377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Each tray has some cupcakes. </a:t>
            </a:r>
            <a:br>
              <a:rPr lang="en-GB" sz="1800"/>
            </a:br>
            <a:r>
              <a:rPr lang="en-GB" sz="1800"/>
              <a:t>What is the </a:t>
            </a:r>
            <a:r>
              <a:rPr b="1" lang="en-GB" sz="1800"/>
              <a:t>median</a:t>
            </a:r>
            <a:r>
              <a:rPr lang="en-GB" sz="1800"/>
              <a:t> number of cupcakes?</a:t>
            </a:r>
            <a:endParaRPr sz="1800"/>
          </a:p>
        </p:txBody>
      </p:sp>
      <p:sp>
        <p:nvSpPr>
          <p:cNvPr id="1015" name="Google Shape;101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grpSp>
        <p:nvGrpSpPr>
          <p:cNvPr id="1016" name="Google Shape;1016;p84"/>
          <p:cNvGrpSpPr/>
          <p:nvPr/>
        </p:nvGrpSpPr>
        <p:grpSpPr>
          <a:xfrm>
            <a:off x="412847" y="1778988"/>
            <a:ext cx="1447656" cy="661712"/>
            <a:chOff x="369525" y="1365600"/>
            <a:chExt cx="2241300" cy="1406700"/>
          </a:xfrm>
        </p:grpSpPr>
        <p:sp>
          <p:nvSpPr>
            <p:cNvPr id="1017" name="Google Shape;1017;p84"/>
            <p:cNvSpPr/>
            <p:nvPr/>
          </p:nvSpPr>
          <p:spPr>
            <a:xfrm>
              <a:off x="369525" y="1365600"/>
              <a:ext cx="2241300" cy="14067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84"/>
            <p:cNvSpPr/>
            <p:nvPr/>
          </p:nvSpPr>
          <p:spPr>
            <a:xfrm>
              <a:off x="567375" y="1532100"/>
              <a:ext cx="1845600" cy="10398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9" name="Google Shape;1019;p84"/>
          <p:cNvGrpSpPr/>
          <p:nvPr/>
        </p:nvGrpSpPr>
        <p:grpSpPr>
          <a:xfrm>
            <a:off x="2152722" y="1778988"/>
            <a:ext cx="1447656" cy="661712"/>
            <a:chOff x="369525" y="1365600"/>
            <a:chExt cx="2241300" cy="1406700"/>
          </a:xfrm>
        </p:grpSpPr>
        <p:sp>
          <p:nvSpPr>
            <p:cNvPr id="1020" name="Google Shape;1020;p84"/>
            <p:cNvSpPr/>
            <p:nvPr/>
          </p:nvSpPr>
          <p:spPr>
            <a:xfrm>
              <a:off x="369525" y="1365600"/>
              <a:ext cx="2241300" cy="14067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4"/>
            <p:cNvSpPr/>
            <p:nvPr/>
          </p:nvSpPr>
          <p:spPr>
            <a:xfrm>
              <a:off x="567375" y="1532100"/>
              <a:ext cx="1845600" cy="10398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84"/>
          <p:cNvGrpSpPr/>
          <p:nvPr/>
        </p:nvGrpSpPr>
        <p:grpSpPr>
          <a:xfrm>
            <a:off x="3892597" y="1778988"/>
            <a:ext cx="1447656" cy="661712"/>
            <a:chOff x="369525" y="1365600"/>
            <a:chExt cx="2241300" cy="1406700"/>
          </a:xfrm>
        </p:grpSpPr>
        <p:sp>
          <p:nvSpPr>
            <p:cNvPr id="1023" name="Google Shape;1023;p84"/>
            <p:cNvSpPr/>
            <p:nvPr/>
          </p:nvSpPr>
          <p:spPr>
            <a:xfrm>
              <a:off x="369525" y="1365600"/>
              <a:ext cx="2241300" cy="14067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4"/>
            <p:cNvSpPr/>
            <p:nvPr/>
          </p:nvSpPr>
          <p:spPr>
            <a:xfrm>
              <a:off x="567375" y="1532100"/>
              <a:ext cx="1845600" cy="10398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5" name="Google Shape;1025;p84"/>
          <p:cNvGrpSpPr/>
          <p:nvPr/>
        </p:nvGrpSpPr>
        <p:grpSpPr>
          <a:xfrm>
            <a:off x="5632472" y="1778988"/>
            <a:ext cx="1447656" cy="661712"/>
            <a:chOff x="369525" y="1365600"/>
            <a:chExt cx="2241300" cy="1406700"/>
          </a:xfrm>
        </p:grpSpPr>
        <p:sp>
          <p:nvSpPr>
            <p:cNvPr id="1026" name="Google Shape;1026;p84"/>
            <p:cNvSpPr/>
            <p:nvPr/>
          </p:nvSpPr>
          <p:spPr>
            <a:xfrm>
              <a:off x="369525" y="1365600"/>
              <a:ext cx="2241300" cy="14067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84"/>
            <p:cNvSpPr/>
            <p:nvPr/>
          </p:nvSpPr>
          <p:spPr>
            <a:xfrm>
              <a:off x="567375" y="1532100"/>
              <a:ext cx="1845600" cy="10398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8" name="Google Shape;1028;p84"/>
          <p:cNvGrpSpPr/>
          <p:nvPr/>
        </p:nvGrpSpPr>
        <p:grpSpPr>
          <a:xfrm>
            <a:off x="7372347" y="1778988"/>
            <a:ext cx="1447656" cy="661712"/>
            <a:chOff x="369525" y="1365600"/>
            <a:chExt cx="2241300" cy="1406700"/>
          </a:xfrm>
        </p:grpSpPr>
        <p:sp>
          <p:nvSpPr>
            <p:cNvPr id="1029" name="Google Shape;1029;p84"/>
            <p:cNvSpPr/>
            <p:nvPr/>
          </p:nvSpPr>
          <p:spPr>
            <a:xfrm>
              <a:off x="369525" y="1365600"/>
              <a:ext cx="2241300" cy="14067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84"/>
            <p:cNvSpPr/>
            <p:nvPr/>
          </p:nvSpPr>
          <p:spPr>
            <a:xfrm>
              <a:off x="567375" y="1532100"/>
              <a:ext cx="1845600" cy="1039800"/>
            </a:xfrm>
            <a:prstGeom prst="flowChartConnector">
              <a:avLst/>
            </a:prstGeom>
            <a:solidFill>
              <a:srgbClr val="F0F0F0"/>
            </a:solidFill>
            <a:ln cap="flat" cmpd="sng" w="2857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1" name="Google Shape;1031;p84"/>
          <p:cNvPicPr preferRelativeResize="0"/>
          <p:nvPr/>
        </p:nvPicPr>
        <p:blipFill rotWithShape="1">
          <a:blip r:embed="rId3">
            <a:alphaModFix/>
          </a:blip>
          <a:srcRect b="8703" l="23314" r="59797" t="49633"/>
          <a:stretch/>
        </p:blipFill>
        <p:spPr>
          <a:xfrm>
            <a:off x="6346829" y="1589419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84"/>
          <p:cNvPicPr preferRelativeResize="0"/>
          <p:nvPr/>
        </p:nvPicPr>
        <p:blipFill rotWithShape="1">
          <a:blip r:embed="rId3">
            <a:alphaModFix/>
          </a:blip>
          <a:srcRect b="9611" l="77631" r="6395" t="48725"/>
          <a:stretch/>
        </p:blipFill>
        <p:spPr>
          <a:xfrm>
            <a:off x="4811394" y="1589431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4"/>
          <p:cNvPicPr preferRelativeResize="0"/>
          <p:nvPr/>
        </p:nvPicPr>
        <p:blipFill rotWithShape="1">
          <a:blip r:embed="rId3">
            <a:alphaModFix/>
          </a:blip>
          <a:srcRect b="49904" l="42030" r="41996" t="8432"/>
          <a:stretch/>
        </p:blipFill>
        <p:spPr>
          <a:xfrm>
            <a:off x="4370709" y="1567331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84"/>
          <p:cNvPicPr preferRelativeResize="0"/>
          <p:nvPr/>
        </p:nvPicPr>
        <p:blipFill rotWithShape="1">
          <a:blip r:embed="rId3">
            <a:alphaModFix/>
          </a:blip>
          <a:srcRect b="49904" l="77402" r="6624" t="8432"/>
          <a:stretch/>
        </p:blipFill>
        <p:spPr>
          <a:xfrm>
            <a:off x="4611744" y="1695394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84"/>
          <p:cNvPicPr preferRelativeResize="0"/>
          <p:nvPr/>
        </p:nvPicPr>
        <p:blipFill rotWithShape="1">
          <a:blip r:embed="rId3">
            <a:alphaModFix/>
          </a:blip>
          <a:srcRect b="9611" l="59599" r="23512" t="48725"/>
          <a:stretch/>
        </p:blipFill>
        <p:spPr>
          <a:xfrm>
            <a:off x="5941248" y="1589419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4"/>
          <p:cNvPicPr preferRelativeResize="0"/>
          <p:nvPr/>
        </p:nvPicPr>
        <p:blipFill rotWithShape="1">
          <a:blip r:embed="rId3">
            <a:alphaModFix/>
          </a:blip>
          <a:srcRect b="8703" l="5286" r="77825" t="49633"/>
          <a:stretch/>
        </p:blipFill>
        <p:spPr>
          <a:xfrm>
            <a:off x="4036323" y="1589419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84"/>
          <p:cNvPicPr preferRelativeResize="0"/>
          <p:nvPr/>
        </p:nvPicPr>
        <p:blipFill rotWithShape="1">
          <a:blip r:embed="rId3">
            <a:alphaModFix/>
          </a:blip>
          <a:srcRect b="8703" l="23314" r="59797" t="49633"/>
          <a:stretch/>
        </p:blipFill>
        <p:spPr>
          <a:xfrm>
            <a:off x="6200791" y="1779006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4"/>
          <p:cNvPicPr preferRelativeResize="0"/>
          <p:nvPr/>
        </p:nvPicPr>
        <p:blipFill rotWithShape="1">
          <a:blip r:embed="rId3">
            <a:alphaModFix/>
          </a:blip>
          <a:srcRect b="8703" l="5286" r="77825" t="49633"/>
          <a:stretch/>
        </p:blipFill>
        <p:spPr>
          <a:xfrm>
            <a:off x="2441198" y="1567331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4"/>
          <p:cNvPicPr preferRelativeResize="0"/>
          <p:nvPr/>
        </p:nvPicPr>
        <p:blipFill rotWithShape="1">
          <a:blip r:embed="rId3">
            <a:alphaModFix/>
          </a:blip>
          <a:srcRect b="53081" l="5808" r="78218" t="8429"/>
          <a:stretch/>
        </p:blipFill>
        <p:spPr>
          <a:xfrm>
            <a:off x="579950" y="1611501"/>
            <a:ext cx="441487" cy="5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4"/>
          <p:cNvPicPr preferRelativeResize="0"/>
          <p:nvPr/>
        </p:nvPicPr>
        <p:blipFill rotWithShape="1">
          <a:blip r:embed="rId3">
            <a:alphaModFix/>
          </a:blip>
          <a:srcRect b="49908" l="23547" r="60479" t="8428"/>
          <a:stretch/>
        </p:blipFill>
        <p:spPr>
          <a:xfrm>
            <a:off x="977180" y="1488881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4"/>
          <p:cNvPicPr preferRelativeResize="0"/>
          <p:nvPr/>
        </p:nvPicPr>
        <p:blipFill rotWithShape="1">
          <a:blip r:embed="rId3">
            <a:alphaModFix/>
          </a:blip>
          <a:srcRect b="49904" l="42030" r="41996" t="8432"/>
          <a:stretch/>
        </p:blipFill>
        <p:spPr>
          <a:xfrm>
            <a:off x="1140259" y="1702806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4"/>
          <p:cNvPicPr preferRelativeResize="0"/>
          <p:nvPr/>
        </p:nvPicPr>
        <p:blipFill rotWithShape="1">
          <a:blip r:embed="rId3">
            <a:alphaModFix/>
          </a:blip>
          <a:srcRect b="49904" l="59373" r="24652" t="8432"/>
          <a:stretch/>
        </p:blipFill>
        <p:spPr>
          <a:xfrm>
            <a:off x="7589714" y="1589419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4"/>
          <p:cNvPicPr preferRelativeResize="0"/>
          <p:nvPr/>
        </p:nvPicPr>
        <p:blipFill rotWithShape="1">
          <a:blip r:embed="rId3">
            <a:alphaModFix/>
          </a:blip>
          <a:srcRect b="49904" l="77402" r="6624" t="8432"/>
          <a:stretch/>
        </p:blipFill>
        <p:spPr>
          <a:xfrm>
            <a:off x="2850119" y="1567331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84"/>
          <p:cNvPicPr preferRelativeResize="0"/>
          <p:nvPr/>
        </p:nvPicPr>
        <p:blipFill rotWithShape="1">
          <a:blip r:embed="rId3">
            <a:alphaModFix/>
          </a:blip>
          <a:srcRect b="9611" l="59599" r="23512" t="48725"/>
          <a:stretch/>
        </p:blipFill>
        <p:spPr>
          <a:xfrm>
            <a:off x="5767236" y="1738756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84"/>
          <p:cNvPicPr preferRelativeResize="0"/>
          <p:nvPr/>
        </p:nvPicPr>
        <p:blipFill rotWithShape="1">
          <a:blip r:embed="rId3">
            <a:alphaModFix/>
          </a:blip>
          <a:srcRect b="9611" l="41342" r="41768" t="48725"/>
          <a:stretch/>
        </p:blipFill>
        <p:spPr>
          <a:xfrm>
            <a:off x="3083651" y="1702806"/>
            <a:ext cx="466785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4"/>
          <p:cNvPicPr preferRelativeResize="0"/>
          <p:nvPr/>
        </p:nvPicPr>
        <p:blipFill rotWithShape="1">
          <a:blip r:embed="rId3">
            <a:alphaModFix/>
          </a:blip>
          <a:srcRect b="53081" l="5808" r="78218" t="8429"/>
          <a:stretch/>
        </p:blipFill>
        <p:spPr>
          <a:xfrm>
            <a:off x="4463062" y="1841813"/>
            <a:ext cx="441487" cy="53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4"/>
          <p:cNvPicPr preferRelativeResize="0"/>
          <p:nvPr/>
        </p:nvPicPr>
        <p:blipFill rotWithShape="1">
          <a:blip r:embed="rId3">
            <a:alphaModFix/>
          </a:blip>
          <a:srcRect b="9611" l="77631" r="6395" t="48725"/>
          <a:stretch/>
        </p:blipFill>
        <p:spPr>
          <a:xfrm>
            <a:off x="7820194" y="1695406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4"/>
          <p:cNvPicPr preferRelativeResize="0"/>
          <p:nvPr/>
        </p:nvPicPr>
        <p:blipFill rotWithShape="1">
          <a:blip r:embed="rId3">
            <a:alphaModFix/>
          </a:blip>
          <a:srcRect b="49904" l="59373" r="24652" t="8432"/>
          <a:stretch/>
        </p:blipFill>
        <p:spPr>
          <a:xfrm>
            <a:off x="2626064" y="1695406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4"/>
          <p:cNvPicPr preferRelativeResize="0"/>
          <p:nvPr/>
        </p:nvPicPr>
        <p:blipFill rotWithShape="1">
          <a:blip r:embed="rId3">
            <a:alphaModFix/>
          </a:blip>
          <a:srcRect b="49908" l="23547" r="60479" t="8428"/>
          <a:stretch/>
        </p:blipFill>
        <p:spPr>
          <a:xfrm>
            <a:off x="2250430" y="1695406"/>
            <a:ext cx="441487" cy="580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84"/>
          <p:cNvPicPr preferRelativeResize="0"/>
          <p:nvPr/>
        </p:nvPicPr>
        <p:blipFill rotWithShape="1">
          <a:blip r:embed="rId3">
            <a:alphaModFix/>
          </a:blip>
          <a:srcRect b="9611" l="41342" r="41768" t="48725"/>
          <a:stretch/>
        </p:blipFill>
        <p:spPr>
          <a:xfrm>
            <a:off x="4116614" y="1779006"/>
            <a:ext cx="466785" cy="580245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4"/>
          <p:cNvSpPr txBox="1"/>
          <p:nvPr>
            <p:ph idx="1" type="body"/>
          </p:nvPr>
        </p:nvSpPr>
        <p:spPr>
          <a:xfrm>
            <a:off x="324000" y="2680400"/>
            <a:ext cx="82377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Some data are </a:t>
            </a:r>
            <a:r>
              <a:rPr lang="en-GB" sz="1800"/>
              <a:t>shown on the dot plot</a:t>
            </a:r>
            <a:r>
              <a:rPr lang="en-GB" sz="1800"/>
              <a:t>. </a:t>
            </a:r>
            <a:br>
              <a:rPr lang="en-GB" sz="1800"/>
            </a:br>
            <a:r>
              <a:rPr lang="en-GB" sz="1800"/>
              <a:t>What is the </a:t>
            </a:r>
            <a:r>
              <a:rPr b="1" lang="en-GB" sz="1800"/>
              <a:t>median</a:t>
            </a:r>
            <a:r>
              <a:rPr lang="en-GB" sz="1800"/>
              <a:t> value?</a:t>
            </a:r>
            <a:endParaRPr sz="1800"/>
          </a:p>
        </p:txBody>
      </p:sp>
      <p:grpSp>
        <p:nvGrpSpPr>
          <p:cNvPr id="1052" name="Google Shape;1052;p84"/>
          <p:cNvGrpSpPr/>
          <p:nvPr/>
        </p:nvGrpSpPr>
        <p:grpSpPr>
          <a:xfrm>
            <a:off x="837775" y="3445097"/>
            <a:ext cx="5364501" cy="1231128"/>
            <a:chOff x="837775" y="3445097"/>
            <a:chExt cx="5364501" cy="1231128"/>
          </a:xfrm>
        </p:grpSpPr>
        <p:pic>
          <p:nvPicPr>
            <p:cNvPr id="1053" name="Google Shape;1053;p8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7775" y="3445097"/>
              <a:ext cx="5364501" cy="108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4" name="Google Shape;1054;p84"/>
            <p:cNvSpPr txBox="1"/>
            <p:nvPr/>
          </p:nvSpPr>
          <p:spPr>
            <a:xfrm>
              <a:off x="902553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84"/>
            <p:cNvSpPr txBox="1"/>
            <p:nvPr/>
          </p:nvSpPr>
          <p:spPr>
            <a:xfrm>
              <a:off x="1870462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84"/>
            <p:cNvSpPr txBox="1"/>
            <p:nvPr/>
          </p:nvSpPr>
          <p:spPr>
            <a:xfrm>
              <a:off x="2845934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84"/>
            <p:cNvSpPr txBox="1"/>
            <p:nvPr/>
          </p:nvSpPr>
          <p:spPr>
            <a:xfrm>
              <a:off x="3836534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84"/>
            <p:cNvSpPr txBox="1"/>
            <p:nvPr/>
          </p:nvSpPr>
          <p:spPr>
            <a:xfrm>
              <a:off x="4804455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84"/>
            <p:cNvSpPr txBox="1"/>
            <p:nvPr/>
          </p:nvSpPr>
          <p:spPr>
            <a:xfrm>
              <a:off x="5772353" y="4337526"/>
              <a:ext cx="242100" cy="33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0" name="Google Shape;1060;p84"/>
            <p:cNvCxnSpPr/>
            <p:nvPr/>
          </p:nvCxnSpPr>
          <p:spPr>
            <a:xfrm>
              <a:off x="5922264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84"/>
            <p:cNvCxnSpPr/>
            <p:nvPr/>
          </p:nvCxnSpPr>
          <p:spPr>
            <a:xfrm>
              <a:off x="4942164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84"/>
            <p:cNvCxnSpPr/>
            <p:nvPr/>
          </p:nvCxnSpPr>
          <p:spPr>
            <a:xfrm>
              <a:off x="3977577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84"/>
            <p:cNvCxnSpPr/>
            <p:nvPr/>
          </p:nvCxnSpPr>
          <p:spPr>
            <a:xfrm>
              <a:off x="2997477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84"/>
            <p:cNvCxnSpPr/>
            <p:nvPr/>
          </p:nvCxnSpPr>
          <p:spPr>
            <a:xfrm>
              <a:off x="2030395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84"/>
            <p:cNvCxnSpPr/>
            <p:nvPr/>
          </p:nvCxnSpPr>
          <p:spPr>
            <a:xfrm>
              <a:off x="1050295" y="4287220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5"/>
          <p:cNvSpPr txBox="1"/>
          <p:nvPr>
            <p:ph idx="1" type="body"/>
          </p:nvPr>
        </p:nvSpPr>
        <p:spPr>
          <a:xfrm>
            <a:off x="324000" y="759300"/>
            <a:ext cx="8237700" cy="3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If possible, find the </a:t>
            </a:r>
            <a:r>
              <a:rPr b="1" lang="en-GB" sz="1800"/>
              <a:t>median </a:t>
            </a:r>
            <a:r>
              <a:rPr lang="en-GB" sz="1800"/>
              <a:t>for these data sets</a:t>
            </a: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16, 32, 29, 19, 30, 42, 51, 29, 25, 28</a:t>
            </a: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avocado</a:t>
            </a:r>
            <a:r>
              <a:rPr lang="en-GB" sz="1800"/>
              <a:t>, beetroot, carrot, damson, edamame, fig</a:t>
            </a: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-3, -9, -3, -7, -2, -10, -1</a:t>
            </a:r>
            <a:endParaRPr sz="1800"/>
          </a:p>
        </p:txBody>
      </p:sp>
      <p:sp>
        <p:nvSpPr>
          <p:cNvPr id="1071" name="Google Shape;1071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6"/>
          <p:cNvSpPr txBox="1"/>
          <p:nvPr>
            <p:ph idx="1" type="body"/>
          </p:nvPr>
        </p:nvSpPr>
        <p:spPr>
          <a:xfrm>
            <a:off x="324000" y="759300"/>
            <a:ext cx="82377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Each tray has some cupcakes. </a:t>
            </a:r>
            <a:br>
              <a:rPr lang="en-GB" sz="1800"/>
            </a:br>
            <a:r>
              <a:rPr lang="en-GB" sz="1800"/>
              <a:t>What is the </a:t>
            </a:r>
            <a:r>
              <a:rPr b="1" lang="en-GB" sz="1800"/>
              <a:t>median</a:t>
            </a:r>
            <a:r>
              <a:rPr lang="en-GB" sz="1800"/>
              <a:t> number of cupcakes?</a:t>
            </a:r>
            <a:endParaRPr sz="1800"/>
          </a:p>
        </p:txBody>
      </p:sp>
      <p:sp>
        <p:nvSpPr>
          <p:cNvPr id="1077" name="Google Shape;1077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grpSp>
        <p:nvGrpSpPr>
          <p:cNvPr id="1078" name="Google Shape;1078;p86"/>
          <p:cNvGrpSpPr/>
          <p:nvPr/>
        </p:nvGrpSpPr>
        <p:grpSpPr>
          <a:xfrm>
            <a:off x="2099978" y="1344881"/>
            <a:ext cx="1447656" cy="951819"/>
            <a:chOff x="412847" y="1488881"/>
            <a:chExt cx="1447656" cy="951819"/>
          </a:xfrm>
        </p:grpSpPr>
        <p:grpSp>
          <p:nvGrpSpPr>
            <p:cNvPr id="1079" name="Google Shape;1079;p86"/>
            <p:cNvGrpSpPr/>
            <p:nvPr/>
          </p:nvGrpSpPr>
          <p:grpSpPr>
            <a:xfrm>
              <a:off x="412847" y="1778988"/>
              <a:ext cx="1447656" cy="661712"/>
              <a:chOff x="369525" y="1365600"/>
              <a:chExt cx="2241300" cy="1406700"/>
            </a:xfrm>
          </p:grpSpPr>
          <p:sp>
            <p:nvSpPr>
              <p:cNvPr id="1080" name="Google Shape;1080;p86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86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82" name="Google Shape;1082;p86"/>
            <p:cNvPicPr preferRelativeResize="0"/>
            <p:nvPr/>
          </p:nvPicPr>
          <p:blipFill rotWithShape="1">
            <a:blip r:embed="rId3">
              <a:alphaModFix/>
            </a:blip>
            <a:srcRect b="53081" l="5808" r="78218" t="8429"/>
            <a:stretch/>
          </p:blipFill>
          <p:spPr>
            <a:xfrm>
              <a:off x="579950" y="1611501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3" name="Google Shape;1083;p86"/>
            <p:cNvPicPr preferRelativeResize="0"/>
            <p:nvPr/>
          </p:nvPicPr>
          <p:blipFill rotWithShape="1">
            <a:blip r:embed="rId3">
              <a:alphaModFix/>
            </a:blip>
            <a:srcRect b="49908" l="23547" r="60479" t="8428"/>
            <a:stretch/>
          </p:blipFill>
          <p:spPr>
            <a:xfrm>
              <a:off x="977180" y="148888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4" name="Google Shape;1084;p86"/>
            <p:cNvPicPr preferRelativeResize="0"/>
            <p:nvPr/>
          </p:nvPicPr>
          <p:blipFill rotWithShape="1">
            <a:blip r:embed="rId3">
              <a:alphaModFix/>
            </a:blip>
            <a:srcRect b="49904" l="42030" r="41996" t="8432"/>
            <a:stretch/>
          </p:blipFill>
          <p:spPr>
            <a:xfrm>
              <a:off x="1140259" y="17028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5" name="Google Shape;1085;p86"/>
          <p:cNvGrpSpPr/>
          <p:nvPr/>
        </p:nvGrpSpPr>
        <p:grpSpPr>
          <a:xfrm>
            <a:off x="3857434" y="1445419"/>
            <a:ext cx="1447656" cy="851281"/>
            <a:chOff x="5632472" y="1589419"/>
            <a:chExt cx="1447656" cy="851281"/>
          </a:xfrm>
        </p:grpSpPr>
        <p:grpSp>
          <p:nvGrpSpPr>
            <p:cNvPr id="1086" name="Google Shape;1086;p86"/>
            <p:cNvGrpSpPr/>
            <p:nvPr/>
          </p:nvGrpSpPr>
          <p:grpSpPr>
            <a:xfrm>
              <a:off x="5632472" y="1778988"/>
              <a:ext cx="1447656" cy="661712"/>
              <a:chOff x="369525" y="1365600"/>
              <a:chExt cx="2241300" cy="1406700"/>
            </a:xfrm>
          </p:grpSpPr>
          <p:sp>
            <p:nvSpPr>
              <p:cNvPr id="1087" name="Google Shape;1087;p86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86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89" name="Google Shape;1089;p86"/>
            <p:cNvPicPr preferRelativeResize="0"/>
            <p:nvPr/>
          </p:nvPicPr>
          <p:blipFill rotWithShape="1">
            <a:blip r:embed="rId3">
              <a:alphaModFix/>
            </a:blip>
            <a:srcRect b="8703" l="23314" r="59797" t="49633"/>
            <a:stretch/>
          </p:blipFill>
          <p:spPr>
            <a:xfrm>
              <a:off x="6346829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0" name="Google Shape;1090;p86"/>
            <p:cNvPicPr preferRelativeResize="0"/>
            <p:nvPr/>
          </p:nvPicPr>
          <p:blipFill rotWithShape="1">
            <a:blip r:embed="rId3">
              <a:alphaModFix/>
            </a:blip>
            <a:srcRect b="9611" l="59599" r="23512" t="48725"/>
            <a:stretch/>
          </p:blipFill>
          <p:spPr>
            <a:xfrm>
              <a:off x="5941248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1" name="Google Shape;1091;p86"/>
            <p:cNvPicPr preferRelativeResize="0"/>
            <p:nvPr/>
          </p:nvPicPr>
          <p:blipFill rotWithShape="1">
            <a:blip r:embed="rId3">
              <a:alphaModFix/>
            </a:blip>
            <a:srcRect b="8703" l="23314" r="59797" t="49633"/>
            <a:stretch/>
          </p:blipFill>
          <p:spPr>
            <a:xfrm>
              <a:off x="6200791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2" name="Google Shape;1092;p86"/>
            <p:cNvPicPr preferRelativeResize="0"/>
            <p:nvPr/>
          </p:nvPicPr>
          <p:blipFill rotWithShape="1">
            <a:blip r:embed="rId3">
              <a:alphaModFix/>
            </a:blip>
            <a:srcRect b="9611" l="59599" r="23512" t="48725"/>
            <a:stretch/>
          </p:blipFill>
          <p:spPr>
            <a:xfrm>
              <a:off x="5767236" y="173875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3" name="Google Shape;1093;p86"/>
          <p:cNvGrpSpPr/>
          <p:nvPr/>
        </p:nvGrpSpPr>
        <p:grpSpPr>
          <a:xfrm>
            <a:off x="342522" y="1445419"/>
            <a:ext cx="1447656" cy="851281"/>
            <a:chOff x="7372347" y="1589419"/>
            <a:chExt cx="1447656" cy="851281"/>
          </a:xfrm>
        </p:grpSpPr>
        <p:grpSp>
          <p:nvGrpSpPr>
            <p:cNvPr id="1094" name="Google Shape;1094;p86"/>
            <p:cNvGrpSpPr/>
            <p:nvPr/>
          </p:nvGrpSpPr>
          <p:grpSpPr>
            <a:xfrm>
              <a:off x="7372347" y="1778988"/>
              <a:ext cx="1447656" cy="661712"/>
              <a:chOff x="369525" y="1365600"/>
              <a:chExt cx="2241300" cy="1406700"/>
            </a:xfrm>
          </p:grpSpPr>
          <p:sp>
            <p:nvSpPr>
              <p:cNvPr id="1095" name="Google Shape;1095;p86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86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97" name="Google Shape;1097;p86"/>
            <p:cNvPicPr preferRelativeResize="0"/>
            <p:nvPr/>
          </p:nvPicPr>
          <p:blipFill rotWithShape="1">
            <a:blip r:embed="rId3">
              <a:alphaModFix/>
            </a:blip>
            <a:srcRect b="49904" l="59373" r="24652" t="8432"/>
            <a:stretch/>
          </p:blipFill>
          <p:spPr>
            <a:xfrm>
              <a:off x="7589714" y="1589419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8" name="Google Shape;1098;p86"/>
            <p:cNvPicPr preferRelativeResize="0"/>
            <p:nvPr/>
          </p:nvPicPr>
          <p:blipFill rotWithShape="1">
            <a:blip r:embed="rId3">
              <a:alphaModFix/>
            </a:blip>
            <a:srcRect b="9611" l="77631" r="6395" t="48725"/>
            <a:stretch/>
          </p:blipFill>
          <p:spPr>
            <a:xfrm>
              <a:off x="782019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9" name="Google Shape;1099;p86"/>
          <p:cNvGrpSpPr/>
          <p:nvPr/>
        </p:nvGrpSpPr>
        <p:grpSpPr>
          <a:xfrm>
            <a:off x="5614891" y="1423331"/>
            <a:ext cx="1447656" cy="873369"/>
            <a:chOff x="2152722" y="1567331"/>
            <a:chExt cx="1447656" cy="873369"/>
          </a:xfrm>
        </p:grpSpPr>
        <p:grpSp>
          <p:nvGrpSpPr>
            <p:cNvPr id="1100" name="Google Shape;1100;p86"/>
            <p:cNvGrpSpPr/>
            <p:nvPr/>
          </p:nvGrpSpPr>
          <p:grpSpPr>
            <a:xfrm>
              <a:off x="2152722" y="1778988"/>
              <a:ext cx="1447656" cy="661712"/>
              <a:chOff x="369525" y="1365600"/>
              <a:chExt cx="2241300" cy="1406700"/>
            </a:xfrm>
          </p:grpSpPr>
          <p:sp>
            <p:nvSpPr>
              <p:cNvPr id="1101" name="Google Shape;1101;p86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86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03" name="Google Shape;1103;p86"/>
            <p:cNvPicPr preferRelativeResize="0"/>
            <p:nvPr/>
          </p:nvPicPr>
          <p:blipFill rotWithShape="1">
            <a:blip r:embed="rId3">
              <a:alphaModFix/>
            </a:blip>
            <a:srcRect b="8703" l="5286" r="77825" t="49633"/>
            <a:stretch/>
          </p:blipFill>
          <p:spPr>
            <a:xfrm>
              <a:off x="2441198" y="1567331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4" name="Google Shape;1104;p86"/>
            <p:cNvPicPr preferRelativeResize="0"/>
            <p:nvPr/>
          </p:nvPicPr>
          <p:blipFill rotWithShape="1">
            <a:blip r:embed="rId3">
              <a:alphaModFix/>
            </a:blip>
            <a:srcRect b="49904" l="77402" r="6624" t="8432"/>
            <a:stretch/>
          </p:blipFill>
          <p:spPr>
            <a:xfrm>
              <a:off x="285011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86"/>
            <p:cNvPicPr preferRelativeResize="0"/>
            <p:nvPr/>
          </p:nvPicPr>
          <p:blipFill rotWithShape="1">
            <a:blip r:embed="rId3">
              <a:alphaModFix/>
            </a:blip>
            <a:srcRect b="9611" l="41342" r="41768" t="48725"/>
            <a:stretch/>
          </p:blipFill>
          <p:spPr>
            <a:xfrm>
              <a:off x="3083651" y="17028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6" name="Google Shape;1106;p86"/>
            <p:cNvPicPr preferRelativeResize="0"/>
            <p:nvPr/>
          </p:nvPicPr>
          <p:blipFill rotWithShape="1">
            <a:blip r:embed="rId3">
              <a:alphaModFix/>
            </a:blip>
            <a:srcRect b="49904" l="59373" r="24652" t="8432"/>
            <a:stretch/>
          </p:blipFill>
          <p:spPr>
            <a:xfrm>
              <a:off x="262606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86"/>
            <p:cNvPicPr preferRelativeResize="0"/>
            <p:nvPr/>
          </p:nvPicPr>
          <p:blipFill rotWithShape="1">
            <a:blip r:embed="rId3">
              <a:alphaModFix/>
            </a:blip>
            <a:srcRect b="49908" l="23547" r="60479" t="8428"/>
            <a:stretch/>
          </p:blipFill>
          <p:spPr>
            <a:xfrm>
              <a:off x="2250430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8" name="Google Shape;1108;p86"/>
          <p:cNvGrpSpPr/>
          <p:nvPr/>
        </p:nvGrpSpPr>
        <p:grpSpPr>
          <a:xfrm>
            <a:off x="7372347" y="1423331"/>
            <a:ext cx="1447656" cy="873369"/>
            <a:chOff x="3892597" y="1567331"/>
            <a:chExt cx="1447656" cy="873369"/>
          </a:xfrm>
        </p:grpSpPr>
        <p:grpSp>
          <p:nvGrpSpPr>
            <p:cNvPr id="1109" name="Google Shape;1109;p86"/>
            <p:cNvGrpSpPr/>
            <p:nvPr/>
          </p:nvGrpSpPr>
          <p:grpSpPr>
            <a:xfrm>
              <a:off x="3892597" y="1778988"/>
              <a:ext cx="1447656" cy="661712"/>
              <a:chOff x="369525" y="1365600"/>
              <a:chExt cx="2241300" cy="1406700"/>
            </a:xfrm>
          </p:grpSpPr>
          <p:sp>
            <p:nvSpPr>
              <p:cNvPr id="1110" name="Google Shape;1110;p86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86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cap="flat" cmpd="sng" w="28575">
                <a:solidFill>
                  <a:srgbClr val="87878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12" name="Google Shape;1112;p86"/>
            <p:cNvPicPr preferRelativeResize="0"/>
            <p:nvPr/>
          </p:nvPicPr>
          <p:blipFill rotWithShape="1">
            <a:blip r:embed="rId3">
              <a:alphaModFix/>
            </a:blip>
            <a:srcRect b="9611" l="77631" r="6395" t="48725"/>
            <a:stretch/>
          </p:blipFill>
          <p:spPr>
            <a:xfrm>
              <a:off x="4811394" y="15894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86"/>
            <p:cNvPicPr preferRelativeResize="0"/>
            <p:nvPr/>
          </p:nvPicPr>
          <p:blipFill rotWithShape="1">
            <a:blip r:embed="rId3">
              <a:alphaModFix/>
            </a:blip>
            <a:srcRect b="49904" l="42030" r="41996" t="8432"/>
            <a:stretch/>
          </p:blipFill>
          <p:spPr>
            <a:xfrm>
              <a:off x="437070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86"/>
            <p:cNvPicPr preferRelativeResize="0"/>
            <p:nvPr/>
          </p:nvPicPr>
          <p:blipFill rotWithShape="1">
            <a:blip r:embed="rId3">
              <a:alphaModFix/>
            </a:blip>
            <a:srcRect b="49904" l="77402" r="6624" t="8432"/>
            <a:stretch/>
          </p:blipFill>
          <p:spPr>
            <a:xfrm>
              <a:off x="4611744" y="1695394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5" name="Google Shape;1115;p86"/>
            <p:cNvPicPr preferRelativeResize="0"/>
            <p:nvPr/>
          </p:nvPicPr>
          <p:blipFill rotWithShape="1">
            <a:blip r:embed="rId3">
              <a:alphaModFix/>
            </a:blip>
            <a:srcRect b="8703" l="5286" r="77825" t="49633"/>
            <a:stretch/>
          </p:blipFill>
          <p:spPr>
            <a:xfrm>
              <a:off x="4036323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86"/>
            <p:cNvPicPr preferRelativeResize="0"/>
            <p:nvPr/>
          </p:nvPicPr>
          <p:blipFill rotWithShape="1">
            <a:blip r:embed="rId3">
              <a:alphaModFix/>
            </a:blip>
            <a:srcRect b="53081" l="5808" r="78218" t="8429"/>
            <a:stretch/>
          </p:blipFill>
          <p:spPr>
            <a:xfrm>
              <a:off x="4463062" y="1841813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86"/>
            <p:cNvPicPr preferRelativeResize="0"/>
            <p:nvPr/>
          </p:nvPicPr>
          <p:blipFill rotWithShape="1">
            <a:blip r:embed="rId3">
              <a:alphaModFix/>
            </a:blip>
            <a:srcRect b="9611" l="41342" r="41768" t="48725"/>
            <a:stretch/>
          </p:blipFill>
          <p:spPr>
            <a:xfrm>
              <a:off x="4116614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8" name="Google Shape;1118;p86"/>
          <p:cNvSpPr txBox="1"/>
          <p:nvPr/>
        </p:nvSpPr>
        <p:spPr>
          <a:xfrm>
            <a:off x="5887950" y="932450"/>
            <a:ext cx="140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cupcakes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6"/>
          <p:cNvSpPr txBox="1"/>
          <p:nvPr/>
        </p:nvSpPr>
        <p:spPr>
          <a:xfrm>
            <a:off x="5951225" y="2852000"/>
            <a:ext cx="235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6"/>
          <p:cNvSpPr txBox="1"/>
          <p:nvPr/>
        </p:nvSpPr>
        <p:spPr>
          <a:xfrm>
            <a:off x="904650" y="2249250"/>
            <a:ext cx="32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6"/>
          <p:cNvSpPr txBox="1"/>
          <p:nvPr/>
        </p:nvSpPr>
        <p:spPr>
          <a:xfrm>
            <a:off x="2665350" y="2249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6"/>
          <p:cNvSpPr txBox="1"/>
          <p:nvPr/>
        </p:nvSpPr>
        <p:spPr>
          <a:xfrm>
            <a:off x="4350150" y="2249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6"/>
          <p:cNvSpPr txBox="1"/>
          <p:nvPr/>
        </p:nvSpPr>
        <p:spPr>
          <a:xfrm>
            <a:off x="6184550" y="2249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6"/>
          <p:cNvSpPr txBox="1"/>
          <p:nvPr/>
        </p:nvSpPr>
        <p:spPr>
          <a:xfrm>
            <a:off x="7874325" y="2249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6"/>
          <p:cNvSpPr txBox="1"/>
          <p:nvPr>
            <p:ph idx="1" type="body"/>
          </p:nvPr>
        </p:nvSpPr>
        <p:spPr>
          <a:xfrm>
            <a:off x="324000" y="2680400"/>
            <a:ext cx="4849500" cy="62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Some data are shown on the dot plot. </a:t>
            </a:r>
            <a:br>
              <a:rPr lang="en-GB" sz="1800"/>
            </a:br>
            <a:r>
              <a:rPr lang="en-GB" sz="1800"/>
              <a:t>What is the </a:t>
            </a:r>
            <a:r>
              <a:rPr b="1" lang="en-GB" sz="1800"/>
              <a:t>median</a:t>
            </a:r>
            <a:r>
              <a:rPr lang="en-GB" sz="1800"/>
              <a:t> value?</a:t>
            </a:r>
            <a:endParaRPr sz="1800"/>
          </a:p>
        </p:txBody>
      </p:sp>
      <p:grpSp>
        <p:nvGrpSpPr>
          <p:cNvPr id="1126" name="Google Shape;1126;p86"/>
          <p:cNvGrpSpPr/>
          <p:nvPr/>
        </p:nvGrpSpPr>
        <p:grpSpPr>
          <a:xfrm>
            <a:off x="828050" y="3370245"/>
            <a:ext cx="5583340" cy="1356112"/>
            <a:chOff x="828050" y="3370245"/>
            <a:chExt cx="5583340" cy="1356112"/>
          </a:xfrm>
        </p:grpSpPr>
        <p:pic>
          <p:nvPicPr>
            <p:cNvPr id="1127" name="Google Shape;1127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8050" y="3370245"/>
              <a:ext cx="5583340" cy="125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86"/>
            <p:cNvSpPr txBox="1"/>
            <p:nvPr/>
          </p:nvSpPr>
          <p:spPr>
            <a:xfrm>
              <a:off x="982764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6"/>
            <p:cNvSpPr txBox="1"/>
            <p:nvPr/>
          </p:nvSpPr>
          <p:spPr>
            <a:xfrm>
              <a:off x="1950672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6"/>
            <p:cNvSpPr txBox="1"/>
            <p:nvPr/>
          </p:nvSpPr>
          <p:spPr>
            <a:xfrm>
              <a:off x="2926144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6"/>
            <p:cNvSpPr txBox="1"/>
            <p:nvPr/>
          </p:nvSpPr>
          <p:spPr>
            <a:xfrm>
              <a:off x="3916744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6"/>
            <p:cNvSpPr txBox="1"/>
            <p:nvPr/>
          </p:nvSpPr>
          <p:spPr>
            <a:xfrm>
              <a:off x="4884666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6"/>
            <p:cNvSpPr txBox="1"/>
            <p:nvPr/>
          </p:nvSpPr>
          <p:spPr>
            <a:xfrm>
              <a:off x="5852564" y="4387657"/>
              <a:ext cx="2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4" name="Google Shape;1134;p86"/>
            <p:cNvCxnSpPr/>
            <p:nvPr/>
          </p:nvCxnSpPr>
          <p:spPr>
            <a:xfrm>
              <a:off x="6002475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86"/>
            <p:cNvCxnSpPr/>
            <p:nvPr/>
          </p:nvCxnSpPr>
          <p:spPr>
            <a:xfrm>
              <a:off x="5022375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86"/>
            <p:cNvCxnSpPr/>
            <p:nvPr/>
          </p:nvCxnSpPr>
          <p:spPr>
            <a:xfrm>
              <a:off x="4057788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86"/>
            <p:cNvCxnSpPr/>
            <p:nvPr/>
          </p:nvCxnSpPr>
          <p:spPr>
            <a:xfrm>
              <a:off x="3077688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86"/>
            <p:cNvCxnSpPr/>
            <p:nvPr/>
          </p:nvCxnSpPr>
          <p:spPr>
            <a:xfrm>
              <a:off x="2110605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86"/>
            <p:cNvCxnSpPr/>
            <p:nvPr/>
          </p:nvCxnSpPr>
          <p:spPr>
            <a:xfrm>
              <a:off x="1130505" y="4327325"/>
              <a:ext cx="0" cy="65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0" name="Google Shape;1140;p86"/>
            <p:cNvSpPr/>
            <p:nvPr/>
          </p:nvSpPr>
          <p:spPr>
            <a:xfrm>
              <a:off x="3926724" y="3908429"/>
              <a:ext cx="242100" cy="242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7"/>
          <p:cNvSpPr txBox="1"/>
          <p:nvPr>
            <p:ph idx="1" type="body"/>
          </p:nvPr>
        </p:nvSpPr>
        <p:spPr>
          <a:xfrm>
            <a:off x="324000" y="759300"/>
            <a:ext cx="8237700" cy="3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If possible, find the </a:t>
            </a:r>
            <a:r>
              <a:rPr b="1" lang="en-GB" sz="1800"/>
              <a:t>median </a:t>
            </a:r>
            <a:r>
              <a:rPr lang="en-GB" sz="1800"/>
              <a:t>for these data sets</a:t>
            </a: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16, 32, 29, 19, 30, 42, 51, 29, 25, 28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avocado, beetroot, carrot, damson, edamame, fig</a:t>
            </a:r>
            <a:br>
              <a:rPr lang="en-GB" sz="1800"/>
            </a:br>
            <a:br>
              <a:rPr lang="en-GB" sz="1800"/>
            </a:br>
            <a:br>
              <a:rPr lang="en-GB" sz="1800"/>
            </a:b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-3, -9, -3, -7, -2, -10, -1</a:t>
            </a:r>
            <a:endParaRPr sz="1800"/>
          </a:p>
        </p:txBody>
      </p:sp>
      <p:sp>
        <p:nvSpPr>
          <p:cNvPr id="1146" name="Google Shape;1146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1147" name="Google Shape;1147;p87"/>
          <p:cNvSpPr txBox="1"/>
          <p:nvPr/>
        </p:nvSpPr>
        <p:spPr>
          <a:xfrm>
            <a:off x="2277150" y="1707025"/>
            <a:ext cx="433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16, 19, 25, 28, 29, 29, 30, 32, 42, 51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29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7"/>
          <p:cNvSpPr/>
          <p:nvPr/>
        </p:nvSpPr>
        <p:spPr>
          <a:xfrm>
            <a:off x="4000500" y="1774650"/>
            <a:ext cx="752100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9" name="Google Shape;1149;p87"/>
          <p:cNvCxnSpPr/>
          <p:nvPr/>
        </p:nvCxnSpPr>
        <p:spPr>
          <a:xfrm>
            <a:off x="4391590" y="1774650"/>
            <a:ext cx="0" cy="33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50" name="Google Shape;1150;p87"/>
          <p:cNvSpPr txBox="1"/>
          <p:nvPr/>
        </p:nvSpPr>
        <p:spPr>
          <a:xfrm>
            <a:off x="2406300" y="3040663"/>
            <a:ext cx="433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these data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87"/>
          <p:cNvSpPr txBox="1"/>
          <p:nvPr/>
        </p:nvSpPr>
        <p:spPr>
          <a:xfrm>
            <a:off x="2658300" y="4066525"/>
            <a:ext cx="433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-10, -9, -7, -3, -3, -2, -1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-3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87"/>
          <p:cNvSpPr/>
          <p:nvPr/>
        </p:nvSpPr>
        <p:spPr>
          <a:xfrm>
            <a:off x="3974275" y="4145150"/>
            <a:ext cx="376200" cy="3372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small data sets</a:t>
            </a:r>
            <a:endParaRPr/>
          </a:p>
        </p:txBody>
      </p:sp>
      <p:sp>
        <p:nvSpPr>
          <p:cNvPr id="1158" name="Google Shape;1158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159" name="Google Shape;1159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pic>
        <p:nvPicPr>
          <p:cNvPr id="1160" name="Google Shape;11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6" y="29953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166" name="Google Shape;1166;p89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some data regarding number of attendees at a team practice.  </a:t>
            </a:r>
            <a:endParaRPr sz="1800"/>
          </a:p>
        </p:txBody>
      </p:sp>
      <p:sp>
        <p:nvSpPr>
          <p:cNvPr id="1167" name="Google Shape;1167;p89"/>
          <p:cNvSpPr txBox="1"/>
          <p:nvPr/>
        </p:nvSpPr>
        <p:spPr>
          <a:xfrm>
            <a:off x="3423750" y="1056775"/>
            <a:ext cx="214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15, 13, 14, 15, 16,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16, 17, 12, 13, 14,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16, 16, 18, 15, 12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9"/>
          <p:cNvSpPr txBox="1"/>
          <p:nvPr/>
        </p:nvSpPr>
        <p:spPr>
          <a:xfrm>
            <a:off x="247800" y="1986600"/>
            <a:ext cx="84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number of attendees we need to order the data first.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9"/>
          <p:cNvSpPr txBox="1"/>
          <p:nvPr/>
        </p:nvSpPr>
        <p:spPr>
          <a:xfrm>
            <a:off x="3464950" y="2495550"/>
            <a:ext cx="279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12, 13, 13, 14,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14, 15, 15, 15, 16,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16, 16, 16, 17, 18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9"/>
          <p:cNvSpPr txBox="1"/>
          <p:nvPr/>
        </p:nvSpPr>
        <p:spPr>
          <a:xfrm>
            <a:off x="247800" y="3533225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Then we can work from the ends in towards the middle.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89"/>
          <p:cNvCxnSpPr/>
          <p:nvPr/>
        </p:nvCxnSpPr>
        <p:spPr>
          <a:xfrm flipH="1" rot="10800000">
            <a:off x="3617200" y="2569950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89"/>
          <p:cNvCxnSpPr/>
          <p:nvPr/>
        </p:nvCxnSpPr>
        <p:spPr>
          <a:xfrm flipH="1" rot="10800000">
            <a:off x="5053613" y="3149321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89"/>
          <p:cNvCxnSpPr/>
          <p:nvPr/>
        </p:nvCxnSpPr>
        <p:spPr>
          <a:xfrm flipH="1" rot="10800000">
            <a:off x="3964103" y="2571750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89"/>
          <p:cNvCxnSpPr/>
          <p:nvPr/>
        </p:nvCxnSpPr>
        <p:spPr>
          <a:xfrm flipH="1" rot="10800000">
            <a:off x="4320005" y="2607824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89"/>
          <p:cNvCxnSpPr/>
          <p:nvPr/>
        </p:nvCxnSpPr>
        <p:spPr>
          <a:xfrm flipH="1" rot="10800000">
            <a:off x="4707106" y="2607824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89"/>
          <p:cNvCxnSpPr/>
          <p:nvPr/>
        </p:nvCxnSpPr>
        <p:spPr>
          <a:xfrm flipH="1" rot="10800000">
            <a:off x="5022806" y="2607824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89"/>
          <p:cNvCxnSpPr/>
          <p:nvPr/>
        </p:nvCxnSpPr>
        <p:spPr>
          <a:xfrm flipH="1" rot="10800000">
            <a:off x="4707105" y="3149327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89"/>
          <p:cNvCxnSpPr/>
          <p:nvPr/>
        </p:nvCxnSpPr>
        <p:spPr>
          <a:xfrm flipH="1" rot="10800000">
            <a:off x="4360581" y="3149314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89"/>
          <p:cNvCxnSpPr/>
          <p:nvPr/>
        </p:nvCxnSpPr>
        <p:spPr>
          <a:xfrm flipH="1" rot="10800000">
            <a:off x="3964106" y="3149352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89"/>
          <p:cNvCxnSpPr/>
          <p:nvPr/>
        </p:nvCxnSpPr>
        <p:spPr>
          <a:xfrm flipH="1" rot="10800000">
            <a:off x="3614868" y="3151502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89"/>
          <p:cNvCxnSpPr/>
          <p:nvPr/>
        </p:nvCxnSpPr>
        <p:spPr>
          <a:xfrm flipH="1" rot="10800000">
            <a:off x="5113306" y="2860714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89"/>
          <p:cNvCxnSpPr/>
          <p:nvPr/>
        </p:nvCxnSpPr>
        <p:spPr>
          <a:xfrm flipH="1" rot="10800000">
            <a:off x="3617200" y="2860713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89"/>
          <p:cNvCxnSpPr/>
          <p:nvPr/>
        </p:nvCxnSpPr>
        <p:spPr>
          <a:xfrm flipH="1" rot="10800000">
            <a:off x="4755306" y="2878577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89"/>
          <p:cNvCxnSpPr/>
          <p:nvPr/>
        </p:nvCxnSpPr>
        <p:spPr>
          <a:xfrm flipH="1" rot="10800000">
            <a:off x="3964093" y="2860539"/>
            <a:ext cx="137400" cy="26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89"/>
          <p:cNvSpPr txBox="1"/>
          <p:nvPr/>
        </p:nvSpPr>
        <p:spPr>
          <a:xfrm>
            <a:off x="263550" y="4110450"/>
            <a:ext cx="785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becomes more difficult when the data are spread across multiple lines.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9"/>
          <p:cNvSpPr txBox="1"/>
          <p:nvPr/>
        </p:nvSpPr>
        <p:spPr>
          <a:xfrm>
            <a:off x="6143150" y="2700000"/>
            <a:ext cx="284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15.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192" name="Google Shape;1192;p90"/>
          <p:cNvSpPr txBox="1"/>
          <p:nvPr>
            <p:ph idx="1" type="body"/>
          </p:nvPr>
        </p:nvSpPr>
        <p:spPr>
          <a:xfrm>
            <a:off x="324000" y="759300"/>
            <a:ext cx="82377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some data regarding mean maximum daily temperatures in Cardiff Bute Park over a period of time.  </a:t>
            </a:r>
            <a:endParaRPr sz="1800"/>
          </a:p>
        </p:txBody>
      </p:sp>
      <p:sp>
        <p:nvSpPr>
          <p:cNvPr id="1193" name="Google Shape;1193;p90"/>
          <p:cNvSpPr txBox="1"/>
          <p:nvPr/>
        </p:nvSpPr>
        <p:spPr>
          <a:xfrm>
            <a:off x="305340" y="1472400"/>
            <a:ext cx="8559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4.4, 4.6, 5.4, 5.5, 5.7, 6, 6.2, 6.5, 6.6, 6.8, 7.5, 7.9, 8.2, 8.3, 8.4, 8.4, 8.8, 8.8, 8.8, 9.2, 9.5, 9.6, 9.6, 9.6,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.8, 9.9, 9.9, 10.1, 10.2, 10.3, 10.3, 10.5, 10.6, 10.9, 10.9, 11.2, 11.3, 11.4, 11.6, 11.6, 11.8, 12.3, 12.5, 2.6, 13.2, 13.3, 13.3, 13.9, 13.9, 14.2, 14.2, 14.4, 14.5, 14.8, 15.3, 15.4, 15.4, 15.5, 16.1, 16.6, 16.6, 7.1, 17.3, 17.3, 17.4, 17.7, 17.7, 17.8, 18.2, 18.3, 18.3, 18.3, 18.4, 18.4, 18.5, 18.5, 18.7, 18.9, 18.9, 19, 19.1, 19.2, 19.3, 19.6, 20, 20, 20.1, 20.9, 20.9, 21.1, 21.2, 21.6,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2.1, 23.1, 23.3, 23.5, 25.9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90"/>
          <p:cNvSpPr txBox="1"/>
          <p:nvPr/>
        </p:nvSpPr>
        <p:spPr>
          <a:xfrm>
            <a:off x="291025" y="3677625"/>
            <a:ext cx="784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working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towards the middle starts to be impractical as our data set increases.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there another way?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200" name="Google Shape;1200;p91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there are three data points in order, which position is the </a:t>
            </a:r>
            <a:r>
              <a:rPr b="1" lang="en-GB" sz="1800"/>
              <a:t>median</a:t>
            </a:r>
            <a:r>
              <a:rPr lang="en-GB" sz="1800"/>
              <a:t> in?</a:t>
            </a:r>
            <a:endParaRPr sz="1800"/>
          </a:p>
        </p:txBody>
      </p:sp>
      <p:cxnSp>
        <p:nvCxnSpPr>
          <p:cNvPr id="1201" name="Google Shape;1201;p91"/>
          <p:cNvCxnSpPr/>
          <p:nvPr/>
        </p:nvCxnSpPr>
        <p:spPr>
          <a:xfrm>
            <a:off x="3148475" y="1519200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91"/>
          <p:cNvCxnSpPr/>
          <p:nvPr/>
        </p:nvCxnSpPr>
        <p:spPr>
          <a:xfrm>
            <a:off x="4090163" y="1519200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91"/>
          <p:cNvCxnSpPr/>
          <p:nvPr/>
        </p:nvCxnSpPr>
        <p:spPr>
          <a:xfrm>
            <a:off x="5031850" y="1519200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91"/>
          <p:cNvSpPr txBox="1"/>
          <p:nvPr/>
        </p:nvSpPr>
        <p:spPr>
          <a:xfrm>
            <a:off x="3206225" y="1111050"/>
            <a:ext cx="4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1"/>
          <p:cNvSpPr txBox="1"/>
          <p:nvPr/>
        </p:nvSpPr>
        <p:spPr>
          <a:xfrm>
            <a:off x="4053600" y="1111050"/>
            <a:ext cx="4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1"/>
          <p:cNvSpPr txBox="1"/>
          <p:nvPr/>
        </p:nvSpPr>
        <p:spPr>
          <a:xfrm>
            <a:off x="5111225" y="1111050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1"/>
          <p:cNvSpPr txBox="1"/>
          <p:nvPr>
            <p:ph idx="1" type="body"/>
          </p:nvPr>
        </p:nvSpPr>
        <p:spPr>
          <a:xfrm>
            <a:off x="324000" y="1749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there are five data points in order, which position is the </a:t>
            </a:r>
            <a:r>
              <a:rPr b="1" lang="en-GB" sz="1800"/>
              <a:t>median</a:t>
            </a:r>
            <a:r>
              <a:rPr lang="en-GB" sz="1800"/>
              <a:t> in?</a:t>
            </a:r>
            <a:endParaRPr sz="1800"/>
          </a:p>
        </p:txBody>
      </p:sp>
      <p:cxnSp>
        <p:nvCxnSpPr>
          <p:cNvPr id="1208" name="Google Shape;1208;p91"/>
          <p:cNvCxnSpPr/>
          <p:nvPr/>
        </p:nvCxnSpPr>
        <p:spPr>
          <a:xfrm>
            <a:off x="4152650" y="2612388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91"/>
          <p:cNvCxnSpPr/>
          <p:nvPr/>
        </p:nvCxnSpPr>
        <p:spPr>
          <a:xfrm>
            <a:off x="5094338" y="2612388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91"/>
          <p:cNvCxnSpPr/>
          <p:nvPr/>
        </p:nvCxnSpPr>
        <p:spPr>
          <a:xfrm>
            <a:off x="6036025" y="2612388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91"/>
          <p:cNvSpPr txBox="1"/>
          <p:nvPr/>
        </p:nvSpPr>
        <p:spPr>
          <a:xfrm>
            <a:off x="2305400" y="2204238"/>
            <a:ext cx="41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91"/>
          <p:cNvSpPr txBox="1"/>
          <p:nvPr/>
        </p:nvSpPr>
        <p:spPr>
          <a:xfrm>
            <a:off x="3267104" y="2204238"/>
            <a:ext cx="4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1"/>
          <p:cNvSpPr txBox="1"/>
          <p:nvPr/>
        </p:nvSpPr>
        <p:spPr>
          <a:xfrm>
            <a:off x="4210400" y="2204238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4" name="Google Shape;1214;p91"/>
          <p:cNvCxnSpPr/>
          <p:nvPr/>
        </p:nvCxnSpPr>
        <p:spPr>
          <a:xfrm>
            <a:off x="2318450" y="2612388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91"/>
          <p:cNvCxnSpPr/>
          <p:nvPr/>
        </p:nvCxnSpPr>
        <p:spPr>
          <a:xfrm>
            <a:off x="3260138" y="2612388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6" name="Google Shape;1216;p91"/>
          <p:cNvSpPr txBox="1"/>
          <p:nvPr/>
        </p:nvSpPr>
        <p:spPr>
          <a:xfrm>
            <a:off x="5147738" y="2204238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1"/>
          <p:cNvSpPr txBox="1"/>
          <p:nvPr/>
        </p:nvSpPr>
        <p:spPr>
          <a:xfrm>
            <a:off x="6063038" y="2204238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1"/>
          <p:cNvSpPr txBox="1"/>
          <p:nvPr>
            <p:ph idx="1" type="body"/>
          </p:nvPr>
        </p:nvSpPr>
        <p:spPr>
          <a:xfrm>
            <a:off x="324000" y="29628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there are nine data points in order, which position is the </a:t>
            </a:r>
            <a:r>
              <a:rPr b="1" lang="en-GB" sz="1800"/>
              <a:t>median</a:t>
            </a:r>
            <a:r>
              <a:rPr lang="en-GB" sz="1800"/>
              <a:t> in?</a:t>
            </a:r>
            <a:endParaRPr sz="1800"/>
          </a:p>
        </p:txBody>
      </p:sp>
      <p:cxnSp>
        <p:nvCxnSpPr>
          <p:cNvPr id="1219" name="Google Shape;1219;p91"/>
          <p:cNvCxnSpPr/>
          <p:nvPr/>
        </p:nvCxnSpPr>
        <p:spPr>
          <a:xfrm>
            <a:off x="2323650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91"/>
          <p:cNvCxnSpPr/>
          <p:nvPr/>
        </p:nvCxnSpPr>
        <p:spPr>
          <a:xfrm>
            <a:off x="3265338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91"/>
          <p:cNvCxnSpPr/>
          <p:nvPr/>
        </p:nvCxnSpPr>
        <p:spPr>
          <a:xfrm>
            <a:off x="4207025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91"/>
          <p:cNvSpPr txBox="1"/>
          <p:nvPr/>
        </p:nvSpPr>
        <p:spPr>
          <a:xfrm>
            <a:off x="476400" y="3425525"/>
            <a:ext cx="41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1"/>
          <p:cNvSpPr txBox="1"/>
          <p:nvPr/>
        </p:nvSpPr>
        <p:spPr>
          <a:xfrm>
            <a:off x="1438104" y="3425525"/>
            <a:ext cx="4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1"/>
          <p:cNvSpPr txBox="1"/>
          <p:nvPr/>
        </p:nvSpPr>
        <p:spPr>
          <a:xfrm>
            <a:off x="2381400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5" name="Google Shape;1225;p91"/>
          <p:cNvCxnSpPr/>
          <p:nvPr/>
        </p:nvCxnSpPr>
        <p:spPr>
          <a:xfrm>
            <a:off x="489450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91"/>
          <p:cNvCxnSpPr/>
          <p:nvPr/>
        </p:nvCxnSpPr>
        <p:spPr>
          <a:xfrm>
            <a:off x="1431138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91"/>
          <p:cNvSpPr txBox="1"/>
          <p:nvPr/>
        </p:nvSpPr>
        <p:spPr>
          <a:xfrm>
            <a:off x="3318738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1"/>
          <p:cNvSpPr txBox="1"/>
          <p:nvPr/>
        </p:nvSpPr>
        <p:spPr>
          <a:xfrm>
            <a:off x="4234038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9" name="Google Shape;1229;p91"/>
          <p:cNvCxnSpPr/>
          <p:nvPr/>
        </p:nvCxnSpPr>
        <p:spPr>
          <a:xfrm>
            <a:off x="6041850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91"/>
          <p:cNvCxnSpPr/>
          <p:nvPr/>
        </p:nvCxnSpPr>
        <p:spPr>
          <a:xfrm>
            <a:off x="6983538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91"/>
          <p:cNvCxnSpPr/>
          <p:nvPr/>
        </p:nvCxnSpPr>
        <p:spPr>
          <a:xfrm>
            <a:off x="7925225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91"/>
          <p:cNvCxnSpPr/>
          <p:nvPr/>
        </p:nvCxnSpPr>
        <p:spPr>
          <a:xfrm>
            <a:off x="5149338" y="3833675"/>
            <a:ext cx="53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91"/>
          <p:cNvSpPr txBox="1"/>
          <p:nvPr/>
        </p:nvSpPr>
        <p:spPr>
          <a:xfrm>
            <a:off x="7036938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1"/>
          <p:cNvSpPr txBox="1"/>
          <p:nvPr/>
        </p:nvSpPr>
        <p:spPr>
          <a:xfrm>
            <a:off x="7952238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1"/>
          <p:cNvSpPr txBox="1"/>
          <p:nvPr/>
        </p:nvSpPr>
        <p:spPr>
          <a:xfrm>
            <a:off x="5114825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1"/>
          <p:cNvSpPr txBox="1"/>
          <p:nvPr/>
        </p:nvSpPr>
        <p:spPr>
          <a:xfrm>
            <a:off x="6030125" y="3425525"/>
            <a:ext cx="58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baseline="30000" lang="en-GB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baseline="30000"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1"/>
          <p:cNvSpPr/>
          <p:nvPr/>
        </p:nvSpPr>
        <p:spPr>
          <a:xfrm>
            <a:off x="4028400" y="1108800"/>
            <a:ext cx="532800" cy="46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1"/>
          <p:cNvSpPr/>
          <p:nvPr/>
        </p:nvSpPr>
        <p:spPr>
          <a:xfrm>
            <a:off x="4124103" y="2204238"/>
            <a:ext cx="612000" cy="46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1"/>
          <p:cNvSpPr/>
          <p:nvPr/>
        </p:nvSpPr>
        <p:spPr>
          <a:xfrm>
            <a:off x="4152999" y="3423438"/>
            <a:ext cx="612000" cy="461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1"/>
          <p:cNvSpPr txBox="1"/>
          <p:nvPr/>
        </p:nvSpPr>
        <p:spPr>
          <a:xfrm>
            <a:off x="277775" y="4084825"/>
            <a:ext cx="788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there a connection between the number of data points and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graphicFrame>
        <p:nvGraphicFramePr>
          <p:cNvPr id="1246" name="Google Shape;1246;p92"/>
          <p:cNvGraphicFramePr/>
          <p:nvPr/>
        </p:nvGraphicFramePr>
        <p:xfrm>
          <a:off x="3002800" y="85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{C771305D-8699-4A74-8690-8485B180B0E5}</a:tableStyleId>
              </a:tblPr>
              <a:tblGrid>
                <a:gridCol w="1531075"/>
                <a:gridCol w="153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umber of data points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osition of the </a:t>
                      </a: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47" name="Google Shape;124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87" y="28717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2"/>
          <p:cNvSpPr txBox="1"/>
          <p:nvPr/>
        </p:nvSpPr>
        <p:spPr>
          <a:xfrm>
            <a:off x="145663" y="362572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2"/>
          <p:cNvSpPr txBox="1"/>
          <p:nvPr/>
        </p:nvSpPr>
        <p:spPr>
          <a:xfrm>
            <a:off x="7459209" y="3734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0" name="Google Shape;125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08627" y="28401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9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225159" y="117642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2"/>
          <p:cNvSpPr txBox="1"/>
          <p:nvPr/>
        </p:nvSpPr>
        <p:spPr>
          <a:xfrm>
            <a:off x="433450" y="1225625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Halve the number of data and then add 0.5 to get the position.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3" name="Google Shape;1253;p9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6128184" y="10791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2"/>
          <p:cNvSpPr txBox="1"/>
          <p:nvPr/>
        </p:nvSpPr>
        <p:spPr>
          <a:xfrm>
            <a:off x="6187800" y="1118425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 1 to the number of data and then halve to get the position.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2"/>
          <p:cNvSpPr txBox="1"/>
          <p:nvPr/>
        </p:nvSpPr>
        <p:spPr>
          <a:xfrm>
            <a:off x="1964950" y="3190225"/>
            <a:ext cx="19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2"/>
          <p:cNvSpPr txBox="1"/>
          <p:nvPr/>
        </p:nvSpPr>
        <p:spPr>
          <a:xfrm>
            <a:off x="2026800" y="3625725"/>
            <a:ext cx="360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both correct.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262" name="Google Shape;1262;p93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if</a:t>
            </a:r>
            <a:r>
              <a:rPr lang="en-GB" sz="2000"/>
              <a:t> there are 19 data points, which position is the </a:t>
            </a:r>
            <a:r>
              <a:rPr b="1" lang="en-GB" sz="2000"/>
              <a:t>median</a:t>
            </a:r>
            <a:r>
              <a:rPr lang="en-GB" sz="2000"/>
              <a:t> in? </a:t>
            </a:r>
            <a:endParaRPr sz="2000"/>
          </a:p>
        </p:txBody>
      </p:sp>
      <p:pic>
        <p:nvPicPr>
          <p:cNvPr id="1263" name="Google Shape;126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862" y="28777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93"/>
          <p:cNvSpPr txBox="1"/>
          <p:nvPr/>
        </p:nvSpPr>
        <p:spPr>
          <a:xfrm>
            <a:off x="1312938" y="36316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5" name="Google Shape;1265;p9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392434" y="11824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3"/>
          <p:cNvSpPr txBox="1"/>
          <p:nvPr/>
        </p:nvSpPr>
        <p:spPr>
          <a:xfrm>
            <a:off x="1600725" y="1231600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÷ 2 = 9.5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9.5 + 0.5 =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in the 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3"/>
          <p:cNvSpPr txBox="1"/>
          <p:nvPr/>
        </p:nvSpPr>
        <p:spPr>
          <a:xfrm>
            <a:off x="6240009" y="38102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8" name="Google Shape;126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689427" y="2916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9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08984" y="11553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3"/>
          <p:cNvSpPr txBox="1"/>
          <p:nvPr/>
        </p:nvSpPr>
        <p:spPr>
          <a:xfrm>
            <a:off x="4968600" y="1194625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+ 1 = 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in the 10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276" name="Google Shape;1276;p94"/>
          <p:cNvSpPr txBox="1"/>
          <p:nvPr>
            <p:ph idx="1" type="body"/>
          </p:nvPr>
        </p:nvSpPr>
        <p:spPr>
          <a:xfrm>
            <a:off x="324000" y="810000"/>
            <a:ext cx="82377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if there are </a:t>
            </a:r>
            <a:r>
              <a:rPr lang="en-GB" sz="2000">
                <a:solidFill>
                  <a:schemeClr val="lt1"/>
                </a:solidFill>
              </a:rPr>
              <a:t>n</a:t>
            </a:r>
            <a:r>
              <a:rPr lang="en-GB" sz="2000"/>
              <a:t> data points, which position is the </a:t>
            </a:r>
            <a:r>
              <a:rPr b="1" lang="en-GB" sz="2000"/>
              <a:t>median</a:t>
            </a:r>
            <a:r>
              <a:rPr lang="en-GB" sz="2000"/>
              <a:t> in? </a:t>
            </a:r>
            <a:endParaRPr sz="2000"/>
          </a:p>
        </p:txBody>
      </p:sp>
      <p:pic>
        <p:nvPicPr>
          <p:cNvPr id="1277" name="Google Shape;127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862" y="28777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94"/>
          <p:cNvSpPr txBox="1"/>
          <p:nvPr/>
        </p:nvSpPr>
        <p:spPr>
          <a:xfrm>
            <a:off x="1312938" y="36316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9" name="Google Shape;1279;p9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392434" y="118240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4"/>
          <p:cNvSpPr txBox="1"/>
          <p:nvPr/>
        </p:nvSpPr>
        <p:spPr>
          <a:xfrm>
            <a:off x="1600725" y="1231600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would be in the             position.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4"/>
          <p:cNvSpPr txBox="1"/>
          <p:nvPr/>
        </p:nvSpPr>
        <p:spPr>
          <a:xfrm>
            <a:off x="6240009" y="38102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2" name="Google Shape;128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689427" y="29163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9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08984" y="1155300"/>
            <a:ext cx="2662052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&quot;&gt;&lt;mi&gt;n&lt;/mi&gt;&lt;/math&gt;" id="1284" name="Google Shape;1284;p94" title="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65046" y="915954"/>
            <a:ext cx="134650" cy="13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n}{2}+\frac{1}{2}&quot;&gt;&lt;mfrac&gt;&lt;mi&gt;n&lt;/mi&gt;&lt;mn&gt;2&lt;/mn&gt;&lt;/mfrac&gt;&lt;mo&gt;+&lt;/mo&gt;&lt;mfrac&gt;&lt;mn&gt;1&lt;/mn&gt;&lt;mn&gt;2&lt;/mn&gt;&lt;/mfrac&gt;&lt;/math&gt;" id="1285" name="Google Shape;1285;p94" title="n over 2 plu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5523" y="1652400"/>
            <a:ext cx="604800" cy="4752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4"/>
          <p:cNvSpPr txBox="1"/>
          <p:nvPr/>
        </p:nvSpPr>
        <p:spPr>
          <a:xfrm>
            <a:off x="4938900" y="1209075"/>
            <a:ext cx="248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would be in the             position.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n+1}{2}&quot;&gt;&lt;mfrac&gt;&lt;mrow&gt;&lt;mi&gt;n&lt;/mi&gt;&lt;mo&gt;+&lt;/mo&gt;&lt;mn&gt;1&lt;/mn&gt;&lt;/mrow&gt;&lt;mn&gt;2&lt;/mn&gt;&lt;/mfrac&gt;&lt;/math&gt;" id="1287" name="Google Shape;1287;p94" title="the fraction with numerator n plus 1 and denominator 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8225" y="1652400"/>
            <a:ext cx="521197" cy="4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94"/>
          <p:cNvSpPr txBox="1"/>
          <p:nvPr/>
        </p:nvSpPr>
        <p:spPr>
          <a:xfrm>
            <a:off x="2887200" y="2731750"/>
            <a:ext cx="3409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has fractions with a common denominator so as a single fraction it is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same as Laura’s.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n}{2}+\frac{1}{2}\equiv\frac{n+1}{2}&quot;&gt;&lt;mfrac&gt;&lt;mi&gt;n&lt;/mi&gt;&lt;mn&gt;2&lt;/mn&gt;&lt;/mfrac&gt;&lt;mo&gt;+&lt;/mo&gt;&lt;mfrac&gt;&lt;mn&gt;1&lt;/mn&gt;&lt;mn&gt;2&lt;/mn&gt;&lt;/mfrac&gt;&lt;mo&gt;≡&lt;/mo&gt;&lt;mfrac&gt;&lt;mrow&gt;&lt;mi&gt;n&lt;/mi&gt;&lt;mo&gt;+&lt;/mo&gt;&lt;mn&gt;1&lt;/mn&gt;&lt;/mrow&gt;&lt;mn&gt;2&lt;/mn&gt;&lt;/mfrac&gt;&lt;/math&gt;" id="1289" name="Google Shape;1289;p94" title="n over 2 plus one half is identical to the fraction with numerator n plus 1 and denominator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26977" y="4063825"/>
            <a:ext cx="1582101" cy="512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295" name="Google Shape;1295;p95"/>
          <p:cNvSpPr txBox="1"/>
          <p:nvPr>
            <p:ph idx="1" type="body"/>
          </p:nvPr>
        </p:nvSpPr>
        <p:spPr>
          <a:xfrm>
            <a:off x="324000" y="9879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data set has 431 pieces of data.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position of the </a:t>
            </a:r>
            <a:r>
              <a:rPr b="1" lang="en-GB"/>
              <a:t>median</a:t>
            </a:r>
            <a:r>
              <a:rPr lang="en-GB"/>
              <a:t>?</a:t>
            </a:r>
            <a:endParaRPr/>
          </a:p>
        </p:txBody>
      </p:sp>
      <p:sp>
        <p:nvSpPr>
          <p:cNvPr id="1296" name="Google Shape;1296;p95"/>
          <p:cNvSpPr txBox="1"/>
          <p:nvPr/>
        </p:nvSpPr>
        <p:spPr>
          <a:xfrm>
            <a:off x="3055775" y="2218500"/>
            <a:ext cx="4161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431 + 1 = 432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432 ÷ 2 = 216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216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position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302" name="Google Shape;1302;p96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dot plot </a:t>
            </a:r>
            <a:r>
              <a:rPr lang="en-GB"/>
              <a:t>represents a set of data. </a:t>
            </a:r>
            <a:r>
              <a:rPr lang="en-GB"/>
              <a:t> </a:t>
            </a:r>
            <a:endParaRPr/>
          </a:p>
        </p:txBody>
      </p:sp>
      <p:pic>
        <p:nvPicPr>
          <p:cNvPr id="1303" name="Google Shape;130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75" y="1286525"/>
            <a:ext cx="7989074" cy="10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96"/>
          <p:cNvSpPr txBox="1"/>
          <p:nvPr>
            <p:ph idx="1" type="body"/>
          </p:nvPr>
        </p:nvSpPr>
        <p:spPr>
          <a:xfrm>
            <a:off x="324000" y="2659925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11 data points.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median</a:t>
            </a:r>
            <a:r>
              <a:rPr lang="en-GB"/>
              <a:t> is in the                  </a:t>
            </a:r>
            <a:r>
              <a:rPr baseline="30000" lang="en-GB"/>
              <a:t>th</a:t>
            </a:r>
            <a:r>
              <a:rPr lang="en-GB"/>
              <a:t> position.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1+1}{2}=6&quot;&gt;&lt;mfrac&gt;&lt;mrow&gt;&lt;mn&gt;11&lt;/mn&gt;&lt;mo&gt;+&lt;/mo&gt;&lt;mn&gt;1&lt;/mn&gt;&lt;/mrow&gt;&lt;mn&gt;2&lt;/mn&gt;&lt;/mfrac&gt;&lt;mo&gt;=&lt;/mo&gt;&lt;mn&gt;6&lt;/mn&gt;&lt;/math&gt;" id="1305" name="Google Shape;1305;p96" title="the fraction with numerator 11 plus 1 and denominator 2 equal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451" y="3092400"/>
            <a:ext cx="1254876" cy="5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96"/>
          <p:cNvSpPr/>
          <p:nvPr/>
        </p:nvSpPr>
        <p:spPr>
          <a:xfrm>
            <a:off x="606825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6"/>
          <p:cNvSpPr/>
          <p:nvPr/>
        </p:nvSpPr>
        <p:spPr>
          <a:xfrm>
            <a:off x="1194753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6"/>
          <p:cNvSpPr/>
          <p:nvPr/>
        </p:nvSpPr>
        <p:spPr>
          <a:xfrm>
            <a:off x="1793169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6"/>
          <p:cNvSpPr/>
          <p:nvPr/>
        </p:nvSpPr>
        <p:spPr>
          <a:xfrm>
            <a:off x="3556953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6"/>
          <p:cNvSpPr/>
          <p:nvPr/>
        </p:nvSpPr>
        <p:spPr>
          <a:xfrm>
            <a:off x="4144881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6"/>
          <p:cNvSpPr/>
          <p:nvPr/>
        </p:nvSpPr>
        <p:spPr>
          <a:xfrm>
            <a:off x="4740033" y="1827675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6"/>
          <p:cNvSpPr txBox="1"/>
          <p:nvPr/>
        </p:nvSpPr>
        <p:spPr>
          <a:xfrm>
            <a:off x="267325" y="3620500"/>
            <a:ext cx="416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is 34.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7" name="Google Shape;131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141926"/>
            <a:ext cx="8495999" cy="144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319" name="Google Shape;1319;p97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20 pieces of data represented on this dot plot. </a:t>
            </a:r>
            <a:endParaRPr sz="1800"/>
          </a:p>
        </p:txBody>
      </p:sp>
      <p:sp>
        <p:nvSpPr>
          <p:cNvPr id="1320" name="Google Shape;1320;p97"/>
          <p:cNvSpPr txBox="1"/>
          <p:nvPr>
            <p:ph idx="1" type="body"/>
          </p:nvPr>
        </p:nvSpPr>
        <p:spPr>
          <a:xfrm>
            <a:off x="324150" y="2847925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median</a:t>
            </a:r>
            <a:r>
              <a:rPr lang="en-GB" sz="1800"/>
              <a:t> is in the                                  </a:t>
            </a:r>
            <a:r>
              <a:rPr baseline="30000" lang="en-GB" sz="1800"/>
              <a:t>th</a:t>
            </a:r>
            <a:r>
              <a:rPr lang="en-GB" sz="1800"/>
              <a:t> position.</a:t>
            </a:r>
            <a:endParaRPr sz="1800"/>
          </a:p>
        </p:txBody>
      </p:sp>
      <p:sp>
        <p:nvSpPr>
          <p:cNvPr id="1321" name="Google Shape;1321;p97"/>
          <p:cNvSpPr/>
          <p:nvPr/>
        </p:nvSpPr>
        <p:spPr>
          <a:xfrm>
            <a:off x="331520" y="1940484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7"/>
          <p:cNvSpPr/>
          <p:nvPr/>
        </p:nvSpPr>
        <p:spPr>
          <a:xfrm>
            <a:off x="331528" y="1564130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7"/>
          <p:cNvSpPr txBox="1"/>
          <p:nvPr/>
        </p:nvSpPr>
        <p:spPr>
          <a:xfrm>
            <a:off x="324000" y="3513075"/>
            <a:ext cx="71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mean of the 10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11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pieces of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+1}{2}=\frac{21}{2}=10.5&quot;&gt;&lt;mfrac&gt;&lt;mrow&gt;&lt;mn&gt;20&lt;/mn&gt;&lt;mo&gt;+&lt;/mo&gt;&lt;mn&gt;1&lt;/mn&gt;&lt;/mrow&gt;&lt;mn&gt;2&lt;/mn&gt;&lt;/mfrac&gt;&lt;mo&gt;=&lt;/mo&gt;&lt;mfrac&gt;&lt;mn&gt;21&lt;/mn&gt;&lt;mn&gt;2&lt;/mn&gt;&lt;/mfrac&gt;&lt;mo&gt;=&lt;/mo&gt;&lt;mn&gt;10.5&lt;/mn&gt;&lt;/math&gt;" id="1324" name="Google Shape;1324;p97" title="the fraction with numerator 20 plus 1 and denominator 2 equals 21 over 2 equals 10.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3250" y="2745150"/>
            <a:ext cx="2025830" cy="49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97"/>
          <p:cNvSpPr/>
          <p:nvPr/>
        </p:nvSpPr>
        <p:spPr>
          <a:xfrm>
            <a:off x="1040375" y="1938050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7"/>
          <p:cNvSpPr/>
          <p:nvPr/>
        </p:nvSpPr>
        <p:spPr>
          <a:xfrm>
            <a:off x="1040383" y="1561696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7"/>
          <p:cNvSpPr/>
          <p:nvPr/>
        </p:nvSpPr>
        <p:spPr>
          <a:xfrm>
            <a:off x="1040383" y="1189391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7"/>
          <p:cNvSpPr/>
          <p:nvPr/>
        </p:nvSpPr>
        <p:spPr>
          <a:xfrm>
            <a:off x="1749220" y="1939272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7"/>
          <p:cNvSpPr/>
          <p:nvPr/>
        </p:nvSpPr>
        <p:spPr>
          <a:xfrm>
            <a:off x="2458075" y="1936838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7"/>
          <p:cNvSpPr/>
          <p:nvPr/>
        </p:nvSpPr>
        <p:spPr>
          <a:xfrm>
            <a:off x="3159400" y="1948050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7"/>
          <p:cNvSpPr/>
          <p:nvPr/>
        </p:nvSpPr>
        <p:spPr>
          <a:xfrm>
            <a:off x="4808961" y="1945561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7"/>
          <p:cNvSpPr/>
          <p:nvPr/>
        </p:nvSpPr>
        <p:spPr>
          <a:xfrm>
            <a:off x="4808969" y="1569207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7"/>
          <p:cNvSpPr/>
          <p:nvPr/>
        </p:nvSpPr>
        <p:spPr>
          <a:xfrm>
            <a:off x="5044086" y="1947199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7"/>
          <p:cNvSpPr/>
          <p:nvPr/>
        </p:nvSpPr>
        <p:spPr>
          <a:xfrm>
            <a:off x="4808944" y="2396744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7"/>
          <p:cNvSpPr/>
          <p:nvPr/>
        </p:nvSpPr>
        <p:spPr>
          <a:xfrm>
            <a:off x="5044086" y="2391292"/>
            <a:ext cx="187800" cy="187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7"/>
          <p:cNvSpPr txBox="1"/>
          <p:nvPr/>
        </p:nvSpPr>
        <p:spPr>
          <a:xfrm>
            <a:off x="324000" y="4038100"/>
            <a:ext cx="63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mean of 74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75 is 74.5,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74.5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342" name="Google Shape;1342;p98"/>
          <p:cNvSpPr txBox="1"/>
          <p:nvPr>
            <p:ph idx="1" type="body"/>
          </p:nvPr>
        </p:nvSpPr>
        <p:spPr>
          <a:xfrm>
            <a:off x="324000" y="9879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data set has 5320 pieces of data.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Between </a:t>
            </a:r>
            <a:r>
              <a:rPr lang="en-GB"/>
              <a:t>which two pieces of data, does the </a:t>
            </a:r>
            <a:r>
              <a:rPr b="1" lang="en-GB"/>
              <a:t>median</a:t>
            </a:r>
            <a:r>
              <a:rPr lang="en-GB"/>
              <a:t> value lie?</a:t>
            </a:r>
            <a:endParaRPr/>
          </a:p>
        </p:txBody>
      </p:sp>
      <p:sp>
        <p:nvSpPr>
          <p:cNvPr id="1343" name="Google Shape;1343;p98"/>
          <p:cNvSpPr txBox="1"/>
          <p:nvPr/>
        </p:nvSpPr>
        <p:spPr>
          <a:xfrm>
            <a:off x="2550075" y="2218500"/>
            <a:ext cx="538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5320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+ 1 = 5321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5321 ÷ 2 = 2660.5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2660.5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position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between 2660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 and the 2661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Work</a:t>
            </a:r>
            <a:r>
              <a:rPr lang="en-GB" sz="1800"/>
              <a:t> out the position of the </a:t>
            </a:r>
            <a:r>
              <a:rPr b="1" lang="en-GB" sz="1800"/>
              <a:t>median </a:t>
            </a:r>
            <a:r>
              <a:rPr lang="en-GB" sz="1800"/>
              <a:t>in each case: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425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327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2389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412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5686 data points </a:t>
            </a:r>
            <a:br>
              <a:rPr lang="en-GB" sz="1800"/>
            </a:br>
            <a:endParaRPr sz="1800"/>
          </a:p>
        </p:txBody>
      </p:sp>
      <p:sp>
        <p:nvSpPr>
          <p:cNvPr id="1349" name="Google Shape;1349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00"/>
          <p:cNvSpPr txBox="1"/>
          <p:nvPr>
            <p:ph idx="1" type="body"/>
          </p:nvPr>
        </p:nvSpPr>
        <p:spPr>
          <a:xfrm>
            <a:off x="324000" y="759300"/>
            <a:ext cx="82377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Work out the </a:t>
            </a:r>
            <a:r>
              <a:rPr b="1" lang="en-GB" sz="1800"/>
              <a:t>median</a:t>
            </a:r>
            <a:r>
              <a:rPr lang="en-GB" sz="1800"/>
              <a:t> from each dot plot</a:t>
            </a:r>
            <a:br>
              <a:rPr lang="en-GB" sz="1800"/>
            </a:br>
            <a:endParaRPr sz="1800"/>
          </a:p>
        </p:txBody>
      </p:sp>
      <p:sp>
        <p:nvSpPr>
          <p:cNvPr id="1355" name="Google Shape;135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pic>
        <p:nvPicPr>
          <p:cNvPr id="1356" name="Google Shape;135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72" y="3189225"/>
            <a:ext cx="7871403" cy="11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175" y="1342837"/>
            <a:ext cx="7676513" cy="11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00"/>
          <p:cNvSpPr txBox="1"/>
          <p:nvPr/>
        </p:nvSpPr>
        <p:spPr>
          <a:xfrm>
            <a:off x="391375" y="1237800"/>
            <a:ext cx="4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00"/>
          <p:cNvSpPr txBox="1"/>
          <p:nvPr/>
        </p:nvSpPr>
        <p:spPr>
          <a:xfrm>
            <a:off x="391375" y="2918100"/>
            <a:ext cx="4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</a:t>
            </a:r>
            <a:r>
              <a:rPr lang="en-GB" sz="1800"/>
              <a:t>Here there are 97 pieces of data in order. </a:t>
            </a:r>
            <a:br>
              <a:rPr lang="en-GB" sz="1800"/>
            </a:br>
            <a:endParaRPr sz="1800"/>
          </a:p>
        </p:txBody>
      </p:sp>
      <p:sp>
        <p:nvSpPr>
          <p:cNvPr id="1365" name="Google Shape;136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01"/>
          <p:cNvSpPr txBox="1"/>
          <p:nvPr/>
        </p:nvSpPr>
        <p:spPr>
          <a:xfrm>
            <a:off x="324000" y="3009150"/>
            <a:ext cx="42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 sz="1800"/>
          </a:p>
        </p:txBody>
      </p:sp>
      <p:sp>
        <p:nvSpPr>
          <p:cNvPr id="1367" name="Google Shape;1367;p101"/>
          <p:cNvSpPr txBox="1"/>
          <p:nvPr/>
        </p:nvSpPr>
        <p:spPr>
          <a:xfrm>
            <a:off x="324000" y="346665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There are 2000 items in the data set in total. The part of the list shown starts at the 998th entry. 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this data set?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…, –4.5,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–4.5, –4.2, –3.9, –3.3, –2.1, –2.0, –0.8, –0.1, 0, 0, 0.2, 0.2, 0.2, 1.7, 1.8,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8" name="Google Shape;1368;p101"/>
          <p:cNvCxnSpPr>
            <a:stCxn id="1369" idx="1"/>
          </p:cNvCxnSpPr>
          <p:nvPr/>
        </p:nvCxnSpPr>
        <p:spPr>
          <a:xfrm rot="10800000">
            <a:off x="961600" y="4410750"/>
            <a:ext cx="160200" cy="22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101"/>
          <p:cNvSpPr txBox="1"/>
          <p:nvPr/>
        </p:nvSpPr>
        <p:spPr>
          <a:xfrm>
            <a:off x="1121800" y="4471950"/>
            <a:ext cx="98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998th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01"/>
          <p:cNvSpPr txBox="1"/>
          <p:nvPr/>
        </p:nvSpPr>
        <p:spPr>
          <a:xfrm>
            <a:off x="292190" y="1036800"/>
            <a:ext cx="855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4.4, 4.6, 5.4, 5.5, 5.7, 6, 6.2, 6.5, 6.6, 6.8, 7.5, 7.9, 8.2, 8.3, 8.4, 8.4, 8.8, 8.8, 8.8, 9.2, 9.5, 9.6, 9.6, 9.6, 9.8, 9.9, 9.9, 10.1, 10.2, 10.3, 10.3, 10.5, 10.6, 10.9, 10.9, 11.2, 11.3, 11.4, 11.6, 11.6, 11.8, 12.3, 12.5, 12.6, 13.2, 13.3, 13.3, 13.9, 13.9, 14.2, 14.2, 14.4, 14.5, 14.8, 15.3, 15.4, 15.4, 15.5, 16.1, 16.6, 16.6, 17.1, 17.3, 17.3, 17.4, 17.7, 17.7, 17.8, 18.2, 18.3, 18.3, 18.3, 18.4, 18.4, 18.5, 18.5, 18.7, 18.9, 18.9, 19, 19.1, 19.2, 19.3, 19.6, 20, 20, 20.1, 20.9, 20.9, 21.1, 21.2, 21.6, 22.1, 23.1, 23.3, 23.5, 25.9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Work out the position of the </a:t>
            </a:r>
            <a:r>
              <a:rPr b="1" lang="en-GB" sz="1800"/>
              <a:t>median </a:t>
            </a:r>
            <a:r>
              <a:rPr lang="en-GB" sz="1800"/>
              <a:t>in each case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425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327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2389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412 data points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5686 data points </a:t>
            </a:r>
            <a:br>
              <a:rPr lang="en-GB" sz="1800"/>
            </a:br>
            <a:endParaRPr sz="1800"/>
          </a:p>
        </p:txBody>
      </p:sp>
      <p:sp>
        <p:nvSpPr>
          <p:cNvPr id="1376" name="Google Shape;137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sp>
        <p:nvSpPr>
          <p:cNvPr id="1377" name="Google Shape;1377;p102"/>
          <p:cNvSpPr txBox="1"/>
          <p:nvPr/>
        </p:nvSpPr>
        <p:spPr>
          <a:xfrm>
            <a:off x="3369700" y="1080000"/>
            <a:ext cx="402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213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8" name="Google Shape;1378;p102"/>
          <p:cNvSpPr txBox="1"/>
          <p:nvPr/>
        </p:nvSpPr>
        <p:spPr>
          <a:xfrm>
            <a:off x="3369600" y="1782600"/>
            <a:ext cx="39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164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9" name="Google Shape;1379;p102"/>
          <p:cNvSpPr txBox="1"/>
          <p:nvPr/>
        </p:nvSpPr>
        <p:spPr>
          <a:xfrm>
            <a:off x="3369600" y="2477675"/>
            <a:ext cx="402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1195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0" name="Google Shape;1380;p102"/>
          <p:cNvSpPr txBox="1"/>
          <p:nvPr/>
        </p:nvSpPr>
        <p:spPr>
          <a:xfrm>
            <a:off x="3369600" y="3106275"/>
            <a:ext cx="545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206.5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 the mean of the 206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207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data values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1" name="Google Shape;1381;p102"/>
          <p:cNvSpPr txBox="1"/>
          <p:nvPr/>
        </p:nvSpPr>
        <p:spPr>
          <a:xfrm>
            <a:off x="3369600" y="3850675"/>
            <a:ext cx="545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2843.5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piece of data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-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mean of the 2843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2844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data values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Work out the median from each dot plot</a:t>
            </a:r>
            <a:br>
              <a:rPr lang="en-GB" sz="1800"/>
            </a:br>
            <a:endParaRPr sz="1800"/>
          </a:p>
        </p:txBody>
      </p:sp>
      <p:sp>
        <p:nvSpPr>
          <p:cNvPr id="1387" name="Google Shape;138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middle in large data sets </a:t>
            </a:r>
            <a:endParaRPr/>
          </a:p>
        </p:txBody>
      </p:sp>
      <p:pic>
        <p:nvPicPr>
          <p:cNvPr id="1388" name="Google Shape;13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72" y="3189225"/>
            <a:ext cx="7871403" cy="11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3"/>
          <p:cNvSpPr txBox="1"/>
          <p:nvPr/>
        </p:nvSpPr>
        <p:spPr>
          <a:xfrm>
            <a:off x="3141025" y="4320000"/>
            <a:ext cx="85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83.5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90" name="Google Shape;139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175" y="1342837"/>
            <a:ext cx="7676513" cy="116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03"/>
          <p:cNvSpPr txBox="1"/>
          <p:nvPr/>
        </p:nvSpPr>
        <p:spPr>
          <a:xfrm>
            <a:off x="3196775" y="2453700"/>
            <a:ext cx="42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2" name="Google Shape;1392;p103"/>
          <p:cNvSpPr txBox="1"/>
          <p:nvPr/>
        </p:nvSpPr>
        <p:spPr>
          <a:xfrm>
            <a:off x="391375" y="1237800"/>
            <a:ext cx="4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3"/>
          <p:cNvSpPr txBox="1"/>
          <p:nvPr/>
        </p:nvSpPr>
        <p:spPr>
          <a:xfrm>
            <a:off x="391375" y="2918100"/>
            <a:ext cx="49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3"/>
          <p:cNvSpPr/>
          <p:nvPr/>
        </p:nvSpPr>
        <p:spPr>
          <a:xfrm>
            <a:off x="3323685" y="2085061"/>
            <a:ext cx="166200" cy="16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5" name="Google Shape;1395;p103"/>
          <p:cNvCxnSpPr/>
          <p:nvPr/>
        </p:nvCxnSpPr>
        <p:spPr>
          <a:xfrm>
            <a:off x="4886815" y="3663325"/>
            <a:ext cx="0" cy="67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04"/>
          <p:cNvSpPr txBox="1"/>
          <p:nvPr>
            <p:ph idx="1" type="body"/>
          </p:nvPr>
        </p:nvSpPr>
        <p:spPr>
          <a:xfrm>
            <a:off x="324000" y="6831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Here there are 97 pieces of data in order. </a:t>
            </a:r>
            <a:br>
              <a:rPr lang="en-GB" sz="1800"/>
            </a:br>
            <a:endParaRPr sz="1800"/>
          </a:p>
        </p:txBody>
      </p:sp>
      <p:sp>
        <p:nvSpPr>
          <p:cNvPr id="1401" name="Google Shape;140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middle in large data sets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04"/>
          <p:cNvSpPr txBox="1"/>
          <p:nvPr/>
        </p:nvSpPr>
        <p:spPr>
          <a:xfrm>
            <a:off x="3381600" y="2907325"/>
            <a:ext cx="51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piece of data in the 49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position → 13.9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3" name="Google Shape;1403;p104"/>
          <p:cNvSpPr txBox="1"/>
          <p:nvPr/>
        </p:nvSpPr>
        <p:spPr>
          <a:xfrm>
            <a:off x="324000" y="2938225"/>
            <a:ext cx="45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 sz="1800"/>
          </a:p>
        </p:txBody>
      </p:sp>
      <p:sp>
        <p:nvSpPr>
          <p:cNvPr id="1404" name="Google Shape;1404;p104"/>
          <p:cNvSpPr txBox="1"/>
          <p:nvPr/>
        </p:nvSpPr>
        <p:spPr>
          <a:xfrm>
            <a:off x="292190" y="1000800"/>
            <a:ext cx="855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4.4, 4.6, 5.4, 5.5, 5.7, 6, 6.2, 6.5, 6.6, 6.8, 7.5, 7.9, 8.2, 8.3, 8.4, 8.4, 8.8, 8.8, 8.8, 9.2, 9.5, 9.6, 9.6, 9.6, 9.8, 9.9, 9.9, 10.1, 10.2, 10.3, 10.3, 10.5, 10.6, 10.9, 10.9, 11.2, 11.3, 11.4, 11.6, 11.6, 11.8, 12.3, 12.5, 12.6, 13.2, 13.3, 13.3, 13.9, 13.9, 14.2, 14.2, 14.4, 14.5, 14.8, 15.3, 15.4, 15.4, 15.5, 16.1, 16.6, 16.6, 17.1, 17.3, 17.3, 17.4, 17.7, 17.7, 17.8, 18.2, 18.3, 18.3, 18.3, 18.4, 18.4, 18.5, 18.5, 18.7, 18.9, 18.9, 19, 19.1, 19.2, 19.3, 19.6, 20, 20, 20.1, 20.9, 20.9, 21.1, 21.2, 21.6, 22.1, 23.1, 23.3, 23.5, 25.9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104"/>
          <p:cNvSpPr/>
          <p:nvPr/>
        </p:nvSpPr>
        <p:spPr>
          <a:xfrm>
            <a:off x="6789600" y="1620000"/>
            <a:ext cx="515100" cy="27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04"/>
          <p:cNvSpPr txBox="1"/>
          <p:nvPr/>
        </p:nvSpPr>
        <p:spPr>
          <a:xfrm>
            <a:off x="324000" y="346665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There are 2000 items in the data set in total. The part of the list shown starts at the 998th entry. What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this data set?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…, –4.5,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–4.5, –4.2, –3.9, –3.3, –2.1, –2.0, –0.8, –0.1, 0, 0, 0.2, 0.2, 0.2, 1.7, 1.8,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7" name="Google Shape;1407;p104"/>
          <p:cNvCxnSpPr>
            <a:stCxn id="1408" idx="1"/>
          </p:cNvCxnSpPr>
          <p:nvPr/>
        </p:nvCxnSpPr>
        <p:spPr>
          <a:xfrm rot="10800000">
            <a:off x="961600" y="4410750"/>
            <a:ext cx="160200" cy="22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104"/>
          <p:cNvSpPr txBox="1"/>
          <p:nvPr/>
        </p:nvSpPr>
        <p:spPr>
          <a:xfrm>
            <a:off x="1121800" y="4471950"/>
            <a:ext cx="983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998th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04"/>
          <p:cNvSpPr/>
          <p:nvPr/>
        </p:nvSpPr>
        <p:spPr>
          <a:xfrm>
            <a:off x="1684800" y="4087200"/>
            <a:ext cx="1066800" cy="27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04"/>
          <p:cNvSpPr txBox="1"/>
          <p:nvPr/>
        </p:nvSpPr>
        <p:spPr>
          <a:xfrm>
            <a:off x="6256800" y="4366200"/>
            <a:ext cx="21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-4.05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median </a:t>
            </a:r>
            <a:r>
              <a:rPr lang="en-GB"/>
              <a:t>is a measure of central tendency.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/>
            </a:br>
            <a:r>
              <a:rPr lang="en-GB"/>
              <a:t>The </a:t>
            </a:r>
            <a:r>
              <a:rPr b="1" lang="en-GB"/>
              <a:t>median </a:t>
            </a:r>
            <a:r>
              <a:rPr lang="en-GB"/>
              <a:t>is the middle (or average middle) value in an ordered data set. </a:t>
            </a:r>
            <a:br>
              <a:rPr lang="en-GB"/>
            </a:br>
            <a:br>
              <a:rPr lang="en-GB"/>
            </a:br>
            <a:r>
              <a:rPr lang="en-GB"/>
              <a:t>The position of the </a:t>
            </a:r>
            <a:r>
              <a:rPr b="1" lang="en-GB"/>
              <a:t>median </a:t>
            </a:r>
            <a:r>
              <a:rPr lang="en-GB"/>
              <a:t>can be found using            , where     is the number of data values.</a:t>
            </a:r>
            <a:endParaRPr/>
          </a:p>
        </p:txBody>
      </p:sp>
      <p:sp>
        <p:nvSpPr>
          <p:cNvPr id="1416" name="Google Shape;1416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n+1}{2}&quot;&gt;&lt;mfrac&gt;&lt;mrow&gt;&lt;mi&gt;n&lt;/mi&gt;&lt;mo&gt;+&lt;/mo&gt;&lt;mn&gt;1&lt;/mn&gt;&lt;/mrow&gt;&lt;mn&gt;2&lt;/mn&gt;&lt;/mfrac&gt;&lt;/math&gt;" id="1417" name="Google Shape;1417;p105" title="the fraction with numerator n plus 1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049" y="2962800"/>
            <a:ext cx="769058" cy="7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n&quot;&gt;&lt;mi&gt;n&lt;/mi&gt;&lt;/math&gt;" id="1418" name="Google Shape;1418;p105" title="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376" y="3606609"/>
            <a:ext cx="144875" cy="1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4" name="Google Shape;142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