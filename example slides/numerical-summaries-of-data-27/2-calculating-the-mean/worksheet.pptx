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90C339A-C76C-41B8-BDEF-D066DE12A25B}">
  <a:tblStyle styleId="{490C339A-C76C-41B8-BDEF-D066DE12A2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g1eb833f42bc_0_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eb833f42bc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801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Calculating the mean from a line graph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902300"/>
            <a:ext cx="65991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line graph to complete the table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5264863" y="2019250"/>
          <a:ext cx="1570750" cy="3020700"/>
        </p:xfrm>
        <a:graphic>
          <a:graphicData uri="http://schemas.openxmlformats.org/drawingml/2006/table">
            <a:tbl>
              <a:tblPr>
                <a:noFill/>
                <a:tableStyleId>{490C339A-C76C-41B8-BDEF-D066DE12A25B}</a:tableStyleId>
              </a:tblPr>
              <a:tblGrid>
                <a:gridCol w="785375"/>
                <a:gridCol w="785375"/>
              </a:tblGrid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  <a:tr h="251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/>
                </a:tc>
              </a:tr>
            </a:tbl>
          </a:graphicData>
        </a:graphic>
      </p:graphicFrame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00" y="2321350"/>
            <a:ext cx="3743340" cy="27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56508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mean of each data set shown on the line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700" y="5988900"/>
            <a:ext cx="3931900" cy="2855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0"/>
          <p:cNvCxnSpPr/>
          <p:nvPr/>
        </p:nvCxnSpPr>
        <p:spPr>
          <a:xfrm>
            <a:off x="460048" y="9949527"/>
            <a:ext cx="659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" name="Shape 173"/>
        <p:cNvGrpSpPr/>
        <p:nvPr/>
      </p:nvGrpSpPr>
      <p:grpSpPr>
        <a:xfrm>
          <a:off x="0" y="0"/>
          <a:ext cx="0" cy="0"/>
        </a:xfrm>
      </p:grpSpPr>
      <p:sp>
        <p:nvSpPr>
          <p:cNvPr id="174" name="Google Shape;17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468000" y="6943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the mean from an ungrouped frequency table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76400" y="11403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class take a quiz, marked out of 6.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frequency table shows the results for the class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1"/>
          <p:cNvGraphicFramePr>
            <a:graphicFrameLocks noGrp="1"/>
          </p:cNvGraphicFramePr>
          <p:nvPr/>
        </p:nvGraphicFramePr>
        <p:xfrm>
          <a:off x="1190800" y="18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{490C339A-C76C-41B8-BDEF-D066DE12A25B}</a:tableStyleId>
              </a:tblPr>
              <a:tblGrid>
                <a:gridCol w="1102275"/>
                <a:gridCol w="582300"/>
                <a:gridCol w="582300"/>
                <a:gridCol w="582300"/>
                <a:gridCol w="582300"/>
                <a:gridCol w="582300"/>
                <a:gridCol w="582300"/>
                <a:gridCol w="582300"/>
              </a:tblGrid>
              <a:tr h="252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Quiz score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</a:tr>
              <a:tr h="252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0" anchor="ctr"/>
                </a:tc>
              </a:tr>
            </a:tbl>
          </a:graphicData>
        </a:graphic>
      </p:graphicFrame>
      <p:sp>
        <p:nvSpPr>
          <p:cNvPr id="178" name="Google Shape;178;p21"/>
          <p:cNvSpPr txBox="1"/>
          <p:nvPr/>
        </p:nvSpPr>
        <p:spPr>
          <a:xfrm>
            <a:off x="593300" y="2361575"/>
            <a:ext cx="6507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many pupils are in the class?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many marks did the class get as a group?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Hence, what is the mean marks per pupil?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76400" y="4874100"/>
            <a:ext cx="6624000" cy="11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frequency table shows the number of bedrooms in different houses within an area of a town.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calculation correctly finds the mean for this frequency table? For each incorrect answer, why is it wrong?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1"/>
          <p:cNvGraphicFramePr>
            <a:graphicFrameLocks noGrp="1"/>
          </p:cNvGraphicFramePr>
          <p:nvPr/>
        </p:nvGraphicFramePr>
        <p:xfrm>
          <a:off x="1190800" y="607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{490C339A-C76C-41B8-BDEF-D066DE12A25B}</a:tableStyleId>
              </a:tblPr>
              <a:tblGrid>
                <a:gridCol w="1032350"/>
                <a:gridCol w="1061700"/>
              </a:tblGrid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solidFill>
                      <a:srgbClr val="0000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solidFill>
                      <a:srgbClr val="000000"/>
                    </a:solidFill>
                  </a:tcPr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5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</a:tbl>
          </a:graphicData>
        </a:graphic>
      </p:graphicFrame>
      <p:pic>
        <p:nvPicPr>
          <p:cNvPr id="181" name="Google Shape;181;p21" descr="&lt;math xmlns=&quot;http://www.w3.org/1998/Math/MathML&quot; display=&quot;block&quot; data-is-equatio=&quot;1&quot; data-latex=&quot;\frac{500}{4}=125&quot;&gt;&lt;mfrac&gt;&lt;mn&gt;500&lt;/mn&gt;&lt;mn&gt;4&lt;/mn&gt;&lt;/mfrac&gt;&lt;mo&gt;=&lt;/mo&gt;&lt;mn&gt;125&lt;/mn&gt;&lt;/math&gt;" title="500 over 4 equals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300" y="6804346"/>
            <a:ext cx="823100" cy="41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&lt;math xmlns=&quot;http://www.w3.org/1998/Math/MathML&quot; display=&quot;block&quot; data-is-equatio=&quot;1&quot; data-latex=&quot;\frac{500}{200}=2.5&quot;&gt;&lt;mfrac&gt;&lt;mn&gt;500&lt;/mn&gt;&lt;mn&gt;200&lt;/mn&gt;&lt;/mfrac&gt;&lt;mo&gt;=&lt;/mo&gt;&lt;mn&gt;2.5&lt;/mn&gt;&lt;/math&gt;" title="500 over 200 equals 2.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8615" y="6152800"/>
            <a:ext cx="780463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&lt;math xmlns=&quot;http://www.w3.org/1998/Math/MathML&quot; display=&quot;block&quot; data-is-equatio=&quot;1&quot; data-latex=&quot;\frac{200}{10}=20&quot;&gt;&lt;mfrac&gt;&lt;mn&gt;200&lt;/mn&gt;&lt;mn&gt;10&lt;/mn&gt;&lt;/mfrac&gt;&lt;mo&gt;=&lt;/mo&gt;&lt;mn&gt;20&lt;/mn&gt;&lt;/math&gt;" title="200 over 10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9543" y="6197541"/>
            <a:ext cx="744652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&lt;math xmlns=&quot;http://www.w3.org/1998/Math/MathML&quot; display=&quot;block&quot; data-is-equatio=&quot;1&quot; data-latex=&quot;\frac{500}{10}=50&quot;&gt;&lt;mfrac&gt;&lt;mn&gt;500&lt;/mn&gt;&lt;mn&gt;10&lt;/mn&gt;&lt;/mfrac&gt;&lt;mo&gt;=&lt;/mo&gt;&lt;mn&gt;50&lt;/mn&gt;&lt;/math&gt;" title="500 over 10 equals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1689" y="6784826"/>
            <a:ext cx="740352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&lt;math xmlns=&quot;http://www.w3.org/1998/Math/MathML&quot; display=&quot;block&quot; data-is-equatio=&quot;1&quot; data-latex=&quot;\frac{200}{4}=50&quot;&gt;&lt;mfrac&gt;&lt;mn&gt;200&lt;/mn&gt;&lt;mn&gt;4&lt;/mn&gt;&lt;/mfrac&gt;&lt;mo&gt;=&lt;/mo&gt;&lt;mn&gt;50&lt;/mn&gt;&lt;/math&gt;" title="200 over 4 equals 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8022" y="7420635"/>
            <a:ext cx="741642" cy="41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&lt;math xmlns=&quot;http://www.w3.org/1998/Math/MathML&quot; display=&quot;block&quot; data-is-equatio=&quot;1&quot; data-latex=&quot;\frac{10}{200}=0.05&quot;&gt;&lt;mfrac&gt;&lt;mn&gt;10&lt;/mn&gt;&lt;mn&gt;200&lt;/mn&gt;&lt;/mfrac&gt;&lt;mo&gt;=&lt;/mo&gt;&lt;mn&gt;0.05&lt;/mn&gt;&lt;/math&gt;" title="10 over 200 equals 0.0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01683" y="7397425"/>
            <a:ext cx="941598" cy="416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1"/>
          <p:cNvCxnSpPr/>
          <p:nvPr/>
        </p:nvCxnSpPr>
        <p:spPr>
          <a:xfrm>
            <a:off x="460048" y="9949527"/>
            <a:ext cx="659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3532800" y="61777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238275" y="61777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532800" y="6870600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238275" y="6765550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566850" y="74441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238275" y="7444163"/>
            <a:ext cx="5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0" name="Google Shape;200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mean</a:t>
            </a:r>
            <a:endParaRPr/>
          </a:p>
        </p:txBody>
      </p:sp>
      <p:sp>
        <p:nvSpPr>
          <p:cNvPr id="201" name="Google Shape;201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468000" y="6943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Calculating the mean from a bar chart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49445" y="1140300"/>
            <a:ext cx="6642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bar chart shows the number of cars per household.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68000" y="1477500"/>
            <a:ext cx="3132900" cy="2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households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cars are there in total across all households?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mean number of cars per household?</a:t>
            </a:r>
            <a:endParaRPr sz="1200"/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137" y="1653914"/>
            <a:ext cx="3631274" cy="252147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52600" y="5026500"/>
            <a:ext cx="6539400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bar chart shows the length of time customers spent waiting at a self-service till (to the nearest minute).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mean wait time?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00" y="6107925"/>
            <a:ext cx="3631276" cy="24711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2"/>
          <p:cNvCxnSpPr/>
          <p:nvPr/>
        </p:nvCxnSpPr>
        <p:spPr>
          <a:xfrm>
            <a:off x="460048" y="9949527"/>
            <a:ext cx="659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Calculating the mean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2023-12-08T09:45:18.667</cp:lastPrinted>
  <dcterms:created xsi:type="dcterms:W3CDTF">2023-12-08T09:45:18Z</dcterms:created>
  <dcterms:modified xsi:type="dcterms:W3CDTF">2023-12-08T09:45:28Z</dcterms:modified>
</cp:coreProperties>
</file>