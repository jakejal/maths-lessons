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21EAF9-D3A7-4AB7-96EE-D2A710880D54}">
  <a:tblStyle styleId="{7521EAF9-D3A7-4AB7-96EE-D2A710880D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e9b38cb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e9b38cb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9e9b38cb8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9e9b38cb8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922834315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922834315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92bb98c04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92bb98c04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1ea221d523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1ea221d523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ea221d523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ea221d523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1ea221d523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ea221d523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9398c899c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9398c899c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9398c899c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9398c899c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1ea221d5237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1ea221d523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1ea221d523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1ea221d523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9398c899c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9398c899c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9398c899c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9398c899c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92bb98c04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92bb98c04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92bb98c04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292bb98c04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92bb98c04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92bb98c04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92bb98c04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92bb98c04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92bb98c040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92bb98c040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92bb98c040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92bb98c040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292bb98c040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292bb98c040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292bb98c040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92bb98c040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92bb98c040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92bb98c040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9630a85c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9630a85c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92bb98c040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92bb98c040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92bb98c040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92bb98c040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92bb98c040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92bb98c040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29398c899c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29398c899c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29650f143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29650f143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9650f1432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9650f1432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9650f1432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9650f1432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29650f1432d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29650f1432d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292bb98c04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292bb98c04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29798fefd4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29798fefd4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1ea221d523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1ea221d523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29398c899c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29398c899c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9398c899ce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9398c899ce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29398c899c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29398c899c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29398c899ce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29398c899ce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29398c899ce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29398c899c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1ea38aa4e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1ea38aa4e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7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6.png"/><Relationship Id="rId4" Type="http://schemas.openxmlformats.org/officeDocument/2006/relationships/image" Target="../media/image23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6.png"/><Relationship Id="rId4" Type="http://schemas.openxmlformats.org/officeDocument/2006/relationships/image" Target="../media/image32.png"/><Relationship Id="rId11" Type="http://schemas.openxmlformats.org/officeDocument/2006/relationships/image" Target="../media/image25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53.png"/><Relationship Id="rId6" Type="http://schemas.openxmlformats.org/officeDocument/2006/relationships/image" Target="../media/image57.png"/><Relationship Id="rId7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image" Target="../media/image5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1.png"/><Relationship Id="rId8" Type="http://schemas.openxmlformats.org/officeDocument/2006/relationships/image" Target="../media/image6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9" Type="http://schemas.openxmlformats.org/officeDocument/2006/relationships/image" Target="../media/image59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1.png"/><Relationship Id="rId8" Type="http://schemas.openxmlformats.org/officeDocument/2006/relationships/image" Target="../media/image6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59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2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6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the mean from data presented in a frequency table and different graphs.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00"/>
              <a:t>mean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18111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/>
              <a:t>measure of central tendency</a:t>
            </a:r>
            <a:endParaRPr sz="22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28492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00"/>
              <a:t>d</a:t>
            </a:r>
            <a:r>
              <a:rPr b="1" lang="en-GB" sz="2200"/>
              <a:t>ata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9" name="Google Shape;769;p6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/>
              <a:t>frequency</a:t>
            </a:r>
            <a:r>
              <a:rPr lang="en-GB" sz="2200"/>
              <a:t> 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8"/>
          <p:cNvSpPr txBox="1"/>
          <p:nvPr>
            <p:ph idx="1" type="subTitle"/>
          </p:nvPr>
        </p:nvSpPr>
        <p:spPr>
          <a:xfrm>
            <a:off x="324000" y="908475"/>
            <a:ext cx="7135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(arithmetic) </a:t>
            </a:r>
            <a:r>
              <a:rPr b="1" lang="en-GB" sz="1800"/>
              <a:t>mean</a:t>
            </a:r>
            <a:r>
              <a:rPr lang="en-GB" sz="1800"/>
              <a:t> for a set of numerical </a:t>
            </a:r>
            <a:r>
              <a:rPr b="1" lang="en-GB" sz="1800"/>
              <a:t>data</a:t>
            </a:r>
            <a:r>
              <a:rPr lang="en-GB" sz="1800"/>
              <a:t> is the sum of the values divided by the number of values. It is a </a:t>
            </a:r>
            <a:r>
              <a:rPr b="1" lang="en-GB" sz="1800"/>
              <a:t>measure of central tendency</a:t>
            </a:r>
            <a:r>
              <a:rPr lang="en-GB" sz="1800"/>
              <a:t> representing the average of the values.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5" name="Google Shape;775;p68"/>
          <p:cNvSpPr txBox="1"/>
          <p:nvPr>
            <p:ph idx="2" type="subTitle"/>
          </p:nvPr>
        </p:nvSpPr>
        <p:spPr>
          <a:xfrm>
            <a:off x="324000" y="21300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b="1" lang="en-GB" sz="1800"/>
              <a:t>measure of central tendency</a:t>
            </a:r>
            <a:r>
              <a:rPr lang="en-GB" sz="1800"/>
              <a:t> is a summary measure that attempts to describe a whole set of </a:t>
            </a:r>
            <a:r>
              <a:rPr b="1" lang="en-GB" sz="1800"/>
              <a:t>data</a:t>
            </a:r>
            <a:r>
              <a:rPr lang="en-GB" sz="1800"/>
              <a:t> with a single value that represents the middle or centre of its distribution. </a:t>
            </a:r>
            <a:endParaRPr sz="1800"/>
          </a:p>
        </p:txBody>
      </p:sp>
      <p:sp>
        <p:nvSpPr>
          <p:cNvPr id="776" name="Google Shape;776;p68"/>
          <p:cNvSpPr txBox="1"/>
          <p:nvPr>
            <p:ph idx="3" type="subTitle"/>
          </p:nvPr>
        </p:nvSpPr>
        <p:spPr>
          <a:xfrm>
            <a:off x="324000" y="32753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/>
              <a:t>Data</a:t>
            </a:r>
            <a:r>
              <a:rPr lang="en-GB" sz="1800"/>
              <a:t> are a collection of information.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7" name="Google Shape;777;p68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frequency</a:t>
            </a:r>
            <a:r>
              <a:rPr lang="en-GB" sz="1800"/>
              <a:t> is the number of times an event occurs; or the number of individuals (people, animals etc.) with some specific property. 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sp>
        <p:nvSpPr>
          <p:cNvPr id="783" name="Google Shape;783;p6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sp>
        <p:nvSpPr>
          <p:cNvPr id="784" name="Google Shape;784;p6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785" name="Google Shape;785;p6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bar chart</a:t>
            </a:r>
            <a:endParaRPr/>
          </a:p>
        </p:txBody>
      </p:sp>
      <p:pic>
        <p:nvPicPr>
          <p:cNvPr id="786" name="Google Shape;78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53" y="17485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sp>
        <p:nvSpPr>
          <p:cNvPr id="792" name="Google Shape;792;p70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Data </a:t>
            </a:r>
            <a:r>
              <a:rPr lang="en-GB" sz="1800"/>
              <a:t>has been </a:t>
            </a:r>
            <a:r>
              <a:rPr lang="en-GB" sz="1800"/>
              <a:t>collected about the number of days of frost in February over 9 different years.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793" name="Google Shape;793;p70"/>
          <p:cNvGraphicFramePr/>
          <p:nvPr/>
        </p:nvGraphicFramePr>
        <p:xfrm>
          <a:off x="363375" y="148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655025"/>
                <a:gridCol w="735950"/>
                <a:gridCol w="735950"/>
                <a:gridCol w="735950"/>
                <a:gridCol w="735950"/>
                <a:gridCol w="735950"/>
                <a:gridCol w="735950"/>
                <a:gridCol w="735950"/>
                <a:gridCol w="735950"/>
                <a:gridCol w="735950"/>
              </a:tblGrid>
              <a:tr h="405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1941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1951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1961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1971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days of frost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4" name="Google Shape;794;p70"/>
          <p:cNvSpPr txBox="1"/>
          <p:nvPr/>
        </p:nvSpPr>
        <p:spPr>
          <a:xfrm>
            <a:off x="271050" y="2718150"/>
            <a:ext cx="86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number of days of frost has been calculated by Aisha and Jacob.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5" name="Google Shape;795;p7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2079400" y="3184850"/>
            <a:ext cx="1659924" cy="1117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272075" y="3090149"/>
            <a:ext cx="1659924" cy="1117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7}{9}\approx7.4&quot;&gt;&lt;mfrac&gt;&lt;mn&gt;67&lt;/mn&gt;&lt;mn&gt;9&lt;/mn&gt;&lt;/mfrac&gt;&lt;mo&gt;≈&lt;/mo&gt;&lt;mn&gt;7.4&lt;/mn&gt;&lt;/math&gt;" id="797" name="Google Shape;797;p70" title="67 over 9 almost equals 7.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0338" y="3337262"/>
            <a:ext cx="1000768" cy="56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7}{8}=8.375&quot;&gt;&lt;mfrac&gt;&lt;mn&gt;67&lt;/mn&gt;&lt;mn&gt;8&lt;/mn&gt;&lt;/mfrac&gt;&lt;mo&gt;=&lt;/mo&gt;&lt;mn&gt;8.375&lt;/mn&gt;&lt;/math&gt;" id="798" name="Google Shape;798;p70" title="67 over 8 equals 8.3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681" y="3443450"/>
            <a:ext cx="1269650" cy="563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7050" y="3620993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6625" y="3628375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0"/>
          <p:cNvSpPr txBox="1"/>
          <p:nvPr/>
        </p:nvSpPr>
        <p:spPr>
          <a:xfrm>
            <a:off x="2413500" y="4320000"/>
            <a:ext cx="19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is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0"/>
          <p:cNvSpPr txBox="1"/>
          <p:nvPr/>
        </p:nvSpPr>
        <p:spPr>
          <a:xfrm>
            <a:off x="4296525" y="4140875"/>
            <a:ext cx="4345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correct.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0 in 1961 is part of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data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set.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sp>
        <p:nvSpPr>
          <p:cNvPr id="808" name="Google Shape;808;p71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same </a:t>
            </a:r>
            <a:r>
              <a:rPr b="1" lang="en-GB" sz="1800"/>
              <a:t>data</a:t>
            </a:r>
            <a:r>
              <a:rPr lang="en-GB" sz="1800"/>
              <a:t> can be represented as line graph or a time-series graph.</a:t>
            </a:r>
            <a:endParaRPr sz="1800"/>
          </a:p>
        </p:txBody>
      </p:sp>
      <p:sp>
        <p:nvSpPr>
          <p:cNvPr id="809" name="Google Shape;809;p71"/>
          <p:cNvSpPr txBox="1"/>
          <p:nvPr/>
        </p:nvSpPr>
        <p:spPr>
          <a:xfrm>
            <a:off x="4572000" y="1173975"/>
            <a:ext cx="426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point is one of the pieces of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from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set.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1"/>
          <p:cNvSpPr txBox="1"/>
          <p:nvPr/>
        </p:nvSpPr>
        <p:spPr>
          <a:xfrm>
            <a:off x="4617275" y="2063850"/>
            <a:ext cx="426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we would need to read each point, add them up and divide by how many points there are.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1"/>
          <p:cNvSpPr txBox="1"/>
          <p:nvPr/>
        </p:nvSpPr>
        <p:spPr>
          <a:xfrm>
            <a:off x="4658300" y="3445900"/>
            <a:ext cx="426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line shows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value.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2" name="Google Shape;81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1172237"/>
            <a:ext cx="4267203" cy="3100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5" y="1172231"/>
            <a:ext cx="4267203" cy="3100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2"/>
          <p:cNvSpPr txBox="1"/>
          <p:nvPr>
            <p:ph idx="1" type="body"/>
          </p:nvPr>
        </p:nvSpPr>
        <p:spPr>
          <a:xfrm>
            <a:off x="324000" y="759300"/>
            <a:ext cx="8237700" cy="5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much rain was there in April 2014?</a:t>
            </a:r>
            <a:endParaRPr/>
          </a:p>
        </p:txBody>
      </p:sp>
      <p:sp>
        <p:nvSpPr>
          <p:cNvPr id="819" name="Google Shape;81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sp>
        <p:nvSpPr>
          <p:cNvPr id="820" name="Google Shape;820;p72"/>
          <p:cNvSpPr txBox="1"/>
          <p:nvPr/>
        </p:nvSpPr>
        <p:spPr>
          <a:xfrm>
            <a:off x="6181100" y="1838025"/>
            <a:ext cx="181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 mm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21" name="Google Shape;82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00" y="1168675"/>
            <a:ext cx="4915200" cy="35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sp>
        <p:nvSpPr>
          <p:cNvPr id="827" name="Google Shape;827;p73"/>
          <p:cNvSpPr txBox="1"/>
          <p:nvPr/>
        </p:nvSpPr>
        <p:spPr>
          <a:xfrm>
            <a:off x="254150" y="575675"/>
            <a:ext cx="834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line graph shows the time taken for someone to travel to work over the course of 1 week.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/>
        </p:nvSpPr>
        <p:spPr>
          <a:xfrm>
            <a:off x="5200850" y="1274050"/>
            <a:ext cx="366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time taken, we need the total time to then share evenly across the 5 days.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9" name="Google Shape;829;p73"/>
          <p:cNvGrpSpPr/>
          <p:nvPr/>
        </p:nvGrpSpPr>
        <p:grpSpPr>
          <a:xfrm>
            <a:off x="323995" y="1411868"/>
            <a:ext cx="4876773" cy="3277414"/>
            <a:chOff x="324000" y="1411851"/>
            <a:chExt cx="4820374" cy="3127900"/>
          </a:xfrm>
        </p:grpSpPr>
        <p:pic>
          <p:nvPicPr>
            <p:cNvPr id="830" name="Google Shape;83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000" y="1411851"/>
              <a:ext cx="4820374" cy="312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73"/>
            <p:cNvSpPr/>
            <p:nvPr/>
          </p:nvSpPr>
          <p:spPr>
            <a:xfrm>
              <a:off x="652025" y="3877425"/>
              <a:ext cx="159000" cy="187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2" name="Google Shape;832;p73"/>
            <p:cNvSpPr/>
            <p:nvPr/>
          </p:nvSpPr>
          <p:spPr>
            <a:xfrm>
              <a:off x="885225" y="3837975"/>
              <a:ext cx="125100" cy="52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3" name="Google Shape;833;p73"/>
            <p:cNvSpPr/>
            <p:nvPr/>
          </p:nvSpPr>
          <p:spPr>
            <a:xfrm>
              <a:off x="900125" y="3833500"/>
              <a:ext cx="93450" cy="61300"/>
            </a:xfrm>
            <a:custGeom>
              <a:rect b="b" l="l" r="r" t="t"/>
              <a:pathLst>
                <a:path extrusionOk="0" h="2452" w="3738">
                  <a:moveTo>
                    <a:pt x="2048" y="0"/>
                  </a:moveTo>
                  <a:lnTo>
                    <a:pt x="0" y="1071"/>
                  </a:lnTo>
                  <a:lnTo>
                    <a:pt x="3738" y="1428"/>
                  </a:lnTo>
                  <a:lnTo>
                    <a:pt x="1881" y="2452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sp>
        <p:nvSpPr>
          <p:cNvPr id="839" name="Google Shape;839;p74"/>
          <p:cNvSpPr txBox="1"/>
          <p:nvPr/>
        </p:nvSpPr>
        <p:spPr>
          <a:xfrm>
            <a:off x="330350" y="651875"/>
            <a:ext cx="834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line graph shows the time taken for someone to travel to work over the course of 1 week.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4"/>
          <p:cNvSpPr txBox="1"/>
          <p:nvPr/>
        </p:nvSpPr>
        <p:spPr>
          <a:xfrm>
            <a:off x="5431125" y="1263600"/>
            <a:ext cx="366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Read off the 5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points to complete the 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41" name="Google Shape;841;p74"/>
          <p:cNvGraphicFramePr/>
          <p:nvPr/>
        </p:nvGraphicFramePr>
        <p:xfrm>
          <a:off x="6114550" y="209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945200"/>
                <a:gridCol w="94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42" name="Google Shape;842;p74"/>
          <p:cNvSpPr txBox="1"/>
          <p:nvPr/>
        </p:nvSpPr>
        <p:spPr>
          <a:xfrm>
            <a:off x="7286466" y="2079300"/>
            <a:ext cx="4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>
            <a:off x="7286466" y="2536500"/>
            <a:ext cx="4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4" name="Google Shape;844;p74"/>
          <p:cNvSpPr txBox="1"/>
          <p:nvPr/>
        </p:nvSpPr>
        <p:spPr>
          <a:xfrm>
            <a:off x="7286466" y="2993700"/>
            <a:ext cx="4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5" name="Google Shape;845;p74"/>
          <p:cNvSpPr txBox="1"/>
          <p:nvPr/>
        </p:nvSpPr>
        <p:spPr>
          <a:xfrm>
            <a:off x="7286466" y="3450900"/>
            <a:ext cx="4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6" name="Google Shape;846;p74"/>
          <p:cNvSpPr txBox="1"/>
          <p:nvPr/>
        </p:nvSpPr>
        <p:spPr>
          <a:xfrm>
            <a:off x="7286466" y="3908100"/>
            <a:ext cx="4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47" name="Google Shape;847;p74"/>
          <p:cNvGrpSpPr/>
          <p:nvPr/>
        </p:nvGrpSpPr>
        <p:grpSpPr>
          <a:xfrm>
            <a:off x="324002" y="1411784"/>
            <a:ext cx="4909551" cy="3266779"/>
            <a:chOff x="324000" y="1411851"/>
            <a:chExt cx="4820374" cy="3127900"/>
          </a:xfrm>
        </p:grpSpPr>
        <p:pic>
          <p:nvPicPr>
            <p:cNvPr id="848" name="Google Shape;848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000" y="1411851"/>
              <a:ext cx="4820374" cy="312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p74"/>
            <p:cNvSpPr/>
            <p:nvPr/>
          </p:nvSpPr>
          <p:spPr>
            <a:xfrm>
              <a:off x="652025" y="3877425"/>
              <a:ext cx="159000" cy="187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0" name="Google Shape;850;p74"/>
            <p:cNvSpPr/>
            <p:nvPr/>
          </p:nvSpPr>
          <p:spPr>
            <a:xfrm>
              <a:off x="885225" y="3837975"/>
              <a:ext cx="125100" cy="52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1" name="Google Shape;851;p74"/>
            <p:cNvSpPr/>
            <p:nvPr/>
          </p:nvSpPr>
          <p:spPr>
            <a:xfrm>
              <a:off x="900125" y="3833500"/>
              <a:ext cx="93450" cy="61300"/>
            </a:xfrm>
            <a:custGeom>
              <a:rect b="b" l="l" r="r" t="t"/>
              <a:pathLst>
                <a:path extrusionOk="0" h="2452" w="3738">
                  <a:moveTo>
                    <a:pt x="2048" y="0"/>
                  </a:moveTo>
                  <a:lnTo>
                    <a:pt x="0" y="1071"/>
                  </a:lnTo>
                  <a:lnTo>
                    <a:pt x="3738" y="1428"/>
                  </a:lnTo>
                  <a:lnTo>
                    <a:pt x="1881" y="2452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grpSp>
        <p:nvGrpSpPr>
          <p:cNvPr id="857" name="Google Shape;857;p75"/>
          <p:cNvGrpSpPr/>
          <p:nvPr/>
        </p:nvGrpSpPr>
        <p:grpSpPr>
          <a:xfrm>
            <a:off x="324000" y="1411851"/>
            <a:ext cx="4820374" cy="3127900"/>
            <a:chOff x="324000" y="1411851"/>
            <a:chExt cx="4820374" cy="3127900"/>
          </a:xfrm>
        </p:grpSpPr>
        <p:pic>
          <p:nvPicPr>
            <p:cNvPr id="858" name="Google Shape;858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000" y="1411851"/>
              <a:ext cx="4820374" cy="312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9" name="Google Shape;859;p75"/>
            <p:cNvSpPr/>
            <p:nvPr/>
          </p:nvSpPr>
          <p:spPr>
            <a:xfrm>
              <a:off x="652025" y="3877425"/>
              <a:ext cx="159000" cy="187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75"/>
            <p:cNvSpPr/>
            <p:nvPr/>
          </p:nvSpPr>
          <p:spPr>
            <a:xfrm>
              <a:off x="885225" y="3837975"/>
              <a:ext cx="125100" cy="52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1" name="Google Shape;861;p75"/>
            <p:cNvSpPr/>
            <p:nvPr/>
          </p:nvSpPr>
          <p:spPr>
            <a:xfrm>
              <a:off x="900125" y="3833500"/>
              <a:ext cx="93450" cy="61300"/>
            </a:xfrm>
            <a:custGeom>
              <a:rect b="b" l="l" r="r" t="t"/>
              <a:pathLst>
                <a:path extrusionOk="0" h="2452" w="3738">
                  <a:moveTo>
                    <a:pt x="2048" y="0"/>
                  </a:moveTo>
                  <a:lnTo>
                    <a:pt x="0" y="1071"/>
                  </a:lnTo>
                  <a:lnTo>
                    <a:pt x="3738" y="1428"/>
                  </a:lnTo>
                  <a:lnTo>
                    <a:pt x="1881" y="2452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62" name="Google Shape;862;p75"/>
          <p:cNvSpPr txBox="1"/>
          <p:nvPr/>
        </p:nvSpPr>
        <p:spPr>
          <a:xfrm>
            <a:off x="330350" y="575675"/>
            <a:ext cx="834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line graph shows the time taken for someone to travel to work over the course of 1 week.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5"/>
          <p:cNvSpPr txBox="1"/>
          <p:nvPr/>
        </p:nvSpPr>
        <p:spPr>
          <a:xfrm>
            <a:off x="5264850" y="1112100"/>
            <a:ext cx="366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time taken, we need the total time to then share evenly across the 5 days.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64" name="Google Shape;864;p75"/>
          <p:cNvGraphicFramePr/>
          <p:nvPr/>
        </p:nvGraphicFramePr>
        <p:xfrm>
          <a:off x="5459800" y="224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698700"/>
                <a:gridCol w="656825"/>
                <a:gridCol w="740575"/>
                <a:gridCol w="625425"/>
                <a:gridCol w="552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5" name="Google Shape;865;p75"/>
          <p:cNvSpPr txBox="1"/>
          <p:nvPr/>
        </p:nvSpPr>
        <p:spPr>
          <a:xfrm>
            <a:off x="5221800" y="3370375"/>
            <a:ext cx="384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time taken = 113 minutes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time taken per day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113 ÷ 5 = 22.6 minutes per day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6"/>
          <p:cNvSpPr txBox="1"/>
          <p:nvPr>
            <p:ph idx="1" type="body"/>
          </p:nvPr>
        </p:nvSpPr>
        <p:spPr>
          <a:xfrm>
            <a:off x="324000" y="683100"/>
            <a:ext cx="5998200" cy="7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Use the line graph to complete the table of data.</a:t>
            </a:r>
            <a:endParaRPr sz="1800"/>
          </a:p>
        </p:txBody>
      </p:sp>
      <p:sp>
        <p:nvSpPr>
          <p:cNvPr id="871" name="Google Shape;871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mean from a line graph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72" name="Google Shape;872;p76"/>
          <p:cNvGraphicFramePr/>
          <p:nvPr/>
        </p:nvGraphicFramePr>
        <p:xfrm>
          <a:off x="6571613" y="73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785375"/>
                <a:gridCol w="785375"/>
              </a:tblGrid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Nov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  <p:pic>
        <p:nvPicPr>
          <p:cNvPr id="873" name="Google Shape;87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50" y="1080000"/>
            <a:ext cx="4965773" cy="360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7"/>
          <p:cNvSpPr txBox="1"/>
          <p:nvPr>
            <p:ph idx="1" type="body"/>
          </p:nvPr>
        </p:nvSpPr>
        <p:spPr>
          <a:xfrm>
            <a:off x="324000" y="759300"/>
            <a:ext cx="8237700" cy="4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Calculate the mean of each data set shown on the line graph.</a:t>
            </a:r>
            <a:endParaRPr sz="1800"/>
          </a:p>
        </p:txBody>
      </p:sp>
      <p:sp>
        <p:nvSpPr>
          <p:cNvPr id="879" name="Google Shape;879;p77"/>
          <p:cNvSpPr txBox="1"/>
          <p:nvPr>
            <p:ph idx="2" type="subTitle"/>
          </p:nvPr>
        </p:nvSpPr>
        <p:spPr>
          <a:xfrm>
            <a:off x="1570025" y="134975"/>
            <a:ext cx="6855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pic>
        <p:nvPicPr>
          <p:cNvPr id="880" name="Google Shape;88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100" y="1203600"/>
            <a:ext cx="5005309" cy="3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Use the line graph to complete the table of data.</a:t>
            </a:r>
            <a:endParaRPr sz="1800"/>
          </a:p>
        </p:txBody>
      </p:sp>
      <p:sp>
        <p:nvSpPr>
          <p:cNvPr id="886" name="Google Shape;886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mean from a line graph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87" name="Google Shape;887;p78"/>
          <p:cNvGraphicFramePr/>
          <p:nvPr/>
        </p:nvGraphicFramePr>
        <p:xfrm>
          <a:off x="6571613" y="73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785375"/>
                <a:gridCol w="785375"/>
              </a:tblGrid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Nov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0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  <p:pic>
        <p:nvPicPr>
          <p:cNvPr id="888" name="Google Shape;88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300" y="1178350"/>
            <a:ext cx="4965773" cy="360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Calculate the mean of each data set shown on the line graph.</a:t>
            </a:r>
            <a:endParaRPr sz="1800"/>
          </a:p>
        </p:txBody>
      </p:sp>
      <p:sp>
        <p:nvSpPr>
          <p:cNvPr id="894" name="Google Shape;894;p79"/>
          <p:cNvSpPr txBox="1"/>
          <p:nvPr>
            <p:ph idx="2" type="subTitle"/>
          </p:nvPr>
        </p:nvSpPr>
        <p:spPr>
          <a:xfrm>
            <a:off x="1570025" y="134975"/>
            <a:ext cx="6855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sp>
        <p:nvSpPr>
          <p:cNvPr id="895" name="Google Shape;895;p79"/>
          <p:cNvSpPr txBox="1"/>
          <p:nvPr/>
        </p:nvSpPr>
        <p:spPr>
          <a:xfrm>
            <a:off x="5502000" y="1122500"/>
            <a:ext cx="3318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Aberporth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temperature = 101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Mean minimum temperature = 101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12 = 8.42 °C (2dp)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9"/>
          <p:cNvSpPr txBox="1"/>
          <p:nvPr/>
        </p:nvSpPr>
        <p:spPr>
          <a:xfrm>
            <a:off x="5502000" y="2875100"/>
            <a:ext cx="3318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Lowestoft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temperature = 96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Mean minimum temperature = 96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12 = 8 °C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7" name="Google Shape;89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50" y="1185300"/>
            <a:ext cx="5005309" cy="3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sp>
        <p:nvSpPr>
          <p:cNvPr id="903" name="Google Shape;903;p8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sp>
        <p:nvSpPr>
          <p:cNvPr id="904" name="Google Shape;904;p8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bar chart</a:t>
            </a:r>
            <a:endParaRPr/>
          </a:p>
        </p:txBody>
      </p:sp>
      <p:pic>
        <p:nvPicPr>
          <p:cNvPr id="906" name="Google Shape;90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42" y="277362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sp>
        <p:nvSpPr>
          <p:cNvPr id="912" name="Google Shape;912;p81"/>
          <p:cNvSpPr txBox="1"/>
          <p:nvPr/>
        </p:nvSpPr>
        <p:spPr>
          <a:xfrm>
            <a:off x="6063600" y="634825"/>
            <a:ext cx="266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is a plan view of a restaurant’s tables.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81"/>
          <p:cNvSpPr/>
          <p:nvPr/>
        </p:nvSpPr>
        <p:spPr>
          <a:xfrm>
            <a:off x="6256800" y="1354225"/>
            <a:ext cx="11496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81"/>
          <p:cNvSpPr txBox="1"/>
          <p:nvPr/>
        </p:nvSpPr>
        <p:spPr>
          <a:xfrm>
            <a:off x="7639750" y="1259900"/>
            <a:ext cx="114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81"/>
          <p:cNvSpPr/>
          <p:nvPr/>
        </p:nvSpPr>
        <p:spPr>
          <a:xfrm>
            <a:off x="6360600" y="2364313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81"/>
          <p:cNvSpPr txBox="1"/>
          <p:nvPr/>
        </p:nvSpPr>
        <p:spPr>
          <a:xfrm>
            <a:off x="6595200" y="2036488"/>
            <a:ext cx="2239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 shows where a person is seated.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81"/>
          <p:cNvSpPr/>
          <p:nvPr/>
        </p:nvSpPr>
        <p:spPr>
          <a:xfrm>
            <a:off x="6855850" y="3063100"/>
            <a:ext cx="11496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81"/>
          <p:cNvSpPr/>
          <p:nvPr/>
        </p:nvSpPr>
        <p:spPr>
          <a:xfrm>
            <a:off x="7313350" y="3089974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81"/>
          <p:cNvSpPr/>
          <p:nvPr/>
        </p:nvSpPr>
        <p:spPr>
          <a:xfrm>
            <a:off x="7313350" y="3398475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81"/>
          <p:cNvSpPr txBox="1"/>
          <p:nvPr/>
        </p:nvSpPr>
        <p:spPr>
          <a:xfrm>
            <a:off x="6256800" y="3589500"/>
            <a:ext cx="2563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means two people are at the 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1" name="Google Shape;921;p81"/>
          <p:cNvGrpSpPr/>
          <p:nvPr/>
        </p:nvGrpSpPr>
        <p:grpSpPr>
          <a:xfrm>
            <a:off x="355200" y="634825"/>
            <a:ext cx="5727600" cy="4062000"/>
            <a:chOff x="431400" y="711025"/>
            <a:chExt cx="5727600" cy="4062000"/>
          </a:xfrm>
        </p:grpSpPr>
        <p:sp>
          <p:nvSpPr>
            <p:cNvPr id="922" name="Google Shape;922;p81"/>
            <p:cNvSpPr/>
            <p:nvPr/>
          </p:nvSpPr>
          <p:spPr>
            <a:xfrm>
              <a:off x="431400" y="711025"/>
              <a:ext cx="5727600" cy="406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3" name="Google Shape;923;p81"/>
            <p:cNvSpPr/>
            <p:nvPr/>
          </p:nvSpPr>
          <p:spPr>
            <a:xfrm>
              <a:off x="1042104" y="2064425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4" name="Google Shape;924;p81"/>
            <p:cNvSpPr/>
            <p:nvPr/>
          </p:nvSpPr>
          <p:spPr>
            <a:xfrm>
              <a:off x="768025" y="1062449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5" name="Google Shape;925;p81"/>
            <p:cNvSpPr/>
            <p:nvPr/>
          </p:nvSpPr>
          <p:spPr>
            <a:xfrm>
              <a:off x="2503500" y="1062449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6" name="Google Shape;926;p81"/>
            <p:cNvSpPr/>
            <p:nvPr/>
          </p:nvSpPr>
          <p:spPr>
            <a:xfrm rot="5400000">
              <a:off x="768025" y="34464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7" name="Google Shape;927;p81"/>
            <p:cNvSpPr/>
            <p:nvPr/>
          </p:nvSpPr>
          <p:spPr>
            <a:xfrm rot="-5400000">
              <a:off x="2267400" y="24012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8" name="Google Shape;928;p81"/>
            <p:cNvSpPr/>
            <p:nvPr/>
          </p:nvSpPr>
          <p:spPr>
            <a:xfrm rot="-5400000">
              <a:off x="3373000" y="24012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9" name="Google Shape;929;p81"/>
            <p:cNvSpPr/>
            <p:nvPr/>
          </p:nvSpPr>
          <p:spPr>
            <a:xfrm>
              <a:off x="2543400" y="3722400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0" name="Google Shape;930;p81"/>
            <p:cNvSpPr/>
            <p:nvPr/>
          </p:nvSpPr>
          <p:spPr>
            <a:xfrm rot="5400000">
              <a:off x="4802975" y="1564075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1" name="Google Shape;931;p81"/>
            <p:cNvSpPr/>
            <p:nvPr/>
          </p:nvSpPr>
          <p:spPr>
            <a:xfrm rot="5400000">
              <a:off x="4802975" y="33503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2" name="Google Shape;932;p81"/>
            <p:cNvSpPr/>
            <p:nvPr/>
          </p:nvSpPr>
          <p:spPr>
            <a:xfrm>
              <a:off x="941875" y="10705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3" name="Google Shape;933;p81"/>
            <p:cNvSpPr/>
            <p:nvPr/>
          </p:nvSpPr>
          <p:spPr>
            <a:xfrm>
              <a:off x="941875" y="1425449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4" name="Google Shape;934;p81"/>
            <p:cNvSpPr/>
            <p:nvPr/>
          </p:nvSpPr>
          <p:spPr>
            <a:xfrm>
              <a:off x="1503925" y="10705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81"/>
            <p:cNvSpPr/>
            <p:nvPr/>
          </p:nvSpPr>
          <p:spPr>
            <a:xfrm>
              <a:off x="1503925" y="1425449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6" name="Google Shape;936;p81"/>
            <p:cNvSpPr/>
            <p:nvPr/>
          </p:nvSpPr>
          <p:spPr>
            <a:xfrm>
              <a:off x="2541300" y="23371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7" name="Google Shape;937;p81"/>
            <p:cNvSpPr/>
            <p:nvPr/>
          </p:nvSpPr>
          <p:spPr>
            <a:xfrm>
              <a:off x="2906400" y="23371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8" name="Google Shape;938;p81"/>
            <p:cNvSpPr/>
            <p:nvPr/>
          </p:nvSpPr>
          <p:spPr>
            <a:xfrm>
              <a:off x="2541300" y="2839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81"/>
            <p:cNvSpPr/>
            <p:nvPr/>
          </p:nvSpPr>
          <p:spPr>
            <a:xfrm>
              <a:off x="1225525" y="3170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0" name="Google Shape;940;p81"/>
            <p:cNvSpPr/>
            <p:nvPr/>
          </p:nvSpPr>
          <p:spPr>
            <a:xfrm>
              <a:off x="1044025" y="3487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1" name="Google Shape;941;p81"/>
            <p:cNvSpPr/>
            <p:nvPr/>
          </p:nvSpPr>
          <p:spPr>
            <a:xfrm>
              <a:off x="1044025" y="39133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2" name="Google Shape;942;p81"/>
            <p:cNvSpPr/>
            <p:nvPr/>
          </p:nvSpPr>
          <p:spPr>
            <a:xfrm>
              <a:off x="1407025" y="3487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3" name="Google Shape;943;p81"/>
            <p:cNvSpPr/>
            <p:nvPr/>
          </p:nvSpPr>
          <p:spPr>
            <a:xfrm>
              <a:off x="1407025" y="39133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4" name="Google Shape;944;p81"/>
            <p:cNvSpPr/>
            <p:nvPr/>
          </p:nvSpPr>
          <p:spPr>
            <a:xfrm>
              <a:off x="1245654" y="24063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5" name="Google Shape;945;p81"/>
            <p:cNvSpPr/>
            <p:nvPr/>
          </p:nvSpPr>
          <p:spPr>
            <a:xfrm>
              <a:off x="1245654" y="206442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6" name="Google Shape;946;p81"/>
            <p:cNvSpPr/>
            <p:nvPr/>
          </p:nvSpPr>
          <p:spPr>
            <a:xfrm>
              <a:off x="2770150" y="10705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81"/>
            <p:cNvSpPr/>
            <p:nvPr/>
          </p:nvSpPr>
          <p:spPr>
            <a:xfrm>
              <a:off x="2770150" y="1425449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81"/>
            <p:cNvSpPr/>
            <p:nvPr/>
          </p:nvSpPr>
          <p:spPr>
            <a:xfrm>
              <a:off x="3210825" y="10705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81"/>
            <p:cNvSpPr/>
            <p:nvPr/>
          </p:nvSpPr>
          <p:spPr>
            <a:xfrm>
              <a:off x="4012000" y="2359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81"/>
            <p:cNvSpPr/>
            <p:nvPr/>
          </p:nvSpPr>
          <p:spPr>
            <a:xfrm>
              <a:off x="3649000" y="2359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81"/>
            <p:cNvSpPr/>
            <p:nvPr/>
          </p:nvSpPr>
          <p:spPr>
            <a:xfrm>
              <a:off x="3649000" y="2828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2" name="Google Shape;952;p81"/>
            <p:cNvSpPr/>
            <p:nvPr/>
          </p:nvSpPr>
          <p:spPr>
            <a:xfrm>
              <a:off x="4012000" y="2828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3" name="Google Shape;953;p81"/>
            <p:cNvSpPr/>
            <p:nvPr/>
          </p:nvSpPr>
          <p:spPr>
            <a:xfrm>
              <a:off x="5260475" y="13251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81"/>
            <p:cNvSpPr/>
            <p:nvPr/>
          </p:nvSpPr>
          <p:spPr>
            <a:xfrm>
              <a:off x="5078975" y="1762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5" name="Google Shape;955;p81"/>
            <p:cNvSpPr/>
            <p:nvPr/>
          </p:nvSpPr>
          <p:spPr>
            <a:xfrm>
              <a:off x="5260475" y="2199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6" name="Google Shape;956;p81"/>
            <p:cNvSpPr/>
            <p:nvPr/>
          </p:nvSpPr>
          <p:spPr>
            <a:xfrm>
              <a:off x="5428500" y="1762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81"/>
            <p:cNvSpPr/>
            <p:nvPr/>
          </p:nvSpPr>
          <p:spPr>
            <a:xfrm>
              <a:off x="5260475" y="30743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8" name="Google Shape;958;p81"/>
            <p:cNvSpPr/>
            <p:nvPr/>
          </p:nvSpPr>
          <p:spPr>
            <a:xfrm>
              <a:off x="5078975" y="3391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9" name="Google Shape;959;p81"/>
            <p:cNvSpPr/>
            <p:nvPr/>
          </p:nvSpPr>
          <p:spPr>
            <a:xfrm>
              <a:off x="5078975" y="37410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81"/>
            <p:cNvSpPr/>
            <p:nvPr/>
          </p:nvSpPr>
          <p:spPr>
            <a:xfrm>
              <a:off x="5441975" y="3391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81"/>
            <p:cNvSpPr/>
            <p:nvPr/>
          </p:nvSpPr>
          <p:spPr>
            <a:xfrm>
              <a:off x="5441975" y="37410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2" name="Google Shape;962;p81"/>
            <p:cNvSpPr/>
            <p:nvPr/>
          </p:nvSpPr>
          <p:spPr>
            <a:xfrm>
              <a:off x="3649000" y="3722400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3" name="Google Shape;963;p81"/>
            <p:cNvSpPr/>
            <p:nvPr/>
          </p:nvSpPr>
          <p:spPr>
            <a:xfrm>
              <a:off x="4045188" y="1062449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81"/>
            <p:cNvSpPr/>
            <p:nvPr/>
          </p:nvSpPr>
          <p:spPr>
            <a:xfrm>
              <a:off x="4265301" y="10705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81"/>
            <p:cNvSpPr/>
            <p:nvPr/>
          </p:nvSpPr>
          <p:spPr>
            <a:xfrm>
              <a:off x="3852550" y="3731856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6" name="Google Shape;966;p81"/>
            <p:cNvSpPr/>
            <p:nvPr/>
          </p:nvSpPr>
          <p:spPr>
            <a:xfrm>
              <a:off x="3852550" y="4085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sp>
        <p:nvSpPr>
          <p:cNvPr id="972" name="Google Shape;972;p82"/>
          <p:cNvSpPr txBox="1"/>
          <p:nvPr/>
        </p:nvSpPr>
        <p:spPr>
          <a:xfrm>
            <a:off x="6327300" y="810000"/>
            <a:ext cx="243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tables are there at this restaurant?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2"/>
          <p:cNvSpPr txBox="1"/>
          <p:nvPr/>
        </p:nvSpPr>
        <p:spPr>
          <a:xfrm>
            <a:off x="6356550" y="1913700"/>
            <a:ext cx="18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 tables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82"/>
          <p:cNvSpPr txBox="1"/>
          <p:nvPr/>
        </p:nvSpPr>
        <p:spPr>
          <a:xfrm>
            <a:off x="6356550" y="2640900"/>
            <a:ext cx="243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people are dining at the restaurant?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2"/>
          <p:cNvSpPr txBox="1"/>
          <p:nvPr/>
        </p:nvSpPr>
        <p:spPr>
          <a:xfrm>
            <a:off x="6327300" y="3741075"/>
            <a:ext cx="185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people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6" name="Google Shape;976;p82"/>
          <p:cNvSpPr/>
          <p:nvPr/>
        </p:nvSpPr>
        <p:spPr>
          <a:xfrm>
            <a:off x="431400" y="711025"/>
            <a:ext cx="5727600" cy="406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2"/>
          <p:cNvSpPr/>
          <p:nvPr/>
        </p:nvSpPr>
        <p:spPr>
          <a:xfrm>
            <a:off x="1042104" y="2064425"/>
            <a:ext cx="6417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2"/>
          <p:cNvSpPr/>
          <p:nvPr/>
        </p:nvSpPr>
        <p:spPr>
          <a:xfrm>
            <a:off x="768025" y="1062449"/>
            <a:ext cx="11496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2"/>
          <p:cNvSpPr/>
          <p:nvPr/>
        </p:nvSpPr>
        <p:spPr>
          <a:xfrm>
            <a:off x="2503500" y="1062449"/>
            <a:ext cx="11496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2"/>
          <p:cNvSpPr/>
          <p:nvPr/>
        </p:nvSpPr>
        <p:spPr>
          <a:xfrm rot="5400000">
            <a:off x="768025" y="3446400"/>
            <a:ext cx="11496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2"/>
          <p:cNvSpPr/>
          <p:nvPr/>
        </p:nvSpPr>
        <p:spPr>
          <a:xfrm rot="-5400000">
            <a:off x="2267400" y="2401200"/>
            <a:ext cx="11496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2"/>
          <p:cNvSpPr/>
          <p:nvPr/>
        </p:nvSpPr>
        <p:spPr>
          <a:xfrm rot="-5400000">
            <a:off x="3373000" y="2401200"/>
            <a:ext cx="11496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82"/>
          <p:cNvSpPr/>
          <p:nvPr/>
        </p:nvSpPr>
        <p:spPr>
          <a:xfrm>
            <a:off x="2543400" y="3722400"/>
            <a:ext cx="6417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2"/>
          <p:cNvSpPr/>
          <p:nvPr/>
        </p:nvSpPr>
        <p:spPr>
          <a:xfrm rot="5400000">
            <a:off x="4802975" y="1564075"/>
            <a:ext cx="11496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2"/>
          <p:cNvSpPr/>
          <p:nvPr/>
        </p:nvSpPr>
        <p:spPr>
          <a:xfrm rot="5400000">
            <a:off x="4802975" y="3350300"/>
            <a:ext cx="11496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2"/>
          <p:cNvSpPr/>
          <p:nvPr/>
        </p:nvSpPr>
        <p:spPr>
          <a:xfrm>
            <a:off x="941875" y="107055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82"/>
          <p:cNvSpPr/>
          <p:nvPr/>
        </p:nvSpPr>
        <p:spPr>
          <a:xfrm>
            <a:off x="941875" y="1425449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82"/>
          <p:cNvSpPr/>
          <p:nvPr/>
        </p:nvSpPr>
        <p:spPr>
          <a:xfrm>
            <a:off x="1503925" y="107055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82"/>
          <p:cNvSpPr/>
          <p:nvPr/>
        </p:nvSpPr>
        <p:spPr>
          <a:xfrm>
            <a:off x="1503925" y="1425449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2"/>
          <p:cNvSpPr/>
          <p:nvPr/>
        </p:nvSpPr>
        <p:spPr>
          <a:xfrm>
            <a:off x="2541300" y="233715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2"/>
          <p:cNvSpPr/>
          <p:nvPr/>
        </p:nvSpPr>
        <p:spPr>
          <a:xfrm>
            <a:off x="2906400" y="233715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2"/>
          <p:cNvSpPr/>
          <p:nvPr/>
        </p:nvSpPr>
        <p:spPr>
          <a:xfrm>
            <a:off x="2541300" y="28397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82"/>
          <p:cNvSpPr/>
          <p:nvPr/>
        </p:nvSpPr>
        <p:spPr>
          <a:xfrm>
            <a:off x="1225525" y="31704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2"/>
          <p:cNvSpPr/>
          <p:nvPr/>
        </p:nvSpPr>
        <p:spPr>
          <a:xfrm>
            <a:off x="1044025" y="34878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2"/>
          <p:cNvSpPr/>
          <p:nvPr/>
        </p:nvSpPr>
        <p:spPr>
          <a:xfrm>
            <a:off x="1044025" y="3913375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2"/>
          <p:cNvSpPr/>
          <p:nvPr/>
        </p:nvSpPr>
        <p:spPr>
          <a:xfrm>
            <a:off x="1407025" y="34878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2"/>
          <p:cNvSpPr/>
          <p:nvPr/>
        </p:nvSpPr>
        <p:spPr>
          <a:xfrm>
            <a:off x="1407025" y="3913375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2"/>
          <p:cNvSpPr/>
          <p:nvPr/>
        </p:nvSpPr>
        <p:spPr>
          <a:xfrm>
            <a:off x="1245654" y="24063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2"/>
          <p:cNvSpPr/>
          <p:nvPr/>
        </p:nvSpPr>
        <p:spPr>
          <a:xfrm>
            <a:off x="1245654" y="2064425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2"/>
          <p:cNvSpPr/>
          <p:nvPr/>
        </p:nvSpPr>
        <p:spPr>
          <a:xfrm>
            <a:off x="2770150" y="107055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2"/>
          <p:cNvSpPr/>
          <p:nvPr/>
        </p:nvSpPr>
        <p:spPr>
          <a:xfrm>
            <a:off x="2770150" y="1425449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2"/>
          <p:cNvSpPr/>
          <p:nvPr/>
        </p:nvSpPr>
        <p:spPr>
          <a:xfrm>
            <a:off x="3210825" y="107055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2"/>
          <p:cNvSpPr/>
          <p:nvPr/>
        </p:nvSpPr>
        <p:spPr>
          <a:xfrm>
            <a:off x="4012000" y="23598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2"/>
          <p:cNvSpPr/>
          <p:nvPr/>
        </p:nvSpPr>
        <p:spPr>
          <a:xfrm>
            <a:off x="3649000" y="23598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2"/>
          <p:cNvSpPr/>
          <p:nvPr/>
        </p:nvSpPr>
        <p:spPr>
          <a:xfrm>
            <a:off x="3649000" y="28287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2"/>
          <p:cNvSpPr/>
          <p:nvPr/>
        </p:nvSpPr>
        <p:spPr>
          <a:xfrm>
            <a:off x="4012000" y="28287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2"/>
          <p:cNvSpPr/>
          <p:nvPr/>
        </p:nvSpPr>
        <p:spPr>
          <a:xfrm>
            <a:off x="5260475" y="13251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2"/>
          <p:cNvSpPr/>
          <p:nvPr/>
        </p:nvSpPr>
        <p:spPr>
          <a:xfrm>
            <a:off x="5078975" y="17624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2"/>
          <p:cNvSpPr/>
          <p:nvPr/>
        </p:nvSpPr>
        <p:spPr>
          <a:xfrm>
            <a:off x="5260475" y="21997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2"/>
          <p:cNvSpPr/>
          <p:nvPr/>
        </p:nvSpPr>
        <p:spPr>
          <a:xfrm>
            <a:off x="5428500" y="17624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2"/>
          <p:cNvSpPr/>
          <p:nvPr/>
        </p:nvSpPr>
        <p:spPr>
          <a:xfrm>
            <a:off x="5260475" y="30743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2"/>
          <p:cNvSpPr/>
          <p:nvPr/>
        </p:nvSpPr>
        <p:spPr>
          <a:xfrm>
            <a:off x="5078975" y="33917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2"/>
          <p:cNvSpPr/>
          <p:nvPr/>
        </p:nvSpPr>
        <p:spPr>
          <a:xfrm>
            <a:off x="5078975" y="3741075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2"/>
          <p:cNvSpPr/>
          <p:nvPr/>
        </p:nvSpPr>
        <p:spPr>
          <a:xfrm>
            <a:off x="5441975" y="33917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2"/>
          <p:cNvSpPr/>
          <p:nvPr/>
        </p:nvSpPr>
        <p:spPr>
          <a:xfrm>
            <a:off x="5441975" y="3741075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2"/>
          <p:cNvSpPr/>
          <p:nvPr/>
        </p:nvSpPr>
        <p:spPr>
          <a:xfrm>
            <a:off x="3649000" y="3722400"/>
            <a:ext cx="6417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2"/>
          <p:cNvSpPr/>
          <p:nvPr/>
        </p:nvSpPr>
        <p:spPr>
          <a:xfrm>
            <a:off x="4045188" y="1062449"/>
            <a:ext cx="641700" cy="597600"/>
          </a:xfrm>
          <a:prstGeom prst="roundRect">
            <a:avLst>
              <a:gd fmla="val 16667" name="adj"/>
            </a:avLst>
          </a:prstGeom>
          <a:solidFill>
            <a:srgbClr val="A47449"/>
          </a:solidFill>
          <a:ln cap="flat" cmpd="sng" w="9525">
            <a:solidFill>
              <a:srgbClr val="A27E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2"/>
          <p:cNvSpPr/>
          <p:nvPr/>
        </p:nvSpPr>
        <p:spPr>
          <a:xfrm>
            <a:off x="4265301" y="107055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2"/>
          <p:cNvSpPr/>
          <p:nvPr/>
        </p:nvSpPr>
        <p:spPr>
          <a:xfrm>
            <a:off x="3852550" y="3731856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2"/>
          <p:cNvSpPr/>
          <p:nvPr/>
        </p:nvSpPr>
        <p:spPr>
          <a:xfrm>
            <a:off x="3852550" y="4085400"/>
            <a:ext cx="234600" cy="23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sp>
        <p:nvSpPr>
          <p:cNvPr id="1026" name="Google Shape;1026;p83"/>
          <p:cNvSpPr txBox="1"/>
          <p:nvPr>
            <p:ph idx="1" type="body"/>
          </p:nvPr>
        </p:nvSpPr>
        <p:spPr>
          <a:xfrm>
            <a:off x="324000" y="684775"/>
            <a:ext cx="8496000" cy="4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same information can be shown as a </a:t>
            </a:r>
            <a:r>
              <a:rPr b="1" lang="en-GB"/>
              <a:t>frequency</a:t>
            </a:r>
            <a:r>
              <a:rPr lang="en-GB"/>
              <a:t> table too.</a:t>
            </a:r>
            <a:endParaRPr/>
          </a:p>
        </p:txBody>
      </p:sp>
      <p:grpSp>
        <p:nvGrpSpPr>
          <p:cNvPr id="1027" name="Google Shape;1027;p83"/>
          <p:cNvGrpSpPr/>
          <p:nvPr/>
        </p:nvGrpSpPr>
        <p:grpSpPr>
          <a:xfrm>
            <a:off x="431414" y="1320646"/>
            <a:ext cx="4454355" cy="3159017"/>
            <a:chOff x="431400" y="711025"/>
            <a:chExt cx="5727600" cy="4062000"/>
          </a:xfrm>
        </p:grpSpPr>
        <p:sp>
          <p:nvSpPr>
            <p:cNvPr id="1028" name="Google Shape;1028;p83"/>
            <p:cNvSpPr/>
            <p:nvPr/>
          </p:nvSpPr>
          <p:spPr>
            <a:xfrm>
              <a:off x="431400" y="711025"/>
              <a:ext cx="5727600" cy="406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9" name="Google Shape;1029;p83"/>
            <p:cNvSpPr/>
            <p:nvPr/>
          </p:nvSpPr>
          <p:spPr>
            <a:xfrm>
              <a:off x="1042104" y="2064425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0" name="Google Shape;1030;p83"/>
            <p:cNvSpPr/>
            <p:nvPr/>
          </p:nvSpPr>
          <p:spPr>
            <a:xfrm>
              <a:off x="768025" y="10800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83"/>
            <p:cNvSpPr/>
            <p:nvPr/>
          </p:nvSpPr>
          <p:spPr>
            <a:xfrm>
              <a:off x="2503500" y="10800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2" name="Google Shape;1032;p83"/>
            <p:cNvSpPr/>
            <p:nvPr/>
          </p:nvSpPr>
          <p:spPr>
            <a:xfrm rot="5400000">
              <a:off x="768025" y="34464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3" name="Google Shape;1033;p83"/>
            <p:cNvSpPr/>
            <p:nvPr/>
          </p:nvSpPr>
          <p:spPr>
            <a:xfrm rot="-5400000">
              <a:off x="2267400" y="24012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83"/>
            <p:cNvSpPr/>
            <p:nvPr/>
          </p:nvSpPr>
          <p:spPr>
            <a:xfrm rot="-5400000">
              <a:off x="3373000" y="24012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83"/>
            <p:cNvSpPr/>
            <p:nvPr/>
          </p:nvSpPr>
          <p:spPr>
            <a:xfrm>
              <a:off x="2543400" y="3722400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6" name="Google Shape;1036;p83"/>
            <p:cNvSpPr/>
            <p:nvPr/>
          </p:nvSpPr>
          <p:spPr>
            <a:xfrm rot="5400000">
              <a:off x="4802975" y="1564075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7" name="Google Shape;1037;p83"/>
            <p:cNvSpPr/>
            <p:nvPr/>
          </p:nvSpPr>
          <p:spPr>
            <a:xfrm rot="5400000">
              <a:off x="4802975" y="33503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83"/>
            <p:cNvSpPr/>
            <p:nvPr/>
          </p:nvSpPr>
          <p:spPr>
            <a:xfrm>
              <a:off x="941875" y="1080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83"/>
            <p:cNvSpPr/>
            <p:nvPr/>
          </p:nvSpPr>
          <p:spPr>
            <a:xfrm>
              <a:off x="941875" y="1443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0" name="Google Shape;1040;p83"/>
            <p:cNvSpPr/>
            <p:nvPr/>
          </p:nvSpPr>
          <p:spPr>
            <a:xfrm>
              <a:off x="1503925" y="1080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1" name="Google Shape;1041;p83"/>
            <p:cNvSpPr/>
            <p:nvPr/>
          </p:nvSpPr>
          <p:spPr>
            <a:xfrm>
              <a:off x="1503925" y="1443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83"/>
            <p:cNvSpPr/>
            <p:nvPr/>
          </p:nvSpPr>
          <p:spPr>
            <a:xfrm>
              <a:off x="2541300" y="23371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83"/>
            <p:cNvSpPr/>
            <p:nvPr/>
          </p:nvSpPr>
          <p:spPr>
            <a:xfrm>
              <a:off x="2906400" y="23371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4" name="Google Shape;1044;p83"/>
            <p:cNvSpPr/>
            <p:nvPr/>
          </p:nvSpPr>
          <p:spPr>
            <a:xfrm>
              <a:off x="2541300" y="2839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83"/>
            <p:cNvSpPr/>
            <p:nvPr/>
          </p:nvSpPr>
          <p:spPr>
            <a:xfrm>
              <a:off x="1225525" y="3170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83"/>
            <p:cNvSpPr/>
            <p:nvPr/>
          </p:nvSpPr>
          <p:spPr>
            <a:xfrm>
              <a:off x="1044025" y="3487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83"/>
            <p:cNvSpPr/>
            <p:nvPr/>
          </p:nvSpPr>
          <p:spPr>
            <a:xfrm>
              <a:off x="1044025" y="39133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8" name="Google Shape;1048;p83"/>
            <p:cNvSpPr/>
            <p:nvPr/>
          </p:nvSpPr>
          <p:spPr>
            <a:xfrm>
              <a:off x="1407025" y="3487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9" name="Google Shape;1049;p83"/>
            <p:cNvSpPr/>
            <p:nvPr/>
          </p:nvSpPr>
          <p:spPr>
            <a:xfrm>
              <a:off x="1407025" y="39133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0" name="Google Shape;1050;p83"/>
            <p:cNvSpPr/>
            <p:nvPr/>
          </p:nvSpPr>
          <p:spPr>
            <a:xfrm>
              <a:off x="1245654" y="24063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1" name="Google Shape;1051;p83"/>
            <p:cNvSpPr/>
            <p:nvPr/>
          </p:nvSpPr>
          <p:spPr>
            <a:xfrm>
              <a:off x="1245654" y="206442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2" name="Google Shape;1052;p83"/>
            <p:cNvSpPr/>
            <p:nvPr/>
          </p:nvSpPr>
          <p:spPr>
            <a:xfrm>
              <a:off x="2770150" y="1080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3" name="Google Shape;1053;p83"/>
            <p:cNvSpPr/>
            <p:nvPr/>
          </p:nvSpPr>
          <p:spPr>
            <a:xfrm>
              <a:off x="2770150" y="1443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4" name="Google Shape;1054;p83"/>
            <p:cNvSpPr/>
            <p:nvPr/>
          </p:nvSpPr>
          <p:spPr>
            <a:xfrm>
              <a:off x="3210825" y="1080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5" name="Google Shape;1055;p83"/>
            <p:cNvSpPr/>
            <p:nvPr/>
          </p:nvSpPr>
          <p:spPr>
            <a:xfrm>
              <a:off x="4012000" y="2359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6" name="Google Shape;1056;p83"/>
            <p:cNvSpPr/>
            <p:nvPr/>
          </p:nvSpPr>
          <p:spPr>
            <a:xfrm>
              <a:off x="3649000" y="2359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7" name="Google Shape;1057;p83"/>
            <p:cNvSpPr/>
            <p:nvPr/>
          </p:nvSpPr>
          <p:spPr>
            <a:xfrm>
              <a:off x="3649000" y="2828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83"/>
            <p:cNvSpPr/>
            <p:nvPr/>
          </p:nvSpPr>
          <p:spPr>
            <a:xfrm>
              <a:off x="4012000" y="2828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9" name="Google Shape;1059;p83"/>
            <p:cNvSpPr/>
            <p:nvPr/>
          </p:nvSpPr>
          <p:spPr>
            <a:xfrm>
              <a:off x="5260475" y="13251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83"/>
            <p:cNvSpPr/>
            <p:nvPr/>
          </p:nvSpPr>
          <p:spPr>
            <a:xfrm>
              <a:off x="5078975" y="1762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83"/>
            <p:cNvSpPr/>
            <p:nvPr/>
          </p:nvSpPr>
          <p:spPr>
            <a:xfrm>
              <a:off x="5260475" y="2199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83"/>
            <p:cNvSpPr/>
            <p:nvPr/>
          </p:nvSpPr>
          <p:spPr>
            <a:xfrm>
              <a:off x="5428500" y="1762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83"/>
            <p:cNvSpPr/>
            <p:nvPr/>
          </p:nvSpPr>
          <p:spPr>
            <a:xfrm>
              <a:off x="5260475" y="30743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4" name="Google Shape;1064;p83"/>
            <p:cNvSpPr/>
            <p:nvPr/>
          </p:nvSpPr>
          <p:spPr>
            <a:xfrm>
              <a:off x="5078975" y="3391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83"/>
            <p:cNvSpPr/>
            <p:nvPr/>
          </p:nvSpPr>
          <p:spPr>
            <a:xfrm>
              <a:off x="5078975" y="37410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6" name="Google Shape;1066;p83"/>
            <p:cNvSpPr/>
            <p:nvPr/>
          </p:nvSpPr>
          <p:spPr>
            <a:xfrm>
              <a:off x="5441975" y="3391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83"/>
            <p:cNvSpPr/>
            <p:nvPr/>
          </p:nvSpPr>
          <p:spPr>
            <a:xfrm>
              <a:off x="5441975" y="37410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8" name="Google Shape;1068;p83"/>
            <p:cNvSpPr/>
            <p:nvPr/>
          </p:nvSpPr>
          <p:spPr>
            <a:xfrm>
              <a:off x="3649000" y="3722400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9" name="Google Shape;1069;p83"/>
            <p:cNvSpPr/>
            <p:nvPr/>
          </p:nvSpPr>
          <p:spPr>
            <a:xfrm>
              <a:off x="4045188" y="1070550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0" name="Google Shape;1070;p83"/>
            <p:cNvSpPr/>
            <p:nvPr/>
          </p:nvSpPr>
          <p:spPr>
            <a:xfrm>
              <a:off x="4238975" y="10705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1" name="Google Shape;1071;p83"/>
            <p:cNvSpPr/>
            <p:nvPr/>
          </p:nvSpPr>
          <p:spPr>
            <a:xfrm>
              <a:off x="3852550" y="3731856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83"/>
            <p:cNvSpPr/>
            <p:nvPr/>
          </p:nvSpPr>
          <p:spPr>
            <a:xfrm>
              <a:off x="3852550" y="4085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073" name="Google Shape;1073;p83"/>
          <p:cNvGraphicFramePr/>
          <p:nvPr/>
        </p:nvGraphicFramePr>
        <p:xfrm>
          <a:off x="5214850" y="12368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421375"/>
                <a:gridCol w="1398025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4" name="Google Shape;1074;p83"/>
          <p:cNvSpPr txBox="1"/>
          <p:nvPr/>
        </p:nvSpPr>
        <p:spPr>
          <a:xfrm>
            <a:off x="5742800" y="169398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3"/>
          <p:cNvSpPr txBox="1"/>
          <p:nvPr/>
        </p:nvSpPr>
        <p:spPr>
          <a:xfrm>
            <a:off x="7116600" y="169398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3"/>
          <p:cNvSpPr txBox="1"/>
          <p:nvPr/>
        </p:nvSpPr>
        <p:spPr>
          <a:xfrm>
            <a:off x="5742800" y="215113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3"/>
          <p:cNvSpPr txBox="1"/>
          <p:nvPr/>
        </p:nvSpPr>
        <p:spPr>
          <a:xfrm>
            <a:off x="7116600" y="215113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3"/>
          <p:cNvSpPr txBox="1"/>
          <p:nvPr/>
        </p:nvSpPr>
        <p:spPr>
          <a:xfrm>
            <a:off x="5742800" y="260600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3"/>
          <p:cNvSpPr txBox="1"/>
          <p:nvPr/>
        </p:nvSpPr>
        <p:spPr>
          <a:xfrm>
            <a:off x="7116600" y="260600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3"/>
          <p:cNvSpPr txBox="1"/>
          <p:nvPr/>
        </p:nvSpPr>
        <p:spPr>
          <a:xfrm>
            <a:off x="5742800" y="306543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3"/>
          <p:cNvSpPr txBox="1"/>
          <p:nvPr/>
        </p:nvSpPr>
        <p:spPr>
          <a:xfrm>
            <a:off x="7116600" y="306543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3"/>
          <p:cNvSpPr txBox="1"/>
          <p:nvPr/>
        </p:nvSpPr>
        <p:spPr>
          <a:xfrm>
            <a:off x="5742800" y="351803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3"/>
          <p:cNvSpPr txBox="1"/>
          <p:nvPr/>
        </p:nvSpPr>
        <p:spPr>
          <a:xfrm>
            <a:off x="7116600" y="351803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3"/>
          <p:cNvSpPr txBox="1"/>
          <p:nvPr/>
        </p:nvSpPr>
        <p:spPr>
          <a:xfrm>
            <a:off x="5742800" y="397973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3"/>
          <p:cNvSpPr txBox="1"/>
          <p:nvPr/>
        </p:nvSpPr>
        <p:spPr>
          <a:xfrm>
            <a:off x="7116600" y="397973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grpSp>
        <p:nvGrpSpPr>
          <p:cNvPr id="1091" name="Google Shape;1091;p84"/>
          <p:cNvGrpSpPr/>
          <p:nvPr/>
        </p:nvGrpSpPr>
        <p:grpSpPr>
          <a:xfrm>
            <a:off x="431414" y="711046"/>
            <a:ext cx="4454355" cy="3159017"/>
            <a:chOff x="431400" y="711025"/>
            <a:chExt cx="5727600" cy="4062000"/>
          </a:xfrm>
        </p:grpSpPr>
        <p:sp>
          <p:nvSpPr>
            <p:cNvPr id="1092" name="Google Shape;1092;p84"/>
            <p:cNvSpPr/>
            <p:nvPr/>
          </p:nvSpPr>
          <p:spPr>
            <a:xfrm>
              <a:off x="431400" y="711025"/>
              <a:ext cx="5727600" cy="406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84"/>
            <p:cNvSpPr/>
            <p:nvPr/>
          </p:nvSpPr>
          <p:spPr>
            <a:xfrm>
              <a:off x="1042104" y="2064425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84"/>
            <p:cNvSpPr/>
            <p:nvPr/>
          </p:nvSpPr>
          <p:spPr>
            <a:xfrm>
              <a:off x="768025" y="10800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84"/>
            <p:cNvSpPr/>
            <p:nvPr/>
          </p:nvSpPr>
          <p:spPr>
            <a:xfrm>
              <a:off x="2503500" y="10800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84"/>
            <p:cNvSpPr/>
            <p:nvPr/>
          </p:nvSpPr>
          <p:spPr>
            <a:xfrm rot="5400000">
              <a:off x="768025" y="34464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7" name="Google Shape;1097;p84"/>
            <p:cNvSpPr/>
            <p:nvPr/>
          </p:nvSpPr>
          <p:spPr>
            <a:xfrm rot="-5400000">
              <a:off x="2267400" y="24012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84"/>
            <p:cNvSpPr/>
            <p:nvPr/>
          </p:nvSpPr>
          <p:spPr>
            <a:xfrm rot="-5400000">
              <a:off x="3373000" y="24012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9" name="Google Shape;1099;p84"/>
            <p:cNvSpPr/>
            <p:nvPr/>
          </p:nvSpPr>
          <p:spPr>
            <a:xfrm>
              <a:off x="2543400" y="3722400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84"/>
            <p:cNvSpPr/>
            <p:nvPr/>
          </p:nvSpPr>
          <p:spPr>
            <a:xfrm rot="5400000">
              <a:off x="4802975" y="1564075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1" name="Google Shape;1101;p84"/>
            <p:cNvSpPr/>
            <p:nvPr/>
          </p:nvSpPr>
          <p:spPr>
            <a:xfrm rot="5400000">
              <a:off x="4802975" y="3350300"/>
              <a:ext cx="11496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2" name="Google Shape;1102;p84"/>
            <p:cNvSpPr/>
            <p:nvPr/>
          </p:nvSpPr>
          <p:spPr>
            <a:xfrm>
              <a:off x="941875" y="1080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84"/>
            <p:cNvSpPr/>
            <p:nvPr/>
          </p:nvSpPr>
          <p:spPr>
            <a:xfrm>
              <a:off x="941875" y="1443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84"/>
            <p:cNvSpPr/>
            <p:nvPr/>
          </p:nvSpPr>
          <p:spPr>
            <a:xfrm>
              <a:off x="1503925" y="1080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84"/>
            <p:cNvSpPr/>
            <p:nvPr/>
          </p:nvSpPr>
          <p:spPr>
            <a:xfrm>
              <a:off x="1503925" y="1443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84"/>
            <p:cNvSpPr/>
            <p:nvPr/>
          </p:nvSpPr>
          <p:spPr>
            <a:xfrm>
              <a:off x="2541300" y="23371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84"/>
            <p:cNvSpPr/>
            <p:nvPr/>
          </p:nvSpPr>
          <p:spPr>
            <a:xfrm>
              <a:off x="2906400" y="23371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84"/>
            <p:cNvSpPr/>
            <p:nvPr/>
          </p:nvSpPr>
          <p:spPr>
            <a:xfrm>
              <a:off x="2541300" y="2839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9" name="Google Shape;1109;p84"/>
            <p:cNvSpPr/>
            <p:nvPr/>
          </p:nvSpPr>
          <p:spPr>
            <a:xfrm>
              <a:off x="1225525" y="3170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0" name="Google Shape;1110;p84"/>
            <p:cNvSpPr/>
            <p:nvPr/>
          </p:nvSpPr>
          <p:spPr>
            <a:xfrm>
              <a:off x="1044025" y="3487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84"/>
            <p:cNvSpPr/>
            <p:nvPr/>
          </p:nvSpPr>
          <p:spPr>
            <a:xfrm>
              <a:off x="1044025" y="39133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2" name="Google Shape;1112;p84"/>
            <p:cNvSpPr/>
            <p:nvPr/>
          </p:nvSpPr>
          <p:spPr>
            <a:xfrm>
              <a:off x="1407025" y="3487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3" name="Google Shape;1113;p84"/>
            <p:cNvSpPr/>
            <p:nvPr/>
          </p:nvSpPr>
          <p:spPr>
            <a:xfrm>
              <a:off x="1407025" y="39133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4" name="Google Shape;1114;p84"/>
            <p:cNvSpPr/>
            <p:nvPr/>
          </p:nvSpPr>
          <p:spPr>
            <a:xfrm>
              <a:off x="1245654" y="24063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84"/>
            <p:cNvSpPr/>
            <p:nvPr/>
          </p:nvSpPr>
          <p:spPr>
            <a:xfrm>
              <a:off x="1245654" y="206442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6" name="Google Shape;1116;p84"/>
            <p:cNvSpPr/>
            <p:nvPr/>
          </p:nvSpPr>
          <p:spPr>
            <a:xfrm>
              <a:off x="2770150" y="1080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84"/>
            <p:cNvSpPr/>
            <p:nvPr/>
          </p:nvSpPr>
          <p:spPr>
            <a:xfrm>
              <a:off x="2770150" y="1443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8" name="Google Shape;1118;p84"/>
            <p:cNvSpPr/>
            <p:nvPr/>
          </p:nvSpPr>
          <p:spPr>
            <a:xfrm>
              <a:off x="3210825" y="10800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9" name="Google Shape;1119;p84"/>
            <p:cNvSpPr/>
            <p:nvPr/>
          </p:nvSpPr>
          <p:spPr>
            <a:xfrm>
              <a:off x="4012000" y="2359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0" name="Google Shape;1120;p84"/>
            <p:cNvSpPr/>
            <p:nvPr/>
          </p:nvSpPr>
          <p:spPr>
            <a:xfrm>
              <a:off x="3649000" y="23598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1" name="Google Shape;1121;p84"/>
            <p:cNvSpPr/>
            <p:nvPr/>
          </p:nvSpPr>
          <p:spPr>
            <a:xfrm>
              <a:off x="3649000" y="2828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2" name="Google Shape;1122;p84"/>
            <p:cNvSpPr/>
            <p:nvPr/>
          </p:nvSpPr>
          <p:spPr>
            <a:xfrm>
              <a:off x="4012000" y="2828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3" name="Google Shape;1123;p84"/>
            <p:cNvSpPr/>
            <p:nvPr/>
          </p:nvSpPr>
          <p:spPr>
            <a:xfrm>
              <a:off x="5260475" y="13251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4" name="Google Shape;1124;p84"/>
            <p:cNvSpPr/>
            <p:nvPr/>
          </p:nvSpPr>
          <p:spPr>
            <a:xfrm>
              <a:off x="5078975" y="1762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84"/>
            <p:cNvSpPr/>
            <p:nvPr/>
          </p:nvSpPr>
          <p:spPr>
            <a:xfrm>
              <a:off x="5260475" y="2199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84"/>
            <p:cNvSpPr/>
            <p:nvPr/>
          </p:nvSpPr>
          <p:spPr>
            <a:xfrm>
              <a:off x="5428500" y="1762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84"/>
            <p:cNvSpPr/>
            <p:nvPr/>
          </p:nvSpPr>
          <p:spPr>
            <a:xfrm>
              <a:off x="5260475" y="30743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84"/>
            <p:cNvSpPr/>
            <p:nvPr/>
          </p:nvSpPr>
          <p:spPr>
            <a:xfrm>
              <a:off x="5078975" y="3391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84"/>
            <p:cNvSpPr/>
            <p:nvPr/>
          </p:nvSpPr>
          <p:spPr>
            <a:xfrm>
              <a:off x="5078975" y="37410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84"/>
            <p:cNvSpPr/>
            <p:nvPr/>
          </p:nvSpPr>
          <p:spPr>
            <a:xfrm>
              <a:off x="5441975" y="33917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84"/>
            <p:cNvSpPr/>
            <p:nvPr/>
          </p:nvSpPr>
          <p:spPr>
            <a:xfrm>
              <a:off x="5441975" y="3741075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84"/>
            <p:cNvSpPr/>
            <p:nvPr/>
          </p:nvSpPr>
          <p:spPr>
            <a:xfrm>
              <a:off x="3649000" y="3722400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84"/>
            <p:cNvSpPr/>
            <p:nvPr/>
          </p:nvSpPr>
          <p:spPr>
            <a:xfrm>
              <a:off x="4045188" y="1070550"/>
              <a:ext cx="641700" cy="5976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84"/>
            <p:cNvSpPr/>
            <p:nvPr/>
          </p:nvSpPr>
          <p:spPr>
            <a:xfrm>
              <a:off x="4238975" y="107055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84"/>
            <p:cNvSpPr/>
            <p:nvPr/>
          </p:nvSpPr>
          <p:spPr>
            <a:xfrm>
              <a:off x="3852550" y="3731856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84"/>
            <p:cNvSpPr/>
            <p:nvPr/>
          </p:nvSpPr>
          <p:spPr>
            <a:xfrm>
              <a:off x="3852550" y="4085400"/>
              <a:ext cx="234600" cy="2346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37" name="Google Shape;1137;p84"/>
          <p:cNvGraphicFramePr/>
          <p:nvPr/>
        </p:nvGraphicFramePr>
        <p:xfrm>
          <a:off x="5214850" y="71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421375"/>
                <a:gridCol w="1398025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8" name="Google Shape;1138;p84"/>
          <p:cNvSpPr txBox="1"/>
          <p:nvPr/>
        </p:nvSpPr>
        <p:spPr>
          <a:xfrm>
            <a:off x="400945" y="3995715"/>
            <a:ext cx="637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also know there are 33 diners in the restaurant but how can you tell from 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frequency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table?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4"/>
          <p:cNvSpPr txBox="1"/>
          <p:nvPr/>
        </p:nvSpPr>
        <p:spPr>
          <a:xfrm>
            <a:off x="5742800" y="116820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4"/>
          <p:cNvSpPr txBox="1"/>
          <p:nvPr/>
        </p:nvSpPr>
        <p:spPr>
          <a:xfrm>
            <a:off x="7116600" y="116820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4"/>
          <p:cNvSpPr txBox="1"/>
          <p:nvPr/>
        </p:nvSpPr>
        <p:spPr>
          <a:xfrm>
            <a:off x="5742800" y="16253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4"/>
          <p:cNvSpPr txBox="1"/>
          <p:nvPr/>
        </p:nvSpPr>
        <p:spPr>
          <a:xfrm>
            <a:off x="7116600" y="16253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84"/>
          <p:cNvSpPr txBox="1"/>
          <p:nvPr/>
        </p:nvSpPr>
        <p:spPr>
          <a:xfrm>
            <a:off x="5742800" y="208022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84"/>
          <p:cNvSpPr txBox="1"/>
          <p:nvPr/>
        </p:nvSpPr>
        <p:spPr>
          <a:xfrm>
            <a:off x="7116600" y="208022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84"/>
          <p:cNvSpPr txBox="1"/>
          <p:nvPr/>
        </p:nvSpPr>
        <p:spPr>
          <a:xfrm>
            <a:off x="5742800" y="25396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4"/>
          <p:cNvSpPr txBox="1"/>
          <p:nvPr/>
        </p:nvSpPr>
        <p:spPr>
          <a:xfrm>
            <a:off x="7116600" y="25396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4"/>
          <p:cNvSpPr txBox="1"/>
          <p:nvPr/>
        </p:nvSpPr>
        <p:spPr>
          <a:xfrm>
            <a:off x="5742800" y="29922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4"/>
          <p:cNvSpPr txBox="1"/>
          <p:nvPr/>
        </p:nvSpPr>
        <p:spPr>
          <a:xfrm>
            <a:off x="7116600" y="29922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4"/>
          <p:cNvSpPr txBox="1"/>
          <p:nvPr/>
        </p:nvSpPr>
        <p:spPr>
          <a:xfrm>
            <a:off x="5742800" y="34539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4"/>
          <p:cNvSpPr txBox="1"/>
          <p:nvPr/>
        </p:nvSpPr>
        <p:spPr>
          <a:xfrm>
            <a:off x="7116600" y="34539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graphicFrame>
        <p:nvGraphicFramePr>
          <p:cNvPr id="1156" name="Google Shape;1156;p85"/>
          <p:cNvGraphicFramePr/>
          <p:nvPr/>
        </p:nvGraphicFramePr>
        <p:xfrm>
          <a:off x="534125" y="69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429475"/>
                <a:gridCol w="14060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57" name="Google Shape;1157;p85"/>
          <p:cNvSpPr txBox="1"/>
          <p:nvPr/>
        </p:nvSpPr>
        <p:spPr>
          <a:xfrm>
            <a:off x="3519050" y="699675"/>
            <a:ext cx="518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5"/>
          <p:cNvSpPr txBox="1"/>
          <p:nvPr/>
        </p:nvSpPr>
        <p:spPr>
          <a:xfrm>
            <a:off x="1062075" y="115682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5"/>
          <p:cNvSpPr txBox="1"/>
          <p:nvPr/>
        </p:nvSpPr>
        <p:spPr>
          <a:xfrm>
            <a:off x="2435875" y="115682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5"/>
          <p:cNvSpPr txBox="1"/>
          <p:nvPr/>
        </p:nvSpPr>
        <p:spPr>
          <a:xfrm>
            <a:off x="1062075" y="16139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5"/>
          <p:cNvSpPr txBox="1"/>
          <p:nvPr/>
        </p:nvSpPr>
        <p:spPr>
          <a:xfrm>
            <a:off x="2435875" y="16139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5"/>
          <p:cNvSpPr txBox="1"/>
          <p:nvPr/>
        </p:nvSpPr>
        <p:spPr>
          <a:xfrm>
            <a:off x="1062075" y="20688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5"/>
          <p:cNvSpPr txBox="1"/>
          <p:nvPr/>
        </p:nvSpPr>
        <p:spPr>
          <a:xfrm>
            <a:off x="2435875" y="20688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5"/>
          <p:cNvSpPr txBox="1"/>
          <p:nvPr/>
        </p:nvSpPr>
        <p:spPr>
          <a:xfrm>
            <a:off x="1062075" y="25282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5"/>
          <p:cNvSpPr txBox="1"/>
          <p:nvPr/>
        </p:nvSpPr>
        <p:spPr>
          <a:xfrm>
            <a:off x="2435875" y="25282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5"/>
          <p:cNvSpPr txBox="1"/>
          <p:nvPr/>
        </p:nvSpPr>
        <p:spPr>
          <a:xfrm>
            <a:off x="1062075" y="29808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5"/>
          <p:cNvSpPr txBox="1"/>
          <p:nvPr/>
        </p:nvSpPr>
        <p:spPr>
          <a:xfrm>
            <a:off x="2435875" y="29808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5"/>
          <p:cNvSpPr txBox="1"/>
          <p:nvPr/>
        </p:nvSpPr>
        <p:spPr>
          <a:xfrm>
            <a:off x="1062075" y="34425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5"/>
          <p:cNvSpPr txBox="1"/>
          <p:nvPr/>
        </p:nvSpPr>
        <p:spPr>
          <a:xfrm>
            <a:off x="2435875" y="34425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5"/>
          <p:cNvSpPr txBox="1"/>
          <p:nvPr/>
        </p:nvSpPr>
        <p:spPr>
          <a:xfrm>
            <a:off x="3369600" y="1486900"/>
            <a:ext cx="55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represents 3 tables, each with 4 diners.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5"/>
          <p:cNvSpPr/>
          <p:nvPr/>
        </p:nvSpPr>
        <p:spPr>
          <a:xfrm>
            <a:off x="2435875" y="3064475"/>
            <a:ext cx="303600" cy="303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2" name="Google Shape;1172;p85"/>
          <p:cNvCxnSpPr>
            <a:stCxn id="1170" idx="1"/>
            <a:endCxn id="1171" idx="3"/>
          </p:cNvCxnSpPr>
          <p:nvPr/>
        </p:nvCxnSpPr>
        <p:spPr>
          <a:xfrm flipH="1">
            <a:off x="2739600" y="1733200"/>
            <a:ext cx="630000" cy="1483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3" name="Google Shape;1173;p85"/>
          <p:cNvSpPr txBox="1"/>
          <p:nvPr/>
        </p:nvSpPr>
        <p:spPr>
          <a:xfrm>
            <a:off x="3429050" y="2171550"/>
            <a:ext cx="5272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That contributes to 12 to the total diners in the restaurant.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5"/>
          <p:cNvSpPr/>
          <p:nvPr/>
        </p:nvSpPr>
        <p:spPr>
          <a:xfrm>
            <a:off x="2435875" y="3521625"/>
            <a:ext cx="303600" cy="303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5" name="Google Shape;1175;p85"/>
          <p:cNvCxnSpPr>
            <a:stCxn id="1176" idx="1"/>
            <a:endCxn id="1174" idx="3"/>
          </p:cNvCxnSpPr>
          <p:nvPr/>
        </p:nvCxnSpPr>
        <p:spPr>
          <a:xfrm rot="10800000">
            <a:off x="2739475" y="3673400"/>
            <a:ext cx="681900" cy="4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6" name="Google Shape;1176;p85"/>
          <p:cNvSpPr txBox="1"/>
          <p:nvPr/>
        </p:nvSpPr>
        <p:spPr>
          <a:xfrm>
            <a:off x="3421375" y="3164000"/>
            <a:ext cx="5569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represents 2 tables, each with 5 diners, that contributes to 10 to the total diners in the restaurant.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graphicFrame>
        <p:nvGraphicFramePr>
          <p:cNvPr id="1182" name="Google Shape;1182;p86"/>
          <p:cNvGraphicFramePr/>
          <p:nvPr/>
        </p:nvGraphicFramePr>
        <p:xfrm>
          <a:off x="534125" y="69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443650"/>
                <a:gridCol w="1372050"/>
                <a:gridCol w="2317525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diners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3" name="Google Shape;1183;p86"/>
          <p:cNvSpPr txBox="1"/>
          <p:nvPr/>
        </p:nvSpPr>
        <p:spPr>
          <a:xfrm>
            <a:off x="1062075" y="115682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6"/>
          <p:cNvSpPr txBox="1"/>
          <p:nvPr/>
        </p:nvSpPr>
        <p:spPr>
          <a:xfrm>
            <a:off x="2435875" y="115682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6"/>
          <p:cNvSpPr txBox="1"/>
          <p:nvPr/>
        </p:nvSpPr>
        <p:spPr>
          <a:xfrm>
            <a:off x="1062075" y="16139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6"/>
          <p:cNvSpPr txBox="1"/>
          <p:nvPr/>
        </p:nvSpPr>
        <p:spPr>
          <a:xfrm>
            <a:off x="2435875" y="16139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6"/>
          <p:cNvSpPr txBox="1"/>
          <p:nvPr/>
        </p:nvSpPr>
        <p:spPr>
          <a:xfrm>
            <a:off x="1062075" y="20688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6"/>
          <p:cNvSpPr txBox="1"/>
          <p:nvPr/>
        </p:nvSpPr>
        <p:spPr>
          <a:xfrm>
            <a:off x="2435875" y="20688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6"/>
          <p:cNvSpPr txBox="1"/>
          <p:nvPr/>
        </p:nvSpPr>
        <p:spPr>
          <a:xfrm>
            <a:off x="1062075" y="25282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6"/>
          <p:cNvSpPr txBox="1"/>
          <p:nvPr/>
        </p:nvSpPr>
        <p:spPr>
          <a:xfrm>
            <a:off x="2435875" y="25282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6"/>
          <p:cNvSpPr txBox="1"/>
          <p:nvPr/>
        </p:nvSpPr>
        <p:spPr>
          <a:xfrm>
            <a:off x="1062075" y="29808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6"/>
          <p:cNvSpPr txBox="1"/>
          <p:nvPr/>
        </p:nvSpPr>
        <p:spPr>
          <a:xfrm>
            <a:off x="2435875" y="29808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6"/>
          <p:cNvSpPr txBox="1"/>
          <p:nvPr/>
        </p:nvSpPr>
        <p:spPr>
          <a:xfrm>
            <a:off x="1062075" y="34425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6"/>
          <p:cNvSpPr txBox="1"/>
          <p:nvPr/>
        </p:nvSpPr>
        <p:spPr>
          <a:xfrm>
            <a:off x="2435875" y="34425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6"/>
          <p:cNvSpPr txBox="1"/>
          <p:nvPr/>
        </p:nvSpPr>
        <p:spPr>
          <a:xfrm>
            <a:off x="3399950" y="3919800"/>
            <a:ext cx="2063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Total number of diners = 33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6"/>
          <p:cNvSpPr txBox="1"/>
          <p:nvPr/>
        </p:nvSpPr>
        <p:spPr>
          <a:xfrm>
            <a:off x="1743575" y="1150900"/>
            <a:ext cx="3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✖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6"/>
          <p:cNvSpPr txBox="1"/>
          <p:nvPr/>
        </p:nvSpPr>
        <p:spPr>
          <a:xfrm>
            <a:off x="1743575" y="1608100"/>
            <a:ext cx="3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✖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6"/>
          <p:cNvSpPr txBox="1"/>
          <p:nvPr/>
        </p:nvSpPr>
        <p:spPr>
          <a:xfrm>
            <a:off x="1743575" y="2065300"/>
            <a:ext cx="3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✖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6"/>
          <p:cNvSpPr txBox="1"/>
          <p:nvPr/>
        </p:nvSpPr>
        <p:spPr>
          <a:xfrm>
            <a:off x="1743575" y="2522500"/>
            <a:ext cx="3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✖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6"/>
          <p:cNvSpPr txBox="1"/>
          <p:nvPr/>
        </p:nvSpPr>
        <p:spPr>
          <a:xfrm>
            <a:off x="1743575" y="2979700"/>
            <a:ext cx="3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✖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6"/>
          <p:cNvSpPr txBox="1"/>
          <p:nvPr/>
        </p:nvSpPr>
        <p:spPr>
          <a:xfrm>
            <a:off x="1743575" y="3436900"/>
            <a:ext cx="3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✖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6"/>
          <p:cNvSpPr txBox="1"/>
          <p:nvPr/>
        </p:nvSpPr>
        <p:spPr>
          <a:xfrm>
            <a:off x="3181850" y="1077675"/>
            <a:ext cx="3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=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6"/>
          <p:cNvSpPr txBox="1"/>
          <p:nvPr/>
        </p:nvSpPr>
        <p:spPr>
          <a:xfrm>
            <a:off x="3181850" y="1534875"/>
            <a:ext cx="3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=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6"/>
          <p:cNvSpPr txBox="1"/>
          <p:nvPr/>
        </p:nvSpPr>
        <p:spPr>
          <a:xfrm>
            <a:off x="3181850" y="1992075"/>
            <a:ext cx="3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=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6"/>
          <p:cNvSpPr txBox="1"/>
          <p:nvPr/>
        </p:nvSpPr>
        <p:spPr>
          <a:xfrm>
            <a:off x="3181850" y="2449275"/>
            <a:ext cx="3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=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6"/>
          <p:cNvSpPr txBox="1"/>
          <p:nvPr/>
        </p:nvSpPr>
        <p:spPr>
          <a:xfrm>
            <a:off x="3181850" y="2906475"/>
            <a:ext cx="3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=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6"/>
          <p:cNvSpPr txBox="1"/>
          <p:nvPr/>
        </p:nvSpPr>
        <p:spPr>
          <a:xfrm>
            <a:off x="3181850" y="3363675"/>
            <a:ext cx="3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=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restaurant tables were set up on another day.</a:t>
            </a:r>
            <a:endParaRPr/>
          </a:p>
        </p:txBody>
      </p:sp>
      <p:sp>
        <p:nvSpPr>
          <p:cNvPr id="1213" name="Google Shape;121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sp>
        <p:nvSpPr>
          <p:cNvPr id="1214" name="Google Shape;1214;p87"/>
          <p:cNvSpPr txBox="1"/>
          <p:nvPr/>
        </p:nvSpPr>
        <p:spPr>
          <a:xfrm>
            <a:off x="324000" y="1219800"/>
            <a:ext cx="348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 many people were eating in groups of 4?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7"/>
          <p:cNvSpPr/>
          <p:nvPr/>
        </p:nvSpPr>
        <p:spPr>
          <a:xfrm>
            <a:off x="7478731" y="1130350"/>
            <a:ext cx="2291100" cy="3253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7"/>
          <p:cNvSpPr txBox="1"/>
          <p:nvPr/>
        </p:nvSpPr>
        <p:spPr>
          <a:xfrm>
            <a:off x="690350" y="2116575"/>
            <a:ext cx="2374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 people, as there were 3 tables of 4.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17" name="Google Shape;1217;p87"/>
          <p:cNvGraphicFramePr/>
          <p:nvPr/>
        </p:nvGraphicFramePr>
        <p:xfrm>
          <a:off x="4716979" y="117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451675"/>
                <a:gridCol w="137965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restaurant tables were set up on another day.</a:t>
            </a:r>
            <a:endParaRPr/>
          </a:p>
        </p:txBody>
      </p:sp>
      <p:sp>
        <p:nvSpPr>
          <p:cNvPr id="1223" name="Google Shape;122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sp>
        <p:nvSpPr>
          <p:cNvPr id="1224" name="Google Shape;1224;p88"/>
          <p:cNvSpPr txBox="1"/>
          <p:nvPr/>
        </p:nvSpPr>
        <p:spPr>
          <a:xfrm>
            <a:off x="324000" y="1219800"/>
            <a:ext cx="256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 many people were eating at the restaurant in total?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8"/>
          <p:cNvSpPr txBox="1"/>
          <p:nvPr/>
        </p:nvSpPr>
        <p:spPr>
          <a:xfrm>
            <a:off x="418350" y="2700000"/>
            <a:ext cx="237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 diners in total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26" name="Google Shape;1226;p88"/>
          <p:cNvGraphicFramePr/>
          <p:nvPr/>
        </p:nvGraphicFramePr>
        <p:xfrm>
          <a:off x="2887204" y="121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411000"/>
                <a:gridCol w="1384825"/>
                <a:gridCol w="2221325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umber of diners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27" name="Google Shape;1227;p88"/>
          <p:cNvSpPr/>
          <p:nvPr/>
        </p:nvSpPr>
        <p:spPr>
          <a:xfrm>
            <a:off x="5683031" y="1193225"/>
            <a:ext cx="2291100" cy="32532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graphicFrame>
        <p:nvGraphicFramePr>
          <p:cNvPr id="1233" name="Google Shape;1233;p89"/>
          <p:cNvGraphicFramePr/>
          <p:nvPr/>
        </p:nvGraphicFramePr>
        <p:xfrm>
          <a:off x="534125" y="69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411000"/>
                <a:gridCol w="1424475"/>
                <a:gridCol w="2181675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roup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umber of diners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4" name="Google Shape;1234;p89"/>
          <p:cNvSpPr txBox="1"/>
          <p:nvPr/>
        </p:nvSpPr>
        <p:spPr>
          <a:xfrm>
            <a:off x="1062075" y="115682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9"/>
          <p:cNvSpPr txBox="1"/>
          <p:nvPr/>
        </p:nvSpPr>
        <p:spPr>
          <a:xfrm>
            <a:off x="2435875" y="115682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9"/>
          <p:cNvSpPr txBox="1"/>
          <p:nvPr/>
        </p:nvSpPr>
        <p:spPr>
          <a:xfrm>
            <a:off x="1062075" y="16139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9"/>
          <p:cNvSpPr txBox="1"/>
          <p:nvPr/>
        </p:nvSpPr>
        <p:spPr>
          <a:xfrm>
            <a:off x="2435875" y="16139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9"/>
          <p:cNvSpPr txBox="1"/>
          <p:nvPr/>
        </p:nvSpPr>
        <p:spPr>
          <a:xfrm>
            <a:off x="1062075" y="20688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9"/>
          <p:cNvSpPr txBox="1"/>
          <p:nvPr/>
        </p:nvSpPr>
        <p:spPr>
          <a:xfrm>
            <a:off x="2435875" y="2068850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9"/>
          <p:cNvSpPr txBox="1"/>
          <p:nvPr/>
        </p:nvSpPr>
        <p:spPr>
          <a:xfrm>
            <a:off x="1062075" y="25282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9"/>
          <p:cNvSpPr txBox="1"/>
          <p:nvPr/>
        </p:nvSpPr>
        <p:spPr>
          <a:xfrm>
            <a:off x="2435875" y="25282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9"/>
          <p:cNvSpPr txBox="1"/>
          <p:nvPr/>
        </p:nvSpPr>
        <p:spPr>
          <a:xfrm>
            <a:off x="1062075" y="29808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9"/>
          <p:cNvSpPr txBox="1"/>
          <p:nvPr/>
        </p:nvSpPr>
        <p:spPr>
          <a:xfrm>
            <a:off x="2435875" y="29808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9"/>
          <p:cNvSpPr txBox="1"/>
          <p:nvPr/>
        </p:nvSpPr>
        <p:spPr>
          <a:xfrm>
            <a:off x="1062075" y="34425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9"/>
          <p:cNvSpPr txBox="1"/>
          <p:nvPr/>
        </p:nvSpPr>
        <p:spPr>
          <a:xfrm>
            <a:off x="2435875" y="3442575"/>
            <a:ext cx="3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89"/>
          <p:cNvSpPr txBox="1"/>
          <p:nvPr/>
        </p:nvSpPr>
        <p:spPr>
          <a:xfrm>
            <a:off x="3540300" y="3862550"/>
            <a:ext cx="177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number of diners = 33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9"/>
          <p:cNvSpPr txBox="1"/>
          <p:nvPr/>
        </p:nvSpPr>
        <p:spPr>
          <a:xfrm>
            <a:off x="1633025" y="3862550"/>
            <a:ext cx="165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number of tables =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9"/>
          <p:cNvSpPr txBox="1"/>
          <p:nvPr/>
        </p:nvSpPr>
        <p:spPr>
          <a:xfrm>
            <a:off x="5774400" y="758650"/>
            <a:ext cx="326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number of diners per table at the restaurant?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9"/>
          <p:cNvSpPr txBox="1"/>
          <p:nvPr/>
        </p:nvSpPr>
        <p:spPr>
          <a:xfrm>
            <a:off x="5625450" y="1837525"/>
            <a:ext cx="356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number of diners = 33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9"/>
          <p:cNvSpPr txBox="1"/>
          <p:nvPr/>
        </p:nvSpPr>
        <p:spPr>
          <a:xfrm>
            <a:off x="5625450" y="2238300"/>
            <a:ext cx="316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number of tables =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1" name="Google Shape;1251;p89"/>
          <p:cNvCxnSpPr/>
          <p:nvPr/>
        </p:nvCxnSpPr>
        <p:spPr>
          <a:xfrm>
            <a:off x="5651773" y="2275873"/>
            <a:ext cx="260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89"/>
          <p:cNvCxnSpPr/>
          <p:nvPr/>
        </p:nvCxnSpPr>
        <p:spPr>
          <a:xfrm>
            <a:off x="8428375" y="2275875"/>
            <a:ext cx="32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3" name="Google Shape;1253;p89"/>
          <p:cNvSpPr txBox="1"/>
          <p:nvPr/>
        </p:nvSpPr>
        <p:spPr>
          <a:xfrm>
            <a:off x="6401575" y="2777300"/>
            <a:ext cx="23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3 diners per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9"/>
          <p:cNvSpPr/>
          <p:nvPr/>
        </p:nvSpPr>
        <p:spPr>
          <a:xfrm>
            <a:off x="8249450" y="2007037"/>
            <a:ext cx="1788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grpSp>
        <p:nvGrpSpPr>
          <p:cNvPr id="1260" name="Google Shape;1260;p90"/>
          <p:cNvGrpSpPr/>
          <p:nvPr/>
        </p:nvGrpSpPr>
        <p:grpSpPr>
          <a:xfrm>
            <a:off x="431412" y="711045"/>
            <a:ext cx="5088973" cy="3609087"/>
            <a:chOff x="431412" y="711045"/>
            <a:chExt cx="5088973" cy="3609087"/>
          </a:xfrm>
        </p:grpSpPr>
        <p:sp>
          <p:nvSpPr>
            <p:cNvPr id="1261" name="Google Shape;1261;p90"/>
            <p:cNvSpPr/>
            <p:nvPr/>
          </p:nvSpPr>
          <p:spPr>
            <a:xfrm>
              <a:off x="431412" y="711045"/>
              <a:ext cx="5088973" cy="3609087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2" name="Google Shape;1262;p90"/>
            <p:cNvSpPr/>
            <p:nvPr/>
          </p:nvSpPr>
          <p:spPr>
            <a:xfrm>
              <a:off x="974023" y="1913541"/>
              <a:ext cx="57015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3" name="Google Shape;1263;p90"/>
            <p:cNvSpPr/>
            <p:nvPr/>
          </p:nvSpPr>
          <p:spPr>
            <a:xfrm>
              <a:off x="730503" y="1038879"/>
              <a:ext cx="102142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4" name="Google Shape;1264;p90"/>
            <p:cNvSpPr/>
            <p:nvPr/>
          </p:nvSpPr>
          <p:spPr>
            <a:xfrm>
              <a:off x="2272473" y="1038879"/>
              <a:ext cx="102142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5" name="Google Shape;1265;p90"/>
            <p:cNvSpPr/>
            <p:nvPr/>
          </p:nvSpPr>
          <p:spPr>
            <a:xfrm rot="5400000">
              <a:off x="730503" y="3141425"/>
              <a:ext cx="102142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6" name="Google Shape;1266;p90"/>
            <p:cNvSpPr/>
            <p:nvPr/>
          </p:nvSpPr>
          <p:spPr>
            <a:xfrm rot="-5400000">
              <a:off x="2062698" y="2212765"/>
              <a:ext cx="102142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90"/>
            <p:cNvSpPr/>
            <p:nvPr/>
          </p:nvSpPr>
          <p:spPr>
            <a:xfrm rot="-5400000">
              <a:off x="3045023" y="2212765"/>
              <a:ext cx="102142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90"/>
            <p:cNvSpPr/>
            <p:nvPr/>
          </p:nvSpPr>
          <p:spPr>
            <a:xfrm>
              <a:off x="2307924" y="3386651"/>
              <a:ext cx="57015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90"/>
            <p:cNvSpPr/>
            <p:nvPr/>
          </p:nvSpPr>
          <p:spPr>
            <a:xfrm rot="5400000">
              <a:off x="4315556" y="1468980"/>
              <a:ext cx="102142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0" name="Google Shape;1270;p90"/>
            <p:cNvSpPr/>
            <p:nvPr/>
          </p:nvSpPr>
          <p:spPr>
            <a:xfrm rot="5400000">
              <a:off x="4315556" y="3056040"/>
              <a:ext cx="102142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90"/>
            <p:cNvSpPr/>
            <p:nvPr/>
          </p:nvSpPr>
          <p:spPr>
            <a:xfrm>
              <a:off x="884969" y="1038879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2" name="Google Shape;1272;p90"/>
            <p:cNvSpPr/>
            <p:nvPr/>
          </p:nvSpPr>
          <p:spPr>
            <a:xfrm>
              <a:off x="884969" y="1361404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3" name="Google Shape;1273;p90"/>
            <p:cNvSpPr/>
            <p:nvPr/>
          </p:nvSpPr>
          <p:spPr>
            <a:xfrm>
              <a:off x="1384350" y="1038879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4" name="Google Shape;1274;p90"/>
            <p:cNvSpPr/>
            <p:nvPr/>
          </p:nvSpPr>
          <p:spPr>
            <a:xfrm>
              <a:off x="1384350" y="1361404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5" name="Google Shape;1275;p90"/>
            <p:cNvSpPr/>
            <p:nvPr/>
          </p:nvSpPr>
          <p:spPr>
            <a:xfrm>
              <a:off x="2306058" y="2155857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6" name="Google Shape;1276;p90"/>
            <p:cNvSpPr/>
            <p:nvPr/>
          </p:nvSpPr>
          <p:spPr>
            <a:xfrm>
              <a:off x="2630449" y="2155857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90"/>
            <p:cNvSpPr/>
            <p:nvPr/>
          </p:nvSpPr>
          <p:spPr>
            <a:xfrm>
              <a:off x="2306058" y="2602372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90"/>
            <p:cNvSpPr/>
            <p:nvPr/>
          </p:nvSpPr>
          <p:spPr>
            <a:xfrm>
              <a:off x="1136992" y="2896199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9" name="Google Shape;1279;p90"/>
            <p:cNvSpPr/>
            <p:nvPr/>
          </p:nvSpPr>
          <p:spPr>
            <a:xfrm>
              <a:off x="975729" y="3178209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0" name="Google Shape;1280;p90"/>
            <p:cNvSpPr/>
            <p:nvPr/>
          </p:nvSpPr>
          <p:spPr>
            <a:xfrm>
              <a:off x="975729" y="3556333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1" name="Google Shape;1281;p90"/>
            <p:cNvSpPr/>
            <p:nvPr/>
          </p:nvSpPr>
          <p:spPr>
            <a:xfrm>
              <a:off x="1298255" y="3178209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2" name="Google Shape;1282;p90"/>
            <p:cNvSpPr/>
            <p:nvPr/>
          </p:nvSpPr>
          <p:spPr>
            <a:xfrm>
              <a:off x="1298255" y="3556333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90"/>
            <p:cNvSpPr/>
            <p:nvPr/>
          </p:nvSpPr>
          <p:spPr>
            <a:xfrm>
              <a:off x="1154877" y="2217296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4" name="Google Shape;1284;p90"/>
            <p:cNvSpPr/>
            <p:nvPr/>
          </p:nvSpPr>
          <p:spPr>
            <a:xfrm>
              <a:off x="1154877" y="1913541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90"/>
            <p:cNvSpPr/>
            <p:nvPr/>
          </p:nvSpPr>
          <p:spPr>
            <a:xfrm>
              <a:off x="2509391" y="1038879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90"/>
            <p:cNvSpPr/>
            <p:nvPr/>
          </p:nvSpPr>
          <p:spPr>
            <a:xfrm>
              <a:off x="2509391" y="1361404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7" name="Google Shape;1287;p90"/>
            <p:cNvSpPr/>
            <p:nvPr/>
          </p:nvSpPr>
          <p:spPr>
            <a:xfrm>
              <a:off x="2900931" y="1038879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90"/>
            <p:cNvSpPr/>
            <p:nvPr/>
          </p:nvSpPr>
          <p:spPr>
            <a:xfrm>
              <a:off x="3612775" y="2175981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90"/>
            <p:cNvSpPr/>
            <p:nvPr/>
          </p:nvSpPr>
          <p:spPr>
            <a:xfrm>
              <a:off x="3290249" y="2175981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90"/>
            <p:cNvSpPr/>
            <p:nvPr/>
          </p:nvSpPr>
          <p:spPr>
            <a:xfrm>
              <a:off x="3290249" y="2592599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90"/>
            <p:cNvSpPr/>
            <p:nvPr/>
          </p:nvSpPr>
          <p:spPr>
            <a:xfrm>
              <a:off x="3612775" y="2592599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2" name="Google Shape;1292;p90"/>
            <p:cNvSpPr/>
            <p:nvPr/>
          </p:nvSpPr>
          <p:spPr>
            <a:xfrm>
              <a:off x="4722045" y="1256650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90"/>
            <p:cNvSpPr/>
            <p:nvPr/>
          </p:nvSpPr>
          <p:spPr>
            <a:xfrm>
              <a:off x="4560782" y="1645191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90"/>
            <p:cNvSpPr/>
            <p:nvPr/>
          </p:nvSpPr>
          <p:spPr>
            <a:xfrm>
              <a:off x="4722045" y="2033732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5" name="Google Shape;1295;p90"/>
            <p:cNvSpPr/>
            <p:nvPr/>
          </p:nvSpPr>
          <p:spPr>
            <a:xfrm>
              <a:off x="4871335" y="1645191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90"/>
            <p:cNvSpPr/>
            <p:nvPr/>
          </p:nvSpPr>
          <p:spPr>
            <a:xfrm>
              <a:off x="4722045" y="2810814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7" name="Google Shape;1297;p90"/>
            <p:cNvSpPr/>
            <p:nvPr/>
          </p:nvSpPr>
          <p:spPr>
            <a:xfrm>
              <a:off x="4560782" y="3092824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8" name="Google Shape;1298;p90"/>
            <p:cNvSpPr/>
            <p:nvPr/>
          </p:nvSpPr>
          <p:spPr>
            <a:xfrm>
              <a:off x="4560782" y="3403244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90"/>
            <p:cNvSpPr/>
            <p:nvPr/>
          </p:nvSpPr>
          <p:spPr>
            <a:xfrm>
              <a:off x="4883308" y="3092824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90"/>
            <p:cNvSpPr/>
            <p:nvPr/>
          </p:nvSpPr>
          <p:spPr>
            <a:xfrm>
              <a:off x="4883308" y="3403244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90"/>
            <p:cNvSpPr/>
            <p:nvPr/>
          </p:nvSpPr>
          <p:spPr>
            <a:xfrm>
              <a:off x="3290249" y="3386651"/>
              <a:ext cx="57015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90"/>
            <p:cNvSpPr/>
            <p:nvPr/>
          </p:nvSpPr>
          <p:spPr>
            <a:xfrm>
              <a:off x="3642262" y="1030483"/>
              <a:ext cx="570150" cy="530968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3" name="Google Shape;1303;p90"/>
            <p:cNvSpPr/>
            <p:nvPr/>
          </p:nvSpPr>
          <p:spPr>
            <a:xfrm>
              <a:off x="3814442" y="1030483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4" name="Google Shape;1304;p90"/>
            <p:cNvSpPr/>
            <p:nvPr/>
          </p:nvSpPr>
          <p:spPr>
            <a:xfrm>
              <a:off x="3471104" y="3395053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90"/>
            <p:cNvSpPr/>
            <p:nvPr/>
          </p:nvSpPr>
          <p:spPr>
            <a:xfrm>
              <a:off x="3471104" y="3709177"/>
              <a:ext cx="208442" cy="208442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6" name="Google Shape;1306;p90"/>
          <p:cNvSpPr txBox="1"/>
          <p:nvPr/>
        </p:nvSpPr>
        <p:spPr>
          <a:xfrm>
            <a:off x="5774400" y="758650"/>
            <a:ext cx="326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number of diners per table at the restaurant?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0"/>
          <p:cNvSpPr txBox="1"/>
          <p:nvPr/>
        </p:nvSpPr>
        <p:spPr>
          <a:xfrm>
            <a:off x="5625450" y="1837525"/>
            <a:ext cx="356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number of diners = 33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90"/>
          <p:cNvSpPr txBox="1"/>
          <p:nvPr/>
        </p:nvSpPr>
        <p:spPr>
          <a:xfrm>
            <a:off x="5625450" y="2238300"/>
            <a:ext cx="316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number of tables =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9" name="Google Shape;1309;p90"/>
          <p:cNvCxnSpPr/>
          <p:nvPr/>
        </p:nvCxnSpPr>
        <p:spPr>
          <a:xfrm>
            <a:off x="5651773" y="2275873"/>
            <a:ext cx="260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0" name="Google Shape;1310;p90"/>
          <p:cNvCxnSpPr/>
          <p:nvPr/>
        </p:nvCxnSpPr>
        <p:spPr>
          <a:xfrm>
            <a:off x="8428375" y="2275875"/>
            <a:ext cx="32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1" name="Google Shape;1311;p90"/>
          <p:cNvSpPr txBox="1"/>
          <p:nvPr/>
        </p:nvSpPr>
        <p:spPr>
          <a:xfrm>
            <a:off x="6401575" y="2777300"/>
            <a:ext cx="23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3 diners per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2" name="Google Shape;1312;p90"/>
          <p:cNvGrpSpPr/>
          <p:nvPr/>
        </p:nvGrpSpPr>
        <p:grpSpPr>
          <a:xfrm>
            <a:off x="431449" y="711082"/>
            <a:ext cx="5088900" cy="3609000"/>
            <a:chOff x="431449" y="711082"/>
            <a:chExt cx="5088900" cy="3609000"/>
          </a:xfrm>
        </p:grpSpPr>
        <p:sp>
          <p:nvSpPr>
            <p:cNvPr id="1313" name="Google Shape;1313;p90"/>
            <p:cNvSpPr/>
            <p:nvPr/>
          </p:nvSpPr>
          <p:spPr>
            <a:xfrm>
              <a:off x="431449" y="711082"/>
              <a:ext cx="5088900" cy="3609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4" name="Google Shape;1314;p90"/>
            <p:cNvSpPr/>
            <p:nvPr/>
          </p:nvSpPr>
          <p:spPr>
            <a:xfrm>
              <a:off x="974060" y="1913578"/>
              <a:ext cx="5703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90"/>
            <p:cNvSpPr/>
            <p:nvPr/>
          </p:nvSpPr>
          <p:spPr>
            <a:xfrm>
              <a:off x="730541" y="1038916"/>
              <a:ext cx="10215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6" name="Google Shape;1316;p90"/>
            <p:cNvSpPr/>
            <p:nvPr/>
          </p:nvSpPr>
          <p:spPr>
            <a:xfrm>
              <a:off x="2272510" y="1038916"/>
              <a:ext cx="10215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7" name="Google Shape;1317;p90"/>
            <p:cNvSpPr/>
            <p:nvPr/>
          </p:nvSpPr>
          <p:spPr>
            <a:xfrm rot="5400000">
              <a:off x="730484" y="3141487"/>
              <a:ext cx="10215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8" name="Google Shape;1318;p90"/>
            <p:cNvSpPr/>
            <p:nvPr/>
          </p:nvSpPr>
          <p:spPr>
            <a:xfrm rot="-5400000">
              <a:off x="2062711" y="2212746"/>
              <a:ext cx="10215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9" name="Google Shape;1319;p90"/>
            <p:cNvSpPr/>
            <p:nvPr/>
          </p:nvSpPr>
          <p:spPr>
            <a:xfrm rot="-5400000">
              <a:off x="3045037" y="2212746"/>
              <a:ext cx="10215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0" name="Google Shape;1320;p90"/>
            <p:cNvSpPr/>
            <p:nvPr/>
          </p:nvSpPr>
          <p:spPr>
            <a:xfrm>
              <a:off x="2307961" y="3386689"/>
              <a:ext cx="5703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1" name="Google Shape;1321;p90"/>
            <p:cNvSpPr/>
            <p:nvPr/>
          </p:nvSpPr>
          <p:spPr>
            <a:xfrm rot="5400000">
              <a:off x="4315537" y="1469041"/>
              <a:ext cx="10215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2" name="Google Shape;1322;p90"/>
            <p:cNvSpPr/>
            <p:nvPr/>
          </p:nvSpPr>
          <p:spPr>
            <a:xfrm rot="5400000">
              <a:off x="4315537" y="3056102"/>
              <a:ext cx="10215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90"/>
            <p:cNvSpPr/>
            <p:nvPr/>
          </p:nvSpPr>
          <p:spPr>
            <a:xfrm>
              <a:off x="885006" y="1038916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4" name="Google Shape;1324;p90"/>
            <p:cNvSpPr/>
            <p:nvPr/>
          </p:nvSpPr>
          <p:spPr>
            <a:xfrm>
              <a:off x="885006" y="1361442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5" name="Google Shape;1325;p90"/>
            <p:cNvSpPr/>
            <p:nvPr/>
          </p:nvSpPr>
          <p:spPr>
            <a:xfrm>
              <a:off x="1384388" y="1038916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6" name="Google Shape;1326;p90"/>
            <p:cNvSpPr/>
            <p:nvPr/>
          </p:nvSpPr>
          <p:spPr>
            <a:xfrm>
              <a:off x="975763" y="2074817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7" name="Google Shape;1327;p90"/>
            <p:cNvSpPr/>
            <p:nvPr/>
          </p:nvSpPr>
          <p:spPr>
            <a:xfrm>
              <a:off x="2306096" y="2155894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8" name="Google Shape;1328;p90"/>
            <p:cNvSpPr/>
            <p:nvPr/>
          </p:nvSpPr>
          <p:spPr>
            <a:xfrm>
              <a:off x="2630487" y="2155894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9" name="Google Shape;1329;p90"/>
            <p:cNvSpPr/>
            <p:nvPr/>
          </p:nvSpPr>
          <p:spPr>
            <a:xfrm>
              <a:off x="2306096" y="2602410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0" name="Google Shape;1330;p90"/>
            <p:cNvSpPr/>
            <p:nvPr/>
          </p:nvSpPr>
          <p:spPr>
            <a:xfrm>
              <a:off x="1137029" y="2896237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1" name="Google Shape;1331;p90"/>
            <p:cNvSpPr/>
            <p:nvPr/>
          </p:nvSpPr>
          <p:spPr>
            <a:xfrm>
              <a:off x="975767" y="3178247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2" name="Google Shape;1332;p90"/>
            <p:cNvSpPr/>
            <p:nvPr/>
          </p:nvSpPr>
          <p:spPr>
            <a:xfrm>
              <a:off x="2678992" y="3556370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3" name="Google Shape;1333;p90"/>
            <p:cNvSpPr/>
            <p:nvPr/>
          </p:nvSpPr>
          <p:spPr>
            <a:xfrm>
              <a:off x="1298292" y="3178247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90"/>
            <p:cNvSpPr/>
            <p:nvPr/>
          </p:nvSpPr>
          <p:spPr>
            <a:xfrm>
              <a:off x="2294242" y="3556370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90"/>
            <p:cNvSpPr/>
            <p:nvPr/>
          </p:nvSpPr>
          <p:spPr>
            <a:xfrm>
              <a:off x="1154914" y="2217334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6" name="Google Shape;1336;p90"/>
            <p:cNvSpPr/>
            <p:nvPr/>
          </p:nvSpPr>
          <p:spPr>
            <a:xfrm>
              <a:off x="1154914" y="1913578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7" name="Google Shape;1337;p90"/>
            <p:cNvSpPr/>
            <p:nvPr/>
          </p:nvSpPr>
          <p:spPr>
            <a:xfrm>
              <a:off x="2509429" y="1038916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8" name="Google Shape;1338;p90"/>
            <p:cNvSpPr/>
            <p:nvPr/>
          </p:nvSpPr>
          <p:spPr>
            <a:xfrm>
              <a:off x="2509429" y="1361442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9" name="Google Shape;1339;p90"/>
            <p:cNvSpPr/>
            <p:nvPr/>
          </p:nvSpPr>
          <p:spPr>
            <a:xfrm>
              <a:off x="2900969" y="1038916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0" name="Google Shape;1340;p90"/>
            <p:cNvSpPr/>
            <p:nvPr/>
          </p:nvSpPr>
          <p:spPr>
            <a:xfrm>
              <a:off x="3612812" y="2176019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1" name="Google Shape;1341;p90"/>
            <p:cNvSpPr/>
            <p:nvPr/>
          </p:nvSpPr>
          <p:spPr>
            <a:xfrm>
              <a:off x="3290287" y="2176019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2" name="Google Shape;1342;p90"/>
            <p:cNvSpPr/>
            <p:nvPr/>
          </p:nvSpPr>
          <p:spPr>
            <a:xfrm>
              <a:off x="3290287" y="2592636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3" name="Google Shape;1343;p90"/>
            <p:cNvSpPr/>
            <p:nvPr/>
          </p:nvSpPr>
          <p:spPr>
            <a:xfrm>
              <a:off x="4722083" y="1256688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4" name="Google Shape;1344;p90"/>
            <p:cNvSpPr/>
            <p:nvPr/>
          </p:nvSpPr>
          <p:spPr>
            <a:xfrm>
              <a:off x="4722083" y="2033770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5" name="Google Shape;1345;p90"/>
            <p:cNvSpPr/>
            <p:nvPr/>
          </p:nvSpPr>
          <p:spPr>
            <a:xfrm>
              <a:off x="4871373" y="1645229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6" name="Google Shape;1346;p90"/>
            <p:cNvSpPr/>
            <p:nvPr/>
          </p:nvSpPr>
          <p:spPr>
            <a:xfrm>
              <a:off x="4722083" y="2810852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7" name="Google Shape;1347;p90"/>
            <p:cNvSpPr/>
            <p:nvPr/>
          </p:nvSpPr>
          <p:spPr>
            <a:xfrm>
              <a:off x="4560820" y="3092862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8" name="Google Shape;1348;p90"/>
            <p:cNvSpPr/>
            <p:nvPr/>
          </p:nvSpPr>
          <p:spPr>
            <a:xfrm>
              <a:off x="2473682" y="3386557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9" name="Google Shape;1349;p90"/>
            <p:cNvSpPr/>
            <p:nvPr/>
          </p:nvSpPr>
          <p:spPr>
            <a:xfrm>
              <a:off x="4883345" y="3092862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0" name="Google Shape;1350;p90"/>
            <p:cNvSpPr/>
            <p:nvPr/>
          </p:nvSpPr>
          <p:spPr>
            <a:xfrm>
              <a:off x="3290287" y="3386689"/>
              <a:ext cx="5703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1" name="Google Shape;1351;p90"/>
            <p:cNvSpPr/>
            <p:nvPr/>
          </p:nvSpPr>
          <p:spPr>
            <a:xfrm>
              <a:off x="3642300" y="1030520"/>
              <a:ext cx="570300" cy="531000"/>
            </a:xfrm>
            <a:prstGeom prst="roundRect">
              <a:avLst>
                <a:gd fmla="val 16667" name="adj"/>
              </a:avLst>
            </a:prstGeom>
            <a:solidFill>
              <a:srgbClr val="A47449"/>
            </a:solidFill>
            <a:ln cap="flat" cmpd="sng" w="9525">
              <a:solidFill>
                <a:srgbClr val="A27E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2" name="Google Shape;1352;p90"/>
            <p:cNvSpPr/>
            <p:nvPr/>
          </p:nvSpPr>
          <p:spPr>
            <a:xfrm>
              <a:off x="3814480" y="1030520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3" name="Google Shape;1353;p90"/>
            <p:cNvSpPr/>
            <p:nvPr/>
          </p:nvSpPr>
          <p:spPr>
            <a:xfrm>
              <a:off x="3471141" y="3395091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4" name="Google Shape;1354;p90"/>
            <p:cNvSpPr/>
            <p:nvPr/>
          </p:nvSpPr>
          <p:spPr>
            <a:xfrm>
              <a:off x="3471141" y="3709214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5" name="Google Shape;1355;p90"/>
            <p:cNvSpPr/>
            <p:nvPr/>
          </p:nvSpPr>
          <p:spPr>
            <a:xfrm>
              <a:off x="3649067" y="3556386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6" name="Google Shape;1356;p90"/>
            <p:cNvSpPr/>
            <p:nvPr/>
          </p:nvSpPr>
          <p:spPr>
            <a:xfrm>
              <a:off x="3823132" y="1353029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7" name="Google Shape;1357;p90"/>
            <p:cNvSpPr/>
            <p:nvPr/>
          </p:nvSpPr>
          <p:spPr>
            <a:xfrm>
              <a:off x="4004278" y="1191782"/>
              <a:ext cx="208500" cy="2085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8" name="Google Shape;1358;p90"/>
          <p:cNvSpPr txBox="1"/>
          <p:nvPr/>
        </p:nvSpPr>
        <p:spPr>
          <a:xfrm>
            <a:off x="5671950" y="3239000"/>
            <a:ext cx="3121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tells us the number of diners at each table if they were evenly distributed.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90"/>
          <p:cNvSpPr/>
          <p:nvPr/>
        </p:nvSpPr>
        <p:spPr>
          <a:xfrm>
            <a:off x="8249450" y="2007037"/>
            <a:ext cx="1788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91"/>
          <p:cNvSpPr txBox="1"/>
          <p:nvPr>
            <p:ph idx="1" type="body"/>
          </p:nvPr>
        </p:nvSpPr>
        <p:spPr>
          <a:xfrm>
            <a:off x="324000" y="759300"/>
            <a:ext cx="84960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these </a:t>
            </a:r>
            <a:r>
              <a:rPr b="1" lang="en-GB"/>
              <a:t>mean</a:t>
            </a:r>
            <a:r>
              <a:rPr lang="en-GB"/>
              <a:t> values seems reasonable for these </a:t>
            </a:r>
            <a:r>
              <a:rPr b="1" lang="en-GB"/>
              <a:t>data</a:t>
            </a:r>
            <a:r>
              <a:rPr lang="en-GB"/>
              <a:t>?</a:t>
            </a:r>
            <a:endParaRPr/>
          </a:p>
        </p:txBody>
      </p:sp>
      <p:sp>
        <p:nvSpPr>
          <p:cNvPr id="1365" name="Google Shape;136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graphicFrame>
        <p:nvGraphicFramePr>
          <p:cNvPr id="1366" name="Google Shape;1366;p91"/>
          <p:cNvGraphicFramePr/>
          <p:nvPr/>
        </p:nvGraphicFramePr>
        <p:xfrm>
          <a:off x="792050" y="163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738125"/>
                <a:gridCol w="1475600"/>
              </a:tblGrid>
              <a:tr h="4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1367" name="Google Shape;1367;p91"/>
          <p:cNvGrpSpPr/>
          <p:nvPr/>
        </p:nvGrpSpPr>
        <p:grpSpPr>
          <a:xfrm>
            <a:off x="4641291" y="1391400"/>
            <a:ext cx="457200" cy="457200"/>
            <a:chOff x="1020916" y="1442088"/>
            <a:chExt cx="457200" cy="457200"/>
          </a:xfrm>
        </p:grpSpPr>
        <p:pic>
          <p:nvPicPr>
            <p:cNvPr id="1368" name="Google Shape;136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9" name="Google Shape;1369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0" name="Google Shape;1370;p91"/>
          <p:cNvGrpSpPr/>
          <p:nvPr/>
        </p:nvGrpSpPr>
        <p:grpSpPr>
          <a:xfrm>
            <a:off x="4641291" y="2627100"/>
            <a:ext cx="457200" cy="457200"/>
            <a:chOff x="1020916" y="1442088"/>
            <a:chExt cx="457200" cy="457200"/>
          </a:xfrm>
        </p:grpSpPr>
        <p:pic>
          <p:nvPicPr>
            <p:cNvPr id="1371" name="Google Shape;137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2" name="Google Shape;1372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3" name="Google Shape;1373;p91"/>
          <p:cNvGrpSpPr/>
          <p:nvPr/>
        </p:nvGrpSpPr>
        <p:grpSpPr>
          <a:xfrm>
            <a:off x="4641291" y="3862800"/>
            <a:ext cx="457200" cy="457200"/>
            <a:chOff x="1020916" y="1442088"/>
            <a:chExt cx="457200" cy="457200"/>
          </a:xfrm>
        </p:grpSpPr>
        <p:pic>
          <p:nvPicPr>
            <p:cNvPr id="1374" name="Google Shape;137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5" name="Google Shape;137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6" name="Google Shape;1376;p91"/>
          <p:cNvSpPr txBox="1"/>
          <p:nvPr>
            <p:ph idx="1" type="body"/>
          </p:nvPr>
        </p:nvSpPr>
        <p:spPr>
          <a:xfrm>
            <a:off x="5384700" y="2653350"/>
            <a:ext cx="13140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3.5 stars</a:t>
            </a:r>
            <a:endParaRPr/>
          </a:p>
        </p:txBody>
      </p:sp>
      <p:sp>
        <p:nvSpPr>
          <p:cNvPr id="1377" name="Google Shape;1377;p91"/>
          <p:cNvSpPr txBox="1"/>
          <p:nvPr>
            <p:ph idx="1" type="body"/>
          </p:nvPr>
        </p:nvSpPr>
        <p:spPr>
          <a:xfrm>
            <a:off x="5384700" y="3889050"/>
            <a:ext cx="13140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112</a:t>
            </a:r>
            <a:r>
              <a:rPr lang="en-GB"/>
              <a:t> stars</a:t>
            </a:r>
            <a:endParaRPr/>
          </a:p>
        </p:txBody>
      </p:sp>
      <p:sp>
        <p:nvSpPr>
          <p:cNvPr id="1378" name="Google Shape;1378;p91"/>
          <p:cNvSpPr txBox="1"/>
          <p:nvPr>
            <p:ph idx="1" type="body"/>
          </p:nvPr>
        </p:nvSpPr>
        <p:spPr>
          <a:xfrm>
            <a:off x="5264000" y="1417650"/>
            <a:ext cx="13140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10.7 stars</a:t>
            </a:r>
            <a:endParaRPr/>
          </a:p>
        </p:txBody>
      </p:sp>
      <p:pic>
        <p:nvPicPr>
          <p:cNvPr id="1379" name="Google Shape;137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0083" y="2646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91"/>
          <p:cNvSpPr txBox="1"/>
          <p:nvPr/>
        </p:nvSpPr>
        <p:spPr>
          <a:xfrm>
            <a:off x="7381450" y="2147700"/>
            <a:ext cx="167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should fit within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data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92"/>
          <p:cNvSpPr txBox="1"/>
          <p:nvPr>
            <p:ph idx="1" type="body"/>
          </p:nvPr>
        </p:nvSpPr>
        <p:spPr>
          <a:xfrm>
            <a:off x="324000" y="759300"/>
            <a:ext cx="8237700" cy="6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A class take a quiz, marked out of 6. </a:t>
            </a:r>
            <a:br>
              <a:rPr lang="en-GB" sz="1800"/>
            </a:br>
            <a:r>
              <a:rPr lang="en-GB" sz="1800"/>
              <a:t>The frequency table shows the results for the class.</a:t>
            </a:r>
            <a:endParaRPr sz="1800"/>
          </a:p>
        </p:txBody>
      </p:sp>
      <p:sp>
        <p:nvSpPr>
          <p:cNvPr id="1386" name="Google Shape;1386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Calculating the mean from an ungrouped frequency table</a:t>
            </a:r>
            <a:endParaRPr sz="1700"/>
          </a:p>
        </p:txBody>
      </p:sp>
      <p:graphicFrame>
        <p:nvGraphicFramePr>
          <p:cNvPr id="1387" name="Google Shape;1387;p92"/>
          <p:cNvGraphicFramePr/>
          <p:nvPr/>
        </p:nvGraphicFramePr>
        <p:xfrm>
          <a:off x="1058925" y="152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495625"/>
                <a:gridCol w="790075"/>
                <a:gridCol w="790075"/>
                <a:gridCol w="790075"/>
                <a:gridCol w="790075"/>
                <a:gridCol w="790075"/>
                <a:gridCol w="790075"/>
                <a:gridCol w="790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Quiz score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88" name="Google Shape;1388;p92"/>
          <p:cNvSpPr txBox="1"/>
          <p:nvPr/>
        </p:nvSpPr>
        <p:spPr>
          <a:xfrm>
            <a:off x="577450" y="2666175"/>
            <a:ext cx="7253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pupils are in the class?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marks did the class get as a group?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Hence, what is the mean marks per pupil?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93"/>
          <p:cNvSpPr txBox="1"/>
          <p:nvPr>
            <p:ph idx="1" type="body"/>
          </p:nvPr>
        </p:nvSpPr>
        <p:spPr>
          <a:xfrm>
            <a:off x="324000" y="606900"/>
            <a:ext cx="82377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The frequency table shows the </a:t>
            </a:r>
            <a:r>
              <a:rPr lang="en-GB" sz="1800"/>
              <a:t>number of bedrooms in different houses within an area of a town.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</a:t>
            </a:r>
            <a:r>
              <a:rPr lang="en-GB" sz="1800"/>
              <a:t> calculation correctly finds the mean for this frequency table? For each incorrect answer, why is it wrong?</a:t>
            </a:r>
            <a:endParaRPr sz="1800"/>
          </a:p>
        </p:txBody>
      </p:sp>
      <p:sp>
        <p:nvSpPr>
          <p:cNvPr id="1394" name="Google Shape;1394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Calculating the mean from an ungrouped frequency table</a:t>
            </a:r>
            <a:endParaRPr sz="1700"/>
          </a:p>
        </p:txBody>
      </p:sp>
      <p:graphicFrame>
        <p:nvGraphicFramePr>
          <p:cNvPr id="1395" name="Google Shape;1395;p93"/>
          <p:cNvGraphicFramePr/>
          <p:nvPr/>
        </p:nvGraphicFramePr>
        <p:xfrm>
          <a:off x="795500" y="219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395175"/>
                <a:gridCol w="143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500}{4}=125&quot;&gt;&lt;mfrac&gt;&lt;mn&gt;500&lt;/mn&gt;&lt;mn&gt;4&lt;/mn&gt;&lt;/mfrac&gt;&lt;mo&gt;=&lt;/mo&gt;&lt;mn&gt;125&lt;/mn&gt;&lt;/math&gt;" id="1396" name="Google Shape;1396;p93" title="500 over 4 equals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112" y="3087888"/>
            <a:ext cx="1230067" cy="622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00}{200}=2.5&quot;&gt;&lt;mfrac&gt;&lt;mn&gt;500&lt;/mn&gt;&lt;mn&gt;200&lt;/mn&gt;&lt;/mfrac&gt;&lt;mo&gt;=&lt;/mo&gt;&lt;mn&gt;2.5&lt;/mn&gt;&lt;/math&gt;" id="1397" name="Google Shape;1397;p93" title="500 over 200 equals 2.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966" y="2114200"/>
            <a:ext cx="1166349" cy="62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0}{10}=20&quot;&gt;&lt;mfrac&gt;&lt;mn&gt;200&lt;/mn&gt;&lt;mn&gt;10&lt;/mn&gt;&lt;/mfrac&gt;&lt;mo&gt;=&lt;/mo&gt;&lt;mn&gt;20&lt;/mn&gt;&lt;/math&gt;" id="1398" name="Google Shape;1398;p93" title="200 over 10 equals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0426" y="2181063"/>
            <a:ext cx="1112829" cy="62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00}{10}=50&quot;&gt;&lt;mfrac&gt;&lt;mn&gt;500&lt;/mn&gt;&lt;mn&gt;10&lt;/mn&gt;&lt;/mfrac&gt;&lt;mo&gt;=&lt;/mo&gt;&lt;mn&gt;50&lt;/mn&gt;&lt;/math&gt;" id="1399" name="Google Shape;1399;p93" title="500 over 10 equals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3633" y="3058716"/>
            <a:ext cx="1106404" cy="62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0}{4}=50&quot;&gt;&lt;mfrac&gt;&lt;mn&gt;200&lt;/mn&gt;&lt;mn&gt;4&lt;/mn&gt;&lt;/mfrac&gt;&lt;mo&gt;=&lt;/mo&gt;&lt;mn&gt;50&lt;/mn&gt;&lt;/math&gt;" id="1400" name="Google Shape;1400;p93" title="200 over 4 equals 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3969" y="4008886"/>
            <a:ext cx="1108330" cy="622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200}=0.05&quot;&gt;&lt;mfrac&gt;&lt;mn&gt;10&lt;/mn&gt;&lt;mn&gt;200&lt;/mn&gt;&lt;/mfrac&gt;&lt;mo&gt;=&lt;/mo&gt;&lt;mn&gt;0.05&lt;/mn&gt;&lt;/math&gt;" id="1401" name="Google Shape;1401;p93" title="10 over 200 equals 0.0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3624" y="3974200"/>
            <a:ext cx="1407154" cy="62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93"/>
          <p:cNvSpPr txBox="1"/>
          <p:nvPr/>
        </p:nvSpPr>
        <p:spPr>
          <a:xfrm>
            <a:off x="4316400" y="2233950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93"/>
          <p:cNvSpPr txBox="1"/>
          <p:nvPr/>
        </p:nvSpPr>
        <p:spPr>
          <a:xfrm>
            <a:off x="6247800" y="2199525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3"/>
          <p:cNvSpPr txBox="1"/>
          <p:nvPr/>
        </p:nvSpPr>
        <p:spPr>
          <a:xfrm>
            <a:off x="4316400" y="31116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93"/>
          <p:cNvSpPr txBox="1"/>
          <p:nvPr/>
        </p:nvSpPr>
        <p:spPr>
          <a:xfrm>
            <a:off x="6247800" y="31116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93"/>
          <p:cNvSpPr txBox="1"/>
          <p:nvPr/>
        </p:nvSpPr>
        <p:spPr>
          <a:xfrm>
            <a:off x="4316400" y="4040875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93"/>
          <p:cNvSpPr txBox="1"/>
          <p:nvPr/>
        </p:nvSpPr>
        <p:spPr>
          <a:xfrm>
            <a:off x="6247800" y="40237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 class take a quiz, marked out of 6. </a:t>
            </a:r>
            <a:br>
              <a:rPr lang="en-GB" sz="1800"/>
            </a:br>
            <a:r>
              <a:rPr lang="en-GB" sz="1800"/>
              <a:t>The frequency table shows the results for the class.</a:t>
            </a:r>
            <a:endParaRPr sz="1800"/>
          </a:p>
        </p:txBody>
      </p:sp>
      <p:sp>
        <p:nvSpPr>
          <p:cNvPr id="1413" name="Google Shape;1413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Calculating the mean from an ungrouped frequency table</a:t>
            </a:r>
            <a:endParaRPr sz="1700"/>
          </a:p>
        </p:txBody>
      </p:sp>
      <p:graphicFrame>
        <p:nvGraphicFramePr>
          <p:cNvPr id="1414" name="Google Shape;1414;p94"/>
          <p:cNvGraphicFramePr/>
          <p:nvPr/>
        </p:nvGraphicFramePr>
        <p:xfrm>
          <a:off x="1058925" y="152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495625"/>
                <a:gridCol w="790075"/>
                <a:gridCol w="790075"/>
                <a:gridCol w="790075"/>
                <a:gridCol w="790075"/>
                <a:gridCol w="790075"/>
                <a:gridCol w="790075"/>
                <a:gridCol w="790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Quiz score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15" name="Google Shape;1415;p94"/>
          <p:cNvSpPr txBox="1"/>
          <p:nvPr/>
        </p:nvSpPr>
        <p:spPr>
          <a:xfrm>
            <a:off x="577450" y="2666175"/>
            <a:ext cx="7253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pupils are in the class?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marks did the class get as a group?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Hence, what is the mean marks per pupil?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94"/>
          <p:cNvSpPr txBox="1"/>
          <p:nvPr/>
        </p:nvSpPr>
        <p:spPr>
          <a:xfrm>
            <a:off x="2092050" y="2950763"/>
            <a:ext cx="546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+ 4 + 4 + 7 + 10 + 4 + 1 = 33 pupils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7" name="Google Shape;1417;p94"/>
          <p:cNvSpPr txBox="1"/>
          <p:nvPr/>
        </p:nvSpPr>
        <p:spPr>
          <a:xfrm>
            <a:off x="2092050" y="3498525"/>
            <a:ext cx="546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 + 4 + 8 + 21 + 40 + 20 + 6 = 99 marks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8" name="Google Shape;1418;p94"/>
          <p:cNvSpPr txBox="1"/>
          <p:nvPr/>
        </p:nvSpPr>
        <p:spPr>
          <a:xfrm>
            <a:off x="2161250" y="4154563"/>
            <a:ext cx="546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99 ÷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33 = 3 marks per pupil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The frequency table shows the number of bedrooms in different houses within an area of a town.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calculation correctly finds the mean for this frequency table? For each incorrect answer, why is it wrong?</a:t>
            </a:r>
            <a:endParaRPr sz="1800"/>
          </a:p>
        </p:txBody>
      </p:sp>
      <p:sp>
        <p:nvSpPr>
          <p:cNvPr id="1424" name="Google Shape;1424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Calculating the mean from an ungrouped frequency table</a:t>
            </a:r>
            <a:endParaRPr sz="1700"/>
          </a:p>
        </p:txBody>
      </p:sp>
      <p:graphicFrame>
        <p:nvGraphicFramePr>
          <p:cNvPr id="1425" name="Google Shape;1425;p95"/>
          <p:cNvGraphicFramePr/>
          <p:nvPr/>
        </p:nvGraphicFramePr>
        <p:xfrm>
          <a:off x="795500" y="219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395175"/>
                <a:gridCol w="143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edrooms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500}{4}=125&quot;&gt;&lt;mfrac&gt;&lt;mn&gt;500&lt;/mn&gt;&lt;mn&gt;4&lt;/mn&gt;&lt;/mfrac&gt;&lt;mo&gt;=&lt;/mo&gt;&lt;mn&gt;125&lt;/mn&gt;&lt;/math&gt;" id="1426" name="Google Shape;1426;p95" title="500 over 4 equals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112" y="3087888"/>
            <a:ext cx="1230067" cy="622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00}{200}=2.5&quot;&gt;&lt;mfrac&gt;&lt;mn&gt;500&lt;/mn&gt;&lt;mn&gt;200&lt;/mn&gt;&lt;/mfrac&gt;&lt;mo&gt;=&lt;/mo&gt;&lt;mn&gt;2.5&lt;/mn&gt;&lt;/math&gt;" id="1427" name="Google Shape;1427;p95" title="500 over 200 equals 2.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966" y="2114200"/>
            <a:ext cx="1166349" cy="62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0}{10}=20&quot;&gt;&lt;mfrac&gt;&lt;mn&gt;200&lt;/mn&gt;&lt;mn&gt;10&lt;/mn&gt;&lt;/mfrac&gt;&lt;mo&gt;=&lt;/mo&gt;&lt;mn&gt;20&lt;/mn&gt;&lt;/math&gt;" id="1428" name="Google Shape;1428;p95" title="200 over 10 equals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0426" y="2181063"/>
            <a:ext cx="1112829" cy="62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00}{10}=50&quot;&gt;&lt;mfrac&gt;&lt;mn&gt;500&lt;/mn&gt;&lt;mn&gt;10&lt;/mn&gt;&lt;/mfrac&gt;&lt;mo&gt;=&lt;/mo&gt;&lt;mn&gt;50&lt;/mn&gt;&lt;/math&gt;" id="1429" name="Google Shape;1429;p95" title="500 over 10 equals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3633" y="3058716"/>
            <a:ext cx="1106404" cy="62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0}{4}=50&quot;&gt;&lt;mfrac&gt;&lt;mn&gt;200&lt;/mn&gt;&lt;mn&gt;4&lt;/mn&gt;&lt;/mfrac&gt;&lt;mo&gt;=&lt;/mo&gt;&lt;mn&gt;50&lt;/mn&gt;&lt;/math&gt;" id="1430" name="Google Shape;1430;p95" title="200 over 4 equals 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3969" y="4008886"/>
            <a:ext cx="1108330" cy="622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200}=0.05&quot;&gt;&lt;mfrac&gt;&lt;mn&gt;10&lt;/mn&gt;&lt;mn&gt;200&lt;/mn&gt;&lt;/mfrac&gt;&lt;mo&gt;=&lt;/mo&gt;&lt;mn&gt;0.05&lt;/mn&gt;&lt;/math&gt;" id="1431" name="Google Shape;1431;p95" title="10 over 200 equals 0.0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3624" y="3974200"/>
            <a:ext cx="1407154" cy="6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9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29708" y="24343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95"/>
          <p:cNvSpPr txBox="1"/>
          <p:nvPr/>
        </p:nvSpPr>
        <p:spPr>
          <a:xfrm>
            <a:off x="4316400" y="2233950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5"/>
          <p:cNvSpPr txBox="1"/>
          <p:nvPr/>
        </p:nvSpPr>
        <p:spPr>
          <a:xfrm>
            <a:off x="6247800" y="2199525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95"/>
          <p:cNvSpPr txBox="1"/>
          <p:nvPr/>
        </p:nvSpPr>
        <p:spPr>
          <a:xfrm>
            <a:off x="4316400" y="31116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95"/>
          <p:cNvSpPr txBox="1"/>
          <p:nvPr/>
        </p:nvSpPr>
        <p:spPr>
          <a:xfrm>
            <a:off x="6247800" y="31116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95"/>
          <p:cNvSpPr txBox="1"/>
          <p:nvPr/>
        </p:nvSpPr>
        <p:spPr>
          <a:xfrm>
            <a:off x="4316400" y="4040875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95"/>
          <p:cNvSpPr txBox="1"/>
          <p:nvPr/>
        </p:nvSpPr>
        <p:spPr>
          <a:xfrm>
            <a:off x="6247800" y="40237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96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The frequency table shows the number of bedrooms in different houses within an area of a town.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calculation correctly finds the mean for this frequency table? For each incorrect answer, why is it wrong?</a:t>
            </a:r>
            <a:endParaRPr sz="1800"/>
          </a:p>
        </p:txBody>
      </p:sp>
      <p:sp>
        <p:nvSpPr>
          <p:cNvPr id="1444" name="Google Shape;1444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Calculating the mean from an ungrouped frequency table</a:t>
            </a:r>
            <a:endParaRPr sz="1700"/>
          </a:p>
        </p:txBody>
      </p:sp>
      <p:graphicFrame>
        <p:nvGraphicFramePr>
          <p:cNvPr id="1445" name="Google Shape;1445;p96"/>
          <p:cNvGraphicFramePr/>
          <p:nvPr/>
        </p:nvGraphicFramePr>
        <p:xfrm>
          <a:off x="795500" y="219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395175"/>
                <a:gridCol w="143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edrooms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500}{200}=2.5&quot;&gt;&lt;mfrac&gt;&lt;mn&gt;500&lt;/mn&gt;&lt;mn&gt;200&lt;/mn&gt;&lt;/mfrac&gt;&lt;mo&gt;=&lt;/mo&gt;&lt;mn&gt;2.5&lt;/mn&gt;&lt;/math&gt;" id="1446" name="Google Shape;1446;p96" title="500 over 200 equals 2.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966" y="2114200"/>
            <a:ext cx="1166349" cy="62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0}{10}=20&quot;&gt;&lt;mfrac&gt;&lt;mn&gt;200&lt;/mn&gt;&lt;mn&gt;10&lt;/mn&gt;&lt;/mfrac&gt;&lt;mo&gt;=&lt;/mo&gt;&lt;mn&gt;20&lt;/mn&gt;&lt;/math&gt;" id="1447" name="Google Shape;1447;p96" title="200 over 10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0526" y="2110100"/>
            <a:ext cx="1112829" cy="62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9708" y="24343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96"/>
          <p:cNvSpPr/>
          <p:nvPr/>
        </p:nvSpPr>
        <p:spPr>
          <a:xfrm>
            <a:off x="7020515" y="2413350"/>
            <a:ext cx="463200" cy="461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96"/>
          <p:cNvSpPr txBox="1"/>
          <p:nvPr/>
        </p:nvSpPr>
        <p:spPr>
          <a:xfrm>
            <a:off x="4320000" y="3684875"/>
            <a:ext cx="417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 each of these, the 10 comes from adding up the first column, which is meaningless.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00}{10}=50&quot;&gt;&lt;mfrac&gt;&lt;mn&gt;500&lt;/mn&gt;&lt;mn&gt;10&lt;/mn&gt;&lt;/mfrac&gt;&lt;mo&gt;=&lt;/mo&gt;&lt;mn&gt;50&lt;/mn&gt;&lt;/math&gt;" id="1451" name="Google Shape;1451;p96" title="500 over 10 equals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6258" y="2954441"/>
            <a:ext cx="1106404" cy="62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96"/>
          <p:cNvSpPr/>
          <p:nvPr/>
        </p:nvSpPr>
        <p:spPr>
          <a:xfrm>
            <a:off x="4726250" y="3240005"/>
            <a:ext cx="463200" cy="461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00}=0.05&quot;&gt;&lt;mfrac&gt;&lt;mn&gt;10&lt;/mn&gt;&lt;mn&gt;200&lt;/mn&gt;&lt;/mfrac&gt;&lt;mo&gt;=&lt;/mo&gt;&lt;mn&gt;0.05&lt;/mn&gt;&lt;/math&gt;" id="1453" name="Google Shape;1453;p96" title="10 over 200 equals 0.0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86849" y="2971825"/>
            <a:ext cx="1407154" cy="62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96"/>
          <p:cNvSpPr/>
          <p:nvPr/>
        </p:nvSpPr>
        <p:spPr>
          <a:xfrm>
            <a:off x="7020515" y="2853448"/>
            <a:ext cx="463200" cy="461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96"/>
          <p:cNvSpPr txBox="1"/>
          <p:nvPr/>
        </p:nvSpPr>
        <p:spPr>
          <a:xfrm>
            <a:off x="4316400" y="2233950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96"/>
          <p:cNvSpPr txBox="1"/>
          <p:nvPr/>
        </p:nvSpPr>
        <p:spPr>
          <a:xfrm>
            <a:off x="6247800" y="2199525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96"/>
          <p:cNvSpPr txBox="1"/>
          <p:nvPr/>
        </p:nvSpPr>
        <p:spPr>
          <a:xfrm>
            <a:off x="4316400" y="31116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96"/>
          <p:cNvSpPr txBox="1"/>
          <p:nvPr/>
        </p:nvSpPr>
        <p:spPr>
          <a:xfrm>
            <a:off x="6247800" y="31116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97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The frequency table shows the number of bedrooms in different houses within an area of a town.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calculation correctly finds the mean for this frequency table? For each incorrect answer, why is it wrong?</a:t>
            </a:r>
            <a:endParaRPr sz="1800"/>
          </a:p>
        </p:txBody>
      </p:sp>
      <p:sp>
        <p:nvSpPr>
          <p:cNvPr id="1464" name="Google Shape;1464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Calculating the mean from an ungrouped frequency table</a:t>
            </a:r>
            <a:endParaRPr sz="1700"/>
          </a:p>
        </p:txBody>
      </p:sp>
      <p:graphicFrame>
        <p:nvGraphicFramePr>
          <p:cNvPr id="1465" name="Google Shape;1465;p97"/>
          <p:cNvGraphicFramePr/>
          <p:nvPr/>
        </p:nvGraphicFramePr>
        <p:xfrm>
          <a:off x="795500" y="219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{7521EAF9-D3A7-4AB7-96EE-D2A710880D54}</a:tableStyleId>
              </a:tblPr>
              <a:tblGrid>
                <a:gridCol w="1395175"/>
                <a:gridCol w="143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edrooms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500}{200}=2.5&quot;&gt;&lt;mfrac&gt;&lt;mn&gt;500&lt;/mn&gt;&lt;mn&gt;200&lt;/mn&gt;&lt;/mfrac&gt;&lt;mo&gt;=&lt;/mo&gt;&lt;mn&gt;2.5&lt;/mn&gt;&lt;/math&gt;" id="1466" name="Google Shape;1466;p97" title="500 over 200 equals 2.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966" y="2114200"/>
            <a:ext cx="1166349" cy="62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9708" y="24343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97"/>
          <p:cNvSpPr/>
          <p:nvPr/>
        </p:nvSpPr>
        <p:spPr>
          <a:xfrm>
            <a:off x="4793744" y="3286728"/>
            <a:ext cx="459000" cy="45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97"/>
          <p:cNvSpPr txBox="1"/>
          <p:nvPr/>
        </p:nvSpPr>
        <p:spPr>
          <a:xfrm>
            <a:off x="4032500" y="3780000"/>
            <a:ext cx="417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 4 in these is how many categories, not how many pieces of data.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00}{4}=125&quot;&gt;&lt;mfrac&gt;&lt;mn&gt;500&lt;/mn&gt;&lt;mn&gt;4&lt;/mn&gt;&lt;/mfrac&gt;&lt;mo&gt;=&lt;/mo&gt;&lt;mn&gt;125&lt;/mn&gt;&lt;/math&gt;" id="1470" name="Google Shape;1470;p97" title="500 over 4 equals 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3112" y="3005363"/>
            <a:ext cx="1230067" cy="622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0}{4}=50&quot;&gt;&lt;mfrac&gt;&lt;mn&gt;200&lt;/mn&gt;&lt;mn&gt;4&lt;/mn&gt;&lt;/mfrac&gt;&lt;mo&gt;=&lt;/mo&gt;&lt;mn&gt;50&lt;/mn&gt;&lt;/math&gt;" id="1471" name="Google Shape;1471;p97" title="200 over 4 equals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5594" y="3005361"/>
            <a:ext cx="1108330" cy="622227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97"/>
          <p:cNvSpPr/>
          <p:nvPr/>
        </p:nvSpPr>
        <p:spPr>
          <a:xfrm>
            <a:off x="6995601" y="3294292"/>
            <a:ext cx="459000" cy="45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97"/>
          <p:cNvSpPr txBox="1"/>
          <p:nvPr/>
        </p:nvSpPr>
        <p:spPr>
          <a:xfrm>
            <a:off x="4316400" y="2233950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97"/>
          <p:cNvSpPr txBox="1"/>
          <p:nvPr/>
        </p:nvSpPr>
        <p:spPr>
          <a:xfrm>
            <a:off x="4316400" y="31116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97"/>
          <p:cNvSpPr txBox="1"/>
          <p:nvPr/>
        </p:nvSpPr>
        <p:spPr>
          <a:xfrm>
            <a:off x="6247800" y="3111613"/>
            <a:ext cx="5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9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line graph</a:t>
            </a:r>
            <a:endParaRPr/>
          </a:p>
        </p:txBody>
      </p:sp>
      <p:sp>
        <p:nvSpPr>
          <p:cNvPr id="1481" name="Google Shape;1481;p9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an ungrouped frequency table</a:t>
            </a:r>
            <a:endParaRPr/>
          </a:p>
        </p:txBody>
      </p:sp>
      <p:sp>
        <p:nvSpPr>
          <p:cNvPr id="1482" name="Google Shape;1482;p9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1483" name="Google Shape;1483;p9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bar chart</a:t>
            </a:r>
            <a:endParaRPr/>
          </a:p>
        </p:txBody>
      </p:sp>
      <p:pic>
        <p:nvPicPr>
          <p:cNvPr id="1484" name="Google Shape;1484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17" y="37004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99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Bar charts can show </a:t>
            </a:r>
            <a:r>
              <a:rPr b="1" lang="en-GB" sz="1800"/>
              <a:t>data</a:t>
            </a:r>
            <a:r>
              <a:rPr lang="en-GB" sz="1800"/>
              <a:t> in different ways. </a:t>
            </a:r>
            <a:endParaRPr sz="1800"/>
          </a:p>
        </p:txBody>
      </p:sp>
      <p:sp>
        <p:nvSpPr>
          <p:cNvPr id="1490" name="Google Shape;1490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mean from a bar chart</a:t>
            </a:r>
            <a:endParaRPr/>
          </a:p>
        </p:txBody>
      </p:sp>
      <p:sp>
        <p:nvSpPr>
          <p:cNvPr id="1491" name="Google Shape;1491;p99"/>
          <p:cNvSpPr txBox="1"/>
          <p:nvPr/>
        </p:nvSpPr>
        <p:spPr>
          <a:xfrm>
            <a:off x="5129200" y="1306850"/>
            <a:ext cx="3539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chart is showing the number of bedrooms in different houses within an area of a town.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four bars are representing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200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pieces of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99"/>
          <p:cNvSpPr txBox="1"/>
          <p:nvPr/>
        </p:nvSpPr>
        <p:spPr>
          <a:xfrm rot="-5400000">
            <a:off x="-47575" y="1752825"/>
            <a:ext cx="137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3" name="Google Shape;149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175" y="1384800"/>
            <a:ext cx="3742159" cy="22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99"/>
          <p:cNvSpPr txBox="1"/>
          <p:nvPr/>
        </p:nvSpPr>
        <p:spPr>
          <a:xfrm>
            <a:off x="3204000" y="3503700"/>
            <a:ext cx="146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Bedrooms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9"/>
          <p:cNvSpPr txBox="1"/>
          <p:nvPr/>
        </p:nvSpPr>
        <p:spPr>
          <a:xfrm>
            <a:off x="585150" y="4045450"/>
            <a:ext cx="715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will explore how 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from a bar chart that represents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725" y="1126750"/>
            <a:ext cx="7358700" cy="148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225" y="1119138"/>
            <a:ext cx="7307076" cy="14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100"/>
          <p:cNvSpPr txBox="1"/>
          <p:nvPr>
            <p:ph idx="1" type="body"/>
          </p:nvPr>
        </p:nvSpPr>
        <p:spPr>
          <a:xfrm>
            <a:off x="324000" y="759300"/>
            <a:ext cx="8669700" cy="3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bar chart that shows the number of each table type in a restaurant. </a:t>
            </a:r>
            <a:endParaRPr sz="1800"/>
          </a:p>
        </p:txBody>
      </p:sp>
      <p:sp>
        <p:nvSpPr>
          <p:cNvPr id="1503" name="Google Shape;1503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bar chart</a:t>
            </a:r>
            <a:endParaRPr/>
          </a:p>
        </p:txBody>
      </p:sp>
      <p:sp>
        <p:nvSpPr>
          <p:cNvPr id="1504" name="Google Shape;1504;p100"/>
          <p:cNvSpPr txBox="1"/>
          <p:nvPr/>
        </p:nvSpPr>
        <p:spPr>
          <a:xfrm rot="-5400000">
            <a:off x="-189225" y="1506000"/>
            <a:ext cx="12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100"/>
          <p:cNvSpPr txBox="1"/>
          <p:nvPr/>
        </p:nvSpPr>
        <p:spPr>
          <a:xfrm flipH="1">
            <a:off x="587725" y="2784700"/>
            <a:ext cx="77649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number of diners per table = total diners ÷ number of tables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 diners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 of tables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number of diners per table =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8}{13}\approx2.92\ &quot;&gt;&lt;mfrac&gt;&lt;mn&gt;38&lt;/mn&gt;&lt;mn&gt;13&lt;/mn&gt;&lt;/mfrac&gt;&lt;mo&gt;≈&lt;/mo&gt;&lt;mn&gt;2.92&lt;/mn&gt;&lt;mtext&gt;&lt;/mtext&gt;&lt;/math&gt;" id="1506" name="Google Shape;1506;p100" title="38 over 13 almost equals 2.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5300" y="3843300"/>
            <a:ext cx="971188" cy="47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8&quot;&gt;&lt;mn&gt;38&lt;/mn&gt;&lt;/math&gt;" id="1507" name="Google Shape;1507;p100" title="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2400" y="3193150"/>
            <a:ext cx="232985" cy="17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3&quot;&gt;&lt;mn&gt;13&lt;/mn&gt;&lt;/math&gt;" id="1508" name="Google Shape;1508;p100" title="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36805" y="3484575"/>
            <a:ext cx="210970" cy="1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100"/>
          <p:cNvSpPr txBox="1"/>
          <p:nvPr/>
        </p:nvSpPr>
        <p:spPr>
          <a:xfrm>
            <a:off x="6851050" y="2452475"/>
            <a:ext cx="178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diners per table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01"/>
          <p:cNvSpPr txBox="1"/>
          <p:nvPr>
            <p:ph idx="4294967295" type="body"/>
          </p:nvPr>
        </p:nvSpPr>
        <p:spPr>
          <a:xfrm>
            <a:off x="324000" y="810000"/>
            <a:ext cx="8237700" cy="38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bar </a:t>
            </a:r>
            <a:r>
              <a:rPr lang="en-GB" sz="1800"/>
              <a:t>chart</a:t>
            </a:r>
            <a:r>
              <a:rPr lang="en-GB" sz="1800"/>
              <a:t> represents the</a:t>
            </a:r>
            <a:r>
              <a:rPr lang="en-GB" sz="1800"/>
              <a:t> star rating of a restaurant.</a:t>
            </a:r>
            <a:endParaRPr sz="1800"/>
          </a:p>
        </p:txBody>
      </p:sp>
      <p:sp>
        <p:nvSpPr>
          <p:cNvPr id="1515" name="Google Shape;1515;p101"/>
          <p:cNvSpPr txBox="1"/>
          <p:nvPr>
            <p:ph type="title"/>
          </p:nvPr>
        </p:nvSpPr>
        <p:spPr>
          <a:xfrm>
            <a:off x="329866" y="-8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bar chart</a:t>
            </a:r>
            <a:endParaRPr/>
          </a:p>
        </p:txBody>
      </p:sp>
      <p:pic>
        <p:nvPicPr>
          <p:cNvPr id="1516" name="Google Shape;1516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12" y="1196600"/>
            <a:ext cx="4683024" cy="34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101"/>
          <p:cNvSpPr txBox="1"/>
          <p:nvPr>
            <p:ph idx="1" type="body"/>
          </p:nvPr>
        </p:nvSpPr>
        <p:spPr>
          <a:xfrm>
            <a:off x="3691950" y="4396200"/>
            <a:ext cx="1302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Star rating</a:t>
            </a:r>
            <a:endParaRPr sz="1800"/>
          </a:p>
        </p:txBody>
      </p:sp>
      <p:sp>
        <p:nvSpPr>
          <p:cNvPr id="1518" name="Google Shape;1518;p101"/>
          <p:cNvSpPr txBox="1"/>
          <p:nvPr>
            <p:ph idx="1" type="body"/>
          </p:nvPr>
        </p:nvSpPr>
        <p:spPr>
          <a:xfrm rot="-5400000">
            <a:off x="-108075" y="1656300"/>
            <a:ext cx="1302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Frequency</a:t>
            </a:r>
            <a:endParaRPr sz="1800"/>
          </a:p>
        </p:txBody>
      </p:sp>
      <p:sp>
        <p:nvSpPr>
          <p:cNvPr id="1519" name="Google Shape;1519;p101"/>
          <p:cNvSpPr txBox="1"/>
          <p:nvPr/>
        </p:nvSpPr>
        <p:spPr>
          <a:xfrm>
            <a:off x="5338175" y="1214175"/>
            <a:ext cx="383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has been calculated as 3.35 stars.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01"/>
          <p:cNvSpPr txBox="1"/>
          <p:nvPr/>
        </p:nvSpPr>
        <p:spPr>
          <a:xfrm>
            <a:off x="5415521" y="3312168"/>
            <a:ext cx="3442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 ÷ 5 = 8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cannot be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star rating.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01"/>
          <p:cNvSpPr txBox="1"/>
          <p:nvPr/>
        </p:nvSpPr>
        <p:spPr>
          <a:xfrm>
            <a:off x="5334000" y="198120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Adding the frequencies (heights of the bars) and dividing by 5 (number of bars) gives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bar chart</a:t>
            </a:r>
            <a:endParaRPr/>
          </a:p>
        </p:txBody>
      </p:sp>
      <p:sp>
        <p:nvSpPr>
          <p:cNvPr id="1527" name="Google Shape;1527;p102"/>
          <p:cNvSpPr txBox="1"/>
          <p:nvPr>
            <p:ph idx="1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find the </a:t>
            </a:r>
            <a:r>
              <a:rPr b="1" lang="en-GB" sz="1800"/>
              <a:t>mean</a:t>
            </a:r>
            <a:r>
              <a:rPr lang="en-GB" sz="1800"/>
              <a:t> from a frequency bar chart, you add up the frequencies and divide by the number of bars.</a:t>
            </a:r>
            <a:endParaRPr sz="1800"/>
          </a:p>
        </p:txBody>
      </p:sp>
      <p:sp>
        <p:nvSpPr>
          <p:cNvPr id="1528" name="Google Shape;1528;p10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find calculate the mean, you total the data values and divide by the number of data.</a:t>
            </a:r>
            <a:endParaRPr sz="1800"/>
          </a:p>
        </p:txBody>
      </p:sp>
      <p:sp>
        <p:nvSpPr>
          <p:cNvPr id="1529" name="Google Shape;1529;p10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total frequencies is the number of items within the data, this is the value you divide by when finding the mean.</a:t>
            </a:r>
            <a:endParaRPr sz="1800"/>
          </a:p>
        </p:txBody>
      </p:sp>
      <p:pic>
        <p:nvPicPr>
          <p:cNvPr id="1530" name="Google Shape;153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58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1" name="Google Shape;153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03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This bar chart shows the number of cars per household.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7" name="Google Shape;1537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mean from a bar chart</a:t>
            </a:r>
            <a:endParaRPr/>
          </a:p>
        </p:txBody>
      </p:sp>
      <p:sp>
        <p:nvSpPr>
          <p:cNvPr id="1538" name="Google Shape;1538;p103"/>
          <p:cNvSpPr txBox="1"/>
          <p:nvPr/>
        </p:nvSpPr>
        <p:spPr>
          <a:xfrm>
            <a:off x="184800" y="1096500"/>
            <a:ext cx="4387200" cy="3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households are there?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2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cars are there in total across all households?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3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mean number of cars per household?</a:t>
            </a:r>
            <a:endParaRPr/>
          </a:p>
        </p:txBody>
      </p:sp>
      <p:pic>
        <p:nvPicPr>
          <p:cNvPr id="1539" name="Google Shape;153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1218475"/>
            <a:ext cx="4267199" cy="296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04"/>
          <p:cNvSpPr txBox="1"/>
          <p:nvPr>
            <p:ph idx="1" type="body"/>
          </p:nvPr>
        </p:nvSpPr>
        <p:spPr>
          <a:xfrm>
            <a:off x="324000" y="759300"/>
            <a:ext cx="8237700" cy="10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bar chart shows the length of time customers spent waiting at a self-service till (to the nearest minute).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mean wait time?</a:t>
            </a:r>
            <a:endParaRPr sz="1800"/>
          </a:p>
        </p:txBody>
      </p:sp>
      <p:sp>
        <p:nvSpPr>
          <p:cNvPr id="1545" name="Google Shape;1545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bar chart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546" name="Google Shape;154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388" y="1441675"/>
            <a:ext cx="4438823" cy="302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This bar chart shows the number of cars per household.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2" name="Google Shape;1552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mean from a bar chart</a:t>
            </a:r>
            <a:endParaRPr/>
          </a:p>
        </p:txBody>
      </p:sp>
      <p:sp>
        <p:nvSpPr>
          <p:cNvPr id="1553" name="Google Shape;1553;p105"/>
          <p:cNvSpPr txBox="1"/>
          <p:nvPr/>
        </p:nvSpPr>
        <p:spPr>
          <a:xfrm>
            <a:off x="184800" y="1096500"/>
            <a:ext cx="4387200" cy="3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households are there?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2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cars are there in total across all households?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3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mean number of cars per household?</a:t>
            </a:r>
            <a:endParaRPr/>
          </a:p>
        </p:txBody>
      </p:sp>
      <p:sp>
        <p:nvSpPr>
          <p:cNvPr id="1554" name="Google Shape;1554;p105"/>
          <p:cNvSpPr txBox="1"/>
          <p:nvPr/>
        </p:nvSpPr>
        <p:spPr>
          <a:xfrm>
            <a:off x="1748000" y="1913700"/>
            <a:ext cx="190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175 households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5" name="Google Shape;1555;p105"/>
          <p:cNvSpPr txBox="1"/>
          <p:nvPr/>
        </p:nvSpPr>
        <p:spPr>
          <a:xfrm>
            <a:off x="1748000" y="3240000"/>
            <a:ext cx="190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350 cars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6" name="Google Shape;1556;p105"/>
          <p:cNvSpPr txBox="1"/>
          <p:nvPr/>
        </p:nvSpPr>
        <p:spPr>
          <a:xfrm>
            <a:off x="3490350" y="4320000"/>
            <a:ext cx="470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350 ÷ 175 = 2 cars per household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57" name="Google Shape;1557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1218475"/>
            <a:ext cx="4267199" cy="296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06"/>
          <p:cNvSpPr txBox="1"/>
          <p:nvPr>
            <p:ph idx="1" type="body"/>
          </p:nvPr>
        </p:nvSpPr>
        <p:spPr>
          <a:xfrm>
            <a:off x="324000" y="759300"/>
            <a:ext cx="8237700" cy="107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bar chart shows the length of time customers spent waiting at a self-service till (to the nearest minute).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mean wait time?</a:t>
            </a:r>
            <a:endParaRPr sz="1800"/>
          </a:p>
        </p:txBody>
      </p:sp>
      <p:sp>
        <p:nvSpPr>
          <p:cNvPr id="1563" name="Google Shape;1563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 from a bar chart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06"/>
          <p:cNvSpPr txBox="1"/>
          <p:nvPr/>
        </p:nvSpPr>
        <p:spPr>
          <a:xfrm>
            <a:off x="4781200" y="1296450"/>
            <a:ext cx="40389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time by all customers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 + 1 + 10 + 18 + 12 + 10 + 24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75 minutes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 customers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 + 1 + 5 + 6 + 3 + 2 + 4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25 customers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Mean wait time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75 ÷ 25 = 3 minutes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65" name="Google Shape;1565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8" y="1834800"/>
            <a:ext cx="4267548" cy="2904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6" name="Google Shape;1566;p106"/>
          <p:cNvCxnSpPr/>
          <p:nvPr/>
        </p:nvCxnSpPr>
        <p:spPr>
          <a:xfrm>
            <a:off x="6761675" y="2001050"/>
            <a:ext cx="614100" cy="27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7" name="Google Shape;1567;p106"/>
          <p:cNvSpPr txBox="1"/>
          <p:nvPr/>
        </p:nvSpPr>
        <p:spPr>
          <a:xfrm>
            <a:off x="6572100" y="2207400"/>
            <a:ext cx="25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 lots of 3 minutes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0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mean</a:t>
            </a:r>
            <a:r>
              <a:rPr lang="en-GB"/>
              <a:t> can be calculated from </a:t>
            </a:r>
            <a:r>
              <a:rPr b="1" lang="en-GB"/>
              <a:t>data</a:t>
            </a:r>
            <a:r>
              <a:rPr lang="en-GB"/>
              <a:t> presented in various ways.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To find the </a:t>
            </a:r>
            <a:r>
              <a:rPr b="1" lang="en-GB"/>
              <a:t>mean</a:t>
            </a:r>
            <a:r>
              <a:rPr lang="en-GB"/>
              <a:t> from a line </a:t>
            </a:r>
            <a:r>
              <a:rPr lang="en-GB"/>
              <a:t>graph, you add up the </a:t>
            </a:r>
            <a:r>
              <a:rPr b="1" lang="en-GB"/>
              <a:t>data</a:t>
            </a:r>
            <a:r>
              <a:rPr lang="en-GB"/>
              <a:t> points and then divide by the number of points.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To find the </a:t>
            </a:r>
            <a:r>
              <a:rPr b="1" lang="en-GB"/>
              <a:t>mean</a:t>
            </a:r>
            <a:r>
              <a:rPr lang="en-GB"/>
              <a:t> from a </a:t>
            </a:r>
            <a:r>
              <a:rPr b="1" lang="en-GB"/>
              <a:t>frequency</a:t>
            </a:r>
            <a:r>
              <a:rPr lang="en-GB"/>
              <a:t> table and bar chart, you need to find the overall total and divide by the total </a:t>
            </a:r>
            <a:r>
              <a:rPr b="1" lang="en-GB"/>
              <a:t>frequency</a:t>
            </a:r>
            <a:r>
              <a:rPr lang="en-GB"/>
              <a:t>.</a:t>
            </a:r>
            <a:endParaRPr/>
          </a:p>
        </p:txBody>
      </p:sp>
      <p:sp>
        <p:nvSpPr>
          <p:cNvPr id="1573" name="Google Shape;1573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79" name="Google Shape;1579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