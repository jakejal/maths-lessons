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/>
  <p:notesSz cx="6858000" cy="9144000"/>
  <p:embeddedFontLst>
    <p:embeddedFont>
      <p:font typeface="Lexend" panose="00000000000000000000"/>
      <p:regular r:id="rId44"/>
    </p:embeddedFont>
    <p:embeddedFont>
      <p:font typeface="Lexend Medium" panose="00000000000000000000"/>
      <p:regular r:id="rId45"/>
    </p:embeddedFont>
    <p:embeddedFont>
      <p:font typeface="Kalam" panose="02000000000000000000"/>
      <p:regular r:id="rId46"/>
    </p:embeddedFont>
    <p:embeddedFont>
      <p:font typeface="Lexend Light" panose="00000000000000000000"/>
      <p:regular r:id="rId47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6EA34BA-0BEC-4893-934C-B8DC4B83375E}">
  <a:tblStyle styleId="{C6EA34BA-0BEC-4893-934C-B8DC4B8337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tags" Target="tags/tag1.xml" /><Relationship Id="rId44" Type="http://schemas.openxmlformats.org/officeDocument/2006/relationships/font" Target="fonts/font1.fntdata" /><Relationship Id="rId45" Type="http://schemas.openxmlformats.org/officeDocument/2006/relationships/font" Target="fonts/font2.fntdata" /><Relationship Id="rId46" Type="http://schemas.openxmlformats.org/officeDocument/2006/relationships/font" Target="fonts/font3.fntdata" /><Relationship Id="rId47" Type="http://schemas.openxmlformats.org/officeDocument/2006/relationships/font" Target="fonts/font4.fntdata" /><Relationship Id="rId48" Type="http://schemas.openxmlformats.org/officeDocument/2006/relationships/presProps" Target="presProps.xml" /><Relationship Id="rId49" Type="http://schemas.openxmlformats.org/officeDocument/2006/relationships/viewProps" Target="viewProps.xml" /><Relationship Id="rId5" Type="http://schemas.openxmlformats.org/officeDocument/2006/relationships/slide" Target="slides/slide3.xml" /><Relationship Id="rId50" Type="http://schemas.openxmlformats.org/officeDocument/2006/relationships/theme" Target="theme/theme1.xml" /><Relationship Id="rId51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6d5c1a41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d5c1a41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6d5c1a41b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6d5c1a41b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296d5c1a41b_0_2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6d5c1a41b_0_2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7" name="Shape 787"/>
        <p:cNvGrpSpPr/>
        <p:nvPr/>
      </p:nvGrpSpPr>
      <p:grpSpPr>
        <a:xfrm>
          <a:off x="0" y="0"/>
          <a:ext cx="0" cy="0"/>
        </a:xfrm>
      </p:grpSpPr>
      <p:sp>
        <p:nvSpPr>
          <p:cNvPr id="788" name="Google Shape;788;g296d5c1a41b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6d5c1a41b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296d5c1a41b_0_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96d5c1a41b_0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sp>
        <p:nvSpPr>
          <p:cNvPr id="826" name="Google Shape;826;g296d5c1a41b_0_1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96d5c1a41b_0_1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g296d5c1a41b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96d5c1a41b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3" name="Shape 863"/>
        <p:cNvGrpSpPr/>
        <p:nvPr/>
      </p:nvGrpSpPr>
      <p:grpSpPr>
        <a:xfrm>
          <a:off x="0" y="0"/>
          <a:ext cx="0" cy="0"/>
        </a:xfrm>
      </p:grpSpPr>
      <p:sp>
        <p:nvSpPr>
          <p:cNvPr id="864" name="Google Shape;864;g296d5c1a41b_0_2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96d5c1a41b_0_2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g299449bbe6f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99449bbe6f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g299449bbe6f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9449bbe6f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sp>
        <p:nvSpPr>
          <p:cNvPr id="920" name="Google Shape;920;g299449bbe6f_0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9449bbe6f_0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7" name="Shape 937"/>
        <p:cNvGrpSpPr/>
        <p:nvPr/>
      </p:nvGrpSpPr>
      <p:grpSpPr>
        <a:xfrm>
          <a:off x="0" y="0"/>
          <a:ext cx="0" cy="0"/>
        </a:xfrm>
      </p:grpSpPr>
      <p:sp>
        <p:nvSpPr>
          <p:cNvPr id="938" name="Google Shape;938;g299449bbe6f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99449bbe6f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g296d5c1a41b_0_3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96d5c1a41b_0_3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sp>
        <p:nvSpPr>
          <p:cNvPr id="968" name="Google Shape;968;g2977624c07c_1_1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977624c07c_1_1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8" name="Shape 978"/>
        <p:cNvGrpSpPr/>
        <p:nvPr/>
      </p:nvGrpSpPr>
      <p:grpSpPr>
        <a:xfrm>
          <a:off x="0" y="0"/>
          <a:ext cx="0" cy="0"/>
        </a:xfrm>
      </p:grpSpPr>
      <p:sp>
        <p:nvSpPr>
          <p:cNvPr id="979" name="Google Shape;979;g2977624c07c_1_1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77624c07c_1_1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g2977624c07c_1_1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977624c07c_1_1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1" name="Shape 1001"/>
        <p:cNvGrpSpPr/>
        <p:nvPr/>
      </p:nvGrpSpPr>
      <p:grpSpPr>
        <a:xfrm>
          <a:off x="0" y="0"/>
          <a:ext cx="0" cy="0"/>
        </a:xfrm>
      </p:grpSpPr>
      <p:sp>
        <p:nvSpPr>
          <p:cNvPr id="1002" name="Google Shape;1002;g296d5c1a41b_0_3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6d5c1a41b_0_3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g2977624c07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977624c07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sp>
        <p:nvSpPr>
          <p:cNvPr id="1040" name="Google Shape;1040;g2977624c07c_1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77624c07c_1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g2977624c07c_1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977624c07c_1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g2977624c07c_1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977624c07c_1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g2977624c07c_1_1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977624c07c_1_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sp>
        <p:nvSpPr>
          <p:cNvPr id="1137" name="Google Shape;1137;g2977624c07c_1_1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977624c07c_1_1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g2977624c07c_1_1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977624c07c_1_1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sp>
        <p:nvSpPr>
          <p:cNvPr id="1153" name="Google Shape;1153;g2977624c07c_1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977624c07c_1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5" name="Shape 1165"/>
        <p:cNvGrpSpPr/>
        <p:nvPr/>
      </p:nvGrpSpPr>
      <p:grpSpPr>
        <a:xfrm>
          <a:off x="0" y="0"/>
          <a:ext cx="0" cy="0"/>
        </a:xfrm>
      </p:grpSpPr>
      <p:sp>
        <p:nvSpPr>
          <p:cNvPr id="1166" name="Google Shape;1166;g2977624c07c_1_2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977624c07c_1_2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g2977624c07c_1_3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977624c07c_1_3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g2977624c07c_1_3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977624c07c_1_3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9" name="Shape 1199"/>
        <p:cNvGrpSpPr/>
        <p:nvPr/>
      </p:nvGrpSpPr>
      <p:grpSpPr>
        <a:xfrm>
          <a:off x="0" y="0"/>
          <a:ext cx="0" cy="0"/>
        </a:xfrm>
      </p:grpSpPr>
      <p:sp>
        <p:nvSpPr>
          <p:cNvPr id="1200" name="Google Shape;1200;g2977624c07c_1_2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977624c07c_1_2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977624c07c_1_2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77624c07c_1_2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2" name="Shape 1222"/>
        <p:cNvGrpSpPr/>
        <p:nvPr/>
      </p:nvGrpSpPr>
      <p:grpSpPr>
        <a:xfrm>
          <a:off x="0" y="0"/>
          <a:ext cx="0" cy="0"/>
        </a:xfrm>
      </p:grpSpPr>
      <p:sp>
        <p:nvSpPr>
          <p:cNvPr id="1223" name="Google Shape;1223;g2977624c07c_1_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977624c07c_1_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sp>
        <p:nvSpPr>
          <p:cNvPr id="1238" name="Google Shape;1238;g2977624c07c_1_2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977624c07c_1_2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7" name="Shape 1247"/>
        <p:cNvGrpSpPr/>
        <p:nvPr/>
      </p:nvGrpSpPr>
      <p:grpSpPr>
        <a:xfrm>
          <a:off x="0" y="0"/>
          <a:ext cx="0" cy="0"/>
        </a:xfrm>
      </p:grpSpPr>
      <p:sp>
        <p:nvSpPr>
          <p:cNvPr id="1248" name="Google Shape;1248;g2977624c07c_1_2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77624c07c_1_2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7" name="Shape 1257"/>
        <p:cNvGrpSpPr/>
        <p:nvPr/>
      </p:nvGrpSpPr>
      <p:grpSpPr>
        <a:xfrm>
          <a:off x="0" y="0"/>
          <a:ext cx="0" cy="0"/>
        </a:xfrm>
      </p:grpSpPr>
      <p:sp>
        <p:nvSpPr>
          <p:cNvPr id="1258" name="Google Shape;1258;g2977624c07c_1_2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977624c07c_1_2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8" name="Shape 1268"/>
        <p:cNvGrpSpPr/>
        <p:nvPr/>
      </p:nvGrpSpPr>
      <p:grpSpPr>
        <a:xfrm>
          <a:off x="0" y="0"/>
          <a:ext cx="0" cy="0"/>
        </a:xfrm>
      </p:grpSpPr>
      <p:sp>
        <p:nvSpPr>
          <p:cNvPr id="1269" name="Google Shape;1269;g2977624c07c_1_3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977624c07c_1_3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9" name="Shape 1279"/>
        <p:cNvGrpSpPr/>
        <p:nvPr/>
      </p:nvGrpSpPr>
      <p:grpSpPr>
        <a:xfrm>
          <a:off x="0" y="0"/>
          <a:ext cx="0" cy="0"/>
        </a:xfrm>
      </p:grpSpPr>
      <p:sp>
        <p:nvSpPr>
          <p:cNvPr id="1280" name="Google Shape;1280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5" name="Shape 1285"/>
        <p:cNvGrpSpPr/>
        <p:nvPr/>
      </p:nvGrpSpPr>
      <p:grpSpPr>
        <a:xfrm>
          <a:off x="0" y="0"/>
          <a:ext cx="0" cy="0"/>
        </a:xfrm>
      </p:grpSpPr>
      <p:sp>
        <p:nvSpPr>
          <p:cNvPr id="1286" name="Google Shape;128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9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9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0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0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0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0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54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4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5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6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7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0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8.png" /><Relationship Id="rId4" Type="http://schemas.openxmlformats.org/officeDocument/2006/relationships/image" Target="../media/image49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8.png" /><Relationship Id="rId4" Type="http://schemas.openxmlformats.org/officeDocument/2006/relationships/image" Target="../media/image59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58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49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9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48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numerical summaries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my understanding of various data summaries to solve problems.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statistical summary is a value, or group of values, that help describe a property of a dataset.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0" y="2051988"/>
            <a:ext cx="84960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measure of central tendency is a summary measure that attempts to describe a whole set of data with a single value that represents the middle or centre of its distribution.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0" y="3483825"/>
            <a:ext cx="8496000" cy="8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range is a measure of spread. It is found by finding the difference between the highest and lowest values.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numerical summaries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9"/>
          <p:cNvSpPr txBox="1"/>
          <p:nvPr>
            <p:ph type="body" idx="1"/>
          </p:nvPr>
        </p:nvSpPr>
        <p:spPr>
          <a:xfrm>
            <a:off x="324000" y="759300"/>
            <a:ext cx="82377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Statistical conclusions can be made when we </a:t>
            </a:r>
            <a:r>
              <a:rPr lang="en-GB" sz="1900">
                <a:solidFill>
                  <a:schemeClr val="accent4"/>
                </a:solidFill>
              </a:rPr>
              <a:t>compare</a:t>
            </a:r>
            <a:r>
              <a:rPr lang="en-GB" sz="1900"/>
              <a:t> two datasets.</a:t>
            </a:r>
            <a:endParaRPr sz="1900"/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783" name="Google Shape;783;p69"/>
          <p:cNvSpPr txBox="1"/>
          <p:nvPr>
            <p:ph type="body" idx="1"/>
          </p:nvPr>
        </p:nvSpPr>
        <p:spPr>
          <a:xfrm>
            <a:off x="324000" y="2299350"/>
            <a:ext cx="8237700" cy="6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central tendency can be described by using an </a:t>
            </a:r>
            <a:r>
              <a:rPr lang="en-GB" sz="1900">
                <a:solidFill>
                  <a:schemeClr val="accent4"/>
                </a:solidFill>
              </a:rPr>
              <a:t>average</a:t>
            </a:r>
            <a:r>
              <a:rPr lang="en-GB" sz="1900"/>
              <a:t>, such as the mean, median or mode. </a:t>
            </a:r>
            <a:endParaRPr sz="1900"/>
          </a:p>
        </p:txBody>
      </p:sp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324000" y="3220875"/>
            <a:ext cx="8237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spread can be described by using the </a:t>
            </a:r>
            <a:r>
              <a:rPr lang="en-GB" sz="1900">
                <a:solidFill>
                  <a:schemeClr val="accent4"/>
                </a:solidFill>
              </a:rPr>
              <a:t>range</a:t>
            </a:r>
            <a:r>
              <a:rPr lang="en-GB" sz="1900"/>
              <a:t>. </a:t>
            </a:r>
            <a:endParaRPr sz="1900"/>
          </a:p>
        </p:txBody>
      </p:sp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324000" y="3883500"/>
            <a:ext cx="8496000" cy="6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With each comparison, it is helpful to explain what the results mean in </a:t>
            </a:r>
            <a:r>
              <a:rPr lang="en-GB" sz="1900">
                <a:solidFill>
                  <a:schemeClr val="accent4"/>
                </a:solidFill>
              </a:rPr>
              <a:t>context</a:t>
            </a:r>
            <a:r>
              <a:rPr lang="en-GB" sz="1900"/>
              <a:t>. </a:t>
            </a:r>
            <a:endParaRPr sz="1900"/>
          </a:p>
        </p:txBody>
      </p:sp>
      <p:sp>
        <p:nvSpPr>
          <p:cNvPr id="786" name="Google Shape;786;p69"/>
          <p:cNvSpPr txBox="1"/>
          <p:nvPr>
            <p:ph type="body" idx="1"/>
          </p:nvPr>
        </p:nvSpPr>
        <p:spPr>
          <a:xfrm>
            <a:off x="324000" y="1377825"/>
            <a:ext cx="8237700" cy="6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Datasets can be compared by considering the </a:t>
            </a:r>
            <a:r>
              <a:rPr lang="en-GB" sz="1900">
                <a:solidFill>
                  <a:schemeClr val="accent4"/>
                </a:solidFill>
              </a:rPr>
              <a:t>central tendency</a:t>
            </a:r>
            <a:r>
              <a:rPr lang="en-GB" sz="1900"/>
              <a:t> and </a:t>
            </a:r>
            <a:r>
              <a:rPr lang="en-GB" sz="1900">
                <a:solidFill>
                  <a:schemeClr val="accent4"/>
                </a:solidFill>
              </a:rPr>
              <a:t>spread</a:t>
            </a:r>
            <a:r>
              <a:rPr lang="en-GB" sz="1900"/>
              <a:t> of each group.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pic>
        <p:nvPicPr>
          <p:cNvPr id="791" name="Google Shape;791;p70"/>
          <p:cNvPicPr preferRelativeResize="0"/>
          <p:nvPr/>
        </p:nvPicPr>
        <p:blipFill>
          <a:blip r:embed="rId3">
            <a:alphaModFix/>
          </a:blip>
          <a:srcRect l="10832" r="7780"/>
          <a:stretch>
            <a:fillRect/>
          </a:stretch>
        </p:blipFill>
        <p:spPr>
          <a:xfrm>
            <a:off x="1127825" y="3743625"/>
            <a:ext cx="427482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0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dot plots below show the scores for two teams on a video game.</a:t>
            </a:r>
            <a:endParaRPr sz="1900"/>
          </a:p>
        </p:txBody>
      </p:sp>
      <p:sp>
        <p:nvSpPr>
          <p:cNvPr id="793" name="Google Shape;79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794" name="Google Shape;794;p70"/>
          <p:cNvPicPr preferRelativeResize="0"/>
          <p:nvPr/>
        </p:nvPicPr>
        <p:blipFill>
          <a:blip r:embed="rId4">
            <a:alphaModFix/>
          </a:blip>
          <a:srcRect l="11055" r="7953"/>
          <a:stretch>
            <a:fillRect/>
          </a:stretch>
        </p:blipFill>
        <p:spPr>
          <a:xfrm>
            <a:off x="1127825" y="1954380"/>
            <a:ext cx="4168124" cy="962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5" name="Google Shape;795;p70"/>
          <p:cNvCxnSpPr/>
          <p:nvPr/>
        </p:nvCxnSpPr>
        <p:spPr>
          <a:xfrm flipH="1">
            <a:off x="3303350" y="1932073"/>
            <a:ext cx="0" cy="1032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6" name="Google Shape;796;p70"/>
          <p:cNvSpPr txBox="1"/>
          <p:nvPr/>
        </p:nvSpPr>
        <p:spPr>
          <a:xfrm>
            <a:off x="3790555" y="1694886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53.2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7" name="Google Shape;797;p70"/>
          <p:cNvCxnSpPr>
            <a:endCxn id="796" idx="1"/>
          </p:cNvCxnSpPr>
          <p:nvPr/>
        </p:nvCxnSpPr>
        <p:spPr>
          <a:xfrm rot="10800000" flipH="1">
            <a:off x="3341155" y="1870836"/>
            <a:ext cx="449400" cy="116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8" name="Google Shape;798;p70"/>
          <p:cNvCxnSpPr/>
          <p:nvPr/>
        </p:nvCxnSpPr>
        <p:spPr>
          <a:xfrm flipH="1">
            <a:off x="2718075" y="3633025"/>
            <a:ext cx="0" cy="923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9" name="Google Shape;799;p70"/>
          <p:cNvSpPr txBox="1"/>
          <p:nvPr/>
        </p:nvSpPr>
        <p:spPr>
          <a:xfrm>
            <a:off x="3191718" y="3391491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50.2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0" name="Google Shape;800;p70"/>
          <p:cNvCxnSpPr>
            <a:endCxn id="799" idx="1"/>
          </p:cNvCxnSpPr>
          <p:nvPr/>
        </p:nvCxnSpPr>
        <p:spPr>
          <a:xfrm rot="10800000" flipH="1">
            <a:off x="2741118" y="3567441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70"/>
          <p:cNvSpPr txBox="1"/>
          <p:nvPr/>
        </p:nvSpPr>
        <p:spPr>
          <a:xfrm>
            <a:off x="324005" y="1701898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/>
        </p:nvSpPr>
        <p:spPr>
          <a:xfrm>
            <a:off x="324005" y="34133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>
            <p:ph type="body" idx="1"/>
          </p:nvPr>
        </p:nvSpPr>
        <p:spPr>
          <a:xfrm>
            <a:off x="324000" y="1125075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Make two comparisons between the teams’ video game scores.</a:t>
            </a:r>
            <a:endParaRPr sz="1900"/>
          </a:p>
        </p:txBody>
      </p:sp>
      <p:sp>
        <p:nvSpPr>
          <p:cNvPr id="804" name="Google Shape;804;p70"/>
          <p:cNvSpPr txBox="1"/>
          <p:nvPr>
            <p:ph type="body" idx="1"/>
          </p:nvPr>
        </p:nvSpPr>
        <p:spPr>
          <a:xfrm>
            <a:off x="5434200" y="1735050"/>
            <a:ext cx="334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 Central tendency (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option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0"/>
          <p:cNvSpPr txBox="1"/>
          <p:nvPr>
            <p:ph type="body" idx="1"/>
          </p:nvPr>
        </p:nvSpPr>
        <p:spPr>
          <a:xfrm>
            <a:off x="5652600" y="2268825"/>
            <a:ext cx="3167400" cy="108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of Team A (53.2) is greater than the mean of Team B (50.2).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5652600" y="3564225"/>
            <a:ext cx="3167400" cy="77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suggests that Team A scored better on average.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pic>
        <p:nvPicPr>
          <p:cNvPr id="811" name="Google Shape;811;p71"/>
          <p:cNvPicPr preferRelativeResize="0"/>
          <p:nvPr/>
        </p:nvPicPr>
        <p:blipFill>
          <a:blip r:embed="rId3">
            <a:alphaModFix/>
          </a:blip>
          <a:srcRect l="10832" r="7780"/>
          <a:stretch>
            <a:fillRect/>
          </a:stretch>
        </p:blipFill>
        <p:spPr>
          <a:xfrm>
            <a:off x="1127825" y="3743625"/>
            <a:ext cx="427482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dot plots below show the scores for two teams on a video game.</a:t>
            </a:r>
            <a:endParaRPr sz="1900"/>
          </a:p>
        </p:txBody>
      </p:sp>
      <p:sp>
        <p:nvSpPr>
          <p:cNvPr id="813" name="Google Shape;81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814" name="Google Shape;814;p71"/>
          <p:cNvPicPr preferRelativeResize="0"/>
          <p:nvPr/>
        </p:nvPicPr>
        <p:blipFill>
          <a:blip r:embed="rId4">
            <a:alphaModFix/>
          </a:blip>
          <a:srcRect l="11055" r="7953"/>
          <a:stretch>
            <a:fillRect/>
          </a:stretch>
        </p:blipFill>
        <p:spPr>
          <a:xfrm>
            <a:off x="1127825" y="1954380"/>
            <a:ext cx="4168124" cy="9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/>
        </p:nvSpPr>
        <p:spPr>
          <a:xfrm>
            <a:off x="1587105" y="169946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6" name="Google Shape;816;p71"/>
          <p:cNvCxnSpPr/>
          <p:nvPr/>
        </p:nvCxnSpPr>
        <p:spPr>
          <a:xfrm rot="10800000">
            <a:off x="2302624" y="1925368"/>
            <a:ext cx="863400" cy="376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71"/>
          <p:cNvSpPr txBox="1"/>
          <p:nvPr/>
        </p:nvSpPr>
        <p:spPr>
          <a:xfrm>
            <a:off x="1324351" y="339885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8" name="Google Shape;818;p71"/>
          <p:cNvCxnSpPr/>
          <p:nvPr/>
        </p:nvCxnSpPr>
        <p:spPr>
          <a:xfrm rot="10800000">
            <a:off x="2038350" y="3625025"/>
            <a:ext cx="577200" cy="686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9" name="Google Shape;819;p71"/>
          <p:cNvSpPr txBox="1"/>
          <p:nvPr/>
        </p:nvSpPr>
        <p:spPr>
          <a:xfrm>
            <a:off x="324005" y="1701898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324005" y="34133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1"/>
          <p:cNvSpPr txBox="1"/>
          <p:nvPr>
            <p:ph type="body" idx="1"/>
          </p:nvPr>
        </p:nvSpPr>
        <p:spPr>
          <a:xfrm>
            <a:off x="324000" y="1125075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Make two comparisons between the Teams’ video game scores.</a:t>
            </a:r>
            <a:endParaRPr sz="1900"/>
          </a:p>
        </p:txBody>
      </p:sp>
      <p:sp>
        <p:nvSpPr>
          <p:cNvPr id="822" name="Google Shape;822;p71"/>
          <p:cNvSpPr txBox="1"/>
          <p:nvPr>
            <p:ph type="body" idx="1"/>
          </p:nvPr>
        </p:nvSpPr>
        <p:spPr>
          <a:xfrm>
            <a:off x="5434195" y="1735050"/>
            <a:ext cx="34509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 Central tendency (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option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1"/>
          <p:cNvSpPr txBox="1"/>
          <p:nvPr>
            <p:ph type="body" idx="1"/>
          </p:nvPr>
        </p:nvSpPr>
        <p:spPr>
          <a:xfrm>
            <a:off x="5652600" y="2268825"/>
            <a:ext cx="3167400" cy="108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median of Team A (53) is greater than the median of Team B (50).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4" name="Google Shape;824;p71"/>
          <p:cNvSpPr txBox="1"/>
          <p:nvPr>
            <p:ph type="body" idx="1"/>
          </p:nvPr>
        </p:nvSpPr>
        <p:spPr>
          <a:xfrm>
            <a:off x="5652600" y="3564225"/>
            <a:ext cx="3167400" cy="77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suggests that Team A scored better on average.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3">
            <a:alphaModFix/>
          </a:blip>
          <a:srcRect l="10832" r="7780"/>
          <a:stretch>
            <a:fillRect/>
          </a:stretch>
        </p:blipFill>
        <p:spPr>
          <a:xfrm>
            <a:off x="1127825" y="3743625"/>
            <a:ext cx="427482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dot plots below show the scores for two teams on a video game.</a:t>
            </a:r>
            <a:endParaRPr sz="1900"/>
          </a:p>
        </p:txBody>
      </p:sp>
      <p:sp>
        <p:nvSpPr>
          <p:cNvPr id="831" name="Google Shape;83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832" name="Google Shape;832;p72"/>
          <p:cNvPicPr preferRelativeResize="0"/>
          <p:nvPr/>
        </p:nvPicPr>
        <p:blipFill>
          <a:blip r:embed="rId4">
            <a:alphaModFix/>
          </a:blip>
          <a:srcRect l="11055" r="7953"/>
          <a:stretch>
            <a:fillRect/>
          </a:stretch>
        </p:blipFill>
        <p:spPr>
          <a:xfrm>
            <a:off x="1127825" y="1954380"/>
            <a:ext cx="4168124" cy="9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2"/>
          <p:cNvSpPr txBox="1"/>
          <p:nvPr/>
        </p:nvSpPr>
        <p:spPr>
          <a:xfrm>
            <a:off x="324005" y="1701898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324005" y="34133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 txBox="1"/>
          <p:nvPr>
            <p:ph type="body" idx="1"/>
          </p:nvPr>
        </p:nvSpPr>
        <p:spPr>
          <a:xfrm>
            <a:off x="324000" y="1125075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Make two comparisons between the Teams’ video game scores.</a:t>
            </a:r>
            <a:endParaRPr sz="1900"/>
          </a:p>
        </p:txBody>
      </p:sp>
      <p:sp>
        <p:nvSpPr>
          <p:cNvPr id="836" name="Google Shape;836;p72"/>
          <p:cNvSpPr txBox="1"/>
          <p:nvPr>
            <p:ph type="body" idx="1"/>
          </p:nvPr>
        </p:nvSpPr>
        <p:spPr>
          <a:xfrm>
            <a:off x="5434200" y="1735050"/>
            <a:ext cx="33858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 Central tendency (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option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7" name="Google Shape;837;p72"/>
          <p:cNvSpPr txBox="1"/>
          <p:nvPr>
            <p:ph type="body" idx="1"/>
          </p:nvPr>
        </p:nvSpPr>
        <p:spPr>
          <a:xfrm>
            <a:off x="5652600" y="2268825"/>
            <a:ext cx="3167400" cy="108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mode of Team A (53) is greater than the mode of Team B (48).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8" name="Google Shape;838;p72"/>
          <p:cNvSpPr txBox="1"/>
          <p:nvPr>
            <p:ph type="body" idx="1"/>
          </p:nvPr>
        </p:nvSpPr>
        <p:spPr>
          <a:xfrm>
            <a:off x="5652600" y="3564225"/>
            <a:ext cx="3167400" cy="77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suggests that Team A scored better on average.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9" name="Google Shape;839;p72"/>
          <p:cNvSpPr/>
          <p:nvPr/>
        </p:nvSpPr>
        <p:spPr>
          <a:xfrm>
            <a:off x="3101425" y="1907255"/>
            <a:ext cx="228600" cy="1086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/>
          <p:nvPr/>
        </p:nvSpPr>
        <p:spPr>
          <a:xfrm>
            <a:off x="2126075" y="3654574"/>
            <a:ext cx="228600" cy="962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2"/>
          <p:cNvSpPr txBox="1"/>
          <p:nvPr/>
        </p:nvSpPr>
        <p:spPr>
          <a:xfrm>
            <a:off x="3790550" y="1694875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ode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2" name="Google Shape;842;p72"/>
          <p:cNvCxnSpPr>
            <a:endCxn id="841" idx="1"/>
          </p:cNvCxnSpPr>
          <p:nvPr/>
        </p:nvCxnSpPr>
        <p:spPr>
          <a:xfrm rot="10800000" flipH="1">
            <a:off x="3341150" y="1870825"/>
            <a:ext cx="449400" cy="116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3" name="Google Shape;843;p72"/>
          <p:cNvSpPr txBox="1"/>
          <p:nvPr/>
        </p:nvSpPr>
        <p:spPr>
          <a:xfrm>
            <a:off x="2810718" y="3391491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4" name="Google Shape;844;p72"/>
          <p:cNvCxnSpPr>
            <a:endCxn id="843" idx="1"/>
          </p:cNvCxnSpPr>
          <p:nvPr/>
        </p:nvCxnSpPr>
        <p:spPr>
          <a:xfrm rot="10800000" flipH="1">
            <a:off x="2360118" y="3567441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3"/>
          <p:cNvPicPr preferRelativeResize="0"/>
          <p:nvPr/>
        </p:nvPicPr>
        <p:blipFill>
          <a:blip r:embed="rId3">
            <a:alphaModFix/>
          </a:blip>
          <a:srcRect l="10832" r="7780"/>
          <a:stretch>
            <a:fillRect/>
          </a:stretch>
        </p:blipFill>
        <p:spPr>
          <a:xfrm>
            <a:off x="1127825" y="3743625"/>
            <a:ext cx="4274825" cy="8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3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dot plots below show the scores for two teams on a video game.</a:t>
            </a:r>
            <a:endParaRPr sz="1900"/>
          </a:p>
        </p:txBody>
      </p:sp>
      <p:sp>
        <p:nvSpPr>
          <p:cNvPr id="851" name="Google Shape;85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852" name="Google Shape;852;p73"/>
          <p:cNvPicPr preferRelativeResize="0"/>
          <p:nvPr/>
        </p:nvPicPr>
        <p:blipFill>
          <a:blip r:embed="rId4">
            <a:alphaModFix/>
          </a:blip>
          <a:srcRect l="11055" r="7953"/>
          <a:stretch>
            <a:fillRect/>
          </a:stretch>
        </p:blipFill>
        <p:spPr>
          <a:xfrm>
            <a:off x="1127825" y="1954380"/>
            <a:ext cx="4168124" cy="9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3"/>
          <p:cNvSpPr txBox="1"/>
          <p:nvPr/>
        </p:nvSpPr>
        <p:spPr>
          <a:xfrm>
            <a:off x="324005" y="1701898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3"/>
          <p:cNvSpPr txBox="1"/>
          <p:nvPr/>
        </p:nvSpPr>
        <p:spPr>
          <a:xfrm>
            <a:off x="324005" y="34133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3"/>
          <p:cNvSpPr txBox="1"/>
          <p:nvPr>
            <p:ph type="body" idx="1"/>
          </p:nvPr>
        </p:nvSpPr>
        <p:spPr>
          <a:xfrm>
            <a:off x="324000" y="1125075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Make two comparisons between the Teams’ video game scores.</a:t>
            </a:r>
            <a:endParaRPr sz="1900"/>
          </a:p>
        </p:txBody>
      </p:sp>
      <p:sp>
        <p:nvSpPr>
          <p:cNvPr id="856" name="Google Shape;856;p73"/>
          <p:cNvSpPr txBox="1"/>
          <p:nvPr>
            <p:ph type="body" idx="1"/>
          </p:nvPr>
        </p:nvSpPr>
        <p:spPr>
          <a:xfrm>
            <a:off x="5434200" y="1735050"/>
            <a:ext cx="33858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 Spread: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5652600" y="2268825"/>
            <a:ext cx="3092100" cy="108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of Team A (14) is smaller than the range of Team B (18).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3"/>
          <p:cNvSpPr txBox="1"/>
          <p:nvPr>
            <p:ph type="body" idx="1"/>
          </p:nvPr>
        </p:nvSpPr>
        <p:spPr>
          <a:xfrm>
            <a:off x="5652600" y="3564225"/>
            <a:ext cx="3167400" cy="77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suggests that Team A’s scores were more consistent.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9" name="Google Shape;859;p73"/>
          <p:cNvSpPr txBox="1"/>
          <p:nvPr/>
        </p:nvSpPr>
        <p:spPr>
          <a:xfrm>
            <a:off x="2571350" y="297801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0" name="Google Shape;860;p73"/>
          <p:cNvCxnSpPr/>
          <p:nvPr/>
        </p:nvCxnSpPr>
        <p:spPr>
          <a:xfrm rot="10800000" flipH="1">
            <a:off x="1801900" y="2989275"/>
            <a:ext cx="2823600" cy="11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61" name="Google Shape;861;p73"/>
          <p:cNvSpPr txBox="1"/>
          <p:nvPr/>
        </p:nvSpPr>
        <p:spPr>
          <a:xfrm>
            <a:off x="2571350" y="457821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2" name="Google Shape;862;p73"/>
          <p:cNvCxnSpPr/>
          <p:nvPr/>
        </p:nvCxnSpPr>
        <p:spPr>
          <a:xfrm>
            <a:off x="1447900" y="4600875"/>
            <a:ext cx="3657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sp>
        <p:nvSpPr>
          <p:cNvPr id="867" name="Google Shape;867;p74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Our answers can be combined to make a complete solution by using </a:t>
            </a:r>
            <a:r>
              <a:rPr lang="en-GB" sz="1900">
                <a:solidFill>
                  <a:schemeClr val="accent4"/>
                </a:solidFill>
              </a:rPr>
              <a:t>one of the averages</a:t>
            </a:r>
            <a:r>
              <a:rPr lang="en-GB" sz="1900"/>
              <a:t> and </a:t>
            </a:r>
            <a:r>
              <a:rPr lang="en-GB" sz="1900">
                <a:solidFill>
                  <a:schemeClr val="accent4"/>
                </a:solidFill>
              </a:rPr>
              <a:t>the range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868" name="Google Shape;8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869" name="Google Shape;869;p74"/>
          <p:cNvSpPr txBox="1"/>
          <p:nvPr>
            <p:ph type="body" idx="1"/>
          </p:nvPr>
        </p:nvSpPr>
        <p:spPr>
          <a:xfrm>
            <a:off x="324000" y="2929350"/>
            <a:ext cx="8454300" cy="108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of Team A (14) is smaller than the range of Team B (18), suggesting that Team A’s scores were more consistent.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4"/>
          <p:cNvSpPr txBox="1"/>
          <p:nvPr>
            <p:ph type="body" idx="1"/>
          </p:nvPr>
        </p:nvSpPr>
        <p:spPr>
          <a:xfrm>
            <a:off x="324000" y="1887825"/>
            <a:ext cx="8496000" cy="77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of Team A (53.2) is greater than the mean of Team B (50.2), suggesting that Team A scored better on average.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pic>
        <p:nvPicPr>
          <p:cNvPr id="875" name="Google Shape;8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202299"/>
            <a:ext cx="5450399" cy="10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5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Jacob has made a comparison between the two teams.</a:t>
            </a:r>
            <a:endParaRPr sz="1900"/>
          </a:p>
        </p:txBody>
      </p:sp>
      <p:sp>
        <p:nvSpPr>
          <p:cNvPr id="877" name="Google Shape;87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cxnSp>
        <p:nvCxnSpPr>
          <p:cNvPr id="878" name="Google Shape;878;p75"/>
          <p:cNvCxnSpPr/>
          <p:nvPr/>
        </p:nvCxnSpPr>
        <p:spPr>
          <a:xfrm flipH="1">
            <a:off x="2923650" y="3245019"/>
            <a:ext cx="0" cy="1050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79" name="Google Shape;879;p75"/>
          <p:cNvSpPr txBox="1"/>
          <p:nvPr/>
        </p:nvSpPr>
        <p:spPr>
          <a:xfrm>
            <a:off x="3397458" y="3147651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0" name="Google Shape;880;p75"/>
          <p:cNvCxnSpPr>
            <a:endCxn id="879" idx="1"/>
          </p:cNvCxnSpPr>
          <p:nvPr/>
        </p:nvCxnSpPr>
        <p:spPr>
          <a:xfrm rot="10800000" flipH="1">
            <a:off x="2946858" y="3323601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1" name="Google Shape;881;p75"/>
          <p:cNvSpPr txBox="1"/>
          <p:nvPr/>
        </p:nvSpPr>
        <p:spPr>
          <a:xfrm>
            <a:off x="1248151" y="430086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2" name="Google Shape;882;p75"/>
          <p:cNvCxnSpPr/>
          <p:nvPr/>
        </p:nvCxnSpPr>
        <p:spPr>
          <a:xfrm flipH="1">
            <a:off x="1991075" y="4063710"/>
            <a:ext cx="516000" cy="310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3" name="Google Shape;883;p75"/>
          <p:cNvSpPr txBox="1"/>
          <p:nvPr/>
        </p:nvSpPr>
        <p:spPr>
          <a:xfrm>
            <a:off x="324005" y="3184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4" name="Google Shape;88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12663"/>
            <a:ext cx="5450401" cy="10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5"/>
          <p:cNvSpPr txBox="1"/>
          <p:nvPr/>
        </p:nvSpPr>
        <p:spPr>
          <a:xfrm>
            <a:off x="324005" y="1279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6" name="Google Shape;886;p75"/>
          <p:cNvCxnSpPr/>
          <p:nvPr/>
        </p:nvCxnSpPr>
        <p:spPr>
          <a:xfrm flipH="1">
            <a:off x="2558133" y="1340019"/>
            <a:ext cx="0" cy="1050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87" name="Google Shape;887;p75"/>
          <p:cNvSpPr txBox="1"/>
          <p:nvPr/>
        </p:nvSpPr>
        <p:spPr>
          <a:xfrm>
            <a:off x="3031941" y="1187617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49.5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8" name="Google Shape;888;p75"/>
          <p:cNvCxnSpPr>
            <a:endCxn id="887" idx="1"/>
          </p:cNvCxnSpPr>
          <p:nvPr/>
        </p:nvCxnSpPr>
        <p:spPr>
          <a:xfrm rot="10800000" flipH="1">
            <a:off x="2581341" y="1363567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9" name="Google Shape;889;p75"/>
          <p:cNvSpPr txBox="1"/>
          <p:nvPr/>
        </p:nvSpPr>
        <p:spPr>
          <a:xfrm>
            <a:off x="2787634" y="239586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0" name="Google Shape;890;p75"/>
          <p:cNvCxnSpPr/>
          <p:nvPr/>
        </p:nvCxnSpPr>
        <p:spPr>
          <a:xfrm>
            <a:off x="2717625" y="2228800"/>
            <a:ext cx="69900" cy="225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75"/>
          <p:cNvSpPr txBox="1"/>
          <p:nvPr>
            <p:ph type="body" idx="1"/>
          </p:nvPr>
        </p:nvSpPr>
        <p:spPr>
          <a:xfrm>
            <a:off x="6107600" y="2888100"/>
            <a:ext cx="29409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evidence would </a:t>
            </a:r>
            <a:r>
              <a:rPr lang="en-GB" sz="1800">
                <a:solidFill>
                  <a:schemeClr val="accent4"/>
                </a:solidFill>
              </a:rPr>
              <a:t>support</a:t>
            </a:r>
            <a:r>
              <a:rPr lang="en-GB" sz="1800"/>
              <a:t> Jacob’s claim?</a:t>
            </a:r>
            <a:endParaRPr sz="1800"/>
          </a:p>
        </p:txBody>
      </p:sp>
      <p:sp>
        <p:nvSpPr>
          <p:cNvPr id="892" name="Google Shape;892;p75"/>
          <p:cNvSpPr/>
          <p:nvPr/>
        </p:nvSpPr>
        <p:spPr>
          <a:xfrm>
            <a:off x="5926800" y="1152875"/>
            <a:ext cx="2377200" cy="1007100"/>
          </a:xfrm>
          <a:prstGeom prst="wedgeRoundRectCallout">
            <a:avLst>
              <a:gd name="adj1" fmla="val 44549"/>
              <a:gd name="adj2" fmla="val 6727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 scored higher than Team D, on average.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 txBox="1"/>
          <p:nvPr>
            <p:ph type="body" idx="1"/>
          </p:nvPr>
        </p:nvSpPr>
        <p:spPr>
          <a:xfrm>
            <a:off x="6107600" y="3626100"/>
            <a:ext cx="27906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median for Team C (50) is higher than Team D (49).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4" name="Google Shape;894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200" y="2052250"/>
            <a:ext cx="555349" cy="6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pic>
        <p:nvPicPr>
          <p:cNvPr id="899" name="Google Shape;89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202299"/>
            <a:ext cx="5450399" cy="10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6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Jacob has made a comparison between the two teams.</a:t>
            </a:r>
            <a:endParaRPr sz="1900"/>
          </a:p>
        </p:txBody>
      </p:sp>
      <p:sp>
        <p:nvSpPr>
          <p:cNvPr id="901" name="Google Shape;90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cxnSp>
        <p:nvCxnSpPr>
          <p:cNvPr id="902" name="Google Shape;902;p76"/>
          <p:cNvCxnSpPr/>
          <p:nvPr/>
        </p:nvCxnSpPr>
        <p:spPr>
          <a:xfrm flipH="1">
            <a:off x="2923650" y="3245019"/>
            <a:ext cx="0" cy="1050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03" name="Google Shape;903;p76"/>
          <p:cNvSpPr txBox="1"/>
          <p:nvPr/>
        </p:nvSpPr>
        <p:spPr>
          <a:xfrm>
            <a:off x="3397458" y="3147651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4" name="Google Shape;904;p76"/>
          <p:cNvCxnSpPr>
            <a:endCxn id="903" idx="1"/>
          </p:cNvCxnSpPr>
          <p:nvPr/>
        </p:nvCxnSpPr>
        <p:spPr>
          <a:xfrm rot="10800000" flipH="1">
            <a:off x="2946858" y="3323601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76"/>
          <p:cNvSpPr txBox="1"/>
          <p:nvPr/>
        </p:nvSpPr>
        <p:spPr>
          <a:xfrm>
            <a:off x="1248151" y="430086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6" name="Google Shape;906;p76"/>
          <p:cNvCxnSpPr/>
          <p:nvPr/>
        </p:nvCxnSpPr>
        <p:spPr>
          <a:xfrm flipH="1">
            <a:off x="1991075" y="4063710"/>
            <a:ext cx="516000" cy="310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7" name="Google Shape;907;p76"/>
          <p:cNvSpPr txBox="1"/>
          <p:nvPr/>
        </p:nvSpPr>
        <p:spPr>
          <a:xfrm>
            <a:off x="324005" y="3184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8" name="Google Shape;90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12663"/>
            <a:ext cx="5450401" cy="10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6"/>
          <p:cNvSpPr txBox="1"/>
          <p:nvPr/>
        </p:nvSpPr>
        <p:spPr>
          <a:xfrm>
            <a:off x="324005" y="1279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0" name="Google Shape;910;p76"/>
          <p:cNvCxnSpPr/>
          <p:nvPr/>
        </p:nvCxnSpPr>
        <p:spPr>
          <a:xfrm flipH="1">
            <a:off x="2558133" y="1340019"/>
            <a:ext cx="0" cy="1050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11" name="Google Shape;911;p76"/>
          <p:cNvSpPr txBox="1"/>
          <p:nvPr/>
        </p:nvSpPr>
        <p:spPr>
          <a:xfrm>
            <a:off x="3031941" y="1187617"/>
            <a:ext cx="17325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49.5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2" name="Google Shape;912;p76"/>
          <p:cNvCxnSpPr>
            <a:endCxn id="911" idx="1"/>
          </p:cNvCxnSpPr>
          <p:nvPr/>
        </p:nvCxnSpPr>
        <p:spPr>
          <a:xfrm rot="10800000" flipH="1">
            <a:off x="2581341" y="1363567"/>
            <a:ext cx="450600" cy="14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76"/>
          <p:cNvSpPr txBox="1"/>
          <p:nvPr/>
        </p:nvSpPr>
        <p:spPr>
          <a:xfrm>
            <a:off x="2787634" y="2395861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4" name="Google Shape;914;p76"/>
          <p:cNvCxnSpPr/>
          <p:nvPr/>
        </p:nvCxnSpPr>
        <p:spPr>
          <a:xfrm>
            <a:off x="2717625" y="2228800"/>
            <a:ext cx="69900" cy="225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76"/>
          <p:cNvSpPr txBox="1"/>
          <p:nvPr>
            <p:ph type="body" idx="1"/>
          </p:nvPr>
        </p:nvSpPr>
        <p:spPr>
          <a:xfrm>
            <a:off x="6107600" y="2888100"/>
            <a:ext cx="27450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evidence would </a:t>
            </a:r>
            <a:r>
              <a:rPr lang="en-GB" sz="1800">
                <a:solidFill>
                  <a:schemeClr val="accent4"/>
                </a:solidFill>
              </a:rPr>
              <a:t>counter</a:t>
            </a:r>
            <a:r>
              <a:rPr lang="en-GB" sz="1800"/>
              <a:t> Jacob’s claim?</a:t>
            </a:r>
            <a:endParaRPr sz="1800"/>
          </a:p>
        </p:txBody>
      </p:sp>
      <p:sp>
        <p:nvSpPr>
          <p:cNvPr id="916" name="Google Shape;916;p76"/>
          <p:cNvSpPr/>
          <p:nvPr/>
        </p:nvSpPr>
        <p:spPr>
          <a:xfrm>
            <a:off x="5926800" y="1152875"/>
            <a:ext cx="2377200" cy="1007100"/>
          </a:xfrm>
          <a:prstGeom prst="wedgeRoundRectCallout">
            <a:avLst>
              <a:gd name="adj1" fmla="val 44549"/>
              <a:gd name="adj2" fmla="val 6727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 scored higher than Team D, on average.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6"/>
          <p:cNvSpPr txBox="1"/>
          <p:nvPr>
            <p:ph type="body" idx="1"/>
          </p:nvPr>
        </p:nvSpPr>
        <p:spPr>
          <a:xfrm>
            <a:off x="6107600" y="3626100"/>
            <a:ext cx="29409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for Team D (50.5) is higher than Team C (49.5).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8" name="Google Shape;91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200" y="2052250"/>
            <a:ext cx="555349" cy="6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pic>
        <p:nvPicPr>
          <p:cNvPr id="923" name="Google Shape;9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897499"/>
            <a:ext cx="5450399" cy="10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7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Laura has made a comparison between the two teams.</a:t>
            </a:r>
            <a:endParaRPr sz="1900"/>
          </a:p>
        </p:txBody>
      </p:sp>
      <p:sp>
        <p:nvSpPr>
          <p:cNvPr id="925" name="Google Shape;92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926" name="Google Shape;926;p77"/>
          <p:cNvSpPr txBox="1"/>
          <p:nvPr/>
        </p:nvSpPr>
        <p:spPr>
          <a:xfrm>
            <a:off x="324005" y="28799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7" name="Google Shape;92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12663"/>
            <a:ext cx="5450401" cy="10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7"/>
          <p:cNvSpPr txBox="1"/>
          <p:nvPr/>
        </p:nvSpPr>
        <p:spPr>
          <a:xfrm>
            <a:off x="324005" y="1279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7"/>
          <p:cNvSpPr txBox="1"/>
          <p:nvPr>
            <p:ph type="body" idx="1"/>
          </p:nvPr>
        </p:nvSpPr>
        <p:spPr>
          <a:xfrm>
            <a:off x="6107600" y="2888100"/>
            <a:ext cx="29409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evidence would </a:t>
            </a:r>
            <a:r>
              <a:rPr lang="en-GB" sz="1800">
                <a:solidFill>
                  <a:schemeClr val="accent4"/>
                </a:solidFill>
              </a:rPr>
              <a:t>support</a:t>
            </a:r>
            <a:r>
              <a:rPr lang="en-GB" sz="1800"/>
              <a:t> Laura’s claim?</a:t>
            </a:r>
            <a:endParaRPr sz="1800"/>
          </a:p>
        </p:txBody>
      </p:sp>
      <p:sp>
        <p:nvSpPr>
          <p:cNvPr id="930" name="Google Shape;930;p77"/>
          <p:cNvSpPr txBox="1"/>
          <p:nvPr/>
        </p:nvSpPr>
        <p:spPr>
          <a:xfrm>
            <a:off x="2335125" y="247110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1" name="Google Shape;931;p77"/>
          <p:cNvCxnSpPr/>
          <p:nvPr/>
        </p:nvCxnSpPr>
        <p:spPr>
          <a:xfrm>
            <a:off x="470600" y="2471115"/>
            <a:ext cx="518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32" name="Google Shape;932;p77"/>
          <p:cNvSpPr txBox="1"/>
          <p:nvPr/>
        </p:nvSpPr>
        <p:spPr>
          <a:xfrm>
            <a:off x="2723750" y="396861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3" name="Google Shape;933;p77"/>
          <p:cNvCxnSpPr/>
          <p:nvPr/>
        </p:nvCxnSpPr>
        <p:spPr>
          <a:xfrm>
            <a:off x="1539340" y="3991275"/>
            <a:ext cx="3657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34" name="Google Shape;934;p77"/>
          <p:cNvSpPr/>
          <p:nvPr/>
        </p:nvSpPr>
        <p:spPr>
          <a:xfrm>
            <a:off x="5926800" y="1152875"/>
            <a:ext cx="2377200" cy="1007100"/>
          </a:xfrm>
          <a:prstGeom prst="wedgeRoundRectCallout">
            <a:avLst>
              <a:gd name="adj1" fmla="val 44549"/>
              <a:gd name="adj2" fmla="val 6727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D’s scores are more consistent than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Team C’s scores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7"/>
          <p:cNvSpPr txBox="1"/>
          <p:nvPr>
            <p:ph type="body" idx="1"/>
          </p:nvPr>
        </p:nvSpPr>
        <p:spPr>
          <a:xfrm>
            <a:off x="6107600" y="3626100"/>
            <a:ext cx="27831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for Team D (15) is smaller than Team C (21).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6" name="Google Shape;93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246814" y="2159975"/>
            <a:ext cx="537836" cy="70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0" name="Shape 940"/>
        <p:cNvGrpSpPr/>
        <p:nvPr/>
      </p:nvGrpSpPr>
      <p:grpSpPr>
        <a:xfrm>
          <a:off x="0" y="0"/>
          <a:ext cx="0" cy="0"/>
        </a:xfrm>
      </p:grpSpPr>
      <p:pic>
        <p:nvPicPr>
          <p:cNvPr id="941" name="Google Shape;94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897499"/>
            <a:ext cx="5450399" cy="10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8"/>
          <p:cNvSpPr txBox="1"/>
          <p:nvPr>
            <p:ph type="body" idx="1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Laura has made a comparison between the two teams.</a:t>
            </a:r>
            <a:endParaRPr sz="1900"/>
          </a:p>
        </p:txBody>
      </p:sp>
      <p:sp>
        <p:nvSpPr>
          <p:cNvPr id="943" name="Google Shape;94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944" name="Google Shape;944;p78"/>
          <p:cNvSpPr txBox="1"/>
          <p:nvPr/>
        </p:nvSpPr>
        <p:spPr>
          <a:xfrm>
            <a:off x="324005" y="28799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5" name="Google Shape;94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12663"/>
            <a:ext cx="5450401" cy="10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8"/>
          <p:cNvSpPr txBox="1"/>
          <p:nvPr/>
        </p:nvSpPr>
        <p:spPr>
          <a:xfrm>
            <a:off x="324005" y="1279775"/>
            <a:ext cx="1793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8"/>
          <p:cNvSpPr txBox="1"/>
          <p:nvPr>
            <p:ph type="body" idx="1"/>
          </p:nvPr>
        </p:nvSpPr>
        <p:spPr>
          <a:xfrm>
            <a:off x="5857925" y="3040500"/>
            <a:ext cx="30327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someone argue </a:t>
            </a:r>
            <a:r>
              <a:rPr lang="en-GB" sz="1800">
                <a:solidFill>
                  <a:schemeClr val="accent4"/>
                </a:solidFill>
              </a:rPr>
              <a:t>against</a:t>
            </a:r>
            <a:r>
              <a:rPr lang="en-GB" sz="1800"/>
              <a:t> Laura’s claim?</a:t>
            </a:r>
            <a:endParaRPr sz="1800"/>
          </a:p>
        </p:txBody>
      </p:sp>
      <p:sp>
        <p:nvSpPr>
          <p:cNvPr id="948" name="Google Shape;948;p78"/>
          <p:cNvSpPr/>
          <p:nvPr/>
        </p:nvSpPr>
        <p:spPr>
          <a:xfrm>
            <a:off x="5926800" y="1152875"/>
            <a:ext cx="2377200" cy="1007100"/>
          </a:xfrm>
          <a:prstGeom prst="wedgeRoundRectCallout">
            <a:avLst>
              <a:gd name="adj1" fmla="val 44549"/>
              <a:gd name="adj2" fmla="val 6727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D’s scores are more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consistent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than Team C’s scores.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8"/>
          <p:cNvSpPr txBox="1"/>
          <p:nvPr>
            <p:ph type="body" idx="1"/>
          </p:nvPr>
        </p:nvSpPr>
        <p:spPr>
          <a:xfrm>
            <a:off x="348200" y="4146800"/>
            <a:ext cx="84363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Team C’s range is only larger because of two extreme values. If the spread was measured without these then Team C would be more consistent.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50" name="Google Shape;950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246814" y="2159975"/>
            <a:ext cx="537836" cy="704426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8"/>
          <p:cNvSpPr/>
          <p:nvPr/>
        </p:nvSpPr>
        <p:spPr>
          <a:xfrm>
            <a:off x="348050" y="2075915"/>
            <a:ext cx="186000" cy="1860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8"/>
          <p:cNvSpPr/>
          <p:nvPr/>
        </p:nvSpPr>
        <p:spPr>
          <a:xfrm>
            <a:off x="5581797" y="2075915"/>
            <a:ext cx="186000" cy="1860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79"/>
          <p:cNvSpPr txBox="1"/>
          <p:nvPr>
            <p:ph type="subTitle" idx="1"/>
          </p:nvPr>
        </p:nvSpPr>
        <p:spPr>
          <a:xfrm>
            <a:off x="1034425" y="1685375"/>
            <a:ext cx="2921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958" name="Google Shape;958;p7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959" name="Google Shape;959;p79"/>
          <p:cNvGraphicFramePr>
            <a:graphicFrameLocks noGrp="1"/>
          </p:cNvGraphicFramePr>
          <p:nvPr/>
        </p:nvGraphicFramePr>
        <p:xfrm>
          <a:off x="5339228" y="16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960" name="Google Shape;960;p79"/>
          <p:cNvSpPr txBox="1"/>
          <p:nvPr>
            <p:ph type="title"/>
          </p:nvPr>
        </p:nvSpPr>
        <p:spPr>
          <a:xfrm>
            <a:off x="324000" y="810003"/>
            <a:ext cx="81792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table shows summary statistics for the scores for two teams on a video game. Which measures show how highly each team scored?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1" name="Google Shape;961;p79"/>
          <p:cNvSpPr txBox="1"/>
          <p:nvPr>
            <p:ph type="subTitle" idx="3"/>
          </p:nvPr>
        </p:nvSpPr>
        <p:spPr>
          <a:xfrm>
            <a:off x="1034425" y="2489450"/>
            <a:ext cx="1357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962" name="Google Shape;962;p79"/>
          <p:cNvSpPr txBox="1"/>
          <p:nvPr>
            <p:ph type="subTitle" idx="4"/>
          </p:nvPr>
        </p:nvSpPr>
        <p:spPr>
          <a:xfrm>
            <a:off x="1034425" y="3309750"/>
            <a:ext cx="1437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sp>
        <p:nvSpPr>
          <p:cNvPr id="963" name="Google Shape;963;p79"/>
          <p:cNvSpPr txBox="1"/>
          <p:nvPr>
            <p:ph type="subTitle" idx="5"/>
          </p:nvPr>
        </p:nvSpPr>
        <p:spPr>
          <a:xfrm>
            <a:off x="1034425" y="4113825"/>
            <a:ext cx="14379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range</a:t>
            </a:r>
            <a:endParaRPr/>
          </a:p>
        </p:txBody>
      </p:sp>
      <p:pic>
        <p:nvPicPr>
          <p:cNvPr id="964" name="Google Shape;96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633" y="16853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03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633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0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Team A</a:t>
            </a:r>
            <a:endParaRPr/>
          </a:p>
        </p:txBody>
      </p:sp>
      <p:sp>
        <p:nvSpPr>
          <p:cNvPr id="972" name="Google Shape;972;p8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973" name="Google Shape;973;p80"/>
          <p:cNvGraphicFramePr>
            <a:graphicFrameLocks noGrp="1"/>
          </p:cNvGraphicFramePr>
          <p:nvPr/>
        </p:nvGraphicFramePr>
        <p:xfrm>
          <a:off x="5339228" y="16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974" name="Google Shape;974;p80"/>
          <p:cNvSpPr txBox="1"/>
          <p:nvPr>
            <p:ph type="title"/>
          </p:nvPr>
        </p:nvSpPr>
        <p:spPr>
          <a:xfrm>
            <a:off x="324000" y="748779"/>
            <a:ext cx="8179200" cy="2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team scored higher on average?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5" name="Google Shape;975;p80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Team B</a:t>
            </a:r>
            <a:endParaRPr/>
          </a:p>
        </p:txBody>
      </p:sp>
      <p:sp>
        <p:nvSpPr>
          <p:cNvPr id="976" name="Google Shape;976;p80"/>
          <p:cNvSpPr txBox="1"/>
          <p:nvPr>
            <p:ph type="subTitle" idx="4"/>
          </p:nvPr>
        </p:nvSpPr>
        <p:spPr>
          <a:xfrm>
            <a:off x="1034425" y="3766975"/>
            <a:ext cx="3537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both scored equally high</a:t>
            </a:r>
            <a:endParaRPr/>
          </a:p>
        </p:txBody>
      </p:sp>
      <p:pic>
        <p:nvPicPr>
          <p:cNvPr id="977" name="Google Shape;97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433" y="1685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1" name="Shape 981"/>
        <p:cNvGrpSpPr/>
        <p:nvPr/>
      </p:nvGrpSpPr>
      <p:grpSpPr>
        <a:xfrm>
          <a:off x="0" y="0"/>
          <a:ext cx="0" cy="0"/>
        </a:xfrm>
      </p:grpSpPr>
      <p:sp>
        <p:nvSpPr>
          <p:cNvPr id="982" name="Google Shape;982;p81"/>
          <p:cNvSpPr txBox="1"/>
          <p:nvPr>
            <p:ph type="subTitle" idx="1"/>
          </p:nvPr>
        </p:nvSpPr>
        <p:spPr>
          <a:xfrm>
            <a:off x="1034425" y="1685375"/>
            <a:ext cx="2921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983" name="Google Shape;983;p8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984" name="Google Shape;984;p81"/>
          <p:cNvGraphicFramePr>
            <a:graphicFrameLocks noGrp="1"/>
          </p:cNvGraphicFramePr>
          <p:nvPr/>
        </p:nvGraphicFramePr>
        <p:xfrm>
          <a:off x="5339228" y="16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985" name="Google Shape;985;p81"/>
          <p:cNvSpPr txBox="1"/>
          <p:nvPr>
            <p:ph type="title"/>
          </p:nvPr>
        </p:nvSpPr>
        <p:spPr>
          <a:xfrm>
            <a:off x="324000" y="810003"/>
            <a:ext cx="81792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measure shows how consistent each team’s scores were?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6" name="Google Shape;986;p81"/>
          <p:cNvSpPr txBox="1"/>
          <p:nvPr>
            <p:ph type="subTitle" idx="3"/>
          </p:nvPr>
        </p:nvSpPr>
        <p:spPr>
          <a:xfrm>
            <a:off x="1034425" y="2489450"/>
            <a:ext cx="1357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987" name="Google Shape;987;p81"/>
          <p:cNvSpPr txBox="1"/>
          <p:nvPr>
            <p:ph type="subTitle" idx="4"/>
          </p:nvPr>
        </p:nvSpPr>
        <p:spPr>
          <a:xfrm>
            <a:off x="1034425" y="3309750"/>
            <a:ext cx="1437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sp>
        <p:nvSpPr>
          <p:cNvPr id="988" name="Google Shape;988;p81"/>
          <p:cNvSpPr txBox="1"/>
          <p:nvPr>
            <p:ph type="subTitle" idx="5"/>
          </p:nvPr>
        </p:nvSpPr>
        <p:spPr>
          <a:xfrm>
            <a:off x="1034425" y="4113825"/>
            <a:ext cx="14379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range</a:t>
            </a:r>
            <a:endParaRPr/>
          </a:p>
        </p:txBody>
      </p:sp>
      <p:pic>
        <p:nvPicPr>
          <p:cNvPr id="989" name="Google Shape;98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258" y="40655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3" name="Shape 993"/>
        <p:cNvGrpSpPr/>
        <p:nvPr/>
      </p:nvGrpSpPr>
      <p:grpSpPr>
        <a:xfrm>
          <a:off x="0" y="0"/>
          <a:ext cx="0" cy="0"/>
        </a:xfrm>
      </p:grpSpPr>
      <p:sp>
        <p:nvSpPr>
          <p:cNvPr id="994" name="Google Shape;994;p8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Team A</a:t>
            </a:r>
            <a:endParaRPr/>
          </a:p>
        </p:txBody>
      </p:sp>
      <p:sp>
        <p:nvSpPr>
          <p:cNvPr id="995" name="Google Shape;995;p8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996" name="Google Shape;996;p82"/>
          <p:cNvGraphicFramePr>
            <a:graphicFrameLocks noGrp="1"/>
          </p:cNvGraphicFramePr>
          <p:nvPr/>
        </p:nvGraphicFramePr>
        <p:xfrm>
          <a:off x="5339228" y="16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Team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997" name="Google Shape;997;p82"/>
          <p:cNvSpPr txBox="1"/>
          <p:nvPr>
            <p:ph type="title"/>
          </p:nvPr>
        </p:nvSpPr>
        <p:spPr>
          <a:xfrm>
            <a:off x="324000" y="748771"/>
            <a:ext cx="81792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team had the most consistent scores?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8" name="Google Shape;998;p8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Team B</a:t>
            </a:r>
            <a:endParaRPr/>
          </a:p>
        </p:txBody>
      </p:sp>
      <p:sp>
        <p:nvSpPr>
          <p:cNvPr id="999" name="Google Shape;999;p82"/>
          <p:cNvSpPr txBox="1"/>
          <p:nvPr>
            <p:ph type="subTitle" idx="4"/>
          </p:nvPr>
        </p:nvSpPr>
        <p:spPr>
          <a:xfrm>
            <a:off x="1034425" y="3766975"/>
            <a:ext cx="3985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both were equally consistent</a:t>
            </a:r>
            <a:endParaRPr/>
          </a:p>
        </p:txBody>
      </p:sp>
      <p:pic>
        <p:nvPicPr>
          <p:cNvPr id="1000" name="Google Shape;100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33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4" name="Shape 1004"/>
        <p:cNvGrpSpPr/>
        <p:nvPr/>
      </p:nvGrpSpPr>
      <p:grpSpPr>
        <a:xfrm>
          <a:off x="0" y="0"/>
          <a:ext cx="0" cy="0"/>
        </a:xfrm>
      </p:grpSpPr>
      <p:sp>
        <p:nvSpPr>
          <p:cNvPr id="1005" name="Google Shape;1005;p83"/>
          <p:cNvSpPr txBox="1"/>
          <p:nvPr>
            <p:ph type="body" idx="1"/>
          </p:nvPr>
        </p:nvSpPr>
        <p:spPr>
          <a:xfrm>
            <a:off x="324000" y="759300"/>
            <a:ext cx="8496000" cy="10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600"/>
              <a:t>The table shows a statistical summary of data from The Met Office from 1941-2022.</a:t>
            </a:r>
            <a:br>
              <a:rPr lang="en-GB" sz="1600"/>
            </a:br>
            <a:r>
              <a:rPr lang="en-GB" sz="1600"/>
              <a:t>     The data shows the amount of rainfall (mm) per month in Durham and Lerwick.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 Make two comparisons between the amounts of rainfall in Durham and Lerwick.</a:t>
            </a:r>
            <a:endParaRPr sz="1600"/>
          </a:p>
        </p:txBody>
      </p:sp>
      <p:sp>
        <p:nvSpPr>
          <p:cNvPr id="1006" name="Google Shape;1006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1007" name="Google Shape;1007;p83"/>
          <p:cNvGraphicFramePr>
            <a:graphicFrameLocks noGrp="1"/>
          </p:cNvGraphicFramePr>
          <p:nvPr/>
        </p:nvGraphicFramePr>
        <p:xfrm>
          <a:off x="614828" y="193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monthly rainfall (mm)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194.2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301.7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p84"/>
          <p:cNvSpPr txBox="1"/>
          <p:nvPr>
            <p:ph type="body" idx="1"/>
          </p:nvPr>
        </p:nvSpPr>
        <p:spPr>
          <a:xfrm>
            <a:off x="324000" y="759300"/>
            <a:ext cx="8517600" cy="8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Two classes practised throwing basketballs into a hoop. Each person had 20 </a:t>
            </a:r>
            <a:br>
              <a:rPr lang="en-GB" sz="1600"/>
            </a:br>
            <a:r>
              <a:rPr lang="en-GB" sz="1600"/>
              <a:t>    attempts. The dot plots show the number of points each person scored.</a:t>
            </a:r>
            <a:br>
              <a:rPr lang="en-GB" sz="1600"/>
            </a:br>
            <a:r>
              <a:rPr lang="en-GB" sz="1600"/>
              <a:t>    Lucas and Aisha used the data to make conclusions.</a:t>
            </a:r>
            <a:endParaRPr sz="1600"/>
          </a:p>
        </p:txBody>
      </p:sp>
      <p:sp>
        <p:nvSpPr>
          <p:cNvPr id="1013" name="Google Shape;1013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1014" name="Google Shape;1014;p84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326581" y="1876875"/>
            <a:ext cx="3293399" cy="11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4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326581" y="3902100"/>
            <a:ext cx="3293401" cy="64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6" name="Google Shape;1016;p84"/>
          <p:cNvCxnSpPr/>
          <p:nvPr/>
        </p:nvCxnSpPr>
        <p:spPr>
          <a:xfrm flipH="1">
            <a:off x="2820079" y="1751516"/>
            <a:ext cx="0" cy="1299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17" name="Google Shape;1017;p84"/>
          <p:cNvSpPr txBox="1"/>
          <p:nvPr/>
        </p:nvSpPr>
        <p:spPr>
          <a:xfrm>
            <a:off x="1066601" y="1957356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8" name="Google Shape;1018;p84"/>
          <p:cNvCxnSpPr/>
          <p:nvPr/>
        </p:nvCxnSpPr>
        <p:spPr>
          <a:xfrm rot="10800000" flipH="1">
            <a:off x="2227425" y="2342500"/>
            <a:ext cx="489900" cy="14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9" name="Google Shape;1019;p84"/>
          <p:cNvSpPr txBox="1"/>
          <p:nvPr/>
        </p:nvSpPr>
        <p:spPr>
          <a:xfrm>
            <a:off x="1010003" y="2400500"/>
            <a:ext cx="12951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0" name="Google Shape;1020;p84"/>
          <p:cNvCxnSpPr/>
          <p:nvPr/>
        </p:nvCxnSpPr>
        <p:spPr>
          <a:xfrm rot="10800000" flipH="1">
            <a:off x="2211350" y="1828825"/>
            <a:ext cx="578700" cy="26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84"/>
          <p:cNvSpPr txBox="1"/>
          <p:nvPr/>
        </p:nvSpPr>
        <p:spPr>
          <a:xfrm>
            <a:off x="1107823" y="3630250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4"/>
          <p:cNvSpPr txBox="1"/>
          <p:nvPr/>
        </p:nvSpPr>
        <p:spPr>
          <a:xfrm>
            <a:off x="970105" y="3937576"/>
            <a:ext cx="1261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3" name="Google Shape;1023;p84"/>
          <p:cNvCxnSpPr/>
          <p:nvPr/>
        </p:nvCxnSpPr>
        <p:spPr>
          <a:xfrm flipH="1">
            <a:off x="2500101" y="3951280"/>
            <a:ext cx="0" cy="58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24" name="Google Shape;1024;p84"/>
          <p:cNvSpPr txBox="1"/>
          <p:nvPr/>
        </p:nvSpPr>
        <p:spPr>
          <a:xfrm>
            <a:off x="1361826" y="457168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84"/>
          <p:cNvCxnSpPr/>
          <p:nvPr/>
        </p:nvCxnSpPr>
        <p:spPr>
          <a:xfrm>
            <a:off x="378951" y="4594345"/>
            <a:ext cx="313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6" name="Google Shape;1026;p84"/>
          <p:cNvSpPr txBox="1"/>
          <p:nvPr/>
        </p:nvSpPr>
        <p:spPr>
          <a:xfrm>
            <a:off x="2367602" y="3040165"/>
            <a:ext cx="94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7" name="Google Shape;1027;p84"/>
          <p:cNvCxnSpPr/>
          <p:nvPr/>
        </p:nvCxnSpPr>
        <p:spPr>
          <a:xfrm>
            <a:off x="2566899" y="3039865"/>
            <a:ext cx="55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28" name="Google Shape;1028;p84"/>
          <p:cNvCxnSpPr/>
          <p:nvPr/>
        </p:nvCxnSpPr>
        <p:spPr>
          <a:xfrm>
            <a:off x="2257399" y="3822927"/>
            <a:ext cx="228900" cy="14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9" name="Google Shape;1029;p84"/>
          <p:cNvCxnSpPr/>
          <p:nvPr/>
        </p:nvCxnSpPr>
        <p:spPr>
          <a:xfrm>
            <a:off x="2187525" y="4097025"/>
            <a:ext cx="722700" cy="24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0" name="Google Shape;1030;p84"/>
          <p:cNvSpPr txBox="1"/>
          <p:nvPr>
            <p:ph type="body" idx="1"/>
          </p:nvPr>
        </p:nvSpPr>
        <p:spPr>
          <a:xfrm>
            <a:off x="3896150" y="3666325"/>
            <a:ext cx="49239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a) Give evidence to support Lucas’s conclusion.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b) Give evidence to counter Lucas’s conclusion.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c) Give evidence to support Aisha’s conclusion.</a:t>
            </a:r>
            <a:endParaRPr sz="1600"/>
          </a:p>
        </p:txBody>
      </p:sp>
      <p:sp>
        <p:nvSpPr>
          <p:cNvPr id="1031" name="Google Shape;1031;p84"/>
          <p:cNvSpPr txBox="1"/>
          <p:nvPr>
            <p:ph type="body" idx="1"/>
          </p:nvPr>
        </p:nvSpPr>
        <p:spPr>
          <a:xfrm>
            <a:off x="350275" y="16887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A:</a:t>
            </a:r>
            <a:endParaRPr sz="1600"/>
          </a:p>
        </p:txBody>
      </p:sp>
      <p:sp>
        <p:nvSpPr>
          <p:cNvPr id="1032" name="Google Shape;1032;p84"/>
          <p:cNvSpPr txBox="1"/>
          <p:nvPr>
            <p:ph type="body" idx="1"/>
          </p:nvPr>
        </p:nvSpPr>
        <p:spPr>
          <a:xfrm>
            <a:off x="324000" y="33976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B:</a:t>
            </a:r>
            <a:endParaRPr sz="1600"/>
          </a:p>
        </p:txBody>
      </p:sp>
      <p:sp>
        <p:nvSpPr>
          <p:cNvPr id="1033" name="Google Shape;1033;p84"/>
          <p:cNvSpPr txBox="1"/>
          <p:nvPr/>
        </p:nvSpPr>
        <p:spPr>
          <a:xfrm>
            <a:off x="7906200" y="3169200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4"/>
          <p:cNvSpPr txBox="1"/>
          <p:nvPr/>
        </p:nvSpPr>
        <p:spPr>
          <a:xfrm>
            <a:off x="3896150" y="3169201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5" name="Google Shape;103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1851" y="2700288"/>
            <a:ext cx="489900" cy="54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115589" y="2527892"/>
            <a:ext cx="382526" cy="7223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4"/>
          <p:cNvSpPr/>
          <p:nvPr/>
        </p:nvSpPr>
        <p:spPr>
          <a:xfrm>
            <a:off x="5468400" y="2697550"/>
            <a:ext cx="2368800" cy="589500"/>
          </a:xfrm>
          <a:prstGeom prst="wedgeRoundRectCallout">
            <a:avLst>
              <a:gd name="adj1" fmla="val 60395"/>
              <a:gd name="adj2" fmla="val -21383"/>
              <a:gd name="adj3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A’s scores were more consistent.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4"/>
          <p:cNvSpPr/>
          <p:nvPr/>
        </p:nvSpPr>
        <p:spPr>
          <a:xfrm>
            <a:off x="4427175" y="1751525"/>
            <a:ext cx="2882400" cy="589500"/>
          </a:xfrm>
          <a:prstGeom prst="wedgeRoundRectCallout">
            <a:avLst>
              <a:gd name="adj1" fmla="val -44513"/>
              <a:gd name="adj2" fmla="val 109008"/>
              <a:gd name="adj3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 scored higher than Team A, on average.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2" name="Shape 1042"/>
        <p:cNvGrpSpPr/>
        <p:nvPr/>
      </p:nvGrpSpPr>
      <p:grpSpPr>
        <a:xfrm>
          <a:off x="0" y="0"/>
          <a:ext cx="0" cy="0"/>
        </a:xfrm>
      </p:grpSpPr>
      <p:sp>
        <p:nvSpPr>
          <p:cNvPr id="1043" name="Google Shape;1043;p85"/>
          <p:cNvSpPr txBox="1"/>
          <p:nvPr>
            <p:ph type="body" idx="1"/>
          </p:nvPr>
        </p:nvSpPr>
        <p:spPr>
          <a:xfrm>
            <a:off x="324000" y="759300"/>
            <a:ext cx="8496000" cy="11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r>
              <a:rPr lang="en-GB" sz="1600"/>
              <a:t>The table shows a statistical summary of data from The Met Office from 1941-2022.</a:t>
            </a:r>
            <a:br>
              <a:rPr lang="en-GB" sz="1600"/>
            </a:br>
            <a:r>
              <a:rPr lang="en-GB" sz="1600"/>
              <a:t>     The data shows the amount of rainfall (mm) per month in Durham and Lerwick.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 Make two comparisons between the amounts of rainfall in Durham and Lerwick.</a:t>
            </a:r>
            <a:endParaRPr sz="1600"/>
          </a:p>
        </p:txBody>
      </p:sp>
      <p:sp>
        <p:nvSpPr>
          <p:cNvPr id="1044" name="Google Shape;1044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graphicFrame>
        <p:nvGraphicFramePr>
          <p:cNvPr id="1045" name="Google Shape;1045;p85"/>
          <p:cNvGraphicFramePr>
            <a:graphicFrameLocks noGrp="1"/>
          </p:cNvGraphicFramePr>
          <p:nvPr/>
        </p:nvGraphicFramePr>
        <p:xfrm>
          <a:off x="614828" y="193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{C6EA34BA-0BEC-4893-934C-B8DC4B83375E}</a:tableStyleId>
              </a:tblPr>
              <a:tblGrid>
                <a:gridCol w="1466000"/>
                <a:gridCol w="981025"/>
                <a:gridCol w="970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monthly rainfall (mm)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194.2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301.7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046" name="Google Shape;1046;p85"/>
          <p:cNvSpPr txBox="1"/>
          <p:nvPr>
            <p:ph type="body" idx="4294967295"/>
          </p:nvPr>
        </p:nvSpPr>
        <p:spPr>
          <a:xfrm>
            <a:off x="4126775" y="1936525"/>
            <a:ext cx="46932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mean for Lerwick (98.3) is greater than the mean for Durham (53.6), meaning that Lerwick got more rainfall on average.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7" name="Google Shape;1047;p85"/>
          <p:cNvSpPr txBox="1"/>
          <p:nvPr>
            <p:ph type="body" idx="4294967295"/>
          </p:nvPr>
        </p:nvSpPr>
        <p:spPr>
          <a:xfrm>
            <a:off x="4126776" y="3215075"/>
            <a:ext cx="47565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range for Durham (194.2) is less than the range for Lerwick (301.7), meaning that Durham’s rainfall is more consistent/predictable.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85"/>
          <p:cNvSpPr txBox="1"/>
          <p:nvPr>
            <p:ph type="body" idx="4294967295"/>
          </p:nvPr>
        </p:nvSpPr>
        <p:spPr>
          <a:xfrm>
            <a:off x="656700" y="4531625"/>
            <a:ext cx="6754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Alternative option: the median could be used instead of the mean.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2" name="Shape 1052"/>
        <p:cNvGrpSpPr/>
        <p:nvPr/>
      </p:nvGrpSpPr>
      <p:grpSpPr>
        <a:xfrm>
          <a:off x="0" y="0"/>
          <a:ext cx="0" cy="0"/>
        </a:xfrm>
      </p:grpSpPr>
      <p:sp>
        <p:nvSpPr>
          <p:cNvPr id="1053" name="Google Shape;1053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Two classes practised throwing basketballs into a hoop. Each person had 20 </a:t>
            </a:r>
            <a:br>
              <a:rPr lang="en-GB" sz="1600"/>
            </a:br>
            <a:r>
              <a:rPr lang="en-GB" sz="1600"/>
              <a:t>    attempts. The dot plots show the number of points each person scored.</a:t>
            </a:r>
            <a:br>
              <a:rPr lang="en-GB" sz="1600"/>
            </a:br>
            <a:r>
              <a:rPr lang="en-GB" sz="1600"/>
              <a:t>    Lucas and Aisha used the data to make conclusions.</a:t>
            </a:r>
            <a:endParaRPr sz="1600"/>
          </a:p>
        </p:txBody>
      </p:sp>
      <p:sp>
        <p:nvSpPr>
          <p:cNvPr id="1054" name="Google Shape;1054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1055" name="Google Shape;1055;p86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326581" y="1876875"/>
            <a:ext cx="3293399" cy="11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6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326581" y="3902100"/>
            <a:ext cx="3293401" cy="64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7" name="Google Shape;1057;p86"/>
          <p:cNvCxnSpPr/>
          <p:nvPr/>
        </p:nvCxnSpPr>
        <p:spPr>
          <a:xfrm flipH="1">
            <a:off x="2820079" y="1751516"/>
            <a:ext cx="0" cy="1299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58" name="Google Shape;1058;p86"/>
          <p:cNvSpPr txBox="1"/>
          <p:nvPr/>
        </p:nvSpPr>
        <p:spPr>
          <a:xfrm>
            <a:off x="1066601" y="1957356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86"/>
          <p:cNvCxnSpPr/>
          <p:nvPr/>
        </p:nvCxnSpPr>
        <p:spPr>
          <a:xfrm rot="10800000" flipH="1">
            <a:off x="2227425" y="2342500"/>
            <a:ext cx="489900" cy="14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0" name="Google Shape;1060;p86"/>
          <p:cNvSpPr txBox="1"/>
          <p:nvPr/>
        </p:nvSpPr>
        <p:spPr>
          <a:xfrm>
            <a:off x="1010003" y="2400500"/>
            <a:ext cx="12951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1" name="Google Shape;1061;p86"/>
          <p:cNvCxnSpPr/>
          <p:nvPr/>
        </p:nvCxnSpPr>
        <p:spPr>
          <a:xfrm rot="10800000" flipH="1">
            <a:off x="2211350" y="1828825"/>
            <a:ext cx="578700" cy="26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2" name="Google Shape;1062;p86"/>
          <p:cNvSpPr txBox="1"/>
          <p:nvPr/>
        </p:nvSpPr>
        <p:spPr>
          <a:xfrm>
            <a:off x="1107823" y="3630250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6"/>
          <p:cNvSpPr txBox="1"/>
          <p:nvPr/>
        </p:nvSpPr>
        <p:spPr>
          <a:xfrm>
            <a:off x="970105" y="3937576"/>
            <a:ext cx="1261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4" name="Google Shape;1064;p86"/>
          <p:cNvCxnSpPr/>
          <p:nvPr/>
        </p:nvCxnSpPr>
        <p:spPr>
          <a:xfrm flipH="1">
            <a:off x="2500101" y="3951280"/>
            <a:ext cx="0" cy="58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65" name="Google Shape;1065;p86"/>
          <p:cNvSpPr txBox="1"/>
          <p:nvPr/>
        </p:nvSpPr>
        <p:spPr>
          <a:xfrm>
            <a:off x="1361826" y="457168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6" name="Google Shape;1066;p86"/>
          <p:cNvCxnSpPr/>
          <p:nvPr/>
        </p:nvCxnSpPr>
        <p:spPr>
          <a:xfrm>
            <a:off x="378951" y="4594345"/>
            <a:ext cx="313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7" name="Google Shape;1067;p86"/>
          <p:cNvSpPr txBox="1"/>
          <p:nvPr/>
        </p:nvSpPr>
        <p:spPr>
          <a:xfrm>
            <a:off x="2367602" y="3040165"/>
            <a:ext cx="94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8" name="Google Shape;1068;p86"/>
          <p:cNvCxnSpPr/>
          <p:nvPr/>
        </p:nvCxnSpPr>
        <p:spPr>
          <a:xfrm>
            <a:off x="2566899" y="3039865"/>
            <a:ext cx="55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69" name="Google Shape;1069;p86"/>
          <p:cNvCxnSpPr/>
          <p:nvPr/>
        </p:nvCxnSpPr>
        <p:spPr>
          <a:xfrm>
            <a:off x="2257399" y="3822927"/>
            <a:ext cx="228900" cy="14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86"/>
          <p:cNvCxnSpPr/>
          <p:nvPr/>
        </p:nvCxnSpPr>
        <p:spPr>
          <a:xfrm>
            <a:off x="2187525" y="4097025"/>
            <a:ext cx="722700" cy="24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1" name="Google Shape;1071;p86"/>
          <p:cNvSpPr txBox="1"/>
          <p:nvPr>
            <p:ph type="body" idx="1"/>
          </p:nvPr>
        </p:nvSpPr>
        <p:spPr>
          <a:xfrm>
            <a:off x="3896150" y="3666325"/>
            <a:ext cx="49239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Give evidence to support Lucas’s conclusion.</a:t>
            </a:r>
            <a:endParaRPr sz="1600"/>
          </a:p>
        </p:txBody>
      </p:sp>
      <p:sp>
        <p:nvSpPr>
          <p:cNvPr id="1072" name="Google Shape;1072;p86"/>
          <p:cNvSpPr txBox="1"/>
          <p:nvPr>
            <p:ph type="body" idx="1"/>
          </p:nvPr>
        </p:nvSpPr>
        <p:spPr>
          <a:xfrm>
            <a:off x="350275" y="16887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A:</a:t>
            </a:r>
            <a:endParaRPr sz="1600"/>
          </a:p>
        </p:txBody>
      </p:sp>
      <p:sp>
        <p:nvSpPr>
          <p:cNvPr id="1073" name="Google Shape;1073;p86"/>
          <p:cNvSpPr txBox="1"/>
          <p:nvPr>
            <p:ph type="body" idx="1"/>
          </p:nvPr>
        </p:nvSpPr>
        <p:spPr>
          <a:xfrm>
            <a:off x="324000" y="33976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B:</a:t>
            </a:r>
            <a:endParaRPr sz="1600"/>
          </a:p>
        </p:txBody>
      </p:sp>
      <p:sp>
        <p:nvSpPr>
          <p:cNvPr id="1074" name="Google Shape;1074;p86"/>
          <p:cNvSpPr txBox="1"/>
          <p:nvPr/>
        </p:nvSpPr>
        <p:spPr>
          <a:xfrm>
            <a:off x="3896150" y="3169201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5" name="Google Shape;1075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1851" y="2700288"/>
            <a:ext cx="489900" cy="54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6"/>
          <p:cNvSpPr/>
          <p:nvPr/>
        </p:nvSpPr>
        <p:spPr>
          <a:xfrm>
            <a:off x="4427175" y="1751525"/>
            <a:ext cx="2882400" cy="589500"/>
          </a:xfrm>
          <a:prstGeom prst="wedgeRoundRectCallout">
            <a:avLst>
              <a:gd name="adj1" fmla="val -44513"/>
              <a:gd name="adj2" fmla="val 109008"/>
              <a:gd name="adj3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 scored higher than Team A, on average.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6"/>
          <p:cNvSpPr txBox="1"/>
          <p:nvPr>
            <p:ph type="body" idx="4294967295"/>
          </p:nvPr>
        </p:nvSpPr>
        <p:spPr>
          <a:xfrm>
            <a:off x="4159025" y="4070125"/>
            <a:ext cx="4298700" cy="7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median for Team B (15) is greater than the median for Team A (14).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1" name="Shape 1081"/>
        <p:cNvGrpSpPr/>
        <p:nvPr/>
      </p:nvGrpSpPr>
      <p:grpSpPr>
        <a:xfrm>
          <a:off x="0" y="0"/>
          <a:ext cx="0" cy="0"/>
        </a:xfrm>
      </p:grpSpPr>
      <p:sp>
        <p:nvSpPr>
          <p:cNvPr id="1082" name="Google Shape;1082;p8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Two classes practised throwing basketballs into a hoop. Each person had 20 </a:t>
            </a:r>
            <a:br>
              <a:rPr lang="en-GB" sz="1600"/>
            </a:br>
            <a:r>
              <a:rPr lang="en-GB" sz="1600"/>
              <a:t>    attempts. The dot plots show the number of points each person scored.</a:t>
            </a:r>
            <a:br>
              <a:rPr lang="en-GB" sz="1600"/>
            </a:br>
            <a:r>
              <a:rPr lang="en-GB" sz="1600"/>
              <a:t>    Lucas and Aisha used the data to make conclusions.</a:t>
            </a:r>
            <a:endParaRPr sz="1600"/>
          </a:p>
        </p:txBody>
      </p:sp>
      <p:sp>
        <p:nvSpPr>
          <p:cNvPr id="1083" name="Google Shape;1083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1084" name="Google Shape;1084;p87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326581" y="1876875"/>
            <a:ext cx="3293399" cy="11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87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326581" y="3902100"/>
            <a:ext cx="3293401" cy="64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6" name="Google Shape;1086;p87"/>
          <p:cNvCxnSpPr/>
          <p:nvPr/>
        </p:nvCxnSpPr>
        <p:spPr>
          <a:xfrm flipH="1">
            <a:off x="2820079" y="1751516"/>
            <a:ext cx="0" cy="1299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87" name="Google Shape;1087;p87"/>
          <p:cNvSpPr txBox="1"/>
          <p:nvPr/>
        </p:nvSpPr>
        <p:spPr>
          <a:xfrm>
            <a:off x="1066601" y="1957356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8" name="Google Shape;1088;p87"/>
          <p:cNvCxnSpPr/>
          <p:nvPr/>
        </p:nvCxnSpPr>
        <p:spPr>
          <a:xfrm rot="10800000" flipH="1">
            <a:off x="2227425" y="2342500"/>
            <a:ext cx="489900" cy="14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9" name="Google Shape;1089;p87"/>
          <p:cNvSpPr txBox="1"/>
          <p:nvPr/>
        </p:nvSpPr>
        <p:spPr>
          <a:xfrm>
            <a:off x="1010003" y="2400500"/>
            <a:ext cx="12951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0" name="Google Shape;1090;p87"/>
          <p:cNvCxnSpPr/>
          <p:nvPr/>
        </p:nvCxnSpPr>
        <p:spPr>
          <a:xfrm rot="10800000" flipH="1">
            <a:off x="2211350" y="1828825"/>
            <a:ext cx="578700" cy="26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1" name="Google Shape;1091;p87"/>
          <p:cNvSpPr txBox="1"/>
          <p:nvPr/>
        </p:nvSpPr>
        <p:spPr>
          <a:xfrm>
            <a:off x="1107823" y="3630250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7"/>
          <p:cNvSpPr txBox="1"/>
          <p:nvPr/>
        </p:nvSpPr>
        <p:spPr>
          <a:xfrm>
            <a:off x="970105" y="3937576"/>
            <a:ext cx="1261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3" name="Google Shape;1093;p87"/>
          <p:cNvCxnSpPr/>
          <p:nvPr/>
        </p:nvCxnSpPr>
        <p:spPr>
          <a:xfrm flipH="1">
            <a:off x="2500101" y="3951280"/>
            <a:ext cx="0" cy="58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94" name="Google Shape;1094;p87"/>
          <p:cNvSpPr txBox="1"/>
          <p:nvPr/>
        </p:nvSpPr>
        <p:spPr>
          <a:xfrm>
            <a:off x="1361826" y="457168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5" name="Google Shape;1095;p87"/>
          <p:cNvCxnSpPr/>
          <p:nvPr/>
        </p:nvCxnSpPr>
        <p:spPr>
          <a:xfrm>
            <a:off x="378951" y="4594345"/>
            <a:ext cx="313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96" name="Google Shape;1096;p87"/>
          <p:cNvSpPr txBox="1"/>
          <p:nvPr/>
        </p:nvSpPr>
        <p:spPr>
          <a:xfrm>
            <a:off x="2367602" y="3040165"/>
            <a:ext cx="94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7" name="Google Shape;1097;p87"/>
          <p:cNvCxnSpPr/>
          <p:nvPr/>
        </p:nvCxnSpPr>
        <p:spPr>
          <a:xfrm>
            <a:off x="2566899" y="3039865"/>
            <a:ext cx="55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98" name="Google Shape;1098;p87"/>
          <p:cNvCxnSpPr/>
          <p:nvPr/>
        </p:nvCxnSpPr>
        <p:spPr>
          <a:xfrm>
            <a:off x="2257399" y="3822927"/>
            <a:ext cx="228900" cy="14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87"/>
          <p:cNvCxnSpPr/>
          <p:nvPr/>
        </p:nvCxnSpPr>
        <p:spPr>
          <a:xfrm>
            <a:off x="2187525" y="4097025"/>
            <a:ext cx="722700" cy="24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0" name="Google Shape;1100;p87"/>
          <p:cNvSpPr txBox="1"/>
          <p:nvPr>
            <p:ph type="body" idx="1"/>
          </p:nvPr>
        </p:nvSpPr>
        <p:spPr>
          <a:xfrm>
            <a:off x="3896150" y="3666325"/>
            <a:ext cx="49239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b) Give evidence to counter Lucas’s conclusion.</a:t>
            </a:r>
            <a:endParaRPr sz="1600"/>
          </a:p>
        </p:txBody>
      </p:sp>
      <p:sp>
        <p:nvSpPr>
          <p:cNvPr id="1101" name="Google Shape;1101;p87"/>
          <p:cNvSpPr txBox="1"/>
          <p:nvPr>
            <p:ph type="body" idx="1"/>
          </p:nvPr>
        </p:nvSpPr>
        <p:spPr>
          <a:xfrm>
            <a:off x="350275" y="16887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A:</a:t>
            </a:r>
            <a:endParaRPr sz="1600"/>
          </a:p>
        </p:txBody>
      </p:sp>
      <p:sp>
        <p:nvSpPr>
          <p:cNvPr id="1102" name="Google Shape;1102;p87"/>
          <p:cNvSpPr txBox="1"/>
          <p:nvPr>
            <p:ph type="body" idx="1"/>
          </p:nvPr>
        </p:nvSpPr>
        <p:spPr>
          <a:xfrm>
            <a:off x="324000" y="33976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B:</a:t>
            </a:r>
            <a:endParaRPr sz="1600"/>
          </a:p>
        </p:txBody>
      </p:sp>
      <p:sp>
        <p:nvSpPr>
          <p:cNvPr id="1103" name="Google Shape;1103;p87"/>
          <p:cNvSpPr txBox="1"/>
          <p:nvPr/>
        </p:nvSpPr>
        <p:spPr>
          <a:xfrm>
            <a:off x="3896150" y="3169201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4" name="Google Shape;1104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1851" y="2700288"/>
            <a:ext cx="489900" cy="54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87"/>
          <p:cNvSpPr/>
          <p:nvPr/>
        </p:nvSpPr>
        <p:spPr>
          <a:xfrm>
            <a:off x="4427175" y="1751525"/>
            <a:ext cx="2882400" cy="589500"/>
          </a:xfrm>
          <a:prstGeom prst="wedgeRoundRectCallout">
            <a:avLst>
              <a:gd name="adj1" fmla="val -44513"/>
              <a:gd name="adj2" fmla="val 109008"/>
              <a:gd name="adj3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B scored higher than Team A, on average.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7"/>
          <p:cNvSpPr txBox="1"/>
          <p:nvPr>
            <p:ph type="body" idx="4294967295"/>
          </p:nvPr>
        </p:nvSpPr>
        <p:spPr>
          <a:xfrm>
            <a:off x="4159025" y="4070125"/>
            <a:ext cx="4298700" cy="7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mean for Team B (12.5) is less than the mean for Team A (14.1).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0" name="Shape 1110"/>
        <p:cNvGrpSpPr/>
        <p:nvPr/>
      </p:nvGrpSpPr>
      <p:grpSpPr>
        <a:xfrm>
          <a:off x="0" y="0"/>
          <a:ext cx="0" cy="0"/>
        </a:xfrm>
      </p:grpSpPr>
      <p:sp>
        <p:nvSpPr>
          <p:cNvPr id="1111" name="Google Shape;1111;p8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Two classes practised throwing basketballs into a hoop. Each person had 20 </a:t>
            </a:r>
            <a:br>
              <a:rPr lang="en-GB" sz="1600"/>
            </a:br>
            <a:r>
              <a:rPr lang="en-GB" sz="1600"/>
              <a:t>    attempts. The dot plots show the number of points each person scored.</a:t>
            </a:r>
            <a:br>
              <a:rPr lang="en-GB" sz="1600"/>
            </a:br>
            <a:r>
              <a:rPr lang="en-GB" sz="1600"/>
              <a:t>    Lucas and Aisha used the data to make conclusions.</a:t>
            </a:r>
            <a:endParaRPr sz="1600"/>
          </a:p>
        </p:txBody>
      </p:sp>
      <p:sp>
        <p:nvSpPr>
          <p:cNvPr id="1112" name="Google Shape;1112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pic>
        <p:nvPicPr>
          <p:cNvPr id="1113" name="Google Shape;1113;p88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326581" y="1876875"/>
            <a:ext cx="3293399" cy="11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88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326581" y="3902100"/>
            <a:ext cx="3293401" cy="64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5" name="Google Shape;1115;p88"/>
          <p:cNvCxnSpPr/>
          <p:nvPr/>
        </p:nvCxnSpPr>
        <p:spPr>
          <a:xfrm flipH="1">
            <a:off x="2820079" y="1751516"/>
            <a:ext cx="0" cy="1299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16" name="Google Shape;1116;p88"/>
          <p:cNvSpPr txBox="1"/>
          <p:nvPr/>
        </p:nvSpPr>
        <p:spPr>
          <a:xfrm>
            <a:off x="1066601" y="1957356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7" name="Google Shape;1117;p88"/>
          <p:cNvCxnSpPr/>
          <p:nvPr/>
        </p:nvCxnSpPr>
        <p:spPr>
          <a:xfrm rot="10800000" flipH="1">
            <a:off x="2227425" y="2342500"/>
            <a:ext cx="489900" cy="14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8" name="Google Shape;1118;p88"/>
          <p:cNvSpPr txBox="1"/>
          <p:nvPr/>
        </p:nvSpPr>
        <p:spPr>
          <a:xfrm>
            <a:off x="1010003" y="2400500"/>
            <a:ext cx="12951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9" name="Google Shape;1119;p88"/>
          <p:cNvCxnSpPr/>
          <p:nvPr/>
        </p:nvCxnSpPr>
        <p:spPr>
          <a:xfrm rot="10800000" flipH="1">
            <a:off x="2211350" y="1828825"/>
            <a:ext cx="578700" cy="26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0" name="Google Shape;1120;p88"/>
          <p:cNvSpPr txBox="1"/>
          <p:nvPr/>
        </p:nvSpPr>
        <p:spPr>
          <a:xfrm>
            <a:off x="1107823" y="3630250"/>
            <a:ext cx="1238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8"/>
          <p:cNvSpPr txBox="1"/>
          <p:nvPr/>
        </p:nvSpPr>
        <p:spPr>
          <a:xfrm>
            <a:off x="970105" y="3937576"/>
            <a:ext cx="1261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2" name="Google Shape;1122;p88"/>
          <p:cNvCxnSpPr/>
          <p:nvPr/>
        </p:nvCxnSpPr>
        <p:spPr>
          <a:xfrm flipH="1">
            <a:off x="2500101" y="3951280"/>
            <a:ext cx="0" cy="58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23" name="Google Shape;1123;p88"/>
          <p:cNvSpPr txBox="1"/>
          <p:nvPr/>
        </p:nvSpPr>
        <p:spPr>
          <a:xfrm>
            <a:off x="1361826" y="4571683"/>
            <a:ext cx="11652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4" name="Google Shape;1124;p88"/>
          <p:cNvCxnSpPr/>
          <p:nvPr/>
        </p:nvCxnSpPr>
        <p:spPr>
          <a:xfrm>
            <a:off x="378951" y="4594345"/>
            <a:ext cx="313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25" name="Google Shape;1125;p88"/>
          <p:cNvSpPr txBox="1"/>
          <p:nvPr/>
        </p:nvSpPr>
        <p:spPr>
          <a:xfrm>
            <a:off x="2367602" y="3040165"/>
            <a:ext cx="94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6" name="Google Shape;1126;p88"/>
          <p:cNvCxnSpPr/>
          <p:nvPr/>
        </p:nvCxnSpPr>
        <p:spPr>
          <a:xfrm>
            <a:off x="2566899" y="3039865"/>
            <a:ext cx="558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7" name="Google Shape;1127;p88"/>
          <p:cNvCxnSpPr/>
          <p:nvPr/>
        </p:nvCxnSpPr>
        <p:spPr>
          <a:xfrm>
            <a:off x="2257399" y="3822927"/>
            <a:ext cx="228900" cy="14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88"/>
          <p:cNvCxnSpPr/>
          <p:nvPr/>
        </p:nvCxnSpPr>
        <p:spPr>
          <a:xfrm>
            <a:off x="2187525" y="4097025"/>
            <a:ext cx="722700" cy="24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9" name="Google Shape;1129;p88"/>
          <p:cNvSpPr txBox="1"/>
          <p:nvPr>
            <p:ph type="body" idx="1"/>
          </p:nvPr>
        </p:nvSpPr>
        <p:spPr>
          <a:xfrm>
            <a:off x="3896150" y="3666325"/>
            <a:ext cx="49239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Give evidence to support Aisha’s conclusion.</a:t>
            </a:r>
            <a:endParaRPr sz="1600"/>
          </a:p>
        </p:txBody>
      </p:sp>
      <p:sp>
        <p:nvSpPr>
          <p:cNvPr id="1130" name="Google Shape;1130;p88"/>
          <p:cNvSpPr txBox="1"/>
          <p:nvPr>
            <p:ph type="body" idx="1"/>
          </p:nvPr>
        </p:nvSpPr>
        <p:spPr>
          <a:xfrm>
            <a:off x="350275" y="16887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A:</a:t>
            </a:r>
            <a:endParaRPr sz="1600"/>
          </a:p>
        </p:txBody>
      </p:sp>
      <p:sp>
        <p:nvSpPr>
          <p:cNvPr id="1131" name="Google Shape;1131;p88"/>
          <p:cNvSpPr txBox="1"/>
          <p:nvPr>
            <p:ph type="body" idx="1"/>
          </p:nvPr>
        </p:nvSpPr>
        <p:spPr>
          <a:xfrm>
            <a:off x="324000" y="3397600"/>
            <a:ext cx="801300" cy="2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Team B:</a:t>
            </a:r>
            <a:endParaRPr sz="1600"/>
          </a:p>
        </p:txBody>
      </p:sp>
      <p:sp>
        <p:nvSpPr>
          <p:cNvPr id="1132" name="Google Shape;1132;p88"/>
          <p:cNvSpPr txBox="1"/>
          <p:nvPr/>
        </p:nvSpPr>
        <p:spPr>
          <a:xfrm>
            <a:off x="7906200" y="3169200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3" name="Google Shape;1133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15589" y="2527892"/>
            <a:ext cx="382526" cy="722319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88"/>
          <p:cNvSpPr txBox="1"/>
          <p:nvPr>
            <p:ph type="body" idx="4294967295"/>
          </p:nvPr>
        </p:nvSpPr>
        <p:spPr>
          <a:xfrm>
            <a:off x="4159025" y="4070125"/>
            <a:ext cx="4298700" cy="75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range for Team A (3) is less than the range for Team B (17).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88"/>
          <p:cNvSpPr/>
          <p:nvPr/>
        </p:nvSpPr>
        <p:spPr>
          <a:xfrm>
            <a:off x="5468400" y="2697550"/>
            <a:ext cx="2368800" cy="589500"/>
          </a:xfrm>
          <a:prstGeom prst="wedgeRoundRectCallout">
            <a:avLst>
              <a:gd name="adj1" fmla="val 60395"/>
              <a:gd name="adj2" fmla="val -21383"/>
              <a:gd name="adj3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Team A’s scores were more consistent.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9" name="Shape 1139"/>
        <p:cNvGrpSpPr/>
        <p:nvPr/>
      </p:nvGrpSpPr>
      <p:grpSpPr>
        <a:xfrm>
          <a:off x="0" y="0"/>
          <a:ext cx="0" cy="0"/>
        </a:xfrm>
      </p:grpSpPr>
      <p:sp>
        <p:nvSpPr>
          <p:cNvPr id="1140" name="Google Shape;1140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Critically evaluating statistical conclusions</a:t>
            </a:r>
            <a:endParaRPr/>
          </a:p>
        </p:txBody>
      </p:sp>
      <p:sp>
        <p:nvSpPr>
          <p:cNvPr id="1141" name="Google Shape;1141;p8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142" name="Google Shape;1142;p8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numerical summaries</a:t>
            </a:r>
            <a:endParaRPr/>
          </a:p>
        </p:txBody>
      </p:sp>
      <p:pic>
        <p:nvPicPr>
          <p:cNvPr id="1143" name="Google Shape;114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7" name="Shape 1147"/>
        <p:cNvGrpSpPr/>
        <p:nvPr/>
      </p:nvGrpSpPr>
      <p:grpSpPr>
        <a:xfrm>
          <a:off x="0" y="0"/>
          <a:ext cx="0" cy="0"/>
        </a:xfrm>
      </p:grpSpPr>
      <p:sp>
        <p:nvSpPr>
          <p:cNvPr id="1148" name="Google Shape;1148;p90"/>
          <p:cNvSpPr txBox="1"/>
          <p:nvPr>
            <p:ph type="body" idx="1"/>
          </p:nvPr>
        </p:nvSpPr>
        <p:spPr>
          <a:xfrm>
            <a:off x="324000" y="759300"/>
            <a:ext cx="84960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examining statistical summaries, such as averages, it can be helpful to consider the </a:t>
            </a:r>
            <a:r>
              <a:rPr lang="en-GB" sz="2000">
                <a:solidFill>
                  <a:schemeClr val="accent5"/>
                </a:solidFill>
              </a:rPr>
              <a:t>context</a:t>
            </a:r>
            <a:r>
              <a:rPr lang="en-GB" sz="2000"/>
              <a:t> that the data was collected in.</a:t>
            </a:r>
            <a:endParaRPr sz="2000"/>
          </a:p>
        </p:txBody>
      </p:sp>
      <p:sp>
        <p:nvSpPr>
          <p:cNvPr id="1149" name="Google Shape;114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150" name="Google Shape;1150;p90"/>
          <p:cNvSpPr txBox="1"/>
          <p:nvPr>
            <p:ph type="body" idx="1"/>
          </p:nvPr>
        </p:nvSpPr>
        <p:spPr>
          <a:xfrm>
            <a:off x="324000" y="1761650"/>
            <a:ext cx="8496000" cy="3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Data collected in another context may result in different results.</a:t>
            </a:r>
            <a:endParaRPr sz="2000"/>
          </a:p>
        </p:txBody>
      </p:sp>
      <p:sp>
        <p:nvSpPr>
          <p:cNvPr id="1151" name="Google Shape;1151;p90"/>
          <p:cNvSpPr txBox="1"/>
          <p:nvPr>
            <p:ph type="body" idx="1"/>
          </p:nvPr>
        </p:nvSpPr>
        <p:spPr>
          <a:xfrm>
            <a:off x="324000" y="2427100"/>
            <a:ext cx="8496000" cy="7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Results from one context </a:t>
            </a:r>
            <a:r>
              <a:rPr lang="en-GB" sz="2000">
                <a:solidFill>
                  <a:schemeClr val="accent5"/>
                </a:solidFill>
              </a:rPr>
              <a:t>cannot</a:t>
            </a:r>
            <a:r>
              <a:rPr lang="en-GB" sz="2000"/>
              <a:t> always be compared to results from a different context.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5" name="Shape 1155"/>
        <p:cNvGrpSpPr/>
        <p:nvPr/>
      </p:nvGrpSpPr>
      <p:grpSpPr>
        <a:xfrm>
          <a:off x="0" y="0"/>
          <a:ext cx="0" cy="0"/>
        </a:xfrm>
      </p:grpSpPr>
      <p:sp>
        <p:nvSpPr>
          <p:cNvPr id="1156" name="Google Shape;1156;p91"/>
          <p:cNvSpPr txBox="1"/>
          <p:nvPr>
            <p:ph type="body" idx="1"/>
          </p:nvPr>
        </p:nvSpPr>
        <p:spPr>
          <a:xfrm>
            <a:off x="324000" y="759300"/>
            <a:ext cx="82377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the 2021-22 football season, Chelsea won the Women’s Super League, scoring an average of 2.91 goals per game.</a:t>
            </a:r>
            <a:endParaRPr sz="2000"/>
          </a:p>
        </p:txBody>
      </p:sp>
      <p:sp>
        <p:nvSpPr>
          <p:cNvPr id="1157" name="Google Shape;115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pic>
        <p:nvPicPr>
          <p:cNvPr id="1158" name="Google Shape;115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77739" y="2724741"/>
            <a:ext cx="503119" cy="181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1"/>
          <p:cNvSpPr txBox="1"/>
          <p:nvPr>
            <p:ph type="body" idx="1"/>
          </p:nvPr>
        </p:nvSpPr>
        <p:spPr>
          <a:xfrm>
            <a:off x="324000" y="4542000"/>
            <a:ext cx="6792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160" name="Google Shape;1160;p91"/>
          <p:cNvSpPr/>
          <p:nvPr/>
        </p:nvSpPr>
        <p:spPr>
          <a:xfrm>
            <a:off x="1529325" y="2030675"/>
            <a:ext cx="5151300" cy="1080900"/>
          </a:xfrm>
          <a:prstGeom prst="wedgeRoundRectCallout">
            <a:avLst>
              <a:gd name="adj1" fmla="val -61115"/>
              <a:gd name="adj2" fmla="val 38739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Wow! In that same year, my school team scored an average of 3.7 goals per game.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That means our team was better than Chelsea!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1"/>
          <p:cNvSpPr txBox="1"/>
          <p:nvPr>
            <p:ph type="body" idx="1"/>
          </p:nvPr>
        </p:nvSpPr>
        <p:spPr>
          <a:xfrm>
            <a:off x="324000" y="1512700"/>
            <a:ext cx="8237700" cy="3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Sofia makes a </a:t>
            </a:r>
            <a:r>
              <a:rPr lang="en-GB" sz="2000">
                <a:solidFill>
                  <a:schemeClr val="accent5"/>
                </a:solidFill>
              </a:rPr>
              <a:t>conclusion</a:t>
            </a:r>
            <a:r>
              <a:rPr lang="en-GB" sz="2000"/>
              <a:t> based on this data.</a:t>
            </a:r>
            <a:endParaRPr sz="2000"/>
          </a:p>
        </p:txBody>
      </p:sp>
      <p:sp>
        <p:nvSpPr>
          <p:cNvPr id="1162" name="Google Shape;1162;p91"/>
          <p:cNvSpPr txBox="1"/>
          <p:nvPr>
            <p:ph type="body" idx="1"/>
          </p:nvPr>
        </p:nvSpPr>
        <p:spPr>
          <a:xfrm>
            <a:off x="1684250" y="3326625"/>
            <a:ext cx="6641100" cy="3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Sofia’s conclusion? Explain your answer.</a:t>
            </a:r>
            <a:endParaRPr sz="1800"/>
          </a:p>
        </p:txBody>
      </p:sp>
      <p:sp>
        <p:nvSpPr>
          <p:cNvPr id="1163" name="Google Shape;1163;p91"/>
          <p:cNvSpPr txBox="1"/>
          <p:nvPr>
            <p:ph type="body" idx="1"/>
          </p:nvPr>
        </p:nvSpPr>
        <p:spPr>
          <a:xfrm>
            <a:off x="1684250" y="3758502"/>
            <a:ext cx="67002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Sofia’s team and Chelsea play in different leagues.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1"/>
          <p:cNvSpPr txBox="1"/>
          <p:nvPr>
            <p:ph type="body" idx="1"/>
          </p:nvPr>
        </p:nvSpPr>
        <p:spPr>
          <a:xfrm>
            <a:off x="1684250" y="4161000"/>
            <a:ext cx="71358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Chelsea scored fewer goals because they played better opponents.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sp>
        <p:nvSpPr>
          <p:cNvPr id="1169" name="Google Shape;1169;p92"/>
          <p:cNvSpPr txBox="1"/>
          <p:nvPr>
            <p:ph type="body" idx="1"/>
          </p:nvPr>
        </p:nvSpPr>
        <p:spPr>
          <a:xfrm>
            <a:off x="324000" y="759300"/>
            <a:ext cx="82377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Jun is looking at his test from different years at school.</a:t>
            </a:r>
            <a:endParaRPr sz="2000"/>
          </a:p>
        </p:txBody>
      </p:sp>
      <p:sp>
        <p:nvSpPr>
          <p:cNvPr id="1170" name="Google Shape;117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171" name="Google Shape;1171;p92"/>
          <p:cNvSpPr/>
          <p:nvPr/>
        </p:nvSpPr>
        <p:spPr>
          <a:xfrm>
            <a:off x="1177100" y="1199100"/>
            <a:ext cx="7470900" cy="1348500"/>
          </a:xfrm>
          <a:prstGeom prst="wedgeRoundRectCallout">
            <a:avLst>
              <a:gd name="adj1" fmla="val -51367"/>
              <a:gd name="adj2" fmla="val 75224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I was 11 years old, my average test score was 72%.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I was 14 years old, my average test score was still 72%.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must mean I did not improve in this subject for three years.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2"/>
          <p:cNvSpPr txBox="1"/>
          <p:nvPr>
            <p:ph type="body" idx="1"/>
          </p:nvPr>
        </p:nvSpPr>
        <p:spPr>
          <a:xfrm>
            <a:off x="1684250" y="2945625"/>
            <a:ext cx="6641100" cy="3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Jun’s conclusion? Explain your answer.</a:t>
            </a:r>
            <a:endParaRPr sz="1800"/>
          </a:p>
        </p:txBody>
      </p:sp>
      <p:sp>
        <p:nvSpPr>
          <p:cNvPr id="1173" name="Google Shape;1173;p92"/>
          <p:cNvSpPr txBox="1"/>
          <p:nvPr>
            <p:ph type="body" idx="1"/>
          </p:nvPr>
        </p:nvSpPr>
        <p:spPr>
          <a:xfrm>
            <a:off x="1684250" y="3349669"/>
            <a:ext cx="67002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The tests happened during different school years, so would have probably contained different questions.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92"/>
          <p:cNvSpPr txBox="1"/>
          <p:nvPr>
            <p:ph type="body" idx="1"/>
          </p:nvPr>
        </p:nvSpPr>
        <p:spPr>
          <a:xfrm>
            <a:off x="1684250" y="4161000"/>
            <a:ext cx="7135800" cy="7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test Jun did at 14 years old would have probably been more difficult than the test he did at 11 years old.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5" name="Google Shape;117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7" y="2662936"/>
            <a:ext cx="748716" cy="1931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2"/>
          <p:cNvSpPr txBox="1"/>
          <p:nvPr>
            <p:ph type="body" idx="1"/>
          </p:nvPr>
        </p:nvSpPr>
        <p:spPr>
          <a:xfrm>
            <a:off x="536476" y="4607450"/>
            <a:ext cx="4482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0" name="Shape 1180"/>
        <p:cNvGrpSpPr/>
        <p:nvPr/>
      </p:nvGrpSpPr>
      <p:grpSpPr>
        <a:xfrm>
          <a:off x="0" y="0"/>
          <a:ext cx="0" cy="0"/>
        </a:xfrm>
      </p:grpSpPr>
      <p:sp>
        <p:nvSpPr>
          <p:cNvPr id="1181" name="Google Shape;1181;p93"/>
          <p:cNvSpPr txBox="1"/>
          <p:nvPr>
            <p:ph type="body" idx="1"/>
          </p:nvPr>
        </p:nvSpPr>
        <p:spPr>
          <a:xfrm>
            <a:off x="324000" y="759300"/>
            <a:ext cx="8496000" cy="4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Aisha competes in a 100 metre race competition each year.</a:t>
            </a:r>
            <a:endParaRPr sz="2000"/>
          </a:p>
        </p:txBody>
      </p:sp>
      <p:sp>
        <p:nvSpPr>
          <p:cNvPr id="1182" name="Google Shape;11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183" name="Google Shape;1183;p93"/>
          <p:cNvSpPr/>
          <p:nvPr/>
        </p:nvSpPr>
        <p:spPr>
          <a:xfrm>
            <a:off x="1177100" y="1199100"/>
            <a:ext cx="7470900" cy="1348500"/>
          </a:xfrm>
          <a:prstGeom prst="wedgeRoundRectCallout">
            <a:avLst>
              <a:gd name="adj1" fmla="val -51367"/>
              <a:gd name="adj2" fmla="val 75224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last year’s final, I got a silver medal for coming in 2nd place.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year’s final, I got a gold medal for coming in 1st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must have run faster this year than I did last year.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3"/>
          <p:cNvSpPr txBox="1"/>
          <p:nvPr>
            <p:ph type="body" idx="1"/>
          </p:nvPr>
        </p:nvSpPr>
        <p:spPr>
          <a:xfrm>
            <a:off x="1684250" y="2945625"/>
            <a:ext cx="6641100" cy="3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Aisha’s conclusion? Explain your answer.</a:t>
            </a:r>
            <a:endParaRPr sz="1800"/>
          </a:p>
        </p:txBody>
      </p:sp>
      <p:sp>
        <p:nvSpPr>
          <p:cNvPr id="1185" name="Google Shape;1185;p93"/>
          <p:cNvSpPr txBox="1"/>
          <p:nvPr>
            <p:ph type="body" idx="1"/>
          </p:nvPr>
        </p:nvSpPr>
        <p:spPr>
          <a:xfrm>
            <a:off x="1684250" y="3349669"/>
            <a:ext cx="67002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She may have run against faster opponents last year than this year.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93"/>
          <p:cNvSpPr txBox="1"/>
          <p:nvPr>
            <p:ph type="body" idx="1"/>
          </p:nvPr>
        </p:nvSpPr>
        <p:spPr>
          <a:xfrm>
            <a:off x="460275" y="4558123"/>
            <a:ext cx="5502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pic>
        <p:nvPicPr>
          <p:cNvPr id="1187" name="Google Shape;118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66" y="2623806"/>
            <a:ext cx="528208" cy="193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p94"/>
          <p:cNvSpPr txBox="1"/>
          <p:nvPr>
            <p:ph type="body" idx="1"/>
          </p:nvPr>
        </p:nvSpPr>
        <p:spPr>
          <a:xfrm>
            <a:off x="324000" y="759300"/>
            <a:ext cx="84960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Aisha competes in a 100 metre race competition each year.</a:t>
            </a:r>
            <a:endParaRPr sz="2000"/>
          </a:p>
        </p:txBody>
      </p:sp>
      <p:sp>
        <p:nvSpPr>
          <p:cNvPr id="1193" name="Google Shape;119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194" name="Google Shape;1194;p94"/>
          <p:cNvSpPr/>
          <p:nvPr/>
        </p:nvSpPr>
        <p:spPr>
          <a:xfrm>
            <a:off x="1010475" y="1199100"/>
            <a:ext cx="7766400" cy="1348500"/>
          </a:xfrm>
          <a:prstGeom prst="wedgeRoundRectCallout">
            <a:avLst>
              <a:gd name="adj1" fmla="val -51367"/>
              <a:gd name="adj2" fmla="val 75224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last year’s competition, my average race time was 14.1 seconds.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year’s competition, my average race time was 13.7 seconds.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must have run faster this year than I did last year.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4"/>
          <p:cNvSpPr txBox="1"/>
          <p:nvPr>
            <p:ph type="body" idx="1"/>
          </p:nvPr>
        </p:nvSpPr>
        <p:spPr>
          <a:xfrm>
            <a:off x="1684250" y="2945625"/>
            <a:ext cx="6641100" cy="35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Aisha’s conclusion? Explain your answer.</a:t>
            </a:r>
            <a:endParaRPr sz="1800"/>
          </a:p>
        </p:txBody>
      </p:sp>
      <p:sp>
        <p:nvSpPr>
          <p:cNvPr id="1196" name="Google Shape;1196;p94"/>
          <p:cNvSpPr txBox="1"/>
          <p:nvPr>
            <p:ph type="body" idx="1"/>
          </p:nvPr>
        </p:nvSpPr>
        <p:spPr>
          <a:xfrm>
            <a:off x="1684250" y="3349675"/>
            <a:ext cx="6915300" cy="7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Aisha’s average time was quicker this year than last year, regardless of who her opponents were.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94"/>
          <p:cNvSpPr txBox="1"/>
          <p:nvPr>
            <p:ph type="body" idx="1"/>
          </p:nvPr>
        </p:nvSpPr>
        <p:spPr>
          <a:xfrm>
            <a:off x="460275" y="4558123"/>
            <a:ext cx="550200" cy="30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pic>
        <p:nvPicPr>
          <p:cNvPr id="1198" name="Google Shape;119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66" y="2623806"/>
            <a:ext cx="528208" cy="193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2" name="Shape 1202"/>
        <p:cNvGrpSpPr/>
        <p:nvPr/>
      </p:nvGrpSpPr>
      <p:grpSpPr>
        <a:xfrm>
          <a:off x="0" y="0"/>
          <a:ext cx="0" cy="0"/>
        </a:xfrm>
      </p:grpSpPr>
      <p:sp>
        <p:nvSpPr>
          <p:cNvPr id="1203" name="Google Shape;1203;p95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context can distract you from the numerical results of the investigation.</a:t>
            </a:r>
            <a:endParaRPr sz="1900"/>
          </a:p>
        </p:txBody>
      </p:sp>
      <p:sp>
        <p:nvSpPr>
          <p:cNvPr id="1204" name="Google Shape;120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05" name="Google Shape;1205;p95"/>
          <p:cNvSpPr txBox="1"/>
          <p:nvPr>
            <p:ph type="subTitle" idx="1"/>
          </p:nvPr>
        </p:nvSpPr>
        <p:spPr>
          <a:xfrm>
            <a:off x="324000" y="1080000"/>
            <a:ext cx="8496000" cy="6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Conclusions to investigations should take into account the context which the data was collected in.</a:t>
            </a:r>
            <a:endParaRPr sz="1900"/>
          </a:p>
        </p:txBody>
      </p:sp>
      <p:sp>
        <p:nvSpPr>
          <p:cNvPr id="1206" name="Google Shape;1206;p95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 context can help you see whether there might be an alternative explanation for the results of the investigation.</a:t>
            </a:r>
            <a:endParaRPr sz="1900"/>
          </a:p>
        </p:txBody>
      </p:sp>
      <p:pic>
        <p:nvPicPr>
          <p:cNvPr id="1207" name="Google Shape;120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258" y="18116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98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pic>
        <p:nvPicPr>
          <p:cNvPr id="1213" name="Google Shape;121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763" y="1633835"/>
            <a:ext cx="567325" cy="654255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6"/>
          <p:cNvSpPr txBox="1"/>
          <p:nvPr>
            <p:ph type="body" idx="1"/>
          </p:nvPr>
        </p:nvSpPr>
        <p:spPr>
          <a:xfrm>
            <a:off x="324000" y="759300"/>
            <a:ext cx="82377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Alex has represented his school and his county in swimming races.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15" name="Google Shape;1215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16" name="Google Shape;1216;p96"/>
          <p:cNvSpPr/>
          <p:nvPr/>
        </p:nvSpPr>
        <p:spPr>
          <a:xfrm>
            <a:off x="1421825" y="1183700"/>
            <a:ext cx="7003500" cy="9651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When I raced for my school, I got a gold medal.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But then when I raced for my county, I only got a bronze medal.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That must mean I swam slower when racing for my county.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6"/>
          <p:cNvSpPr txBox="1"/>
          <p:nvPr>
            <p:ph type="body" idx="1"/>
          </p:nvPr>
        </p:nvSpPr>
        <p:spPr>
          <a:xfrm>
            <a:off x="1425550" y="2313975"/>
            <a:ext cx="46281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Alex’s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18" name="Google Shape;1218;p96"/>
          <p:cNvSpPr txBox="1"/>
          <p:nvPr>
            <p:ph type="body" idx="1"/>
          </p:nvPr>
        </p:nvSpPr>
        <p:spPr>
          <a:xfrm>
            <a:off x="324000" y="2979849"/>
            <a:ext cx="82377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Laura is looking at her school reading book records.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19" name="Google Shape;1219;p96"/>
          <p:cNvSpPr/>
          <p:nvPr/>
        </p:nvSpPr>
        <p:spPr>
          <a:xfrm>
            <a:off x="1421825" y="3328049"/>
            <a:ext cx="7003500" cy="9651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When I was 6 years old, I read an average of 9.2 books per month.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now read an average of 1.4 books per month.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must be a slower reader now than I was when I was 6 years old.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6"/>
          <p:cNvSpPr txBox="1"/>
          <p:nvPr>
            <p:ph type="body" idx="1"/>
          </p:nvPr>
        </p:nvSpPr>
        <p:spPr>
          <a:xfrm>
            <a:off x="1425550" y="4458325"/>
            <a:ext cx="52284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Laura’s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21" name="Google Shape;122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2" y="3948500"/>
            <a:ext cx="567301" cy="74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5" name="Shape 1225"/>
        <p:cNvGrpSpPr/>
        <p:nvPr/>
      </p:nvGrpSpPr>
      <p:grpSpPr>
        <a:xfrm>
          <a:off x="0" y="0"/>
          <a:ext cx="0" cy="0"/>
        </a:xfrm>
      </p:grpSpPr>
      <p:sp>
        <p:nvSpPr>
          <p:cNvPr id="1226" name="Google Shape;1226;p97"/>
          <p:cNvSpPr txBox="1"/>
          <p:nvPr>
            <p:ph type="body" idx="1"/>
          </p:nvPr>
        </p:nvSpPr>
        <p:spPr>
          <a:xfrm>
            <a:off x="324000" y="759300"/>
            <a:ext cx="8496000" cy="6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A survey found that 18% of workers in the town of Scarborough walk to work and </a:t>
            </a:r>
            <a:br>
              <a:rPr lang="en-GB" sz="1600"/>
            </a:br>
            <a:r>
              <a:rPr lang="en-GB" sz="1600"/>
              <a:t>    that 7% of workers in the City of London walk to work.</a:t>
            </a:r>
            <a:endParaRPr sz="1600"/>
          </a:p>
        </p:txBody>
      </p:sp>
      <p:sp>
        <p:nvSpPr>
          <p:cNvPr id="1227" name="Google Shape;1227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28" name="Google Shape;1228;p97"/>
          <p:cNvSpPr/>
          <p:nvPr/>
        </p:nvSpPr>
        <p:spPr>
          <a:xfrm>
            <a:off x="1498025" y="1488500"/>
            <a:ext cx="7262700" cy="397800"/>
          </a:xfrm>
          <a:prstGeom prst="wedgeRoundRectCallout">
            <a:avLst>
              <a:gd name="adj1" fmla="val -54567"/>
              <a:gd name="adj2" fmla="val 50440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There are more people walking to work in Scarborough than in London.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7"/>
          <p:cNvSpPr txBox="1"/>
          <p:nvPr>
            <p:ph type="body" idx="1"/>
          </p:nvPr>
        </p:nvSpPr>
        <p:spPr>
          <a:xfrm>
            <a:off x="1531150" y="2231201"/>
            <a:ext cx="5697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Izzy’s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30" name="Google Shape;1230;p97"/>
          <p:cNvSpPr txBox="1"/>
          <p:nvPr>
            <p:ph type="body" idx="1"/>
          </p:nvPr>
        </p:nvSpPr>
        <p:spPr>
          <a:xfrm>
            <a:off x="648150" y="2216125"/>
            <a:ext cx="4824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Izzy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31" name="Google Shape;1231;p97"/>
          <p:cNvSpPr txBox="1"/>
          <p:nvPr>
            <p:ph type="body" idx="1"/>
          </p:nvPr>
        </p:nvSpPr>
        <p:spPr>
          <a:xfrm>
            <a:off x="324000" y="2892900"/>
            <a:ext cx="8496000" cy="6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4) A survey in 1971 found that 15% of workers in Liverpool travelled to work by bus.</a:t>
            </a:r>
            <a:br>
              <a:rPr lang="en-GB" sz="1600"/>
            </a:br>
            <a:r>
              <a:rPr lang="en-GB" sz="1600"/>
              <a:t>    A survey in 2023 found that 11% of workers in Liverpool travelled to work by bus.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32" name="Google Shape;1232;p97"/>
          <p:cNvSpPr/>
          <p:nvPr/>
        </p:nvSpPr>
        <p:spPr>
          <a:xfrm>
            <a:off x="1498025" y="3545900"/>
            <a:ext cx="7224900" cy="644400"/>
          </a:xfrm>
          <a:prstGeom prst="wedgeRoundRectCallout">
            <a:avLst>
              <a:gd name="adj1" fmla="val -55111"/>
              <a:gd name="adj2" fmla="val 44553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Liverpool does not need to run as many buses as they did in 1971 because there are fewer people using them to travel to work.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7"/>
          <p:cNvSpPr txBox="1"/>
          <p:nvPr>
            <p:ph type="body" idx="1"/>
          </p:nvPr>
        </p:nvSpPr>
        <p:spPr>
          <a:xfrm>
            <a:off x="1531150" y="4457125"/>
            <a:ext cx="5697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Jacob’s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34" name="Google Shape;123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8851" y="3819087"/>
            <a:ext cx="522974" cy="6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7"/>
          <p:cNvSpPr txBox="1"/>
          <p:nvPr>
            <p:ph type="body" idx="1"/>
          </p:nvPr>
        </p:nvSpPr>
        <p:spPr>
          <a:xfrm>
            <a:off x="495750" y="4502125"/>
            <a:ext cx="7344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Jacob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36" name="Google Shape;123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5750" y="1534607"/>
            <a:ext cx="646223" cy="62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0" name="Shape 1240"/>
        <p:cNvGrpSpPr/>
        <p:nvPr/>
      </p:nvGrpSpPr>
      <p:grpSpPr>
        <a:xfrm>
          <a:off x="0" y="0"/>
          <a:ext cx="0" cy="0"/>
        </a:xfrm>
      </p:grpSpPr>
      <p:sp>
        <p:nvSpPr>
          <p:cNvPr id="1241" name="Google Shape;1241;p9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Alex has represented his school and his county in swimming races.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42" name="Google Shape;1242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43" name="Google Shape;1243;p98"/>
          <p:cNvSpPr/>
          <p:nvPr/>
        </p:nvSpPr>
        <p:spPr>
          <a:xfrm>
            <a:off x="1421825" y="1183700"/>
            <a:ext cx="7003500" cy="9651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When I raced for my school, I got a gold medal.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But then when I raced for my county, I only got a bronze medal.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That must mean I swam slower when racing for my county.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8"/>
          <p:cNvSpPr txBox="1"/>
          <p:nvPr>
            <p:ph type="body" idx="1"/>
          </p:nvPr>
        </p:nvSpPr>
        <p:spPr>
          <a:xfrm>
            <a:off x="1425550" y="2313975"/>
            <a:ext cx="46281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Alex’s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45" name="Google Shape;1245;p98"/>
          <p:cNvSpPr txBox="1"/>
          <p:nvPr>
            <p:ph type="body" idx="4294967295"/>
          </p:nvPr>
        </p:nvSpPr>
        <p:spPr>
          <a:xfrm>
            <a:off x="1425550" y="2769600"/>
            <a:ext cx="7003500" cy="7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Alex may have still swum at the same speed but against faster opponents when racing for their county than school.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46" name="Google Shape;124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763" y="1633835"/>
            <a:ext cx="567325" cy="65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0" name="Shape 1250"/>
        <p:cNvGrpSpPr/>
        <p:nvPr/>
      </p:nvGrpSpPr>
      <p:grpSpPr>
        <a:xfrm>
          <a:off x="0" y="0"/>
          <a:ext cx="0" cy="0"/>
        </a:xfrm>
      </p:grpSpPr>
      <p:sp>
        <p:nvSpPr>
          <p:cNvPr id="1251" name="Google Shape;1251;p9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2) Laura is looking at her school reading book records.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52" name="Google Shape;1252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53" name="Google Shape;1253;p99"/>
          <p:cNvSpPr/>
          <p:nvPr/>
        </p:nvSpPr>
        <p:spPr>
          <a:xfrm>
            <a:off x="1421825" y="1118249"/>
            <a:ext cx="7003500" cy="9651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When I was 6 years old, I read an average of 9.2 books per month.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now read an average of 1.4 books per month.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must be a slower reader now than I was when I was 6 years old.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9"/>
          <p:cNvSpPr txBox="1"/>
          <p:nvPr>
            <p:ph type="body" idx="1"/>
          </p:nvPr>
        </p:nvSpPr>
        <p:spPr>
          <a:xfrm>
            <a:off x="1425550" y="2248525"/>
            <a:ext cx="52284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Laura’s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55" name="Google Shape;125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12" y="1738700"/>
            <a:ext cx="567301" cy="74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99"/>
          <p:cNvSpPr txBox="1"/>
          <p:nvPr>
            <p:ph type="body" idx="4294967295"/>
          </p:nvPr>
        </p:nvSpPr>
        <p:spPr>
          <a:xfrm>
            <a:off x="1425550" y="2769600"/>
            <a:ext cx="70035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Books are different lengths. The books Laura read when she was 6 years old were probably shorter than the books she is reading now.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0" name="Shape 1260"/>
        <p:cNvGrpSpPr/>
        <p:nvPr/>
      </p:nvGrpSpPr>
      <p:grpSpPr>
        <a:xfrm>
          <a:off x="0" y="0"/>
          <a:ext cx="0" cy="0"/>
        </a:xfrm>
      </p:grpSpPr>
      <p:sp>
        <p:nvSpPr>
          <p:cNvPr id="1261" name="Google Shape;1261;p100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A survey found that 18% of workers in the town of Scarborough walk to work and </a:t>
            </a:r>
            <a:br>
              <a:rPr lang="en-GB" sz="1600"/>
            </a:br>
            <a:r>
              <a:rPr lang="en-GB" sz="1600"/>
              <a:t>    that 7% of workers in the City of London walk to work.</a:t>
            </a:r>
            <a:endParaRPr sz="1600"/>
          </a:p>
        </p:txBody>
      </p:sp>
      <p:sp>
        <p:nvSpPr>
          <p:cNvPr id="1262" name="Google Shape;1262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63" name="Google Shape;1263;p100"/>
          <p:cNvSpPr/>
          <p:nvPr/>
        </p:nvSpPr>
        <p:spPr>
          <a:xfrm>
            <a:off x="1498025" y="1488500"/>
            <a:ext cx="7262700" cy="397800"/>
          </a:xfrm>
          <a:prstGeom prst="wedgeRoundRectCallout">
            <a:avLst>
              <a:gd name="adj1" fmla="val -54567"/>
              <a:gd name="adj2" fmla="val 50440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There are more people walking to work in Scarborough than in London.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100"/>
          <p:cNvSpPr txBox="1"/>
          <p:nvPr>
            <p:ph type="body" idx="1"/>
          </p:nvPr>
        </p:nvSpPr>
        <p:spPr>
          <a:xfrm>
            <a:off x="1531150" y="2231201"/>
            <a:ext cx="5697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Izzy’s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65" name="Google Shape;1265;p100"/>
          <p:cNvSpPr txBox="1"/>
          <p:nvPr>
            <p:ph type="body" idx="1"/>
          </p:nvPr>
        </p:nvSpPr>
        <p:spPr>
          <a:xfrm>
            <a:off x="648150" y="2216125"/>
            <a:ext cx="4824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Izzy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66" name="Google Shape;126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95750" y="1534607"/>
            <a:ext cx="646223" cy="625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0"/>
          <p:cNvSpPr txBox="1"/>
          <p:nvPr>
            <p:ph type="body" idx="4294967295"/>
          </p:nvPr>
        </p:nvSpPr>
        <p:spPr>
          <a:xfrm>
            <a:off x="1425550" y="2769600"/>
            <a:ext cx="73944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populations of cities are usually greater than the population of towns.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7% of a large population could be more than 18% of a small population.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p101"/>
          <p:cNvSpPr txBox="1"/>
          <p:nvPr>
            <p:ph type="body" idx="1"/>
          </p:nvPr>
        </p:nvSpPr>
        <p:spPr>
          <a:xfrm>
            <a:off x="324000" y="759300"/>
            <a:ext cx="8496000" cy="5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4) A survey in 1971 found that 15% of workers in Liverpool travelled to work by bus.</a:t>
            </a:r>
            <a:br>
              <a:rPr lang="en-GB" sz="1600"/>
            </a:br>
            <a:r>
              <a:rPr lang="en-GB" sz="1600"/>
              <a:t>    A survey in 2023 found that 11% of workers in Liverpool travelled to work by bus.</a:t>
            </a:r>
            <a:endParaRPr sz="1600"/>
          </a:p>
        </p:txBody>
      </p:sp>
      <p:sp>
        <p:nvSpPr>
          <p:cNvPr id="1273" name="Google Shape;1273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Considering context behind statistical conclusions</a:t>
            </a:r>
            <a:endParaRPr/>
          </a:p>
        </p:txBody>
      </p:sp>
      <p:sp>
        <p:nvSpPr>
          <p:cNvPr id="1274" name="Google Shape;1274;p101"/>
          <p:cNvSpPr/>
          <p:nvPr/>
        </p:nvSpPr>
        <p:spPr>
          <a:xfrm>
            <a:off x="1498025" y="1336100"/>
            <a:ext cx="7224900" cy="644400"/>
          </a:xfrm>
          <a:prstGeom prst="wedgeRoundRectCallout">
            <a:avLst>
              <a:gd name="adj1" fmla="val -55111"/>
              <a:gd name="adj2" fmla="val 44553"/>
              <a:gd name="adj3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Liverpool does not need to run as many buses as they did in 1971 because there are fewer people using them to travel to work.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1"/>
          <p:cNvSpPr txBox="1"/>
          <p:nvPr>
            <p:ph type="body" idx="1"/>
          </p:nvPr>
        </p:nvSpPr>
        <p:spPr>
          <a:xfrm>
            <a:off x="1531150" y="2247325"/>
            <a:ext cx="5697900" cy="3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Explain why Jacob’s conclusion could be wrong.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pic>
        <p:nvPicPr>
          <p:cNvPr id="1276" name="Google Shape;127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8851" y="1609287"/>
            <a:ext cx="522974" cy="6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101"/>
          <p:cNvSpPr txBox="1"/>
          <p:nvPr>
            <p:ph type="body" idx="1"/>
          </p:nvPr>
        </p:nvSpPr>
        <p:spPr>
          <a:xfrm>
            <a:off x="495750" y="2292325"/>
            <a:ext cx="7344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Jacob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278" name="Google Shape;1278;p101"/>
          <p:cNvSpPr txBox="1"/>
          <p:nvPr>
            <p:ph type="body" idx="4294967295"/>
          </p:nvPr>
        </p:nvSpPr>
        <p:spPr>
          <a:xfrm>
            <a:off x="1425550" y="2769600"/>
            <a:ext cx="7394400" cy="10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population of Liverpool may have increased since 1971.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11% of a large population could be more than 15% of a small population.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p102"/>
          <p:cNvSpPr txBox="1"/>
          <p:nvPr>
            <p:ph type="body" idx="1"/>
          </p:nvPr>
        </p:nvSpPr>
        <p:spPr>
          <a:xfrm>
            <a:off x="324000" y="9276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Comparisons can be made between data sets by using statistical summaries.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validity of statistical conclusions should be critically evaluated.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Certain statistical summaries may be selected or omitted when data is used in the real world.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In order to make accurate conclusions to a statistical investigation, you need the data and knowledge about the conditions it was collected in.</a:t>
            </a:r>
            <a:endParaRPr sz="2000"/>
          </a:p>
        </p:txBody>
      </p:sp>
      <p:sp>
        <p:nvSpPr>
          <p:cNvPr id="1284" name="Google Shape;1284;p10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numerical summaries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8" name="Shape 1288"/>
        <p:cNvGrpSpPr/>
        <p:nvPr/>
      </p:nvGrpSpPr>
      <p:grpSpPr>
        <a:xfrm>
          <a:off x="0" y="0"/>
          <a:ext cx="0" cy="0"/>
        </a:xfrm>
      </p:grpSpPr>
      <p:sp>
        <p:nvSpPr>
          <p:cNvPr id="1289" name="Google Shape;1289;p103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90" name="Google Shape;1290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285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8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Problem solving with numerical summaries</vt:lpstr>
      <vt:lpstr>PowerPoint Presentation</vt:lpstr>
      <vt:lpstr>PowerPoint Presentation</vt:lpstr>
      <vt:lpstr>PowerPoint Presentation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Critically evaluating statistical 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Critically evaluating statistical conclusions</vt:lpstr>
      <vt:lpstr>Considering context behind statistical conclusions</vt:lpstr>
      <vt:lpstr>Considering context behind statistical conclusions</vt:lpstr>
      <vt:lpstr>Considering context behind statistical conclusions</vt:lpstr>
      <vt:lpstr>Considering context behind statistical conclusions</vt:lpstr>
      <vt:lpstr>Considering context behind statistical conclusions</vt:lpstr>
      <vt:lpstr>Considering context behind statistical 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solving with numerical summaries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2023-12-08T09:50:23.132</cp:lastPrinted>
  <dcterms:created xsi:type="dcterms:W3CDTF">2023-12-08T09:50:23Z</dcterms:created>
  <dcterms:modified xsi:type="dcterms:W3CDTF">2023-12-08T09:53:26Z</dcterms:modified>
</cp:coreProperties>
</file>