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B489931-0D76-4BF7-B568-3E0CA1054201}">
  <a:tblStyle styleId="{9B489931-0D76-4BF7-B568-3E0CA10542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/>
          <p:nvPr/>
        </p:nvSpPr>
        <p:spPr>
          <a:xfrm>
            <a:off x="4748850" y="6659707"/>
            <a:ext cx="1750500" cy="432300"/>
          </a:xfrm>
          <a:prstGeom prst="wedgeRoundRectCallout">
            <a:avLst>
              <a:gd name="adj1" fmla="val 60395"/>
              <a:gd name="adj2" fmla="val -21383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Team A’s scores were more consistent.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numerical summaries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Critically evaluating statistical conclusions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The table shows a statistical summary of data from The Met Office from 1941-2022.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The data shows the amount of rainfall (mm) per month in Durham and Lerwick.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Make two comparisons between the amounts of rainfall in Durham and Lerwick.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691028" y="2806251"/>
          <a:ext cx="2539150" cy="1661130"/>
        </p:xfrm>
        <a:graphic>
          <a:graphicData uri="http://schemas.openxmlformats.org/drawingml/2006/table">
            <a:tbl>
              <a:tblPr>
                <a:noFill/>
                <a:tableStyleId>{9B489931-0D76-4BF7-B568-3E0CA1054201}</a:tableStyleId>
              </a:tblPr>
              <a:tblGrid>
                <a:gridCol w="1089150"/>
                <a:gridCol w="728825"/>
                <a:gridCol w="7211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monthly rainfall (mm)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53.6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194.2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301.7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3420050" y="2774725"/>
            <a:ext cx="36231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mean for Lerwick (98.3) is greater than the mean for Durham (53.6), meaning that Lerwick got more rainfall on average.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420051" y="3519875"/>
            <a:ext cx="36720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range for Durham (194.2) is less than the range for Lerwick (301.7), meaning that Durham’s rainfall is more consistent/predictable.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420000" y="4303025"/>
            <a:ext cx="3672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Alternative option: the median could be used instead of the mean.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76400" y="5144940"/>
            <a:ext cx="6624000" cy="8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Two classes practised throwing basketballs into a hoop. Each person had 20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attempts. The dot plots show the number of points each person scored.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Lucas and Aisha used the data to make conclusions.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rcRect l="4007" r="7528"/>
          <a:stretch>
            <a:fillRect/>
          </a:stretch>
        </p:blipFill>
        <p:spPr>
          <a:xfrm>
            <a:off x="478657" y="6187619"/>
            <a:ext cx="2880142" cy="100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rcRect l="3980" r="8153"/>
          <a:stretch>
            <a:fillRect/>
          </a:stretch>
        </p:blipFill>
        <p:spPr>
          <a:xfrm>
            <a:off x="478657" y="8263518"/>
            <a:ext cx="2880142" cy="5679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 flipH="1">
            <a:off x="2659268" y="6077991"/>
            <a:ext cx="0" cy="11364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4" name="Google Shape;184;p20"/>
          <p:cNvSpPr txBox="1"/>
          <p:nvPr/>
        </p:nvSpPr>
        <p:spPr>
          <a:xfrm>
            <a:off x="1328794" y="6300148"/>
            <a:ext cx="108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14.1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 rot="10800000" flipH="1">
            <a:off x="2140981" y="6594937"/>
            <a:ext cx="428400" cy="124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1304923" y="6628681"/>
            <a:ext cx="1132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 rot="10800000" flipH="1">
            <a:off x="2126924" y="6145845"/>
            <a:ext cx="506100" cy="23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1356414" y="8084785"/>
            <a:ext cx="108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12.5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278461" y="8336689"/>
            <a:ext cx="110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flipH="1">
            <a:off x="2379442" y="8306527"/>
            <a:ext cx="0" cy="5154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1536399" y="8874369"/>
            <a:ext cx="1019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524456" y="8868900"/>
            <a:ext cx="2742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" name="Google Shape;193;p20"/>
          <p:cNvSpPr txBox="1"/>
          <p:nvPr/>
        </p:nvSpPr>
        <p:spPr>
          <a:xfrm>
            <a:off x="2305715" y="7238656"/>
            <a:ext cx="825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2437858" y="7204677"/>
            <a:ext cx="488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2167194" y="8194280"/>
            <a:ext cx="200100" cy="12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2106088" y="8433984"/>
            <a:ext cx="631800" cy="21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20"/>
          <p:cNvSpPr txBox="1"/>
          <p:nvPr/>
        </p:nvSpPr>
        <p:spPr>
          <a:xfrm>
            <a:off x="3591350" y="7442365"/>
            <a:ext cx="3739500" cy="21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 evidence to support Lucas’s conclusion.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Give evidence to counter Lucas’s conclusion.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Give evidence to support Aisha’s conclusion.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99378" y="6023057"/>
            <a:ext cx="7005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Team A: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76400" y="7822323"/>
            <a:ext cx="7005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Team B: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492117" y="7021434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3438950" y="6869035"/>
            <a:ext cx="8013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4650" y="6517642"/>
            <a:ext cx="385209" cy="432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747479" y="6534490"/>
            <a:ext cx="300780" cy="5679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3910625" y="5989565"/>
            <a:ext cx="2096400" cy="432300"/>
          </a:xfrm>
          <a:prstGeom prst="wedgeRoundRectCallout">
            <a:avLst>
              <a:gd name="adj1" fmla="val -44513"/>
              <a:gd name="adj2" fmla="val 109008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Team B scored higher than Team A, on average.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3796950" y="7721245"/>
            <a:ext cx="32952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median for Team B (15) is greater than the median for Team A (14).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789225" y="8574891"/>
            <a:ext cx="30129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mean for Team B (12.5) is less than the mean for Team A (14.1).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789225" y="9480331"/>
            <a:ext cx="31344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range for Team A (3) is less than the range for Team B (17).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4" name="Google Shape;21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numerical summaries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1"/>
          <p:cNvSpPr txBox="1"/>
          <p:nvPr/>
        </p:nvSpPr>
        <p:spPr>
          <a:xfrm>
            <a:off x="476400" y="1216500"/>
            <a:ext cx="66240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Alex has represented his school and his county in swimming races.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Considering context behind statistical conclusions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499250" y="1551500"/>
            <a:ext cx="4671900" cy="595500"/>
          </a:xfrm>
          <a:prstGeom prst="wedgeRoundRectCallout">
            <a:avLst>
              <a:gd name="adj1" fmla="val -56487"/>
              <a:gd name="adj2" fmla="val 38379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When I raced for my school, I got a gold medal.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But then when I raced for my county, I only got a bronze medal.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That must mean I swam slower when racing for my county.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63550" y="2288743"/>
            <a:ext cx="46281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Alex’s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74763" y="2512055"/>
            <a:ext cx="64032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Alex may have still swum at the same speed but against faster opponents when racing for their county than school.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72189" y="1629295"/>
            <a:ext cx="483300" cy="55737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476400" y="3269239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is looking at her school reading book records.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1499250" y="3569274"/>
            <a:ext cx="4932900" cy="644400"/>
          </a:xfrm>
          <a:prstGeom prst="wedgeRoundRectCallout">
            <a:avLst>
              <a:gd name="adj1" fmla="val -55457"/>
              <a:gd name="adj2" fmla="val 13866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When I was 6 years old, I read an average of 9.2 books per month.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I now read an average of 1.4 books per month.</a:t>
            </a:r>
            <a:br>
              <a:rPr lang="en-GB" sz="1100"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I must be a slower reader now than I was when I was 6 years old.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63550" y="4410117"/>
            <a:ext cx="52284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Laura’s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267" y="3643097"/>
            <a:ext cx="483299" cy="63295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663550" y="4671052"/>
            <a:ext cx="64032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Books are different lengths. The books Laura read when she was 6 years old were probably shorter than the books she is reading now.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76400" y="5354979"/>
            <a:ext cx="66105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survey found that 18% of workers in the town of Scarborough walk to work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that 7% of workers in the City of London walk to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574225" y="5969898"/>
            <a:ext cx="5140500" cy="397800"/>
          </a:xfrm>
          <a:prstGeom prst="wedgeRoundRectCallout">
            <a:avLst>
              <a:gd name="adj1" fmla="val -54486"/>
              <a:gd name="adj2" fmla="val 30151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There are more people walking to work in Scarborough than in London.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734250" y="6766207"/>
            <a:ext cx="56979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Izzy’s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76750" y="6459950"/>
            <a:ext cx="4011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1938" y="5855422"/>
            <a:ext cx="575936" cy="5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739750" y="7022398"/>
            <a:ext cx="63270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populations of cities are usually greater than the population of towns.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7% of a large population could be more than 18% of a small population.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68000" y="7720918"/>
            <a:ext cx="6610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A survey in 1971 found that 15% of workers in Liverpool travelled to work by bus.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survey in 2023 found that 11% of workers in Liverpool travelled to work by bus.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403900" y="8236943"/>
            <a:ext cx="4671900" cy="644400"/>
          </a:xfrm>
          <a:prstGeom prst="wedgeRoundRectCallout">
            <a:avLst>
              <a:gd name="adj1" fmla="val -55207"/>
              <a:gd name="adj2" fmla="val 26700"/>
              <a:gd name="adj3" fmla="val 0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Liverpool does not need to run as many buses as they did in 1971 because there are fewer people using them to travel to work.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654750" y="9144797"/>
            <a:ext cx="56979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Jacob’s conclusion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46799" y="8254193"/>
            <a:ext cx="483301" cy="5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50396" y="8812168"/>
            <a:ext cx="4833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654750" y="9426848"/>
            <a:ext cx="63270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population of Liverpool may have increased since 1971. 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11% of a large population could be more than 15% of a small population.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Problem solving with numerical summaries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2023-12-08T09:50:16.130</cp:lastPrinted>
  <dcterms:created xsi:type="dcterms:W3CDTF">2023-12-08T09:50:16Z</dcterms:created>
  <dcterms:modified xsi:type="dcterms:W3CDTF">2023-12-08T09:53:14Z</dcterms:modified>
</cp:coreProperties>
</file>