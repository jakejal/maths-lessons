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1CF58A-9830-4C75-A5F6-F56CAF892127}">
  <a:tblStyle styleId="{631CF58A-9830-4C75-A5F6-F56CAF89212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c4f8fab5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c4f8fab5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c4f8fab5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c4f8fab5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1ea2dc5d68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1ea2dc5d6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1ea2dc5d68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1ea2dc5d68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1ea2dc5d68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1ea2dc5d68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1ea2dc5d68b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1ea2dc5d68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1ea2dc5d68b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1ea2dc5d68b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ea2dc5d68b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1ea2dc5d68b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1ea2dc5d68b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1ea2dc5d68b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1ea2dc5d68b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1ea2dc5d68b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1ea2dc5d68b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1ea2dc5d68b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1ea2dc5d68b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1ea2dc5d68b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ea2dc5d68b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ea2dc5d68b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1ea2dc5d68b_0_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1ea2dc5d68b_0_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1ea2dc5d68b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1ea2dc5d68b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1ea2dc5d68b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1ea2dc5d68b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1ea2dc5d68b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1ea2dc5d68b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1ea2dc5d68b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1ea2dc5d68b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1ea2dc5d68b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1ea2dc5d68b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1ea2dc5d68b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1ea2dc5d68b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1ea2dc5d68b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1ea2dc5d68b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1ea2dc5d68b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a2dc5d68b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a2dc5d68b_0_8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a2dc5d68b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g1ea2dc5d68b_0_9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5" name="Google Shape;1065;g1ea2dc5d68b_0_9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1ea2dc5d68b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1ea2dc5d68b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1ea2dc5d68b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1ea2dc5d68b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1ea2dc5d68b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1ea2dc5d68b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1ea2dc5d68b_0_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1ea2dc5d68b_0_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1ea2dc5d68b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1ea2dc5d68b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1ea2dc5d68b_0_9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1" name="Google Shape;1121;g1ea2dc5d68b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1ea2dc5d68b_0_8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1ea2dc5d68b_0_8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ea2dc5d68b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1ea2dc5d68b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1ea2dc5d68b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1ea2dc5d68b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1ea2dc5d68b_0_1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1ea2dc5d68b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1ea2dc5d68b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1ea2dc5d68b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1ea2dc5d68b_0_1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1ea2dc5d68b_0_1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1ea2dc5d68b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2" name="Google Shape;1202;g1ea2dc5d68b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1ea2dc5d68b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1ea2dc5d68b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1ea2dc5d68b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1ea2dc5d68b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1ea2dc5d68b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1ea2dc5d68b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1" name="Google Shape;1241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30.png"/><Relationship Id="rId4" Type="http://schemas.openxmlformats.org/officeDocument/2006/relationships/image" Target="../media/image63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3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63.png"/><Relationship Id="rId4" Type="http://schemas.openxmlformats.org/officeDocument/2006/relationships/image" Target="../media/image28.png"/><Relationship Id="rId11" Type="http://schemas.openxmlformats.org/officeDocument/2006/relationships/image" Target="../media/image17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24.png"/><Relationship Id="rId6" Type="http://schemas.openxmlformats.org/officeDocument/2006/relationships/image" Target="../media/image30.png"/><Relationship Id="rId7" Type="http://schemas.openxmlformats.org/officeDocument/2006/relationships/image" Target="../media/image27.png"/><Relationship Id="rId8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7.png"/><Relationship Id="rId4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evaluate the range as a measure of spread, including a consideration of outliers.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71352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highlight>
                  <a:srgbClr val="FFFFFF"/>
                </a:highlight>
              </a:rPr>
              <a:t>outlier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/>
            </a:br>
            <a:endParaRPr i="1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1908050"/>
            <a:ext cx="84960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range</a:t>
            </a:r>
            <a:endParaRPr/>
          </a:p>
        </p:txBody>
      </p:sp>
      <p:sp>
        <p:nvSpPr>
          <p:cNvPr id="768" name="Google Shape;768;p67"/>
          <p:cNvSpPr txBox="1"/>
          <p:nvPr>
            <p:ph idx="2" type="subTitle"/>
          </p:nvPr>
        </p:nvSpPr>
        <p:spPr>
          <a:xfrm>
            <a:off x="324000" y="2924525"/>
            <a:ext cx="84960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spread</a:t>
            </a:r>
            <a:r>
              <a:rPr lang="en-GB">
                <a:highlight>
                  <a:srgbClr val="FFFFFF"/>
                </a:highlight>
              </a:rPr>
              <a:t>/</a:t>
            </a:r>
            <a:r>
              <a:rPr b="1" lang="en-GB">
                <a:highlight>
                  <a:srgbClr val="FFFFFF"/>
                </a:highlight>
              </a:rPr>
              <a:t>dispersion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idx="1" type="subTitle"/>
          </p:nvPr>
        </p:nvSpPr>
        <p:spPr>
          <a:xfrm>
            <a:off x="324000" y="993650"/>
            <a:ext cx="71352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An </a:t>
            </a:r>
            <a:r>
              <a:rPr b="1" lang="en-GB">
                <a:solidFill>
                  <a:srgbClr val="222222"/>
                </a:solidFill>
                <a:highlight>
                  <a:srgbClr val="FFFFFF"/>
                </a:highlight>
              </a:rPr>
              <a:t>outlier</a:t>
            </a:r>
            <a:r>
              <a:rPr lang="en-GB">
                <a:solidFill>
                  <a:srgbClr val="222222"/>
                </a:solidFill>
                <a:highlight>
                  <a:srgbClr val="FFFFFF"/>
                </a:highlight>
              </a:rPr>
              <a:t> is a data point that is extremely large or small compared to the rest of the dataset.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/>
            </a:br>
            <a:endParaRPr i="1"/>
          </a:p>
        </p:txBody>
      </p:sp>
      <p:sp>
        <p:nvSpPr>
          <p:cNvPr id="774" name="Google Shape;774;p68"/>
          <p:cNvSpPr txBox="1"/>
          <p:nvPr>
            <p:ph idx="1" type="subTitle"/>
          </p:nvPr>
        </p:nvSpPr>
        <p:spPr>
          <a:xfrm>
            <a:off x="324000" y="1908050"/>
            <a:ext cx="8496000" cy="73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range</a:t>
            </a:r>
            <a:r>
              <a:rPr lang="en-GB"/>
              <a:t> is a measure of </a:t>
            </a:r>
            <a:r>
              <a:rPr b="1" lang="en-GB"/>
              <a:t>spread</a:t>
            </a:r>
            <a:r>
              <a:rPr lang="en-GB"/>
              <a:t>. It is found by finding the difference between the highest and lowest values. </a:t>
            </a:r>
            <a:endParaRPr/>
          </a:p>
        </p:txBody>
      </p:sp>
      <p:sp>
        <p:nvSpPr>
          <p:cNvPr id="775" name="Google Shape;775;p68"/>
          <p:cNvSpPr txBox="1"/>
          <p:nvPr>
            <p:ph idx="2" type="subTitle"/>
          </p:nvPr>
        </p:nvSpPr>
        <p:spPr>
          <a:xfrm>
            <a:off x="324000" y="2924525"/>
            <a:ext cx="84960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highlight>
                  <a:srgbClr val="FFFFFF"/>
                </a:highlight>
              </a:rPr>
              <a:t>The </a:t>
            </a:r>
            <a:r>
              <a:rPr b="1" lang="en-GB"/>
              <a:t>spread</a:t>
            </a:r>
            <a:r>
              <a:rPr lang="en-GB">
                <a:highlight>
                  <a:srgbClr val="FFFFFF"/>
                </a:highlight>
              </a:rPr>
              <a:t>/</a:t>
            </a:r>
            <a:r>
              <a:rPr b="1" lang="en-GB">
                <a:highlight>
                  <a:srgbClr val="FFFFFF"/>
                </a:highlight>
              </a:rPr>
              <a:t>dispersion</a:t>
            </a:r>
            <a:r>
              <a:rPr lang="en-GB">
                <a:highlight>
                  <a:srgbClr val="FFFFFF"/>
                </a:highlight>
              </a:rPr>
              <a:t> of data values describes how far apart the pieces of data are.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782" name="Google Shape;782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pic>
        <p:nvPicPr>
          <p:cNvPr id="783" name="Google Shape;78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41" y="205974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pic>
        <p:nvPicPr>
          <p:cNvPr id="789" name="Google Shape;78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5624" y="2475475"/>
            <a:ext cx="6899417" cy="107419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0" name="Google Shape;790;p70"/>
          <p:cNvSpPr txBox="1"/>
          <p:nvPr>
            <p:ph idx="1" type="body"/>
          </p:nvPr>
        </p:nvSpPr>
        <p:spPr>
          <a:xfrm>
            <a:off x="324000" y="2713224"/>
            <a:ext cx="1328100" cy="59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</a:t>
            </a:r>
            <a:r>
              <a:rPr lang="en-GB" sz="1800"/>
              <a:t>ot plot A</a:t>
            </a:r>
            <a:endParaRPr sz="1800"/>
          </a:p>
        </p:txBody>
      </p:sp>
      <p:sp>
        <p:nvSpPr>
          <p:cNvPr id="791" name="Google Shape;791;p70"/>
          <p:cNvSpPr/>
          <p:nvPr/>
        </p:nvSpPr>
        <p:spPr>
          <a:xfrm>
            <a:off x="8365307" y="3024668"/>
            <a:ext cx="312900" cy="31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70"/>
          <p:cNvSpPr txBox="1"/>
          <p:nvPr>
            <p:ph idx="1" type="body"/>
          </p:nvPr>
        </p:nvSpPr>
        <p:spPr>
          <a:xfrm>
            <a:off x="324000" y="759300"/>
            <a:ext cx="8496000" cy="15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An </a:t>
            </a:r>
            <a:r>
              <a:rPr b="1" lang="en-GB" sz="2000"/>
              <a:t>outlier</a:t>
            </a:r>
            <a:r>
              <a:rPr lang="en-GB" sz="2000"/>
              <a:t> is a data point that is extremely large or small compared to the rest of the </a:t>
            </a:r>
            <a:r>
              <a:rPr lang="en-GB" sz="2000"/>
              <a:t>data set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Visually, </a:t>
            </a:r>
            <a:r>
              <a:rPr b="1" lang="en-GB" sz="2000"/>
              <a:t>outliers</a:t>
            </a:r>
            <a:r>
              <a:rPr lang="en-GB" sz="2000"/>
              <a:t> lie far away from where the majority of the results are clustered.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1"/>
          <p:cNvSpPr txBox="1"/>
          <p:nvPr>
            <p:ph idx="1" type="body"/>
          </p:nvPr>
        </p:nvSpPr>
        <p:spPr>
          <a:xfrm>
            <a:off x="324000" y="683100"/>
            <a:ext cx="8496000" cy="9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</a:t>
            </a:r>
            <a:r>
              <a:rPr b="1" lang="en-GB"/>
              <a:t>range</a:t>
            </a:r>
            <a:r>
              <a:rPr lang="en-GB"/>
              <a:t> of a </a:t>
            </a:r>
            <a:r>
              <a:rPr lang="en-GB"/>
              <a:t>data set</a:t>
            </a:r>
            <a:r>
              <a:rPr lang="en-GB"/>
              <a:t> is the: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value of the largest data point − value of the smallest data point</a:t>
            </a:r>
            <a:endParaRPr sz="2000"/>
          </a:p>
        </p:txBody>
      </p:sp>
      <p:sp>
        <p:nvSpPr>
          <p:cNvPr id="798" name="Google Shape;79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pic>
        <p:nvPicPr>
          <p:cNvPr id="799" name="Google Shape;79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2196" y="1800225"/>
            <a:ext cx="6188328" cy="96347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00" name="Google Shape;800;p71"/>
          <p:cNvSpPr txBox="1"/>
          <p:nvPr>
            <p:ph idx="1" type="body"/>
          </p:nvPr>
        </p:nvSpPr>
        <p:spPr>
          <a:xfrm>
            <a:off x="324000" y="2013469"/>
            <a:ext cx="1191300" cy="537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</a:t>
            </a:r>
            <a:r>
              <a:rPr lang="en-GB" sz="1800"/>
              <a:t>ot plot A</a:t>
            </a:r>
            <a:endParaRPr sz="1800"/>
          </a:p>
        </p:txBody>
      </p:sp>
      <p:sp>
        <p:nvSpPr>
          <p:cNvPr id="801" name="Google Shape;801;p71"/>
          <p:cNvSpPr txBox="1"/>
          <p:nvPr>
            <p:ph idx="1" type="body"/>
          </p:nvPr>
        </p:nvSpPr>
        <p:spPr>
          <a:xfrm>
            <a:off x="324000" y="3699950"/>
            <a:ext cx="84960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On a dot plot, this is the same as finding the distance between the largest and smallest data point.</a:t>
            </a:r>
            <a:endParaRPr/>
          </a:p>
        </p:txBody>
      </p:sp>
      <p:cxnSp>
        <p:nvCxnSpPr>
          <p:cNvPr id="802" name="Google Shape;802;p71"/>
          <p:cNvCxnSpPr/>
          <p:nvPr/>
        </p:nvCxnSpPr>
        <p:spPr>
          <a:xfrm>
            <a:off x="1678875" y="2892625"/>
            <a:ext cx="5989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3" name="Google Shape;803;p71"/>
          <p:cNvSpPr txBox="1"/>
          <p:nvPr>
            <p:ph idx="1" type="body"/>
          </p:nvPr>
        </p:nvSpPr>
        <p:spPr>
          <a:xfrm>
            <a:off x="1678875" y="2919300"/>
            <a:ext cx="5989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distance of 23 means a </a:t>
            </a:r>
            <a:r>
              <a:rPr b="1" lang="en-GB" sz="2000"/>
              <a:t>range</a:t>
            </a:r>
            <a:r>
              <a:rPr lang="en-GB" sz="2000"/>
              <a:t> of 23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72"/>
          <p:cNvSpPr txBox="1"/>
          <p:nvPr>
            <p:ph idx="1" type="body"/>
          </p:nvPr>
        </p:nvSpPr>
        <p:spPr>
          <a:xfrm>
            <a:off x="324000" y="3273031"/>
            <a:ext cx="2563200" cy="1551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Whilst d</a:t>
            </a:r>
            <a:r>
              <a:rPr lang="en-GB" sz="1800"/>
              <a:t>ot plot B isn’t  really </a:t>
            </a:r>
            <a:r>
              <a:rPr b="1" lang="en-GB" sz="1800"/>
              <a:t>spread</a:t>
            </a:r>
            <a:r>
              <a:rPr lang="en-GB" sz="1800"/>
              <a:t> out across the whole </a:t>
            </a:r>
            <a:r>
              <a:rPr b="1" lang="en-GB" sz="1800"/>
              <a:t>range</a:t>
            </a:r>
            <a:r>
              <a:rPr lang="en-GB" sz="1800"/>
              <a:t>. It is actually far less varied!</a:t>
            </a:r>
            <a:endParaRPr sz="1800"/>
          </a:p>
        </p:txBody>
      </p:sp>
      <p:sp>
        <p:nvSpPr>
          <p:cNvPr id="809" name="Google Shape;809;p72"/>
          <p:cNvSpPr txBox="1"/>
          <p:nvPr>
            <p:ph idx="1" type="body"/>
          </p:nvPr>
        </p:nvSpPr>
        <p:spPr>
          <a:xfrm>
            <a:off x="324000" y="697550"/>
            <a:ext cx="25632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dot plots looks more varied or </a:t>
            </a:r>
            <a:r>
              <a:rPr b="1" lang="en-GB" sz="1800"/>
              <a:t>spread</a:t>
            </a:r>
            <a:r>
              <a:rPr lang="en-GB" sz="1800"/>
              <a:t> out?</a:t>
            </a:r>
            <a:endParaRPr sz="1800"/>
          </a:p>
        </p:txBody>
      </p:sp>
      <p:sp>
        <p:nvSpPr>
          <p:cNvPr id="810" name="Google Shape;81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pic>
        <p:nvPicPr>
          <p:cNvPr id="811" name="Google Shape;811;p72"/>
          <p:cNvPicPr preferRelativeResize="0"/>
          <p:nvPr/>
        </p:nvPicPr>
        <p:blipFill rotWithShape="1">
          <a:blip r:embed="rId3">
            <a:alphaModFix/>
          </a:blip>
          <a:srcRect b="0" l="0" r="0" t="16618"/>
          <a:stretch/>
        </p:blipFill>
        <p:spPr>
          <a:xfrm>
            <a:off x="3048079" y="2884720"/>
            <a:ext cx="5429201" cy="19356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2" name="Google Shape;81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201" y="697549"/>
            <a:ext cx="5460023" cy="150718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13" name="Google Shape;813;p72"/>
          <p:cNvCxnSpPr/>
          <p:nvPr/>
        </p:nvCxnSpPr>
        <p:spPr>
          <a:xfrm>
            <a:off x="3124972" y="2260848"/>
            <a:ext cx="5246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4" name="Google Shape;814;p72"/>
          <p:cNvSpPr txBox="1"/>
          <p:nvPr>
            <p:ph idx="1" type="body"/>
          </p:nvPr>
        </p:nvSpPr>
        <p:spPr>
          <a:xfrm>
            <a:off x="324000" y="1825990"/>
            <a:ext cx="2563200" cy="12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Dot plot A is fairly evenly </a:t>
            </a:r>
            <a:r>
              <a:rPr b="1" lang="en-GB" sz="1800"/>
              <a:t>spread</a:t>
            </a:r>
            <a:r>
              <a:rPr lang="en-GB" sz="1800"/>
              <a:t> out across the whole </a:t>
            </a:r>
            <a:r>
              <a:rPr b="1" lang="en-GB" sz="1800"/>
              <a:t>range</a:t>
            </a:r>
            <a:r>
              <a:rPr lang="en-GB" sz="1800"/>
              <a:t> of 0 to 30.</a:t>
            </a:r>
            <a:endParaRPr sz="1800"/>
          </a:p>
        </p:txBody>
      </p:sp>
      <p:cxnSp>
        <p:nvCxnSpPr>
          <p:cNvPr id="815" name="Google Shape;815;p72"/>
          <p:cNvCxnSpPr/>
          <p:nvPr/>
        </p:nvCxnSpPr>
        <p:spPr>
          <a:xfrm>
            <a:off x="3124972" y="2741698"/>
            <a:ext cx="5246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16" name="Google Shape;816;p72"/>
          <p:cNvSpPr txBox="1"/>
          <p:nvPr/>
        </p:nvSpPr>
        <p:spPr>
          <a:xfrm>
            <a:off x="8477275" y="697550"/>
            <a:ext cx="4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2"/>
          <p:cNvSpPr txBox="1"/>
          <p:nvPr/>
        </p:nvSpPr>
        <p:spPr>
          <a:xfrm>
            <a:off x="8482225" y="2884725"/>
            <a:ext cx="4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823" name="Google Shape;823;p73"/>
          <p:cNvSpPr txBox="1"/>
          <p:nvPr>
            <p:ph idx="1" type="body"/>
          </p:nvPr>
        </p:nvSpPr>
        <p:spPr>
          <a:xfrm>
            <a:off x="324000" y="697555"/>
            <a:ext cx="2563200" cy="209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By removing these three </a:t>
            </a:r>
            <a:r>
              <a:rPr b="1" lang="en-GB" sz="2000"/>
              <a:t>outliers</a:t>
            </a:r>
            <a:r>
              <a:rPr lang="en-GB" sz="2000"/>
              <a:t>, this new </a:t>
            </a:r>
            <a:r>
              <a:rPr b="1" lang="en-GB" sz="2000"/>
              <a:t>range</a:t>
            </a:r>
            <a:r>
              <a:rPr lang="en-GB" sz="2000"/>
              <a:t> is more representative of how varied dot plot B is.</a:t>
            </a:r>
            <a:endParaRPr sz="2000"/>
          </a:p>
        </p:txBody>
      </p:sp>
      <p:pic>
        <p:nvPicPr>
          <p:cNvPr id="824" name="Google Shape;824;p73"/>
          <p:cNvPicPr preferRelativeResize="0"/>
          <p:nvPr/>
        </p:nvPicPr>
        <p:blipFill rotWithShape="1">
          <a:blip r:embed="rId3">
            <a:alphaModFix/>
          </a:blip>
          <a:srcRect b="0" l="0" r="0" t="16618"/>
          <a:stretch/>
        </p:blipFill>
        <p:spPr>
          <a:xfrm>
            <a:off x="3048079" y="2884720"/>
            <a:ext cx="5429201" cy="19356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5" name="Google Shape;82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201" y="697549"/>
            <a:ext cx="5460023" cy="150718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26" name="Google Shape;826;p73"/>
          <p:cNvCxnSpPr/>
          <p:nvPr/>
        </p:nvCxnSpPr>
        <p:spPr>
          <a:xfrm>
            <a:off x="3124972" y="2260848"/>
            <a:ext cx="5246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27" name="Google Shape;827;p73"/>
          <p:cNvCxnSpPr/>
          <p:nvPr/>
        </p:nvCxnSpPr>
        <p:spPr>
          <a:xfrm>
            <a:off x="3124972" y="2741698"/>
            <a:ext cx="5246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28" name="Google Shape;828;p73"/>
          <p:cNvSpPr txBox="1"/>
          <p:nvPr>
            <p:ph idx="1" type="body"/>
          </p:nvPr>
        </p:nvSpPr>
        <p:spPr>
          <a:xfrm>
            <a:off x="324000" y="3002102"/>
            <a:ext cx="2563200" cy="18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b="1" lang="en-GB" sz="2000"/>
              <a:t>outliers </a:t>
            </a:r>
            <a:r>
              <a:rPr lang="en-GB" sz="2000"/>
              <a:t>were too</a:t>
            </a:r>
            <a:r>
              <a:rPr lang="en-GB" sz="2000"/>
              <a:t> far away from where the majority of the results are clustered.</a:t>
            </a:r>
            <a:endParaRPr sz="2000"/>
          </a:p>
        </p:txBody>
      </p:sp>
      <p:cxnSp>
        <p:nvCxnSpPr>
          <p:cNvPr id="829" name="Google Shape;829;p73"/>
          <p:cNvCxnSpPr/>
          <p:nvPr/>
        </p:nvCxnSpPr>
        <p:spPr>
          <a:xfrm>
            <a:off x="4873125" y="2741700"/>
            <a:ext cx="1747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30" name="Google Shape;830;p73"/>
          <p:cNvSpPr txBox="1"/>
          <p:nvPr/>
        </p:nvSpPr>
        <p:spPr>
          <a:xfrm>
            <a:off x="8477275" y="697550"/>
            <a:ext cx="4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3"/>
          <p:cNvSpPr txBox="1"/>
          <p:nvPr/>
        </p:nvSpPr>
        <p:spPr>
          <a:xfrm>
            <a:off x="8482225" y="2884725"/>
            <a:ext cx="4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837" name="Google Shape;837;p74"/>
          <p:cNvSpPr txBox="1"/>
          <p:nvPr>
            <p:ph idx="1" type="body"/>
          </p:nvPr>
        </p:nvSpPr>
        <p:spPr>
          <a:xfrm>
            <a:off x="324000" y="2879451"/>
            <a:ext cx="2563200" cy="182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By removing these </a:t>
            </a:r>
            <a:r>
              <a:rPr b="1" lang="en-GB" sz="2000"/>
              <a:t>outliers</a:t>
            </a:r>
            <a:r>
              <a:rPr lang="en-GB" sz="2000"/>
              <a:t>, the </a:t>
            </a:r>
            <a:r>
              <a:rPr b="1" lang="en-GB" sz="2000"/>
              <a:t>range</a:t>
            </a:r>
            <a:r>
              <a:rPr lang="en-GB" sz="2000"/>
              <a:t> of dot plot B decreases from 30 down to 10</a:t>
            </a:r>
            <a:endParaRPr sz="2000"/>
          </a:p>
        </p:txBody>
      </p:sp>
      <p:pic>
        <p:nvPicPr>
          <p:cNvPr id="838" name="Google Shape;838;p74"/>
          <p:cNvPicPr preferRelativeResize="0"/>
          <p:nvPr/>
        </p:nvPicPr>
        <p:blipFill rotWithShape="1">
          <a:blip r:embed="rId3">
            <a:alphaModFix/>
          </a:blip>
          <a:srcRect b="0" l="0" r="0" t="16618"/>
          <a:stretch/>
        </p:blipFill>
        <p:spPr>
          <a:xfrm>
            <a:off x="3048079" y="2884720"/>
            <a:ext cx="5429201" cy="19356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39" name="Google Shape;83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201" y="697549"/>
            <a:ext cx="5460023" cy="150718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40" name="Google Shape;840;p74"/>
          <p:cNvCxnSpPr/>
          <p:nvPr/>
        </p:nvCxnSpPr>
        <p:spPr>
          <a:xfrm>
            <a:off x="3124972" y="2260848"/>
            <a:ext cx="52461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1" name="Google Shape;841;p74"/>
          <p:cNvCxnSpPr/>
          <p:nvPr/>
        </p:nvCxnSpPr>
        <p:spPr>
          <a:xfrm>
            <a:off x="3124972" y="2741698"/>
            <a:ext cx="52461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842" name="Google Shape;842;p74"/>
          <p:cNvCxnSpPr/>
          <p:nvPr/>
        </p:nvCxnSpPr>
        <p:spPr>
          <a:xfrm>
            <a:off x="4873125" y="2741700"/>
            <a:ext cx="1747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43" name="Google Shape;843;p74"/>
          <p:cNvSpPr txBox="1"/>
          <p:nvPr/>
        </p:nvSpPr>
        <p:spPr>
          <a:xfrm>
            <a:off x="8477275" y="697550"/>
            <a:ext cx="4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4"/>
          <p:cNvSpPr txBox="1"/>
          <p:nvPr/>
        </p:nvSpPr>
        <p:spPr>
          <a:xfrm>
            <a:off x="8482225" y="2884725"/>
            <a:ext cx="4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850" name="Google Shape;850;p75"/>
          <p:cNvSpPr txBox="1"/>
          <p:nvPr>
            <p:ph idx="1" type="body"/>
          </p:nvPr>
        </p:nvSpPr>
        <p:spPr>
          <a:xfrm>
            <a:off x="324000" y="1233177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</a:t>
            </a:r>
            <a:r>
              <a:rPr b="1" lang="en-GB" sz="1800"/>
              <a:t>range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graphicFrame>
        <p:nvGraphicFramePr>
          <p:cNvPr id="851" name="Google Shape;851;p75"/>
          <p:cNvGraphicFramePr/>
          <p:nvPr/>
        </p:nvGraphicFramePr>
        <p:xfrm>
          <a:off x="2781300" y="75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  <a:gridCol w="447675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2" name="Google Shape;852;p75"/>
          <p:cNvSpPr txBox="1"/>
          <p:nvPr>
            <p:ph idx="1" type="body"/>
          </p:nvPr>
        </p:nvSpPr>
        <p:spPr>
          <a:xfrm>
            <a:off x="324000" y="2624377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one of two data points could be removed to change the </a:t>
            </a:r>
            <a:r>
              <a:rPr b="1" lang="en-GB" sz="1800"/>
              <a:t>range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853" name="Google Shape;853;p75"/>
          <p:cNvSpPr txBox="1"/>
          <p:nvPr>
            <p:ph idx="1" type="body"/>
          </p:nvPr>
        </p:nvSpPr>
        <p:spPr>
          <a:xfrm>
            <a:off x="324000" y="1950527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I remove the data point of 44, will the </a:t>
            </a:r>
            <a:r>
              <a:rPr b="1" lang="en-GB" sz="1800"/>
              <a:t>range</a:t>
            </a:r>
            <a:r>
              <a:rPr lang="en-GB" sz="1800"/>
              <a:t> change?</a:t>
            </a:r>
            <a:endParaRPr sz="1800"/>
          </a:p>
        </p:txBody>
      </p:sp>
      <p:sp>
        <p:nvSpPr>
          <p:cNvPr id="854" name="Google Shape;854;p75"/>
          <p:cNvSpPr txBox="1"/>
          <p:nvPr>
            <p:ph idx="1" type="body"/>
          </p:nvPr>
        </p:nvSpPr>
        <p:spPr>
          <a:xfrm>
            <a:off x="324000" y="3744927"/>
            <a:ext cx="84960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two data points would change the </a:t>
            </a:r>
            <a:r>
              <a:rPr b="1" lang="en-GB" sz="1800"/>
              <a:t>range</a:t>
            </a:r>
            <a:r>
              <a:rPr lang="en-GB" sz="1800"/>
              <a:t> the most?</a:t>
            </a:r>
            <a:endParaRPr sz="1800"/>
          </a:p>
        </p:txBody>
      </p:sp>
      <p:sp>
        <p:nvSpPr>
          <p:cNvPr id="855" name="Google Shape;855;p75"/>
          <p:cNvSpPr txBox="1"/>
          <p:nvPr>
            <p:ph idx="1" type="body"/>
          </p:nvPr>
        </p:nvSpPr>
        <p:spPr>
          <a:xfrm>
            <a:off x="1007900" y="1553875"/>
            <a:ext cx="4313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97 </a:t>
            </a:r>
            <a:r>
              <a:rPr lang="en-GB" sz="20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32 = 65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6" name="Google Shape;856;p75"/>
          <p:cNvSpPr txBox="1"/>
          <p:nvPr>
            <p:ph idx="1" type="body"/>
          </p:nvPr>
        </p:nvSpPr>
        <p:spPr>
          <a:xfrm>
            <a:off x="1007900" y="2227722"/>
            <a:ext cx="4313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remain 65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7" name="Google Shape;857;p75"/>
          <p:cNvSpPr txBox="1"/>
          <p:nvPr>
            <p:ph idx="1" type="body"/>
          </p:nvPr>
        </p:nvSpPr>
        <p:spPr>
          <a:xfrm>
            <a:off x="1007900" y="2981693"/>
            <a:ext cx="7812000" cy="68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either 32 or 97 is removed,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decrease. This is because they are the smallest and largest data points.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8" name="Google Shape;858;p75"/>
          <p:cNvSpPr txBox="1"/>
          <p:nvPr>
            <p:ph idx="1" type="body"/>
          </p:nvPr>
        </p:nvSpPr>
        <p:spPr>
          <a:xfrm>
            <a:off x="1007900" y="4021875"/>
            <a:ext cx="7812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Removing the 97 would decrease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 most, from 65 to 19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 97 is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6"/>
          <p:cNvSpPr txBox="1"/>
          <p:nvPr>
            <p:ph idx="1" type="body"/>
          </p:nvPr>
        </p:nvSpPr>
        <p:spPr>
          <a:xfrm>
            <a:off x="324000" y="146725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Match the statements below with the correct numbers that end the sentence.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4" name="Google Shape;864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graphicFrame>
        <p:nvGraphicFramePr>
          <p:cNvPr id="865" name="Google Shape;865;p76"/>
          <p:cNvGraphicFramePr/>
          <p:nvPr/>
        </p:nvGraphicFramePr>
        <p:xfrm>
          <a:off x="319075" y="809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66" name="Google Shape;866;p76"/>
          <p:cNvGrpSpPr/>
          <p:nvPr/>
        </p:nvGrpSpPr>
        <p:grpSpPr>
          <a:xfrm>
            <a:off x="323997" y="2271826"/>
            <a:ext cx="386288" cy="386288"/>
            <a:chOff x="1020916" y="1442088"/>
            <a:chExt cx="457200" cy="457200"/>
          </a:xfrm>
        </p:grpSpPr>
        <p:pic>
          <p:nvPicPr>
            <p:cNvPr id="867" name="Google Shape;867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8" name="Google Shape;868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9" name="Google Shape;869;p76"/>
          <p:cNvSpPr txBox="1"/>
          <p:nvPr/>
        </p:nvSpPr>
        <p:spPr>
          <a:xfrm>
            <a:off x="809200" y="2326388"/>
            <a:ext cx="226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original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0" name="Google Shape;870;p76"/>
          <p:cNvGrpSpPr/>
          <p:nvPr/>
        </p:nvGrpSpPr>
        <p:grpSpPr>
          <a:xfrm>
            <a:off x="323997" y="2766376"/>
            <a:ext cx="386288" cy="386288"/>
            <a:chOff x="1020916" y="1442088"/>
            <a:chExt cx="457200" cy="457200"/>
          </a:xfrm>
        </p:grpSpPr>
        <p:pic>
          <p:nvPicPr>
            <p:cNvPr id="871" name="Google Shape;871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3" name="Google Shape;873;p76"/>
          <p:cNvGrpSpPr/>
          <p:nvPr/>
        </p:nvGrpSpPr>
        <p:grpSpPr>
          <a:xfrm>
            <a:off x="323997" y="3260926"/>
            <a:ext cx="386288" cy="386288"/>
            <a:chOff x="1020916" y="1442088"/>
            <a:chExt cx="457200" cy="457200"/>
          </a:xfrm>
        </p:grpSpPr>
        <p:pic>
          <p:nvPicPr>
            <p:cNvPr id="874" name="Google Shape;874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" name="Google Shape;875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6" name="Google Shape;876;p76"/>
          <p:cNvSpPr txBox="1"/>
          <p:nvPr/>
        </p:nvSpPr>
        <p:spPr>
          <a:xfrm>
            <a:off x="809200" y="3315500"/>
            <a:ext cx="508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6"/>
          <p:cNvSpPr txBox="1"/>
          <p:nvPr/>
        </p:nvSpPr>
        <p:spPr>
          <a:xfrm>
            <a:off x="809200" y="2820950"/>
            <a:ext cx="595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removing the data point 22 will make the new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8" name="Google Shape;878;p76"/>
          <p:cNvGrpSpPr/>
          <p:nvPr/>
        </p:nvGrpSpPr>
        <p:grpSpPr>
          <a:xfrm>
            <a:off x="323997" y="3755476"/>
            <a:ext cx="386288" cy="386288"/>
            <a:chOff x="1020916" y="1442088"/>
            <a:chExt cx="457200" cy="457200"/>
          </a:xfrm>
        </p:grpSpPr>
        <p:pic>
          <p:nvPicPr>
            <p:cNvPr id="879" name="Google Shape;879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0" name="Google Shape;880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1" name="Google Shape;881;p76"/>
          <p:cNvSpPr txBox="1"/>
          <p:nvPr/>
        </p:nvSpPr>
        <p:spPr>
          <a:xfrm>
            <a:off x="809200" y="3810050"/>
            <a:ext cx="60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removing the data point 12 will make the new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2" name="Google Shape;882;p76"/>
          <p:cNvGrpSpPr/>
          <p:nvPr/>
        </p:nvGrpSpPr>
        <p:grpSpPr>
          <a:xfrm>
            <a:off x="323997" y="4250026"/>
            <a:ext cx="386288" cy="386288"/>
            <a:chOff x="1020916" y="1442088"/>
            <a:chExt cx="457200" cy="457200"/>
          </a:xfrm>
        </p:grpSpPr>
        <p:pic>
          <p:nvPicPr>
            <p:cNvPr id="883" name="Google Shape;883;p7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4" name="Google Shape;884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5" name="Google Shape;885;p76"/>
          <p:cNvSpPr txBox="1"/>
          <p:nvPr/>
        </p:nvSpPr>
        <p:spPr>
          <a:xfrm>
            <a:off x="809200" y="4304600"/>
            <a:ext cx="60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removing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will make the new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6"/>
          <p:cNvSpPr txBox="1"/>
          <p:nvPr/>
        </p:nvSpPr>
        <p:spPr>
          <a:xfrm>
            <a:off x="7654150" y="234090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6"/>
          <p:cNvSpPr txBox="1"/>
          <p:nvPr/>
        </p:nvSpPr>
        <p:spPr>
          <a:xfrm>
            <a:off x="8281975" y="2340925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6"/>
          <p:cNvSpPr txBox="1"/>
          <p:nvPr/>
        </p:nvSpPr>
        <p:spPr>
          <a:xfrm>
            <a:off x="7026325" y="283545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6"/>
          <p:cNvSpPr txBox="1"/>
          <p:nvPr/>
        </p:nvSpPr>
        <p:spPr>
          <a:xfrm>
            <a:off x="7026325" y="234090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6"/>
          <p:cNvSpPr txBox="1"/>
          <p:nvPr/>
        </p:nvSpPr>
        <p:spPr>
          <a:xfrm>
            <a:off x="7654138" y="1846375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6"/>
          <p:cNvSpPr txBox="1"/>
          <p:nvPr/>
        </p:nvSpPr>
        <p:spPr>
          <a:xfrm>
            <a:off x="8281950" y="184635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6"/>
          <p:cNvSpPr txBox="1"/>
          <p:nvPr/>
        </p:nvSpPr>
        <p:spPr>
          <a:xfrm>
            <a:off x="7026325" y="184635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6"/>
          <p:cNvSpPr txBox="1"/>
          <p:nvPr/>
        </p:nvSpPr>
        <p:spPr>
          <a:xfrm>
            <a:off x="7654150" y="2835425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7"/>
          <p:cNvSpPr txBox="1"/>
          <p:nvPr>
            <p:ph idx="1" type="body"/>
          </p:nvPr>
        </p:nvSpPr>
        <p:spPr>
          <a:xfrm>
            <a:off x="324000" y="146725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Match the statements below with the correct numbers that end the sentence.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9" name="Google Shape;899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graphicFrame>
        <p:nvGraphicFramePr>
          <p:cNvPr id="900" name="Google Shape;900;p77"/>
          <p:cNvGraphicFramePr/>
          <p:nvPr/>
        </p:nvGraphicFramePr>
        <p:xfrm>
          <a:off x="319075" y="8090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  <a:gridCol w="447150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01" name="Google Shape;901;p77"/>
          <p:cNvGrpSpPr/>
          <p:nvPr/>
        </p:nvGrpSpPr>
        <p:grpSpPr>
          <a:xfrm>
            <a:off x="323997" y="2271826"/>
            <a:ext cx="386288" cy="386288"/>
            <a:chOff x="1020916" y="1442088"/>
            <a:chExt cx="457200" cy="457200"/>
          </a:xfrm>
        </p:grpSpPr>
        <p:pic>
          <p:nvPicPr>
            <p:cNvPr id="902" name="Google Shape;902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3" name="Google Shape;903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4" name="Google Shape;904;p77"/>
          <p:cNvSpPr txBox="1"/>
          <p:nvPr/>
        </p:nvSpPr>
        <p:spPr>
          <a:xfrm>
            <a:off x="809200" y="2326388"/>
            <a:ext cx="2261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original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5" name="Google Shape;905;p77"/>
          <p:cNvGrpSpPr/>
          <p:nvPr/>
        </p:nvGrpSpPr>
        <p:grpSpPr>
          <a:xfrm>
            <a:off x="323997" y="2766376"/>
            <a:ext cx="386288" cy="386288"/>
            <a:chOff x="1020916" y="1442088"/>
            <a:chExt cx="457200" cy="457200"/>
          </a:xfrm>
        </p:grpSpPr>
        <p:pic>
          <p:nvPicPr>
            <p:cNvPr id="906" name="Google Shape;906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8" name="Google Shape;908;p77"/>
          <p:cNvGrpSpPr/>
          <p:nvPr/>
        </p:nvGrpSpPr>
        <p:grpSpPr>
          <a:xfrm>
            <a:off x="323997" y="3260926"/>
            <a:ext cx="386288" cy="386288"/>
            <a:chOff x="1020916" y="1442088"/>
            <a:chExt cx="457200" cy="457200"/>
          </a:xfrm>
        </p:grpSpPr>
        <p:pic>
          <p:nvPicPr>
            <p:cNvPr id="909" name="Google Shape;909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0" name="Google Shape;910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1" name="Google Shape;911;p77"/>
          <p:cNvSpPr txBox="1"/>
          <p:nvPr/>
        </p:nvSpPr>
        <p:spPr>
          <a:xfrm>
            <a:off x="809200" y="3315500"/>
            <a:ext cx="5089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7"/>
          <p:cNvSpPr txBox="1"/>
          <p:nvPr/>
        </p:nvSpPr>
        <p:spPr>
          <a:xfrm>
            <a:off x="809200" y="2820950"/>
            <a:ext cx="595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removing the data point 22 will make the new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3" name="Google Shape;913;p77"/>
          <p:cNvGrpSpPr/>
          <p:nvPr/>
        </p:nvGrpSpPr>
        <p:grpSpPr>
          <a:xfrm>
            <a:off x="323997" y="3755476"/>
            <a:ext cx="386288" cy="386288"/>
            <a:chOff x="1020916" y="1442088"/>
            <a:chExt cx="457200" cy="457200"/>
          </a:xfrm>
        </p:grpSpPr>
        <p:pic>
          <p:nvPicPr>
            <p:cNvPr id="914" name="Google Shape;914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" name="Google Shape;915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6" name="Google Shape;916;p77"/>
          <p:cNvSpPr txBox="1"/>
          <p:nvPr/>
        </p:nvSpPr>
        <p:spPr>
          <a:xfrm>
            <a:off x="809200" y="3810050"/>
            <a:ext cx="60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removing the data point 12 will make the new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7" name="Google Shape;917;p77"/>
          <p:cNvGrpSpPr/>
          <p:nvPr/>
        </p:nvGrpSpPr>
        <p:grpSpPr>
          <a:xfrm>
            <a:off x="323997" y="4250026"/>
            <a:ext cx="386288" cy="386288"/>
            <a:chOff x="1020916" y="1442088"/>
            <a:chExt cx="457200" cy="457200"/>
          </a:xfrm>
        </p:grpSpPr>
        <p:pic>
          <p:nvPicPr>
            <p:cNvPr id="918" name="Google Shape;918;p7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9" name="Google Shape;919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0" name="Google Shape;920;p77"/>
          <p:cNvSpPr txBox="1"/>
          <p:nvPr/>
        </p:nvSpPr>
        <p:spPr>
          <a:xfrm>
            <a:off x="809200" y="4304600"/>
            <a:ext cx="602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removing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will make the new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7"/>
          <p:cNvSpPr txBox="1"/>
          <p:nvPr/>
        </p:nvSpPr>
        <p:spPr>
          <a:xfrm>
            <a:off x="3070900" y="222820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7"/>
          <p:cNvSpPr txBox="1"/>
          <p:nvPr/>
        </p:nvSpPr>
        <p:spPr>
          <a:xfrm>
            <a:off x="6629025" y="272870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7"/>
          <p:cNvSpPr txBox="1"/>
          <p:nvPr/>
        </p:nvSpPr>
        <p:spPr>
          <a:xfrm>
            <a:off x="2252025" y="322325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7"/>
          <p:cNvSpPr txBox="1"/>
          <p:nvPr/>
        </p:nvSpPr>
        <p:spPr>
          <a:xfrm>
            <a:off x="6579175" y="371780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66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7"/>
          <p:cNvSpPr txBox="1"/>
          <p:nvPr/>
        </p:nvSpPr>
        <p:spPr>
          <a:xfrm>
            <a:off x="5898988" y="4212325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7"/>
          <p:cNvSpPr txBox="1"/>
          <p:nvPr/>
        </p:nvSpPr>
        <p:spPr>
          <a:xfrm>
            <a:off x="8281950" y="184635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7"/>
          <p:cNvSpPr txBox="1"/>
          <p:nvPr/>
        </p:nvSpPr>
        <p:spPr>
          <a:xfrm>
            <a:off x="7026325" y="1846350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7"/>
          <p:cNvSpPr txBox="1"/>
          <p:nvPr/>
        </p:nvSpPr>
        <p:spPr>
          <a:xfrm>
            <a:off x="7654150" y="2835425"/>
            <a:ext cx="48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78"/>
          <p:cNvSpPr txBox="1"/>
          <p:nvPr>
            <p:ph idx="4294967295" type="body"/>
          </p:nvPr>
        </p:nvSpPr>
        <p:spPr>
          <a:xfrm>
            <a:off x="597300" y="3709683"/>
            <a:ext cx="82227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 If a data point for the number 39 was removed, by how much would the </a:t>
            </a:r>
            <a:r>
              <a:rPr b="1" lang="en-GB" sz="1800"/>
              <a:t>range</a:t>
            </a:r>
            <a:r>
              <a:rPr lang="en-GB" sz="1800"/>
              <a:t> change? Explain your answer.</a:t>
            </a:r>
            <a:endParaRPr sz="1800"/>
          </a:p>
        </p:txBody>
      </p:sp>
      <p:sp>
        <p:nvSpPr>
          <p:cNvPr id="934" name="Google Shape;934;p78"/>
          <p:cNvSpPr txBox="1"/>
          <p:nvPr>
            <p:ph idx="4294967295" type="body"/>
          </p:nvPr>
        </p:nvSpPr>
        <p:spPr>
          <a:xfrm>
            <a:off x="597300" y="3236167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What is the original </a:t>
            </a:r>
            <a:r>
              <a:rPr b="1" lang="en-GB" sz="1800"/>
              <a:t>range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935" name="Google Shape;935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936" name="Google Shape;936;p78"/>
          <p:cNvSpPr txBox="1"/>
          <p:nvPr>
            <p:ph idx="4294967295" type="body"/>
          </p:nvPr>
        </p:nvSpPr>
        <p:spPr>
          <a:xfrm>
            <a:off x="324000" y="2762650"/>
            <a:ext cx="2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</a:t>
            </a:r>
            <a:endParaRPr sz="1800"/>
          </a:p>
        </p:txBody>
      </p:sp>
      <p:sp>
        <p:nvSpPr>
          <p:cNvPr id="937" name="Google Shape;937;p78"/>
          <p:cNvSpPr txBox="1"/>
          <p:nvPr>
            <p:ph idx="4294967295" type="body"/>
          </p:nvPr>
        </p:nvSpPr>
        <p:spPr>
          <a:xfrm>
            <a:off x="597300" y="276265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Circle the </a:t>
            </a:r>
            <a:r>
              <a:rPr b="1" lang="en-GB" sz="1800"/>
              <a:t>outlier </a:t>
            </a:r>
            <a:r>
              <a:rPr lang="en-GB" sz="1800"/>
              <a:t>in this data set.</a:t>
            </a:r>
            <a:endParaRPr sz="1800"/>
          </a:p>
        </p:txBody>
      </p:sp>
      <p:sp>
        <p:nvSpPr>
          <p:cNvPr id="938" name="Google Shape;938;p78"/>
          <p:cNvSpPr txBox="1"/>
          <p:nvPr>
            <p:ph idx="4294967295" type="body"/>
          </p:nvPr>
        </p:nvSpPr>
        <p:spPr>
          <a:xfrm>
            <a:off x="597300" y="454320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 Remove the </a:t>
            </a:r>
            <a:r>
              <a:rPr b="1" lang="en-GB" sz="1800"/>
              <a:t>outlier </a:t>
            </a:r>
            <a:r>
              <a:rPr lang="en-GB" sz="1800"/>
              <a:t>from the </a:t>
            </a:r>
            <a:r>
              <a:rPr lang="en-GB" sz="1800"/>
              <a:t>data set</a:t>
            </a:r>
            <a:r>
              <a:rPr lang="en-GB" sz="1800"/>
              <a:t>. Calculate the new </a:t>
            </a:r>
            <a:r>
              <a:rPr b="1" lang="en-GB" sz="1800"/>
              <a:t>range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939" name="Google Shape;93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66125"/>
            <a:ext cx="8495999" cy="20053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945" name="Google Shape;945;p79"/>
          <p:cNvSpPr txBox="1"/>
          <p:nvPr>
            <p:ph idx="4294967295" type="body"/>
          </p:nvPr>
        </p:nvSpPr>
        <p:spPr>
          <a:xfrm>
            <a:off x="597300" y="3557283"/>
            <a:ext cx="82227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If a data point for the number </a:t>
            </a:r>
            <a:r>
              <a:rPr lang="en-GB" sz="1800">
                <a:solidFill>
                  <a:srgbClr val="202122"/>
                </a:solidFill>
              </a:rPr>
              <a:t>−</a:t>
            </a:r>
            <a:r>
              <a:rPr lang="en-GB" sz="1800"/>
              <a:t>4 was removed, by how much would the </a:t>
            </a:r>
            <a:r>
              <a:rPr b="1" lang="en-GB" sz="1800"/>
              <a:t>range</a:t>
            </a:r>
            <a:r>
              <a:rPr lang="en-GB" sz="1800"/>
              <a:t> change? Explain your answer.</a:t>
            </a:r>
            <a:endParaRPr sz="1800"/>
          </a:p>
        </p:txBody>
      </p:sp>
      <p:pic>
        <p:nvPicPr>
          <p:cNvPr id="946" name="Google Shape;94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44425"/>
            <a:ext cx="8495999" cy="177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7" name="Google Shape;947;p79"/>
          <p:cNvSpPr txBox="1"/>
          <p:nvPr>
            <p:ph idx="4294967295" type="body"/>
          </p:nvPr>
        </p:nvSpPr>
        <p:spPr>
          <a:xfrm>
            <a:off x="597300" y="3083767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is the original </a:t>
            </a:r>
            <a:r>
              <a:rPr b="1" lang="en-GB" sz="1800"/>
              <a:t>range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948" name="Google Shape;948;p79"/>
          <p:cNvSpPr txBox="1"/>
          <p:nvPr>
            <p:ph idx="4294967295" type="body"/>
          </p:nvPr>
        </p:nvSpPr>
        <p:spPr>
          <a:xfrm>
            <a:off x="324000" y="2610250"/>
            <a:ext cx="2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49" name="Google Shape;949;p79"/>
          <p:cNvSpPr txBox="1"/>
          <p:nvPr>
            <p:ph idx="4294967295" type="body"/>
          </p:nvPr>
        </p:nvSpPr>
        <p:spPr>
          <a:xfrm>
            <a:off x="597300" y="261025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Circle the </a:t>
            </a:r>
            <a:r>
              <a:rPr b="1" lang="en-GB" sz="1800"/>
              <a:t>outlier </a:t>
            </a:r>
            <a:r>
              <a:rPr lang="en-GB" sz="1800"/>
              <a:t>in this </a:t>
            </a:r>
            <a:r>
              <a:rPr lang="en-GB" sz="1800"/>
              <a:t>data set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950" name="Google Shape;950;p79"/>
          <p:cNvSpPr txBox="1"/>
          <p:nvPr>
            <p:ph idx="4294967295" type="body"/>
          </p:nvPr>
        </p:nvSpPr>
        <p:spPr>
          <a:xfrm>
            <a:off x="597300" y="439080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Remove the </a:t>
            </a:r>
            <a:r>
              <a:rPr b="1" lang="en-GB" sz="1800"/>
              <a:t>outlier </a:t>
            </a:r>
            <a:r>
              <a:rPr lang="en-GB" sz="1800"/>
              <a:t>from the </a:t>
            </a:r>
            <a:r>
              <a:rPr lang="en-GB" sz="1800"/>
              <a:t>data set</a:t>
            </a:r>
            <a:r>
              <a:rPr lang="en-GB" sz="1800"/>
              <a:t>. Calculate the new </a:t>
            </a:r>
            <a:r>
              <a:rPr b="1" lang="en-GB" sz="1800"/>
              <a:t>range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956" name="Google Shape;956;p80"/>
          <p:cNvSpPr txBox="1"/>
          <p:nvPr>
            <p:ph idx="4294967295" type="body"/>
          </p:nvPr>
        </p:nvSpPr>
        <p:spPr>
          <a:xfrm>
            <a:off x="597300" y="3093517"/>
            <a:ext cx="82227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By how much would the </a:t>
            </a:r>
            <a:r>
              <a:rPr b="1" lang="en-GB" sz="1800"/>
              <a:t>range</a:t>
            </a:r>
            <a:r>
              <a:rPr lang="en-GB" sz="1800"/>
              <a:t> decrease by if all the </a:t>
            </a:r>
            <a:r>
              <a:rPr b="1" lang="en-GB" sz="1800"/>
              <a:t>outliers </a:t>
            </a:r>
            <a:r>
              <a:rPr lang="en-GB" sz="1800"/>
              <a:t>were removed?</a:t>
            </a:r>
            <a:endParaRPr sz="1800"/>
          </a:p>
        </p:txBody>
      </p:sp>
      <p:sp>
        <p:nvSpPr>
          <p:cNvPr id="957" name="Google Shape;957;p80"/>
          <p:cNvSpPr txBox="1"/>
          <p:nvPr>
            <p:ph idx="4294967295" type="body"/>
          </p:nvPr>
        </p:nvSpPr>
        <p:spPr>
          <a:xfrm>
            <a:off x="597300" y="244072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are the values of the three </a:t>
            </a:r>
            <a:r>
              <a:rPr b="1" lang="en-GB" sz="1800"/>
              <a:t>outliers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958" name="Google Shape;958;p80"/>
          <p:cNvSpPr txBox="1"/>
          <p:nvPr>
            <p:ph idx="4294967295" type="body"/>
          </p:nvPr>
        </p:nvSpPr>
        <p:spPr>
          <a:xfrm>
            <a:off x="324000" y="2038799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All data points in this </a:t>
            </a:r>
            <a:r>
              <a:rPr lang="en-GB" sz="1800"/>
              <a:t>data set</a:t>
            </a:r>
            <a:r>
              <a:rPr lang="en-GB" sz="1800"/>
              <a:t> are even </a:t>
            </a:r>
            <a:r>
              <a:rPr lang="en-GB" sz="1800"/>
              <a:t>numbers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959" name="Google Shape;95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0100"/>
            <a:ext cx="8495999" cy="11474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965" name="Google Shape;965;p81"/>
          <p:cNvSpPr txBox="1"/>
          <p:nvPr>
            <p:ph idx="4294967295" type="body"/>
          </p:nvPr>
        </p:nvSpPr>
        <p:spPr>
          <a:xfrm>
            <a:off x="324000" y="131485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Complete each sentence with a number from the dataset: </a:t>
            </a:r>
            <a:endParaRPr sz="1800"/>
          </a:p>
        </p:txBody>
      </p:sp>
      <p:sp>
        <p:nvSpPr>
          <p:cNvPr id="966" name="Google Shape;966;p81"/>
          <p:cNvSpPr txBox="1"/>
          <p:nvPr/>
        </p:nvSpPr>
        <p:spPr>
          <a:xfrm>
            <a:off x="588175" y="1716800"/>
            <a:ext cx="278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original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1"/>
          <p:cNvSpPr txBox="1"/>
          <p:nvPr/>
        </p:nvSpPr>
        <p:spPr>
          <a:xfrm>
            <a:off x="583000" y="2211350"/>
            <a:ext cx="801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2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removing the data point 37.7 will change the new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1"/>
          <p:cNvSpPr txBox="1"/>
          <p:nvPr/>
        </p:nvSpPr>
        <p:spPr>
          <a:xfrm>
            <a:off x="588175" y="2705900"/>
            <a:ext cx="8232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 the smaller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outlier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was removed from the original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the new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would 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1"/>
          <p:cNvSpPr txBox="1"/>
          <p:nvPr/>
        </p:nvSpPr>
        <p:spPr>
          <a:xfrm>
            <a:off x="588100" y="3421225"/>
            <a:ext cx="8232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4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larger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was removed from the original data set, the new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would 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0" name="Google Shape;970;p81"/>
          <p:cNvGraphicFramePr/>
          <p:nvPr/>
        </p:nvGraphicFramePr>
        <p:xfrm>
          <a:off x="324000" y="7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31.9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37.7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39.9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1" name="Google Shape;971;p81"/>
          <p:cNvSpPr txBox="1"/>
          <p:nvPr/>
        </p:nvSpPr>
        <p:spPr>
          <a:xfrm>
            <a:off x="583000" y="4195200"/>
            <a:ext cx="801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5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would be more impactful to remove is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977" name="Google Shape;977;p82"/>
          <p:cNvSpPr txBox="1"/>
          <p:nvPr>
            <p:ph idx="4294967295" type="body"/>
          </p:nvPr>
        </p:nvSpPr>
        <p:spPr>
          <a:xfrm>
            <a:off x="597300" y="3236167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is the original</a:t>
            </a:r>
            <a:r>
              <a:rPr b="1" lang="en-GB" sz="1800"/>
              <a:t> range</a:t>
            </a:r>
            <a:r>
              <a:rPr lang="en-GB" sz="1800"/>
              <a:t>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978" name="Google Shape;978;p82"/>
          <p:cNvSpPr txBox="1"/>
          <p:nvPr>
            <p:ph idx="4294967295" type="body"/>
          </p:nvPr>
        </p:nvSpPr>
        <p:spPr>
          <a:xfrm>
            <a:off x="324000" y="2762650"/>
            <a:ext cx="2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</a:t>
            </a:r>
            <a:endParaRPr sz="1800"/>
          </a:p>
        </p:txBody>
      </p:sp>
      <p:sp>
        <p:nvSpPr>
          <p:cNvPr id="979" name="Google Shape;979;p82"/>
          <p:cNvSpPr txBox="1"/>
          <p:nvPr>
            <p:ph idx="4294967295" type="body"/>
          </p:nvPr>
        </p:nvSpPr>
        <p:spPr>
          <a:xfrm>
            <a:off x="597300" y="276265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Circle the </a:t>
            </a:r>
            <a:r>
              <a:rPr b="1" lang="en-GB" sz="1800"/>
              <a:t>outlier </a:t>
            </a:r>
            <a:r>
              <a:rPr lang="en-GB" sz="1800"/>
              <a:t>in this </a:t>
            </a:r>
            <a:r>
              <a:rPr lang="en-GB" sz="1800"/>
              <a:t>data set</a:t>
            </a:r>
            <a:r>
              <a:rPr lang="en-GB" sz="1800"/>
              <a:t>.</a:t>
            </a:r>
            <a:endParaRPr sz="1800"/>
          </a:p>
        </p:txBody>
      </p:sp>
      <p:pic>
        <p:nvPicPr>
          <p:cNvPr id="980" name="Google Shape;98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66125"/>
            <a:ext cx="8495999" cy="20053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1" name="Google Shape;981;p82"/>
          <p:cNvSpPr/>
          <p:nvPr/>
        </p:nvSpPr>
        <p:spPr>
          <a:xfrm>
            <a:off x="303751" y="2013135"/>
            <a:ext cx="225000" cy="22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82"/>
          <p:cNvSpPr txBox="1"/>
          <p:nvPr>
            <p:ph idx="4294967295" type="body"/>
          </p:nvPr>
        </p:nvSpPr>
        <p:spPr>
          <a:xfrm>
            <a:off x="5724825" y="3220875"/>
            <a:ext cx="3095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ange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27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988" name="Google Shape;988;p83"/>
          <p:cNvSpPr txBox="1"/>
          <p:nvPr>
            <p:ph idx="4294967295" type="body"/>
          </p:nvPr>
        </p:nvSpPr>
        <p:spPr>
          <a:xfrm>
            <a:off x="597300" y="2671483"/>
            <a:ext cx="82227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If a data point for the number 39 was removed, by how much would the range change? Explain your answer.</a:t>
            </a:r>
            <a:endParaRPr sz="1800"/>
          </a:p>
        </p:txBody>
      </p:sp>
      <p:sp>
        <p:nvSpPr>
          <p:cNvPr id="989" name="Google Shape;989;p83"/>
          <p:cNvSpPr txBox="1"/>
          <p:nvPr>
            <p:ph idx="4294967295" type="body"/>
          </p:nvPr>
        </p:nvSpPr>
        <p:spPr>
          <a:xfrm>
            <a:off x="597300" y="387865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Remove the </a:t>
            </a:r>
            <a:r>
              <a:rPr b="1" lang="en-GB" sz="1800"/>
              <a:t>outlier </a:t>
            </a:r>
            <a:r>
              <a:rPr lang="en-GB" sz="1800"/>
              <a:t>from the </a:t>
            </a:r>
            <a:r>
              <a:rPr lang="en-GB" sz="1800"/>
              <a:t>data set</a:t>
            </a:r>
            <a:r>
              <a:rPr lang="en-GB" sz="1800"/>
              <a:t>. Calculate the new range.</a:t>
            </a:r>
            <a:endParaRPr sz="1800"/>
          </a:p>
        </p:txBody>
      </p:sp>
      <p:pic>
        <p:nvPicPr>
          <p:cNvPr id="990" name="Google Shape;99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666125"/>
            <a:ext cx="8495999" cy="20053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1" name="Google Shape;991;p83"/>
          <p:cNvSpPr/>
          <p:nvPr/>
        </p:nvSpPr>
        <p:spPr>
          <a:xfrm>
            <a:off x="303751" y="2013135"/>
            <a:ext cx="225000" cy="22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83"/>
          <p:cNvSpPr txBox="1"/>
          <p:nvPr>
            <p:ph idx="4294967295" type="body"/>
          </p:nvPr>
        </p:nvSpPr>
        <p:spPr>
          <a:xfrm>
            <a:off x="928050" y="3389831"/>
            <a:ext cx="7815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Would not change, as 39 is neither the smallest or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largest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data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3" name="Google Shape;993;p83"/>
          <p:cNvSpPr txBox="1"/>
          <p:nvPr>
            <p:ph idx="4294967295" type="body"/>
          </p:nvPr>
        </p:nvSpPr>
        <p:spPr>
          <a:xfrm>
            <a:off x="1004250" y="4162756"/>
            <a:ext cx="7815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42 </a:t>
            </a:r>
            <a:r>
              <a:rPr lang="en-GB" sz="20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33 = 9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new range is 9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pic>
        <p:nvPicPr>
          <p:cNvPr id="999" name="Google Shape;999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44425"/>
            <a:ext cx="8495999" cy="177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0" name="Google Shape;1000;p84"/>
          <p:cNvSpPr txBox="1"/>
          <p:nvPr>
            <p:ph idx="4294967295" type="body"/>
          </p:nvPr>
        </p:nvSpPr>
        <p:spPr>
          <a:xfrm>
            <a:off x="597300" y="3083767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is the original range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001" name="Google Shape;1001;p84"/>
          <p:cNvSpPr txBox="1"/>
          <p:nvPr>
            <p:ph idx="4294967295" type="body"/>
          </p:nvPr>
        </p:nvSpPr>
        <p:spPr>
          <a:xfrm>
            <a:off x="324000" y="2610250"/>
            <a:ext cx="273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</a:t>
            </a:r>
            <a:endParaRPr sz="1800"/>
          </a:p>
        </p:txBody>
      </p:sp>
      <p:sp>
        <p:nvSpPr>
          <p:cNvPr id="1002" name="Google Shape;1002;p84"/>
          <p:cNvSpPr txBox="1"/>
          <p:nvPr>
            <p:ph idx="4294967295" type="body"/>
          </p:nvPr>
        </p:nvSpPr>
        <p:spPr>
          <a:xfrm>
            <a:off x="597300" y="261025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Circle the </a:t>
            </a:r>
            <a:r>
              <a:rPr b="1" lang="en-GB" sz="1800"/>
              <a:t>outlier </a:t>
            </a:r>
            <a:r>
              <a:rPr lang="en-GB" sz="1800"/>
              <a:t>in this </a:t>
            </a:r>
            <a:r>
              <a:rPr lang="en-GB" sz="1800"/>
              <a:t>data set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03" name="Google Shape;1003;p84"/>
          <p:cNvSpPr/>
          <p:nvPr/>
        </p:nvSpPr>
        <p:spPr>
          <a:xfrm>
            <a:off x="8510299" y="1876895"/>
            <a:ext cx="225000" cy="22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84"/>
          <p:cNvSpPr txBox="1"/>
          <p:nvPr>
            <p:ph idx="4294967295" type="body"/>
          </p:nvPr>
        </p:nvSpPr>
        <p:spPr>
          <a:xfrm>
            <a:off x="5724825" y="3068475"/>
            <a:ext cx="30951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range is 26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1010" name="Google Shape;1010;p85"/>
          <p:cNvSpPr txBox="1"/>
          <p:nvPr>
            <p:ph idx="4294967295" type="body"/>
          </p:nvPr>
        </p:nvSpPr>
        <p:spPr>
          <a:xfrm>
            <a:off x="597300" y="2581451"/>
            <a:ext cx="82227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If a data point for the number </a:t>
            </a:r>
            <a:r>
              <a:rPr lang="en-GB" sz="1800">
                <a:solidFill>
                  <a:srgbClr val="202122"/>
                </a:solidFill>
              </a:rPr>
              <a:t>−</a:t>
            </a:r>
            <a:r>
              <a:rPr lang="en-GB" sz="1800"/>
              <a:t>4 was removed, by how much would the range change? Explain your answer.</a:t>
            </a:r>
            <a:endParaRPr sz="1800"/>
          </a:p>
        </p:txBody>
      </p:sp>
      <p:pic>
        <p:nvPicPr>
          <p:cNvPr id="1011" name="Google Shape;101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44425"/>
            <a:ext cx="8495999" cy="177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12" name="Google Shape;1012;p85"/>
          <p:cNvSpPr txBox="1"/>
          <p:nvPr>
            <p:ph idx="4294967295" type="body"/>
          </p:nvPr>
        </p:nvSpPr>
        <p:spPr>
          <a:xfrm>
            <a:off x="597300" y="423840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 Remove the </a:t>
            </a:r>
            <a:r>
              <a:rPr b="1" lang="en-GB" sz="1800"/>
              <a:t>outlier </a:t>
            </a:r>
            <a:r>
              <a:rPr lang="en-GB" sz="1800"/>
              <a:t>from the </a:t>
            </a:r>
            <a:r>
              <a:rPr lang="en-GB" sz="1800"/>
              <a:t>data set</a:t>
            </a:r>
            <a:r>
              <a:rPr lang="en-GB" sz="1800"/>
              <a:t>. Calculate the new range.</a:t>
            </a:r>
            <a:endParaRPr sz="1800"/>
          </a:p>
        </p:txBody>
      </p:sp>
      <p:sp>
        <p:nvSpPr>
          <p:cNvPr id="1013" name="Google Shape;1013;p85"/>
          <p:cNvSpPr/>
          <p:nvPr/>
        </p:nvSpPr>
        <p:spPr>
          <a:xfrm>
            <a:off x="8510299" y="1876895"/>
            <a:ext cx="225000" cy="2250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85"/>
          <p:cNvSpPr txBox="1"/>
          <p:nvPr>
            <p:ph idx="4294967295" type="body"/>
          </p:nvPr>
        </p:nvSpPr>
        <p:spPr>
          <a:xfrm>
            <a:off x="1004250" y="3239794"/>
            <a:ext cx="7815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range would decrease by 1 to 25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because -4 is the smallest data point.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5" name="Google Shape;1015;p85"/>
          <p:cNvSpPr txBox="1"/>
          <p:nvPr>
            <p:ph idx="4294967295" type="body"/>
          </p:nvPr>
        </p:nvSpPr>
        <p:spPr>
          <a:xfrm>
            <a:off x="1004250" y="4512606"/>
            <a:ext cx="7815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</a:t>
            </a:r>
            <a:r>
              <a:rPr lang="en-GB" sz="20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4) = 14     The new range is 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1021" name="Google Shape;1021;p86"/>
          <p:cNvSpPr txBox="1"/>
          <p:nvPr>
            <p:ph idx="4294967295" type="body"/>
          </p:nvPr>
        </p:nvSpPr>
        <p:spPr>
          <a:xfrm>
            <a:off x="597300" y="3169717"/>
            <a:ext cx="8222700" cy="6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By how much would the range decrease by if all the </a:t>
            </a:r>
            <a:r>
              <a:rPr b="1" lang="en-GB" sz="1800"/>
              <a:t>outliers </a:t>
            </a:r>
            <a:r>
              <a:rPr lang="en-GB" sz="1800"/>
              <a:t>were removed?</a:t>
            </a:r>
            <a:endParaRPr sz="1800"/>
          </a:p>
        </p:txBody>
      </p:sp>
      <p:sp>
        <p:nvSpPr>
          <p:cNvPr id="1022" name="Google Shape;1022;p86"/>
          <p:cNvSpPr txBox="1"/>
          <p:nvPr>
            <p:ph idx="4294967295" type="body"/>
          </p:nvPr>
        </p:nvSpPr>
        <p:spPr>
          <a:xfrm>
            <a:off x="597300" y="2440720"/>
            <a:ext cx="8222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are the values of the three </a:t>
            </a:r>
            <a:r>
              <a:rPr b="1" lang="en-GB" sz="1800"/>
              <a:t>outliers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023" name="Google Shape;1023;p86"/>
          <p:cNvSpPr txBox="1"/>
          <p:nvPr>
            <p:ph idx="4294967295" type="body"/>
          </p:nvPr>
        </p:nvSpPr>
        <p:spPr>
          <a:xfrm>
            <a:off x="324000" y="2038799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All data points in this </a:t>
            </a:r>
            <a:r>
              <a:rPr lang="en-GB" sz="1800"/>
              <a:t>data set</a:t>
            </a:r>
            <a:r>
              <a:rPr lang="en-GB" sz="1800"/>
              <a:t> are even numbers.</a:t>
            </a:r>
            <a:endParaRPr sz="1800"/>
          </a:p>
        </p:txBody>
      </p:sp>
      <p:pic>
        <p:nvPicPr>
          <p:cNvPr id="1024" name="Google Shape;102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0100"/>
            <a:ext cx="8495999" cy="11474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5" name="Google Shape;1025;p86"/>
          <p:cNvSpPr txBox="1"/>
          <p:nvPr>
            <p:ph idx="4294967295" type="body"/>
          </p:nvPr>
        </p:nvSpPr>
        <p:spPr>
          <a:xfrm>
            <a:off x="1004250" y="2706394"/>
            <a:ext cx="78159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12, 72, 74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86"/>
          <p:cNvSpPr txBox="1"/>
          <p:nvPr>
            <p:ph idx="4294967295" type="body"/>
          </p:nvPr>
        </p:nvSpPr>
        <p:spPr>
          <a:xfrm>
            <a:off x="1948625" y="3535850"/>
            <a:ext cx="6855300" cy="12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range is currently 62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Without the three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 range would become: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56 </a:t>
            </a:r>
            <a:r>
              <a:rPr lang="en-GB" sz="2000">
                <a:solidFill>
                  <a:srgbClr val="2021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34 = 22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range would decrease by 40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87"/>
          <p:cNvSpPr txBox="1"/>
          <p:nvPr/>
        </p:nvSpPr>
        <p:spPr>
          <a:xfrm>
            <a:off x="588175" y="3421225"/>
            <a:ext cx="8232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4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the larger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was removed from the original data set, the new range would 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87"/>
          <p:cNvSpPr txBox="1"/>
          <p:nvPr/>
        </p:nvSpPr>
        <p:spPr>
          <a:xfrm>
            <a:off x="588175" y="2705900"/>
            <a:ext cx="8232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3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the smaller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was removed from the original data set, the new range would be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1034" name="Google Shape;1034;p87"/>
          <p:cNvSpPr txBox="1"/>
          <p:nvPr>
            <p:ph idx="4294967295" type="body"/>
          </p:nvPr>
        </p:nvSpPr>
        <p:spPr>
          <a:xfrm>
            <a:off x="324000" y="131485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Complete each sentence: </a:t>
            </a:r>
            <a:endParaRPr sz="1800"/>
          </a:p>
        </p:txBody>
      </p:sp>
      <p:graphicFrame>
        <p:nvGraphicFramePr>
          <p:cNvPr id="1035" name="Google Shape;1035;p87"/>
          <p:cNvGraphicFramePr/>
          <p:nvPr/>
        </p:nvGraphicFramePr>
        <p:xfrm>
          <a:off x="324000" y="71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  <a:gridCol w="566400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31.9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37.7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39.9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6" name="Google Shape;1036;p87"/>
          <p:cNvSpPr txBox="1"/>
          <p:nvPr>
            <p:ph idx="4294967295" type="body"/>
          </p:nvPr>
        </p:nvSpPr>
        <p:spPr>
          <a:xfrm>
            <a:off x="3323350" y="1701500"/>
            <a:ext cx="699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7" name="Google Shape;1037;p87"/>
          <p:cNvSpPr txBox="1"/>
          <p:nvPr>
            <p:ph idx="4294967295" type="body"/>
          </p:nvPr>
        </p:nvSpPr>
        <p:spPr>
          <a:xfrm>
            <a:off x="7544200" y="2196050"/>
            <a:ext cx="699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8" name="Google Shape;1038;p87"/>
          <p:cNvSpPr txBox="1"/>
          <p:nvPr>
            <p:ph idx="4294967295" type="body"/>
          </p:nvPr>
        </p:nvSpPr>
        <p:spPr>
          <a:xfrm>
            <a:off x="2820676" y="2993906"/>
            <a:ext cx="699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9" name="Google Shape;1039;p87"/>
          <p:cNvSpPr txBox="1"/>
          <p:nvPr>
            <p:ph idx="4294967295" type="body"/>
          </p:nvPr>
        </p:nvSpPr>
        <p:spPr>
          <a:xfrm>
            <a:off x="7077709" y="4136550"/>
            <a:ext cx="1632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larger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: 82.5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0" name="Google Shape;1040;p87"/>
          <p:cNvSpPr txBox="1"/>
          <p:nvPr>
            <p:ph idx="4294967295" type="body"/>
          </p:nvPr>
        </p:nvSpPr>
        <p:spPr>
          <a:xfrm>
            <a:off x="2820687" y="3709231"/>
            <a:ext cx="6993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45.3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1" name="Google Shape;1041;p87"/>
          <p:cNvSpPr txBox="1"/>
          <p:nvPr/>
        </p:nvSpPr>
        <p:spPr>
          <a:xfrm>
            <a:off x="588175" y="1716800"/>
            <a:ext cx="2781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original range is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87"/>
          <p:cNvSpPr txBox="1"/>
          <p:nvPr/>
        </p:nvSpPr>
        <p:spPr>
          <a:xfrm>
            <a:off x="583000" y="2211350"/>
            <a:ext cx="696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AutoNum type="alphaLcParenR" startAt="2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removing the data point 37.7 will change the new range to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87"/>
          <p:cNvSpPr txBox="1"/>
          <p:nvPr/>
        </p:nvSpPr>
        <p:spPr>
          <a:xfrm>
            <a:off x="583000" y="4195200"/>
            <a:ext cx="801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 startAt="5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outlier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 would be more impactful to remove is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049" name="Google Shape;1049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Outliers and their effect on the range</a:t>
            </a:r>
            <a:endParaRPr/>
          </a:p>
        </p:txBody>
      </p:sp>
      <p:sp>
        <p:nvSpPr>
          <p:cNvPr id="1050" name="Google Shape;1050;p8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  <p:pic>
        <p:nvPicPr>
          <p:cNvPr id="1051" name="Google Shape;105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41" y="2996593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9"/>
          <p:cNvSpPr txBox="1"/>
          <p:nvPr>
            <p:ph idx="1" type="body"/>
          </p:nvPr>
        </p:nvSpPr>
        <p:spPr>
          <a:xfrm>
            <a:off x="324000" y="1168958"/>
            <a:ext cx="8496000" cy="9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Below is a </a:t>
            </a:r>
            <a:r>
              <a:rPr lang="en-GB" sz="1800"/>
              <a:t>data set</a:t>
            </a:r>
            <a:r>
              <a:rPr lang="en-GB" sz="1800"/>
              <a:t> of maximum daily temperatures (in °C) in Lerwick, from 1941–1942. The results have been placed in order of temperature, smallest first.</a:t>
            </a:r>
            <a:endParaRPr sz="1800"/>
          </a:p>
        </p:txBody>
      </p:sp>
      <p:sp>
        <p:nvSpPr>
          <p:cNvPr id="1057" name="Google Shape;1057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058" name="Google Shape;1058;p89"/>
          <p:cNvSpPr txBox="1"/>
          <p:nvPr>
            <p:ph idx="1" type="body"/>
          </p:nvPr>
        </p:nvSpPr>
        <p:spPr>
          <a:xfrm>
            <a:off x="324000" y="71147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Outliers </a:t>
            </a:r>
            <a:r>
              <a:rPr lang="en-GB" sz="1800"/>
              <a:t>created from errors in data collection must always be removed.</a:t>
            </a:r>
            <a:endParaRPr sz="1800"/>
          </a:p>
        </p:txBody>
      </p:sp>
      <p:graphicFrame>
        <p:nvGraphicFramePr>
          <p:cNvPr id="1059" name="Google Shape;1059;p89"/>
          <p:cNvGraphicFramePr/>
          <p:nvPr/>
        </p:nvGraphicFramePr>
        <p:xfrm>
          <a:off x="324000" y="247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952500"/>
                <a:gridCol w="952500"/>
                <a:gridCol w="952500"/>
                <a:gridCol w="952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0" name="Google Shape;1060;p89"/>
          <p:cNvSpPr txBox="1"/>
          <p:nvPr>
            <p:ph idx="1" type="body"/>
          </p:nvPr>
        </p:nvSpPr>
        <p:spPr>
          <a:xfrm>
            <a:off x="4320000" y="2476725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range of this </a:t>
            </a:r>
            <a:r>
              <a:rPr lang="en-GB" sz="1800"/>
              <a:t>data set</a:t>
            </a:r>
            <a:r>
              <a:rPr lang="en-GB" sz="1800"/>
              <a:t> is 148.9°C.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Does this seem sensible?</a:t>
            </a:r>
            <a:endParaRPr sz="1800"/>
          </a:p>
        </p:txBody>
      </p:sp>
      <p:sp>
        <p:nvSpPr>
          <p:cNvPr id="1061" name="Google Shape;1061;p89"/>
          <p:cNvSpPr/>
          <p:nvPr/>
        </p:nvSpPr>
        <p:spPr>
          <a:xfrm>
            <a:off x="3181500" y="4238850"/>
            <a:ext cx="952500" cy="35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89"/>
          <p:cNvSpPr txBox="1"/>
          <p:nvPr>
            <p:ph idx="1" type="body"/>
          </p:nvPr>
        </p:nvSpPr>
        <p:spPr>
          <a:xfrm>
            <a:off x="4320000" y="3565725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clearly an error. The real temperature may be 15.2°C, due to a missing decimal point.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90"/>
          <p:cNvSpPr txBox="1"/>
          <p:nvPr>
            <p:ph idx="1" type="body"/>
          </p:nvPr>
        </p:nvSpPr>
        <p:spPr>
          <a:xfrm>
            <a:off x="324000" y="1168946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Below is a </a:t>
            </a:r>
            <a:r>
              <a:rPr lang="en-GB" sz="1800"/>
              <a:t>data set</a:t>
            </a:r>
            <a:r>
              <a:rPr lang="en-GB" sz="1800"/>
              <a:t> of maximum daily temperatures (in °C) in Lerwick, from 1941–1942. The results have been placed in order of temperature, smallest first.</a:t>
            </a:r>
            <a:endParaRPr sz="1800"/>
          </a:p>
        </p:txBody>
      </p:sp>
      <p:sp>
        <p:nvSpPr>
          <p:cNvPr id="1068" name="Google Shape;106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069" name="Google Shape;1069;p90"/>
          <p:cNvSpPr txBox="1"/>
          <p:nvPr>
            <p:ph idx="1" type="body"/>
          </p:nvPr>
        </p:nvSpPr>
        <p:spPr>
          <a:xfrm>
            <a:off x="324000" y="71147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Outliers </a:t>
            </a:r>
            <a:r>
              <a:rPr lang="en-GB" sz="1800"/>
              <a:t>created from errors in data collection must always be removed.</a:t>
            </a:r>
            <a:endParaRPr sz="1800"/>
          </a:p>
        </p:txBody>
      </p:sp>
      <p:graphicFrame>
        <p:nvGraphicFramePr>
          <p:cNvPr id="1070" name="Google Shape;1070;p90"/>
          <p:cNvGraphicFramePr/>
          <p:nvPr/>
        </p:nvGraphicFramePr>
        <p:xfrm>
          <a:off x="324000" y="247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952500"/>
                <a:gridCol w="952500"/>
                <a:gridCol w="952500"/>
                <a:gridCol w="9525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1" name="Google Shape;1071;p90"/>
          <p:cNvSpPr/>
          <p:nvPr/>
        </p:nvSpPr>
        <p:spPr>
          <a:xfrm>
            <a:off x="3181500" y="4238850"/>
            <a:ext cx="952500" cy="352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90"/>
          <p:cNvSpPr txBox="1"/>
          <p:nvPr>
            <p:ph idx="1" type="body"/>
          </p:nvPr>
        </p:nvSpPr>
        <p:spPr>
          <a:xfrm>
            <a:off x="4320000" y="2476725"/>
            <a:ext cx="450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By removing this </a:t>
            </a:r>
            <a:r>
              <a:rPr b="1" lang="en-GB" sz="1800"/>
              <a:t>outlier</a:t>
            </a:r>
            <a:r>
              <a:rPr lang="en-GB" sz="1800"/>
              <a:t>, the range becomes 9.5°C.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This is a much more sensible range of temperatures.</a:t>
            </a:r>
            <a:endParaRPr sz="1800"/>
          </a:p>
        </p:txBody>
      </p:sp>
      <p:sp>
        <p:nvSpPr>
          <p:cNvPr id="1073" name="Google Shape;1073;p90"/>
          <p:cNvSpPr/>
          <p:nvPr/>
        </p:nvSpPr>
        <p:spPr>
          <a:xfrm>
            <a:off x="3399312" y="4156638"/>
            <a:ext cx="516900" cy="516900"/>
          </a:xfrm>
          <a:prstGeom prst="mathMultiply">
            <a:avLst>
              <a:gd fmla="val 14287" name="adj1"/>
            </a:avLst>
          </a:prstGeom>
          <a:solidFill>
            <a:srgbClr val="E6F2F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91"/>
          <p:cNvSpPr txBox="1"/>
          <p:nvPr>
            <p:ph idx="1" type="body"/>
          </p:nvPr>
        </p:nvSpPr>
        <p:spPr>
          <a:xfrm>
            <a:off x="324000" y="71147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Outliers </a:t>
            </a:r>
            <a:r>
              <a:rPr lang="en-GB" sz="1800"/>
              <a:t>may be omitted from graphs if the readability of the graph is low because of the </a:t>
            </a:r>
            <a:r>
              <a:rPr b="1" lang="en-GB" sz="1800"/>
              <a:t>outlier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Omitted doesn’t mean removed completely, just taken off of a graph. The existence of this </a:t>
            </a:r>
            <a:r>
              <a:rPr b="1" lang="en-GB" sz="1800"/>
              <a:t>outlier </a:t>
            </a:r>
            <a:r>
              <a:rPr lang="en-GB" sz="1800"/>
              <a:t>may be shown in other ways.</a:t>
            </a:r>
            <a:endParaRPr sz="1800"/>
          </a:p>
        </p:txBody>
      </p:sp>
      <p:sp>
        <p:nvSpPr>
          <p:cNvPr id="1079" name="Google Shape;107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pic>
        <p:nvPicPr>
          <p:cNvPr id="1080" name="Google Shape;108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345449"/>
            <a:ext cx="5504824" cy="2236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1" name="Google Shape;1081;p91"/>
          <p:cNvSpPr txBox="1"/>
          <p:nvPr>
            <p:ph idx="1" type="body"/>
          </p:nvPr>
        </p:nvSpPr>
        <p:spPr>
          <a:xfrm>
            <a:off x="5860000" y="2345450"/>
            <a:ext cx="296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This dot plot shows the number of daily website visits a blogger received.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There are no errors in the data collection or representation.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92"/>
          <p:cNvSpPr txBox="1"/>
          <p:nvPr>
            <p:ph idx="1" type="body"/>
          </p:nvPr>
        </p:nvSpPr>
        <p:spPr>
          <a:xfrm>
            <a:off x="324000" y="71147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Outliers </a:t>
            </a:r>
            <a:r>
              <a:rPr lang="en-GB" sz="1800"/>
              <a:t>may be omitted from graphs if the readability of the graph is low because of the </a:t>
            </a:r>
            <a:r>
              <a:rPr b="1" lang="en-GB" sz="1800"/>
              <a:t>outlier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Omitted doesn’t mean removed completely, just taken off of a graph. The existence of this </a:t>
            </a:r>
            <a:r>
              <a:rPr b="1" lang="en-GB" sz="1800"/>
              <a:t>outlier </a:t>
            </a:r>
            <a:r>
              <a:rPr lang="en-GB" sz="1800"/>
              <a:t>may be shown in other ways.</a:t>
            </a:r>
            <a:endParaRPr sz="1800"/>
          </a:p>
        </p:txBody>
      </p:sp>
      <p:sp>
        <p:nvSpPr>
          <p:cNvPr id="1087" name="Google Shape;1087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pic>
        <p:nvPicPr>
          <p:cNvPr id="1088" name="Google Shape;108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345449"/>
            <a:ext cx="5504824" cy="2236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9" name="Google Shape;1089;p92"/>
          <p:cNvSpPr txBox="1"/>
          <p:nvPr>
            <p:ph idx="1" type="body"/>
          </p:nvPr>
        </p:nvSpPr>
        <p:spPr>
          <a:xfrm>
            <a:off x="5860000" y="2215763"/>
            <a:ext cx="2960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outlier </a:t>
            </a:r>
            <a:r>
              <a:rPr lang="en-GB" sz="1800"/>
              <a:t>of 300 is due to their blog being promoted on that day.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It is unfair to remove this data point completely, but the dot plot has little readability with the data point shown.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93"/>
          <p:cNvSpPr txBox="1"/>
          <p:nvPr>
            <p:ph idx="1" type="body"/>
          </p:nvPr>
        </p:nvSpPr>
        <p:spPr>
          <a:xfrm>
            <a:off x="324000" y="711471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/>
              <a:t>Outliers </a:t>
            </a:r>
            <a:r>
              <a:rPr lang="en-GB" sz="1800"/>
              <a:t>may be omitted from graphs if the readability of the graph is low because of the </a:t>
            </a:r>
            <a:r>
              <a:rPr b="1" lang="en-GB" sz="1800"/>
              <a:t>outlier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Omitted doesn’t mean removed completely, just taken off of a graph. The existence of this </a:t>
            </a:r>
            <a:r>
              <a:rPr b="1" lang="en-GB" sz="1800"/>
              <a:t>outlier </a:t>
            </a:r>
            <a:r>
              <a:rPr lang="en-GB" sz="1800"/>
              <a:t>may be shown in other ways.</a:t>
            </a:r>
            <a:endParaRPr sz="1800"/>
          </a:p>
        </p:txBody>
      </p:sp>
      <p:sp>
        <p:nvSpPr>
          <p:cNvPr id="1095" name="Google Shape;109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096" name="Google Shape;1096;p93"/>
          <p:cNvSpPr txBox="1"/>
          <p:nvPr>
            <p:ph idx="1" type="body"/>
          </p:nvPr>
        </p:nvSpPr>
        <p:spPr>
          <a:xfrm>
            <a:off x="4572000" y="2444375"/>
            <a:ext cx="4248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Without the </a:t>
            </a:r>
            <a:r>
              <a:rPr b="1" lang="en-GB" sz="1800"/>
              <a:t>outlier </a:t>
            </a:r>
            <a:r>
              <a:rPr lang="en-GB" sz="1800"/>
              <a:t>shown, the dot plot is readable.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In cases like these, we can show the range in two ways.</a:t>
            </a:r>
            <a:endParaRPr sz="1800"/>
          </a:p>
        </p:txBody>
      </p:sp>
      <p:pic>
        <p:nvPicPr>
          <p:cNvPr id="1097" name="Google Shape;109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476548"/>
            <a:ext cx="4096650" cy="2371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8" name="Google Shape;1098;p93"/>
          <p:cNvSpPr txBox="1"/>
          <p:nvPr>
            <p:ph idx="1" type="body"/>
          </p:nvPr>
        </p:nvSpPr>
        <p:spPr>
          <a:xfrm>
            <a:off x="2620575" y="2571750"/>
            <a:ext cx="1699500" cy="489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 extra data point of 300</a:t>
            </a:r>
            <a:endParaRPr sz="1800"/>
          </a:p>
        </p:txBody>
      </p:sp>
      <p:sp>
        <p:nvSpPr>
          <p:cNvPr id="1099" name="Google Shape;1099;p93"/>
          <p:cNvSpPr txBox="1"/>
          <p:nvPr>
            <p:ph idx="1" type="body"/>
          </p:nvPr>
        </p:nvSpPr>
        <p:spPr>
          <a:xfrm>
            <a:off x="5161425" y="3903350"/>
            <a:ext cx="3658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</a:t>
            </a:r>
            <a:r>
              <a:rPr lang="en-GB" sz="1800"/>
              <a:t>ange with </a:t>
            </a:r>
            <a:r>
              <a:rPr b="1" lang="en-GB" sz="1800"/>
              <a:t>outlier </a:t>
            </a:r>
            <a:r>
              <a:rPr lang="en-GB" sz="1800"/>
              <a:t>= 300</a:t>
            </a:r>
            <a:endParaRPr sz="1800"/>
          </a:p>
        </p:txBody>
      </p:sp>
      <p:sp>
        <p:nvSpPr>
          <p:cNvPr id="1100" name="Google Shape;1100;p93"/>
          <p:cNvSpPr txBox="1"/>
          <p:nvPr>
            <p:ph idx="1" type="body"/>
          </p:nvPr>
        </p:nvSpPr>
        <p:spPr>
          <a:xfrm>
            <a:off x="5161425" y="4292825"/>
            <a:ext cx="3658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range without </a:t>
            </a:r>
            <a:r>
              <a:rPr b="1" lang="en-GB" sz="1800"/>
              <a:t>outlier </a:t>
            </a:r>
            <a:r>
              <a:rPr lang="en-GB" sz="1800"/>
              <a:t>= 20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94"/>
          <p:cNvSpPr txBox="1"/>
          <p:nvPr>
            <p:ph idx="1" type="body"/>
          </p:nvPr>
        </p:nvSpPr>
        <p:spPr>
          <a:xfrm>
            <a:off x="324000" y="863902"/>
            <a:ext cx="8496000" cy="18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Sometimes, </a:t>
            </a:r>
            <a:r>
              <a:rPr b="1" lang="en-GB"/>
              <a:t>outliers </a:t>
            </a:r>
            <a:r>
              <a:rPr lang="en-GB"/>
              <a:t>must be kept and represented, as they are important data points in the </a:t>
            </a:r>
            <a:r>
              <a:rPr lang="en-GB"/>
              <a:t>data set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large range created by these important </a:t>
            </a:r>
            <a:r>
              <a:rPr b="1" lang="en-GB"/>
              <a:t>outliers </a:t>
            </a:r>
            <a:r>
              <a:rPr lang="en-GB"/>
              <a:t>shows scale of the </a:t>
            </a:r>
            <a:r>
              <a:rPr b="1" lang="en-GB"/>
              <a:t>spread</a:t>
            </a:r>
            <a:r>
              <a:rPr lang="en-GB"/>
              <a:t> or variance in the </a:t>
            </a:r>
            <a:r>
              <a:rPr lang="en-GB"/>
              <a:t>data set</a:t>
            </a:r>
            <a:r>
              <a:rPr lang="en-GB"/>
              <a:t>. </a:t>
            </a:r>
            <a:endParaRPr/>
          </a:p>
        </p:txBody>
      </p:sp>
      <p:sp>
        <p:nvSpPr>
          <p:cNvPr id="1106" name="Google Shape;110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112" name="Google Shape;1112;p95"/>
          <p:cNvSpPr txBox="1"/>
          <p:nvPr>
            <p:ph idx="1" type="body"/>
          </p:nvPr>
        </p:nvSpPr>
        <p:spPr>
          <a:xfrm>
            <a:off x="324000" y="3501336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dot plot and list of numerical data represent the yearly salaries of all the employees in a business.</a:t>
            </a:r>
            <a:endParaRPr sz="1800"/>
          </a:p>
        </p:txBody>
      </p:sp>
      <p:pic>
        <p:nvPicPr>
          <p:cNvPr id="1113" name="Google Shape;1113;p95"/>
          <p:cNvPicPr preferRelativeResize="0"/>
          <p:nvPr/>
        </p:nvPicPr>
        <p:blipFill rotWithShape="1">
          <a:blip r:embed="rId3">
            <a:alphaModFix/>
          </a:blip>
          <a:srcRect b="0" l="0" r="0" t="8029"/>
          <a:stretch/>
        </p:blipFill>
        <p:spPr>
          <a:xfrm>
            <a:off x="324000" y="634664"/>
            <a:ext cx="6657601" cy="13899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114" name="Google Shape;1114;p95"/>
          <p:cNvGraphicFramePr/>
          <p:nvPr/>
        </p:nvGraphicFramePr>
        <p:xfrm>
          <a:off x="323975" y="21600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554800"/>
                <a:gridCol w="554800"/>
                <a:gridCol w="554800"/>
                <a:gridCol w="554800"/>
                <a:gridCol w="554800"/>
                <a:gridCol w="554800"/>
                <a:gridCol w="554800"/>
                <a:gridCol w="554800"/>
                <a:gridCol w="554800"/>
                <a:gridCol w="554800"/>
                <a:gridCol w="554800"/>
                <a:gridCol w="554800"/>
              </a:tblGrid>
              <a:tr h="15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(in £1000s)</a:t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sp>
        <p:nvSpPr>
          <p:cNvPr id="1115" name="Google Shape;1115;p95"/>
          <p:cNvSpPr/>
          <p:nvPr/>
        </p:nvSpPr>
        <p:spPr>
          <a:xfrm>
            <a:off x="5317175" y="3096666"/>
            <a:ext cx="524400" cy="320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95"/>
          <p:cNvSpPr/>
          <p:nvPr/>
        </p:nvSpPr>
        <p:spPr>
          <a:xfrm>
            <a:off x="6637425" y="1550565"/>
            <a:ext cx="370200" cy="277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5"/>
          <p:cNvSpPr txBox="1"/>
          <p:nvPr>
            <p:ph idx="1" type="body"/>
          </p:nvPr>
        </p:nvSpPr>
        <p:spPr>
          <a:xfrm>
            <a:off x="324000" y="4241437"/>
            <a:ext cx="803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data point is essential to keep, as it isn’t an error. It shows the salary of the business’ CEO.</a:t>
            </a:r>
            <a:endParaRPr sz="1800"/>
          </a:p>
        </p:txBody>
      </p:sp>
      <p:sp>
        <p:nvSpPr>
          <p:cNvPr id="1118" name="Google Shape;1118;p95"/>
          <p:cNvSpPr txBox="1"/>
          <p:nvPr>
            <p:ph idx="1" type="body"/>
          </p:nvPr>
        </p:nvSpPr>
        <p:spPr>
          <a:xfrm>
            <a:off x="7153925" y="689875"/>
            <a:ext cx="1666200" cy="125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range of salaries in this business is £105 000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96"/>
          <p:cNvSpPr txBox="1"/>
          <p:nvPr>
            <p:ph idx="1" type="body"/>
          </p:nvPr>
        </p:nvSpPr>
        <p:spPr>
          <a:xfrm>
            <a:off x="324000" y="3240000"/>
            <a:ext cx="180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Should </a:t>
            </a:r>
            <a:r>
              <a:rPr lang="en-GB" sz="1800"/>
              <a:t>Sofia: </a:t>
            </a:r>
            <a:endParaRPr sz="1800"/>
          </a:p>
        </p:txBody>
      </p:sp>
      <p:sp>
        <p:nvSpPr>
          <p:cNvPr id="1124" name="Google Shape;1124;p96"/>
          <p:cNvSpPr txBox="1"/>
          <p:nvPr>
            <p:ph idx="1" type="body"/>
          </p:nvPr>
        </p:nvSpPr>
        <p:spPr>
          <a:xfrm>
            <a:off x="324000" y="711475"/>
            <a:ext cx="4851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Sofia wants to make sure she remains hydrated, as she knows she needs to drink at least 2 litres of water a day.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She tracks the amount of water (in litres) she drinks each day for three weeks. </a:t>
            </a:r>
            <a:endParaRPr sz="1800"/>
          </a:p>
        </p:txBody>
      </p:sp>
      <p:sp>
        <p:nvSpPr>
          <p:cNvPr id="1125" name="Google Shape;112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graphicFrame>
        <p:nvGraphicFramePr>
          <p:cNvPr id="1126" name="Google Shape;1126;p96"/>
          <p:cNvGraphicFramePr/>
          <p:nvPr/>
        </p:nvGraphicFramePr>
        <p:xfrm>
          <a:off x="5370575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492775"/>
                <a:gridCol w="492775"/>
                <a:gridCol w="492775"/>
                <a:gridCol w="492775"/>
                <a:gridCol w="492775"/>
                <a:gridCol w="492775"/>
                <a:gridCol w="492775"/>
              </a:tblGrid>
              <a:tr h="461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1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7" name="Google Shape;1127;p96"/>
          <p:cNvSpPr txBox="1"/>
          <p:nvPr>
            <p:ph idx="1" type="body"/>
          </p:nvPr>
        </p:nvSpPr>
        <p:spPr>
          <a:xfrm>
            <a:off x="324000" y="2700000"/>
            <a:ext cx="3861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) Write down the value of </a:t>
            </a:r>
            <a:r>
              <a:rPr b="1" lang="en-GB" sz="1800"/>
              <a:t>outlier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28" name="Google Shape;1128;p96"/>
          <p:cNvSpPr txBox="1"/>
          <p:nvPr/>
        </p:nvSpPr>
        <p:spPr>
          <a:xfrm>
            <a:off x="2662500" y="3294575"/>
            <a:ext cx="221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eep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outlier</a:t>
            </a:r>
            <a:endParaRPr b="1"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96"/>
          <p:cNvSpPr txBox="1"/>
          <p:nvPr/>
        </p:nvSpPr>
        <p:spPr>
          <a:xfrm>
            <a:off x="2662500" y="3789125"/>
            <a:ext cx="221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nvestigate further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96"/>
          <p:cNvSpPr txBox="1"/>
          <p:nvPr/>
        </p:nvSpPr>
        <p:spPr>
          <a:xfrm>
            <a:off x="2662500" y="4283675"/>
            <a:ext cx="221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emove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outlier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31" name="Google Shape;113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9275" y="4261925"/>
            <a:ext cx="303024" cy="3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2" name="Google Shape;1132;p96"/>
          <p:cNvSpPr txBox="1"/>
          <p:nvPr>
            <p:ph idx="1" type="body"/>
          </p:nvPr>
        </p:nvSpPr>
        <p:spPr>
          <a:xfrm>
            <a:off x="4262100" y="2700000"/>
            <a:ext cx="3861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26 is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96"/>
          <p:cNvSpPr txBox="1"/>
          <p:nvPr>
            <p:ph idx="1" type="body"/>
          </p:nvPr>
        </p:nvSpPr>
        <p:spPr>
          <a:xfrm>
            <a:off x="5413965" y="3229400"/>
            <a:ext cx="3376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should remove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 it is clearly an error.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Maybe the data point should have said 2.6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34" name="Google Shape;1134;p96"/>
          <p:cNvGrpSpPr/>
          <p:nvPr/>
        </p:nvGrpSpPr>
        <p:grpSpPr>
          <a:xfrm>
            <a:off x="2169291" y="3204575"/>
            <a:ext cx="457200" cy="457200"/>
            <a:chOff x="1020916" y="1442088"/>
            <a:chExt cx="457200" cy="457200"/>
          </a:xfrm>
        </p:grpSpPr>
        <p:pic>
          <p:nvPicPr>
            <p:cNvPr id="1135" name="Google Shape;113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6"/>
          <p:cNvGrpSpPr/>
          <p:nvPr/>
        </p:nvGrpSpPr>
        <p:grpSpPr>
          <a:xfrm>
            <a:off x="2169291" y="3699125"/>
            <a:ext cx="457200" cy="457200"/>
            <a:chOff x="1020916" y="1442088"/>
            <a:chExt cx="457200" cy="457200"/>
          </a:xfrm>
        </p:grpSpPr>
        <p:pic>
          <p:nvPicPr>
            <p:cNvPr id="1138" name="Google Shape;113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0" name="Google Shape;1140;p96"/>
          <p:cNvGrpSpPr/>
          <p:nvPr/>
        </p:nvGrpSpPr>
        <p:grpSpPr>
          <a:xfrm>
            <a:off x="2169291" y="4193675"/>
            <a:ext cx="457200" cy="457200"/>
            <a:chOff x="1020916" y="1442088"/>
            <a:chExt cx="457200" cy="457200"/>
          </a:xfrm>
        </p:grpSpPr>
        <p:pic>
          <p:nvPicPr>
            <p:cNvPr id="1141" name="Google Shape;114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2" name="Google Shape;114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7"/>
          <p:cNvSpPr txBox="1"/>
          <p:nvPr>
            <p:ph idx="4294967295" type="body"/>
          </p:nvPr>
        </p:nvSpPr>
        <p:spPr>
          <a:xfrm>
            <a:off x="324000" y="391955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Should the </a:t>
            </a:r>
            <a:r>
              <a:rPr b="1" lang="en-GB" sz="1800"/>
              <a:t>outlier </a:t>
            </a:r>
            <a:r>
              <a:rPr lang="en-GB" sz="1800"/>
              <a:t>be: removed, kept, or investigated further?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explain the option you have chosen.</a:t>
            </a:r>
            <a:endParaRPr sz="1800"/>
          </a:p>
        </p:txBody>
      </p:sp>
      <p:sp>
        <p:nvSpPr>
          <p:cNvPr id="1148" name="Google Shape;1148;p97"/>
          <p:cNvSpPr txBox="1"/>
          <p:nvPr>
            <p:ph idx="4294967295" type="body"/>
          </p:nvPr>
        </p:nvSpPr>
        <p:spPr>
          <a:xfrm>
            <a:off x="324000" y="2988900"/>
            <a:ext cx="316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) What is the value of the </a:t>
            </a:r>
            <a:r>
              <a:rPr b="1" lang="en-GB" sz="1800"/>
              <a:t>outlier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49" name="Google Shape;1149;p97"/>
          <p:cNvSpPr txBox="1"/>
          <p:nvPr>
            <p:ph idx="4294967295" type="body"/>
          </p:nvPr>
        </p:nvSpPr>
        <p:spPr>
          <a:xfrm>
            <a:off x="324000" y="711475"/>
            <a:ext cx="316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This dot plot shows the number of days per month that had airfrost (due to cold weather) in Leuchars (Scotland) over a 21 month period.</a:t>
            </a:r>
            <a:endParaRPr sz="1800"/>
          </a:p>
        </p:txBody>
      </p:sp>
      <p:sp>
        <p:nvSpPr>
          <p:cNvPr id="1150" name="Google Shape;1150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pic>
        <p:nvPicPr>
          <p:cNvPr id="1151" name="Google Shape;115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6674" y="711472"/>
            <a:ext cx="5333325" cy="279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8"/>
          <p:cNvSpPr txBox="1"/>
          <p:nvPr>
            <p:ph idx="4294967295" type="body"/>
          </p:nvPr>
        </p:nvSpPr>
        <p:spPr>
          <a:xfrm>
            <a:off x="324000" y="711475"/>
            <a:ext cx="513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This dot plot shows the number of ‘hours of sunshine’ per month for two years, rounded to the nearest 10 hours.</a:t>
            </a:r>
            <a:endParaRPr sz="1800"/>
          </a:p>
        </p:txBody>
      </p:sp>
      <p:sp>
        <p:nvSpPr>
          <p:cNvPr id="1157" name="Google Shape;1157;p98"/>
          <p:cNvSpPr txBox="1"/>
          <p:nvPr>
            <p:ph idx="4294967295" type="body"/>
          </p:nvPr>
        </p:nvSpPr>
        <p:spPr>
          <a:xfrm>
            <a:off x="324000" y="33924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All data points have been correctly measured, with no error.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Should the </a:t>
            </a:r>
            <a:r>
              <a:rPr b="1" lang="en-GB" sz="1800"/>
              <a:t>outlier </a:t>
            </a:r>
            <a:r>
              <a:rPr lang="en-GB" sz="1800"/>
              <a:t>be: removed, kept, or investigated further?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explain the option you have chosen.</a:t>
            </a:r>
            <a:endParaRPr sz="1800"/>
          </a:p>
        </p:txBody>
      </p:sp>
      <p:sp>
        <p:nvSpPr>
          <p:cNvPr id="1158" name="Google Shape;1158;p98"/>
          <p:cNvSpPr txBox="1"/>
          <p:nvPr>
            <p:ph idx="4294967295" type="body"/>
          </p:nvPr>
        </p:nvSpPr>
        <p:spPr>
          <a:xfrm>
            <a:off x="324000" y="2074500"/>
            <a:ext cx="513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is the value of the </a:t>
            </a:r>
            <a:r>
              <a:rPr b="1" lang="en-GB" sz="1800"/>
              <a:t>outlier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59" name="Google Shape;1159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pic>
        <p:nvPicPr>
          <p:cNvPr id="1160" name="Google Shape;1160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993" y="711475"/>
            <a:ext cx="3363006" cy="2365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99"/>
          <p:cNvSpPr txBox="1"/>
          <p:nvPr>
            <p:ph idx="4294967295" type="body"/>
          </p:nvPr>
        </p:nvSpPr>
        <p:spPr>
          <a:xfrm>
            <a:off x="324000" y="2083800"/>
            <a:ext cx="513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is the current range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66" name="Google Shape;1166;p99"/>
          <p:cNvSpPr txBox="1"/>
          <p:nvPr>
            <p:ph idx="4294967295" type="body"/>
          </p:nvPr>
        </p:nvSpPr>
        <p:spPr>
          <a:xfrm>
            <a:off x="324000" y="711475"/>
            <a:ext cx="3743700" cy="10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This </a:t>
            </a:r>
            <a:r>
              <a:rPr lang="en-GB" sz="1800"/>
              <a:t>data set</a:t>
            </a:r>
            <a:r>
              <a:rPr lang="en-GB" sz="1800"/>
              <a:t> shows the height of 24 chimpanzees in centimetres.</a:t>
            </a:r>
            <a:endParaRPr sz="1800"/>
          </a:p>
        </p:txBody>
      </p:sp>
      <p:sp>
        <p:nvSpPr>
          <p:cNvPr id="1167" name="Google Shape;1167;p99"/>
          <p:cNvSpPr txBox="1"/>
          <p:nvPr>
            <p:ph idx="4294967295" type="body"/>
          </p:nvPr>
        </p:nvSpPr>
        <p:spPr>
          <a:xfrm>
            <a:off x="324000" y="3437875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</a:t>
            </a:r>
            <a:r>
              <a:rPr lang="en-GB" sz="1800"/>
              <a:t>) Should the </a:t>
            </a:r>
            <a:r>
              <a:rPr b="1" lang="en-GB" sz="1800"/>
              <a:t>outlier </a:t>
            </a:r>
            <a:r>
              <a:rPr lang="en-GB" sz="1800"/>
              <a:t>or </a:t>
            </a:r>
            <a:r>
              <a:rPr b="1" lang="en-GB" sz="1800"/>
              <a:t>outliers </a:t>
            </a:r>
            <a:r>
              <a:rPr lang="en-GB" sz="1800"/>
              <a:t>be: removed, kept, or investigated further?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explain the option you have chosen, and justify it by calculating any new range that might happen from you removing any </a:t>
            </a:r>
            <a:r>
              <a:rPr b="1" lang="en-GB" sz="1800"/>
              <a:t>outliers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168" name="Google Shape;1168;p99"/>
          <p:cNvSpPr txBox="1"/>
          <p:nvPr>
            <p:ph idx="4294967295" type="body"/>
          </p:nvPr>
        </p:nvSpPr>
        <p:spPr>
          <a:xfrm>
            <a:off x="324000" y="2653375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 What is the value of the </a:t>
            </a:r>
            <a:r>
              <a:rPr b="1" lang="en-GB" sz="1800"/>
              <a:t>outlier </a:t>
            </a:r>
            <a:r>
              <a:rPr lang="en-GB" sz="1800"/>
              <a:t>or </a:t>
            </a:r>
            <a:r>
              <a:rPr b="1" lang="en-GB" sz="1800"/>
              <a:t>outliers </a:t>
            </a:r>
            <a:r>
              <a:rPr lang="en-GB" sz="1800"/>
              <a:t>in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69" name="Google Shape;1169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graphicFrame>
        <p:nvGraphicFramePr>
          <p:cNvPr id="1170" name="Google Shape;1170;p99"/>
          <p:cNvGraphicFramePr/>
          <p:nvPr/>
        </p:nvGraphicFramePr>
        <p:xfrm>
          <a:off x="4320000" y="71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562500"/>
                <a:gridCol w="562500"/>
                <a:gridCol w="562500"/>
                <a:gridCol w="562500"/>
                <a:gridCol w="562500"/>
                <a:gridCol w="562500"/>
                <a:gridCol w="562500"/>
                <a:gridCol w="562500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00"/>
          <p:cNvSpPr txBox="1"/>
          <p:nvPr>
            <p:ph idx="4294967295" type="body"/>
          </p:nvPr>
        </p:nvSpPr>
        <p:spPr>
          <a:xfrm>
            <a:off x="324000" y="1542400"/>
            <a:ext cx="59865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 wants to represent this </a:t>
            </a:r>
            <a:r>
              <a:rPr lang="en-GB" sz="1800"/>
              <a:t>data set</a:t>
            </a:r>
            <a:r>
              <a:rPr lang="en-GB" sz="1800"/>
              <a:t> on a dot plot, and wants to see if removing any </a:t>
            </a:r>
            <a:r>
              <a:rPr b="1" lang="en-GB" sz="1800"/>
              <a:t>outliers </a:t>
            </a:r>
            <a:r>
              <a:rPr lang="en-GB" sz="1800"/>
              <a:t>has an impact on the range of the data he has to plot.</a:t>
            </a:r>
            <a:endParaRPr sz="1800"/>
          </a:p>
        </p:txBody>
      </p:sp>
      <p:sp>
        <p:nvSpPr>
          <p:cNvPr id="1176" name="Google Shape;1176;p100"/>
          <p:cNvSpPr txBox="1"/>
          <p:nvPr>
            <p:ph idx="4294967295" type="body"/>
          </p:nvPr>
        </p:nvSpPr>
        <p:spPr>
          <a:xfrm>
            <a:off x="324000" y="711475"/>
            <a:ext cx="5986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) This </a:t>
            </a:r>
            <a:r>
              <a:rPr lang="en-GB" sz="1800"/>
              <a:t>data set</a:t>
            </a:r>
            <a:r>
              <a:rPr lang="en-GB" sz="1800"/>
              <a:t> shows the total monthly rainfall (in millimetres) each month between 2007 and 2008.</a:t>
            </a:r>
            <a:endParaRPr sz="1800"/>
          </a:p>
        </p:txBody>
      </p:sp>
      <p:sp>
        <p:nvSpPr>
          <p:cNvPr id="1177" name="Google Shape;1177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178" name="Google Shape;1178;p100"/>
          <p:cNvSpPr txBox="1"/>
          <p:nvPr>
            <p:ph idx="4294967295" type="body"/>
          </p:nvPr>
        </p:nvSpPr>
        <p:spPr>
          <a:xfrm>
            <a:off x="324000" y="2739625"/>
            <a:ext cx="59865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Calculate two ranges, with one keeping the </a:t>
            </a:r>
            <a:r>
              <a:rPr b="1" lang="en-GB" sz="1800"/>
              <a:t>outliers</a:t>
            </a:r>
            <a:r>
              <a:rPr lang="en-GB" sz="1800"/>
              <a:t>, and one removing an </a:t>
            </a:r>
            <a:r>
              <a:rPr b="1" lang="en-GB" sz="1800"/>
              <a:t>outlier</a:t>
            </a:r>
            <a:r>
              <a:rPr lang="en-GB" sz="1800"/>
              <a:t>, and suggest if Jun should represent all data points on a dot plot or not.</a:t>
            </a:r>
            <a:endParaRPr sz="1800"/>
          </a:p>
        </p:txBody>
      </p:sp>
      <p:graphicFrame>
        <p:nvGraphicFramePr>
          <p:cNvPr id="1179" name="Google Shape;1179;p100"/>
          <p:cNvGraphicFramePr/>
          <p:nvPr/>
        </p:nvGraphicFramePr>
        <p:xfrm>
          <a:off x="6449625" y="69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1025950"/>
                <a:gridCol w="1025950"/>
              </a:tblGrid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285.6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146.9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185" name="Google Shape;1185;p101"/>
          <p:cNvSpPr txBox="1"/>
          <p:nvPr>
            <p:ph idx="4294967295" type="body"/>
          </p:nvPr>
        </p:nvSpPr>
        <p:spPr>
          <a:xfrm>
            <a:off x="324000" y="2376336"/>
            <a:ext cx="316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Should the </a:t>
            </a:r>
            <a:r>
              <a:rPr b="1" lang="en-GB" sz="1800"/>
              <a:t>outlier </a:t>
            </a:r>
            <a:r>
              <a:rPr lang="en-GB" sz="1800"/>
              <a:t>be: removed, kept, or investigated further?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explain the option you have chosen.</a:t>
            </a:r>
            <a:endParaRPr sz="1800"/>
          </a:p>
        </p:txBody>
      </p:sp>
      <p:sp>
        <p:nvSpPr>
          <p:cNvPr id="1186" name="Google Shape;1186;p101"/>
          <p:cNvSpPr txBox="1"/>
          <p:nvPr>
            <p:ph idx="4294967295" type="body"/>
          </p:nvPr>
        </p:nvSpPr>
        <p:spPr>
          <a:xfrm>
            <a:off x="324000" y="711475"/>
            <a:ext cx="316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r>
              <a:rPr lang="en-GB" sz="1800"/>
              <a:t>a) What is the value of the </a:t>
            </a:r>
            <a:r>
              <a:rPr b="1" lang="en-GB" sz="1800"/>
              <a:t>outlier</a:t>
            </a:r>
            <a:r>
              <a:rPr lang="en-GB" sz="1800"/>
              <a:t>?</a:t>
            </a:r>
            <a:endParaRPr sz="1800"/>
          </a:p>
        </p:txBody>
      </p:sp>
      <p:pic>
        <p:nvPicPr>
          <p:cNvPr id="1187" name="Google Shape;118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6674" y="711472"/>
            <a:ext cx="5333325" cy="2796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8" name="Google Shape;1188;p101"/>
          <p:cNvSpPr txBox="1"/>
          <p:nvPr>
            <p:ph idx="4294967295" type="body"/>
          </p:nvPr>
        </p:nvSpPr>
        <p:spPr>
          <a:xfrm>
            <a:off x="324000" y="1459650"/>
            <a:ext cx="316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 is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9" name="Google Shape;1189;p101"/>
          <p:cNvSpPr txBox="1"/>
          <p:nvPr>
            <p:ph idx="4294967295" type="body"/>
          </p:nvPr>
        </p:nvSpPr>
        <p:spPr>
          <a:xfrm>
            <a:off x="324000" y="4041175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Investigate further, as it is unclear whether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is an error, or just a very cold month.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195" name="Google Shape;1195;p102"/>
          <p:cNvSpPr txBox="1"/>
          <p:nvPr>
            <p:ph idx="4294967295" type="body"/>
          </p:nvPr>
        </p:nvSpPr>
        <p:spPr>
          <a:xfrm>
            <a:off x="324000" y="2020800"/>
            <a:ext cx="513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All data points have been correctly measured, with no error.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Should the </a:t>
            </a:r>
            <a:r>
              <a:rPr b="1" lang="en-GB" sz="1800"/>
              <a:t>outlier </a:t>
            </a:r>
            <a:r>
              <a:rPr lang="en-GB" sz="1800"/>
              <a:t>be: removed, kept, or investigated further?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explain the option you have chosen.</a:t>
            </a:r>
            <a:endParaRPr sz="1800"/>
          </a:p>
        </p:txBody>
      </p:sp>
      <p:sp>
        <p:nvSpPr>
          <p:cNvPr id="1196" name="Google Shape;1196;p102"/>
          <p:cNvSpPr txBox="1"/>
          <p:nvPr>
            <p:ph idx="4294967295" type="body"/>
          </p:nvPr>
        </p:nvSpPr>
        <p:spPr>
          <a:xfrm>
            <a:off x="324000" y="702900"/>
            <a:ext cx="513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a) What is the value of the </a:t>
            </a:r>
            <a:r>
              <a:rPr b="1" lang="en-GB" sz="1800"/>
              <a:t>outlier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97" name="Google Shape;1197;p102"/>
          <p:cNvSpPr txBox="1"/>
          <p:nvPr>
            <p:ph idx="4294967295" type="body"/>
          </p:nvPr>
        </p:nvSpPr>
        <p:spPr>
          <a:xfrm>
            <a:off x="324000" y="4041175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should be kept, as this month might have just been a very sunny month, and this information needs to be represented.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98" name="Google Shape;119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993" y="711475"/>
            <a:ext cx="3363006" cy="2365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9" name="Google Shape;1199;p102"/>
          <p:cNvSpPr txBox="1"/>
          <p:nvPr>
            <p:ph idx="4294967295" type="body"/>
          </p:nvPr>
        </p:nvSpPr>
        <p:spPr>
          <a:xfrm>
            <a:off x="324000" y="1221775"/>
            <a:ext cx="513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320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205" name="Google Shape;1205;p103"/>
          <p:cNvSpPr txBox="1"/>
          <p:nvPr>
            <p:ph idx="4294967295" type="body"/>
          </p:nvPr>
        </p:nvSpPr>
        <p:spPr>
          <a:xfrm>
            <a:off x="324000" y="2083800"/>
            <a:ext cx="513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What is the current range of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206" name="Google Shape;1206;p103"/>
          <p:cNvSpPr txBox="1"/>
          <p:nvPr>
            <p:ph idx="4294967295" type="body"/>
          </p:nvPr>
        </p:nvSpPr>
        <p:spPr>
          <a:xfrm>
            <a:off x="324000" y="711475"/>
            <a:ext cx="374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This </a:t>
            </a:r>
            <a:r>
              <a:rPr lang="en-GB" sz="1800"/>
              <a:t>data set</a:t>
            </a:r>
            <a:r>
              <a:rPr lang="en-GB" sz="1800"/>
              <a:t> shows the height of 24 chimpanzees, in centimetres.</a:t>
            </a:r>
            <a:endParaRPr sz="1800"/>
          </a:p>
        </p:txBody>
      </p:sp>
      <p:sp>
        <p:nvSpPr>
          <p:cNvPr id="1207" name="Google Shape;1207;p103"/>
          <p:cNvSpPr txBox="1"/>
          <p:nvPr>
            <p:ph idx="4294967295" type="body"/>
          </p:nvPr>
        </p:nvSpPr>
        <p:spPr>
          <a:xfrm>
            <a:off x="324000" y="2653375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 What is the value of the </a:t>
            </a:r>
            <a:r>
              <a:rPr b="1" lang="en-GB" sz="1800"/>
              <a:t>outlier </a:t>
            </a:r>
            <a:r>
              <a:rPr lang="en-GB" sz="1800"/>
              <a:t>or </a:t>
            </a:r>
            <a:r>
              <a:rPr b="1" lang="en-GB" sz="1800"/>
              <a:t>outliers </a:t>
            </a:r>
            <a:r>
              <a:rPr lang="en-GB" sz="1800"/>
              <a:t>in this </a:t>
            </a:r>
            <a:r>
              <a:rPr lang="en-GB" sz="1800"/>
              <a:t>data set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208" name="Google Shape;1208;p103"/>
          <p:cNvSpPr txBox="1"/>
          <p:nvPr>
            <p:ph idx="4294967295" type="body"/>
          </p:nvPr>
        </p:nvSpPr>
        <p:spPr>
          <a:xfrm>
            <a:off x="1168100" y="2332675"/>
            <a:ext cx="316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196.6 cm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09" name="Google Shape;1209;p103"/>
          <p:cNvGraphicFramePr/>
          <p:nvPr/>
        </p:nvGraphicFramePr>
        <p:xfrm>
          <a:off x="4320000" y="71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562500"/>
                <a:gridCol w="562500"/>
                <a:gridCol w="562500"/>
                <a:gridCol w="562500"/>
                <a:gridCol w="562500"/>
                <a:gridCol w="562500"/>
                <a:gridCol w="562500"/>
                <a:gridCol w="562500"/>
              </a:tblGrid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153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166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172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198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0" name="Google Shape;1210;p103"/>
          <p:cNvSpPr txBox="1"/>
          <p:nvPr>
            <p:ph idx="4294967295" type="body"/>
          </p:nvPr>
        </p:nvSpPr>
        <p:spPr>
          <a:xfrm>
            <a:off x="1168100" y="2974075"/>
            <a:ext cx="204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1.4 is an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</a:t>
            </a:r>
            <a:endParaRPr b="1"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1" name="Google Shape;1211;p103"/>
          <p:cNvSpPr txBox="1"/>
          <p:nvPr>
            <p:ph idx="4294967295" type="body"/>
          </p:nvPr>
        </p:nvSpPr>
        <p:spPr>
          <a:xfrm>
            <a:off x="3824025" y="2974075"/>
            <a:ext cx="488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198 may be an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but this is unclear.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04"/>
          <p:cNvSpPr txBox="1"/>
          <p:nvPr>
            <p:ph idx="4294967295" type="body"/>
          </p:nvPr>
        </p:nvSpPr>
        <p:spPr>
          <a:xfrm>
            <a:off x="324000" y="3189909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of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1.4 should be removed, as this is very clearly an error. Perhaps this measurement was made in metres, not centimetres. The range would decrease to 103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218" name="Google Shape;1218;p104"/>
          <p:cNvSpPr txBox="1"/>
          <p:nvPr>
            <p:ph idx="4294967295" type="body"/>
          </p:nvPr>
        </p:nvSpPr>
        <p:spPr>
          <a:xfrm>
            <a:off x="324000" y="711475"/>
            <a:ext cx="4063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This </a:t>
            </a:r>
            <a:r>
              <a:rPr lang="en-GB" sz="1800"/>
              <a:t>data set</a:t>
            </a:r>
            <a:r>
              <a:rPr lang="en-GB" sz="1800"/>
              <a:t> shows the height of 24 chimpanzees, in centimetres.</a:t>
            </a:r>
            <a:endParaRPr sz="1800"/>
          </a:p>
        </p:txBody>
      </p:sp>
      <p:sp>
        <p:nvSpPr>
          <p:cNvPr id="1219" name="Google Shape;1219;p104"/>
          <p:cNvSpPr txBox="1"/>
          <p:nvPr>
            <p:ph idx="4294967295" type="body"/>
          </p:nvPr>
        </p:nvSpPr>
        <p:spPr>
          <a:xfrm>
            <a:off x="324000" y="1814925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Should the </a:t>
            </a:r>
            <a:r>
              <a:rPr b="1" lang="en-GB" sz="1800"/>
              <a:t>outlier </a:t>
            </a:r>
            <a:r>
              <a:rPr lang="en-GB" sz="1800"/>
              <a:t>or </a:t>
            </a:r>
            <a:r>
              <a:rPr b="1" lang="en-GB" sz="1800"/>
              <a:t>outliers </a:t>
            </a:r>
            <a:r>
              <a:rPr lang="en-GB" sz="1800"/>
              <a:t>be: removed, kept, or investigated further?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Write a sentence to e</a:t>
            </a:r>
            <a:r>
              <a:rPr lang="en-GB" sz="1800"/>
              <a:t>xplain the option you have chosen, and justify it by calculating </a:t>
            </a:r>
            <a:r>
              <a:rPr lang="en-GB" sz="1800"/>
              <a:t>any </a:t>
            </a:r>
            <a:r>
              <a:rPr lang="en-GB" sz="1800"/>
              <a:t>new range that might happen from you removing any </a:t>
            </a:r>
            <a:r>
              <a:rPr b="1" lang="en-GB" sz="1800"/>
              <a:t>outliers</a:t>
            </a:r>
            <a:r>
              <a:rPr lang="en-GB" sz="1800"/>
              <a:t>.</a:t>
            </a:r>
            <a:endParaRPr sz="1800"/>
          </a:p>
        </p:txBody>
      </p:sp>
      <p:graphicFrame>
        <p:nvGraphicFramePr>
          <p:cNvPr id="1220" name="Google Shape;1220;p104"/>
          <p:cNvGraphicFramePr/>
          <p:nvPr/>
        </p:nvGraphicFramePr>
        <p:xfrm>
          <a:off x="4508000" y="711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539000"/>
                <a:gridCol w="539000"/>
                <a:gridCol w="539000"/>
                <a:gridCol w="539000"/>
                <a:gridCol w="539000"/>
                <a:gridCol w="539000"/>
                <a:gridCol w="539000"/>
                <a:gridCol w="539000"/>
              </a:tblGrid>
              <a:tr h="361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1" name="Google Shape;1221;p104"/>
          <p:cNvSpPr txBox="1"/>
          <p:nvPr>
            <p:ph idx="4294967295" type="body"/>
          </p:nvPr>
        </p:nvSpPr>
        <p:spPr>
          <a:xfrm>
            <a:off x="324000" y="403835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he data point of 198 needs to be investigated further, it might just be a very large chimpanzee!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227" name="Google Shape;1227;p105"/>
          <p:cNvSpPr txBox="1"/>
          <p:nvPr>
            <p:ph idx="4294967295" type="body"/>
          </p:nvPr>
        </p:nvSpPr>
        <p:spPr>
          <a:xfrm>
            <a:off x="324000" y="2029751"/>
            <a:ext cx="54504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Jun wants to represent this </a:t>
            </a:r>
            <a:r>
              <a:rPr lang="en-GB" sz="1800"/>
              <a:t>data set</a:t>
            </a:r>
            <a:r>
              <a:rPr lang="en-GB" sz="1800"/>
              <a:t> on a dot plot, and wants to see if removing any </a:t>
            </a:r>
            <a:r>
              <a:rPr b="1" lang="en-GB" sz="1800"/>
              <a:t>outliers </a:t>
            </a:r>
            <a:r>
              <a:rPr lang="en-GB" sz="1800"/>
              <a:t>has an impact on the range of the data he has to plot.</a:t>
            </a:r>
            <a:endParaRPr sz="1800"/>
          </a:p>
        </p:txBody>
      </p:sp>
      <p:sp>
        <p:nvSpPr>
          <p:cNvPr id="1228" name="Google Shape;1228;p105"/>
          <p:cNvSpPr txBox="1"/>
          <p:nvPr>
            <p:ph idx="4294967295" type="body"/>
          </p:nvPr>
        </p:nvSpPr>
        <p:spPr>
          <a:xfrm>
            <a:off x="324000" y="711475"/>
            <a:ext cx="545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This </a:t>
            </a:r>
            <a:r>
              <a:rPr lang="en-GB" sz="1800"/>
              <a:t>data set</a:t>
            </a:r>
            <a:r>
              <a:rPr lang="en-GB" sz="1800"/>
              <a:t> accurately shows the total monthly rainfall (in millimetres) each month for two years, between 2007 and 2008.</a:t>
            </a:r>
            <a:endParaRPr sz="1800"/>
          </a:p>
        </p:txBody>
      </p:sp>
      <p:sp>
        <p:nvSpPr>
          <p:cNvPr id="1229" name="Google Shape;1229;p105"/>
          <p:cNvSpPr txBox="1"/>
          <p:nvPr>
            <p:ph idx="4294967295" type="body"/>
          </p:nvPr>
        </p:nvSpPr>
        <p:spPr>
          <a:xfrm>
            <a:off x="324000" y="3469300"/>
            <a:ext cx="5450400" cy="68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Calculate two ranges, with one keeping the </a:t>
            </a:r>
            <a:r>
              <a:rPr b="1" lang="en-GB" sz="1800"/>
              <a:t>outliers</a:t>
            </a:r>
            <a:r>
              <a:rPr lang="en-GB" sz="1800"/>
              <a:t>, and one removing an </a:t>
            </a:r>
            <a:r>
              <a:rPr b="1" lang="en-GB" sz="1800"/>
              <a:t>outlier</a:t>
            </a:r>
            <a:r>
              <a:rPr lang="en-GB" sz="1800"/>
              <a:t>, and suggest if Jun should represent all data points on a dot plot or not.</a:t>
            </a:r>
            <a:endParaRPr sz="1800"/>
          </a:p>
        </p:txBody>
      </p:sp>
      <p:graphicFrame>
        <p:nvGraphicFramePr>
          <p:cNvPr id="1230" name="Google Shape;1230;p105"/>
          <p:cNvGraphicFramePr/>
          <p:nvPr/>
        </p:nvGraphicFramePr>
        <p:xfrm>
          <a:off x="5967875" y="69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1228725"/>
                <a:gridCol w="1228725"/>
              </a:tblGrid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285.6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146.9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Evaluating if removing outliers is sensible</a:t>
            </a:r>
            <a:endParaRPr/>
          </a:p>
        </p:txBody>
      </p:sp>
      <p:sp>
        <p:nvSpPr>
          <p:cNvPr id="1236" name="Google Shape;1236;p106"/>
          <p:cNvSpPr txBox="1"/>
          <p:nvPr>
            <p:ph idx="4294967295" type="body"/>
          </p:nvPr>
        </p:nvSpPr>
        <p:spPr>
          <a:xfrm>
            <a:off x="324000" y="711475"/>
            <a:ext cx="545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This </a:t>
            </a:r>
            <a:r>
              <a:rPr lang="en-GB" sz="1800"/>
              <a:t>data set</a:t>
            </a:r>
            <a:r>
              <a:rPr lang="en-GB" sz="1800"/>
              <a:t> accurately shows the total monthly rainfall (in millimetres) each month for two years, between 2007 and 2008.</a:t>
            </a:r>
            <a:endParaRPr sz="1800"/>
          </a:p>
        </p:txBody>
      </p:sp>
      <p:sp>
        <p:nvSpPr>
          <p:cNvPr id="1237" name="Google Shape;1237;p106"/>
          <p:cNvSpPr txBox="1"/>
          <p:nvPr>
            <p:ph idx="4294967295" type="body"/>
          </p:nvPr>
        </p:nvSpPr>
        <p:spPr>
          <a:xfrm>
            <a:off x="582575" y="1839300"/>
            <a:ext cx="5131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original range = 279.8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of 285.6 is removed from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data set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the new range becomes 148.2.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Jun should omit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from the dot plot, as the range nearly halves without it. However, the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outlier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should still be acknowledged, in case that month was just very rainy!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38" name="Google Shape;1238;p106"/>
          <p:cNvGraphicFramePr/>
          <p:nvPr/>
        </p:nvGraphicFramePr>
        <p:xfrm>
          <a:off x="5967875" y="699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{631CF58A-9830-4C75-A5F6-F56CAF892127}</a:tableStyleId>
              </a:tblPr>
              <a:tblGrid>
                <a:gridCol w="1228725"/>
                <a:gridCol w="1228725"/>
              </a:tblGrid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285.6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146.9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56.7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108.7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48.7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93.2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27.1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4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74.9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28800" marB="28800" marR="28575" marL="28575" anchor="ctr">
                    <a:lnL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107"/>
          <p:cNvSpPr txBox="1"/>
          <p:nvPr>
            <p:ph idx="1" type="body"/>
          </p:nvPr>
        </p:nvSpPr>
        <p:spPr>
          <a:xfrm>
            <a:off x="324000" y="810000"/>
            <a:ext cx="84960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Understanding that an </a:t>
            </a:r>
            <a:r>
              <a:rPr b="1" lang="en-GB" sz="1800"/>
              <a:t>o</a:t>
            </a:r>
            <a:r>
              <a:rPr b="1" lang="en-GB" sz="1800"/>
              <a:t>utlier </a:t>
            </a:r>
            <a:r>
              <a:rPr lang="en-GB" sz="1800"/>
              <a:t>is a data point that does not follow the trend of the rest of the </a:t>
            </a:r>
            <a:r>
              <a:rPr lang="en-GB" sz="1800"/>
              <a:t>data set</a:t>
            </a:r>
            <a:r>
              <a:rPr lang="en-GB" sz="1800"/>
              <a:t> is important to identifying </a:t>
            </a:r>
            <a:r>
              <a:rPr b="1" lang="en-GB" sz="1800"/>
              <a:t>outliers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Removing an </a:t>
            </a:r>
            <a:r>
              <a:rPr b="1" lang="en-GB" sz="1800"/>
              <a:t>outlier </a:t>
            </a:r>
            <a:r>
              <a:rPr lang="en-GB" sz="1800"/>
              <a:t>may be helpful in making the </a:t>
            </a:r>
            <a:r>
              <a:rPr lang="en-GB" sz="1800"/>
              <a:t>range</a:t>
            </a:r>
            <a:r>
              <a:rPr lang="en-GB" sz="1800"/>
              <a:t> a more representative measure of the </a:t>
            </a:r>
            <a:r>
              <a:rPr lang="en-GB" sz="1800"/>
              <a:t>data set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800"/>
              <a:t>Outliers </a:t>
            </a:r>
            <a:r>
              <a:rPr lang="en-GB" sz="1800"/>
              <a:t>must be investigated further before removal, and only removed if it is an error.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GB" sz="1800"/>
              <a:t>Outliers </a:t>
            </a:r>
            <a:r>
              <a:rPr lang="en-GB" sz="1800"/>
              <a:t>should not be removed when they have significance to the </a:t>
            </a:r>
            <a:r>
              <a:rPr lang="en-GB" sz="1800"/>
              <a:t>data set</a:t>
            </a:r>
            <a:r>
              <a:rPr lang="en-GB" sz="1800"/>
              <a:t>. It may be that identifying the </a:t>
            </a:r>
            <a:r>
              <a:rPr b="1" lang="en-GB" sz="1800"/>
              <a:t>outlier</a:t>
            </a:r>
            <a:r>
              <a:rPr lang="en-GB" sz="1800"/>
              <a:t> means a question can be reframed for the next cycle through the data cycle.</a:t>
            </a:r>
            <a:endParaRPr sz="1800"/>
          </a:p>
        </p:txBody>
      </p:sp>
      <p:sp>
        <p:nvSpPr>
          <p:cNvPr id="1244" name="Google Shape;1244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Evaluating the range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50" name="Google Shape;1250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