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1CEF279E-F309-4F6D-9FEB-3FF1B5329B40}">
  <a:tblStyle styleId="{1CEF279E-F309-4F6D-9FEB-3FF1B5329B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7" name="Shape 197"/>
        <p:cNvGrpSpPr/>
        <p:nvPr/>
      </p:nvGrpSpPr>
      <p:grpSpPr>
        <a:xfrm>
          <a:off x="0" y="0"/>
          <a:ext cx="0" cy="0"/>
        </a:xfrm>
      </p:grpSpPr>
      <p:sp>
        <p:nvSpPr>
          <p:cNvPr id="198" name="Google Shape;198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8.png" /><Relationship Id="rId4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 median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8325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A: Median from a line graph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83450"/>
            <a:ext cx="66240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rabi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median minimum temperature for both Aberporth and Lowestoft.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1258674" y="2456200"/>
            <a:ext cx="136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Aberporth 9°C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258674" y="2948800"/>
            <a:ext cx="1582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Lowestoft 8°C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0002" y="2078588"/>
            <a:ext cx="2947499" cy="21406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20"/>
          <p:cNvCxnSpPr/>
          <p:nvPr/>
        </p:nvCxnSpPr>
        <p:spPr>
          <a:xfrm>
            <a:off x="491775" y="4425375"/>
            <a:ext cx="6615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20"/>
          <p:cNvSpPr txBox="1"/>
          <p:nvPr/>
        </p:nvSpPr>
        <p:spPr>
          <a:xfrm>
            <a:off x="468000" y="444210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B: Median from an ungrouped frequency table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52600" y="4950300"/>
            <a:ext cx="653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the missing frequencies.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1" name="Google Shape;181;p20"/>
          <p:cNvGraphicFramePr>
            <a:graphicFrameLocks noGrp="1"/>
          </p:cNvGraphicFramePr>
          <p:nvPr/>
        </p:nvGraphicFramePr>
        <p:xfrm>
          <a:off x="978800" y="5290950"/>
          <a:ext cx="2380875" cy="1604160"/>
        </p:xfrm>
        <a:graphic>
          <a:graphicData uri="http://schemas.openxmlformats.org/drawingml/2006/table">
            <a:tbl>
              <a:tblPr>
                <a:noFill/>
                <a:tableStyleId>{1CEF279E-F309-4F6D-9FEB-3FF1B5329B40}</a:tableStyleId>
              </a:tblPr>
              <a:tblGrid>
                <a:gridCol w="1287675"/>
                <a:gridCol w="1093200"/>
              </a:tblGrid>
              <a:tr h="261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solidFill>
                      <a:schemeClr val="dk1"/>
                    </a:solidFill>
                  </a:tcPr>
                </a:tc>
              </a:tr>
              <a:tr h="259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  <a:tr h="259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  <a:tr h="259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  <a:tr h="259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  <a:tr h="194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</a:tbl>
          </a:graphicData>
        </a:graphic>
      </p:graphicFrame>
      <p:graphicFrame>
        <p:nvGraphicFramePr>
          <p:cNvPr id="182" name="Google Shape;182;p20"/>
          <p:cNvGraphicFramePr>
            <a:graphicFrameLocks noGrp="1"/>
          </p:cNvGraphicFramePr>
          <p:nvPr/>
        </p:nvGraphicFramePr>
        <p:xfrm>
          <a:off x="4368350" y="5290950"/>
          <a:ext cx="2571250" cy="1605800"/>
        </p:xfrm>
        <a:graphic>
          <a:graphicData uri="http://schemas.openxmlformats.org/drawingml/2006/table">
            <a:tbl>
              <a:tblPr>
                <a:noFill/>
                <a:tableStyleId>{1CEF279E-F309-4F6D-9FEB-3FF1B5329B40}</a:tableStyleId>
              </a:tblPr>
              <a:tblGrid>
                <a:gridCol w="1390650"/>
                <a:gridCol w="1180600"/>
              </a:tblGrid>
              <a:tr h="269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solidFill>
                      <a:schemeClr val="dk1"/>
                    </a:solidFill>
                  </a:tcPr>
                </a:tc>
              </a:tr>
              <a:tr h="26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  <a:tr h="26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 or less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  <a:tr h="26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 or less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  <a:tr h="26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 or less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129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  <a:tr h="26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 or less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160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/>
                </a:tc>
              </a:tr>
            </a:tbl>
          </a:graphicData>
        </a:graphic>
      </p:graphicFrame>
      <p:sp>
        <p:nvSpPr>
          <p:cNvPr id="183" name="Google Shape;183;p20"/>
          <p:cNvSpPr txBox="1"/>
          <p:nvPr/>
        </p:nvSpPr>
        <p:spPr>
          <a:xfrm>
            <a:off x="2644002" y="5501302"/>
            <a:ext cx="50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608227" y="6061451"/>
            <a:ext cx="50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158575" y="6038005"/>
            <a:ext cx="50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75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52600" y="7083900"/>
            <a:ext cx="653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median for these data sets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7" name="Google Shape;187;p20"/>
          <p:cNvGraphicFramePr>
            <a:graphicFrameLocks noGrp="1"/>
          </p:cNvGraphicFramePr>
          <p:nvPr/>
        </p:nvGraphicFramePr>
        <p:xfrm>
          <a:off x="1252650" y="7391700"/>
          <a:ext cx="2650575" cy="1496160"/>
        </p:xfrm>
        <a:graphic>
          <a:graphicData uri="http://schemas.openxmlformats.org/drawingml/2006/table">
            <a:tbl>
              <a:tblPr>
                <a:noFill/>
                <a:tableStyleId>{1CEF279E-F309-4F6D-9FEB-3FF1B5329B40}</a:tableStyleId>
              </a:tblPr>
              <a:tblGrid>
                <a:gridCol w="1433550"/>
                <a:gridCol w="1217025"/>
              </a:tblGrid>
              <a:tr h="20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goals scored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>
                    <a:solidFill>
                      <a:schemeClr val="dk1"/>
                    </a:solidFill>
                  </a:tcPr>
                </a:tc>
              </a:tr>
              <a:tr h="20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20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2088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20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205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</a:tbl>
          </a:graphicData>
        </a:graphic>
      </p:graphicFrame>
      <p:sp>
        <p:nvSpPr>
          <p:cNvPr id="188" name="Google Shape;188;p20"/>
          <p:cNvSpPr txBox="1"/>
          <p:nvPr/>
        </p:nvSpPr>
        <p:spPr>
          <a:xfrm>
            <a:off x="693675" y="7388550"/>
            <a:ext cx="52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199525" y="7388550"/>
            <a:ext cx="52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15591" y="9253427"/>
            <a:ext cx="52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327038" y="8982838"/>
            <a:ext cx="294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Median goals scored is 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424687" y="9007525"/>
            <a:ext cx="403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Median number of tube lines is 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162400" y="9478100"/>
            <a:ext cx="5193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Part a, the data are fairly symmetrical</a:t>
            </a: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Part b, over 50% of the data are 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769875" y="9275353"/>
            <a:ext cx="711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For each of your answers to parts a and b, justify why your answers are sensible.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5" name="Google Shape;195;p20"/>
          <p:cNvGraphicFramePr>
            <a:graphicFrameLocks noGrp="1"/>
          </p:cNvGraphicFramePr>
          <p:nvPr/>
        </p:nvGraphicFramePr>
        <p:xfrm>
          <a:off x="4576625" y="7281613"/>
          <a:ext cx="2452275" cy="1745520"/>
        </p:xfrm>
        <a:graphic>
          <a:graphicData uri="http://schemas.openxmlformats.org/drawingml/2006/table">
            <a:tbl>
              <a:tblPr>
                <a:noFill/>
                <a:tableStyleId>{1CEF279E-F309-4F6D-9FEB-3FF1B5329B40}</a:tableStyleId>
              </a:tblPr>
              <a:tblGrid>
                <a:gridCol w="1326300"/>
                <a:gridCol w="1125975"/>
              </a:tblGrid>
              <a:tr h="24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tube lines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>
                    <a:solidFill>
                      <a:schemeClr val="dk1"/>
                    </a:solidFill>
                  </a:tcPr>
                </a:tc>
              </a:tr>
              <a:tr h="24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204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24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247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24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24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24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</a:tbl>
          </a:graphicData>
        </a:graphic>
      </p:graphicFrame>
      <p:cxnSp>
        <p:nvCxnSpPr>
          <p:cNvPr id="196" name="Google Shape;196;p20"/>
          <p:cNvCxnSpPr/>
          <p:nvPr/>
        </p:nvCxnSpPr>
        <p:spPr>
          <a:xfrm>
            <a:off x="491775" y="9972000"/>
            <a:ext cx="6615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0" name="Shape 200"/>
        <p:cNvGrpSpPr/>
        <p:nvPr/>
      </p:nvGrpSpPr>
      <p:grpSpPr>
        <a:xfrm>
          <a:off x="0" y="0"/>
          <a:ext cx="0" cy="0"/>
        </a:xfrm>
      </p:grpSpPr>
      <p:sp>
        <p:nvSpPr>
          <p:cNvPr id="201" name="Google Shape;20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2" name="Google Shape;20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 median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468000" y="72000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C: Median from a bar chart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76400" y="12165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rabi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 bar chart showing the food hygiene ratings for a group of local restaurants.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" name="Google Shape;2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196" y="1746050"/>
            <a:ext cx="3513609" cy="2303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4250475" y="1746050"/>
            <a:ext cx="2841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ct val="0"/>
              </a:spcBef>
              <a:spcAft>
                <a:spcPct val="0"/>
              </a:spcAft>
              <a:buSzPts val="1400"/>
              <a:buFont typeface="Lexend"/>
              <a:buAutoNum type="alphaLcParenR"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How many restaurants is this data about?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250475" y="2784925"/>
            <a:ext cx="2841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ct val="0"/>
              </a:spcBef>
              <a:spcAft>
                <a:spcPct val="0"/>
              </a:spcAft>
              <a:buSzPts val="1400"/>
              <a:buFont typeface="Lexend"/>
              <a:buAutoNum type="alphaLcParenR" startAt="2"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What is the position of the median?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250475" y="3738675"/>
            <a:ext cx="2841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ct val="0"/>
              </a:spcBef>
              <a:spcAft>
                <a:spcPct val="0"/>
              </a:spcAft>
              <a:buSzPts val="1400"/>
              <a:buFont typeface="Lexend"/>
              <a:buAutoNum type="alphaLcParenR" startAt="3"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What is the median food hygiene rating?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113600" y="2348100"/>
            <a:ext cx="145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85 restaurants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491300" y="3344750"/>
            <a:ext cx="1572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43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rd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data point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678775" y="4420100"/>
            <a:ext cx="24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Food hygiene rating of 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4" name="Google Shape;214;p21"/>
          <p:cNvCxnSpPr/>
          <p:nvPr/>
        </p:nvCxnSpPr>
        <p:spPr>
          <a:xfrm>
            <a:off x="1062850" y="3965700"/>
            <a:ext cx="1491000" cy="0"/>
          </a:xfrm>
          <a:prstGeom prst="straightConnector1">
            <a:avLst/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215" name="Google Shape;215;p21"/>
          <p:cNvSpPr txBox="1"/>
          <p:nvPr/>
        </p:nvSpPr>
        <p:spPr>
          <a:xfrm>
            <a:off x="1062850" y="3965688"/>
            <a:ext cx="223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41 pieces of data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68000" y="5110350"/>
            <a:ext cx="662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rabicParenR" startAt="2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 bar chart showing the food hygiene ratings for restaurants in two towns. Calculate the median food hygiene rating for each town.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" name="Google Shape;2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196" y="5839246"/>
            <a:ext cx="3675026" cy="240924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4544738" y="5969488"/>
            <a:ext cx="32439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Town A: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101 ratings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Median is the 51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st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value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45 restaurants are 2 or less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64 restaurants are 3 or less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So the median is a rating of 3.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462400" y="7970750"/>
            <a:ext cx="34086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Town B: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113 ratings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Median is the 57</a:t>
            </a:r>
            <a:r>
              <a:rPr lang="en-GB" baseline="30000">
                <a:latin typeface="Kalam"/>
                <a:ea typeface="Kalam"/>
                <a:cs typeface="Kalam"/>
                <a:sym typeface="Kalam"/>
              </a:rPr>
              <a:t>th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value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41 restaurants are 2 or less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65 restaurants are 3 or less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So the median is a rating of 3.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Calculating the median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2023-12-08T09:43:33.783</cp:lastPrinted>
  <dcterms:created xsi:type="dcterms:W3CDTF">2023-12-08T09:43:33Z</dcterms:created>
  <dcterms:modified xsi:type="dcterms:W3CDTF">2023-12-08T09:46:32Z</dcterms:modified>
</cp:coreProperties>
</file>