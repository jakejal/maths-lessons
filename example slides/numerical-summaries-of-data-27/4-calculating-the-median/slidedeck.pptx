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52B6A1-14D9-401E-B4DA-8B3E68BD0E87}">
  <a:tblStyle styleId="{CE52B6A1-14D9-401E-B4DA-8B3E68BD0E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54af117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54af117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933e9a63d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933e9a63d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94166acc1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94166acc1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94166acc1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294166acc1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9545c6cc9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29545c6cc9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9545c6cc9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9545c6cc9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94166acc1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94166acc1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9545c6cc9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9545c6cc9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29545c6cc9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29545c6cc9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954af117b9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954af117b9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933e9a63d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2933e9a63d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954af117b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2954af117b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954af117b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2954af117b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29545c6cc9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29545c6cc9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2954af117b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2954af117b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2954af117b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2954af117b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2954af117b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2954af117b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954af117b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2954af117b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2954af117b9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2954af117b9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2954af117b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2954af117b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294166acc15_0_1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294166acc15_0_1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294166acc1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294166acc1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294166acc1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294166acc1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2954af117b9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2954af117b9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2954af117b9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2954af117b9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2954af117b9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2954af117b9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2933e9a63d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2933e9a63d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294166acc1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294166acc1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2954af117b9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2954af117b9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94166acc1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94166acc1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2954af117b9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2954af117b9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294166acc15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294166acc15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954af117b9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954af117b9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2954af117b9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2954af117b9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294166acc1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294166acc1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2954af117b9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2954af117b9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2954af117b9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2954af117b9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2954af117b9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2954af117b9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2954af117b9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2954af117b9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2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Relationship Id="rId4" Type="http://schemas.openxmlformats.org/officeDocument/2006/relationships/image" Target="../media/image67.png"/><Relationship Id="rId5" Type="http://schemas.openxmlformats.org/officeDocument/2006/relationships/image" Target="../media/image27.png"/><Relationship Id="rId6" Type="http://schemas.openxmlformats.org/officeDocument/2006/relationships/image" Target="../media/image31.png"/><Relationship Id="rId7" Type="http://schemas.openxmlformats.org/officeDocument/2006/relationships/image" Target="../media/image1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7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7.png"/><Relationship Id="rId4" Type="http://schemas.openxmlformats.org/officeDocument/2006/relationships/image" Target="../media/image33.png"/><Relationship Id="rId11" Type="http://schemas.openxmlformats.org/officeDocument/2006/relationships/image" Target="../media/image15.png"/><Relationship Id="rId10" Type="http://schemas.openxmlformats.org/officeDocument/2006/relationships/image" Target="../media/image36.png"/><Relationship Id="rId9" Type="http://schemas.openxmlformats.org/officeDocument/2006/relationships/image" Target="../media/image31.png"/><Relationship Id="rId5" Type="http://schemas.openxmlformats.org/officeDocument/2006/relationships/image" Target="../media/image12.png"/><Relationship Id="rId6" Type="http://schemas.openxmlformats.org/officeDocument/2006/relationships/image" Target="../media/image22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Relationship Id="rId4" Type="http://schemas.openxmlformats.org/officeDocument/2006/relationships/image" Target="../media/image4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png"/><Relationship Id="rId4" Type="http://schemas.openxmlformats.org/officeDocument/2006/relationships/image" Target="../media/image5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5.png"/><Relationship Id="rId4" Type="http://schemas.openxmlformats.org/officeDocument/2006/relationships/image" Target="../media/image52.png"/><Relationship Id="rId5" Type="http://schemas.openxmlformats.org/officeDocument/2006/relationships/image" Target="../media/image5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5.png"/><Relationship Id="rId4" Type="http://schemas.openxmlformats.org/officeDocument/2006/relationships/image" Target="../media/image50.png"/><Relationship Id="rId5" Type="http://schemas.openxmlformats.org/officeDocument/2006/relationships/image" Target="../media/image5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1.png"/><Relationship Id="rId4" Type="http://schemas.openxmlformats.org/officeDocument/2006/relationships/image" Target="../media/image50.png"/><Relationship Id="rId5" Type="http://schemas.openxmlformats.org/officeDocument/2006/relationships/image" Target="../media/image6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1.png"/><Relationship Id="rId4" Type="http://schemas.openxmlformats.org/officeDocument/2006/relationships/image" Target="../media/image50.png"/><Relationship Id="rId5" Type="http://schemas.openxmlformats.org/officeDocument/2006/relationships/image" Target="../media/image6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4.png"/><Relationship Id="rId4" Type="http://schemas.openxmlformats.org/officeDocument/2006/relationships/image" Target="../media/image6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median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calculate the median from data presented in a frequency table and different graphs.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median is the central (middle) piece of data when the data are in numerical order. It is a measure of central tendency representing the average of the values. </a:t>
            </a:r>
            <a:endParaRPr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1" y="242025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Data are a collection of information. </a:t>
            </a:r>
            <a:endParaRPr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1" y="319640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frequency is the number of times an event occurs; or the number of individuals (people, animals etc.) with some specific property.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 line graph</a:t>
            </a:r>
            <a:endParaRPr/>
          </a:p>
        </p:txBody>
      </p:sp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an ungrouped frequency table</a:t>
            </a:r>
            <a:endParaRPr/>
          </a:p>
        </p:txBody>
      </p:sp>
      <p:sp>
        <p:nvSpPr>
          <p:cNvPr id="775" name="Google Shape;775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 bar chart</a:t>
            </a:r>
            <a:endParaRPr/>
          </a:p>
        </p:txBody>
      </p:sp>
      <p:sp>
        <p:nvSpPr>
          <p:cNvPr id="776" name="Google Shape;776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median</a:t>
            </a:r>
            <a:endParaRPr/>
          </a:p>
        </p:txBody>
      </p:sp>
      <p:pic>
        <p:nvPicPr>
          <p:cNvPr id="777" name="Google Shape;77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151" y="174822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 line graph</a:t>
            </a:r>
            <a:endParaRPr/>
          </a:p>
        </p:txBody>
      </p:sp>
      <p:sp>
        <p:nvSpPr>
          <p:cNvPr id="783" name="Google Shape;783;p69"/>
          <p:cNvSpPr txBox="1"/>
          <p:nvPr/>
        </p:nvSpPr>
        <p:spPr>
          <a:xfrm>
            <a:off x="324000" y="759300"/>
            <a:ext cx="82377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Data has been collected about the number of days of frost in February over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nine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different years.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84" name="Google Shape;784;p69"/>
          <p:cNvGraphicFramePr/>
          <p:nvPr/>
        </p:nvGraphicFramePr>
        <p:xfrm>
          <a:off x="363375" y="148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655025"/>
                <a:gridCol w="735950"/>
                <a:gridCol w="735950"/>
                <a:gridCol w="735950"/>
                <a:gridCol w="735950"/>
                <a:gridCol w="735950"/>
                <a:gridCol w="735950"/>
                <a:gridCol w="735950"/>
                <a:gridCol w="735950"/>
                <a:gridCol w="735950"/>
              </a:tblGrid>
              <a:tr h="405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1941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1951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1961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1971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1991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days of frost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 line graph</a:t>
            </a:r>
            <a:endParaRPr/>
          </a:p>
        </p:txBody>
      </p:sp>
      <p:sp>
        <p:nvSpPr>
          <p:cNvPr id="790" name="Google Shape;790;p70"/>
          <p:cNvSpPr txBox="1"/>
          <p:nvPr/>
        </p:nvSpPr>
        <p:spPr>
          <a:xfrm>
            <a:off x="324000" y="759300"/>
            <a:ext cx="82377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same data can be represented as line graph or a time-series graph.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1" name="Google Shape;79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5" y="1172231"/>
            <a:ext cx="4267203" cy="31003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2" name="Google Shape;792;p70"/>
          <p:cNvCxnSpPr/>
          <p:nvPr/>
        </p:nvCxnSpPr>
        <p:spPr>
          <a:xfrm>
            <a:off x="765750" y="2770769"/>
            <a:ext cx="39660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3" name="Google Shape;793;p70"/>
          <p:cNvSpPr txBox="1"/>
          <p:nvPr/>
        </p:nvSpPr>
        <p:spPr>
          <a:xfrm>
            <a:off x="5221100" y="2378450"/>
            <a:ext cx="416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middle of the vertical data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4" name="Google Shape;794;p70"/>
          <p:cNvCxnSpPr/>
          <p:nvPr/>
        </p:nvCxnSpPr>
        <p:spPr>
          <a:xfrm>
            <a:off x="2683751" y="1574825"/>
            <a:ext cx="0" cy="2232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5" name="Google Shape;795;p70"/>
          <p:cNvSpPr txBox="1"/>
          <p:nvPr/>
        </p:nvSpPr>
        <p:spPr>
          <a:xfrm>
            <a:off x="5221100" y="2979175"/>
            <a:ext cx="416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middle of the horizontal data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70"/>
          <p:cNvSpPr txBox="1"/>
          <p:nvPr/>
        </p:nvSpPr>
        <p:spPr>
          <a:xfrm>
            <a:off x="5221100" y="3549150"/>
            <a:ext cx="416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middle of the ordered raw data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7" name="Google Shape;797;p70"/>
          <p:cNvGrpSpPr/>
          <p:nvPr/>
        </p:nvGrpSpPr>
        <p:grpSpPr>
          <a:xfrm>
            <a:off x="4840891" y="2382950"/>
            <a:ext cx="457200" cy="457200"/>
            <a:chOff x="1020916" y="1442088"/>
            <a:chExt cx="457200" cy="457200"/>
          </a:xfrm>
        </p:grpSpPr>
        <p:pic>
          <p:nvPicPr>
            <p:cNvPr id="798" name="Google Shape;798;p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0" name="Google Shape;800;p70"/>
          <p:cNvGrpSpPr/>
          <p:nvPr/>
        </p:nvGrpSpPr>
        <p:grpSpPr>
          <a:xfrm>
            <a:off x="4840891" y="2981425"/>
            <a:ext cx="457200" cy="457200"/>
            <a:chOff x="1020916" y="1442088"/>
            <a:chExt cx="457200" cy="457200"/>
          </a:xfrm>
        </p:grpSpPr>
        <p:pic>
          <p:nvPicPr>
            <p:cNvPr id="801" name="Google Shape;801;p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2" name="Google Shape;802;p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3" name="Google Shape;803;p70"/>
          <p:cNvGrpSpPr/>
          <p:nvPr/>
        </p:nvGrpSpPr>
        <p:grpSpPr>
          <a:xfrm>
            <a:off x="4840891" y="3579900"/>
            <a:ext cx="457200" cy="457200"/>
            <a:chOff x="1020916" y="1442088"/>
            <a:chExt cx="457200" cy="457200"/>
          </a:xfrm>
        </p:grpSpPr>
        <p:pic>
          <p:nvPicPr>
            <p:cNvPr id="804" name="Google Shape;804;p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5" name="Google Shape;805;p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06" name="Google Shape;806;p70"/>
          <p:cNvSpPr txBox="1"/>
          <p:nvPr/>
        </p:nvSpPr>
        <p:spPr>
          <a:xfrm>
            <a:off x="4795375" y="1565488"/>
            <a:ext cx="400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Where is the median?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70"/>
          <p:cNvSpPr txBox="1"/>
          <p:nvPr/>
        </p:nvSpPr>
        <p:spPr>
          <a:xfrm>
            <a:off x="1249750" y="4384975"/>
            <a:ext cx="706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median will be the middle of the ordered raw data.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 line graph</a:t>
            </a:r>
            <a:endParaRPr/>
          </a:p>
        </p:txBody>
      </p:sp>
      <p:sp>
        <p:nvSpPr>
          <p:cNvPr id="813" name="Google Shape;813;p71"/>
          <p:cNvSpPr txBox="1"/>
          <p:nvPr/>
        </p:nvSpPr>
        <p:spPr>
          <a:xfrm>
            <a:off x="324000" y="759300"/>
            <a:ext cx="82377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same data can be represented as line graph or a time-series graph.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4" name="Google Shape;81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5" y="1172231"/>
            <a:ext cx="4267203" cy="3100389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1"/>
          <p:cNvSpPr txBox="1"/>
          <p:nvPr/>
        </p:nvSpPr>
        <p:spPr>
          <a:xfrm>
            <a:off x="4865503" y="3065738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71"/>
          <p:cNvSpPr txBox="1"/>
          <p:nvPr/>
        </p:nvSpPr>
        <p:spPr>
          <a:xfrm>
            <a:off x="4795375" y="1565488"/>
            <a:ext cx="4009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median number of days frost?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71"/>
          <p:cNvSpPr/>
          <p:nvPr/>
        </p:nvSpPr>
        <p:spPr>
          <a:xfrm>
            <a:off x="1802348" y="3726979"/>
            <a:ext cx="115500" cy="1155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p71"/>
          <p:cNvSpPr txBox="1"/>
          <p:nvPr/>
        </p:nvSpPr>
        <p:spPr>
          <a:xfrm>
            <a:off x="5201300" y="2497102"/>
            <a:ext cx="30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1"/>
          <p:cNvSpPr txBox="1"/>
          <p:nvPr/>
        </p:nvSpPr>
        <p:spPr>
          <a:xfrm>
            <a:off x="5340850" y="2497102"/>
            <a:ext cx="65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1"/>
          <p:cNvSpPr txBox="1"/>
          <p:nvPr/>
        </p:nvSpPr>
        <p:spPr>
          <a:xfrm>
            <a:off x="5606400" y="2497102"/>
            <a:ext cx="65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1"/>
          <p:cNvSpPr txBox="1"/>
          <p:nvPr/>
        </p:nvSpPr>
        <p:spPr>
          <a:xfrm>
            <a:off x="5863896" y="2497102"/>
            <a:ext cx="65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1"/>
          <p:cNvSpPr txBox="1"/>
          <p:nvPr/>
        </p:nvSpPr>
        <p:spPr>
          <a:xfrm>
            <a:off x="6106944" y="2497102"/>
            <a:ext cx="65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1"/>
          <p:cNvSpPr txBox="1"/>
          <p:nvPr/>
        </p:nvSpPr>
        <p:spPr>
          <a:xfrm>
            <a:off x="6350008" y="2497102"/>
            <a:ext cx="65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1"/>
          <p:cNvSpPr txBox="1"/>
          <p:nvPr/>
        </p:nvSpPr>
        <p:spPr>
          <a:xfrm>
            <a:off x="6716560" y="2497102"/>
            <a:ext cx="65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/>
        </p:nvSpPr>
        <p:spPr>
          <a:xfrm>
            <a:off x="7086699" y="2497102"/>
            <a:ext cx="65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13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1"/>
          <p:cNvSpPr txBox="1"/>
          <p:nvPr/>
        </p:nvSpPr>
        <p:spPr>
          <a:xfrm>
            <a:off x="7443124" y="2497102"/>
            <a:ext cx="65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16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71"/>
          <p:cNvSpPr/>
          <p:nvPr/>
        </p:nvSpPr>
        <p:spPr>
          <a:xfrm>
            <a:off x="3867036" y="3602542"/>
            <a:ext cx="115500" cy="1155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1"/>
          <p:cNvSpPr/>
          <p:nvPr/>
        </p:nvSpPr>
        <p:spPr>
          <a:xfrm>
            <a:off x="2217210" y="3346368"/>
            <a:ext cx="115500" cy="1155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1"/>
          <p:cNvSpPr/>
          <p:nvPr/>
        </p:nvSpPr>
        <p:spPr>
          <a:xfrm>
            <a:off x="1389816" y="3472147"/>
            <a:ext cx="115500" cy="1155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1"/>
          <p:cNvSpPr/>
          <p:nvPr/>
        </p:nvSpPr>
        <p:spPr>
          <a:xfrm>
            <a:off x="975687" y="2070189"/>
            <a:ext cx="115500" cy="1155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1"/>
          <p:cNvSpPr/>
          <p:nvPr/>
        </p:nvSpPr>
        <p:spPr>
          <a:xfrm>
            <a:off x="2628229" y="2199171"/>
            <a:ext cx="115500" cy="1155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1"/>
          <p:cNvSpPr/>
          <p:nvPr/>
        </p:nvSpPr>
        <p:spPr>
          <a:xfrm>
            <a:off x="3043510" y="1688436"/>
            <a:ext cx="115500" cy="1155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1"/>
          <p:cNvSpPr/>
          <p:nvPr/>
        </p:nvSpPr>
        <p:spPr>
          <a:xfrm>
            <a:off x="3455985" y="2326663"/>
            <a:ext cx="115500" cy="1155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1"/>
          <p:cNvSpPr/>
          <p:nvPr/>
        </p:nvSpPr>
        <p:spPr>
          <a:xfrm>
            <a:off x="4284049" y="2582779"/>
            <a:ext cx="115500" cy="1155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1"/>
          <p:cNvSpPr/>
          <p:nvPr/>
        </p:nvSpPr>
        <p:spPr>
          <a:xfrm>
            <a:off x="6270453" y="2571751"/>
            <a:ext cx="222300" cy="3033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6" name="Google Shape;836;p71"/>
          <p:cNvCxnSpPr/>
          <p:nvPr/>
        </p:nvCxnSpPr>
        <p:spPr>
          <a:xfrm rot="10800000">
            <a:off x="6384846" y="2958800"/>
            <a:ext cx="0" cy="41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7" name="Google Shape;837;p71"/>
          <p:cNvSpPr txBox="1"/>
          <p:nvPr/>
        </p:nvSpPr>
        <p:spPr>
          <a:xfrm>
            <a:off x="5539200" y="3411075"/>
            <a:ext cx="300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Position =                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th </a:t>
            </a:r>
            <a:endParaRPr baseline="30000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9+1}{2}=5&quot;&gt;&lt;mfrac&gt;&lt;mrow&gt;&lt;mn&gt;9&lt;/mn&gt;&lt;mo&gt;+&lt;/mo&gt;&lt;mn&gt;1&lt;/mn&gt;&lt;/mrow&gt;&lt;mn&gt;2&lt;/mn&gt;&lt;/mfrac&gt;&lt;mo&gt;=&lt;/mo&gt;&lt;mn&gt;5&lt;/mn&gt;&lt;/math&gt;" id="838" name="Google Shape;838;p71" title="the fraction with numerator 9 plus 1 and denominator 2 equals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9775" y="3411075"/>
            <a:ext cx="911208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71"/>
          <p:cNvSpPr txBox="1"/>
          <p:nvPr/>
        </p:nvSpPr>
        <p:spPr>
          <a:xfrm>
            <a:off x="5606400" y="4139375"/>
            <a:ext cx="386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days of frost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Where is the median on a line graph?</a:t>
            </a:r>
            <a:endParaRPr/>
          </a:p>
        </p:txBody>
      </p:sp>
      <p:sp>
        <p:nvSpPr>
          <p:cNvPr id="845" name="Google Shape;845;p7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 line graph</a:t>
            </a:r>
            <a:endParaRPr/>
          </a:p>
        </p:txBody>
      </p:sp>
      <p:sp>
        <p:nvSpPr>
          <p:cNvPr id="846" name="Google Shape;846;p7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middle of the horizontal axis</a:t>
            </a:r>
            <a:endParaRPr/>
          </a:p>
        </p:txBody>
      </p:sp>
      <p:sp>
        <p:nvSpPr>
          <p:cNvPr id="847" name="Google Shape;847;p7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</a:t>
            </a:r>
            <a:r>
              <a:rPr lang="en-GB"/>
              <a:t>iddle of the vertical axis</a:t>
            </a:r>
            <a:endParaRPr/>
          </a:p>
        </p:txBody>
      </p:sp>
      <p:sp>
        <p:nvSpPr>
          <p:cNvPr id="848" name="Google Shape;848;p7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</a:t>
            </a:r>
            <a:r>
              <a:rPr lang="en-GB"/>
              <a:t>iddle of the ordered raw data</a:t>
            </a:r>
            <a:endParaRPr/>
          </a:p>
        </p:txBody>
      </p:sp>
      <p:pic>
        <p:nvPicPr>
          <p:cNvPr id="849" name="Google Shape;84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8408" y="37197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 line graph</a:t>
            </a:r>
            <a:endParaRPr/>
          </a:p>
        </p:txBody>
      </p:sp>
      <p:sp>
        <p:nvSpPr>
          <p:cNvPr id="855" name="Google Shape;855;p73"/>
          <p:cNvSpPr txBox="1"/>
          <p:nvPr/>
        </p:nvSpPr>
        <p:spPr>
          <a:xfrm>
            <a:off x="324000" y="728075"/>
            <a:ext cx="81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line graph shows the time taken for someone to travel to work over the course of one week.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6" name="Google Shape;856;p73"/>
          <p:cNvGrpSpPr/>
          <p:nvPr/>
        </p:nvGrpSpPr>
        <p:grpSpPr>
          <a:xfrm>
            <a:off x="323995" y="1411868"/>
            <a:ext cx="4876773" cy="3277414"/>
            <a:chOff x="324000" y="1411851"/>
            <a:chExt cx="4820374" cy="3127900"/>
          </a:xfrm>
        </p:grpSpPr>
        <p:pic>
          <p:nvPicPr>
            <p:cNvPr id="857" name="Google Shape;857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4000" y="1411851"/>
              <a:ext cx="4820374" cy="312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8" name="Google Shape;858;p73"/>
            <p:cNvSpPr/>
            <p:nvPr/>
          </p:nvSpPr>
          <p:spPr>
            <a:xfrm>
              <a:off x="652025" y="3877425"/>
              <a:ext cx="159000" cy="187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9" name="Google Shape;859;p73"/>
            <p:cNvSpPr/>
            <p:nvPr/>
          </p:nvSpPr>
          <p:spPr>
            <a:xfrm>
              <a:off x="885225" y="3837975"/>
              <a:ext cx="125100" cy="52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0" name="Google Shape;860;p73"/>
            <p:cNvSpPr/>
            <p:nvPr/>
          </p:nvSpPr>
          <p:spPr>
            <a:xfrm>
              <a:off x="900125" y="3833500"/>
              <a:ext cx="93450" cy="61300"/>
            </a:xfrm>
            <a:custGeom>
              <a:rect b="b" l="l" r="r" t="t"/>
              <a:pathLst>
                <a:path extrusionOk="0" h="2452" w="3738">
                  <a:moveTo>
                    <a:pt x="2048" y="0"/>
                  </a:moveTo>
                  <a:lnTo>
                    <a:pt x="0" y="1071"/>
                  </a:lnTo>
                  <a:lnTo>
                    <a:pt x="3738" y="1428"/>
                  </a:lnTo>
                  <a:lnTo>
                    <a:pt x="1881" y="2452"/>
                  </a:lnTo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861" name="Google Shape;861;p73"/>
          <p:cNvSpPr txBox="1"/>
          <p:nvPr/>
        </p:nvSpPr>
        <p:spPr>
          <a:xfrm>
            <a:off x="5295200" y="1411875"/>
            <a:ext cx="361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are five pieces of data, so the median value is the 3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rd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piece of data.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2" name="Google Shape;862;p73"/>
          <p:cNvGrpSpPr/>
          <p:nvPr/>
        </p:nvGrpSpPr>
        <p:grpSpPr>
          <a:xfrm>
            <a:off x="4607322" y="3161550"/>
            <a:ext cx="445278" cy="446021"/>
            <a:chOff x="4607322" y="3161550"/>
            <a:chExt cx="445278" cy="446021"/>
          </a:xfrm>
        </p:grpSpPr>
        <p:sp>
          <p:nvSpPr>
            <p:cNvPr id="863" name="Google Shape;863;p73"/>
            <p:cNvSpPr/>
            <p:nvPr/>
          </p:nvSpPr>
          <p:spPr>
            <a:xfrm>
              <a:off x="4607322" y="3426971"/>
              <a:ext cx="180600" cy="1806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4" name="Google Shape;864;p73"/>
            <p:cNvSpPr txBox="1"/>
            <p:nvPr/>
          </p:nvSpPr>
          <p:spPr>
            <a:xfrm>
              <a:off x="4803300" y="3161550"/>
              <a:ext cx="249300" cy="277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r>
                <a:rPr baseline="30000" lang="en-GB" sz="1800">
                  <a:latin typeface="Lexend"/>
                  <a:ea typeface="Lexend"/>
                  <a:cs typeface="Lexend"/>
                  <a:sym typeface="Lexend"/>
                </a:rPr>
                <a:t>st</a:t>
              </a:r>
              <a:endParaRPr baseline="30000"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5" name="Google Shape;865;p73"/>
          <p:cNvGrpSpPr/>
          <p:nvPr/>
        </p:nvGrpSpPr>
        <p:grpSpPr>
          <a:xfrm>
            <a:off x="1159106" y="2378622"/>
            <a:ext cx="327000" cy="493818"/>
            <a:chOff x="1159106" y="2378622"/>
            <a:chExt cx="327000" cy="493818"/>
          </a:xfrm>
        </p:grpSpPr>
        <p:sp>
          <p:nvSpPr>
            <p:cNvPr id="866" name="Google Shape;866;p73"/>
            <p:cNvSpPr/>
            <p:nvPr/>
          </p:nvSpPr>
          <p:spPr>
            <a:xfrm>
              <a:off x="1268418" y="2691840"/>
              <a:ext cx="180600" cy="1806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7" name="Google Shape;867;p73"/>
            <p:cNvSpPr txBox="1"/>
            <p:nvPr/>
          </p:nvSpPr>
          <p:spPr>
            <a:xfrm>
              <a:off x="1159106" y="2378622"/>
              <a:ext cx="327000" cy="277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baseline="30000" lang="en-GB" sz="1800">
                  <a:latin typeface="Lexend"/>
                  <a:ea typeface="Lexend"/>
                  <a:cs typeface="Lexend"/>
                  <a:sym typeface="Lexend"/>
                </a:rPr>
                <a:t>nd</a:t>
              </a:r>
              <a:endParaRPr baseline="30000"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8" name="Google Shape;868;p73"/>
          <p:cNvGrpSpPr/>
          <p:nvPr/>
        </p:nvGrpSpPr>
        <p:grpSpPr>
          <a:xfrm>
            <a:off x="3777266" y="2243650"/>
            <a:ext cx="522985" cy="446015"/>
            <a:chOff x="3777266" y="2243650"/>
            <a:chExt cx="522985" cy="446015"/>
          </a:xfrm>
        </p:grpSpPr>
        <p:sp>
          <p:nvSpPr>
            <p:cNvPr id="869" name="Google Shape;869;p73"/>
            <p:cNvSpPr/>
            <p:nvPr/>
          </p:nvSpPr>
          <p:spPr>
            <a:xfrm>
              <a:off x="3777266" y="2509065"/>
              <a:ext cx="180600" cy="1806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0" name="Google Shape;870;p73"/>
            <p:cNvSpPr txBox="1"/>
            <p:nvPr/>
          </p:nvSpPr>
          <p:spPr>
            <a:xfrm>
              <a:off x="3973251" y="2243650"/>
              <a:ext cx="327000" cy="277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r>
                <a:rPr baseline="30000" lang="en-GB" sz="1800">
                  <a:latin typeface="Lexend"/>
                  <a:ea typeface="Lexend"/>
                  <a:cs typeface="Lexend"/>
                  <a:sym typeface="Lexend"/>
                </a:rPr>
                <a:t>rd</a:t>
              </a:r>
              <a:endParaRPr baseline="30000"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71" name="Google Shape;871;p73"/>
          <p:cNvSpPr txBox="1"/>
          <p:nvPr/>
        </p:nvSpPr>
        <p:spPr>
          <a:xfrm>
            <a:off x="5410250" y="2876663"/>
            <a:ext cx="3156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median time taken to travel to work is 23 minutes.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4"/>
          <p:cNvSpPr txBox="1"/>
          <p:nvPr>
            <p:ph idx="1" type="body"/>
          </p:nvPr>
        </p:nvSpPr>
        <p:spPr>
          <a:xfrm>
            <a:off x="5762200" y="759300"/>
            <a:ext cx="3035400" cy="8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position is the median?</a:t>
            </a:r>
            <a:endParaRPr/>
          </a:p>
        </p:txBody>
      </p:sp>
      <p:sp>
        <p:nvSpPr>
          <p:cNvPr id="877" name="Google Shape;87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 line graph</a:t>
            </a:r>
            <a:endParaRPr/>
          </a:p>
        </p:txBody>
      </p:sp>
      <p:sp>
        <p:nvSpPr>
          <p:cNvPr id="878" name="Google Shape;878;p74"/>
          <p:cNvSpPr txBox="1"/>
          <p:nvPr/>
        </p:nvSpPr>
        <p:spPr>
          <a:xfrm>
            <a:off x="5653150" y="1755425"/>
            <a:ext cx="3178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12 data points.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position will be 6.5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6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7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data will be used to calculate the median.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79" name="Google Shape;87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801300"/>
            <a:ext cx="5228800" cy="3797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5"/>
          <p:cNvSpPr txBox="1"/>
          <p:nvPr>
            <p:ph idx="1" type="body"/>
          </p:nvPr>
        </p:nvSpPr>
        <p:spPr>
          <a:xfrm>
            <a:off x="324000" y="759300"/>
            <a:ext cx="8237700" cy="62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Work out the median minimum temperature </a:t>
            </a:r>
            <a:r>
              <a:rPr lang="en-GB" sz="1800"/>
              <a:t>for both Aberporth and Lowestoft.</a:t>
            </a:r>
            <a:endParaRPr sz="1800"/>
          </a:p>
        </p:txBody>
      </p:sp>
      <p:sp>
        <p:nvSpPr>
          <p:cNvPr id="885" name="Google Shape;885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Median from a line graph</a:t>
            </a:r>
            <a:endParaRPr/>
          </a:p>
        </p:txBody>
      </p:sp>
      <p:pic>
        <p:nvPicPr>
          <p:cNvPr id="886" name="Google Shape;88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7938" y="1214225"/>
            <a:ext cx="4752915" cy="345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7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Work out the median minimum temperature for both Aberporth and Lowestoft.</a:t>
            </a:r>
            <a:endParaRPr sz="1800"/>
          </a:p>
        </p:txBody>
      </p:sp>
      <p:sp>
        <p:nvSpPr>
          <p:cNvPr id="892" name="Google Shape;892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Median from a line graph</a:t>
            </a:r>
            <a:endParaRPr/>
          </a:p>
        </p:txBody>
      </p:sp>
      <p:sp>
        <p:nvSpPr>
          <p:cNvPr id="893" name="Google Shape;893;p76"/>
          <p:cNvSpPr txBox="1"/>
          <p:nvPr/>
        </p:nvSpPr>
        <p:spPr>
          <a:xfrm>
            <a:off x="643950" y="2117850"/>
            <a:ext cx="16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Aberporth 9°C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94" name="Google Shape;894;p76"/>
          <p:cNvSpPr txBox="1"/>
          <p:nvPr/>
        </p:nvSpPr>
        <p:spPr>
          <a:xfrm>
            <a:off x="643950" y="2610450"/>
            <a:ext cx="196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Lowestoft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8°C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95" name="Google Shape;89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7938" y="1214225"/>
            <a:ext cx="4752915" cy="345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7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 line graph</a:t>
            </a:r>
            <a:endParaRPr/>
          </a:p>
        </p:txBody>
      </p:sp>
      <p:sp>
        <p:nvSpPr>
          <p:cNvPr id="901" name="Google Shape;901;p77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an ungrouped frequency table</a:t>
            </a:r>
            <a:endParaRPr/>
          </a:p>
        </p:txBody>
      </p:sp>
      <p:sp>
        <p:nvSpPr>
          <p:cNvPr id="902" name="Google Shape;902;p77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 bar chart</a:t>
            </a:r>
            <a:endParaRPr/>
          </a:p>
        </p:txBody>
      </p:sp>
      <p:sp>
        <p:nvSpPr>
          <p:cNvPr id="903" name="Google Shape;903;p77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median</a:t>
            </a:r>
            <a:endParaRPr/>
          </a:p>
        </p:txBody>
      </p:sp>
      <p:pic>
        <p:nvPicPr>
          <p:cNvPr id="904" name="Google Shape;90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375" y="277168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an ungrouped frequency table</a:t>
            </a:r>
            <a:endParaRPr/>
          </a:p>
        </p:txBody>
      </p:sp>
      <p:graphicFrame>
        <p:nvGraphicFramePr>
          <p:cNvPr id="910" name="Google Shape;910;p78"/>
          <p:cNvGraphicFramePr/>
          <p:nvPr/>
        </p:nvGraphicFramePr>
        <p:xfrm>
          <a:off x="926800" y="1320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411000"/>
                <a:gridCol w="1341025"/>
              </a:tblGrid>
              <a:tr h="34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24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sp>
        <p:nvSpPr>
          <p:cNvPr id="911" name="Google Shape;911;p78"/>
          <p:cNvSpPr txBox="1"/>
          <p:nvPr/>
        </p:nvSpPr>
        <p:spPr>
          <a:xfrm>
            <a:off x="347950" y="581300"/>
            <a:ext cx="80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data about group sizes at tables in a restaurant are shown in the frequency table.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8"/>
          <p:cNvSpPr txBox="1"/>
          <p:nvPr/>
        </p:nvSpPr>
        <p:spPr>
          <a:xfrm>
            <a:off x="4424925" y="1269900"/>
            <a:ext cx="387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tables were empty?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8"/>
          <p:cNvSpPr txBox="1"/>
          <p:nvPr/>
        </p:nvSpPr>
        <p:spPr>
          <a:xfrm>
            <a:off x="5514125" y="1670100"/>
            <a:ext cx="101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table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4" name="Google Shape;914;p78"/>
          <p:cNvSpPr txBox="1"/>
          <p:nvPr/>
        </p:nvSpPr>
        <p:spPr>
          <a:xfrm>
            <a:off x="4424925" y="2287638"/>
            <a:ext cx="3872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tables had a group size of 1 or less?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8"/>
          <p:cNvSpPr txBox="1"/>
          <p:nvPr/>
        </p:nvSpPr>
        <p:spPr>
          <a:xfrm>
            <a:off x="5598475" y="3059200"/>
            <a:ext cx="159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tables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6" name="Google Shape;916;p78"/>
          <p:cNvSpPr txBox="1"/>
          <p:nvPr/>
        </p:nvSpPr>
        <p:spPr>
          <a:xfrm>
            <a:off x="4424925" y="3506838"/>
            <a:ext cx="3872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tables had a group size of 2 or less?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8"/>
          <p:cNvSpPr txBox="1"/>
          <p:nvPr/>
        </p:nvSpPr>
        <p:spPr>
          <a:xfrm>
            <a:off x="5598475" y="4278400"/>
            <a:ext cx="159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tables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an ungrouped frequency table</a:t>
            </a:r>
            <a:endParaRPr/>
          </a:p>
        </p:txBody>
      </p:sp>
      <p:graphicFrame>
        <p:nvGraphicFramePr>
          <p:cNvPr id="923" name="Google Shape;923;p79"/>
          <p:cNvGraphicFramePr/>
          <p:nvPr/>
        </p:nvGraphicFramePr>
        <p:xfrm>
          <a:off x="926800" y="1320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411000"/>
                <a:gridCol w="1341025"/>
              </a:tblGrid>
              <a:tr h="34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24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sp>
        <p:nvSpPr>
          <p:cNvPr id="924" name="Google Shape;924;p79"/>
          <p:cNvSpPr txBox="1"/>
          <p:nvPr/>
        </p:nvSpPr>
        <p:spPr>
          <a:xfrm>
            <a:off x="347950" y="581300"/>
            <a:ext cx="80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data about group sizes at tables in a restaurant are shown in the frequency table.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9"/>
          <p:cNvSpPr txBox="1"/>
          <p:nvPr/>
        </p:nvSpPr>
        <p:spPr>
          <a:xfrm>
            <a:off x="4424925" y="1269900"/>
            <a:ext cx="3872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tables had a group size of 3 or less?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9"/>
          <p:cNvSpPr txBox="1"/>
          <p:nvPr/>
        </p:nvSpPr>
        <p:spPr>
          <a:xfrm>
            <a:off x="5514125" y="1890075"/>
            <a:ext cx="152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tables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7" name="Google Shape;927;p79"/>
          <p:cNvSpPr txBox="1"/>
          <p:nvPr/>
        </p:nvSpPr>
        <p:spPr>
          <a:xfrm>
            <a:off x="4424925" y="2363838"/>
            <a:ext cx="3872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tables had a group size of 4 or less?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9"/>
          <p:cNvSpPr txBox="1"/>
          <p:nvPr/>
        </p:nvSpPr>
        <p:spPr>
          <a:xfrm>
            <a:off x="5598475" y="3059200"/>
            <a:ext cx="159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tables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9" name="Google Shape;929;p79"/>
          <p:cNvSpPr txBox="1"/>
          <p:nvPr/>
        </p:nvSpPr>
        <p:spPr>
          <a:xfrm>
            <a:off x="4424925" y="3506838"/>
            <a:ext cx="3872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tables had a group size of 5 or less?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9"/>
          <p:cNvSpPr txBox="1"/>
          <p:nvPr/>
        </p:nvSpPr>
        <p:spPr>
          <a:xfrm>
            <a:off x="5598475" y="4278400"/>
            <a:ext cx="159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tables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an ungrouped frequency table</a:t>
            </a:r>
            <a:endParaRPr/>
          </a:p>
        </p:txBody>
      </p:sp>
      <p:graphicFrame>
        <p:nvGraphicFramePr>
          <p:cNvPr id="936" name="Google Shape;936;p80"/>
          <p:cNvGraphicFramePr/>
          <p:nvPr/>
        </p:nvGraphicFramePr>
        <p:xfrm>
          <a:off x="926800" y="1472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411000"/>
                <a:gridCol w="1341025"/>
              </a:tblGrid>
              <a:tr h="34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24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graphicFrame>
        <p:nvGraphicFramePr>
          <p:cNvPr id="937" name="Google Shape;937;p80"/>
          <p:cNvGraphicFramePr/>
          <p:nvPr/>
        </p:nvGraphicFramePr>
        <p:xfrm>
          <a:off x="4824000" y="147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411000"/>
                <a:gridCol w="1341025"/>
              </a:tblGrid>
              <a:tr h="34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sp>
        <p:nvSpPr>
          <p:cNvPr id="938" name="Google Shape;938;p80"/>
          <p:cNvSpPr txBox="1"/>
          <p:nvPr/>
        </p:nvSpPr>
        <p:spPr>
          <a:xfrm>
            <a:off x="347950" y="581300"/>
            <a:ext cx="80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data about group sizes at tables in a restaurant are shown in the frequency table.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9" name="Google Shape;939;p80"/>
          <p:cNvCxnSpPr/>
          <p:nvPr/>
        </p:nvCxnSpPr>
        <p:spPr>
          <a:xfrm>
            <a:off x="3858113" y="2724150"/>
            <a:ext cx="78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an ungrouped frequency table</a:t>
            </a:r>
            <a:endParaRPr/>
          </a:p>
        </p:txBody>
      </p:sp>
      <p:graphicFrame>
        <p:nvGraphicFramePr>
          <p:cNvPr id="945" name="Google Shape;945;p81"/>
          <p:cNvGraphicFramePr/>
          <p:nvPr/>
        </p:nvGraphicFramePr>
        <p:xfrm>
          <a:off x="925200" y="147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411000"/>
                <a:gridCol w="1341025"/>
              </a:tblGrid>
              <a:tr h="34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sp>
        <p:nvSpPr>
          <p:cNvPr id="946" name="Google Shape;946;p81"/>
          <p:cNvSpPr txBox="1"/>
          <p:nvPr/>
        </p:nvSpPr>
        <p:spPr>
          <a:xfrm>
            <a:off x="347950" y="581300"/>
            <a:ext cx="80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data about group sizes at tables in a restaurant are shown in the frequency table.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81"/>
          <p:cNvSpPr txBox="1"/>
          <p:nvPr/>
        </p:nvSpPr>
        <p:spPr>
          <a:xfrm>
            <a:off x="4192500" y="2160000"/>
            <a:ext cx="290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0, 1, 2, 2, 3, 3, 4, 4, 4, 5, 5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81"/>
          <p:cNvSpPr/>
          <p:nvPr/>
        </p:nvSpPr>
        <p:spPr>
          <a:xfrm>
            <a:off x="928800" y="1839600"/>
            <a:ext cx="2751900" cy="294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81"/>
          <p:cNvSpPr/>
          <p:nvPr/>
        </p:nvSpPr>
        <p:spPr>
          <a:xfrm>
            <a:off x="4192500" y="2243850"/>
            <a:ext cx="2308500" cy="294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81"/>
          <p:cNvSpPr/>
          <p:nvPr/>
        </p:nvSpPr>
        <p:spPr>
          <a:xfrm>
            <a:off x="4192500" y="2243850"/>
            <a:ext cx="1034100" cy="294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81"/>
          <p:cNvSpPr/>
          <p:nvPr/>
        </p:nvSpPr>
        <p:spPr>
          <a:xfrm>
            <a:off x="4192500" y="2243850"/>
            <a:ext cx="302400" cy="294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81"/>
          <p:cNvSpPr/>
          <p:nvPr/>
        </p:nvSpPr>
        <p:spPr>
          <a:xfrm>
            <a:off x="928800" y="2523600"/>
            <a:ext cx="2751900" cy="294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81"/>
          <p:cNvSpPr/>
          <p:nvPr/>
        </p:nvSpPr>
        <p:spPr>
          <a:xfrm>
            <a:off x="928800" y="3211200"/>
            <a:ext cx="2751900" cy="294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81"/>
          <p:cNvSpPr txBox="1"/>
          <p:nvPr/>
        </p:nvSpPr>
        <p:spPr>
          <a:xfrm>
            <a:off x="4034850" y="1538525"/>
            <a:ext cx="314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data as a list: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82"/>
          <p:cNvSpPr txBox="1"/>
          <p:nvPr>
            <p:ph idx="1" type="body"/>
          </p:nvPr>
        </p:nvSpPr>
        <p:spPr>
          <a:xfrm>
            <a:off x="324000" y="736675"/>
            <a:ext cx="82377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Complete the missing frequency.</a:t>
            </a:r>
            <a:endParaRPr sz="1800"/>
          </a:p>
        </p:txBody>
      </p:sp>
      <p:sp>
        <p:nvSpPr>
          <p:cNvPr id="960" name="Google Shape;960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an ungrouped frequency table</a:t>
            </a:r>
            <a:endParaRPr/>
          </a:p>
        </p:txBody>
      </p:sp>
      <p:graphicFrame>
        <p:nvGraphicFramePr>
          <p:cNvPr id="961" name="Google Shape;961;p82"/>
          <p:cNvGraphicFramePr/>
          <p:nvPr/>
        </p:nvGraphicFramePr>
        <p:xfrm>
          <a:off x="926800" y="1472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411000"/>
                <a:gridCol w="1341025"/>
              </a:tblGrid>
              <a:tr h="34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24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graphicFrame>
        <p:nvGraphicFramePr>
          <p:cNvPr id="962" name="Google Shape;962;p82"/>
          <p:cNvGraphicFramePr/>
          <p:nvPr/>
        </p:nvGraphicFramePr>
        <p:xfrm>
          <a:off x="4824000" y="147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411000"/>
                <a:gridCol w="1341025"/>
              </a:tblGrid>
              <a:tr h="34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cxnSp>
        <p:nvCxnSpPr>
          <p:cNvPr id="963" name="Google Shape;963;p82"/>
          <p:cNvCxnSpPr/>
          <p:nvPr/>
        </p:nvCxnSpPr>
        <p:spPr>
          <a:xfrm>
            <a:off x="3858113" y="2843175"/>
            <a:ext cx="78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4" name="Google Shape;964;p82"/>
          <p:cNvSpPr txBox="1"/>
          <p:nvPr/>
        </p:nvSpPr>
        <p:spPr>
          <a:xfrm>
            <a:off x="6749900" y="2424588"/>
            <a:ext cx="33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83"/>
          <p:cNvSpPr txBox="1"/>
          <p:nvPr>
            <p:ph idx="1" type="body"/>
          </p:nvPr>
        </p:nvSpPr>
        <p:spPr>
          <a:xfrm>
            <a:off x="324000" y="736675"/>
            <a:ext cx="82377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Complete the missing frequency.</a:t>
            </a:r>
            <a:endParaRPr sz="1800"/>
          </a:p>
        </p:txBody>
      </p:sp>
      <p:sp>
        <p:nvSpPr>
          <p:cNvPr id="970" name="Google Shape;97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an ungrouped frequency table</a:t>
            </a:r>
            <a:endParaRPr/>
          </a:p>
        </p:txBody>
      </p:sp>
      <p:graphicFrame>
        <p:nvGraphicFramePr>
          <p:cNvPr id="971" name="Google Shape;971;p83"/>
          <p:cNvGraphicFramePr/>
          <p:nvPr/>
        </p:nvGraphicFramePr>
        <p:xfrm>
          <a:off x="926800" y="147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411000"/>
                <a:gridCol w="1341025"/>
              </a:tblGrid>
              <a:tr h="34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24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graphicFrame>
        <p:nvGraphicFramePr>
          <p:cNvPr id="972" name="Google Shape;972;p83"/>
          <p:cNvGraphicFramePr/>
          <p:nvPr/>
        </p:nvGraphicFramePr>
        <p:xfrm>
          <a:off x="4824000" y="147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411000"/>
                <a:gridCol w="1341025"/>
              </a:tblGrid>
              <a:tr h="34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cxnSp>
        <p:nvCxnSpPr>
          <p:cNvPr id="973" name="Google Shape;973;p83"/>
          <p:cNvCxnSpPr/>
          <p:nvPr/>
        </p:nvCxnSpPr>
        <p:spPr>
          <a:xfrm>
            <a:off x="3858113" y="2843175"/>
            <a:ext cx="78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4" name="Google Shape;974;p83"/>
          <p:cNvSpPr txBox="1"/>
          <p:nvPr/>
        </p:nvSpPr>
        <p:spPr>
          <a:xfrm>
            <a:off x="2835700" y="2794138"/>
            <a:ext cx="33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84"/>
          <p:cNvSpPr txBox="1"/>
          <p:nvPr>
            <p:ph idx="1" type="body"/>
          </p:nvPr>
        </p:nvSpPr>
        <p:spPr>
          <a:xfrm>
            <a:off x="324000" y="684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data about group sizes at tables in a restaurant are shown in the frequency tables.</a:t>
            </a:r>
            <a:endParaRPr sz="1800"/>
          </a:p>
        </p:txBody>
      </p:sp>
      <p:sp>
        <p:nvSpPr>
          <p:cNvPr id="980" name="Google Shape;980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an ungrouped frequency table</a:t>
            </a:r>
            <a:endParaRPr/>
          </a:p>
        </p:txBody>
      </p:sp>
      <p:graphicFrame>
        <p:nvGraphicFramePr>
          <p:cNvPr id="981" name="Google Shape;981;p84"/>
          <p:cNvGraphicFramePr/>
          <p:nvPr/>
        </p:nvGraphicFramePr>
        <p:xfrm>
          <a:off x="926800" y="132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411000"/>
                <a:gridCol w="1341025"/>
              </a:tblGrid>
              <a:tr h="34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24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graphicFrame>
        <p:nvGraphicFramePr>
          <p:cNvPr id="982" name="Google Shape;982;p84"/>
          <p:cNvGraphicFramePr/>
          <p:nvPr/>
        </p:nvGraphicFramePr>
        <p:xfrm>
          <a:off x="4824000" y="132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411000"/>
                <a:gridCol w="1341025"/>
              </a:tblGrid>
              <a:tr h="34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cxnSp>
        <p:nvCxnSpPr>
          <p:cNvPr id="983" name="Google Shape;983;p84"/>
          <p:cNvCxnSpPr/>
          <p:nvPr/>
        </p:nvCxnSpPr>
        <p:spPr>
          <a:xfrm>
            <a:off x="3858113" y="2689200"/>
            <a:ext cx="78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4" name="Google Shape;984;p84"/>
          <p:cNvSpPr txBox="1"/>
          <p:nvPr/>
        </p:nvSpPr>
        <p:spPr>
          <a:xfrm>
            <a:off x="377075" y="3772800"/>
            <a:ext cx="739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position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the median for these data?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84"/>
          <p:cNvSpPr txBox="1"/>
          <p:nvPr/>
        </p:nvSpPr>
        <p:spPr>
          <a:xfrm>
            <a:off x="1892825" y="4093200"/>
            <a:ext cx="543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25 pieces of data so median position is 13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85"/>
          <p:cNvSpPr txBox="1"/>
          <p:nvPr>
            <p:ph idx="1" type="body"/>
          </p:nvPr>
        </p:nvSpPr>
        <p:spPr>
          <a:xfrm>
            <a:off x="324000" y="683100"/>
            <a:ext cx="8237700" cy="56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data about group sizes at tables in a restaurant are shown in the frequency tables.</a:t>
            </a:r>
            <a:endParaRPr sz="1800"/>
          </a:p>
        </p:txBody>
      </p:sp>
      <p:sp>
        <p:nvSpPr>
          <p:cNvPr id="991" name="Google Shape;991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an ungrouped frequency table</a:t>
            </a:r>
            <a:endParaRPr/>
          </a:p>
        </p:txBody>
      </p:sp>
      <p:graphicFrame>
        <p:nvGraphicFramePr>
          <p:cNvPr id="992" name="Google Shape;992;p85"/>
          <p:cNvGraphicFramePr/>
          <p:nvPr/>
        </p:nvGraphicFramePr>
        <p:xfrm>
          <a:off x="926800" y="1320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411000"/>
                <a:gridCol w="1341025"/>
              </a:tblGrid>
              <a:tr h="34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24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graphicFrame>
        <p:nvGraphicFramePr>
          <p:cNvPr id="993" name="Google Shape;993;p85"/>
          <p:cNvGraphicFramePr/>
          <p:nvPr/>
        </p:nvGraphicFramePr>
        <p:xfrm>
          <a:off x="4824000" y="132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411000"/>
                <a:gridCol w="1341025"/>
              </a:tblGrid>
              <a:tr h="34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cxnSp>
        <p:nvCxnSpPr>
          <p:cNvPr id="994" name="Google Shape;994;p85"/>
          <p:cNvCxnSpPr/>
          <p:nvPr/>
        </p:nvCxnSpPr>
        <p:spPr>
          <a:xfrm>
            <a:off x="3858113" y="2690775"/>
            <a:ext cx="78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5" name="Google Shape;995;p85"/>
          <p:cNvSpPr txBox="1"/>
          <p:nvPr/>
        </p:nvSpPr>
        <p:spPr>
          <a:xfrm>
            <a:off x="377075" y="3773400"/>
            <a:ext cx="739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Where is the 13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th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piece of data? What is the median group size?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85"/>
          <p:cNvSpPr txBox="1"/>
          <p:nvPr/>
        </p:nvSpPr>
        <p:spPr>
          <a:xfrm>
            <a:off x="1892825" y="4091400"/>
            <a:ext cx="54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13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piece of data is a 3. 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median group size is 3.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an ungrouped frequency table</a:t>
            </a:r>
            <a:endParaRPr/>
          </a:p>
        </p:txBody>
      </p:sp>
      <p:graphicFrame>
        <p:nvGraphicFramePr>
          <p:cNvPr id="1002" name="Google Shape;1002;p86"/>
          <p:cNvGraphicFramePr/>
          <p:nvPr/>
        </p:nvGraphicFramePr>
        <p:xfrm>
          <a:off x="419600" y="154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411000"/>
                <a:gridCol w="1341025"/>
              </a:tblGrid>
              <a:tr h="34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sp>
        <p:nvSpPr>
          <p:cNvPr id="1003" name="Google Shape;1003;p86"/>
          <p:cNvSpPr txBox="1"/>
          <p:nvPr/>
        </p:nvSpPr>
        <p:spPr>
          <a:xfrm>
            <a:off x="324000" y="684000"/>
            <a:ext cx="807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data about group sizes at tables in a restaurant are shown in the frequency table.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86"/>
          <p:cNvSpPr txBox="1"/>
          <p:nvPr/>
        </p:nvSpPr>
        <p:spPr>
          <a:xfrm>
            <a:off x="4046650" y="1560550"/>
            <a:ext cx="290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0, 1, 2, 2, 3, 3, 4, 4, 4, 5, 5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86"/>
          <p:cNvSpPr txBox="1"/>
          <p:nvPr/>
        </p:nvSpPr>
        <p:spPr>
          <a:xfrm>
            <a:off x="3928450" y="1048325"/>
            <a:ext cx="314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data as a list: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86"/>
          <p:cNvSpPr txBox="1"/>
          <p:nvPr/>
        </p:nvSpPr>
        <p:spPr>
          <a:xfrm>
            <a:off x="3951900" y="2903600"/>
            <a:ext cx="43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are 11 pieces of data, so the median is in the 6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position.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07" name="Google Shape;1007;p86"/>
          <p:cNvCxnSpPr>
            <a:stCxn id="1006" idx="1"/>
          </p:cNvCxnSpPr>
          <p:nvPr/>
        </p:nvCxnSpPr>
        <p:spPr>
          <a:xfrm rot="10800000">
            <a:off x="2903700" y="3099650"/>
            <a:ext cx="1048200" cy="173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8" name="Google Shape;1008;p86"/>
          <p:cNvSpPr/>
          <p:nvPr/>
        </p:nvSpPr>
        <p:spPr>
          <a:xfrm>
            <a:off x="5320683" y="1660467"/>
            <a:ext cx="256500" cy="2565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86"/>
          <p:cNvSpPr txBox="1"/>
          <p:nvPr/>
        </p:nvSpPr>
        <p:spPr>
          <a:xfrm>
            <a:off x="4005100" y="3801700"/>
            <a:ext cx="275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median is 3.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86"/>
          <p:cNvSpPr txBox="1"/>
          <p:nvPr/>
        </p:nvSpPr>
        <p:spPr>
          <a:xfrm>
            <a:off x="3951900" y="2330100"/>
            <a:ext cx="42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median group size?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an ungrouped frequency table</a:t>
            </a:r>
            <a:endParaRPr/>
          </a:p>
        </p:txBody>
      </p:sp>
      <p:graphicFrame>
        <p:nvGraphicFramePr>
          <p:cNvPr id="1016" name="Google Shape;1016;p87"/>
          <p:cNvGraphicFramePr/>
          <p:nvPr/>
        </p:nvGraphicFramePr>
        <p:xfrm>
          <a:off x="601900" y="138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738125"/>
                <a:gridCol w="1475600"/>
              </a:tblGrid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goals scored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sp>
        <p:nvSpPr>
          <p:cNvPr id="1017" name="Google Shape;1017;p87"/>
          <p:cNvSpPr txBox="1"/>
          <p:nvPr/>
        </p:nvSpPr>
        <p:spPr>
          <a:xfrm>
            <a:off x="324000" y="675175"/>
            <a:ext cx="875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frequency table shows data about the goals scored each match in a football season by all teams in a club.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18" name="Google Shape;1018;p87"/>
          <p:cNvGraphicFramePr/>
          <p:nvPr/>
        </p:nvGraphicFramePr>
        <p:xfrm>
          <a:off x="4995475" y="138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738125"/>
                <a:gridCol w="1475600"/>
              </a:tblGrid>
              <a:tr h="338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goals scored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</a:tr>
              <a:tr h="336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cxnSp>
        <p:nvCxnSpPr>
          <p:cNvPr id="1019" name="Google Shape;1019;p87"/>
          <p:cNvCxnSpPr/>
          <p:nvPr/>
        </p:nvCxnSpPr>
        <p:spPr>
          <a:xfrm>
            <a:off x="4012250" y="2607325"/>
            <a:ext cx="78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0" name="Google Shape;1020;p87"/>
          <p:cNvSpPr txBox="1"/>
          <p:nvPr/>
        </p:nvSpPr>
        <p:spPr>
          <a:xfrm>
            <a:off x="621750" y="3673925"/>
            <a:ext cx="607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position of the median is                            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0+1}{2}=50.5&quot;&gt;&lt;mfrac&gt;&lt;mrow&gt;&lt;mn&gt;100&lt;/mn&gt;&lt;mo&gt;+&lt;/mo&gt;&lt;mn&gt;1&lt;/mn&gt;&lt;/mrow&gt;&lt;mn&gt;2&lt;/mn&gt;&lt;/mfrac&gt;&lt;mo&gt;=&lt;/mo&gt;&lt;mn&gt;50.5&lt;/mn&gt;&lt;/math&gt;" id="1021" name="Google Shape;1021;p87" title="the fraction with numerator 100 plus 1 and denominator 2 equals 50.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1051" y="3645888"/>
            <a:ext cx="1589749" cy="517771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87"/>
          <p:cNvSpPr/>
          <p:nvPr/>
        </p:nvSpPr>
        <p:spPr>
          <a:xfrm>
            <a:off x="7128825" y="2084250"/>
            <a:ext cx="678300" cy="282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87"/>
          <p:cNvSpPr/>
          <p:nvPr/>
        </p:nvSpPr>
        <p:spPr>
          <a:xfrm>
            <a:off x="1141525" y="2084250"/>
            <a:ext cx="678300" cy="282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87"/>
          <p:cNvSpPr txBox="1"/>
          <p:nvPr/>
        </p:nvSpPr>
        <p:spPr>
          <a:xfrm>
            <a:off x="657400" y="4176900"/>
            <a:ext cx="607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median number of goals scored is 1.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88"/>
          <p:cNvSpPr txBox="1"/>
          <p:nvPr>
            <p:ph idx="1" type="body"/>
          </p:nvPr>
        </p:nvSpPr>
        <p:spPr>
          <a:xfrm>
            <a:off x="324000" y="759300"/>
            <a:ext cx="82377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Using the </a:t>
            </a:r>
            <a:r>
              <a:rPr lang="en-GB" sz="1800"/>
              <a:t>frequency tables, what is the median star rating?</a:t>
            </a:r>
            <a:endParaRPr sz="1800"/>
          </a:p>
        </p:txBody>
      </p:sp>
      <p:sp>
        <p:nvSpPr>
          <p:cNvPr id="1030" name="Google Shape;103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an ungrouped frequency table</a:t>
            </a:r>
            <a:endParaRPr/>
          </a:p>
        </p:txBody>
      </p:sp>
      <p:graphicFrame>
        <p:nvGraphicFramePr>
          <p:cNvPr id="1031" name="Google Shape;1031;p88"/>
          <p:cNvGraphicFramePr/>
          <p:nvPr/>
        </p:nvGraphicFramePr>
        <p:xfrm>
          <a:off x="792050" y="117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738125"/>
                <a:gridCol w="1475600"/>
              </a:tblGrid>
              <a:tr h="4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 rating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037B7D"/>
                    </a:solidFill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32" name="Google Shape;1032;p88"/>
          <p:cNvGraphicFramePr/>
          <p:nvPr/>
        </p:nvGraphicFramePr>
        <p:xfrm>
          <a:off x="4995475" y="117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738125"/>
                <a:gridCol w="1475600"/>
              </a:tblGrid>
              <a:tr h="4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 rating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037B7D"/>
                    </a:solidFill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33" name="Google Shape;1033;p88"/>
          <p:cNvSpPr txBox="1"/>
          <p:nvPr/>
        </p:nvSpPr>
        <p:spPr>
          <a:xfrm>
            <a:off x="3916950" y="4073700"/>
            <a:ext cx="105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 stars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89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Complete the missing frequencies.</a:t>
            </a:r>
            <a:endParaRPr sz="1800"/>
          </a:p>
        </p:txBody>
      </p:sp>
      <p:sp>
        <p:nvSpPr>
          <p:cNvPr id="1039" name="Google Shape;1039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Median from an ungrouped frequency table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40" name="Google Shape;1040;p89"/>
          <p:cNvGraphicFramePr/>
          <p:nvPr/>
        </p:nvGraphicFramePr>
        <p:xfrm>
          <a:off x="792050" y="117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738125"/>
                <a:gridCol w="1475600"/>
              </a:tblGrid>
              <a:tr h="26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 rating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solidFill>
                      <a:srgbClr val="037B7D"/>
                    </a:solidFill>
                  </a:tcPr>
                </a:tc>
              </a:tr>
              <a:tr h="25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25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25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25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194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</a:tbl>
          </a:graphicData>
        </a:graphic>
      </p:graphicFrame>
      <p:graphicFrame>
        <p:nvGraphicFramePr>
          <p:cNvPr id="1041" name="Google Shape;1041;p89"/>
          <p:cNvGraphicFramePr/>
          <p:nvPr/>
        </p:nvGraphicFramePr>
        <p:xfrm>
          <a:off x="4995475" y="117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738125"/>
                <a:gridCol w="1475600"/>
              </a:tblGrid>
              <a:tr h="33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 rating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solidFill>
                      <a:srgbClr val="037B7D"/>
                    </a:solidFill>
                  </a:tcPr>
                </a:tc>
              </a:tr>
              <a:tr h="32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2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2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2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2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90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Work out the median for these data sets</a:t>
            </a:r>
            <a:endParaRPr sz="1800"/>
          </a:p>
        </p:txBody>
      </p:sp>
      <p:sp>
        <p:nvSpPr>
          <p:cNvPr id="1047" name="Google Shape;1047;p90"/>
          <p:cNvSpPr txBox="1"/>
          <p:nvPr>
            <p:ph idx="2" type="subTitle"/>
          </p:nvPr>
        </p:nvSpPr>
        <p:spPr>
          <a:xfrm>
            <a:off x="1570025" y="134975"/>
            <a:ext cx="68553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Median from an ungrouped frequency table</a:t>
            </a:r>
            <a:endParaRPr/>
          </a:p>
        </p:txBody>
      </p:sp>
      <p:graphicFrame>
        <p:nvGraphicFramePr>
          <p:cNvPr id="1048" name="Google Shape;1048;p90"/>
          <p:cNvGraphicFramePr/>
          <p:nvPr/>
        </p:nvGraphicFramePr>
        <p:xfrm>
          <a:off x="1024050" y="121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738125"/>
                <a:gridCol w="1475600"/>
              </a:tblGrid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goals scored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sp>
        <p:nvSpPr>
          <p:cNvPr id="1049" name="Google Shape;1049;p90"/>
          <p:cNvSpPr txBox="1"/>
          <p:nvPr/>
        </p:nvSpPr>
        <p:spPr>
          <a:xfrm>
            <a:off x="465075" y="1216350"/>
            <a:ext cx="52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90"/>
          <p:cNvSpPr txBox="1"/>
          <p:nvPr/>
        </p:nvSpPr>
        <p:spPr>
          <a:xfrm>
            <a:off x="4732925" y="1216350"/>
            <a:ext cx="52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51" name="Google Shape;1051;p90"/>
          <p:cNvGraphicFramePr/>
          <p:nvPr/>
        </p:nvGraphicFramePr>
        <p:xfrm>
          <a:off x="5262425" y="121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738125"/>
                <a:gridCol w="1475600"/>
              </a:tblGrid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tube lines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sp>
        <p:nvSpPr>
          <p:cNvPr id="1052" name="Google Shape;1052;p90"/>
          <p:cNvSpPr txBox="1"/>
          <p:nvPr/>
        </p:nvSpPr>
        <p:spPr>
          <a:xfrm>
            <a:off x="817600" y="3950550"/>
            <a:ext cx="7119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For each of your answers to parts a and b, justify why your answers are sensible.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0"/>
          <p:cNvSpPr txBox="1"/>
          <p:nvPr/>
        </p:nvSpPr>
        <p:spPr>
          <a:xfrm>
            <a:off x="465075" y="3956675"/>
            <a:ext cx="52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9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</a:t>
            </a:r>
            <a:r>
              <a:rPr lang="en-GB" sz="1800"/>
              <a:t>Complete the missing frequencies.</a:t>
            </a:r>
            <a:endParaRPr sz="1800"/>
          </a:p>
        </p:txBody>
      </p:sp>
      <p:sp>
        <p:nvSpPr>
          <p:cNvPr id="1059" name="Google Shape;1059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an ungrouped frequency table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60" name="Google Shape;1060;p91"/>
          <p:cNvGraphicFramePr/>
          <p:nvPr/>
        </p:nvGraphicFramePr>
        <p:xfrm>
          <a:off x="792050" y="117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738125"/>
                <a:gridCol w="1475600"/>
              </a:tblGrid>
              <a:tr h="26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 rating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solidFill>
                      <a:srgbClr val="037B7D"/>
                    </a:solidFill>
                  </a:tcPr>
                </a:tc>
              </a:tr>
              <a:tr h="25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25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25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25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194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</a:tbl>
          </a:graphicData>
        </a:graphic>
      </p:graphicFrame>
      <p:graphicFrame>
        <p:nvGraphicFramePr>
          <p:cNvPr id="1061" name="Google Shape;1061;p91"/>
          <p:cNvGraphicFramePr/>
          <p:nvPr/>
        </p:nvGraphicFramePr>
        <p:xfrm>
          <a:off x="4995475" y="117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738125"/>
                <a:gridCol w="1475600"/>
              </a:tblGrid>
              <a:tr h="33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 rating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solidFill>
                      <a:srgbClr val="037B7D"/>
                    </a:solidFill>
                  </a:tcPr>
                </a:tc>
              </a:tr>
              <a:tr h="32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2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2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2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2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 or less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</a:tbl>
          </a:graphicData>
        </a:graphic>
      </p:graphicFrame>
      <p:sp>
        <p:nvSpPr>
          <p:cNvPr id="1062" name="Google Shape;1062;p91"/>
          <p:cNvSpPr txBox="1"/>
          <p:nvPr/>
        </p:nvSpPr>
        <p:spPr>
          <a:xfrm>
            <a:off x="3069475" y="1430975"/>
            <a:ext cx="50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3" name="Google Shape;1063;p91"/>
          <p:cNvSpPr txBox="1"/>
          <p:nvPr/>
        </p:nvSpPr>
        <p:spPr>
          <a:xfrm>
            <a:off x="3033700" y="2086305"/>
            <a:ext cx="50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4" name="Google Shape;1064;p91"/>
          <p:cNvSpPr txBox="1"/>
          <p:nvPr/>
        </p:nvSpPr>
        <p:spPr>
          <a:xfrm>
            <a:off x="7262500" y="2086305"/>
            <a:ext cx="50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9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</a:t>
            </a:r>
            <a:r>
              <a:rPr lang="en-GB" sz="1800"/>
              <a:t>Work out the median for these data sets</a:t>
            </a:r>
            <a:endParaRPr sz="1800"/>
          </a:p>
        </p:txBody>
      </p:sp>
      <p:sp>
        <p:nvSpPr>
          <p:cNvPr id="1070" name="Google Shape;1070;p92"/>
          <p:cNvSpPr txBox="1"/>
          <p:nvPr>
            <p:ph idx="2" type="subTitle"/>
          </p:nvPr>
        </p:nvSpPr>
        <p:spPr>
          <a:xfrm>
            <a:off x="1570025" y="134975"/>
            <a:ext cx="68553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Median from an ungrouped frequency table</a:t>
            </a:r>
            <a:endParaRPr/>
          </a:p>
        </p:txBody>
      </p:sp>
      <p:graphicFrame>
        <p:nvGraphicFramePr>
          <p:cNvPr id="1071" name="Google Shape;1071;p92"/>
          <p:cNvGraphicFramePr/>
          <p:nvPr/>
        </p:nvGraphicFramePr>
        <p:xfrm>
          <a:off x="1024050" y="106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738125"/>
                <a:gridCol w="1475600"/>
              </a:tblGrid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goals scored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sp>
        <p:nvSpPr>
          <p:cNvPr id="1072" name="Google Shape;1072;p92"/>
          <p:cNvSpPr txBox="1"/>
          <p:nvPr/>
        </p:nvSpPr>
        <p:spPr>
          <a:xfrm>
            <a:off x="465075" y="1063950"/>
            <a:ext cx="52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92"/>
          <p:cNvSpPr txBox="1"/>
          <p:nvPr/>
        </p:nvSpPr>
        <p:spPr>
          <a:xfrm>
            <a:off x="4732925" y="1063950"/>
            <a:ext cx="52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2"/>
          <p:cNvSpPr txBox="1"/>
          <p:nvPr/>
        </p:nvSpPr>
        <p:spPr>
          <a:xfrm>
            <a:off x="465075" y="3880475"/>
            <a:ext cx="52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92"/>
          <p:cNvSpPr txBox="1"/>
          <p:nvPr/>
        </p:nvSpPr>
        <p:spPr>
          <a:xfrm>
            <a:off x="1157163" y="3199200"/>
            <a:ext cx="294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Median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goals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scored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6" name="Google Shape;1076;p92"/>
          <p:cNvSpPr txBox="1"/>
          <p:nvPr/>
        </p:nvSpPr>
        <p:spPr>
          <a:xfrm>
            <a:off x="4852387" y="3471925"/>
            <a:ext cx="403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Median number of tube lines is 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7" name="Google Shape;1077;p92"/>
          <p:cNvSpPr txBox="1"/>
          <p:nvPr/>
        </p:nvSpPr>
        <p:spPr>
          <a:xfrm>
            <a:off x="3282700" y="4138550"/>
            <a:ext cx="5193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Part a, the data are fairly symmetrical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Part b, over 50% of the data are 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8" name="Google Shape;1078;p92"/>
          <p:cNvSpPr txBox="1"/>
          <p:nvPr/>
        </p:nvSpPr>
        <p:spPr>
          <a:xfrm>
            <a:off x="817600" y="3841665"/>
            <a:ext cx="7119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For each of your answers to parts a and b, justify why your answers are sensible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79" name="Google Shape;1079;p92"/>
          <p:cNvGraphicFramePr/>
          <p:nvPr/>
        </p:nvGraphicFramePr>
        <p:xfrm>
          <a:off x="5262425" y="1109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{CE52B6A1-14D9-401E-B4DA-8B3E68BD0E87}</a:tableStyleId>
              </a:tblPr>
              <a:tblGrid>
                <a:gridCol w="1738125"/>
                <a:gridCol w="1475600"/>
              </a:tblGrid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tube lines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>
                    <a:solidFill>
                      <a:schemeClr val="accent5"/>
                    </a:solidFill>
                  </a:tcPr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93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 line graph</a:t>
            </a:r>
            <a:endParaRPr/>
          </a:p>
        </p:txBody>
      </p:sp>
      <p:sp>
        <p:nvSpPr>
          <p:cNvPr id="1085" name="Google Shape;1085;p93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an ungrouped frequency table</a:t>
            </a:r>
            <a:endParaRPr/>
          </a:p>
        </p:txBody>
      </p:sp>
      <p:sp>
        <p:nvSpPr>
          <p:cNvPr id="1086" name="Google Shape;1086;p93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 bar chart</a:t>
            </a:r>
            <a:endParaRPr/>
          </a:p>
        </p:txBody>
      </p:sp>
      <p:sp>
        <p:nvSpPr>
          <p:cNvPr id="1087" name="Google Shape;1087;p93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median</a:t>
            </a:r>
            <a:endParaRPr/>
          </a:p>
        </p:txBody>
      </p:sp>
      <p:pic>
        <p:nvPicPr>
          <p:cNvPr id="1088" name="Google Shape;1088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377" y="370047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 bar chart</a:t>
            </a:r>
            <a:endParaRPr/>
          </a:p>
        </p:txBody>
      </p:sp>
      <p:sp>
        <p:nvSpPr>
          <p:cNvPr id="1094" name="Google Shape;1094;p94"/>
          <p:cNvSpPr txBox="1"/>
          <p:nvPr/>
        </p:nvSpPr>
        <p:spPr>
          <a:xfrm>
            <a:off x="324000" y="759300"/>
            <a:ext cx="86697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a bar chart that shows the number of each table type in a restaurant.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94"/>
          <p:cNvSpPr txBox="1"/>
          <p:nvPr/>
        </p:nvSpPr>
        <p:spPr>
          <a:xfrm rot="-5400000">
            <a:off x="-189225" y="1506000"/>
            <a:ext cx="124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94"/>
          <p:cNvSpPr txBox="1"/>
          <p:nvPr/>
        </p:nvSpPr>
        <p:spPr>
          <a:xfrm>
            <a:off x="6959400" y="2341800"/>
            <a:ext cx="178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diners per table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7" name="Google Shape;109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550" y="1179200"/>
            <a:ext cx="8232450" cy="1229948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94"/>
          <p:cNvSpPr txBox="1"/>
          <p:nvPr/>
        </p:nvSpPr>
        <p:spPr>
          <a:xfrm>
            <a:off x="515150" y="2772900"/>
            <a:ext cx="539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data values are 0, 1, 2, 3, 4, 5 or 6.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9" name="Google Shape;1099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8612" y="3598362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4"/>
          <p:cNvSpPr txBox="1"/>
          <p:nvPr/>
        </p:nvSpPr>
        <p:spPr>
          <a:xfrm>
            <a:off x="4736538" y="41423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4"/>
          <p:cNvSpPr txBox="1"/>
          <p:nvPr/>
        </p:nvSpPr>
        <p:spPr>
          <a:xfrm>
            <a:off x="5115786" y="2696700"/>
            <a:ext cx="187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the median will be one of them.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02" name="Google Shape;1102;p94"/>
          <p:cNvPicPr preferRelativeResize="0"/>
          <p:nvPr/>
        </p:nvPicPr>
        <p:blipFill rotWithShape="1">
          <a:blip r:embed="rId5">
            <a:alphaModFix/>
          </a:blip>
          <a:srcRect b="0" l="0" r="69082" t="56280"/>
          <a:stretch/>
        </p:blipFill>
        <p:spPr>
          <a:xfrm flipH="1">
            <a:off x="5004148" y="2581875"/>
            <a:ext cx="1955251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94"/>
          <p:cNvSpPr txBox="1"/>
          <p:nvPr/>
        </p:nvSpPr>
        <p:spPr>
          <a:xfrm>
            <a:off x="543775" y="3240000"/>
            <a:ext cx="191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Jun correct?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94"/>
          <p:cNvSpPr txBox="1"/>
          <p:nvPr/>
        </p:nvSpPr>
        <p:spPr>
          <a:xfrm>
            <a:off x="543775" y="3665700"/>
            <a:ext cx="3513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could be, but it could also be the mean of two of them, for example, 3.5.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 bar chart</a:t>
            </a:r>
            <a:endParaRPr/>
          </a:p>
        </p:txBody>
      </p:sp>
      <p:sp>
        <p:nvSpPr>
          <p:cNvPr id="1110" name="Google Shape;1110;p95"/>
          <p:cNvSpPr txBox="1"/>
          <p:nvPr/>
        </p:nvSpPr>
        <p:spPr>
          <a:xfrm>
            <a:off x="324000" y="759300"/>
            <a:ext cx="86697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a bar chart that shows the number of each table type in a restaurant.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95"/>
          <p:cNvSpPr txBox="1"/>
          <p:nvPr/>
        </p:nvSpPr>
        <p:spPr>
          <a:xfrm rot="-5400000">
            <a:off x="-189225" y="1506000"/>
            <a:ext cx="124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95"/>
          <p:cNvSpPr txBox="1"/>
          <p:nvPr/>
        </p:nvSpPr>
        <p:spPr>
          <a:xfrm>
            <a:off x="6959400" y="2341800"/>
            <a:ext cx="178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diners per table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3" name="Google Shape;111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550" y="1179200"/>
            <a:ext cx="8232450" cy="1229948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95"/>
          <p:cNvSpPr txBox="1"/>
          <p:nvPr/>
        </p:nvSpPr>
        <p:spPr>
          <a:xfrm>
            <a:off x="515150" y="2772900"/>
            <a:ext cx="539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data values are 0, 1, 2, 3, 4, 5 or 6.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5" name="Google Shape;1115;p95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flipH="1">
            <a:off x="5004148" y="2581875"/>
            <a:ext cx="1955251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5"/>
          <p:cNvSpPr txBox="1"/>
          <p:nvPr/>
        </p:nvSpPr>
        <p:spPr>
          <a:xfrm>
            <a:off x="5115786" y="2696700"/>
            <a:ext cx="187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is the middle bar, so it is the median.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7" name="Google Shape;1117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7175" y="343674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95"/>
          <p:cNvSpPr txBox="1"/>
          <p:nvPr/>
        </p:nvSpPr>
        <p:spPr>
          <a:xfrm>
            <a:off x="4572000" y="42344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95"/>
          <p:cNvSpPr txBox="1"/>
          <p:nvPr/>
        </p:nvSpPr>
        <p:spPr>
          <a:xfrm>
            <a:off x="543775" y="3240000"/>
            <a:ext cx="255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Aisha correct?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5"/>
          <p:cNvSpPr txBox="1"/>
          <p:nvPr/>
        </p:nvSpPr>
        <p:spPr>
          <a:xfrm>
            <a:off x="543775" y="3665700"/>
            <a:ext cx="3513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She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could be, but not for that reason.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5" name="Google Shape;112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225" y="1119138"/>
            <a:ext cx="7307076" cy="148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 bar chart</a:t>
            </a:r>
            <a:endParaRPr/>
          </a:p>
        </p:txBody>
      </p:sp>
      <p:sp>
        <p:nvSpPr>
          <p:cNvPr id="1127" name="Google Shape;1127;p96"/>
          <p:cNvSpPr txBox="1"/>
          <p:nvPr/>
        </p:nvSpPr>
        <p:spPr>
          <a:xfrm rot="-5400000">
            <a:off x="-189225" y="1506000"/>
            <a:ext cx="124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96"/>
          <p:cNvSpPr txBox="1"/>
          <p:nvPr/>
        </p:nvSpPr>
        <p:spPr>
          <a:xfrm>
            <a:off x="6959400" y="2409150"/>
            <a:ext cx="178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diners per table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96"/>
          <p:cNvSpPr txBox="1"/>
          <p:nvPr/>
        </p:nvSpPr>
        <p:spPr>
          <a:xfrm>
            <a:off x="324000" y="759300"/>
            <a:ext cx="86697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bar chart with a do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 plot overlaid.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96"/>
          <p:cNvSpPr txBox="1"/>
          <p:nvPr/>
        </p:nvSpPr>
        <p:spPr>
          <a:xfrm>
            <a:off x="261425" y="2829600"/>
            <a:ext cx="722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 frequency represents the amount of data values.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96"/>
          <p:cNvSpPr txBox="1"/>
          <p:nvPr/>
        </p:nvSpPr>
        <p:spPr>
          <a:xfrm>
            <a:off x="261425" y="3240000"/>
            <a:ext cx="310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+ 1 + 3 + 1 + 3 + 2 + 1 = 13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96"/>
          <p:cNvSpPr txBox="1"/>
          <p:nvPr/>
        </p:nvSpPr>
        <p:spPr>
          <a:xfrm>
            <a:off x="261425" y="3640250"/>
            <a:ext cx="722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 pieces of data means the 7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the median.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96"/>
          <p:cNvSpPr/>
          <p:nvPr/>
        </p:nvSpPr>
        <p:spPr>
          <a:xfrm>
            <a:off x="1244699" y="1961049"/>
            <a:ext cx="162900" cy="1629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96"/>
          <p:cNvSpPr/>
          <p:nvPr/>
        </p:nvSpPr>
        <p:spPr>
          <a:xfrm>
            <a:off x="1244699" y="1692300"/>
            <a:ext cx="162900" cy="1629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96"/>
          <p:cNvSpPr/>
          <p:nvPr/>
        </p:nvSpPr>
        <p:spPr>
          <a:xfrm>
            <a:off x="2257460" y="1961052"/>
            <a:ext cx="162900" cy="1629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96"/>
          <p:cNvSpPr/>
          <p:nvPr/>
        </p:nvSpPr>
        <p:spPr>
          <a:xfrm>
            <a:off x="3276053" y="1963195"/>
            <a:ext cx="162900" cy="1629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96"/>
          <p:cNvSpPr/>
          <p:nvPr/>
        </p:nvSpPr>
        <p:spPr>
          <a:xfrm>
            <a:off x="3273699" y="1699514"/>
            <a:ext cx="162900" cy="1629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96"/>
          <p:cNvSpPr/>
          <p:nvPr/>
        </p:nvSpPr>
        <p:spPr>
          <a:xfrm>
            <a:off x="3266473" y="1432967"/>
            <a:ext cx="162900" cy="1629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96"/>
          <p:cNvSpPr/>
          <p:nvPr/>
        </p:nvSpPr>
        <p:spPr>
          <a:xfrm>
            <a:off x="4280198" y="1963202"/>
            <a:ext cx="162900" cy="1629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96"/>
          <p:cNvSpPr txBox="1"/>
          <p:nvPr/>
        </p:nvSpPr>
        <p:spPr>
          <a:xfrm>
            <a:off x="261425" y="4049700"/>
            <a:ext cx="80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median is 3, because the 7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piece of data is 3, not because it is the middle bar.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97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median will always be in the middle bar.</a:t>
            </a:r>
            <a:endParaRPr sz="1800"/>
          </a:p>
        </p:txBody>
      </p:sp>
      <p:sp>
        <p:nvSpPr>
          <p:cNvPr id="1146" name="Google Shape;1146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 bar chart</a:t>
            </a:r>
            <a:endParaRPr/>
          </a:p>
        </p:txBody>
      </p:sp>
      <p:sp>
        <p:nvSpPr>
          <p:cNvPr id="1147" name="Google Shape;1147;p97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bars are </a:t>
            </a:r>
            <a:r>
              <a:rPr lang="en-GB" sz="1800"/>
              <a:t>ordered and the median is the middle piece of data</a:t>
            </a:r>
            <a:endParaRPr sz="1800"/>
          </a:p>
        </p:txBody>
      </p:sp>
      <p:sp>
        <p:nvSpPr>
          <p:cNvPr id="1148" name="Google Shape;1148;p9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median will be in the middle (central) position, so it depends on the distribution of the data</a:t>
            </a:r>
            <a:endParaRPr sz="1800"/>
          </a:p>
        </p:txBody>
      </p:sp>
      <p:pic>
        <p:nvPicPr>
          <p:cNvPr id="1149" name="Google Shape;1149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9608" y="4320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7409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 bar chart</a:t>
            </a:r>
            <a:endParaRPr/>
          </a:p>
        </p:txBody>
      </p:sp>
      <p:sp>
        <p:nvSpPr>
          <p:cNvPr id="1156" name="Google Shape;1156;p98"/>
          <p:cNvSpPr txBox="1"/>
          <p:nvPr/>
        </p:nvSpPr>
        <p:spPr>
          <a:xfrm>
            <a:off x="324000" y="759300"/>
            <a:ext cx="8237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bar chart shows the reviews of a restaurant.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98"/>
          <p:cNvSpPr txBox="1"/>
          <p:nvPr/>
        </p:nvSpPr>
        <p:spPr>
          <a:xfrm rot="-5400000">
            <a:off x="120525" y="1656300"/>
            <a:ext cx="1302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8"/>
          <p:cNvSpPr txBox="1"/>
          <p:nvPr/>
        </p:nvSpPr>
        <p:spPr>
          <a:xfrm>
            <a:off x="3920550" y="4159650"/>
            <a:ext cx="1302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 rating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59" name="Google Shape;1159;p98"/>
          <p:cNvGrpSpPr/>
          <p:nvPr/>
        </p:nvGrpSpPr>
        <p:grpSpPr>
          <a:xfrm>
            <a:off x="5595525" y="1506038"/>
            <a:ext cx="3548469" cy="2778785"/>
            <a:chOff x="5595525" y="1506038"/>
            <a:chExt cx="3548469" cy="2778785"/>
          </a:xfrm>
        </p:grpSpPr>
        <p:sp>
          <p:nvSpPr>
            <p:cNvPr id="1160" name="Google Shape;1160;p98"/>
            <p:cNvSpPr txBox="1"/>
            <p:nvPr/>
          </p:nvSpPr>
          <p:spPr>
            <a:xfrm>
              <a:off x="7486794" y="3698923"/>
              <a:ext cx="16572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161" name="Google Shape;1161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7962432" y="2838575"/>
              <a:ext cx="705943" cy="101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2" name="Google Shape;1162;p98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5595525" y="1506038"/>
              <a:ext cx="2662052" cy="1695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3" name="Google Shape;1163;p98"/>
            <p:cNvSpPr txBox="1"/>
            <p:nvPr/>
          </p:nvSpPr>
          <p:spPr>
            <a:xfrm>
              <a:off x="5685200" y="1620000"/>
              <a:ext cx="22425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There are 40 pieces of data, so the median is the 20.5</a:t>
              </a:r>
              <a:r>
                <a:rPr baseline="30000" lang="en-GB" sz="1800">
                  <a:latin typeface="Lexend"/>
                  <a:ea typeface="Lexend"/>
                  <a:cs typeface="Lexend"/>
                  <a:sym typeface="Lexend"/>
                </a:rPr>
                <a:t>th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piece.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64" name="Google Shape;1164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2325" y="1184325"/>
            <a:ext cx="4052665" cy="297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 bar chart</a:t>
            </a:r>
            <a:endParaRPr/>
          </a:p>
        </p:txBody>
      </p:sp>
      <p:sp>
        <p:nvSpPr>
          <p:cNvPr id="1170" name="Google Shape;1170;p99"/>
          <p:cNvSpPr txBox="1"/>
          <p:nvPr/>
        </p:nvSpPr>
        <p:spPr>
          <a:xfrm>
            <a:off x="324000" y="759300"/>
            <a:ext cx="8237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bar chart shows the reviews of a restaurant.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99"/>
          <p:cNvSpPr txBox="1"/>
          <p:nvPr/>
        </p:nvSpPr>
        <p:spPr>
          <a:xfrm rot="-5400000">
            <a:off x="120525" y="1656300"/>
            <a:ext cx="1302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99"/>
          <p:cNvSpPr txBox="1"/>
          <p:nvPr/>
        </p:nvSpPr>
        <p:spPr>
          <a:xfrm>
            <a:off x="3920550" y="4159650"/>
            <a:ext cx="1302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 rating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3" name="Google Shape;1173;p99"/>
          <p:cNvGrpSpPr/>
          <p:nvPr/>
        </p:nvGrpSpPr>
        <p:grpSpPr>
          <a:xfrm>
            <a:off x="5595525" y="1506038"/>
            <a:ext cx="3548469" cy="2778785"/>
            <a:chOff x="5595525" y="1506038"/>
            <a:chExt cx="3548469" cy="2778785"/>
          </a:xfrm>
        </p:grpSpPr>
        <p:sp>
          <p:nvSpPr>
            <p:cNvPr id="1174" name="Google Shape;1174;p99"/>
            <p:cNvSpPr txBox="1"/>
            <p:nvPr/>
          </p:nvSpPr>
          <p:spPr>
            <a:xfrm>
              <a:off x="7486794" y="3698923"/>
              <a:ext cx="16572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175" name="Google Shape;1175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7962432" y="2838575"/>
              <a:ext cx="705943" cy="101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6" name="Google Shape;1176;p99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5595525" y="1506038"/>
              <a:ext cx="2662052" cy="1695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7" name="Google Shape;1177;p99"/>
            <p:cNvSpPr txBox="1"/>
            <p:nvPr/>
          </p:nvSpPr>
          <p:spPr>
            <a:xfrm>
              <a:off x="5685200" y="1620000"/>
              <a:ext cx="2242500" cy="12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There are 19 ratings of 3 stars or less, so the median must be 4 stars.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178" name="Google Shape;1178;p99"/>
          <p:cNvCxnSpPr/>
          <p:nvPr/>
        </p:nvCxnSpPr>
        <p:spPr>
          <a:xfrm>
            <a:off x="1266425" y="4228575"/>
            <a:ext cx="2146500" cy="72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179" name="Google Shape;1179;p99"/>
          <p:cNvSpPr txBox="1"/>
          <p:nvPr/>
        </p:nvSpPr>
        <p:spPr>
          <a:xfrm>
            <a:off x="1266425" y="4304300"/>
            <a:ext cx="223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 pieces of data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0" name="Google Shape;1180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425" y="1205270"/>
            <a:ext cx="4052674" cy="2953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00"/>
          <p:cNvSpPr txBox="1"/>
          <p:nvPr>
            <p:ph idx="4294967295"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Jacob has calculated the median to be 12.  </a:t>
            </a:r>
            <a:endParaRPr b="0" sz="2000"/>
          </a:p>
        </p:txBody>
      </p:sp>
      <p:sp>
        <p:nvSpPr>
          <p:cNvPr id="1186" name="Google Shape;1186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 from a bar chart</a:t>
            </a:r>
            <a:endParaRPr/>
          </a:p>
        </p:txBody>
      </p:sp>
      <p:pic>
        <p:nvPicPr>
          <p:cNvPr id="1187" name="Google Shape;1187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900" y="1177138"/>
            <a:ext cx="5491858" cy="3600337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100"/>
          <p:cNvSpPr txBox="1"/>
          <p:nvPr/>
        </p:nvSpPr>
        <p:spPr>
          <a:xfrm>
            <a:off x="6024300" y="1832850"/>
            <a:ext cx="311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Why is this not correct?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9" name="Google Shape;1189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1925" y="748775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100"/>
          <p:cNvSpPr txBox="1"/>
          <p:nvPr/>
        </p:nvSpPr>
        <p:spPr>
          <a:xfrm>
            <a:off x="6024300" y="2378100"/>
            <a:ext cx="2478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 restaurant has a food hygiene rating of 12. The median will be within the data.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Here is a bar chart showing the food hygiene ratings for a group of </a:t>
            </a:r>
            <a:r>
              <a:rPr lang="en-GB" sz="1800"/>
              <a:t>local restaurants.</a:t>
            </a:r>
            <a:endParaRPr sz="1800"/>
          </a:p>
        </p:txBody>
      </p:sp>
      <p:sp>
        <p:nvSpPr>
          <p:cNvPr id="1196" name="Google Shape;1196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Median from a bar chart</a:t>
            </a:r>
            <a:endParaRPr/>
          </a:p>
        </p:txBody>
      </p:sp>
      <p:pic>
        <p:nvPicPr>
          <p:cNvPr id="1197" name="Google Shape;1197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138" y="1463349"/>
            <a:ext cx="4992126" cy="32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101"/>
          <p:cNvSpPr txBox="1"/>
          <p:nvPr/>
        </p:nvSpPr>
        <p:spPr>
          <a:xfrm>
            <a:off x="5430600" y="1421100"/>
            <a:ext cx="354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restaurants is this data about?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101"/>
          <p:cNvSpPr txBox="1"/>
          <p:nvPr/>
        </p:nvSpPr>
        <p:spPr>
          <a:xfrm>
            <a:off x="5430600" y="2627675"/>
            <a:ext cx="354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 startAt="2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position of the median?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101"/>
          <p:cNvSpPr txBox="1"/>
          <p:nvPr/>
        </p:nvSpPr>
        <p:spPr>
          <a:xfrm>
            <a:off x="5430600" y="3834250"/>
            <a:ext cx="354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 startAt="3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median food hygiene rating?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102"/>
          <p:cNvSpPr txBox="1"/>
          <p:nvPr>
            <p:ph idx="1" type="body"/>
          </p:nvPr>
        </p:nvSpPr>
        <p:spPr>
          <a:xfrm>
            <a:off x="324000" y="759300"/>
            <a:ext cx="8237700" cy="7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Here is a bar chart showing the food hygiene ratings for restaurants in two towns. Calculate the median food </a:t>
            </a:r>
            <a:r>
              <a:rPr lang="en-GB" sz="1800"/>
              <a:t>hygiene rating for each town.</a:t>
            </a:r>
            <a:endParaRPr sz="1800"/>
          </a:p>
        </p:txBody>
      </p:sp>
      <p:sp>
        <p:nvSpPr>
          <p:cNvPr id="1206" name="Google Shape;1206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Median from a bar chart</a:t>
            </a:r>
            <a:endParaRPr/>
          </a:p>
        </p:txBody>
      </p:sp>
      <p:pic>
        <p:nvPicPr>
          <p:cNvPr id="1207" name="Google Shape;1207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50" y="1397425"/>
            <a:ext cx="5110608" cy="335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103"/>
          <p:cNvSpPr/>
          <p:nvPr/>
        </p:nvSpPr>
        <p:spPr>
          <a:xfrm>
            <a:off x="393525" y="4428900"/>
            <a:ext cx="4992000" cy="39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Here is a bar chart showing the food hygiene ratings for a group of local restaurants.</a:t>
            </a:r>
            <a:endParaRPr sz="1800"/>
          </a:p>
        </p:txBody>
      </p:sp>
      <p:sp>
        <p:nvSpPr>
          <p:cNvPr id="1214" name="Google Shape;1214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Median from a bar chart</a:t>
            </a:r>
            <a:endParaRPr/>
          </a:p>
        </p:txBody>
      </p:sp>
      <p:pic>
        <p:nvPicPr>
          <p:cNvPr id="1215" name="Google Shape;1215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138" y="1463349"/>
            <a:ext cx="4992126" cy="32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6" name="Google Shape;1216;p103"/>
          <p:cNvSpPr txBox="1"/>
          <p:nvPr/>
        </p:nvSpPr>
        <p:spPr>
          <a:xfrm>
            <a:off x="5430600" y="1421100"/>
            <a:ext cx="354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restaurants is this data about?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103"/>
          <p:cNvSpPr txBox="1"/>
          <p:nvPr/>
        </p:nvSpPr>
        <p:spPr>
          <a:xfrm>
            <a:off x="5430600" y="2627675"/>
            <a:ext cx="354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 startAt="2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position of the median?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103"/>
          <p:cNvSpPr txBox="1"/>
          <p:nvPr/>
        </p:nvSpPr>
        <p:spPr>
          <a:xfrm>
            <a:off x="5430600" y="3834250"/>
            <a:ext cx="354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 startAt="3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median food hygiene rating?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103"/>
          <p:cNvSpPr txBox="1"/>
          <p:nvPr/>
        </p:nvSpPr>
        <p:spPr>
          <a:xfrm>
            <a:off x="6189025" y="2160800"/>
            <a:ext cx="29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85 restaurants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0" name="Google Shape;1220;p103"/>
          <p:cNvSpPr txBox="1"/>
          <p:nvPr/>
        </p:nvSpPr>
        <p:spPr>
          <a:xfrm>
            <a:off x="6189025" y="3366575"/>
            <a:ext cx="29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43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rd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data point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1" name="Google Shape;1221;p103"/>
          <p:cNvSpPr txBox="1"/>
          <p:nvPr/>
        </p:nvSpPr>
        <p:spPr>
          <a:xfrm>
            <a:off x="5628075" y="4401530"/>
            <a:ext cx="29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Food hygiene rating of 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22" name="Google Shape;1222;p103"/>
          <p:cNvCxnSpPr/>
          <p:nvPr/>
        </p:nvCxnSpPr>
        <p:spPr>
          <a:xfrm>
            <a:off x="980225" y="4491088"/>
            <a:ext cx="2146500" cy="72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223" name="Google Shape;1223;p103"/>
          <p:cNvSpPr txBox="1"/>
          <p:nvPr/>
        </p:nvSpPr>
        <p:spPr>
          <a:xfrm>
            <a:off x="1016000" y="4434788"/>
            <a:ext cx="22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41 pieces of data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Here is a bar chart showing the food hygiene ratings for restaurants in two towns. Calculate the median food hygiene rating for each town.</a:t>
            </a:r>
            <a:endParaRPr sz="1800"/>
          </a:p>
        </p:txBody>
      </p:sp>
      <p:sp>
        <p:nvSpPr>
          <p:cNvPr id="1229" name="Google Shape;1229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Median from a bar chart</a:t>
            </a:r>
            <a:endParaRPr/>
          </a:p>
        </p:txBody>
      </p:sp>
      <p:pic>
        <p:nvPicPr>
          <p:cNvPr id="1230" name="Google Shape;1230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50" y="1397425"/>
            <a:ext cx="5110608" cy="335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104"/>
          <p:cNvSpPr txBox="1"/>
          <p:nvPr/>
        </p:nvSpPr>
        <p:spPr>
          <a:xfrm>
            <a:off x="5532925" y="1620000"/>
            <a:ext cx="32439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Town A: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101 ratings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Median is the 51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st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value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45 restaurants are 2 or less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64 restaurants are 3 or less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 the median is a rating of 3.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0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Here is a bar chart showing the food hygiene ratings for restaurants in two towns. Calculate the median food hygiene rating for each town.</a:t>
            </a:r>
            <a:endParaRPr sz="1800"/>
          </a:p>
        </p:txBody>
      </p:sp>
      <p:sp>
        <p:nvSpPr>
          <p:cNvPr id="1237" name="Google Shape;1237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Median from a bar chart</a:t>
            </a:r>
            <a:endParaRPr/>
          </a:p>
        </p:txBody>
      </p:sp>
      <p:pic>
        <p:nvPicPr>
          <p:cNvPr id="1238" name="Google Shape;1238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50" y="1397425"/>
            <a:ext cx="5110608" cy="335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105"/>
          <p:cNvSpPr txBox="1"/>
          <p:nvPr/>
        </p:nvSpPr>
        <p:spPr>
          <a:xfrm>
            <a:off x="5532925" y="1620000"/>
            <a:ext cx="3408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Town B: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113 ratings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Median is the 57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value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41 restaurants are 2 or less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65 restaurants are 3 or less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 the median is a rating of 3.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10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median can be calculated from a line graph by ordering the raw data points.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median can be calculated from an ungrouped frequency table by considering how many data has been accounted for.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median can be calculated from a bar chart by considering the amount of data as you move through the bars.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45" name="Google Shape;1245;p10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median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</a:t>
            </a:r>
            <a:r>
              <a:rPr lang="en-GB"/>
              <a:t> 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51" name="Google Shape;1251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