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D2B4ACB3-86D4-4520-A69F-3BD7EDEE0773}">
  <a:tblStyle styleId="{D2B4ACB3-86D4-4520-A69F-3BD7EDEE077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7" name="Shape 157"/>
        <p:cNvGrpSpPr/>
        <p:nvPr/>
      </p:nvGrpSpPr>
      <p:grpSpPr>
        <a:xfrm>
          <a:off x="0" y="0"/>
          <a:ext cx="0" cy="0"/>
        </a:xfrm>
      </p:grpSpPr>
      <p:sp>
        <p:nvSpPr>
          <p:cNvPr id="158" name="Google Shape;158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9" name="Shape 179"/>
        <p:cNvGrpSpPr/>
        <p:nvPr/>
      </p:nvGrpSpPr>
      <p:grpSpPr>
        <a:xfrm>
          <a:off x="0" y="0"/>
          <a:ext cx="0" cy="0"/>
        </a:xfrm>
      </p:grpSpPr>
      <p:sp>
        <p:nvSpPr>
          <p:cNvPr id="180" name="Google Shape;180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type="subTitle" idx="2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6.png" /><Relationship Id="rId4" Type="http://schemas.openxmlformats.org/officeDocument/2006/relationships/image" Target="../media/image7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0" name="Shape 160"/>
        <p:cNvGrpSpPr/>
        <p:nvPr/>
      </p:nvGrpSpPr>
      <p:grpSpPr>
        <a:xfrm>
          <a:off x="0" y="0"/>
          <a: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Calculating the median</a:t>
            </a:r>
            <a:endParaRPr/>
          </a:p>
        </p:txBody>
      </p:sp>
      <p:sp>
        <p:nvSpPr>
          <p:cNvPr id="162" name="Google Shape;162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1383250"/>
            <a:ext cx="662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Median from a line graph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68000" y="1783450"/>
            <a:ext cx="6624000" cy="5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Lexend"/>
              <a:buAutoNum type="arabicParenR"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the median minimum temperature for both Aberporth and Lowestoft.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5" name="Google Shape;16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0002" y="2078588"/>
            <a:ext cx="2947499" cy="214062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6" name="Google Shape;166;p20"/>
          <p:cNvCxnSpPr/>
          <p:nvPr/>
        </p:nvCxnSpPr>
        <p:spPr>
          <a:xfrm>
            <a:off x="491775" y="4425375"/>
            <a:ext cx="66150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7" name="Google Shape;167;p20"/>
          <p:cNvSpPr txBox="1"/>
          <p:nvPr/>
        </p:nvSpPr>
        <p:spPr>
          <a:xfrm>
            <a:off x="468000" y="4442100"/>
            <a:ext cx="662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Median from an ungrouped frequency table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552600" y="4950300"/>
            <a:ext cx="6539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Complete the missing frequencies.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9" name="Google Shape;169;p20"/>
          <p:cNvGraphicFramePr>
            <a:graphicFrameLocks noGrp="1"/>
          </p:cNvGraphicFramePr>
          <p:nvPr/>
        </p:nvGraphicFramePr>
        <p:xfrm>
          <a:off x="978800" y="5290950"/>
          <a:ext cx="2380875" cy="1604160"/>
        </p:xfrm>
        <a:graphic>
          <a:graphicData uri="http://schemas.openxmlformats.org/drawingml/2006/table">
            <a:tbl>
              <a:tblPr>
                <a:noFill/>
                <a:tableStyleId>{D2B4ACB3-86D4-4520-A69F-3BD7EDEE0773}</a:tableStyleId>
              </a:tblPr>
              <a:tblGrid>
                <a:gridCol w="1287675"/>
                <a:gridCol w="1093200"/>
              </a:tblGrid>
              <a:tr h="261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star rating</a:t>
                      </a:r>
                      <a:endParaRPr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solidFill>
                      <a:srgbClr val="000000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solidFill>
                      <a:srgbClr val="000000"/>
                    </a:solidFill>
                  </a:tcPr>
                </a:tc>
              </a:tr>
              <a:tr h="2596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/>
                </a:tc>
              </a:tr>
              <a:tr h="2596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/>
                </a:tc>
              </a:tr>
              <a:tr h="2596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/>
                </a:tc>
              </a:tr>
              <a:tr h="2596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54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/>
                </a:tc>
              </a:tr>
              <a:tr h="1946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31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/>
                </a:tc>
              </a:tr>
            </a:tbl>
          </a:graphicData>
        </a:graphic>
      </p:graphicFrame>
      <p:graphicFrame>
        <p:nvGraphicFramePr>
          <p:cNvPr id="170" name="Google Shape;170;p20"/>
          <p:cNvGraphicFramePr>
            <a:graphicFrameLocks noGrp="1"/>
          </p:cNvGraphicFramePr>
          <p:nvPr/>
        </p:nvGraphicFramePr>
        <p:xfrm>
          <a:off x="4368350" y="5290950"/>
          <a:ext cx="2571250" cy="1605800"/>
        </p:xfrm>
        <a:graphic>
          <a:graphicData uri="http://schemas.openxmlformats.org/drawingml/2006/table">
            <a:tbl>
              <a:tblPr>
                <a:noFill/>
                <a:tableStyleId>{D2B4ACB3-86D4-4520-A69F-3BD7EDEE0773}</a:tableStyleId>
              </a:tblPr>
              <a:tblGrid>
                <a:gridCol w="1390650"/>
                <a:gridCol w="1180600"/>
              </a:tblGrid>
              <a:tr h="269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star rating</a:t>
                      </a:r>
                      <a:endParaRPr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solidFill>
                      <a:srgbClr val="000000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solidFill>
                      <a:srgbClr val="000000"/>
                    </a:solidFill>
                  </a:tcPr>
                </a:tc>
              </a:tr>
              <a:tr h="2670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/>
                </a:tc>
              </a:tr>
              <a:tr h="2670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2 or less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41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/>
                </a:tc>
              </a:tr>
              <a:tr h="2670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3 or less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/>
                </a:tc>
              </a:tr>
              <a:tr h="2670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4 or less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129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/>
                </a:tc>
              </a:tr>
              <a:tr h="2670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5 or less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160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/>
                </a:tc>
              </a:tr>
            </a:tbl>
          </a:graphicData>
        </a:graphic>
      </p:graphicFrame>
      <p:sp>
        <p:nvSpPr>
          <p:cNvPr id="171" name="Google Shape;171;p20"/>
          <p:cNvSpPr txBox="1"/>
          <p:nvPr/>
        </p:nvSpPr>
        <p:spPr>
          <a:xfrm>
            <a:off x="552600" y="7083900"/>
            <a:ext cx="6539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Work out the median for these data sets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2" name="Google Shape;172;p20"/>
          <p:cNvGraphicFramePr>
            <a:graphicFrameLocks noGrp="1"/>
          </p:cNvGraphicFramePr>
          <p:nvPr/>
        </p:nvGraphicFramePr>
        <p:xfrm>
          <a:off x="1252650" y="7391700"/>
          <a:ext cx="2650575" cy="1496160"/>
        </p:xfrm>
        <a:graphic>
          <a:graphicData uri="http://schemas.openxmlformats.org/drawingml/2006/table">
            <a:tbl>
              <a:tblPr>
                <a:noFill/>
                <a:tableStyleId>{D2B4ACB3-86D4-4520-A69F-3BD7EDEE0773}</a:tableStyleId>
              </a:tblPr>
              <a:tblGrid>
                <a:gridCol w="1433550"/>
                <a:gridCol w="1217025"/>
              </a:tblGrid>
              <a:tr h="2056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goals scored</a:t>
                      </a:r>
                      <a:endParaRPr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18000">
                    <a:solidFill>
                      <a:srgbClr val="000000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18000">
                    <a:solidFill>
                      <a:srgbClr val="000000"/>
                    </a:solidFill>
                  </a:tcPr>
                </a:tc>
              </a:tr>
              <a:tr h="2056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18000"/>
                </a:tc>
              </a:tr>
              <a:tr h="2056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27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18000"/>
                </a:tc>
              </a:tr>
              <a:tr h="2088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43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18000"/>
                </a:tc>
              </a:tr>
              <a:tr h="2056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37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18000"/>
                </a:tc>
              </a:tr>
              <a:tr h="2056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18000"/>
                </a:tc>
              </a:tr>
            </a:tbl>
          </a:graphicData>
        </a:graphic>
      </p:graphicFrame>
      <p:sp>
        <p:nvSpPr>
          <p:cNvPr id="173" name="Google Shape;173;p20"/>
          <p:cNvSpPr txBox="1"/>
          <p:nvPr/>
        </p:nvSpPr>
        <p:spPr>
          <a:xfrm>
            <a:off x="693675" y="7388550"/>
            <a:ext cx="529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a)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199525" y="7388550"/>
            <a:ext cx="529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b)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515591" y="9253427"/>
            <a:ext cx="529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c)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769875" y="9275353"/>
            <a:ext cx="7119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For each of your answers to parts a and b, justify why your answers are sensible.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7" name="Google Shape;177;p20"/>
          <p:cNvGraphicFramePr>
            <a:graphicFrameLocks noGrp="1"/>
          </p:cNvGraphicFramePr>
          <p:nvPr/>
        </p:nvGraphicFramePr>
        <p:xfrm>
          <a:off x="4576625" y="7281613"/>
          <a:ext cx="2452275" cy="1745520"/>
        </p:xfrm>
        <a:graphic>
          <a:graphicData uri="http://schemas.openxmlformats.org/drawingml/2006/table">
            <a:tbl>
              <a:tblPr>
                <a:noFill/>
                <a:tableStyleId>{D2B4ACB3-86D4-4520-A69F-3BD7EDEE0773}</a:tableStyleId>
              </a:tblPr>
              <a:tblGrid>
                <a:gridCol w="1326300"/>
                <a:gridCol w="1125975"/>
              </a:tblGrid>
              <a:tr h="2440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tube lines</a:t>
                      </a:r>
                      <a:endParaRPr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18000">
                    <a:solidFill>
                      <a:srgbClr val="000000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18000">
                    <a:solidFill>
                      <a:srgbClr val="000000"/>
                    </a:solidFill>
                  </a:tcPr>
                </a:tc>
              </a:tr>
              <a:tr h="2440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204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18000"/>
                </a:tc>
              </a:tr>
              <a:tr h="2440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53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18000"/>
                </a:tc>
              </a:tr>
              <a:tr h="2478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19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18000"/>
                </a:tc>
              </a:tr>
              <a:tr h="2440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18000"/>
                </a:tc>
              </a:tr>
              <a:tr h="2440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18000"/>
                </a:tc>
              </a:tr>
              <a:tr h="2440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18000"/>
                </a:tc>
              </a:tr>
            </a:tbl>
          </a:graphicData>
        </a:graphic>
      </p:graphicFrame>
      <p:cxnSp>
        <p:nvCxnSpPr>
          <p:cNvPr id="178" name="Google Shape;178;p20"/>
          <p:cNvCxnSpPr/>
          <p:nvPr/>
        </p:nvCxnSpPr>
        <p:spPr>
          <a:xfrm>
            <a:off x="491775" y="9972000"/>
            <a:ext cx="66150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2" name="Shape 182"/>
        <p:cNvGrpSpPr/>
        <p:nvPr/>
      </p:nvGrpSpPr>
      <p:grpSpPr>
        <a:xfrm>
          <a:off x="0" y="0"/>
          <a:ext cx="0" cy="0"/>
        </a:xfrm>
      </p:grpSpPr>
      <p:sp>
        <p:nvSpPr>
          <p:cNvPr id="183" name="Google Shape;183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84" name="Google Shape;184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Calculating the median</a:t>
            </a:r>
            <a:endParaRPr/>
          </a:p>
        </p:txBody>
      </p:sp>
      <p:sp>
        <p:nvSpPr>
          <p:cNvPr id="185" name="Google Shape;185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86" name="Google Shape;186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1"/>
          <p:cNvSpPr txBox="1"/>
          <p:nvPr/>
        </p:nvSpPr>
        <p:spPr>
          <a:xfrm>
            <a:off x="468000" y="720000"/>
            <a:ext cx="662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Median from a bar chart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1"/>
          <p:cNvSpPr txBox="1"/>
          <p:nvPr/>
        </p:nvSpPr>
        <p:spPr>
          <a:xfrm>
            <a:off x="476400" y="1216500"/>
            <a:ext cx="6624000" cy="30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Lexend"/>
              <a:buAutoNum type="arabicParenR"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Here is a bar chart showing the food hygiene ratings for a group of local restaurants.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9" name="Google Shape;18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5196" y="1746050"/>
            <a:ext cx="3513609" cy="230342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1"/>
          <p:cNvSpPr txBox="1"/>
          <p:nvPr/>
        </p:nvSpPr>
        <p:spPr>
          <a:xfrm>
            <a:off x="4250475" y="1746050"/>
            <a:ext cx="2841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ct val="0"/>
              </a:spcBef>
              <a:spcAft>
                <a:spcPct val="0"/>
              </a:spcAft>
              <a:buSzPts val="1400"/>
              <a:buFont typeface="Lexend"/>
              <a:buAutoNum type="alphaLcParenR"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How many restaurants is this data about?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1"/>
          <p:cNvSpPr txBox="1"/>
          <p:nvPr/>
        </p:nvSpPr>
        <p:spPr>
          <a:xfrm>
            <a:off x="4250475" y="2784925"/>
            <a:ext cx="2841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ct val="0"/>
              </a:spcBef>
              <a:spcAft>
                <a:spcPct val="0"/>
              </a:spcAft>
              <a:buSzPts val="1400"/>
              <a:buFont typeface="Lexend"/>
              <a:buAutoNum type="alphaLcParenR" startAt="2"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What is the position of the median?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1"/>
          <p:cNvSpPr txBox="1"/>
          <p:nvPr/>
        </p:nvSpPr>
        <p:spPr>
          <a:xfrm>
            <a:off x="4250475" y="3738675"/>
            <a:ext cx="2841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ct val="0"/>
              </a:spcBef>
              <a:spcAft>
                <a:spcPct val="0"/>
              </a:spcAft>
              <a:buSzPts val="1400"/>
              <a:buFont typeface="Lexend"/>
              <a:buAutoNum type="alphaLcParenR" startAt="3"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What is the median food hygiene rating?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1"/>
          <p:cNvSpPr txBox="1"/>
          <p:nvPr/>
        </p:nvSpPr>
        <p:spPr>
          <a:xfrm>
            <a:off x="468000" y="5110350"/>
            <a:ext cx="6624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Lexend"/>
              <a:buAutoNum type="arabicParenR" startAt="2"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Here is a bar chart showing the food hygiene ratings for restaurants in two towns. Calculate the median food hygiene rating for each town.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4" name="Google Shape;19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5196" y="5839246"/>
            <a:ext cx="3675026" cy="2409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21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8">
      <vt:lpstr>Arial</vt:lpstr>
      <vt:lpstr>Lexend</vt:lpstr>
      <vt:lpstr>Kalam</vt:lpstr>
      <vt:lpstr>Lexend Medium</vt:lpstr>
      <vt:lpstr>Lexend Light</vt:lpstr>
      <vt:lpstr>simple-light-2</vt:lpstr>
      <vt:lpstr>Calculating the median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2023-12-08T09:43:22.276</cp:lastPrinted>
  <dcterms:created xsi:type="dcterms:W3CDTF">2023-12-08T09:43:22Z</dcterms:created>
  <dcterms:modified xsi:type="dcterms:W3CDTF">2023-12-08T09:46:20Z</dcterms:modified>
</cp:coreProperties>
</file>