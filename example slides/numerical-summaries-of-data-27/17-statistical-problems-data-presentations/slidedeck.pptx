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5143500"/>
  <p:notesSz cx="6858000" cy="9144000"/>
  <p:embeddedFontLst>
    <p:embeddedFont>
      <p:font typeface="Lexend" panose="00000000000000000000"/>
      <p:regular r:id="rId50"/>
    </p:embeddedFont>
    <p:embeddedFont>
      <p:font typeface="Lexend Medium" panose="00000000000000000000"/>
      <p:regular r:id="rId51"/>
    </p:embeddedFont>
    <p:embeddedFont>
      <p:font typeface="Kalam" panose="02000000000000000000"/>
      <p:regular r:id="rId52"/>
    </p:embeddedFont>
    <p:embeddedFont>
      <p:font typeface="Lexend Light" panose="00000000000000000000"/>
      <p:regular r:id="rId53"/>
    </p:embeddedFont>
  </p:embeddedFontLst>
  <p:custDataLst>
    <p:tags r:id="rId4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6608A41-962C-493B-A92B-4C48C27F555D}">
  <a:tblStyle styleId="{96608A41-962C-493B-A92B-4C48C27F55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811C8516-D6D3-4529-B0D0-7CF88F3636A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BEF2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BEF2BD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slide" Target="slides/slide46.xml" /><Relationship Id="rId49" Type="http://schemas.openxmlformats.org/officeDocument/2006/relationships/tags" Target="tags/tag1.xml" /><Relationship Id="rId5" Type="http://schemas.openxmlformats.org/officeDocument/2006/relationships/slide" Target="slides/slide3.xml" /><Relationship Id="rId50" Type="http://schemas.openxmlformats.org/officeDocument/2006/relationships/font" Target="fonts/font1.fntdata" /><Relationship Id="rId51" Type="http://schemas.openxmlformats.org/officeDocument/2006/relationships/font" Target="fonts/font2.fntdata" /><Relationship Id="rId52" Type="http://schemas.openxmlformats.org/officeDocument/2006/relationships/font" Target="fonts/font3.fntdata" /><Relationship Id="rId53" Type="http://schemas.openxmlformats.org/officeDocument/2006/relationships/font" Target="fonts/font4.fntdata" /><Relationship Id="rId54" Type="http://schemas.openxmlformats.org/officeDocument/2006/relationships/presProps" Target="presProps.xml" /><Relationship Id="rId55" Type="http://schemas.openxmlformats.org/officeDocument/2006/relationships/viewProps" Target="viewProps.xml" /><Relationship Id="rId56" Type="http://schemas.openxmlformats.org/officeDocument/2006/relationships/theme" Target="theme/theme1.xml" /><Relationship Id="rId57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_rels/notesSlide4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5e5a9bb9f_0_7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e5a9bb9f_0_7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sp>
        <p:nvSpPr>
          <p:cNvPr id="782" name="Google Shape;782;g1ea68e9eb3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ea68e9eb3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sp>
        <p:nvSpPr>
          <p:cNvPr id="790" name="Google Shape;790;g295e5a9bb9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95e5a9bb9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g1ea68e9eb34_0_5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ea68e9eb34_0_5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0" name="Shape 820"/>
        <p:cNvGrpSpPr/>
        <p:nvPr/>
      </p:nvGrpSpPr>
      <p:grpSpPr>
        <a:xfrm>
          <a:off x="0" y="0"/>
          <a:ext cx="0" cy="0"/>
        </a:xfrm>
      </p:grpSpPr>
      <p:sp>
        <p:nvSpPr>
          <p:cNvPr id="821" name="Google Shape;821;g1ea68e9eb34_0_6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ea68e9eb34_0_6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g2993fe68380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993fe6838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sp>
        <p:nvSpPr>
          <p:cNvPr id="886" name="Google Shape;886;g1ea68e9eb34_0_6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ea68e9eb34_0_6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5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g1ea68e9eb34_0_6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1ea68e9eb34_0_6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g1ea68e9eb34_0_7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ea68e9eb34_0_7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g3cd9087093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cd9087093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Y8U7L17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9" name="Shape 939"/>
        <p:cNvGrpSpPr/>
        <p:nvPr/>
      </p:nvGrpSpPr>
      <p:grpSpPr>
        <a:xfrm>
          <a:off x="0" y="0"/>
          <a:ext cx="0" cy="0"/>
        </a:xfrm>
      </p:grpSpPr>
      <p:sp>
        <p:nvSpPr>
          <p:cNvPr id="940" name="Google Shape;940;g1ea68e9eb34_0_7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1ea68e9eb34_0_7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sp>
        <p:nvSpPr>
          <p:cNvPr id="953" name="Google Shape;953;g1ea68e9eb34_0_7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ea68e9eb34_0_7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sp>
        <p:nvSpPr>
          <p:cNvPr id="968" name="Google Shape;968;g1ea68e9eb34_0_8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ea68e9eb34_0_8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2" name="Shape 982"/>
        <p:cNvGrpSpPr/>
        <p:nvPr/>
      </p:nvGrpSpPr>
      <p:grpSpPr>
        <a:xfrm>
          <a:off x="0" y="0"/>
          <a:ext cx="0" cy="0"/>
        </a:xfrm>
      </p:grpSpPr>
      <p:sp>
        <p:nvSpPr>
          <p:cNvPr id="983" name="Google Shape;983;g1ea68e9eb34_0_8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ea68e9eb34_0_8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g1ea68e9eb34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ea68e9eb34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g295e5a9bb9f_0_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5e5a9bb9f_0_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sp>
        <p:nvSpPr>
          <p:cNvPr id="1035" name="Google Shape;1035;g295e5a9bb9f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95e5a9bb9f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95e5a9bb9f_0_8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95e5a9bb9f_0_8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9" name="Shape 1059"/>
        <p:cNvGrpSpPr/>
        <p:nvPr/>
      </p:nvGrpSpPr>
      <p:grpSpPr>
        <a:xfrm>
          <a:off x="0" y="0"/>
          <a:ext cx="0" cy="0"/>
        </a:xfrm>
      </p:grpSpPr>
      <p:sp>
        <p:nvSpPr>
          <p:cNvPr id="1060" name="Google Shape;1060;g295e5a9bb9f_0_9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5e5a9bb9f_0_9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g295e5a9bb9f_0_8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95e5a9bb9f_0_8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2" name="Shape 1092"/>
        <p:cNvGrpSpPr/>
        <p:nvPr/>
      </p:nvGrpSpPr>
      <p:grpSpPr>
        <a:xfrm>
          <a:off x="0" y="0"/>
          <a:ext cx="0" cy="0"/>
        </a:xfrm>
      </p:grpSpPr>
      <p:sp>
        <p:nvSpPr>
          <p:cNvPr id="1093" name="Google Shape;1093;g295e5a9bb9f_0_8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95e5a9bb9f_0_8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5" name="Shape 1105"/>
        <p:cNvGrpSpPr/>
        <p:nvPr/>
      </p:nvGrpSpPr>
      <p:grpSpPr>
        <a:xfrm>
          <a:off x="0" y="0"/>
          <a:ext cx="0" cy="0"/>
        </a:xfrm>
      </p:grpSpPr>
      <p:sp>
        <p:nvSpPr>
          <p:cNvPr id="1106" name="Google Shape;1106;g295e5a9bb9f_0_9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95e5a9bb9f_0_9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8" name="Shape 1118"/>
        <p:cNvGrpSpPr/>
        <p:nvPr/>
      </p:nvGrpSpPr>
      <p:grpSpPr>
        <a:xfrm>
          <a:off x="0" y="0"/>
          <a:ext cx="0" cy="0"/>
        </a:xfrm>
      </p:grpSpPr>
      <p:sp>
        <p:nvSpPr>
          <p:cNvPr id="1119" name="Google Shape;1119;g295e5a9bb9f_0_8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95e5a9bb9f_0_8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1" name="Shape 1131"/>
        <p:cNvGrpSpPr/>
        <p:nvPr/>
      </p:nvGrpSpPr>
      <p:grpSpPr>
        <a:xfrm>
          <a:off x="0" y="0"/>
          <a:ext cx="0" cy="0"/>
        </a:xfrm>
      </p:grpSpPr>
      <p:sp>
        <p:nvSpPr>
          <p:cNvPr id="1132" name="Google Shape;1132;g295e5a9bb9f_0_9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5e5a9bb9f_0_9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g1ea68e9eb34_0_8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1ea68e9eb34_0_8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sp>
        <p:nvSpPr>
          <p:cNvPr id="1172" name="Google Shape;1172;g295e5a9bb9f_0_9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95e5a9bb9f_0_9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1" name="Shape 1181"/>
        <p:cNvGrpSpPr/>
        <p:nvPr/>
      </p:nvGrpSpPr>
      <p:grpSpPr>
        <a:xfrm>
          <a:off x="0" y="0"/>
          <a:ext cx="0" cy="0"/>
        </a:xfrm>
      </p:grpSpPr>
      <p:sp>
        <p:nvSpPr>
          <p:cNvPr id="1182" name="Google Shape;1182;g295e5a9bb9f_0_9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95e5a9bb9f_0_9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sp>
        <p:nvSpPr>
          <p:cNvPr id="1193" name="Google Shape;1193;g1ea68e9eb34_0_4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1ea68e9eb34_0_4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3" name="Shape 1203"/>
        <p:cNvGrpSpPr/>
        <p:nvPr/>
      </p:nvGrpSpPr>
      <p:grpSpPr>
        <a:xfrm>
          <a:off x="0" y="0"/>
          <a:ext cx="0" cy="0"/>
        </a:xfrm>
      </p:grpSpPr>
      <p:sp>
        <p:nvSpPr>
          <p:cNvPr id="1204" name="Google Shape;1204;g1ea68e9eb34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ea68e9eb34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0" name="Shape 1220"/>
        <p:cNvGrpSpPr/>
        <p:nvPr/>
      </p:nvGrpSpPr>
      <p:grpSpPr>
        <a:xfrm>
          <a:off x="0" y="0"/>
          <a:ext cx="0" cy="0"/>
        </a:xfrm>
      </p:grpSpPr>
      <p:sp>
        <p:nvSpPr>
          <p:cNvPr id="1221" name="Google Shape;1221;g1ea68e9eb34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ea68e9eb34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sp>
        <p:nvSpPr>
          <p:cNvPr id="1238" name="Google Shape;1238;g1ea68e9eb34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1ea68e9eb34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2" name="Shape 1472"/>
        <p:cNvGrpSpPr/>
        <p:nvPr/>
      </p:nvGrpSpPr>
      <p:grpSpPr>
        <a:xfrm>
          <a:off x="0" y="0"/>
          <a:ext cx="0" cy="0"/>
        </a:xfrm>
      </p:grpSpPr>
      <p:sp>
        <p:nvSpPr>
          <p:cNvPr id="1473" name="Google Shape;1473;g1ea68e9eb34_0_3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1ea68e9eb34_0_3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2" name="Shape 1492"/>
        <p:cNvGrpSpPr/>
        <p:nvPr/>
      </p:nvGrpSpPr>
      <p:grpSpPr>
        <a:xfrm>
          <a:off x="0" y="0"/>
          <a:ext cx="0" cy="0"/>
        </a:xfrm>
      </p:grpSpPr>
      <p:sp>
        <p:nvSpPr>
          <p:cNvPr id="1493" name="Google Shape;1493;g1ea68e9eb34_0_3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1ea68e9eb34_0_3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1" name="Shape 1511"/>
        <p:cNvGrpSpPr/>
        <p:nvPr/>
      </p:nvGrpSpPr>
      <p:grpSpPr>
        <a:xfrm>
          <a:off x="0" y="0"/>
          <a:ext cx="0" cy="0"/>
        </a:xfrm>
      </p:grpSpPr>
      <p:sp>
        <p:nvSpPr>
          <p:cNvPr id="1512" name="Google Shape;1512;g1ea68e9eb34_0_9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1ea68e9eb34_0_9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5" name="Shape 1535"/>
        <p:cNvGrpSpPr/>
        <p:nvPr/>
      </p:nvGrpSpPr>
      <p:grpSpPr>
        <a:xfrm>
          <a:off x="0" y="0"/>
          <a:ext cx="0" cy="0"/>
        </a:xfrm>
      </p:grpSpPr>
      <p:sp>
        <p:nvSpPr>
          <p:cNvPr id="1536" name="Google Shape;1536;g1ea68e9eb34_0_4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1ea68e9eb34_0_4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sp>
        <p:nvSpPr>
          <p:cNvPr id="1559" name="Google Shape;1559;g1ea68e9eb34_0_5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1ea68e9eb34_0_5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9" name="Shape 1569"/>
        <p:cNvGrpSpPr/>
        <p:nvPr/>
      </p:nvGrpSpPr>
      <p:grpSpPr>
        <a:xfrm>
          <a:off x="0" y="0"/>
          <a:ext cx="0" cy="0"/>
        </a:xfrm>
      </p:grpSpPr>
      <p:sp>
        <p:nvSpPr>
          <p:cNvPr id="1570" name="Google Shape;1570;g1ea68e9eb34_0_5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ea68e9eb34_0_5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g1ea68e9eb34_0_5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1ea68e9eb34_0_5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g1ea68e9eb34_0_5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1ea68e9eb34_0_5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sp>
        <p:nvSpPr>
          <p:cNvPr id="1609" name="Google Shape;1609;g1ea68e9eb34_0_5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1ea68e9eb34_0_5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1" name="Shape 1621"/>
        <p:cNvGrpSpPr/>
        <p:nvPr/>
      </p:nvGrpSpPr>
      <p:grpSpPr>
        <a:xfrm>
          <a:off x="0" y="0"/>
          <a:ext cx="0" cy="0"/>
        </a:xfrm>
      </p:grpSpPr>
      <p:sp>
        <p:nvSpPr>
          <p:cNvPr id="1622" name="Google Shape;1622;g1ea68e9eb34_0_5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1ea68e9eb34_0_5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4" name="Shape 1634"/>
        <p:cNvGrpSpPr/>
        <p:nvPr/>
      </p:nvGrpSpPr>
      <p:grpSpPr>
        <a:xfrm>
          <a:off x="0" y="0"/>
          <a:ext cx="0" cy="0"/>
        </a:xfrm>
      </p:grpSpPr>
      <p:sp>
        <p:nvSpPr>
          <p:cNvPr id="1635" name="Google Shape;1635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0" name="Shape 1640"/>
        <p:cNvGrpSpPr/>
        <p:nvPr/>
      </p:nvGrpSpPr>
      <p:grpSpPr>
        <a:xfrm>
          <a:off x="0" y="0"/>
          <a:ext cx="0" cy="0"/>
        </a:xfrm>
      </p:grpSpPr>
      <p:sp>
        <p:nvSpPr>
          <p:cNvPr id="1641" name="Google Shape;1641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Relationship Id="rId5" Type="http://schemas.openxmlformats.org/officeDocument/2006/relationships/image" Target="../media/image45.png" /><Relationship Id="rId6" Type="http://schemas.openxmlformats.org/officeDocument/2006/relationships/image" Target="../media/image46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7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8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3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5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8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7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3.png" /><Relationship Id="rId4" Type="http://schemas.openxmlformats.org/officeDocument/2006/relationships/image" Target="../media/image44.png" /><Relationship Id="rId5" Type="http://schemas.openxmlformats.org/officeDocument/2006/relationships/image" Target="../media/image46.png" /><Relationship Id="rId6" Type="http://schemas.openxmlformats.org/officeDocument/2006/relationships/image" Target="../media/image5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0.png" /><Relationship Id="rId4" Type="http://schemas.openxmlformats.org/officeDocument/2006/relationships/image" Target="../media/image4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6.png" /><Relationship Id="rId4" Type="http://schemas.openxmlformats.org/officeDocument/2006/relationships/image" Target="../media/image6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7.png" /><Relationship Id="rId4" Type="http://schemas.openxmlformats.org/officeDocument/2006/relationships/image" Target="../media/image6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4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4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9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70.png" /><Relationship Id="rId4" Type="http://schemas.openxmlformats.org/officeDocument/2006/relationships/image" Target="../media/image71.png" /><Relationship Id="rId5" Type="http://schemas.openxmlformats.org/officeDocument/2006/relationships/image" Target="../media/image72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70.png" /><Relationship Id="rId4" Type="http://schemas.openxmlformats.org/officeDocument/2006/relationships/image" Target="../media/image71.png" /><Relationship Id="rId5" Type="http://schemas.openxmlformats.org/officeDocument/2006/relationships/image" Target="../media/image72.png" /><Relationship Id="rId6" Type="http://schemas.openxmlformats.org/officeDocument/2006/relationships/image" Target="../media/image73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7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74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75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76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77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2.xml" /><Relationship Id="rId3" Type="http://schemas.openxmlformats.org/officeDocument/2006/relationships/image" Target="../media/image78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3.xml" /><Relationship Id="rId3" Type="http://schemas.openxmlformats.org/officeDocument/2006/relationships/image" Target="../media/image79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4.xml" /><Relationship Id="rId3" Type="http://schemas.openxmlformats.org/officeDocument/2006/relationships/image" Target="../media/image77.png" /><Relationship Id="rId4" Type="http://schemas.openxmlformats.org/officeDocument/2006/relationships/image" Target="../media/image80.pn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5.xml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6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choose appropriate representations to explore a statistical problem.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4115425"/>
            <a:ext cx="64944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pie chart (pie graph) is a circular graph where sectors represent different groups proportionally.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2887500"/>
            <a:ext cx="6834300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scatter graph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visual representation for bivariate data. It can be useful when determining the nature of the relationship between the variables.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8" name="Google Shape;76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3050" y="2941251"/>
            <a:ext cx="989000" cy="10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/>
        </p:nvSpPr>
        <p:spPr>
          <a:xfrm>
            <a:off x="324000" y="1910077"/>
            <a:ext cx="66969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bar chart (bar graph) is a graph consisting of bars visually representing the frequency of objects or groups.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7"/>
          <p:cNvSpPr txBox="1"/>
          <p:nvPr/>
        </p:nvSpPr>
        <p:spPr>
          <a:xfrm>
            <a:off x="333223" y="874525"/>
            <a:ext cx="69135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pictogram (pictograph) is a graph consisting of pictures to visually represent the frequency of objects or groups.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1" name="Google Shape;771;p67"/>
          <p:cNvGrpSpPr/>
          <p:nvPr/>
        </p:nvGrpSpPr>
        <p:grpSpPr>
          <a:xfrm>
            <a:off x="7089475" y="1722475"/>
            <a:ext cx="1324106" cy="1321574"/>
            <a:chOff x="7089475" y="3551275"/>
            <a:chExt cx="1324106" cy="1321574"/>
          </a:xfrm>
        </p:grpSpPr>
        <p:pic>
          <p:nvPicPr>
            <p:cNvPr id="772" name="Google Shape;772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7973" y="3684175"/>
              <a:ext cx="872990" cy="89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p67"/>
            <p:cNvSpPr txBox="1"/>
            <p:nvPr/>
          </p:nvSpPr>
          <p:spPr>
            <a:xfrm rot="-5400000">
              <a:off x="6787225" y="385352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b="1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sz="12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4" name="Google Shape;774;p67"/>
            <p:cNvSpPr txBox="1"/>
            <p:nvPr/>
          </p:nvSpPr>
          <p:spPr>
            <a:xfrm>
              <a:off x="7361481" y="4425249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75" name="Google Shape;775;p67"/>
          <p:cNvGrpSpPr/>
          <p:nvPr/>
        </p:nvGrpSpPr>
        <p:grpSpPr>
          <a:xfrm>
            <a:off x="7105805" y="536568"/>
            <a:ext cx="1582545" cy="1139670"/>
            <a:chOff x="7056005" y="2279005"/>
            <a:chExt cx="1582545" cy="1139670"/>
          </a:xfrm>
        </p:grpSpPr>
        <p:pic>
          <p:nvPicPr>
            <p:cNvPr id="776" name="Google Shape;776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20477" y="2587538"/>
              <a:ext cx="1093097" cy="773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67"/>
            <p:cNvSpPr txBox="1"/>
            <p:nvPr/>
          </p:nvSpPr>
          <p:spPr>
            <a:xfrm>
              <a:off x="7936550" y="3113575"/>
              <a:ext cx="702000" cy="22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700">
                  <a:latin typeface="Lexend"/>
                  <a:ea typeface="Lexend"/>
                  <a:cs typeface="Lexend"/>
                  <a:sym typeface="Lexend"/>
                </a:rPr>
                <a:t>= 5 boxes</a:t>
              </a:r>
              <a:endParaRPr sz="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8" name="Google Shape;778;p67"/>
            <p:cNvSpPr/>
            <p:nvPr/>
          </p:nvSpPr>
          <p:spPr>
            <a:xfrm>
              <a:off x="7784000" y="3113575"/>
              <a:ext cx="702000" cy="3051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9" name="Google Shape;779;p67"/>
            <p:cNvSpPr txBox="1"/>
            <p:nvPr/>
          </p:nvSpPr>
          <p:spPr>
            <a:xfrm rot="-5400000">
              <a:off x="6753755" y="258125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80" name="Google Shape;78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3229" y="4158553"/>
            <a:ext cx="683009" cy="6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4" name="Shape 784"/>
        <p:cNvGrpSpPr/>
        <p:nvPr/>
      </p:nvGrpSpPr>
      <p:grpSpPr>
        <a:xfrm>
          <a:off x="0" y="0"/>
          <a: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Presenting data clearly using graphs</a:t>
            </a:r>
            <a:endParaRPr/>
          </a:p>
        </p:txBody>
      </p:sp>
      <p:sp>
        <p:nvSpPr>
          <p:cNvPr id="786" name="Google Shape;786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Choosing how to present data to illustrate a point</a:t>
            </a:r>
            <a:endParaRPr/>
          </a:p>
        </p:txBody>
      </p:sp>
      <p:sp>
        <p:nvSpPr>
          <p:cNvPr id="787" name="Google Shape;787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2" name="Shape 792"/>
        <p:cNvGrpSpPr/>
        <p:nvPr/>
      </p:nvGrpSpPr>
      <p:grpSpPr>
        <a:xfrm>
          <a:off x="0" y="0"/>
          <a:ext cx="0" cy="0"/>
        </a:xfrm>
      </p:grpSpPr>
      <p:sp>
        <p:nvSpPr>
          <p:cNvPr id="793" name="Google Shape;79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794" name="Google Shape;794;p6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Visual representations can be helpful when </a:t>
            </a:r>
            <a:r>
              <a:rPr lang="en-GB" sz="1800">
                <a:solidFill>
                  <a:schemeClr val="accent4"/>
                </a:solidFill>
              </a:rPr>
              <a:t>analysing</a:t>
            </a:r>
            <a:r>
              <a:rPr lang="en-GB" sz="1800"/>
              <a:t> data and when </a:t>
            </a:r>
            <a:r>
              <a:rPr lang="en-GB" sz="1800">
                <a:solidFill>
                  <a:schemeClr val="accent4"/>
                </a:solidFill>
              </a:rPr>
              <a:t>communicating</a:t>
            </a:r>
            <a:r>
              <a:rPr lang="en-GB" sz="1800"/>
              <a:t> messages about the data to others.</a:t>
            </a:r>
            <a:endParaRPr sz="1800"/>
          </a:p>
        </p:txBody>
      </p:sp>
      <p:sp>
        <p:nvSpPr>
          <p:cNvPr id="795" name="Google Shape;795;p69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5711426" y="2390100"/>
            <a:ext cx="2089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1" name="Google Shape;801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-7929492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9"/>
          <p:cNvPicPr preferRelativeResize="0"/>
          <p:nvPr/>
        </p:nvPicPr>
        <p:blipFill>
          <a:blip r:embed="rId3">
            <a:alphaModFix/>
          </a:blip>
          <a:srcRect l="74003" t="50045" r="14809" b="36882"/>
          <a:stretch>
            <a:fillRect/>
          </a:stretch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>
            <p:ph type="body" idx="1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08" name="Google Shape;808;p69"/>
          <p:cNvSpPr/>
          <p:nvPr/>
        </p:nvSpPr>
        <p:spPr>
          <a:xfrm>
            <a:off x="3283625" y="4286553"/>
            <a:ext cx="2144700" cy="380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/>
          <p:nvPr/>
        </p:nvSpPr>
        <p:spPr>
          <a:xfrm>
            <a:off x="1603298" y="3727527"/>
            <a:ext cx="1896600" cy="493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3" name="Shape 813"/>
        <p:cNvGrpSpPr/>
        <p:nvPr/>
      </p:nvGrpSpPr>
      <p:grpSpPr>
        <a:xfrm>
          <a:off x="0" y="0"/>
          <a:ext cx="0" cy="0"/>
        </a:xfrm>
      </p:grpSpPr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815" name="Google Shape;815;p70"/>
          <p:cNvSpPr txBox="1"/>
          <p:nvPr>
            <p:ph type="body" idx="1"/>
          </p:nvPr>
        </p:nvSpPr>
        <p:spPr>
          <a:xfrm>
            <a:off x="266273" y="759300"/>
            <a:ext cx="8237700" cy="821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With any graph we use, it is important that it is presented in a way that makes it </a:t>
            </a:r>
            <a:r>
              <a:rPr lang="en-GB" sz="1800">
                <a:solidFill>
                  <a:schemeClr val="accent4"/>
                </a:solidFill>
              </a:rPr>
              <a:t>clear</a:t>
            </a:r>
            <a:r>
              <a:rPr lang="en-GB" sz="1800"/>
              <a:t> to see what the data is showing.</a:t>
            </a:r>
            <a:endParaRPr sz="1800"/>
          </a:p>
        </p:txBody>
      </p:sp>
      <p:sp>
        <p:nvSpPr>
          <p:cNvPr id="816" name="Google Shape;816;p70"/>
          <p:cNvSpPr txBox="1"/>
          <p:nvPr>
            <p:ph type="body" idx="1"/>
          </p:nvPr>
        </p:nvSpPr>
        <p:spPr>
          <a:xfrm>
            <a:off x="266273" y="1597500"/>
            <a:ext cx="8237700" cy="674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the </a:t>
            </a:r>
            <a:r>
              <a:rPr lang="en-GB" sz="1800">
                <a:solidFill>
                  <a:schemeClr val="accent4"/>
                </a:solidFill>
              </a:rPr>
              <a:t>available space</a:t>
            </a:r>
            <a:r>
              <a:rPr lang="en-GB" sz="1800"/>
              <a:t> effectively can help make elements of the graph clear to see and interpret accurately.</a:t>
            </a:r>
            <a:endParaRPr sz="1800"/>
          </a:p>
        </p:txBody>
      </p:sp>
      <p:sp>
        <p:nvSpPr>
          <p:cNvPr id="817" name="Google Shape;817;p70"/>
          <p:cNvSpPr txBox="1"/>
          <p:nvPr>
            <p:ph type="body" idx="1"/>
          </p:nvPr>
        </p:nvSpPr>
        <p:spPr>
          <a:xfrm>
            <a:off x="266273" y="2511900"/>
            <a:ext cx="8237700" cy="35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scale</a:t>
            </a:r>
            <a:r>
              <a:rPr lang="en-GB" sz="1800"/>
              <a:t> on the axes can drastically affect how a graph looks.</a:t>
            </a:r>
            <a:endParaRPr sz="1800"/>
          </a:p>
        </p:txBody>
      </p:sp>
      <p:sp>
        <p:nvSpPr>
          <p:cNvPr id="818" name="Google Shape;818;p70"/>
          <p:cNvSpPr txBox="1"/>
          <p:nvPr>
            <p:ph type="body" idx="1"/>
          </p:nvPr>
        </p:nvSpPr>
        <p:spPr>
          <a:xfrm>
            <a:off x="266273" y="3045300"/>
            <a:ext cx="8237700" cy="734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With some graphs it is important that the scales of the axes </a:t>
            </a:r>
            <a:r>
              <a:rPr lang="en-GB" sz="1800">
                <a:solidFill>
                  <a:schemeClr val="accent4"/>
                </a:solidFill>
              </a:rPr>
              <a:t>start at</a:t>
            </a:r>
            <a:r>
              <a:rPr lang="en-GB" sz="1800"/>
              <a:t> </a:t>
            </a:r>
            <a:r>
              <a:rPr lang="en-GB" sz="1800">
                <a:solidFill>
                  <a:schemeClr val="accent4"/>
                </a:solidFill>
              </a:rPr>
              <a:t>zero</a:t>
            </a:r>
            <a:r>
              <a:rPr lang="en-GB" sz="1800"/>
              <a:t> because it represents the data more accurately.</a:t>
            </a:r>
            <a:endParaRPr sz="1800"/>
          </a:p>
        </p:txBody>
      </p:sp>
      <p:sp>
        <p:nvSpPr>
          <p:cNvPr id="819" name="Google Shape;819;p70"/>
          <p:cNvSpPr txBox="1"/>
          <p:nvPr/>
        </p:nvSpPr>
        <p:spPr>
          <a:xfrm>
            <a:off x="266273" y="3926036"/>
            <a:ext cx="834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 other graphs, starting at zero can cause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problems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3" name="Shape 823"/>
        <p:cNvGrpSpPr/>
        <p:nvPr/>
      </p:nvGrpSpPr>
      <p:grpSpPr>
        <a:xfrm>
          <a:off x="0" y="0"/>
          <a:ext cx="0" cy="0"/>
        </a:xfrm>
      </p:grpSpPr>
      <p:pic>
        <p:nvPicPr>
          <p:cNvPr id="824" name="Google Shape;824;p71"/>
          <p:cNvPicPr preferRelativeResize="0"/>
          <p:nvPr/>
        </p:nvPicPr>
        <p:blipFill>
          <a:blip r:embed="rId3">
            <a:alphaModFix/>
          </a:blip>
          <a:srcRect l="3549" b="3966"/>
          <a:stretch>
            <a:fillRect/>
          </a:stretch>
        </p:blipFill>
        <p:spPr>
          <a:xfrm>
            <a:off x="1186375" y="2343150"/>
            <a:ext cx="2613924" cy="2177124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826" name="Google Shape;826;p71"/>
          <p:cNvSpPr txBox="1"/>
          <p:nvPr>
            <p:ph type="body" idx="1"/>
          </p:nvPr>
        </p:nvSpPr>
        <p:spPr>
          <a:xfrm>
            <a:off x="324000" y="759300"/>
            <a:ext cx="8237700" cy="65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For </a:t>
            </a:r>
            <a:r>
              <a:rPr lang="en-GB" sz="1800">
                <a:solidFill>
                  <a:schemeClr val="accent4"/>
                </a:solidFill>
              </a:rPr>
              <a:t>scatter graphs</a:t>
            </a:r>
            <a:r>
              <a:rPr lang="en-GB" sz="1800"/>
              <a:t>, starting each axis at zero can cause the points to become clusters in a small space. </a:t>
            </a:r>
            <a:endParaRPr sz="1800"/>
          </a:p>
        </p:txBody>
      </p:sp>
      <p:pic>
        <p:nvPicPr>
          <p:cNvPr id="827" name="Google Shape;827;p71"/>
          <p:cNvPicPr preferRelativeResize="0"/>
          <p:nvPr/>
        </p:nvPicPr>
        <p:blipFill>
          <a:blip r:embed="rId4">
            <a:alphaModFix/>
          </a:blip>
          <a:srcRect l="3269" b="2714"/>
          <a:stretch>
            <a:fillRect/>
          </a:stretch>
        </p:blipFill>
        <p:spPr>
          <a:xfrm>
            <a:off x="5159050" y="2343150"/>
            <a:ext cx="2915775" cy="21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1"/>
          <p:cNvSpPr txBox="1"/>
          <p:nvPr>
            <p:ph type="body" idx="1"/>
          </p:nvPr>
        </p:nvSpPr>
        <p:spPr>
          <a:xfrm>
            <a:off x="292700" y="1467600"/>
            <a:ext cx="8237700" cy="6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Starting the scales of a scatter graph </a:t>
            </a:r>
            <a:r>
              <a:rPr lang="en-GB" sz="1800">
                <a:solidFill>
                  <a:schemeClr val="accent4"/>
                </a:solidFill>
              </a:rPr>
              <a:t>away from zero</a:t>
            </a:r>
            <a:r>
              <a:rPr lang="en-GB" sz="1800"/>
              <a:t> can sometimes make more use of the space and illustrate correlations more clearly.</a:t>
            </a:r>
            <a:endParaRPr sz="1800"/>
          </a:p>
        </p:txBody>
      </p:sp>
      <p:cxnSp>
        <p:nvCxnSpPr>
          <p:cNvPr id="829" name="Google Shape;829;p71"/>
          <p:cNvCxnSpPr/>
          <p:nvPr/>
        </p:nvCxnSpPr>
        <p:spPr>
          <a:xfrm>
            <a:off x="5172059" y="4524474"/>
            <a:ext cx="3071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0" name="Google Shape;830;p71"/>
          <p:cNvCxnSpPr/>
          <p:nvPr/>
        </p:nvCxnSpPr>
        <p:spPr>
          <a:xfrm rot="10800000" flipH="1">
            <a:off x="5171739" y="2214164"/>
            <a:ext cx="0" cy="231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1" name="Google Shape;831;p71"/>
          <p:cNvSpPr txBox="1"/>
          <p:nvPr>
            <p:ph type="body" idx="1"/>
          </p:nvPr>
        </p:nvSpPr>
        <p:spPr>
          <a:xfrm>
            <a:off x="5027317" y="45742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500</a:t>
            </a:r>
            <a:endParaRPr sz="1600"/>
          </a:p>
        </p:txBody>
      </p:sp>
      <p:sp>
        <p:nvSpPr>
          <p:cNvPr id="832" name="Google Shape;832;p71"/>
          <p:cNvSpPr txBox="1"/>
          <p:nvPr>
            <p:ph type="body" idx="1"/>
          </p:nvPr>
        </p:nvSpPr>
        <p:spPr>
          <a:xfrm>
            <a:off x="5939800" y="45742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510</a:t>
            </a:r>
            <a:endParaRPr sz="1600"/>
          </a:p>
        </p:txBody>
      </p:sp>
      <p:sp>
        <p:nvSpPr>
          <p:cNvPr id="833" name="Google Shape;833;p71"/>
          <p:cNvSpPr txBox="1"/>
          <p:nvPr>
            <p:ph type="body" idx="1"/>
          </p:nvPr>
        </p:nvSpPr>
        <p:spPr>
          <a:xfrm>
            <a:off x="6871525" y="45742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520</a:t>
            </a:r>
            <a:endParaRPr sz="1600"/>
          </a:p>
        </p:txBody>
      </p:sp>
      <p:sp>
        <p:nvSpPr>
          <p:cNvPr id="834" name="Google Shape;834;p71"/>
          <p:cNvSpPr txBox="1"/>
          <p:nvPr>
            <p:ph type="body" idx="1"/>
          </p:nvPr>
        </p:nvSpPr>
        <p:spPr>
          <a:xfrm>
            <a:off x="7803250" y="45742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530</a:t>
            </a:r>
            <a:endParaRPr sz="1600"/>
          </a:p>
        </p:txBody>
      </p:sp>
      <p:sp>
        <p:nvSpPr>
          <p:cNvPr id="835" name="Google Shape;835;p71"/>
          <p:cNvSpPr txBox="1"/>
          <p:nvPr>
            <p:ph type="body" idx="1"/>
          </p:nvPr>
        </p:nvSpPr>
        <p:spPr>
          <a:xfrm>
            <a:off x="4753264" y="4363758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836" name="Google Shape;836;p71"/>
          <p:cNvSpPr txBox="1"/>
          <p:nvPr>
            <p:ph type="body" idx="1"/>
          </p:nvPr>
        </p:nvSpPr>
        <p:spPr>
          <a:xfrm>
            <a:off x="4758074" y="3544801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110</a:t>
            </a:r>
            <a:endParaRPr sz="1600"/>
          </a:p>
        </p:txBody>
      </p:sp>
      <p:sp>
        <p:nvSpPr>
          <p:cNvPr id="837" name="Google Shape;837;p71"/>
          <p:cNvSpPr txBox="1"/>
          <p:nvPr>
            <p:ph type="body" idx="1"/>
          </p:nvPr>
        </p:nvSpPr>
        <p:spPr>
          <a:xfrm>
            <a:off x="4758074" y="2673696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838" name="Google Shape;838;p71"/>
          <p:cNvSpPr txBox="1"/>
          <p:nvPr>
            <p:ph type="body" idx="1"/>
          </p:nvPr>
        </p:nvSpPr>
        <p:spPr>
          <a:xfrm>
            <a:off x="4753264" y="3972553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105</a:t>
            </a:r>
            <a:endParaRPr sz="1600"/>
          </a:p>
        </p:txBody>
      </p:sp>
      <p:sp>
        <p:nvSpPr>
          <p:cNvPr id="839" name="Google Shape;839;p71"/>
          <p:cNvSpPr txBox="1"/>
          <p:nvPr>
            <p:ph type="body" idx="1"/>
          </p:nvPr>
        </p:nvSpPr>
        <p:spPr>
          <a:xfrm>
            <a:off x="4753264" y="3113942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115</a:t>
            </a:r>
            <a:endParaRPr sz="1600"/>
          </a:p>
        </p:txBody>
      </p:sp>
      <p:sp>
        <p:nvSpPr>
          <p:cNvPr id="840" name="Google Shape;840;p71"/>
          <p:cNvSpPr txBox="1"/>
          <p:nvPr>
            <p:ph type="body" idx="1"/>
          </p:nvPr>
        </p:nvSpPr>
        <p:spPr>
          <a:xfrm>
            <a:off x="4758074" y="2263833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125</a:t>
            </a:r>
            <a:endParaRPr sz="1600"/>
          </a:p>
        </p:txBody>
      </p:sp>
      <p:cxnSp>
        <p:nvCxnSpPr>
          <p:cNvPr id="841" name="Google Shape;841;p71"/>
          <p:cNvCxnSpPr/>
          <p:nvPr/>
        </p:nvCxnSpPr>
        <p:spPr>
          <a:xfrm>
            <a:off x="1200038" y="4524474"/>
            <a:ext cx="2771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2" name="Google Shape;842;p71"/>
          <p:cNvCxnSpPr/>
          <p:nvPr/>
        </p:nvCxnSpPr>
        <p:spPr>
          <a:xfrm rot="10800000" flipH="1">
            <a:off x="1199717" y="2214164"/>
            <a:ext cx="0" cy="231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3" name="Google Shape;843;p71"/>
          <p:cNvSpPr txBox="1"/>
          <p:nvPr>
            <p:ph type="body" idx="1"/>
          </p:nvPr>
        </p:nvSpPr>
        <p:spPr>
          <a:xfrm>
            <a:off x="1131498" y="4577661"/>
            <a:ext cx="1593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844" name="Google Shape;844;p71"/>
          <p:cNvSpPr txBox="1"/>
          <p:nvPr>
            <p:ph type="body" idx="1"/>
          </p:nvPr>
        </p:nvSpPr>
        <p:spPr>
          <a:xfrm>
            <a:off x="1839191" y="4577661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200</a:t>
            </a:r>
            <a:endParaRPr sz="1600"/>
          </a:p>
        </p:txBody>
      </p:sp>
      <p:sp>
        <p:nvSpPr>
          <p:cNvPr id="845" name="Google Shape;845;p71"/>
          <p:cNvSpPr txBox="1"/>
          <p:nvPr>
            <p:ph type="body" idx="1"/>
          </p:nvPr>
        </p:nvSpPr>
        <p:spPr>
          <a:xfrm>
            <a:off x="2687913" y="4577661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400</a:t>
            </a:r>
            <a:endParaRPr sz="1600"/>
          </a:p>
        </p:txBody>
      </p:sp>
      <p:sp>
        <p:nvSpPr>
          <p:cNvPr id="846" name="Google Shape;846;p71"/>
          <p:cNvSpPr txBox="1"/>
          <p:nvPr>
            <p:ph type="body" idx="1"/>
          </p:nvPr>
        </p:nvSpPr>
        <p:spPr>
          <a:xfrm>
            <a:off x="3543438" y="4577661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600</a:t>
            </a:r>
            <a:endParaRPr sz="1600"/>
          </a:p>
        </p:txBody>
      </p:sp>
      <p:sp>
        <p:nvSpPr>
          <p:cNvPr id="847" name="Google Shape;847;p71"/>
          <p:cNvSpPr txBox="1"/>
          <p:nvPr>
            <p:ph type="body" idx="1"/>
          </p:nvPr>
        </p:nvSpPr>
        <p:spPr>
          <a:xfrm>
            <a:off x="986521" y="4363750"/>
            <a:ext cx="1917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848" name="Google Shape;848;p71"/>
          <p:cNvSpPr txBox="1"/>
          <p:nvPr>
            <p:ph type="body" idx="1"/>
          </p:nvPr>
        </p:nvSpPr>
        <p:spPr>
          <a:xfrm>
            <a:off x="887877" y="3188973"/>
            <a:ext cx="2985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849" name="Google Shape;849;p71"/>
          <p:cNvSpPr txBox="1"/>
          <p:nvPr>
            <p:ph type="body" idx="1"/>
          </p:nvPr>
        </p:nvSpPr>
        <p:spPr>
          <a:xfrm>
            <a:off x="884476" y="3813346"/>
            <a:ext cx="2937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850" name="Google Shape;850;p71"/>
          <p:cNvSpPr txBox="1"/>
          <p:nvPr>
            <p:ph type="body" idx="1"/>
          </p:nvPr>
        </p:nvSpPr>
        <p:spPr>
          <a:xfrm>
            <a:off x="789474" y="2579375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851" name="Google Shape;851;p71"/>
          <p:cNvSpPr txBox="1"/>
          <p:nvPr>
            <p:ph type="body" idx="1"/>
          </p:nvPr>
        </p:nvSpPr>
        <p:spPr>
          <a:xfrm>
            <a:off x="789474" y="2873970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852" name="Google Shape;852;p71"/>
          <p:cNvSpPr txBox="1"/>
          <p:nvPr>
            <p:ph type="body" idx="1"/>
          </p:nvPr>
        </p:nvSpPr>
        <p:spPr>
          <a:xfrm>
            <a:off x="884476" y="3498341"/>
            <a:ext cx="2937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853" name="Google Shape;853;p71"/>
          <p:cNvSpPr txBox="1"/>
          <p:nvPr>
            <p:ph type="body" idx="1"/>
          </p:nvPr>
        </p:nvSpPr>
        <p:spPr>
          <a:xfrm>
            <a:off x="884476" y="4111343"/>
            <a:ext cx="2937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7" name="Shape 857"/>
        <p:cNvGrpSpPr/>
        <p:nvPr/>
      </p:nvGrpSpPr>
      <p:grpSpPr>
        <a:xfrm>
          <a:off x="0" y="0"/>
          <a:ext cx="0" cy="0"/>
        </a:xfrm>
      </p:grpSpPr>
      <p:sp>
        <p:nvSpPr>
          <p:cNvPr id="858" name="Google Shape;85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859" name="Google Shape;859;p72"/>
          <p:cNvSpPr txBox="1"/>
          <p:nvPr>
            <p:ph type="body" idx="1"/>
          </p:nvPr>
        </p:nvSpPr>
        <p:spPr>
          <a:xfrm>
            <a:off x="324000" y="759300"/>
            <a:ext cx="7969200" cy="65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Sometimes a graph will use an </a:t>
            </a:r>
            <a:r>
              <a:rPr lang="en-GB" sz="1800">
                <a:solidFill>
                  <a:schemeClr val="accent4"/>
                </a:solidFill>
              </a:rPr>
              <a:t>axis break</a:t>
            </a:r>
            <a:r>
              <a:rPr lang="en-GB" sz="1800"/>
              <a:t> to highlight that its scale does not start at zero.</a:t>
            </a:r>
            <a:endParaRPr sz="1800"/>
          </a:p>
        </p:txBody>
      </p:sp>
      <p:pic>
        <p:nvPicPr>
          <p:cNvPr id="860" name="Google Shape;860;p72"/>
          <p:cNvPicPr preferRelativeResize="0"/>
          <p:nvPr/>
        </p:nvPicPr>
        <p:blipFill>
          <a:blip r:embed="rId3">
            <a:alphaModFix/>
          </a:blip>
          <a:srcRect l="3269" b="2714"/>
          <a:stretch>
            <a:fillRect/>
          </a:stretch>
        </p:blipFill>
        <p:spPr>
          <a:xfrm>
            <a:off x="3254050" y="1885950"/>
            <a:ext cx="2915775" cy="217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1" name="Google Shape;861;p72"/>
          <p:cNvCxnSpPr/>
          <p:nvPr/>
        </p:nvCxnSpPr>
        <p:spPr>
          <a:xfrm>
            <a:off x="3548600" y="4067275"/>
            <a:ext cx="278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2" name="Google Shape;862;p72"/>
          <p:cNvCxnSpPr/>
          <p:nvPr/>
        </p:nvCxnSpPr>
        <p:spPr>
          <a:xfrm rot="10800000" flipH="1">
            <a:off x="3266750" y="1756775"/>
            <a:ext cx="0" cy="201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3" name="Google Shape;863;p72"/>
          <p:cNvSpPr txBox="1"/>
          <p:nvPr>
            <p:ph type="body" idx="1"/>
          </p:nvPr>
        </p:nvSpPr>
        <p:spPr>
          <a:xfrm>
            <a:off x="4034800" y="41170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510</a:t>
            </a:r>
            <a:endParaRPr sz="1600"/>
          </a:p>
        </p:txBody>
      </p:sp>
      <p:sp>
        <p:nvSpPr>
          <p:cNvPr id="864" name="Google Shape;864;p72"/>
          <p:cNvSpPr txBox="1"/>
          <p:nvPr>
            <p:ph type="body" idx="1"/>
          </p:nvPr>
        </p:nvSpPr>
        <p:spPr>
          <a:xfrm>
            <a:off x="4966525" y="41170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520</a:t>
            </a:r>
            <a:endParaRPr sz="1600"/>
          </a:p>
        </p:txBody>
      </p:sp>
      <p:sp>
        <p:nvSpPr>
          <p:cNvPr id="865" name="Google Shape;865;p72"/>
          <p:cNvSpPr txBox="1"/>
          <p:nvPr>
            <p:ph type="body" idx="1"/>
          </p:nvPr>
        </p:nvSpPr>
        <p:spPr>
          <a:xfrm>
            <a:off x="5898250" y="4117059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530</a:t>
            </a:r>
            <a:endParaRPr sz="1600"/>
          </a:p>
        </p:txBody>
      </p:sp>
      <p:sp>
        <p:nvSpPr>
          <p:cNvPr id="866" name="Google Shape;866;p72"/>
          <p:cNvSpPr txBox="1"/>
          <p:nvPr>
            <p:ph type="body" idx="1"/>
          </p:nvPr>
        </p:nvSpPr>
        <p:spPr>
          <a:xfrm>
            <a:off x="2853074" y="3087601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110</a:t>
            </a:r>
            <a:endParaRPr sz="1600"/>
          </a:p>
        </p:txBody>
      </p:sp>
      <p:sp>
        <p:nvSpPr>
          <p:cNvPr id="867" name="Google Shape;867;p72"/>
          <p:cNvSpPr txBox="1"/>
          <p:nvPr>
            <p:ph type="body" idx="1"/>
          </p:nvPr>
        </p:nvSpPr>
        <p:spPr>
          <a:xfrm>
            <a:off x="2853074" y="2216496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868" name="Google Shape;868;p72"/>
          <p:cNvSpPr txBox="1"/>
          <p:nvPr>
            <p:ph type="body" idx="1"/>
          </p:nvPr>
        </p:nvSpPr>
        <p:spPr>
          <a:xfrm>
            <a:off x="2848264" y="3515353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105</a:t>
            </a:r>
            <a:endParaRPr sz="1600"/>
          </a:p>
        </p:txBody>
      </p:sp>
      <p:sp>
        <p:nvSpPr>
          <p:cNvPr id="869" name="Google Shape;869;p72"/>
          <p:cNvSpPr txBox="1"/>
          <p:nvPr>
            <p:ph type="body" idx="1"/>
          </p:nvPr>
        </p:nvSpPr>
        <p:spPr>
          <a:xfrm>
            <a:off x="2848264" y="2656742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115</a:t>
            </a:r>
            <a:endParaRPr sz="1600"/>
          </a:p>
        </p:txBody>
      </p:sp>
      <p:sp>
        <p:nvSpPr>
          <p:cNvPr id="870" name="Google Shape;870;p72"/>
          <p:cNvSpPr txBox="1"/>
          <p:nvPr>
            <p:ph type="body" idx="1"/>
          </p:nvPr>
        </p:nvSpPr>
        <p:spPr>
          <a:xfrm>
            <a:off x="2853074" y="1806633"/>
            <a:ext cx="396900" cy="2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125</a:t>
            </a:r>
            <a:endParaRPr sz="1600"/>
          </a:p>
        </p:txBody>
      </p:sp>
      <p:grpSp>
        <p:nvGrpSpPr>
          <p:cNvPr id="871" name="Google Shape;871;p72"/>
          <p:cNvGrpSpPr/>
          <p:nvPr/>
        </p:nvGrpSpPr>
        <p:grpSpPr>
          <a:xfrm>
            <a:off x="3187523" y="3753338"/>
            <a:ext cx="149574" cy="309747"/>
            <a:chOff x="3187543" y="3753364"/>
            <a:chExt cx="149589" cy="376592"/>
          </a:xfrm>
        </p:grpSpPr>
        <p:cxnSp>
          <p:nvCxnSpPr>
            <p:cNvPr id="872" name="Google Shape;872;p72"/>
            <p:cNvCxnSpPr/>
            <p:nvPr/>
          </p:nvCxnSpPr>
          <p:spPr>
            <a:xfrm rot="10800000" flipH="1">
              <a:off x="3268750" y="3917256"/>
              <a:ext cx="0" cy="212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3" name="Google Shape;873;p72"/>
            <p:cNvCxnSpPr/>
            <p:nvPr/>
          </p:nvCxnSpPr>
          <p:spPr>
            <a:xfrm rot="10800000" flipH="1">
              <a:off x="3261532" y="3880272"/>
              <a:ext cx="75600" cy="4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72"/>
            <p:cNvCxnSpPr/>
            <p:nvPr/>
          </p:nvCxnSpPr>
          <p:spPr>
            <a:xfrm rot="10800000">
              <a:off x="3187543" y="3803871"/>
              <a:ext cx="135900" cy="78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72"/>
            <p:cNvCxnSpPr/>
            <p:nvPr/>
          </p:nvCxnSpPr>
          <p:spPr>
            <a:xfrm rot="10800000" flipH="1">
              <a:off x="3202353" y="3753364"/>
              <a:ext cx="71100" cy="5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6" name="Google Shape;876;p72"/>
          <p:cNvGrpSpPr/>
          <p:nvPr/>
        </p:nvGrpSpPr>
        <p:grpSpPr>
          <a:xfrm rot="5400000">
            <a:off x="3334501" y="3911897"/>
            <a:ext cx="149574" cy="297376"/>
            <a:chOff x="3187543" y="3753364"/>
            <a:chExt cx="149589" cy="419607"/>
          </a:xfrm>
        </p:grpSpPr>
        <p:cxnSp>
          <p:nvCxnSpPr>
            <p:cNvPr id="877" name="Google Shape;877;p72"/>
            <p:cNvCxnSpPr/>
            <p:nvPr/>
          </p:nvCxnSpPr>
          <p:spPr>
            <a:xfrm rot="-5400000">
              <a:off x="3140054" y="4044271"/>
              <a:ext cx="257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72"/>
            <p:cNvCxnSpPr/>
            <p:nvPr/>
          </p:nvCxnSpPr>
          <p:spPr>
            <a:xfrm rot="10800000" flipH="1">
              <a:off x="3261532" y="3880272"/>
              <a:ext cx="75600" cy="4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72"/>
            <p:cNvCxnSpPr/>
            <p:nvPr/>
          </p:nvCxnSpPr>
          <p:spPr>
            <a:xfrm rot="10800000">
              <a:off x="3187543" y="3803871"/>
              <a:ext cx="135900" cy="78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72"/>
            <p:cNvCxnSpPr/>
            <p:nvPr/>
          </p:nvCxnSpPr>
          <p:spPr>
            <a:xfrm rot="10800000" flipH="1">
              <a:off x="3202353" y="3753364"/>
              <a:ext cx="71100" cy="5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81" name="Google Shape;881;p72"/>
          <p:cNvSpPr txBox="1"/>
          <p:nvPr>
            <p:ph type="body" idx="1"/>
          </p:nvPr>
        </p:nvSpPr>
        <p:spPr>
          <a:xfrm>
            <a:off x="1248380" y="3808815"/>
            <a:ext cx="1276800" cy="30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axis break</a:t>
            </a:r>
            <a:endParaRPr sz="1800"/>
          </a:p>
        </p:txBody>
      </p:sp>
      <p:cxnSp>
        <p:nvCxnSpPr>
          <p:cNvPr id="882" name="Google Shape;882;p72"/>
          <p:cNvCxnSpPr/>
          <p:nvPr/>
        </p:nvCxnSpPr>
        <p:spPr>
          <a:xfrm rot="10800000" flipH="1">
            <a:off x="2427800" y="3867350"/>
            <a:ext cx="716100" cy="100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72"/>
          <p:cNvCxnSpPr/>
          <p:nvPr/>
        </p:nvCxnSpPr>
        <p:spPr>
          <a:xfrm rot="10800000" flipH="1">
            <a:off x="3358818" y="4171372"/>
            <a:ext cx="121800" cy="390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4" name="Google Shape;884;p72"/>
          <p:cNvSpPr txBox="1"/>
          <p:nvPr>
            <p:ph type="body" idx="1"/>
          </p:nvPr>
        </p:nvSpPr>
        <p:spPr>
          <a:xfrm>
            <a:off x="2222107" y="4553770"/>
            <a:ext cx="1276800" cy="30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axis break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sp>
        <p:nvSpPr>
          <p:cNvPr id="889" name="Google Shape;88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890" name="Google Shape;890;p73"/>
          <p:cNvSpPr txBox="1"/>
          <p:nvPr>
            <p:ph type="body" idx="1"/>
          </p:nvPr>
        </p:nvSpPr>
        <p:spPr>
          <a:xfrm>
            <a:off x="324000" y="759300"/>
            <a:ext cx="8237700" cy="6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For </a:t>
            </a:r>
            <a:r>
              <a:rPr lang="en-GB" sz="1800">
                <a:solidFill>
                  <a:schemeClr val="accent4"/>
                </a:solidFill>
              </a:rPr>
              <a:t>bar charts</a:t>
            </a:r>
            <a:r>
              <a:rPr lang="en-GB" sz="1800"/>
              <a:t>, not starting the vertical axis at zero </a:t>
            </a:r>
            <a:r>
              <a:rPr lang="en-GB" sz="1800">
                <a:solidFill>
                  <a:schemeClr val="accent4"/>
                </a:solidFill>
              </a:rPr>
              <a:t>distorts</a:t>
            </a:r>
            <a:r>
              <a:rPr lang="en-GB" sz="1800"/>
              <a:t> how large one bar is compared to the other.</a:t>
            </a:r>
            <a:endParaRPr sz="1800"/>
          </a:p>
        </p:txBody>
      </p:sp>
      <p:grpSp>
        <p:nvGrpSpPr>
          <p:cNvPr id="891" name="Google Shape;891;p73"/>
          <p:cNvGrpSpPr/>
          <p:nvPr/>
        </p:nvGrpSpPr>
        <p:grpSpPr>
          <a:xfrm>
            <a:off x="1448183" y="2711972"/>
            <a:ext cx="2353061" cy="2014123"/>
            <a:chOff x="762375" y="2022761"/>
            <a:chExt cx="3238900" cy="2772364"/>
          </a:xfrm>
        </p:grpSpPr>
        <p:pic>
          <p:nvPicPr>
            <p:cNvPr id="892" name="Google Shape;892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2375" y="2100900"/>
              <a:ext cx="3238900" cy="26942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93" name="Google Shape;893;p73"/>
            <p:cNvCxnSpPr/>
            <p:nvPr/>
          </p:nvCxnSpPr>
          <p:spPr>
            <a:xfrm>
              <a:off x="1122650" y="4526400"/>
              <a:ext cx="2877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73"/>
            <p:cNvCxnSpPr/>
            <p:nvPr/>
          </p:nvCxnSpPr>
          <p:spPr>
            <a:xfrm rot="10800000" flipH="1">
              <a:off x="1125371" y="2022761"/>
              <a:ext cx="0" cy="2505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95" name="Google Shape;895;p73"/>
          <p:cNvGrpSpPr/>
          <p:nvPr/>
        </p:nvGrpSpPr>
        <p:grpSpPr>
          <a:xfrm>
            <a:off x="5209826" y="2716914"/>
            <a:ext cx="2391521" cy="2028341"/>
            <a:chOff x="4657362" y="2029564"/>
            <a:chExt cx="3291839" cy="2791935"/>
          </a:xfrm>
        </p:grpSpPr>
        <p:pic>
          <p:nvPicPr>
            <p:cNvPr id="896" name="Google Shape;89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57362" y="2079500"/>
              <a:ext cx="3291839" cy="2742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97" name="Google Shape;897;p73"/>
            <p:cNvCxnSpPr/>
            <p:nvPr/>
          </p:nvCxnSpPr>
          <p:spPr>
            <a:xfrm>
              <a:off x="5008850" y="4526400"/>
              <a:ext cx="2877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8" name="Google Shape;898;p73"/>
            <p:cNvCxnSpPr/>
            <p:nvPr/>
          </p:nvCxnSpPr>
          <p:spPr>
            <a:xfrm rot="10800000" flipH="1">
              <a:off x="5031982" y="2029564"/>
              <a:ext cx="0" cy="2505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99" name="Google Shape;899;p73"/>
          <p:cNvSpPr txBox="1"/>
          <p:nvPr>
            <p:ph type="body" idx="1"/>
          </p:nvPr>
        </p:nvSpPr>
        <p:spPr>
          <a:xfrm>
            <a:off x="324000" y="142195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In the bar chart below, it looks like there are twice as many people using petrol cars than diesel cars.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sp>
        <p:nvSpPr>
          <p:cNvPr id="900" name="Google Shape;900;p73"/>
          <p:cNvSpPr txBox="1"/>
          <p:nvPr>
            <p:ph type="body" idx="1"/>
          </p:nvPr>
        </p:nvSpPr>
        <p:spPr>
          <a:xfrm>
            <a:off x="324000" y="2110289"/>
            <a:ext cx="84960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4"/>
                </a:solidFill>
              </a:rPr>
              <a:t>Starting at zero </a:t>
            </a:r>
            <a:r>
              <a:rPr lang="en-GB" sz="1800"/>
              <a:t>gives a more accurate picture of how the groups compare.</a:t>
            </a:r>
            <a:endParaRPr sz="1800"/>
          </a:p>
        </p:txBody>
      </p:sp>
      <p:sp>
        <p:nvSpPr>
          <p:cNvPr id="901" name="Google Shape;901;p73"/>
          <p:cNvSpPr txBox="1"/>
          <p:nvPr/>
        </p:nvSpPr>
        <p:spPr>
          <a:xfrm rot="-5400000">
            <a:off x="623700" y="3435750"/>
            <a:ext cx="12585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3"/>
          <p:cNvSpPr txBox="1"/>
          <p:nvPr/>
        </p:nvSpPr>
        <p:spPr>
          <a:xfrm rot="-5400000">
            <a:off x="4433700" y="3435750"/>
            <a:ext cx="12585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3"/>
          <p:cNvSpPr/>
          <p:nvPr/>
        </p:nvSpPr>
        <p:spPr>
          <a:xfrm>
            <a:off x="1456025" y="2764250"/>
            <a:ext cx="183600" cy="181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3"/>
          <p:cNvSpPr txBox="1"/>
          <p:nvPr>
            <p:ph type="body" idx="1"/>
          </p:nvPr>
        </p:nvSpPr>
        <p:spPr>
          <a:xfrm>
            <a:off x="3456275" y="1726750"/>
            <a:ext cx="5363700" cy="3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This does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accurately represent the data.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sp>
        <p:nvSpPr>
          <p:cNvPr id="910" name="Google Shape;910;p74"/>
          <p:cNvSpPr txBox="1"/>
          <p:nvPr>
            <p:ph type="body" idx="1"/>
          </p:nvPr>
        </p:nvSpPr>
        <p:spPr>
          <a:xfrm>
            <a:off x="324000" y="759300"/>
            <a:ext cx="8237700" cy="8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4"/>
                </a:solidFill>
              </a:rPr>
              <a:t>Labelling axes</a:t>
            </a:r>
            <a:r>
              <a:rPr lang="en-GB" sz="1800"/>
              <a:t> can help a reader understand what the data is about and what each part of the graph represents.</a:t>
            </a:r>
            <a:endParaRPr sz="1800"/>
          </a:p>
        </p:txBody>
      </p:sp>
      <p:pic>
        <p:nvPicPr>
          <p:cNvPr id="911" name="Google Shape;91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240" y="2139899"/>
            <a:ext cx="3109730" cy="237085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4"/>
          <p:cNvSpPr txBox="1"/>
          <p:nvPr/>
        </p:nvSpPr>
        <p:spPr>
          <a:xfrm rot="-5400000">
            <a:off x="-257694" y="3168100"/>
            <a:ext cx="206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days with airfrost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1495666" y="4472256"/>
            <a:ext cx="1131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Sheffield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4"/>
          <p:cNvSpPr txBox="1"/>
          <p:nvPr/>
        </p:nvSpPr>
        <p:spPr>
          <a:xfrm>
            <a:off x="2899749" y="4472256"/>
            <a:ext cx="797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Tiree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4"/>
          <p:cNvSpPr txBox="1"/>
          <p:nvPr>
            <p:ph type="body" idx="1"/>
          </p:nvPr>
        </p:nvSpPr>
        <p:spPr>
          <a:xfrm>
            <a:off x="4827814" y="2211200"/>
            <a:ext cx="3684900" cy="69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Is it clear what data this bar chart is showing?</a:t>
            </a:r>
            <a:endParaRPr sz="1800"/>
          </a:p>
        </p:txBody>
      </p:sp>
      <p:sp>
        <p:nvSpPr>
          <p:cNvPr id="916" name="Google Shape;916;p74"/>
          <p:cNvSpPr txBox="1"/>
          <p:nvPr>
            <p:ph type="body" idx="1"/>
          </p:nvPr>
        </p:nvSpPr>
        <p:spPr>
          <a:xfrm>
            <a:off x="324000" y="1450561"/>
            <a:ext cx="8237700" cy="35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bar chart shows weather data for 2021 from The Met Office.</a:t>
            </a:r>
            <a:endParaRPr sz="1800"/>
          </a:p>
        </p:txBody>
      </p:sp>
      <p:sp>
        <p:nvSpPr>
          <p:cNvPr id="917" name="Google Shape;917;p74"/>
          <p:cNvSpPr txBox="1"/>
          <p:nvPr>
            <p:ph type="body" idx="1"/>
          </p:nvPr>
        </p:nvSpPr>
        <p:spPr>
          <a:xfrm>
            <a:off x="4827825" y="3430400"/>
            <a:ext cx="3684900" cy="35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How could it be clearer?</a:t>
            </a:r>
            <a:endParaRPr sz="1800"/>
          </a:p>
        </p:txBody>
      </p:sp>
      <p:sp>
        <p:nvSpPr>
          <p:cNvPr id="918" name="Google Shape;918;p74"/>
          <p:cNvSpPr txBox="1"/>
          <p:nvPr>
            <p:ph type="body" idx="1"/>
          </p:nvPr>
        </p:nvSpPr>
        <p:spPr>
          <a:xfrm>
            <a:off x="6047016" y="2887500"/>
            <a:ext cx="4653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4"/>
          <p:cNvSpPr txBox="1"/>
          <p:nvPr>
            <p:ph type="body" idx="1"/>
          </p:nvPr>
        </p:nvSpPr>
        <p:spPr>
          <a:xfrm>
            <a:off x="5513647" y="3878100"/>
            <a:ext cx="15390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label each axis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sp>
        <p:nvSpPr>
          <p:cNvPr id="924" name="Google Shape;924;p75"/>
          <p:cNvSpPr txBox="1"/>
          <p:nvPr>
            <p:ph type="subTitle" idx="1"/>
          </p:nvPr>
        </p:nvSpPr>
        <p:spPr>
          <a:xfrm>
            <a:off x="980575" y="3100380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Not starting at zero can make it clearer to see connections between variables.</a:t>
            </a:r>
            <a:endParaRPr sz="2000"/>
          </a:p>
        </p:txBody>
      </p:sp>
      <p:sp>
        <p:nvSpPr>
          <p:cNvPr id="925" name="Google Shape;925;p75"/>
          <p:cNvSpPr txBox="1"/>
          <p:nvPr>
            <p:ph type="subTitle" idx="2"/>
          </p:nvPr>
        </p:nvSpPr>
        <p:spPr>
          <a:xfrm>
            <a:off x="324000" y="1080000"/>
            <a:ext cx="84960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scales of a scatter graph should always start at zero.</a:t>
            </a:r>
            <a:endParaRPr/>
          </a:p>
        </p:txBody>
      </p:sp>
      <p:sp>
        <p:nvSpPr>
          <p:cNvPr id="926" name="Google Shape;926;p75"/>
          <p:cNvSpPr txBox="1"/>
          <p:nvPr>
            <p:ph type="subTitle" idx="3"/>
          </p:nvPr>
        </p:nvSpPr>
        <p:spPr>
          <a:xfrm>
            <a:off x="980575" y="39641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Starting at zero can accurately represent how values of data compare with each other.</a:t>
            </a:r>
            <a:endParaRPr sz="2000"/>
          </a:p>
        </p:txBody>
      </p:sp>
      <p:sp>
        <p:nvSpPr>
          <p:cNvPr id="927" name="Google Shape;92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pic>
        <p:nvPicPr>
          <p:cNvPr id="928" name="Google Shape;92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7183" y="33213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033" y="18000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Florence Nightingale</a:t>
            </a:r>
            <a:endParaRPr sz="1800"/>
          </a:p>
        </p:txBody>
      </p:sp>
      <p:sp>
        <p:nvSpPr>
          <p:cNvPr id="935" name="Google Shape;935;p76"/>
          <p:cNvSpPr txBox="1"/>
          <p:nvPr/>
        </p:nvSpPr>
        <p:spPr>
          <a:xfrm>
            <a:off x="324000" y="759300"/>
            <a:ext cx="8496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Florence Nightingale was one of the early pioneers who represented statistics using diagrams.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 txBox="1"/>
          <p:nvPr/>
        </p:nvSpPr>
        <p:spPr>
          <a:xfrm>
            <a:off x="324000" y="1690557"/>
            <a:ext cx="8496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many people in the 19</a:t>
            </a:r>
            <a:r>
              <a:rPr lang="en-GB" sz="20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century, large tables of statistics would be impossible to understand.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 pictorial representations made her data easier to digest.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 txBox="1"/>
          <p:nvPr/>
        </p:nvSpPr>
        <p:spPr>
          <a:xfrm>
            <a:off x="324000" y="3214500"/>
            <a:ext cx="5939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Florence’s work led to her becoming the first woman to be elected to the Royal Statistics Society in 1858.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8" name="Google Shape;938;p76"/>
          <p:cNvPicPr preferRelativeResize="0"/>
          <p:nvPr/>
        </p:nvPicPr>
        <p:blipFill>
          <a:blip r:embed="rId3">
            <a:alphaModFix/>
          </a:blip>
          <a:srcRect b="18127"/>
          <a:stretch>
            <a:fillRect/>
          </a:stretch>
        </p:blipFill>
        <p:spPr>
          <a:xfrm>
            <a:off x="6715803" y="2917074"/>
            <a:ext cx="1493399" cy="183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sp>
        <p:nvSpPr>
          <p:cNvPr id="943" name="Google Shape;943;p77"/>
          <p:cNvSpPr/>
          <p:nvPr/>
        </p:nvSpPr>
        <p:spPr>
          <a:xfrm>
            <a:off x="1755375" y="1179000"/>
            <a:ext cx="2816700" cy="693900"/>
          </a:xfrm>
          <a:prstGeom prst="wedgeRoundRectCallout">
            <a:avLst>
              <a:gd name="adj1" fmla="val -59887"/>
              <a:gd name="adj2" fmla="val 66613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graph shows data from the ONS about the population of two towns in 2019.</a:t>
            </a:r>
            <a:endParaRPr sz="1600"/>
          </a:p>
        </p:txBody>
      </p:sp>
      <p:sp>
        <p:nvSpPr>
          <p:cNvPr id="945" name="Google Shape;945;p7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pic>
        <p:nvPicPr>
          <p:cNvPr id="946" name="Google Shape;946;p77"/>
          <p:cNvPicPr preferRelativeResize="0"/>
          <p:nvPr/>
        </p:nvPicPr>
        <p:blipFill>
          <a:blip r:embed="rId3">
            <a:alphaModFix/>
          </a:blip>
          <a:srcRect b="12188"/>
          <a:stretch>
            <a:fillRect/>
          </a:stretch>
        </p:blipFill>
        <p:spPr>
          <a:xfrm>
            <a:off x="4824000" y="1080000"/>
            <a:ext cx="4008899" cy="274206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7"/>
          <p:cNvSpPr txBox="1"/>
          <p:nvPr>
            <p:ph type="body" idx="1"/>
          </p:nvPr>
        </p:nvSpPr>
        <p:spPr>
          <a:xfrm>
            <a:off x="319925" y="2544120"/>
            <a:ext cx="38571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Explain why Izzy might think this, </a:t>
            </a:r>
            <a:br>
              <a:rPr lang="en-GB" sz="1600"/>
            </a:br>
            <a:r>
              <a:rPr lang="en-GB" sz="1600"/>
              <a:t>    based on the bar chart.</a:t>
            </a:r>
            <a:endParaRPr sz="1600"/>
          </a:p>
        </p:txBody>
      </p:sp>
      <p:sp>
        <p:nvSpPr>
          <p:cNvPr id="948" name="Google Shape;948;p77"/>
          <p:cNvSpPr txBox="1"/>
          <p:nvPr>
            <p:ph type="body" idx="1"/>
          </p:nvPr>
        </p:nvSpPr>
        <p:spPr>
          <a:xfrm>
            <a:off x="319925" y="3915731"/>
            <a:ext cx="44019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Explain why this is wrong.</a:t>
            </a:r>
            <a:endParaRPr sz="1600"/>
          </a:p>
        </p:txBody>
      </p:sp>
      <p:pic>
        <p:nvPicPr>
          <p:cNvPr id="949" name="Google Shape;94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20588" y="1355624"/>
            <a:ext cx="801174" cy="775326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7"/>
          <p:cNvSpPr txBox="1"/>
          <p:nvPr>
            <p:ph type="body" idx="1"/>
          </p:nvPr>
        </p:nvSpPr>
        <p:spPr>
          <a:xfrm>
            <a:off x="817950" y="2106299"/>
            <a:ext cx="4881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 </a:t>
            </a:r>
            <a:endParaRPr sz="1600"/>
          </a:p>
        </p:txBody>
      </p:sp>
      <p:sp>
        <p:nvSpPr>
          <p:cNvPr id="951" name="Google Shape;951;p77"/>
          <p:cNvSpPr txBox="1"/>
          <p:nvPr>
            <p:ph type="body" idx="1"/>
          </p:nvPr>
        </p:nvSpPr>
        <p:spPr>
          <a:xfrm>
            <a:off x="1839850" y="1230300"/>
            <a:ext cx="26424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Cheltenham has twice as many people as Mansfield. 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5" name="Shape 955"/>
        <p:cNvGrpSpPr/>
        <p:nvPr/>
      </p:nvGrpSpPr>
      <p:grpSpPr>
        <a:xfrm>
          <a:off x="0" y="0"/>
          <a:ext cx="0" cy="0"/>
        </a:xfrm>
      </p:grpSpPr>
      <p:pic>
        <p:nvPicPr>
          <p:cNvPr id="956" name="Google Shape;956;p78"/>
          <p:cNvPicPr preferRelativeResize="0"/>
          <p:nvPr/>
        </p:nvPicPr>
        <p:blipFill>
          <a:blip r:embed="rId3">
            <a:alphaModFix/>
          </a:blip>
          <a:srcRect t="309" r="150"/>
          <a:stretch>
            <a:fillRect/>
          </a:stretch>
        </p:blipFill>
        <p:spPr>
          <a:xfrm>
            <a:off x="4736160" y="1555673"/>
            <a:ext cx="3607676" cy="2672926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78"/>
          <p:cNvSpPr txBox="1"/>
          <p:nvPr>
            <p:ph type="body" idx="1"/>
          </p:nvPr>
        </p:nvSpPr>
        <p:spPr>
          <a:xfrm>
            <a:off x="324000" y="759300"/>
            <a:ext cx="8237700" cy="2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table shows data from the ONS about five towns in 2019.</a:t>
            </a:r>
            <a:endParaRPr sz="1600"/>
          </a:p>
        </p:txBody>
      </p:sp>
      <p:sp>
        <p:nvSpPr>
          <p:cNvPr id="958" name="Google Shape;958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graphicFrame>
        <p:nvGraphicFramePr>
          <p:cNvPr id="959" name="Google Shape;959;p78"/>
          <p:cNvGraphicFramePr>
            <a:graphicFrameLocks noGrp="1"/>
          </p:cNvGraphicFramePr>
          <p:nvPr/>
        </p:nvGraphicFramePr>
        <p:xfrm>
          <a:off x="599425" y="1617350"/>
          <a:ext cx="2658000" cy="304782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356200"/>
                <a:gridCol w="13018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properties sold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2279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60" name="Google Shape;960;p78"/>
          <p:cNvSpPr txBox="1"/>
          <p:nvPr>
            <p:ph type="body" idx="1"/>
          </p:nvPr>
        </p:nvSpPr>
        <p:spPr>
          <a:xfrm>
            <a:off x="599425" y="1101771"/>
            <a:ext cx="7962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Complete the scale on the axes of the scatter graph.</a:t>
            </a:r>
            <a:endParaRPr sz="1600"/>
          </a:p>
        </p:txBody>
      </p:sp>
      <p:cxnSp>
        <p:nvCxnSpPr>
          <p:cNvPr id="961" name="Google Shape;961;p78"/>
          <p:cNvCxnSpPr/>
          <p:nvPr/>
        </p:nvCxnSpPr>
        <p:spPr>
          <a:xfrm>
            <a:off x="4723974" y="4229802"/>
            <a:ext cx="3797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2" name="Google Shape;962;p78"/>
          <p:cNvCxnSpPr/>
          <p:nvPr/>
        </p:nvCxnSpPr>
        <p:spPr>
          <a:xfrm rot="10800000" flipH="1">
            <a:off x="4731352" y="1380873"/>
            <a:ext cx="0" cy="285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3" name="Google Shape;963;p78"/>
          <p:cNvSpPr txBox="1"/>
          <p:nvPr/>
        </p:nvSpPr>
        <p:spPr>
          <a:xfrm>
            <a:off x="5412859" y="4506439"/>
            <a:ext cx="2717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8"/>
          <p:cNvSpPr txBox="1"/>
          <p:nvPr/>
        </p:nvSpPr>
        <p:spPr>
          <a:xfrm rot="-5400000">
            <a:off x="2615124" y="2775025"/>
            <a:ext cx="2816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properties sold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8"/>
          <p:cNvSpPr txBox="1"/>
          <p:nvPr/>
        </p:nvSpPr>
        <p:spPr>
          <a:xfrm>
            <a:off x="4028168" y="1376319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8"/>
          <p:cNvSpPr txBox="1"/>
          <p:nvPr/>
        </p:nvSpPr>
        <p:spPr>
          <a:xfrm>
            <a:off x="8070332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180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79"/>
          <p:cNvSpPr/>
          <p:nvPr/>
        </p:nvSpPr>
        <p:spPr>
          <a:xfrm>
            <a:off x="1755375" y="1179000"/>
            <a:ext cx="2816700" cy="693900"/>
          </a:xfrm>
          <a:prstGeom prst="wedgeRoundRectCallout">
            <a:avLst>
              <a:gd name="adj1" fmla="val -59887"/>
              <a:gd name="adj2" fmla="val 66613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>
            <p:ph type="body" idx="1"/>
          </p:nvPr>
        </p:nvSpPr>
        <p:spPr>
          <a:xfrm>
            <a:off x="324000" y="759300"/>
            <a:ext cx="82377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graph shows data from the ONS about the population of two towns in 2019.</a:t>
            </a:r>
            <a:endParaRPr sz="1600"/>
          </a:p>
        </p:txBody>
      </p:sp>
      <p:sp>
        <p:nvSpPr>
          <p:cNvPr id="973" name="Google Shape;973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pic>
        <p:nvPicPr>
          <p:cNvPr id="974" name="Google Shape;974;p79"/>
          <p:cNvPicPr preferRelativeResize="0"/>
          <p:nvPr/>
        </p:nvPicPr>
        <p:blipFill>
          <a:blip r:embed="rId3">
            <a:alphaModFix/>
          </a:blip>
          <a:srcRect b="12188"/>
          <a:stretch>
            <a:fillRect/>
          </a:stretch>
        </p:blipFill>
        <p:spPr>
          <a:xfrm>
            <a:off x="4824000" y="1080000"/>
            <a:ext cx="4008899" cy="2742062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79"/>
          <p:cNvSpPr txBox="1"/>
          <p:nvPr>
            <p:ph type="body" idx="1"/>
          </p:nvPr>
        </p:nvSpPr>
        <p:spPr>
          <a:xfrm>
            <a:off x="319925" y="2544120"/>
            <a:ext cx="38571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Explain why Izzy might think this, </a:t>
            </a:r>
            <a:br>
              <a:rPr lang="en-GB" sz="1600"/>
            </a:br>
            <a:r>
              <a:rPr lang="en-GB" sz="1600"/>
              <a:t>    based on the bar chart.</a:t>
            </a:r>
            <a:endParaRPr sz="1600"/>
          </a:p>
        </p:txBody>
      </p:sp>
      <p:sp>
        <p:nvSpPr>
          <p:cNvPr id="976" name="Google Shape;976;p79"/>
          <p:cNvSpPr txBox="1"/>
          <p:nvPr>
            <p:ph type="body" idx="1"/>
          </p:nvPr>
        </p:nvSpPr>
        <p:spPr>
          <a:xfrm>
            <a:off x="319925" y="3915731"/>
            <a:ext cx="44019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Explain why this is wrong.</a:t>
            </a:r>
            <a:endParaRPr sz="1600"/>
          </a:p>
        </p:txBody>
      </p:sp>
      <p:pic>
        <p:nvPicPr>
          <p:cNvPr id="977" name="Google Shape;97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20588" y="1355624"/>
            <a:ext cx="801174" cy="775326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9"/>
          <p:cNvSpPr txBox="1"/>
          <p:nvPr>
            <p:ph type="body" idx="1"/>
          </p:nvPr>
        </p:nvSpPr>
        <p:spPr>
          <a:xfrm>
            <a:off x="817950" y="2106299"/>
            <a:ext cx="488100" cy="3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 </a:t>
            </a:r>
            <a:endParaRPr sz="1600"/>
          </a:p>
        </p:txBody>
      </p:sp>
      <p:sp>
        <p:nvSpPr>
          <p:cNvPr id="979" name="Google Shape;979;p79"/>
          <p:cNvSpPr txBox="1"/>
          <p:nvPr>
            <p:ph type="body" idx="1"/>
          </p:nvPr>
        </p:nvSpPr>
        <p:spPr>
          <a:xfrm>
            <a:off x="1839850" y="1230300"/>
            <a:ext cx="26424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Cheltenham has twice as many people as Mansfield. </a:t>
            </a:r>
            <a:endParaRPr sz="1600"/>
          </a:p>
        </p:txBody>
      </p:sp>
      <p:sp>
        <p:nvSpPr>
          <p:cNvPr id="980" name="Google Shape;980;p79"/>
          <p:cNvSpPr txBox="1"/>
          <p:nvPr/>
        </p:nvSpPr>
        <p:spPr>
          <a:xfrm>
            <a:off x="481992" y="3120077"/>
            <a:ext cx="35892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bar for Cheltenham is twice as long as the bar for Mansfield.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79"/>
          <p:cNvSpPr txBox="1"/>
          <p:nvPr/>
        </p:nvSpPr>
        <p:spPr>
          <a:xfrm>
            <a:off x="511625" y="4198475"/>
            <a:ext cx="79137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scale does not start at zero. There are 110 thousand people in Mansfield and 120 thousand people in Cheltenham.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pic>
        <p:nvPicPr>
          <p:cNvPr id="986" name="Google Shape;986;p80"/>
          <p:cNvPicPr preferRelativeResize="0"/>
          <p:nvPr/>
        </p:nvPicPr>
        <p:blipFill>
          <a:blip r:embed="rId3">
            <a:alphaModFix/>
          </a:blip>
          <a:srcRect t="309" r="150"/>
          <a:stretch>
            <a:fillRect/>
          </a:stretch>
        </p:blipFill>
        <p:spPr>
          <a:xfrm>
            <a:off x="4736160" y="1555673"/>
            <a:ext cx="3607676" cy="2672926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0"/>
          <p:cNvSpPr txBox="1"/>
          <p:nvPr>
            <p:ph type="body" idx="1"/>
          </p:nvPr>
        </p:nvSpPr>
        <p:spPr>
          <a:xfrm>
            <a:off x="324000" y="759300"/>
            <a:ext cx="8237700" cy="73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table shows data from the ONS about five towns in 2019.</a:t>
            </a:r>
            <a:endParaRPr sz="1600"/>
          </a:p>
        </p:txBody>
      </p:sp>
      <p:sp>
        <p:nvSpPr>
          <p:cNvPr id="988" name="Google Shape;988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Presenting data clearly using graphs</a:t>
            </a:r>
            <a:endParaRPr/>
          </a:p>
        </p:txBody>
      </p:sp>
      <p:graphicFrame>
        <p:nvGraphicFramePr>
          <p:cNvPr id="989" name="Google Shape;989;p80"/>
          <p:cNvGraphicFramePr>
            <a:graphicFrameLocks noGrp="1"/>
          </p:cNvGraphicFramePr>
          <p:nvPr/>
        </p:nvGraphicFramePr>
        <p:xfrm>
          <a:off x="599425" y="1617350"/>
          <a:ext cx="2658000" cy="304782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356200"/>
                <a:gridCol w="13018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properties sold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2279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0" name="Google Shape;990;p80"/>
          <p:cNvSpPr txBox="1"/>
          <p:nvPr>
            <p:ph type="body" idx="1"/>
          </p:nvPr>
        </p:nvSpPr>
        <p:spPr>
          <a:xfrm>
            <a:off x="599425" y="1101771"/>
            <a:ext cx="7962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Complete the scale on the axes of the scatter graph.</a:t>
            </a:r>
            <a:endParaRPr sz="1600"/>
          </a:p>
        </p:txBody>
      </p:sp>
      <p:cxnSp>
        <p:nvCxnSpPr>
          <p:cNvPr id="991" name="Google Shape;991;p80"/>
          <p:cNvCxnSpPr/>
          <p:nvPr/>
        </p:nvCxnSpPr>
        <p:spPr>
          <a:xfrm>
            <a:off x="4723974" y="4229802"/>
            <a:ext cx="3797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2" name="Google Shape;992;p80"/>
          <p:cNvCxnSpPr/>
          <p:nvPr/>
        </p:nvCxnSpPr>
        <p:spPr>
          <a:xfrm rot="10800000" flipH="1">
            <a:off x="4731352" y="1380873"/>
            <a:ext cx="0" cy="285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3" name="Google Shape;993;p80"/>
          <p:cNvSpPr txBox="1"/>
          <p:nvPr/>
        </p:nvSpPr>
        <p:spPr>
          <a:xfrm>
            <a:off x="5412859" y="4506439"/>
            <a:ext cx="2717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0"/>
          <p:cNvSpPr txBox="1"/>
          <p:nvPr/>
        </p:nvSpPr>
        <p:spPr>
          <a:xfrm rot="-5400000">
            <a:off x="2615124" y="2775025"/>
            <a:ext cx="2816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properties sold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4069050" y="4047402"/>
            <a:ext cx="6636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4069039" y="3499034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2100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80"/>
          <p:cNvSpPr txBox="1"/>
          <p:nvPr/>
        </p:nvSpPr>
        <p:spPr>
          <a:xfrm>
            <a:off x="4041775" y="2964273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>
            <a:off x="4041775" y="2443119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2300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80"/>
          <p:cNvSpPr txBox="1"/>
          <p:nvPr/>
        </p:nvSpPr>
        <p:spPr>
          <a:xfrm>
            <a:off x="4473964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4041775" y="1909719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4028168" y="1376319"/>
            <a:ext cx="69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2500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 txBox="1"/>
          <p:nvPr/>
        </p:nvSpPr>
        <p:spPr>
          <a:xfrm>
            <a:off x="5083564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130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0"/>
          <p:cNvSpPr txBox="1"/>
          <p:nvPr/>
        </p:nvSpPr>
        <p:spPr>
          <a:xfrm>
            <a:off x="5672754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0"/>
          <p:cNvSpPr txBox="1"/>
          <p:nvPr/>
        </p:nvSpPr>
        <p:spPr>
          <a:xfrm>
            <a:off x="6275550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5" name="Google Shape;1005;p80"/>
          <p:cNvSpPr txBox="1"/>
          <p:nvPr/>
        </p:nvSpPr>
        <p:spPr>
          <a:xfrm>
            <a:off x="6878347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6" name="Google Shape;1006;p80"/>
          <p:cNvSpPr txBox="1"/>
          <p:nvPr/>
        </p:nvSpPr>
        <p:spPr>
          <a:xfrm>
            <a:off x="7481143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170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80"/>
          <p:cNvSpPr txBox="1"/>
          <p:nvPr/>
        </p:nvSpPr>
        <p:spPr>
          <a:xfrm>
            <a:off x="8070332" y="4254230"/>
            <a:ext cx="549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180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Presenting data clearly using graphs</a:t>
            </a:r>
            <a:endParaRPr/>
          </a:p>
        </p:txBody>
      </p:sp>
      <p:sp>
        <p:nvSpPr>
          <p:cNvPr id="1013" name="Google Shape;1013;p8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Choosing how to present data to illustrate a point</a:t>
            </a:r>
            <a:endParaRPr/>
          </a:p>
        </p:txBody>
      </p:sp>
      <p:sp>
        <p:nvSpPr>
          <p:cNvPr id="1014" name="Google Shape;1014;p8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  <p:pic>
        <p:nvPicPr>
          <p:cNvPr id="1015" name="Google Shape;10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9" name="Shape 1019"/>
        <p:cNvGrpSpPr/>
        <p:nvPr/>
      </p:nvGrpSpPr>
      <p:grpSpPr>
        <a:xfrm>
          <a:off x="0" y="0"/>
          <a:ext cx="0" cy="0"/>
        </a:xfrm>
      </p:grpSpPr>
      <p:sp>
        <p:nvSpPr>
          <p:cNvPr id="1020" name="Google Shape;102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21" name="Google Shape;1021;p82"/>
          <p:cNvSpPr txBox="1"/>
          <p:nvPr>
            <p:ph type="body" idx="1"/>
          </p:nvPr>
        </p:nvSpPr>
        <p:spPr>
          <a:xfrm>
            <a:off x="324000" y="759300"/>
            <a:ext cx="82377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usefulness of a graph can depend on the </a:t>
            </a:r>
            <a:r>
              <a:rPr lang="en-GB" sz="1800">
                <a:solidFill>
                  <a:schemeClr val="accent5"/>
                </a:solidFill>
              </a:rPr>
              <a:t>type of data</a:t>
            </a:r>
            <a:r>
              <a:rPr lang="en-GB" sz="1800"/>
              <a:t> that you are working with and the </a:t>
            </a:r>
            <a:r>
              <a:rPr lang="en-GB" sz="1800">
                <a:solidFill>
                  <a:schemeClr val="accent5"/>
                </a:solidFill>
              </a:rPr>
              <a:t>conclusion</a:t>
            </a:r>
            <a:r>
              <a:rPr lang="en-GB" sz="1800"/>
              <a:t> that you are trying to illustrate.</a:t>
            </a:r>
            <a:endParaRPr sz="1800"/>
          </a:p>
        </p:txBody>
      </p:sp>
      <p:sp>
        <p:nvSpPr>
          <p:cNvPr id="1022" name="Google Shape;1022;p82"/>
          <p:cNvSpPr txBox="1"/>
          <p:nvPr>
            <p:ph type="body" idx="1"/>
          </p:nvPr>
        </p:nvSpPr>
        <p:spPr>
          <a:xfrm>
            <a:off x="324000" y="3992826"/>
            <a:ext cx="8386200" cy="3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could be the advantages and disadvantages for using each graph?</a:t>
            </a:r>
            <a:endParaRPr sz="1800"/>
          </a:p>
        </p:txBody>
      </p:sp>
      <p:sp>
        <p:nvSpPr>
          <p:cNvPr id="1023" name="Google Shape;1023;p82"/>
          <p:cNvSpPr txBox="1"/>
          <p:nvPr>
            <p:ph type="body" idx="1"/>
          </p:nvPr>
        </p:nvSpPr>
        <p:spPr>
          <a:xfrm>
            <a:off x="694200" y="3187755"/>
            <a:ext cx="1122600" cy="3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bar chart</a:t>
            </a:r>
            <a:endParaRPr sz="1800"/>
          </a:p>
        </p:txBody>
      </p:sp>
      <p:sp>
        <p:nvSpPr>
          <p:cNvPr id="1024" name="Google Shape;1024;p82"/>
          <p:cNvSpPr txBox="1"/>
          <p:nvPr>
            <p:ph type="body" idx="1"/>
          </p:nvPr>
        </p:nvSpPr>
        <p:spPr>
          <a:xfrm>
            <a:off x="2751792" y="3198504"/>
            <a:ext cx="1122600" cy="3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pie chart</a:t>
            </a:r>
            <a:endParaRPr sz="1800"/>
          </a:p>
        </p:txBody>
      </p:sp>
      <p:sp>
        <p:nvSpPr>
          <p:cNvPr id="1025" name="Google Shape;1025;p82"/>
          <p:cNvSpPr txBox="1"/>
          <p:nvPr>
            <p:ph type="body" idx="1"/>
          </p:nvPr>
        </p:nvSpPr>
        <p:spPr>
          <a:xfrm>
            <a:off x="4809383" y="3177006"/>
            <a:ext cx="1617000" cy="3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scatter graph</a:t>
            </a:r>
            <a:endParaRPr sz="1800"/>
          </a:p>
        </p:txBody>
      </p:sp>
      <p:sp>
        <p:nvSpPr>
          <p:cNvPr id="1026" name="Google Shape;1026;p82"/>
          <p:cNvSpPr txBox="1"/>
          <p:nvPr>
            <p:ph type="body" idx="1"/>
          </p:nvPr>
        </p:nvSpPr>
        <p:spPr>
          <a:xfrm>
            <a:off x="7361375" y="3198498"/>
            <a:ext cx="1201800" cy="3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line graph</a:t>
            </a:r>
            <a:endParaRPr sz="1800"/>
          </a:p>
        </p:txBody>
      </p:sp>
      <p:pic>
        <p:nvPicPr>
          <p:cNvPr id="1027" name="Google Shape;10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150" y="1836300"/>
            <a:ext cx="1152604" cy="120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8" name="Google Shape;1028;p82"/>
          <p:cNvGrpSpPr/>
          <p:nvPr/>
        </p:nvGrpSpPr>
        <p:grpSpPr>
          <a:xfrm>
            <a:off x="579872" y="1836300"/>
            <a:ext cx="1324106" cy="1321574"/>
            <a:chOff x="7089475" y="3551275"/>
            <a:chExt cx="1324106" cy="1321574"/>
          </a:xfrm>
        </p:grpSpPr>
        <p:pic>
          <p:nvPicPr>
            <p:cNvPr id="1029" name="Google Shape;1029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7973" y="3684175"/>
              <a:ext cx="872990" cy="89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82"/>
            <p:cNvSpPr txBox="1"/>
            <p:nvPr/>
          </p:nvSpPr>
          <p:spPr>
            <a:xfrm rot="-5400000">
              <a:off x="6787225" y="3853525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b="1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sz="12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82"/>
            <p:cNvSpPr txBox="1"/>
            <p:nvPr/>
          </p:nvSpPr>
          <p:spPr>
            <a:xfrm>
              <a:off x="7361481" y="4425249"/>
              <a:ext cx="10521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categories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32" name="Google Shape;103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1475" y="2006300"/>
            <a:ext cx="1043300" cy="9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2"/>
          <p:cNvPicPr preferRelativeResize="0"/>
          <p:nvPr/>
        </p:nvPicPr>
        <p:blipFill>
          <a:blip r:embed="rId6">
            <a:alphaModFix/>
          </a:blip>
          <a:srcRect l="6466" r="6968" b="6525"/>
          <a:stretch>
            <a:fillRect/>
          </a:stretch>
        </p:blipFill>
        <p:spPr>
          <a:xfrm>
            <a:off x="7247550" y="1982492"/>
            <a:ext cx="1201799" cy="970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7" name="Shape 1037"/>
        <p:cNvGrpSpPr/>
        <p:nvPr/>
      </p:nvGrpSpPr>
      <p:grpSpPr>
        <a:xfrm>
          <a:off x="0" y="0"/>
          <a:ext cx="0" cy="0"/>
        </a:xfrm>
      </p:grpSpPr>
      <p:pic>
        <p:nvPicPr>
          <p:cNvPr id="1038" name="Google Shape;103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796" y="1887176"/>
            <a:ext cx="2770564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40" name="Google Shape;1040;p83"/>
          <p:cNvSpPr txBox="1"/>
          <p:nvPr>
            <p:ph type="body" idx="1"/>
          </p:nvPr>
        </p:nvSpPr>
        <p:spPr>
          <a:xfrm>
            <a:off x="324000" y="759300"/>
            <a:ext cx="8237700" cy="7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</a:rPr>
              <a:t>Bar charts</a:t>
            </a:r>
            <a:r>
              <a:rPr lang="en-GB" sz="1800"/>
              <a:t> and </a:t>
            </a:r>
            <a:r>
              <a:rPr lang="en-GB" sz="1800">
                <a:solidFill>
                  <a:schemeClr val="accent5"/>
                </a:solidFill>
              </a:rPr>
              <a:t>pie charts</a:t>
            </a:r>
            <a:r>
              <a:rPr lang="en-GB" sz="1800"/>
              <a:t> can be useful for data involving </a:t>
            </a:r>
            <a:r>
              <a:rPr lang="en-GB" sz="1800">
                <a:solidFill>
                  <a:schemeClr val="accent5"/>
                </a:solidFill>
              </a:rPr>
              <a:t>frequencies</a:t>
            </a:r>
            <a:r>
              <a:rPr lang="en-GB" sz="1800"/>
              <a:t> of different categories.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graphicFrame>
        <p:nvGraphicFramePr>
          <p:cNvPr id="1041" name="Google Shape;1041;p83"/>
          <p:cNvGraphicFramePr>
            <a:graphicFrameLocks noGrp="1"/>
          </p:cNvGraphicFramePr>
          <p:nvPr/>
        </p:nvGraphicFramePr>
        <p:xfrm>
          <a:off x="323994" y="1933304"/>
          <a:ext cx="2361375" cy="1483400"/>
        </p:xfrm>
        <a:graphic>
          <a:graphicData uri="http://schemas.openxmlformats.org/drawingml/2006/table">
            <a:tbl>
              <a:tblPr firstRow="1" bandRow="1">
                <a:noFill/>
                <a:tableStyleId>{811C8516-D6D3-4529-B0D0-7CF88F3636AB}</a:tableStyleId>
              </a:tblPr>
              <a:tblGrid>
                <a:gridCol w="1139850"/>
                <a:gridCol w="1221525"/>
              </a:tblGrid>
              <a:tr h="37085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fuel-type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42" name="Google Shape;104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148" y="1865352"/>
            <a:ext cx="2545425" cy="23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83"/>
          <p:cNvSpPr txBox="1"/>
          <p:nvPr>
            <p:ph type="body" idx="1"/>
          </p:nvPr>
        </p:nvSpPr>
        <p:spPr>
          <a:xfrm>
            <a:off x="4833707" y="2909687"/>
            <a:ext cx="71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</a:rPr>
              <a:t>petrol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</a:endParaRPr>
          </a:p>
        </p:txBody>
      </p:sp>
      <p:sp>
        <p:nvSpPr>
          <p:cNvPr id="1044" name="Google Shape;1044;p83"/>
          <p:cNvSpPr txBox="1"/>
          <p:nvPr>
            <p:ph type="body" idx="1"/>
          </p:nvPr>
        </p:nvSpPr>
        <p:spPr>
          <a:xfrm>
            <a:off x="3398270" y="3267581"/>
            <a:ext cx="7146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</a:rPr>
              <a:t>diesel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</a:endParaRPr>
          </a:p>
        </p:txBody>
      </p:sp>
      <p:sp>
        <p:nvSpPr>
          <p:cNvPr id="1045" name="Google Shape;1045;p83"/>
          <p:cNvSpPr txBox="1"/>
          <p:nvPr>
            <p:ph type="body" idx="1"/>
          </p:nvPr>
        </p:nvSpPr>
        <p:spPr>
          <a:xfrm>
            <a:off x="3641891" y="2102826"/>
            <a:ext cx="7857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</a:rPr>
              <a:t>electric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</a:endParaRPr>
          </a:p>
        </p:txBody>
      </p:sp>
      <p:sp>
        <p:nvSpPr>
          <p:cNvPr id="1046" name="Google Shape;1046;p83"/>
          <p:cNvSpPr txBox="1"/>
          <p:nvPr>
            <p:ph type="body" idx="1"/>
          </p:nvPr>
        </p:nvSpPr>
        <p:spPr>
          <a:xfrm>
            <a:off x="6458133" y="4020301"/>
            <a:ext cx="6432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petrol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47" name="Google Shape;1047;p83"/>
          <p:cNvSpPr txBox="1"/>
          <p:nvPr>
            <p:ph type="body" idx="1"/>
          </p:nvPr>
        </p:nvSpPr>
        <p:spPr>
          <a:xfrm>
            <a:off x="7214758" y="4020301"/>
            <a:ext cx="6432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diesel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48" name="Google Shape;1048;p83"/>
          <p:cNvSpPr txBox="1"/>
          <p:nvPr>
            <p:ph type="body" idx="1"/>
          </p:nvPr>
        </p:nvSpPr>
        <p:spPr>
          <a:xfrm>
            <a:off x="7950841" y="4020299"/>
            <a:ext cx="7857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electric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49" name="Google Shape;1049;p83"/>
          <p:cNvSpPr txBox="1"/>
          <p:nvPr>
            <p:ph type="body" idx="1"/>
          </p:nvPr>
        </p:nvSpPr>
        <p:spPr>
          <a:xfrm>
            <a:off x="297675" y="4517400"/>
            <a:ext cx="8342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In which graph is it easier to </a:t>
            </a:r>
            <a:r>
              <a:rPr lang="en-GB" sz="1700">
                <a:solidFill>
                  <a:schemeClr val="accent5"/>
                </a:solidFill>
              </a:rPr>
              <a:t>compare</a:t>
            </a:r>
            <a:r>
              <a:rPr lang="en-GB" sz="1700"/>
              <a:t> the frequencies of petrol and diesel?</a:t>
            </a:r>
            <a:endParaRPr sz="17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pic>
        <p:nvPicPr>
          <p:cNvPr id="1054" name="Google Shape;105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275" y="1575181"/>
            <a:ext cx="4154276" cy="27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56" name="Google Shape;1056;p84"/>
          <p:cNvSpPr txBox="1"/>
          <p:nvPr>
            <p:ph type="body" idx="1"/>
          </p:nvPr>
        </p:nvSpPr>
        <p:spPr>
          <a:xfrm>
            <a:off x="324000" y="759300"/>
            <a:ext cx="8237700" cy="66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Comparative bar charts can be used to compare data from two different groups when their total frequencies are </a:t>
            </a:r>
            <a:r>
              <a:rPr lang="en-GB" sz="1800">
                <a:solidFill>
                  <a:schemeClr val="accent5"/>
                </a:solidFill>
              </a:rPr>
              <a:t>roughly equal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graphicFrame>
        <p:nvGraphicFramePr>
          <p:cNvPr id="1057" name="Google Shape;1057;p84"/>
          <p:cNvGraphicFramePr>
            <a:graphicFrameLocks noGrp="1"/>
          </p:cNvGraphicFramePr>
          <p:nvPr/>
        </p:nvGraphicFramePr>
        <p:xfrm>
          <a:off x="323994" y="1933304"/>
          <a:ext cx="3518450" cy="1691680"/>
        </p:xfrm>
        <a:graphic>
          <a:graphicData uri="http://schemas.openxmlformats.org/drawingml/2006/table">
            <a:tbl>
              <a:tblPr firstRow="1" bandRow="1">
                <a:noFill/>
                <a:tableStyleId>{811C8516-D6D3-4529-B0D0-7CF88F3636AB}</a:tableStyleId>
              </a:tblPr>
              <a:tblGrid>
                <a:gridCol w="1119350"/>
                <a:gridCol w="1199550"/>
                <a:gridCol w="1199550"/>
              </a:tblGrid>
              <a:tr h="37085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fuel-type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A </a:t>
                      </a: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 frequency</a:t>
                      </a:r>
                      <a:endParaRPr sz="1600" b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8" name="Google Shape;1058;p84"/>
          <p:cNvSpPr txBox="1"/>
          <p:nvPr>
            <p:ph type="body" idx="1"/>
          </p:nvPr>
        </p:nvSpPr>
        <p:spPr>
          <a:xfrm>
            <a:off x="324000" y="4553925"/>
            <a:ext cx="8386200" cy="3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Town B use fewer diesel cars and more electric cars than Town A.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2" name="Shape 1062"/>
        <p:cNvGrpSpPr/>
        <p:nvPr/>
      </p:nvGrpSpPr>
      <p:grpSpPr>
        <a:xfrm>
          <a:off x="0" y="0"/>
          <a:ext cx="0" cy="0"/>
        </a:xfrm>
      </p:grpSpPr>
      <p:pic>
        <p:nvPicPr>
          <p:cNvPr id="1063" name="Google Shape;106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900" y="1547215"/>
            <a:ext cx="4201425" cy="278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65" name="Google Shape;1065;p85"/>
          <p:cNvSpPr txBox="1"/>
          <p:nvPr>
            <p:ph type="body" idx="1"/>
          </p:nvPr>
        </p:nvSpPr>
        <p:spPr>
          <a:xfrm>
            <a:off x="324000" y="759300"/>
            <a:ext cx="82377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Comparative bar charts can be less useful for making comparisons between datasets that have drastically </a:t>
            </a:r>
            <a:r>
              <a:rPr lang="en-GB" sz="1800">
                <a:solidFill>
                  <a:schemeClr val="accent5"/>
                </a:solidFill>
              </a:rPr>
              <a:t>different total frequencies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graphicFrame>
        <p:nvGraphicFramePr>
          <p:cNvPr id="1066" name="Google Shape;1066;p85"/>
          <p:cNvGraphicFramePr>
            <a:graphicFrameLocks noGrp="1"/>
          </p:cNvGraphicFramePr>
          <p:nvPr/>
        </p:nvGraphicFramePr>
        <p:xfrm>
          <a:off x="323994" y="1933304"/>
          <a:ext cx="3518450" cy="1691680"/>
        </p:xfrm>
        <a:graphic>
          <a:graphicData uri="http://schemas.openxmlformats.org/drawingml/2006/table">
            <a:tbl>
              <a:tblPr firstRow="1" bandRow="1">
                <a:noFill/>
                <a:tableStyleId>{811C8516-D6D3-4529-B0D0-7CF88F3636AB}</a:tableStyleId>
              </a:tblPr>
              <a:tblGrid>
                <a:gridCol w="1119350"/>
                <a:gridCol w="1199550"/>
                <a:gridCol w="1199550"/>
              </a:tblGrid>
              <a:tr h="37085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fuel-type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A </a:t>
                      </a: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 frequency</a:t>
                      </a:r>
                      <a:endParaRPr sz="1600" b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901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7" name="Google Shape;1067;p85"/>
          <p:cNvSpPr txBox="1"/>
          <p:nvPr>
            <p:ph type="body" idx="1"/>
          </p:nvPr>
        </p:nvSpPr>
        <p:spPr>
          <a:xfrm>
            <a:off x="324000" y="4553925"/>
            <a:ext cx="8386200" cy="3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sample of data taken in Town B was much bigger than in Town A.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1" name="Shape 1071"/>
        <p:cNvGrpSpPr/>
        <p:nvPr/>
      </p:nvGrpSpPr>
      <p:grpSpPr>
        <a:xfrm>
          <a:off x="0" y="0"/>
          <a:ext cx="0" cy="0"/>
        </a:xfrm>
      </p:grpSpPr>
      <p:sp>
        <p:nvSpPr>
          <p:cNvPr id="1072" name="Google Shape;10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73" name="Google Shape;1073;p86"/>
          <p:cNvSpPr txBox="1"/>
          <p:nvPr>
            <p:ph type="body" idx="1"/>
          </p:nvPr>
        </p:nvSpPr>
        <p:spPr>
          <a:xfrm>
            <a:off x="324000" y="759300"/>
            <a:ext cx="8237700" cy="63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</a:rPr>
              <a:t>Pie charts</a:t>
            </a:r>
            <a:r>
              <a:rPr lang="en-GB" sz="1800"/>
              <a:t> can be useful when making comparisons between datasets that have different total frequencies.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pic>
        <p:nvPicPr>
          <p:cNvPr id="1074" name="Google Shape;107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450" y="2203429"/>
            <a:ext cx="1935600" cy="18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6"/>
          <p:cNvSpPr txBox="1"/>
          <p:nvPr>
            <p:ph type="body" idx="1"/>
          </p:nvPr>
        </p:nvSpPr>
        <p:spPr>
          <a:xfrm>
            <a:off x="3181909" y="3013555"/>
            <a:ext cx="6417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petrol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76" name="Google Shape;1076;p86"/>
          <p:cNvSpPr txBox="1"/>
          <p:nvPr>
            <p:ph type="body" idx="1"/>
          </p:nvPr>
        </p:nvSpPr>
        <p:spPr>
          <a:xfrm>
            <a:off x="653885" y="3503839"/>
            <a:ext cx="6417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diesel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77" name="Google Shape;1077;p86"/>
          <p:cNvSpPr txBox="1"/>
          <p:nvPr>
            <p:ph type="body" idx="1"/>
          </p:nvPr>
        </p:nvSpPr>
        <p:spPr>
          <a:xfrm>
            <a:off x="782717" y="2115307"/>
            <a:ext cx="8259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electric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pic>
        <p:nvPicPr>
          <p:cNvPr id="1078" name="Google Shape;107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105541"/>
            <a:ext cx="2716349" cy="2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6"/>
          <p:cNvSpPr txBox="1"/>
          <p:nvPr>
            <p:ph type="body" idx="1"/>
          </p:nvPr>
        </p:nvSpPr>
        <p:spPr>
          <a:xfrm>
            <a:off x="324000" y="1456674"/>
            <a:ext cx="84960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Pie charts show frequencies in </a:t>
            </a:r>
            <a:r>
              <a:rPr lang="en-GB" sz="1800">
                <a:solidFill>
                  <a:schemeClr val="accent5"/>
                </a:solidFill>
              </a:rPr>
              <a:t>proportion</a:t>
            </a:r>
            <a:r>
              <a:rPr lang="en-GB" sz="1800"/>
              <a:t> to the amount of data in each set.</a:t>
            </a:r>
            <a:endParaRPr sz="1800"/>
          </a:p>
        </p:txBody>
      </p:sp>
      <p:cxnSp>
        <p:nvCxnSpPr>
          <p:cNvPr id="1080" name="Google Shape;1080;p86"/>
          <p:cNvCxnSpPr/>
          <p:nvPr/>
        </p:nvCxnSpPr>
        <p:spPr>
          <a:xfrm>
            <a:off x="1543392" y="2272107"/>
            <a:ext cx="187800" cy="15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1" name="Google Shape;1081;p86"/>
          <p:cNvCxnSpPr/>
          <p:nvPr/>
        </p:nvCxnSpPr>
        <p:spPr>
          <a:xfrm flipH="1">
            <a:off x="1263292" y="3449157"/>
            <a:ext cx="233700" cy="14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2" name="Google Shape;1082;p86"/>
          <p:cNvCxnSpPr/>
          <p:nvPr/>
        </p:nvCxnSpPr>
        <p:spPr>
          <a:xfrm flipH="1">
            <a:off x="2905570" y="3166948"/>
            <a:ext cx="267300" cy="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3" name="Google Shape;1083;p86"/>
          <p:cNvSpPr txBox="1"/>
          <p:nvPr>
            <p:ph type="body" idx="1"/>
          </p:nvPr>
        </p:nvSpPr>
        <p:spPr>
          <a:xfrm>
            <a:off x="7454490" y="3172197"/>
            <a:ext cx="6417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petrol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84" name="Google Shape;1084;p86"/>
          <p:cNvSpPr txBox="1"/>
          <p:nvPr>
            <p:ph type="body" idx="1"/>
          </p:nvPr>
        </p:nvSpPr>
        <p:spPr>
          <a:xfrm>
            <a:off x="4616285" y="3928751"/>
            <a:ext cx="6417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diesel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sp>
        <p:nvSpPr>
          <p:cNvPr id="1085" name="Google Shape;1085;p86"/>
          <p:cNvSpPr txBox="1"/>
          <p:nvPr>
            <p:ph type="body" idx="1"/>
          </p:nvPr>
        </p:nvSpPr>
        <p:spPr>
          <a:xfrm>
            <a:off x="4516517" y="2387819"/>
            <a:ext cx="8259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electric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</p:txBody>
      </p:sp>
      <p:cxnSp>
        <p:nvCxnSpPr>
          <p:cNvPr id="1086" name="Google Shape;1086;p86"/>
          <p:cNvCxnSpPr/>
          <p:nvPr/>
        </p:nvCxnSpPr>
        <p:spPr>
          <a:xfrm>
            <a:off x="5277192" y="2544619"/>
            <a:ext cx="187800" cy="15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p86"/>
          <p:cNvCxnSpPr/>
          <p:nvPr/>
        </p:nvCxnSpPr>
        <p:spPr>
          <a:xfrm flipH="1">
            <a:off x="5225692" y="3874069"/>
            <a:ext cx="233700" cy="14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8" name="Google Shape;1088;p86"/>
          <p:cNvCxnSpPr/>
          <p:nvPr/>
        </p:nvCxnSpPr>
        <p:spPr>
          <a:xfrm flipH="1">
            <a:off x="7178151" y="3325591"/>
            <a:ext cx="267300" cy="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9" name="Google Shape;1089;p86"/>
          <p:cNvSpPr txBox="1"/>
          <p:nvPr>
            <p:ph type="body" idx="1"/>
          </p:nvPr>
        </p:nvSpPr>
        <p:spPr>
          <a:xfrm>
            <a:off x="1660750" y="1883392"/>
            <a:ext cx="9270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Town A</a:t>
            </a:r>
            <a:endParaRPr sz="1800"/>
          </a:p>
        </p:txBody>
      </p:sp>
      <p:sp>
        <p:nvSpPr>
          <p:cNvPr id="1090" name="Google Shape;1090;p86"/>
          <p:cNvSpPr txBox="1"/>
          <p:nvPr>
            <p:ph type="body" idx="1"/>
          </p:nvPr>
        </p:nvSpPr>
        <p:spPr>
          <a:xfrm>
            <a:off x="5793300" y="1877579"/>
            <a:ext cx="9270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Town B</a:t>
            </a:r>
            <a:endParaRPr sz="1800"/>
          </a:p>
        </p:txBody>
      </p:sp>
      <p:sp>
        <p:nvSpPr>
          <p:cNvPr id="1091" name="Google Shape;1091;p86"/>
          <p:cNvSpPr txBox="1"/>
          <p:nvPr>
            <p:ph type="body" idx="1"/>
          </p:nvPr>
        </p:nvSpPr>
        <p:spPr>
          <a:xfrm>
            <a:off x="324000" y="4543205"/>
            <a:ext cx="8496000" cy="27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proportion of cars that use diesel is less in Town B than in Town A.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pic>
        <p:nvPicPr>
          <p:cNvPr id="1096" name="Google Shape;1096;p87"/>
          <p:cNvPicPr preferRelativeResize="0"/>
          <p:nvPr/>
        </p:nvPicPr>
        <p:blipFill>
          <a:blip r:embed="rId3">
            <a:alphaModFix/>
          </a:blip>
          <a:srcRect l="9116" b="9853"/>
          <a:stretch>
            <a:fillRect/>
          </a:stretch>
        </p:blipFill>
        <p:spPr>
          <a:xfrm>
            <a:off x="4472199" y="1832759"/>
            <a:ext cx="3753124" cy="2747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098" name="Google Shape;1098;p87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</a:rPr>
              <a:t>Line graphs</a:t>
            </a:r>
            <a:r>
              <a:rPr lang="en-GB" sz="1800"/>
              <a:t> can be useful for showing how a variable </a:t>
            </a:r>
            <a:r>
              <a:rPr lang="en-GB" sz="1800">
                <a:solidFill>
                  <a:schemeClr val="accent5"/>
                </a:solidFill>
              </a:rPr>
              <a:t>changes over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time</a:t>
            </a:r>
            <a:r>
              <a:rPr lang="en-GB" sz="1800"/>
              <a:t>.</a:t>
            </a:r>
            <a:endParaRPr sz="1800"/>
          </a:p>
        </p:txBody>
      </p:sp>
      <p:cxnSp>
        <p:nvCxnSpPr>
          <p:cNvPr id="1099" name="Google Shape;1099;p87"/>
          <p:cNvCxnSpPr/>
          <p:nvPr/>
        </p:nvCxnSpPr>
        <p:spPr>
          <a:xfrm>
            <a:off x="4858451" y="4242484"/>
            <a:ext cx="3332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0" name="Google Shape;1100;p87"/>
          <p:cNvSpPr txBox="1"/>
          <p:nvPr/>
        </p:nvSpPr>
        <p:spPr>
          <a:xfrm>
            <a:off x="6105343" y="4450650"/>
            <a:ext cx="19155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1" name="Google Shape;1101;p87"/>
          <p:cNvCxnSpPr/>
          <p:nvPr/>
        </p:nvCxnSpPr>
        <p:spPr>
          <a:xfrm rot="10800000" flipH="1">
            <a:off x="4858130" y="1656474"/>
            <a:ext cx="0" cy="25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87"/>
          <p:cNvSpPr txBox="1"/>
          <p:nvPr/>
        </p:nvSpPr>
        <p:spPr>
          <a:xfrm rot="-5400000">
            <a:off x="3147888" y="2680740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03" name="Google Shape;1103;p87"/>
          <p:cNvGraphicFramePr>
            <a:graphicFrameLocks noGrp="1"/>
          </p:cNvGraphicFramePr>
          <p:nvPr/>
        </p:nvGraphicFramePr>
        <p:xfrm>
          <a:off x="1093950" y="1620000"/>
          <a:ext cx="2263475" cy="304782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042875"/>
                <a:gridCol w="12206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04" name="Google Shape;1104;p87"/>
          <p:cNvSpPr txBox="1"/>
          <p:nvPr>
            <p:ph type="body" idx="1"/>
          </p:nvPr>
        </p:nvSpPr>
        <p:spPr>
          <a:xfrm>
            <a:off x="324000" y="1140300"/>
            <a:ext cx="8496000" cy="3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table below shows weather data from the Met Office.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8" name="Shape 1108"/>
        <p:cNvGrpSpPr/>
        <p:nvPr/>
      </p:nvGrpSpPr>
      <p:grpSpPr>
        <a:xfrm>
          <a:off x="0" y="0"/>
          <a:ext cx="0" cy="0"/>
        </a:xfrm>
      </p:grpSpPr>
      <p:sp>
        <p:nvSpPr>
          <p:cNvPr id="1109" name="Google Shape;110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110" name="Google Shape;1110;p88"/>
          <p:cNvSpPr txBox="1"/>
          <p:nvPr>
            <p:ph type="body" idx="1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</a:rPr>
              <a:t>Scatter graphs</a:t>
            </a:r>
            <a:r>
              <a:rPr lang="en-GB" sz="1800"/>
              <a:t> can be useful for showing whether a </a:t>
            </a:r>
            <a:r>
              <a:rPr lang="en-GB" sz="1800">
                <a:solidFill>
                  <a:schemeClr val="accent5"/>
                </a:solidFill>
              </a:rPr>
              <a:t>relationship</a:t>
            </a:r>
            <a:r>
              <a:rPr lang="en-GB" sz="1800"/>
              <a:t> exists between two different variables in data that is bivariate.</a:t>
            </a:r>
            <a:endParaRPr sz="1800"/>
          </a:p>
        </p:txBody>
      </p:sp>
      <p:pic>
        <p:nvPicPr>
          <p:cNvPr id="1111" name="Google Shape;1111;p88" descr="&lt;math xmlns=&quot;http://www.w3.org/1998/Math/MathML&quot; data-is-equatio=&quot;1&quot; data-equatio-url=&quot;https://equatio-api.texthelp.com/desmos/get/11-10-2023/ce5967c3-838c-4f61-aa9f-ddcb99b7e299&quot; data-equatio-type=&quot;desmos&quot;&gt;&lt;mglyph src=&quot;https://equatio-api.texthelp.com/desmos/get/11-10-2023/ce5967c3-838c-4f61-aa9f-ddcb99b7e29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50" t="8054" r="19684" b="2461"/>
          <a:stretch>
            <a:fillRect/>
          </a:stretch>
        </p:blipFill>
        <p:spPr>
          <a:xfrm>
            <a:off x="4858880" y="1935435"/>
            <a:ext cx="3244336" cy="27399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2" name="Google Shape;1112;p88"/>
          <p:cNvCxnSpPr/>
          <p:nvPr/>
        </p:nvCxnSpPr>
        <p:spPr>
          <a:xfrm>
            <a:off x="5070907" y="4538432"/>
            <a:ext cx="317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3" name="Google Shape;1113;p88"/>
          <p:cNvSpPr txBox="1"/>
          <p:nvPr/>
        </p:nvSpPr>
        <p:spPr>
          <a:xfrm>
            <a:off x="5622296" y="4546092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4" name="Google Shape;1114;p88"/>
          <p:cNvCxnSpPr/>
          <p:nvPr/>
        </p:nvCxnSpPr>
        <p:spPr>
          <a:xfrm rot="10800000" flipH="1">
            <a:off x="5070586" y="1767022"/>
            <a:ext cx="0" cy="2772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5" name="Google Shape;1115;p88"/>
          <p:cNvSpPr txBox="1"/>
          <p:nvPr/>
        </p:nvSpPr>
        <p:spPr>
          <a:xfrm rot="-5400000">
            <a:off x="3759200" y="2994546"/>
            <a:ext cx="1813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sunshine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6" name="Google Shape;1116;p88"/>
          <p:cNvGraphicFramePr>
            <a:graphicFrameLocks noGrp="1"/>
          </p:cNvGraphicFramePr>
          <p:nvPr/>
        </p:nvGraphicFramePr>
        <p:xfrm>
          <a:off x="324000" y="1915948"/>
          <a:ext cx="3996000" cy="280398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223325"/>
                <a:gridCol w="1431800"/>
                <a:gridCol w="13408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(hrs)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17" name="Google Shape;1117;p88"/>
          <p:cNvSpPr txBox="1"/>
          <p:nvPr>
            <p:ph type="body" idx="1"/>
          </p:nvPr>
        </p:nvSpPr>
        <p:spPr>
          <a:xfrm>
            <a:off x="324000" y="1416236"/>
            <a:ext cx="8496000" cy="3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table below shows weather data from the Met Office.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sp>
        <p:nvSpPr>
          <p:cNvPr id="1122" name="Google Shape;112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123" name="Google Shape;1123;p89"/>
          <p:cNvSpPr txBox="1"/>
          <p:nvPr>
            <p:ph type="body" idx="1"/>
          </p:nvPr>
        </p:nvSpPr>
        <p:spPr>
          <a:xfrm>
            <a:off x="324000" y="759300"/>
            <a:ext cx="8237700" cy="7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Scatter graphs are </a:t>
            </a:r>
            <a:r>
              <a:rPr lang="en-GB" sz="1800">
                <a:solidFill>
                  <a:schemeClr val="accent5"/>
                </a:solidFill>
              </a:rPr>
              <a:t>less useful</a:t>
            </a:r>
            <a:r>
              <a:rPr lang="en-GB" sz="1800"/>
              <a:t> for data involving frequencies of different categories.</a:t>
            </a:r>
            <a:endParaRPr sz="1800"/>
          </a:p>
        </p:txBody>
      </p:sp>
      <p:graphicFrame>
        <p:nvGraphicFramePr>
          <p:cNvPr id="1124" name="Google Shape;1124;p89"/>
          <p:cNvGraphicFramePr>
            <a:graphicFrameLocks noGrp="1"/>
          </p:cNvGraphicFramePr>
          <p:nvPr/>
        </p:nvGraphicFramePr>
        <p:xfrm>
          <a:off x="323994" y="1780904"/>
          <a:ext cx="3518450" cy="1691680"/>
        </p:xfrm>
        <a:graphic>
          <a:graphicData uri="http://schemas.openxmlformats.org/drawingml/2006/table">
            <a:tbl>
              <a:tblPr firstRow="1" bandRow="1">
                <a:noFill/>
                <a:tableStyleId>{811C8516-D6D3-4529-B0D0-7CF88F3636AB}</a:tableStyleId>
              </a:tblPr>
              <a:tblGrid>
                <a:gridCol w="1119350"/>
                <a:gridCol w="1199550"/>
                <a:gridCol w="1199550"/>
              </a:tblGrid>
              <a:tr h="37085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fuel-type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b="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A </a:t>
                      </a:r>
                      <a:r>
                        <a:rPr lang="en-GB" sz="1600" b="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 frequency</a:t>
                      </a:r>
                      <a:endParaRPr sz="1600" b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901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675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</a:t>
                      </a:r>
                      <a:endParaRPr sz="16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25" name="Google Shape;11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630" y="1628500"/>
            <a:ext cx="3016370" cy="24190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6" name="Google Shape;1126;p89"/>
          <p:cNvCxnSpPr/>
          <p:nvPr/>
        </p:nvCxnSpPr>
        <p:spPr>
          <a:xfrm>
            <a:off x="5001426" y="4046348"/>
            <a:ext cx="3110700" cy="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7" name="Google Shape;1127;p89"/>
          <p:cNvSpPr txBox="1"/>
          <p:nvPr/>
        </p:nvSpPr>
        <p:spPr>
          <a:xfrm>
            <a:off x="6342655" y="4077026"/>
            <a:ext cx="2673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8" name="Google Shape;1128;p89"/>
          <p:cNvCxnSpPr/>
          <p:nvPr/>
        </p:nvCxnSpPr>
        <p:spPr>
          <a:xfrm rot="10800000" flipH="1">
            <a:off x="5029818" y="1494110"/>
            <a:ext cx="0" cy="2568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9" name="Google Shape;1129;p89"/>
          <p:cNvSpPr txBox="1"/>
          <p:nvPr/>
        </p:nvSpPr>
        <p:spPr>
          <a:xfrm>
            <a:off x="4691571" y="2815600"/>
            <a:ext cx="2985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9"/>
          <p:cNvSpPr txBox="1"/>
          <p:nvPr>
            <p:ph type="body" idx="1"/>
          </p:nvPr>
        </p:nvSpPr>
        <p:spPr>
          <a:xfrm>
            <a:off x="324000" y="4553925"/>
            <a:ext cx="8386200" cy="34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bar chart or pie chart would be more appropriate for this data.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pic>
        <p:nvPicPr>
          <p:cNvPr id="1135" name="Google Shape;113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729" y="1567677"/>
            <a:ext cx="2174568" cy="2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90"/>
          <p:cNvSpPr txBox="1"/>
          <p:nvPr>
            <p:ph type="body" idx="1"/>
          </p:nvPr>
        </p:nvSpPr>
        <p:spPr>
          <a:xfrm>
            <a:off x="288050" y="759300"/>
            <a:ext cx="8532000" cy="7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graphs show data from the Met Office about the weather in Sheffield (  ) and Stornoway (  ) for each month in 2019.</a:t>
            </a:r>
            <a:endParaRPr/>
          </a:p>
        </p:txBody>
      </p:sp>
      <p:sp>
        <p:nvSpPr>
          <p:cNvPr id="1137" name="Google Shape;113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cxnSp>
        <p:nvCxnSpPr>
          <p:cNvPr id="1138" name="Google Shape;1138;p90"/>
          <p:cNvCxnSpPr/>
          <p:nvPr/>
        </p:nvCxnSpPr>
        <p:spPr>
          <a:xfrm>
            <a:off x="1282039" y="3748806"/>
            <a:ext cx="2253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9" name="Google Shape;1139;p90"/>
          <p:cNvCxnSpPr/>
          <p:nvPr/>
        </p:nvCxnSpPr>
        <p:spPr>
          <a:xfrm rot="10800000" flipH="1">
            <a:off x="1278591" y="1400127"/>
            <a:ext cx="0" cy="234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0" name="Google Shape;1140;p90"/>
          <p:cNvSpPr txBox="1"/>
          <p:nvPr/>
        </p:nvSpPr>
        <p:spPr>
          <a:xfrm rot="-5400000">
            <a:off x="-385325" y="2233715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1" name="Google Shape;1141;p90"/>
          <p:cNvPicPr preferRelativeResize="0"/>
          <p:nvPr/>
        </p:nvPicPr>
        <p:blipFill>
          <a:blip r:embed="rId4">
            <a:alphaModFix/>
          </a:blip>
          <a:srcRect t="8139"/>
          <a:stretch>
            <a:fillRect/>
          </a:stretch>
        </p:blipFill>
        <p:spPr>
          <a:xfrm>
            <a:off x="5238596" y="1548691"/>
            <a:ext cx="2940598" cy="2379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2" name="Google Shape;1142;p90"/>
          <p:cNvCxnSpPr/>
          <p:nvPr/>
        </p:nvCxnSpPr>
        <p:spPr>
          <a:xfrm>
            <a:off x="5501492" y="3748805"/>
            <a:ext cx="2812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3" name="Google Shape;1143;p90"/>
          <p:cNvCxnSpPr/>
          <p:nvPr/>
        </p:nvCxnSpPr>
        <p:spPr>
          <a:xfrm rot="10800000" flipH="1">
            <a:off x="5501228" y="1400127"/>
            <a:ext cx="0" cy="234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4" name="Google Shape;1144;p90"/>
          <p:cNvSpPr txBox="1"/>
          <p:nvPr/>
        </p:nvSpPr>
        <p:spPr>
          <a:xfrm rot="-5400000">
            <a:off x="3718712" y="2233715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0"/>
          <p:cNvSpPr txBox="1"/>
          <p:nvPr/>
        </p:nvSpPr>
        <p:spPr>
          <a:xfrm>
            <a:off x="1191350" y="3732977"/>
            <a:ext cx="301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0"/>
          <p:cNvSpPr txBox="1"/>
          <p:nvPr/>
        </p:nvSpPr>
        <p:spPr>
          <a:xfrm>
            <a:off x="6437226" y="3809177"/>
            <a:ext cx="8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0"/>
          <p:cNvSpPr txBox="1"/>
          <p:nvPr>
            <p:ph type="body" idx="1"/>
          </p:nvPr>
        </p:nvSpPr>
        <p:spPr>
          <a:xfrm>
            <a:off x="329125" y="4197708"/>
            <a:ext cx="8561100" cy="2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Which graph </a:t>
            </a:r>
            <a:r>
              <a:rPr lang="en-GB" sz="1700">
                <a:solidFill>
                  <a:schemeClr val="accent5"/>
                </a:solidFill>
              </a:rPr>
              <a:t>shows most clearly</a:t>
            </a:r>
            <a:r>
              <a:rPr lang="en-GB" sz="1700"/>
              <a:t> that Sheffield is often warmer than Stornoway?</a:t>
            </a:r>
            <a:endParaRPr sz="2100"/>
          </a:p>
        </p:txBody>
      </p:sp>
      <p:sp>
        <p:nvSpPr>
          <p:cNvPr id="1148" name="Google Shape;1148;p90"/>
          <p:cNvSpPr/>
          <p:nvPr/>
        </p:nvSpPr>
        <p:spPr>
          <a:xfrm>
            <a:off x="8532502" y="833000"/>
            <a:ext cx="183000" cy="183000"/>
          </a:xfrm>
          <a:prstGeom prst="mathMultiply">
            <a:avLst>
              <a:gd name="adj1" fmla="val 8975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0"/>
          <p:cNvSpPr/>
          <p:nvPr/>
        </p:nvSpPr>
        <p:spPr>
          <a:xfrm>
            <a:off x="2123561" y="1172025"/>
            <a:ext cx="113100" cy="1131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0"/>
          <p:cNvSpPr txBox="1"/>
          <p:nvPr>
            <p:ph type="body" idx="1"/>
          </p:nvPr>
        </p:nvSpPr>
        <p:spPr>
          <a:xfrm>
            <a:off x="3759550" y="4514482"/>
            <a:ext cx="1692900" cy="3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pic>
        <p:nvPicPr>
          <p:cNvPr id="1155" name="Google Shape;115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729" y="1567677"/>
            <a:ext cx="2174568" cy="2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cxnSp>
        <p:nvCxnSpPr>
          <p:cNvPr id="1157" name="Google Shape;1157;p91"/>
          <p:cNvCxnSpPr/>
          <p:nvPr/>
        </p:nvCxnSpPr>
        <p:spPr>
          <a:xfrm>
            <a:off x="1282039" y="3748806"/>
            <a:ext cx="2253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8" name="Google Shape;1158;p91"/>
          <p:cNvCxnSpPr/>
          <p:nvPr/>
        </p:nvCxnSpPr>
        <p:spPr>
          <a:xfrm rot="10800000" flipH="1">
            <a:off x="1278591" y="1400127"/>
            <a:ext cx="0" cy="234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9" name="Google Shape;1159;p91"/>
          <p:cNvSpPr txBox="1"/>
          <p:nvPr/>
        </p:nvSpPr>
        <p:spPr>
          <a:xfrm rot="-5400000">
            <a:off x="-385325" y="2233715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0" name="Google Shape;1160;p91"/>
          <p:cNvPicPr preferRelativeResize="0"/>
          <p:nvPr/>
        </p:nvPicPr>
        <p:blipFill>
          <a:blip r:embed="rId4">
            <a:alphaModFix/>
          </a:blip>
          <a:srcRect t="8139"/>
          <a:stretch>
            <a:fillRect/>
          </a:stretch>
        </p:blipFill>
        <p:spPr>
          <a:xfrm>
            <a:off x="5238596" y="1548691"/>
            <a:ext cx="2940598" cy="2379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1" name="Google Shape;1161;p91"/>
          <p:cNvCxnSpPr/>
          <p:nvPr/>
        </p:nvCxnSpPr>
        <p:spPr>
          <a:xfrm>
            <a:off x="5501492" y="3748805"/>
            <a:ext cx="2812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2" name="Google Shape;1162;p91"/>
          <p:cNvCxnSpPr/>
          <p:nvPr/>
        </p:nvCxnSpPr>
        <p:spPr>
          <a:xfrm rot="10800000" flipH="1">
            <a:off x="5501228" y="1400127"/>
            <a:ext cx="0" cy="234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3" name="Google Shape;1163;p91"/>
          <p:cNvSpPr txBox="1"/>
          <p:nvPr/>
        </p:nvSpPr>
        <p:spPr>
          <a:xfrm rot="-5400000">
            <a:off x="3718712" y="2233715"/>
            <a:ext cx="260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mean daily maximum temperature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1"/>
          <p:cNvSpPr txBox="1"/>
          <p:nvPr/>
        </p:nvSpPr>
        <p:spPr>
          <a:xfrm>
            <a:off x="1191350" y="3732977"/>
            <a:ext cx="301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duration (hrs)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1"/>
          <p:cNvSpPr txBox="1"/>
          <p:nvPr/>
        </p:nvSpPr>
        <p:spPr>
          <a:xfrm>
            <a:off x="6437226" y="3809177"/>
            <a:ext cx="8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91"/>
          <p:cNvSpPr txBox="1"/>
          <p:nvPr>
            <p:ph type="body" idx="1"/>
          </p:nvPr>
        </p:nvSpPr>
        <p:spPr>
          <a:xfrm>
            <a:off x="329125" y="4197708"/>
            <a:ext cx="8561100" cy="2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/>
              <a:t>Which graph </a:t>
            </a:r>
            <a:r>
              <a:rPr lang="en-GB" sz="1700">
                <a:solidFill>
                  <a:schemeClr val="accent5"/>
                </a:solidFill>
              </a:rPr>
              <a:t>shows most clearly</a:t>
            </a:r>
            <a:r>
              <a:rPr lang="en-GB" sz="1700"/>
              <a:t> that warmer months have more sunshine?</a:t>
            </a:r>
            <a:endParaRPr sz="2100"/>
          </a:p>
        </p:txBody>
      </p:sp>
      <p:sp>
        <p:nvSpPr>
          <p:cNvPr id="1167" name="Google Shape;1167;p91"/>
          <p:cNvSpPr txBox="1"/>
          <p:nvPr>
            <p:ph type="body" idx="1"/>
          </p:nvPr>
        </p:nvSpPr>
        <p:spPr>
          <a:xfrm>
            <a:off x="3607150" y="4514475"/>
            <a:ext cx="1936200" cy="3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scatter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91"/>
          <p:cNvSpPr txBox="1"/>
          <p:nvPr>
            <p:ph type="body" idx="1"/>
          </p:nvPr>
        </p:nvSpPr>
        <p:spPr>
          <a:xfrm>
            <a:off x="288050" y="759300"/>
            <a:ext cx="8532000" cy="7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graphs show data from the Met Office about the weather in Sheffield (  ) and Stornoway (  ) for each month in 2019.</a:t>
            </a:r>
            <a:endParaRPr/>
          </a:p>
        </p:txBody>
      </p:sp>
      <p:sp>
        <p:nvSpPr>
          <p:cNvPr id="1169" name="Google Shape;1169;p91"/>
          <p:cNvSpPr/>
          <p:nvPr/>
        </p:nvSpPr>
        <p:spPr>
          <a:xfrm>
            <a:off x="8532502" y="833000"/>
            <a:ext cx="183000" cy="183000"/>
          </a:xfrm>
          <a:prstGeom prst="mathMultiply">
            <a:avLst>
              <a:gd name="adj1" fmla="val 8975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91"/>
          <p:cNvSpPr/>
          <p:nvPr/>
        </p:nvSpPr>
        <p:spPr>
          <a:xfrm>
            <a:off x="2123561" y="1172025"/>
            <a:ext cx="113100" cy="1131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4" name="Shape 1174"/>
        <p:cNvGrpSpPr/>
        <p:nvPr/>
      </p:nvGrpSpPr>
      <p:grpSpPr>
        <a:xfrm>
          <a:off x="0" y="0"/>
          <a:ext cx="0" cy="0"/>
        </a:xfrm>
      </p:grpSpPr>
      <p:sp>
        <p:nvSpPr>
          <p:cNvPr id="1175" name="Google Shape;1175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can compare the frequencies of categories within a dataset more easily with a bar chart.</a:t>
            </a:r>
            <a:endParaRPr sz="2000"/>
          </a:p>
        </p:txBody>
      </p:sp>
      <p:sp>
        <p:nvSpPr>
          <p:cNvPr id="1176" name="Google Shape;1176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bar chart is always clearer than a pie chart.</a:t>
            </a:r>
            <a:endParaRPr/>
          </a:p>
        </p:txBody>
      </p:sp>
      <p:sp>
        <p:nvSpPr>
          <p:cNvPr id="1177" name="Google Shape;1177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You can compare the proportions of categories between datasets of different sizes more easily with a pie chart.</a:t>
            </a:r>
            <a:endParaRPr sz="2000"/>
          </a:p>
        </p:txBody>
      </p:sp>
      <p:sp>
        <p:nvSpPr>
          <p:cNvPr id="1178" name="Google Shape;117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pic>
        <p:nvPicPr>
          <p:cNvPr id="1179" name="Google Shape;117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1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4" name="Shape 1184"/>
        <p:cNvGrpSpPr/>
        <p:nvPr/>
      </p:nvGrpSpPr>
      <p:grpSpPr>
        <a:xfrm>
          <a:off x="0" y="0"/>
          <a:ext cx="0" cy="0"/>
        </a:xfrm>
      </p:grpSpPr>
      <p:sp>
        <p:nvSpPr>
          <p:cNvPr id="1185" name="Google Shape;1185;p93"/>
          <p:cNvSpPr txBox="1"/>
          <p:nvPr>
            <p:ph type="title"/>
          </p:nvPr>
        </p:nvSpPr>
        <p:spPr>
          <a:xfrm>
            <a:off x="324000" y="810005"/>
            <a:ext cx="8179200" cy="69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graph is the most useful for illustrating a connection between two variables in bivariate data?</a:t>
            </a:r>
            <a:endParaRPr/>
          </a:p>
        </p:txBody>
      </p:sp>
      <p:sp>
        <p:nvSpPr>
          <p:cNvPr id="1186" name="Google Shape;1186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187" name="Google Shape;1187;p93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bar chart</a:t>
            </a:r>
            <a:endParaRPr/>
          </a:p>
        </p:txBody>
      </p:sp>
      <p:sp>
        <p:nvSpPr>
          <p:cNvPr id="1188" name="Google Shape;1188;p93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line graph</a:t>
            </a:r>
            <a:endParaRPr/>
          </a:p>
        </p:txBody>
      </p:sp>
      <p:sp>
        <p:nvSpPr>
          <p:cNvPr id="1189" name="Google Shape;1189;p93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pie chart</a:t>
            </a:r>
            <a:endParaRPr/>
          </a:p>
        </p:txBody>
      </p:sp>
      <p:pic>
        <p:nvPicPr>
          <p:cNvPr id="1190" name="Google Shape;119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406558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3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scatter graph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sp>
        <p:nvSpPr>
          <p:cNvPr id="1196" name="Google Shape;1196;p94"/>
          <p:cNvSpPr txBox="1"/>
          <p:nvPr>
            <p:ph type="title"/>
          </p:nvPr>
        </p:nvSpPr>
        <p:spPr>
          <a:xfrm>
            <a:off x="324000" y="810000"/>
            <a:ext cx="8179200" cy="7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graph is the most useful for illustrating how a single variable has changed over time?</a:t>
            </a:r>
            <a:endParaRPr/>
          </a:p>
        </p:txBody>
      </p:sp>
      <p:sp>
        <p:nvSpPr>
          <p:cNvPr id="1197" name="Google Shape;1197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198" name="Google Shape;1198;p94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bar chart</a:t>
            </a:r>
            <a:endParaRPr/>
          </a:p>
        </p:txBody>
      </p:sp>
      <p:sp>
        <p:nvSpPr>
          <p:cNvPr id="1199" name="Google Shape;1199;p94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line graph</a:t>
            </a:r>
            <a:endParaRPr/>
          </a:p>
        </p:txBody>
      </p:sp>
      <p:sp>
        <p:nvSpPr>
          <p:cNvPr id="1200" name="Google Shape;1200;p94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pie chart</a:t>
            </a:r>
            <a:endParaRPr/>
          </a:p>
        </p:txBody>
      </p:sp>
      <p:pic>
        <p:nvPicPr>
          <p:cNvPr id="1201" name="Google Shape;120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4"/>
          <p:cNvSpPr txBox="1"/>
          <p:nvPr>
            <p:ph type="subTitle" idx="5"/>
          </p:nvPr>
        </p:nvSpPr>
        <p:spPr>
          <a:xfrm>
            <a:off x="1034425" y="4113825"/>
            <a:ext cx="1939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scatter graph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6" name="Shape 1206"/>
        <p:cNvGrpSpPr/>
        <p:nvPr/>
      </p:nvGrpSpPr>
      <p:grpSpPr>
        <a:xfrm>
          <a:off x="0" y="0"/>
          <a:ext cx="0" cy="0"/>
        </a:xfrm>
      </p:grpSpPr>
      <p:sp>
        <p:nvSpPr>
          <p:cNvPr id="1207" name="Google Shape;1207;p95"/>
          <p:cNvSpPr txBox="1"/>
          <p:nvPr>
            <p:ph type="body" idx="1"/>
          </p:nvPr>
        </p:nvSpPr>
        <p:spPr>
          <a:xfrm>
            <a:off x="324000" y="759300"/>
            <a:ext cx="84960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 representations can be useful to illustrate the </a:t>
            </a:r>
            <a:r>
              <a:rPr lang="en-GB" sz="1800">
                <a:solidFill>
                  <a:schemeClr val="accent5"/>
                </a:solidFill>
              </a:rPr>
              <a:t>context</a:t>
            </a:r>
            <a:r>
              <a:rPr lang="en-GB" sz="1800"/>
              <a:t> of the data.</a:t>
            </a:r>
            <a:endParaRPr sz="1800"/>
          </a:p>
        </p:txBody>
      </p:sp>
      <p:sp>
        <p:nvSpPr>
          <p:cNvPr id="1208" name="Google Shape;120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209" name="Google Shape;1209;p95"/>
          <p:cNvSpPr txBox="1"/>
          <p:nvPr>
            <p:ph type="body" idx="1"/>
          </p:nvPr>
        </p:nvSpPr>
        <p:spPr>
          <a:xfrm>
            <a:off x="324000" y="1173000"/>
            <a:ext cx="8496000" cy="73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Pictograms</a:t>
            </a:r>
            <a:r>
              <a:rPr lang="en-GB" sz="1800"/>
              <a:t> are similar to bar charts but use pictures instead of bars to illustrate what the data is about.</a:t>
            </a:r>
            <a:endParaRPr sz="1800"/>
          </a:p>
        </p:txBody>
      </p:sp>
      <p:sp>
        <p:nvSpPr>
          <p:cNvPr id="1210" name="Google Shape;1210;p95"/>
          <p:cNvSpPr txBox="1"/>
          <p:nvPr>
            <p:ph type="body" idx="1"/>
          </p:nvPr>
        </p:nvSpPr>
        <p:spPr>
          <a:xfrm>
            <a:off x="324000" y="3951677"/>
            <a:ext cx="84960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could the context of the data in this pictogram be?</a:t>
            </a:r>
            <a:endParaRPr sz="1800"/>
          </a:p>
        </p:txBody>
      </p:sp>
      <p:sp>
        <p:nvSpPr>
          <p:cNvPr id="1211" name="Google Shape;1211;p95"/>
          <p:cNvSpPr txBox="1"/>
          <p:nvPr>
            <p:ph type="body" idx="1"/>
          </p:nvPr>
        </p:nvSpPr>
        <p:spPr>
          <a:xfrm>
            <a:off x="1972415" y="4369350"/>
            <a:ext cx="51951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number of bikes sold per month by a shop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2" name="Google Shape;1212;p95"/>
          <p:cNvGraphicFramePr>
            <a:graphicFrameLocks noGrp="1"/>
          </p:cNvGraphicFramePr>
          <p:nvPr/>
        </p:nvGraphicFramePr>
        <p:xfrm>
          <a:off x="2720492" y="2099924"/>
          <a:ext cx="3094675" cy="137151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110000"/>
                <a:gridCol w="1984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213" name="Google Shape;121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711" y="21335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492" y="25907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711" y="21335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492" y="30479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95"/>
          <p:cNvPicPr preferRelativeResize="0"/>
          <p:nvPr/>
        </p:nvPicPr>
        <p:blipFill>
          <a:blip r:embed="rId3">
            <a:alphaModFix/>
          </a:blip>
          <a:srcRect r="47324"/>
          <a:stretch>
            <a:fillRect/>
          </a:stretch>
        </p:blipFill>
        <p:spPr>
          <a:xfrm>
            <a:off x="4691492" y="3040324"/>
            <a:ext cx="341898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411" y="3110891"/>
            <a:ext cx="649073" cy="39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95"/>
          <p:cNvSpPr txBox="1"/>
          <p:nvPr/>
        </p:nvSpPr>
        <p:spPr>
          <a:xfrm>
            <a:off x="6032090" y="3092635"/>
            <a:ext cx="317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   = 20 bikes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3" name="Shape 1223"/>
        <p:cNvGrpSpPr/>
        <p:nvPr/>
      </p:nvGrpSpPr>
      <p:grpSpPr>
        <a:xfrm>
          <a:off x="0" y="0"/>
          <a:ext cx="0" cy="0"/>
        </a:xfrm>
      </p:grpSpPr>
      <p:sp>
        <p:nvSpPr>
          <p:cNvPr id="1224" name="Google Shape;1224;p96"/>
          <p:cNvSpPr txBox="1"/>
          <p:nvPr>
            <p:ph type="body" idx="1"/>
          </p:nvPr>
        </p:nvSpPr>
        <p:spPr>
          <a:xfrm>
            <a:off x="324000" y="759300"/>
            <a:ext cx="8496000" cy="7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Pictograms are less useful when you need to divide pictures up precisely to represent frequencies accurately.</a:t>
            </a:r>
            <a:endParaRPr sz="1800"/>
          </a:p>
        </p:txBody>
      </p:sp>
      <p:sp>
        <p:nvSpPr>
          <p:cNvPr id="1225" name="Google Shape;122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graphicFrame>
        <p:nvGraphicFramePr>
          <p:cNvPr id="1226" name="Google Shape;1226;p96"/>
          <p:cNvGraphicFramePr>
            <a:graphicFrameLocks noGrp="1"/>
          </p:cNvGraphicFramePr>
          <p:nvPr/>
        </p:nvGraphicFramePr>
        <p:xfrm>
          <a:off x="2720492" y="2023724"/>
          <a:ext cx="3094675" cy="182868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110000"/>
                <a:gridCol w="1984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2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227" name="Google Shape;122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711" y="20573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492" y="25145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711" y="20573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492" y="2971756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96"/>
          <p:cNvPicPr preferRelativeResize="0"/>
          <p:nvPr/>
        </p:nvPicPr>
        <p:blipFill>
          <a:blip r:embed="rId3">
            <a:alphaModFix/>
          </a:blip>
          <a:srcRect r="47324"/>
          <a:stretch>
            <a:fillRect/>
          </a:stretch>
        </p:blipFill>
        <p:spPr>
          <a:xfrm>
            <a:off x="4691492" y="2964124"/>
            <a:ext cx="341898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411" y="3469031"/>
            <a:ext cx="649073" cy="39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96"/>
          <p:cNvSpPr txBox="1"/>
          <p:nvPr/>
        </p:nvSpPr>
        <p:spPr>
          <a:xfrm>
            <a:off x="6032090" y="3450775"/>
            <a:ext cx="317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   = 20 bikes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6"/>
          <p:cNvSpPr txBox="1"/>
          <p:nvPr>
            <p:ph type="body" idx="1"/>
          </p:nvPr>
        </p:nvSpPr>
        <p:spPr>
          <a:xfrm>
            <a:off x="324000" y="1521985"/>
            <a:ext cx="84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Presenting 17 bikes sold in month 4 would be difficult using this pictogram.</a:t>
            </a:r>
            <a:endParaRPr sz="1800"/>
          </a:p>
        </p:txBody>
      </p:sp>
      <p:sp>
        <p:nvSpPr>
          <p:cNvPr id="1235" name="Google Shape;1235;p96"/>
          <p:cNvSpPr txBox="1"/>
          <p:nvPr>
            <p:ph type="body" idx="1"/>
          </p:nvPr>
        </p:nvSpPr>
        <p:spPr>
          <a:xfrm>
            <a:off x="352775" y="4120525"/>
            <a:ext cx="84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other type of graph could be used instead?</a:t>
            </a:r>
            <a:endParaRPr sz="1800"/>
          </a:p>
        </p:txBody>
      </p:sp>
      <p:sp>
        <p:nvSpPr>
          <p:cNvPr id="1236" name="Google Shape;1236;p96"/>
          <p:cNvSpPr txBox="1"/>
          <p:nvPr>
            <p:ph type="body" idx="1"/>
          </p:nvPr>
        </p:nvSpPr>
        <p:spPr>
          <a:xfrm>
            <a:off x="2262250" y="4491275"/>
            <a:ext cx="40035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bar chart, pie chart, line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0" name="Shape 1240"/>
        <p:cNvGrpSpPr/>
        <p:nvPr/>
      </p:nvGrpSpPr>
      <p:grpSpPr>
        <a:xfrm>
          <a:off x="0" y="0"/>
          <a:ext cx="0" cy="0"/>
        </a:xfrm>
      </p:grpSpPr>
      <p:sp>
        <p:nvSpPr>
          <p:cNvPr id="1241" name="Google Shape;1241;p97"/>
          <p:cNvSpPr txBox="1"/>
          <p:nvPr>
            <p:ph type="body" idx="1"/>
          </p:nvPr>
        </p:nvSpPr>
        <p:spPr>
          <a:xfrm>
            <a:off x="324000" y="759300"/>
            <a:ext cx="8496000" cy="6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Infographics</a:t>
            </a:r>
            <a:r>
              <a:rPr lang="en-GB" sz="1800"/>
              <a:t> are sometimes used to present data in a way that illustrates its context. These are not strictly graphs but they can help people </a:t>
            </a:r>
            <a:r>
              <a:rPr lang="en-GB" sz="1800">
                <a:solidFill>
                  <a:schemeClr val="accent5"/>
                </a:solidFill>
              </a:rPr>
              <a:t>visualise</a:t>
            </a:r>
            <a:r>
              <a:rPr lang="en-GB" sz="1800"/>
              <a:t> data.</a:t>
            </a:r>
            <a:endParaRPr sz="1800"/>
          </a:p>
        </p:txBody>
      </p:sp>
      <p:sp>
        <p:nvSpPr>
          <p:cNvPr id="1242" name="Google Shape;124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grpSp>
        <p:nvGrpSpPr>
          <p:cNvPr id="1243" name="Google Shape;1243;p97"/>
          <p:cNvGrpSpPr/>
          <p:nvPr/>
        </p:nvGrpSpPr>
        <p:grpSpPr>
          <a:xfrm>
            <a:off x="2152457" y="2171197"/>
            <a:ext cx="286622" cy="767352"/>
            <a:chOff x="1878450" y="2280550"/>
            <a:chExt cx="427093" cy="1143425"/>
          </a:xfrm>
        </p:grpSpPr>
        <p:sp>
          <p:nvSpPr>
            <p:cNvPr id="1244" name="Google Shape;1244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8" name="Google Shape;1248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249" name="Google Shape;1249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0" name="Google Shape;1250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51" name="Google Shape;1251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252" name="Google Shape;1252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3" name="Google Shape;1253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54" name="Google Shape;1254;p97"/>
          <p:cNvGrpSpPr/>
          <p:nvPr/>
        </p:nvGrpSpPr>
        <p:grpSpPr>
          <a:xfrm>
            <a:off x="2490241" y="2171197"/>
            <a:ext cx="286622" cy="767352"/>
            <a:chOff x="1878450" y="2280550"/>
            <a:chExt cx="427093" cy="1143425"/>
          </a:xfrm>
        </p:grpSpPr>
        <p:sp>
          <p:nvSpPr>
            <p:cNvPr id="1255" name="Google Shape;1255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59" name="Google Shape;1259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260" name="Google Shape;1260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61" name="Google Shape;1261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62" name="Google Shape;1262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263" name="Google Shape;1263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64" name="Google Shape;1264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65" name="Google Shape;1265;p97"/>
          <p:cNvGrpSpPr/>
          <p:nvPr/>
        </p:nvGrpSpPr>
        <p:grpSpPr>
          <a:xfrm>
            <a:off x="2828024" y="2171197"/>
            <a:ext cx="286622" cy="767352"/>
            <a:chOff x="1878450" y="2280550"/>
            <a:chExt cx="427093" cy="1143425"/>
          </a:xfrm>
        </p:grpSpPr>
        <p:sp>
          <p:nvSpPr>
            <p:cNvPr id="1266" name="Google Shape;1266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70" name="Google Shape;1270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271" name="Google Shape;1271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72" name="Google Shape;1272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73" name="Google Shape;1273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274" name="Google Shape;1274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75" name="Google Shape;1275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76" name="Google Shape;1276;p97"/>
          <p:cNvGrpSpPr/>
          <p:nvPr/>
        </p:nvGrpSpPr>
        <p:grpSpPr>
          <a:xfrm>
            <a:off x="3165808" y="2171197"/>
            <a:ext cx="286622" cy="767352"/>
            <a:chOff x="1878450" y="2280550"/>
            <a:chExt cx="427093" cy="1143425"/>
          </a:xfrm>
        </p:grpSpPr>
        <p:sp>
          <p:nvSpPr>
            <p:cNvPr id="1277" name="Google Shape;1277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81" name="Google Shape;1281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282" name="Google Shape;1282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3" name="Google Shape;1283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84" name="Google Shape;1284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285" name="Google Shape;1285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6" name="Google Shape;1286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87" name="Google Shape;1287;p97"/>
          <p:cNvGrpSpPr/>
          <p:nvPr/>
        </p:nvGrpSpPr>
        <p:grpSpPr>
          <a:xfrm>
            <a:off x="3503591" y="2171197"/>
            <a:ext cx="286622" cy="767352"/>
            <a:chOff x="1878450" y="2280550"/>
            <a:chExt cx="427093" cy="1143425"/>
          </a:xfrm>
        </p:grpSpPr>
        <p:sp>
          <p:nvSpPr>
            <p:cNvPr id="1288" name="Google Shape;1288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2" name="Google Shape;1292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293" name="Google Shape;1293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4" name="Google Shape;1294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95" name="Google Shape;1295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296" name="Google Shape;1296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7" name="Google Shape;1297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98" name="Google Shape;1298;p97"/>
          <p:cNvGrpSpPr/>
          <p:nvPr/>
        </p:nvGrpSpPr>
        <p:grpSpPr>
          <a:xfrm>
            <a:off x="2152457" y="3040572"/>
            <a:ext cx="286622" cy="767352"/>
            <a:chOff x="1878450" y="2280550"/>
            <a:chExt cx="427093" cy="1143425"/>
          </a:xfrm>
        </p:grpSpPr>
        <p:sp>
          <p:nvSpPr>
            <p:cNvPr id="1299" name="Google Shape;1299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03" name="Google Shape;1303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04" name="Google Shape;1304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5" name="Google Shape;1305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06" name="Google Shape;1306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07" name="Google Shape;1307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8" name="Google Shape;1308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09" name="Google Shape;1309;p97"/>
          <p:cNvGrpSpPr/>
          <p:nvPr/>
        </p:nvGrpSpPr>
        <p:grpSpPr>
          <a:xfrm>
            <a:off x="2490241" y="3040572"/>
            <a:ext cx="286622" cy="767352"/>
            <a:chOff x="1878450" y="2280550"/>
            <a:chExt cx="427093" cy="1143425"/>
          </a:xfrm>
        </p:grpSpPr>
        <p:sp>
          <p:nvSpPr>
            <p:cNvPr id="1310" name="Google Shape;1310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4" name="Google Shape;1314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15" name="Google Shape;1315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6" name="Google Shape;1316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17" name="Google Shape;1317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18" name="Google Shape;1318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9" name="Google Shape;1319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20" name="Google Shape;1320;p97"/>
          <p:cNvGrpSpPr/>
          <p:nvPr/>
        </p:nvGrpSpPr>
        <p:grpSpPr>
          <a:xfrm>
            <a:off x="2828024" y="3040572"/>
            <a:ext cx="286622" cy="767352"/>
            <a:chOff x="1878450" y="2280550"/>
            <a:chExt cx="427093" cy="1143425"/>
          </a:xfrm>
        </p:grpSpPr>
        <p:sp>
          <p:nvSpPr>
            <p:cNvPr id="1321" name="Google Shape;1321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5" name="Google Shape;1325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26" name="Google Shape;1326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7" name="Google Shape;1327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8" name="Google Shape;1328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29" name="Google Shape;1329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0" name="Google Shape;1330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31" name="Google Shape;1331;p97"/>
          <p:cNvGrpSpPr/>
          <p:nvPr/>
        </p:nvGrpSpPr>
        <p:grpSpPr>
          <a:xfrm>
            <a:off x="3165808" y="3040572"/>
            <a:ext cx="286622" cy="767352"/>
            <a:chOff x="1878450" y="2280550"/>
            <a:chExt cx="427093" cy="1143425"/>
          </a:xfrm>
        </p:grpSpPr>
        <p:sp>
          <p:nvSpPr>
            <p:cNvPr id="1332" name="Google Shape;1332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36" name="Google Shape;1336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37" name="Google Shape;1337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8" name="Google Shape;1338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39" name="Google Shape;1339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40" name="Google Shape;1340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1" name="Google Shape;1341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42" name="Google Shape;1342;p97"/>
          <p:cNvGrpSpPr/>
          <p:nvPr/>
        </p:nvGrpSpPr>
        <p:grpSpPr>
          <a:xfrm>
            <a:off x="3503591" y="3040572"/>
            <a:ext cx="286622" cy="767352"/>
            <a:chOff x="1878450" y="2280550"/>
            <a:chExt cx="427093" cy="1143425"/>
          </a:xfrm>
        </p:grpSpPr>
        <p:sp>
          <p:nvSpPr>
            <p:cNvPr id="1343" name="Google Shape;1343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7" name="Google Shape;1347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48" name="Google Shape;1348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9" name="Google Shape;1349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50" name="Google Shape;1350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51" name="Google Shape;1351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2" name="Google Shape;1352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53" name="Google Shape;1353;p97"/>
          <p:cNvGrpSpPr/>
          <p:nvPr/>
        </p:nvGrpSpPr>
        <p:grpSpPr>
          <a:xfrm>
            <a:off x="5280855" y="2171197"/>
            <a:ext cx="286622" cy="767352"/>
            <a:chOff x="1878450" y="2280550"/>
            <a:chExt cx="427093" cy="1143425"/>
          </a:xfrm>
        </p:grpSpPr>
        <p:sp>
          <p:nvSpPr>
            <p:cNvPr id="1354" name="Google Shape;1354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6" name="Google Shape;1356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7" name="Google Shape;1357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58" name="Google Shape;1358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59" name="Google Shape;1359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0" name="Google Shape;1360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61" name="Google Shape;1361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62" name="Google Shape;1362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3" name="Google Shape;1363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64" name="Google Shape;1364;p97"/>
          <p:cNvGrpSpPr/>
          <p:nvPr/>
        </p:nvGrpSpPr>
        <p:grpSpPr>
          <a:xfrm>
            <a:off x="5618639" y="2171197"/>
            <a:ext cx="286622" cy="767352"/>
            <a:chOff x="1878450" y="2280550"/>
            <a:chExt cx="427093" cy="1143425"/>
          </a:xfrm>
        </p:grpSpPr>
        <p:sp>
          <p:nvSpPr>
            <p:cNvPr id="1365" name="Google Shape;1365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69" name="Google Shape;1369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70" name="Google Shape;1370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1" name="Google Shape;1371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72" name="Google Shape;1372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73" name="Google Shape;1373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4" name="Google Shape;1374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75" name="Google Shape;1375;p97"/>
          <p:cNvGrpSpPr/>
          <p:nvPr/>
        </p:nvGrpSpPr>
        <p:grpSpPr>
          <a:xfrm>
            <a:off x="5956422" y="2171197"/>
            <a:ext cx="286622" cy="767352"/>
            <a:chOff x="1878450" y="2280550"/>
            <a:chExt cx="427093" cy="1143425"/>
          </a:xfrm>
        </p:grpSpPr>
        <p:sp>
          <p:nvSpPr>
            <p:cNvPr id="1376" name="Google Shape;1376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80" name="Google Shape;1380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81" name="Google Shape;1381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2" name="Google Shape;1382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83" name="Google Shape;1383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84" name="Google Shape;1384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5" name="Google Shape;1385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86" name="Google Shape;1386;p97"/>
          <p:cNvGrpSpPr/>
          <p:nvPr/>
        </p:nvGrpSpPr>
        <p:grpSpPr>
          <a:xfrm>
            <a:off x="6294205" y="2171197"/>
            <a:ext cx="286622" cy="767352"/>
            <a:chOff x="1878450" y="2280550"/>
            <a:chExt cx="427093" cy="1143425"/>
          </a:xfrm>
        </p:grpSpPr>
        <p:sp>
          <p:nvSpPr>
            <p:cNvPr id="1387" name="Google Shape;1387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1" name="Google Shape;1391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392" name="Google Shape;1392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3" name="Google Shape;1393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94" name="Google Shape;1394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395" name="Google Shape;1395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6" name="Google Shape;1396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97" name="Google Shape;1397;p97"/>
          <p:cNvGrpSpPr/>
          <p:nvPr/>
        </p:nvGrpSpPr>
        <p:grpSpPr>
          <a:xfrm>
            <a:off x="6631989" y="2171197"/>
            <a:ext cx="286622" cy="767352"/>
            <a:chOff x="1878450" y="2280550"/>
            <a:chExt cx="427093" cy="1143425"/>
          </a:xfrm>
        </p:grpSpPr>
        <p:sp>
          <p:nvSpPr>
            <p:cNvPr id="1398" name="Google Shape;1398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2" name="Google Shape;1402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03" name="Google Shape;1403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4" name="Google Shape;1404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05" name="Google Shape;1405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06" name="Google Shape;1406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7" name="Google Shape;1407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08" name="Google Shape;1408;p97"/>
          <p:cNvGrpSpPr/>
          <p:nvPr/>
        </p:nvGrpSpPr>
        <p:grpSpPr>
          <a:xfrm>
            <a:off x="5280855" y="3040572"/>
            <a:ext cx="286622" cy="767352"/>
            <a:chOff x="1878450" y="2280550"/>
            <a:chExt cx="427093" cy="1143425"/>
          </a:xfrm>
        </p:grpSpPr>
        <p:sp>
          <p:nvSpPr>
            <p:cNvPr id="1409" name="Google Shape;1409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0" name="Google Shape;1410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1" name="Google Shape;1411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2" name="Google Shape;1412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13" name="Google Shape;1413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14" name="Google Shape;1414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5" name="Google Shape;1415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16" name="Google Shape;1416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17" name="Google Shape;1417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8" name="Google Shape;1418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19" name="Google Shape;1419;p97"/>
          <p:cNvGrpSpPr/>
          <p:nvPr/>
        </p:nvGrpSpPr>
        <p:grpSpPr>
          <a:xfrm>
            <a:off x="5618639" y="3040572"/>
            <a:ext cx="286622" cy="767352"/>
            <a:chOff x="1878450" y="2280550"/>
            <a:chExt cx="427093" cy="1143425"/>
          </a:xfrm>
        </p:grpSpPr>
        <p:sp>
          <p:nvSpPr>
            <p:cNvPr id="1420" name="Google Shape;1420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1" name="Google Shape;1421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2" name="Google Shape;1422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24" name="Google Shape;1424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25" name="Google Shape;1425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6" name="Google Shape;1426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27" name="Google Shape;1427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28" name="Google Shape;1428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9" name="Google Shape;1429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30" name="Google Shape;1430;p97"/>
          <p:cNvGrpSpPr/>
          <p:nvPr/>
        </p:nvGrpSpPr>
        <p:grpSpPr>
          <a:xfrm>
            <a:off x="5956422" y="3040572"/>
            <a:ext cx="286622" cy="767352"/>
            <a:chOff x="1878450" y="2280550"/>
            <a:chExt cx="427093" cy="1143425"/>
          </a:xfrm>
        </p:grpSpPr>
        <p:sp>
          <p:nvSpPr>
            <p:cNvPr id="1431" name="Google Shape;1431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2" name="Google Shape;1432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3" name="Google Shape;1433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4" name="Google Shape;1434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5" name="Google Shape;1435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36" name="Google Shape;1436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7" name="Google Shape;1437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8" name="Google Shape;1438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39" name="Google Shape;1439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0" name="Google Shape;1440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41" name="Google Shape;1441;p97"/>
          <p:cNvGrpSpPr/>
          <p:nvPr/>
        </p:nvGrpSpPr>
        <p:grpSpPr>
          <a:xfrm>
            <a:off x="6294205" y="3040572"/>
            <a:ext cx="286622" cy="767352"/>
            <a:chOff x="1878450" y="2280550"/>
            <a:chExt cx="427093" cy="1143425"/>
          </a:xfrm>
        </p:grpSpPr>
        <p:sp>
          <p:nvSpPr>
            <p:cNvPr id="1442" name="Google Shape;1442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46" name="Google Shape;1446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47" name="Google Shape;1447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8" name="Google Shape;1448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49" name="Google Shape;1449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50" name="Google Shape;1450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1" name="Google Shape;1451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52" name="Google Shape;1452;p97"/>
          <p:cNvGrpSpPr/>
          <p:nvPr/>
        </p:nvGrpSpPr>
        <p:grpSpPr>
          <a:xfrm>
            <a:off x="6631989" y="3040572"/>
            <a:ext cx="286622" cy="767352"/>
            <a:chOff x="1878450" y="2280550"/>
            <a:chExt cx="427093" cy="1143425"/>
          </a:xfrm>
        </p:grpSpPr>
        <p:sp>
          <p:nvSpPr>
            <p:cNvPr id="1453" name="Google Shape;1453;p97"/>
            <p:cNvSpPr/>
            <p:nvPr/>
          </p:nvSpPr>
          <p:spPr>
            <a:xfrm>
              <a:off x="1972900" y="2280550"/>
              <a:ext cx="227700" cy="227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6" name="Google Shape;1456;p97"/>
            <p:cNvSpPr/>
            <p:nvPr/>
          </p:nvSpPr>
          <p:spPr>
            <a:xfrm>
              <a:off x="1982100" y="2528475"/>
              <a:ext cx="218400" cy="440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57" name="Google Shape;1457;p97"/>
            <p:cNvGrpSpPr/>
            <p:nvPr/>
          </p:nvGrpSpPr>
          <p:grpSpPr>
            <a:xfrm>
              <a:off x="1878450" y="2528475"/>
              <a:ext cx="187599" cy="521425"/>
              <a:chOff x="1878450" y="2528475"/>
              <a:chExt cx="187599" cy="521425"/>
            </a:xfrm>
          </p:grpSpPr>
          <p:sp>
            <p:nvSpPr>
              <p:cNvPr id="1458" name="Google Shape;1458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9" name="Google Shape;1459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60" name="Google Shape;1460;p97"/>
            <p:cNvGrpSpPr/>
            <p:nvPr/>
          </p:nvGrpSpPr>
          <p:grpSpPr>
            <a:xfrm flipH="1">
              <a:off x="2117945" y="2528475"/>
              <a:ext cx="187599" cy="521425"/>
              <a:chOff x="1878450" y="2528475"/>
              <a:chExt cx="187599" cy="521425"/>
            </a:xfrm>
          </p:grpSpPr>
          <p:sp>
            <p:nvSpPr>
              <p:cNvPr id="1461" name="Google Shape;1461;p97"/>
              <p:cNvSpPr/>
              <p:nvPr/>
            </p:nvSpPr>
            <p:spPr>
              <a:xfrm>
                <a:off x="1878450" y="2596900"/>
                <a:ext cx="86700" cy="4530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2" name="Google Shape;1462;p97"/>
              <p:cNvSpPr/>
              <p:nvPr/>
            </p:nvSpPr>
            <p:spPr>
              <a:xfrm>
                <a:off x="1878549" y="2528475"/>
                <a:ext cx="187500" cy="17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63" name="Google Shape;1463;p97"/>
          <p:cNvSpPr txBox="1"/>
          <p:nvPr>
            <p:ph type="body" idx="1"/>
          </p:nvPr>
        </p:nvSpPr>
        <p:spPr>
          <a:xfrm>
            <a:off x="2442543" y="1546025"/>
            <a:ext cx="1238700" cy="32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Product A</a:t>
            </a:r>
            <a:endParaRPr sz="1800"/>
          </a:p>
        </p:txBody>
      </p:sp>
      <p:sp>
        <p:nvSpPr>
          <p:cNvPr id="1464" name="Google Shape;1464;p97"/>
          <p:cNvSpPr txBox="1"/>
          <p:nvPr>
            <p:ph type="body" idx="1"/>
          </p:nvPr>
        </p:nvSpPr>
        <p:spPr>
          <a:xfrm>
            <a:off x="5613556" y="1546018"/>
            <a:ext cx="1108500" cy="32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Product B</a:t>
            </a:r>
            <a:endParaRPr sz="1800"/>
          </a:p>
        </p:txBody>
      </p:sp>
      <p:sp>
        <p:nvSpPr>
          <p:cNvPr id="1465" name="Google Shape;1465;p97"/>
          <p:cNvSpPr txBox="1"/>
          <p:nvPr>
            <p:ph type="body" idx="1"/>
          </p:nvPr>
        </p:nvSpPr>
        <p:spPr>
          <a:xfrm>
            <a:off x="2798213" y="1867165"/>
            <a:ext cx="509400" cy="32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82%</a:t>
            </a:r>
            <a:endParaRPr sz="1800"/>
          </a:p>
        </p:txBody>
      </p:sp>
      <p:grpSp>
        <p:nvGrpSpPr>
          <p:cNvPr id="1466" name="Google Shape;1466;p97"/>
          <p:cNvGrpSpPr/>
          <p:nvPr/>
        </p:nvGrpSpPr>
        <p:grpSpPr>
          <a:xfrm>
            <a:off x="3228300" y="3706124"/>
            <a:ext cx="158981" cy="99669"/>
            <a:chOff x="1972900" y="2528475"/>
            <a:chExt cx="236825" cy="895500"/>
          </a:xfrm>
        </p:grpSpPr>
        <p:sp>
          <p:nvSpPr>
            <p:cNvPr id="1467" name="Google Shape;1467;p97"/>
            <p:cNvSpPr/>
            <p:nvPr/>
          </p:nvSpPr>
          <p:spPr>
            <a:xfrm>
              <a:off x="1972900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97"/>
            <p:cNvSpPr/>
            <p:nvPr/>
          </p:nvSpPr>
          <p:spPr>
            <a:xfrm>
              <a:off x="2106825" y="2528475"/>
              <a:ext cx="102900" cy="895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9" name="Google Shape;1469;p97"/>
          <p:cNvSpPr txBox="1"/>
          <p:nvPr>
            <p:ph type="body" idx="1"/>
          </p:nvPr>
        </p:nvSpPr>
        <p:spPr>
          <a:xfrm>
            <a:off x="5927224" y="1867165"/>
            <a:ext cx="509400" cy="32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37%</a:t>
            </a:r>
            <a:endParaRPr sz="1800"/>
          </a:p>
        </p:txBody>
      </p:sp>
      <p:sp>
        <p:nvSpPr>
          <p:cNvPr id="1470" name="Google Shape;1470;p97"/>
          <p:cNvSpPr txBox="1"/>
          <p:nvPr>
            <p:ph type="body" idx="1"/>
          </p:nvPr>
        </p:nvSpPr>
        <p:spPr>
          <a:xfrm>
            <a:off x="324000" y="4104077"/>
            <a:ext cx="84960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could the context of the data in this infographic be?</a:t>
            </a:r>
            <a:endParaRPr sz="1800"/>
          </a:p>
        </p:txBody>
      </p:sp>
      <p:sp>
        <p:nvSpPr>
          <p:cNvPr id="1471" name="Google Shape;1471;p97"/>
          <p:cNvSpPr txBox="1"/>
          <p:nvPr>
            <p:ph type="body" idx="1"/>
          </p:nvPr>
        </p:nvSpPr>
        <p:spPr>
          <a:xfrm>
            <a:off x="535500" y="4454979"/>
            <a:ext cx="7796700" cy="3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percentage of people who said they would recommend each product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5" name="Shape 1475"/>
        <p:cNvGrpSpPr/>
        <p:nvPr/>
      </p:nvGrpSpPr>
      <p:grpSpPr>
        <a:xfrm>
          <a:off x="0" y="0"/>
          <a:ext cx="0" cy="0"/>
        </a:xfrm>
      </p:grpSpPr>
      <p:sp>
        <p:nvSpPr>
          <p:cNvPr id="1476" name="Google Shape;1476;p98"/>
          <p:cNvSpPr txBox="1"/>
          <p:nvPr>
            <p:ph type="body" idx="1"/>
          </p:nvPr>
        </p:nvSpPr>
        <p:spPr>
          <a:xfrm>
            <a:off x="324000" y="759300"/>
            <a:ext cx="8439000" cy="3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infographic below is based on data from the ONS about Leeds in 2015.</a:t>
            </a:r>
            <a:endParaRPr/>
          </a:p>
        </p:txBody>
      </p:sp>
      <p:sp>
        <p:nvSpPr>
          <p:cNvPr id="1477" name="Google Shape;147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478" name="Google Shape;1478;p98"/>
          <p:cNvSpPr txBox="1"/>
          <p:nvPr/>
        </p:nvSpPr>
        <p:spPr>
          <a:xfrm>
            <a:off x="4819805" y="1498500"/>
            <a:ext cx="375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could this data be about?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9" name="Google Shape;1479;p98"/>
          <p:cNvPicPr preferRelativeResize="0"/>
          <p:nvPr/>
        </p:nvPicPr>
        <p:blipFill>
          <a:blip r:embed="rId3">
            <a:alphaModFix/>
          </a:blip>
          <a:srcRect l="55867" b="55411"/>
          <a:stretch>
            <a:fillRect/>
          </a:stretch>
        </p:blipFill>
        <p:spPr>
          <a:xfrm>
            <a:off x="2376238" y="4222113"/>
            <a:ext cx="482101" cy="59490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98"/>
          <p:cNvSpPr/>
          <p:nvPr/>
        </p:nvSpPr>
        <p:spPr>
          <a:xfrm rot="-7051567">
            <a:off x="2599549" y="2268307"/>
            <a:ext cx="2159675" cy="1426835"/>
          </a:xfrm>
          <a:prstGeom prst="cloudCallout">
            <a:avLst>
              <a:gd name="adj1" fmla="val -62884"/>
              <a:gd name="adj2" fmla="val -6424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8"/>
          <p:cNvSpPr/>
          <p:nvPr/>
        </p:nvSpPr>
        <p:spPr>
          <a:xfrm rot="-7051819">
            <a:off x="1244043" y="2461730"/>
            <a:ext cx="1855618" cy="1231090"/>
          </a:xfrm>
          <a:prstGeom prst="cloudCallout">
            <a:avLst>
              <a:gd name="adj1" fmla="val -64147"/>
              <a:gd name="adj2" fmla="val -5525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8"/>
          <p:cNvSpPr/>
          <p:nvPr/>
        </p:nvSpPr>
        <p:spPr>
          <a:xfrm rot="-7022011">
            <a:off x="302529" y="2834501"/>
            <a:ext cx="1296337" cy="1038597"/>
          </a:xfrm>
          <a:prstGeom prst="cloudCallout">
            <a:avLst>
              <a:gd name="adj1" fmla="val -65825"/>
              <a:gd name="adj2" fmla="val -3479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3" name="Google Shape;1483;p98"/>
          <p:cNvPicPr preferRelativeResize="0"/>
          <p:nvPr/>
        </p:nvPicPr>
        <p:blipFill>
          <a:blip r:embed="rId4">
            <a:alphaModFix/>
          </a:blip>
          <a:srcRect l="39503" t="40963" r="5425" b="29452"/>
          <a:stretch>
            <a:fillRect/>
          </a:stretch>
        </p:blipFill>
        <p:spPr>
          <a:xfrm>
            <a:off x="369887" y="4222118"/>
            <a:ext cx="1224626" cy="6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40050" y="4317942"/>
            <a:ext cx="984430" cy="4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98"/>
          <p:cNvSpPr txBox="1"/>
          <p:nvPr>
            <p:ph type="body" idx="1"/>
          </p:nvPr>
        </p:nvSpPr>
        <p:spPr>
          <a:xfrm rot="3389721">
            <a:off x="1670497" y="2783082"/>
            <a:ext cx="1002709" cy="5549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lt1"/>
                </a:solidFill>
              </a:rPr>
              <a:t>1310.8</a:t>
            </a:r>
            <a:br>
              <a:rPr lang="en-GB" sz="1700">
                <a:solidFill>
                  <a:schemeClr val="lt1"/>
                </a:solidFill>
              </a:rPr>
            </a:br>
            <a:r>
              <a:rPr lang="en-GB" sz="1700">
                <a:solidFill>
                  <a:schemeClr val="lt1"/>
                </a:solidFill>
              </a:rPr>
              <a:t> kt CO2e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486" name="Google Shape;1486;p98"/>
          <p:cNvSpPr txBox="1"/>
          <p:nvPr>
            <p:ph type="body" idx="1"/>
          </p:nvPr>
        </p:nvSpPr>
        <p:spPr>
          <a:xfrm rot="3236317">
            <a:off x="465010" y="3125890"/>
            <a:ext cx="854665" cy="55487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613.5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 kt CO2e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87" name="Google Shape;1487;p98"/>
          <p:cNvSpPr txBox="1"/>
          <p:nvPr>
            <p:ph type="body" idx="1"/>
          </p:nvPr>
        </p:nvSpPr>
        <p:spPr>
          <a:xfrm rot="3389318">
            <a:off x="3089610" y="2550461"/>
            <a:ext cx="1120444" cy="5549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1638.2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kt CO2e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88" name="Google Shape;1488;p98"/>
          <p:cNvSpPr txBox="1"/>
          <p:nvPr/>
        </p:nvSpPr>
        <p:spPr>
          <a:xfrm>
            <a:off x="4809005" y="3131575"/>
            <a:ext cx="395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conclusions does it show?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8"/>
          <p:cNvSpPr txBox="1"/>
          <p:nvPr/>
        </p:nvSpPr>
        <p:spPr>
          <a:xfrm>
            <a:off x="4832100" y="1960200"/>
            <a:ext cx="375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greenhouse gas emissions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0" name="Google Shape;1490;p98"/>
          <p:cNvSpPr txBox="1"/>
          <p:nvPr/>
        </p:nvSpPr>
        <p:spPr>
          <a:xfrm>
            <a:off x="4832150" y="2440175"/>
            <a:ext cx="408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from industry, homes and transport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1" name="Google Shape;1491;p98"/>
          <p:cNvSpPr txBox="1"/>
          <p:nvPr/>
        </p:nvSpPr>
        <p:spPr>
          <a:xfrm>
            <a:off x="4889108" y="3583175"/>
            <a:ext cx="375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Most emissions came from transport.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5" name="Shape 1495"/>
        <p:cNvGrpSpPr/>
        <p:nvPr/>
      </p:nvGrpSpPr>
      <p:grpSpPr>
        <a:xfrm>
          <a:off x="0" y="0"/>
          <a:ext cx="0" cy="0"/>
        </a:xfrm>
      </p:grpSpPr>
      <p:pic>
        <p:nvPicPr>
          <p:cNvPr id="1496" name="Google Shape;1496;p99"/>
          <p:cNvPicPr preferRelativeResize="0"/>
          <p:nvPr/>
        </p:nvPicPr>
        <p:blipFill>
          <a:blip r:embed="rId3">
            <a:alphaModFix/>
          </a:blip>
          <a:srcRect l="55867" b="55411"/>
          <a:stretch>
            <a:fillRect/>
          </a:stretch>
        </p:blipFill>
        <p:spPr>
          <a:xfrm>
            <a:off x="2468163" y="4269297"/>
            <a:ext cx="331792" cy="4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99"/>
          <p:cNvSpPr txBox="1"/>
          <p:nvPr>
            <p:ph type="body" idx="1"/>
          </p:nvPr>
        </p:nvSpPr>
        <p:spPr>
          <a:xfrm>
            <a:off x="324000" y="759300"/>
            <a:ext cx="84960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sizes of images in </a:t>
            </a:r>
            <a:r>
              <a:rPr lang="en-GB" sz="1800">
                <a:solidFill>
                  <a:schemeClr val="accent5"/>
                </a:solidFill>
              </a:rPr>
              <a:t>infographics</a:t>
            </a:r>
            <a:r>
              <a:rPr lang="en-GB" sz="1800"/>
              <a:t> are sometimes scaled to match the numbers but not always. Sometimes images are </a:t>
            </a:r>
            <a:r>
              <a:rPr lang="en-GB" sz="1800">
                <a:solidFill>
                  <a:schemeClr val="accent5"/>
                </a:solidFill>
              </a:rPr>
              <a:t>not to scale</a:t>
            </a:r>
            <a:r>
              <a:rPr lang="en-GB" sz="1800"/>
              <a:t>, as their purpose is to simply highlight which numbers are bigger than others. </a:t>
            </a:r>
            <a:endParaRPr/>
          </a:p>
        </p:txBody>
      </p:sp>
      <p:sp>
        <p:nvSpPr>
          <p:cNvPr id="1498" name="Google Shape;149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pic>
        <p:nvPicPr>
          <p:cNvPr id="1499" name="Google Shape;1499;p99"/>
          <p:cNvPicPr preferRelativeResize="0"/>
          <p:nvPr/>
        </p:nvPicPr>
        <p:blipFill>
          <a:blip r:embed="rId4">
            <a:alphaModFix/>
          </a:blip>
          <a:srcRect l="39503" t="40963" r="5425" b="29452"/>
          <a:stretch>
            <a:fillRect/>
          </a:stretch>
        </p:blipFill>
        <p:spPr>
          <a:xfrm>
            <a:off x="649163" y="4247620"/>
            <a:ext cx="842809" cy="45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880582" y="4313568"/>
            <a:ext cx="677503" cy="3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99"/>
          <p:cNvPicPr preferRelativeResize="0"/>
          <p:nvPr/>
        </p:nvPicPr>
        <p:blipFill>
          <a:blip r:embed="rId6">
            <a:alphaModFix/>
          </a:blip>
          <a:srcRect l="1930" r="2995"/>
          <a:stretch>
            <a:fillRect/>
          </a:stretch>
        </p:blipFill>
        <p:spPr>
          <a:xfrm>
            <a:off x="5542065" y="2157338"/>
            <a:ext cx="2828802" cy="2731636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99"/>
          <p:cNvSpPr txBox="1"/>
          <p:nvPr/>
        </p:nvSpPr>
        <p:spPr>
          <a:xfrm rot="-5400000">
            <a:off x="4171850" y="2998789"/>
            <a:ext cx="237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greenhouse gas emissions  (kt CO2e)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3" name="Google Shape;1503;p99"/>
          <p:cNvCxnSpPr/>
          <p:nvPr/>
        </p:nvCxnSpPr>
        <p:spPr>
          <a:xfrm rot="10800000" flipH="1">
            <a:off x="5898494" y="2109565"/>
            <a:ext cx="0" cy="253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4" name="Google Shape;1504;p99"/>
          <p:cNvSpPr txBox="1"/>
          <p:nvPr>
            <p:ph type="body" idx="1"/>
          </p:nvPr>
        </p:nvSpPr>
        <p:spPr>
          <a:xfrm>
            <a:off x="324000" y="1718917"/>
            <a:ext cx="8496000" cy="32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lang="en-GB" sz="1800">
                <a:solidFill>
                  <a:schemeClr val="accent5"/>
                </a:solidFill>
              </a:rPr>
              <a:t>bar chart</a:t>
            </a:r>
            <a:r>
              <a:rPr lang="en-GB" sz="1800"/>
              <a:t> could be more useful when </a:t>
            </a:r>
            <a:r>
              <a:rPr lang="en-GB" sz="1800">
                <a:solidFill>
                  <a:schemeClr val="accent5"/>
                </a:solidFill>
              </a:rPr>
              <a:t>accuracy</a:t>
            </a:r>
            <a:r>
              <a:rPr lang="en-GB" sz="1800"/>
              <a:t> is important.</a:t>
            </a:r>
            <a:endParaRPr/>
          </a:p>
        </p:txBody>
      </p:sp>
      <p:sp>
        <p:nvSpPr>
          <p:cNvPr id="1505" name="Google Shape;1505;p99"/>
          <p:cNvSpPr/>
          <p:nvPr/>
        </p:nvSpPr>
        <p:spPr>
          <a:xfrm rot="-7051567">
            <a:off x="2599549" y="2268307"/>
            <a:ext cx="2159675" cy="1426835"/>
          </a:xfrm>
          <a:prstGeom prst="cloudCallout">
            <a:avLst>
              <a:gd name="adj1" fmla="val -62884"/>
              <a:gd name="adj2" fmla="val -6424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99"/>
          <p:cNvSpPr/>
          <p:nvPr/>
        </p:nvSpPr>
        <p:spPr>
          <a:xfrm rot="-7051819">
            <a:off x="1244043" y="2461730"/>
            <a:ext cx="1855618" cy="1231090"/>
          </a:xfrm>
          <a:prstGeom prst="cloudCallout">
            <a:avLst>
              <a:gd name="adj1" fmla="val -64147"/>
              <a:gd name="adj2" fmla="val -5525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99"/>
          <p:cNvSpPr/>
          <p:nvPr/>
        </p:nvSpPr>
        <p:spPr>
          <a:xfrm rot="-7022011">
            <a:off x="302529" y="2834501"/>
            <a:ext cx="1296337" cy="1038597"/>
          </a:xfrm>
          <a:prstGeom prst="cloudCallout">
            <a:avLst>
              <a:gd name="adj1" fmla="val -65825"/>
              <a:gd name="adj2" fmla="val -3479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9"/>
          <p:cNvSpPr txBox="1"/>
          <p:nvPr>
            <p:ph type="body" idx="1"/>
          </p:nvPr>
        </p:nvSpPr>
        <p:spPr>
          <a:xfrm rot="3389721">
            <a:off x="1670497" y="2783082"/>
            <a:ext cx="1002709" cy="5549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lt1"/>
                </a:solidFill>
              </a:rPr>
              <a:t>1310.8</a:t>
            </a:r>
            <a:br>
              <a:rPr lang="en-GB" sz="1700">
                <a:solidFill>
                  <a:schemeClr val="lt1"/>
                </a:solidFill>
              </a:rPr>
            </a:br>
            <a:r>
              <a:rPr lang="en-GB" sz="1700">
                <a:solidFill>
                  <a:schemeClr val="lt1"/>
                </a:solidFill>
              </a:rPr>
              <a:t> kt CO2e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509" name="Google Shape;1509;p99"/>
          <p:cNvSpPr txBox="1"/>
          <p:nvPr>
            <p:ph type="body" idx="1"/>
          </p:nvPr>
        </p:nvSpPr>
        <p:spPr>
          <a:xfrm rot="3236317">
            <a:off x="465010" y="3125890"/>
            <a:ext cx="854665" cy="55487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613.5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 kt CO2e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10" name="Google Shape;1510;p99"/>
          <p:cNvSpPr txBox="1"/>
          <p:nvPr>
            <p:ph type="body" idx="1"/>
          </p:nvPr>
        </p:nvSpPr>
        <p:spPr>
          <a:xfrm rot="3389318">
            <a:off x="3089610" y="2550461"/>
            <a:ext cx="1120444" cy="5549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1638.2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kt CO2e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4" name="Shape 1514"/>
        <p:cNvGrpSpPr/>
        <p:nvPr/>
      </p:nvGrpSpPr>
      <p:grpSpPr>
        <a:xfrm>
          <a:off x="0" y="0"/>
          <a:ext cx="0" cy="0"/>
        </a:xfrm>
      </p:grpSpPr>
      <p:pic>
        <p:nvPicPr>
          <p:cNvPr id="1515" name="Google Shape;151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226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00"/>
          <p:cNvSpPr txBox="1"/>
          <p:nvPr>
            <p:ph type="body" idx="1"/>
          </p:nvPr>
        </p:nvSpPr>
        <p:spPr>
          <a:xfrm>
            <a:off x="324000" y="759300"/>
            <a:ext cx="8496000" cy="73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infographic below is based on data from The Met Office about Lowersoft in 2008.  </a:t>
            </a:r>
            <a:endParaRPr sz="2400"/>
          </a:p>
        </p:txBody>
      </p:sp>
      <p:sp>
        <p:nvSpPr>
          <p:cNvPr id="1517" name="Google Shape;151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18" name="Google Shape;1518;p100"/>
          <p:cNvSpPr txBox="1"/>
          <p:nvPr>
            <p:ph type="body" idx="1"/>
          </p:nvPr>
        </p:nvSpPr>
        <p:spPr>
          <a:xfrm>
            <a:off x="1813889" y="1818100"/>
            <a:ext cx="7824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winter</a:t>
            </a:r>
            <a:endParaRPr sz="2000"/>
          </a:p>
        </p:txBody>
      </p:sp>
      <p:pic>
        <p:nvPicPr>
          <p:cNvPr id="1519" name="Google Shape;151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233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00"/>
          <p:cNvSpPr txBox="1"/>
          <p:nvPr>
            <p:ph type="body" idx="1"/>
          </p:nvPr>
        </p:nvSpPr>
        <p:spPr>
          <a:xfrm>
            <a:off x="3275285" y="1818100"/>
            <a:ext cx="6993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spring</a:t>
            </a:r>
            <a:endParaRPr sz="2000"/>
          </a:p>
        </p:txBody>
      </p:sp>
      <p:pic>
        <p:nvPicPr>
          <p:cNvPr id="1521" name="Google Shape;152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247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00"/>
          <p:cNvSpPr txBox="1"/>
          <p:nvPr>
            <p:ph type="body" idx="1"/>
          </p:nvPr>
        </p:nvSpPr>
        <p:spPr>
          <a:xfrm>
            <a:off x="4660496" y="1818100"/>
            <a:ext cx="10545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summer</a:t>
            </a:r>
            <a:endParaRPr sz="2000"/>
          </a:p>
        </p:txBody>
      </p:sp>
      <p:pic>
        <p:nvPicPr>
          <p:cNvPr id="1523" name="Google Shape;152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58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00"/>
          <p:cNvSpPr txBox="1"/>
          <p:nvPr>
            <p:ph type="body" idx="1"/>
          </p:nvPr>
        </p:nvSpPr>
        <p:spPr>
          <a:xfrm>
            <a:off x="6183150" y="1818100"/>
            <a:ext cx="8289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autumn</a:t>
            </a:r>
            <a:endParaRPr sz="2000"/>
          </a:p>
        </p:txBody>
      </p:sp>
      <p:sp>
        <p:nvSpPr>
          <p:cNvPr id="1525" name="Google Shape;1525;p100"/>
          <p:cNvSpPr/>
          <p:nvPr/>
        </p:nvSpPr>
        <p:spPr>
          <a:xfrm rot="-2700000">
            <a:off x="1832925" y="2459420"/>
            <a:ext cx="576999" cy="576999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00"/>
          <p:cNvSpPr txBox="1"/>
          <p:nvPr>
            <p:ph type="body" idx="1"/>
          </p:nvPr>
        </p:nvSpPr>
        <p:spPr>
          <a:xfrm>
            <a:off x="1864246" y="2460007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119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27" name="Google Shape;1527;p100"/>
          <p:cNvSpPr/>
          <p:nvPr/>
        </p:nvSpPr>
        <p:spPr>
          <a:xfrm rot="-2700000">
            <a:off x="6008297" y="2498290"/>
            <a:ext cx="1178606" cy="1178606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00"/>
          <p:cNvSpPr/>
          <p:nvPr/>
        </p:nvSpPr>
        <p:spPr>
          <a:xfrm rot="-2700000">
            <a:off x="3169128" y="2507028"/>
            <a:ext cx="911743" cy="911743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00"/>
          <p:cNvSpPr/>
          <p:nvPr/>
        </p:nvSpPr>
        <p:spPr>
          <a:xfrm rot="-2700000">
            <a:off x="4747448" y="2429375"/>
            <a:ext cx="761554" cy="761554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00"/>
          <p:cNvSpPr txBox="1"/>
          <p:nvPr>
            <p:ph type="body" idx="1"/>
          </p:nvPr>
        </p:nvSpPr>
        <p:spPr>
          <a:xfrm>
            <a:off x="3384171" y="2685200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187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31" name="Google Shape;1531;p100"/>
          <p:cNvSpPr txBox="1"/>
          <p:nvPr>
            <p:ph type="body" idx="1"/>
          </p:nvPr>
        </p:nvSpPr>
        <p:spPr>
          <a:xfrm>
            <a:off x="4894625" y="2515044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144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32" name="Google Shape;1532;p100"/>
          <p:cNvSpPr txBox="1"/>
          <p:nvPr>
            <p:ph type="body" idx="1"/>
          </p:nvPr>
        </p:nvSpPr>
        <p:spPr>
          <a:xfrm>
            <a:off x="6371529" y="2816591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257mm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33" name="Google Shape;1533;p100"/>
          <p:cNvSpPr txBox="1"/>
          <p:nvPr>
            <p:ph type="body" idx="1"/>
          </p:nvPr>
        </p:nvSpPr>
        <p:spPr>
          <a:xfrm>
            <a:off x="2529425" y="4502786"/>
            <a:ext cx="44850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amount of rainfall during each season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100"/>
          <p:cNvSpPr txBox="1"/>
          <p:nvPr/>
        </p:nvSpPr>
        <p:spPr>
          <a:xfrm>
            <a:off x="2590800" y="3933536"/>
            <a:ext cx="402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could the data be about?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8" name="Shape 1538"/>
        <p:cNvGrpSpPr/>
        <p:nvPr/>
      </p:nvGrpSpPr>
      <p:grpSpPr>
        <a:xfrm>
          <a:off x="0" y="0"/>
          <a:ext cx="0" cy="0"/>
        </a:xfrm>
      </p:grpSpPr>
      <p:sp>
        <p:nvSpPr>
          <p:cNvPr id="1539" name="Google Shape;1539;p101"/>
          <p:cNvSpPr txBox="1"/>
          <p:nvPr>
            <p:ph type="body" idx="1"/>
          </p:nvPr>
        </p:nvSpPr>
        <p:spPr>
          <a:xfrm>
            <a:off x="324000" y="759300"/>
            <a:ext cx="8496000" cy="73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Starting with the lowest, sort the seasons according to their amounts of rainfall.</a:t>
            </a:r>
            <a:endParaRPr sz="2400"/>
          </a:p>
        </p:txBody>
      </p:sp>
      <p:sp>
        <p:nvSpPr>
          <p:cNvPr id="1540" name="Google Shape;1540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41" name="Google Shape;1541;p101"/>
          <p:cNvSpPr txBox="1"/>
          <p:nvPr>
            <p:ph type="body" idx="1"/>
          </p:nvPr>
        </p:nvSpPr>
        <p:spPr>
          <a:xfrm>
            <a:off x="2838325" y="4208300"/>
            <a:ext cx="42525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winter, summer, spring, autumn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42" name="Google Shape;154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226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101"/>
          <p:cNvSpPr txBox="1"/>
          <p:nvPr>
            <p:ph type="body" idx="1"/>
          </p:nvPr>
        </p:nvSpPr>
        <p:spPr>
          <a:xfrm>
            <a:off x="1813889" y="1818100"/>
            <a:ext cx="7824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winter</a:t>
            </a:r>
            <a:endParaRPr sz="2000"/>
          </a:p>
        </p:txBody>
      </p:sp>
      <p:pic>
        <p:nvPicPr>
          <p:cNvPr id="1544" name="Google Shape;154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233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01"/>
          <p:cNvSpPr txBox="1"/>
          <p:nvPr>
            <p:ph type="body" idx="1"/>
          </p:nvPr>
        </p:nvSpPr>
        <p:spPr>
          <a:xfrm>
            <a:off x="3275285" y="1818100"/>
            <a:ext cx="6993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spring</a:t>
            </a:r>
            <a:endParaRPr sz="2000"/>
          </a:p>
        </p:txBody>
      </p:sp>
      <p:pic>
        <p:nvPicPr>
          <p:cNvPr id="1546" name="Google Shape;154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247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01"/>
          <p:cNvSpPr txBox="1"/>
          <p:nvPr>
            <p:ph type="body" idx="1"/>
          </p:nvPr>
        </p:nvSpPr>
        <p:spPr>
          <a:xfrm>
            <a:off x="4660496" y="1818100"/>
            <a:ext cx="10545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summer</a:t>
            </a:r>
            <a:endParaRPr sz="2000"/>
          </a:p>
        </p:txBody>
      </p:sp>
      <p:pic>
        <p:nvPicPr>
          <p:cNvPr id="1548" name="Google Shape;154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58" y="1575160"/>
            <a:ext cx="1192125" cy="669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01"/>
          <p:cNvSpPr txBox="1"/>
          <p:nvPr>
            <p:ph type="body" idx="1"/>
          </p:nvPr>
        </p:nvSpPr>
        <p:spPr>
          <a:xfrm>
            <a:off x="6183150" y="1818100"/>
            <a:ext cx="828900" cy="30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autumn</a:t>
            </a:r>
            <a:endParaRPr sz="2000"/>
          </a:p>
        </p:txBody>
      </p:sp>
      <p:sp>
        <p:nvSpPr>
          <p:cNvPr id="1550" name="Google Shape;1550;p101"/>
          <p:cNvSpPr/>
          <p:nvPr/>
        </p:nvSpPr>
        <p:spPr>
          <a:xfrm rot="-2700000">
            <a:off x="1832925" y="2459420"/>
            <a:ext cx="576999" cy="576999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101"/>
          <p:cNvSpPr txBox="1"/>
          <p:nvPr>
            <p:ph type="body" idx="1"/>
          </p:nvPr>
        </p:nvSpPr>
        <p:spPr>
          <a:xfrm>
            <a:off x="1864246" y="2460007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119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52" name="Google Shape;1552;p101"/>
          <p:cNvSpPr/>
          <p:nvPr/>
        </p:nvSpPr>
        <p:spPr>
          <a:xfrm rot="-2700000">
            <a:off x="6008297" y="2498290"/>
            <a:ext cx="1178606" cy="1178606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01"/>
          <p:cNvSpPr/>
          <p:nvPr/>
        </p:nvSpPr>
        <p:spPr>
          <a:xfrm rot="-2700000">
            <a:off x="3169128" y="2507028"/>
            <a:ext cx="911743" cy="911743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01"/>
          <p:cNvSpPr/>
          <p:nvPr/>
        </p:nvSpPr>
        <p:spPr>
          <a:xfrm rot="-2700000">
            <a:off x="4747448" y="2429375"/>
            <a:ext cx="761554" cy="761554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01"/>
          <p:cNvSpPr txBox="1"/>
          <p:nvPr>
            <p:ph type="body" idx="1"/>
          </p:nvPr>
        </p:nvSpPr>
        <p:spPr>
          <a:xfrm>
            <a:off x="3384171" y="2685200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187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56" name="Google Shape;1556;p101"/>
          <p:cNvSpPr txBox="1"/>
          <p:nvPr>
            <p:ph type="body" idx="1"/>
          </p:nvPr>
        </p:nvSpPr>
        <p:spPr>
          <a:xfrm>
            <a:off x="4894625" y="2515044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144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>
                <a:solidFill>
                  <a:schemeClr val="lt1"/>
                </a:solidFill>
              </a:rPr>
              <a:t>mm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57" name="Google Shape;1557;p101"/>
          <p:cNvSpPr txBox="1"/>
          <p:nvPr>
            <p:ph type="body" idx="1"/>
          </p:nvPr>
        </p:nvSpPr>
        <p:spPr>
          <a:xfrm>
            <a:off x="6371529" y="2816591"/>
            <a:ext cx="481500" cy="5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257mm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1" name="Shape 1561"/>
        <p:cNvGrpSpPr/>
        <p:nvPr/>
      </p:nvGrpSpPr>
      <p:grpSpPr>
        <a:xfrm>
          <a:off x="0" y="0"/>
          <a:ext cx="0" cy="0"/>
        </a:xfrm>
      </p:grpSpPr>
      <p:sp>
        <p:nvSpPr>
          <p:cNvPr id="1562" name="Google Shape;1562;p102"/>
          <p:cNvSpPr txBox="1"/>
          <p:nvPr>
            <p:ph type="body" idx="1"/>
          </p:nvPr>
        </p:nvSpPr>
        <p:spPr>
          <a:xfrm>
            <a:off x="324000" y="759300"/>
            <a:ext cx="8496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table shows weather data from The Met Office for Cardiff in 1995.</a:t>
            </a:r>
            <a:endParaRPr sz="1600"/>
          </a:p>
        </p:txBody>
      </p:sp>
      <p:sp>
        <p:nvSpPr>
          <p:cNvPr id="1563" name="Google Shape;1563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64" name="Google Shape;1564;p102"/>
          <p:cNvSpPr txBox="1"/>
          <p:nvPr>
            <p:ph type="body" idx="1"/>
          </p:nvPr>
        </p:nvSpPr>
        <p:spPr>
          <a:xfrm>
            <a:off x="2733375" y="1238250"/>
            <a:ext cx="60867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how the duration of sunshine changed during the year.</a:t>
            </a:r>
            <a:endParaRPr sz="1600"/>
          </a:p>
        </p:txBody>
      </p:sp>
      <p:graphicFrame>
        <p:nvGraphicFramePr>
          <p:cNvPr id="1565" name="Google Shape;1565;p102"/>
          <p:cNvGraphicFramePr>
            <a:graphicFrameLocks noGrp="1"/>
          </p:cNvGraphicFramePr>
          <p:nvPr/>
        </p:nvGraphicFramePr>
        <p:xfrm>
          <a:off x="628775" y="1238250"/>
          <a:ext cx="1892850" cy="347451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840600"/>
                <a:gridCol w="1052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66" name="Google Shape;1566;p102"/>
          <p:cNvPicPr preferRelativeResize="0"/>
          <p:nvPr/>
        </p:nvPicPr>
        <p:blipFill>
          <a:blip r:embed="rId3">
            <a:alphaModFix/>
          </a:blip>
          <a:srcRect t="408" r="269"/>
          <a:stretch>
            <a:fillRect/>
          </a:stretch>
        </p:blipFill>
        <p:spPr>
          <a:xfrm>
            <a:off x="3471425" y="2111750"/>
            <a:ext cx="4866825" cy="225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7" name="Google Shape;1567;p102"/>
          <p:cNvCxnSpPr/>
          <p:nvPr/>
        </p:nvCxnSpPr>
        <p:spPr>
          <a:xfrm rot="10800000" flipH="1">
            <a:off x="3493441" y="1938873"/>
            <a:ext cx="0" cy="240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8" name="Google Shape;1568;p102"/>
          <p:cNvCxnSpPr/>
          <p:nvPr/>
        </p:nvCxnSpPr>
        <p:spPr>
          <a:xfrm>
            <a:off x="3491980" y="4349157"/>
            <a:ext cx="4987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2" name="Shape 1572"/>
        <p:cNvGrpSpPr/>
        <p:nvPr/>
      </p:nvGrpSpPr>
      <p:grpSpPr>
        <a:xfrm>
          <a:off x="0" y="0"/>
          <a:ext cx="0" cy="0"/>
        </a:xfrm>
      </p:grpSpPr>
      <p:sp>
        <p:nvSpPr>
          <p:cNvPr id="1573" name="Google Shape;1573;p103"/>
          <p:cNvSpPr txBox="1"/>
          <p:nvPr>
            <p:ph type="body" idx="1"/>
          </p:nvPr>
        </p:nvSpPr>
        <p:spPr>
          <a:xfrm>
            <a:off x="324000" y="759300"/>
            <a:ext cx="8496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table shows weather data from The Met Office for Cardiff in 1995.</a:t>
            </a:r>
            <a:endParaRPr sz="1600"/>
          </a:p>
        </p:txBody>
      </p:sp>
      <p:sp>
        <p:nvSpPr>
          <p:cNvPr id="1574" name="Google Shape;1574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75" name="Google Shape;1575;p103"/>
          <p:cNvSpPr txBox="1"/>
          <p:nvPr>
            <p:ph type="body" idx="1"/>
          </p:nvPr>
        </p:nvSpPr>
        <p:spPr>
          <a:xfrm>
            <a:off x="3369600" y="1238250"/>
            <a:ext cx="54504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the relationship between sunshine duration and maximum temperature.</a:t>
            </a:r>
            <a:endParaRPr sz="1600"/>
          </a:p>
        </p:txBody>
      </p:sp>
      <p:graphicFrame>
        <p:nvGraphicFramePr>
          <p:cNvPr id="1576" name="Google Shape;1576;p103"/>
          <p:cNvGraphicFramePr>
            <a:graphicFrameLocks noGrp="1"/>
          </p:cNvGraphicFramePr>
          <p:nvPr/>
        </p:nvGraphicFramePr>
        <p:xfrm>
          <a:off x="628775" y="1238250"/>
          <a:ext cx="2503625" cy="347451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082325"/>
                <a:gridCol w="14213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daily temperature mean (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77" name="Google Shape;157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361" y="2138820"/>
            <a:ext cx="4656600" cy="2159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8" name="Google Shape;1578;p103"/>
          <p:cNvCxnSpPr/>
          <p:nvPr/>
        </p:nvCxnSpPr>
        <p:spPr>
          <a:xfrm rot="10800000" flipH="1">
            <a:off x="4064758" y="1984182"/>
            <a:ext cx="0" cy="231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9" name="Google Shape;1579;p103"/>
          <p:cNvCxnSpPr/>
          <p:nvPr/>
        </p:nvCxnSpPr>
        <p:spPr>
          <a:xfrm>
            <a:off x="4048175" y="4300750"/>
            <a:ext cx="4726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3" name="Shape 1583"/>
        <p:cNvGrpSpPr/>
        <p:nvPr/>
      </p:nvGrpSpPr>
      <p:grpSpPr>
        <a:xfrm>
          <a:off x="0" y="0"/>
          <a:ext cx="0" cy="0"/>
        </a:xfrm>
      </p:grpSpPr>
      <p:pic>
        <p:nvPicPr>
          <p:cNvPr id="1584" name="Google Shape;158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600" y="2028974"/>
            <a:ext cx="4158674" cy="2291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04"/>
          <p:cNvSpPr txBox="1"/>
          <p:nvPr>
            <p:ph type="body" idx="1"/>
          </p:nvPr>
        </p:nvSpPr>
        <p:spPr>
          <a:xfrm>
            <a:off x="324000" y="759300"/>
            <a:ext cx="8496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The table shows weather data from The Met Office for four locations in 1995.</a:t>
            </a:r>
            <a:endParaRPr sz="1600"/>
          </a:p>
        </p:txBody>
      </p:sp>
      <p:sp>
        <p:nvSpPr>
          <p:cNvPr id="1586" name="Google Shape;1586;p10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87" name="Google Shape;1587;p104"/>
          <p:cNvSpPr txBox="1"/>
          <p:nvPr>
            <p:ph type="body" idx="1"/>
          </p:nvPr>
        </p:nvSpPr>
        <p:spPr>
          <a:xfrm>
            <a:off x="3445800" y="1238250"/>
            <a:ext cx="54504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how the total number of days with airfrost differs between the four locations.</a:t>
            </a:r>
            <a:endParaRPr sz="1600"/>
          </a:p>
        </p:txBody>
      </p:sp>
      <p:graphicFrame>
        <p:nvGraphicFramePr>
          <p:cNvPr id="1588" name="Google Shape;1588;p104"/>
          <p:cNvGraphicFramePr>
            <a:graphicFrameLocks noGrp="1"/>
          </p:cNvGraphicFramePr>
          <p:nvPr/>
        </p:nvGraphicFramePr>
        <p:xfrm>
          <a:off x="628775" y="1238250"/>
          <a:ext cx="2614275" cy="335265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421525"/>
                <a:gridCol w="1192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 with airfrost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Ballypatrick</a:t>
                      </a:r>
                      <a:b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Forest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Cardiff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2" name="Shape 1592"/>
        <p:cNvGrpSpPr/>
        <p:nvPr/>
      </p:nvGrpSpPr>
      <p:grpSpPr>
        <a:xfrm>
          <a:off x="0" y="0"/>
          <a:ext cx="0" cy="0"/>
        </a:xfrm>
      </p:grpSpPr>
      <p:sp>
        <p:nvSpPr>
          <p:cNvPr id="1593" name="Google Shape;1593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The table shows weather data from The Met Office for Cardiff in 1995.</a:t>
            </a:r>
            <a:endParaRPr sz="1600"/>
          </a:p>
        </p:txBody>
      </p:sp>
      <p:sp>
        <p:nvSpPr>
          <p:cNvPr id="1594" name="Google Shape;1594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595" name="Google Shape;1595;p105"/>
          <p:cNvSpPr txBox="1"/>
          <p:nvPr>
            <p:ph type="body" idx="1"/>
          </p:nvPr>
        </p:nvSpPr>
        <p:spPr>
          <a:xfrm>
            <a:off x="2733375" y="1238250"/>
            <a:ext cx="60867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how the duration of sunshine changed during the year.</a:t>
            </a:r>
            <a:endParaRPr sz="1600"/>
          </a:p>
        </p:txBody>
      </p:sp>
      <p:graphicFrame>
        <p:nvGraphicFramePr>
          <p:cNvPr id="1596" name="Google Shape;1596;p105"/>
          <p:cNvGraphicFramePr>
            <a:graphicFrameLocks noGrp="1"/>
          </p:cNvGraphicFramePr>
          <p:nvPr/>
        </p:nvGraphicFramePr>
        <p:xfrm>
          <a:off x="628775" y="1238250"/>
          <a:ext cx="1892850" cy="347451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840600"/>
                <a:gridCol w="1052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597" name="Google Shape;1597;p105"/>
          <p:cNvGrpSpPr/>
          <p:nvPr/>
        </p:nvGrpSpPr>
        <p:grpSpPr>
          <a:xfrm>
            <a:off x="3349200" y="1938873"/>
            <a:ext cx="5130580" cy="2515478"/>
            <a:chOff x="3349200" y="1938873"/>
            <a:chExt cx="5130580" cy="2515478"/>
          </a:xfrm>
        </p:grpSpPr>
        <p:pic>
          <p:nvPicPr>
            <p:cNvPr id="1598" name="Google Shape;1598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49200" y="2152600"/>
              <a:ext cx="4884005" cy="23017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99" name="Google Shape;1599;p105"/>
            <p:cNvCxnSpPr/>
            <p:nvPr/>
          </p:nvCxnSpPr>
          <p:spPr>
            <a:xfrm rot="10800000" flipH="1">
              <a:off x="3493441" y="1938873"/>
              <a:ext cx="0" cy="2407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00" name="Google Shape;1600;p105"/>
            <p:cNvCxnSpPr/>
            <p:nvPr/>
          </p:nvCxnSpPr>
          <p:spPr>
            <a:xfrm>
              <a:off x="3491980" y="4349157"/>
              <a:ext cx="49878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01" name="Google Shape;1601;p105"/>
            <p:cNvCxnSpPr/>
            <p:nvPr/>
          </p:nvCxnSpPr>
          <p:spPr>
            <a:xfrm rot="10800000" flipH="1">
              <a:off x="3893350" y="2987800"/>
              <a:ext cx="775500" cy="1013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2" name="Google Shape;1602;p105"/>
            <p:cNvCxnSpPr/>
            <p:nvPr/>
          </p:nvCxnSpPr>
          <p:spPr>
            <a:xfrm rot="10800000" flipH="1">
              <a:off x="4668975" y="2348175"/>
              <a:ext cx="772200" cy="649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3" name="Google Shape;1603;p105"/>
            <p:cNvCxnSpPr/>
            <p:nvPr/>
          </p:nvCxnSpPr>
          <p:spPr>
            <a:xfrm>
              <a:off x="5451375" y="2348225"/>
              <a:ext cx="782400" cy="88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4" name="Google Shape;1604;p105"/>
            <p:cNvCxnSpPr/>
            <p:nvPr/>
          </p:nvCxnSpPr>
          <p:spPr>
            <a:xfrm>
              <a:off x="6230375" y="2443475"/>
              <a:ext cx="772200" cy="456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5" name="Google Shape;1605;p105"/>
            <p:cNvCxnSpPr/>
            <p:nvPr/>
          </p:nvCxnSpPr>
          <p:spPr>
            <a:xfrm>
              <a:off x="7006000" y="2902725"/>
              <a:ext cx="775500" cy="728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06" name="Google Shape;1606;p105"/>
          <p:cNvSpPr txBox="1"/>
          <p:nvPr/>
        </p:nvSpPr>
        <p:spPr>
          <a:xfrm rot="-5400000">
            <a:off x="1803200" y="2899252"/>
            <a:ext cx="260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sunshine duration (hrs)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05"/>
          <p:cNvSpPr txBox="1"/>
          <p:nvPr/>
        </p:nvSpPr>
        <p:spPr>
          <a:xfrm>
            <a:off x="5451375" y="4447546"/>
            <a:ext cx="86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pic>
        <p:nvPicPr>
          <p:cNvPr id="1612" name="Google Shape;1612;p106"/>
          <p:cNvPicPr preferRelativeResize="0"/>
          <p:nvPr/>
        </p:nvPicPr>
        <p:blipFill>
          <a:blip r:embed="rId3">
            <a:alphaModFix/>
          </a:blip>
          <a:srcRect r="4807"/>
          <a:stretch>
            <a:fillRect/>
          </a:stretch>
        </p:blipFill>
        <p:spPr>
          <a:xfrm>
            <a:off x="3917925" y="2091200"/>
            <a:ext cx="4643775" cy="23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The table shows weather data from The Met Office for Cardiff in 1995.</a:t>
            </a:r>
            <a:endParaRPr sz="1600"/>
          </a:p>
        </p:txBody>
      </p:sp>
      <p:sp>
        <p:nvSpPr>
          <p:cNvPr id="1614" name="Google Shape;1614;p10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615" name="Google Shape;1615;p106"/>
          <p:cNvSpPr txBox="1"/>
          <p:nvPr>
            <p:ph type="body" idx="1"/>
          </p:nvPr>
        </p:nvSpPr>
        <p:spPr>
          <a:xfrm>
            <a:off x="3369600" y="1238250"/>
            <a:ext cx="54504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the relationship between sunshine duration and maximum temperature.</a:t>
            </a:r>
            <a:endParaRPr sz="1600"/>
          </a:p>
        </p:txBody>
      </p:sp>
      <p:graphicFrame>
        <p:nvGraphicFramePr>
          <p:cNvPr id="1616" name="Google Shape;1616;p106"/>
          <p:cNvGraphicFramePr>
            <a:graphicFrameLocks noGrp="1"/>
          </p:cNvGraphicFramePr>
          <p:nvPr/>
        </p:nvGraphicFramePr>
        <p:xfrm>
          <a:off x="628775" y="1238250"/>
          <a:ext cx="2503625" cy="347451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082325"/>
                <a:gridCol w="14213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daily temperature mean (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617" name="Google Shape;1617;p106"/>
          <p:cNvCxnSpPr/>
          <p:nvPr/>
        </p:nvCxnSpPr>
        <p:spPr>
          <a:xfrm rot="10800000" flipH="1">
            <a:off x="4064758" y="1984182"/>
            <a:ext cx="0" cy="231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8" name="Google Shape;1618;p106"/>
          <p:cNvCxnSpPr/>
          <p:nvPr/>
        </p:nvCxnSpPr>
        <p:spPr>
          <a:xfrm>
            <a:off x="4048175" y="4300750"/>
            <a:ext cx="4726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9" name="Google Shape;1619;p106"/>
          <p:cNvSpPr txBox="1"/>
          <p:nvPr/>
        </p:nvSpPr>
        <p:spPr>
          <a:xfrm>
            <a:off x="5079800" y="4347052"/>
            <a:ext cx="260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sunshine duration (hrs)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06"/>
          <p:cNvSpPr txBox="1"/>
          <p:nvPr/>
        </p:nvSpPr>
        <p:spPr>
          <a:xfrm rot="-5400000">
            <a:off x="2357725" y="2758125"/>
            <a:ext cx="260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max daily temperature mean (℃)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4" name="Shape 1624"/>
        <p:cNvGrpSpPr/>
        <p:nvPr/>
      </p:nvGrpSpPr>
      <p:grpSpPr>
        <a:xfrm>
          <a:off x="0" y="0"/>
          <a:ext cx="0" cy="0"/>
        </a:xfrm>
      </p:grpSpPr>
      <p:sp>
        <p:nvSpPr>
          <p:cNvPr id="1625" name="Google Shape;162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The table shows weather data from The Met Office for four locations in 1995.</a:t>
            </a:r>
            <a:endParaRPr sz="1600"/>
          </a:p>
        </p:txBody>
      </p:sp>
      <p:sp>
        <p:nvSpPr>
          <p:cNvPr id="1626" name="Google Shape;1626;p10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how to present data to illustrate a point</a:t>
            </a:r>
            <a:endParaRPr/>
          </a:p>
        </p:txBody>
      </p:sp>
      <p:sp>
        <p:nvSpPr>
          <p:cNvPr id="1627" name="Google Shape;1627;p107"/>
          <p:cNvSpPr txBox="1"/>
          <p:nvPr>
            <p:ph type="body" idx="1"/>
          </p:nvPr>
        </p:nvSpPr>
        <p:spPr>
          <a:xfrm>
            <a:off x="3445800" y="1238250"/>
            <a:ext cx="54504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Plot a graph to illustrate how the total number of days with airfrost differs between the four locations.</a:t>
            </a:r>
            <a:endParaRPr sz="1600"/>
          </a:p>
        </p:txBody>
      </p:sp>
      <p:graphicFrame>
        <p:nvGraphicFramePr>
          <p:cNvPr id="1628" name="Google Shape;1628;p107"/>
          <p:cNvGraphicFramePr>
            <a:graphicFrameLocks noGrp="1"/>
          </p:cNvGraphicFramePr>
          <p:nvPr/>
        </p:nvGraphicFramePr>
        <p:xfrm>
          <a:off x="628775" y="1238250"/>
          <a:ext cx="2614275" cy="3352650"/>
        </p:xfrm>
        <a:graphic>
          <a:graphicData uri="http://schemas.openxmlformats.org/drawingml/2006/table">
            <a:tbl>
              <a:tblPr>
                <a:noFill/>
                <a:tableStyleId>{96608A41-962C-493B-A92B-4C48C27F555D}</a:tableStyleId>
              </a:tblPr>
              <a:tblGrid>
                <a:gridCol w="1421525"/>
                <a:gridCol w="1192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 with airfrost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Ballypatrick</a:t>
                      </a:r>
                      <a:b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Forest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Cardiff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b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29" name="Google Shape;162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692" y="1998735"/>
            <a:ext cx="4149593" cy="2286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0" name="Google Shape;1630;p107"/>
          <p:cNvCxnSpPr/>
          <p:nvPr/>
        </p:nvCxnSpPr>
        <p:spPr>
          <a:xfrm flipH="1">
            <a:off x="4321958" y="2011322"/>
            <a:ext cx="7200" cy="223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31" name="Google Shape;1631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1938" y="1944072"/>
            <a:ext cx="4426346" cy="2607629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107"/>
          <p:cNvSpPr txBox="1"/>
          <p:nvPr/>
        </p:nvSpPr>
        <p:spPr>
          <a:xfrm>
            <a:off x="5858384" y="4474567"/>
            <a:ext cx="2026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location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07"/>
          <p:cNvSpPr txBox="1"/>
          <p:nvPr/>
        </p:nvSpPr>
        <p:spPr>
          <a:xfrm rot="-5400000">
            <a:off x="2732436" y="2837677"/>
            <a:ext cx="225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days with airfroost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7" name="Shape 1637"/>
        <p:cNvGrpSpPr/>
        <p:nvPr/>
      </p:nvGrpSpPr>
      <p:grpSpPr>
        <a:xfrm>
          <a:off x="0" y="0"/>
          <a:ext cx="0" cy="0"/>
        </a:xfrm>
      </p:grpSpPr>
      <p:sp>
        <p:nvSpPr>
          <p:cNvPr id="1638" name="Google Shape;1638;p10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Graphical representations should effectively represent the data.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Scales on axes should be chosen carefully to give a clear and accurate representation of the data.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Some graphical representations are easier to understand than others.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An appropriate graphical representation should be chosen to clearly illustrate the conclusion you wish to communicate.</a:t>
            </a:r>
            <a:endParaRPr sz="2000"/>
          </a:p>
        </p:txBody>
      </p:sp>
      <p:sp>
        <p:nvSpPr>
          <p:cNvPr id="1639" name="Google Shape;1639;p10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</p:spTree>
  </p:cSld>
  <p:clrMapOvr>
    <a:masterClrMapping/>
  </p:clrMapOvr>
  <p:transition/>
  <p:timing/>
</p:sld>
</file>

<file path=ppt/slides/slide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3" name="Shape 1643"/>
        <p:cNvGrpSpPr/>
        <p:nvPr/>
      </p:nvGrpSpPr>
      <p:grpSpPr>
        <a:xfrm>
          <a:off x="0" y="0"/>
          <a:ext cx="0" cy="0"/>
        </a:xfrm>
      </p:grpSpPr>
      <p:sp>
        <p:nvSpPr>
          <p:cNvPr id="1644" name="Google Shape;1644;p109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45" name="Google Shape;1645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309</Paragraphs>
  <Slides>46</Slides>
  <Notes>46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baseType="lpstr" size="54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Statistical problems - data presentations</vt:lpstr>
      <vt:lpstr>PowerPoint Presentation</vt:lpstr>
      <vt:lpstr>PowerPoint Presentation</vt:lpstr>
      <vt:lpstr>PowerPoint Presentation</vt:lpstr>
      <vt:lpstr>Presenting data clearly using graphs</vt:lpstr>
      <vt:lpstr>Presenting data clearly using graphs</vt:lpstr>
      <vt:lpstr>Presenting data clearly using graphs</vt:lpstr>
      <vt:lpstr>Presenting data clearly using graphs</vt:lpstr>
      <vt:lpstr>Presenting data clearly using graphs</vt:lpstr>
      <vt:lpstr>Presenting data clearly using graphs</vt:lpstr>
      <vt:lpstr>Presenting data clearly using graphs</vt:lpstr>
      <vt:lpstr>Presenting data clearly using graphs</vt:lpstr>
      <vt:lpstr>Florence Nightingale</vt:lpstr>
      <vt:lpstr>PowerPoint Presentation</vt:lpstr>
      <vt:lpstr>PowerPoint Presentation</vt:lpstr>
      <vt:lpstr>PowerPoint Presentation</vt:lpstr>
      <vt:lpstr>PowerPoint Presentation</vt:lpstr>
      <vt:lpstr>Presenting data clearly using graphs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Which graph is the most useful for illustrating a connection between two variables in bivariate data?</vt:lpstr>
      <vt:lpstr>Which graph is the most useful for illustrating how a single variable has changed over time?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Choosing how to present data to illustrate a 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problems - data presentations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2026-03-12T20:04:55.193</cp:lastPrinted>
  <dcterms:created xsi:type="dcterms:W3CDTF">2026-03-12T20:04:55Z</dcterms:created>
  <dcterms:modified xsi:type="dcterms:W3CDTF">2026-03-12T20:05:20Z</dcterms:modified>
</cp:coreProperties>
</file>