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0E5BC42F-9A6B-4D3D-8F12-810430E1C9AD}">
  <a:tblStyle styleId="{0E5BC42F-9A6B-4D3D-8F12-810430E1C9A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3" name="Shape 183"/>
        <p:cNvGrpSpPr/>
        <p:nvPr/>
      </p:nvGrpSpPr>
      <p:grpSpPr>
        <a:xfrm>
          <a:off x="0" y="0"/>
          <a:ext cx="0" cy="0"/>
        </a:xfrm>
      </p:grpSpPr>
      <p:sp>
        <p:nvSpPr>
          <p:cNvPr id="184" name="Google Shape;184;g29e225b3a33_0_33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9e225b3a33_0_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1" name="Shape 201"/>
        <p:cNvGrpSpPr/>
        <p:nvPr/>
      </p:nvGrpSpPr>
      <p:grpSpPr>
        <a:xfrm>
          <a:off x="0" y="0"/>
          <a:ext cx="0" cy="0"/>
        </a:xfrm>
      </p:grpSpPr>
      <p:sp>
        <p:nvSpPr>
          <p:cNvPr id="202" name="Google Shape;202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8.png" /><Relationship Id="rId4" Type="http://schemas.openxmlformats.org/officeDocument/2006/relationships/image" Target="../media/image9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0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Statistical problems - data presentations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/>
          <p:nvPr/>
        </p:nvSpPr>
        <p:spPr>
          <a:xfrm>
            <a:off x="1068165" y="2316000"/>
            <a:ext cx="2024700" cy="623700"/>
          </a:xfrm>
          <a:prstGeom prst="wedgeRoundRectCallout">
            <a:avLst>
              <a:gd name="adj1" fmla="val -49314"/>
              <a:gd name="adj2" fmla="val 84688"/>
              <a:gd name="adj3" fmla="val 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4" name="Google Shape;164;p20"/>
          <p:cNvPicPr preferRelativeResize="0"/>
          <p:nvPr/>
        </p:nvPicPr>
        <p:blipFill>
          <a:blip r:embed="rId3">
            <a:alphaModFix/>
          </a:blip>
          <a:srcRect b="12188"/>
          <a:stretch>
            <a:fillRect/>
          </a:stretch>
        </p:blipFill>
        <p:spPr>
          <a:xfrm>
            <a:off x="3701187" y="2189375"/>
            <a:ext cx="3324388" cy="227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0"/>
          <p:cNvSpPr txBox="1"/>
          <p:nvPr/>
        </p:nvSpPr>
        <p:spPr>
          <a:xfrm>
            <a:off x="472325" y="3687120"/>
            <a:ext cx="38571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Explain why Izzy might think this,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based on the bar chart.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72325" y="4830131"/>
            <a:ext cx="4401900" cy="3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Explain why this is wrong.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7" name="Google Shape;16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66723" y="2828820"/>
            <a:ext cx="521717" cy="504899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 txBox="1"/>
          <p:nvPr/>
        </p:nvSpPr>
        <p:spPr>
          <a:xfrm>
            <a:off x="600556" y="3325499"/>
            <a:ext cx="488100" cy="3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Izzy 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1165256" y="2436216"/>
            <a:ext cx="1940100" cy="5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Cheltenham has twice as many people as Mansfield. 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468000" y="14513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Presenting data clearly using graphs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468000" y="1865900"/>
            <a:ext cx="6624000" cy="5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graph shows data from the ONS about the population of two towns in 2019.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2" name="Google Shape;172;p20"/>
          <p:cNvPicPr preferRelativeResize="0"/>
          <p:nvPr/>
        </p:nvPicPr>
        <p:blipFill>
          <a:blip r:embed="rId5">
            <a:alphaModFix/>
          </a:blip>
          <a:srcRect t="309" r="149"/>
          <a:stretch>
            <a:fillRect/>
          </a:stretch>
        </p:blipFill>
        <p:spPr>
          <a:xfrm>
            <a:off x="3707864" y="6732613"/>
            <a:ext cx="3203299" cy="237333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476400" y="5940900"/>
            <a:ext cx="5325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 table shows data from the ONS about five towns in 2019.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4" name="Google Shape;174;p20"/>
          <p:cNvGraphicFramePr>
            <a:graphicFrameLocks noGrp="1"/>
          </p:cNvGraphicFramePr>
          <p:nvPr/>
        </p:nvGraphicFramePr>
        <p:xfrm>
          <a:off x="610631" y="6722750"/>
          <a:ext cx="2199850" cy="2423130"/>
        </p:xfrm>
        <a:graphic>
          <a:graphicData uri="http://schemas.openxmlformats.org/drawingml/2006/table">
            <a:tbl>
              <a:tblPr>
                <a:noFill/>
                <a:tableStyleId>{0E5BC42F-9A6B-4D3D-8F12-810430E1C9AD}</a:tableStyleId>
              </a:tblPr>
              <a:tblGrid>
                <a:gridCol w="989550"/>
                <a:gridCol w="12103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population (thousands)</a:t>
                      </a:r>
                      <a:endParaRPr sz="11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properties sold</a:t>
                      </a:r>
                      <a:endParaRPr sz="11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E9E9E"/>
                    </a:solidFill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2012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2300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156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2279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2390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2491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5" name="Google Shape;175;p20"/>
          <p:cNvSpPr txBox="1"/>
          <p:nvPr/>
        </p:nvSpPr>
        <p:spPr>
          <a:xfrm>
            <a:off x="675625" y="6207175"/>
            <a:ext cx="4278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scale on the axes of the scatter graph.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6" name="Google Shape;176;p20"/>
          <p:cNvCxnSpPr/>
          <p:nvPr/>
        </p:nvCxnSpPr>
        <p:spPr>
          <a:xfrm>
            <a:off x="3697044" y="9107009"/>
            <a:ext cx="33717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7" name="Google Shape;177;p20"/>
          <p:cNvCxnSpPr/>
          <p:nvPr/>
        </p:nvCxnSpPr>
        <p:spPr>
          <a:xfrm rot="10800000" flipH="1">
            <a:off x="3703595" y="6577427"/>
            <a:ext cx="0" cy="2530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8" name="Google Shape;178;p20"/>
          <p:cNvSpPr txBox="1"/>
          <p:nvPr/>
        </p:nvSpPr>
        <p:spPr>
          <a:xfrm>
            <a:off x="4503138" y="9356054"/>
            <a:ext cx="20247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population (thousands)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 rot="-5400000">
            <a:off x="2097238" y="7725986"/>
            <a:ext cx="21762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number of properties sold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3214547" y="6573362"/>
            <a:ext cx="6135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2500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6735975" y="9070991"/>
            <a:ext cx="4884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180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2" name="Google Shape;182;p20"/>
          <p:cNvCxnSpPr/>
          <p:nvPr/>
        </p:nvCxnSpPr>
        <p:spPr>
          <a:xfrm>
            <a:off x="40030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6" name="Shape 186"/>
        <p:cNvGrpSpPr/>
        <p:nvPr/>
      </p:nvGrpSpPr>
      <p:grpSpPr>
        <a:xfrm>
          <a:off x="0" y="0"/>
          <a:ext cx="0" cy="0"/>
        </a:xfrm>
      </p:grpSpPr>
      <p:pic>
        <p:nvPicPr>
          <p:cNvPr id="187" name="Google Shape;18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0467" y="7238366"/>
            <a:ext cx="3970434" cy="1689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>
          <a:blip r:embed="rId4">
            <a:alphaModFix/>
          </a:blip>
          <a:srcRect t="408" r="269"/>
          <a:stretch>
            <a:fillRect/>
          </a:stretch>
        </p:blipFill>
        <p:spPr>
          <a:xfrm>
            <a:off x="2544125" y="2589775"/>
            <a:ext cx="4354200" cy="1972951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Statistical problems - data presentations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468000" y="864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Choosing how to present data to illustrate a point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476400" y="1140300"/>
            <a:ext cx="8237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table shows weather data from The Met Office for Cardiff in 1995.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2199975" y="1619250"/>
            <a:ext cx="4892100" cy="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Plot a graph to illustrate how the duration of sunshine changed during the year.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3" name="Google Shape;193;p21"/>
          <p:cNvGraphicFramePr>
            <a:graphicFrameLocks noGrp="1"/>
          </p:cNvGraphicFramePr>
          <p:nvPr/>
        </p:nvGraphicFramePr>
        <p:xfrm>
          <a:off x="628775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{0E5BC42F-9A6B-4D3D-8F12-810430E1C9AD}</a:tableStyleId>
              </a:tblPr>
              <a:tblGrid>
                <a:gridCol w="629650"/>
                <a:gridCol w="7882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month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sunshine duration (hours)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158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233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222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168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4" name="Google Shape;194;p21"/>
          <p:cNvSpPr txBox="1"/>
          <p:nvPr/>
        </p:nvSpPr>
        <p:spPr>
          <a:xfrm>
            <a:off x="476400" y="54837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 table shows weather data from The Met Office for Cardiff in 1995.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2836200" y="5962650"/>
            <a:ext cx="4250400" cy="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Plot a graph to illustrate the relationship between sunshine duration and maximum temperature.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6" name="Google Shape;196;p21"/>
          <p:cNvGraphicFramePr>
            <a:graphicFrameLocks noGrp="1"/>
          </p:cNvGraphicFramePr>
          <p:nvPr/>
        </p:nvGraphicFramePr>
        <p:xfrm>
          <a:off x="628775" y="596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{0E5BC42F-9A6B-4D3D-8F12-810430E1C9AD}</a:tableStyleId>
              </a:tblPr>
              <a:tblGrid>
                <a:gridCol w="854950"/>
                <a:gridCol w="11226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sunshine duration (hours)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max daily temperature mean (</a:t>
                      </a:r>
                      <a:r>
                        <a:rPr lang="en-GB" sz="11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℃)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158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233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222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168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197" name="Google Shape;197;p21"/>
          <p:cNvCxnSpPr/>
          <p:nvPr/>
        </p:nvCxnSpPr>
        <p:spPr>
          <a:xfrm rot="10800000" flipH="1">
            <a:off x="2556904" y="2353553"/>
            <a:ext cx="0" cy="2187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8" name="Google Shape;198;p21"/>
          <p:cNvCxnSpPr/>
          <p:nvPr/>
        </p:nvCxnSpPr>
        <p:spPr>
          <a:xfrm>
            <a:off x="2555577" y="4543082"/>
            <a:ext cx="45309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9" name="Google Shape;199;p21"/>
          <p:cNvCxnSpPr/>
          <p:nvPr/>
        </p:nvCxnSpPr>
        <p:spPr>
          <a:xfrm rot="10800000" flipH="1">
            <a:off x="3067859" y="7117663"/>
            <a:ext cx="0" cy="1809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0" name="Google Shape;200;p21"/>
          <p:cNvCxnSpPr/>
          <p:nvPr/>
        </p:nvCxnSpPr>
        <p:spPr>
          <a:xfrm>
            <a:off x="3053719" y="8929650"/>
            <a:ext cx="40299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4" name="Shape 204"/>
        <p:cNvGrpSpPr/>
        <p:nvPr/>
      </p:nvGrpSpPr>
      <p:grpSpPr>
        <a:xfrm>
          <a:off x="0" y="0"/>
          <a:ext cx="0" cy="0"/>
        </a:xfrm>
      </p:grpSpPr>
      <p:pic>
        <p:nvPicPr>
          <p:cNvPr id="205" name="Google Shape;20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3625" y="2113297"/>
            <a:ext cx="3698375" cy="203744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07" name="Google Shape;207;p22"/>
          <p:cNvSpPr txBox="1"/>
          <p:nvPr>
            <p:ph type="subTitle" idx="1"/>
          </p:nvPr>
        </p:nvSpPr>
        <p:spPr>
          <a:xfrm>
            <a:off x="466825" y="360000"/>
            <a:ext cx="5779200" cy="2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Statistical problems - data presentations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8" name="Google Shape;208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2"/>
          <p:cNvSpPr txBox="1"/>
          <p:nvPr/>
        </p:nvSpPr>
        <p:spPr>
          <a:xfrm>
            <a:off x="476400" y="911700"/>
            <a:ext cx="8237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The table shows weather data from The Met Office for four locations in 1995.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2912400" y="1390650"/>
            <a:ext cx="4210200" cy="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Plot a graph to illustrate how the total number of days with airfrost differs between the four locations.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2" name="Google Shape;212;p22"/>
          <p:cNvGraphicFramePr>
            <a:graphicFrameLocks noGrp="1"/>
          </p:cNvGraphicFramePr>
          <p:nvPr/>
        </p:nvGraphicFramePr>
        <p:xfrm>
          <a:off x="664805" y="139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{0E5BC42F-9A6B-4D3D-8F12-810430E1C9AD}</a:tableStyleId>
              </a:tblPr>
              <a:tblGrid>
                <a:gridCol w="1101750"/>
                <a:gridCol w="9244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location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days with airfrost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Ballypatrick</a:t>
                      </a:r>
                      <a:br>
                        <a:rPr lang="en-GB" sz="11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r>
                        <a:rPr lang="en-GB" sz="11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Forest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Cardiff</a:t>
                      </a:r>
                      <a:b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Durham</a:t>
                      </a:r>
                      <a:b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64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Lerwick</a:t>
                      </a:r>
                      <a:b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</a:b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59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213" name="Google Shape;213;p22"/>
          <p:cNvCxnSpPr/>
          <p:nvPr/>
        </p:nvCxnSpPr>
        <p:spPr>
          <a:xfrm>
            <a:off x="40030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26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simple-light-2</vt:lpstr>
      <vt:lpstr>Statistical problems - data presentations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2023-12-08T09:49:22.318</cp:lastPrinted>
  <dcterms:created xsi:type="dcterms:W3CDTF">2023-12-08T09:49:22Z</dcterms:created>
  <dcterms:modified xsi:type="dcterms:W3CDTF">2023-12-08T09:49:32Z</dcterms:modified>
</cp:coreProperties>
</file>