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1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</p:sldIdLst>
  <p:sldSz cx="9144000" cy="5143500"/>
  <p:notesSz cx="6858000" cy="9144000"/>
  <p:embeddedFontLst>
    <p:embeddedFont>
      <p:font typeface="Lexend" panose="00000000000000000000"/>
      <p:regular r:id="rId49"/>
    </p:embeddedFont>
    <p:embeddedFont>
      <p:font typeface="Lexend Medium" panose="00000000000000000000"/>
      <p:regular r:id="rId50"/>
    </p:embeddedFont>
    <p:embeddedFont>
      <p:font typeface="Kalam" panose="02000000000000000000"/>
      <p:regular r:id="rId51"/>
    </p:embeddedFont>
    <p:embeddedFont>
      <p:font typeface="Lexend Light" panose="00000000000000000000"/>
      <p:regular r:id="rId52"/>
    </p:embeddedFont>
  </p:embeddedFontLst>
  <p:custDataLst>
    <p:tags r:id="rId48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D29B8D57-E61F-4377-8CAB-62687854C047}">
  <a:tblStyle styleId="{D29B8D57-E61F-4377-8CAB-62687854C04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slide" Target="slides/slide37.xml" /><Relationship Id="rId4" Type="http://schemas.openxmlformats.org/officeDocument/2006/relationships/slide" Target="slides/slide2.xml" /><Relationship Id="rId40" Type="http://schemas.openxmlformats.org/officeDocument/2006/relationships/slide" Target="slides/slide38.xml" /><Relationship Id="rId41" Type="http://schemas.openxmlformats.org/officeDocument/2006/relationships/slide" Target="slides/slide39.xml" /><Relationship Id="rId42" Type="http://schemas.openxmlformats.org/officeDocument/2006/relationships/slide" Target="slides/slide40.xml" /><Relationship Id="rId43" Type="http://schemas.openxmlformats.org/officeDocument/2006/relationships/slide" Target="slides/slide41.xml" /><Relationship Id="rId44" Type="http://schemas.openxmlformats.org/officeDocument/2006/relationships/slide" Target="slides/slide42.xml" /><Relationship Id="rId45" Type="http://schemas.openxmlformats.org/officeDocument/2006/relationships/slide" Target="slides/slide43.xml" /><Relationship Id="rId46" Type="http://schemas.openxmlformats.org/officeDocument/2006/relationships/slide" Target="slides/slide44.xml" /><Relationship Id="rId47" Type="http://schemas.openxmlformats.org/officeDocument/2006/relationships/slide" Target="slides/slide45.xml" /><Relationship Id="rId48" Type="http://schemas.openxmlformats.org/officeDocument/2006/relationships/tags" Target="tags/tag1.xml" /><Relationship Id="rId49" Type="http://schemas.openxmlformats.org/officeDocument/2006/relationships/font" Target="fonts/font1.fntdata" /><Relationship Id="rId5" Type="http://schemas.openxmlformats.org/officeDocument/2006/relationships/slide" Target="slides/slide3.xml" /><Relationship Id="rId50" Type="http://schemas.openxmlformats.org/officeDocument/2006/relationships/font" Target="fonts/font2.fntdata" /><Relationship Id="rId51" Type="http://schemas.openxmlformats.org/officeDocument/2006/relationships/font" Target="fonts/font3.fntdata" /><Relationship Id="rId52" Type="http://schemas.openxmlformats.org/officeDocument/2006/relationships/font" Target="fonts/font4.fntdata" /><Relationship Id="rId53" Type="http://schemas.openxmlformats.org/officeDocument/2006/relationships/presProps" Target="presProps.xml" /><Relationship Id="rId54" Type="http://schemas.openxmlformats.org/officeDocument/2006/relationships/viewProps" Target="viewProps.xml" /><Relationship Id="rId55" Type="http://schemas.openxmlformats.org/officeDocument/2006/relationships/theme" Target="theme/theme1.xml" /><Relationship Id="rId56" Type="http://schemas.openxmlformats.org/officeDocument/2006/relationships/tableStyles" Target="tableStyles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_rels/notesSlide4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0.xml" /><Relationship Id="rId2" Type="http://schemas.openxmlformats.org/officeDocument/2006/relationships/notesMaster" Target="../notesMasters/notesMaster1.xml" /></Relationships>
</file>

<file path=ppt/notesSlides/_rels/notesSlide4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1.xml" /><Relationship Id="rId2" Type="http://schemas.openxmlformats.org/officeDocument/2006/relationships/notesMaster" Target="../notesMasters/notesMaster1.xml" /></Relationships>
</file>

<file path=ppt/notesSlides/_rels/notesSlide4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2.xml" /><Relationship Id="rId2" Type="http://schemas.openxmlformats.org/officeDocument/2006/relationships/notesMaster" Target="../notesMasters/notesMaster1.xml" /></Relationships>
</file>

<file path=ppt/notesSlides/_rels/notesSlide4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3.xml" /><Relationship Id="rId2" Type="http://schemas.openxmlformats.org/officeDocument/2006/relationships/notesMaster" Target="../notesMasters/notesMaster1.xml" /></Relationships>
</file>

<file path=ppt/notesSlides/_rels/notesSlide4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4.xml" /><Relationship Id="rId2" Type="http://schemas.openxmlformats.org/officeDocument/2006/relationships/notesMaster" Target="../notesMasters/notesMaster1.xml" /></Relationships>
</file>

<file path=ppt/notesSlides/_rels/notesSlide4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5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6" name="Shape 746"/>
        <p:cNvGrpSpPr/>
        <p:nvPr/>
      </p:nvGrpSpPr>
      <p:grpSpPr>
        <a:xfrm>
          <a:off x="0" y="0"/>
          <a:ext cx="0" cy="0"/>
        </a:xfrm>
      </p:grpSpPr>
      <p:sp>
        <p:nvSpPr>
          <p:cNvPr id="747" name="Google Shape;747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2" name="Shape 752"/>
        <p:cNvGrpSpPr/>
        <p:nvPr/>
      </p:nvGrpSpPr>
      <p:grpSpPr>
        <a:xfrm>
          <a:off x="0" y="0"/>
          <a:ext cx="0" cy="0"/>
        </a:xfrm>
      </p:grpSpPr>
      <p:sp>
        <p:nvSpPr>
          <p:cNvPr id="753" name="Google Shape;753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7" name="Shape 757"/>
        <p:cNvGrpSpPr/>
        <p:nvPr/>
      </p:nvGrpSpPr>
      <p:grpSpPr>
        <a:xfrm>
          <a:off x="0" y="0"/>
          <a:ext cx="0" cy="0"/>
        </a:xfrm>
      </p:grpSpPr>
      <p:sp>
        <p:nvSpPr>
          <p:cNvPr id="758" name="Google Shape;758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2" name="Shape 762"/>
        <p:cNvGrpSpPr/>
        <p:nvPr/>
      </p:nvGrpSpPr>
      <p:grpSpPr>
        <a:xfrm>
          <a:off x="0" y="0"/>
          <a:ext cx="0" cy="0"/>
        </a:xfrm>
      </p:grpSpPr>
      <p:sp>
        <p:nvSpPr>
          <p:cNvPr id="763" name="Google Shape;763;g2933a9563f2_0_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33a9563f2_0_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9" name="Shape 769"/>
        <p:cNvGrpSpPr/>
        <p:nvPr/>
      </p:nvGrpSpPr>
      <p:grpSpPr>
        <a:xfrm>
          <a:off x="0" y="0"/>
          <a:ext cx="0" cy="0"/>
        </a:xfrm>
      </p:grpSpPr>
      <p:sp>
        <p:nvSpPr>
          <p:cNvPr id="770" name="Google Shape;770;g295486a2776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95486a2776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5" name="Shape 775"/>
        <p:cNvGrpSpPr/>
        <p:nvPr/>
      </p:nvGrpSpPr>
      <p:grpSpPr>
        <a:xfrm>
          <a:off x="0" y="0"/>
          <a:ext cx="0" cy="0"/>
        </a:xfrm>
      </p:grpSpPr>
      <p:sp>
        <p:nvSpPr>
          <p:cNvPr id="776" name="Google Shape;776;g2933a9563f2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933a9563f2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83" name="Shape 783"/>
        <p:cNvGrpSpPr/>
        <p:nvPr/>
      </p:nvGrpSpPr>
      <p:grpSpPr>
        <a:xfrm>
          <a:off x="0" y="0"/>
          <a:ext cx="0" cy="0"/>
        </a:xfrm>
      </p:grpSpPr>
      <p:sp>
        <p:nvSpPr>
          <p:cNvPr id="784" name="Google Shape;784;g2933a9563f2_0_83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2933a9563f2_0_83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31" name="Shape 831"/>
        <p:cNvGrpSpPr/>
        <p:nvPr/>
      </p:nvGrpSpPr>
      <p:grpSpPr>
        <a:xfrm>
          <a:off x="0" y="0"/>
          <a:ext cx="0" cy="0"/>
        </a:xfrm>
      </p:grpSpPr>
      <p:sp>
        <p:nvSpPr>
          <p:cNvPr id="832" name="Google Shape;832;g29390690dd2_0_29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29390690dd2_0_29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55" name="Shape 855"/>
        <p:cNvGrpSpPr/>
        <p:nvPr/>
      </p:nvGrpSpPr>
      <p:grpSpPr>
        <a:xfrm>
          <a:off x="0" y="0"/>
          <a:ext cx="0" cy="0"/>
        </a:xfrm>
      </p:grpSpPr>
      <p:sp>
        <p:nvSpPr>
          <p:cNvPr id="856" name="Google Shape;856;g29390690dd2_0_32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29390690dd2_0_3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79" name="Shape 879"/>
        <p:cNvGrpSpPr/>
        <p:nvPr/>
      </p:nvGrpSpPr>
      <p:grpSpPr>
        <a:xfrm>
          <a:off x="0" y="0"/>
          <a:ext cx="0" cy="0"/>
        </a:xfrm>
      </p:grpSpPr>
      <p:sp>
        <p:nvSpPr>
          <p:cNvPr id="880" name="Google Shape;880;g29390690dd2_0_9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29390690dd2_0_9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41" name="Shape 941"/>
        <p:cNvGrpSpPr/>
        <p:nvPr/>
      </p:nvGrpSpPr>
      <p:grpSpPr>
        <a:xfrm>
          <a:off x="0" y="0"/>
          <a:ext cx="0" cy="0"/>
        </a:xfrm>
      </p:grpSpPr>
      <p:sp>
        <p:nvSpPr>
          <p:cNvPr id="942" name="Google Shape;942;g29390690dd2_0_97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3" name="Google Shape;943;g29390690dd2_0_97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03" name="Shape 1003"/>
        <p:cNvGrpSpPr/>
        <p:nvPr/>
      </p:nvGrpSpPr>
      <p:grpSpPr>
        <a:xfrm>
          <a:off x="0" y="0"/>
          <a:ext cx="0" cy="0"/>
        </a:xfrm>
      </p:grpSpPr>
      <p:sp>
        <p:nvSpPr>
          <p:cNvPr id="1004" name="Google Shape;1004;g29390690dd2_0_10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29390690dd2_0_10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63" name="Shape 1063"/>
        <p:cNvGrpSpPr/>
        <p:nvPr/>
      </p:nvGrpSpPr>
      <p:grpSpPr>
        <a:xfrm>
          <a:off x="0" y="0"/>
          <a:ext cx="0" cy="0"/>
        </a:xfrm>
      </p:grpSpPr>
      <p:sp>
        <p:nvSpPr>
          <p:cNvPr id="1064" name="Google Shape;1064;g29390690dd2_0_129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5" name="Google Shape;1065;g29390690dd2_0_129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98" name="Shape 1098"/>
        <p:cNvGrpSpPr/>
        <p:nvPr/>
      </p:nvGrpSpPr>
      <p:grpSpPr>
        <a:xfrm>
          <a:off x="0" y="0"/>
          <a:ext cx="0" cy="0"/>
        </a:xfrm>
      </p:grpSpPr>
      <p:sp>
        <p:nvSpPr>
          <p:cNvPr id="1099" name="Google Shape;1099;g29390690dd2_0_12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0" name="Google Shape;1100;g29390690dd2_0_12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32" name="Shape 1132"/>
        <p:cNvGrpSpPr/>
        <p:nvPr/>
      </p:nvGrpSpPr>
      <p:grpSpPr>
        <a:xfrm>
          <a:off x="0" y="0"/>
          <a:ext cx="0" cy="0"/>
        </a:xfrm>
      </p:grpSpPr>
      <p:sp>
        <p:nvSpPr>
          <p:cNvPr id="1133" name="Google Shape;1133;g29390690dd2_0_12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" name="Google Shape;1134;g29390690dd2_0_1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58" name="Shape 1158"/>
        <p:cNvGrpSpPr/>
        <p:nvPr/>
      </p:nvGrpSpPr>
      <p:grpSpPr>
        <a:xfrm>
          <a:off x="0" y="0"/>
          <a:ext cx="0" cy="0"/>
        </a:xfrm>
      </p:grpSpPr>
      <p:sp>
        <p:nvSpPr>
          <p:cNvPr id="1159" name="Google Shape;1159;g29390690dd2_0_13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0" name="Google Shape;1160;g29390690dd2_0_13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65" name="Shape 1165"/>
        <p:cNvGrpSpPr/>
        <p:nvPr/>
      </p:nvGrpSpPr>
      <p:grpSpPr>
        <a:xfrm>
          <a:off x="0" y="0"/>
          <a:ext cx="0" cy="0"/>
        </a:xfrm>
      </p:grpSpPr>
      <p:sp>
        <p:nvSpPr>
          <p:cNvPr id="1166" name="Google Shape;1166;g29390690dd2_0_13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7" name="Google Shape;1167;g29390690dd2_0_13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75" name="Shape 1175"/>
        <p:cNvGrpSpPr/>
        <p:nvPr/>
      </p:nvGrpSpPr>
      <p:grpSpPr>
        <a:xfrm>
          <a:off x="0" y="0"/>
          <a:ext cx="0" cy="0"/>
        </a:xfrm>
      </p:grpSpPr>
      <p:sp>
        <p:nvSpPr>
          <p:cNvPr id="1176" name="Google Shape;1176;g29390690dd2_0_135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7" name="Google Shape;1177;g29390690dd2_0_135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85" name="Shape 1185"/>
        <p:cNvGrpSpPr/>
        <p:nvPr/>
      </p:nvGrpSpPr>
      <p:grpSpPr>
        <a:xfrm>
          <a:off x="0" y="0"/>
          <a:ext cx="0" cy="0"/>
        </a:xfrm>
      </p:grpSpPr>
      <p:sp>
        <p:nvSpPr>
          <p:cNvPr id="1186" name="Google Shape;1186;g29390690dd2_0_135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7" name="Google Shape;1187;g29390690dd2_0_135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93" name="Shape 1193"/>
        <p:cNvGrpSpPr/>
        <p:nvPr/>
      </p:nvGrpSpPr>
      <p:grpSpPr>
        <a:xfrm>
          <a:off x="0" y="0"/>
          <a:ext cx="0" cy="0"/>
        </a:xfrm>
      </p:grpSpPr>
      <p:sp>
        <p:nvSpPr>
          <p:cNvPr id="1194" name="Google Shape;1194;g2933a9563f2_0_97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5" name="Google Shape;1195;g2933a9563f2_0_97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10" name="Shape 1210"/>
        <p:cNvGrpSpPr/>
        <p:nvPr/>
      </p:nvGrpSpPr>
      <p:grpSpPr>
        <a:xfrm>
          <a:off x="0" y="0"/>
          <a:ext cx="0" cy="0"/>
        </a:xfrm>
      </p:grpSpPr>
      <p:sp>
        <p:nvSpPr>
          <p:cNvPr id="1211" name="Google Shape;1211;g29390690dd2_0_15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2" name="Google Shape;1212;g29390690dd2_0_15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27" name="Shape 1227"/>
        <p:cNvGrpSpPr/>
        <p:nvPr/>
      </p:nvGrpSpPr>
      <p:grpSpPr>
        <a:xfrm>
          <a:off x="0" y="0"/>
          <a:ext cx="0" cy="0"/>
        </a:xfrm>
      </p:grpSpPr>
      <p:sp>
        <p:nvSpPr>
          <p:cNvPr id="1228" name="Google Shape;1228;g29390690dd2_0_145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9" name="Google Shape;1229;g29390690dd2_0_145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45" name="Shape 1245"/>
        <p:cNvGrpSpPr/>
        <p:nvPr/>
      </p:nvGrpSpPr>
      <p:grpSpPr>
        <a:xfrm>
          <a:off x="0" y="0"/>
          <a:ext cx="0" cy="0"/>
        </a:xfrm>
      </p:grpSpPr>
      <p:sp>
        <p:nvSpPr>
          <p:cNvPr id="1246" name="Google Shape;1246;g29390690dd2_0_14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29390690dd2_0_14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71" name="Shape 1271"/>
        <p:cNvGrpSpPr/>
        <p:nvPr/>
      </p:nvGrpSpPr>
      <p:grpSpPr>
        <a:xfrm>
          <a:off x="0" y="0"/>
          <a:ext cx="0" cy="0"/>
        </a:xfrm>
      </p:grpSpPr>
      <p:sp>
        <p:nvSpPr>
          <p:cNvPr id="1272" name="Google Shape;1272;g29402fc6623_0_2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3" name="Google Shape;1273;g29402fc6623_0_2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91" name="Shape 1291"/>
        <p:cNvGrpSpPr/>
        <p:nvPr/>
      </p:nvGrpSpPr>
      <p:grpSpPr>
        <a:xfrm>
          <a:off x="0" y="0"/>
          <a:ext cx="0" cy="0"/>
        </a:xfrm>
      </p:grpSpPr>
      <p:sp>
        <p:nvSpPr>
          <p:cNvPr id="1292" name="Google Shape;1292;g29390690dd2_0_16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3" name="Google Shape;1293;g29390690dd2_0_16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06" name="Shape 1306"/>
        <p:cNvGrpSpPr/>
        <p:nvPr/>
      </p:nvGrpSpPr>
      <p:grpSpPr>
        <a:xfrm>
          <a:off x="0" y="0"/>
          <a:ext cx="0" cy="0"/>
        </a:xfrm>
      </p:grpSpPr>
      <p:sp>
        <p:nvSpPr>
          <p:cNvPr id="1307" name="Google Shape;1307;g29390690dd2_0_16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8" name="Google Shape;1308;g29390690dd2_0_16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21" name="Shape 1321"/>
        <p:cNvGrpSpPr/>
        <p:nvPr/>
      </p:nvGrpSpPr>
      <p:grpSpPr>
        <a:xfrm>
          <a:off x="0" y="0"/>
          <a:ext cx="0" cy="0"/>
        </a:xfrm>
      </p:grpSpPr>
      <p:sp>
        <p:nvSpPr>
          <p:cNvPr id="1322" name="Google Shape;1322;g29390690dd2_0_166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29390690dd2_0_166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31" name="Shape 1331"/>
        <p:cNvGrpSpPr/>
        <p:nvPr/>
      </p:nvGrpSpPr>
      <p:grpSpPr>
        <a:xfrm>
          <a:off x="0" y="0"/>
          <a:ext cx="0" cy="0"/>
        </a:xfrm>
      </p:grpSpPr>
      <p:sp>
        <p:nvSpPr>
          <p:cNvPr id="1332" name="Google Shape;1332;g29390690dd2_0_161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3" name="Google Shape;1333;g29390690dd2_0_16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40" name="Shape 1340"/>
        <p:cNvGrpSpPr/>
        <p:nvPr/>
      </p:nvGrpSpPr>
      <p:grpSpPr>
        <a:xfrm>
          <a:off x="0" y="0"/>
          <a:ext cx="0" cy="0"/>
        </a:xfrm>
      </p:grpSpPr>
      <p:sp>
        <p:nvSpPr>
          <p:cNvPr id="1341" name="Google Shape;1341;g29390690dd2_0_167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2" name="Google Shape;1342;g29390690dd2_0_167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49" name="Shape 1349"/>
        <p:cNvGrpSpPr/>
        <p:nvPr/>
      </p:nvGrpSpPr>
      <p:grpSpPr>
        <a:xfrm>
          <a:off x="0" y="0"/>
          <a:ext cx="0" cy="0"/>
        </a:xfrm>
      </p:grpSpPr>
      <p:sp>
        <p:nvSpPr>
          <p:cNvPr id="1350" name="Google Shape;1350;g29402fc6623_0_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1" name="Google Shape;1351;g29402fc6623_0_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69" name="Shape 1369"/>
        <p:cNvGrpSpPr/>
        <p:nvPr/>
      </p:nvGrpSpPr>
      <p:grpSpPr>
        <a:xfrm>
          <a:off x="0" y="0"/>
          <a:ext cx="0" cy="0"/>
        </a:xfrm>
      </p:grpSpPr>
      <p:sp>
        <p:nvSpPr>
          <p:cNvPr id="1370" name="Google Shape;1370;g29402fc6623_0_1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1" name="Google Shape;1371;g29402fc6623_0_1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94" name="Shape 1394"/>
        <p:cNvGrpSpPr/>
        <p:nvPr/>
      </p:nvGrpSpPr>
      <p:grpSpPr>
        <a:xfrm>
          <a:off x="0" y="0"/>
          <a:ext cx="0" cy="0"/>
        </a:xfrm>
      </p:grpSpPr>
      <p:sp>
        <p:nvSpPr>
          <p:cNvPr id="1395" name="Google Shape;1395;g29402fc6623_0_19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g29402fc6623_0_19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18" name="Shape 1418"/>
        <p:cNvGrpSpPr/>
        <p:nvPr/>
      </p:nvGrpSpPr>
      <p:grpSpPr>
        <a:xfrm>
          <a:off x="0" y="0"/>
          <a:ext cx="0" cy="0"/>
        </a:xfrm>
      </p:grpSpPr>
      <p:sp>
        <p:nvSpPr>
          <p:cNvPr id="1419" name="Google Shape;1419;g29402fc6623_0_17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0" name="Google Shape;1420;g29402fc6623_0_17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43" name="Shape 1443"/>
        <p:cNvGrpSpPr/>
        <p:nvPr/>
      </p:nvGrpSpPr>
      <p:grpSpPr>
        <a:xfrm>
          <a:off x="0" y="0"/>
          <a:ext cx="0" cy="0"/>
        </a:xfrm>
      </p:grpSpPr>
      <p:sp>
        <p:nvSpPr>
          <p:cNvPr id="1444" name="Google Shape;1444;g29402fc6623_0_22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5" name="Google Shape;1445;g29402fc6623_0_2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52" name="Shape 1452"/>
        <p:cNvGrpSpPr/>
        <p:nvPr/>
      </p:nvGrpSpPr>
      <p:grpSpPr>
        <a:xfrm>
          <a:off x="0" y="0"/>
          <a:ext cx="0" cy="0"/>
        </a:xfrm>
      </p:grpSpPr>
      <p:sp>
        <p:nvSpPr>
          <p:cNvPr id="1453" name="Google Shape;1453;g2933a9563f2_0_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4" name="Google Shape;1454;g2933a9563f2_0_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60" name="Shape 1460"/>
        <p:cNvGrpSpPr/>
        <p:nvPr/>
      </p:nvGrpSpPr>
      <p:grpSpPr>
        <a:xfrm>
          <a:off x="0" y="0"/>
          <a:ext cx="0" cy="0"/>
        </a:xfrm>
      </p:grpSpPr>
      <p:sp>
        <p:nvSpPr>
          <p:cNvPr id="1461" name="Google Shape;1461;g2933a9563f2_0_2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2" name="Google Shape;1462;g2933a9563f2_0_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76" name="Shape 1476"/>
        <p:cNvGrpSpPr/>
        <p:nvPr/>
      </p:nvGrpSpPr>
      <p:grpSpPr>
        <a:xfrm>
          <a:off x="0" y="0"/>
          <a:ext cx="0" cy="0"/>
        </a:xfrm>
      </p:grpSpPr>
      <p:sp>
        <p:nvSpPr>
          <p:cNvPr id="1477" name="Google Shape;1477;g29390690dd2_0_170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8" name="Google Shape;1478;g29390690dd2_0_170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03" name="Shape 1503"/>
        <p:cNvGrpSpPr/>
        <p:nvPr/>
      </p:nvGrpSpPr>
      <p:grpSpPr>
        <a:xfrm>
          <a:off x="0" y="0"/>
          <a:ext cx="0" cy="0"/>
        </a:xfrm>
      </p:grpSpPr>
      <p:sp>
        <p:nvSpPr>
          <p:cNvPr id="1504" name="Google Shape;1504;g29390690dd2_0_180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5" name="Google Shape;1505;g29390690dd2_0_180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15" name="Shape 1515"/>
        <p:cNvGrpSpPr/>
        <p:nvPr/>
      </p:nvGrpSpPr>
      <p:grpSpPr>
        <a:xfrm>
          <a:off x="0" y="0"/>
          <a:ext cx="0" cy="0"/>
        </a:xfrm>
      </p:grpSpPr>
      <p:sp>
        <p:nvSpPr>
          <p:cNvPr id="1516" name="Google Shape;1516;g29390690dd2_0_1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7" name="Google Shape;1517;g29390690dd2_0_1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27" name="Shape 1527"/>
        <p:cNvGrpSpPr/>
        <p:nvPr/>
      </p:nvGrpSpPr>
      <p:grpSpPr>
        <a:xfrm>
          <a:off x="0" y="0"/>
          <a:ext cx="0" cy="0"/>
        </a:xfrm>
      </p:grpSpPr>
      <p:sp>
        <p:nvSpPr>
          <p:cNvPr id="1528" name="Google Shape;1528;g29390690dd2_0_173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29390690dd2_0_17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38" name="Shape 1538"/>
        <p:cNvGrpSpPr/>
        <p:nvPr/>
      </p:nvGrpSpPr>
      <p:grpSpPr>
        <a:xfrm>
          <a:off x="0" y="0"/>
          <a:ext cx="0" cy="0"/>
        </a:xfrm>
      </p:grpSpPr>
      <p:sp>
        <p:nvSpPr>
          <p:cNvPr id="1539" name="Google Shape;1539;g29390690dd2_0_179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0" name="Google Shape;1540;g29390690dd2_0_179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48" name="Shape 1548"/>
        <p:cNvGrpSpPr/>
        <p:nvPr/>
      </p:nvGrpSpPr>
      <p:grpSpPr>
        <a:xfrm>
          <a:off x="0" y="0"/>
          <a:ext cx="0" cy="0"/>
        </a:xfrm>
      </p:grpSpPr>
      <p:sp>
        <p:nvSpPr>
          <p:cNvPr id="1549" name="Google Shape;1549;g29390690dd2_0_177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0" name="Google Shape;1550;g29390690dd2_0_177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82" name="Shape 1582"/>
        <p:cNvGrpSpPr/>
        <p:nvPr/>
      </p:nvGrpSpPr>
      <p:grpSpPr>
        <a:xfrm>
          <a:off x="0" y="0"/>
          <a:ext cx="0" cy="0"/>
        </a:xfrm>
      </p:grpSpPr>
      <p:sp>
        <p:nvSpPr>
          <p:cNvPr id="1583" name="Google Shape;1583;g29402fc6623_0_32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4" name="Google Shape;1584;g29402fc6623_0_3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20" name="Shape 1620"/>
        <p:cNvGrpSpPr/>
        <p:nvPr/>
      </p:nvGrpSpPr>
      <p:grpSpPr>
        <a:xfrm>
          <a:off x="0" y="0"/>
          <a:ext cx="0" cy="0"/>
        </a:xfrm>
      </p:grpSpPr>
      <p:sp>
        <p:nvSpPr>
          <p:cNvPr id="1621" name="Google Shape;1621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2" name="Google Shape;1622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26" name="Shape 1626"/>
        <p:cNvGrpSpPr/>
        <p:nvPr/>
      </p:nvGrpSpPr>
      <p:grpSpPr>
        <a:xfrm>
          <a:off x="0" y="0"/>
          <a:ext cx="0" cy="0"/>
        </a:xfrm>
      </p:grpSpPr>
      <p:sp>
        <p:nvSpPr>
          <p:cNvPr id="1627" name="Google Shape;1627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8" name="Google Shape;1628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type="subTitle" idx="1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type="subTitle" idx="2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type="subTitle" idx="3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type="subTitle" idx="4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type="subTitle" idx="2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type="subTitle" idx="3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type="subTitle" idx="4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type="subTitle" idx="1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type="subTitle" idx="2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type="subTitle" idx="3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type="subTitle" idx="4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type="subTitle" idx="5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type="subTitle" idx="1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type="subTitle" idx="2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type="subTitle" idx="3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type="subTitle" idx="4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5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</a:xfrm>
      </p:grpSpPr>
      <p:pic>
        <p:nvPicPr>
          <p:cNvPr id="169" name="Google Shape;169;p20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pic>
        <p:nvPicPr>
          <p:cNvPr id="187" name="Google Shape;187;p21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1" name="Google Shape;21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pic>
        <p:nvPicPr>
          <p:cNvPr id="216" name="Google Shape;21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8" name="Google Shape;21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pic>
        <p:nvPicPr>
          <p:cNvPr id="223" name="Google Shape;223;p2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5" name="Google Shape;225;p2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</a:xfrm>
      </p:grpSpPr>
      <p:pic>
        <p:nvPicPr>
          <p:cNvPr id="230" name="Google Shape;230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2" name="Google Shape;232;p2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0" name="Google Shape;240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3" name="Google Shape;253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6" name="Google Shape;266;p2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9" name="Google Shape;279;p29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</a:xfrm>
      </p:grpSpPr>
      <p:pic>
        <p:nvPicPr>
          <p:cNvPr id="312" name="Google Shape;312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</a:xfrm>
      </p:grpSpPr>
      <p:pic>
        <p:nvPicPr>
          <p:cNvPr id="335" name="Google Shape;335;p3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</a:xfrm>
      </p:grpSpPr>
      <p:pic>
        <p:nvPicPr>
          <p:cNvPr id="358" name="Google Shape;358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</a:xfrm>
      </p:grpSpPr>
      <p:pic>
        <p:nvPicPr>
          <p:cNvPr id="400" name="Google Shape;400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</a:xfrm>
      </p:grpSpPr>
      <p:pic>
        <p:nvPicPr>
          <p:cNvPr id="419" name="Google Shape;419;p3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</a:xfrm>
      </p:grpSpPr>
      <p:pic>
        <p:nvPicPr>
          <p:cNvPr id="438" name="Google Shape;438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</a:xfrm>
      </p:grpSpPr>
      <p:pic>
        <p:nvPicPr>
          <p:cNvPr id="480" name="Google Shape;480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</a:xfrm>
      </p:grpSpPr>
      <p:pic>
        <p:nvPicPr>
          <p:cNvPr id="503" name="Google Shape;503;p4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</a:xfrm>
      </p:grpSpPr>
      <p:pic>
        <p:nvPicPr>
          <p:cNvPr id="526" name="Google Shape;526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6" name="Google Shape;556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7" name="Google Shape;557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</a:xfrm>
      </p:grpSpPr>
      <p:pic>
        <p:nvPicPr>
          <p:cNvPr id="568" name="Google Shape;568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5" name="Google Shape;575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6" name="Google Shape;576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</a:xfrm>
      </p:grpSpPr>
      <p:pic>
        <p:nvPicPr>
          <p:cNvPr id="587" name="Google Shape;587;p4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4" name="Google Shape;594;p4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5" name="Google Shape;595;p4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</a:xfrm>
      </p:grpSpPr>
      <p:pic>
        <p:nvPicPr>
          <p:cNvPr id="606" name="Google Shape;606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3" name="Google Shape;613;p45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4" name="Google Shape;614;p45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7" name="Google Shape;62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</a:xfrm>
      </p:grpSpPr>
      <p:pic>
        <p:nvPicPr>
          <p:cNvPr id="632" name="Google Shape;63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4" name="Google Shape;63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</a:xfrm>
      </p:grpSpPr>
      <p:pic>
        <p:nvPicPr>
          <p:cNvPr id="639" name="Google Shape;639;p4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1" name="Google Shape;64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</a:xfrm>
      </p:grpSpPr>
      <p:pic>
        <p:nvPicPr>
          <p:cNvPr id="646" name="Google Shape;646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8" name="Google Shape;648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5" name="Google Shape;655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</a:xfrm>
      </p:grpSpPr>
      <p:pic>
        <p:nvPicPr>
          <p:cNvPr id="661" name="Google Shape;661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3" name="Google Shape;663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</a:xfrm>
      </p:grpSpPr>
      <p:pic>
        <p:nvPicPr>
          <p:cNvPr id="669" name="Google Shape;669;p5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1" name="Google Shape;671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</a:xfrm>
      </p:grpSpPr>
      <p:pic>
        <p:nvPicPr>
          <p:cNvPr id="677" name="Google Shape;677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9" name="Google Shape;679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7" name="Google Shape;687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</a:xfrm>
      </p:grpSpPr>
      <p:pic>
        <p:nvPicPr>
          <p:cNvPr id="693" name="Google Shape;693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5" name="Google Shape;695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</a:xfrm>
      </p:grpSpPr>
      <p:pic>
        <p:nvPicPr>
          <p:cNvPr id="701" name="Google Shape;701;p5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3" name="Google Shape;703;p5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</a:xfrm>
      </p:grpSpPr>
      <p:pic>
        <p:nvPicPr>
          <p:cNvPr id="709" name="Google Shape;709;p5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1" name="Google Shape;711;p5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slideLayout" Target="../slideLayouts/slideLayout62.xml" /><Relationship Id="rId63" Type="http://schemas.openxmlformats.org/officeDocument/2006/relationships/image" Target="../media/image42.png" /><Relationship Id="rId64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43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5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4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45.png" /><Relationship Id="rId4" Type="http://schemas.openxmlformats.org/officeDocument/2006/relationships/image" Target="../media/image46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6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45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47.png" /><Relationship Id="rId4" Type="http://schemas.openxmlformats.org/officeDocument/2006/relationships/image" Target="../media/image46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47.png" /><Relationship Id="rId4" Type="http://schemas.openxmlformats.org/officeDocument/2006/relationships/image" Target="../media/image46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48.png" /><Relationship Id="rId4" Type="http://schemas.openxmlformats.org/officeDocument/2006/relationships/image" Target="../media/image45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46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45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49.png" /><Relationship Id="rId4" Type="http://schemas.openxmlformats.org/officeDocument/2006/relationships/image" Target="../media/image50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5.xml" /><Relationship Id="rId2" Type="http://schemas.openxmlformats.org/officeDocument/2006/relationships/notesSlide" Target="../notesSlides/notesSlide16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1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51.png" /><Relationship Id="rId4" Type="http://schemas.openxmlformats.org/officeDocument/2006/relationships/image" Target="../media/image52.png" /><Relationship Id="rId5" Type="http://schemas.openxmlformats.org/officeDocument/2006/relationships/image" Target="../media/image53.png" /><Relationship Id="rId6" Type="http://schemas.openxmlformats.org/officeDocument/2006/relationships/image" Target="../media/image54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5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55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5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51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56.png" /><Relationship Id="rId4" Type="http://schemas.openxmlformats.org/officeDocument/2006/relationships/image" Target="../media/image57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58.png" /><Relationship Id="rId4" Type="http://schemas.openxmlformats.org/officeDocument/2006/relationships/image" Target="../media/image59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60.png" /><Relationship Id="rId4" Type="http://schemas.openxmlformats.org/officeDocument/2006/relationships/image" Target="../media/image61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62.png" /><Relationship Id="rId4" Type="http://schemas.openxmlformats.org/officeDocument/2006/relationships/image" Target="../media/image63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64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65.png" /><Relationship Id="rId4" Type="http://schemas.openxmlformats.org/officeDocument/2006/relationships/image" Target="../media/image66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67.png" /><Relationship Id="rId4" Type="http://schemas.openxmlformats.org/officeDocument/2006/relationships/image" Target="../media/image68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9.xml" /><Relationship Id="rId2" Type="http://schemas.openxmlformats.org/officeDocument/2006/relationships/notesSlide" Target="../notesSlides/notesSlide27.xml" /><Relationship Id="rId3" Type="http://schemas.openxmlformats.org/officeDocument/2006/relationships/image" Target="../media/image54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5.xml" /><Relationship Id="rId2" Type="http://schemas.openxmlformats.org/officeDocument/2006/relationships/notesSlide" Target="../notesSlides/notesSlide28.xml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5.xml" /><Relationship Id="rId2" Type="http://schemas.openxmlformats.org/officeDocument/2006/relationships/notesSlide" Target="../notesSlides/notesSlide29.xml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69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31.xml" /><Relationship Id="rId3" Type="http://schemas.openxmlformats.org/officeDocument/2006/relationships/image" Target="../media/image70.png" /><Relationship Id="rId4" Type="http://schemas.openxmlformats.org/officeDocument/2006/relationships/image" Target="../media/image71.png" /><Relationship Id="rId5" Type="http://schemas.openxmlformats.org/officeDocument/2006/relationships/image" Target="../media/image72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32.xml" /><Relationship Id="rId3" Type="http://schemas.openxmlformats.org/officeDocument/2006/relationships/image" Target="../media/image69.png" /><Relationship Id="rId4" Type="http://schemas.openxmlformats.org/officeDocument/2006/relationships/image" Target="../media/image54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33.xml" /><Relationship Id="rId3" Type="http://schemas.openxmlformats.org/officeDocument/2006/relationships/image" Target="../media/image70.png" /><Relationship Id="rId4" Type="http://schemas.openxmlformats.org/officeDocument/2006/relationships/image" Target="../media/image71.png" /><Relationship Id="rId5" Type="http://schemas.openxmlformats.org/officeDocument/2006/relationships/image" Target="../media/image72.pn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34.xml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35.xml" /><Relationship Id="rId3" Type="http://schemas.openxmlformats.org/officeDocument/2006/relationships/image" Target="../media/image44.png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6.xml" /><Relationship Id="rId3" Type="http://schemas.openxmlformats.org/officeDocument/2006/relationships/image" Target="../media/image73.png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7.xml" /><Relationship Id="rId3" Type="http://schemas.openxmlformats.org/officeDocument/2006/relationships/image" Target="../media/image74.png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8.xml" /><Relationship Id="rId3" Type="http://schemas.openxmlformats.org/officeDocument/2006/relationships/image" Target="../media/image47.png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9.xml" /><Relationship Id="rId3" Type="http://schemas.openxmlformats.org/officeDocument/2006/relationships/image" Target="../media/image75.png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2.xml" /><Relationship Id="rId2" Type="http://schemas.openxmlformats.org/officeDocument/2006/relationships/notesSlide" Target="../notesSlides/notesSlide40.xml" /><Relationship Id="rId3" Type="http://schemas.openxmlformats.org/officeDocument/2006/relationships/image" Target="../media/image76.png" /><Relationship Id="rId4" Type="http://schemas.openxmlformats.org/officeDocument/2006/relationships/image" Target="../media/image77.png" /><Relationship Id="rId5" Type="http://schemas.openxmlformats.org/officeDocument/2006/relationships/image" Target="../media/image52.png" /><Relationship Id="rId6" Type="http://schemas.openxmlformats.org/officeDocument/2006/relationships/image" Target="../media/image54.png" /></Relationships>
</file>

<file path=ppt/slides/_rels/slide4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2.xml" /><Relationship Id="rId2" Type="http://schemas.openxmlformats.org/officeDocument/2006/relationships/notesSlide" Target="../notesSlides/notesSlide41.xml" /><Relationship Id="rId3" Type="http://schemas.openxmlformats.org/officeDocument/2006/relationships/image" Target="../media/image76.png" /><Relationship Id="rId4" Type="http://schemas.openxmlformats.org/officeDocument/2006/relationships/image" Target="../media/image77.png" /><Relationship Id="rId5" Type="http://schemas.openxmlformats.org/officeDocument/2006/relationships/image" Target="../media/image52.png" /><Relationship Id="rId6" Type="http://schemas.openxmlformats.org/officeDocument/2006/relationships/image" Target="../media/image54.png" /></Relationships>
</file>

<file path=ppt/slides/_rels/slide4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42.xml" /><Relationship Id="rId3" Type="http://schemas.openxmlformats.org/officeDocument/2006/relationships/image" Target="../media/image78.png" /><Relationship Id="rId4" Type="http://schemas.openxmlformats.org/officeDocument/2006/relationships/image" Target="../media/image79.png" /><Relationship Id="rId5" Type="http://schemas.openxmlformats.org/officeDocument/2006/relationships/image" Target="../media/image80.png" /></Relationships>
</file>

<file path=ppt/slides/_rels/slide4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43.xml" /><Relationship Id="rId3" Type="http://schemas.openxmlformats.org/officeDocument/2006/relationships/image" Target="../media/image79.png" /><Relationship Id="rId4" Type="http://schemas.openxmlformats.org/officeDocument/2006/relationships/image" Target="../media/image78.png" /><Relationship Id="rId5" Type="http://schemas.openxmlformats.org/officeDocument/2006/relationships/image" Target="../media/image80.png" /></Relationships>
</file>

<file path=ppt/slides/_rels/slide4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7.xml" /><Relationship Id="rId2" Type="http://schemas.openxmlformats.org/officeDocument/2006/relationships/notesSlide" Target="../notesSlides/notesSlide44.xml" /></Relationships>
</file>

<file path=ppt/slides/_rels/slide4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45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81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49" name="Shape 749"/>
        <p:cNvGrpSpPr/>
        <p:nvPr/>
      </p:nvGrpSpPr>
      <p:grpSpPr>
        <a:xfrm>
          <a:off x="0" y="0"/>
          <a: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Correlation</a:t>
            </a:r>
            <a:endParaRPr/>
          </a:p>
        </p:txBody>
      </p:sp>
      <p:sp>
        <p:nvSpPr>
          <p:cNvPr id="751" name="Google Shape;751;p64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Numerical summaries of data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5" name="Shape 755"/>
        <p:cNvGrpSpPr/>
        <p:nvPr/>
      </p:nvGrpSpPr>
      <p:grpSpPr>
        <a:xfrm>
          <a:off x="0" y="0"/>
          <a: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0" name="Shape 760"/>
        <p:cNvGrpSpPr/>
        <p:nvPr/>
      </p:nvGrpSpPr>
      <p:grpSpPr>
        <a:xfrm>
          <a:off x="0" y="0"/>
          <a:ext cx="0" cy="0"/>
        </a:xfrm>
      </p:grpSpPr>
      <p:sp>
        <p:nvSpPr>
          <p:cNvPr id="761" name="Google Shape;761;p66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recognise relationships between bivariate data represented on a scatter graph.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5" name="Shape 765"/>
        <p:cNvGrpSpPr/>
        <p:nvPr/>
      </p:nvGrpSpPr>
      <p:grpSpPr>
        <a:xfrm>
          <a:off x="0" y="0"/>
          <a:ext cx="0" cy="0"/>
        </a:xfrm>
      </p:grpSpPr>
      <p:sp>
        <p:nvSpPr>
          <p:cNvPr id="766" name="Google Shape;766;p67"/>
          <p:cNvSpPr txBox="1"/>
          <p:nvPr>
            <p:ph type="subTitle" idx="1"/>
          </p:nvPr>
        </p:nvSpPr>
        <p:spPr>
          <a:xfrm>
            <a:off x="324000" y="993650"/>
            <a:ext cx="6914700" cy="92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0">
                <a:solidFill>
                  <a:schemeClr val="dk1"/>
                </a:solidFill>
              </a:rPr>
              <a:t>A scatter graph is a visual representation for bivariate data. It can be useful when determining the nature of the relationship between the two variables. </a:t>
            </a:r>
            <a:r>
              <a:rPr lang="en-GB" sz="2000" b="0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endParaRPr sz="2000"/>
          </a:p>
        </p:txBody>
      </p:sp>
      <p:sp>
        <p:nvSpPr>
          <p:cNvPr id="767" name="Google Shape;767;p67"/>
          <p:cNvSpPr txBox="1"/>
          <p:nvPr>
            <p:ph type="subTitle" idx="2"/>
          </p:nvPr>
        </p:nvSpPr>
        <p:spPr>
          <a:xfrm>
            <a:off x="324000" y="2245272"/>
            <a:ext cx="7215900" cy="76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b="0">
                <a:solidFill>
                  <a:schemeClr val="dk1"/>
                </a:solidFill>
              </a:rPr>
              <a:t>The relationship between two variables is linear when they change together at a constant rate.</a:t>
            </a:r>
            <a:endParaRPr sz="2000" b="0">
              <a:solidFill>
                <a:schemeClr val="dk1"/>
              </a:solidFill>
            </a:endParaRPr>
          </a:p>
        </p:txBody>
      </p:sp>
      <p:pic>
        <p:nvPicPr>
          <p:cNvPr id="768" name="Google Shape;768;p67" descr="wapuadapuI "/>
          <p:cNvPicPr preferRelativeResize="0"/>
          <p:nvPr/>
        </p:nvPicPr>
        <p:blipFill>
          <a:blip r:embed="rId3">
            <a:alphaModFix/>
          </a:blip>
          <a:srcRect t="6040" b="-6040"/>
          <a:stretch>
            <a:fillRect/>
          </a:stretch>
        </p:blipFill>
        <p:spPr>
          <a:xfrm>
            <a:off x="7285825" y="982250"/>
            <a:ext cx="1221206" cy="127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2" name="Shape 772"/>
        <p:cNvGrpSpPr/>
        <p:nvPr/>
      </p:nvGrpSpPr>
      <p:grpSpPr>
        <a:xfrm>
          <a:off x="0" y="0"/>
          <a:ext cx="0" cy="0"/>
        </a:xfrm>
      </p:grpSpPr>
      <p:sp>
        <p:nvSpPr>
          <p:cNvPr id="773" name="Google Shape;773;p68"/>
          <p:cNvSpPr txBox="1"/>
          <p:nvPr>
            <p:ph type="subTitle" idx="1"/>
          </p:nvPr>
        </p:nvSpPr>
        <p:spPr>
          <a:xfrm>
            <a:off x="324001" y="993650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dk1"/>
                </a:solidFill>
              </a:rPr>
              <a:t>Correlation</a:t>
            </a:r>
            <a:r>
              <a:rPr lang="en-GB" b="0">
                <a:solidFill>
                  <a:schemeClr val="dk1"/>
                </a:solidFill>
              </a:rPr>
              <a:t> describes the extent to which the relationship is close to a linear relationship.</a:t>
            </a:r>
            <a:endParaRPr/>
          </a:p>
        </p:txBody>
      </p:sp>
      <p:sp>
        <p:nvSpPr>
          <p:cNvPr id="774" name="Google Shape;774;p68"/>
          <p:cNvSpPr txBox="1"/>
          <p:nvPr>
            <p:ph type="subTitle" idx="2"/>
          </p:nvPr>
        </p:nvSpPr>
        <p:spPr>
          <a:xfrm>
            <a:off x="324000" y="2238725"/>
            <a:ext cx="8496000" cy="112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Correlation</a:t>
            </a:r>
            <a:r>
              <a:rPr lang="en-GB" b="0">
                <a:solidFill>
                  <a:schemeClr val="dk1"/>
                </a:solidFill>
                <a:highlight>
                  <a:srgbClr val="FFFFFF"/>
                </a:highlight>
              </a:rPr>
              <a:t> may be </a:t>
            </a: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positive</a:t>
            </a:r>
            <a:r>
              <a:rPr lang="en-GB" b="0">
                <a:solidFill>
                  <a:schemeClr val="dk1"/>
                </a:solidFill>
                <a:highlight>
                  <a:srgbClr val="FFFFFF"/>
                </a:highlight>
              </a:rPr>
              <a:t> or </a:t>
            </a: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negative</a:t>
            </a:r>
            <a:r>
              <a:rPr lang="en-GB" b="0">
                <a:solidFill>
                  <a:schemeClr val="dk1"/>
                </a:solidFill>
                <a:highlight>
                  <a:srgbClr val="FFFFFF"/>
                </a:highlight>
              </a:rPr>
              <a:t>, depending on whether one variable generally increases as another increases or whether it decreases. </a:t>
            </a:r>
            <a:endParaRPr/>
          </a:p>
        </p:txBody>
      </p:sp>
    </p:spTree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8" name="Shape 778"/>
        <p:cNvGrpSpPr/>
        <p:nvPr/>
      </p:nvGrpSpPr>
      <p:grpSpPr>
        <a:xfrm>
          <a:off x="0" y="0"/>
          <a:ext cx="0" cy="0"/>
        </a:xfrm>
      </p:grpSpPr>
      <p:sp>
        <p:nvSpPr>
          <p:cNvPr id="779" name="Google Shape;779;p6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Recognising correlation in bivariate data</a:t>
            </a:r>
            <a:endParaRPr/>
          </a:p>
        </p:txBody>
      </p:sp>
      <p:sp>
        <p:nvSpPr>
          <p:cNvPr id="780" name="Google Shape;780;p69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Interpreting bivariate data without correlation</a:t>
            </a:r>
            <a:endParaRPr/>
          </a:p>
        </p:txBody>
      </p:sp>
      <p:sp>
        <p:nvSpPr>
          <p:cNvPr id="781" name="Google Shape;781;p6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Correlation</a:t>
            </a:r>
            <a:endParaRPr/>
          </a:p>
        </p:txBody>
      </p:sp>
      <p:pic>
        <p:nvPicPr>
          <p:cNvPr id="782" name="Google Shape;782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35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6" name="Shape 786"/>
        <p:cNvGrpSpPr/>
        <p:nvPr/>
      </p:nvGrpSpPr>
      <p:grpSpPr>
        <a:xfrm>
          <a:off x="0" y="0"/>
          <a:ext cx="0" cy="0"/>
        </a:xfrm>
      </p:grpSpPr>
      <p:pic>
        <p:nvPicPr>
          <p:cNvPr id="787" name="Google Shape;787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5593975" y="2375100"/>
            <a:ext cx="2101299" cy="174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8" name="Google Shape;788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4325" y="2188807"/>
            <a:ext cx="2000101" cy="2112683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70"/>
          <p:cNvSpPr txBox="1"/>
          <p:nvPr>
            <p:ph type="body" idx="1"/>
          </p:nvPr>
        </p:nvSpPr>
        <p:spPr>
          <a:xfrm>
            <a:off x="324000" y="759300"/>
            <a:ext cx="8237700" cy="34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Here are two scatter graphs, where their points appear to form a shape.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790" name="Google Shape;790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Recognising correlation in bivariate data</a:t>
            </a:r>
            <a:endParaRPr/>
          </a:p>
        </p:txBody>
      </p:sp>
      <p:sp>
        <p:nvSpPr>
          <p:cNvPr id="791" name="Google Shape;791;p70"/>
          <p:cNvSpPr txBox="1"/>
          <p:nvPr>
            <p:ph type="body" idx="1"/>
          </p:nvPr>
        </p:nvSpPr>
        <p:spPr>
          <a:xfrm>
            <a:off x="324000" y="1225548"/>
            <a:ext cx="8237700" cy="34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How do the shapes of the points differ between the graphs?</a:t>
            </a:r>
            <a:endParaRPr/>
          </a:p>
        </p:txBody>
      </p:sp>
      <p:grpSp>
        <p:nvGrpSpPr>
          <p:cNvPr id="792" name="Google Shape;792;p70"/>
          <p:cNvGrpSpPr/>
          <p:nvPr/>
        </p:nvGrpSpPr>
        <p:grpSpPr>
          <a:xfrm>
            <a:off x="1049662" y="2052715"/>
            <a:ext cx="2201344" cy="2255072"/>
            <a:chOff x="2015104" y="1439649"/>
            <a:chExt cx="3902400" cy="2982900"/>
          </a:xfrm>
        </p:grpSpPr>
        <p:cxnSp>
          <p:nvCxnSpPr>
            <p:cNvPr id="793" name="Google Shape;793;p70"/>
            <p:cNvCxnSpPr/>
            <p:nvPr/>
          </p:nvCxnSpPr>
          <p:spPr>
            <a:xfrm rot="10800000" flipH="1">
              <a:off x="2021739" y="1439649"/>
              <a:ext cx="0" cy="2982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94" name="Google Shape;794;p70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795" name="Google Shape;795;p70"/>
          <p:cNvSpPr txBox="1"/>
          <p:nvPr>
            <p:ph type="body" idx="1"/>
          </p:nvPr>
        </p:nvSpPr>
        <p:spPr>
          <a:xfrm>
            <a:off x="6312000" y="1785075"/>
            <a:ext cx="24924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downward sloping line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796" name="Google Shape;796;p70"/>
          <p:cNvSpPr txBox="1"/>
          <p:nvPr>
            <p:ph type="body" idx="1"/>
          </p:nvPr>
        </p:nvSpPr>
        <p:spPr>
          <a:xfrm>
            <a:off x="2128225" y="1785075"/>
            <a:ext cx="23574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upward sloping line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797" name="Google Shape;797;p70"/>
          <p:cNvCxnSpPr/>
          <p:nvPr/>
        </p:nvCxnSpPr>
        <p:spPr>
          <a:xfrm flipH="1">
            <a:off x="2307400" y="2119650"/>
            <a:ext cx="107400" cy="435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8" name="Google Shape;798;p70"/>
          <p:cNvSpPr txBox="1"/>
          <p:nvPr/>
        </p:nvSpPr>
        <p:spPr>
          <a:xfrm rot="-5400000">
            <a:off x="-616950" y="3080027"/>
            <a:ext cx="2151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dependent variable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9" name="Google Shape;799;p70"/>
          <p:cNvSpPr txBox="1"/>
          <p:nvPr/>
        </p:nvSpPr>
        <p:spPr>
          <a:xfrm>
            <a:off x="927217" y="4469959"/>
            <a:ext cx="2312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independent variable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70"/>
          <p:cNvSpPr txBox="1"/>
          <p:nvPr/>
        </p:nvSpPr>
        <p:spPr>
          <a:xfrm>
            <a:off x="814093" y="4065104"/>
            <a:ext cx="303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70"/>
          <p:cNvSpPr txBox="1"/>
          <p:nvPr/>
        </p:nvSpPr>
        <p:spPr>
          <a:xfrm>
            <a:off x="655850" y="3734082"/>
            <a:ext cx="465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2" name="Google Shape;802;p70"/>
          <p:cNvSpPr txBox="1"/>
          <p:nvPr/>
        </p:nvSpPr>
        <p:spPr>
          <a:xfrm>
            <a:off x="566450" y="3382428"/>
            <a:ext cx="555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3" name="Google Shape;803;p70"/>
          <p:cNvSpPr txBox="1"/>
          <p:nvPr/>
        </p:nvSpPr>
        <p:spPr>
          <a:xfrm>
            <a:off x="572378" y="3037041"/>
            <a:ext cx="555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150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4" name="Google Shape;804;p70"/>
          <p:cNvSpPr txBox="1"/>
          <p:nvPr/>
        </p:nvSpPr>
        <p:spPr>
          <a:xfrm>
            <a:off x="572378" y="2674779"/>
            <a:ext cx="555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5" name="Google Shape;805;p70"/>
          <p:cNvSpPr txBox="1"/>
          <p:nvPr/>
        </p:nvSpPr>
        <p:spPr>
          <a:xfrm>
            <a:off x="572378" y="2326570"/>
            <a:ext cx="555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250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70"/>
          <p:cNvSpPr txBox="1"/>
          <p:nvPr/>
        </p:nvSpPr>
        <p:spPr>
          <a:xfrm>
            <a:off x="1241312" y="4188166"/>
            <a:ext cx="43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p70"/>
          <p:cNvSpPr txBox="1"/>
          <p:nvPr/>
        </p:nvSpPr>
        <p:spPr>
          <a:xfrm>
            <a:off x="1640536" y="4186127"/>
            <a:ext cx="43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8" name="Google Shape;808;p70"/>
          <p:cNvSpPr txBox="1"/>
          <p:nvPr/>
        </p:nvSpPr>
        <p:spPr>
          <a:xfrm>
            <a:off x="2035589" y="4186127"/>
            <a:ext cx="43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9" name="Google Shape;809;p70"/>
          <p:cNvSpPr txBox="1"/>
          <p:nvPr/>
        </p:nvSpPr>
        <p:spPr>
          <a:xfrm>
            <a:off x="2416794" y="4186118"/>
            <a:ext cx="465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0" name="Google Shape;810;p70"/>
          <p:cNvSpPr txBox="1"/>
          <p:nvPr/>
        </p:nvSpPr>
        <p:spPr>
          <a:xfrm>
            <a:off x="904300" y="4189489"/>
            <a:ext cx="303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11" name="Google Shape;811;p70"/>
          <p:cNvGrpSpPr/>
          <p:nvPr/>
        </p:nvGrpSpPr>
        <p:grpSpPr>
          <a:xfrm>
            <a:off x="5765612" y="2054218"/>
            <a:ext cx="2201344" cy="2255072"/>
            <a:chOff x="2015104" y="1439649"/>
            <a:chExt cx="3902400" cy="2982900"/>
          </a:xfrm>
        </p:grpSpPr>
        <p:cxnSp>
          <p:nvCxnSpPr>
            <p:cNvPr id="812" name="Google Shape;812;p70"/>
            <p:cNvCxnSpPr/>
            <p:nvPr/>
          </p:nvCxnSpPr>
          <p:spPr>
            <a:xfrm rot="10800000" flipH="1">
              <a:off x="2021739" y="1439649"/>
              <a:ext cx="0" cy="2982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13" name="Google Shape;813;p70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814" name="Google Shape;814;p70"/>
          <p:cNvSpPr txBox="1"/>
          <p:nvPr/>
        </p:nvSpPr>
        <p:spPr>
          <a:xfrm rot="-5400000">
            <a:off x="4099000" y="3081530"/>
            <a:ext cx="2151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dependent variable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5" name="Google Shape;815;p70"/>
          <p:cNvSpPr txBox="1"/>
          <p:nvPr/>
        </p:nvSpPr>
        <p:spPr>
          <a:xfrm>
            <a:off x="5643167" y="4471462"/>
            <a:ext cx="2312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independent variable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6" name="Google Shape;816;p70"/>
          <p:cNvSpPr txBox="1"/>
          <p:nvPr/>
        </p:nvSpPr>
        <p:spPr>
          <a:xfrm>
            <a:off x="5530043" y="4066607"/>
            <a:ext cx="303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7" name="Google Shape;817;p70"/>
          <p:cNvSpPr txBox="1"/>
          <p:nvPr/>
        </p:nvSpPr>
        <p:spPr>
          <a:xfrm>
            <a:off x="5371800" y="3654934"/>
            <a:ext cx="465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8" name="Google Shape;818;p70"/>
          <p:cNvSpPr txBox="1"/>
          <p:nvPr/>
        </p:nvSpPr>
        <p:spPr>
          <a:xfrm>
            <a:off x="5282400" y="3238208"/>
            <a:ext cx="555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70"/>
          <p:cNvSpPr txBox="1"/>
          <p:nvPr/>
        </p:nvSpPr>
        <p:spPr>
          <a:xfrm>
            <a:off x="5288328" y="2821071"/>
            <a:ext cx="555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150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0" name="Google Shape;820;p70"/>
          <p:cNvSpPr txBox="1"/>
          <p:nvPr/>
        </p:nvSpPr>
        <p:spPr>
          <a:xfrm>
            <a:off x="5288328" y="2402638"/>
            <a:ext cx="555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70"/>
          <p:cNvSpPr txBox="1"/>
          <p:nvPr/>
        </p:nvSpPr>
        <p:spPr>
          <a:xfrm>
            <a:off x="5999546" y="4189669"/>
            <a:ext cx="43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0"/>
          <p:cNvSpPr txBox="1"/>
          <p:nvPr/>
        </p:nvSpPr>
        <p:spPr>
          <a:xfrm>
            <a:off x="6430461" y="4187630"/>
            <a:ext cx="43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0"/>
          <p:cNvSpPr txBox="1"/>
          <p:nvPr/>
        </p:nvSpPr>
        <p:spPr>
          <a:xfrm>
            <a:off x="6859430" y="4187630"/>
            <a:ext cx="43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0"/>
          <p:cNvSpPr txBox="1"/>
          <p:nvPr/>
        </p:nvSpPr>
        <p:spPr>
          <a:xfrm>
            <a:off x="7274017" y="4187621"/>
            <a:ext cx="465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0"/>
          <p:cNvSpPr txBox="1"/>
          <p:nvPr/>
        </p:nvSpPr>
        <p:spPr>
          <a:xfrm>
            <a:off x="5620250" y="4190992"/>
            <a:ext cx="303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26" name="Google Shape;826;p70"/>
          <p:cNvCxnSpPr/>
          <p:nvPr/>
        </p:nvCxnSpPr>
        <p:spPr>
          <a:xfrm flipH="1">
            <a:off x="6685675" y="2119650"/>
            <a:ext cx="107400" cy="435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7" name="Google Shape;827;p70"/>
          <p:cNvCxnSpPr/>
          <p:nvPr/>
        </p:nvCxnSpPr>
        <p:spPr>
          <a:xfrm flipH="1">
            <a:off x="1241300" y="2420935"/>
            <a:ext cx="1536300" cy="11673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8" name="Google Shape;828;p70"/>
          <p:cNvCxnSpPr/>
          <p:nvPr/>
        </p:nvCxnSpPr>
        <p:spPr>
          <a:xfrm flipH="1">
            <a:off x="1413250" y="2656350"/>
            <a:ext cx="1536300" cy="11673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9" name="Google Shape;829;p70"/>
          <p:cNvCxnSpPr/>
          <p:nvPr/>
        </p:nvCxnSpPr>
        <p:spPr>
          <a:xfrm rot="10800000">
            <a:off x="5956395" y="2582470"/>
            <a:ext cx="1260600" cy="16080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0" name="Google Shape;830;p70"/>
          <p:cNvCxnSpPr/>
          <p:nvPr/>
        </p:nvCxnSpPr>
        <p:spPr>
          <a:xfrm rot="10800000">
            <a:off x="6189343" y="2392212"/>
            <a:ext cx="1260600" cy="16080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34" name="Shape 834"/>
        <p:cNvGrpSpPr/>
        <p:nvPr/>
      </p:nvGrpSpPr>
      <p:grpSpPr>
        <a:xfrm>
          <a:off x="0" y="0"/>
          <a:ext cx="0" cy="0"/>
        </a:xfrm>
      </p:grpSpPr>
      <p:sp>
        <p:nvSpPr>
          <p:cNvPr id="835" name="Google Shape;835;p71"/>
          <p:cNvSpPr txBox="1"/>
          <p:nvPr>
            <p:ph type="body" idx="1"/>
          </p:nvPr>
        </p:nvSpPr>
        <p:spPr>
          <a:xfrm>
            <a:off x="324000" y="759300"/>
            <a:ext cx="8496000" cy="7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When the points in a scatter graph appear to form shape or pattern, it can suggest that there may be an association between the two variables.</a:t>
            </a:r>
            <a:endParaRPr/>
          </a:p>
        </p:txBody>
      </p:sp>
      <p:sp>
        <p:nvSpPr>
          <p:cNvPr id="836" name="Google Shape;836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Recognising correlation in bivariate data</a:t>
            </a:r>
            <a:endParaRPr/>
          </a:p>
        </p:txBody>
      </p:sp>
      <p:sp>
        <p:nvSpPr>
          <p:cNvPr id="837" name="Google Shape;837;p71"/>
          <p:cNvSpPr txBox="1"/>
          <p:nvPr>
            <p:ph type="body" idx="1"/>
          </p:nvPr>
        </p:nvSpPr>
        <p:spPr>
          <a:xfrm>
            <a:off x="3928825" y="1811700"/>
            <a:ext cx="4661400" cy="7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As the independent variable </a:t>
            </a:r>
            <a:r>
              <a:rPr lang="en-GB" sz="1800">
                <a:solidFill>
                  <a:schemeClr val="accent4"/>
                </a:solidFill>
              </a:rPr>
              <a:t>increases</a:t>
            </a:r>
            <a:r>
              <a:rPr lang="en-GB" sz="1800"/>
              <a:t>, the dependent variable also </a:t>
            </a:r>
            <a:r>
              <a:rPr lang="en-GB" sz="1800">
                <a:solidFill>
                  <a:schemeClr val="accent4"/>
                </a:solidFill>
              </a:rPr>
              <a:t>increases</a:t>
            </a:r>
            <a:r>
              <a:rPr lang="en-GB" sz="1800"/>
              <a:t>.</a:t>
            </a:r>
            <a:endParaRPr/>
          </a:p>
        </p:txBody>
      </p:sp>
      <p:pic>
        <p:nvPicPr>
          <p:cNvPr id="838" name="Google Shape;838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689" y="1773887"/>
            <a:ext cx="2380094" cy="25140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9" name="Google Shape;839;p71"/>
          <p:cNvGrpSpPr/>
          <p:nvPr/>
        </p:nvGrpSpPr>
        <p:grpSpPr>
          <a:xfrm>
            <a:off x="1298197" y="1611899"/>
            <a:ext cx="2619681" cy="2683417"/>
            <a:chOff x="2015104" y="1439649"/>
            <a:chExt cx="3902400" cy="2982900"/>
          </a:xfrm>
        </p:grpSpPr>
        <p:cxnSp>
          <p:nvCxnSpPr>
            <p:cNvPr id="840" name="Google Shape;840;p71"/>
            <p:cNvCxnSpPr/>
            <p:nvPr/>
          </p:nvCxnSpPr>
          <p:spPr>
            <a:xfrm rot="10800000" flipH="1">
              <a:off x="2021739" y="1439649"/>
              <a:ext cx="0" cy="2982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41" name="Google Shape;841;p71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842" name="Google Shape;842;p71"/>
          <p:cNvSpPr txBox="1"/>
          <p:nvPr/>
        </p:nvSpPr>
        <p:spPr>
          <a:xfrm rot="-5400000">
            <a:off x="-587107" y="2752185"/>
            <a:ext cx="2560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dependent variable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71"/>
          <p:cNvSpPr txBox="1"/>
          <p:nvPr/>
        </p:nvSpPr>
        <p:spPr>
          <a:xfrm>
            <a:off x="1304833" y="4452468"/>
            <a:ext cx="2752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independent variable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71"/>
          <p:cNvSpPr txBox="1"/>
          <p:nvPr/>
        </p:nvSpPr>
        <p:spPr>
          <a:xfrm>
            <a:off x="1017816" y="4006651"/>
            <a:ext cx="360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71"/>
          <p:cNvSpPr txBox="1"/>
          <p:nvPr/>
        </p:nvSpPr>
        <p:spPr>
          <a:xfrm>
            <a:off x="816094" y="3639571"/>
            <a:ext cx="554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6" name="Google Shape;846;p71"/>
          <p:cNvSpPr txBox="1"/>
          <p:nvPr/>
        </p:nvSpPr>
        <p:spPr>
          <a:xfrm>
            <a:off x="709709" y="3221109"/>
            <a:ext cx="660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7" name="Google Shape;847;p71"/>
          <p:cNvSpPr txBox="1"/>
          <p:nvPr/>
        </p:nvSpPr>
        <p:spPr>
          <a:xfrm>
            <a:off x="716763" y="2810103"/>
            <a:ext cx="660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150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8" name="Google Shape;848;p71"/>
          <p:cNvSpPr txBox="1"/>
          <p:nvPr/>
        </p:nvSpPr>
        <p:spPr>
          <a:xfrm>
            <a:off x="716763" y="2379017"/>
            <a:ext cx="660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9" name="Google Shape;849;p71"/>
          <p:cNvSpPr txBox="1"/>
          <p:nvPr/>
        </p:nvSpPr>
        <p:spPr>
          <a:xfrm>
            <a:off x="716763" y="1964654"/>
            <a:ext cx="660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250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0" name="Google Shape;850;p71"/>
          <p:cNvSpPr txBox="1"/>
          <p:nvPr/>
        </p:nvSpPr>
        <p:spPr>
          <a:xfrm>
            <a:off x="1526202" y="4179924"/>
            <a:ext cx="513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1" name="Google Shape;851;p71"/>
          <p:cNvSpPr txBox="1"/>
          <p:nvPr/>
        </p:nvSpPr>
        <p:spPr>
          <a:xfrm>
            <a:off x="2001273" y="4177498"/>
            <a:ext cx="513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2" name="Google Shape;852;p71"/>
          <p:cNvSpPr txBox="1"/>
          <p:nvPr/>
        </p:nvSpPr>
        <p:spPr>
          <a:xfrm>
            <a:off x="2471382" y="4177498"/>
            <a:ext cx="513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3" name="Google Shape;853;p71"/>
          <p:cNvSpPr txBox="1"/>
          <p:nvPr/>
        </p:nvSpPr>
        <p:spPr>
          <a:xfrm>
            <a:off x="2925011" y="4177486"/>
            <a:ext cx="554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4" name="Google Shape;854;p71"/>
          <p:cNvSpPr txBox="1"/>
          <p:nvPr/>
        </p:nvSpPr>
        <p:spPr>
          <a:xfrm>
            <a:off x="1125162" y="4181498"/>
            <a:ext cx="360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58" name="Shape 858"/>
        <p:cNvGrpSpPr/>
        <p:nvPr/>
      </p:nvGrpSpPr>
      <p:grpSpPr>
        <a:xfrm>
          <a:off x="0" y="0"/>
          <a:ext cx="0" cy="0"/>
        </a:xfrm>
      </p:grpSpPr>
      <p:sp>
        <p:nvSpPr>
          <p:cNvPr id="859" name="Google Shape;859;p72"/>
          <p:cNvSpPr txBox="1"/>
          <p:nvPr>
            <p:ph type="body" idx="1"/>
          </p:nvPr>
        </p:nvSpPr>
        <p:spPr>
          <a:xfrm>
            <a:off x="324000" y="759300"/>
            <a:ext cx="8496000" cy="7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When the points in a scatter graph appear to form shape or pattern, it can suggest that there may be an association between the two variables.</a:t>
            </a:r>
            <a:endParaRPr/>
          </a:p>
        </p:txBody>
      </p:sp>
      <p:sp>
        <p:nvSpPr>
          <p:cNvPr id="860" name="Google Shape;860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Recognising correlation in bivariate data</a:t>
            </a:r>
            <a:endParaRPr/>
          </a:p>
        </p:txBody>
      </p:sp>
      <p:sp>
        <p:nvSpPr>
          <p:cNvPr id="861" name="Google Shape;861;p72"/>
          <p:cNvSpPr txBox="1"/>
          <p:nvPr/>
        </p:nvSpPr>
        <p:spPr>
          <a:xfrm rot="-5400000">
            <a:off x="-587107" y="2752185"/>
            <a:ext cx="2560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dependent variable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2" name="Google Shape;862;p72"/>
          <p:cNvSpPr txBox="1"/>
          <p:nvPr/>
        </p:nvSpPr>
        <p:spPr>
          <a:xfrm>
            <a:off x="1304833" y="4452468"/>
            <a:ext cx="2752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independent variable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63" name="Google Shape;863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84831" y="1988289"/>
            <a:ext cx="2508789" cy="20780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4" name="Google Shape;864;p72"/>
          <p:cNvGrpSpPr/>
          <p:nvPr/>
        </p:nvGrpSpPr>
        <p:grpSpPr>
          <a:xfrm>
            <a:off x="1289674" y="1605200"/>
            <a:ext cx="2464756" cy="2692366"/>
            <a:chOff x="2015104" y="1439649"/>
            <a:chExt cx="3902400" cy="2982900"/>
          </a:xfrm>
        </p:grpSpPr>
        <p:cxnSp>
          <p:nvCxnSpPr>
            <p:cNvPr id="865" name="Google Shape;865;p72"/>
            <p:cNvCxnSpPr/>
            <p:nvPr/>
          </p:nvCxnSpPr>
          <p:spPr>
            <a:xfrm rot="10800000" flipH="1">
              <a:off x="2021739" y="1439649"/>
              <a:ext cx="0" cy="2982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66" name="Google Shape;866;p72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867" name="Google Shape;867;p72"/>
          <p:cNvSpPr txBox="1"/>
          <p:nvPr/>
        </p:nvSpPr>
        <p:spPr>
          <a:xfrm>
            <a:off x="1008473" y="4007838"/>
            <a:ext cx="361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8" name="Google Shape;868;p72"/>
          <p:cNvSpPr txBox="1"/>
          <p:nvPr/>
        </p:nvSpPr>
        <p:spPr>
          <a:xfrm>
            <a:off x="799416" y="3543164"/>
            <a:ext cx="556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9" name="Google Shape;869;p72"/>
          <p:cNvSpPr txBox="1"/>
          <p:nvPr/>
        </p:nvSpPr>
        <p:spPr>
          <a:xfrm>
            <a:off x="692677" y="3045625"/>
            <a:ext cx="663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0" name="Google Shape;870;p72"/>
          <p:cNvSpPr txBox="1"/>
          <p:nvPr/>
        </p:nvSpPr>
        <p:spPr>
          <a:xfrm>
            <a:off x="699755" y="2547597"/>
            <a:ext cx="663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150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1" name="Google Shape;871;p72"/>
          <p:cNvSpPr txBox="1"/>
          <p:nvPr/>
        </p:nvSpPr>
        <p:spPr>
          <a:xfrm>
            <a:off x="699755" y="2048020"/>
            <a:ext cx="663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72"/>
          <p:cNvSpPr txBox="1"/>
          <p:nvPr/>
        </p:nvSpPr>
        <p:spPr>
          <a:xfrm>
            <a:off x="1569035" y="4188304"/>
            <a:ext cx="51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p72"/>
          <p:cNvSpPr txBox="1"/>
          <p:nvPr/>
        </p:nvSpPr>
        <p:spPr>
          <a:xfrm>
            <a:off x="2083524" y="4185869"/>
            <a:ext cx="51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72"/>
          <p:cNvSpPr txBox="1"/>
          <p:nvPr/>
        </p:nvSpPr>
        <p:spPr>
          <a:xfrm>
            <a:off x="2595691" y="4185869"/>
            <a:ext cx="51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5" name="Google Shape;875;p72"/>
          <p:cNvSpPr txBox="1"/>
          <p:nvPr/>
        </p:nvSpPr>
        <p:spPr>
          <a:xfrm>
            <a:off x="3090686" y="4185858"/>
            <a:ext cx="556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6" name="Google Shape;876;p72"/>
          <p:cNvSpPr txBox="1"/>
          <p:nvPr/>
        </p:nvSpPr>
        <p:spPr>
          <a:xfrm>
            <a:off x="1116176" y="4189883"/>
            <a:ext cx="361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7" name="Google Shape;877;p72"/>
          <p:cNvSpPr txBox="1"/>
          <p:nvPr>
            <p:ph type="body" idx="1"/>
          </p:nvPr>
        </p:nvSpPr>
        <p:spPr>
          <a:xfrm>
            <a:off x="3928825" y="1811700"/>
            <a:ext cx="4661400" cy="7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As the independent variable </a:t>
            </a:r>
            <a:r>
              <a:rPr lang="en-GB" sz="1800">
                <a:solidFill>
                  <a:schemeClr val="accent4"/>
                </a:solidFill>
              </a:rPr>
              <a:t>increases</a:t>
            </a:r>
            <a:r>
              <a:rPr lang="en-GB" sz="1800"/>
              <a:t>, the dependent variable </a:t>
            </a:r>
            <a:r>
              <a:rPr lang="en-GB" sz="1800">
                <a:solidFill>
                  <a:schemeClr val="accent4"/>
                </a:solidFill>
              </a:rPr>
              <a:t>decreases</a:t>
            </a:r>
            <a:r>
              <a:rPr lang="en-GB" sz="1800"/>
              <a:t>.</a:t>
            </a:r>
            <a:endParaRPr/>
          </a:p>
        </p:txBody>
      </p:sp>
      <p:sp>
        <p:nvSpPr>
          <p:cNvPr id="878" name="Google Shape;878;p72"/>
          <p:cNvSpPr txBox="1"/>
          <p:nvPr>
            <p:ph type="body" idx="1"/>
          </p:nvPr>
        </p:nvSpPr>
        <p:spPr>
          <a:xfrm>
            <a:off x="3928825" y="3000225"/>
            <a:ext cx="4891200" cy="9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word </a:t>
            </a:r>
            <a:r>
              <a:rPr lang="en-GB" sz="1800" b="1"/>
              <a:t>correlation</a:t>
            </a:r>
            <a:r>
              <a:rPr lang="en-GB" sz="1800"/>
              <a:t> describes the extent to which the association is close to a linear association.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82" name="Shape 882"/>
        <p:cNvGrpSpPr/>
        <p:nvPr/>
      </p:nvGrpSpPr>
      <p:grpSpPr>
        <a:xfrm>
          <a:off x="0" y="0"/>
          <a:ext cx="0" cy="0"/>
        </a:xfrm>
      </p:grpSpPr>
      <p:pic>
        <p:nvPicPr>
          <p:cNvPr id="883" name="Google Shape;883;p73"/>
          <p:cNvPicPr preferRelativeResize="0"/>
          <p:nvPr/>
        </p:nvPicPr>
        <p:blipFill>
          <a:blip r:embed="rId3">
            <a:alphaModFix/>
          </a:blip>
          <a:srcRect l="8917"/>
          <a:stretch>
            <a:fillRect/>
          </a:stretch>
        </p:blipFill>
        <p:spPr>
          <a:xfrm>
            <a:off x="5120026" y="1847844"/>
            <a:ext cx="2728542" cy="2336628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p73"/>
          <p:cNvSpPr txBox="1"/>
          <p:nvPr>
            <p:ph type="body" idx="1"/>
          </p:nvPr>
        </p:nvSpPr>
        <p:spPr>
          <a:xfrm>
            <a:off x="324000" y="759300"/>
            <a:ext cx="8496000" cy="7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When the points appear to form a </a:t>
            </a:r>
            <a:r>
              <a:rPr lang="en-GB" sz="1800">
                <a:solidFill>
                  <a:schemeClr val="accent4"/>
                </a:solidFill>
              </a:rPr>
              <a:t>straight line</a:t>
            </a:r>
            <a:r>
              <a:rPr lang="en-GB" sz="1800"/>
              <a:t>, it suggests that the rate of change is constant throughout the data.</a:t>
            </a:r>
            <a:endParaRPr/>
          </a:p>
        </p:txBody>
      </p:sp>
      <p:sp>
        <p:nvSpPr>
          <p:cNvPr id="885" name="Google Shape;885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Recognising correlation in bivariate data</a:t>
            </a:r>
            <a:endParaRPr/>
          </a:p>
        </p:txBody>
      </p:sp>
      <p:pic>
        <p:nvPicPr>
          <p:cNvPr id="886" name="Google Shape;886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5217" y="1841051"/>
            <a:ext cx="2208963" cy="233328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7" name="Google Shape;887;p73"/>
          <p:cNvGrpSpPr/>
          <p:nvPr/>
        </p:nvGrpSpPr>
        <p:grpSpPr>
          <a:xfrm>
            <a:off x="870048" y="1774040"/>
            <a:ext cx="2431195" cy="2406902"/>
            <a:chOff x="2015104" y="1439649"/>
            <a:chExt cx="3902400" cy="2982900"/>
          </a:xfrm>
        </p:grpSpPr>
        <p:cxnSp>
          <p:nvCxnSpPr>
            <p:cNvPr id="888" name="Google Shape;888;p73"/>
            <p:cNvCxnSpPr/>
            <p:nvPr/>
          </p:nvCxnSpPr>
          <p:spPr>
            <a:xfrm rot="10800000" flipH="1">
              <a:off x="2021739" y="1439649"/>
              <a:ext cx="0" cy="2982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89" name="Google Shape;889;p73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890" name="Google Shape;890;p73"/>
          <p:cNvSpPr txBox="1"/>
          <p:nvPr/>
        </p:nvSpPr>
        <p:spPr>
          <a:xfrm>
            <a:off x="609899" y="3913268"/>
            <a:ext cx="33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1" name="Google Shape;891;p73"/>
          <p:cNvSpPr txBox="1"/>
          <p:nvPr/>
        </p:nvSpPr>
        <p:spPr>
          <a:xfrm>
            <a:off x="422680" y="3572583"/>
            <a:ext cx="51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2" name="Google Shape;892;p73"/>
          <p:cNvSpPr txBox="1"/>
          <p:nvPr/>
        </p:nvSpPr>
        <p:spPr>
          <a:xfrm>
            <a:off x="323945" y="3184210"/>
            <a:ext cx="613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73"/>
          <p:cNvSpPr txBox="1"/>
          <p:nvPr/>
        </p:nvSpPr>
        <p:spPr>
          <a:xfrm>
            <a:off x="330492" y="2802758"/>
            <a:ext cx="613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150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4" name="Google Shape;894;p73"/>
          <p:cNvSpPr txBox="1"/>
          <p:nvPr/>
        </p:nvSpPr>
        <p:spPr>
          <a:xfrm>
            <a:off x="330492" y="2402669"/>
            <a:ext cx="613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5" name="Google Shape;895;p73"/>
          <p:cNvSpPr txBox="1"/>
          <p:nvPr/>
        </p:nvSpPr>
        <p:spPr>
          <a:xfrm>
            <a:off x="330492" y="2018101"/>
            <a:ext cx="613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250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6" name="Google Shape;896;p73"/>
          <p:cNvSpPr txBox="1"/>
          <p:nvPr/>
        </p:nvSpPr>
        <p:spPr>
          <a:xfrm>
            <a:off x="1081731" y="4074082"/>
            <a:ext cx="47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7" name="Google Shape;897;p73"/>
          <p:cNvSpPr txBox="1"/>
          <p:nvPr/>
        </p:nvSpPr>
        <p:spPr>
          <a:xfrm>
            <a:off x="1522644" y="4071830"/>
            <a:ext cx="47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8" name="Google Shape;898;p73"/>
          <p:cNvSpPr txBox="1"/>
          <p:nvPr/>
        </p:nvSpPr>
        <p:spPr>
          <a:xfrm>
            <a:off x="1958952" y="4071830"/>
            <a:ext cx="47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9" name="Google Shape;899;p73"/>
          <p:cNvSpPr txBox="1"/>
          <p:nvPr/>
        </p:nvSpPr>
        <p:spPr>
          <a:xfrm>
            <a:off x="2379965" y="4071819"/>
            <a:ext cx="51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0" name="Google Shape;900;p73"/>
          <p:cNvSpPr txBox="1"/>
          <p:nvPr/>
        </p:nvSpPr>
        <p:spPr>
          <a:xfrm>
            <a:off x="709526" y="4075543"/>
            <a:ext cx="33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01" name="Google Shape;901;p73"/>
          <p:cNvCxnSpPr/>
          <p:nvPr/>
        </p:nvCxnSpPr>
        <p:spPr>
          <a:xfrm flipH="1">
            <a:off x="907637" y="2003990"/>
            <a:ext cx="2033700" cy="15453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2" name="Google Shape;902;p73"/>
          <p:cNvCxnSpPr/>
          <p:nvPr/>
        </p:nvCxnSpPr>
        <p:spPr>
          <a:xfrm flipH="1">
            <a:off x="1039625" y="2251113"/>
            <a:ext cx="2033700" cy="15453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3" name="Google Shape;903;p73"/>
          <p:cNvCxnSpPr/>
          <p:nvPr/>
        </p:nvCxnSpPr>
        <p:spPr>
          <a:xfrm rot="10800000">
            <a:off x="1317375" y="3618853"/>
            <a:ext cx="439500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904" name="Google Shape;904;p73"/>
          <p:cNvCxnSpPr/>
          <p:nvPr/>
        </p:nvCxnSpPr>
        <p:spPr>
          <a:xfrm flipH="1">
            <a:off x="1760704" y="3245613"/>
            <a:ext cx="0" cy="3774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05" name="Google Shape;905;p73"/>
          <p:cNvSpPr txBox="1"/>
          <p:nvPr/>
        </p:nvSpPr>
        <p:spPr>
          <a:xfrm>
            <a:off x="1276932" y="3508852"/>
            <a:ext cx="47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6" name="Google Shape;906;p73"/>
          <p:cNvSpPr txBox="1"/>
          <p:nvPr/>
        </p:nvSpPr>
        <p:spPr>
          <a:xfrm>
            <a:off x="1715508" y="3319227"/>
            <a:ext cx="47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50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07" name="Google Shape;907;p73"/>
          <p:cNvCxnSpPr/>
          <p:nvPr/>
        </p:nvCxnSpPr>
        <p:spPr>
          <a:xfrm rot="10800000">
            <a:off x="2197925" y="2941510"/>
            <a:ext cx="439500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908" name="Google Shape;908;p73"/>
          <p:cNvCxnSpPr/>
          <p:nvPr/>
        </p:nvCxnSpPr>
        <p:spPr>
          <a:xfrm flipH="1">
            <a:off x="2641254" y="2568270"/>
            <a:ext cx="0" cy="3774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09" name="Google Shape;909;p73"/>
          <p:cNvSpPr txBox="1"/>
          <p:nvPr/>
        </p:nvSpPr>
        <p:spPr>
          <a:xfrm>
            <a:off x="2157482" y="2831509"/>
            <a:ext cx="47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0" name="Google Shape;910;p73"/>
          <p:cNvSpPr txBox="1"/>
          <p:nvPr/>
        </p:nvSpPr>
        <p:spPr>
          <a:xfrm>
            <a:off x="2596058" y="2641884"/>
            <a:ext cx="47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50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11" name="Google Shape;911;p73"/>
          <p:cNvGrpSpPr/>
          <p:nvPr/>
        </p:nvGrpSpPr>
        <p:grpSpPr>
          <a:xfrm>
            <a:off x="5114971" y="1775376"/>
            <a:ext cx="2906117" cy="2406902"/>
            <a:chOff x="2015104" y="1439649"/>
            <a:chExt cx="3902400" cy="2982900"/>
          </a:xfrm>
        </p:grpSpPr>
        <p:cxnSp>
          <p:nvCxnSpPr>
            <p:cNvPr id="912" name="Google Shape;912;p73"/>
            <p:cNvCxnSpPr/>
            <p:nvPr/>
          </p:nvCxnSpPr>
          <p:spPr>
            <a:xfrm rot="10800000" flipH="1">
              <a:off x="2021739" y="1439649"/>
              <a:ext cx="0" cy="2982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13" name="Google Shape;913;p73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914" name="Google Shape;914;p73"/>
          <p:cNvSpPr txBox="1"/>
          <p:nvPr/>
        </p:nvSpPr>
        <p:spPr>
          <a:xfrm>
            <a:off x="4854520" y="3943602"/>
            <a:ext cx="335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p73"/>
          <p:cNvSpPr txBox="1"/>
          <p:nvPr/>
        </p:nvSpPr>
        <p:spPr>
          <a:xfrm>
            <a:off x="4666270" y="3688201"/>
            <a:ext cx="515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6" name="Google Shape;916;p73"/>
          <p:cNvSpPr txBox="1"/>
          <p:nvPr/>
        </p:nvSpPr>
        <p:spPr>
          <a:xfrm>
            <a:off x="4571806" y="3406918"/>
            <a:ext cx="61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7" name="Google Shape;917;p73"/>
          <p:cNvSpPr txBox="1"/>
          <p:nvPr/>
        </p:nvSpPr>
        <p:spPr>
          <a:xfrm>
            <a:off x="4569539" y="3112272"/>
            <a:ext cx="61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150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8" name="Google Shape;918;p73"/>
          <p:cNvSpPr txBox="1"/>
          <p:nvPr/>
        </p:nvSpPr>
        <p:spPr>
          <a:xfrm>
            <a:off x="4574964" y="2824731"/>
            <a:ext cx="61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3"/>
          <p:cNvSpPr txBox="1"/>
          <p:nvPr/>
        </p:nvSpPr>
        <p:spPr>
          <a:xfrm>
            <a:off x="4574964" y="2530297"/>
            <a:ext cx="61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250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0" name="Google Shape;920;p73"/>
          <p:cNvSpPr txBox="1"/>
          <p:nvPr/>
        </p:nvSpPr>
        <p:spPr>
          <a:xfrm>
            <a:off x="5428955" y="4077595"/>
            <a:ext cx="47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1" name="Google Shape;921;p73"/>
          <p:cNvSpPr txBox="1"/>
          <p:nvPr/>
        </p:nvSpPr>
        <p:spPr>
          <a:xfrm>
            <a:off x="5970821" y="4075340"/>
            <a:ext cx="47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3"/>
          <p:cNvSpPr txBox="1"/>
          <p:nvPr/>
        </p:nvSpPr>
        <p:spPr>
          <a:xfrm>
            <a:off x="6513907" y="4075340"/>
            <a:ext cx="47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73"/>
          <p:cNvSpPr txBox="1"/>
          <p:nvPr/>
        </p:nvSpPr>
        <p:spPr>
          <a:xfrm>
            <a:off x="7037958" y="4075330"/>
            <a:ext cx="515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73"/>
          <p:cNvSpPr txBox="1"/>
          <p:nvPr/>
        </p:nvSpPr>
        <p:spPr>
          <a:xfrm>
            <a:off x="4954289" y="4081171"/>
            <a:ext cx="335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5" name="Google Shape;925;p73"/>
          <p:cNvSpPr txBox="1"/>
          <p:nvPr/>
        </p:nvSpPr>
        <p:spPr>
          <a:xfrm>
            <a:off x="4571909" y="2240894"/>
            <a:ext cx="61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73"/>
          <p:cNvSpPr txBox="1"/>
          <p:nvPr/>
        </p:nvSpPr>
        <p:spPr>
          <a:xfrm>
            <a:off x="4571909" y="1948437"/>
            <a:ext cx="61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350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7" name="Google Shape;927;p73"/>
          <p:cNvSpPr/>
          <p:nvPr/>
        </p:nvSpPr>
        <p:spPr>
          <a:xfrm rot="-153572">
            <a:off x="5152963" y="1999531"/>
            <a:ext cx="2495408" cy="1741096"/>
          </a:xfrm>
          <a:custGeom>
            <a:rect l="l" t="t" r="r" b="b"/>
            <a:pathLst>
              <a:path w="105131" h="73352" extrusionOk="0">
                <a:moveTo>
                  <a:pt x="0" y="73352"/>
                </a:moveTo>
                <a:cubicBezTo>
                  <a:pt x="786" y="73293"/>
                  <a:pt x="2849" y="73159"/>
                  <a:pt x="4718" y="72996"/>
                </a:cubicBezTo>
                <a:cubicBezTo>
                  <a:pt x="6587" y="72833"/>
                  <a:pt x="8798" y="72714"/>
                  <a:pt x="11216" y="72373"/>
                </a:cubicBezTo>
                <a:cubicBezTo>
                  <a:pt x="13634" y="72032"/>
                  <a:pt x="16454" y="71556"/>
                  <a:pt x="19228" y="70948"/>
                </a:cubicBezTo>
                <a:cubicBezTo>
                  <a:pt x="22003" y="70340"/>
                  <a:pt x="24985" y="69569"/>
                  <a:pt x="27863" y="68723"/>
                </a:cubicBezTo>
                <a:cubicBezTo>
                  <a:pt x="30741" y="67877"/>
                  <a:pt x="33546" y="67002"/>
                  <a:pt x="36498" y="65874"/>
                </a:cubicBezTo>
                <a:cubicBezTo>
                  <a:pt x="39451" y="64746"/>
                  <a:pt x="42744" y="63352"/>
                  <a:pt x="45578" y="61957"/>
                </a:cubicBezTo>
                <a:cubicBezTo>
                  <a:pt x="48412" y="60562"/>
                  <a:pt x="50652" y="59316"/>
                  <a:pt x="53500" y="57506"/>
                </a:cubicBezTo>
                <a:cubicBezTo>
                  <a:pt x="56349" y="55696"/>
                  <a:pt x="60058" y="53055"/>
                  <a:pt x="62669" y="51097"/>
                </a:cubicBezTo>
                <a:cubicBezTo>
                  <a:pt x="65280" y="49139"/>
                  <a:pt x="67135" y="47536"/>
                  <a:pt x="69168" y="45756"/>
                </a:cubicBezTo>
                <a:cubicBezTo>
                  <a:pt x="71201" y="43976"/>
                  <a:pt x="73070" y="42225"/>
                  <a:pt x="74865" y="40415"/>
                </a:cubicBezTo>
                <a:cubicBezTo>
                  <a:pt x="76660" y="38605"/>
                  <a:pt x="78292" y="36766"/>
                  <a:pt x="79939" y="34896"/>
                </a:cubicBezTo>
                <a:cubicBezTo>
                  <a:pt x="81586" y="33027"/>
                  <a:pt x="83173" y="31038"/>
                  <a:pt x="84746" y="29198"/>
                </a:cubicBezTo>
                <a:cubicBezTo>
                  <a:pt x="86319" y="27358"/>
                  <a:pt x="87758" y="25919"/>
                  <a:pt x="89375" y="23857"/>
                </a:cubicBezTo>
                <a:cubicBezTo>
                  <a:pt x="90992" y="21795"/>
                  <a:pt x="92965" y="18991"/>
                  <a:pt x="94449" y="16825"/>
                </a:cubicBezTo>
                <a:cubicBezTo>
                  <a:pt x="95933" y="14659"/>
                  <a:pt x="97046" y="12760"/>
                  <a:pt x="98277" y="10861"/>
                </a:cubicBezTo>
                <a:cubicBezTo>
                  <a:pt x="99508" y="8962"/>
                  <a:pt x="100695" y="7240"/>
                  <a:pt x="101837" y="5430"/>
                </a:cubicBezTo>
                <a:cubicBezTo>
                  <a:pt x="102979" y="3620"/>
                  <a:pt x="104582" y="905"/>
                  <a:pt x="105131" y="0"/>
                </a:cubicBezTo>
              </a:path>
            </a:pathLst>
          </a:cu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928" name="Google Shape;928;p73"/>
          <p:cNvSpPr/>
          <p:nvPr/>
        </p:nvSpPr>
        <p:spPr>
          <a:xfrm rot="-153572">
            <a:off x="5288499" y="2150343"/>
            <a:ext cx="2495408" cy="1741096"/>
          </a:xfrm>
          <a:custGeom>
            <a:rect l="l" t="t" r="r" b="b"/>
            <a:pathLst>
              <a:path w="105131" h="73352" extrusionOk="0">
                <a:moveTo>
                  <a:pt x="0" y="73352"/>
                </a:moveTo>
                <a:cubicBezTo>
                  <a:pt x="786" y="73293"/>
                  <a:pt x="2849" y="73159"/>
                  <a:pt x="4718" y="72996"/>
                </a:cubicBezTo>
                <a:cubicBezTo>
                  <a:pt x="6587" y="72833"/>
                  <a:pt x="8798" y="72714"/>
                  <a:pt x="11216" y="72373"/>
                </a:cubicBezTo>
                <a:cubicBezTo>
                  <a:pt x="13634" y="72032"/>
                  <a:pt x="16454" y="71556"/>
                  <a:pt x="19228" y="70948"/>
                </a:cubicBezTo>
                <a:cubicBezTo>
                  <a:pt x="22003" y="70340"/>
                  <a:pt x="24985" y="69569"/>
                  <a:pt x="27863" y="68723"/>
                </a:cubicBezTo>
                <a:cubicBezTo>
                  <a:pt x="30741" y="67877"/>
                  <a:pt x="33546" y="67002"/>
                  <a:pt x="36498" y="65874"/>
                </a:cubicBezTo>
                <a:cubicBezTo>
                  <a:pt x="39451" y="64746"/>
                  <a:pt x="42744" y="63352"/>
                  <a:pt x="45578" y="61957"/>
                </a:cubicBezTo>
                <a:cubicBezTo>
                  <a:pt x="48412" y="60562"/>
                  <a:pt x="50652" y="59316"/>
                  <a:pt x="53500" y="57506"/>
                </a:cubicBezTo>
                <a:cubicBezTo>
                  <a:pt x="56349" y="55696"/>
                  <a:pt x="60058" y="53055"/>
                  <a:pt x="62669" y="51097"/>
                </a:cubicBezTo>
                <a:cubicBezTo>
                  <a:pt x="65280" y="49139"/>
                  <a:pt x="67135" y="47536"/>
                  <a:pt x="69168" y="45756"/>
                </a:cubicBezTo>
                <a:cubicBezTo>
                  <a:pt x="71201" y="43976"/>
                  <a:pt x="73070" y="42225"/>
                  <a:pt x="74865" y="40415"/>
                </a:cubicBezTo>
                <a:cubicBezTo>
                  <a:pt x="76660" y="38605"/>
                  <a:pt x="78292" y="36766"/>
                  <a:pt x="79939" y="34896"/>
                </a:cubicBezTo>
                <a:cubicBezTo>
                  <a:pt x="81586" y="33027"/>
                  <a:pt x="83173" y="31038"/>
                  <a:pt x="84746" y="29198"/>
                </a:cubicBezTo>
                <a:cubicBezTo>
                  <a:pt x="86319" y="27358"/>
                  <a:pt x="87758" y="25919"/>
                  <a:pt x="89375" y="23857"/>
                </a:cubicBezTo>
                <a:cubicBezTo>
                  <a:pt x="90992" y="21795"/>
                  <a:pt x="92965" y="18991"/>
                  <a:pt x="94449" y="16825"/>
                </a:cubicBezTo>
                <a:cubicBezTo>
                  <a:pt x="95933" y="14659"/>
                  <a:pt x="97046" y="12760"/>
                  <a:pt x="98277" y="10861"/>
                </a:cubicBezTo>
                <a:cubicBezTo>
                  <a:pt x="99508" y="8962"/>
                  <a:pt x="100695" y="7240"/>
                  <a:pt x="101837" y="5430"/>
                </a:cubicBezTo>
                <a:cubicBezTo>
                  <a:pt x="102979" y="3620"/>
                  <a:pt x="104582" y="905"/>
                  <a:pt x="105131" y="0"/>
                </a:cubicBezTo>
              </a:path>
            </a:pathLst>
          </a:cu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cxnSp>
        <p:nvCxnSpPr>
          <p:cNvPr id="929" name="Google Shape;929;p73"/>
          <p:cNvCxnSpPr/>
          <p:nvPr/>
        </p:nvCxnSpPr>
        <p:spPr>
          <a:xfrm rot="10800000">
            <a:off x="5673183" y="3892951"/>
            <a:ext cx="545100" cy="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930" name="Google Shape;930;p73"/>
          <p:cNvCxnSpPr/>
          <p:nvPr/>
        </p:nvCxnSpPr>
        <p:spPr>
          <a:xfrm flipH="1">
            <a:off x="6215862" y="3711268"/>
            <a:ext cx="0" cy="1848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31" name="Google Shape;931;p73"/>
          <p:cNvSpPr txBox="1"/>
          <p:nvPr/>
        </p:nvSpPr>
        <p:spPr>
          <a:xfrm>
            <a:off x="5761366" y="3779010"/>
            <a:ext cx="486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73"/>
          <p:cNvSpPr txBox="1"/>
          <p:nvPr/>
        </p:nvSpPr>
        <p:spPr>
          <a:xfrm>
            <a:off x="6190342" y="3622466"/>
            <a:ext cx="486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33" name="Google Shape;933;p73"/>
          <p:cNvCxnSpPr/>
          <p:nvPr/>
        </p:nvCxnSpPr>
        <p:spPr>
          <a:xfrm rot="10800000">
            <a:off x="6755510" y="3395247"/>
            <a:ext cx="558600" cy="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34" name="Google Shape;934;p73"/>
          <p:cNvSpPr txBox="1"/>
          <p:nvPr/>
        </p:nvSpPr>
        <p:spPr>
          <a:xfrm>
            <a:off x="6801263" y="3291904"/>
            <a:ext cx="486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5" name="Google Shape;935;p73"/>
          <p:cNvSpPr txBox="1"/>
          <p:nvPr/>
        </p:nvSpPr>
        <p:spPr>
          <a:xfrm>
            <a:off x="7228566" y="2958071"/>
            <a:ext cx="558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100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36" name="Google Shape;936;p73"/>
          <p:cNvCxnSpPr/>
          <p:nvPr/>
        </p:nvCxnSpPr>
        <p:spPr>
          <a:xfrm flipH="1">
            <a:off x="7301125" y="2820012"/>
            <a:ext cx="0" cy="5772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37" name="Google Shape;937;p73"/>
          <p:cNvSpPr txBox="1"/>
          <p:nvPr>
            <p:ph type="body" idx="1"/>
          </p:nvPr>
        </p:nvSpPr>
        <p:spPr>
          <a:xfrm>
            <a:off x="743724" y="4569125"/>
            <a:ext cx="2625900" cy="3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rate of change </a:t>
            </a:r>
            <a:r>
              <a:rPr lang="en-GB" sz="1600">
                <a:solidFill>
                  <a:schemeClr val="accent4"/>
                </a:solidFill>
              </a:rPr>
              <a:t>constant</a:t>
            </a:r>
            <a:endParaRPr sz="1600">
              <a:solidFill>
                <a:schemeClr val="accent4"/>
              </a:solidFill>
            </a:endParaRPr>
          </a:p>
        </p:txBody>
      </p:sp>
      <p:sp>
        <p:nvSpPr>
          <p:cNvPr id="938" name="Google Shape;938;p73"/>
          <p:cNvSpPr txBox="1"/>
          <p:nvPr>
            <p:ph type="body" idx="1"/>
          </p:nvPr>
        </p:nvSpPr>
        <p:spPr>
          <a:xfrm>
            <a:off x="5038350" y="4569125"/>
            <a:ext cx="3253800" cy="30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rate of change </a:t>
            </a:r>
            <a:r>
              <a:rPr lang="en-GB" sz="1600">
                <a:solidFill>
                  <a:schemeClr val="accent4"/>
                </a:solidFill>
              </a:rPr>
              <a:t>not</a:t>
            </a:r>
            <a:r>
              <a:rPr lang="en-GB" sz="1600"/>
              <a:t> </a:t>
            </a:r>
            <a:r>
              <a:rPr lang="en-GB" sz="1600">
                <a:solidFill>
                  <a:schemeClr val="accent4"/>
                </a:solidFill>
              </a:rPr>
              <a:t>constant</a:t>
            </a:r>
            <a:endParaRPr sz="1600">
              <a:solidFill>
                <a:schemeClr val="accent4"/>
              </a:solidFill>
            </a:endParaRPr>
          </a:p>
        </p:txBody>
      </p:sp>
      <p:sp>
        <p:nvSpPr>
          <p:cNvPr id="939" name="Google Shape;939;p73"/>
          <p:cNvSpPr txBox="1"/>
          <p:nvPr>
            <p:ph type="body" idx="1"/>
          </p:nvPr>
        </p:nvSpPr>
        <p:spPr>
          <a:xfrm>
            <a:off x="1417674" y="1527562"/>
            <a:ext cx="1335900" cy="3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straight line</a:t>
            </a:r>
            <a:endParaRPr sz="1600">
              <a:solidFill>
                <a:schemeClr val="accent4"/>
              </a:solidFill>
            </a:endParaRPr>
          </a:p>
        </p:txBody>
      </p:sp>
      <p:sp>
        <p:nvSpPr>
          <p:cNvPr id="940" name="Google Shape;940;p73"/>
          <p:cNvSpPr txBox="1"/>
          <p:nvPr>
            <p:ph type="body" idx="1"/>
          </p:nvPr>
        </p:nvSpPr>
        <p:spPr>
          <a:xfrm>
            <a:off x="5613100" y="1536632"/>
            <a:ext cx="1891200" cy="3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not a straight line</a:t>
            </a:r>
            <a:endParaRPr sz="1600">
              <a:solidFill>
                <a:schemeClr val="accent4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44" name="Shape 944"/>
        <p:cNvGrpSpPr/>
        <p:nvPr/>
      </p:nvGrpSpPr>
      <p:grpSpPr>
        <a:xfrm>
          <a:off x="0" y="0"/>
          <a:ext cx="0" cy="0"/>
        </a:xfrm>
      </p:grpSpPr>
      <p:pic>
        <p:nvPicPr>
          <p:cNvPr id="945" name="Google Shape;945;p74"/>
          <p:cNvPicPr preferRelativeResize="0"/>
          <p:nvPr/>
        </p:nvPicPr>
        <p:blipFill>
          <a:blip r:embed="rId3">
            <a:alphaModFix/>
          </a:blip>
          <a:srcRect l="8917"/>
          <a:stretch>
            <a:fillRect/>
          </a:stretch>
        </p:blipFill>
        <p:spPr>
          <a:xfrm>
            <a:off x="5120026" y="1847844"/>
            <a:ext cx="2728542" cy="2336628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74"/>
          <p:cNvSpPr txBox="1"/>
          <p:nvPr>
            <p:ph type="body" idx="1"/>
          </p:nvPr>
        </p:nvSpPr>
        <p:spPr>
          <a:xfrm>
            <a:off x="324000" y="759300"/>
            <a:ext cx="8496000" cy="7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When the variables change at the same rate throughout the data, there is  </a:t>
            </a:r>
            <a:r>
              <a:rPr lang="en-GB" sz="1800" b="1"/>
              <a:t>correlation</a:t>
            </a:r>
            <a:r>
              <a:rPr lang="en-GB" sz="1800"/>
              <a:t>. </a:t>
            </a:r>
            <a:endParaRPr/>
          </a:p>
        </p:txBody>
      </p:sp>
      <p:sp>
        <p:nvSpPr>
          <p:cNvPr id="947" name="Google Shape;947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Recognising correlation in bivariate data</a:t>
            </a:r>
            <a:endParaRPr/>
          </a:p>
        </p:txBody>
      </p:sp>
      <p:pic>
        <p:nvPicPr>
          <p:cNvPr id="948" name="Google Shape;948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5217" y="1841051"/>
            <a:ext cx="2208963" cy="233328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9" name="Google Shape;949;p74"/>
          <p:cNvGrpSpPr/>
          <p:nvPr/>
        </p:nvGrpSpPr>
        <p:grpSpPr>
          <a:xfrm>
            <a:off x="870048" y="1774040"/>
            <a:ext cx="2431195" cy="2406902"/>
            <a:chOff x="2015104" y="1439649"/>
            <a:chExt cx="3902400" cy="2982900"/>
          </a:xfrm>
        </p:grpSpPr>
        <p:cxnSp>
          <p:nvCxnSpPr>
            <p:cNvPr id="950" name="Google Shape;950;p74"/>
            <p:cNvCxnSpPr/>
            <p:nvPr/>
          </p:nvCxnSpPr>
          <p:spPr>
            <a:xfrm rot="10800000" flipH="1">
              <a:off x="2021739" y="1439649"/>
              <a:ext cx="0" cy="2982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51" name="Google Shape;951;p74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952" name="Google Shape;952;p74"/>
          <p:cNvSpPr txBox="1"/>
          <p:nvPr/>
        </p:nvSpPr>
        <p:spPr>
          <a:xfrm>
            <a:off x="609899" y="3913268"/>
            <a:ext cx="33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74"/>
          <p:cNvSpPr txBox="1"/>
          <p:nvPr/>
        </p:nvSpPr>
        <p:spPr>
          <a:xfrm>
            <a:off x="422680" y="3572583"/>
            <a:ext cx="51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74"/>
          <p:cNvSpPr txBox="1"/>
          <p:nvPr/>
        </p:nvSpPr>
        <p:spPr>
          <a:xfrm>
            <a:off x="323945" y="3184210"/>
            <a:ext cx="613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74"/>
          <p:cNvSpPr txBox="1"/>
          <p:nvPr/>
        </p:nvSpPr>
        <p:spPr>
          <a:xfrm>
            <a:off x="330492" y="2802758"/>
            <a:ext cx="613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150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6" name="Google Shape;956;p74"/>
          <p:cNvSpPr txBox="1"/>
          <p:nvPr/>
        </p:nvSpPr>
        <p:spPr>
          <a:xfrm>
            <a:off x="330492" y="2402669"/>
            <a:ext cx="613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74"/>
          <p:cNvSpPr txBox="1"/>
          <p:nvPr/>
        </p:nvSpPr>
        <p:spPr>
          <a:xfrm>
            <a:off x="330492" y="2018101"/>
            <a:ext cx="613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250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74"/>
          <p:cNvSpPr txBox="1"/>
          <p:nvPr/>
        </p:nvSpPr>
        <p:spPr>
          <a:xfrm>
            <a:off x="1081731" y="4074082"/>
            <a:ext cx="47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74"/>
          <p:cNvSpPr txBox="1"/>
          <p:nvPr/>
        </p:nvSpPr>
        <p:spPr>
          <a:xfrm>
            <a:off x="1522644" y="4071830"/>
            <a:ext cx="47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0" name="Google Shape;960;p74"/>
          <p:cNvSpPr txBox="1"/>
          <p:nvPr/>
        </p:nvSpPr>
        <p:spPr>
          <a:xfrm>
            <a:off x="1958952" y="4071830"/>
            <a:ext cx="47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74"/>
          <p:cNvSpPr txBox="1"/>
          <p:nvPr/>
        </p:nvSpPr>
        <p:spPr>
          <a:xfrm>
            <a:off x="2379965" y="4071819"/>
            <a:ext cx="51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74"/>
          <p:cNvSpPr txBox="1"/>
          <p:nvPr/>
        </p:nvSpPr>
        <p:spPr>
          <a:xfrm>
            <a:off x="709526" y="4075543"/>
            <a:ext cx="33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63" name="Google Shape;963;p74"/>
          <p:cNvCxnSpPr/>
          <p:nvPr/>
        </p:nvCxnSpPr>
        <p:spPr>
          <a:xfrm flipH="1">
            <a:off x="907637" y="2003990"/>
            <a:ext cx="2033700" cy="15453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4" name="Google Shape;964;p74"/>
          <p:cNvCxnSpPr/>
          <p:nvPr/>
        </p:nvCxnSpPr>
        <p:spPr>
          <a:xfrm flipH="1">
            <a:off x="1039625" y="2251113"/>
            <a:ext cx="2033700" cy="15453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5" name="Google Shape;965;p74"/>
          <p:cNvCxnSpPr/>
          <p:nvPr/>
        </p:nvCxnSpPr>
        <p:spPr>
          <a:xfrm rot="10800000">
            <a:off x="1317375" y="3618853"/>
            <a:ext cx="439500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966" name="Google Shape;966;p74"/>
          <p:cNvCxnSpPr/>
          <p:nvPr/>
        </p:nvCxnSpPr>
        <p:spPr>
          <a:xfrm flipH="1">
            <a:off x="1760704" y="3245613"/>
            <a:ext cx="0" cy="3774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67" name="Google Shape;967;p74"/>
          <p:cNvSpPr txBox="1"/>
          <p:nvPr/>
        </p:nvSpPr>
        <p:spPr>
          <a:xfrm>
            <a:off x="1276932" y="3508852"/>
            <a:ext cx="47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74"/>
          <p:cNvSpPr txBox="1"/>
          <p:nvPr/>
        </p:nvSpPr>
        <p:spPr>
          <a:xfrm>
            <a:off x="1715508" y="3319227"/>
            <a:ext cx="47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50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69" name="Google Shape;969;p74"/>
          <p:cNvCxnSpPr/>
          <p:nvPr/>
        </p:nvCxnSpPr>
        <p:spPr>
          <a:xfrm rot="10800000">
            <a:off x="2197925" y="2941510"/>
            <a:ext cx="439500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970" name="Google Shape;970;p74"/>
          <p:cNvCxnSpPr/>
          <p:nvPr/>
        </p:nvCxnSpPr>
        <p:spPr>
          <a:xfrm flipH="1">
            <a:off x="2641254" y="2568270"/>
            <a:ext cx="0" cy="3774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71" name="Google Shape;971;p74"/>
          <p:cNvSpPr txBox="1"/>
          <p:nvPr/>
        </p:nvSpPr>
        <p:spPr>
          <a:xfrm>
            <a:off x="2157482" y="2831509"/>
            <a:ext cx="47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74"/>
          <p:cNvSpPr txBox="1"/>
          <p:nvPr/>
        </p:nvSpPr>
        <p:spPr>
          <a:xfrm>
            <a:off x="2596058" y="2641884"/>
            <a:ext cx="47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50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73" name="Google Shape;973;p74"/>
          <p:cNvGrpSpPr/>
          <p:nvPr/>
        </p:nvGrpSpPr>
        <p:grpSpPr>
          <a:xfrm>
            <a:off x="5114971" y="1775376"/>
            <a:ext cx="2906117" cy="2406902"/>
            <a:chOff x="2015104" y="1439649"/>
            <a:chExt cx="3902400" cy="2982900"/>
          </a:xfrm>
        </p:grpSpPr>
        <p:cxnSp>
          <p:nvCxnSpPr>
            <p:cNvPr id="974" name="Google Shape;974;p74"/>
            <p:cNvCxnSpPr/>
            <p:nvPr/>
          </p:nvCxnSpPr>
          <p:spPr>
            <a:xfrm rot="10800000" flipH="1">
              <a:off x="2021739" y="1439649"/>
              <a:ext cx="0" cy="2982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75" name="Google Shape;975;p74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976" name="Google Shape;976;p74"/>
          <p:cNvSpPr txBox="1"/>
          <p:nvPr/>
        </p:nvSpPr>
        <p:spPr>
          <a:xfrm>
            <a:off x="4854520" y="3943602"/>
            <a:ext cx="335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7" name="Google Shape;977;p74"/>
          <p:cNvSpPr txBox="1"/>
          <p:nvPr/>
        </p:nvSpPr>
        <p:spPr>
          <a:xfrm>
            <a:off x="4666270" y="3688201"/>
            <a:ext cx="515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74"/>
          <p:cNvSpPr txBox="1"/>
          <p:nvPr/>
        </p:nvSpPr>
        <p:spPr>
          <a:xfrm>
            <a:off x="4571806" y="3406918"/>
            <a:ext cx="61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74"/>
          <p:cNvSpPr txBox="1"/>
          <p:nvPr/>
        </p:nvSpPr>
        <p:spPr>
          <a:xfrm>
            <a:off x="4569539" y="3112272"/>
            <a:ext cx="61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150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74"/>
          <p:cNvSpPr txBox="1"/>
          <p:nvPr/>
        </p:nvSpPr>
        <p:spPr>
          <a:xfrm>
            <a:off x="4574964" y="2824731"/>
            <a:ext cx="61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74"/>
          <p:cNvSpPr txBox="1"/>
          <p:nvPr/>
        </p:nvSpPr>
        <p:spPr>
          <a:xfrm>
            <a:off x="4574964" y="2530297"/>
            <a:ext cx="61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250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74"/>
          <p:cNvSpPr txBox="1"/>
          <p:nvPr/>
        </p:nvSpPr>
        <p:spPr>
          <a:xfrm>
            <a:off x="5428955" y="4077595"/>
            <a:ext cx="47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3" name="Google Shape;983;p74"/>
          <p:cNvSpPr txBox="1"/>
          <p:nvPr/>
        </p:nvSpPr>
        <p:spPr>
          <a:xfrm>
            <a:off x="5970821" y="4075340"/>
            <a:ext cx="47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74"/>
          <p:cNvSpPr txBox="1"/>
          <p:nvPr/>
        </p:nvSpPr>
        <p:spPr>
          <a:xfrm>
            <a:off x="6513907" y="4075340"/>
            <a:ext cx="47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5" name="Google Shape;985;p74"/>
          <p:cNvSpPr txBox="1"/>
          <p:nvPr/>
        </p:nvSpPr>
        <p:spPr>
          <a:xfrm>
            <a:off x="7037958" y="4075330"/>
            <a:ext cx="515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" name="Google Shape;986;p74"/>
          <p:cNvSpPr txBox="1"/>
          <p:nvPr/>
        </p:nvSpPr>
        <p:spPr>
          <a:xfrm>
            <a:off x="4954289" y="4081171"/>
            <a:ext cx="335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7" name="Google Shape;987;p74"/>
          <p:cNvSpPr txBox="1"/>
          <p:nvPr/>
        </p:nvSpPr>
        <p:spPr>
          <a:xfrm>
            <a:off x="4571909" y="2240894"/>
            <a:ext cx="61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8" name="Google Shape;988;p74"/>
          <p:cNvSpPr txBox="1"/>
          <p:nvPr/>
        </p:nvSpPr>
        <p:spPr>
          <a:xfrm>
            <a:off x="4571909" y="1948437"/>
            <a:ext cx="61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350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9" name="Google Shape;989;p74"/>
          <p:cNvSpPr/>
          <p:nvPr/>
        </p:nvSpPr>
        <p:spPr>
          <a:xfrm rot="-153572">
            <a:off x="5152963" y="1999531"/>
            <a:ext cx="2495408" cy="1741096"/>
          </a:xfrm>
          <a:custGeom>
            <a:rect l="l" t="t" r="r" b="b"/>
            <a:pathLst>
              <a:path w="105131" h="73352" extrusionOk="0">
                <a:moveTo>
                  <a:pt x="0" y="73352"/>
                </a:moveTo>
                <a:cubicBezTo>
                  <a:pt x="786" y="73293"/>
                  <a:pt x="2849" y="73159"/>
                  <a:pt x="4718" y="72996"/>
                </a:cubicBezTo>
                <a:cubicBezTo>
                  <a:pt x="6587" y="72833"/>
                  <a:pt x="8798" y="72714"/>
                  <a:pt x="11216" y="72373"/>
                </a:cubicBezTo>
                <a:cubicBezTo>
                  <a:pt x="13634" y="72032"/>
                  <a:pt x="16454" y="71556"/>
                  <a:pt x="19228" y="70948"/>
                </a:cubicBezTo>
                <a:cubicBezTo>
                  <a:pt x="22003" y="70340"/>
                  <a:pt x="24985" y="69569"/>
                  <a:pt x="27863" y="68723"/>
                </a:cubicBezTo>
                <a:cubicBezTo>
                  <a:pt x="30741" y="67877"/>
                  <a:pt x="33546" y="67002"/>
                  <a:pt x="36498" y="65874"/>
                </a:cubicBezTo>
                <a:cubicBezTo>
                  <a:pt x="39451" y="64746"/>
                  <a:pt x="42744" y="63352"/>
                  <a:pt x="45578" y="61957"/>
                </a:cubicBezTo>
                <a:cubicBezTo>
                  <a:pt x="48412" y="60562"/>
                  <a:pt x="50652" y="59316"/>
                  <a:pt x="53500" y="57506"/>
                </a:cubicBezTo>
                <a:cubicBezTo>
                  <a:pt x="56349" y="55696"/>
                  <a:pt x="60058" y="53055"/>
                  <a:pt x="62669" y="51097"/>
                </a:cubicBezTo>
                <a:cubicBezTo>
                  <a:pt x="65280" y="49139"/>
                  <a:pt x="67135" y="47536"/>
                  <a:pt x="69168" y="45756"/>
                </a:cubicBezTo>
                <a:cubicBezTo>
                  <a:pt x="71201" y="43976"/>
                  <a:pt x="73070" y="42225"/>
                  <a:pt x="74865" y="40415"/>
                </a:cubicBezTo>
                <a:cubicBezTo>
                  <a:pt x="76660" y="38605"/>
                  <a:pt x="78292" y="36766"/>
                  <a:pt x="79939" y="34896"/>
                </a:cubicBezTo>
                <a:cubicBezTo>
                  <a:pt x="81586" y="33027"/>
                  <a:pt x="83173" y="31038"/>
                  <a:pt x="84746" y="29198"/>
                </a:cubicBezTo>
                <a:cubicBezTo>
                  <a:pt x="86319" y="27358"/>
                  <a:pt x="87758" y="25919"/>
                  <a:pt x="89375" y="23857"/>
                </a:cubicBezTo>
                <a:cubicBezTo>
                  <a:pt x="90992" y="21795"/>
                  <a:pt x="92965" y="18991"/>
                  <a:pt x="94449" y="16825"/>
                </a:cubicBezTo>
                <a:cubicBezTo>
                  <a:pt x="95933" y="14659"/>
                  <a:pt x="97046" y="12760"/>
                  <a:pt x="98277" y="10861"/>
                </a:cubicBezTo>
                <a:cubicBezTo>
                  <a:pt x="99508" y="8962"/>
                  <a:pt x="100695" y="7240"/>
                  <a:pt x="101837" y="5430"/>
                </a:cubicBezTo>
                <a:cubicBezTo>
                  <a:pt x="102979" y="3620"/>
                  <a:pt x="104582" y="905"/>
                  <a:pt x="105131" y="0"/>
                </a:cubicBezTo>
              </a:path>
            </a:pathLst>
          </a:cu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990" name="Google Shape;990;p74"/>
          <p:cNvSpPr/>
          <p:nvPr/>
        </p:nvSpPr>
        <p:spPr>
          <a:xfrm rot="-153572">
            <a:off x="5288499" y="2150343"/>
            <a:ext cx="2495408" cy="1741096"/>
          </a:xfrm>
          <a:custGeom>
            <a:rect l="l" t="t" r="r" b="b"/>
            <a:pathLst>
              <a:path w="105131" h="73352" extrusionOk="0">
                <a:moveTo>
                  <a:pt x="0" y="73352"/>
                </a:moveTo>
                <a:cubicBezTo>
                  <a:pt x="786" y="73293"/>
                  <a:pt x="2849" y="73159"/>
                  <a:pt x="4718" y="72996"/>
                </a:cubicBezTo>
                <a:cubicBezTo>
                  <a:pt x="6587" y="72833"/>
                  <a:pt x="8798" y="72714"/>
                  <a:pt x="11216" y="72373"/>
                </a:cubicBezTo>
                <a:cubicBezTo>
                  <a:pt x="13634" y="72032"/>
                  <a:pt x="16454" y="71556"/>
                  <a:pt x="19228" y="70948"/>
                </a:cubicBezTo>
                <a:cubicBezTo>
                  <a:pt x="22003" y="70340"/>
                  <a:pt x="24985" y="69569"/>
                  <a:pt x="27863" y="68723"/>
                </a:cubicBezTo>
                <a:cubicBezTo>
                  <a:pt x="30741" y="67877"/>
                  <a:pt x="33546" y="67002"/>
                  <a:pt x="36498" y="65874"/>
                </a:cubicBezTo>
                <a:cubicBezTo>
                  <a:pt x="39451" y="64746"/>
                  <a:pt x="42744" y="63352"/>
                  <a:pt x="45578" y="61957"/>
                </a:cubicBezTo>
                <a:cubicBezTo>
                  <a:pt x="48412" y="60562"/>
                  <a:pt x="50652" y="59316"/>
                  <a:pt x="53500" y="57506"/>
                </a:cubicBezTo>
                <a:cubicBezTo>
                  <a:pt x="56349" y="55696"/>
                  <a:pt x="60058" y="53055"/>
                  <a:pt x="62669" y="51097"/>
                </a:cubicBezTo>
                <a:cubicBezTo>
                  <a:pt x="65280" y="49139"/>
                  <a:pt x="67135" y="47536"/>
                  <a:pt x="69168" y="45756"/>
                </a:cubicBezTo>
                <a:cubicBezTo>
                  <a:pt x="71201" y="43976"/>
                  <a:pt x="73070" y="42225"/>
                  <a:pt x="74865" y="40415"/>
                </a:cubicBezTo>
                <a:cubicBezTo>
                  <a:pt x="76660" y="38605"/>
                  <a:pt x="78292" y="36766"/>
                  <a:pt x="79939" y="34896"/>
                </a:cubicBezTo>
                <a:cubicBezTo>
                  <a:pt x="81586" y="33027"/>
                  <a:pt x="83173" y="31038"/>
                  <a:pt x="84746" y="29198"/>
                </a:cubicBezTo>
                <a:cubicBezTo>
                  <a:pt x="86319" y="27358"/>
                  <a:pt x="87758" y="25919"/>
                  <a:pt x="89375" y="23857"/>
                </a:cubicBezTo>
                <a:cubicBezTo>
                  <a:pt x="90992" y="21795"/>
                  <a:pt x="92965" y="18991"/>
                  <a:pt x="94449" y="16825"/>
                </a:cubicBezTo>
                <a:cubicBezTo>
                  <a:pt x="95933" y="14659"/>
                  <a:pt x="97046" y="12760"/>
                  <a:pt x="98277" y="10861"/>
                </a:cubicBezTo>
                <a:cubicBezTo>
                  <a:pt x="99508" y="8962"/>
                  <a:pt x="100695" y="7240"/>
                  <a:pt x="101837" y="5430"/>
                </a:cubicBezTo>
                <a:cubicBezTo>
                  <a:pt x="102979" y="3620"/>
                  <a:pt x="104582" y="905"/>
                  <a:pt x="105131" y="0"/>
                </a:cubicBezTo>
              </a:path>
            </a:pathLst>
          </a:cu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cxnSp>
        <p:nvCxnSpPr>
          <p:cNvPr id="991" name="Google Shape;991;p74"/>
          <p:cNvCxnSpPr/>
          <p:nvPr/>
        </p:nvCxnSpPr>
        <p:spPr>
          <a:xfrm rot="10800000">
            <a:off x="5673183" y="3892951"/>
            <a:ext cx="545100" cy="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992" name="Google Shape;992;p74"/>
          <p:cNvCxnSpPr/>
          <p:nvPr/>
        </p:nvCxnSpPr>
        <p:spPr>
          <a:xfrm flipH="1">
            <a:off x="6215862" y="3711268"/>
            <a:ext cx="0" cy="1848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93" name="Google Shape;993;p74"/>
          <p:cNvSpPr txBox="1"/>
          <p:nvPr/>
        </p:nvSpPr>
        <p:spPr>
          <a:xfrm>
            <a:off x="5761366" y="3779010"/>
            <a:ext cx="486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74"/>
          <p:cNvSpPr txBox="1"/>
          <p:nvPr/>
        </p:nvSpPr>
        <p:spPr>
          <a:xfrm>
            <a:off x="6190342" y="3622466"/>
            <a:ext cx="486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95" name="Google Shape;995;p74"/>
          <p:cNvCxnSpPr/>
          <p:nvPr/>
        </p:nvCxnSpPr>
        <p:spPr>
          <a:xfrm rot="10800000">
            <a:off x="6755510" y="3395247"/>
            <a:ext cx="558600" cy="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96" name="Google Shape;996;p74"/>
          <p:cNvSpPr txBox="1"/>
          <p:nvPr/>
        </p:nvSpPr>
        <p:spPr>
          <a:xfrm>
            <a:off x="6801263" y="3291904"/>
            <a:ext cx="486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7" name="Google Shape;997;p74"/>
          <p:cNvSpPr txBox="1"/>
          <p:nvPr/>
        </p:nvSpPr>
        <p:spPr>
          <a:xfrm>
            <a:off x="7228566" y="2958071"/>
            <a:ext cx="558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100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98" name="Google Shape;998;p74"/>
          <p:cNvCxnSpPr/>
          <p:nvPr/>
        </p:nvCxnSpPr>
        <p:spPr>
          <a:xfrm flipH="1">
            <a:off x="7301125" y="2820012"/>
            <a:ext cx="0" cy="5772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99" name="Google Shape;999;p74"/>
          <p:cNvSpPr txBox="1"/>
          <p:nvPr>
            <p:ph type="body" idx="1"/>
          </p:nvPr>
        </p:nvSpPr>
        <p:spPr>
          <a:xfrm>
            <a:off x="743724" y="4569125"/>
            <a:ext cx="2625900" cy="3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rate of change </a:t>
            </a:r>
            <a:r>
              <a:rPr lang="en-GB" sz="1600">
                <a:solidFill>
                  <a:schemeClr val="accent4"/>
                </a:solidFill>
              </a:rPr>
              <a:t>constant</a:t>
            </a:r>
            <a:endParaRPr sz="1600">
              <a:solidFill>
                <a:schemeClr val="accent4"/>
              </a:solidFill>
            </a:endParaRPr>
          </a:p>
        </p:txBody>
      </p:sp>
      <p:sp>
        <p:nvSpPr>
          <p:cNvPr id="1000" name="Google Shape;1000;p74"/>
          <p:cNvSpPr txBox="1"/>
          <p:nvPr>
            <p:ph type="body" idx="1"/>
          </p:nvPr>
        </p:nvSpPr>
        <p:spPr>
          <a:xfrm>
            <a:off x="5038350" y="4569125"/>
            <a:ext cx="3253800" cy="30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rate of change </a:t>
            </a:r>
            <a:r>
              <a:rPr lang="en-GB" sz="1600">
                <a:solidFill>
                  <a:schemeClr val="accent4"/>
                </a:solidFill>
              </a:rPr>
              <a:t>not</a:t>
            </a:r>
            <a:r>
              <a:rPr lang="en-GB" sz="1600"/>
              <a:t> </a:t>
            </a:r>
            <a:r>
              <a:rPr lang="en-GB" sz="1600">
                <a:solidFill>
                  <a:schemeClr val="accent4"/>
                </a:solidFill>
              </a:rPr>
              <a:t>constant</a:t>
            </a:r>
            <a:endParaRPr sz="1600">
              <a:solidFill>
                <a:schemeClr val="accent4"/>
              </a:solidFill>
            </a:endParaRPr>
          </a:p>
        </p:txBody>
      </p:sp>
      <p:sp>
        <p:nvSpPr>
          <p:cNvPr id="1001" name="Google Shape;1001;p74"/>
          <p:cNvSpPr txBox="1"/>
          <p:nvPr>
            <p:ph type="body" idx="1"/>
          </p:nvPr>
        </p:nvSpPr>
        <p:spPr>
          <a:xfrm>
            <a:off x="904750" y="1535700"/>
            <a:ext cx="2208900" cy="3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 b="1"/>
              <a:t>correlation</a:t>
            </a:r>
            <a:endParaRPr sz="1600">
              <a:solidFill>
                <a:schemeClr val="accent4"/>
              </a:solidFill>
            </a:endParaRPr>
          </a:p>
        </p:txBody>
      </p:sp>
      <p:sp>
        <p:nvSpPr>
          <p:cNvPr id="1002" name="Google Shape;1002;p74"/>
          <p:cNvSpPr txBox="1"/>
          <p:nvPr>
            <p:ph type="body" idx="1"/>
          </p:nvPr>
        </p:nvSpPr>
        <p:spPr>
          <a:xfrm>
            <a:off x="5185525" y="1535700"/>
            <a:ext cx="2570700" cy="3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non-linear association</a:t>
            </a:r>
            <a:r>
              <a:rPr lang="en-GB" sz="1600" b="1"/>
              <a:t> </a:t>
            </a:r>
            <a:endParaRPr sz="1600">
              <a:solidFill>
                <a:schemeClr val="accent4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06" name="Shape 1006"/>
        <p:cNvGrpSpPr/>
        <p:nvPr/>
      </p:nvGrpSpPr>
      <p:grpSpPr>
        <a:xfrm>
          <a:off x="0" y="0"/>
          <a:ext cx="0" cy="0"/>
        </a:xfrm>
      </p:grpSpPr>
      <p:sp>
        <p:nvSpPr>
          <p:cNvPr id="1007" name="Google Shape;1007;p75"/>
          <p:cNvSpPr txBox="1"/>
          <p:nvPr>
            <p:ph type="body" idx="1"/>
          </p:nvPr>
        </p:nvSpPr>
        <p:spPr>
          <a:xfrm>
            <a:off x="324000" y="759300"/>
            <a:ext cx="8496000" cy="7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When the variables change at the same rate throughout the data, there is </a:t>
            </a:r>
            <a:r>
              <a:rPr lang="en-GB" sz="1800" b="1"/>
              <a:t>correlation</a:t>
            </a:r>
            <a:r>
              <a:rPr lang="en-GB" sz="1800"/>
              <a:t>. </a:t>
            </a:r>
            <a:endParaRPr/>
          </a:p>
        </p:txBody>
      </p:sp>
      <p:sp>
        <p:nvSpPr>
          <p:cNvPr id="1008" name="Google Shape;1008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Recognising correlation in bivariate data</a:t>
            </a:r>
            <a:endParaRPr/>
          </a:p>
        </p:txBody>
      </p:sp>
      <p:sp>
        <p:nvSpPr>
          <p:cNvPr id="1009" name="Google Shape;1009;p75"/>
          <p:cNvSpPr txBox="1"/>
          <p:nvPr>
            <p:ph type="body" idx="1"/>
          </p:nvPr>
        </p:nvSpPr>
        <p:spPr>
          <a:xfrm>
            <a:off x="743724" y="4569125"/>
            <a:ext cx="2625900" cy="3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rate of change </a:t>
            </a:r>
            <a:r>
              <a:rPr lang="en-GB" sz="1600">
                <a:solidFill>
                  <a:schemeClr val="accent4"/>
                </a:solidFill>
              </a:rPr>
              <a:t>constant</a:t>
            </a:r>
            <a:endParaRPr sz="1600">
              <a:solidFill>
                <a:schemeClr val="accent4"/>
              </a:solidFill>
            </a:endParaRPr>
          </a:p>
        </p:txBody>
      </p:sp>
      <p:sp>
        <p:nvSpPr>
          <p:cNvPr id="1010" name="Google Shape;1010;p75"/>
          <p:cNvSpPr txBox="1"/>
          <p:nvPr>
            <p:ph type="body" idx="1"/>
          </p:nvPr>
        </p:nvSpPr>
        <p:spPr>
          <a:xfrm>
            <a:off x="5038350" y="4569125"/>
            <a:ext cx="3253800" cy="30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rate of change </a:t>
            </a:r>
            <a:r>
              <a:rPr lang="en-GB" sz="1600">
                <a:solidFill>
                  <a:schemeClr val="accent4"/>
                </a:solidFill>
              </a:rPr>
              <a:t>not</a:t>
            </a:r>
            <a:r>
              <a:rPr lang="en-GB" sz="1600"/>
              <a:t> </a:t>
            </a:r>
            <a:r>
              <a:rPr lang="en-GB" sz="1600">
                <a:solidFill>
                  <a:schemeClr val="accent4"/>
                </a:solidFill>
              </a:rPr>
              <a:t>constant</a:t>
            </a:r>
            <a:endParaRPr sz="1600">
              <a:solidFill>
                <a:schemeClr val="accent4"/>
              </a:solidFill>
            </a:endParaRPr>
          </a:p>
        </p:txBody>
      </p:sp>
      <p:pic>
        <p:nvPicPr>
          <p:cNvPr id="1011" name="Google Shape;1011;p75"/>
          <p:cNvPicPr preferRelativeResize="0"/>
          <p:nvPr/>
        </p:nvPicPr>
        <p:blipFill>
          <a:blip r:embed="rId3">
            <a:alphaModFix/>
          </a:blip>
          <a:srcRect r="12372"/>
          <a:stretch>
            <a:fillRect/>
          </a:stretch>
        </p:blipFill>
        <p:spPr>
          <a:xfrm>
            <a:off x="5114975" y="1958128"/>
            <a:ext cx="3388826" cy="2211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2" name="Google Shape;1012;p75"/>
          <p:cNvPicPr preferRelativeResize="0"/>
          <p:nvPr/>
        </p:nvPicPr>
        <p:blipFill>
          <a:blip r:embed="rId4">
            <a:alphaModFix/>
          </a:blip>
          <a:srcRect r="6829"/>
          <a:stretch>
            <a:fillRect/>
          </a:stretch>
        </p:blipFill>
        <p:spPr>
          <a:xfrm rot="-5400000">
            <a:off x="744300" y="1968050"/>
            <a:ext cx="2337400" cy="20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3" name="Google Shape;1013;p75"/>
          <p:cNvSpPr txBox="1"/>
          <p:nvPr/>
        </p:nvSpPr>
        <p:spPr>
          <a:xfrm>
            <a:off x="582248" y="3901902"/>
            <a:ext cx="361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4" name="Google Shape;1014;p75"/>
          <p:cNvSpPr txBox="1"/>
          <p:nvPr/>
        </p:nvSpPr>
        <p:spPr>
          <a:xfrm>
            <a:off x="373191" y="3437227"/>
            <a:ext cx="556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5" name="Google Shape;1015;p75"/>
          <p:cNvSpPr txBox="1"/>
          <p:nvPr/>
        </p:nvSpPr>
        <p:spPr>
          <a:xfrm>
            <a:off x="266452" y="2939689"/>
            <a:ext cx="663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6" name="Google Shape;1016;p75"/>
          <p:cNvSpPr txBox="1"/>
          <p:nvPr/>
        </p:nvSpPr>
        <p:spPr>
          <a:xfrm>
            <a:off x="273530" y="2441660"/>
            <a:ext cx="663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150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75"/>
          <p:cNvSpPr txBox="1"/>
          <p:nvPr/>
        </p:nvSpPr>
        <p:spPr>
          <a:xfrm>
            <a:off x="273530" y="1942084"/>
            <a:ext cx="663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75"/>
          <p:cNvSpPr txBox="1"/>
          <p:nvPr/>
        </p:nvSpPr>
        <p:spPr>
          <a:xfrm>
            <a:off x="1142811" y="4082367"/>
            <a:ext cx="51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9" name="Google Shape;1019;p75"/>
          <p:cNvSpPr txBox="1"/>
          <p:nvPr/>
        </p:nvSpPr>
        <p:spPr>
          <a:xfrm>
            <a:off x="1657300" y="4079933"/>
            <a:ext cx="51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75"/>
          <p:cNvSpPr txBox="1"/>
          <p:nvPr/>
        </p:nvSpPr>
        <p:spPr>
          <a:xfrm>
            <a:off x="2169467" y="4079933"/>
            <a:ext cx="51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75"/>
          <p:cNvSpPr txBox="1"/>
          <p:nvPr/>
        </p:nvSpPr>
        <p:spPr>
          <a:xfrm>
            <a:off x="2664462" y="4079921"/>
            <a:ext cx="556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75"/>
          <p:cNvSpPr txBox="1"/>
          <p:nvPr/>
        </p:nvSpPr>
        <p:spPr>
          <a:xfrm>
            <a:off x="689951" y="4083947"/>
            <a:ext cx="361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23" name="Google Shape;1023;p75"/>
          <p:cNvGrpSpPr/>
          <p:nvPr/>
        </p:nvGrpSpPr>
        <p:grpSpPr>
          <a:xfrm>
            <a:off x="870048" y="1774040"/>
            <a:ext cx="2431195" cy="2406902"/>
            <a:chOff x="2015104" y="1439649"/>
            <a:chExt cx="3902400" cy="2982900"/>
          </a:xfrm>
        </p:grpSpPr>
        <p:cxnSp>
          <p:nvCxnSpPr>
            <p:cNvPr id="1024" name="Google Shape;1024;p75"/>
            <p:cNvCxnSpPr/>
            <p:nvPr/>
          </p:nvCxnSpPr>
          <p:spPr>
            <a:xfrm rot="10800000" flipH="1">
              <a:off x="2021739" y="1439649"/>
              <a:ext cx="0" cy="2982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25" name="Google Shape;1025;p75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026" name="Google Shape;1026;p75"/>
          <p:cNvSpPr txBox="1"/>
          <p:nvPr/>
        </p:nvSpPr>
        <p:spPr>
          <a:xfrm>
            <a:off x="1381402" y="1721620"/>
            <a:ext cx="47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75"/>
          <p:cNvSpPr txBox="1"/>
          <p:nvPr/>
        </p:nvSpPr>
        <p:spPr>
          <a:xfrm>
            <a:off x="1841135" y="1979738"/>
            <a:ext cx="61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-65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75"/>
          <p:cNvSpPr txBox="1"/>
          <p:nvPr/>
        </p:nvSpPr>
        <p:spPr>
          <a:xfrm>
            <a:off x="4854520" y="3943602"/>
            <a:ext cx="335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75"/>
          <p:cNvSpPr txBox="1"/>
          <p:nvPr/>
        </p:nvSpPr>
        <p:spPr>
          <a:xfrm>
            <a:off x="4666270" y="3506151"/>
            <a:ext cx="515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30" name="Google Shape;1030;p75"/>
          <p:cNvGrpSpPr/>
          <p:nvPr/>
        </p:nvGrpSpPr>
        <p:grpSpPr>
          <a:xfrm>
            <a:off x="5115172" y="1775376"/>
            <a:ext cx="3494989" cy="2406902"/>
            <a:chOff x="2015104" y="1439649"/>
            <a:chExt cx="3902400" cy="2982900"/>
          </a:xfrm>
        </p:grpSpPr>
        <p:cxnSp>
          <p:nvCxnSpPr>
            <p:cNvPr id="1031" name="Google Shape;1031;p75"/>
            <p:cNvCxnSpPr/>
            <p:nvPr/>
          </p:nvCxnSpPr>
          <p:spPr>
            <a:xfrm rot="10800000" flipH="1">
              <a:off x="2021739" y="1439649"/>
              <a:ext cx="0" cy="2982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32" name="Google Shape;1032;p75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033" name="Google Shape;1033;p75"/>
          <p:cNvSpPr txBox="1"/>
          <p:nvPr/>
        </p:nvSpPr>
        <p:spPr>
          <a:xfrm>
            <a:off x="4571806" y="3068762"/>
            <a:ext cx="61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75"/>
          <p:cNvSpPr txBox="1"/>
          <p:nvPr/>
        </p:nvSpPr>
        <p:spPr>
          <a:xfrm>
            <a:off x="4569539" y="2629128"/>
            <a:ext cx="61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150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75"/>
          <p:cNvSpPr txBox="1"/>
          <p:nvPr/>
        </p:nvSpPr>
        <p:spPr>
          <a:xfrm>
            <a:off x="4574964" y="2189187"/>
            <a:ext cx="61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75"/>
          <p:cNvSpPr txBox="1"/>
          <p:nvPr/>
        </p:nvSpPr>
        <p:spPr>
          <a:xfrm>
            <a:off x="5367580" y="4077595"/>
            <a:ext cx="47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75"/>
          <p:cNvSpPr txBox="1"/>
          <p:nvPr/>
        </p:nvSpPr>
        <p:spPr>
          <a:xfrm>
            <a:off x="5848071" y="4075340"/>
            <a:ext cx="47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75"/>
          <p:cNvSpPr txBox="1"/>
          <p:nvPr/>
        </p:nvSpPr>
        <p:spPr>
          <a:xfrm>
            <a:off x="6331857" y="4075340"/>
            <a:ext cx="47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75"/>
          <p:cNvSpPr txBox="1"/>
          <p:nvPr/>
        </p:nvSpPr>
        <p:spPr>
          <a:xfrm>
            <a:off x="6794533" y="4075330"/>
            <a:ext cx="515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75"/>
          <p:cNvSpPr txBox="1"/>
          <p:nvPr/>
        </p:nvSpPr>
        <p:spPr>
          <a:xfrm>
            <a:off x="4954289" y="4081171"/>
            <a:ext cx="335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41" name="Google Shape;1041;p75"/>
          <p:cNvCxnSpPr/>
          <p:nvPr/>
        </p:nvCxnSpPr>
        <p:spPr>
          <a:xfrm rot="10800000">
            <a:off x="5698275" y="3722750"/>
            <a:ext cx="478200" cy="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042" name="Google Shape;1042;p75"/>
          <p:cNvSpPr txBox="1"/>
          <p:nvPr/>
        </p:nvSpPr>
        <p:spPr>
          <a:xfrm>
            <a:off x="5697392" y="3607276"/>
            <a:ext cx="486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75"/>
          <p:cNvSpPr txBox="1"/>
          <p:nvPr/>
        </p:nvSpPr>
        <p:spPr>
          <a:xfrm>
            <a:off x="6113065" y="3276261"/>
            <a:ext cx="558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60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44" name="Google Shape;1044;p75"/>
          <p:cNvCxnSpPr/>
          <p:nvPr/>
        </p:nvCxnSpPr>
        <p:spPr>
          <a:xfrm flipH="1">
            <a:off x="6176475" y="3194837"/>
            <a:ext cx="0" cy="5280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045" name="Google Shape;1045;p75"/>
          <p:cNvCxnSpPr/>
          <p:nvPr/>
        </p:nvCxnSpPr>
        <p:spPr>
          <a:xfrm>
            <a:off x="1121713" y="2158550"/>
            <a:ext cx="1520700" cy="19059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46" name="Google Shape;1046;p75"/>
          <p:cNvCxnSpPr/>
          <p:nvPr/>
        </p:nvCxnSpPr>
        <p:spPr>
          <a:xfrm>
            <a:off x="1344263" y="1975650"/>
            <a:ext cx="1520700" cy="19059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47" name="Google Shape;1047;p75"/>
          <p:cNvCxnSpPr/>
          <p:nvPr/>
        </p:nvCxnSpPr>
        <p:spPr>
          <a:xfrm rot="10800000">
            <a:off x="1396850" y="2028531"/>
            <a:ext cx="502800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048" name="Google Shape;1048;p75"/>
          <p:cNvCxnSpPr/>
          <p:nvPr/>
        </p:nvCxnSpPr>
        <p:spPr>
          <a:xfrm rot="10800000" flipH="1">
            <a:off x="1912488" y="2015320"/>
            <a:ext cx="0" cy="6600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049" name="Google Shape;1049;p75"/>
          <p:cNvCxnSpPr/>
          <p:nvPr/>
        </p:nvCxnSpPr>
        <p:spPr>
          <a:xfrm rot="10800000">
            <a:off x="1922458" y="2671750"/>
            <a:ext cx="502800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050" name="Google Shape;1050;p75"/>
          <p:cNvCxnSpPr/>
          <p:nvPr/>
        </p:nvCxnSpPr>
        <p:spPr>
          <a:xfrm rot="10800000" flipH="1">
            <a:off x="2425119" y="2662438"/>
            <a:ext cx="0" cy="6600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051" name="Google Shape;1051;p75"/>
          <p:cNvSpPr txBox="1"/>
          <p:nvPr/>
        </p:nvSpPr>
        <p:spPr>
          <a:xfrm>
            <a:off x="2354263" y="2621423"/>
            <a:ext cx="558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-65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75"/>
          <p:cNvSpPr txBox="1"/>
          <p:nvPr/>
        </p:nvSpPr>
        <p:spPr>
          <a:xfrm>
            <a:off x="1914184" y="2365456"/>
            <a:ext cx="47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75"/>
          <p:cNvSpPr txBox="1"/>
          <p:nvPr/>
        </p:nvSpPr>
        <p:spPr>
          <a:xfrm>
            <a:off x="7266558" y="4075330"/>
            <a:ext cx="515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75"/>
          <p:cNvSpPr txBox="1"/>
          <p:nvPr/>
        </p:nvSpPr>
        <p:spPr>
          <a:xfrm>
            <a:off x="7757114" y="4075330"/>
            <a:ext cx="515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60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75"/>
          <p:cNvSpPr/>
          <p:nvPr/>
        </p:nvSpPr>
        <p:spPr>
          <a:xfrm>
            <a:off x="5657671" y="2572220"/>
            <a:ext cx="2701962" cy="1437660"/>
          </a:xfrm>
          <a:custGeom>
            <a:rect l="l" t="t" r="r" b="b"/>
            <a:pathLst>
              <a:path w="101932" h="57363" extrusionOk="0">
                <a:moveTo>
                  <a:pt x="0" y="57363"/>
                </a:moveTo>
                <a:cubicBezTo>
                  <a:pt x="24" y="56700"/>
                  <a:pt x="48" y="54875"/>
                  <a:pt x="143" y="53382"/>
                </a:cubicBezTo>
                <a:cubicBezTo>
                  <a:pt x="238" y="51889"/>
                  <a:pt x="391" y="49781"/>
                  <a:pt x="569" y="48407"/>
                </a:cubicBezTo>
                <a:cubicBezTo>
                  <a:pt x="747" y="47033"/>
                  <a:pt x="877" y="46334"/>
                  <a:pt x="1209" y="45137"/>
                </a:cubicBezTo>
                <a:cubicBezTo>
                  <a:pt x="1541" y="43940"/>
                  <a:pt x="1990" y="42435"/>
                  <a:pt x="2559" y="41227"/>
                </a:cubicBezTo>
                <a:cubicBezTo>
                  <a:pt x="3128" y="40019"/>
                  <a:pt x="3697" y="39107"/>
                  <a:pt x="4621" y="37887"/>
                </a:cubicBezTo>
                <a:cubicBezTo>
                  <a:pt x="5545" y="36667"/>
                  <a:pt x="6860" y="35186"/>
                  <a:pt x="8104" y="33906"/>
                </a:cubicBezTo>
                <a:cubicBezTo>
                  <a:pt x="9348" y="32627"/>
                  <a:pt x="10816" y="31276"/>
                  <a:pt x="12084" y="30210"/>
                </a:cubicBezTo>
                <a:cubicBezTo>
                  <a:pt x="13352" y="29144"/>
                  <a:pt x="14016" y="28658"/>
                  <a:pt x="15710" y="27509"/>
                </a:cubicBezTo>
                <a:cubicBezTo>
                  <a:pt x="17404" y="26360"/>
                  <a:pt x="20200" y="24547"/>
                  <a:pt x="22249" y="23315"/>
                </a:cubicBezTo>
                <a:cubicBezTo>
                  <a:pt x="24299" y="22083"/>
                  <a:pt x="25969" y="21147"/>
                  <a:pt x="28007" y="20116"/>
                </a:cubicBezTo>
                <a:cubicBezTo>
                  <a:pt x="30045" y="19085"/>
                  <a:pt x="32343" y="18067"/>
                  <a:pt x="34475" y="17131"/>
                </a:cubicBezTo>
                <a:cubicBezTo>
                  <a:pt x="36608" y="16195"/>
                  <a:pt x="38527" y="15329"/>
                  <a:pt x="40802" y="14500"/>
                </a:cubicBezTo>
                <a:cubicBezTo>
                  <a:pt x="43077" y="13671"/>
                  <a:pt x="45422" y="12996"/>
                  <a:pt x="48123" y="12155"/>
                </a:cubicBezTo>
                <a:cubicBezTo>
                  <a:pt x="50824" y="11314"/>
                  <a:pt x="53549" y="10402"/>
                  <a:pt x="57008" y="9454"/>
                </a:cubicBezTo>
                <a:cubicBezTo>
                  <a:pt x="60467" y="8506"/>
                  <a:pt x="63832" y="7653"/>
                  <a:pt x="68879" y="6468"/>
                </a:cubicBezTo>
                <a:cubicBezTo>
                  <a:pt x="73926" y="5283"/>
                  <a:pt x="81780" y="3423"/>
                  <a:pt x="87289" y="2345"/>
                </a:cubicBezTo>
                <a:cubicBezTo>
                  <a:pt x="92798" y="1267"/>
                  <a:pt x="99492" y="391"/>
                  <a:pt x="101932" y="0"/>
                </a:cubicBezTo>
              </a:path>
            </a:pathLst>
          </a:cu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056" name="Google Shape;1056;p75"/>
          <p:cNvSpPr/>
          <p:nvPr/>
        </p:nvSpPr>
        <p:spPr>
          <a:xfrm>
            <a:off x="5532394" y="2437944"/>
            <a:ext cx="2643861" cy="1558122"/>
          </a:xfrm>
          <a:custGeom>
            <a:rect l="l" t="t" r="r" b="b"/>
            <a:pathLst>
              <a:path w="101932" h="57363" extrusionOk="0">
                <a:moveTo>
                  <a:pt x="0" y="57363"/>
                </a:moveTo>
                <a:cubicBezTo>
                  <a:pt x="24" y="56700"/>
                  <a:pt x="48" y="54875"/>
                  <a:pt x="143" y="53382"/>
                </a:cubicBezTo>
                <a:cubicBezTo>
                  <a:pt x="238" y="51889"/>
                  <a:pt x="391" y="49781"/>
                  <a:pt x="569" y="48407"/>
                </a:cubicBezTo>
                <a:cubicBezTo>
                  <a:pt x="747" y="47033"/>
                  <a:pt x="877" y="46334"/>
                  <a:pt x="1209" y="45137"/>
                </a:cubicBezTo>
                <a:cubicBezTo>
                  <a:pt x="1541" y="43940"/>
                  <a:pt x="1990" y="42435"/>
                  <a:pt x="2559" y="41227"/>
                </a:cubicBezTo>
                <a:cubicBezTo>
                  <a:pt x="3128" y="40019"/>
                  <a:pt x="3697" y="39107"/>
                  <a:pt x="4621" y="37887"/>
                </a:cubicBezTo>
                <a:cubicBezTo>
                  <a:pt x="5545" y="36667"/>
                  <a:pt x="6860" y="35186"/>
                  <a:pt x="8104" y="33906"/>
                </a:cubicBezTo>
                <a:cubicBezTo>
                  <a:pt x="9348" y="32627"/>
                  <a:pt x="10816" y="31276"/>
                  <a:pt x="12084" y="30210"/>
                </a:cubicBezTo>
                <a:cubicBezTo>
                  <a:pt x="13352" y="29144"/>
                  <a:pt x="14016" y="28658"/>
                  <a:pt x="15710" y="27509"/>
                </a:cubicBezTo>
                <a:cubicBezTo>
                  <a:pt x="17404" y="26360"/>
                  <a:pt x="20200" y="24547"/>
                  <a:pt x="22249" y="23315"/>
                </a:cubicBezTo>
                <a:cubicBezTo>
                  <a:pt x="24299" y="22083"/>
                  <a:pt x="25969" y="21147"/>
                  <a:pt x="28007" y="20116"/>
                </a:cubicBezTo>
                <a:cubicBezTo>
                  <a:pt x="30045" y="19085"/>
                  <a:pt x="32343" y="18067"/>
                  <a:pt x="34475" y="17131"/>
                </a:cubicBezTo>
                <a:cubicBezTo>
                  <a:pt x="36608" y="16195"/>
                  <a:pt x="38527" y="15329"/>
                  <a:pt x="40802" y="14500"/>
                </a:cubicBezTo>
                <a:cubicBezTo>
                  <a:pt x="43077" y="13671"/>
                  <a:pt x="45422" y="12996"/>
                  <a:pt x="48123" y="12155"/>
                </a:cubicBezTo>
                <a:cubicBezTo>
                  <a:pt x="50824" y="11314"/>
                  <a:pt x="53549" y="10402"/>
                  <a:pt x="57008" y="9454"/>
                </a:cubicBezTo>
                <a:cubicBezTo>
                  <a:pt x="60467" y="8506"/>
                  <a:pt x="63832" y="7653"/>
                  <a:pt x="68879" y="6468"/>
                </a:cubicBezTo>
                <a:cubicBezTo>
                  <a:pt x="73926" y="5283"/>
                  <a:pt x="81780" y="3423"/>
                  <a:pt x="87289" y="2345"/>
                </a:cubicBezTo>
                <a:cubicBezTo>
                  <a:pt x="92798" y="1267"/>
                  <a:pt x="99492" y="391"/>
                  <a:pt x="101932" y="0"/>
                </a:cubicBezTo>
              </a:path>
            </a:pathLst>
          </a:cu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cxnSp>
        <p:nvCxnSpPr>
          <p:cNvPr id="1057" name="Google Shape;1057;p75"/>
          <p:cNvCxnSpPr/>
          <p:nvPr/>
        </p:nvCxnSpPr>
        <p:spPr>
          <a:xfrm rot="10800000">
            <a:off x="6570288" y="3017613"/>
            <a:ext cx="478200" cy="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058" name="Google Shape;1058;p75"/>
          <p:cNvCxnSpPr/>
          <p:nvPr/>
        </p:nvCxnSpPr>
        <p:spPr>
          <a:xfrm flipH="1">
            <a:off x="7048500" y="2842125"/>
            <a:ext cx="0" cy="1773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059" name="Google Shape;1059;p75"/>
          <p:cNvSpPr txBox="1"/>
          <p:nvPr/>
        </p:nvSpPr>
        <p:spPr>
          <a:xfrm>
            <a:off x="6580983" y="2906071"/>
            <a:ext cx="486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0" name="Google Shape;1060;p75"/>
          <p:cNvSpPr txBox="1"/>
          <p:nvPr/>
        </p:nvSpPr>
        <p:spPr>
          <a:xfrm>
            <a:off x="7009493" y="2719754"/>
            <a:ext cx="558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1" name="Google Shape;1061;p75"/>
          <p:cNvSpPr txBox="1"/>
          <p:nvPr>
            <p:ph type="body" idx="1"/>
          </p:nvPr>
        </p:nvSpPr>
        <p:spPr>
          <a:xfrm>
            <a:off x="904750" y="1535700"/>
            <a:ext cx="2208900" cy="3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 b="1"/>
              <a:t>correlation</a:t>
            </a:r>
            <a:endParaRPr sz="1600">
              <a:solidFill>
                <a:schemeClr val="accent4"/>
              </a:solidFill>
            </a:endParaRPr>
          </a:p>
        </p:txBody>
      </p:sp>
      <p:sp>
        <p:nvSpPr>
          <p:cNvPr id="1062" name="Google Shape;1062;p75"/>
          <p:cNvSpPr txBox="1"/>
          <p:nvPr>
            <p:ph type="body" idx="1"/>
          </p:nvPr>
        </p:nvSpPr>
        <p:spPr>
          <a:xfrm>
            <a:off x="5185525" y="1535700"/>
            <a:ext cx="2570700" cy="3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non-linear association</a:t>
            </a:r>
            <a:r>
              <a:rPr lang="en-GB" sz="1600" b="1"/>
              <a:t> </a:t>
            </a:r>
            <a:endParaRPr sz="1600">
              <a:solidFill>
                <a:schemeClr val="accent4"/>
              </a:solidFill>
            </a:endParaRPr>
          </a:p>
        </p:txBody>
      </p:sp>
    </p:spTree>
  </p:cSld>
  <p:clrMapOvr>
    <a:masterClrMapping/>
  </p:clrMapOvr>
  <p:transition/>
  <p:timing/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66" name="Shape 1066"/>
        <p:cNvGrpSpPr/>
        <p:nvPr/>
      </p:nvGrpSpPr>
      <p:grpSpPr>
        <a:xfrm>
          <a:off x="0" y="0"/>
          <a:ext cx="0" cy="0"/>
        </a:xfrm>
      </p:grpSpPr>
      <p:sp>
        <p:nvSpPr>
          <p:cNvPr id="1067" name="Google Shape;1067;p76"/>
          <p:cNvSpPr txBox="1"/>
          <p:nvPr>
            <p:ph type="body" idx="1"/>
          </p:nvPr>
        </p:nvSpPr>
        <p:spPr>
          <a:xfrm>
            <a:off x="324000" y="759300"/>
            <a:ext cx="8496000" cy="7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1"/>
              <a:t>Correlation</a:t>
            </a:r>
            <a:r>
              <a:rPr lang="en-GB" sz="1800"/>
              <a:t> can be </a:t>
            </a:r>
            <a:r>
              <a:rPr lang="en-GB" sz="1800" b="1"/>
              <a:t>positive</a:t>
            </a:r>
            <a:r>
              <a:rPr lang="en-GB" sz="1800"/>
              <a:t> or </a:t>
            </a:r>
            <a:r>
              <a:rPr lang="en-GB" sz="1800" b="1"/>
              <a:t>negative</a:t>
            </a:r>
            <a:r>
              <a:rPr lang="en-GB" sz="1800"/>
              <a:t>, depending on the gradient of the line.</a:t>
            </a:r>
            <a:endParaRPr/>
          </a:p>
        </p:txBody>
      </p:sp>
      <p:sp>
        <p:nvSpPr>
          <p:cNvPr id="1068" name="Google Shape;1068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Recognising correlation in bivariate data</a:t>
            </a:r>
            <a:endParaRPr/>
          </a:p>
        </p:txBody>
      </p:sp>
      <p:pic>
        <p:nvPicPr>
          <p:cNvPr id="1069" name="Google Shape;1069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1417" y="1764851"/>
            <a:ext cx="2208963" cy="233328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0" name="Google Shape;1070;p76"/>
          <p:cNvGrpSpPr/>
          <p:nvPr/>
        </p:nvGrpSpPr>
        <p:grpSpPr>
          <a:xfrm>
            <a:off x="946248" y="1697840"/>
            <a:ext cx="2431195" cy="2406902"/>
            <a:chOff x="2015104" y="1439649"/>
            <a:chExt cx="3902400" cy="2982900"/>
          </a:xfrm>
        </p:grpSpPr>
        <p:cxnSp>
          <p:nvCxnSpPr>
            <p:cNvPr id="1071" name="Google Shape;1071;p76"/>
            <p:cNvCxnSpPr/>
            <p:nvPr/>
          </p:nvCxnSpPr>
          <p:spPr>
            <a:xfrm rot="10800000" flipH="1">
              <a:off x="2021739" y="1439649"/>
              <a:ext cx="0" cy="2982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72" name="Google Shape;1072;p76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073" name="Google Shape;1073;p76"/>
          <p:cNvSpPr txBox="1"/>
          <p:nvPr/>
        </p:nvSpPr>
        <p:spPr>
          <a:xfrm>
            <a:off x="686099" y="3837068"/>
            <a:ext cx="33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76"/>
          <p:cNvSpPr txBox="1"/>
          <p:nvPr/>
        </p:nvSpPr>
        <p:spPr>
          <a:xfrm>
            <a:off x="498880" y="3496383"/>
            <a:ext cx="51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76"/>
          <p:cNvSpPr txBox="1"/>
          <p:nvPr/>
        </p:nvSpPr>
        <p:spPr>
          <a:xfrm>
            <a:off x="400145" y="3108010"/>
            <a:ext cx="613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76"/>
          <p:cNvSpPr txBox="1"/>
          <p:nvPr/>
        </p:nvSpPr>
        <p:spPr>
          <a:xfrm>
            <a:off x="406692" y="2726558"/>
            <a:ext cx="613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150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76"/>
          <p:cNvSpPr txBox="1"/>
          <p:nvPr/>
        </p:nvSpPr>
        <p:spPr>
          <a:xfrm>
            <a:off x="406692" y="2326469"/>
            <a:ext cx="613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76"/>
          <p:cNvSpPr txBox="1"/>
          <p:nvPr/>
        </p:nvSpPr>
        <p:spPr>
          <a:xfrm>
            <a:off x="406692" y="1941901"/>
            <a:ext cx="613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250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76"/>
          <p:cNvSpPr txBox="1"/>
          <p:nvPr/>
        </p:nvSpPr>
        <p:spPr>
          <a:xfrm>
            <a:off x="1157931" y="3997882"/>
            <a:ext cx="47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76"/>
          <p:cNvSpPr txBox="1"/>
          <p:nvPr/>
        </p:nvSpPr>
        <p:spPr>
          <a:xfrm>
            <a:off x="1598844" y="3995630"/>
            <a:ext cx="47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76"/>
          <p:cNvSpPr txBox="1"/>
          <p:nvPr/>
        </p:nvSpPr>
        <p:spPr>
          <a:xfrm>
            <a:off x="2035152" y="3995630"/>
            <a:ext cx="47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76"/>
          <p:cNvSpPr txBox="1"/>
          <p:nvPr/>
        </p:nvSpPr>
        <p:spPr>
          <a:xfrm>
            <a:off x="2456165" y="3995619"/>
            <a:ext cx="51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76"/>
          <p:cNvSpPr txBox="1"/>
          <p:nvPr/>
        </p:nvSpPr>
        <p:spPr>
          <a:xfrm>
            <a:off x="785726" y="3999343"/>
            <a:ext cx="33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84" name="Google Shape;1084;p76"/>
          <p:cNvCxnSpPr/>
          <p:nvPr/>
        </p:nvCxnSpPr>
        <p:spPr>
          <a:xfrm flipH="1">
            <a:off x="983837" y="1927790"/>
            <a:ext cx="2033700" cy="15453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5" name="Google Shape;1085;p76"/>
          <p:cNvCxnSpPr/>
          <p:nvPr/>
        </p:nvCxnSpPr>
        <p:spPr>
          <a:xfrm flipH="1">
            <a:off x="1115825" y="2174913"/>
            <a:ext cx="2033700" cy="15453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6" name="Google Shape;1086;p76"/>
          <p:cNvCxnSpPr/>
          <p:nvPr/>
        </p:nvCxnSpPr>
        <p:spPr>
          <a:xfrm rot="10800000">
            <a:off x="1393575" y="3542653"/>
            <a:ext cx="439500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087" name="Google Shape;1087;p76"/>
          <p:cNvCxnSpPr/>
          <p:nvPr/>
        </p:nvCxnSpPr>
        <p:spPr>
          <a:xfrm flipH="1">
            <a:off x="1836904" y="3169413"/>
            <a:ext cx="0" cy="3774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088" name="Google Shape;1088;p76"/>
          <p:cNvSpPr txBox="1"/>
          <p:nvPr/>
        </p:nvSpPr>
        <p:spPr>
          <a:xfrm>
            <a:off x="1331647" y="3432652"/>
            <a:ext cx="47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76"/>
          <p:cNvSpPr txBox="1"/>
          <p:nvPr/>
        </p:nvSpPr>
        <p:spPr>
          <a:xfrm>
            <a:off x="1777377" y="3221540"/>
            <a:ext cx="66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50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90" name="Google Shape;1090;p76"/>
          <p:cNvCxnSpPr/>
          <p:nvPr/>
        </p:nvCxnSpPr>
        <p:spPr>
          <a:xfrm rot="10800000">
            <a:off x="2274125" y="2865310"/>
            <a:ext cx="439500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091" name="Google Shape;1091;p76"/>
          <p:cNvCxnSpPr/>
          <p:nvPr/>
        </p:nvCxnSpPr>
        <p:spPr>
          <a:xfrm flipH="1">
            <a:off x="2717454" y="2492070"/>
            <a:ext cx="0" cy="3774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092" name="Google Shape;1092;p76"/>
          <p:cNvSpPr txBox="1"/>
          <p:nvPr/>
        </p:nvSpPr>
        <p:spPr>
          <a:xfrm>
            <a:off x="2212197" y="2755309"/>
            <a:ext cx="47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76"/>
          <p:cNvSpPr txBox="1"/>
          <p:nvPr/>
        </p:nvSpPr>
        <p:spPr>
          <a:xfrm>
            <a:off x="2657927" y="2551352"/>
            <a:ext cx="66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50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76"/>
          <p:cNvSpPr txBox="1"/>
          <p:nvPr>
            <p:ph type="body" idx="1"/>
          </p:nvPr>
        </p:nvSpPr>
        <p:spPr>
          <a:xfrm>
            <a:off x="3474050" y="1721075"/>
            <a:ext cx="5381100" cy="104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When the points form an </a:t>
            </a:r>
            <a:r>
              <a:rPr lang="en-GB" sz="1800">
                <a:solidFill>
                  <a:schemeClr val="accent4"/>
                </a:solidFill>
              </a:rPr>
              <a:t>upward</a:t>
            </a:r>
            <a:r>
              <a:rPr lang="en-GB" sz="1800"/>
              <a:t> sloping line, we can describe the variables as having </a:t>
            </a:r>
            <a:r>
              <a:rPr lang="en-GB" sz="1800" b="1"/>
              <a:t>positive</a:t>
            </a:r>
            <a:r>
              <a:rPr lang="en-GB" sz="1800"/>
              <a:t> </a:t>
            </a:r>
            <a:r>
              <a:rPr lang="en-GB" sz="1800" b="1"/>
              <a:t>correlation</a:t>
            </a:r>
            <a:r>
              <a:rPr lang="en-GB" sz="1800"/>
              <a:t>.</a:t>
            </a:r>
            <a:endParaRPr/>
          </a:p>
        </p:txBody>
      </p:sp>
      <p:sp>
        <p:nvSpPr>
          <p:cNvPr id="1095" name="Google Shape;1095;p76"/>
          <p:cNvSpPr txBox="1"/>
          <p:nvPr/>
        </p:nvSpPr>
        <p:spPr>
          <a:xfrm rot="-5400000">
            <a:off x="-862171" y="2675985"/>
            <a:ext cx="2560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dependent variable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76"/>
          <p:cNvSpPr txBox="1"/>
          <p:nvPr/>
        </p:nvSpPr>
        <p:spPr>
          <a:xfrm>
            <a:off x="992289" y="4291085"/>
            <a:ext cx="2752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independent variable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76"/>
          <p:cNvSpPr txBox="1"/>
          <p:nvPr>
            <p:ph type="body" idx="1"/>
          </p:nvPr>
        </p:nvSpPr>
        <p:spPr>
          <a:xfrm>
            <a:off x="3474050" y="3107100"/>
            <a:ext cx="5368500" cy="7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Each time the independent variable </a:t>
            </a:r>
            <a:r>
              <a:rPr lang="en-GB" sz="1800">
                <a:solidFill>
                  <a:schemeClr val="accent4"/>
                </a:solidFill>
              </a:rPr>
              <a:t>increases </a:t>
            </a:r>
            <a:r>
              <a:rPr lang="en-GB" sz="1800"/>
              <a:t>by 10, the dependent variable </a:t>
            </a:r>
            <a:r>
              <a:rPr lang="en-GB" sz="1800">
                <a:solidFill>
                  <a:schemeClr val="accent4"/>
                </a:solidFill>
              </a:rPr>
              <a:t>increases </a:t>
            </a:r>
            <a:r>
              <a:rPr lang="en-GB" sz="1800"/>
              <a:t>by 50.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01" name="Shape 1101"/>
        <p:cNvGrpSpPr/>
        <p:nvPr/>
      </p:nvGrpSpPr>
      <p:grpSpPr>
        <a:xfrm>
          <a:off x="0" y="0"/>
          <a:ext cx="0" cy="0"/>
        </a:xfrm>
      </p:grpSpPr>
      <p:pic>
        <p:nvPicPr>
          <p:cNvPr id="1102" name="Google Shape;1102;p77"/>
          <p:cNvPicPr preferRelativeResize="0"/>
          <p:nvPr/>
        </p:nvPicPr>
        <p:blipFill>
          <a:blip r:embed="rId3">
            <a:alphaModFix/>
          </a:blip>
          <a:srcRect r="6829"/>
          <a:stretch>
            <a:fillRect/>
          </a:stretch>
        </p:blipFill>
        <p:spPr>
          <a:xfrm rot="-5400000">
            <a:off x="820500" y="1891850"/>
            <a:ext cx="2337400" cy="20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3" name="Google Shape;1103;p77"/>
          <p:cNvSpPr txBox="1"/>
          <p:nvPr>
            <p:ph type="body" idx="1"/>
          </p:nvPr>
        </p:nvSpPr>
        <p:spPr>
          <a:xfrm>
            <a:off x="324000" y="759300"/>
            <a:ext cx="8496000" cy="7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1"/>
              <a:t>Correlation</a:t>
            </a:r>
            <a:r>
              <a:rPr lang="en-GB" sz="1800"/>
              <a:t> can be </a:t>
            </a:r>
            <a:r>
              <a:rPr lang="en-GB" sz="1800" b="1"/>
              <a:t>positive</a:t>
            </a:r>
            <a:r>
              <a:rPr lang="en-GB" sz="1800"/>
              <a:t> or </a:t>
            </a:r>
            <a:r>
              <a:rPr lang="en-GB" sz="1800" b="1"/>
              <a:t>negative</a:t>
            </a:r>
            <a:r>
              <a:rPr lang="en-GB" sz="1800"/>
              <a:t>, depending on the gradient of the line.</a:t>
            </a:r>
            <a:endParaRPr/>
          </a:p>
        </p:txBody>
      </p:sp>
      <p:sp>
        <p:nvSpPr>
          <p:cNvPr id="1104" name="Google Shape;1104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Recognising correlation in bivariate data</a:t>
            </a:r>
            <a:endParaRPr/>
          </a:p>
        </p:txBody>
      </p:sp>
      <p:grpSp>
        <p:nvGrpSpPr>
          <p:cNvPr id="1105" name="Google Shape;1105;p77"/>
          <p:cNvGrpSpPr/>
          <p:nvPr/>
        </p:nvGrpSpPr>
        <p:grpSpPr>
          <a:xfrm>
            <a:off x="946248" y="1697840"/>
            <a:ext cx="2431195" cy="2406902"/>
            <a:chOff x="2015104" y="1439649"/>
            <a:chExt cx="3902400" cy="2982900"/>
          </a:xfrm>
        </p:grpSpPr>
        <p:cxnSp>
          <p:nvCxnSpPr>
            <p:cNvPr id="1106" name="Google Shape;1106;p77"/>
            <p:cNvCxnSpPr/>
            <p:nvPr/>
          </p:nvCxnSpPr>
          <p:spPr>
            <a:xfrm rot="10800000" flipH="1">
              <a:off x="2021739" y="1439649"/>
              <a:ext cx="0" cy="2982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07" name="Google Shape;1107;p77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108" name="Google Shape;1108;p77"/>
          <p:cNvSpPr txBox="1"/>
          <p:nvPr/>
        </p:nvSpPr>
        <p:spPr>
          <a:xfrm rot="-5400000">
            <a:off x="-862171" y="2675985"/>
            <a:ext cx="2560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dependent variable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77"/>
          <p:cNvSpPr txBox="1"/>
          <p:nvPr/>
        </p:nvSpPr>
        <p:spPr>
          <a:xfrm>
            <a:off x="992289" y="4291085"/>
            <a:ext cx="2752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independent variable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0" name="Google Shape;1110;p77"/>
          <p:cNvSpPr txBox="1"/>
          <p:nvPr/>
        </p:nvSpPr>
        <p:spPr>
          <a:xfrm>
            <a:off x="658448" y="3825702"/>
            <a:ext cx="361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1" name="Google Shape;1111;p77"/>
          <p:cNvSpPr txBox="1"/>
          <p:nvPr/>
        </p:nvSpPr>
        <p:spPr>
          <a:xfrm>
            <a:off x="449391" y="3361027"/>
            <a:ext cx="556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2" name="Google Shape;1112;p77"/>
          <p:cNvSpPr txBox="1"/>
          <p:nvPr/>
        </p:nvSpPr>
        <p:spPr>
          <a:xfrm>
            <a:off x="342652" y="2863489"/>
            <a:ext cx="663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77"/>
          <p:cNvSpPr txBox="1"/>
          <p:nvPr/>
        </p:nvSpPr>
        <p:spPr>
          <a:xfrm>
            <a:off x="349730" y="2365460"/>
            <a:ext cx="663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150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4" name="Google Shape;1114;p77"/>
          <p:cNvSpPr txBox="1"/>
          <p:nvPr/>
        </p:nvSpPr>
        <p:spPr>
          <a:xfrm>
            <a:off x="349730" y="1865884"/>
            <a:ext cx="663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5" name="Google Shape;1115;p77"/>
          <p:cNvSpPr txBox="1"/>
          <p:nvPr/>
        </p:nvSpPr>
        <p:spPr>
          <a:xfrm>
            <a:off x="1219011" y="4006167"/>
            <a:ext cx="51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6" name="Google Shape;1116;p77"/>
          <p:cNvSpPr txBox="1"/>
          <p:nvPr/>
        </p:nvSpPr>
        <p:spPr>
          <a:xfrm>
            <a:off x="1733500" y="4003733"/>
            <a:ext cx="51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77"/>
          <p:cNvSpPr txBox="1"/>
          <p:nvPr/>
        </p:nvSpPr>
        <p:spPr>
          <a:xfrm>
            <a:off x="2245667" y="4003733"/>
            <a:ext cx="51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8" name="Google Shape;1118;p77"/>
          <p:cNvSpPr txBox="1"/>
          <p:nvPr/>
        </p:nvSpPr>
        <p:spPr>
          <a:xfrm>
            <a:off x="2740662" y="4003721"/>
            <a:ext cx="556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9" name="Google Shape;1119;p77"/>
          <p:cNvSpPr txBox="1"/>
          <p:nvPr/>
        </p:nvSpPr>
        <p:spPr>
          <a:xfrm>
            <a:off x="766151" y="4007747"/>
            <a:ext cx="361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77"/>
          <p:cNvSpPr txBox="1"/>
          <p:nvPr/>
        </p:nvSpPr>
        <p:spPr>
          <a:xfrm>
            <a:off x="1457602" y="1645420"/>
            <a:ext cx="47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1" name="Google Shape;1121;p77"/>
          <p:cNvSpPr txBox="1"/>
          <p:nvPr/>
        </p:nvSpPr>
        <p:spPr>
          <a:xfrm>
            <a:off x="1917335" y="1903538"/>
            <a:ext cx="61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-65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22" name="Google Shape;1122;p77"/>
          <p:cNvCxnSpPr/>
          <p:nvPr/>
        </p:nvCxnSpPr>
        <p:spPr>
          <a:xfrm>
            <a:off x="1197913" y="2082350"/>
            <a:ext cx="1520700" cy="19059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3" name="Google Shape;1123;p77"/>
          <p:cNvCxnSpPr/>
          <p:nvPr/>
        </p:nvCxnSpPr>
        <p:spPr>
          <a:xfrm>
            <a:off x="1420463" y="1899450"/>
            <a:ext cx="1520700" cy="19059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4" name="Google Shape;1124;p77"/>
          <p:cNvCxnSpPr/>
          <p:nvPr/>
        </p:nvCxnSpPr>
        <p:spPr>
          <a:xfrm rot="10800000">
            <a:off x="1473050" y="1952331"/>
            <a:ext cx="502800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125" name="Google Shape;1125;p77"/>
          <p:cNvCxnSpPr/>
          <p:nvPr/>
        </p:nvCxnSpPr>
        <p:spPr>
          <a:xfrm rot="10800000" flipH="1">
            <a:off x="1988688" y="1939120"/>
            <a:ext cx="0" cy="6600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126" name="Google Shape;1126;p77"/>
          <p:cNvCxnSpPr/>
          <p:nvPr/>
        </p:nvCxnSpPr>
        <p:spPr>
          <a:xfrm rot="10800000">
            <a:off x="1998658" y="2595550"/>
            <a:ext cx="502800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127" name="Google Shape;1127;p77"/>
          <p:cNvCxnSpPr/>
          <p:nvPr/>
        </p:nvCxnSpPr>
        <p:spPr>
          <a:xfrm rot="10800000" flipH="1">
            <a:off x="2501319" y="2586238"/>
            <a:ext cx="0" cy="6600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128" name="Google Shape;1128;p77"/>
          <p:cNvSpPr txBox="1"/>
          <p:nvPr/>
        </p:nvSpPr>
        <p:spPr>
          <a:xfrm>
            <a:off x="2430463" y="2545223"/>
            <a:ext cx="558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-65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9" name="Google Shape;1129;p77"/>
          <p:cNvSpPr txBox="1"/>
          <p:nvPr/>
        </p:nvSpPr>
        <p:spPr>
          <a:xfrm>
            <a:off x="1990384" y="2289256"/>
            <a:ext cx="47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0" name="Google Shape;1130;p77"/>
          <p:cNvSpPr txBox="1"/>
          <p:nvPr>
            <p:ph type="body" idx="1"/>
          </p:nvPr>
        </p:nvSpPr>
        <p:spPr>
          <a:xfrm>
            <a:off x="3474050" y="1721075"/>
            <a:ext cx="5381100" cy="104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When the points form an </a:t>
            </a:r>
            <a:r>
              <a:rPr lang="en-GB" sz="1800">
                <a:solidFill>
                  <a:schemeClr val="accent4"/>
                </a:solidFill>
              </a:rPr>
              <a:t>downward</a:t>
            </a:r>
            <a:r>
              <a:rPr lang="en-GB" sz="1800"/>
              <a:t> sloping straight line, we can describe the variables as having </a:t>
            </a:r>
            <a:r>
              <a:rPr lang="en-GB" sz="1800" b="1"/>
              <a:t>negative correlation</a:t>
            </a:r>
            <a:r>
              <a:rPr lang="en-GB" sz="1800"/>
              <a:t>.</a:t>
            </a:r>
            <a:endParaRPr/>
          </a:p>
        </p:txBody>
      </p:sp>
      <p:sp>
        <p:nvSpPr>
          <p:cNvPr id="1131" name="Google Shape;1131;p77"/>
          <p:cNvSpPr txBox="1"/>
          <p:nvPr>
            <p:ph type="body" idx="1"/>
          </p:nvPr>
        </p:nvSpPr>
        <p:spPr>
          <a:xfrm>
            <a:off x="3474050" y="3107100"/>
            <a:ext cx="5368500" cy="7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Each time the independent variable </a:t>
            </a:r>
            <a:r>
              <a:rPr lang="en-GB" sz="1800">
                <a:solidFill>
                  <a:schemeClr val="accent4"/>
                </a:solidFill>
              </a:rPr>
              <a:t>increases </a:t>
            </a:r>
            <a:r>
              <a:rPr lang="en-GB" sz="1800"/>
              <a:t>by 10, the dependent variable </a:t>
            </a:r>
            <a:r>
              <a:rPr lang="en-GB" sz="1800">
                <a:solidFill>
                  <a:schemeClr val="accent4"/>
                </a:solidFill>
              </a:rPr>
              <a:t>decreases </a:t>
            </a:r>
            <a:r>
              <a:rPr lang="en-GB" sz="1800"/>
              <a:t>by 65.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35" name="Shape 1135"/>
        <p:cNvGrpSpPr/>
        <p:nvPr/>
      </p:nvGrpSpPr>
      <p:grpSpPr>
        <a:xfrm>
          <a:off x="0" y="0"/>
          <a:ext cx="0" cy="0"/>
        </a:xfrm>
      </p:grpSpPr>
      <p:sp>
        <p:nvSpPr>
          <p:cNvPr id="1136" name="Google Shape;1136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Recognising correlation in bivariate data</a:t>
            </a:r>
            <a:endParaRPr/>
          </a:p>
        </p:txBody>
      </p:sp>
      <p:grpSp>
        <p:nvGrpSpPr>
          <p:cNvPr id="1137" name="Google Shape;1137;p78"/>
          <p:cNvGrpSpPr/>
          <p:nvPr/>
        </p:nvGrpSpPr>
        <p:grpSpPr>
          <a:xfrm>
            <a:off x="950917" y="2159992"/>
            <a:ext cx="2782447" cy="2115036"/>
            <a:chOff x="1085924" y="1612971"/>
            <a:chExt cx="3587476" cy="2726967"/>
          </a:xfrm>
        </p:grpSpPr>
        <p:pic>
          <p:nvPicPr>
            <p:cNvPr id="1138" name="Google Shape;1138;p78"/>
            <p:cNvPicPr preferRelativeResize="0"/>
            <p:nvPr/>
          </p:nvPicPr>
          <p:blipFill>
            <a:blip r:embed="rId3">
              <a:alphaModFix/>
            </a:blip>
            <a:srcRect l="18764" t="13421" r="5143" b="5580"/>
            <a:stretch>
              <a:fillRect/>
            </a:stretch>
          </p:blipFill>
          <p:spPr>
            <a:xfrm>
              <a:off x="1085925" y="1768850"/>
              <a:ext cx="3516050" cy="2551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39" name="Google Shape;1139;p78"/>
            <p:cNvGrpSpPr/>
            <p:nvPr/>
          </p:nvGrpSpPr>
          <p:grpSpPr>
            <a:xfrm>
              <a:off x="1085924" y="1612971"/>
              <a:ext cx="3587476" cy="2726967"/>
              <a:chOff x="2015104" y="1439649"/>
              <a:chExt cx="3902400" cy="2982900"/>
            </a:xfrm>
          </p:grpSpPr>
          <p:cxnSp>
            <p:nvCxnSpPr>
              <p:cNvPr id="1140" name="Google Shape;1140;p78"/>
              <p:cNvCxnSpPr/>
              <p:nvPr/>
            </p:nvCxnSpPr>
            <p:spPr>
              <a:xfrm rot="10800000" flipH="1">
                <a:off x="2021739" y="1439649"/>
                <a:ext cx="0" cy="2982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141" name="Google Shape;1141;p78"/>
              <p:cNvCxnSpPr/>
              <p:nvPr/>
            </p:nvCxnSpPr>
            <p:spPr>
              <a:xfrm>
                <a:off x="2015104" y="4411404"/>
                <a:ext cx="3902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1142" name="Google Shape;1142;p78"/>
          <p:cNvGrpSpPr/>
          <p:nvPr/>
        </p:nvGrpSpPr>
        <p:grpSpPr>
          <a:xfrm>
            <a:off x="5424935" y="2159967"/>
            <a:ext cx="2742626" cy="2075222"/>
            <a:chOff x="5124524" y="1612971"/>
            <a:chExt cx="3603976" cy="2726967"/>
          </a:xfrm>
        </p:grpSpPr>
        <p:pic>
          <p:nvPicPr>
            <p:cNvPr id="1143" name="Google Shape;1143;p78"/>
            <p:cNvPicPr preferRelativeResize="0"/>
            <p:nvPr/>
          </p:nvPicPr>
          <p:blipFill>
            <a:blip r:embed="rId4">
              <a:alphaModFix/>
            </a:blip>
            <a:srcRect l="1980" b="3334"/>
            <a:stretch>
              <a:fillRect/>
            </a:stretch>
          </p:blipFill>
          <p:spPr>
            <a:xfrm>
              <a:off x="5124525" y="1779552"/>
              <a:ext cx="3603975" cy="25511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44" name="Google Shape;1144;p78"/>
            <p:cNvGrpSpPr/>
            <p:nvPr/>
          </p:nvGrpSpPr>
          <p:grpSpPr>
            <a:xfrm>
              <a:off x="5124524" y="1612971"/>
              <a:ext cx="3587476" cy="2726967"/>
              <a:chOff x="2015104" y="1439649"/>
              <a:chExt cx="3902400" cy="2982900"/>
            </a:xfrm>
          </p:grpSpPr>
          <p:cxnSp>
            <p:nvCxnSpPr>
              <p:cNvPr id="1145" name="Google Shape;1145;p78"/>
              <p:cNvCxnSpPr/>
              <p:nvPr/>
            </p:nvCxnSpPr>
            <p:spPr>
              <a:xfrm rot="10800000" flipH="1">
                <a:off x="2021739" y="1439649"/>
                <a:ext cx="0" cy="2982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146" name="Google Shape;1146;p78"/>
              <p:cNvCxnSpPr/>
              <p:nvPr/>
            </p:nvCxnSpPr>
            <p:spPr>
              <a:xfrm>
                <a:off x="2015104" y="4411404"/>
                <a:ext cx="3902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sp>
        <p:nvSpPr>
          <p:cNvPr id="1147" name="Google Shape;1147;p78"/>
          <p:cNvSpPr txBox="1"/>
          <p:nvPr/>
        </p:nvSpPr>
        <p:spPr>
          <a:xfrm>
            <a:off x="872675" y="4230175"/>
            <a:ext cx="2921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mean daily minimum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8" name="Google Shape;1148;p78"/>
          <p:cNvSpPr txBox="1"/>
          <p:nvPr/>
        </p:nvSpPr>
        <p:spPr>
          <a:xfrm rot="-5400000">
            <a:off x="-687509" y="2758369"/>
            <a:ext cx="2595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mean daily maximum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9" name="Google Shape;1149;p78"/>
          <p:cNvSpPr txBox="1"/>
          <p:nvPr/>
        </p:nvSpPr>
        <p:spPr>
          <a:xfrm>
            <a:off x="5360729" y="4230175"/>
            <a:ext cx="296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sunshine duration (hrs)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78"/>
          <p:cNvSpPr txBox="1"/>
          <p:nvPr/>
        </p:nvSpPr>
        <p:spPr>
          <a:xfrm rot="-5400000">
            <a:off x="3931950" y="2889774"/>
            <a:ext cx="23328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mean daily maximum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1" name="Google Shape;1151;p78"/>
          <p:cNvSpPr txBox="1"/>
          <p:nvPr>
            <p:ph type="body" idx="1"/>
          </p:nvPr>
        </p:nvSpPr>
        <p:spPr>
          <a:xfrm>
            <a:off x="324000" y="759300"/>
            <a:ext cx="82377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1"/>
              <a:t>Correlation</a:t>
            </a:r>
            <a:r>
              <a:rPr lang="en-GB" sz="1800"/>
              <a:t> can be clearer to see in some bivariate data than in others.</a:t>
            </a:r>
            <a:endParaRPr/>
          </a:p>
        </p:txBody>
      </p:sp>
      <p:sp>
        <p:nvSpPr>
          <p:cNvPr id="1152" name="Google Shape;1152;p78"/>
          <p:cNvSpPr txBox="1"/>
          <p:nvPr>
            <p:ph type="body" idx="1"/>
          </p:nvPr>
        </p:nvSpPr>
        <p:spPr>
          <a:xfrm>
            <a:off x="304250" y="1401726"/>
            <a:ext cx="8237700" cy="67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scatter graphs show weather data from the Met Office in Eastbourne for each month from 1941 to 2011. They both show </a:t>
            </a:r>
            <a:r>
              <a:rPr lang="en-GB" sz="1800" b="1"/>
              <a:t>correlation</a:t>
            </a:r>
            <a:r>
              <a:rPr lang="en-GB" sz="1800"/>
              <a:t>.</a:t>
            </a:r>
            <a:endParaRPr/>
          </a:p>
        </p:txBody>
      </p:sp>
      <p:cxnSp>
        <p:nvCxnSpPr>
          <p:cNvPr id="1153" name="Google Shape;1153;p78"/>
          <p:cNvCxnSpPr/>
          <p:nvPr/>
        </p:nvCxnSpPr>
        <p:spPr>
          <a:xfrm flipH="1">
            <a:off x="1059994" y="2475999"/>
            <a:ext cx="2249700" cy="12561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4" name="Google Shape;1154;p78"/>
          <p:cNvCxnSpPr/>
          <p:nvPr/>
        </p:nvCxnSpPr>
        <p:spPr>
          <a:xfrm flipH="1">
            <a:off x="1212394" y="2704599"/>
            <a:ext cx="2249700" cy="12561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55" name="Google Shape;1155;p78"/>
          <p:cNvGrpSpPr/>
          <p:nvPr/>
        </p:nvGrpSpPr>
        <p:grpSpPr>
          <a:xfrm>
            <a:off x="5651953" y="2257265"/>
            <a:ext cx="2249746" cy="1767404"/>
            <a:chOff x="5620316" y="2135538"/>
            <a:chExt cx="2438484" cy="1915262"/>
          </a:xfrm>
        </p:grpSpPr>
        <p:cxnSp>
          <p:nvCxnSpPr>
            <p:cNvPr id="1156" name="Google Shape;1156;p78"/>
            <p:cNvCxnSpPr/>
            <p:nvPr/>
          </p:nvCxnSpPr>
          <p:spPr>
            <a:xfrm flipH="1">
              <a:off x="5774000" y="2804000"/>
              <a:ext cx="2284800" cy="124680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7" name="Google Shape;1157;p78"/>
            <p:cNvCxnSpPr/>
            <p:nvPr/>
          </p:nvCxnSpPr>
          <p:spPr>
            <a:xfrm flipH="1">
              <a:off x="5620316" y="2135538"/>
              <a:ext cx="2284800" cy="124680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61" name="Shape 1161"/>
        <p:cNvGrpSpPr/>
        <p:nvPr/>
      </p:nvGrpSpPr>
      <p:grpSpPr>
        <a:xfrm>
          <a:off x="0" y="0"/>
          <a:ext cx="0" cy="0"/>
        </a:xfrm>
      </p:grpSpPr>
      <p:sp>
        <p:nvSpPr>
          <p:cNvPr id="1162" name="Google Shape;1162;p79"/>
          <p:cNvSpPr txBox="1"/>
          <p:nvPr>
            <p:ph type="body" idx="1"/>
          </p:nvPr>
        </p:nvSpPr>
        <p:spPr>
          <a:xfrm>
            <a:off x="324000" y="759300"/>
            <a:ext cx="8237700" cy="99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What word describes the extent to which the association is close to a linear association?</a:t>
            </a:r>
            <a:endParaRPr/>
          </a:p>
        </p:txBody>
      </p:sp>
      <p:sp>
        <p:nvSpPr>
          <p:cNvPr id="1163" name="Google Shape;1163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Recognising correlation in bivariate data</a:t>
            </a:r>
            <a:endParaRPr/>
          </a:p>
        </p:txBody>
      </p:sp>
      <p:sp>
        <p:nvSpPr>
          <p:cNvPr id="1164" name="Google Shape;1164;p79"/>
          <p:cNvSpPr txBox="1"/>
          <p:nvPr>
            <p:ph type="body" idx="1"/>
          </p:nvPr>
        </p:nvSpPr>
        <p:spPr>
          <a:xfrm>
            <a:off x="3909900" y="2474550"/>
            <a:ext cx="1324200" cy="45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latin typeface="Kalam"/>
                <a:ea typeface="Kalam"/>
                <a:cs typeface="Kalam"/>
                <a:sym typeface="Kalam"/>
              </a:rPr>
              <a:t>correlation </a:t>
            </a:r>
            <a:endParaRPr b="1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68" name="Shape 1168"/>
        <p:cNvGrpSpPr/>
        <p:nvPr/>
      </p:nvGrpSpPr>
      <p:grpSpPr>
        <a:xfrm>
          <a:off x="0" y="0"/>
          <a:ext cx="0" cy="0"/>
        </a:xfrm>
      </p:grpSpPr>
      <p:sp>
        <p:nvSpPr>
          <p:cNvPr id="1169" name="Google Shape;1169;p8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Which scatter graph shows a linear association?</a:t>
            </a:r>
            <a:endParaRPr/>
          </a:p>
        </p:txBody>
      </p:sp>
      <p:sp>
        <p:nvSpPr>
          <p:cNvPr id="1170" name="Google Shape;1170;p8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Recognising correlation in bivariate data</a:t>
            </a:r>
            <a:endParaRPr/>
          </a:p>
        </p:txBody>
      </p:sp>
      <p:pic>
        <p:nvPicPr>
          <p:cNvPr id="1171" name="Google Shape;1171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0340" y="1479700"/>
            <a:ext cx="2313674" cy="2506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2" name="Google Shape;1172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291" y="1479700"/>
            <a:ext cx="2282743" cy="2506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3" name="Google Shape;1173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5296" y="1482192"/>
            <a:ext cx="2282751" cy="2503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4" name="Google Shape;1174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51783" y="40629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78" name="Shape 1178"/>
        <p:cNvGrpSpPr/>
        <p:nvPr/>
      </p:nvGrpSpPr>
      <p:grpSpPr>
        <a:xfrm>
          <a:off x="0" y="0"/>
          <a:ext cx="0" cy="0"/>
        </a:xfrm>
      </p:grpSpPr>
      <p:sp>
        <p:nvSpPr>
          <p:cNvPr id="1179" name="Google Shape;1179;p81"/>
          <p:cNvSpPr txBox="1"/>
          <p:nvPr>
            <p:ph type="body" idx="1"/>
          </p:nvPr>
        </p:nvSpPr>
        <p:spPr>
          <a:xfrm>
            <a:off x="324000" y="759300"/>
            <a:ext cx="8237700" cy="45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Fill in the missing word to describe the </a:t>
            </a:r>
            <a:r>
              <a:rPr lang="en-GB" b="1"/>
              <a:t>correlation</a:t>
            </a:r>
            <a:r>
              <a:rPr lang="en-GB"/>
              <a:t>. </a:t>
            </a:r>
            <a:endParaRPr/>
          </a:p>
        </p:txBody>
      </p:sp>
      <p:sp>
        <p:nvSpPr>
          <p:cNvPr id="1180" name="Google Shape;1180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Recognising correlation in bivariate data</a:t>
            </a:r>
            <a:endParaRPr/>
          </a:p>
        </p:txBody>
      </p:sp>
      <p:sp>
        <p:nvSpPr>
          <p:cNvPr id="1181" name="Google Shape;1181;p81"/>
          <p:cNvSpPr txBox="1"/>
          <p:nvPr>
            <p:ph type="body" idx="1"/>
          </p:nvPr>
        </p:nvSpPr>
        <p:spPr>
          <a:xfrm>
            <a:off x="1377000" y="4099701"/>
            <a:ext cx="6118800" cy="45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variables have               </a:t>
            </a:r>
            <a:r>
              <a:rPr lang="en-GB" b="1"/>
              <a:t>correlation</a:t>
            </a:r>
            <a:r>
              <a:rPr lang="en-GB"/>
              <a:t>.</a:t>
            </a:r>
            <a:endParaRPr/>
          </a:p>
        </p:txBody>
      </p:sp>
      <p:sp>
        <p:nvSpPr>
          <p:cNvPr id="1182" name="Google Shape;1182;p81"/>
          <p:cNvSpPr txBox="1"/>
          <p:nvPr>
            <p:ph type="body" idx="1"/>
          </p:nvPr>
        </p:nvSpPr>
        <p:spPr>
          <a:xfrm>
            <a:off x="4098656" y="4099700"/>
            <a:ext cx="1194600" cy="45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latin typeface="Kalam"/>
                <a:ea typeface="Kalam"/>
                <a:cs typeface="Kalam"/>
                <a:sym typeface="Kalam"/>
              </a:rPr>
              <a:t>positive</a:t>
            </a:r>
            <a:endParaRPr b="1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183" name="Google Shape;1183;p81"/>
          <p:cNvCxnSpPr/>
          <p:nvPr/>
        </p:nvCxnSpPr>
        <p:spPr>
          <a:xfrm>
            <a:off x="4036275" y="4401350"/>
            <a:ext cx="1000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84" name="Google Shape;1184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3114" y="1362600"/>
            <a:ext cx="2877773" cy="2508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88" name="Shape 1188"/>
        <p:cNvGrpSpPr/>
        <p:nvPr/>
      </p:nvGrpSpPr>
      <p:grpSpPr>
        <a:xfrm>
          <a:off x="0" y="0"/>
          <a:ext cx="0" cy="0"/>
        </a:xfrm>
      </p:grpSpPr>
      <p:sp>
        <p:nvSpPr>
          <p:cNvPr id="1189" name="Google Shape;1189;p82"/>
          <p:cNvSpPr txBox="1"/>
          <p:nvPr>
            <p:ph type="body" idx="1"/>
          </p:nvPr>
        </p:nvSpPr>
        <p:spPr>
          <a:xfrm>
            <a:off x="324000" y="759300"/>
            <a:ext cx="8237700" cy="45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Fully describe the association shown in the scatter graph. </a:t>
            </a:r>
            <a:endParaRPr/>
          </a:p>
        </p:txBody>
      </p:sp>
      <p:sp>
        <p:nvSpPr>
          <p:cNvPr id="1190" name="Google Shape;1190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Recognising correlation in bivariate data</a:t>
            </a:r>
            <a:endParaRPr/>
          </a:p>
        </p:txBody>
      </p:sp>
      <p:sp>
        <p:nvSpPr>
          <p:cNvPr id="1191" name="Google Shape;1191;p82"/>
          <p:cNvSpPr txBox="1"/>
          <p:nvPr>
            <p:ph type="body" idx="1"/>
          </p:nvPr>
        </p:nvSpPr>
        <p:spPr>
          <a:xfrm>
            <a:off x="3006150" y="4252100"/>
            <a:ext cx="3131700" cy="45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latin typeface="Kalam"/>
                <a:ea typeface="Kalam"/>
                <a:cs typeface="Kalam"/>
                <a:sym typeface="Kalam"/>
              </a:rPr>
              <a:t>negative correlation</a:t>
            </a:r>
            <a:endParaRPr b="1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92" name="Google Shape;1192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5700" y="1451775"/>
            <a:ext cx="2432600" cy="263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96" name="Shape 1196"/>
        <p:cNvGrpSpPr/>
        <p:nvPr/>
      </p:nvGrpSpPr>
      <p:grpSpPr>
        <a:xfrm>
          <a:off x="0" y="0"/>
          <a:ext cx="0" cy="0"/>
        </a:xfrm>
      </p:grpSpPr>
      <p:sp>
        <p:nvSpPr>
          <p:cNvPr id="1197" name="Google Shape;1197;p83"/>
          <p:cNvSpPr txBox="1"/>
          <p:nvPr>
            <p:ph type="body" idx="1"/>
          </p:nvPr>
        </p:nvSpPr>
        <p:spPr>
          <a:xfrm>
            <a:off x="324000" y="605100"/>
            <a:ext cx="8496000" cy="8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b="1"/>
              <a:t>Correlation </a:t>
            </a:r>
            <a:r>
              <a:rPr lang="en-GB" sz="1800"/>
              <a:t>describes the extent to which the relationship is close to a linear relationship. In some cases, one variable may be having an affect on the other variable.</a:t>
            </a:r>
            <a:endParaRPr sz="1800"/>
          </a:p>
        </p:txBody>
      </p:sp>
      <p:sp>
        <p:nvSpPr>
          <p:cNvPr id="1198" name="Google Shape;1198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Recognising correlation in bivariate data</a:t>
            </a:r>
            <a:endParaRPr/>
          </a:p>
        </p:txBody>
      </p:sp>
      <p:pic>
        <p:nvPicPr>
          <p:cNvPr id="1199" name="Google Shape;1199;p83"/>
          <p:cNvPicPr preferRelativeResize="0"/>
          <p:nvPr/>
        </p:nvPicPr>
        <p:blipFill>
          <a:blip r:embed="rId3">
            <a:alphaModFix/>
          </a:blip>
          <a:srcRect t="12510" r="25183"/>
          <a:stretch>
            <a:fillRect/>
          </a:stretch>
        </p:blipFill>
        <p:spPr>
          <a:xfrm>
            <a:off x="880361" y="2248143"/>
            <a:ext cx="3399643" cy="2340030"/>
          </a:xfrm>
          <a:prstGeom prst="rect">
            <a:avLst/>
          </a:prstGeom>
          <a:noFill/>
          <a:ln>
            <a:noFill/>
          </a:ln>
        </p:spPr>
      </p:pic>
      <p:sp>
        <p:nvSpPr>
          <p:cNvPr id="1200" name="Google Shape;1200;p83"/>
          <p:cNvSpPr txBox="1"/>
          <p:nvPr/>
        </p:nvSpPr>
        <p:spPr>
          <a:xfrm>
            <a:off x="1527138" y="4469910"/>
            <a:ext cx="2508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population (thousands)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01" name="Google Shape;1201;p83"/>
          <p:cNvGrpSpPr/>
          <p:nvPr/>
        </p:nvGrpSpPr>
        <p:grpSpPr>
          <a:xfrm>
            <a:off x="1035285" y="2137732"/>
            <a:ext cx="3436844" cy="2361860"/>
            <a:chOff x="2015104" y="1439649"/>
            <a:chExt cx="3902400" cy="2982900"/>
          </a:xfrm>
        </p:grpSpPr>
        <p:cxnSp>
          <p:nvCxnSpPr>
            <p:cNvPr id="1202" name="Google Shape;1202;p83"/>
            <p:cNvCxnSpPr/>
            <p:nvPr/>
          </p:nvCxnSpPr>
          <p:spPr>
            <a:xfrm rot="10800000" flipH="1">
              <a:off x="2021739" y="1439649"/>
              <a:ext cx="0" cy="2982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03" name="Google Shape;1203;p83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204" name="Google Shape;1204;p83"/>
          <p:cNvSpPr txBox="1"/>
          <p:nvPr/>
        </p:nvSpPr>
        <p:spPr>
          <a:xfrm rot="-5400000">
            <a:off x="-300850" y="3184300"/>
            <a:ext cx="1836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number of property sales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5" name="Google Shape;1205;p83"/>
          <p:cNvSpPr/>
          <p:nvPr/>
        </p:nvSpPr>
        <p:spPr>
          <a:xfrm>
            <a:off x="4619725" y="2216451"/>
            <a:ext cx="3440700" cy="1124700"/>
          </a:xfrm>
          <a:prstGeom prst="wedgeRoundRectCallout">
            <a:avLst>
              <a:gd name="adj1" fmla="val 49092"/>
              <a:gd name="adj2" fmla="val 61423"/>
              <a:gd name="adj3" fmla="val 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There is a </a:t>
            </a:r>
            <a:r>
              <a:rPr lang="en-GB" sz="16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positive </a:t>
            </a: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correlation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between the population of a region and the number of properties sold.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6" name="Google Shape;1206;p83"/>
          <p:cNvSpPr/>
          <p:nvPr/>
        </p:nvSpPr>
        <p:spPr>
          <a:xfrm>
            <a:off x="4592550" y="3468600"/>
            <a:ext cx="3241500" cy="1180200"/>
          </a:xfrm>
          <a:prstGeom prst="wedgeRoundRectCallout">
            <a:avLst>
              <a:gd name="adj1" fmla="val 56956"/>
              <a:gd name="adj2" fmla="val 110"/>
              <a:gd name="adj3" fmla="val 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It looks like having more people living in a region </a:t>
            </a: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causes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more property sales.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07" name="Google Shape;1207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18400" y="297641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208" name="Google Shape;1208;p83"/>
          <p:cNvSpPr txBox="1"/>
          <p:nvPr/>
        </p:nvSpPr>
        <p:spPr>
          <a:xfrm>
            <a:off x="7740375" y="4021073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9" name="Google Shape;1209;p83"/>
          <p:cNvSpPr txBox="1"/>
          <p:nvPr>
            <p:ph type="body" idx="1"/>
          </p:nvPr>
        </p:nvSpPr>
        <p:spPr>
          <a:xfrm>
            <a:off x="324000" y="1549568"/>
            <a:ext cx="8496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scatter graph shows data from the ONS and gov.uk for 2019. Each point represents a region in England and Wales .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13" name="Shape 1213"/>
        <p:cNvGrpSpPr/>
        <p:nvPr/>
      </p:nvGrpSpPr>
      <p:grpSpPr>
        <a:xfrm>
          <a:off x="0" y="0"/>
          <a:ext cx="0" cy="0"/>
        </a:xfrm>
      </p:grpSpPr>
      <p:pic>
        <p:nvPicPr>
          <p:cNvPr id="1214" name="Google Shape;1214;p84"/>
          <p:cNvPicPr preferRelativeResize="0"/>
          <p:nvPr/>
        </p:nvPicPr>
        <p:blipFill>
          <a:blip r:embed="rId3">
            <a:alphaModFix/>
          </a:blip>
          <a:srcRect t="6208"/>
          <a:stretch>
            <a:fillRect/>
          </a:stretch>
        </p:blipFill>
        <p:spPr>
          <a:xfrm>
            <a:off x="778125" y="2306049"/>
            <a:ext cx="3495800" cy="2247027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Recognising correlation in bivariate data</a:t>
            </a:r>
            <a:endParaRPr/>
          </a:p>
        </p:txBody>
      </p:sp>
      <p:sp>
        <p:nvSpPr>
          <p:cNvPr id="1216" name="Google Shape;1216;p84"/>
          <p:cNvSpPr txBox="1"/>
          <p:nvPr/>
        </p:nvSpPr>
        <p:spPr>
          <a:xfrm>
            <a:off x="1401775" y="4465280"/>
            <a:ext cx="2575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population (thousands)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17" name="Google Shape;1217;p84"/>
          <p:cNvGrpSpPr/>
          <p:nvPr/>
        </p:nvGrpSpPr>
        <p:grpSpPr>
          <a:xfrm>
            <a:off x="889996" y="2217323"/>
            <a:ext cx="3604257" cy="2282515"/>
            <a:chOff x="2015104" y="1439649"/>
            <a:chExt cx="3902400" cy="2982900"/>
          </a:xfrm>
        </p:grpSpPr>
        <p:cxnSp>
          <p:nvCxnSpPr>
            <p:cNvPr id="1218" name="Google Shape;1218;p84"/>
            <p:cNvCxnSpPr/>
            <p:nvPr/>
          </p:nvCxnSpPr>
          <p:spPr>
            <a:xfrm rot="10800000" flipH="1">
              <a:off x="2021739" y="1439649"/>
              <a:ext cx="0" cy="2982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19" name="Google Shape;1219;p84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220" name="Google Shape;1220;p84"/>
          <p:cNvSpPr txBox="1"/>
          <p:nvPr/>
        </p:nvSpPr>
        <p:spPr>
          <a:xfrm rot="-5400000">
            <a:off x="-648050" y="2894779"/>
            <a:ext cx="23358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greenhouse gas emissions (kt CO2e)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1" name="Google Shape;1221;p84"/>
          <p:cNvSpPr/>
          <p:nvPr/>
        </p:nvSpPr>
        <p:spPr>
          <a:xfrm>
            <a:off x="4622000" y="2013525"/>
            <a:ext cx="3921300" cy="1124700"/>
          </a:xfrm>
          <a:prstGeom prst="wedgeRoundRectCallout">
            <a:avLst>
              <a:gd name="adj1" fmla="val 34946"/>
              <a:gd name="adj2" fmla="val 66462"/>
              <a:gd name="adj3" fmla="val 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There is a </a:t>
            </a:r>
            <a:r>
              <a:rPr lang="en-GB" sz="16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positive </a:t>
            </a: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correlation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between the population of a region and the amount of greenhouse gas emissions in that region.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2" name="Google Shape;1222;p84"/>
          <p:cNvSpPr/>
          <p:nvPr/>
        </p:nvSpPr>
        <p:spPr>
          <a:xfrm>
            <a:off x="4824000" y="3468600"/>
            <a:ext cx="3059100" cy="1180200"/>
          </a:xfrm>
          <a:prstGeom prst="wedgeRoundRectCallout">
            <a:avLst>
              <a:gd name="adj1" fmla="val 56956"/>
              <a:gd name="adj2" fmla="val 110"/>
              <a:gd name="adj3" fmla="val 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It looks like having more people in a region </a:t>
            </a: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leads to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more greenhouse gasses being emitted in that area.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3" name="Google Shape;1223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55012" y="3110287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4" name="Google Shape;1224;p84"/>
          <p:cNvSpPr txBox="1"/>
          <p:nvPr/>
        </p:nvSpPr>
        <p:spPr>
          <a:xfrm>
            <a:off x="7768113" y="3944873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5" name="Google Shape;1225;p84"/>
          <p:cNvSpPr txBox="1"/>
          <p:nvPr>
            <p:ph type="body" idx="1"/>
          </p:nvPr>
        </p:nvSpPr>
        <p:spPr>
          <a:xfrm>
            <a:off x="324000" y="1543799"/>
            <a:ext cx="8496000" cy="63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scatter graph shows data from gov.uk for 2019. Each point represents a region in England and Wales .</a:t>
            </a:r>
            <a:endParaRPr/>
          </a:p>
        </p:txBody>
      </p:sp>
      <p:sp>
        <p:nvSpPr>
          <p:cNvPr id="1226" name="Google Shape;1226;p84"/>
          <p:cNvSpPr txBox="1"/>
          <p:nvPr>
            <p:ph type="body" idx="1"/>
          </p:nvPr>
        </p:nvSpPr>
        <p:spPr>
          <a:xfrm>
            <a:off x="324000" y="615925"/>
            <a:ext cx="8496000" cy="8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b="1"/>
              <a:t>Correlation </a:t>
            </a:r>
            <a:r>
              <a:rPr lang="en-GB" sz="1800"/>
              <a:t>describes the extent to which the relationship is close to a linear relationship. In some cases, one variable may be having an affect on the other variable.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30" name="Shape 1230"/>
        <p:cNvGrpSpPr/>
        <p:nvPr/>
      </p:nvGrpSpPr>
      <p:grpSpPr>
        <a:xfrm>
          <a:off x="0" y="0"/>
          <a:ext cx="0" cy="0"/>
        </a:xfrm>
      </p:grpSpPr>
      <p:pic>
        <p:nvPicPr>
          <p:cNvPr id="1231" name="Google Shape;1231;p85"/>
          <p:cNvPicPr preferRelativeResize="0"/>
          <p:nvPr/>
        </p:nvPicPr>
        <p:blipFill>
          <a:blip r:embed="rId3">
            <a:alphaModFix/>
          </a:blip>
          <a:srcRect t="6699" r="26632"/>
          <a:stretch>
            <a:fillRect/>
          </a:stretch>
        </p:blipFill>
        <p:spPr>
          <a:xfrm>
            <a:off x="746150" y="2439325"/>
            <a:ext cx="3543675" cy="212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2" name="Google Shape;1232;p85"/>
          <p:cNvSpPr txBox="1"/>
          <p:nvPr>
            <p:ph type="body" idx="1"/>
          </p:nvPr>
        </p:nvSpPr>
        <p:spPr>
          <a:xfrm>
            <a:off x="324000" y="759300"/>
            <a:ext cx="8607600" cy="34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1"/>
              <a:t>Correlation</a:t>
            </a:r>
            <a:r>
              <a:rPr lang="en-GB" sz="1800"/>
              <a:t> does not always mean that one variable is affecting the other.</a:t>
            </a:r>
            <a:endParaRPr/>
          </a:p>
        </p:txBody>
      </p:sp>
      <p:sp>
        <p:nvSpPr>
          <p:cNvPr id="1233" name="Google Shape;1233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Recognising correlation in bivariate data</a:t>
            </a:r>
            <a:endParaRPr/>
          </a:p>
        </p:txBody>
      </p:sp>
      <p:sp>
        <p:nvSpPr>
          <p:cNvPr id="1234" name="Google Shape;1234;p85"/>
          <p:cNvSpPr txBox="1"/>
          <p:nvPr/>
        </p:nvSpPr>
        <p:spPr>
          <a:xfrm>
            <a:off x="1401775" y="4466519"/>
            <a:ext cx="3422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number of property sales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35" name="Google Shape;1235;p85"/>
          <p:cNvGrpSpPr/>
          <p:nvPr/>
        </p:nvGrpSpPr>
        <p:grpSpPr>
          <a:xfrm>
            <a:off x="889449" y="2292270"/>
            <a:ext cx="3543769" cy="2208539"/>
            <a:chOff x="2015104" y="1439649"/>
            <a:chExt cx="3902400" cy="2982900"/>
          </a:xfrm>
        </p:grpSpPr>
        <p:cxnSp>
          <p:nvCxnSpPr>
            <p:cNvPr id="1236" name="Google Shape;1236;p85"/>
            <p:cNvCxnSpPr/>
            <p:nvPr/>
          </p:nvCxnSpPr>
          <p:spPr>
            <a:xfrm rot="10800000" flipH="1">
              <a:off x="2021739" y="1439649"/>
              <a:ext cx="0" cy="2982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37" name="Google Shape;1237;p85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238" name="Google Shape;1238;p85"/>
          <p:cNvSpPr txBox="1"/>
          <p:nvPr/>
        </p:nvSpPr>
        <p:spPr>
          <a:xfrm rot="-5400000">
            <a:off x="-648050" y="2972218"/>
            <a:ext cx="23358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greenhouse gas emissions (kt CO2e)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85"/>
          <p:cNvSpPr txBox="1"/>
          <p:nvPr/>
        </p:nvSpPr>
        <p:spPr>
          <a:xfrm>
            <a:off x="7546178" y="404584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40" name="Google Shape;1240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18372" y="3239988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p85"/>
          <p:cNvSpPr/>
          <p:nvPr/>
        </p:nvSpPr>
        <p:spPr>
          <a:xfrm>
            <a:off x="5116675" y="2076425"/>
            <a:ext cx="3253500" cy="1124700"/>
          </a:xfrm>
          <a:prstGeom prst="wedgeRoundRectCallout">
            <a:avLst>
              <a:gd name="adj1" fmla="val 36013"/>
              <a:gd name="adj2" fmla="val 70417"/>
              <a:gd name="adj3" fmla="val 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There is a</a:t>
            </a:r>
            <a:r>
              <a:rPr lang="en-GB" sz="16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positive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correlation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between the number of property sales and greenhouse gas emissions.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85"/>
          <p:cNvSpPr/>
          <p:nvPr/>
        </p:nvSpPr>
        <p:spPr>
          <a:xfrm>
            <a:off x="4524875" y="3487725"/>
            <a:ext cx="3237600" cy="1229100"/>
          </a:xfrm>
          <a:prstGeom prst="wedgeRoundRectCallout">
            <a:avLst>
              <a:gd name="adj1" fmla="val 56372"/>
              <a:gd name="adj2" fmla="val 8865"/>
              <a:gd name="adj3" fmla="val 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It looks like selling properties </a:t>
            </a: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causes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greenhouse gas emissions. But that does not seem right.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3" name="Google Shape;1243;p85"/>
          <p:cNvSpPr txBox="1"/>
          <p:nvPr>
            <p:ph type="body" idx="1"/>
          </p:nvPr>
        </p:nvSpPr>
        <p:spPr>
          <a:xfrm>
            <a:off x="247800" y="1140380"/>
            <a:ext cx="8496000" cy="34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 Two variables may be </a:t>
            </a:r>
            <a:r>
              <a:rPr lang="en-GB" sz="1800">
                <a:solidFill>
                  <a:schemeClr val="accent4"/>
                </a:solidFill>
              </a:rPr>
              <a:t>associated</a:t>
            </a:r>
            <a:r>
              <a:rPr lang="en-GB" sz="1800"/>
              <a:t> without one directly affecting the other.</a:t>
            </a:r>
            <a:endParaRPr sz="1800"/>
          </a:p>
        </p:txBody>
      </p:sp>
      <p:sp>
        <p:nvSpPr>
          <p:cNvPr id="1244" name="Google Shape;1244;p85"/>
          <p:cNvSpPr txBox="1"/>
          <p:nvPr>
            <p:ph type="body" idx="1"/>
          </p:nvPr>
        </p:nvSpPr>
        <p:spPr>
          <a:xfrm>
            <a:off x="324000" y="1523491"/>
            <a:ext cx="8496000" cy="72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scatter graph shows data from the ONS and gov.uk for 2019. Each point represents a region in England and Wales .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48" name="Shape 1248"/>
        <p:cNvGrpSpPr/>
        <p:nvPr/>
      </p:nvGrpSpPr>
      <p:grpSpPr>
        <a:xfrm>
          <a:off x="0" y="0"/>
          <a:ext cx="0" cy="0"/>
        </a:xfrm>
      </p:grpSpPr>
      <p:pic>
        <p:nvPicPr>
          <p:cNvPr id="1249" name="Google Shape;1249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4919" y="2479383"/>
            <a:ext cx="2339074" cy="1599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0" name="Google Shape;1250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7064" y="2434118"/>
            <a:ext cx="2288754" cy="166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1" name="Google Shape;1251;p86"/>
          <p:cNvSpPr txBox="1"/>
          <p:nvPr>
            <p:ph type="body" idx="1"/>
          </p:nvPr>
        </p:nvSpPr>
        <p:spPr>
          <a:xfrm>
            <a:off x="324000" y="759300"/>
            <a:ext cx="8604000" cy="58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The explanation for why two variables </a:t>
            </a:r>
            <a:r>
              <a:rPr lang="en-GB" sz="1800" b="1">
                <a:solidFill>
                  <a:srgbClr val="000000"/>
                </a:solidFill>
              </a:rPr>
              <a:t>correlate</a:t>
            </a:r>
            <a:r>
              <a:rPr lang="en-GB" sz="1800">
                <a:solidFill>
                  <a:srgbClr val="000000"/>
                </a:solidFill>
              </a:rPr>
              <a:t> can sometimes be because there is a third variable that is having an effect on each of them.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1252" name="Google Shape;1252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Recognising correlation in bivariate data</a:t>
            </a:r>
            <a:endParaRPr/>
          </a:p>
        </p:txBody>
      </p:sp>
      <p:sp>
        <p:nvSpPr>
          <p:cNvPr id="1253" name="Google Shape;1253;p86"/>
          <p:cNvSpPr txBox="1"/>
          <p:nvPr/>
        </p:nvSpPr>
        <p:spPr>
          <a:xfrm>
            <a:off x="1363114" y="4000294"/>
            <a:ext cx="1309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population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54" name="Google Shape;1254;p86"/>
          <p:cNvGrpSpPr/>
          <p:nvPr/>
        </p:nvGrpSpPr>
        <p:grpSpPr>
          <a:xfrm>
            <a:off x="1006360" y="2434156"/>
            <a:ext cx="2288758" cy="1689216"/>
            <a:chOff x="2015104" y="1439649"/>
            <a:chExt cx="3902400" cy="2982900"/>
          </a:xfrm>
        </p:grpSpPr>
        <p:cxnSp>
          <p:nvCxnSpPr>
            <p:cNvPr id="1255" name="Google Shape;1255;p86"/>
            <p:cNvCxnSpPr/>
            <p:nvPr/>
          </p:nvCxnSpPr>
          <p:spPr>
            <a:xfrm rot="10800000" flipH="1">
              <a:off x="2021739" y="1439649"/>
              <a:ext cx="0" cy="2982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56" name="Google Shape;1256;p86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257" name="Google Shape;1257;p86"/>
          <p:cNvSpPr txBox="1"/>
          <p:nvPr/>
        </p:nvSpPr>
        <p:spPr>
          <a:xfrm rot="-5400000">
            <a:off x="-71615" y="2996800"/>
            <a:ext cx="1784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property sales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8" name="Google Shape;1258;p86"/>
          <p:cNvSpPr txBox="1"/>
          <p:nvPr/>
        </p:nvSpPr>
        <p:spPr>
          <a:xfrm>
            <a:off x="6206681" y="4000300"/>
            <a:ext cx="171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population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59" name="Google Shape;1259;p86"/>
          <p:cNvGrpSpPr/>
          <p:nvPr/>
        </p:nvGrpSpPr>
        <p:grpSpPr>
          <a:xfrm>
            <a:off x="5773769" y="2434156"/>
            <a:ext cx="2408561" cy="1689216"/>
            <a:chOff x="2015104" y="1439649"/>
            <a:chExt cx="3902400" cy="2982900"/>
          </a:xfrm>
        </p:grpSpPr>
        <p:cxnSp>
          <p:nvCxnSpPr>
            <p:cNvPr id="1260" name="Google Shape;1260;p86"/>
            <p:cNvCxnSpPr/>
            <p:nvPr/>
          </p:nvCxnSpPr>
          <p:spPr>
            <a:xfrm rot="10800000" flipH="1">
              <a:off x="2021739" y="1439649"/>
              <a:ext cx="0" cy="2982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61" name="Google Shape;1261;p86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262" name="Google Shape;1262;p86"/>
          <p:cNvSpPr txBox="1"/>
          <p:nvPr/>
        </p:nvSpPr>
        <p:spPr>
          <a:xfrm rot="-5400000">
            <a:off x="4670259" y="2953894"/>
            <a:ext cx="16245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greenhouse gas emissions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3" name="Google Shape;1263;p86"/>
          <p:cNvSpPr txBox="1"/>
          <p:nvPr/>
        </p:nvSpPr>
        <p:spPr>
          <a:xfrm>
            <a:off x="549404" y="4462167"/>
            <a:ext cx="1309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population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4" name="Google Shape;1264;p86"/>
          <p:cNvSpPr txBox="1"/>
          <p:nvPr/>
        </p:nvSpPr>
        <p:spPr>
          <a:xfrm>
            <a:off x="2167998" y="4461378"/>
            <a:ext cx="1680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property sales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65" name="Google Shape;1265;p86"/>
          <p:cNvCxnSpPr/>
          <p:nvPr/>
        </p:nvCxnSpPr>
        <p:spPr>
          <a:xfrm>
            <a:off x="1805629" y="4694576"/>
            <a:ext cx="321300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66" name="Google Shape;1266;p86"/>
          <p:cNvSpPr txBox="1"/>
          <p:nvPr/>
        </p:nvSpPr>
        <p:spPr>
          <a:xfrm>
            <a:off x="5273804" y="4462167"/>
            <a:ext cx="1309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population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7" name="Google Shape;1267;p86"/>
          <p:cNvSpPr txBox="1"/>
          <p:nvPr/>
        </p:nvSpPr>
        <p:spPr>
          <a:xfrm>
            <a:off x="6892399" y="4461378"/>
            <a:ext cx="1187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emissions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68" name="Google Shape;1268;p86"/>
          <p:cNvCxnSpPr/>
          <p:nvPr/>
        </p:nvCxnSpPr>
        <p:spPr>
          <a:xfrm>
            <a:off x="6530029" y="4694576"/>
            <a:ext cx="321300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69" name="Google Shape;1269;p86"/>
          <p:cNvSpPr txBox="1"/>
          <p:nvPr>
            <p:ph type="body" idx="1"/>
          </p:nvPr>
        </p:nvSpPr>
        <p:spPr>
          <a:xfrm>
            <a:off x="324000" y="1644550"/>
            <a:ext cx="3996000" cy="64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The </a:t>
            </a:r>
            <a:r>
              <a:rPr lang="en-GB" sz="1800">
                <a:solidFill>
                  <a:schemeClr val="accent4"/>
                </a:solidFill>
              </a:rPr>
              <a:t>population </a:t>
            </a:r>
            <a:r>
              <a:rPr lang="en-GB" sz="1800">
                <a:solidFill>
                  <a:srgbClr val="000000"/>
                </a:solidFill>
              </a:rPr>
              <a:t>of a region affects the number of </a:t>
            </a:r>
            <a:r>
              <a:rPr lang="en-GB" sz="1800">
                <a:solidFill>
                  <a:schemeClr val="accent4"/>
                </a:solidFill>
              </a:rPr>
              <a:t>properties</a:t>
            </a:r>
            <a:r>
              <a:rPr lang="en-GB" sz="1800">
                <a:solidFill>
                  <a:srgbClr val="000000"/>
                </a:solidFill>
              </a:rPr>
              <a:t> sold.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1270" name="Google Shape;1270;p86"/>
          <p:cNvSpPr txBox="1"/>
          <p:nvPr>
            <p:ph type="body" idx="1"/>
          </p:nvPr>
        </p:nvSpPr>
        <p:spPr>
          <a:xfrm>
            <a:off x="4819800" y="1644550"/>
            <a:ext cx="3996000" cy="58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The </a:t>
            </a:r>
            <a:r>
              <a:rPr lang="en-GB" sz="1800">
                <a:solidFill>
                  <a:schemeClr val="accent4"/>
                </a:solidFill>
              </a:rPr>
              <a:t>population</a:t>
            </a:r>
            <a:r>
              <a:rPr lang="en-GB" sz="1800">
                <a:solidFill>
                  <a:srgbClr val="000000"/>
                </a:solidFill>
              </a:rPr>
              <a:t> of a region affects the amount of </a:t>
            </a:r>
            <a:r>
              <a:rPr lang="en-GB" sz="1800">
                <a:solidFill>
                  <a:schemeClr val="accent4"/>
                </a:solidFill>
              </a:rPr>
              <a:t>emissions</a:t>
            </a:r>
            <a:r>
              <a:rPr lang="en-GB" sz="1800">
                <a:solidFill>
                  <a:srgbClr val="000000"/>
                </a:solidFill>
              </a:rPr>
              <a:t>.</a:t>
            </a:r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74" name="Shape 1274"/>
        <p:cNvGrpSpPr/>
        <p:nvPr/>
      </p:nvGrpSpPr>
      <p:grpSpPr>
        <a:xfrm>
          <a:off x="0" y="0"/>
          <a:ext cx="0" cy="0"/>
        </a:xfrm>
      </p:grpSpPr>
      <p:sp>
        <p:nvSpPr>
          <p:cNvPr id="1275" name="Google Shape;1275;p87"/>
          <p:cNvSpPr txBox="1"/>
          <p:nvPr>
            <p:ph type="body" idx="1"/>
          </p:nvPr>
        </p:nvSpPr>
        <p:spPr>
          <a:xfrm>
            <a:off x="324000" y="759300"/>
            <a:ext cx="8496000" cy="57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An increase in the population could cause an increase in property sales and an increase in the amount of emissions.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1276" name="Google Shape;1276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Recognising correlation in bivariate data</a:t>
            </a:r>
            <a:endParaRPr/>
          </a:p>
        </p:txBody>
      </p:sp>
      <p:sp>
        <p:nvSpPr>
          <p:cNvPr id="1277" name="Google Shape;1277;p87"/>
          <p:cNvSpPr txBox="1"/>
          <p:nvPr/>
        </p:nvSpPr>
        <p:spPr>
          <a:xfrm>
            <a:off x="2777595" y="2229600"/>
            <a:ext cx="1666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property sales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8" name="Google Shape;1278;p87"/>
          <p:cNvSpPr txBox="1"/>
          <p:nvPr/>
        </p:nvSpPr>
        <p:spPr>
          <a:xfrm>
            <a:off x="244600" y="3344125"/>
            <a:ext cx="1843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population size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9" name="Google Shape;1279;p87"/>
          <p:cNvSpPr txBox="1"/>
          <p:nvPr/>
        </p:nvSpPr>
        <p:spPr>
          <a:xfrm>
            <a:off x="2777599" y="4064172"/>
            <a:ext cx="1712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greenhouse gas emissions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80" name="Google Shape;1280;p87"/>
          <p:cNvCxnSpPr/>
          <p:nvPr/>
        </p:nvCxnSpPr>
        <p:spPr>
          <a:xfrm>
            <a:off x="1888398" y="3706647"/>
            <a:ext cx="899400" cy="777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81" name="Google Shape;1281;p87"/>
          <p:cNvCxnSpPr/>
          <p:nvPr/>
        </p:nvCxnSpPr>
        <p:spPr>
          <a:xfrm rot="10800000" flipH="1">
            <a:off x="1888398" y="2678360"/>
            <a:ext cx="899400" cy="777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82" name="Google Shape;1282;p87"/>
          <p:cNvCxnSpPr/>
          <p:nvPr/>
        </p:nvCxnSpPr>
        <p:spPr>
          <a:xfrm flipH="1">
            <a:off x="3551850" y="2691512"/>
            <a:ext cx="0" cy="14760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83" name="Google Shape;1283;p87"/>
          <p:cNvSpPr txBox="1"/>
          <p:nvPr/>
        </p:nvSpPr>
        <p:spPr>
          <a:xfrm>
            <a:off x="3608575" y="3157192"/>
            <a:ext cx="2005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associated 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84" name="Google Shape;1284;p87"/>
          <p:cNvPicPr preferRelativeResize="0"/>
          <p:nvPr/>
        </p:nvPicPr>
        <p:blipFill>
          <a:blip r:embed="rId3">
            <a:alphaModFix/>
          </a:blip>
          <a:srcRect l="2350" r="14607" b="6023"/>
          <a:stretch>
            <a:fillRect/>
          </a:stretch>
        </p:blipFill>
        <p:spPr>
          <a:xfrm>
            <a:off x="6169999" y="2971724"/>
            <a:ext cx="2056101" cy="131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p87"/>
          <p:cNvSpPr txBox="1"/>
          <p:nvPr/>
        </p:nvSpPr>
        <p:spPr>
          <a:xfrm>
            <a:off x="6278576" y="4214125"/>
            <a:ext cx="1625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property sales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86" name="Google Shape;1286;p87"/>
          <p:cNvGrpSpPr/>
          <p:nvPr/>
        </p:nvGrpSpPr>
        <p:grpSpPr>
          <a:xfrm>
            <a:off x="6150425" y="2450843"/>
            <a:ext cx="2081150" cy="1886088"/>
            <a:chOff x="2015104" y="1439649"/>
            <a:chExt cx="3902400" cy="2982900"/>
          </a:xfrm>
        </p:grpSpPr>
        <p:cxnSp>
          <p:nvCxnSpPr>
            <p:cNvPr id="1287" name="Google Shape;1287;p87"/>
            <p:cNvCxnSpPr/>
            <p:nvPr/>
          </p:nvCxnSpPr>
          <p:spPr>
            <a:xfrm rot="10800000" flipH="1">
              <a:off x="2021739" y="1439649"/>
              <a:ext cx="0" cy="2982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88" name="Google Shape;1288;p87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289" name="Google Shape;1289;p87"/>
          <p:cNvSpPr txBox="1"/>
          <p:nvPr/>
        </p:nvSpPr>
        <p:spPr>
          <a:xfrm rot="-5400000">
            <a:off x="4691301" y="2735874"/>
            <a:ext cx="23358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greenhouse 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gas emissions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87"/>
          <p:cNvSpPr txBox="1"/>
          <p:nvPr>
            <p:ph type="body" idx="1"/>
          </p:nvPr>
        </p:nvSpPr>
        <p:spPr>
          <a:xfrm>
            <a:off x="324000" y="1428000"/>
            <a:ext cx="8496000" cy="57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This could explain why there is a </a:t>
            </a:r>
            <a:r>
              <a:rPr lang="en-GB" sz="1800" b="1">
                <a:solidFill>
                  <a:srgbClr val="000000"/>
                </a:solidFill>
              </a:rPr>
              <a:t>correlation</a:t>
            </a:r>
            <a:r>
              <a:rPr lang="en-GB" sz="1800">
                <a:solidFill>
                  <a:srgbClr val="000000"/>
                </a:solidFill>
              </a:rPr>
              <a:t> between property sales and greenhouse gas emissions without one having an effect on the other.</a:t>
            </a:r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94" name="Shape 1294"/>
        <p:cNvGrpSpPr/>
        <p:nvPr/>
      </p:nvGrpSpPr>
      <p:grpSpPr>
        <a:xfrm>
          <a:off x="0" y="0"/>
          <a:ext cx="0" cy="0"/>
        </a:xfrm>
      </p:grpSpPr>
      <p:sp>
        <p:nvSpPr>
          <p:cNvPr id="1295" name="Google Shape;1295;p88"/>
          <p:cNvSpPr txBox="1"/>
          <p:nvPr>
            <p:ph type="body" idx="1"/>
          </p:nvPr>
        </p:nvSpPr>
        <p:spPr>
          <a:xfrm>
            <a:off x="324000" y="759300"/>
            <a:ext cx="8237700" cy="3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Andeep and Sofia collect data from a sample of music students.</a:t>
            </a:r>
            <a:endParaRPr sz="1800"/>
          </a:p>
        </p:txBody>
      </p:sp>
      <p:sp>
        <p:nvSpPr>
          <p:cNvPr id="1296" name="Google Shape;1296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Recognising correlation in bivariate data</a:t>
            </a:r>
            <a:endParaRPr/>
          </a:p>
        </p:txBody>
      </p:sp>
      <p:sp>
        <p:nvSpPr>
          <p:cNvPr id="1297" name="Google Shape;1297;p88"/>
          <p:cNvSpPr txBox="1"/>
          <p:nvPr>
            <p:ph type="body" idx="1"/>
          </p:nvPr>
        </p:nvSpPr>
        <p:spPr>
          <a:xfrm>
            <a:off x="324000" y="1102200"/>
            <a:ext cx="8496000" cy="72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They ask them what their </a:t>
            </a:r>
            <a:r>
              <a:rPr lang="en-GB" sz="1800">
                <a:solidFill>
                  <a:schemeClr val="accent4"/>
                </a:solidFill>
              </a:rPr>
              <a:t>score</a:t>
            </a:r>
            <a:r>
              <a:rPr lang="en-GB" sz="1800"/>
              <a:t> was on their last musical performance exam and how many hours they spent </a:t>
            </a:r>
            <a:r>
              <a:rPr lang="en-GB" sz="1800">
                <a:solidFill>
                  <a:schemeClr val="accent4"/>
                </a:solidFill>
              </a:rPr>
              <a:t>practising</a:t>
            </a:r>
            <a:r>
              <a:rPr lang="en-GB" sz="1800"/>
              <a:t> for it.</a:t>
            </a:r>
            <a:endParaRPr sz="1800"/>
          </a:p>
        </p:txBody>
      </p:sp>
      <p:sp>
        <p:nvSpPr>
          <p:cNvPr id="1298" name="Google Shape;1298;p88"/>
          <p:cNvSpPr txBox="1"/>
          <p:nvPr>
            <p:ph type="body" idx="1"/>
          </p:nvPr>
        </p:nvSpPr>
        <p:spPr>
          <a:xfrm>
            <a:off x="324000" y="1823100"/>
            <a:ext cx="8496000" cy="72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Assuming that there is a </a:t>
            </a:r>
            <a:r>
              <a:rPr lang="en-GB" sz="1800" b="1"/>
              <a:t>correlation</a:t>
            </a:r>
            <a:r>
              <a:rPr lang="en-GB" sz="1800"/>
              <a:t> between the variables, whose prediction seems most likely?</a:t>
            </a:r>
            <a:endParaRPr sz="1800"/>
          </a:p>
        </p:txBody>
      </p:sp>
      <p:pic>
        <p:nvPicPr>
          <p:cNvPr id="1299" name="Google Shape;1299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52791" y="3701725"/>
            <a:ext cx="643983" cy="830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88"/>
          <p:cNvSpPr txBox="1"/>
          <p:nvPr/>
        </p:nvSpPr>
        <p:spPr>
          <a:xfrm>
            <a:off x="238382" y="4434182"/>
            <a:ext cx="1072800" cy="4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1" name="Google Shape;1301;p88"/>
          <p:cNvSpPr txBox="1"/>
          <p:nvPr/>
        </p:nvSpPr>
        <p:spPr>
          <a:xfrm>
            <a:off x="7463313" y="439474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2" name="Google Shape;1302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7360" y="3840860"/>
            <a:ext cx="659839" cy="731991"/>
          </a:xfrm>
          <a:prstGeom prst="rect">
            <a:avLst/>
          </a:prstGeom>
          <a:noFill/>
          <a:ln>
            <a:noFill/>
          </a:ln>
        </p:spPr>
      </p:pic>
      <p:sp>
        <p:nvSpPr>
          <p:cNvPr id="1303" name="Google Shape;1303;p88"/>
          <p:cNvSpPr/>
          <p:nvPr/>
        </p:nvSpPr>
        <p:spPr>
          <a:xfrm>
            <a:off x="1194575" y="2557350"/>
            <a:ext cx="3146400" cy="1498800"/>
          </a:xfrm>
          <a:prstGeom prst="wedgeRoundRectCallout">
            <a:avLst>
              <a:gd name="adj1" fmla="val -49689"/>
              <a:gd name="adj2" fmla="val 62155"/>
              <a:gd name="adj3" fmla="val 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 expect there to be a </a:t>
            </a:r>
            <a:r>
              <a:rPr lang="en-GB" sz="16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negative </a:t>
            </a: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correlation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. This would mean that the more time someone spends practising, the </a:t>
            </a: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lower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they will score on the exam.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88"/>
          <p:cNvSpPr/>
          <p:nvPr/>
        </p:nvSpPr>
        <p:spPr>
          <a:xfrm>
            <a:off x="4572000" y="2557350"/>
            <a:ext cx="3146400" cy="1498800"/>
          </a:xfrm>
          <a:prstGeom prst="wedgeRoundRectCallout">
            <a:avLst>
              <a:gd name="adj1" fmla="val 50954"/>
              <a:gd name="adj2" fmla="val 69994"/>
              <a:gd name="adj3" fmla="val 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 expect there to be a </a:t>
            </a:r>
            <a:r>
              <a:rPr lang="en-GB" sz="16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positive </a:t>
            </a: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correlation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. This would mean that the more time someone spends practising, the </a:t>
            </a: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higher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they will score on the exam.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5" name="Google Shape;1305;p88"/>
          <p:cNvSpPr txBox="1"/>
          <p:nvPr/>
        </p:nvSpPr>
        <p:spPr>
          <a:xfrm>
            <a:off x="3838213" y="423449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Sofia 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09" name="Shape 1309"/>
        <p:cNvGrpSpPr/>
        <p:nvPr/>
      </p:nvGrpSpPr>
      <p:grpSpPr>
        <a:xfrm>
          <a:off x="0" y="0"/>
          <a:ext cx="0" cy="0"/>
        </a:xfrm>
      </p:grpSpPr>
      <p:sp>
        <p:nvSpPr>
          <p:cNvPr id="1310" name="Google Shape;1310;p89"/>
          <p:cNvSpPr txBox="1"/>
          <p:nvPr/>
        </p:nvSpPr>
        <p:spPr>
          <a:xfrm>
            <a:off x="7761150" y="4516250"/>
            <a:ext cx="821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11" name="Google Shape;1311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72849" y="3752726"/>
            <a:ext cx="821725" cy="795199"/>
          </a:xfrm>
          <a:prstGeom prst="rect">
            <a:avLst/>
          </a:prstGeom>
          <a:noFill/>
          <a:ln>
            <a:noFill/>
          </a:ln>
        </p:spPr>
      </p:pic>
      <p:sp>
        <p:nvSpPr>
          <p:cNvPr id="1312" name="Google Shape;1312;p89"/>
          <p:cNvSpPr txBox="1"/>
          <p:nvPr>
            <p:ph type="body" idx="1"/>
          </p:nvPr>
        </p:nvSpPr>
        <p:spPr>
          <a:xfrm>
            <a:off x="324000" y="759300"/>
            <a:ext cx="8237700" cy="3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Izzy and Lucas collect data from a sample of 100 m runners.</a:t>
            </a:r>
            <a:endParaRPr sz="1800"/>
          </a:p>
        </p:txBody>
      </p:sp>
      <p:sp>
        <p:nvSpPr>
          <p:cNvPr id="1313" name="Google Shape;1313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Recognising correlation in bivariate data</a:t>
            </a:r>
            <a:endParaRPr/>
          </a:p>
        </p:txBody>
      </p:sp>
      <p:sp>
        <p:nvSpPr>
          <p:cNvPr id="1314" name="Google Shape;1314;p89"/>
          <p:cNvSpPr txBox="1"/>
          <p:nvPr>
            <p:ph type="body" idx="1"/>
          </p:nvPr>
        </p:nvSpPr>
        <p:spPr>
          <a:xfrm>
            <a:off x="324000" y="1102200"/>
            <a:ext cx="8496000" cy="72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They ask how much </a:t>
            </a:r>
            <a:r>
              <a:rPr lang="en-GB" sz="1800">
                <a:solidFill>
                  <a:schemeClr val="accent4"/>
                </a:solidFill>
              </a:rPr>
              <a:t>time</a:t>
            </a:r>
            <a:r>
              <a:rPr lang="en-GB" sz="1800"/>
              <a:t> it took for them to finish their last 100 m race and how many hours they spent </a:t>
            </a:r>
            <a:r>
              <a:rPr lang="en-GB" sz="1800">
                <a:solidFill>
                  <a:schemeClr val="accent4"/>
                </a:solidFill>
              </a:rPr>
              <a:t>training</a:t>
            </a:r>
            <a:r>
              <a:rPr lang="en-GB" sz="1800"/>
              <a:t> for it.</a:t>
            </a:r>
            <a:endParaRPr sz="1800"/>
          </a:p>
        </p:txBody>
      </p:sp>
      <p:sp>
        <p:nvSpPr>
          <p:cNvPr id="1315" name="Google Shape;1315;p89"/>
          <p:cNvSpPr txBox="1"/>
          <p:nvPr>
            <p:ph type="body" idx="1"/>
          </p:nvPr>
        </p:nvSpPr>
        <p:spPr>
          <a:xfrm>
            <a:off x="324000" y="1823100"/>
            <a:ext cx="8496000" cy="72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Assuming that there is a </a:t>
            </a:r>
            <a:r>
              <a:rPr lang="en-GB" sz="1800" b="1"/>
              <a:t>correlation</a:t>
            </a:r>
            <a:r>
              <a:rPr lang="en-GB" sz="1800"/>
              <a:t> between the variables, who’s prediction seems most likely?</a:t>
            </a:r>
            <a:endParaRPr sz="1800"/>
          </a:p>
        </p:txBody>
      </p:sp>
      <p:sp>
        <p:nvSpPr>
          <p:cNvPr id="1316" name="Google Shape;1316;p89"/>
          <p:cNvSpPr/>
          <p:nvPr/>
        </p:nvSpPr>
        <p:spPr>
          <a:xfrm>
            <a:off x="1194575" y="2557350"/>
            <a:ext cx="3146400" cy="1498800"/>
          </a:xfrm>
          <a:prstGeom prst="wedgeRoundRectCallout">
            <a:avLst>
              <a:gd name="adj1" fmla="val -49689"/>
              <a:gd name="adj2" fmla="val 62155"/>
              <a:gd name="adj3" fmla="val 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 expect there to be a </a:t>
            </a:r>
            <a:r>
              <a:rPr lang="en-GB" sz="16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negative </a:t>
            </a: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correlation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. This would mean that the more time someone spends training, the </a:t>
            </a: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less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time they will take to finish the race.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7" name="Google Shape;1317;p89"/>
          <p:cNvSpPr/>
          <p:nvPr/>
        </p:nvSpPr>
        <p:spPr>
          <a:xfrm>
            <a:off x="4572000" y="2557350"/>
            <a:ext cx="3146400" cy="1498800"/>
          </a:xfrm>
          <a:prstGeom prst="wedgeRoundRectCallout">
            <a:avLst>
              <a:gd name="adj1" fmla="val 50954"/>
              <a:gd name="adj2" fmla="val 69994"/>
              <a:gd name="adj3" fmla="val 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 expect there to be a </a:t>
            </a:r>
            <a:r>
              <a:rPr lang="en-GB" sz="16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positive </a:t>
            </a: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correlation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.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would mean that the more time someone spends training, the </a:t>
            </a: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more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time they will take to finish the race.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8" name="Google Shape;1318;p89"/>
          <p:cNvSpPr txBox="1"/>
          <p:nvPr/>
        </p:nvSpPr>
        <p:spPr>
          <a:xfrm>
            <a:off x="3838213" y="423449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Izzy 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9" name="Google Shape;1319;p89"/>
          <p:cNvSpPr txBox="1"/>
          <p:nvPr/>
        </p:nvSpPr>
        <p:spPr>
          <a:xfrm>
            <a:off x="452546" y="4492674"/>
            <a:ext cx="660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20" name="Google Shape;1320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825850" y="3857529"/>
            <a:ext cx="660000" cy="740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24" name="Shape 1324"/>
        <p:cNvGrpSpPr/>
        <p:nvPr/>
      </p:nvGrpSpPr>
      <p:grpSpPr>
        <a:xfrm>
          <a:off x="0" y="0"/>
          <a:ext cx="0" cy="0"/>
        </a:xfrm>
      </p:grpSpPr>
      <p:sp>
        <p:nvSpPr>
          <p:cNvPr id="1325" name="Google Shape;1325;p90"/>
          <p:cNvSpPr txBox="1"/>
          <p:nvPr>
            <p:ph type="subTitle" idx="1"/>
          </p:nvPr>
        </p:nvSpPr>
        <p:spPr>
          <a:xfrm>
            <a:off x="980575" y="3196128"/>
            <a:ext cx="7452600" cy="77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b="1"/>
              <a:t>Correlation</a:t>
            </a:r>
            <a:r>
              <a:rPr lang="en-GB" sz="2000"/>
              <a:t> can mean that two variables are associated without one directly affecting the other.</a:t>
            </a:r>
            <a:endParaRPr sz="2000"/>
          </a:p>
        </p:txBody>
      </p:sp>
      <p:sp>
        <p:nvSpPr>
          <p:cNvPr id="1326" name="Google Shape;1326;p90"/>
          <p:cNvSpPr txBox="1"/>
          <p:nvPr>
            <p:ph type="subTitle" idx="2"/>
          </p:nvPr>
        </p:nvSpPr>
        <p:spPr>
          <a:xfrm>
            <a:off x="324000" y="1080000"/>
            <a:ext cx="8496000" cy="70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b="1"/>
              <a:t>Correlation</a:t>
            </a:r>
            <a:r>
              <a:rPr lang="en-GB" sz="2000"/>
              <a:t> always means that one variable is having an affect on the other.</a:t>
            </a:r>
            <a:endParaRPr sz="2000"/>
          </a:p>
        </p:txBody>
      </p:sp>
      <p:sp>
        <p:nvSpPr>
          <p:cNvPr id="1327" name="Google Shape;1327;p9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Variables can only </a:t>
            </a:r>
            <a:r>
              <a:rPr lang="en-GB" sz="2000" b="1"/>
              <a:t>correlate</a:t>
            </a:r>
            <a:r>
              <a:rPr lang="en-GB" sz="2000"/>
              <a:t> when one variable is affecting the other. </a:t>
            </a:r>
            <a:endParaRPr sz="2000"/>
          </a:p>
        </p:txBody>
      </p:sp>
      <p:sp>
        <p:nvSpPr>
          <p:cNvPr id="1328" name="Google Shape;1328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Recognising correlation in bivariate data</a:t>
            </a:r>
            <a:endParaRPr/>
          </a:p>
        </p:txBody>
      </p:sp>
      <p:pic>
        <p:nvPicPr>
          <p:cNvPr id="1329" name="Google Shape;1329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5458" y="18625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0" name="Google Shape;1330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5508" y="33764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34" name="Shape 1334"/>
        <p:cNvGrpSpPr/>
        <p:nvPr/>
      </p:nvGrpSpPr>
      <p:grpSpPr>
        <a:xfrm>
          <a:off x="0" y="0"/>
          <a:ext cx="0" cy="0"/>
        </a:xfrm>
      </p:grpSpPr>
      <p:sp>
        <p:nvSpPr>
          <p:cNvPr id="1335" name="Google Shape;1335;p91"/>
          <p:cNvSpPr txBox="1"/>
          <p:nvPr>
            <p:ph type="body" idx="1"/>
          </p:nvPr>
        </p:nvSpPr>
        <p:spPr>
          <a:xfrm>
            <a:off x="324000" y="759300"/>
            <a:ext cx="8237700" cy="90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Assume the two variables below have a </a:t>
            </a:r>
            <a:r>
              <a:rPr lang="en-GB" sz="2000" b="1"/>
              <a:t>correlation</a:t>
            </a:r>
            <a:r>
              <a:rPr lang="en-GB" sz="2000"/>
              <a:t>. </a:t>
            </a:r>
            <a:br>
              <a:rPr lang="en-GB" sz="2000"/>
            </a:br>
            <a:r>
              <a:rPr lang="en-GB" sz="2000"/>
              <a:t>Which type of </a:t>
            </a:r>
            <a:r>
              <a:rPr lang="en-GB" sz="2000" b="1"/>
              <a:t>correlation</a:t>
            </a:r>
            <a:r>
              <a:rPr lang="en-GB" sz="2000"/>
              <a:t> would you expect? </a:t>
            </a:r>
            <a:endParaRPr sz="2000"/>
          </a:p>
        </p:txBody>
      </p:sp>
      <p:sp>
        <p:nvSpPr>
          <p:cNvPr id="1336" name="Google Shape;1336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Recognising correlation in bivariate data</a:t>
            </a:r>
            <a:endParaRPr/>
          </a:p>
        </p:txBody>
      </p:sp>
      <p:sp>
        <p:nvSpPr>
          <p:cNvPr id="1337" name="Google Shape;1337;p91"/>
          <p:cNvSpPr txBox="1"/>
          <p:nvPr>
            <p:ph type="body" idx="1"/>
          </p:nvPr>
        </p:nvSpPr>
        <p:spPr>
          <a:xfrm>
            <a:off x="1000988" y="2500350"/>
            <a:ext cx="2964600" cy="73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number of bricklayers in a team</a:t>
            </a:r>
            <a:endParaRPr sz="2000"/>
          </a:p>
        </p:txBody>
      </p:sp>
      <p:sp>
        <p:nvSpPr>
          <p:cNvPr id="1338" name="Google Shape;1338;p91"/>
          <p:cNvSpPr txBox="1"/>
          <p:nvPr>
            <p:ph type="body" idx="1"/>
          </p:nvPr>
        </p:nvSpPr>
        <p:spPr>
          <a:xfrm>
            <a:off x="5449013" y="2500350"/>
            <a:ext cx="2694000" cy="82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number of bricks laid in a day </a:t>
            </a:r>
            <a:endParaRPr sz="2000"/>
          </a:p>
        </p:txBody>
      </p:sp>
      <p:sp>
        <p:nvSpPr>
          <p:cNvPr id="1339" name="Google Shape;1339;p91"/>
          <p:cNvSpPr txBox="1"/>
          <p:nvPr>
            <p:ph type="body" idx="1"/>
          </p:nvPr>
        </p:nvSpPr>
        <p:spPr>
          <a:xfrm>
            <a:off x="3062054" y="4001450"/>
            <a:ext cx="3026100" cy="41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latin typeface="Kalam"/>
                <a:ea typeface="Kalam"/>
                <a:cs typeface="Kalam"/>
                <a:sym typeface="Kalam"/>
              </a:rPr>
              <a:t>positive correlation</a:t>
            </a:r>
            <a:endParaRPr b="1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43" name="Shape 1343"/>
        <p:cNvGrpSpPr/>
        <p:nvPr/>
      </p:nvGrpSpPr>
      <p:grpSpPr>
        <a:xfrm>
          <a:off x="0" y="0"/>
          <a:ext cx="0" cy="0"/>
        </a:xfrm>
      </p:grpSpPr>
      <p:sp>
        <p:nvSpPr>
          <p:cNvPr id="1344" name="Google Shape;1344;p92"/>
          <p:cNvSpPr txBox="1"/>
          <p:nvPr>
            <p:ph type="body" idx="1"/>
          </p:nvPr>
        </p:nvSpPr>
        <p:spPr>
          <a:xfrm>
            <a:off x="324000" y="759300"/>
            <a:ext cx="8323500" cy="90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Assume the two variables below have a </a:t>
            </a:r>
            <a:r>
              <a:rPr lang="en-GB" sz="2000" b="1"/>
              <a:t>correlation</a:t>
            </a:r>
            <a:r>
              <a:rPr lang="en-GB" sz="2000"/>
              <a:t>. </a:t>
            </a:r>
            <a:br>
              <a:rPr lang="en-GB" sz="2000"/>
            </a:br>
            <a:r>
              <a:rPr lang="en-GB" sz="2000"/>
              <a:t>Which type of </a:t>
            </a:r>
            <a:r>
              <a:rPr lang="en-GB" sz="2000" b="1"/>
              <a:t>correlation</a:t>
            </a:r>
            <a:r>
              <a:rPr lang="en-GB" sz="2000"/>
              <a:t> would you expect? </a:t>
            </a:r>
            <a:endParaRPr sz="2000"/>
          </a:p>
        </p:txBody>
      </p:sp>
      <p:sp>
        <p:nvSpPr>
          <p:cNvPr id="1345" name="Google Shape;1345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Recognising correlation in bivariate data</a:t>
            </a:r>
            <a:endParaRPr/>
          </a:p>
        </p:txBody>
      </p:sp>
      <p:sp>
        <p:nvSpPr>
          <p:cNvPr id="1346" name="Google Shape;1346;p92"/>
          <p:cNvSpPr txBox="1"/>
          <p:nvPr>
            <p:ph type="body" idx="1"/>
          </p:nvPr>
        </p:nvSpPr>
        <p:spPr>
          <a:xfrm>
            <a:off x="1000988" y="2500350"/>
            <a:ext cx="2964600" cy="73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number of bricklayers in a team</a:t>
            </a:r>
            <a:endParaRPr sz="2000"/>
          </a:p>
        </p:txBody>
      </p:sp>
      <p:sp>
        <p:nvSpPr>
          <p:cNvPr id="1347" name="Google Shape;1347;p92"/>
          <p:cNvSpPr txBox="1"/>
          <p:nvPr>
            <p:ph type="body" idx="1"/>
          </p:nvPr>
        </p:nvSpPr>
        <p:spPr>
          <a:xfrm>
            <a:off x="5449013" y="2500350"/>
            <a:ext cx="2694000" cy="82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time it takes to complete a project</a:t>
            </a:r>
            <a:endParaRPr sz="2000"/>
          </a:p>
        </p:txBody>
      </p:sp>
      <p:sp>
        <p:nvSpPr>
          <p:cNvPr id="1348" name="Google Shape;1348;p92"/>
          <p:cNvSpPr txBox="1"/>
          <p:nvPr>
            <p:ph type="body" idx="1"/>
          </p:nvPr>
        </p:nvSpPr>
        <p:spPr>
          <a:xfrm>
            <a:off x="3062054" y="4001450"/>
            <a:ext cx="3026100" cy="41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latin typeface="Kalam"/>
                <a:ea typeface="Kalam"/>
                <a:cs typeface="Kalam"/>
                <a:sym typeface="Kalam"/>
              </a:rPr>
              <a:t>negative correlation</a:t>
            </a:r>
            <a:endParaRPr b="1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52" name="Shape 1352"/>
        <p:cNvGrpSpPr/>
        <p:nvPr/>
      </p:nvGrpSpPr>
      <p:grpSpPr>
        <a:xfrm>
          <a:off x="0" y="0"/>
          <a:ext cx="0" cy="0"/>
        </a:xfrm>
      </p:grpSpPr>
      <p:sp>
        <p:nvSpPr>
          <p:cNvPr id="1353" name="Google Shape;1353;p93"/>
          <p:cNvSpPr txBox="1"/>
          <p:nvPr>
            <p:ph type="body" idx="1"/>
          </p:nvPr>
        </p:nvSpPr>
        <p:spPr>
          <a:xfrm>
            <a:off x="324000" y="759300"/>
            <a:ext cx="8237700" cy="37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1) Fully describe the </a:t>
            </a:r>
            <a:r>
              <a:rPr lang="en-GB" sz="1600" b="1"/>
              <a:t>correlation</a:t>
            </a:r>
            <a:r>
              <a:rPr lang="en-GB" sz="1600"/>
              <a:t> in each scatter graph.</a:t>
            </a:r>
            <a:endParaRPr sz="1600"/>
          </a:p>
        </p:txBody>
      </p:sp>
      <p:sp>
        <p:nvSpPr>
          <p:cNvPr id="1354" name="Google Shape;1354;p9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Recognising correlation in bivariate data</a:t>
            </a:r>
            <a:endParaRPr/>
          </a:p>
        </p:txBody>
      </p:sp>
      <p:sp>
        <p:nvSpPr>
          <p:cNvPr id="1355" name="Google Shape;1355;p93"/>
          <p:cNvSpPr txBox="1"/>
          <p:nvPr>
            <p:ph type="body" idx="1"/>
          </p:nvPr>
        </p:nvSpPr>
        <p:spPr>
          <a:xfrm>
            <a:off x="324000" y="2797793"/>
            <a:ext cx="8237700" cy="67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2) For each set of bivariate data, tick whether you would expect the </a:t>
            </a:r>
            <a:r>
              <a:rPr lang="en-GB" sz="1600" b="1"/>
              <a:t>correlation</a:t>
            </a:r>
            <a:r>
              <a:rPr lang="en-GB" sz="1600"/>
              <a:t> to </a:t>
            </a:r>
            <a:br>
              <a:rPr lang="en-GB" sz="1600"/>
            </a:br>
            <a:r>
              <a:rPr lang="en-GB" sz="1600"/>
              <a:t>    be </a:t>
            </a:r>
            <a:r>
              <a:rPr lang="en-GB" sz="1600" b="1"/>
              <a:t>positive </a:t>
            </a:r>
            <a:r>
              <a:rPr lang="en-GB" sz="1600"/>
              <a:t>or </a:t>
            </a:r>
            <a:r>
              <a:rPr lang="en-GB" sz="1600" b="1"/>
              <a:t>negative</a:t>
            </a:r>
            <a:r>
              <a:rPr lang="en-GB" sz="1600"/>
              <a:t>.</a:t>
            </a:r>
            <a:endParaRPr sz="1600"/>
          </a:p>
        </p:txBody>
      </p:sp>
      <p:graphicFrame>
        <p:nvGraphicFramePr>
          <p:cNvPr id="1356" name="Google Shape;1356;p93"/>
          <p:cNvGraphicFramePr>
            <a:graphicFrameLocks noGrp="1"/>
          </p:cNvGraphicFramePr>
          <p:nvPr/>
        </p:nvGraphicFramePr>
        <p:xfrm>
          <a:off x="826211" y="3406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{D29B8D57-E61F-4377-8CAB-62687854C047}</a:tableStyleId>
              </a:tblPr>
              <a:tblGrid>
                <a:gridCol w="4946450"/>
                <a:gridCol w="1255325"/>
                <a:gridCol w="1244800"/>
              </a:tblGrid>
              <a:tr h="35775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positive </a:t>
                      </a:r>
                      <a:endParaRPr sz="16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negative </a:t>
                      </a:r>
                      <a:endParaRPr sz="16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775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children’s heights and their shoe sizes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775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steepness of a hill and walking speed up the hill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1357" name="Google Shape;1357;p93"/>
          <p:cNvGrpSpPr/>
          <p:nvPr/>
        </p:nvGrpSpPr>
        <p:grpSpPr>
          <a:xfrm>
            <a:off x="784063" y="1052026"/>
            <a:ext cx="1734343" cy="1403543"/>
            <a:chOff x="784123" y="1051989"/>
            <a:chExt cx="1930909" cy="1562443"/>
          </a:xfrm>
        </p:grpSpPr>
        <p:pic>
          <p:nvPicPr>
            <p:cNvPr id="1358" name="Google Shape;1358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84123" y="1132197"/>
              <a:ext cx="1856143" cy="148222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59" name="Google Shape;1359;p93"/>
            <p:cNvGrpSpPr/>
            <p:nvPr/>
          </p:nvGrpSpPr>
          <p:grpSpPr>
            <a:xfrm>
              <a:off x="784125" y="1051989"/>
              <a:ext cx="1930908" cy="1562443"/>
              <a:chOff x="2015104" y="1439649"/>
              <a:chExt cx="3902400" cy="2982900"/>
            </a:xfrm>
          </p:grpSpPr>
          <p:cxnSp>
            <p:nvCxnSpPr>
              <p:cNvPr id="1360" name="Google Shape;1360;p93"/>
              <p:cNvCxnSpPr/>
              <p:nvPr/>
            </p:nvCxnSpPr>
            <p:spPr>
              <a:xfrm rot="10800000" flipH="1">
                <a:off x="2021739" y="1439649"/>
                <a:ext cx="0" cy="2982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361" name="Google Shape;1361;p93"/>
              <p:cNvCxnSpPr/>
              <p:nvPr/>
            </p:nvCxnSpPr>
            <p:spPr>
              <a:xfrm>
                <a:off x="2015104" y="4411404"/>
                <a:ext cx="3902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1362" name="Google Shape;1362;p93"/>
          <p:cNvGrpSpPr/>
          <p:nvPr/>
        </p:nvGrpSpPr>
        <p:grpSpPr>
          <a:xfrm>
            <a:off x="5050800" y="1052033"/>
            <a:ext cx="1545765" cy="1403543"/>
            <a:chOff x="4975204" y="1051997"/>
            <a:chExt cx="1720958" cy="1562443"/>
          </a:xfrm>
        </p:grpSpPr>
        <p:pic>
          <p:nvPicPr>
            <p:cNvPr id="1363" name="Google Shape;1363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5051358" y="1090962"/>
              <a:ext cx="1475451" cy="15706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64" name="Google Shape;1364;p93"/>
            <p:cNvGrpSpPr/>
            <p:nvPr/>
          </p:nvGrpSpPr>
          <p:grpSpPr>
            <a:xfrm>
              <a:off x="4975204" y="1051997"/>
              <a:ext cx="1720958" cy="1562443"/>
              <a:chOff x="2015104" y="1439649"/>
              <a:chExt cx="3902400" cy="2982900"/>
            </a:xfrm>
          </p:grpSpPr>
          <p:cxnSp>
            <p:nvCxnSpPr>
              <p:cNvPr id="1365" name="Google Shape;1365;p93"/>
              <p:cNvCxnSpPr/>
              <p:nvPr/>
            </p:nvCxnSpPr>
            <p:spPr>
              <a:xfrm rot="10800000" flipH="1">
                <a:off x="2021739" y="1439649"/>
                <a:ext cx="0" cy="2982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366" name="Google Shape;1366;p93"/>
              <p:cNvCxnSpPr/>
              <p:nvPr/>
            </p:nvCxnSpPr>
            <p:spPr>
              <a:xfrm>
                <a:off x="2015104" y="4411404"/>
                <a:ext cx="3902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sp>
        <p:nvSpPr>
          <p:cNvPr id="1367" name="Google Shape;1367;p93"/>
          <p:cNvSpPr txBox="1"/>
          <p:nvPr>
            <p:ph type="body" idx="1"/>
          </p:nvPr>
        </p:nvSpPr>
        <p:spPr>
          <a:xfrm>
            <a:off x="324000" y="1080000"/>
            <a:ext cx="239700" cy="37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a)</a:t>
            </a:r>
            <a:endParaRPr sz="1600"/>
          </a:p>
        </p:txBody>
      </p:sp>
      <p:sp>
        <p:nvSpPr>
          <p:cNvPr id="1368" name="Google Shape;1368;p93"/>
          <p:cNvSpPr txBox="1"/>
          <p:nvPr>
            <p:ph type="body" idx="1"/>
          </p:nvPr>
        </p:nvSpPr>
        <p:spPr>
          <a:xfrm>
            <a:off x="4770000" y="1080000"/>
            <a:ext cx="239700" cy="37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b)</a:t>
            </a:r>
            <a:endParaRPr sz="1600"/>
          </a:p>
        </p:txBody>
      </p:sp>
    </p:spTree>
  </p:cSld>
  <p:clrMapOvr>
    <a:masterClrMapping/>
  </p:clrMapOvr>
  <p:transition/>
  <p:timing/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72" name="Shape 1372"/>
        <p:cNvGrpSpPr/>
        <p:nvPr/>
      </p:nvGrpSpPr>
      <p:grpSpPr>
        <a:xfrm>
          <a:off x="0" y="0"/>
          <a:ext cx="0" cy="0"/>
        </a:xfrm>
      </p:grpSpPr>
      <p:pic>
        <p:nvPicPr>
          <p:cNvPr id="1373" name="Google Shape;1373;p94"/>
          <p:cNvPicPr preferRelativeResize="0"/>
          <p:nvPr/>
        </p:nvPicPr>
        <p:blipFill>
          <a:blip r:embed="rId3">
            <a:alphaModFix/>
          </a:blip>
          <a:srcRect r="20127"/>
          <a:stretch>
            <a:fillRect/>
          </a:stretch>
        </p:blipFill>
        <p:spPr>
          <a:xfrm>
            <a:off x="6784231" y="1275861"/>
            <a:ext cx="2070524" cy="1719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4" name="Google Shape;1374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668" y="1613177"/>
            <a:ext cx="1930866" cy="1382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5" name="Google Shape;1375;p94"/>
          <p:cNvPicPr preferRelativeResize="0"/>
          <p:nvPr/>
        </p:nvPicPr>
        <p:blipFill>
          <a:blip r:embed="rId5">
            <a:alphaModFix/>
          </a:blip>
          <a:srcRect r="22015"/>
          <a:stretch>
            <a:fillRect/>
          </a:stretch>
        </p:blipFill>
        <p:spPr>
          <a:xfrm>
            <a:off x="3838650" y="1328025"/>
            <a:ext cx="1861910" cy="161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6" name="Google Shape;1376;p94"/>
          <p:cNvSpPr txBox="1"/>
          <p:nvPr>
            <p:ph type="body" idx="1"/>
          </p:nvPr>
        </p:nvSpPr>
        <p:spPr>
          <a:xfrm>
            <a:off x="324000" y="759300"/>
            <a:ext cx="8237700" cy="59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3) The three scatter graphs show data from the Office for National Statistics. </a:t>
            </a:r>
            <a:br>
              <a:rPr lang="en-GB" sz="1600"/>
            </a:br>
            <a:r>
              <a:rPr lang="en-GB" sz="1600"/>
              <a:t>    Each point represents a region in England and Wales in 2015.</a:t>
            </a:r>
            <a:endParaRPr sz="1600"/>
          </a:p>
        </p:txBody>
      </p:sp>
      <p:sp>
        <p:nvSpPr>
          <p:cNvPr id="1377" name="Google Shape;1377;p9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Recognising correlation in bivariate data</a:t>
            </a:r>
            <a:endParaRPr/>
          </a:p>
        </p:txBody>
      </p:sp>
      <p:sp>
        <p:nvSpPr>
          <p:cNvPr id="1378" name="Google Shape;1378;p94"/>
          <p:cNvSpPr txBox="1"/>
          <p:nvPr/>
        </p:nvSpPr>
        <p:spPr>
          <a:xfrm>
            <a:off x="969072" y="2884425"/>
            <a:ext cx="1278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population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79" name="Google Shape;1379;p94"/>
          <p:cNvGrpSpPr/>
          <p:nvPr/>
        </p:nvGrpSpPr>
        <p:grpSpPr>
          <a:xfrm>
            <a:off x="784125" y="1432989"/>
            <a:ext cx="1930908" cy="1562443"/>
            <a:chOff x="2015104" y="1439649"/>
            <a:chExt cx="3902400" cy="2982900"/>
          </a:xfrm>
        </p:grpSpPr>
        <p:cxnSp>
          <p:nvCxnSpPr>
            <p:cNvPr id="1380" name="Google Shape;1380;p94"/>
            <p:cNvCxnSpPr/>
            <p:nvPr/>
          </p:nvCxnSpPr>
          <p:spPr>
            <a:xfrm rot="10800000" flipH="1">
              <a:off x="2021739" y="1439649"/>
              <a:ext cx="0" cy="2982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81" name="Google Shape;1381;p94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382" name="Google Shape;1382;p94"/>
          <p:cNvSpPr txBox="1"/>
          <p:nvPr/>
        </p:nvSpPr>
        <p:spPr>
          <a:xfrm rot="-5400000">
            <a:off x="-281800" y="1714887"/>
            <a:ext cx="16449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cell phone towers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3" name="Google Shape;1383;p94"/>
          <p:cNvSpPr txBox="1"/>
          <p:nvPr/>
        </p:nvSpPr>
        <p:spPr>
          <a:xfrm>
            <a:off x="4023524" y="2852700"/>
            <a:ext cx="1278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population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84" name="Google Shape;1384;p94"/>
          <p:cNvGrpSpPr/>
          <p:nvPr/>
        </p:nvGrpSpPr>
        <p:grpSpPr>
          <a:xfrm>
            <a:off x="3838725" y="1405551"/>
            <a:ext cx="1930908" cy="1562443"/>
            <a:chOff x="2015104" y="1439649"/>
            <a:chExt cx="3902400" cy="2982900"/>
          </a:xfrm>
        </p:grpSpPr>
        <p:cxnSp>
          <p:nvCxnSpPr>
            <p:cNvPr id="1385" name="Google Shape;1385;p94"/>
            <p:cNvCxnSpPr/>
            <p:nvPr/>
          </p:nvCxnSpPr>
          <p:spPr>
            <a:xfrm rot="10800000" flipH="1">
              <a:off x="2021739" y="1439649"/>
              <a:ext cx="0" cy="2982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86" name="Google Shape;1386;p94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387" name="Google Shape;1387;p94"/>
          <p:cNvSpPr txBox="1"/>
          <p:nvPr/>
        </p:nvSpPr>
        <p:spPr>
          <a:xfrm rot="-5400000">
            <a:off x="2804635" y="1463562"/>
            <a:ext cx="1775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transport emissions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8" name="Google Shape;1388;p94"/>
          <p:cNvSpPr txBox="1"/>
          <p:nvPr/>
        </p:nvSpPr>
        <p:spPr>
          <a:xfrm>
            <a:off x="6784230" y="2900250"/>
            <a:ext cx="2010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cell phone towers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89" name="Google Shape;1389;p94"/>
          <p:cNvGrpSpPr/>
          <p:nvPr/>
        </p:nvGrpSpPr>
        <p:grpSpPr>
          <a:xfrm>
            <a:off x="6768869" y="1446715"/>
            <a:ext cx="2010907" cy="1562443"/>
            <a:chOff x="2015104" y="1439649"/>
            <a:chExt cx="3902400" cy="2982900"/>
          </a:xfrm>
        </p:grpSpPr>
        <p:cxnSp>
          <p:nvCxnSpPr>
            <p:cNvPr id="1390" name="Google Shape;1390;p94"/>
            <p:cNvCxnSpPr/>
            <p:nvPr/>
          </p:nvCxnSpPr>
          <p:spPr>
            <a:xfrm rot="10800000" flipH="1">
              <a:off x="2021739" y="1439649"/>
              <a:ext cx="0" cy="2982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91" name="Google Shape;1391;p94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392" name="Google Shape;1392;p94"/>
          <p:cNvSpPr txBox="1"/>
          <p:nvPr/>
        </p:nvSpPr>
        <p:spPr>
          <a:xfrm rot="-5400000">
            <a:off x="5822758" y="1628287"/>
            <a:ext cx="1603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transport emissions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3" name="Google Shape;1393;p94"/>
          <p:cNvSpPr txBox="1"/>
          <p:nvPr>
            <p:ph type="body" idx="1"/>
          </p:nvPr>
        </p:nvSpPr>
        <p:spPr>
          <a:xfrm>
            <a:off x="551450" y="3407550"/>
            <a:ext cx="8010300" cy="9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Jacob thinks that the third scatter graph shows that cell phone towers cause more traffic pollution because there is a </a:t>
            </a:r>
            <a:r>
              <a:rPr lang="en-GB" sz="1600" b="1"/>
              <a:t>positive correlation</a:t>
            </a:r>
            <a:r>
              <a:rPr lang="en-GB" sz="1600"/>
              <a:t>. 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Explain why Jacob could be wrong.</a:t>
            </a:r>
            <a:endParaRPr sz="1600"/>
          </a:p>
        </p:txBody>
      </p:sp>
    </p:spTree>
  </p:cSld>
  <p:clrMapOvr>
    <a:masterClrMapping/>
  </p:clrMapOvr>
  <p:transition/>
  <p:timing/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97" name="Shape 1397"/>
        <p:cNvGrpSpPr/>
        <p:nvPr/>
      </p:nvGrpSpPr>
      <p:grpSpPr>
        <a:xfrm>
          <a:off x="0" y="0"/>
          <a:ext cx="0" cy="0"/>
        </a:xfrm>
      </p:grpSpPr>
      <p:sp>
        <p:nvSpPr>
          <p:cNvPr id="1398" name="Google Shape;1398;p9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1) Fully describe the </a:t>
            </a:r>
            <a:r>
              <a:rPr lang="en-GB" sz="1600" b="1"/>
              <a:t>correlation</a:t>
            </a:r>
            <a:r>
              <a:rPr lang="en-GB" sz="1600"/>
              <a:t> in each scatter graph.</a:t>
            </a:r>
            <a:endParaRPr sz="1600"/>
          </a:p>
        </p:txBody>
      </p:sp>
      <p:sp>
        <p:nvSpPr>
          <p:cNvPr id="1399" name="Google Shape;1399;p9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Recognising correlation in bivariate data</a:t>
            </a:r>
            <a:endParaRPr/>
          </a:p>
        </p:txBody>
      </p:sp>
      <p:sp>
        <p:nvSpPr>
          <p:cNvPr id="1400" name="Google Shape;1400;p95"/>
          <p:cNvSpPr txBox="1"/>
          <p:nvPr>
            <p:ph type="body" idx="1"/>
          </p:nvPr>
        </p:nvSpPr>
        <p:spPr>
          <a:xfrm>
            <a:off x="324000" y="2797793"/>
            <a:ext cx="8237700" cy="67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2) For each set of bivariate data, tick whether you would expect the </a:t>
            </a:r>
            <a:r>
              <a:rPr lang="en-GB" sz="1600" b="1"/>
              <a:t>correlation</a:t>
            </a:r>
            <a:r>
              <a:rPr lang="en-GB" sz="1600"/>
              <a:t> to </a:t>
            </a:r>
            <a:br>
              <a:rPr lang="en-GB" sz="1600"/>
            </a:br>
            <a:r>
              <a:rPr lang="en-GB" sz="1600"/>
              <a:t>    be </a:t>
            </a:r>
            <a:r>
              <a:rPr lang="en-GB" sz="1600" b="1"/>
              <a:t>positive </a:t>
            </a:r>
            <a:r>
              <a:rPr lang="en-GB" sz="1600"/>
              <a:t>or </a:t>
            </a:r>
            <a:r>
              <a:rPr lang="en-GB" sz="1600" b="1"/>
              <a:t>negative</a:t>
            </a:r>
            <a:r>
              <a:rPr lang="en-GB" sz="1600"/>
              <a:t>.</a:t>
            </a:r>
            <a:endParaRPr sz="1600"/>
          </a:p>
        </p:txBody>
      </p:sp>
      <p:graphicFrame>
        <p:nvGraphicFramePr>
          <p:cNvPr id="1401" name="Google Shape;1401;p95"/>
          <p:cNvGraphicFramePr>
            <a:graphicFrameLocks noGrp="1"/>
          </p:cNvGraphicFramePr>
          <p:nvPr/>
        </p:nvGraphicFramePr>
        <p:xfrm>
          <a:off x="826211" y="3406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{D29B8D57-E61F-4377-8CAB-62687854C047}</a:tableStyleId>
              </a:tblPr>
              <a:tblGrid>
                <a:gridCol w="4946450"/>
                <a:gridCol w="1255325"/>
                <a:gridCol w="1244800"/>
              </a:tblGrid>
              <a:tr h="35775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positive </a:t>
                      </a:r>
                      <a:endParaRPr sz="16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negative </a:t>
                      </a:r>
                      <a:endParaRPr sz="16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775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children’s heights and their shoe sizes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775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steepness of a hill and walking speed up the hill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1402" name="Google Shape;1402;p95"/>
          <p:cNvGrpSpPr/>
          <p:nvPr/>
        </p:nvGrpSpPr>
        <p:grpSpPr>
          <a:xfrm>
            <a:off x="784063" y="1052026"/>
            <a:ext cx="1734343" cy="1403543"/>
            <a:chOff x="784123" y="1051989"/>
            <a:chExt cx="1930909" cy="1562443"/>
          </a:xfrm>
        </p:grpSpPr>
        <p:pic>
          <p:nvPicPr>
            <p:cNvPr id="1403" name="Google Shape;1403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84123" y="1132197"/>
              <a:ext cx="1856143" cy="148222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04" name="Google Shape;1404;p95"/>
            <p:cNvGrpSpPr/>
            <p:nvPr/>
          </p:nvGrpSpPr>
          <p:grpSpPr>
            <a:xfrm>
              <a:off x="784125" y="1051989"/>
              <a:ext cx="1930908" cy="1562443"/>
              <a:chOff x="2015104" y="1439649"/>
              <a:chExt cx="3902400" cy="2982900"/>
            </a:xfrm>
          </p:grpSpPr>
          <p:cxnSp>
            <p:nvCxnSpPr>
              <p:cNvPr id="1405" name="Google Shape;1405;p95"/>
              <p:cNvCxnSpPr/>
              <p:nvPr/>
            </p:nvCxnSpPr>
            <p:spPr>
              <a:xfrm rot="10800000" flipH="1">
                <a:off x="2021739" y="1439649"/>
                <a:ext cx="0" cy="2982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406" name="Google Shape;1406;p95"/>
              <p:cNvCxnSpPr/>
              <p:nvPr/>
            </p:nvCxnSpPr>
            <p:spPr>
              <a:xfrm>
                <a:off x="2015104" y="4411404"/>
                <a:ext cx="3902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1407" name="Google Shape;1407;p95"/>
          <p:cNvGrpSpPr/>
          <p:nvPr/>
        </p:nvGrpSpPr>
        <p:grpSpPr>
          <a:xfrm>
            <a:off x="5050800" y="1052033"/>
            <a:ext cx="1545765" cy="1403543"/>
            <a:chOff x="4975204" y="1051997"/>
            <a:chExt cx="1720958" cy="1562443"/>
          </a:xfrm>
        </p:grpSpPr>
        <p:pic>
          <p:nvPicPr>
            <p:cNvPr id="1408" name="Google Shape;1408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5051358" y="1090962"/>
              <a:ext cx="1475451" cy="15706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09" name="Google Shape;1409;p95"/>
            <p:cNvGrpSpPr/>
            <p:nvPr/>
          </p:nvGrpSpPr>
          <p:grpSpPr>
            <a:xfrm>
              <a:off x="4975204" y="1051997"/>
              <a:ext cx="1720958" cy="1562443"/>
              <a:chOff x="2015104" y="1439649"/>
              <a:chExt cx="3902400" cy="2982900"/>
            </a:xfrm>
          </p:grpSpPr>
          <p:cxnSp>
            <p:nvCxnSpPr>
              <p:cNvPr id="1410" name="Google Shape;1410;p95"/>
              <p:cNvCxnSpPr/>
              <p:nvPr/>
            </p:nvCxnSpPr>
            <p:spPr>
              <a:xfrm rot="10800000" flipH="1">
                <a:off x="2021739" y="1439649"/>
                <a:ext cx="0" cy="2982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411" name="Google Shape;1411;p95"/>
              <p:cNvCxnSpPr/>
              <p:nvPr/>
            </p:nvCxnSpPr>
            <p:spPr>
              <a:xfrm>
                <a:off x="2015104" y="4411404"/>
                <a:ext cx="3902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sp>
        <p:nvSpPr>
          <p:cNvPr id="1412" name="Google Shape;1412;p95"/>
          <p:cNvSpPr txBox="1"/>
          <p:nvPr>
            <p:ph type="body" idx="1"/>
          </p:nvPr>
        </p:nvSpPr>
        <p:spPr>
          <a:xfrm>
            <a:off x="324000" y="1080000"/>
            <a:ext cx="239700" cy="37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a)</a:t>
            </a:r>
            <a:endParaRPr sz="1600"/>
          </a:p>
        </p:txBody>
      </p:sp>
      <p:sp>
        <p:nvSpPr>
          <p:cNvPr id="1413" name="Google Shape;1413;p95"/>
          <p:cNvSpPr txBox="1"/>
          <p:nvPr>
            <p:ph type="body" idx="1"/>
          </p:nvPr>
        </p:nvSpPr>
        <p:spPr>
          <a:xfrm>
            <a:off x="4770000" y="1080000"/>
            <a:ext cx="239700" cy="37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b)</a:t>
            </a:r>
            <a:endParaRPr sz="1600"/>
          </a:p>
        </p:txBody>
      </p:sp>
      <p:sp>
        <p:nvSpPr>
          <p:cNvPr id="1414" name="Google Shape;1414;p95"/>
          <p:cNvSpPr txBox="1"/>
          <p:nvPr>
            <p:ph type="body" idx="1"/>
          </p:nvPr>
        </p:nvSpPr>
        <p:spPr>
          <a:xfrm>
            <a:off x="2553100" y="1513800"/>
            <a:ext cx="2207100" cy="7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b="1">
                <a:latin typeface="Kalam"/>
                <a:ea typeface="Kalam"/>
                <a:cs typeface="Kalam"/>
                <a:sym typeface="Kalam"/>
              </a:rPr>
              <a:t>positive correlation</a:t>
            </a:r>
            <a:endParaRPr sz="2000" b="1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15" name="Google Shape;1415;p95"/>
          <p:cNvSpPr txBox="1"/>
          <p:nvPr>
            <p:ph type="body" idx="1"/>
          </p:nvPr>
        </p:nvSpPr>
        <p:spPr>
          <a:xfrm>
            <a:off x="6543775" y="1513800"/>
            <a:ext cx="2342400" cy="7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b="1">
                <a:latin typeface="Kalam"/>
                <a:ea typeface="Kalam"/>
                <a:cs typeface="Kalam"/>
                <a:sym typeface="Kalam"/>
              </a:rPr>
              <a:t>negative correlation</a:t>
            </a:r>
            <a:endParaRPr sz="2000" b="1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416" name="Google Shape;1416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6908" y="38129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7" name="Google Shape;1417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9208" y="42599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21" name="Shape 1421"/>
        <p:cNvGrpSpPr/>
        <p:nvPr/>
      </p:nvGrpSpPr>
      <p:grpSpPr>
        <a:xfrm>
          <a:off x="0" y="0"/>
          <a:ext cx="0" cy="0"/>
        </a:xfrm>
      </p:grpSpPr>
      <p:pic>
        <p:nvPicPr>
          <p:cNvPr id="1422" name="Google Shape;1422;p96"/>
          <p:cNvPicPr preferRelativeResize="0"/>
          <p:nvPr/>
        </p:nvPicPr>
        <p:blipFill>
          <a:blip r:embed="rId3">
            <a:alphaModFix/>
          </a:blip>
          <a:srcRect t="13681" r="25512"/>
          <a:stretch>
            <a:fillRect/>
          </a:stretch>
        </p:blipFill>
        <p:spPr>
          <a:xfrm>
            <a:off x="6784225" y="1511100"/>
            <a:ext cx="1930901" cy="148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3" name="Google Shape;1423;p96"/>
          <p:cNvPicPr preferRelativeResize="0"/>
          <p:nvPr/>
        </p:nvPicPr>
        <p:blipFill>
          <a:blip r:embed="rId4">
            <a:alphaModFix/>
          </a:blip>
          <a:srcRect t="-3626"/>
          <a:stretch>
            <a:fillRect/>
          </a:stretch>
        </p:blipFill>
        <p:spPr>
          <a:xfrm>
            <a:off x="770837" y="1541540"/>
            <a:ext cx="1930849" cy="143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4" name="Google Shape;1424;p96"/>
          <p:cNvPicPr preferRelativeResize="0"/>
          <p:nvPr/>
        </p:nvPicPr>
        <p:blipFill>
          <a:blip r:embed="rId5">
            <a:alphaModFix/>
          </a:blip>
          <a:srcRect t="8181" r="22015"/>
          <a:stretch>
            <a:fillRect/>
          </a:stretch>
        </p:blipFill>
        <p:spPr>
          <a:xfrm>
            <a:off x="3838650" y="1460200"/>
            <a:ext cx="1861901" cy="1484251"/>
          </a:xfrm>
          <a:prstGeom prst="rect">
            <a:avLst/>
          </a:prstGeom>
          <a:noFill/>
          <a:ln>
            <a:noFill/>
          </a:ln>
        </p:spPr>
      </p:pic>
      <p:sp>
        <p:nvSpPr>
          <p:cNvPr id="1425" name="Google Shape;1425;p96"/>
          <p:cNvSpPr txBox="1"/>
          <p:nvPr>
            <p:ph type="body" idx="1"/>
          </p:nvPr>
        </p:nvSpPr>
        <p:spPr>
          <a:xfrm>
            <a:off x="324000" y="759300"/>
            <a:ext cx="8237700" cy="51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3) The three scatter graphs show data from the Office for National Statistics. </a:t>
            </a:r>
            <a:br>
              <a:rPr lang="en-GB" sz="1600"/>
            </a:br>
            <a:r>
              <a:rPr lang="en-GB" sz="1600"/>
              <a:t>    Each point represents a region in England and Wales in 2015.</a:t>
            </a:r>
            <a:endParaRPr sz="1600"/>
          </a:p>
        </p:txBody>
      </p:sp>
      <p:sp>
        <p:nvSpPr>
          <p:cNvPr id="1426" name="Google Shape;1426;p9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Recognising correlation in bivariate data</a:t>
            </a:r>
            <a:endParaRPr/>
          </a:p>
        </p:txBody>
      </p:sp>
      <p:sp>
        <p:nvSpPr>
          <p:cNvPr id="1427" name="Google Shape;1427;p96"/>
          <p:cNvSpPr txBox="1"/>
          <p:nvPr/>
        </p:nvSpPr>
        <p:spPr>
          <a:xfrm>
            <a:off x="969072" y="2884425"/>
            <a:ext cx="1278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population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28" name="Google Shape;1428;p96"/>
          <p:cNvGrpSpPr/>
          <p:nvPr/>
        </p:nvGrpSpPr>
        <p:grpSpPr>
          <a:xfrm>
            <a:off x="784125" y="1432989"/>
            <a:ext cx="1930908" cy="1562443"/>
            <a:chOff x="2015104" y="1439649"/>
            <a:chExt cx="3902400" cy="2982900"/>
          </a:xfrm>
        </p:grpSpPr>
        <p:cxnSp>
          <p:nvCxnSpPr>
            <p:cNvPr id="1429" name="Google Shape;1429;p96"/>
            <p:cNvCxnSpPr/>
            <p:nvPr/>
          </p:nvCxnSpPr>
          <p:spPr>
            <a:xfrm rot="10800000" flipH="1">
              <a:off x="2021739" y="1439649"/>
              <a:ext cx="0" cy="2982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30" name="Google Shape;1430;p96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431" name="Google Shape;1431;p96"/>
          <p:cNvSpPr txBox="1"/>
          <p:nvPr/>
        </p:nvSpPr>
        <p:spPr>
          <a:xfrm rot="-5400000">
            <a:off x="-281800" y="1714887"/>
            <a:ext cx="16449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cell phone towers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2" name="Google Shape;1432;p96"/>
          <p:cNvSpPr txBox="1"/>
          <p:nvPr/>
        </p:nvSpPr>
        <p:spPr>
          <a:xfrm>
            <a:off x="4023524" y="2852700"/>
            <a:ext cx="1278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population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33" name="Google Shape;1433;p96"/>
          <p:cNvGrpSpPr/>
          <p:nvPr/>
        </p:nvGrpSpPr>
        <p:grpSpPr>
          <a:xfrm>
            <a:off x="3838725" y="1405551"/>
            <a:ext cx="1930908" cy="1562443"/>
            <a:chOff x="2015104" y="1439649"/>
            <a:chExt cx="3902400" cy="2982900"/>
          </a:xfrm>
        </p:grpSpPr>
        <p:cxnSp>
          <p:nvCxnSpPr>
            <p:cNvPr id="1434" name="Google Shape;1434;p96"/>
            <p:cNvCxnSpPr/>
            <p:nvPr/>
          </p:nvCxnSpPr>
          <p:spPr>
            <a:xfrm rot="10800000" flipH="1">
              <a:off x="2021739" y="1439649"/>
              <a:ext cx="0" cy="2982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35" name="Google Shape;1435;p96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436" name="Google Shape;1436;p96"/>
          <p:cNvSpPr txBox="1"/>
          <p:nvPr/>
        </p:nvSpPr>
        <p:spPr>
          <a:xfrm rot="-5400000">
            <a:off x="2804635" y="1463562"/>
            <a:ext cx="1775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transport emissions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7" name="Google Shape;1437;p96"/>
          <p:cNvSpPr txBox="1"/>
          <p:nvPr/>
        </p:nvSpPr>
        <p:spPr>
          <a:xfrm>
            <a:off x="6784230" y="2900250"/>
            <a:ext cx="2010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cell phone towers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38" name="Google Shape;1438;p96"/>
          <p:cNvGrpSpPr/>
          <p:nvPr/>
        </p:nvGrpSpPr>
        <p:grpSpPr>
          <a:xfrm>
            <a:off x="6768869" y="1446715"/>
            <a:ext cx="2010907" cy="1562443"/>
            <a:chOff x="2015104" y="1439649"/>
            <a:chExt cx="3902400" cy="2982900"/>
          </a:xfrm>
        </p:grpSpPr>
        <p:cxnSp>
          <p:nvCxnSpPr>
            <p:cNvPr id="1439" name="Google Shape;1439;p96"/>
            <p:cNvCxnSpPr/>
            <p:nvPr/>
          </p:nvCxnSpPr>
          <p:spPr>
            <a:xfrm rot="10800000" flipH="1">
              <a:off x="2021739" y="1439649"/>
              <a:ext cx="0" cy="2982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40" name="Google Shape;1440;p96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441" name="Google Shape;1441;p96"/>
          <p:cNvSpPr txBox="1"/>
          <p:nvPr/>
        </p:nvSpPr>
        <p:spPr>
          <a:xfrm rot="-5400000">
            <a:off x="5822758" y="1628287"/>
            <a:ext cx="1603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transport emissions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2" name="Google Shape;1442;p96"/>
          <p:cNvSpPr txBox="1"/>
          <p:nvPr>
            <p:ph type="body" idx="1"/>
          </p:nvPr>
        </p:nvSpPr>
        <p:spPr>
          <a:xfrm>
            <a:off x="551450" y="3407550"/>
            <a:ext cx="8010300" cy="9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Jacob thinks that the third scatter graph shows that cell phone towers cause more traffic pollution because there is a </a:t>
            </a:r>
            <a:r>
              <a:rPr lang="en-GB" sz="1600" b="1"/>
              <a:t>positive correlation</a:t>
            </a:r>
            <a:r>
              <a:rPr lang="en-GB" sz="1600"/>
              <a:t>. 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Explain why Jacob could be wrong.</a:t>
            </a:r>
            <a:endParaRPr sz="1600"/>
          </a:p>
        </p:txBody>
      </p:sp>
    </p:spTree>
  </p:cSld>
  <p:clrMapOvr>
    <a:masterClrMapping/>
  </p:clrMapOvr>
  <p:transition/>
  <p:timing/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46" name="Shape 1446"/>
        <p:cNvGrpSpPr/>
        <p:nvPr/>
      </p:nvGrpSpPr>
      <p:grpSpPr>
        <a:xfrm>
          <a:off x="0" y="0"/>
          <a:ext cx="0" cy="0"/>
        </a:xfrm>
      </p:grpSpPr>
      <p:sp>
        <p:nvSpPr>
          <p:cNvPr id="1447" name="Google Shape;1447;p9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Recognising correlation in bivariate data</a:t>
            </a:r>
            <a:endParaRPr/>
          </a:p>
        </p:txBody>
      </p:sp>
      <p:sp>
        <p:nvSpPr>
          <p:cNvPr id="1448" name="Google Shape;1448;p97"/>
          <p:cNvSpPr txBox="1"/>
          <p:nvPr>
            <p:ph type="body" idx="1"/>
          </p:nvPr>
        </p:nvSpPr>
        <p:spPr>
          <a:xfrm>
            <a:off x="324000" y="816750"/>
            <a:ext cx="8237700" cy="9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3) Jacob thinks that the third scatter graph shows that cell phone towers cause </a:t>
            </a:r>
            <a:br>
              <a:rPr lang="en-GB" sz="1600"/>
            </a:br>
            <a:r>
              <a:rPr lang="en-GB" sz="1600"/>
              <a:t>    more traffic pollution because there is a </a:t>
            </a:r>
            <a:r>
              <a:rPr lang="en-GB" sz="1600" b="1"/>
              <a:t>positive correlation</a:t>
            </a:r>
            <a:r>
              <a:rPr lang="en-GB" sz="1600"/>
              <a:t>. 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    Explain why Jacob could be wrong.</a:t>
            </a:r>
            <a:endParaRPr sz="1600"/>
          </a:p>
        </p:txBody>
      </p:sp>
      <p:sp>
        <p:nvSpPr>
          <p:cNvPr id="1449" name="Google Shape;1449;p97"/>
          <p:cNvSpPr txBox="1"/>
          <p:nvPr>
            <p:ph type="body" idx="1"/>
          </p:nvPr>
        </p:nvSpPr>
        <p:spPr>
          <a:xfrm>
            <a:off x="505025" y="2027850"/>
            <a:ext cx="8315100" cy="47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b="1">
                <a:latin typeface="Kalam"/>
                <a:ea typeface="Kalam"/>
                <a:cs typeface="Kalam"/>
                <a:sym typeface="Kalam"/>
              </a:rPr>
              <a:t>Correlation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does not always mean that one variable is affecting the other.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0" name="Google Shape;1450;p97"/>
          <p:cNvSpPr txBox="1"/>
          <p:nvPr>
            <p:ph type="body" idx="1"/>
          </p:nvPr>
        </p:nvSpPr>
        <p:spPr>
          <a:xfrm>
            <a:off x="505025" y="2690125"/>
            <a:ext cx="8196300" cy="73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b="1">
                <a:latin typeface="Kalam"/>
                <a:ea typeface="Kalam"/>
                <a:cs typeface="Kalam"/>
                <a:sym typeface="Kalam"/>
              </a:rPr>
              <a:t>Correlation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may suggest there is an association between the variables, not necessarily a cause and effect relationship.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1" name="Google Shape;1451;p97"/>
          <p:cNvSpPr txBox="1"/>
          <p:nvPr>
            <p:ph type="body" idx="1"/>
          </p:nvPr>
        </p:nvSpPr>
        <p:spPr>
          <a:xfrm>
            <a:off x="475250" y="3733400"/>
            <a:ext cx="8315100" cy="73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number of cell phone towers and the amount of traffic emissions could both be affected the population of the region.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55" name="Shape 1455"/>
        <p:cNvGrpSpPr/>
        <p:nvPr/>
      </p:nvGrpSpPr>
      <p:grpSpPr>
        <a:xfrm>
          <a:off x="0" y="0"/>
          <a:ext cx="0" cy="0"/>
        </a:xfrm>
      </p:grpSpPr>
      <p:sp>
        <p:nvSpPr>
          <p:cNvPr id="1456" name="Google Shape;1456;p9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Recognising correlation in bivariate data</a:t>
            </a:r>
            <a:endParaRPr/>
          </a:p>
        </p:txBody>
      </p:sp>
      <p:sp>
        <p:nvSpPr>
          <p:cNvPr id="1457" name="Google Shape;1457;p98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Interpreting bivariate data without correlation</a:t>
            </a:r>
            <a:endParaRPr/>
          </a:p>
        </p:txBody>
      </p:sp>
      <p:sp>
        <p:nvSpPr>
          <p:cNvPr id="1458" name="Google Shape;1458;p98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Correlation</a:t>
            </a:r>
            <a:endParaRPr/>
          </a:p>
        </p:txBody>
      </p:sp>
      <p:pic>
        <p:nvPicPr>
          <p:cNvPr id="1459" name="Google Shape;1459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025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63" name="Shape 1463"/>
        <p:cNvGrpSpPr/>
        <p:nvPr/>
      </p:nvGrpSpPr>
      <p:grpSpPr>
        <a:xfrm>
          <a:off x="0" y="0"/>
          <a:ext cx="0" cy="0"/>
        </a:xfrm>
      </p:grpSpPr>
      <p:sp>
        <p:nvSpPr>
          <p:cNvPr id="1464" name="Google Shape;1464;p99"/>
          <p:cNvSpPr txBox="1"/>
          <p:nvPr>
            <p:ph type="body" idx="1"/>
          </p:nvPr>
        </p:nvSpPr>
        <p:spPr>
          <a:xfrm>
            <a:off x="324000" y="759300"/>
            <a:ext cx="8237700" cy="49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Bivariate data does not always have </a:t>
            </a:r>
            <a:r>
              <a:rPr lang="en-GB" sz="1800" b="1"/>
              <a:t>correlation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465" name="Google Shape;1465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Interpreting bivariate data without correlation</a:t>
            </a:r>
            <a:endParaRPr/>
          </a:p>
        </p:txBody>
      </p:sp>
      <p:sp>
        <p:nvSpPr>
          <p:cNvPr id="1466" name="Google Shape;1466;p99"/>
          <p:cNvSpPr txBox="1"/>
          <p:nvPr>
            <p:ph type="body" idx="1"/>
          </p:nvPr>
        </p:nvSpPr>
        <p:spPr>
          <a:xfrm>
            <a:off x="324000" y="1153550"/>
            <a:ext cx="8496000" cy="36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Sometimes the points on a scatter graph </a:t>
            </a:r>
            <a:r>
              <a:rPr lang="en-GB" sz="1800">
                <a:solidFill>
                  <a:schemeClr val="accent5"/>
                </a:solidFill>
              </a:rPr>
              <a:t>do not</a:t>
            </a:r>
            <a:r>
              <a:rPr lang="en-GB" sz="1800"/>
              <a:t> have a shape or pattern.</a:t>
            </a:r>
            <a:endParaRPr/>
          </a:p>
        </p:txBody>
      </p:sp>
      <p:sp>
        <p:nvSpPr>
          <p:cNvPr id="1467" name="Google Shape;1467;p99"/>
          <p:cNvSpPr txBox="1"/>
          <p:nvPr/>
        </p:nvSpPr>
        <p:spPr>
          <a:xfrm>
            <a:off x="247800" y="1499800"/>
            <a:ext cx="8496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these cases, the variables can be described as having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no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correlation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8" name="Google Shape;1468;p99"/>
          <p:cNvSpPr txBox="1"/>
          <p:nvPr/>
        </p:nvSpPr>
        <p:spPr>
          <a:xfrm>
            <a:off x="4572000" y="3607900"/>
            <a:ext cx="4254600" cy="10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No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correlation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can suggest that there may not be a linear  association between the variables.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69" name="Google Shape;1469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600" y="2304136"/>
            <a:ext cx="3419540" cy="228911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0" name="Google Shape;1470;p99"/>
          <p:cNvGrpSpPr/>
          <p:nvPr/>
        </p:nvGrpSpPr>
        <p:grpSpPr>
          <a:xfrm>
            <a:off x="973237" y="2129743"/>
            <a:ext cx="3493038" cy="2368423"/>
            <a:chOff x="2015104" y="1439649"/>
            <a:chExt cx="3902400" cy="2982900"/>
          </a:xfrm>
        </p:grpSpPr>
        <p:cxnSp>
          <p:nvCxnSpPr>
            <p:cNvPr id="1471" name="Google Shape;1471;p99"/>
            <p:cNvCxnSpPr/>
            <p:nvPr/>
          </p:nvCxnSpPr>
          <p:spPr>
            <a:xfrm rot="10800000" flipH="1">
              <a:off x="2021739" y="1439649"/>
              <a:ext cx="0" cy="2982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72" name="Google Shape;1472;p99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473" name="Google Shape;1473;p99"/>
          <p:cNvSpPr txBox="1"/>
          <p:nvPr/>
        </p:nvSpPr>
        <p:spPr>
          <a:xfrm>
            <a:off x="1668000" y="4494375"/>
            <a:ext cx="200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rainfall (mm)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99"/>
          <p:cNvSpPr txBox="1"/>
          <p:nvPr/>
        </p:nvSpPr>
        <p:spPr>
          <a:xfrm rot="-5400000">
            <a:off x="-736154" y="2977650"/>
            <a:ext cx="2595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mean of daily maximum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5" name="Google Shape;1475;p99"/>
          <p:cNvSpPr txBox="1"/>
          <p:nvPr/>
        </p:nvSpPr>
        <p:spPr>
          <a:xfrm>
            <a:off x="4574699" y="2209100"/>
            <a:ext cx="4254600" cy="10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scatter graph shows monthly weather data from The Met Office for Tiree from 1941 to 2022.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79" name="Shape 1479"/>
        <p:cNvGrpSpPr/>
        <p:nvPr/>
      </p:nvGrpSpPr>
      <p:grpSpPr>
        <a:xfrm>
          <a:off x="0" y="0"/>
          <a:ext cx="0" cy="0"/>
        </a:xfrm>
      </p:grpSpPr>
      <p:pic>
        <p:nvPicPr>
          <p:cNvPr id="1480" name="Google Shape;1480;p100" descr="&lt;math xmlns=&quot;http://www.w3.org/1998/Math/MathML&quot; data-is-equatio=&quot;1&quot; data-equatio-url=&quot;https://equatio-api.texthelp.com/desmos/get/05-10-2023/f8bd832a-5abc-4812-bb75-739b65f4c396&quot; data-equatio-type=&quot;desmos&quot;&gt;&lt;mglyph src=&quot;https://equatio-api.texthelp.com/desmos/get/05-10-2023/f8bd832a-5abc-4812-bb75-739b65f4c396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5544" t="26012" r="42053" b="4417"/>
          <a:stretch>
            <a:fillRect/>
          </a:stretch>
        </p:blipFill>
        <p:spPr>
          <a:xfrm>
            <a:off x="825885" y="2063398"/>
            <a:ext cx="2494800" cy="248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1" name="Google Shape;1481;p100"/>
          <p:cNvSpPr txBox="1"/>
          <p:nvPr>
            <p:ph type="body" idx="1"/>
          </p:nvPr>
        </p:nvSpPr>
        <p:spPr>
          <a:xfrm>
            <a:off x="376325" y="683065"/>
            <a:ext cx="8481900" cy="10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Sometimes an association is better described by a curve than a straight line. Whilst </a:t>
            </a:r>
            <a:r>
              <a:rPr lang="en-GB" sz="1800" b="1"/>
              <a:t>correlation </a:t>
            </a:r>
            <a:r>
              <a:rPr lang="en-GB" sz="1800"/>
              <a:t>could be used to model these data, inspection of the scatter graph would suggest that a better description of the relationship is achievable.</a:t>
            </a:r>
            <a:endParaRPr sz="1800"/>
          </a:p>
        </p:txBody>
      </p:sp>
      <p:sp>
        <p:nvSpPr>
          <p:cNvPr id="1482" name="Google Shape;1482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Interpreting bivariate data without correlation</a:t>
            </a:r>
            <a:endParaRPr/>
          </a:p>
        </p:txBody>
      </p:sp>
      <p:sp>
        <p:nvSpPr>
          <p:cNvPr id="1483" name="Google Shape;1483;p100"/>
          <p:cNvSpPr txBox="1"/>
          <p:nvPr/>
        </p:nvSpPr>
        <p:spPr>
          <a:xfrm>
            <a:off x="3526500" y="3217375"/>
            <a:ext cx="5331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cases like this the variables have a clear association/relationship but </a:t>
            </a:r>
            <a:r>
              <a:rPr lang="en-GB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correlation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not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best model for this association. 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4" name="Google Shape;1484;p100"/>
          <p:cNvSpPr txBox="1"/>
          <p:nvPr/>
        </p:nvSpPr>
        <p:spPr>
          <a:xfrm>
            <a:off x="3526500" y="2076600"/>
            <a:ext cx="5293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scatter graph shows the results from an experiment: timing how long it takes for a kettle to boil with different volumes of water.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85" name="Google Shape;1485;p100" descr="&lt;math xmlns=&quot;http://www.w3.org/1998/Math/MathML&quot; data-is-equatio=&quot;1&quot; data-equatio-url=&quot;https://equatio-api.texthelp.com/desmos/get/05-10-2023/f8bd832a-5abc-4812-bb75-739b65f4c396&quot; data-equatio-type=&quot;desmos&quot;&gt;&lt;mglyph src=&quot;https://equatio-api.texthelp.com/desmos/get/05-10-2023/f8bd832a-5abc-4812-bb75-739b65f4c396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t="26012" r="42052" b="4417"/>
          <a:stretch>
            <a:fillRect/>
          </a:stretch>
        </p:blipFill>
        <p:spPr>
          <a:xfrm>
            <a:off x="561735" y="2066893"/>
            <a:ext cx="2758850" cy="2484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6" name="Google Shape;1486;p100" descr="&lt;math xmlns=&quot;http://www.w3.org/1998/Math/MathML&quot; data-is-equatio=&quot;1&quot; data-equatio-url=&quot;https://equatio-api.texthelp.com/desmos/get/05-10-2023/f8bd832a-5abc-4812-bb75-739b65f4c396&quot; data-equatio-type=&quot;desmos&quot;&gt;&lt;mglyph src=&quot;https://equatio-api.texthelp.com/desmos/get/05-10-2023/f8bd832a-5abc-4812-bb75-739b65f4c396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5544" t="26012" r="42053" b="4417"/>
          <a:stretch>
            <a:fillRect/>
          </a:stretch>
        </p:blipFill>
        <p:spPr>
          <a:xfrm>
            <a:off x="825785" y="2066903"/>
            <a:ext cx="2494800" cy="2484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7" name="Google Shape;1487;p100"/>
          <p:cNvCxnSpPr/>
          <p:nvPr/>
        </p:nvCxnSpPr>
        <p:spPr>
          <a:xfrm rot="10800000" flipH="1">
            <a:off x="825885" y="1903405"/>
            <a:ext cx="0" cy="2517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88" name="Google Shape;1488;p100"/>
          <p:cNvCxnSpPr/>
          <p:nvPr/>
        </p:nvCxnSpPr>
        <p:spPr>
          <a:xfrm>
            <a:off x="818093" y="4413513"/>
            <a:ext cx="27084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89" name="Google Shape;1489;p100"/>
          <p:cNvSpPr txBox="1"/>
          <p:nvPr/>
        </p:nvSpPr>
        <p:spPr>
          <a:xfrm>
            <a:off x="1576306" y="4565903"/>
            <a:ext cx="11649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volume (l)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0" name="Google Shape;1490;p100"/>
          <p:cNvSpPr txBox="1"/>
          <p:nvPr/>
        </p:nvSpPr>
        <p:spPr>
          <a:xfrm rot="-5400000">
            <a:off x="-459790" y="2886903"/>
            <a:ext cx="18681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ime to boil (s)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1" name="Google Shape;1491;p100"/>
          <p:cNvSpPr/>
          <p:nvPr/>
        </p:nvSpPr>
        <p:spPr>
          <a:xfrm>
            <a:off x="1176536" y="4097947"/>
            <a:ext cx="75000" cy="75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2" name="Google Shape;1492;p100"/>
          <p:cNvSpPr/>
          <p:nvPr/>
        </p:nvSpPr>
        <p:spPr>
          <a:xfrm>
            <a:off x="1576311" y="4001860"/>
            <a:ext cx="75000" cy="75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3" name="Google Shape;1493;p100"/>
          <p:cNvSpPr/>
          <p:nvPr/>
        </p:nvSpPr>
        <p:spPr>
          <a:xfrm>
            <a:off x="1972611" y="3784556"/>
            <a:ext cx="75000" cy="75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4" name="Google Shape;1494;p100"/>
          <p:cNvSpPr/>
          <p:nvPr/>
        </p:nvSpPr>
        <p:spPr>
          <a:xfrm>
            <a:off x="2384361" y="3368881"/>
            <a:ext cx="75000" cy="75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5" name="Google Shape;1495;p100"/>
          <p:cNvSpPr/>
          <p:nvPr/>
        </p:nvSpPr>
        <p:spPr>
          <a:xfrm>
            <a:off x="2767154" y="2882033"/>
            <a:ext cx="75000" cy="75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6" name="Google Shape;1496;p100"/>
          <p:cNvSpPr/>
          <p:nvPr/>
        </p:nvSpPr>
        <p:spPr>
          <a:xfrm>
            <a:off x="3163361" y="2200660"/>
            <a:ext cx="75000" cy="75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7" name="Google Shape;1497;p100"/>
          <p:cNvSpPr/>
          <p:nvPr/>
        </p:nvSpPr>
        <p:spPr>
          <a:xfrm>
            <a:off x="2185807" y="3641465"/>
            <a:ext cx="75000" cy="75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8" name="Google Shape;1498;p100"/>
          <p:cNvSpPr/>
          <p:nvPr/>
        </p:nvSpPr>
        <p:spPr>
          <a:xfrm>
            <a:off x="2603261" y="3217365"/>
            <a:ext cx="75000" cy="75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9" name="Google Shape;1499;p100"/>
          <p:cNvSpPr/>
          <p:nvPr/>
        </p:nvSpPr>
        <p:spPr>
          <a:xfrm>
            <a:off x="3007892" y="2545191"/>
            <a:ext cx="75000" cy="75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0" name="Google Shape;1500;p100"/>
          <p:cNvSpPr/>
          <p:nvPr/>
        </p:nvSpPr>
        <p:spPr>
          <a:xfrm>
            <a:off x="1757161" y="3725042"/>
            <a:ext cx="75000" cy="75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1" name="Google Shape;1501;p100"/>
          <p:cNvSpPr/>
          <p:nvPr/>
        </p:nvSpPr>
        <p:spPr>
          <a:xfrm>
            <a:off x="1380653" y="4012119"/>
            <a:ext cx="75000" cy="75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2" name="Google Shape;1502;p100"/>
          <p:cNvSpPr/>
          <p:nvPr/>
        </p:nvSpPr>
        <p:spPr>
          <a:xfrm>
            <a:off x="966940" y="4128560"/>
            <a:ext cx="75000" cy="75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06" name="Shape 1506"/>
        <p:cNvGrpSpPr/>
        <p:nvPr/>
      </p:nvGrpSpPr>
      <p:grpSpPr>
        <a:xfrm>
          <a:off x="0" y="0"/>
          <a:ext cx="0" cy="0"/>
        </a:xfrm>
      </p:grpSpPr>
      <p:sp>
        <p:nvSpPr>
          <p:cNvPr id="1507" name="Google Shape;1507;p101"/>
          <p:cNvSpPr txBox="1"/>
          <p:nvPr>
            <p:ph type="body" idx="1"/>
          </p:nvPr>
        </p:nvSpPr>
        <p:spPr>
          <a:xfrm>
            <a:off x="324000" y="759300"/>
            <a:ext cx="8237700" cy="56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Is </a:t>
            </a:r>
            <a:r>
              <a:rPr lang="en-GB" b="1"/>
              <a:t>correlation </a:t>
            </a:r>
            <a:r>
              <a:rPr lang="en-GB"/>
              <a:t>a good model for this data?</a:t>
            </a:r>
            <a:endParaRPr/>
          </a:p>
        </p:txBody>
      </p:sp>
      <p:sp>
        <p:nvSpPr>
          <p:cNvPr id="1508" name="Google Shape;1508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Interpreting bivariate data without correlation</a:t>
            </a:r>
            <a:endParaRPr/>
          </a:p>
        </p:txBody>
      </p:sp>
      <p:pic>
        <p:nvPicPr>
          <p:cNvPr id="1509" name="Google Shape;1509;p101"/>
          <p:cNvPicPr preferRelativeResize="0"/>
          <p:nvPr/>
        </p:nvPicPr>
        <p:blipFill>
          <a:blip r:embed="rId3">
            <a:alphaModFix/>
          </a:blip>
          <a:srcRect l="8917"/>
          <a:stretch>
            <a:fillRect/>
          </a:stretch>
        </p:blipFill>
        <p:spPr>
          <a:xfrm>
            <a:off x="534544" y="1556796"/>
            <a:ext cx="3560131" cy="30487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0" name="Google Shape;1510;p101"/>
          <p:cNvGrpSpPr/>
          <p:nvPr/>
        </p:nvGrpSpPr>
        <p:grpSpPr>
          <a:xfrm>
            <a:off x="528019" y="1462347"/>
            <a:ext cx="3791962" cy="3140695"/>
            <a:chOff x="2015104" y="1439649"/>
            <a:chExt cx="3902400" cy="2982900"/>
          </a:xfrm>
        </p:grpSpPr>
        <p:cxnSp>
          <p:nvCxnSpPr>
            <p:cNvPr id="1511" name="Google Shape;1511;p101"/>
            <p:cNvCxnSpPr/>
            <p:nvPr/>
          </p:nvCxnSpPr>
          <p:spPr>
            <a:xfrm rot="10800000" flipH="1">
              <a:off x="2021739" y="1439649"/>
              <a:ext cx="0" cy="2982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12" name="Google Shape;1512;p101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513" name="Google Shape;1513;p101"/>
          <p:cNvSpPr txBox="1"/>
          <p:nvPr>
            <p:ph type="body" idx="1"/>
          </p:nvPr>
        </p:nvSpPr>
        <p:spPr>
          <a:xfrm>
            <a:off x="4572000" y="1620000"/>
            <a:ext cx="3921900" cy="89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No, the data shows a clear curve so there is likely to be a better model than </a:t>
            </a:r>
            <a:r>
              <a:rPr lang="en-GB" b="1">
                <a:latin typeface="Kalam"/>
                <a:ea typeface="Kalam"/>
                <a:cs typeface="Kalam"/>
                <a:sym typeface="Kalam"/>
              </a:rPr>
              <a:t>correlation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4" name="Google Shape;1514;p101"/>
          <p:cNvSpPr txBox="1"/>
          <p:nvPr>
            <p:ph type="body" idx="1"/>
          </p:nvPr>
        </p:nvSpPr>
        <p:spPr>
          <a:xfrm>
            <a:off x="4572000" y="2949025"/>
            <a:ext cx="4248000" cy="89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There appears to be an association/relationship, but it is </a:t>
            </a:r>
            <a:r>
              <a:rPr lang="en-GB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not linear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18" name="Shape 1518"/>
        <p:cNvGrpSpPr/>
        <p:nvPr/>
      </p:nvGrpSpPr>
      <p:grpSpPr>
        <a:xfrm>
          <a:off x="0" y="0"/>
          <a:ext cx="0" cy="0"/>
        </a:xfrm>
      </p:grpSpPr>
      <p:pic>
        <p:nvPicPr>
          <p:cNvPr id="1519" name="Google Shape;1519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025" y="1620000"/>
            <a:ext cx="3581217" cy="298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0" name="Google Shape;1520;p102"/>
          <p:cNvSpPr txBox="1"/>
          <p:nvPr>
            <p:ph type="body" idx="1"/>
          </p:nvPr>
        </p:nvSpPr>
        <p:spPr>
          <a:xfrm>
            <a:off x="324000" y="759300"/>
            <a:ext cx="8237700" cy="56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Does this scatter graph show a </a:t>
            </a:r>
            <a:r>
              <a:rPr lang="en-GB" b="1"/>
              <a:t>correlation</a:t>
            </a:r>
            <a:r>
              <a:rPr lang="en-GB"/>
              <a:t>?</a:t>
            </a:r>
            <a:endParaRPr/>
          </a:p>
        </p:txBody>
      </p:sp>
      <p:sp>
        <p:nvSpPr>
          <p:cNvPr id="1521" name="Google Shape;1521;p10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Interpreting bivariate data without correlation</a:t>
            </a:r>
            <a:endParaRPr/>
          </a:p>
        </p:txBody>
      </p:sp>
      <p:grpSp>
        <p:nvGrpSpPr>
          <p:cNvPr id="1522" name="Google Shape;1522;p102"/>
          <p:cNvGrpSpPr/>
          <p:nvPr/>
        </p:nvGrpSpPr>
        <p:grpSpPr>
          <a:xfrm>
            <a:off x="528019" y="1462347"/>
            <a:ext cx="3791962" cy="3140695"/>
            <a:chOff x="2015104" y="1439649"/>
            <a:chExt cx="3902400" cy="2982900"/>
          </a:xfrm>
        </p:grpSpPr>
        <p:cxnSp>
          <p:nvCxnSpPr>
            <p:cNvPr id="1523" name="Google Shape;1523;p102"/>
            <p:cNvCxnSpPr/>
            <p:nvPr/>
          </p:nvCxnSpPr>
          <p:spPr>
            <a:xfrm rot="10800000" flipH="1">
              <a:off x="2021739" y="1439649"/>
              <a:ext cx="0" cy="2982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24" name="Google Shape;1524;p102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525" name="Google Shape;1525;p102"/>
          <p:cNvSpPr txBox="1"/>
          <p:nvPr>
            <p:ph type="body" idx="1"/>
          </p:nvPr>
        </p:nvSpPr>
        <p:spPr>
          <a:xfrm>
            <a:off x="4572000" y="1620000"/>
            <a:ext cx="3921900" cy="89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No, the data does not have a </a:t>
            </a:r>
            <a:r>
              <a:rPr lang="en-GB" b="1">
                <a:latin typeface="Kalam"/>
                <a:ea typeface="Kalam"/>
                <a:cs typeface="Kalam"/>
                <a:sym typeface="Kalam"/>
              </a:rPr>
              <a:t>correlation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26" name="Google Shape;1526;p102"/>
          <p:cNvSpPr txBox="1"/>
          <p:nvPr>
            <p:ph type="body" idx="1"/>
          </p:nvPr>
        </p:nvSpPr>
        <p:spPr>
          <a:xfrm>
            <a:off x="4572000" y="2949025"/>
            <a:ext cx="4248000" cy="89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There does not appear to be any relationship.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30" name="Shape 1530"/>
        <p:cNvGrpSpPr/>
        <p:nvPr/>
      </p:nvGrpSpPr>
      <p:grpSpPr>
        <a:xfrm>
          <a:off x="0" y="0"/>
          <a:ext cx="0" cy="0"/>
        </a:xfrm>
      </p:grpSpPr>
      <p:pic>
        <p:nvPicPr>
          <p:cNvPr id="1531" name="Google Shape;1531;p103"/>
          <p:cNvPicPr preferRelativeResize="0"/>
          <p:nvPr/>
        </p:nvPicPr>
        <p:blipFill>
          <a:blip r:embed="rId3">
            <a:alphaModFix/>
          </a:blip>
          <a:srcRect r="4361"/>
          <a:stretch>
            <a:fillRect/>
          </a:stretch>
        </p:blipFill>
        <p:spPr>
          <a:xfrm>
            <a:off x="6272750" y="1504800"/>
            <a:ext cx="2426400" cy="2505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2" name="Google Shape;1532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5312" y="1504800"/>
            <a:ext cx="2426401" cy="25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3" name="Google Shape;1533;p103"/>
          <p:cNvSpPr txBox="1"/>
          <p:nvPr>
            <p:ph type="title"/>
          </p:nvPr>
        </p:nvSpPr>
        <p:spPr>
          <a:xfrm>
            <a:off x="324000" y="713950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Which two scatter graphs should </a:t>
            </a:r>
            <a:r>
              <a:rPr lang="en-GB">
                <a:solidFill>
                  <a:schemeClr val="accent5"/>
                </a:solidFill>
              </a:rPr>
              <a:t>not</a:t>
            </a:r>
            <a:r>
              <a:rPr lang="en-GB"/>
              <a:t> be described using </a:t>
            </a:r>
            <a:r>
              <a:rPr lang="en-GB" b="1"/>
              <a:t>correlation</a:t>
            </a:r>
            <a:r>
              <a:rPr lang="en-GB"/>
              <a:t>?</a:t>
            </a:r>
            <a:endParaRPr/>
          </a:p>
        </p:txBody>
      </p:sp>
      <p:sp>
        <p:nvSpPr>
          <p:cNvPr id="1534" name="Google Shape;1534;p10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Interpreting bivariate data without correlation</a:t>
            </a:r>
            <a:endParaRPr/>
          </a:p>
        </p:txBody>
      </p:sp>
      <p:pic>
        <p:nvPicPr>
          <p:cNvPr id="1535" name="Google Shape;1535;p1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8653" y="1505809"/>
            <a:ext cx="2427650" cy="2506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6" name="Google Shape;1536;p10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71008" y="4136559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7" name="Google Shape;1537;p10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85758" y="4188109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41" name="Shape 1541"/>
        <p:cNvGrpSpPr/>
        <p:nvPr/>
      </p:nvGrpSpPr>
      <p:grpSpPr>
        <a:xfrm>
          <a:off x="0" y="0"/>
          <a:ext cx="0" cy="0"/>
        </a:xfrm>
      </p:grpSpPr>
      <p:pic>
        <p:nvPicPr>
          <p:cNvPr id="1542" name="Google Shape;1542;p104"/>
          <p:cNvPicPr preferRelativeResize="0"/>
          <p:nvPr/>
        </p:nvPicPr>
        <p:blipFill>
          <a:blip r:embed="rId3">
            <a:alphaModFix/>
          </a:blip>
          <a:srcRect r="4361"/>
          <a:stretch>
            <a:fillRect/>
          </a:stretch>
        </p:blipFill>
        <p:spPr>
          <a:xfrm>
            <a:off x="6272750" y="1504800"/>
            <a:ext cx="2426400" cy="2505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3" name="Google Shape;1543;p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5312" y="1504800"/>
            <a:ext cx="2426401" cy="25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4" name="Google Shape;1544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Which scatter graph shows </a:t>
            </a:r>
            <a:r>
              <a:rPr lang="en-GB">
                <a:solidFill>
                  <a:schemeClr val="accent5"/>
                </a:solidFill>
              </a:rPr>
              <a:t>no</a:t>
            </a:r>
            <a:r>
              <a:rPr lang="en-GB"/>
              <a:t> association?</a:t>
            </a:r>
            <a:endParaRPr/>
          </a:p>
        </p:txBody>
      </p:sp>
      <p:sp>
        <p:nvSpPr>
          <p:cNvPr id="1545" name="Google Shape;1545;p10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Interpreting bivariate data without correlation</a:t>
            </a:r>
            <a:endParaRPr/>
          </a:p>
        </p:txBody>
      </p:sp>
      <p:pic>
        <p:nvPicPr>
          <p:cNvPr id="1546" name="Google Shape;1546;p1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8653" y="1504800"/>
            <a:ext cx="2427650" cy="2506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7" name="Google Shape;1547;p10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71008" y="41104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51" name="Shape 1551"/>
        <p:cNvGrpSpPr/>
        <p:nvPr/>
      </p:nvGrpSpPr>
      <p:grpSpPr>
        <a:xfrm>
          <a:off x="0" y="0"/>
          <a:ext cx="0" cy="0"/>
        </a:xfrm>
      </p:grpSpPr>
      <p:sp>
        <p:nvSpPr>
          <p:cNvPr id="1552" name="Google Shape;1552;p105"/>
          <p:cNvSpPr txBox="1"/>
          <p:nvPr>
            <p:ph type="body" idx="1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1) Here are four scatter graphs.</a:t>
            </a:r>
            <a:endParaRPr sz="1600"/>
          </a:p>
        </p:txBody>
      </p:sp>
      <p:sp>
        <p:nvSpPr>
          <p:cNvPr id="1553" name="Google Shape;1553;p10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Interpreting bivariate data without correlation</a:t>
            </a:r>
            <a:endParaRPr/>
          </a:p>
        </p:txBody>
      </p:sp>
      <p:grpSp>
        <p:nvGrpSpPr>
          <p:cNvPr id="1554" name="Google Shape;1554;p105"/>
          <p:cNvGrpSpPr/>
          <p:nvPr/>
        </p:nvGrpSpPr>
        <p:grpSpPr>
          <a:xfrm>
            <a:off x="353522" y="1502768"/>
            <a:ext cx="1756470" cy="1275488"/>
            <a:chOff x="4315922" y="1502768"/>
            <a:chExt cx="1756470" cy="1275488"/>
          </a:xfrm>
        </p:grpSpPr>
        <p:pic>
          <p:nvPicPr>
            <p:cNvPr id="1555" name="Google Shape;1555;p105"/>
            <p:cNvPicPr preferRelativeResize="0"/>
            <p:nvPr/>
          </p:nvPicPr>
          <p:blipFill>
            <a:blip r:embed="rId3">
              <a:alphaModFix/>
            </a:blip>
            <a:srcRect l="11729" r="9337"/>
            <a:stretch>
              <a:fillRect/>
            </a:stretch>
          </p:blipFill>
          <p:spPr>
            <a:xfrm>
              <a:off x="4321145" y="1521066"/>
              <a:ext cx="1724893" cy="124140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56" name="Google Shape;1556;p105"/>
            <p:cNvGrpSpPr/>
            <p:nvPr/>
          </p:nvGrpSpPr>
          <p:grpSpPr>
            <a:xfrm>
              <a:off x="4315922" y="1502768"/>
              <a:ext cx="1756470" cy="1275488"/>
              <a:chOff x="2015104" y="1439649"/>
              <a:chExt cx="3902400" cy="2982900"/>
            </a:xfrm>
          </p:grpSpPr>
          <p:cxnSp>
            <p:nvCxnSpPr>
              <p:cNvPr id="1557" name="Google Shape;1557;p105"/>
              <p:cNvCxnSpPr/>
              <p:nvPr/>
            </p:nvCxnSpPr>
            <p:spPr>
              <a:xfrm rot="10800000" flipH="1">
                <a:off x="2021739" y="1439649"/>
                <a:ext cx="0" cy="2982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558" name="Google Shape;1558;p105"/>
              <p:cNvCxnSpPr/>
              <p:nvPr/>
            </p:nvCxnSpPr>
            <p:spPr>
              <a:xfrm>
                <a:off x="2015104" y="4411404"/>
                <a:ext cx="3902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1559" name="Google Shape;1559;p105"/>
          <p:cNvGrpSpPr/>
          <p:nvPr/>
        </p:nvGrpSpPr>
        <p:grpSpPr>
          <a:xfrm>
            <a:off x="2580744" y="1513570"/>
            <a:ext cx="1756470" cy="1275488"/>
            <a:chOff x="2580744" y="1513570"/>
            <a:chExt cx="1756470" cy="1275488"/>
          </a:xfrm>
        </p:grpSpPr>
        <p:pic>
          <p:nvPicPr>
            <p:cNvPr id="1560" name="Google Shape;1560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02244" y="1638926"/>
              <a:ext cx="1654777" cy="112354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61" name="Google Shape;1561;p105"/>
            <p:cNvGrpSpPr/>
            <p:nvPr/>
          </p:nvGrpSpPr>
          <p:grpSpPr>
            <a:xfrm>
              <a:off x="2580744" y="1513570"/>
              <a:ext cx="1756470" cy="1275488"/>
              <a:chOff x="2015104" y="1439649"/>
              <a:chExt cx="3902400" cy="2982900"/>
            </a:xfrm>
          </p:grpSpPr>
          <p:cxnSp>
            <p:nvCxnSpPr>
              <p:cNvPr id="1562" name="Google Shape;1562;p105"/>
              <p:cNvCxnSpPr/>
              <p:nvPr/>
            </p:nvCxnSpPr>
            <p:spPr>
              <a:xfrm rot="10800000" flipH="1">
                <a:off x="2021739" y="1439649"/>
                <a:ext cx="0" cy="2982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563" name="Google Shape;1563;p105"/>
              <p:cNvCxnSpPr/>
              <p:nvPr/>
            </p:nvCxnSpPr>
            <p:spPr>
              <a:xfrm>
                <a:off x="2015104" y="4411404"/>
                <a:ext cx="3902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1564" name="Google Shape;1564;p105"/>
          <p:cNvGrpSpPr/>
          <p:nvPr/>
        </p:nvGrpSpPr>
        <p:grpSpPr>
          <a:xfrm>
            <a:off x="4807965" y="1513570"/>
            <a:ext cx="1756470" cy="1275488"/>
            <a:chOff x="4807965" y="1513570"/>
            <a:chExt cx="1756470" cy="1275488"/>
          </a:xfrm>
        </p:grpSpPr>
        <p:pic>
          <p:nvPicPr>
            <p:cNvPr id="1565" name="Google Shape;1565;p105"/>
            <p:cNvPicPr preferRelativeResize="0"/>
            <p:nvPr/>
          </p:nvPicPr>
          <p:blipFill>
            <a:blip r:embed="rId4">
              <a:alphaModFix/>
            </a:blip>
            <a:srcRect l="12195"/>
            <a:stretch>
              <a:fillRect/>
            </a:stretch>
          </p:blipFill>
          <p:spPr>
            <a:xfrm rot="10800000" flipH="1">
              <a:off x="4829869" y="1638925"/>
              <a:ext cx="1452934" cy="112354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66" name="Google Shape;1566;p105"/>
            <p:cNvGrpSpPr/>
            <p:nvPr/>
          </p:nvGrpSpPr>
          <p:grpSpPr>
            <a:xfrm>
              <a:off x="4807965" y="1513570"/>
              <a:ext cx="1756470" cy="1275488"/>
              <a:chOff x="2015104" y="1439649"/>
              <a:chExt cx="3902400" cy="2982900"/>
            </a:xfrm>
          </p:grpSpPr>
          <p:cxnSp>
            <p:nvCxnSpPr>
              <p:cNvPr id="1567" name="Google Shape;1567;p105"/>
              <p:cNvCxnSpPr/>
              <p:nvPr/>
            </p:nvCxnSpPr>
            <p:spPr>
              <a:xfrm rot="10800000" flipH="1">
                <a:off x="2021739" y="1439649"/>
                <a:ext cx="0" cy="2982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568" name="Google Shape;1568;p105"/>
              <p:cNvCxnSpPr/>
              <p:nvPr/>
            </p:nvCxnSpPr>
            <p:spPr>
              <a:xfrm>
                <a:off x="2015104" y="4411404"/>
                <a:ext cx="3902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sp>
        <p:nvSpPr>
          <p:cNvPr id="1569" name="Google Shape;1569;p105"/>
          <p:cNvSpPr txBox="1"/>
          <p:nvPr>
            <p:ph type="body" idx="1"/>
          </p:nvPr>
        </p:nvSpPr>
        <p:spPr>
          <a:xfrm>
            <a:off x="735650" y="1282800"/>
            <a:ext cx="8379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Graph 1</a:t>
            </a:r>
            <a:endParaRPr sz="1600"/>
          </a:p>
        </p:txBody>
      </p:sp>
      <p:grpSp>
        <p:nvGrpSpPr>
          <p:cNvPr id="1570" name="Google Shape;1570;p105"/>
          <p:cNvGrpSpPr/>
          <p:nvPr/>
        </p:nvGrpSpPr>
        <p:grpSpPr>
          <a:xfrm>
            <a:off x="7035187" y="1490380"/>
            <a:ext cx="1756511" cy="1287876"/>
            <a:chOff x="6501787" y="1490380"/>
            <a:chExt cx="1756511" cy="1287876"/>
          </a:xfrm>
        </p:grpSpPr>
        <p:pic>
          <p:nvPicPr>
            <p:cNvPr id="1571" name="Google Shape;1571;p105"/>
            <p:cNvPicPr preferRelativeResize="0"/>
            <p:nvPr/>
          </p:nvPicPr>
          <p:blipFill>
            <a:blip r:embed="rId5">
              <a:alphaModFix/>
            </a:blip>
            <a:srcRect l="7295"/>
            <a:stretch>
              <a:fillRect/>
            </a:stretch>
          </p:blipFill>
          <p:spPr>
            <a:xfrm>
              <a:off x="6501787" y="1490380"/>
              <a:ext cx="1665362" cy="128620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72" name="Google Shape;1572;p105"/>
            <p:cNvGrpSpPr/>
            <p:nvPr/>
          </p:nvGrpSpPr>
          <p:grpSpPr>
            <a:xfrm>
              <a:off x="6501828" y="1502768"/>
              <a:ext cx="1756470" cy="1275488"/>
              <a:chOff x="2015104" y="1439649"/>
              <a:chExt cx="3902400" cy="2982900"/>
            </a:xfrm>
          </p:grpSpPr>
          <p:cxnSp>
            <p:nvCxnSpPr>
              <p:cNvPr id="1573" name="Google Shape;1573;p105"/>
              <p:cNvCxnSpPr/>
              <p:nvPr/>
            </p:nvCxnSpPr>
            <p:spPr>
              <a:xfrm rot="10800000" flipH="1">
                <a:off x="2021739" y="1439649"/>
                <a:ext cx="0" cy="2982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574" name="Google Shape;1574;p105"/>
              <p:cNvCxnSpPr/>
              <p:nvPr/>
            </p:nvCxnSpPr>
            <p:spPr>
              <a:xfrm>
                <a:off x="2015104" y="4411404"/>
                <a:ext cx="3902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sp>
        <p:nvSpPr>
          <p:cNvPr id="1575" name="Google Shape;1575;p105"/>
          <p:cNvSpPr txBox="1"/>
          <p:nvPr>
            <p:ph type="body" idx="1"/>
          </p:nvPr>
        </p:nvSpPr>
        <p:spPr>
          <a:xfrm>
            <a:off x="3040038" y="1282800"/>
            <a:ext cx="8379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Graph 2</a:t>
            </a:r>
            <a:endParaRPr sz="1600"/>
          </a:p>
        </p:txBody>
      </p:sp>
      <p:sp>
        <p:nvSpPr>
          <p:cNvPr id="1576" name="Google Shape;1576;p105"/>
          <p:cNvSpPr txBox="1"/>
          <p:nvPr>
            <p:ph type="body" idx="1"/>
          </p:nvPr>
        </p:nvSpPr>
        <p:spPr>
          <a:xfrm>
            <a:off x="5212038" y="1282800"/>
            <a:ext cx="8379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Graph 3</a:t>
            </a:r>
            <a:endParaRPr sz="1600"/>
          </a:p>
        </p:txBody>
      </p:sp>
      <p:sp>
        <p:nvSpPr>
          <p:cNvPr id="1577" name="Google Shape;1577;p105"/>
          <p:cNvSpPr txBox="1"/>
          <p:nvPr>
            <p:ph type="body" idx="1"/>
          </p:nvPr>
        </p:nvSpPr>
        <p:spPr>
          <a:xfrm>
            <a:off x="7384038" y="1282800"/>
            <a:ext cx="8379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Graph 4</a:t>
            </a:r>
            <a:endParaRPr sz="1600"/>
          </a:p>
        </p:txBody>
      </p:sp>
      <p:sp>
        <p:nvSpPr>
          <p:cNvPr id="1578" name="Google Shape;1578;p105"/>
          <p:cNvSpPr txBox="1"/>
          <p:nvPr>
            <p:ph type="body" idx="1"/>
          </p:nvPr>
        </p:nvSpPr>
        <p:spPr>
          <a:xfrm>
            <a:off x="324000" y="3184525"/>
            <a:ext cx="52047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a) Which graph shows a </a:t>
            </a:r>
            <a:r>
              <a:rPr lang="en-GB" sz="1600" b="1"/>
              <a:t>positive</a:t>
            </a:r>
            <a:r>
              <a:rPr lang="en-GB" sz="1600"/>
              <a:t> </a:t>
            </a:r>
            <a:r>
              <a:rPr lang="en-GB" sz="1600" b="1"/>
              <a:t>correlation</a:t>
            </a:r>
            <a:r>
              <a:rPr lang="en-GB" sz="1600"/>
              <a:t>?</a:t>
            </a:r>
            <a:endParaRPr sz="1600"/>
          </a:p>
        </p:txBody>
      </p:sp>
      <p:sp>
        <p:nvSpPr>
          <p:cNvPr id="1579" name="Google Shape;1579;p105"/>
          <p:cNvSpPr txBox="1"/>
          <p:nvPr>
            <p:ph type="body" idx="1"/>
          </p:nvPr>
        </p:nvSpPr>
        <p:spPr>
          <a:xfrm>
            <a:off x="324000" y="3613787"/>
            <a:ext cx="52047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b) Which graph shows a </a:t>
            </a:r>
            <a:r>
              <a:rPr lang="en-GB" sz="1600" b="1"/>
              <a:t>negative</a:t>
            </a:r>
            <a:r>
              <a:rPr lang="en-GB" sz="1600"/>
              <a:t> </a:t>
            </a:r>
            <a:r>
              <a:rPr lang="en-GB" sz="1600" b="1"/>
              <a:t>correlation</a:t>
            </a:r>
            <a:r>
              <a:rPr lang="en-GB" sz="1600"/>
              <a:t>?</a:t>
            </a:r>
            <a:endParaRPr sz="1600"/>
          </a:p>
        </p:txBody>
      </p:sp>
      <p:sp>
        <p:nvSpPr>
          <p:cNvPr id="1580" name="Google Shape;1580;p105"/>
          <p:cNvSpPr txBox="1"/>
          <p:nvPr>
            <p:ph type="body" idx="1"/>
          </p:nvPr>
        </p:nvSpPr>
        <p:spPr>
          <a:xfrm>
            <a:off x="324000" y="4043050"/>
            <a:ext cx="56202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c) Which graph shows an association which is not linear?</a:t>
            </a:r>
            <a:endParaRPr sz="1600"/>
          </a:p>
        </p:txBody>
      </p:sp>
      <p:sp>
        <p:nvSpPr>
          <p:cNvPr id="1581" name="Google Shape;1581;p105"/>
          <p:cNvSpPr txBox="1"/>
          <p:nvPr>
            <p:ph type="body" idx="1"/>
          </p:nvPr>
        </p:nvSpPr>
        <p:spPr>
          <a:xfrm>
            <a:off x="324000" y="4472312"/>
            <a:ext cx="52047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d) Which graph shows no association?</a:t>
            </a:r>
            <a:endParaRPr sz="1600"/>
          </a:p>
        </p:txBody>
      </p:sp>
    </p:spTree>
  </p:cSld>
  <p:clrMapOvr>
    <a:masterClrMapping/>
  </p:clrMapOvr>
  <p:transition/>
  <p:timing/>
</p:sld>
</file>

<file path=ppt/slides/slide4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5" name="Shape 1585"/>
        <p:cNvGrpSpPr/>
        <p:nvPr/>
      </p:nvGrpSpPr>
      <p:grpSpPr>
        <a:xfrm>
          <a:off x="0" y="0"/>
          <a:ext cx="0" cy="0"/>
        </a:xfrm>
      </p:grpSpPr>
      <p:grpSp>
        <p:nvGrpSpPr>
          <p:cNvPr id="1586" name="Google Shape;1586;p106"/>
          <p:cNvGrpSpPr/>
          <p:nvPr/>
        </p:nvGrpSpPr>
        <p:grpSpPr>
          <a:xfrm>
            <a:off x="2580744" y="1513570"/>
            <a:ext cx="1756470" cy="1275488"/>
            <a:chOff x="2580744" y="1513570"/>
            <a:chExt cx="1756470" cy="1275488"/>
          </a:xfrm>
        </p:grpSpPr>
        <p:pic>
          <p:nvPicPr>
            <p:cNvPr id="1587" name="Google Shape;1587;p1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02244" y="1638926"/>
              <a:ext cx="1654777" cy="112354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88" name="Google Shape;1588;p106"/>
            <p:cNvGrpSpPr/>
            <p:nvPr/>
          </p:nvGrpSpPr>
          <p:grpSpPr>
            <a:xfrm>
              <a:off x="2580744" y="1513570"/>
              <a:ext cx="1756470" cy="1275488"/>
              <a:chOff x="2015104" y="1439649"/>
              <a:chExt cx="3902400" cy="2982900"/>
            </a:xfrm>
          </p:grpSpPr>
          <p:cxnSp>
            <p:nvCxnSpPr>
              <p:cNvPr id="1589" name="Google Shape;1589;p106"/>
              <p:cNvCxnSpPr/>
              <p:nvPr/>
            </p:nvCxnSpPr>
            <p:spPr>
              <a:xfrm rot="10800000" flipH="1">
                <a:off x="2021739" y="1439649"/>
                <a:ext cx="0" cy="2982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590" name="Google Shape;1590;p106"/>
              <p:cNvCxnSpPr/>
              <p:nvPr/>
            </p:nvCxnSpPr>
            <p:spPr>
              <a:xfrm>
                <a:off x="2015104" y="4411404"/>
                <a:ext cx="3902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sp>
        <p:nvSpPr>
          <p:cNvPr id="1591" name="Google Shape;1591;p106"/>
          <p:cNvSpPr txBox="1"/>
          <p:nvPr>
            <p:ph type="body" idx="1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1) Here are four scatter graphs.</a:t>
            </a:r>
            <a:endParaRPr sz="1600"/>
          </a:p>
        </p:txBody>
      </p:sp>
      <p:sp>
        <p:nvSpPr>
          <p:cNvPr id="1592" name="Google Shape;1592;p10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Interpreting bivariate data without correlation</a:t>
            </a:r>
            <a:endParaRPr/>
          </a:p>
        </p:txBody>
      </p:sp>
      <p:grpSp>
        <p:nvGrpSpPr>
          <p:cNvPr id="1593" name="Google Shape;1593;p106"/>
          <p:cNvGrpSpPr/>
          <p:nvPr/>
        </p:nvGrpSpPr>
        <p:grpSpPr>
          <a:xfrm>
            <a:off x="353522" y="1502768"/>
            <a:ext cx="1756470" cy="1275488"/>
            <a:chOff x="4315922" y="1502768"/>
            <a:chExt cx="1756470" cy="1275488"/>
          </a:xfrm>
        </p:grpSpPr>
        <p:pic>
          <p:nvPicPr>
            <p:cNvPr id="1594" name="Google Shape;1594;p106"/>
            <p:cNvPicPr preferRelativeResize="0"/>
            <p:nvPr/>
          </p:nvPicPr>
          <p:blipFill>
            <a:blip r:embed="rId4">
              <a:alphaModFix/>
            </a:blip>
            <a:srcRect l="11729" r="9337"/>
            <a:stretch>
              <a:fillRect/>
            </a:stretch>
          </p:blipFill>
          <p:spPr>
            <a:xfrm>
              <a:off x="4321145" y="1521066"/>
              <a:ext cx="1724893" cy="124140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95" name="Google Shape;1595;p106"/>
            <p:cNvGrpSpPr/>
            <p:nvPr/>
          </p:nvGrpSpPr>
          <p:grpSpPr>
            <a:xfrm>
              <a:off x="4315922" y="1502768"/>
              <a:ext cx="1756470" cy="1275488"/>
              <a:chOff x="2015104" y="1439649"/>
              <a:chExt cx="3902400" cy="2982900"/>
            </a:xfrm>
          </p:grpSpPr>
          <p:cxnSp>
            <p:nvCxnSpPr>
              <p:cNvPr id="1596" name="Google Shape;1596;p106"/>
              <p:cNvCxnSpPr/>
              <p:nvPr/>
            </p:nvCxnSpPr>
            <p:spPr>
              <a:xfrm rot="10800000" flipH="1">
                <a:off x="2021739" y="1439649"/>
                <a:ext cx="0" cy="2982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597" name="Google Shape;1597;p106"/>
              <p:cNvCxnSpPr/>
              <p:nvPr/>
            </p:nvCxnSpPr>
            <p:spPr>
              <a:xfrm>
                <a:off x="2015104" y="4411404"/>
                <a:ext cx="3902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1598" name="Google Shape;1598;p106"/>
          <p:cNvGrpSpPr/>
          <p:nvPr/>
        </p:nvGrpSpPr>
        <p:grpSpPr>
          <a:xfrm>
            <a:off x="4807965" y="1513570"/>
            <a:ext cx="1756470" cy="1275488"/>
            <a:chOff x="4807965" y="1513570"/>
            <a:chExt cx="1756470" cy="1275488"/>
          </a:xfrm>
        </p:grpSpPr>
        <p:pic>
          <p:nvPicPr>
            <p:cNvPr id="1599" name="Google Shape;1599;p106"/>
            <p:cNvPicPr preferRelativeResize="0"/>
            <p:nvPr/>
          </p:nvPicPr>
          <p:blipFill>
            <a:blip r:embed="rId3">
              <a:alphaModFix/>
            </a:blip>
            <a:srcRect l="12195"/>
            <a:stretch>
              <a:fillRect/>
            </a:stretch>
          </p:blipFill>
          <p:spPr>
            <a:xfrm rot="10800000" flipH="1">
              <a:off x="4829869" y="1638925"/>
              <a:ext cx="1452934" cy="112354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00" name="Google Shape;1600;p106"/>
            <p:cNvGrpSpPr/>
            <p:nvPr/>
          </p:nvGrpSpPr>
          <p:grpSpPr>
            <a:xfrm>
              <a:off x="4807965" y="1513570"/>
              <a:ext cx="1756470" cy="1275488"/>
              <a:chOff x="2015104" y="1439649"/>
              <a:chExt cx="3902400" cy="2982900"/>
            </a:xfrm>
          </p:grpSpPr>
          <p:cxnSp>
            <p:nvCxnSpPr>
              <p:cNvPr id="1601" name="Google Shape;1601;p106"/>
              <p:cNvCxnSpPr/>
              <p:nvPr/>
            </p:nvCxnSpPr>
            <p:spPr>
              <a:xfrm rot="10800000" flipH="1">
                <a:off x="2021739" y="1439649"/>
                <a:ext cx="0" cy="2982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602" name="Google Shape;1602;p106"/>
              <p:cNvCxnSpPr/>
              <p:nvPr/>
            </p:nvCxnSpPr>
            <p:spPr>
              <a:xfrm>
                <a:off x="2015104" y="4411404"/>
                <a:ext cx="3902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sp>
        <p:nvSpPr>
          <p:cNvPr id="1603" name="Google Shape;1603;p106"/>
          <p:cNvSpPr txBox="1"/>
          <p:nvPr>
            <p:ph type="body" idx="1"/>
          </p:nvPr>
        </p:nvSpPr>
        <p:spPr>
          <a:xfrm>
            <a:off x="735650" y="1282800"/>
            <a:ext cx="8379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Graph 1</a:t>
            </a:r>
            <a:endParaRPr sz="1600"/>
          </a:p>
        </p:txBody>
      </p:sp>
      <p:grpSp>
        <p:nvGrpSpPr>
          <p:cNvPr id="1604" name="Google Shape;1604;p106"/>
          <p:cNvGrpSpPr/>
          <p:nvPr/>
        </p:nvGrpSpPr>
        <p:grpSpPr>
          <a:xfrm>
            <a:off x="7035175" y="1502768"/>
            <a:ext cx="1756523" cy="1275488"/>
            <a:chOff x="6501775" y="1502768"/>
            <a:chExt cx="1756523" cy="1275488"/>
          </a:xfrm>
        </p:grpSpPr>
        <p:pic>
          <p:nvPicPr>
            <p:cNvPr id="1605" name="Google Shape;1605;p106"/>
            <p:cNvPicPr preferRelativeResize="0"/>
            <p:nvPr/>
          </p:nvPicPr>
          <p:blipFill>
            <a:blip r:embed="rId5">
              <a:alphaModFix/>
            </a:blip>
            <a:srcRect l="7295" t="6068" r="2743"/>
            <a:stretch>
              <a:fillRect/>
            </a:stretch>
          </p:blipFill>
          <p:spPr>
            <a:xfrm>
              <a:off x="6501775" y="1568401"/>
              <a:ext cx="1616100" cy="120817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06" name="Google Shape;1606;p106"/>
            <p:cNvGrpSpPr/>
            <p:nvPr/>
          </p:nvGrpSpPr>
          <p:grpSpPr>
            <a:xfrm>
              <a:off x="6501828" y="1502768"/>
              <a:ext cx="1756470" cy="1275488"/>
              <a:chOff x="2015104" y="1439649"/>
              <a:chExt cx="3902400" cy="2982900"/>
            </a:xfrm>
          </p:grpSpPr>
          <p:cxnSp>
            <p:nvCxnSpPr>
              <p:cNvPr id="1607" name="Google Shape;1607;p106"/>
              <p:cNvCxnSpPr/>
              <p:nvPr/>
            </p:nvCxnSpPr>
            <p:spPr>
              <a:xfrm rot="10800000" flipH="1">
                <a:off x="2021739" y="1439649"/>
                <a:ext cx="0" cy="2982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608" name="Google Shape;1608;p106"/>
              <p:cNvCxnSpPr/>
              <p:nvPr/>
            </p:nvCxnSpPr>
            <p:spPr>
              <a:xfrm>
                <a:off x="2015104" y="4411404"/>
                <a:ext cx="3902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sp>
        <p:nvSpPr>
          <p:cNvPr id="1609" name="Google Shape;1609;p106"/>
          <p:cNvSpPr txBox="1"/>
          <p:nvPr>
            <p:ph type="body" idx="1"/>
          </p:nvPr>
        </p:nvSpPr>
        <p:spPr>
          <a:xfrm>
            <a:off x="3040038" y="1282800"/>
            <a:ext cx="8379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Graph 2</a:t>
            </a:r>
            <a:endParaRPr sz="1600"/>
          </a:p>
        </p:txBody>
      </p:sp>
      <p:sp>
        <p:nvSpPr>
          <p:cNvPr id="1610" name="Google Shape;1610;p106"/>
          <p:cNvSpPr txBox="1"/>
          <p:nvPr>
            <p:ph type="body" idx="1"/>
          </p:nvPr>
        </p:nvSpPr>
        <p:spPr>
          <a:xfrm>
            <a:off x="5212038" y="1282800"/>
            <a:ext cx="8379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Graph 3</a:t>
            </a:r>
            <a:endParaRPr sz="1600"/>
          </a:p>
        </p:txBody>
      </p:sp>
      <p:sp>
        <p:nvSpPr>
          <p:cNvPr id="1611" name="Google Shape;1611;p106"/>
          <p:cNvSpPr txBox="1"/>
          <p:nvPr>
            <p:ph type="body" idx="1"/>
          </p:nvPr>
        </p:nvSpPr>
        <p:spPr>
          <a:xfrm>
            <a:off x="7384038" y="1282800"/>
            <a:ext cx="8379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Graph 4</a:t>
            </a:r>
            <a:endParaRPr sz="1600"/>
          </a:p>
        </p:txBody>
      </p:sp>
      <p:sp>
        <p:nvSpPr>
          <p:cNvPr id="1612" name="Google Shape;1612;p106"/>
          <p:cNvSpPr txBox="1"/>
          <p:nvPr>
            <p:ph type="body" idx="1"/>
          </p:nvPr>
        </p:nvSpPr>
        <p:spPr>
          <a:xfrm>
            <a:off x="324000" y="3184525"/>
            <a:ext cx="52047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a) Which graph shows a </a:t>
            </a:r>
            <a:r>
              <a:rPr lang="en-GB" sz="1600" b="1"/>
              <a:t>positive</a:t>
            </a:r>
            <a:r>
              <a:rPr lang="en-GB" sz="1600"/>
              <a:t> </a:t>
            </a:r>
            <a:r>
              <a:rPr lang="en-GB" sz="1600" b="1"/>
              <a:t>correlation</a:t>
            </a:r>
            <a:r>
              <a:rPr lang="en-GB" sz="1600"/>
              <a:t>?</a:t>
            </a:r>
            <a:endParaRPr sz="1600"/>
          </a:p>
        </p:txBody>
      </p:sp>
      <p:sp>
        <p:nvSpPr>
          <p:cNvPr id="1613" name="Google Shape;1613;p106"/>
          <p:cNvSpPr txBox="1"/>
          <p:nvPr>
            <p:ph type="body" idx="1"/>
          </p:nvPr>
        </p:nvSpPr>
        <p:spPr>
          <a:xfrm>
            <a:off x="324000" y="3613787"/>
            <a:ext cx="52047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b) Which graph shows a </a:t>
            </a:r>
            <a:r>
              <a:rPr lang="en-GB" sz="1600" b="1"/>
              <a:t>negative</a:t>
            </a:r>
            <a:r>
              <a:rPr lang="en-GB" sz="1600"/>
              <a:t> </a:t>
            </a:r>
            <a:r>
              <a:rPr lang="en-GB" sz="1600" b="1"/>
              <a:t>correlation</a:t>
            </a:r>
            <a:r>
              <a:rPr lang="en-GB" sz="1600"/>
              <a:t>?</a:t>
            </a:r>
            <a:endParaRPr sz="1600"/>
          </a:p>
        </p:txBody>
      </p:sp>
      <p:sp>
        <p:nvSpPr>
          <p:cNvPr id="1614" name="Google Shape;1614;p106"/>
          <p:cNvSpPr txBox="1"/>
          <p:nvPr>
            <p:ph type="body" idx="1"/>
          </p:nvPr>
        </p:nvSpPr>
        <p:spPr>
          <a:xfrm>
            <a:off x="324000" y="4043050"/>
            <a:ext cx="56202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c) Which graph shows an association</a:t>
            </a:r>
            <a:r>
              <a:rPr lang="en-GB" sz="1600" b="1"/>
              <a:t> </a:t>
            </a:r>
            <a:r>
              <a:rPr lang="en-GB" sz="1600"/>
              <a:t>which is not linear?</a:t>
            </a:r>
            <a:endParaRPr sz="1600"/>
          </a:p>
        </p:txBody>
      </p:sp>
      <p:sp>
        <p:nvSpPr>
          <p:cNvPr id="1615" name="Google Shape;1615;p106"/>
          <p:cNvSpPr txBox="1"/>
          <p:nvPr>
            <p:ph type="body" idx="1"/>
          </p:nvPr>
        </p:nvSpPr>
        <p:spPr>
          <a:xfrm>
            <a:off x="324000" y="4472312"/>
            <a:ext cx="52047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d) Which graph shows no association?</a:t>
            </a:r>
            <a:endParaRPr sz="1600"/>
          </a:p>
        </p:txBody>
      </p:sp>
      <p:sp>
        <p:nvSpPr>
          <p:cNvPr id="1616" name="Google Shape;1616;p106"/>
          <p:cNvSpPr txBox="1"/>
          <p:nvPr>
            <p:ph type="body" idx="1"/>
          </p:nvPr>
        </p:nvSpPr>
        <p:spPr>
          <a:xfrm>
            <a:off x="5524225" y="3139675"/>
            <a:ext cx="9807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Graph 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7" name="Google Shape;1617;p106"/>
          <p:cNvSpPr txBox="1"/>
          <p:nvPr>
            <p:ph type="body" idx="1"/>
          </p:nvPr>
        </p:nvSpPr>
        <p:spPr>
          <a:xfrm>
            <a:off x="5666875" y="3569875"/>
            <a:ext cx="10221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Graph 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8" name="Google Shape;1618;p106"/>
          <p:cNvSpPr txBox="1"/>
          <p:nvPr>
            <p:ph type="body" idx="1"/>
          </p:nvPr>
        </p:nvSpPr>
        <p:spPr>
          <a:xfrm>
            <a:off x="6089451" y="4003031"/>
            <a:ext cx="94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Graph 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9" name="Google Shape;1619;p106"/>
          <p:cNvSpPr txBox="1"/>
          <p:nvPr>
            <p:ph type="body" idx="1"/>
          </p:nvPr>
        </p:nvSpPr>
        <p:spPr>
          <a:xfrm>
            <a:off x="4173538" y="4424770"/>
            <a:ext cx="8379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Graph 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23" name="Shape 1623"/>
        <p:cNvGrpSpPr/>
        <p:nvPr/>
      </p:nvGrpSpPr>
      <p:grpSpPr>
        <a:xfrm>
          <a:off x="0" y="0"/>
          <a:ext cx="0" cy="0"/>
        </a:xfrm>
      </p:grpSpPr>
      <p:sp>
        <p:nvSpPr>
          <p:cNvPr id="1624" name="Google Shape;1624;p107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Char char="●"/>
            </a:pPr>
            <a:r>
              <a:rPr lang="en-GB" sz="2000"/>
              <a:t>The distribution of points on a scatter graph may suggest </a:t>
            </a:r>
            <a:r>
              <a:rPr lang="en-GB" sz="2000" b="1"/>
              <a:t>positive correlation</a:t>
            </a:r>
            <a:r>
              <a:rPr lang="en-GB" sz="2000"/>
              <a:t>.</a:t>
            </a:r>
            <a:br>
              <a:rPr lang="en-GB" sz="2000"/>
            </a:br>
            <a:endParaRPr sz="1600"/>
          </a:p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Char char="●"/>
            </a:pPr>
            <a:r>
              <a:rPr lang="en-GB" sz="2000"/>
              <a:t>The distribution of points on a scatter graph may suggest </a:t>
            </a:r>
            <a:r>
              <a:rPr lang="en-GB" sz="2000" b="1"/>
              <a:t>negative</a:t>
            </a:r>
            <a:r>
              <a:rPr lang="en-GB" sz="2000"/>
              <a:t> </a:t>
            </a:r>
            <a:r>
              <a:rPr lang="en-GB" sz="2000" b="1"/>
              <a:t>correlation</a:t>
            </a:r>
            <a:r>
              <a:rPr lang="en-GB" sz="2000"/>
              <a:t>.</a:t>
            </a:r>
            <a:br>
              <a:rPr lang="en-GB" sz="2000"/>
            </a:br>
            <a:endParaRPr sz="1500"/>
          </a:p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Char char="●"/>
            </a:pPr>
            <a:r>
              <a:rPr lang="en-GB" sz="2000"/>
              <a:t>The distribution of points on a scatter graph may suggest no correlation.</a:t>
            </a:r>
            <a:br>
              <a:rPr lang="en-GB" sz="2000"/>
            </a:br>
            <a:endParaRPr sz="1500"/>
          </a:p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Char char="●"/>
            </a:pPr>
            <a:r>
              <a:rPr lang="en-GB" sz="2000"/>
              <a:t>Correlation does not necessarily imply that one variable is affecting the other.</a:t>
            </a:r>
            <a:endParaRPr sz="2000"/>
          </a:p>
        </p:txBody>
      </p:sp>
      <p:sp>
        <p:nvSpPr>
          <p:cNvPr id="1625" name="Google Shape;1625;p107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Correlation</a:t>
            </a:r>
            <a:endParaRPr/>
          </a:p>
        </p:txBody>
      </p:sp>
    </p:spTree>
  </p:cSld>
  <p:clrMapOvr>
    <a:masterClrMapping/>
  </p:clrMapOvr>
  <p:transition/>
  <p:timing/>
</p:sld>
</file>

<file path=ppt/slides/slide4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29" name="Shape 1629"/>
        <p:cNvGrpSpPr/>
        <p:nvPr/>
      </p:nvGrpSpPr>
      <p:grpSpPr>
        <a:xfrm>
          <a:off x="0" y="0"/>
          <a:ext cx="0" cy="0"/>
        </a:xfrm>
      </p:grpSpPr>
      <p:sp>
        <p:nvSpPr>
          <p:cNvPr id="1630" name="Google Shape;1630;p108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631" name="Google Shape;1631;p10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422</Paragraphs>
  <Slides>45</Slides>
  <Notes>45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baseType="lpstr" size="53">
      <vt:lpstr>Arial</vt:lpstr>
      <vt:lpstr>Lexend</vt:lpstr>
      <vt:lpstr>Lexend Medium</vt:lpstr>
      <vt:lpstr>Kalam</vt:lpstr>
      <vt:lpstr>Lexend Light</vt:lpstr>
      <vt:lpstr>Calibri</vt:lpstr>
      <vt:lpstr>ABeeZee</vt:lpstr>
      <vt:lpstr>simple-light-2</vt:lpstr>
      <vt:lpstr>Correlation</vt:lpstr>
      <vt:lpstr>PowerPoint Presentation</vt:lpstr>
      <vt:lpstr>PowerPoint Presentation</vt:lpstr>
      <vt:lpstr>PowerPoint Presentation</vt:lpstr>
      <vt:lpstr>PowerPoint Presentation</vt:lpstr>
      <vt:lpstr>Recognising correlation in bivariate data</vt:lpstr>
      <vt:lpstr>Recognising correlation in bivariate data</vt:lpstr>
      <vt:lpstr>Recognising correlation in bivariate data</vt:lpstr>
      <vt:lpstr>Recognising correlation in bivariate data</vt:lpstr>
      <vt:lpstr>Recognising correlation in bivariate data</vt:lpstr>
      <vt:lpstr>Recognising correlation in bivariate data</vt:lpstr>
      <vt:lpstr>Recognising correlation in bivariate data</vt:lpstr>
      <vt:lpstr>Recognising correlation in bivariate data</vt:lpstr>
      <vt:lpstr>Recognising correlation in bivariate data</vt:lpstr>
      <vt:lpstr>Recognising correlation in bivariate data</vt:lpstr>
      <vt:lpstr>Recognising correlation in bivariate data</vt:lpstr>
      <vt:lpstr>Which scatter graph shows a linear association?</vt:lpstr>
      <vt:lpstr>Recognising correlation in bivariate data</vt:lpstr>
      <vt:lpstr>Recognising correlation in bivariate data</vt:lpstr>
      <vt:lpstr>Recognising correlation in bivariate data</vt:lpstr>
      <vt:lpstr>Recognising correlation in bivariate data</vt:lpstr>
      <vt:lpstr>Recognising correlation in bivariate data</vt:lpstr>
      <vt:lpstr>Recognising correlation in bivariate data</vt:lpstr>
      <vt:lpstr>Recognising correlation in bivariate data</vt:lpstr>
      <vt:lpstr>Recognising correlation in bivariate data</vt:lpstr>
      <vt:lpstr>Recognising correlation in bivariate data</vt:lpstr>
      <vt:lpstr>Recognising correlation in bivariate data</vt:lpstr>
      <vt:lpstr>Recognising correlation in bivariate data</vt:lpstr>
      <vt:lpstr>Recognising correlation in bivariate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Recognising correlation in bivariate data</vt:lpstr>
      <vt:lpstr>Interpreting bivariate data without correlation</vt:lpstr>
      <vt:lpstr>Interpreting bivariate data without correlation</vt:lpstr>
      <vt:lpstr>Interpreting bivariate data without correlation</vt:lpstr>
      <vt:lpstr>Interpreting bivariate data without correlation</vt:lpstr>
      <vt:lpstr>Which two scatter graphs should not be described using correlation?</vt:lpstr>
      <vt:lpstr>Which scatter graph shows no association?</vt:lpstr>
      <vt:lpstr>PowerPoint Presentation</vt:lpstr>
      <vt:lpstr>PowerPoint Presentation</vt:lpstr>
      <vt:lpstr>Correlation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2023-12-08T09:51:26.180</cp:lastPrinted>
  <dcterms:created xsi:type="dcterms:W3CDTF">2023-12-08T09:51:26Z</dcterms:created>
  <dcterms:modified xsi:type="dcterms:W3CDTF">2023-12-08T09:51:43Z</dcterms:modified>
</cp:coreProperties>
</file>