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829CCA5-66CE-4C1D-B9C8-CA6C9A27BFC5}">
  <a:tblStyle styleId="{D829CCA5-66CE-4C1D-B9C8-CA6C9A27BF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7" name="Shape 217"/>
        <p:cNvGrpSpPr/>
        <p:nvPr/>
      </p:nvGrpSpPr>
      <p:grpSpPr>
        <a:xfrm>
          <a:off x="0" y="0"/>
          <a:ext cx="0" cy="0"/>
        </a:xfrm>
      </p:grpSpPr>
      <p:sp>
        <p:nvSpPr>
          <p:cNvPr id="218" name="Google Shape;218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Correlation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Recognising correlation in bivariate data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865900"/>
            <a:ext cx="66240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Fully describe the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correlation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each scatter graph.</a:t>
            </a:r>
            <a:endParaRPr sz="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936463" y="2118826"/>
            <a:ext cx="1734343" cy="1403543"/>
            <a:chOff x="784123" y="1051989"/>
            <a:chExt cx="1930909" cy="1562443"/>
          </a:xfrm>
        </p:grpSpPr>
        <p:pic>
          <p:nvPicPr>
            <p:cNvPr id="176" name="Google Shape;176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4123" y="1132197"/>
              <a:ext cx="1856143" cy="14822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7" name="Google Shape;177;p20"/>
            <p:cNvGrpSpPr/>
            <p:nvPr/>
          </p:nvGrpSpPr>
          <p:grpSpPr>
            <a:xfrm>
              <a:off x="784125" y="1051989"/>
              <a:ext cx="1930908" cy="1562443"/>
              <a:chOff x="2015104" y="1439649"/>
              <a:chExt cx="3902400" cy="2982900"/>
            </a:xfrm>
          </p:grpSpPr>
          <p:cxnSp>
            <p:nvCxnSpPr>
              <p:cNvPr id="178" name="Google Shape;178;p20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79" name="Google Shape;179;p20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80" name="Google Shape;180;p20"/>
          <p:cNvGrpSpPr/>
          <p:nvPr/>
        </p:nvGrpSpPr>
        <p:grpSpPr>
          <a:xfrm>
            <a:off x="4464200" y="2118833"/>
            <a:ext cx="1545765" cy="1403543"/>
            <a:chOff x="4975204" y="1051997"/>
            <a:chExt cx="1720958" cy="1562443"/>
          </a:xfrm>
        </p:grpSpPr>
        <p:pic>
          <p:nvPicPr>
            <p:cNvPr id="181" name="Google Shape;18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5051358" y="1090962"/>
              <a:ext cx="1475451" cy="15706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20"/>
            <p:cNvGrpSpPr/>
            <p:nvPr/>
          </p:nvGrpSpPr>
          <p:grpSpPr>
            <a:xfrm>
              <a:off x="4975204" y="1051997"/>
              <a:ext cx="1720958" cy="1562443"/>
              <a:chOff x="2015104" y="1439649"/>
              <a:chExt cx="3902400" cy="2982900"/>
            </a:xfrm>
          </p:grpSpPr>
          <p:cxnSp>
            <p:nvCxnSpPr>
              <p:cNvPr id="183" name="Google Shape;183;p20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4" name="Google Shape;184;p20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185" name="Google Shape;185;p20"/>
          <p:cNvSpPr txBox="1"/>
          <p:nvPr/>
        </p:nvSpPr>
        <p:spPr>
          <a:xfrm>
            <a:off x="476400" y="2146800"/>
            <a:ext cx="239700" cy="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147100" y="2146800"/>
            <a:ext cx="239700" cy="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7" name="Google Shape;187;p20"/>
          <p:cNvGraphicFramePr>
            <a:graphicFrameLocks noGrp="1"/>
          </p:cNvGraphicFramePr>
          <p:nvPr/>
        </p:nvGraphicFramePr>
        <p:xfrm>
          <a:off x="872628" y="4393216"/>
          <a:ext cx="5786700" cy="1051470"/>
        </p:xfrm>
        <a:graphic>
          <a:graphicData uri="http://schemas.openxmlformats.org/drawingml/2006/table">
            <a:tbl>
              <a:tblPr>
                <a:noFill/>
                <a:tableStyleId>{D829CCA5-66CE-4C1D-B9C8-CA6C9A27BFC5}</a:tableStyleId>
              </a:tblPr>
              <a:tblGrid>
                <a:gridCol w="3843875"/>
                <a:gridCol w="975500"/>
                <a:gridCol w="967325"/>
              </a:tblGrid>
              <a:tr h="2609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1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positive </a:t>
                      </a:r>
                      <a:endParaRPr sz="11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negative </a:t>
                      </a:r>
                      <a:endParaRPr sz="11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09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children’s heights and their shoe sizes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09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steepness of a hill and walking speed up the hill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88" name="Google Shape;18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3880" y="4784324"/>
            <a:ext cx="259908" cy="275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4595" y="5136786"/>
            <a:ext cx="259908" cy="2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2606400" y="2816738"/>
            <a:ext cx="124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positive correlation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749512" y="2823158"/>
            <a:ext cx="158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negative correlation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76400" y="3925900"/>
            <a:ext cx="66240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For each set of bivariate data, tick whether you would expect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correlation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be positive or negative.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5">
            <a:alphaModFix/>
          </a:blip>
          <a:srcRect t="13681" r="25512"/>
          <a:stretch>
            <a:fillRect/>
          </a:stretch>
        </p:blipFill>
        <p:spPr>
          <a:xfrm>
            <a:off x="5279514" y="6348660"/>
            <a:ext cx="1712799" cy="1316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6">
            <a:alphaModFix/>
          </a:blip>
          <a:srcRect t="-3626"/>
          <a:stretch>
            <a:fillRect/>
          </a:stretch>
        </p:blipFill>
        <p:spPr>
          <a:xfrm>
            <a:off x="894796" y="6375661"/>
            <a:ext cx="1712753" cy="1270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>
          <a:blip r:embed="rId7">
            <a:alphaModFix/>
          </a:blip>
          <a:srcRect t="8181" r="38702"/>
          <a:stretch>
            <a:fillRect/>
          </a:stretch>
        </p:blipFill>
        <p:spPr>
          <a:xfrm>
            <a:off x="3192711" y="6303511"/>
            <a:ext cx="1298183" cy="131659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493027" y="5773392"/>
            <a:ext cx="66240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three scatter graphs show data from the Office for National Statistics.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Each point represents a region in England and Wales in 2015.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070640" y="7566866"/>
            <a:ext cx="1134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population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8" name="Google Shape;198;p20"/>
          <p:cNvGrpSpPr/>
          <p:nvPr/>
        </p:nvGrpSpPr>
        <p:grpSpPr>
          <a:xfrm>
            <a:off x="906563" y="6279463"/>
            <a:ext cx="1712763" cy="1386154"/>
            <a:chOff x="2015104" y="1439649"/>
            <a:chExt cx="3902400" cy="2982900"/>
          </a:xfrm>
        </p:grpSpPr>
        <p:cxnSp>
          <p:nvCxnSpPr>
            <p:cNvPr id="199" name="Google Shape;199;p20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0" name="Google Shape;200;p20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01" name="Google Shape;201;p20"/>
          <p:cNvSpPr txBox="1"/>
          <p:nvPr/>
        </p:nvSpPr>
        <p:spPr>
          <a:xfrm rot="-5400000">
            <a:off x="35859" y="6787879"/>
            <a:ext cx="1459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cell phone towers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3356703" y="7538724"/>
            <a:ext cx="1134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population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3" name="Google Shape;203;p20"/>
          <p:cNvGrpSpPr/>
          <p:nvPr/>
        </p:nvGrpSpPr>
        <p:grpSpPr>
          <a:xfrm>
            <a:off x="3192713" y="6255117"/>
            <a:ext cx="1451693" cy="1386154"/>
            <a:chOff x="2015104" y="1439649"/>
            <a:chExt cx="3902400" cy="2982900"/>
          </a:xfrm>
        </p:grpSpPr>
        <p:cxnSp>
          <p:nvCxnSpPr>
            <p:cNvPr id="204" name="Google Shape;204;p20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5" name="Google Shape;205;p20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06" name="Google Shape;206;p20"/>
          <p:cNvSpPr txBox="1"/>
          <p:nvPr/>
        </p:nvSpPr>
        <p:spPr>
          <a:xfrm rot="-5400000">
            <a:off x="2344300" y="6675022"/>
            <a:ext cx="157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transport emissions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5279518" y="7580903"/>
            <a:ext cx="1783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cell phone towers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" name="Google Shape;208;p20"/>
          <p:cNvGrpSpPr/>
          <p:nvPr/>
        </p:nvGrpSpPr>
        <p:grpSpPr>
          <a:xfrm>
            <a:off x="5265903" y="6291639"/>
            <a:ext cx="1783787" cy="1386154"/>
            <a:chOff x="2015104" y="1439649"/>
            <a:chExt cx="3902400" cy="2982900"/>
          </a:xfrm>
        </p:grpSpPr>
        <p:cxnSp>
          <p:nvCxnSpPr>
            <p:cNvPr id="209" name="Google Shape;209;p20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0" name="Google Shape;210;p20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11" name="Google Shape;211;p20"/>
          <p:cNvSpPr txBox="1"/>
          <p:nvPr/>
        </p:nvSpPr>
        <p:spPr>
          <a:xfrm rot="-5400000">
            <a:off x="4404646" y="6705070"/>
            <a:ext cx="1610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transport emissions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652725" y="7889816"/>
            <a:ext cx="6439200" cy="7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thinks that the third scatter graph shows that cell phone towers cause more traffic pollution because there is a positive correlation.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Jacob could be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674280" y="8701065"/>
            <a:ext cx="64392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Correlation does not always mean that one variable is affecting the other.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67550" y="8990766"/>
            <a:ext cx="6324900" cy="4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Correlation may suggest there is an association between the variables, not necessarily a cause and effect relationship.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661375" y="9469816"/>
            <a:ext cx="64392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number of cell phone towers and the amount of traffic emissions could both be affected the population of the region.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6" name="Google Shape;216;p20"/>
          <p:cNvCxnSpPr/>
          <p:nvPr/>
        </p:nvCxnSpPr>
        <p:spPr>
          <a:xfrm>
            <a:off x="474750" y="9953909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0" name="Shape 220"/>
        <p:cNvGrpSpPr/>
        <p:nvPr/>
      </p:nvGrpSpPr>
      <p:grpSpPr>
        <a:xfrm>
          <a:off x="0" y="0"/>
          <a:ext cx="0" cy="0"/>
        </a:xfrm>
      </p:grpSpPr>
      <p:sp>
        <p:nvSpPr>
          <p:cNvPr id="221" name="Google Shape;22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2" name="Google Shape;22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Correlation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cxnSp>
        <p:nvCxnSpPr>
          <p:cNvPr id="225" name="Google Shape;225;p21"/>
          <p:cNvCxnSpPr/>
          <p:nvPr/>
        </p:nvCxnSpPr>
        <p:spPr>
          <a:xfrm>
            <a:off x="454574" y="989963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6" name="Google Shape;226;p21"/>
          <p:cNvSpPr txBox="1"/>
          <p:nvPr/>
        </p:nvSpPr>
        <p:spPr>
          <a:xfrm>
            <a:off x="476400" y="1216500"/>
            <a:ext cx="8237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Here are four scatter graphs.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7" name="Google Shape;227;p21"/>
          <p:cNvGrpSpPr/>
          <p:nvPr/>
        </p:nvGrpSpPr>
        <p:grpSpPr>
          <a:xfrm>
            <a:off x="1072940" y="1731368"/>
            <a:ext cx="1756470" cy="1275488"/>
            <a:chOff x="4315922" y="1502768"/>
            <a:chExt cx="1756470" cy="1275488"/>
          </a:xfrm>
        </p:grpSpPr>
        <p:pic>
          <p:nvPicPr>
            <p:cNvPr id="228" name="Google Shape;228;p21"/>
            <p:cNvPicPr preferRelativeResize="0"/>
            <p:nvPr/>
          </p:nvPicPr>
          <p:blipFill>
            <a:blip r:embed="rId3">
              <a:alphaModFix/>
            </a:blip>
            <a:srcRect l="11729" r="9337"/>
            <a:stretch>
              <a:fillRect/>
            </a:stretch>
          </p:blipFill>
          <p:spPr>
            <a:xfrm>
              <a:off x="4321145" y="1521066"/>
              <a:ext cx="1724893" cy="124140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9" name="Google Shape;229;p21"/>
            <p:cNvGrpSpPr/>
            <p:nvPr/>
          </p:nvGrpSpPr>
          <p:grpSpPr>
            <a:xfrm>
              <a:off x="4315922" y="1502768"/>
              <a:ext cx="1756470" cy="1275488"/>
              <a:chOff x="2015104" y="1439649"/>
              <a:chExt cx="3902400" cy="2982900"/>
            </a:xfrm>
          </p:grpSpPr>
          <p:cxnSp>
            <p:nvCxnSpPr>
              <p:cNvPr id="230" name="Google Shape;230;p21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31" name="Google Shape;231;p21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232" name="Google Shape;232;p21"/>
          <p:cNvGrpSpPr/>
          <p:nvPr/>
        </p:nvGrpSpPr>
        <p:grpSpPr>
          <a:xfrm>
            <a:off x="3757361" y="1742170"/>
            <a:ext cx="1756470" cy="1275488"/>
            <a:chOff x="2580744" y="1513570"/>
            <a:chExt cx="1756470" cy="1275488"/>
          </a:xfrm>
        </p:grpSpPr>
        <p:pic>
          <p:nvPicPr>
            <p:cNvPr id="233" name="Google Shape;233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02244" y="1638926"/>
              <a:ext cx="1654777" cy="112354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4" name="Google Shape;234;p21"/>
            <p:cNvGrpSpPr/>
            <p:nvPr/>
          </p:nvGrpSpPr>
          <p:grpSpPr>
            <a:xfrm>
              <a:off x="2580744" y="1513570"/>
              <a:ext cx="1756470" cy="1275488"/>
              <a:chOff x="2015104" y="1439649"/>
              <a:chExt cx="3902400" cy="2982900"/>
            </a:xfrm>
          </p:grpSpPr>
          <p:cxnSp>
            <p:nvCxnSpPr>
              <p:cNvPr id="235" name="Google Shape;235;p21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36" name="Google Shape;236;p21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237" name="Google Shape;237;p21"/>
          <p:cNvGrpSpPr/>
          <p:nvPr/>
        </p:nvGrpSpPr>
        <p:grpSpPr>
          <a:xfrm>
            <a:off x="1074165" y="3647170"/>
            <a:ext cx="1756470" cy="1275488"/>
            <a:chOff x="4807965" y="1513570"/>
            <a:chExt cx="1756470" cy="1275488"/>
          </a:xfrm>
        </p:grpSpPr>
        <p:pic>
          <p:nvPicPr>
            <p:cNvPr id="238" name="Google Shape;238;p21"/>
            <p:cNvPicPr preferRelativeResize="0"/>
            <p:nvPr/>
          </p:nvPicPr>
          <p:blipFill>
            <a:blip r:embed="rId4">
              <a:alphaModFix/>
            </a:blip>
            <a:srcRect l="12195"/>
            <a:stretch>
              <a:fillRect/>
            </a:stretch>
          </p:blipFill>
          <p:spPr>
            <a:xfrm rot="10800000" flipH="1">
              <a:off x="4829869" y="1638925"/>
              <a:ext cx="1452934" cy="112354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9" name="Google Shape;239;p21"/>
            <p:cNvGrpSpPr/>
            <p:nvPr/>
          </p:nvGrpSpPr>
          <p:grpSpPr>
            <a:xfrm>
              <a:off x="4807965" y="1513570"/>
              <a:ext cx="1756470" cy="1275488"/>
              <a:chOff x="2015104" y="1439649"/>
              <a:chExt cx="3902400" cy="2982900"/>
            </a:xfrm>
          </p:grpSpPr>
          <p:cxnSp>
            <p:nvCxnSpPr>
              <p:cNvPr id="240" name="Google Shape;240;p21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41" name="Google Shape;241;p21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242" name="Google Shape;242;p21"/>
          <p:cNvSpPr txBox="1"/>
          <p:nvPr/>
        </p:nvSpPr>
        <p:spPr>
          <a:xfrm>
            <a:off x="1499891" y="1576394"/>
            <a:ext cx="837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Graph 1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3" name="Google Shape;243;p21"/>
          <p:cNvGrpSpPr/>
          <p:nvPr/>
        </p:nvGrpSpPr>
        <p:grpSpPr>
          <a:xfrm>
            <a:off x="3758587" y="3623980"/>
            <a:ext cx="1756511" cy="1287876"/>
            <a:chOff x="6501787" y="1490380"/>
            <a:chExt cx="1756511" cy="1287876"/>
          </a:xfrm>
        </p:grpSpPr>
        <p:pic>
          <p:nvPicPr>
            <p:cNvPr id="244" name="Google Shape;244;p21"/>
            <p:cNvPicPr preferRelativeResize="0"/>
            <p:nvPr/>
          </p:nvPicPr>
          <p:blipFill>
            <a:blip r:embed="rId5">
              <a:alphaModFix/>
            </a:blip>
            <a:srcRect l="7295"/>
            <a:stretch>
              <a:fillRect/>
            </a:stretch>
          </p:blipFill>
          <p:spPr>
            <a:xfrm>
              <a:off x="6501787" y="1490380"/>
              <a:ext cx="1665362" cy="128620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5" name="Google Shape;245;p21"/>
            <p:cNvGrpSpPr/>
            <p:nvPr/>
          </p:nvGrpSpPr>
          <p:grpSpPr>
            <a:xfrm>
              <a:off x="6501828" y="1502768"/>
              <a:ext cx="1756470" cy="1275488"/>
              <a:chOff x="2015104" y="1439649"/>
              <a:chExt cx="3902400" cy="2982900"/>
            </a:xfrm>
          </p:grpSpPr>
          <p:cxnSp>
            <p:nvCxnSpPr>
              <p:cNvPr id="246" name="Google Shape;246;p21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47" name="Google Shape;247;p21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248" name="Google Shape;248;p21"/>
          <p:cNvSpPr txBox="1"/>
          <p:nvPr/>
        </p:nvSpPr>
        <p:spPr>
          <a:xfrm>
            <a:off x="4261479" y="1576394"/>
            <a:ext cx="837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Graph 2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1576849" y="3501565"/>
            <a:ext cx="837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Graph 3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4259838" y="3490359"/>
            <a:ext cx="837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Graph 4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76400" y="5546725"/>
            <a:ext cx="5204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graph shows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positive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correlation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76400" y="5975987"/>
            <a:ext cx="5204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graph shows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negative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correlation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76400" y="6405250"/>
            <a:ext cx="5620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graph shows an association which is not linear?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76400" y="6834512"/>
            <a:ext cx="5204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Which graph shows no association?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000225" y="5533251"/>
            <a:ext cx="980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Graph 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066675" y="5963451"/>
            <a:ext cx="1022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Graph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794051" y="6396608"/>
            <a:ext cx="94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Graph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3411538" y="6840758"/>
            <a:ext cx="837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Graph 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Interpreting bivariate data without correlation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Correlation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2023-12-08T09:51:08.860</cp:lastPrinted>
  <dcterms:created xsi:type="dcterms:W3CDTF">2023-12-08T09:51:08Z</dcterms:created>
  <dcterms:modified xsi:type="dcterms:W3CDTF">2023-12-08T09:51:19Z</dcterms:modified>
</cp:coreProperties>
</file>