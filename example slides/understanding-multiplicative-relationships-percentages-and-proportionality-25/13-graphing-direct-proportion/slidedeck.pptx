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5143500"/>
  <p:notesSz cx="6858000" cy="9144000"/>
  <p:embeddedFontLst>
    <p:embeddedFont>
      <p:font typeface="Lexend" panose="00000000000000000000"/>
      <p:regular r:id="rId40"/>
    </p:embeddedFont>
    <p:embeddedFont>
      <p:font typeface="Lexend Medium" panose="00000000000000000000"/>
      <p:regular r:id="rId41"/>
    </p:embeddedFont>
    <p:embeddedFont>
      <p:font typeface="Kalam" panose="02000000000000000000"/>
      <p:regular r:id="rId42"/>
    </p:embeddedFont>
    <p:embeddedFont>
      <p:font typeface="Lexend Light" panose="00000000000000000000"/>
      <p:regular r:id="rId43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5A1BF5D-B91B-4E9E-9063-9A3C55972624}">
  <a:tblStyle styleId="{25A1BF5D-B91B-4E9E-9063-9A3C559726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tags" Target="tags/tag1.xml" /><Relationship Id="rId4" Type="http://schemas.openxmlformats.org/officeDocument/2006/relationships/slide" Target="slides/slide2.xml" /><Relationship Id="rId40" Type="http://schemas.openxmlformats.org/officeDocument/2006/relationships/font" Target="fonts/font1.fntdata" /><Relationship Id="rId41" Type="http://schemas.openxmlformats.org/officeDocument/2006/relationships/font" Target="fonts/font2.fntdata" /><Relationship Id="rId42" Type="http://schemas.openxmlformats.org/officeDocument/2006/relationships/font" Target="fonts/font3.fntdata" /><Relationship Id="rId43" Type="http://schemas.openxmlformats.org/officeDocument/2006/relationships/font" Target="fonts/font4.fntdata" /><Relationship Id="rId44" Type="http://schemas.openxmlformats.org/officeDocument/2006/relationships/presProps" Target="presProps.xml" /><Relationship Id="rId45" Type="http://schemas.openxmlformats.org/officeDocument/2006/relationships/viewProps" Target="viewProps.xml" /><Relationship Id="rId46" Type="http://schemas.openxmlformats.org/officeDocument/2006/relationships/theme" Target="theme/theme1.xml" /><Relationship Id="rId47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g2b5de85bf4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5de85bf4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g2b0fa893973_0_7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0fa893973_0_7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g2b0fa893973_0_7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b0fa893973_0_7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5" name="Shape 785"/>
        <p:cNvGrpSpPr/>
        <p:nvPr/>
      </p:nvGrpSpPr>
      <p:grpSpPr>
        <a:xfrm>
          <a:off x="0" y="0"/>
          <a:ext cx="0" cy="0"/>
        </a:xfrm>
      </p:grpSpPr>
      <p:sp>
        <p:nvSpPr>
          <p:cNvPr id="786" name="Google Shape;786;g2b49942ef33_0_1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b49942ef33_0_1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g2b49942ef33_0_1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b49942ef33_0_1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sp>
        <p:nvSpPr>
          <p:cNvPr id="829" name="Google Shape;829;g2b0fa893973_0_7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b0fa893973_0_7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9" name="Shape 839"/>
        <p:cNvGrpSpPr/>
        <p:nvPr/>
      </p:nvGrpSpPr>
      <p:grpSpPr>
        <a:xfrm>
          <a:off x="0" y="0"/>
          <a:ext cx="0" cy="0"/>
        </a:xfrm>
      </p:grpSpPr>
      <p:sp>
        <p:nvSpPr>
          <p:cNvPr id="840" name="Google Shape;840;g2b0fa893973_0_7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b0fa893973_0_7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g2b0fa893973_0_7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b0fa893973_0_7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9" name="Shape 879"/>
        <p:cNvGrpSpPr/>
        <p:nvPr/>
      </p:nvGrpSpPr>
      <p:grpSpPr>
        <a:xfrm>
          <a:off x="0" y="0"/>
          <a:ext cx="0" cy="0"/>
        </a:xfrm>
      </p:grpSpPr>
      <p:sp>
        <p:nvSpPr>
          <p:cNvPr id="880" name="Google Shape;880;g2b49942ef33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b49942ef33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3" name="Shape 903"/>
        <p:cNvGrpSpPr/>
        <p:nvPr/>
      </p:nvGrpSpPr>
      <p:grpSpPr>
        <a:xfrm>
          <a:off x="0" y="0"/>
          <a:ext cx="0" cy="0"/>
        </a:xfrm>
      </p:grpSpPr>
      <p:sp>
        <p:nvSpPr>
          <p:cNvPr id="904" name="Google Shape;904;g2b0fa893973_0_7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b0fa893973_0_7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2" name="Shape 922"/>
        <p:cNvGrpSpPr/>
        <p:nvPr/>
      </p:nvGrpSpPr>
      <p:grpSpPr>
        <a:xfrm>
          <a:off x="0" y="0"/>
          <a:ext cx="0" cy="0"/>
        </a:xfrm>
      </p:grpSpPr>
      <p:sp>
        <p:nvSpPr>
          <p:cNvPr id="923" name="Google Shape;923;g2b0fa893973_0_8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b0fa893973_0_8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6" name="Shape 936"/>
        <p:cNvGrpSpPr/>
        <p:nvPr/>
      </p:nvGrpSpPr>
      <p:grpSpPr>
        <a:xfrm>
          <a:off x="0" y="0"/>
          <a:ext cx="0" cy="0"/>
        </a:xfrm>
      </p:grpSpPr>
      <p:sp>
        <p:nvSpPr>
          <p:cNvPr id="937" name="Google Shape;937;g2b0fa893973_0_7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b0fa893973_0_7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3" name="Shape 963"/>
        <p:cNvGrpSpPr/>
        <p:nvPr/>
      </p:nvGrpSpPr>
      <p:grpSpPr>
        <a:xfrm>
          <a:off x="0" y="0"/>
          <a:ext cx="0" cy="0"/>
        </a:xfrm>
      </p:grpSpPr>
      <p:sp>
        <p:nvSpPr>
          <p:cNvPr id="964" name="Google Shape;964;g2b49942ef33_0_2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b49942ef33_0_2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sp>
        <p:nvSpPr>
          <p:cNvPr id="974" name="Google Shape;974;g2b49942ef33_0_3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b49942ef33_0_3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sp>
        <p:nvSpPr>
          <p:cNvPr id="984" name="Google Shape;984;g2b49942ef33_0_2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b49942ef33_0_2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4" name="Shape 1014"/>
        <p:cNvGrpSpPr/>
        <p:nvPr/>
      </p:nvGrpSpPr>
      <p:grpSpPr>
        <a:xfrm>
          <a:off x="0" y="0"/>
          <a:ext cx="0" cy="0"/>
        </a:xfrm>
      </p:grpSpPr>
      <p:sp>
        <p:nvSpPr>
          <p:cNvPr id="1015" name="Google Shape;1015;g2b49942ef33_0_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b49942ef33_0_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9" name="Shape 1029"/>
        <p:cNvGrpSpPr/>
        <p:nvPr/>
      </p:nvGrpSpPr>
      <p:grpSpPr>
        <a:xfrm>
          <a:off x="0" y="0"/>
          <a:ext cx="0" cy="0"/>
        </a:xfrm>
      </p:grpSpPr>
      <p:sp>
        <p:nvSpPr>
          <p:cNvPr id="1030" name="Google Shape;1030;g2b0fa893973_0_7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b0fa893973_0_7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7" name="Shape 1037"/>
        <p:cNvGrpSpPr/>
        <p:nvPr/>
      </p:nvGrpSpPr>
      <p:grpSpPr>
        <a:xfrm>
          <a:off x="0" y="0"/>
          <a:ext cx="0" cy="0"/>
        </a:xfrm>
      </p:grpSpPr>
      <p:sp>
        <p:nvSpPr>
          <p:cNvPr id="1038" name="Google Shape;1038;g2b49942ef33_0_3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b49942ef33_0_3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5" name="Shape 1065"/>
        <p:cNvGrpSpPr/>
        <p:nvPr/>
      </p:nvGrpSpPr>
      <p:grpSpPr>
        <a:xfrm>
          <a:off x="0" y="0"/>
          <a:ext cx="0" cy="0"/>
        </a:xfrm>
      </p:grpSpPr>
      <p:sp>
        <p:nvSpPr>
          <p:cNvPr id="1066" name="Google Shape;1066;g2b49942ef33_0_3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b49942ef33_0_3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1" name="Shape 1091"/>
        <p:cNvGrpSpPr/>
        <p:nvPr/>
      </p:nvGrpSpPr>
      <p:grpSpPr>
        <a:xfrm>
          <a:off x="0" y="0"/>
          <a:ext cx="0" cy="0"/>
        </a:xfrm>
      </p:grpSpPr>
      <p:sp>
        <p:nvSpPr>
          <p:cNvPr id="1092" name="Google Shape;1092;g2b49942ef33_0_4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b49942ef33_0_4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3" name="Shape 1113"/>
        <p:cNvGrpSpPr/>
        <p:nvPr/>
      </p:nvGrpSpPr>
      <p:grpSpPr>
        <a:xfrm>
          <a:off x="0" y="0"/>
          <a:ext cx="0" cy="0"/>
        </a:xfrm>
      </p:grpSpPr>
      <p:sp>
        <p:nvSpPr>
          <p:cNvPr id="1114" name="Google Shape;1114;g2b49942ef33_0_4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b49942ef33_0_4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9" name="Shape 1119"/>
        <p:cNvGrpSpPr/>
        <p:nvPr/>
      </p:nvGrpSpPr>
      <p:grpSpPr>
        <a:xfrm>
          <a:off x="0" y="0"/>
          <a:ext cx="0" cy="0"/>
        </a:xfrm>
      </p:grpSpPr>
      <p:sp>
        <p:nvSpPr>
          <p:cNvPr id="1120" name="Google Shape;1120;g2b49942ef33_0_4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b49942ef33_0_4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1" name="Shape 1141"/>
        <p:cNvGrpSpPr/>
        <p:nvPr/>
      </p:nvGrpSpPr>
      <p:grpSpPr>
        <a:xfrm>
          <a:off x="0" y="0"/>
          <a:ext cx="0" cy="0"/>
        </a:xfrm>
      </p:grpSpPr>
      <p:sp>
        <p:nvSpPr>
          <p:cNvPr id="1142" name="Google Shape;1142;g2b49942ef33_0_5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b49942ef33_0_5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sp>
        <p:nvSpPr>
          <p:cNvPr id="1157" name="Google Shape;1157;g2b49942ef33_0_4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b49942ef33_0_4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5" name="Shape 1175"/>
        <p:cNvGrpSpPr/>
        <p:nvPr/>
      </p:nvGrpSpPr>
      <p:grpSpPr>
        <a:xfrm>
          <a:off x="0" y="0"/>
          <a:ext cx="0" cy="0"/>
        </a:xfrm>
      </p:grpSpPr>
      <p:sp>
        <p:nvSpPr>
          <p:cNvPr id="1176" name="Google Shape;1176;g2b49942ef33_0_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b49942ef33_0_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6" name="Shape 1196"/>
        <p:cNvGrpSpPr/>
        <p:nvPr/>
      </p:nvGrpSpPr>
      <p:grpSpPr>
        <a:xfrm>
          <a:off x="0" y="0"/>
          <a:ext cx="0" cy="0"/>
        </a:xfrm>
      </p:grpSpPr>
      <p:sp>
        <p:nvSpPr>
          <p:cNvPr id="1197" name="Google Shape;1197;g2b49942ef33_0_5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b49942ef33_0_5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5" name="Shape 1225"/>
        <p:cNvGrpSpPr/>
        <p:nvPr/>
      </p:nvGrpSpPr>
      <p:grpSpPr>
        <a:xfrm>
          <a:off x="0" y="0"/>
          <a:ext cx="0" cy="0"/>
        </a:xfrm>
      </p:grpSpPr>
      <p:sp>
        <p:nvSpPr>
          <p:cNvPr id="1226" name="Google Shape;1226;g2b837e92d76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b837e92d76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9" name="Shape 1249"/>
        <p:cNvGrpSpPr/>
        <p:nvPr/>
      </p:nvGrpSpPr>
      <p:grpSpPr>
        <a:xfrm>
          <a:off x="0" y="0"/>
          <a:ext cx="0" cy="0"/>
        </a:xfrm>
      </p:grpSpPr>
      <p:sp>
        <p:nvSpPr>
          <p:cNvPr id="1250" name="Google Shape;1250;g2b4f9b01257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b4f9b01257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0" name="Shape 1280"/>
        <p:cNvGrpSpPr/>
        <p:nvPr/>
      </p:nvGrpSpPr>
      <p:grpSpPr>
        <a:xfrm>
          <a:off x="0" y="0"/>
          <a:ext cx="0" cy="0"/>
        </a:xfrm>
      </p:grpSpPr>
      <p:sp>
        <p:nvSpPr>
          <p:cNvPr id="1281" name="Google Shape;1281;g2b49942ef33_0_4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b49942ef33_0_4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6" name="Shape 1316"/>
        <p:cNvGrpSpPr/>
        <p:nvPr/>
      </p:nvGrpSpPr>
      <p:grpSpPr>
        <a:xfrm>
          <a:off x="0" y="0"/>
          <a:ext cx="0" cy="0"/>
        </a:xfrm>
      </p:grpSpPr>
      <p:sp>
        <p:nvSpPr>
          <p:cNvPr id="1317" name="Google Shape;1317;g2b49942ef33_0_4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b49942ef33_0_4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3" name="Shape 1333"/>
        <p:cNvGrpSpPr/>
        <p:nvPr/>
      </p:nvGrpSpPr>
      <p:grpSpPr>
        <a:xfrm>
          <a:off x="0" y="0"/>
          <a:ext cx="0" cy="0"/>
        </a:xfrm>
      </p:grpSpPr>
      <p:sp>
        <p:nvSpPr>
          <p:cNvPr id="1334" name="Google Shape;1334;g2b4f9b01257_0_1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b4f9b01257_0_1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1" name="Shape 1351"/>
        <p:cNvGrpSpPr/>
        <p:nvPr/>
      </p:nvGrpSpPr>
      <p:grpSpPr>
        <a:xfrm>
          <a:off x="0" y="0"/>
          <a:ext cx="0" cy="0"/>
        </a:xfrm>
      </p:grpSpPr>
      <p:sp>
        <p:nvSpPr>
          <p:cNvPr id="1352" name="Google Shape;1352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7" name="Shape 1357"/>
        <p:cNvGrpSpPr/>
        <p:nvPr/>
      </p:nvGrpSpPr>
      <p:grpSpPr>
        <a:xfrm>
          <a:off x="0" y="0"/>
          <a:ext cx="0" cy="0"/>
        </a:xfrm>
      </p:grpSpPr>
      <p:sp>
        <p:nvSpPr>
          <p:cNvPr id="1358" name="Google Shape;1358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3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6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9.png" /><Relationship Id="rId4" Type="http://schemas.openxmlformats.org/officeDocument/2006/relationships/image" Target="../media/image39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Relationship Id="rId6" Type="http://schemas.openxmlformats.org/officeDocument/2006/relationships/image" Target="../media/image53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7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Relationship Id="rId5" Type="http://schemas.openxmlformats.org/officeDocument/2006/relationships/image" Target="../media/image6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0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Relationship Id="rId6" Type="http://schemas.openxmlformats.org/officeDocument/2006/relationships/image" Target="../media/image68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Relationship Id="rId5" Type="http://schemas.openxmlformats.org/officeDocument/2006/relationships/image" Target="../media/image71.png" /><Relationship Id="rId6" Type="http://schemas.openxmlformats.org/officeDocument/2006/relationships/image" Target="../media/image72.png" /><Relationship Id="rId7" Type="http://schemas.openxmlformats.org/officeDocument/2006/relationships/image" Target="../media/image73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74.png" /><Relationship Id="rId4" Type="http://schemas.openxmlformats.org/officeDocument/2006/relationships/image" Target="../media/image75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76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77.png" /><Relationship Id="rId4" Type="http://schemas.openxmlformats.org/officeDocument/2006/relationships/image" Target="../media/image69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6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  <p:sp>
        <p:nvSpPr>
          <p:cNvPr id="755" name="Google Shape;755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9" name="Shape 759"/>
        <p:cNvGrpSpPr/>
        <p:nvPr/>
      </p:nvGrpSpPr>
      <p:grpSpPr>
        <a:xfrm>
          <a:off x="0" y="0"/>
          <a: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recognise direct proportion graphically and be able to identify features of the graph.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p66"/>
          <p:cNvSpPr txBox="1"/>
          <p:nvPr>
            <p:ph type="subTitle" idx="1"/>
          </p:nvPr>
        </p:nvSpPr>
        <p:spPr>
          <a:xfrm>
            <a:off x="306950" y="988800"/>
            <a:ext cx="7767300" cy="1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/>
              <a:t>Two variables are in direct proportion if they have a constant multiplicative relationship. </a:t>
            </a:r>
            <a:endParaRPr b="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776" name="Google Shape;776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784" name="Google Shape;784;p68"/>
          <p:cNvSpPr txBox="1"/>
          <p:nvPr>
            <p:ph type="body" idx="1"/>
          </p:nvPr>
        </p:nvSpPr>
        <p:spPr>
          <a:xfrm>
            <a:off x="324000" y="759300"/>
            <a:ext cx="8237700" cy="39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We know that we can show any variables which are in direct proportion on a graph.  We have seen this previously when looking at conversions, costs etc.</a:t>
            </a:r>
            <a:br>
              <a:rPr lang="en-GB"/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In this lesson we are going to concentrate on what the key features of a graph showing direct proportion are.</a:t>
            </a:r>
            <a:br>
              <a:rPr lang="en-GB"/>
            </a:b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Before we do that we will use a ratio table to check whether variables are proportional to each other.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graphicFrame>
        <p:nvGraphicFramePr>
          <p:cNvPr id="789" name="Google Shape;789;p69"/>
          <p:cNvGraphicFramePr>
            <a:graphicFrameLocks noGrp="1"/>
          </p:cNvGraphicFramePr>
          <p:nvPr/>
        </p:nvGraphicFramePr>
        <p:xfrm>
          <a:off x="5831075" y="216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90" name="Google Shape;790;p69"/>
          <p:cNvSpPr/>
          <p:nvPr/>
        </p:nvSpPr>
        <p:spPr>
          <a:xfrm>
            <a:off x="3588162" y="2909646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 txBox="1"/>
          <p:nvPr/>
        </p:nvSpPr>
        <p:spPr>
          <a:xfrm>
            <a:off x="3591901" y="2840169"/>
            <a:ext cx="5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/>
          <p:nvPr/>
        </p:nvSpPr>
        <p:spPr>
          <a:xfrm>
            <a:off x="359424" y="2909646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324000" y="759300"/>
            <a:ext cx="8237700" cy="15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If two variables have a </a:t>
            </a:r>
            <a:r>
              <a:rPr lang="en-GB">
                <a:solidFill>
                  <a:schemeClr val="accent4"/>
                </a:solidFill>
              </a:rPr>
              <a:t>constant multiplicative</a:t>
            </a:r>
            <a:r>
              <a:rPr lang="en-GB"/>
              <a:t> relationship, they are in </a:t>
            </a:r>
            <a:r>
              <a:rPr lang="en-GB">
                <a:solidFill>
                  <a:schemeClr val="accent4"/>
                </a:solidFill>
              </a:rPr>
              <a:t>direct proportion</a:t>
            </a:r>
            <a:r>
              <a:rPr lang="en-GB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will consider if A and B are directly proportional to each other.</a:t>
            </a:r>
            <a:endParaRPr/>
          </a:p>
        </p:txBody>
      </p:sp>
      <p:sp>
        <p:nvSpPr>
          <p:cNvPr id="794" name="Google Shape;79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Features of graphs</a:t>
            </a:r>
            <a:endParaRPr/>
          </a:p>
        </p:txBody>
      </p:sp>
      <p:graphicFrame>
        <p:nvGraphicFramePr>
          <p:cNvPr id="795" name="Google Shape;795;p69"/>
          <p:cNvGraphicFramePr>
            <a:graphicFrameLocks noGrp="1"/>
          </p:cNvGraphicFramePr>
          <p:nvPr/>
        </p:nvGraphicFramePr>
        <p:xfrm>
          <a:off x="1250850" y="216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021275"/>
                <a:gridCol w="10212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96" name="Google Shape;796;p69"/>
          <p:cNvSpPr/>
          <p:nvPr/>
        </p:nvSpPr>
        <p:spPr>
          <a:xfrm rot="-5400000" flipH="1">
            <a:off x="963850" y="2942539"/>
            <a:ext cx="439800" cy="3207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7" name="Google Shape;797;p69"/>
          <p:cNvSpPr txBox="1"/>
          <p:nvPr/>
        </p:nvSpPr>
        <p:spPr>
          <a:xfrm>
            <a:off x="400200" y="2841300"/>
            <a:ext cx="5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/>
          <p:nvPr/>
        </p:nvSpPr>
        <p:spPr>
          <a:xfrm rot="5400000">
            <a:off x="3148039" y="2954308"/>
            <a:ext cx="439800" cy="3516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9" name="Google Shape;799;p69"/>
          <p:cNvSpPr txBox="1"/>
          <p:nvPr/>
        </p:nvSpPr>
        <p:spPr>
          <a:xfrm>
            <a:off x="585000" y="3648000"/>
            <a:ext cx="335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multiplicative relationship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constant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Therefore, A and B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directly proportional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each other.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6599650" y="2528461"/>
            <a:ext cx="502500" cy="2772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1" name="Google Shape;801;p69"/>
          <p:cNvCxnSpPr/>
          <p:nvPr/>
        </p:nvCxnSpPr>
        <p:spPr>
          <a:xfrm>
            <a:off x="6574600" y="2920633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2" name="Google Shape;802;p69"/>
          <p:cNvCxnSpPr/>
          <p:nvPr/>
        </p:nvCxnSpPr>
        <p:spPr>
          <a:xfrm>
            <a:off x="6574600" y="3411525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3" name="Google Shape;803;p69"/>
          <p:cNvSpPr txBox="1"/>
          <p:nvPr/>
        </p:nvSpPr>
        <p:spPr>
          <a:xfrm>
            <a:off x="6675850" y="3021075"/>
            <a:ext cx="351600" cy="2772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 txBox="1"/>
          <p:nvPr/>
        </p:nvSpPr>
        <p:spPr>
          <a:xfrm>
            <a:off x="5183607" y="3648000"/>
            <a:ext cx="335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multiplicative relationship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 constant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Therefore, A and B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 directly proportional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each other.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6578199" y="2500372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/>
          <p:nvPr/>
        </p:nvSpPr>
        <p:spPr>
          <a:xfrm>
            <a:off x="6578199" y="2992996"/>
            <a:ext cx="545400" cy="3369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812" name="Google Shape;812;p70"/>
          <p:cNvSpPr txBox="1"/>
          <p:nvPr>
            <p:ph type="body" idx="1"/>
          </p:nvPr>
        </p:nvSpPr>
        <p:spPr>
          <a:xfrm>
            <a:off x="324000" y="759300"/>
            <a:ext cx="8237700" cy="7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Sort the following into examples and non-examples of tables showing direct proportion.</a:t>
            </a:r>
            <a:endParaRPr/>
          </a:p>
        </p:txBody>
      </p:sp>
      <p:grpSp>
        <p:nvGrpSpPr>
          <p:cNvPr id="813" name="Google Shape;813;p70"/>
          <p:cNvGrpSpPr/>
          <p:nvPr/>
        </p:nvGrpSpPr>
        <p:grpSpPr>
          <a:xfrm>
            <a:off x="1329641" y="3339925"/>
            <a:ext cx="457200" cy="457200"/>
            <a:chOff x="1020916" y="1442088"/>
            <a:chExt cx="457200" cy="457200"/>
          </a:xfrm>
        </p:grpSpPr>
        <p:pic>
          <p:nvPicPr>
            <p:cNvPr id="814" name="Google Shape;814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6" name="Google Shape;816;p70"/>
          <p:cNvGrpSpPr/>
          <p:nvPr/>
        </p:nvGrpSpPr>
        <p:grpSpPr>
          <a:xfrm>
            <a:off x="4353841" y="3339925"/>
            <a:ext cx="457200" cy="457200"/>
            <a:chOff x="1020916" y="1442088"/>
            <a:chExt cx="457200" cy="457200"/>
          </a:xfrm>
        </p:grpSpPr>
        <p:pic>
          <p:nvPicPr>
            <p:cNvPr id="817" name="Google Shape;817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9" name="Google Shape;819;p70"/>
          <p:cNvGrpSpPr/>
          <p:nvPr/>
        </p:nvGrpSpPr>
        <p:grpSpPr>
          <a:xfrm>
            <a:off x="7351434" y="3339925"/>
            <a:ext cx="457200" cy="457200"/>
            <a:chOff x="1020916" y="1442088"/>
            <a:chExt cx="457200" cy="457200"/>
          </a:xfrm>
        </p:grpSpPr>
        <p:pic>
          <p:nvPicPr>
            <p:cNvPr id="820" name="Google Shape;820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2" name="Google Shape;822;p70"/>
          <p:cNvSpPr txBox="1"/>
          <p:nvPr/>
        </p:nvSpPr>
        <p:spPr>
          <a:xfrm>
            <a:off x="1061075" y="3917875"/>
            <a:ext cx="946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3" name="Google Shape;823;p70"/>
          <p:cNvSpPr txBox="1"/>
          <p:nvPr/>
        </p:nvSpPr>
        <p:spPr>
          <a:xfrm>
            <a:off x="3804275" y="3917875"/>
            <a:ext cx="153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non-example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7116299" y="3917875"/>
            <a:ext cx="946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25" name="Google Shape;825;p70"/>
          <p:cNvGraphicFramePr>
            <a:graphicFrameLocks noGrp="1"/>
          </p:cNvGraphicFramePr>
          <p:nvPr/>
        </p:nvGraphicFramePr>
        <p:xfrm>
          <a:off x="400200" y="19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26" name="Google Shape;826;p70"/>
          <p:cNvGraphicFramePr>
            <a:graphicFrameLocks noGrp="1"/>
          </p:cNvGraphicFramePr>
          <p:nvPr/>
        </p:nvGraphicFramePr>
        <p:xfrm>
          <a:off x="6420000" y="19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27" name="Google Shape;827;p70"/>
          <p:cNvGraphicFramePr>
            <a:graphicFrameLocks noGrp="1"/>
          </p:cNvGraphicFramePr>
          <p:nvPr/>
        </p:nvGraphicFramePr>
        <p:xfrm>
          <a:off x="3410100" y="19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352.8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833" name="Google Shape;833;p71"/>
          <p:cNvSpPr txBox="1"/>
          <p:nvPr>
            <p:ph type="body" idx="1"/>
          </p:nvPr>
        </p:nvSpPr>
        <p:spPr>
          <a:xfrm>
            <a:off x="324000" y="606900"/>
            <a:ext cx="6285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 box of pens costs £3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number of boxes and cost are directly proportional.</a:t>
            </a:r>
            <a:endParaRPr sz="1800"/>
          </a:p>
        </p:txBody>
      </p:sp>
      <p:grpSp>
        <p:nvGrpSpPr>
          <p:cNvPr id="834" name="Google Shape;834;p71"/>
          <p:cNvGrpSpPr/>
          <p:nvPr/>
        </p:nvGrpSpPr>
        <p:grpSpPr>
          <a:xfrm>
            <a:off x="323994" y="1220373"/>
            <a:ext cx="3192016" cy="3599943"/>
            <a:chOff x="324000" y="1550400"/>
            <a:chExt cx="2899460" cy="3270000"/>
          </a:xfrm>
        </p:grpSpPr>
        <p:sp>
          <p:nvSpPr>
            <p:cNvPr id="835" name="Google Shape;835;p71"/>
            <p:cNvSpPr txBox="1"/>
            <p:nvPr/>
          </p:nvSpPr>
          <p:spPr>
            <a:xfrm>
              <a:off x="324000" y="1550400"/>
              <a:ext cx="542700" cy="5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Cost (£)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36" name="Google Shape;836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6700" y="1550400"/>
              <a:ext cx="2356760" cy="327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7" name="Google Shape;837;p71"/>
          <p:cNvSpPr txBox="1"/>
          <p:nvPr/>
        </p:nvSpPr>
        <p:spPr>
          <a:xfrm>
            <a:off x="3609076" y="4404700"/>
            <a:ext cx="689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Boxes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1"/>
          <p:cNvSpPr txBox="1"/>
          <p:nvPr/>
        </p:nvSpPr>
        <p:spPr>
          <a:xfrm>
            <a:off x="4227446" y="1620000"/>
            <a:ext cx="3981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graph represents this directly proportional relationship.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2" name="Shape 842"/>
        <p:cNvGrpSpPr/>
        <p:nvPr/>
      </p:nvGrpSpPr>
      <p:grpSpPr>
        <a:xfrm>
          <a:off x="0" y="0"/>
          <a:ext cx="0" cy="0"/>
        </a:xfrm>
      </p:grpSpPr>
      <p:sp>
        <p:nvSpPr>
          <p:cNvPr id="843" name="Google Shape;84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844" name="Google Shape;844;p72"/>
          <p:cNvSpPr txBox="1"/>
          <p:nvPr>
            <p:ph type="body" idx="1"/>
          </p:nvPr>
        </p:nvSpPr>
        <p:spPr>
          <a:xfrm>
            <a:off x="324000" y="628154"/>
            <a:ext cx="8237700" cy="127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Plumber A charges £40 per hour.</a:t>
            </a:r>
            <a:endParaRPr sz="18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Plumber B charges a £50 call out charge plus £30 per hour.</a:t>
            </a:r>
            <a:endParaRPr sz="18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Are the number of hours and charge directly proportional?</a:t>
            </a:r>
            <a:endParaRPr sz="18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Let’s take a look at the graphs.</a:t>
            </a:r>
            <a:endParaRPr sz="1800"/>
          </a:p>
        </p:txBody>
      </p:sp>
      <p:grpSp>
        <p:nvGrpSpPr>
          <p:cNvPr id="845" name="Google Shape;845;p72"/>
          <p:cNvGrpSpPr/>
          <p:nvPr/>
        </p:nvGrpSpPr>
        <p:grpSpPr>
          <a:xfrm>
            <a:off x="325752" y="1902254"/>
            <a:ext cx="3747647" cy="2948121"/>
            <a:chOff x="630552" y="1902254"/>
            <a:chExt cx="3747647" cy="2948121"/>
          </a:xfrm>
        </p:grpSpPr>
        <p:pic>
          <p:nvPicPr>
            <p:cNvPr id="846" name="Google Shape;846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2425" y="1902254"/>
              <a:ext cx="1857169" cy="2936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7" name="Google Shape;847;p72"/>
            <p:cNvSpPr txBox="1"/>
            <p:nvPr/>
          </p:nvSpPr>
          <p:spPr>
            <a:xfrm>
              <a:off x="630552" y="1906175"/>
              <a:ext cx="824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Charge (£)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72"/>
            <p:cNvSpPr txBox="1"/>
            <p:nvPr/>
          </p:nvSpPr>
          <p:spPr>
            <a:xfrm>
              <a:off x="3449952" y="4573175"/>
              <a:ext cx="8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Hours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9" name="Google Shape;849;p72"/>
            <p:cNvSpPr txBox="1"/>
            <p:nvPr/>
          </p:nvSpPr>
          <p:spPr>
            <a:xfrm>
              <a:off x="3216299" y="2454750"/>
              <a:ext cx="1161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Plumber 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0" name="Google Shape;850;p72"/>
          <p:cNvGrpSpPr/>
          <p:nvPr/>
        </p:nvGrpSpPr>
        <p:grpSpPr>
          <a:xfrm>
            <a:off x="4592952" y="1883954"/>
            <a:ext cx="3747647" cy="2966421"/>
            <a:chOff x="4592952" y="1883954"/>
            <a:chExt cx="3747647" cy="2966421"/>
          </a:xfrm>
        </p:grpSpPr>
        <p:pic>
          <p:nvPicPr>
            <p:cNvPr id="851" name="Google Shape;851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56119" y="1883954"/>
              <a:ext cx="1844951" cy="2936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72"/>
            <p:cNvSpPr txBox="1"/>
            <p:nvPr/>
          </p:nvSpPr>
          <p:spPr>
            <a:xfrm>
              <a:off x="4592952" y="1906175"/>
              <a:ext cx="824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Charge (£)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3" name="Google Shape;853;p72"/>
            <p:cNvSpPr txBox="1"/>
            <p:nvPr/>
          </p:nvSpPr>
          <p:spPr>
            <a:xfrm>
              <a:off x="7412352" y="4573175"/>
              <a:ext cx="8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Hours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4" name="Google Shape;854;p72"/>
            <p:cNvSpPr txBox="1"/>
            <p:nvPr/>
          </p:nvSpPr>
          <p:spPr>
            <a:xfrm>
              <a:off x="7178699" y="2454750"/>
              <a:ext cx="1161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Plumber 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8" name="Shape 858"/>
        <p:cNvGrpSpPr/>
        <p:nvPr/>
      </p:nvGrpSpPr>
      <p:grpSpPr>
        <a:xfrm>
          <a:off x="0" y="0"/>
          <a:ext cx="0" cy="0"/>
        </a:xfrm>
      </p:grpSpPr>
      <p:sp>
        <p:nvSpPr>
          <p:cNvPr id="859" name="Google Shape;85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grpSp>
        <p:nvGrpSpPr>
          <p:cNvPr id="860" name="Google Shape;860;p73"/>
          <p:cNvGrpSpPr/>
          <p:nvPr/>
        </p:nvGrpSpPr>
        <p:grpSpPr>
          <a:xfrm>
            <a:off x="325729" y="759321"/>
            <a:ext cx="4895551" cy="4074905"/>
            <a:chOff x="630552" y="1902254"/>
            <a:chExt cx="3747647" cy="2936446"/>
          </a:xfrm>
        </p:grpSpPr>
        <p:pic>
          <p:nvPicPr>
            <p:cNvPr id="861" name="Google Shape;861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2425" y="1902254"/>
              <a:ext cx="1857169" cy="2936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p73"/>
            <p:cNvSpPr txBox="1"/>
            <p:nvPr/>
          </p:nvSpPr>
          <p:spPr>
            <a:xfrm>
              <a:off x="630552" y="1906175"/>
              <a:ext cx="824400" cy="39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Charge (£)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3" name="Google Shape;863;p73"/>
            <p:cNvSpPr txBox="1"/>
            <p:nvPr/>
          </p:nvSpPr>
          <p:spPr>
            <a:xfrm>
              <a:off x="3449952" y="4573175"/>
              <a:ext cx="8244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Hours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4" name="Google Shape;864;p73"/>
            <p:cNvSpPr txBox="1"/>
            <p:nvPr/>
          </p:nvSpPr>
          <p:spPr>
            <a:xfrm>
              <a:off x="3216299" y="2454750"/>
              <a:ext cx="11619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Plumber 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5" name="Google Shape;865;p73"/>
          <p:cNvSpPr txBox="1"/>
          <p:nvPr/>
        </p:nvSpPr>
        <p:spPr>
          <a:xfrm>
            <a:off x="5303713" y="840225"/>
            <a:ext cx="3516300" cy="1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Does this graph show direct proportion?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check using our method.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6" name="Google Shape;866;p73"/>
          <p:cNvCxnSpPr/>
          <p:nvPr/>
        </p:nvCxnSpPr>
        <p:spPr>
          <a:xfrm rot="10800000" flipH="1">
            <a:off x="2196265" y="3932150"/>
            <a:ext cx="0" cy="672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67" name="Google Shape;867;p73"/>
          <p:cNvCxnSpPr/>
          <p:nvPr/>
        </p:nvCxnSpPr>
        <p:spPr>
          <a:xfrm rot="10800000">
            <a:off x="1891765" y="3919721"/>
            <a:ext cx="304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68" name="Google Shape;868;p73"/>
          <p:cNvSpPr txBox="1"/>
          <p:nvPr/>
        </p:nvSpPr>
        <p:spPr>
          <a:xfrm>
            <a:off x="6218090" y="1983219"/>
            <a:ext cx="151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hour = £40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9" name="Google Shape;869;p73"/>
          <p:cNvCxnSpPr/>
          <p:nvPr/>
        </p:nvCxnSpPr>
        <p:spPr>
          <a:xfrm rot="10800000" flipH="1">
            <a:off x="2522319" y="3244735"/>
            <a:ext cx="0" cy="136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70" name="Google Shape;870;p73"/>
          <p:cNvCxnSpPr/>
          <p:nvPr/>
        </p:nvCxnSpPr>
        <p:spPr>
          <a:xfrm rot="10800000">
            <a:off x="1849246" y="3233925"/>
            <a:ext cx="672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71" name="Google Shape;871;p73"/>
          <p:cNvSpPr txBox="1"/>
          <p:nvPr/>
        </p:nvSpPr>
        <p:spPr>
          <a:xfrm>
            <a:off x="6218090" y="2440419"/>
            <a:ext cx="151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hours = £80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2" name="Google Shape;872;p73"/>
          <p:cNvGrpSpPr/>
          <p:nvPr/>
        </p:nvGrpSpPr>
        <p:grpSpPr>
          <a:xfrm>
            <a:off x="5303725" y="2064000"/>
            <a:ext cx="867700" cy="481489"/>
            <a:chOff x="1651000" y="3075900"/>
            <a:chExt cx="867700" cy="481489"/>
          </a:xfrm>
        </p:grpSpPr>
        <p:sp>
          <p:nvSpPr>
            <p:cNvPr id="873" name="Google Shape;873;p73"/>
            <p:cNvSpPr/>
            <p:nvPr/>
          </p:nvSpPr>
          <p:spPr>
            <a:xfrm rot="-5400000" flipH="1">
              <a:off x="2138450" y="3177139"/>
              <a:ext cx="439800" cy="3207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4" name="Google Shape;874;p73"/>
            <p:cNvSpPr txBox="1"/>
            <p:nvPr/>
          </p:nvSpPr>
          <p:spPr>
            <a:xfrm>
              <a:off x="1651000" y="3075900"/>
              <a:ext cx="58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5" name="Google Shape;875;p73"/>
          <p:cNvGrpSpPr/>
          <p:nvPr/>
        </p:nvGrpSpPr>
        <p:grpSpPr>
          <a:xfrm>
            <a:off x="7735800" y="2064000"/>
            <a:ext cx="926632" cy="481500"/>
            <a:chOff x="7735800" y="2064000"/>
            <a:chExt cx="926632" cy="481500"/>
          </a:xfrm>
        </p:grpSpPr>
        <p:sp>
          <p:nvSpPr>
            <p:cNvPr id="876" name="Google Shape;876;p73"/>
            <p:cNvSpPr/>
            <p:nvPr/>
          </p:nvSpPr>
          <p:spPr>
            <a:xfrm rot="5400000">
              <a:off x="7691700" y="2149800"/>
              <a:ext cx="439800" cy="3516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7" name="Google Shape;877;p73"/>
            <p:cNvSpPr txBox="1"/>
            <p:nvPr/>
          </p:nvSpPr>
          <p:spPr>
            <a:xfrm>
              <a:off x="8073532" y="2064000"/>
              <a:ext cx="58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8" name="Google Shape;878;p73"/>
          <p:cNvSpPr txBox="1"/>
          <p:nvPr/>
        </p:nvSpPr>
        <p:spPr>
          <a:xfrm>
            <a:off x="5303740" y="2897625"/>
            <a:ext cx="3516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Plumber A’s charge is directly proportional to the number of hours.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2" name="Shape 882"/>
        <p:cNvGrpSpPr/>
        <p:nvPr/>
      </p:nvGrpSpPr>
      <p:grpSpPr>
        <a:xfrm>
          <a:off x="0" y="0"/>
          <a:ext cx="0" cy="0"/>
        </a:xfrm>
      </p:grpSpPr>
      <p:sp>
        <p:nvSpPr>
          <p:cNvPr id="883" name="Google Shape;88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884" name="Google Shape;884;p74"/>
          <p:cNvSpPr txBox="1"/>
          <p:nvPr/>
        </p:nvSpPr>
        <p:spPr>
          <a:xfrm>
            <a:off x="5303713" y="840225"/>
            <a:ext cx="3516300" cy="1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Does this graph show direct proportion?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check using our method.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6141890" y="1983219"/>
            <a:ext cx="151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hour = £80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4"/>
          <p:cNvSpPr txBox="1"/>
          <p:nvPr/>
        </p:nvSpPr>
        <p:spPr>
          <a:xfrm>
            <a:off x="6065701" y="2440425"/>
            <a:ext cx="166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hours = £110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7" name="Google Shape;887;p74"/>
          <p:cNvGrpSpPr/>
          <p:nvPr/>
        </p:nvGrpSpPr>
        <p:grpSpPr>
          <a:xfrm>
            <a:off x="5151325" y="2064000"/>
            <a:ext cx="867700" cy="481489"/>
            <a:chOff x="1651000" y="3075900"/>
            <a:chExt cx="867700" cy="481489"/>
          </a:xfrm>
        </p:grpSpPr>
        <p:sp>
          <p:nvSpPr>
            <p:cNvPr id="888" name="Google Shape;888;p74"/>
            <p:cNvSpPr/>
            <p:nvPr/>
          </p:nvSpPr>
          <p:spPr>
            <a:xfrm rot="-5400000" flipH="1">
              <a:off x="2138450" y="3177139"/>
              <a:ext cx="439800" cy="3207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9" name="Google Shape;889;p74"/>
            <p:cNvSpPr txBox="1"/>
            <p:nvPr/>
          </p:nvSpPr>
          <p:spPr>
            <a:xfrm>
              <a:off x="1651000" y="3075900"/>
              <a:ext cx="58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0" name="Google Shape;890;p74"/>
          <p:cNvGrpSpPr/>
          <p:nvPr/>
        </p:nvGrpSpPr>
        <p:grpSpPr>
          <a:xfrm>
            <a:off x="7583730" y="2064000"/>
            <a:ext cx="1336058" cy="481500"/>
            <a:chOff x="7735800" y="2064000"/>
            <a:chExt cx="1241921" cy="481500"/>
          </a:xfrm>
        </p:grpSpPr>
        <p:sp>
          <p:nvSpPr>
            <p:cNvPr id="891" name="Google Shape;891;p74"/>
            <p:cNvSpPr/>
            <p:nvPr/>
          </p:nvSpPr>
          <p:spPr>
            <a:xfrm rot="5400000">
              <a:off x="7691700" y="2149800"/>
              <a:ext cx="439800" cy="351600"/>
            </a:xfrm>
            <a:prstGeom prst="arc">
              <a:avLst>
                <a:gd name="adj1" fmla="val 10729459"/>
                <a:gd name="adj2" fmla="val 194289"/>
              </a:avLst>
            </a:prstGeom>
            <a:noFill/>
            <a:ln w="38100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92" name="Google Shape;892;p74"/>
            <p:cNvSpPr txBox="1"/>
            <p:nvPr/>
          </p:nvSpPr>
          <p:spPr>
            <a:xfrm>
              <a:off x="8073521" y="2064000"/>
              <a:ext cx="904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1.375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3" name="Google Shape;893;p74"/>
          <p:cNvSpPr txBox="1"/>
          <p:nvPr/>
        </p:nvSpPr>
        <p:spPr>
          <a:xfrm>
            <a:off x="5303740" y="2897625"/>
            <a:ext cx="3516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Plumber B’s charge is not directly proportional to the number of hours.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94" name="Google Shape;894;p74"/>
          <p:cNvGrpSpPr/>
          <p:nvPr/>
        </p:nvGrpSpPr>
        <p:grpSpPr>
          <a:xfrm>
            <a:off x="325632" y="756000"/>
            <a:ext cx="4956147" cy="4122182"/>
            <a:chOff x="4592952" y="1883954"/>
            <a:chExt cx="3530522" cy="2936446"/>
          </a:xfrm>
        </p:grpSpPr>
        <p:pic>
          <p:nvPicPr>
            <p:cNvPr id="895" name="Google Shape;895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38994" y="1883954"/>
              <a:ext cx="1844951" cy="2936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74"/>
            <p:cNvSpPr txBox="1"/>
            <p:nvPr/>
          </p:nvSpPr>
          <p:spPr>
            <a:xfrm>
              <a:off x="4592952" y="1906175"/>
              <a:ext cx="8244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Charge (£)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4"/>
            <p:cNvSpPr txBox="1"/>
            <p:nvPr/>
          </p:nvSpPr>
          <p:spPr>
            <a:xfrm>
              <a:off x="7195227" y="4573175"/>
              <a:ext cx="8244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Hours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74"/>
            <p:cNvSpPr txBox="1"/>
            <p:nvPr/>
          </p:nvSpPr>
          <p:spPr>
            <a:xfrm>
              <a:off x="6961574" y="2454750"/>
              <a:ext cx="11619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Plumber 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99" name="Google Shape;899;p74"/>
          <p:cNvCxnSpPr/>
          <p:nvPr/>
        </p:nvCxnSpPr>
        <p:spPr>
          <a:xfrm rot="10800000" flipH="1">
            <a:off x="1932250" y="3247850"/>
            <a:ext cx="0" cy="14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00" name="Google Shape;900;p74"/>
          <p:cNvCxnSpPr/>
          <p:nvPr/>
        </p:nvCxnSpPr>
        <p:spPr>
          <a:xfrm rot="10800000">
            <a:off x="1573050" y="3277680"/>
            <a:ext cx="354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01" name="Google Shape;901;p74"/>
          <p:cNvCxnSpPr/>
          <p:nvPr/>
        </p:nvCxnSpPr>
        <p:spPr>
          <a:xfrm rot="10800000" flipH="1">
            <a:off x="2282075" y="2734825"/>
            <a:ext cx="0" cy="194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02" name="Google Shape;902;p74"/>
          <p:cNvCxnSpPr/>
          <p:nvPr/>
        </p:nvCxnSpPr>
        <p:spPr>
          <a:xfrm rot="10800000">
            <a:off x="1573046" y="2745643"/>
            <a:ext cx="672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908" name="Google Shape;908;p75"/>
          <p:cNvSpPr txBox="1"/>
          <p:nvPr>
            <p:ph type="body" idx="1"/>
          </p:nvPr>
        </p:nvSpPr>
        <p:spPr>
          <a:xfrm>
            <a:off x="324000" y="644078"/>
            <a:ext cx="8237700" cy="3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about these graphs?</a:t>
            </a:r>
            <a:endParaRPr/>
          </a:p>
        </p:txBody>
      </p:sp>
      <p:grpSp>
        <p:nvGrpSpPr>
          <p:cNvPr id="909" name="Google Shape;909;p75"/>
          <p:cNvGrpSpPr/>
          <p:nvPr/>
        </p:nvGrpSpPr>
        <p:grpSpPr>
          <a:xfrm>
            <a:off x="325752" y="1064054"/>
            <a:ext cx="3747647" cy="2948121"/>
            <a:chOff x="630552" y="1902254"/>
            <a:chExt cx="3747647" cy="2948121"/>
          </a:xfrm>
        </p:grpSpPr>
        <p:pic>
          <p:nvPicPr>
            <p:cNvPr id="910" name="Google Shape;910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2425" y="1902254"/>
              <a:ext cx="1857169" cy="2936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75"/>
            <p:cNvSpPr txBox="1"/>
            <p:nvPr/>
          </p:nvSpPr>
          <p:spPr>
            <a:xfrm>
              <a:off x="630552" y="1906175"/>
              <a:ext cx="824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Charge (£)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2" name="Google Shape;912;p75"/>
            <p:cNvSpPr txBox="1"/>
            <p:nvPr/>
          </p:nvSpPr>
          <p:spPr>
            <a:xfrm>
              <a:off x="3449952" y="4573175"/>
              <a:ext cx="8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Hours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75"/>
            <p:cNvSpPr txBox="1"/>
            <p:nvPr/>
          </p:nvSpPr>
          <p:spPr>
            <a:xfrm>
              <a:off x="3216299" y="2454750"/>
              <a:ext cx="1161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Plumber 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4" name="Google Shape;914;p75"/>
          <p:cNvGrpSpPr/>
          <p:nvPr/>
        </p:nvGrpSpPr>
        <p:grpSpPr>
          <a:xfrm>
            <a:off x="4592952" y="1045754"/>
            <a:ext cx="3747647" cy="2966421"/>
            <a:chOff x="4592952" y="1883954"/>
            <a:chExt cx="3747647" cy="2966421"/>
          </a:xfrm>
        </p:grpSpPr>
        <p:pic>
          <p:nvPicPr>
            <p:cNvPr id="915" name="Google Shape;915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56119" y="1883954"/>
              <a:ext cx="1844951" cy="2936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75"/>
            <p:cNvSpPr txBox="1"/>
            <p:nvPr/>
          </p:nvSpPr>
          <p:spPr>
            <a:xfrm>
              <a:off x="4592952" y="1906175"/>
              <a:ext cx="824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Charge (£)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7" name="Google Shape;917;p75"/>
            <p:cNvSpPr txBox="1"/>
            <p:nvPr/>
          </p:nvSpPr>
          <p:spPr>
            <a:xfrm>
              <a:off x="7412352" y="4573175"/>
              <a:ext cx="8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Hours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75"/>
            <p:cNvSpPr txBox="1"/>
            <p:nvPr/>
          </p:nvSpPr>
          <p:spPr>
            <a:xfrm>
              <a:off x="7178699" y="2454750"/>
              <a:ext cx="1161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Plumber 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9" name="Google Shape;919;p75"/>
          <p:cNvSpPr txBox="1"/>
          <p:nvPr>
            <p:ph type="body" idx="1"/>
          </p:nvPr>
        </p:nvSpPr>
        <p:spPr>
          <a:xfrm>
            <a:off x="324000" y="4057153"/>
            <a:ext cx="8237700" cy="3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both have a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constant positive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gradient.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one on the left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starts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at the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origin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the one on the right doesn’t.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75"/>
          <p:cNvSpPr txBox="1"/>
          <p:nvPr/>
        </p:nvSpPr>
        <p:spPr>
          <a:xfrm>
            <a:off x="2256650" y="2571750"/>
            <a:ext cx="1432800" cy="867600"/>
          </a:xfrm>
          <a:prstGeom prst="rect">
            <a:avLst/>
          </a:prstGeom>
          <a:solidFill>
            <a:srgbClr val="EBEDFE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graph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shows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 proportion.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5"/>
          <p:cNvSpPr txBox="1"/>
          <p:nvPr/>
        </p:nvSpPr>
        <p:spPr>
          <a:xfrm>
            <a:off x="6440250" y="2571750"/>
            <a:ext cx="1432800" cy="1144500"/>
          </a:xfrm>
          <a:prstGeom prst="rect">
            <a:avLst/>
          </a:prstGeom>
          <a:solidFill>
            <a:srgbClr val="EBEDFE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graph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does not show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 proportion.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5" name="Shape 925"/>
        <p:cNvGrpSpPr/>
        <p:nvPr/>
      </p:nvGrpSpPr>
      <p:grpSpPr>
        <a:xfrm>
          <a:off x="0" y="0"/>
          <a:ext cx="0" cy="0"/>
        </a:xfrm>
      </p:grpSpPr>
      <p:pic>
        <p:nvPicPr>
          <p:cNvPr id="926" name="Google Shape;92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25" y="1569539"/>
            <a:ext cx="37147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928" name="Google Shape;928;p76"/>
          <p:cNvSpPr txBox="1"/>
          <p:nvPr>
            <p:ph type="body" idx="1"/>
          </p:nvPr>
        </p:nvSpPr>
        <p:spPr>
          <a:xfrm>
            <a:off x="324000" y="759300"/>
            <a:ext cx="8237700" cy="76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Graphs showing direct proportion have a constant positive gradient with an intercept of 0</a:t>
            </a:r>
            <a:endParaRPr/>
          </a:p>
        </p:txBody>
      </p:sp>
      <p:pic>
        <p:nvPicPr>
          <p:cNvPr id="929" name="Google Shape;92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622225"/>
            <a:ext cx="363855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6"/>
          <p:cNvSpPr txBox="1"/>
          <p:nvPr/>
        </p:nvSpPr>
        <p:spPr>
          <a:xfrm>
            <a:off x="418000" y="4136825"/>
            <a:ext cx="383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graph showing direct proportion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6"/>
          <p:cNvSpPr/>
          <p:nvPr/>
        </p:nvSpPr>
        <p:spPr>
          <a:xfrm>
            <a:off x="325900" y="3797400"/>
            <a:ext cx="198300" cy="333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6"/>
          <p:cNvSpPr txBox="1"/>
          <p:nvPr/>
        </p:nvSpPr>
        <p:spPr>
          <a:xfrm>
            <a:off x="2480125" y="2813375"/>
            <a:ext cx="1999200" cy="11082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constant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gradient and intercept of zero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6"/>
          <p:cNvSpPr txBox="1"/>
          <p:nvPr/>
        </p:nvSpPr>
        <p:spPr>
          <a:xfrm>
            <a:off x="4990000" y="4136825"/>
            <a:ext cx="383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non-example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graph showing direct proportion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/>
          <p:nvPr/>
        </p:nvSpPr>
        <p:spPr>
          <a:xfrm>
            <a:off x="4903253" y="3513854"/>
            <a:ext cx="198300" cy="333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6"/>
          <p:cNvSpPr txBox="1"/>
          <p:nvPr/>
        </p:nvSpPr>
        <p:spPr>
          <a:xfrm>
            <a:off x="6747325" y="2813375"/>
            <a:ext cx="1999200" cy="11082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constant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positive gradient and intercept of 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9" name="Shape 939"/>
        <p:cNvGrpSpPr/>
        <p:nvPr/>
      </p:nvGrpSpPr>
      <p:grpSpPr>
        <a:xfrm>
          <a:off x="0" y="0"/>
          <a:ext cx="0" cy="0"/>
        </a:xfrm>
      </p:grpSpPr>
      <p:pic>
        <p:nvPicPr>
          <p:cNvPr id="940" name="Google Shape;94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15951"/>
            <a:ext cx="8295034" cy="14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942" name="Google Shape;942;p77"/>
          <p:cNvSpPr txBox="1"/>
          <p:nvPr>
            <p:ph type="body" idx="1"/>
          </p:nvPr>
        </p:nvSpPr>
        <p:spPr>
          <a:xfrm>
            <a:off x="324000" y="759300"/>
            <a:ext cx="8496000" cy="7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Sort the following into examples and non-examples of graphs showing direct proportion.</a:t>
            </a:r>
            <a:endParaRPr/>
          </a:p>
        </p:txBody>
      </p:sp>
      <p:grpSp>
        <p:nvGrpSpPr>
          <p:cNvPr id="943" name="Google Shape;943;p77"/>
          <p:cNvGrpSpPr/>
          <p:nvPr/>
        </p:nvGrpSpPr>
        <p:grpSpPr>
          <a:xfrm>
            <a:off x="796241" y="3339925"/>
            <a:ext cx="457200" cy="457200"/>
            <a:chOff x="1020916" y="1442088"/>
            <a:chExt cx="457200" cy="457200"/>
          </a:xfrm>
        </p:grpSpPr>
        <p:pic>
          <p:nvPicPr>
            <p:cNvPr id="944" name="Google Shape;944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6" name="Google Shape;946;p77"/>
          <p:cNvGrpSpPr/>
          <p:nvPr/>
        </p:nvGrpSpPr>
        <p:grpSpPr>
          <a:xfrm>
            <a:off x="2677441" y="3339925"/>
            <a:ext cx="457200" cy="457200"/>
            <a:chOff x="1020916" y="1442088"/>
            <a:chExt cx="457200" cy="457200"/>
          </a:xfrm>
        </p:grpSpPr>
        <p:pic>
          <p:nvPicPr>
            <p:cNvPr id="947" name="Google Shape;947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9" name="Google Shape;949;p77"/>
          <p:cNvGrpSpPr/>
          <p:nvPr/>
        </p:nvGrpSpPr>
        <p:grpSpPr>
          <a:xfrm>
            <a:off x="4482441" y="3339925"/>
            <a:ext cx="457200" cy="457200"/>
            <a:chOff x="1020916" y="1442088"/>
            <a:chExt cx="457200" cy="457200"/>
          </a:xfrm>
        </p:grpSpPr>
        <p:pic>
          <p:nvPicPr>
            <p:cNvPr id="950" name="Google Shape;950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2" name="Google Shape;952;p77"/>
          <p:cNvGrpSpPr/>
          <p:nvPr/>
        </p:nvGrpSpPr>
        <p:grpSpPr>
          <a:xfrm>
            <a:off x="6011191" y="3339925"/>
            <a:ext cx="457200" cy="457200"/>
            <a:chOff x="1020916" y="1442088"/>
            <a:chExt cx="457200" cy="457200"/>
          </a:xfrm>
        </p:grpSpPr>
        <p:pic>
          <p:nvPicPr>
            <p:cNvPr id="953" name="Google Shape;953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5" name="Google Shape;955;p77"/>
          <p:cNvGrpSpPr/>
          <p:nvPr/>
        </p:nvGrpSpPr>
        <p:grpSpPr>
          <a:xfrm>
            <a:off x="7730441" y="3292788"/>
            <a:ext cx="457200" cy="457200"/>
            <a:chOff x="1020916" y="1442088"/>
            <a:chExt cx="457200" cy="457200"/>
          </a:xfrm>
        </p:grpSpPr>
        <p:pic>
          <p:nvPicPr>
            <p:cNvPr id="956" name="Google Shape;956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7" name="Google Shape;957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8" name="Google Shape;958;p77"/>
          <p:cNvSpPr txBox="1"/>
          <p:nvPr/>
        </p:nvSpPr>
        <p:spPr>
          <a:xfrm>
            <a:off x="527675" y="3917875"/>
            <a:ext cx="946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9" name="Google Shape;959;p77"/>
          <p:cNvSpPr txBox="1"/>
          <p:nvPr/>
        </p:nvSpPr>
        <p:spPr>
          <a:xfrm>
            <a:off x="2127875" y="3917875"/>
            <a:ext cx="153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non-example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0" name="Google Shape;960;p77"/>
          <p:cNvSpPr txBox="1"/>
          <p:nvPr/>
        </p:nvSpPr>
        <p:spPr>
          <a:xfrm>
            <a:off x="4241953" y="3917875"/>
            <a:ext cx="946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1" name="Google Shape;961;p77"/>
          <p:cNvSpPr txBox="1"/>
          <p:nvPr/>
        </p:nvSpPr>
        <p:spPr>
          <a:xfrm>
            <a:off x="5480675" y="3917875"/>
            <a:ext cx="153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non-example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77"/>
          <p:cNvSpPr txBox="1"/>
          <p:nvPr/>
        </p:nvSpPr>
        <p:spPr>
          <a:xfrm>
            <a:off x="7212021" y="3917875"/>
            <a:ext cx="153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non-example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6" name="Shape 966"/>
        <p:cNvGrpSpPr/>
        <p:nvPr/>
      </p:nvGrpSpPr>
      <p:grpSpPr>
        <a:xfrm>
          <a:off x="0" y="0"/>
          <a:ext cx="0" cy="0"/>
        </a:xfrm>
      </p:grpSpPr>
      <p:sp>
        <p:nvSpPr>
          <p:cNvPr id="967" name="Google Shape;96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968" name="Google Shape;968;p78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 Which of the following tables show that A and B are in direct proportion?  Give a reason for your answers.</a:t>
            </a:r>
            <a:br>
              <a:rPr lang="en-GB"/>
            </a:br>
            <a:endParaRPr sz="1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a)                                                             c)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                                                            d)	</a:t>
            </a:r>
            <a:endParaRPr/>
          </a:p>
        </p:txBody>
      </p:sp>
      <p:graphicFrame>
        <p:nvGraphicFramePr>
          <p:cNvPr id="969" name="Google Shape;969;p78"/>
          <p:cNvGraphicFramePr>
            <a:graphicFrameLocks noGrp="1"/>
          </p:cNvGraphicFramePr>
          <p:nvPr/>
        </p:nvGraphicFramePr>
        <p:xfrm>
          <a:off x="1580025" y="169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70" name="Google Shape;970;p78"/>
          <p:cNvGraphicFramePr>
            <a:graphicFrameLocks noGrp="1"/>
          </p:cNvGraphicFramePr>
          <p:nvPr/>
        </p:nvGraphicFramePr>
        <p:xfrm>
          <a:off x="1580025" y="329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71" name="Google Shape;971;p78"/>
          <p:cNvGraphicFramePr>
            <a:graphicFrameLocks noGrp="1"/>
          </p:cNvGraphicFramePr>
          <p:nvPr/>
        </p:nvGraphicFramePr>
        <p:xfrm>
          <a:off x="5999625" y="169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72" name="Google Shape;972;p78"/>
          <p:cNvGraphicFramePr>
            <a:graphicFrameLocks noGrp="1"/>
          </p:cNvGraphicFramePr>
          <p:nvPr/>
        </p:nvGraphicFramePr>
        <p:xfrm>
          <a:off x="5999625" y="329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30.6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978" name="Google Shape;978;p7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 Which of the following graphs show two variables that are in direct proportion?  Give a reason for your answers.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a)                                                       c)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                                                      d)	</a:t>
            </a:r>
            <a:endParaRPr/>
          </a:p>
        </p:txBody>
      </p:sp>
      <p:pic>
        <p:nvPicPr>
          <p:cNvPr id="979" name="Google Shape;97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403" y="3259188"/>
            <a:ext cx="784975" cy="12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408" y="1631553"/>
            <a:ext cx="639500" cy="1473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225" y="3369750"/>
            <a:ext cx="1033425" cy="10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221" y="1577125"/>
            <a:ext cx="639500" cy="15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6" name="Shape 986"/>
        <p:cNvGrpSpPr/>
        <p:nvPr/>
      </p:nvGrpSpPr>
      <p:grpSpPr>
        <a:xfrm>
          <a:off x="0" y="0"/>
          <a:ext cx="0" cy="0"/>
        </a:xfrm>
      </p:grpSpPr>
      <p:sp>
        <p:nvSpPr>
          <p:cNvPr id="987" name="Google Shape;987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988" name="Google Shape;988;p8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1)   Which of the following tables show that A and B are in direct proportion?  Give a reason for your answers.</a:t>
            </a:r>
            <a:br>
              <a:rPr lang="en-GB"/>
            </a:br>
            <a:endParaRPr sz="7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a)                                                             c)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                                                            d)	</a:t>
            </a:r>
            <a:endParaRPr/>
          </a:p>
        </p:txBody>
      </p:sp>
      <p:graphicFrame>
        <p:nvGraphicFramePr>
          <p:cNvPr id="989" name="Google Shape;989;p80"/>
          <p:cNvGraphicFramePr>
            <a:graphicFrameLocks noGrp="1"/>
          </p:cNvGraphicFramePr>
          <p:nvPr/>
        </p:nvGraphicFramePr>
        <p:xfrm>
          <a:off x="1580025" y="169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90" name="Google Shape;990;p80"/>
          <p:cNvGraphicFramePr>
            <a:graphicFrameLocks noGrp="1"/>
          </p:cNvGraphicFramePr>
          <p:nvPr/>
        </p:nvGraphicFramePr>
        <p:xfrm>
          <a:off x="1580025" y="329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91" name="Google Shape;991;p80"/>
          <p:cNvGraphicFramePr>
            <a:graphicFrameLocks noGrp="1"/>
          </p:cNvGraphicFramePr>
          <p:nvPr/>
        </p:nvGraphicFramePr>
        <p:xfrm>
          <a:off x="5999625" y="169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92" name="Google Shape;992;p80"/>
          <p:cNvGraphicFramePr>
            <a:graphicFrameLocks noGrp="1"/>
          </p:cNvGraphicFramePr>
          <p:nvPr/>
        </p:nvGraphicFramePr>
        <p:xfrm>
          <a:off x="5999625" y="329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150575"/>
                <a:gridCol w="1150575"/>
              </a:tblGrid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30.6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93" name="Google Shape;99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308" y="1798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013" y="34364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561" y="331735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0188" y="19137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0"/>
          <p:cNvSpPr txBox="1"/>
          <p:nvPr/>
        </p:nvSpPr>
        <p:spPr>
          <a:xfrm>
            <a:off x="4158993" y="2306769"/>
            <a:ext cx="58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80"/>
          <p:cNvSpPr/>
          <p:nvPr/>
        </p:nvSpPr>
        <p:spPr>
          <a:xfrm rot="-5400000" flipH="1">
            <a:off x="1302342" y="2409139"/>
            <a:ext cx="439800" cy="3207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9" name="Google Shape;999;p80"/>
          <p:cNvSpPr txBox="1"/>
          <p:nvPr/>
        </p:nvSpPr>
        <p:spPr>
          <a:xfrm>
            <a:off x="738692" y="2307900"/>
            <a:ext cx="58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80"/>
          <p:cNvSpPr/>
          <p:nvPr/>
        </p:nvSpPr>
        <p:spPr>
          <a:xfrm rot="5400000">
            <a:off x="3715131" y="2420908"/>
            <a:ext cx="439800" cy="3516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1" name="Google Shape;1001;p80"/>
          <p:cNvSpPr txBox="1"/>
          <p:nvPr/>
        </p:nvSpPr>
        <p:spPr>
          <a:xfrm>
            <a:off x="4158993" y="3983169"/>
            <a:ext cx="588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80"/>
          <p:cNvSpPr/>
          <p:nvPr/>
        </p:nvSpPr>
        <p:spPr>
          <a:xfrm rot="-5400000" flipH="1">
            <a:off x="1302342" y="4085539"/>
            <a:ext cx="439800" cy="3207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3" name="Google Shape;1003;p80"/>
          <p:cNvSpPr txBox="1"/>
          <p:nvPr/>
        </p:nvSpPr>
        <p:spPr>
          <a:xfrm>
            <a:off x="437675" y="3831900"/>
            <a:ext cx="889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0.25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÷ 4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0"/>
          <p:cNvSpPr/>
          <p:nvPr/>
        </p:nvSpPr>
        <p:spPr>
          <a:xfrm rot="5400000">
            <a:off x="3715131" y="4097308"/>
            <a:ext cx="439800" cy="351600"/>
          </a:xfrm>
          <a:prstGeom prst="arc">
            <a:avLst>
              <a:gd name="adj1" fmla="val 10729459"/>
              <a:gd name="adj2" fmla="val 194289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05" name="Google Shape;1005;p80" descr="&lt;math xmlns=&quot;http://www.w3.org/1998/Math/MathML&quot; display=&quot;block&quot; data-is-equatio=&quot;1&quot; data-latex=&quot;\begin{array}{l}\frac{29}{120}\end{array}&quot;&gt;&lt;mtable columnalign=&quot;left&quot; columnspacing=&quot;1em&quot; rowspacing=&quot;4pt&quot;&gt;&lt;mtr&gt;&lt;mtd&gt;&lt;mfrac&gt;&lt;mn&gt;29&lt;/mn&gt;&lt;mn&gt;120&lt;/mn&gt;&lt;/mfrac&gt;&lt;/mtd&gt;&lt;/mtr&gt;&lt;/mtable&gt;&lt;/math&gt;" title="1 lines Line 1: 29 over 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1096" y="4062213"/>
            <a:ext cx="289913" cy="334514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80"/>
          <p:cNvSpPr txBox="1"/>
          <p:nvPr/>
        </p:nvSpPr>
        <p:spPr>
          <a:xfrm>
            <a:off x="6856902" y="2047025"/>
            <a:ext cx="588900" cy="307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0.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07" name="Google Shape;1007;p80"/>
          <p:cNvCxnSpPr/>
          <p:nvPr/>
        </p:nvCxnSpPr>
        <p:spPr>
          <a:xfrm>
            <a:off x="6879400" y="2463433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8" name="Google Shape;1008;p80"/>
          <p:cNvCxnSpPr/>
          <p:nvPr/>
        </p:nvCxnSpPr>
        <p:spPr>
          <a:xfrm>
            <a:off x="6879400" y="2954325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9" name="Google Shape;1009;p80"/>
          <p:cNvSpPr txBox="1"/>
          <p:nvPr/>
        </p:nvSpPr>
        <p:spPr>
          <a:xfrm>
            <a:off x="6856902" y="2552086"/>
            <a:ext cx="588900" cy="307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0.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0" name="Google Shape;1010;p80"/>
          <p:cNvSpPr txBox="1"/>
          <p:nvPr/>
        </p:nvSpPr>
        <p:spPr>
          <a:xfrm>
            <a:off x="6856902" y="3641872"/>
            <a:ext cx="588900" cy="307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1.8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11" name="Google Shape;1011;p80"/>
          <p:cNvCxnSpPr/>
          <p:nvPr/>
        </p:nvCxnSpPr>
        <p:spPr>
          <a:xfrm>
            <a:off x="6879400" y="4058280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2" name="Google Shape;1012;p80"/>
          <p:cNvCxnSpPr/>
          <p:nvPr/>
        </p:nvCxnSpPr>
        <p:spPr>
          <a:xfrm>
            <a:off x="6879400" y="4549172"/>
            <a:ext cx="552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3" name="Google Shape;1013;p80"/>
          <p:cNvSpPr txBox="1"/>
          <p:nvPr/>
        </p:nvSpPr>
        <p:spPr>
          <a:xfrm>
            <a:off x="6856902" y="4175272"/>
            <a:ext cx="588900" cy="3078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1.8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7" name="Shape 1017"/>
        <p:cNvGrpSpPr/>
        <p:nvPr/>
      </p:nvGrpSpPr>
      <p:grpSpPr>
        <a:xfrm>
          <a:off x="0" y="0"/>
          <a:ext cx="0" cy="0"/>
        </a:xfrm>
      </p:grpSpPr>
      <p:pic>
        <p:nvPicPr>
          <p:cNvPr id="1018" name="Google Shape;101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00" y="1577125"/>
            <a:ext cx="5303174" cy="2913694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1020" name="Google Shape;1020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 Which of the following graphs show two variables that are in direct proportion?  Give a reason for your answers.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a)                                                       c)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                                                      d)	</a:t>
            </a:r>
            <a:endParaRPr/>
          </a:p>
        </p:txBody>
      </p:sp>
      <p:pic>
        <p:nvPicPr>
          <p:cNvPr id="1021" name="Google Shape;102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8883" y="3369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6188" y="16199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0070" y="16199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1"/>
          <p:cNvSpPr txBox="1"/>
          <p:nvPr/>
        </p:nvSpPr>
        <p:spPr>
          <a:xfrm>
            <a:off x="2078213" y="1577125"/>
            <a:ext cx="2345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has a constant positive gradient but the intercept is not zero.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81"/>
          <p:cNvSpPr txBox="1"/>
          <p:nvPr/>
        </p:nvSpPr>
        <p:spPr>
          <a:xfrm>
            <a:off x="2459213" y="3253525"/>
            <a:ext cx="234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has a constant positive gradient and the intercept is zero.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81"/>
          <p:cNvSpPr txBox="1"/>
          <p:nvPr/>
        </p:nvSpPr>
        <p:spPr>
          <a:xfrm>
            <a:off x="6497813" y="1577125"/>
            <a:ext cx="2345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has a constant positive gradient but the intercept is not zero.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27" name="Google Shape;102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0070" y="32201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81"/>
          <p:cNvSpPr txBox="1"/>
          <p:nvPr/>
        </p:nvSpPr>
        <p:spPr>
          <a:xfrm>
            <a:off x="6497813" y="3177325"/>
            <a:ext cx="234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intercept is zero but the gradient is not constant.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2" name="Shape 1032"/>
        <p:cNvGrpSpPr/>
        <p:nvPr/>
      </p:nvGrpSpPr>
      <p:grpSpPr>
        <a:xfrm>
          <a:off x="0" y="0"/>
          <a:ext cx="0" cy="0"/>
        </a:xfrm>
      </p:grpSpPr>
      <p:sp>
        <p:nvSpPr>
          <p:cNvPr id="1033" name="Google Shape;1033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graphs</a:t>
            </a:r>
            <a:endParaRPr/>
          </a:p>
        </p:txBody>
      </p:sp>
      <p:sp>
        <p:nvSpPr>
          <p:cNvPr id="1034" name="Google Shape;1034;p82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035" name="Google Shape;1035;p82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  <p:pic>
        <p:nvPicPr>
          <p:cNvPr id="1036" name="Google Shape;103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0" name="Shape 1040"/>
        <p:cNvGrpSpPr/>
        <p:nvPr/>
      </p:nvGrpSpPr>
      <p:grpSpPr>
        <a:xfrm>
          <a:off x="0" y="0"/>
          <a:ext cx="0" cy="0"/>
        </a:xfrm>
      </p:grpSpPr>
      <p:sp>
        <p:nvSpPr>
          <p:cNvPr id="1041" name="Google Shape;104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042" name="Google Shape;1042;p83"/>
          <p:cNvSpPr txBox="1"/>
          <p:nvPr>
            <p:ph type="body" idx="1"/>
          </p:nvPr>
        </p:nvSpPr>
        <p:spPr>
          <a:xfrm>
            <a:off x="324000" y="628150"/>
            <a:ext cx="8237700" cy="70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table below shows two variables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.</a:t>
            </a:r>
            <a:endParaRPr sz="200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Are they directly proportional?</a:t>
            </a:r>
            <a:endParaRPr sz="2000"/>
          </a:p>
        </p:txBody>
      </p:sp>
      <p:graphicFrame>
        <p:nvGraphicFramePr>
          <p:cNvPr id="1043" name="Google Shape;1043;p83"/>
          <p:cNvGraphicFramePr>
            <a:graphicFrameLocks noGrp="1"/>
          </p:cNvGraphicFramePr>
          <p:nvPr/>
        </p:nvGraphicFramePr>
        <p:xfrm>
          <a:off x="396275" y="155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499725"/>
                <a:gridCol w="499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44" name="Google Shape;1044;p83"/>
          <p:cNvSpPr txBox="1"/>
          <p:nvPr>
            <p:ph type="body" idx="1"/>
          </p:nvPr>
        </p:nvSpPr>
        <p:spPr>
          <a:xfrm>
            <a:off x="1569175" y="1352550"/>
            <a:ext cx="7098300" cy="12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What is the multiplicative relationship between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?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3 ×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83"/>
          <p:cNvSpPr/>
          <p:nvPr/>
        </p:nvSpPr>
        <p:spPr>
          <a:xfrm rot="10800000" flipH="1">
            <a:off x="617302" y="4146300"/>
            <a:ext cx="530400" cy="234000"/>
          </a:xfrm>
          <a:prstGeom prst="arc">
            <a:avLst>
              <a:gd name="adj1" fmla="val 10729459"/>
              <a:gd name="adj2" fmla="val 21474026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6" name="Google Shape;1046;p83"/>
          <p:cNvSpPr txBox="1"/>
          <p:nvPr/>
        </p:nvSpPr>
        <p:spPr>
          <a:xfrm>
            <a:off x="733583" y="4420357"/>
            <a:ext cx="347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7" name="Google Shape;1047;p83"/>
          <p:cNvGrpSpPr/>
          <p:nvPr/>
        </p:nvGrpSpPr>
        <p:grpSpPr>
          <a:xfrm>
            <a:off x="3308793" y="1851678"/>
            <a:ext cx="2535207" cy="2968722"/>
            <a:chOff x="4070793" y="1851678"/>
            <a:chExt cx="2535207" cy="2968722"/>
          </a:xfrm>
        </p:grpSpPr>
        <p:sp>
          <p:nvSpPr>
            <p:cNvPr id="1048" name="Google Shape;1048;p83"/>
            <p:cNvSpPr txBox="1"/>
            <p:nvPr/>
          </p:nvSpPr>
          <p:spPr>
            <a:xfrm>
              <a:off x="4070793" y="1851678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9" name="Google Shape;1049;p83"/>
            <p:cNvSpPr txBox="1"/>
            <p:nvPr/>
          </p:nvSpPr>
          <p:spPr>
            <a:xfrm>
              <a:off x="6459600" y="4360925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050" name="Google Shape;1050;p83"/>
            <p:cNvPicPr preferRelativeResize="0"/>
            <p:nvPr/>
          </p:nvPicPr>
          <p:blipFill>
            <a:blip r:embed="rId3">
              <a:alphaModFix/>
            </a:blip>
            <a:srcRect r="6629"/>
            <a:stretch>
              <a:fillRect/>
            </a:stretch>
          </p:blipFill>
          <p:spPr>
            <a:xfrm>
              <a:off x="4249800" y="1970750"/>
              <a:ext cx="1996725" cy="2849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1" name="Google Shape;1051;p83"/>
          <p:cNvSpPr txBox="1"/>
          <p:nvPr/>
        </p:nvSpPr>
        <p:spPr>
          <a:xfrm>
            <a:off x="3736789" y="4402921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3"/>
          <p:cNvSpPr txBox="1"/>
          <p:nvPr/>
        </p:nvSpPr>
        <p:spPr>
          <a:xfrm>
            <a:off x="4041589" y="3938636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3"/>
          <p:cNvSpPr txBox="1"/>
          <p:nvPr/>
        </p:nvSpPr>
        <p:spPr>
          <a:xfrm>
            <a:off x="4360558" y="3460182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3"/>
          <p:cNvSpPr txBox="1"/>
          <p:nvPr/>
        </p:nvSpPr>
        <p:spPr>
          <a:xfrm>
            <a:off x="4679528" y="2974643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3"/>
          <p:cNvSpPr txBox="1"/>
          <p:nvPr/>
        </p:nvSpPr>
        <p:spPr>
          <a:xfrm>
            <a:off x="4991412" y="2510358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3"/>
          <p:cNvSpPr txBox="1"/>
          <p:nvPr/>
        </p:nvSpPr>
        <p:spPr>
          <a:xfrm>
            <a:off x="5308650" y="2031904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7" name="Google Shape;105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8074" y="1966712"/>
            <a:ext cx="1996725" cy="2843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3"/>
          <p:cNvSpPr txBox="1"/>
          <p:nvPr>
            <p:ph type="body" idx="1"/>
          </p:nvPr>
        </p:nvSpPr>
        <p:spPr>
          <a:xfrm>
            <a:off x="5915725" y="1765200"/>
            <a:ext cx="2904000" cy="70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gradient of the line?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59" name="Google Shape;1059;p83"/>
          <p:cNvCxnSpPr/>
          <p:nvPr/>
        </p:nvCxnSpPr>
        <p:spPr>
          <a:xfrm>
            <a:off x="4431100" y="3627375"/>
            <a:ext cx="311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060" name="Google Shape;1060;p83"/>
          <p:cNvCxnSpPr/>
          <p:nvPr/>
        </p:nvCxnSpPr>
        <p:spPr>
          <a:xfrm rot="10800000" flipH="1">
            <a:off x="4742825" y="3159850"/>
            <a:ext cx="0" cy="474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061" name="Google Shape;1061;p83"/>
          <p:cNvSpPr txBox="1"/>
          <p:nvPr/>
        </p:nvSpPr>
        <p:spPr>
          <a:xfrm>
            <a:off x="4365585" y="3540333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3"/>
          <p:cNvSpPr txBox="1"/>
          <p:nvPr/>
        </p:nvSpPr>
        <p:spPr>
          <a:xfrm>
            <a:off x="4684554" y="3180588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3"/>
          <p:cNvSpPr txBox="1"/>
          <p:nvPr>
            <p:ph type="body" idx="1"/>
          </p:nvPr>
        </p:nvSpPr>
        <p:spPr>
          <a:xfrm>
            <a:off x="5915725" y="2509325"/>
            <a:ext cx="2904000" cy="80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gradient of the line is 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What do you notice?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multiplicative relationship is the </a:t>
            </a:r>
            <a:r>
              <a:rPr lang="en-GB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same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as the gradient.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4" name="Google Shape;1064;p83"/>
          <p:cNvSpPr txBox="1"/>
          <p:nvPr>
            <p:ph type="body" idx="1"/>
          </p:nvPr>
        </p:nvSpPr>
        <p:spPr>
          <a:xfrm>
            <a:off x="1603738" y="2571750"/>
            <a:ext cx="1663200" cy="12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Let’s plot the graph that represents this relationship.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sp>
        <p:nvSpPr>
          <p:cNvPr id="1069" name="Google Shape;106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graphicFrame>
        <p:nvGraphicFramePr>
          <p:cNvPr id="1070" name="Google Shape;1070;p84"/>
          <p:cNvGraphicFramePr>
            <a:graphicFrameLocks noGrp="1"/>
          </p:cNvGraphicFramePr>
          <p:nvPr/>
        </p:nvGraphicFramePr>
        <p:xfrm>
          <a:off x="729550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620900"/>
                <a:gridCol w="620900"/>
              </a:tblGrid>
              <a:tr h="27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1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071" name="Google Shape;1071;p84"/>
          <p:cNvGrpSpPr/>
          <p:nvPr/>
        </p:nvGrpSpPr>
        <p:grpSpPr>
          <a:xfrm>
            <a:off x="415875" y="2224800"/>
            <a:ext cx="3294525" cy="2546724"/>
            <a:chOff x="2549475" y="2224800"/>
            <a:chExt cx="3294525" cy="2546724"/>
          </a:xfrm>
        </p:grpSpPr>
        <p:pic>
          <p:nvPicPr>
            <p:cNvPr id="1072" name="Google Shape;1072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38450" y="2367182"/>
              <a:ext cx="2987225" cy="24043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84"/>
            <p:cNvSpPr txBox="1"/>
            <p:nvPr/>
          </p:nvSpPr>
          <p:spPr>
            <a:xfrm>
              <a:off x="2549475" y="2224800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4" name="Google Shape;1074;p84"/>
            <p:cNvSpPr txBox="1"/>
            <p:nvPr/>
          </p:nvSpPr>
          <p:spPr>
            <a:xfrm>
              <a:off x="5697600" y="4208525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075" name="Google Shape;107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5" y="976287"/>
            <a:ext cx="727191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84"/>
          <p:cNvSpPr txBox="1"/>
          <p:nvPr/>
        </p:nvSpPr>
        <p:spPr>
          <a:xfrm>
            <a:off x="324000" y="1881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7" name="Google Shape;1077;p84"/>
          <p:cNvGrpSpPr/>
          <p:nvPr/>
        </p:nvGrpSpPr>
        <p:grpSpPr>
          <a:xfrm flipH="1">
            <a:off x="1083877" y="496025"/>
            <a:ext cx="4484823" cy="1246825"/>
            <a:chOff x="4249797" y="2934767"/>
            <a:chExt cx="3209405" cy="1128655"/>
          </a:xfrm>
        </p:grpSpPr>
        <p:pic>
          <p:nvPicPr>
            <p:cNvPr id="1078" name="Google Shape;1078;p84"/>
            <p:cNvPicPr preferRelativeResize="0"/>
            <p:nvPr/>
          </p:nvPicPr>
          <p:blipFill>
            <a:blip r:embed="rId5">
              <a:alphaModFix/>
            </a:blip>
            <a:srcRect t="56280" r="69082"/>
            <a:stretch>
              <a:fillRect/>
            </a:stretch>
          </p:blipFill>
          <p:spPr>
            <a:xfrm>
              <a:off x="4249797" y="2934767"/>
              <a:ext cx="3209405" cy="1128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p84"/>
            <p:cNvSpPr txBox="1"/>
            <p:nvPr/>
          </p:nvSpPr>
          <p:spPr>
            <a:xfrm>
              <a:off x="4421784" y="3084944"/>
              <a:ext cx="2783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if the multiplicative relationship between </a:t>
              </a:r>
              <a:r>
                <a:rPr lang="en-GB" sz="2000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and </a:t>
              </a:r>
              <a:r>
                <a:rPr lang="en-GB" sz="2000" i="1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always the same as the gradient?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0" name="Google Shape;1080;p84"/>
          <p:cNvSpPr txBox="1"/>
          <p:nvPr/>
        </p:nvSpPr>
        <p:spPr>
          <a:xfrm>
            <a:off x="1325100" y="1814475"/>
            <a:ext cx="322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think?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4"/>
          <p:cNvSpPr/>
          <p:nvPr/>
        </p:nvSpPr>
        <p:spPr>
          <a:xfrm rot="10800000" flipH="1">
            <a:off x="7654127" y="3156700"/>
            <a:ext cx="530400" cy="234000"/>
          </a:xfrm>
          <a:prstGeom prst="arc">
            <a:avLst>
              <a:gd name="adj1" fmla="val 10729459"/>
              <a:gd name="adj2" fmla="val 21474026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82" name="Google Shape;1082;p84"/>
          <p:cNvSpPr txBox="1"/>
          <p:nvPr/>
        </p:nvSpPr>
        <p:spPr>
          <a:xfrm>
            <a:off x="7694196" y="3430750"/>
            <a:ext cx="53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3" name="Google Shape;1083;p84"/>
          <p:cNvCxnSpPr/>
          <p:nvPr/>
        </p:nvCxnSpPr>
        <p:spPr>
          <a:xfrm>
            <a:off x="1893118" y="3677724"/>
            <a:ext cx="953700" cy="13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084" name="Google Shape;1084;p84"/>
          <p:cNvCxnSpPr/>
          <p:nvPr/>
        </p:nvCxnSpPr>
        <p:spPr>
          <a:xfrm rot="10800000" flipH="1">
            <a:off x="2844910" y="2961526"/>
            <a:ext cx="0" cy="71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085" name="Google Shape;1085;p84"/>
          <p:cNvSpPr txBox="1"/>
          <p:nvPr/>
        </p:nvSpPr>
        <p:spPr>
          <a:xfrm>
            <a:off x="2096551" y="3566095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4"/>
          <p:cNvSpPr txBox="1"/>
          <p:nvPr/>
        </p:nvSpPr>
        <p:spPr>
          <a:xfrm>
            <a:off x="2779554" y="3104388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7" name="Google Shape;1087;p84"/>
          <p:cNvGraphicFramePr>
            <a:graphicFrameLocks noGrp="1"/>
          </p:cNvGraphicFramePr>
          <p:nvPr/>
        </p:nvGraphicFramePr>
        <p:xfrm>
          <a:off x="3920925" y="245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561400"/>
                <a:gridCol w="15614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88" name="Google Shape;1088;p84"/>
          <p:cNvGraphicFramePr>
            <a:graphicFrameLocks noGrp="1"/>
          </p:cNvGraphicFramePr>
          <p:nvPr/>
        </p:nvGraphicFramePr>
        <p:xfrm>
          <a:off x="3920925" y="245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561400"/>
                <a:gridCol w="15614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89" name="Google Shape;1089;p84"/>
          <p:cNvGraphicFramePr>
            <a:graphicFrameLocks noGrp="1"/>
          </p:cNvGraphicFramePr>
          <p:nvPr/>
        </p:nvGraphicFramePr>
        <p:xfrm>
          <a:off x="3920925" y="245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561400"/>
                <a:gridCol w="15614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90" name="Google Shape;1090;p84"/>
          <p:cNvSpPr txBox="1"/>
          <p:nvPr/>
        </p:nvSpPr>
        <p:spPr>
          <a:xfrm>
            <a:off x="3920925" y="3950600"/>
            <a:ext cx="4573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 the gradient is the same as the multiplicative relationship.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4" name="Shape 1094"/>
        <p:cNvGrpSpPr/>
        <p:nvPr/>
      </p:nvGrpSpPr>
      <p:grpSpPr>
        <a:xfrm>
          <a:off x="0" y="0"/>
          <a:ext cx="0" cy="0"/>
        </a:xfrm>
      </p:grpSpPr>
      <p:sp>
        <p:nvSpPr>
          <p:cNvPr id="1095" name="Google Shape;109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096" name="Google Shape;1096;p85"/>
          <p:cNvSpPr txBox="1"/>
          <p:nvPr>
            <p:ph type="body" idx="1"/>
          </p:nvPr>
        </p:nvSpPr>
        <p:spPr>
          <a:xfrm>
            <a:off x="324000" y="628151"/>
            <a:ext cx="8237700" cy="106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Below is a graph showing the relationship between number of cookies and amount of chocolate chips.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multiplicative relationship between them?</a:t>
            </a:r>
            <a:endParaRPr sz="2000"/>
          </a:p>
        </p:txBody>
      </p:sp>
      <p:grpSp>
        <p:nvGrpSpPr>
          <p:cNvPr id="1097" name="Google Shape;1097;p85"/>
          <p:cNvGrpSpPr/>
          <p:nvPr/>
        </p:nvGrpSpPr>
        <p:grpSpPr>
          <a:xfrm>
            <a:off x="340225" y="1700800"/>
            <a:ext cx="4756621" cy="3078088"/>
            <a:chOff x="1026025" y="1700800"/>
            <a:chExt cx="4756621" cy="3078088"/>
          </a:xfrm>
        </p:grpSpPr>
        <p:pic>
          <p:nvPicPr>
            <p:cNvPr id="1098" name="Google Shape;1098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67271" y="1852500"/>
              <a:ext cx="2675555" cy="2926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9" name="Google Shape;1099;p85"/>
            <p:cNvSpPr txBox="1"/>
            <p:nvPr/>
          </p:nvSpPr>
          <p:spPr>
            <a:xfrm>
              <a:off x="4853546" y="4304374"/>
              <a:ext cx="929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cookies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85"/>
            <p:cNvSpPr txBox="1"/>
            <p:nvPr/>
          </p:nvSpPr>
          <p:spPr>
            <a:xfrm>
              <a:off x="1026025" y="1700800"/>
              <a:ext cx="1207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chocolate chips (g)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01" name="Google Shape;1101;p85"/>
          <p:cNvCxnSpPr/>
          <p:nvPr/>
        </p:nvCxnSpPr>
        <p:spPr>
          <a:xfrm>
            <a:off x="2671025" y="3381150"/>
            <a:ext cx="824700" cy="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102" name="Google Shape;1102;p85"/>
          <p:cNvCxnSpPr/>
          <p:nvPr/>
        </p:nvCxnSpPr>
        <p:spPr>
          <a:xfrm rot="10800000" flipH="1">
            <a:off x="3488700" y="2320950"/>
            <a:ext cx="600" cy="106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103" name="Google Shape;1103;p85"/>
          <p:cNvSpPr txBox="1"/>
          <p:nvPr/>
        </p:nvSpPr>
        <p:spPr>
          <a:xfrm>
            <a:off x="2817735" y="3266616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5"/>
          <p:cNvSpPr txBox="1"/>
          <p:nvPr/>
        </p:nvSpPr>
        <p:spPr>
          <a:xfrm>
            <a:off x="3430660" y="2585143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5"/>
          <p:cNvSpPr txBox="1"/>
          <p:nvPr/>
        </p:nvSpPr>
        <p:spPr>
          <a:xfrm>
            <a:off x="2613288" y="3254813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5"/>
          <p:cNvSpPr txBox="1"/>
          <p:nvPr/>
        </p:nvSpPr>
        <p:spPr>
          <a:xfrm>
            <a:off x="3437200" y="2188013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5"/>
          <p:cNvSpPr txBox="1"/>
          <p:nvPr/>
        </p:nvSpPr>
        <p:spPr>
          <a:xfrm>
            <a:off x="1908000" y="3177100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(2, 26)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5"/>
          <p:cNvSpPr txBox="1"/>
          <p:nvPr/>
        </p:nvSpPr>
        <p:spPr>
          <a:xfrm>
            <a:off x="3634200" y="2188025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(4, 52)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09" name="Google Shape;1109;p85"/>
          <p:cNvGraphicFramePr>
            <a:graphicFrameLocks noGrp="1"/>
          </p:cNvGraphicFramePr>
          <p:nvPr/>
        </p:nvGraphicFramePr>
        <p:xfrm>
          <a:off x="5140125" y="169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364800"/>
                <a:gridCol w="13648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cookies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choc chips (g)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10" name="Google Shape;1110;p85"/>
          <p:cNvGraphicFramePr>
            <a:graphicFrameLocks noGrp="1"/>
          </p:cNvGraphicFramePr>
          <p:nvPr/>
        </p:nvGraphicFramePr>
        <p:xfrm>
          <a:off x="5140125" y="169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364800"/>
                <a:gridCol w="13648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cookies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choc chips (g)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11" name="Google Shape;1111;p85"/>
          <p:cNvGraphicFramePr>
            <a:graphicFrameLocks noGrp="1"/>
          </p:cNvGraphicFramePr>
          <p:nvPr/>
        </p:nvGraphicFramePr>
        <p:xfrm>
          <a:off x="5140125" y="169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364800"/>
                <a:gridCol w="13648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cookies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choc chips (g)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12" name="Google Shape;1112;p85"/>
          <p:cNvSpPr txBox="1"/>
          <p:nvPr/>
        </p:nvSpPr>
        <p:spPr>
          <a:xfrm>
            <a:off x="5140125" y="3011100"/>
            <a:ext cx="36798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multiplicative relationship between the number of cookies and the amount of chocolate chips is: number of cookies × 13 = grams of choc. chips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6" name="Shape 1116"/>
        <p:cNvGrpSpPr/>
        <p:nvPr/>
      </p:nvGrpSpPr>
      <p:grpSpPr>
        <a:xfrm>
          <a:off x="0" y="0"/>
          <a:ext cx="0" cy="0"/>
        </a:xfrm>
      </p:grpSpPr>
      <p:sp>
        <p:nvSpPr>
          <p:cNvPr id="1117" name="Google Shape;111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118" name="Google Shape;1118;p86"/>
          <p:cNvSpPr txBox="1"/>
          <p:nvPr>
            <p:ph type="body" idx="1"/>
          </p:nvPr>
        </p:nvSpPr>
        <p:spPr>
          <a:xfrm>
            <a:off x="324000" y="759300"/>
            <a:ext cx="83718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We know that graphs showing direct proportion have a constant positive gradient and an intercept of zero.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This means that they can all be written as an equation in the form:	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kx</a:t>
            </a:r>
            <a:r>
              <a:rPr lang="en-GB"/>
              <a:t>      (where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/>
              <a:t> is the constant of proportionality)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constant of proportionality is: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multiplicative relationship between the two variables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rate of change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gradient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p87"/>
          <p:cNvSpPr txBox="1"/>
          <p:nvPr>
            <p:ph type="body" idx="1"/>
          </p:nvPr>
        </p:nvSpPr>
        <p:spPr>
          <a:xfrm>
            <a:off x="324000" y="759300"/>
            <a:ext cx="8237700" cy="42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Let’s take a look at the graphs we looked at earlier.</a:t>
            </a:r>
            <a:endParaRPr/>
          </a:p>
        </p:txBody>
      </p:sp>
      <p:sp>
        <p:nvSpPr>
          <p:cNvPr id="1124" name="Google Shape;112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grpSp>
        <p:nvGrpSpPr>
          <p:cNvPr id="1125" name="Google Shape;1125;p87"/>
          <p:cNvGrpSpPr/>
          <p:nvPr/>
        </p:nvGrpSpPr>
        <p:grpSpPr>
          <a:xfrm>
            <a:off x="413193" y="1318278"/>
            <a:ext cx="2535207" cy="2968722"/>
            <a:chOff x="4070793" y="1851678"/>
            <a:chExt cx="2535207" cy="2968722"/>
          </a:xfrm>
        </p:grpSpPr>
        <p:sp>
          <p:nvSpPr>
            <p:cNvPr id="1126" name="Google Shape;1126;p87"/>
            <p:cNvSpPr txBox="1"/>
            <p:nvPr/>
          </p:nvSpPr>
          <p:spPr>
            <a:xfrm>
              <a:off x="4070793" y="1851678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7" name="Google Shape;1127;p87"/>
            <p:cNvSpPr txBox="1"/>
            <p:nvPr/>
          </p:nvSpPr>
          <p:spPr>
            <a:xfrm>
              <a:off x="6459600" y="4360925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128" name="Google Shape;1128;p87"/>
            <p:cNvPicPr preferRelativeResize="0"/>
            <p:nvPr/>
          </p:nvPicPr>
          <p:blipFill>
            <a:blip r:embed="rId3">
              <a:alphaModFix/>
            </a:blip>
            <a:srcRect r="6629"/>
            <a:stretch>
              <a:fillRect/>
            </a:stretch>
          </p:blipFill>
          <p:spPr>
            <a:xfrm>
              <a:off x="4249800" y="1970750"/>
              <a:ext cx="1996725" cy="2849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9" name="Google Shape;1129;p87"/>
          <p:cNvSpPr txBox="1"/>
          <p:nvPr/>
        </p:nvSpPr>
        <p:spPr>
          <a:xfrm>
            <a:off x="841189" y="3869521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7"/>
          <p:cNvSpPr txBox="1"/>
          <p:nvPr/>
        </p:nvSpPr>
        <p:spPr>
          <a:xfrm>
            <a:off x="1145989" y="3405236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7"/>
          <p:cNvSpPr txBox="1"/>
          <p:nvPr/>
        </p:nvSpPr>
        <p:spPr>
          <a:xfrm>
            <a:off x="1464958" y="2926782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7"/>
          <p:cNvSpPr txBox="1"/>
          <p:nvPr/>
        </p:nvSpPr>
        <p:spPr>
          <a:xfrm>
            <a:off x="1783928" y="2441243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7"/>
          <p:cNvSpPr txBox="1"/>
          <p:nvPr/>
        </p:nvSpPr>
        <p:spPr>
          <a:xfrm>
            <a:off x="2095812" y="1976958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7"/>
          <p:cNvSpPr txBox="1"/>
          <p:nvPr/>
        </p:nvSpPr>
        <p:spPr>
          <a:xfrm>
            <a:off x="2413050" y="1498504"/>
            <a:ext cx="20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5" name="Google Shape;113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474" y="1433312"/>
            <a:ext cx="1996725" cy="28433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6" name="Google Shape;1136;p87"/>
          <p:cNvCxnSpPr/>
          <p:nvPr/>
        </p:nvCxnSpPr>
        <p:spPr>
          <a:xfrm>
            <a:off x="1535500" y="3093975"/>
            <a:ext cx="311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137" name="Google Shape;1137;p87"/>
          <p:cNvCxnSpPr/>
          <p:nvPr/>
        </p:nvCxnSpPr>
        <p:spPr>
          <a:xfrm rot="10800000" flipH="1">
            <a:off x="1847225" y="2626450"/>
            <a:ext cx="0" cy="474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138" name="Google Shape;1138;p87"/>
          <p:cNvSpPr txBox="1"/>
          <p:nvPr/>
        </p:nvSpPr>
        <p:spPr>
          <a:xfrm>
            <a:off x="1469985" y="3006933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7"/>
          <p:cNvSpPr txBox="1"/>
          <p:nvPr/>
        </p:nvSpPr>
        <p:spPr>
          <a:xfrm>
            <a:off x="1788954" y="2647188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7"/>
          <p:cNvSpPr txBox="1"/>
          <p:nvPr>
            <p:ph type="body" idx="1"/>
          </p:nvPr>
        </p:nvSpPr>
        <p:spPr>
          <a:xfrm>
            <a:off x="3372000" y="1445100"/>
            <a:ext cx="54480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multiplicative relationship between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is: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rate of change in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as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increases by 1 is 3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gradient of the line is 3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constant of proportionality is 3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equation of this line is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4" name="Shape 1144"/>
        <p:cNvGrpSpPr/>
        <p:nvPr/>
      </p:nvGrpSpPr>
      <p:grpSpPr>
        <a:xfrm>
          <a:off x="0" y="0"/>
          <a:ext cx="0" cy="0"/>
        </a:xfrm>
      </p:grpSpPr>
      <p:sp>
        <p:nvSpPr>
          <p:cNvPr id="1145" name="Google Shape;114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146" name="Google Shape;1146;p88"/>
          <p:cNvSpPr txBox="1"/>
          <p:nvPr>
            <p:ph type="body" idx="1"/>
          </p:nvPr>
        </p:nvSpPr>
        <p:spPr>
          <a:xfrm>
            <a:off x="3857625" y="1064100"/>
            <a:ext cx="49623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multiplicative relationship between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is: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= 1.5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rate of change in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as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increases by 1 is 1.5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gradient of the line is 1.5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constant of proportionality is 1.5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equation of this line is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= 1.5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grpSp>
        <p:nvGrpSpPr>
          <p:cNvPr id="1147" name="Google Shape;1147;p88"/>
          <p:cNvGrpSpPr/>
          <p:nvPr/>
        </p:nvGrpSpPr>
        <p:grpSpPr>
          <a:xfrm>
            <a:off x="415875" y="777000"/>
            <a:ext cx="3294525" cy="2546724"/>
            <a:chOff x="2549475" y="2224800"/>
            <a:chExt cx="3294525" cy="2546724"/>
          </a:xfrm>
        </p:grpSpPr>
        <p:pic>
          <p:nvPicPr>
            <p:cNvPr id="1148" name="Google Shape;1148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38450" y="2367182"/>
              <a:ext cx="2987225" cy="24043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88"/>
            <p:cNvSpPr txBox="1"/>
            <p:nvPr/>
          </p:nvSpPr>
          <p:spPr>
            <a:xfrm>
              <a:off x="2549475" y="2224800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0" name="Google Shape;1150;p88"/>
            <p:cNvSpPr txBox="1"/>
            <p:nvPr/>
          </p:nvSpPr>
          <p:spPr>
            <a:xfrm>
              <a:off x="5697600" y="4208525"/>
              <a:ext cx="146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151" name="Google Shape;1151;p88"/>
          <p:cNvCxnSpPr/>
          <p:nvPr/>
        </p:nvCxnSpPr>
        <p:spPr>
          <a:xfrm>
            <a:off x="1893118" y="2229924"/>
            <a:ext cx="953700" cy="13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152" name="Google Shape;1152;p88"/>
          <p:cNvCxnSpPr/>
          <p:nvPr/>
        </p:nvCxnSpPr>
        <p:spPr>
          <a:xfrm rot="10800000" flipH="1">
            <a:off x="2844910" y="1513726"/>
            <a:ext cx="0" cy="71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153" name="Google Shape;1153;p88"/>
          <p:cNvSpPr txBox="1"/>
          <p:nvPr/>
        </p:nvSpPr>
        <p:spPr>
          <a:xfrm>
            <a:off x="2096551" y="2118295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8"/>
          <p:cNvSpPr txBox="1"/>
          <p:nvPr/>
        </p:nvSpPr>
        <p:spPr>
          <a:xfrm>
            <a:off x="2779554" y="1656588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55" name="Google Shape;1155;p88"/>
          <p:cNvGraphicFramePr>
            <a:graphicFrameLocks noGrp="1"/>
          </p:cNvGraphicFramePr>
          <p:nvPr/>
        </p:nvGraphicFramePr>
        <p:xfrm>
          <a:off x="491925" y="344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561400"/>
                <a:gridCol w="1561400"/>
              </a:tblGrid>
              <a:tr h="237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9" name="Shape 1159"/>
        <p:cNvGrpSpPr/>
        <p:nvPr/>
      </p:nvGrpSpPr>
      <p:grpSpPr>
        <a:xfrm>
          <a:off x="0" y="0"/>
          <a:ext cx="0" cy="0"/>
        </a:xfrm>
      </p:grpSpPr>
      <p:sp>
        <p:nvSpPr>
          <p:cNvPr id="1160" name="Google Shape;11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grpSp>
        <p:nvGrpSpPr>
          <p:cNvPr id="1161" name="Google Shape;1161;p89"/>
          <p:cNvGrpSpPr/>
          <p:nvPr/>
        </p:nvGrpSpPr>
        <p:grpSpPr>
          <a:xfrm>
            <a:off x="340225" y="710200"/>
            <a:ext cx="4756621" cy="3078088"/>
            <a:chOff x="1026025" y="1700800"/>
            <a:chExt cx="4756621" cy="3078088"/>
          </a:xfrm>
        </p:grpSpPr>
        <p:pic>
          <p:nvPicPr>
            <p:cNvPr id="1162" name="Google Shape;116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67271" y="1852500"/>
              <a:ext cx="2675555" cy="2926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3" name="Google Shape;1163;p89"/>
            <p:cNvSpPr txBox="1"/>
            <p:nvPr/>
          </p:nvSpPr>
          <p:spPr>
            <a:xfrm>
              <a:off x="4853546" y="4304374"/>
              <a:ext cx="929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cookies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9"/>
            <p:cNvSpPr txBox="1"/>
            <p:nvPr/>
          </p:nvSpPr>
          <p:spPr>
            <a:xfrm>
              <a:off x="1026025" y="1700800"/>
              <a:ext cx="1207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chocolate chips (g)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65" name="Google Shape;1165;p89"/>
          <p:cNvCxnSpPr/>
          <p:nvPr/>
        </p:nvCxnSpPr>
        <p:spPr>
          <a:xfrm>
            <a:off x="2671025" y="2390550"/>
            <a:ext cx="824700" cy="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166" name="Google Shape;1166;p89"/>
          <p:cNvCxnSpPr/>
          <p:nvPr/>
        </p:nvCxnSpPr>
        <p:spPr>
          <a:xfrm rot="10800000" flipH="1">
            <a:off x="3488700" y="1330350"/>
            <a:ext cx="600" cy="106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167" name="Google Shape;1167;p89"/>
          <p:cNvSpPr txBox="1"/>
          <p:nvPr/>
        </p:nvSpPr>
        <p:spPr>
          <a:xfrm>
            <a:off x="2817735" y="2276016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9"/>
          <p:cNvSpPr txBox="1"/>
          <p:nvPr/>
        </p:nvSpPr>
        <p:spPr>
          <a:xfrm>
            <a:off x="3430660" y="1594543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9"/>
          <p:cNvSpPr txBox="1"/>
          <p:nvPr/>
        </p:nvSpPr>
        <p:spPr>
          <a:xfrm>
            <a:off x="2613288" y="2264213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9"/>
          <p:cNvSpPr txBox="1"/>
          <p:nvPr/>
        </p:nvSpPr>
        <p:spPr>
          <a:xfrm>
            <a:off x="3437200" y="1197413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9"/>
          <p:cNvSpPr txBox="1"/>
          <p:nvPr/>
        </p:nvSpPr>
        <p:spPr>
          <a:xfrm>
            <a:off x="1908000" y="2186500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(2, 26)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9"/>
          <p:cNvSpPr txBox="1"/>
          <p:nvPr/>
        </p:nvSpPr>
        <p:spPr>
          <a:xfrm>
            <a:off x="3634200" y="1197425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(4, 52)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9"/>
          <p:cNvSpPr txBox="1"/>
          <p:nvPr>
            <p:ph type="body" idx="1"/>
          </p:nvPr>
        </p:nvSpPr>
        <p:spPr>
          <a:xfrm>
            <a:off x="5248275" y="606900"/>
            <a:ext cx="35715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multiplicative relationship between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is: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= 13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rate of change 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increases by 1 is 13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gradient of the line is 13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constant of proportionality is 13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equation of this line is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= 13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graphicFrame>
        <p:nvGraphicFramePr>
          <p:cNvPr id="1174" name="Google Shape;1174;p89"/>
          <p:cNvGraphicFramePr>
            <a:graphicFrameLocks noGrp="1"/>
          </p:cNvGraphicFramePr>
          <p:nvPr/>
        </p:nvGraphicFramePr>
        <p:xfrm>
          <a:off x="405950" y="388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2301450"/>
                <a:gridCol w="2301450"/>
              </a:tblGrid>
              <a:tr h="269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cookies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choc chips (g)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8" name="Shape 1178"/>
        <p:cNvGrpSpPr/>
        <p:nvPr/>
      </p:nvGrpSpPr>
      <p:grpSpPr>
        <a:xfrm>
          <a:off x="0" y="0"/>
          <a:ext cx="0" cy="0"/>
        </a:xfrm>
      </p:grpSpPr>
      <p:sp>
        <p:nvSpPr>
          <p:cNvPr id="1179" name="Google Shape;1179;p90"/>
          <p:cNvSpPr txBox="1"/>
          <p:nvPr>
            <p:ph type="body" idx="1"/>
          </p:nvPr>
        </p:nvSpPr>
        <p:spPr>
          <a:xfrm>
            <a:off x="4013400" y="987900"/>
            <a:ext cx="4806300" cy="30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</a:t>
            </a:r>
            <a:r>
              <a:rPr lang="en-GB" sz="2000" u="sng"/>
              <a:t>          _____</a:t>
            </a:r>
            <a:r>
              <a:rPr lang="en-GB" sz="1800"/>
              <a:t> </a:t>
            </a:r>
            <a:r>
              <a:rPr lang="en-GB" sz="1500"/>
              <a:t> </a:t>
            </a:r>
            <a:r>
              <a:rPr lang="en-GB" sz="2000"/>
              <a:t>relationship between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is: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=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endParaRPr sz="2000">
              <a:solidFill>
                <a:srgbClr val="E6F2F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rate of change 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as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</a:t>
            </a:r>
            <a:r>
              <a:rPr lang="en-GB" sz="2000" u="sng"/>
              <a:t>        ____  </a:t>
            </a:r>
            <a:r>
              <a:rPr lang="en-GB" sz="2000"/>
              <a:t> by 1 is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r>
              <a:rPr lang="en-GB" sz="2000" u="sng"/>
              <a:t>        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</a:t>
            </a:r>
            <a:r>
              <a:rPr lang="en-GB" sz="1900" u="sng"/>
              <a:t>        __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r>
              <a:rPr lang="en-GB" sz="2000"/>
              <a:t>of the line is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</a:t>
            </a:r>
            <a:r>
              <a:rPr lang="en-GB" sz="2100"/>
              <a:t> </a:t>
            </a:r>
            <a:r>
              <a:rPr lang="en-GB" sz="2000" u="sng"/>
              <a:t>          __</a:t>
            </a:r>
            <a:r>
              <a:rPr lang="en-GB" sz="2100" u="sng">
                <a:solidFill>
                  <a:srgbClr val="E6F2F2"/>
                </a:solidFill>
              </a:rPr>
              <a:t>.</a:t>
            </a:r>
            <a:r>
              <a:rPr lang="en-GB" sz="2000"/>
              <a:t>of proportionality is </a:t>
            </a:r>
            <a:r>
              <a:rPr lang="en-GB" sz="2000" u="sng"/>
              <a:t>___</a:t>
            </a:r>
            <a:r>
              <a:rPr lang="en-GB" sz="2000"/>
              <a:t> </a:t>
            </a:r>
            <a:r>
              <a:rPr lang="en-GB" sz="2000" u="sng"/>
              <a:t>                   </a:t>
            </a:r>
            <a:endParaRPr sz="2000" u="sng">
              <a:solidFill>
                <a:srgbClr val="E6F2F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equation of this line is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endParaRPr sz="2000"/>
          </a:p>
        </p:txBody>
      </p:sp>
      <p:sp>
        <p:nvSpPr>
          <p:cNvPr id="1180" name="Google Shape;118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181" name="Google Shape;1181;p90"/>
          <p:cNvSpPr txBox="1"/>
          <p:nvPr>
            <p:ph type="body" idx="1"/>
          </p:nvPr>
        </p:nvSpPr>
        <p:spPr>
          <a:xfrm>
            <a:off x="419250" y="578561"/>
            <a:ext cx="3270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following:</a:t>
            </a:r>
            <a:endParaRPr sz="2000"/>
          </a:p>
        </p:txBody>
      </p:sp>
      <p:cxnSp>
        <p:nvCxnSpPr>
          <p:cNvPr id="1182" name="Google Shape;1182;p90"/>
          <p:cNvCxnSpPr/>
          <p:nvPr/>
        </p:nvCxnSpPr>
        <p:spPr>
          <a:xfrm>
            <a:off x="1666200" y="2495101"/>
            <a:ext cx="956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183" name="Google Shape;1183;p90"/>
          <p:cNvCxnSpPr/>
          <p:nvPr/>
        </p:nvCxnSpPr>
        <p:spPr>
          <a:xfrm rot="10800000" flipH="1">
            <a:off x="2627100" y="1531876"/>
            <a:ext cx="0" cy="960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184" name="Google Shape;1184;p90"/>
          <p:cNvSpPr txBox="1"/>
          <p:nvPr/>
        </p:nvSpPr>
        <p:spPr>
          <a:xfrm>
            <a:off x="1878760" y="2386167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90"/>
          <p:cNvSpPr txBox="1"/>
          <p:nvPr/>
        </p:nvSpPr>
        <p:spPr>
          <a:xfrm>
            <a:off x="2607610" y="1772070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90"/>
          <p:cNvSpPr txBox="1"/>
          <p:nvPr/>
        </p:nvSpPr>
        <p:spPr>
          <a:xfrm>
            <a:off x="1597288" y="2374839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90"/>
          <p:cNvSpPr txBox="1"/>
          <p:nvPr/>
        </p:nvSpPr>
        <p:spPr>
          <a:xfrm>
            <a:off x="2573600" y="1399014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0"/>
          <p:cNvSpPr txBox="1"/>
          <p:nvPr/>
        </p:nvSpPr>
        <p:spPr>
          <a:xfrm>
            <a:off x="1023950" y="2245101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(4, 2)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0"/>
          <p:cNvSpPr txBox="1"/>
          <p:nvPr/>
        </p:nvSpPr>
        <p:spPr>
          <a:xfrm>
            <a:off x="2713450" y="1379976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(8, 4)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90"/>
          <p:cNvSpPr txBox="1"/>
          <p:nvPr/>
        </p:nvSpPr>
        <p:spPr>
          <a:xfrm>
            <a:off x="3341750" y="323965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90"/>
          <p:cNvSpPr txBox="1"/>
          <p:nvPr/>
        </p:nvSpPr>
        <p:spPr>
          <a:xfrm>
            <a:off x="376300" y="75680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2" name="Google Shape;1192;p90"/>
          <p:cNvGraphicFramePr>
            <a:graphicFrameLocks noGrp="1"/>
          </p:cNvGraphicFramePr>
          <p:nvPr/>
        </p:nvGraphicFramePr>
        <p:xfrm>
          <a:off x="491925" y="3861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561400"/>
                <a:gridCol w="1561400"/>
              </a:tblGrid>
              <a:tr h="237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193" name="Google Shape;119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3" y="902425"/>
            <a:ext cx="2851300" cy="28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90"/>
          <p:cNvSpPr/>
          <p:nvPr/>
        </p:nvSpPr>
        <p:spPr>
          <a:xfrm>
            <a:off x="1926875" y="2517375"/>
            <a:ext cx="365100" cy="1827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0"/>
          <p:cNvSpPr/>
          <p:nvPr/>
        </p:nvSpPr>
        <p:spPr>
          <a:xfrm>
            <a:off x="2704650" y="1911575"/>
            <a:ext cx="365100" cy="1827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9" name="Shape 1199"/>
        <p:cNvGrpSpPr/>
        <p:nvPr/>
      </p:nvGrpSpPr>
      <p:grpSpPr>
        <a:xfrm>
          <a:off x="0" y="0"/>
          <a:ext cx="0" cy="0"/>
        </a:xfrm>
      </p:grpSpPr>
      <p:sp>
        <p:nvSpPr>
          <p:cNvPr id="1200" name="Google Shape;1200;p91"/>
          <p:cNvSpPr txBox="1"/>
          <p:nvPr>
            <p:ph type="body" idx="1"/>
          </p:nvPr>
        </p:nvSpPr>
        <p:spPr>
          <a:xfrm>
            <a:off x="4013400" y="987900"/>
            <a:ext cx="4806300" cy="30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</a:t>
            </a:r>
            <a:r>
              <a:rPr lang="en-GB" sz="2000" u="sng"/>
              <a:t>          _____</a:t>
            </a:r>
            <a:r>
              <a:rPr lang="en-GB" sz="1800"/>
              <a:t> </a:t>
            </a:r>
            <a:r>
              <a:rPr lang="en-GB" sz="1500"/>
              <a:t> </a:t>
            </a:r>
            <a:r>
              <a:rPr lang="en-GB" sz="2000"/>
              <a:t>relationship between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is: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=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endParaRPr sz="2000">
              <a:solidFill>
                <a:srgbClr val="E6F2F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rate of change in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as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</a:t>
            </a:r>
            <a:r>
              <a:rPr lang="en-GB" sz="2000" u="sng"/>
              <a:t>        ____  </a:t>
            </a:r>
            <a:r>
              <a:rPr lang="en-GB" sz="2000"/>
              <a:t> by 1 is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r>
              <a:rPr lang="en-GB" sz="2000" u="sng"/>
              <a:t>        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 </a:t>
            </a:r>
            <a:r>
              <a:rPr lang="en-GB" sz="1900" u="sng"/>
              <a:t>        __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r>
              <a:rPr lang="en-GB" sz="2000"/>
              <a:t>of the line is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</a:t>
            </a:r>
            <a:r>
              <a:rPr lang="en-GB" sz="2100"/>
              <a:t> </a:t>
            </a:r>
            <a:r>
              <a:rPr lang="en-GB" sz="2000" u="sng"/>
              <a:t>          __</a:t>
            </a:r>
            <a:r>
              <a:rPr lang="en-GB" sz="2100" u="sng">
                <a:solidFill>
                  <a:srgbClr val="E6F2F2"/>
                </a:solidFill>
              </a:rPr>
              <a:t>.</a:t>
            </a:r>
            <a:r>
              <a:rPr lang="en-GB" sz="2000"/>
              <a:t>of proportionality is </a:t>
            </a:r>
            <a:r>
              <a:rPr lang="en-GB" sz="2000" u="sng"/>
              <a:t>___</a:t>
            </a:r>
            <a:r>
              <a:rPr lang="en-GB" sz="2000"/>
              <a:t> </a:t>
            </a:r>
            <a:r>
              <a:rPr lang="en-GB" sz="2000" u="sng"/>
              <a:t>                   </a:t>
            </a:r>
            <a:endParaRPr sz="2000" u="sng">
              <a:solidFill>
                <a:srgbClr val="E6F2F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equation of this line is </a:t>
            </a:r>
            <a:r>
              <a:rPr lang="en-GB" sz="2000" u="sng"/>
              <a:t>          </a:t>
            </a:r>
            <a:r>
              <a:rPr lang="en-GB" sz="2000" u="sng">
                <a:solidFill>
                  <a:srgbClr val="E6F2F2"/>
                </a:solidFill>
              </a:rPr>
              <a:t>.</a:t>
            </a:r>
            <a:endParaRPr sz="2000"/>
          </a:p>
        </p:txBody>
      </p:sp>
      <p:pic>
        <p:nvPicPr>
          <p:cNvPr id="1201" name="Google Shape;120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3" y="902425"/>
            <a:ext cx="2851300" cy="28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91"/>
          <p:cNvSpPr txBox="1"/>
          <p:nvPr>
            <p:ph type="body" idx="1"/>
          </p:nvPr>
        </p:nvSpPr>
        <p:spPr>
          <a:xfrm>
            <a:off x="419250" y="578561"/>
            <a:ext cx="3270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following:</a:t>
            </a:r>
            <a:endParaRPr sz="2000"/>
          </a:p>
        </p:txBody>
      </p:sp>
      <p:sp>
        <p:nvSpPr>
          <p:cNvPr id="1203" name="Google Shape;120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cxnSp>
        <p:nvCxnSpPr>
          <p:cNvPr id="1204" name="Google Shape;1204;p91"/>
          <p:cNvCxnSpPr/>
          <p:nvPr/>
        </p:nvCxnSpPr>
        <p:spPr>
          <a:xfrm>
            <a:off x="1666200" y="2495101"/>
            <a:ext cx="956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205" name="Google Shape;1205;p91"/>
          <p:cNvCxnSpPr/>
          <p:nvPr/>
        </p:nvCxnSpPr>
        <p:spPr>
          <a:xfrm rot="10800000" flipH="1">
            <a:off x="2627100" y="1531876"/>
            <a:ext cx="0" cy="960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206" name="Google Shape;1206;p91"/>
          <p:cNvSpPr txBox="1"/>
          <p:nvPr/>
        </p:nvSpPr>
        <p:spPr>
          <a:xfrm>
            <a:off x="1878760" y="2386167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91"/>
          <p:cNvSpPr txBox="1"/>
          <p:nvPr/>
        </p:nvSpPr>
        <p:spPr>
          <a:xfrm>
            <a:off x="2607610" y="1772070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8" name="Google Shape;1208;p91"/>
          <p:cNvSpPr txBox="1"/>
          <p:nvPr/>
        </p:nvSpPr>
        <p:spPr>
          <a:xfrm>
            <a:off x="1597288" y="2374839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91"/>
          <p:cNvSpPr txBox="1"/>
          <p:nvPr/>
        </p:nvSpPr>
        <p:spPr>
          <a:xfrm>
            <a:off x="2573600" y="1399014"/>
            <a:ext cx="15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1"/>
          <p:cNvSpPr txBox="1"/>
          <p:nvPr/>
        </p:nvSpPr>
        <p:spPr>
          <a:xfrm>
            <a:off x="1023950" y="2245101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(4, 2)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1"/>
          <p:cNvSpPr txBox="1"/>
          <p:nvPr/>
        </p:nvSpPr>
        <p:spPr>
          <a:xfrm>
            <a:off x="2713450" y="1379976"/>
            <a:ext cx="70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(8, 4)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91"/>
          <p:cNvSpPr txBox="1"/>
          <p:nvPr/>
        </p:nvSpPr>
        <p:spPr>
          <a:xfrm>
            <a:off x="3341750" y="323965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3" name="Google Shape;1213;p91"/>
          <p:cNvSpPr txBox="1"/>
          <p:nvPr/>
        </p:nvSpPr>
        <p:spPr>
          <a:xfrm>
            <a:off x="376300" y="75680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14" name="Google Shape;1214;p91"/>
          <p:cNvGraphicFramePr>
            <a:graphicFrameLocks noGrp="1"/>
          </p:cNvGraphicFramePr>
          <p:nvPr/>
        </p:nvGraphicFramePr>
        <p:xfrm>
          <a:off x="491925" y="3861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561400"/>
                <a:gridCol w="1561400"/>
              </a:tblGrid>
              <a:tr h="237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15" name="Google Shape;1215;p91"/>
          <p:cNvGraphicFramePr>
            <a:graphicFrameLocks noGrp="1"/>
          </p:cNvGraphicFramePr>
          <p:nvPr/>
        </p:nvGraphicFramePr>
        <p:xfrm>
          <a:off x="491925" y="3861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1561400"/>
                <a:gridCol w="1561400"/>
              </a:tblGrid>
              <a:tr h="237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16" name="Google Shape;1216;p91"/>
          <p:cNvSpPr txBox="1"/>
          <p:nvPr/>
        </p:nvSpPr>
        <p:spPr>
          <a:xfrm>
            <a:off x="4572000" y="987900"/>
            <a:ext cx="157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multiplicative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91"/>
          <p:cNvSpPr txBox="1"/>
          <p:nvPr/>
        </p:nvSpPr>
        <p:spPr>
          <a:xfrm>
            <a:off x="5715000" y="1342300"/>
            <a:ext cx="53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0.5a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91"/>
          <p:cNvSpPr txBox="1"/>
          <p:nvPr/>
        </p:nvSpPr>
        <p:spPr>
          <a:xfrm>
            <a:off x="7512325" y="1873821"/>
            <a:ext cx="1081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increases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9" name="Google Shape;1219;p91"/>
          <p:cNvSpPr txBox="1"/>
          <p:nvPr/>
        </p:nvSpPr>
        <p:spPr>
          <a:xfrm>
            <a:off x="4876800" y="2223000"/>
            <a:ext cx="40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91"/>
          <p:cNvSpPr txBox="1"/>
          <p:nvPr/>
        </p:nvSpPr>
        <p:spPr>
          <a:xfrm>
            <a:off x="4572000" y="2700000"/>
            <a:ext cx="985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gradient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91"/>
          <p:cNvSpPr txBox="1"/>
          <p:nvPr/>
        </p:nvSpPr>
        <p:spPr>
          <a:xfrm>
            <a:off x="7169885" y="2701454"/>
            <a:ext cx="40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2" name="Google Shape;1222;p91"/>
          <p:cNvSpPr txBox="1"/>
          <p:nvPr/>
        </p:nvSpPr>
        <p:spPr>
          <a:xfrm>
            <a:off x="4572000" y="3157200"/>
            <a:ext cx="1081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constant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3" name="Google Shape;1223;p91"/>
          <p:cNvSpPr txBox="1"/>
          <p:nvPr/>
        </p:nvSpPr>
        <p:spPr>
          <a:xfrm>
            <a:off x="8312885" y="3199431"/>
            <a:ext cx="40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4" name="Google Shape;1224;p91"/>
          <p:cNvSpPr txBox="1"/>
          <p:nvPr/>
        </p:nvSpPr>
        <p:spPr>
          <a:xfrm>
            <a:off x="7311374" y="3665100"/>
            <a:ext cx="116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= 0.5a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8" name="Shape 1228"/>
        <p:cNvGrpSpPr/>
        <p:nvPr/>
      </p:nvGrpSpPr>
      <p:grpSpPr>
        <a:xfrm>
          <a:off x="0" y="0"/>
          <a:ext cx="0" cy="0"/>
        </a:xfrm>
      </p:grpSpPr>
      <p:sp>
        <p:nvSpPr>
          <p:cNvPr id="1229" name="Google Shape;1229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230" name="Google Shape;1230;p9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Calculate the value of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/>
              <a:t> (constant of proportionality) from the following graphs: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a)                                                 c)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                                                d)</a:t>
            </a:r>
            <a:endParaRPr/>
          </a:p>
        </p:txBody>
      </p:sp>
      <p:pic>
        <p:nvPicPr>
          <p:cNvPr id="1231" name="Google Shape;123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25" y="1620000"/>
            <a:ext cx="1536750" cy="14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675" y="1619998"/>
            <a:ext cx="1540097" cy="14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1225" y="3240000"/>
            <a:ext cx="1372107" cy="158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3668" y="3211665"/>
            <a:ext cx="2943625" cy="1358596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2"/>
          <p:cNvSpPr txBox="1"/>
          <p:nvPr/>
        </p:nvSpPr>
        <p:spPr>
          <a:xfrm>
            <a:off x="1134818" y="1452870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6" name="Google Shape;1236;p92"/>
          <p:cNvSpPr txBox="1"/>
          <p:nvPr/>
        </p:nvSpPr>
        <p:spPr>
          <a:xfrm>
            <a:off x="2887418" y="2714578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7" name="Google Shape;1237;p92"/>
          <p:cNvSpPr txBox="1"/>
          <p:nvPr/>
        </p:nvSpPr>
        <p:spPr>
          <a:xfrm>
            <a:off x="1134818" y="3129270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92"/>
          <p:cNvSpPr txBox="1"/>
          <p:nvPr/>
        </p:nvSpPr>
        <p:spPr>
          <a:xfrm>
            <a:off x="2699594" y="4481347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9" name="Google Shape;1239;p92"/>
          <p:cNvSpPr txBox="1"/>
          <p:nvPr/>
        </p:nvSpPr>
        <p:spPr>
          <a:xfrm>
            <a:off x="5201599" y="142202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92"/>
          <p:cNvSpPr txBox="1"/>
          <p:nvPr/>
        </p:nvSpPr>
        <p:spPr>
          <a:xfrm>
            <a:off x="6920507" y="2745760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1" name="Google Shape;1241;p92"/>
          <p:cNvSpPr txBox="1"/>
          <p:nvPr/>
        </p:nvSpPr>
        <p:spPr>
          <a:xfrm>
            <a:off x="5201599" y="309842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2" name="Google Shape;1242;p92"/>
          <p:cNvSpPr txBox="1"/>
          <p:nvPr/>
        </p:nvSpPr>
        <p:spPr>
          <a:xfrm>
            <a:off x="8320446" y="4228983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3" name="Google Shape;1243;p92"/>
          <p:cNvSpPr txBox="1"/>
          <p:nvPr/>
        </p:nvSpPr>
        <p:spPr>
          <a:xfrm>
            <a:off x="3164125" y="2763000"/>
            <a:ext cx="128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200" u="sng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2"/>
          <p:cNvSpPr txBox="1"/>
          <p:nvPr/>
        </p:nvSpPr>
        <p:spPr>
          <a:xfrm>
            <a:off x="3164125" y="4439400"/>
            <a:ext cx="128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200" u="sng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2"/>
          <p:cNvSpPr txBox="1"/>
          <p:nvPr/>
        </p:nvSpPr>
        <p:spPr>
          <a:xfrm>
            <a:off x="7126525" y="2763000"/>
            <a:ext cx="128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200" u="sng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2"/>
          <p:cNvSpPr txBox="1"/>
          <p:nvPr/>
        </p:nvSpPr>
        <p:spPr>
          <a:xfrm>
            <a:off x="7202725" y="4515600"/>
            <a:ext cx="128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200" u="sng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7" name="Google Shape;1247;p92"/>
          <p:cNvCxnSpPr/>
          <p:nvPr/>
        </p:nvCxnSpPr>
        <p:spPr>
          <a:xfrm>
            <a:off x="1773431" y="2636797"/>
            <a:ext cx="2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248" name="Google Shape;1248;p92"/>
          <p:cNvCxnSpPr/>
          <p:nvPr/>
        </p:nvCxnSpPr>
        <p:spPr>
          <a:xfrm rot="10800000" flipH="1">
            <a:off x="2014625" y="2400401"/>
            <a:ext cx="0" cy="236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2" name="Shape 1252"/>
        <p:cNvGrpSpPr/>
        <p:nvPr/>
      </p:nvGrpSpPr>
      <p:grpSpPr>
        <a:xfrm>
          <a:off x="0" y="0"/>
          <a:ext cx="0" cy="0"/>
        </a:xfrm>
      </p:grpSpPr>
      <p:sp>
        <p:nvSpPr>
          <p:cNvPr id="1253" name="Google Shape;1253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254" name="Google Shape;1254;p93"/>
          <p:cNvSpPr txBox="1"/>
          <p:nvPr>
            <p:ph type="body" idx="1"/>
          </p:nvPr>
        </p:nvSpPr>
        <p:spPr>
          <a:xfrm>
            <a:off x="324000" y="683100"/>
            <a:ext cx="82377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 Match each table, equation and graph.</a:t>
            </a:r>
            <a:endParaRPr/>
          </a:p>
        </p:txBody>
      </p:sp>
      <p:graphicFrame>
        <p:nvGraphicFramePr>
          <p:cNvPr id="1255" name="Google Shape;1255;p93"/>
          <p:cNvGraphicFramePr>
            <a:graphicFrameLocks noGrp="1"/>
          </p:cNvGraphicFramePr>
          <p:nvPr/>
        </p:nvGraphicFramePr>
        <p:xfrm>
          <a:off x="745150" y="120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56" name="Google Shape;1256;p93"/>
          <p:cNvGraphicFramePr>
            <a:graphicFrameLocks noGrp="1"/>
          </p:cNvGraphicFramePr>
          <p:nvPr/>
        </p:nvGraphicFramePr>
        <p:xfrm>
          <a:off x="745150" y="214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57" name="Google Shape;1257;p93"/>
          <p:cNvGraphicFramePr>
            <a:graphicFrameLocks noGrp="1"/>
          </p:cNvGraphicFramePr>
          <p:nvPr/>
        </p:nvGraphicFramePr>
        <p:xfrm>
          <a:off x="745150" y="308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58" name="Google Shape;1258;p93"/>
          <p:cNvGraphicFramePr>
            <a:graphicFrameLocks noGrp="1"/>
          </p:cNvGraphicFramePr>
          <p:nvPr/>
        </p:nvGraphicFramePr>
        <p:xfrm>
          <a:off x="745150" y="402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59" name="Google Shape;1259;p93"/>
          <p:cNvSpPr txBox="1"/>
          <p:nvPr/>
        </p:nvSpPr>
        <p:spPr>
          <a:xfrm>
            <a:off x="7715250" y="1201275"/>
            <a:ext cx="75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93"/>
          <p:cNvSpPr txBox="1"/>
          <p:nvPr/>
        </p:nvSpPr>
        <p:spPr>
          <a:xfrm>
            <a:off x="7715250" y="4020675"/>
            <a:ext cx="75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1" name="Google Shape;1261;p93"/>
          <p:cNvSpPr txBox="1"/>
          <p:nvPr/>
        </p:nvSpPr>
        <p:spPr>
          <a:xfrm>
            <a:off x="7715250" y="2141075"/>
            <a:ext cx="10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0.5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2" name="Google Shape;1262;p93"/>
          <p:cNvSpPr txBox="1"/>
          <p:nvPr/>
        </p:nvSpPr>
        <p:spPr>
          <a:xfrm>
            <a:off x="7715250" y="3080875"/>
            <a:ext cx="10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1.5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63" name="Google Shape;1263;p93"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title="1 lines Line 1: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000" y="4020675"/>
            <a:ext cx="16830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3550" y="3131825"/>
            <a:ext cx="1315350" cy="1631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600" y="1109072"/>
            <a:ext cx="2059250" cy="136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395" y="1109087"/>
            <a:ext cx="1260266" cy="181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9600" y="3336675"/>
            <a:ext cx="2059250" cy="1427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93"/>
          <p:cNvSpPr txBox="1"/>
          <p:nvPr/>
        </p:nvSpPr>
        <p:spPr>
          <a:xfrm>
            <a:off x="449050" y="1136875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93"/>
          <p:cNvSpPr txBox="1"/>
          <p:nvPr/>
        </p:nvSpPr>
        <p:spPr>
          <a:xfrm>
            <a:off x="449050" y="2072529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93"/>
          <p:cNvSpPr txBox="1"/>
          <p:nvPr/>
        </p:nvSpPr>
        <p:spPr>
          <a:xfrm>
            <a:off x="449050" y="3013536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3"/>
          <p:cNvSpPr txBox="1"/>
          <p:nvPr/>
        </p:nvSpPr>
        <p:spPr>
          <a:xfrm>
            <a:off x="449050" y="3956275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3"/>
          <p:cNvSpPr txBox="1"/>
          <p:nvPr/>
        </p:nvSpPr>
        <p:spPr>
          <a:xfrm>
            <a:off x="3116050" y="11368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3"/>
          <p:cNvSpPr txBox="1"/>
          <p:nvPr/>
        </p:nvSpPr>
        <p:spPr>
          <a:xfrm>
            <a:off x="3116050" y="32704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3"/>
          <p:cNvSpPr txBox="1"/>
          <p:nvPr/>
        </p:nvSpPr>
        <p:spPr>
          <a:xfrm>
            <a:off x="5554450" y="11368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3"/>
          <p:cNvSpPr txBox="1"/>
          <p:nvPr/>
        </p:nvSpPr>
        <p:spPr>
          <a:xfrm>
            <a:off x="5554450" y="32704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3"/>
          <p:cNvSpPr txBox="1"/>
          <p:nvPr/>
        </p:nvSpPr>
        <p:spPr>
          <a:xfrm>
            <a:off x="7307050" y="1241414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3"/>
          <p:cNvSpPr txBox="1"/>
          <p:nvPr/>
        </p:nvSpPr>
        <p:spPr>
          <a:xfrm>
            <a:off x="7307050" y="2177068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3"/>
          <p:cNvSpPr txBox="1"/>
          <p:nvPr/>
        </p:nvSpPr>
        <p:spPr>
          <a:xfrm>
            <a:off x="7237875" y="3118075"/>
            <a:ext cx="365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iii)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3"/>
          <p:cNvSpPr txBox="1"/>
          <p:nvPr/>
        </p:nvSpPr>
        <p:spPr>
          <a:xfrm>
            <a:off x="7237750" y="4060825"/>
            <a:ext cx="365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iv)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3" name="Shape 1283"/>
        <p:cNvGrpSpPr/>
        <p:nvPr/>
      </p:nvGrpSpPr>
      <p:grpSpPr>
        <a:xfrm>
          <a:off x="0" y="0"/>
          <a:ext cx="0" cy="0"/>
        </a:xfrm>
      </p:grpSpPr>
      <p:pic>
        <p:nvPicPr>
          <p:cNvPr id="1284" name="Google Shape;128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25" y="1620000"/>
            <a:ext cx="6988507" cy="3195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286" name="Google Shape;1286;p94"/>
          <p:cNvSpPr txBox="1"/>
          <p:nvPr>
            <p:ph type="body" idx="1"/>
          </p:nvPr>
        </p:nvSpPr>
        <p:spPr>
          <a:xfrm>
            <a:off x="323250" y="649650"/>
            <a:ext cx="84975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 Calculate the value of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/>
              <a:t> (constant of proportionality) from the following graphs: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   a)                                                 c)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b)                                                 d)</a:t>
            </a:r>
            <a:endParaRPr/>
          </a:p>
        </p:txBody>
      </p:sp>
      <p:sp>
        <p:nvSpPr>
          <p:cNvPr id="1287" name="Google Shape;1287;p94"/>
          <p:cNvSpPr txBox="1"/>
          <p:nvPr/>
        </p:nvSpPr>
        <p:spPr>
          <a:xfrm>
            <a:off x="1134818" y="1452870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94"/>
          <p:cNvSpPr txBox="1"/>
          <p:nvPr/>
        </p:nvSpPr>
        <p:spPr>
          <a:xfrm>
            <a:off x="2887418" y="2714578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94"/>
          <p:cNvSpPr txBox="1"/>
          <p:nvPr/>
        </p:nvSpPr>
        <p:spPr>
          <a:xfrm>
            <a:off x="1134818" y="3129270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94"/>
          <p:cNvSpPr txBox="1"/>
          <p:nvPr/>
        </p:nvSpPr>
        <p:spPr>
          <a:xfrm>
            <a:off x="2699594" y="4481347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94"/>
          <p:cNvSpPr txBox="1"/>
          <p:nvPr/>
        </p:nvSpPr>
        <p:spPr>
          <a:xfrm>
            <a:off x="5201599" y="142202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94"/>
          <p:cNvSpPr txBox="1"/>
          <p:nvPr/>
        </p:nvSpPr>
        <p:spPr>
          <a:xfrm>
            <a:off x="6920507" y="2745760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94"/>
          <p:cNvSpPr txBox="1"/>
          <p:nvPr/>
        </p:nvSpPr>
        <p:spPr>
          <a:xfrm>
            <a:off x="5201599" y="3098421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94"/>
          <p:cNvSpPr txBox="1"/>
          <p:nvPr/>
        </p:nvSpPr>
        <p:spPr>
          <a:xfrm>
            <a:off x="8320446" y="4228983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94"/>
          <p:cNvSpPr txBox="1"/>
          <p:nvPr/>
        </p:nvSpPr>
        <p:spPr>
          <a:xfrm>
            <a:off x="3164125" y="2763000"/>
            <a:ext cx="128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94"/>
          <p:cNvSpPr txBox="1"/>
          <p:nvPr/>
        </p:nvSpPr>
        <p:spPr>
          <a:xfrm>
            <a:off x="3164125" y="4134600"/>
            <a:ext cx="14889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÷ 2.4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97" name="Google Shape;1297;p94"/>
          <p:cNvCxnSpPr/>
          <p:nvPr/>
        </p:nvCxnSpPr>
        <p:spPr>
          <a:xfrm>
            <a:off x="1773431" y="2636797"/>
            <a:ext cx="24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298" name="Google Shape;1298;p94"/>
          <p:cNvCxnSpPr/>
          <p:nvPr/>
        </p:nvCxnSpPr>
        <p:spPr>
          <a:xfrm rot="10800000" flipH="1">
            <a:off x="2014625" y="2400401"/>
            <a:ext cx="0" cy="236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299" name="Google Shape;1299;p94"/>
          <p:cNvSpPr txBox="1"/>
          <p:nvPr/>
        </p:nvSpPr>
        <p:spPr>
          <a:xfrm>
            <a:off x="1983535" y="2301292"/>
            <a:ext cx="5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0" name="Google Shape;1300;p94"/>
          <p:cNvSpPr txBox="1"/>
          <p:nvPr/>
        </p:nvSpPr>
        <p:spPr>
          <a:xfrm>
            <a:off x="1641985" y="2533970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01" name="Google Shape;1301;p94"/>
          <p:cNvCxnSpPr/>
          <p:nvPr/>
        </p:nvCxnSpPr>
        <p:spPr>
          <a:xfrm>
            <a:off x="1931025" y="4119126"/>
            <a:ext cx="664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302" name="Google Shape;1302;p94"/>
          <p:cNvCxnSpPr/>
          <p:nvPr/>
        </p:nvCxnSpPr>
        <p:spPr>
          <a:xfrm rot="10800000" flipH="1">
            <a:off x="2595525" y="3300339"/>
            <a:ext cx="0" cy="79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303" name="Google Shape;1303;p94"/>
          <p:cNvSpPr txBox="1"/>
          <p:nvPr/>
        </p:nvSpPr>
        <p:spPr>
          <a:xfrm>
            <a:off x="1907123" y="4020550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+2.4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94"/>
          <p:cNvSpPr txBox="1"/>
          <p:nvPr/>
        </p:nvSpPr>
        <p:spPr>
          <a:xfrm>
            <a:off x="2647210" y="3485195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+6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05" name="Google Shape;1305;p94"/>
          <p:cNvCxnSpPr/>
          <p:nvPr/>
        </p:nvCxnSpPr>
        <p:spPr>
          <a:xfrm>
            <a:off x="5543400" y="2932351"/>
            <a:ext cx="1002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306" name="Google Shape;1306;p94"/>
          <p:cNvCxnSpPr/>
          <p:nvPr/>
        </p:nvCxnSpPr>
        <p:spPr>
          <a:xfrm rot="10800000" flipH="1">
            <a:off x="6546000" y="2443039"/>
            <a:ext cx="0" cy="48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307" name="Google Shape;1307;p94"/>
          <p:cNvSpPr txBox="1"/>
          <p:nvPr/>
        </p:nvSpPr>
        <p:spPr>
          <a:xfrm>
            <a:off x="5864154" y="2595763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94"/>
          <p:cNvSpPr txBox="1"/>
          <p:nvPr/>
        </p:nvSpPr>
        <p:spPr>
          <a:xfrm>
            <a:off x="6490548" y="2494595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9" name="Google Shape;1309;p94"/>
          <p:cNvSpPr txBox="1"/>
          <p:nvPr/>
        </p:nvSpPr>
        <p:spPr>
          <a:xfrm>
            <a:off x="7066900" y="2256750"/>
            <a:ext cx="1754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÷ 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0.25 or </a:t>
            </a:r>
            <a:endParaRPr/>
          </a:p>
        </p:txBody>
      </p:sp>
      <p:pic>
        <p:nvPicPr>
          <p:cNvPr id="1310" name="Google Shape;1310;p94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3023" y="2635260"/>
            <a:ext cx="146400" cy="4664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1" name="Google Shape;1311;p94"/>
          <p:cNvCxnSpPr/>
          <p:nvPr/>
        </p:nvCxnSpPr>
        <p:spPr>
          <a:xfrm>
            <a:off x="7180306" y="3745211"/>
            <a:ext cx="96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312" name="Google Shape;1312;p94"/>
          <p:cNvCxnSpPr/>
          <p:nvPr/>
        </p:nvCxnSpPr>
        <p:spPr>
          <a:xfrm rot="10800000" flipH="1">
            <a:off x="8145250" y="3362425"/>
            <a:ext cx="0" cy="37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313" name="Google Shape;1313;p94"/>
          <p:cNvSpPr txBox="1"/>
          <p:nvPr/>
        </p:nvSpPr>
        <p:spPr>
          <a:xfrm>
            <a:off x="7435885" y="3629449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4" name="Google Shape;1314;p94"/>
          <p:cNvSpPr txBox="1"/>
          <p:nvPr/>
        </p:nvSpPr>
        <p:spPr>
          <a:xfrm>
            <a:off x="8068442" y="3382513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+0.6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94"/>
          <p:cNvSpPr txBox="1"/>
          <p:nvPr/>
        </p:nvSpPr>
        <p:spPr>
          <a:xfrm>
            <a:off x="6579550" y="4186800"/>
            <a:ext cx="1488900" cy="6774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0.6 ÷ 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9" name="Shape 1319"/>
        <p:cNvGrpSpPr/>
        <p:nvPr/>
      </p:nvGrpSpPr>
      <p:grpSpPr>
        <a:xfrm>
          <a:off x="0" y="0"/>
          <a:ext cx="0" cy="0"/>
        </a:xfrm>
      </p:grpSpPr>
      <p:pic>
        <p:nvPicPr>
          <p:cNvPr id="1320" name="Google Shape;132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4550" y="1116037"/>
            <a:ext cx="1315350" cy="36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322" name="Google Shape;1322;p95"/>
          <p:cNvSpPr txBox="1"/>
          <p:nvPr>
            <p:ph type="body" idx="1"/>
          </p:nvPr>
        </p:nvSpPr>
        <p:spPr>
          <a:xfrm>
            <a:off x="324000" y="619314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 Match each table, equation and graph.</a:t>
            </a:r>
            <a:endParaRPr/>
          </a:p>
        </p:txBody>
      </p:sp>
      <p:graphicFrame>
        <p:nvGraphicFramePr>
          <p:cNvPr id="1323" name="Google Shape;1323;p95"/>
          <p:cNvGraphicFramePr>
            <a:graphicFrameLocks noGrp="1"/>
          </p:cNvGraphicFramePr>
          <p:nvPr/>
        </p:nvGraphicFramePr>
        <p:xfrm>
          <a:off x="745150" y="120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324" name="Google Shape;1324;p95"/>
          <p:cNvGraphicFramePr>
            <a:graphicFrameLocks noGrp="1"/>
          </p:cNvGraphicFramePr>
          <p:nvPr/>
        </p:nvGraphicFramePr>
        <p:xfrm>
          <a:off x="745150" y="320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25" name="Google Shape;1325;p95"/>
          <p:cNvSpPr txBox="1"/>
          <p:nvPr/>
        </p:nvSpPr>
        <p:spPr>
          <a:xfrm>
            <a:off x="5505450" y="1175875"/>
            <a:ext cx="10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1.5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95"/>
          <p:cNvSpPr txBox="1"/>
          <p:nvPr/>
        </p:nvSpPr>
        <p:spPr>
          <a:xfrm>
            <a:off x="449050" y="1136875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5"/>
          <p:cNvSpPr txBox="1"/>
          <p:nvPr/>
        </p:nvSpPr>
        <p:spPr>
          <a:xfrm>
            <a:off x="449050" y="3139329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5"/>
          <p:cNvSpPr txBox="1"/>
          <p:nvPr/>
        </p:nvSpPr>
        <p:spPr>
          <a:xfrm>
            <a:off x="3268450" y="11368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5"/>
          <p:cNvSpPr txBox="1"/>
          <p:nvPr/>
        </p:nvSpPr>
        <p:spPr>
          <a:xfrm>
            <a:off x="5028075" y="1213075"/>
            <a:ext cx="365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iii)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5"/>
          <p:cNvSpPr txBox="1"/>
          <p:nvPr/>
        </p:nvSpPr>
        <p:spPr>
          <a:xfrm>
            <a:off x="5429250" y="3182475"/>
            <a:ext cx="75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95"/>
          <p:cNvSpPr txBox="1"/>
          <p:nvPr/>
        </p:nvSpPr>
        <p:spPr>
          <a:xfrm>
            <a:off x="3247196" y="32704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5"/>
          <p:cNvSpPr txBox="1"/>
          <p:nvPr/>
        </p:nvSpPr>
        <p:spPr>
          <a:xfrm>
            <a:off x="5021050" y="3222614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6" name="Shape 1336"/>
        <p:cNvGrpSpPr/>
        <p:nvPr/>
      </p:nvGrpSpPr>
      <p:grpSpPr>
        <a:xfrm>
          <a:off x="0" y="0"/>
          <a:ext cx="0" cy="0"/>
        </a:xfrm>
      </p:grpSpPr>
      <p:pic>
        <p:nvPicPr>
          <p:cNvPr id="1337" name="Google Shape;133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400" y="1200698"/>
            <a:ext cx="2059250" cy="3107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Graphs representing direct proportion</a:t>
            </a:r>
            <a:endParaRPr/>
          </a:p>
        </p:txBody>
      </p:sp>
      <p:sp>
        <p:nvSpPr>
          <p:cNvPr id="1339" name="Google Shape;1339;p96"/>
          <p:cNvSpPr txBox="1"/>
          <p:nvPr>
            <p:ph type="body" idx="1"/>
          </p:nvPr>
        </p:nvSpPr>
        <p:spPr>
          <a:xfrm>
            <a:off x="324000" y="6192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 Match each table, equation and graph.</a:t>
            </a:r>
            <a:endParaRPr/>
          </a:p>
        </p:txBody>
      </p:sp>
      <p:graphicFrame>
        <p:nvGraphicFramePr>
          <p:cNvPr id="1340" name="Google Shape;1340;p96"/>
          <p:cNvGraphicFramePr>
            <a:graphicFrameLocks noGrp="1"/>
          </p:cNvGraphicFramePr>
          <p:nvPr/>
        </p:nvGraphicFramePr>
        <p:xfrm>
          <a:off x="745150" y="117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341" name="Google Shape;1341;p96"/>
          <p:cNvGraphicFramePr>
            <a:graphicFrameLocks noGrp="1"/>
          </p:cNvGraphicFramePr>
          <p:nvPr/>
        </p:nvGraphicFramePr>
        <p:xfrm>
          <a:off x="746850" y="295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{25A1BF5D-B91B-4E9E-9063-9A3C55972624}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42" name="Google Shape;1342;p96"/>
          <p:cNvSpPr txBox="1"/>
          <p:nvPr/>
        </p:nvSpPr>
        <p:spPr>
          <a:xfrm>
            <a:off x="6724650" y="1125075"/>
            <a:ext cx="75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3" name="Google Shape;1343;p96"/>
          <p:cNvSpPr txBox="1"/>
          <p:nvPr/>
        </p:nvSpPr>
        <p:spPr>
          <a:xfrm>
            <a:off x="6648450" y="2903075"/>
            <a:ext cx="10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0.5</a:t>
            </a:r>
            <a:r>
              <a:rPr lang="en-GB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44" name="Google Shape;1344;p96"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title="1 lines Line 1: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5400" y="1125075"/>
            <a:ext cx="168300" cy="4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96"/>
          <p:cNvSpPr txBox="1"/>
          <p:nvPr/>
        </p:nvSpPr>
        <p:spPr>
          <a:xfrm>
            <a:off x="449050" y="1108536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6"/>
          <p:cNvSpPr txBox="1"/>
          <p:nvPr/>
        </p:nvSpPr>
        <p:spPr>
          <a:xfrm>
            <a:off x="450750" y="2889475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6"/>
          <p:cNvSpPr txBox="1"/>
          <p:nvPr/>
        </p:nvSpPr>
        <p:spPr>
          <a:xfrm>
            <a:off x="3420850" y="29656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6"/>
          <p:cNvSpPr txBox="1"/>
          <p:nvPr/>
        </p:nvSpPr>
        <p:spPr>
          <a:xfrm>
            <a:off x="3420850" y="1136875"/>
            <a:ext cx="20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96"/>
          <p:cNvSpPr txBox="1"/>
          <p:nvPr/>
        </p:nvSpPr>
        <p:spPr>
          <a:xfrm>
            <a:off x="6240250" y="2939068"/>
            <a:ext cx="29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96"/>
          <p:cNvSpPr txBox="1"/>
          <p:nvPr/>
        </p:nvSpPr>
        <p:spPr>
          <a:xfrm>
            <a:off x="6247150" y="1165225"/>
            <a:ext cx="365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iv)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4" name="Shape 1354"/>
        <p:cNvGrpSpPr/>
        <p:nvPr/>
      </p:nvGrpSpPr>
      <p:grpSpPr>
        <a:xfrm>
          <a:off x="0" y="0"/>
          <a:ext cx="0" cy="0"/>
        </a:xfrm>
      </p:grpSpPr>
      <p:sp>
        <p:nvSpPr>
          <p:cNvPr id="1355" name="Google Shape;1355;p97"/>
          <p:cNvSpPr txBox="1"/>
          <p:nvPr>
            <p:ph type="body" idx="1"/>
          </p:nvPr>
        </p:nvSpPr>
        <p:spPr>
          <a:xfrm>
            <a:off x="324000" y="699000"/>
            <a:ext cx="8496000" cy="41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key features of a graph showing direct proportion are: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it has a constant positive gradient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origin is the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-intercept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This means that they can all be written as an equation in the form:	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=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kx</a:t>
            </a:r>
            <a:r>
              <a:rPr lang="en-GB"/>
              <a:t> 		(where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/>
              <a:t> is the constant of proportionality)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constant of proportionality is: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multiplicative relationship between the two variables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rate of change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gradient </a:t>
            </a:r>
            <a:endParaRPr/>
          </a:p>
        </p:txBody>
      </p:sp>
      <p:sp>
        <p:nvSpPr>
          <p:cNvPr id="1356" name="Google Shape;1356;p9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0" name="Shape 1360"/>
        <p:cNvGrpSpPr/>
        <p:nvPr/>
      </p:nvGrpSpPr>
      <p:grpSpPr>
        <a:xfrm>
          <a:off x="0" y="0"/>
          <a:ext cx="0" cy="0"/>
        </a:xfrm>
      </p:grpSpPr>
      <p:sp>
        <p:nvSpPr>
          <p:cNvPr id="1361" name="Google Shape;1361;p9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2" name="Google Shape;1362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355</Paragraphs>
  <Slides>36</Slides>
  <Notes>36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baseType="lpstr" size="45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Graphing direct proportion</vt:lpstr>
      <vt:lpstr>PowerPoint Presentation</vt:lpstr>
      <vt:lpstr>PowerPoint Presentation</vt:lpstr>
      <vt:lpstr>PowerPoint Presentation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Features of graphs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Graphs representing direct proportion</vt:lpstr>
      <vt:lpstr>Graphing direct proportion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2024-03-05T14:13:46.871</cp:lastPrinted>
  <dcterms:created xsi:type="dcterms:W3CDTF">2024-03-05T14:13:46Z</dcterms:created>
  <dcterms:modified xsi:type="dcterms:W3CDTF">2024-03-05T14:11:33Z</dcterms:modified>
</cp:coreProperties>
</file>