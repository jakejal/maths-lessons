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5FE1F7-627A-4A7D-9F48-A8494F9055C4}">
  <a:tblStyle styleId="{5E5FE1F7-627A-4A7D-9F48-A8494F9055C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4F3D43F-87C3-4411-8EAB-77285D59BE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ba80564e8f_0_4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ba80564e8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a80564e8f_0_9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a80564e8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Decrease by a percentage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657400"/>
            <a:ext cx="66240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Pair up the equivalent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80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Decreasing an amount by a percentage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729867" y="2049203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Decrease 50 by 30%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729867" y="2543077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97%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729867" y="3036952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Decrease 50 by 20%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729867" y="3530827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145%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011586" y="2049203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80%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026530" y="3530826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Decrease 50 by 3%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011586" y="3036952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70%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011586" y="2543078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50 by 45%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>
            <a:stCxn id="175" idx="3"/>
            <a:endCxn id="181" idx="1"/>
          </p:cNvCxnSpPr>
          <p:nvPr/>
        </p:nvCxnSpPr>
        <p:spPr>
          <a:xfrm>
            <a:off x="3533467" y="2277653"/>
            <a:ext cx="478200" cy="98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0"/>
          <p:cNvCxnSpPr>
            <a:stCxn id="176" idx="3"/>
            <a:endCxn id="180" idx="1"/>
          </p:cNvCxnSpPr>
          <p:nvPr/>
        </p:nvCxnSpPr>
        <p:spPr>
          <a:xfrm>
            <a:off x="3533467" y="2771527"/>
            <a:ext cx="493200" cy="98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>
            <a:stCxn id="178" idx="3"/>
            <a:endCxn id="182" idx="1"/>
          </p:cNvCxnSpPr>
          <p:nvPr/>
        </p:nvCxnSpPr>
        <p:spPr>
          <a:xfrm flipH="1" rot="10800000">
            <a:off x="3533467" y="2771677"/>
            <a:ext cx="478200" cy="98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>
            <a:endCxn id="179" idx="1"/>
          </p:cNvCxnSpPr>
          <p:nvPr/>
        </p:nvCxnSpPr>
        <p:spPr>
          <a:xfrm flipH="1" rot="10800000">
            <a:off x="3526786" y="2277653"/>
            <a:ext cx="484800" cy="1011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468000" y="443967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bar model and missing information to show: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400 decreased by 30% is the same as 70% of 400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88 decreased by 20% is the same as 80% of 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64 decreased by 35% is the same as 65% of 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41.6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2356453" y="5331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{5E5FE1F7-627A-4A7D-9F48-A8494F9055C4}</a:tableStyleId>
              </a:tblPr>
              <a:tblGrid>
                <a:gridCol w="471150"/>
                <a:gridCol w="471150"/>
                <a:gridCol w="471150"/>
                <a:gridCol w="471525"/>
                <a:gridCol w="471150"/>
                <a:gridCol w="471150"/>
                <a:gridCol w="471150"/>
                <a:gridCol w="471150"/>
                <a:gridCol w="471150"/>
                <a:gridCol w="471150"/>
              </a:tblGrid>
              <a:tr h="4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solidFill>
                          <a:srgbClr val="808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solidFill>
                          <a:srgbClr val="808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5884401" y="4807768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30%</a:t>
            </a:r>
            <a:endParaRPr sz="1200"/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2280253" y="65017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{5E5FE1F7-627A-4A7D-9F48-A8494F9055C4}</a:tableStyleId>
              </a:tblPr>
              <a:tblGrid>
                <a:gridCol w="471150"/>
                <a:gridCol w="471150"/>
                <a:gridCol w="471150"/>
                <a:gridCol w="471525"/>
                <a:gridCol w="471150"/>
                <a:gridCol w="471150"/>
                <a:gridCol w="471150"/>
                <a:gridCol w="471150"/>
                <a:gridCol w="471150"/>
                <a:gridCol w="471150"/>
              </a:tblGrid>
              <a:tr h="4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solidFill>
                          <a:srgbClr val="808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0"/>
          <p:cNvSpPr txBox="1"/>
          <p:nvPr/>
        </p:nvSpPr>
        <p:spPr>
          <a:xfrm>
            <a:off x="5973728" y="6004981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20%</a:t>
            </a:r>
            <a:endParaRPr sz="1200"/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2003947" y="7663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{5E5FE1F7-627A-4A7D-9F48-A8494F9055C4}</a:tableStyleId>
              </a:tblPr>
              <a:tblGrid>
                <a:gridCol w="471150"/>
                <a:gridCol w="471150"/>
                <a:gridCol w="471150"/>
                <a:gridCol w="471525"/>
                <a:gridCol w="471150"/>
                <a:gridCol w="471150"/>
                <a:gridCol w="382850"/>
                <a:gridCol w="382850"/>
                <a:gridCol w="471150"/>
                <a:gridCol w="471150"/>
                <a:gridCol w="471150"/>
              </a:tblGrid>
              <a:tr h="4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5640230" y="7202171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35%</a:t>
            </a:r>
            <a:endParaRPr sz="1200"/>
          </a:p>
        </p:txBody>
      </p:sp>
      <p:sp>
        <p:nvSpPr>
          <p:cNvPr id="194" name="Google Shape;194;p20"/>
          <p:cNvSpPr/>
          <p:nvPr/>
        </p:nvSpPr>
        <p:spPr>
          <a:xfrm rot="5400000">
            <a:off x="6287700" y="4537452"/>
            <a:ext cx="161700" cy="1418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rot="5400000">
            <a:off x="6476175" y="5935700"/>
            <a:ext cx="99600" cy="913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rot="5400000">
            <a:off x="6064125" y="6658175"/>
            <a:ext cx="88200" cy="1782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1907631" y="7723187"/>
            <a:ext cx="5281552" cy="720696"/>
            <a:chOff x="3211431" y="4042812"/>
            <a:chExt cx="5281552" cy="720696"/>
          </a:xfrm>
        </p:grpSpPr>
        <p:grpSp>
          <p:nvGrpSpPr>
            <p:cNvPr id="198" name="Google Shape;198;p20"/>
            <p:cNvGrpSpPr/>
            <p:nvPr/>
          </p:nvGrpSpPr>
          <p:grpSpPr>
            <a:xfrm>
              <a:off x="6764204" y="4061212"/>
              <a:ext cx="1728779" cy="287504"/>
              <a:chOff x="6764204" y="4061212"/>
              <a:chExt cx="1728779" cy="287504"/>
            </a:xfrm>
          </p:grpSpPr>
          <p:sp>
            <p:nvSpPr>
              <p:cNvPr id="199" name="Google Shape;199;p20"/>
              <p:cNvSpPr txBox="1"/>
              <p:nvPr/>
            </p:nvSpPr>
            <p:spPr>
              <a:xfrm>
                <a:off x="6764204" y="40612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7290314" y="4062538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01" name="Google Shape;201;p20"/>
              <p:cNvSpPr txBox="1"/>
              <p:nvPr/>
            </p:nvSpPr>
            <p:spPr>
              <a:xfrm>
                <a:off x="7720183" y="4071816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</p:grpSp>
        <p:grpSp>
          <p:nvGrpSpPr>
            <p:cNvPr id="202" name="Google Shape;202;p20"/>
            <p:cNvGrpSpPr/>
            <p:nvPr/>
          </p:nvGrpSpPr>
          <p:grpSpPr>
            <a:xfrm>
              <a:off x="3211431" y="4042812"/>
              <a:ext cx="4183606" cy="720696"/>
              <a:chOff x="3211431" y="4042812"/>
              <a:chExt cx="4183606" cy="720696"/>
            </a:xfrm>
          </p:grpSpPr>
          <p:sp>
            <p:nvSpPr>
              <p:cNvPr id="203" name="Google Shape;203;p20"/>
              <p:cNvSpPr txBox="1"/>
              <p:nvPr/>
            </p:nvSpPr>
            <p:spPr>
              <a:xfrm>
                <a:off x="6622237" y="4486608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3.2</a:t>
                </a:r>
                <a:endParaRPr sz="1200"/>
              </a:p>
            </p:txBody>
          </p:sp>
          <p:cxnSp>
            <p:nvCxnSpPr>
              <p:cNvPr id="204" name="Google Shape;204;p20"/>
              <p:cNvCxnSpPr/>
              <p:nvPr/>
            </p:nvCxnSpPr>
            <p:spPr>
              <a:xfrm rot="10800000">
                <a:off x="6814112" y="4284808"/>
                <a:ext cx="135900" cy="255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05" name="Google Shape;205;p20"/>
              <p:cNvSpPr txBox="1"/>
              <p:nvPr/>
            </p:nvSpPr>
            <p:spPr>
              <a:xfrm>
                <a:off x="3211431" y="40428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06" name="Google Shape;206;p20"/>
              <p:cNvSpPr txBox="1"/>
              <p:nvPr/>
            </p:nvSpPr>
            <p:spPr>
              <a:xfrm>
                <a:off x="3576071" y="40428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07" name="Google Shape;207;p20"/>
              <p:cNvSpPr txBox="1"/>
              <p:nvPr/>
            </p:nvSpPr>
            <p:spPr>
              <a:xfrm>
                <a:off x="4093111" y="40428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4533951" y="40428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09" name="Google Shape;209;p20"/>
              <p:cNvSpPr txBox="1"/>
              <p:nvPr/>
            </p:nvSpPr>
            <p:spPr>
              <a:xfrm>
                <a:off x="5050991" y="40428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  <p:sp>
            <p:nvSpPr>
              <p:cNvPr id="210" name="Google Shape;210;p20"/>
              <p:cNvSpPr txBox="1"/>
              <p:nvPr/>
            </p:nvSpPr>
            <p:spPr>
              <a:xfrm>
                <a:off x="5491831" y="4042812"/>
                <a:ext cx="7728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200" u="none" cap="none" strike="noStrike">
                    <a:solidFill>
                      <a:srgbClr val="808080"/>
                    </a:solidFill>
                    <a:latin typeface="Kalam"/>
                    <a:ea typeface="Kalam"/>
                    <a:cs typeface="Kalam"/>
                    <a:sym typeface="Kalam"/>
                  </a:rPr>
                  <a:t>6.4</a:t>
                </a:r>
                <a:endParaRPr sz="120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Decrease by a percentage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56300" y="720000"/>
            <a:ext cx="663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Draw a bar model to work out and represent £124 decreased by 40%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56300" y="3400775"/>
            <a:ext cx="853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3b) Draw a bar model to work out and represent £72 decreased by 35%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 rot="-5400000">
            <a:off x="3288700" y="-775600"/>
            <a:ext cx="105600" cy="568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" name="Google Shape;219;p21"/>
          <p:cNvGraphicFramePr/>
          <p:nvPr/>
        </p:nvGraphicFramePr>
        <p:xfrm>
          <a:off x="3604956" y="1461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{44F3D43F-87C3-4411-8EAB-77285D59BE11}</a:tableStyleId>
              </a:tblPr>
              <a:tblGrid>
                <a:gridCol w="641850"/>
              </a:tblGrid>
              <a:tr h="51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80808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12.4</a:t>
                      </a:r>
                      <a:endParaRPr sz="1200">
                        <a:solidFill>
                          <a:srgbClr val="80808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21"/>
          <p:cNvSpPr/>
          <p:nvPr/>
        </p:nvSpPr>
        <p:spPr>
          <a:xfrm>
            <a:off x="500200" y="1460538"/>
            <a:ext cx="3104700" cy="518100"/>
          </a:xfrm>
          <a:prstGeom prst="rect">
            <a:avLst/>
          </a:prstGeom>
          <a:solidFill>
            <a:srgbClr val="C1ACEC">
              <a:alpha val="4937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313000" y="2164213"/>
            <a:ext cx="19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100% = £124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 rot="5400000">
            <a:off x="4861250" y="-36925"/>
            <a:ext cx="83100" cy="2595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760550" y="876912"/>
            <a:ext cx="8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40%</a:t>
            </a:r>
            <a:endParaRPr sz="1200"/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4255127" y="1461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{44F3D43F-87C3-4411-8EAB-77285D59BE11}</a:tableStyleId>
              </a:tblPr>
              <a:tblGrid>
                <a:gridCol w="641850"/>
              </a:tblGrid>
              <a:tr h="51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80808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12.4</a:t>
                      </a:r>
                      <a:endParaRPr sz="1200">
                        <a:solidFill>
                          <a:srgbClr val="80808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21"/>
          <p:cNvGraphicFramePr/>
          <p:nvPr/>
        </p:nvGraphicFramePr>
        <p:xfrm>
          <a:off x="4900356" y="1461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{44F3D43F-87C3-4411-8EAB-77285D59BE11}</a:tableStyleId>
              </a:tblPr>
              <a:tblGrid>
                <a:gridCol w="641850"/>
              </a:tblGrid>
              <a:tr h="51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80808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12.4</a:t>
                      </a:r>
                      <a:endParaRPr sz="1200">
                        <a:solidFill>
                          <a:srgbClr val="80808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6" name="Google Shape;226;p21"/>
          <p:cNvGraphicFramePr/>
          <p:nvPr/>
        </p:nvGraphicFramePr>
        <p:xfrm>
          <a:off x="5550527" y="1461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{44F3D43F-87C3-4411-8EAB-77285D59BE11}</a:tableStyleId>
              </a:tblPr>
              <a:tblGrid>
                <a:gridCol w="641850"/>
              </a:tblGrid>
              <a:tr h="51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80808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12.4</a:t>
                      </a:r>
                      <a:endParaRPr sz="1200">
                        <a:solidFill>
                          <a:srgbClr val="80808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21"/>
          <p:cNvSpPr txBox="1"/>
          <p:nvPr/>
        </p:nvSpPr>
        <p:spPr>
          <a:xfrm>
            <a:off x="456300" y="2414175"/>
            <a:ext cx="48537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Decreasing £124 by 40%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124 − 12.4 ×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74.4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£74.40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28" name="Google Shape;228;p21"/>
          <p:cNvGraphicFramePr/>
          <p:nvPr/>
        </p:nvGraphicFramePr>
        <p:xfrm>
          <a:off x="482185" y="4114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{5E5FE1F7-627A-4A7D-9F48-A8494F9055C4}</a:tableStyleId>
              </a:tblPr>
              <a:tblGrid>
                <a:gridCol w="528800"/>
                <a:gridCol w="528800"/>
                <a:gridCol w="528800"/>
                <a:gridCol w="529225"/>
                <a:gridCol w="528800"/>
                <a:gridCol w="528800"/>
                <a:gridCol w="264400"/>
                <a:gridCol w="264400"/>
                <a:gridCol w="528800"/>
                <a:gridCol w="528800"/>
                <a:gridCol w="528800"/>
              </a:tblGrid>
              <a:tr h="409550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21"/>
          <p:cNvSpPr txBox="1"/>
          <p:nvPr/>
        </p:nvSpPr>
        <p:spPr>
          <a:xfrm>
            <a:off x="4347068" y="3652296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35%</a:t>
            </a:r>
            <a:endParaRPr sz="1200"/>
          </a:p>
        </p:txBody>
      </p:sp>
      <p:sp>
        <p:nvSpPr>
          <p:cNvPr id="230" name="Google Shape;230;p21"/>
          <p:cNvSpPr txBox="1"/>
          <p:nvPr/>
        </p:nvSpPr>
        <p:spPr>
          <a:xfrm>
            <a:off x="4011087" y="4140525"/>
            <a:ext cx="7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808080"/>
                </a:solidFill>
                <a:latin typeface="Kalam"/>
                <a:ea typeface="Kalam"/>
                <a:cs typeface="Kalam"/>
                <a:sym typeface="Kalam"/>
              </a:rPr>
              <a:t>7.2</a:t>
            </a:r>
            <a:endParaRPr sz="1200"/>
          </a:p>
        </p:txBody>
      </p:sp>
      <p:sp>
        <p:nvSpPr>
          <p:cNvPr id="231" name="Google Shape;231;p21"/>
          <p:cNvSpPr txBox="1"/>
          <p:nvPr/>
        </p:nvSpPr>
        <p:spPr>
          <a:xfrm>
            <a:off x="4537197" y="4141851"/>
            <a:ext cx="7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808080"/>
                </a:solidFill>
                <a:latin typeface="Kalam"/>
                <a:ea typeface="Kalam"/>
                <a:cs typeface="Kalam"/>
                <a:sym typeface="Kalam"/>
              </a:rPr>
              <a:t>7.2</a:t>
            </a:r>
            <a:endParaRPr sz="1200"/>
          </a:p>
        </p:txBody>
      </p:sp>
      <p:sp>
        <p:nvSpPr>
          <p:cNvPr id="232" name="Google Shape;232;p21"/>
          <p:cNvSpPr txBox="1"/>
          <p:nvPr/>
        </p:nvSpPr>
        <p:spPr>
          <a:xfrm>
            <a:off x="5087164" y="4151129"/>
            <a:ext cx="7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808080"/>
                </a:solidFill>
                <a:latin typeface="Kalam"/>
                <a:ea typeface="Kalam"/>
                <a:cs typeface="Kalam"/>
                <a:sym typeface="Kalam"/>
              </a:rPr>
              <a:t>7.2</a:t>
            </a:r>
            <a:endParaRPr sz="1200"/>
          </a:p>
        </p:txBody>
      </p:sp>
      <p:sp>
        <p:nvSpPr>
          <p:cNvPr id="233" name="Google Shape;233;p21"/>
          <p:cNvSpPr txBox="1"/>
          <p:nvPr/>
        </p:nvSpPr>
        <p:spPr>
          <a:xfrm>
            <a:off x="3796675" y="4617108"/>
            <a:ext cx="7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/>
          </a:p>
        </p:txBody>
      </p:sp>
      <p:cxnSp>
        <p:nvCxnSpPr>
          <p:cNvPr id="234" name="Google Shape;234;p21"/>
          <p:cNvCxnSpPr/>
          <p:nvPr/>
        </p:nvCxnSpPr>
        <p:spPr>
          <a:xfrm rot="10800000">
            <a:off x="3988550" y="4415308"/>
            <a:ext cx="135900" cy="2559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21"/>
          <p:cNvSpPr/>
          <p:nvPr/>
        </p:nvSpPr>
        <p:spPr>
          <a:xfrm rot="5400000">
            <a:off x="4801363" y="3074100"/>
            <a:ext cx="88200" cy="185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751925" y="1505175"/>
            <a:ext cx="99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£74.40</a:t>
            </a:r>
            <a:endParaRPr sz="1200"/>
          </a:p>
        </p:txBody>
      </p:sp>
      <p:sp>
        <p:nvSpPr>
          <p:cNvPr id="237" name="Google Shape;237;p21"/>
          <p:cNvSpPr/>
          <p:nvPr/>
        </p:nvSpPr>
        <p:spPr>
          <a:xfrm>
            <a:off x="471100" y="4114500"/>
            <a:ext cx="3448800" cy="457200"/>
          </a:xfrm>
          <a:prstGeom prst="rect">
            <a:avLst/>
          </a:prstGeom>
          <a:solidFill>
            <a:srgbClr val="C1ACEC">
              <a:alpha val="4937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4749715"/>
            <a:ext cx="26730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Decreasing £72 by 35%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72 − 7.2 × 3 − 3.6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46.80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£46.80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1599525" y="4109750"/>
            <a:ext cx="99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£46.80</a:t>
            </a:r>
            <a:endParaRPr sz="1200"/>
          </a:p>
        </p:txBody>
      </p:sp>
      <p:cxnSp>
        <p:nvCxnSpPr>
          <p:cNvPr id="240" name="Google Shape;240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1"/>
          <p:cNvSpPr txBox="1"/>
          <p:nvPr/>
        </p:nvSpPr>
        <p:spPr>
          <a:xfrm>
            <a:off x="468000" y="6358800"/>
            <a:ext cx="6610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a multiplier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7998" y="6640200"/>
            <a:ext cx="66105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statements with the calculation.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68001" y="6973660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84% of 400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68001" y="7457257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600 by 14%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75341" y="7949767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86% of 400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75341" y="8439655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14 by 16%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75342" y="8961778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16 by 61%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236921" y="6974708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39% of 16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236921" y="7458305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86% of 600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244261" y="7950815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400 by 14%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244261" y="8440703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of 14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3244262" y="8962827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400 by 16%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1"/>
          <p:cNvCxnSpPr>
            <a:stCxn id="247" idx="3"/>
            <a:endCxn id="248" idx="1"/>
          </p:cNvCxnSpPr>
          <p:nvPr/>
        </p:nvCxnSpPr>
        <p:spPr>
          <a:xfrm flipH="1" rot="10800000">
            <a:off x="2790442" y="7178278"/>
            <a:ext cx="446400" cy="198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21"/>
          <p:cNvCxnSpPr>
            <a:stCxn id="243" idx="3"/>
            <a:endCxn id="252" idx="1"/>
          </p:cNvCxnSpPr>
          <p:nvPr/>
        </p:nvCxnSpPr>
        <p:spPr>
          <a:xfrm>
            <a:off x="2783101" y="7177360"/>
            <a:ext cx="461100" cy="1989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1"/>
          <p:cNvCxnSpPr>
            <a:stCxn id="248" idx="3"/>
            <a:endCxn id="256" idx="1"/>
          </p:cNvCxnSpPr>
          <p:nvPr/>
        </p:nvCxnSpPr>
        <p:spPr>
          <a:xfrm>
            <a:off x="5442821" y="7178408"/>
            <a:ext cx="3933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1"/>
          <p:cNvCxnSpPr>
            <a:stCxn id="245" idx="3"/>
          </p:cNvCxnSpPr>
          <p:nvPr/>
        </p:nvCxnSpPr>
        <p:spPr>
          <a:xfrm flipH="1" rot="10800000">
            <a:off x="2790441" y="8149267"/>
            <a:ext cx="453900" cy="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1"/>
          <p:cNvCxnSpPr/>
          <p:nvPr/>
        </p:nvCxnSpPr>
        <p:spPr>
          <a:xfrm flipH="1" rot="10800000">
            <a:off x="2790384" y="8640715"/>
            <a:ext cx="453900" cy="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1"/>
          <p:cNvSpPr/>
          <p:nvPr/>
        </p:nvSpPr>
        <p:spPr>
          <a:xfrm>
            <a:off x="5835999" y="6963177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× 0.84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835999" y="7446774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× 0.39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843338" y="7939284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 × 0.86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843338" y="8429172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× 0.86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843340" y="8951296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× 0.8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>
            <a:off x="5450170" y="7671006"/>
            <a:ext cx="3933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5451220" y="8137564"/>
            <a:ext cx="3933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1"/>
          <p:cNvCxnSpPr/>
          <p:nvPr/>
        </p:nvCxnSpPr>
        <p:spPr>
          <a:xfrm>
            <a:off x="5464850" y="8622995"/>
            <a:ext cx="3933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1"/>
          <p:cNvCxnSpPr>
            <a:stCxn id="252" idx="3"/>
            <a:endCxn id="259" idx="1"/>
          </p:cNvCxnSpPr>
          <p:nvPr/>
        </p:nvCxnSpPr>
        <p:spPr>
          <a:xfrm flipH="1" rot="10800000">
            <a:off x="5450162" y="7167027"/>
            <a:ext cx="385800" cy="199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21"/>
          <p:cNvCxnSpPr/>
          <p:nvPr/>
        </p:nvCxnSpPr>
        <p:spPr>
          <a:xfrm flipH="1" rot="10800000">
            <a:off x="2778849" y="7679303"/>
            <a:ext cx="458100" cy="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1"/>
          <p:cNvCxnSpPr/>
          <p:nvPr/>
        </p:nvCxnSpPr>
        <p:spPr>
          <a:xfrm>
            <a:off x="474757" y="62381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Decrease by a percentage</a:t>
            </a:r>
            <a:endParaRPr/>
          </a:p>
        </p:txBody>
      </p:sp>
      <p:cxnSp>
        <p:nvCxnSpPr>
          <p:cNvPr id="275" name="Google Shape;275;p22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2"/>
          <p:cNvSpPr txBox="1"/>
          <p:nvPr/>
        </p:nvSpPr>
        <p:spPr>
          <a:xfrm>
            <a:off x="468000" y="811050"/>
            <a:ext cx="66240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amount of money when £94 has been decreased by 47%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amount of money when £162 has been decreased by 28%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2453850" y="1076216"/>
            <a:ext cx="33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94 × 0.53 = 49.82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2324529" y="2501566"/>
            <a:ext cx="33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162 × 0.72 = 116.64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468000" y="3360296"/>
            <a:ext cx="6523800" cy="23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T-shirt was reduced by 24% in a sale.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is the T-shirt now?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/>
          <p:nvPr/>
        </p:nvSpPr>
        <p:spPr>
          <a:xfrm rot="-3941691">
            <a:off x="6180994" y="3460149"/>
            <a:ext cx="289880" cy="1130546"/>
          </a:xfrm>
          <a:prstGeom prst="flowChartOffpageConnector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 rot="1367369">
            <a:off x="5724730" y="3879741"/>
            <a:ext cx="1208221" cy="276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T-shirt £25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2420784" y="3862770"/>
            <a:ext cx="33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£25 × 0.76 = £19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5033850" y="3412500"/>
            <a:ext cx="45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👕</a:t>
            </a:r>
            <a:endParaRPr b="0" i="0" sz="4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68000" y="59611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Tick the calculations that correctly represent each statement.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68000" y="55968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Mixed percentage change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6" name="Google Shape;286;p22"/>
          <p:cNvGraphicFramePr/>
          <p:nvPr/>
        </p:nvGraphicFramePr>
        <p:xfrm>
          <a:off x="477477" y="626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{44F3D43F-87C3-4411-8EAB-77285D59BE11}</a:tableStyleId>
              </a:tblPr>
              <a:tblGrid>
                <a:gridCol w="2900475"/>
                <a:gridCol w="2062475"/>
                <a:gridCol w="1661050"/>
              </a:tblGrid>
              <a:tr h="38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 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 £20 by 35%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Decrease £20 by 35%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 £35 by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Decrease £35 by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 £45 by 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Decrease £45 by 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7" name="Google Shape;2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352" y="6701823"/>
            <a:ext cx="307803" cy="32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352" y="7780149"/>
            <a:ext cx="307803" cy="32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352" y="8510792"/>
            <a:ext cx="307803" cy="32575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91" name="Google Shape;291;p22"/>
          <p:cNvCxnSpPr/>
          <p:nvPr/>
        </p:nvCxnSpPr>
        <p:spPr>
          <a:xfrm>
            <a:off x="474757" y="5399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7" name="Google Shape;297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Decrease by a percentage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468000" y="760372"/>
            <a:ext cx="60921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Aisha has £20 to buy a present for her dad. There is a sale on at the shop. Below are some items with their original prices and the discounts to be applied. Which of the items can she afford?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3"/>
          <p:cNvSpPr/>
          <p:nvPr/>
        </p:nvSpPr>
        <p:spPr>
          <a:xfrm rot="6748068">
            <a:off x="1377622" y="1611545"/>
            <a:ext cx="454741" cy="1037563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2" name="Google Shape;302;p23"/>
          <p:cNvSpPr/>
          <p:nvPr/>
        </p:nvSpPr>
        <p:spPr>
          <a:xfrm rot="6748068">
            <a:off x="2601867" y="1579859"/>
            <a:ext cx="454741" cy="1037563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3" name="Google Shape;303;p23"/>
          <p:cNvSpPr txBox="1"/>
          <p:nvPr/>
        </p:nvSpPr>
        <p:spPr>
          <a:xfrm>
            <a:off x="546438" y="1818122"/>
            <a:ext cx="90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🩳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576431" y="14896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Shorts £30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2037945" y="1707920"/>
            <a:ext cx="5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👕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2101419" y="14896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T-shirt £25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481898" y="3457610"/>
            <a:ext cx="62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those she can’t afford, what discounts would she need so that she can afford any item in the shop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/>
          </a:p>
        </p:txBody>
      </p:sp>
      <p:sp>
        <p:nvSpPr>
          <p:cNvPr id="308" name="Google Shape;308;p23"/>
          <p:cNvSpPr txBox="1"/>
          <p:nvPr/>
        </p:nvSpPr>
        <p:spPr>
          <a:xfrm>
            <a:off x="492620" y="2711132"/>
            <a:ext cx="335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Aisha</a:t>
            </a: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can afford the T-shirt, scarf or the hat.</a:t>
            </a:r>
            <a:endParaRPr sz="1200"/>
          </a:p>
        </p:txBody>
      </p:sp>
      <p:sp>
        <p:nvSpPr>
          <p:cNvPr id="309" name="Google Shape;309;p23"/>
          <p:cNvSpPr txBox="1"/>
          <p:nvPr/>
        </p:nvSpPr>
        <p:spPr>
          <a:xfrm>
            <a:off x="521923" y="3927051"/>
            <a:ext cx="65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Aisha</a:t>
            </a: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would need these discounts: Shorts: a minimum of a 33.33% (2 d.p.) discount.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Jacket: a minimum of 60% discount. </a:t>
            </a:r>
            <a:endParaRPr sz="1200"/>
          </a:p>
        </p:txBody>
      </p:sp>
      <p:sp>
        <p:nvSpPr>
          <p:cNvPr id="310" name="Google Shape;310;p23"/>
          <p:cNvSpPr txBox="1"/>
          <p:nvPr/>
        </p:nvSpPr>
        <p:spPr>
          <a:xfrm rot="1348062">
            <a:off x="1285843" y="1942594"/>
            <a:ext cx="830050" cy="454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 rot="1348062">
            <a:off x="2501212" y="1919863"/>
            <a:ext cx="830050" cy="454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3"/>
          <p:cNvSpPr/>
          <p:nvPr/>
        </p:nvSpPr>
        <p:spPr>
          <a:xfrm rot="8100004">
            <a:off x="5153711" y="1900424"/>
            <a:ext cx="454745" cy="838809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23"/>
          <p:cNvSpPr txBox="1"/>
          <p:nvPr/>
        </p:nvSpPr>
        <p:spPr>
          <a:xfrm>
            <a:off x="4451261" y="1613648"/>
            <a:ext cx="97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GB" sz="3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👒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3332895" y="14896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Jacket £50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4690333" y="14896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Hat £22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5878090" y="14896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Scarf £22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3"/>
          <p:cNvSpPr/>
          <p:nvPr/>
        </p:nvSpPr>
        <p:spPr>
          <a:xfrm rot="8100004">
            <a:off x="6192609" y="2070521"/>
            <a:ext cx="454743" cy="704291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8" name="Google Shape;318;p23"/>
          <p:cNvSpPr txBox="1"/>
          <p:nvPr/>
        </p:nvSpPr>
        <p:spPr>
          <a:xfrm rot="2699951">
            <a:off x="5868940" y="2211743"/>
            <a:ext cx="1154806" cy="454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 rot="2699951">
            <a:off x="4833149" y="2112262"/>
            <a:ext cx="1154806" cy="454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3"/>
          <p:cNvSpPr/>
          <p:nvPr/>
        </p:nvSpPr>
        <p:spPr>
          <a:xfrm rot="8100004">
            <a:off x="3965954" y="1843865"/>
            <a:ext cx="454745" cy="838809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23"/>
          <p:cNvSpPr txBox="1"/>
          <p:nvPr/>
        </p:nvSpPr>
        <p:spPr>
          <a:xfrm rot="2699951">
            <a:off x="3645392" y="2055702"/>
            <a:ext cx="1154806" cy="454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3003176" y="1717916"/>
            <a:ext cx="149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GB" sz="3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🧥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 rot="5400000">
            <a:off x="5626520" y="1702092"/>
            <a:ext cx="97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GB" sz="3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🧣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468016" y="5138075"/>
            <a:ext cx="662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says,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“If you increase an amount by 13% and then decrease it by 13% you get the same value you started with.”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whether Laura is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468000" y="6082925"/>
            <a:ext cx="662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is not correct. It can be explained in a few different ways: Increasing an amount by 13% then gives you a new, different amount. This new, different amount is then regarded as 100%, thus finding 13% of this new, different amount is not the same as 13% of the original amount. 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Using multipliers, an amount increased by 13% then decreased by 13% is the same as × 1.13 × 0.87. Using the associative law, this is the same as × 0.9831 This means the final answer is 98.31% of the original amount. </a:t>
            </a:r>
            <a:endParaRPr b="0"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