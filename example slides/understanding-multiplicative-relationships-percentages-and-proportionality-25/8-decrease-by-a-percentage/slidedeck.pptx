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1F5079-2932-4BF5-A27F-156CD3D16ADE}">
  <a:tblStyle styleId="{681F5079-2932-4BF5-A27F-156CD3D16AD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0C192D1-A957-4650-8E3B-4254EDDCCE8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b25b80ca1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b25b80ca1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b25b80ca1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b25b80ca1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b25b80ca15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b25b80ca1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b5f12a5ff7_2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2b5f12a5ff7_2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b5f12a5ff7_2_1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b5f12a5ff7_2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b5f12a5ff7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b5f12a5ff7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b5f12a5ff7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2b5f12a5ff7_1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b5f12a5ff7_2_1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b5f12a5ff7_2_1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b67c65b23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b67c65b23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2b5f12a5ff7_1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2b5f12a5ff7_1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b6804f6bb9_0_3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b6804f6bb9_0_3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2b6804f6bb9_0_3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2b6804f6bb9_0_3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b6804f6bb9_0_3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2b6804f6bb9_0_3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b6804f6bb9_0_3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b6804f6bb9_0_3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b6804f6bb9_0_3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b6804f6bb9_0_3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b6804f6bb9_0_3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2b6804f6bb9_0_3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2b67c65b23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2b67c65b23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2b5f12a5ff7_1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2b5f12a5ff7_1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b6804f6bb9_0_4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b6804f6bb9_0_4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b5f12a5ff7_1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b5f12a5ff7_1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g2b6804f6bb9_0_50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4" name="Google Shape;1204;g2b6804f6bb9_0_5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b6804f6bb9_0_5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2b6804f6bb9_0_5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2b5f12a5ff7_1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2b5f12a5ff7_1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2b5f12a5ff7_1_1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2b5f12a5ff7_1_1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2b5f12a5ff7_1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2b5f12a5ff7_1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2b6804f6bb9_0_5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2b6804f6bb9_0_5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g2b5f12a5ff7_1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4" name="Google Shape;1414;g2b5f12a5ff7_1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2b6804f6bb9_0_5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2b6804f6bb9_0_5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2b6804f6bb9_0_5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2b6804f6bb9_0_5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2b6804f6bb9_0_4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2b6804f6bb9_0_4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2b6804f6bb9_0_5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2b6804f6bb9_0_5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2b6804f6bb9_0_5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2b6804f6bb9_0_5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2b6804f6bb9_0_5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2b6804f6bb9_0_5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2b6804f6bb9_0_5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2b6804f6bb9_0_5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2b6804f6bb9_0_5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4" name="Google Shape;1564;g2b6804f6bb9_0_5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2b6804f6bb9_0_5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2b6804f6bb9_0_5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2b6804f6bb9_0_5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2b6804f6bb9_0_5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2b6804f6bb9_0_5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2b6804f6bb9_0_5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g2b6804f6bb9_0_5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6" name="Google Shape;1636;g2b6804f6bb9_0_5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g2b6804f6bb9_0_6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2" name="Google Shape;1642;g2b6804f6bb9_0_6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2b6804f6bb9_0_6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2b6804f6bb9_0_6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2b6804f6bb9_0_5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2b6804f6bb9_0_5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2b5f12a5ff7_1_1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2b5f12a5ff7_1_1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2b6804f6bb9_0_5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2b6804f6bb9_0_5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0.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25.png"/><Relationship Id="rId6" Type="http://schemas.openxmlformats.org/officeDocument/2006/relationships/image" Target="../media/image17.png"/><Relationship Id="rId7"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image" Target="../media/image60.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0.png"/><Relationship Id="rId4" Type="http://schemas.openxmlformats.org/officeDocument/2006/relationships/image" Target="../media/image24.png"/><Relationship Id="rId9"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31.png"/><Relationship Id="rId7" Type="http://schemas.openxmlformats.org/officeDocument/2006/relationships/image" Target="../media/image26.png"/><Relationship Id="rId8"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0.png"/><Relationship Id="rId4" Type="http://schemas.openxmlformats.org/officeDocument/2006/relationships/image" Target="../media/image30.png"/><Relationship Id="rId11" Type="http://schemas.openxmlformats.org/officeDocument/2006/relationships/image" Target="../media/image11.png"/><Relationship Id="rId10" Type="http://schemas.openxmlformats.org/officeDocument/2006/relationships/image" Target="../media/image42.png"/><Relationship Id="rId9" Type="http://schemas.openxmlformats.org/officeDocument/2006/relationships/image" Target="../media/image32.png"/><Relationship Id="rId5" Type="http://schemas.openxmlformats.org/officeDocument/2006/relationships/image" Target="../media/image24.png"/><Relationship Id="rId6" Type="http://schemas.openxmlformats.org/officeDocument/2006/relationships/image" Target="../media/image21.png"/><Relationship Id="rId7" Type="http://schemas.openxmlformats.org/officeDocument/2006/relationships/image" Target="../media/image31.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3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3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3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3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62"/>
          <p:cNvSpPr/>
          <p:nvPr/>
        </p:nvSpPr>
        <p:spPr>
          <a:xfrm>
            <a:off x="0" y="532525"/>
            <a:ext cx="9151202" cy="116709"/>
          </a:xfrm>
          <a:prstGeom prst="rect">
            <a:avLst/>
          </a:prstGeom>
          <a:noFill/>
          <a:ln>
            <a:noFill/>
          </a:ln>
        </p:spPr>
      </p:sp>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1">
  <p:cSld name="TITLE_AND_TWO_COLUMNS_1_1_5_1_3_1_2_2">
    <p:spTree>
      <p:nvGrpSpPr>
        <p:cNvPr id="750" name="Shape 750"/>
        <p:cNvGrpSpPr/>
        <p:nvPr/>
      </p:nvGrpSpPr>
      <p:grpSpPr>
        <a:xfrm>
          <a:off x="0" y="0"/>
          <a:ext cx="0" cy="0"/>
          <a:chOff x="0" y="0"/>
          <a:chExt cx="0" cy="0"/>
        </a:xfrm>
      </p:grpSpPr>
      <p:pic>
        <p:nvPicPr>
          <p:cNvPr id="751" name="Google Shape;751;p6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2" name="Google Shape;752;p6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63"/>
          <p:cNvSpPr txBox="1"/>
          <p:nvPr>
            <p:ph idx="1" type="body"/>
          </p:nvPr>
        </p:nvSpPr>
        <p:spPr>
          <a:xfrm>
            <a:off x="324000" y="759300"/>
            <a:ext cx="8237700" cy="3020700"/>
          </a:xfrm>
          <a:prstGeom prst="rect">
            <a:avLst/>
          </a:prstGeom>
          <a:noFill/>
          <a:ln>
            <a:noFill/>
          </a:ln>
        </p:spPr>
        <p:txBody>
          <a:bodyPr anchorCtr="0" anchor="t" bIns="0" lIns="0" spcFirstLastPara="1" rIns="0" wrap="square" tIns="0">
            <a:noAutofit/>
          </a:bodyPr>
          <a:lstStyle>
            <a:lvl1pPr indent="-368300" lvl="0" marL="457200" rtl="0" algn="l">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lgn="l">
              <a:lnSpc>
                <a:spcPct val="130000"/>
              </a:lnSpc>
              <a:spcBef>
                <a:spcPts val="1000"/>
              </a:spcBef>
              <a:spcAft>
                <a:spcPts val="0"/>
              </a:spcAft>
              <a:buSzPts val="2200"/>
              <a:buFont typeface="Lexend"/>
              <a:buChar char="–"/>
              <a:defRPr sz="2200">
                <a:latin typeface="Lexend"/>
                <a:ea typeface="Lexend"/>
                <a:cs typeface="Lexend"/>
                <a:sym typeface="Lexend"/>
              </a:defRPr>
            </a:lvl2pPr>
            <a:lvl3pPr indent="-355600" lvl="2" marL="1371600" rtl="0" algn="l">
              <a:lnSpc>
                <a:spcPct val="130000"/>
              </a:lnSpc>
              <a:spcBef>
                <a:spcPts val="1000"/>
              </a:spcBef>
              <a:spcAft>
                <a:spcPts val="0"/>
              </a:spcAft>
              <a:buSzPts val="2000"/>
              <a:buFont typeface="Lexend"/>
              <a:buChar char="–"/>
              <a:defRPr>
                <a:latin typeface="Lexend"/>
                <a:ea typeface="Lexend"/>
                <a:cs typeface="Lexend"/>
                <a:sym typeface="Lexend"/>
              </a:defRPr>
            </a:lvl3pPr>
            <a:lvl4pPr indent="-368300" lvl="3" marL="1828800" rtl="0" algn="l">
              <a:lnSpc>
                <a:spcPct val="130000"/>
              </a:lnSpc>
              <a:spcBef>
                <a:spcPts val="800"/>
              </a:spcBef>
              <a:spcAft>
                <a:spcPts val="0"/>
              </a:spcAft>
              <a:buSzPts val="2200"/>
              <a:buFont typeface="Lexend"/>
              <a:buChar char="–"/>
              <a:defRPr sz="2200">
                <a:latin typeface="Lexend"/>
                <a:ea typeface="Lexend"/>
                <a:cs typeface="Lexend"/>
                <a:sym typeface="Lexend"/>
              </a:defRPr>
            </a:lvl4pPr>
            <a:lvl5pPr indent="-342900" lvl="4" marL="2286000" rtl="0" algn="l">
              <a:lnSpc>
                <a:spcPct val="130000"/>
              </a:lnSpc>
              <a:spcBef>
                <a:spcPts val="800"/>
              </a:spcBef>
              <a:spcAft>
                <a:spcPts val="0"/>
              </a:spcAft>
              <a:buSzPts val="1800"/>
              <a:buFont typeface="Lexend"/>
              <a:buChar char="–"/>
              <a:defRPr>
                <a:latin typeface="Lexend"/>
                <a:ea typeface="Lexend"/>
                <a:cs typeface="Lexend"/>
                <a:sym typeface="Lexend"/>
              </a:defRPr>
            </a:lvl5pPr>
            <a:lvl6pPr indent="-342900" lvl="5" marL="2743200" rtl="0" algn="l">
              <a:lnSpc>
                <a:spcPct val="130000"/>
              </a:lnSpc>
              <a:spcBef>
                <a:spcPts val="600"/>
              </a:spcBef>
              <a:spcAft>
                <a:spcPts val="0"/>
              </a:spcAft>
              <a:buSzPts val="1800"/>
              <a:buFont typeface="Lexend"/>
              <a:buChar char="–"/>
              <a:defRPr sz="1800">
                <a:latin typeface="Lexend"/>
                <a:ea typeface="Lexend"/>
                <a:cs typeface="Lexend"/>
                <a:sym typeface="Lexend"/>
              </a:defRPr>
            </a:lvl6pPr>
            <a:lvl7pPr indent="-342900" lvl="6" marL="3200400" rtl="0" algn="l">
              <a:lnSpc>
                <a:spcPct val="130000"/>
              </a:lnSpc>
              <a:spcBef>
                <a:spcPts val="600"/>
              </a:spcBef>
              <a:spcAft>
                <a:spcPts val="0"/>
              </a:spcAft>
              <a:buSzPts val="1800"/>
              <a:buFont typeface="Lexend"/>
              <a:buChar char="–"/>
              <a:defRPr>
                <a:latin typeface="Lexend"/>
                <a:ea typeface="Lexend"/>
                <a:cs typeface="Lexend"/>
                <a:sym typeface="Lexend"/>
              </a:defRPr>
            </a:lvl7pPr>
            <a:lvl8pPr indent="-342900" lvl="7" marL="3657600" rtl="0" algn="l">
              <a:lnSpc>
                <a:spcPct val="130000"/>
              </a:lnSpc>
              <a:spcBef>
                <a:spcPts val="400"/>
              </a:spcBef>
              <a:spcAft>
                <a:spcPts val="0"/>
              </a:spcAft>
              <a:buSzPts val="1800"/>
              <a:buFont typeface="Lexend"/>
              <a:buChar char="–"/>
              <a:defRPr>
                <a:latin typeface="Lexend"/>
                <a:ea typeface="Lexend"/>
                <a:cs typeface="Lexend"/>
                <a:sym typeface="Lexend"/>
              </a:defRPr>
            </a:lvl8pPr>
            <a:lvl9pPr indent="-342900" lvl="8" marL="4114800" rtl="0" algn="l">
              <a:lnSpc>
                <a:spcPct val="130000"/>
              </a:lnSpc>
              <a:spcBef>
                <a:spcPts val="400"/>
              </a:spcBef>
              <a:spcAft>
                <a:spcPts val="200"/>
              </a:spcAft>
              <a:buSzPts val="1800"/>
              <a:buFont typeface="Lexend"/>
              <a:buChar char="–"/>
              <a:defRPr>
                <a:latin typeface="Lexend"/>
                <a:ea typeface="Lexend"/>
                <a:cs typeface="Lexend"/>
                <a:sym typeface="Lexend"/>
              </a:defRPr>
            </a:lvl9pPr>
          </a:lstStyle>
          <a:p/>
        </p:txBody>
      </p:sp>
      <p:sp>
        <p:nvSpPr>
          <p:cNvPr id="754" name="Google Shape;75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
              <a:buFont typeface="Arial"/>
              <a:buNone/>
            </a:pPr>
            <a:r>
              <a:rPr b="1" i="0" lang="en-GB" sz="900" u="none" cap="none" strike="noStrike">
                <a:solidFill>
                  <a:srgbClr val="EBEDFE"/>
                </a:solidFill>
                <a:latin typeface="Lexend"/>
                <a:ea typeface="Lexend"/>
                <a:cs typeface="Lexend"/>
                <a:sym typeface="Lexend"/>
              </a:rPr>
              <a:t>Practice</a:t>
            </a:r>
            <a:endParaRPr b="1" i="0" sz="900" u="none" cap="none" strike="noStrike">
              <a:solidFill>
                <a:srgbClr val="EBEDFE"/>
              </a:solidFill>
              <a:latin typeface="Lexend"/>
              <a:ea typeface="Lexend"/>
              <a:cs typeface="Lexend"/>
              <a:sym typeface="Lexend"/>
            </a:endParaRPr>
          </a:p>
        </p:txBody>
      </p:sp>
      <p:sp>
        <p:nvSpPr>
          <p:cNvPr id="755" name="Google Shape;755;p6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Lexend"/>
                <a:ea typeface="Lexend"/>
                <a:cs typeface="Lexend"/>
                <a:sym typeface="Lexend"/>
              </a:rPr>
              <a:t>Task C</a:t>
            </a:r>
            <a:endParaRPr b="1" i="0" sz="2000" u="none" cap="none" strike="noStrike">
              <a:solidFill>
                <a:schemeClr val="lt1"/>
              </a:solidFill>
              <a:latin typeface="Lexend"/>
              <a:ea typeface="Lexend"/>
              <a:cs typeface="Lexend"/>
              <a:sym typeface="Lexend"/>
            </a:endParaRPr>
          </a:p>
        </p:txBody>
      </p:sp>
      <p:sp>
        <p:nvSpPr>
          <p:cNvPr id="756" name="Google Shape;756;p63"/>
          <p:cNvSpPr txBox="1"/>
          <p:nvPr>
            <p:ph idx="2" type="subTitle"/>
          </p:nvPr>
        </p:nvSpPr>
        <p:spPr>
          <a:xfrm>
            <a:off x="1570025" y="134975"/>
            <a:ext cx="6855300" cy="337200"/>
          </a:xfrm>
          <a:prstGeom prst="rect">
            <a:avLst/>
          </a:prstGeom>
          <a:noFill/>
          <a:ln>
            <a:noFill/>
          </a:ln>
        </p:spPr>
        <p:txBody>
          <a:bodyPr anchorCtr="0" anchor="t" bIns="0" lIns="0" spcFirstLastPara="1" rIns="0" wrap="square" tIns="0">
            <a:noAutofit/>
          </a:bodyPr>
          <a:lstStyle>
            <a:lvl1pPr lvl="0" rtl="0" algn="l">
              <a:lnSpc>
                <a:spcPct val="13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lgn="l">
              <a:lnSpc>
                <a:spcPct val="130000"/>
              </a:lnSpc>
              <a:spcBef>
                <a:spcPts val="1000"/>
              </a:spcBef>
              <a:spcAft>
                <a:spcPts val="0"/>
              </a:spcAft>
              <a:buClr>
                <a:schemeClr val="lt1"/>
              </a:buClr>
              <a:buSzPts val="2100"/>
              <a:buNone/>
              <a:defRPr>
                <a:solidFill>
                  <a:schemeClr val="lt1"/>
                </a:solidFill>
              </a:defRPr>
            </a:lvl2pPr>
            <a:lvl3pPr lvl="2" rtl="0" algn="l">
              <a:lnSpc>
                <a:spcPct val="130000"/>
              </a:lnSpc>
              <a:spcBef>
                <a:spcPts val="1000"/>
              </a:spcBef>
              <a:spcAft>
                <a:spcPts val="0"/>
              </a:spcAft>
              <a:buClr>
                <a:schemeClr val="lt1"/>
              </a:buClr>
              <a:buSzPts val="2000"/>
              <a:buNone/>
              <a:defRPr>
                <a:solidFill>
                  <a:schemeClr val="lt1"/>
                </a:solidFill>
              </a:defRPr>
            </a:lvl3pPr>
            <a:lvl4pPr lvl="3" rtl="0" algn="l">
              <a:lnSpc>
                <a:spcPct val="130000"/>
              </a:lnSpc>
              <a:spcBef>
                <a:spcPts val="800"/>
              </a:spcBef>
              <a:spcAft>
                <a:spcPts val="0"/>
              </a:spcAft>
              <a:buClr>
                <a:schemeClr val="lt1"/>
              </a:buClr>
              <a:buSzPts val="1900"/>
              <a:buNone/>
              <a:defRPr>
                <a:solidFill>
                  <a:schemeClr val="lt1"/>
                </a:solidFill>
              </a:defRPr>
            </a:lvl4pPr>
            <a:lvl5pPr lvl="4" rtl="0" algn="l">
              <a:lnSpc>
                <a:spcPct val="130000"/>
              </a:lnSpc>
              <a:spcBef>
                <a:spcPts val="800"/>
              </a:spcBef>
              <a:spcAft>
                <a:spcPts val="0"/>
              </a:spcAft>
              <a:buClr>
                <a:schemeClr val="lt1"/>
              </a:buClr>
              <a:buSzPts val="1800"/>
              <a:buNone/>
              <a:defRPr>
                <a:solidFill>
                  <a:schemeClr val="lt1"/>
                </a:solidFill>
              </a:defRPr>
            </a:lvl5pPr>
            <a:lvl6pPr lvl="5" rtl="0" algn="l">
              <a:lnSpc>
                <a:spcPct val="130000"/>
              </a:lnSpc>
              <a:spcBef>
                <a:spcPts val="600"/>
              </a:spcBef>
              <a:spcAft>
                <a:spcPts val="0"/>
              </a:spcAft>
              <a:buClr>
                <a:schemeClr val="lt1"/>
              </a:buClr>
              <a:buSzPts val="1800"/>
              <a:buNone/>
              <a:defRPr>
                <a:solidFill>
                  <a:schemeClr val="lt1"/>
                </a:solidFill>
              </a:defRPr>
            </a:lvl6pPr>
            <a:lvl7pPr lvl="6" rtl="0" algn="l">
              <a:lnSpc>
                <a:spcPct val="130000"/>
              </a:lnSpc>
              <a:spcBef>
                <a:spcPts val="600"/>
              </a:spcBef>
              <a:spcAft>
                <a:spcPts val="0"/>
              </a:spcAft>
              <a:buClr>
                <a:schemeClr val="lt1"/>
              </a:buClr>
              <a:buSzPts val="1800"/>
              <a:buNone/>
              <a:defRPr>
                <a:solidFill>
                  <a:schemeClr val="lt1"/>
                </a:solidFill>
              </a:defRPr>
            </a:lvl7pPr>
            <a:lvl8pPr lvl="7" rtl="0" algn="l">
              <a:lnSpc>
                <a:spcPct val="130000"/>
              </a:lnSpc>
              <a:spcBef>
                <a:spcPts val="400"/>
              </a:spcBef>
              <a:spcAft>
                <a:spcPts val="0"/>
              </a:spcAft>
              <a:buClr>
                <a:schemeClr val="lt1"/>
              </a:buClr>
              <a:buSzPts val="1800"/>
              <a:buNone/>
              <a:defRPr>
                <a:solidFill>
                  <a:schemeClr val="lt1"/>
                </a:solidFill>
              </a:defRPr>
            </a:lvl8pPr>
            <a:lvl9pPr lvl="8" rtl="0" algn="l">
              <a:lnSpc>
                <a:spcPct val="130000"/>
              </a:lnSpc>
              <a:spcBef>
                <a:spcPts val="400"/>
              </a:spcBef>
              <a:spcAft>
                <a:spcPts val="200"/>
              </a:spcAft>
              <a:buClr>
                <a:schemeClr val="lt1"/>
              </a:buClr>
              <a:buSzPts val="1800"/>
              <a:buNone/>
              <a:defRPr>
                <a:solidFill>
                  <a:schemeClr val="lt1"/>
                </a:solidFill>
              </a:defRPr>
            </a:lvl9pPr>
          </a:lstStyle>
          <a:p/>
        </p:txBody>
      </p:sp>
      <p:pic>
        <p:nvPicPr>
          <p:cNvPr id="757" name="Google Shape;757;p6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5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5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 Id="rId3" Type="http://schemas.openxmlformats.org/officeDocument/2006/relationships/image" Target="../media/image56.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 Id="rId3" Type="http://schemas.openxmlformats.org/officeDocument/2006/relationships/image" Target="../media/image52.png"/><Relationship Id="rId4" Type="http://schemas.openxmlformats.org/officeDocument/2006/relationships/image" Target="../media/image57.png"/><Relationship Id="rId5" Type="http://schemas.openxmlformats.org/officeDocument/2006/relationships/image" Target="../media/image5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52.pn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52.png"/><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0.xml"/><Relationship Id="rId3"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Decrease by a percentage</a:t>
            </a:r>
            <a:endParaRPr/>
          </a:p>
        </p:txBody>
      </p:sp>
      <p:sp>
        <p:nvSpPr>
          <p:cNvPr id="763" name="Google Shape;763;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percentages and proportionality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7" name="Shape 767"/>
        <p:cNvGrpSpPr/>
        <p:nvPr/>
      </p:nvGrpSpPr>
      <p:grpSpPr>
        <a:xfrm>
          <a:off x="0" y="0"/>
          <a:ext cx="0" cy="0"/>
          <a:chOff x="0" y="0"/>
          <a:chExt cx="0" cy="0"/>
        </a:xfrm>
      </p:grpSpPr>
      <p:sp>
        <p:nvSpPr>
          <p:cNvPr id="768" name="Google Shape;768;p65"/>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calculate percentage changes (decrease).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7"/>
          <p:cNvSpPr txBox="1"/>
          <p:nvPr>
            <p:ph idx="2" type="subTitle"/>
          </p:nvPr>
        </p:nvSpPr>
        <p:spPr>
          <a:xfrm>
            <a:off x="489525" y="810000"/>
            <a:ext cx="78663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Proportion is a part to whole (sometimes part to part) comparison. If two things are proportional then the ratio of part to whole is maintained and the multiplicative relationship between parts is also maintained.</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8"/>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784" name="Google Shape;784;p6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785" name="Google Shape;785;p6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786" name="Google Shape;786;p6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Decrease by a percentage</a:t>
            </a:r>
            <a:endParaRPr/>
          </a:p>
        </p:txBody>
      </p:sp>
      <p:pic>
        <p:nvPicPr>
          <p:cNvPr id="787" name="Google Shape;787;p68"/>
          <p:cNvPicPr preferRelativeResize="0"/>
          <p:nvPr/>
        </p:nvPicPr>
        <p:blipFill>
          <a:blip r:embed="rId3">
            <a:alphaModFix/>
          </a:blip>
          <a:stretch>
            <a:fillRect/>
          </a:stretch>
        </p:blipFill>
        <p:spPr>
          <a:xfrm>
            <a:off x="409975" y="17410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69"/>
          <p:cNvSpPr txBox="1"/>
          <p:nvPr>
            <p:ph idx="1" type="body"/>
          </p:nvPr>
        </p:nvSpPr>
        <p:spPr>
          <a:xfrm>
            <a:off x="324000" y="759300"/>
            <a:ext cx="8237700" cy="131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can use bar models to show a percentage decrease</a:t>
            </a:r>
            <a:r>
              <a:rPr lang="en-GB"/>
              <a:t>.</a:t>
            </a:r>
            <a:endParaRPr/>
          </a:p>
          <a:p>
            <a:pPr indent="0" lvl="0" marL="0" rtl="0" algn="l">
              <a:spcBef>
                <a:spcPts val="1000"/>
              </a:spcBef>
              <a:spcAft>
                <a:spcPts val="1000"/>
              </a:spcAft>
              <a:buNone/>
            </a:pPr>
            <a:r>
              <a:rPr lang="en-GB"/>
              <a:t>Firstly, using square or gridded paper, draw a bar using 10 squares.</a:t>
            </a:r>
            <a:endParaRPr/>
          </a:p>
        </p:txBody>
      </p:sp>
      <p:sp>
        <p:nvSpPr>
          <p:cNvPr id="793" name="Google Shape;793;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graphicFrame>
        <p:nvGraphicFramePr>
          <p:cNvPr id="794" name="Google Shape;794;p69"/>
          <p:cNvGraphicFramePr/>
          <p:nvPr/>
        </p:nvGraphicFramePr>
        <p:xfrm>
          <a:off x="12561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795" name="Google Shape;795;p69"/>
          <p:cNvGraphicFramePr/>
          <p:nvPr/>
        </p:nvGraphicFramePr>
        <p:xfrm>
          <a:off x="17895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796" name="Google Shape;796;p69"/>
          <p:cNvGraphicFramePr/>
          <p:nvPr/>
        </p:nvGraphicFramePr>
        <p:xfrm>
          <a:off x="23229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797" name="Google Shape;797;p69"/>
          <p:cNvGraphicFramePr/>
          <p:nvPr/>
        </p:nvGraphicFramePr>
        <p:xfrm>
          <a:off x="28563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798" name="Google Shape;798;p69"/>
          <p:cNvGraphicFramePr/>
          <p:nvPr/>
        </p:nvGraphicFramePr>
        <p:xfrm>
          <a:off x="33897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799" name="Google Shape;799;p69"/>
          <p:cNvGraphicFramePr/>
          <p:nvPr/>
        </p:nvGraphicFramePr>
        <p:xfrm>
          <a:off x="39231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00" name="Google Shape;800;p69"/>
          <p:cNvGraphicFramePr/>
          <p:nvPr/>
        </p:nvGraphicFramePr>
        <p:xfrm>
          <a:off x="44565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01" name="Google Shape;801;p69"/>
          <p:cNvGraphicFramePr/>
          <p:nvPr/>
        </p:nvGraphicFramePr>
        <p:xfrm>
          <a:off x="49899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02" name="Google Shape;802;p69"/>
          <p:cNvGraphicFramePr/>
          <p:nvPr/>
        </p:nvGraphicFramePr>
        <p:xfrm>
          <a:off x="55233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graphicFrame>
        <p:nvGraphicFramePr>
          <p:cNvPr id="803" name="Google Shape;803;p69"/>
          <p:cNvGraphicFramePr/>
          <p:nvPr/>
        </p:nvGraphicFramePr>
        <p:xfrm>
          <a:off x="6056738" y="3578239"/>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04" name="Google Shape;804;p69"/>
          <p:cNvSpPr txBox="1"/>
          <p:nvPr>
            <p:ph idx="1" type="body"/>
          </p:nvPr>
        </p:nvSpPr>
        <p:spPr>
          <a:xfrm>
            <a:off x="324000" y="1774413"/>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 </a:t>
            </a:r>
            <a:endParaRPr/>
          </a:p>
          <a:p>
            <a:pPr indent="0" lvl="0" marL="0" rtl="0" algn="l">
              <a:spcBef>
                <a:spcPts val="1000"/>
              </a:spcBef>
              <a:spcAft>
                <a:spcPts val="1000"/>
              </a:spcAft>
              <a:buNone/>
            </a:pPr>
            <a:r>
              <a:rPr lang="en-GB"/>
              <a:t>This will represent £120</a:t>
            </a:r>
            <a:endParaRPr/>
          </a:p>
        </p:txBody>
      </p:sp>
      <p:sp>
        <p:nvSpPr>
          <p:cNvPr id="805" name="Google Shape;805;p69"/>
          <p:cNvSpPr txBox="1"/>
          <p:nvPr/>
        </p:nvSpPr>
        <p:spPr>
          <a:xfrm>
            <a:off x="324000" y="2744141"/>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We can </a:t>
            </a:r>
            <a:r>
              <a:rPr lang="en-GB" sz="2200">
                <a:latin typeface="Lexend"/>
                <a:ea typeface="Lexend"/>
                <a:cs typeface="Lexend"/>
                <a:sym typeface="Lexend"/>
              </a:rPr>
              <a:t>indicate</a:t>
            </a:r>
            <a:r>
              <a:rPr lang="en-GB" sz="2200">
                <a:latin typeface="Lexend"/>
                <a:ea typeface="Lexend"/>
                <a:cs typeface="Lexend"/>
                <a:sym typeface="Lexend"/>
              </a:rPr>
              <a:t> that this</a:t>
            </a:r>
            <a:r>
              <a:rPr lang="en-GB" sz="2200">
                <a:latin typeface="Lexend"/>
                <a:ea typeface="Lexend"/>
                <a:cs typeface="Lexend"/>
                <a:sym typeface="Lexend"/>
              </a:rPr>
              <a:t> is 100%</a:t>
            </a:r>
            <a:endParaRPr sz="2200">
              <a:solidFill>
                <a:srgbClr val="000000"/>
              </a:solidFill>
              <a:latin typeface="Lexend"/>
              <a:ea typeface="Lexend"/>
              <a:cs typeface="Lexend"/>
              <a:sym typeface="Lexend"/>
            </a:endParaRPr>
          </a:p>
        </p:txBody>
      </p:sp>
      <p:grpSp>
        <p:nvGrpSpPr>
          <p:cNvPr id="806" name="Google Shape;806;p69"/>
          <p:cNvGrpSpPr/>
          <p:nvPr/>
        </p:nvGrpSpPr>
        <p:grpSpPr>
          <a:xfrm>
            <a:off x="1256179" y="4128452"/>
            <a:ext cx="5322145" cy="565948"/>
            <a:chOff x="889825" y="3483600"/>
            <a:chExt cx="5213700" cy="565948"/>
          </a:xfrm>
        </p:grpSpPr>
        <p:sp>
          <p:nvSpPr>
            <p:cNvPr id="807" name="Google Shape;807;p69"/>
            <p:cNvSpPr/>
            <p:nvPr/>
          </p:nvSpPr>
          <p:spPr>
            <a:xfrm rot="-5400000">
              <a:off x="3396775" y="976650"/>
              <a:ext cx="1998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8" name="Google Shape;808;p69"/>
            <p:cNvSpPr txBox="1"/>
            <p:nvPr/>
          </p:nvSpPr>
          <p:spPr>
            <a:xfrm>
              <a:off x="2684324" y="3710848"/>
              <a:ext cx="18045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£120</a:t>
              </a:r>
              <a:endParaRPr sz="2200">
                <a:solidFill>
                  <a:srgbClr val="000000"/>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0"/>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 </a:t>
            </a:r>
            <a:endParaRPr/>
          </a:p>
          <a:p>
            <a:pPr indent="0" lvl="0" marL="0" rtl="0" algn="l">
              <a:spcBef>
                <a:spcPts val="1000"/>
              </a:spcBef>
              <a:spcAft>
                <a:spcPts val="1000"/>
              </a:spcAft>
              <a:buNone/>
            </a:pPr>
            <a:r>
              <a:t/>
            </a:r>
            <a:endParaRPr/>
          </a:p>
        </p:txBody>
      </p:sp>
      <p:sp>
        <p:nvSpPr>
          <p:cNvPr id="814" name="Google Shape;814;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graphicFrame>
        <p:nvGraphicFramePr>
          <p:cNvPr id="815" name="Google Shape;815;p70"/>
          <p:cNvGraphicFramePr/>
          <p:nvPr/>
        </p:nvGraphicFramePr>
        <p:xfrm>
          <a:off x="1256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16" name="Google Shape;816;p70"/>
          <p:cNvGraphicFramePr/>
          <p:nvPr/>
        </p:nvGraphicFramePr>
        <p:xfrm>
          <a:off x="17895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17" name="Google Shape;817;p70"/>
          <p:cNvGraphicFramePr/>
          <p:nvPr/>
        </p:nvGraphicFramePr>
        <p:xfrm>
          <a:off x="23229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18" name="Google Shape;818;p70"/>
          <p:cNvGraphicFramePr/>
          <p:nvPr/>
        </p:nvGraphicFramePr>
        <p:xfrm>
          <a:off x="28563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19" name="Google Shape;819;p70"/>
          <p:cNvGraphicFramePr/>
          <p:nvPr/>
        </p:nvGraphicFramePr>
        <p:xfrm>
          <a:off x="33897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20" name="Google Shape;820;p70"/>
          <p:cNvGraphicFramePr/>
          <p:nvPr/>
        </p:nvGraphicFramePr>
        <p:xfrm>
          <a:off x="3923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21" name="Google Shape;821;p70"/>
          <p:cNvGraphicFramePr/>
          <p:nvPr/>
        </p:nvGraphicFramePr>
        <p:xfrm>
          <a:off x="44565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22" name="Google Shape;822;p70"/>
          <p:cNvGraphicFramePr/>
          <p:nvPr/>
        </p:nvGraphicFramePr>
        <p:xfrm>
          <a:off x="49899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23" name="Google Shape;823;p70"/>
          <p:cNvGraphicFramePr/>
          <p:nvPr/>
        </p:nvGraphicFramePr>
        <p:xfrm>
          <a:off x="55233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24" name="Google Shape;824;p70"/>
          <p:cNvGraphicFramePr/>
          <p:nvPr/>
        </p:nvGraphicFramePr>
        <p:xfrm>
          <a:off x="60567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sp>
        <p:nvSpPr>
          <p:cNvPr id="825" name="Google Shape;825;p70"/>
          <p:cNvSpPr txBox="1"/>
          <p:nvPr/>
        </p:nvSpPr>
        <p:spPr>
          <a:xfrm>
            <a:off x="324000" y="1771075"/>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Dividing by 10, we find that 10% = 12</a:t>
            </a:r>
            <a:endParaRPr sz="2200">
              <a:solidFill>
                <a:srgbClr val="000000"/>
              </a:solidFill>
              <a:latin typeface="Lexend"/>
              <a:ea typeface="Lexend"/>
              <a:cs typeface="Lexend"/>
              <a:sym typeface="Lexend"/>
            </a:endParaRPr>
          </a:p>
        </p:txBody>
      </p:sp>
      <p:graphicFrame>
        <p:nvGraphicFramePr>
          <p:cNvPr id="826" name="Google Shape;826;p70"/>
          <p:cNvGraphicFramePr/>
          <p:nvPr/>
        </p:nvGraphicFramePr>
        <p:xfrm>
          <a:off x="1256150" y="3010669"/>
          <a:ext cx="3000000" cy="3000000"/>
        </p:xfrm>
        <a:graphic>
          <a:graphicData uri="http://schemas.openxmlformats.org/drawingml/2006/table">
            <a:tbl>
              <a:tblPr>
                <a:noFill/>
                <a:tableStyleId>{681F5079-2932-4BF5-A27F-156CD3D16ADE}</a:tableStyleId>
              </a:tblPr>
              <a:tblGrid>
                <a:gridCol w="53219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27" name="Google Shape;827;p70"/>
          <p:cNvSpPr/>
          <p:nvPr/>
        </p:nvSpPr>
        <p:spPr>
          <a:xfrm rot="5400000">
            <a:off x="1427803" y="2578800"/>
            <a:ext cx="199800" cy="513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8" name="Google Shape;828;p70"/>
          <p:cNvSpPr txBox="1"/>
          <p:nvPr/>
        </p:nvSpPr>
        <p:spPr>
          <a:xfrm>
            <a:off x="1168951" y="2398050"/>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graphicFrame>
        <p:nvGraphicFramePr>
          <p:cNvPr id="829" name="Google Shape;829;p70"/>
          <p:cNvGraphicFramePr/>
          <p:nvPr/>
        </p:nvGraphicFramePr>
        <p:xfrm>
          <a:off x="1256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30" name="Google Shape;830;p70"/>
          <p:cNvSpPr/>
          <p:nvPr/>
        </p:nvSpPr>
        <p:spPr>
          <a:xfrm rot="-5400000">
            <a:off x="3817351" y="1033879"/>
            <a:ext cx="199800" cy="5322145"/>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1" name="Google Shape;831;p70"/>
          <p:cNvSpPr txBox="1"/>
          <p:nvPr/>
        </p:nvSpPr>
        <p:spPr>
          <a:xfrm>
            <a:off x="3088003" y="3822300"/>
            <a:ext cx="1842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£120</a:t>
            </a:r>
            <a:endParaRPr sz="22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graphicFrame>
        <p:nvGraphicFramePr>
          <p:cNvPr id="836" name="Google Shape;836;p71"/>
          <p:cNvGraphicFramePr/>
          <p:nvPr/>
        </p:nvGraphicFramePr>
        <p:xfrm>
          <a:off x="1256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37" name="Google Shape;837;p71"/>
          <p:cNvGraphicFramePr/>
          <p:nvPr/>
        </p:nvGraphicFramePr>
        <p:xfrm>
          <a:off x="17895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38" name="Google Shape;838;p71"/>
          <p:cNvGraphicFramePr/>
          <p:nvPr/>
        </p:nvGraphicFramePr>
        <p:xfrm>
          <a:off x="23229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39" name="Google Shape;839;p71"/>
          <p:cNvGraphicFramePr/>
          <p:nvPr/>
        </p:nvGraphicFramePr>
        <p:xfrm>
          <a:off x="28563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40" name="Google Shape;840;p71"/>
          <p:cNvGraphicFramePr/>
          <p:nvPr/>
        </p:nvGraphicFramePr>
        <p:xfrm>
          <a:off x="33897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41" name="Google Shape;841;p71"/>
          <p:cNvGraphicFramePr/>
          <p:nvPr/>
        </p:nvGraphicFramePr>
        <p:xfrm>
          <a:off x="3923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42" name="Google Shape;842;p71"/>
          <p:cNvGraphicFramePr/>
          <p:nvPr/>
        </p:nvGraphicFramePr>
        <p:xfrm>
          <a:off x="44565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43" name="Google Shape;843;p71"/>
          <p:cNvGraphicFramePr/>
          <p:nvPr/>
        </p:nvGraphicFramePr>
        <p:xfrm>
          <a:off x="49899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44" name="Google Shape;844;p71"/>
          <p:cNvGraphicFramePr/>
          <p:nvPr/>
        </p:nvGraphicFramePr>
        <p:xfrm>
          <a:off x="55233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Clr>
                          <a:schemeClr val="dk1"/>
                        </a:buClr>
                        <a:buSzPts val="1100"/>
                        <a:buFont typeface="Arial"/>
                        <a:buNone/>
                      </a:pPr>
                      <a:r>
                        <a:rPr lang="en-GB" sz="2200">
                          <a:solidFill>
                            <a:schemeClr val="dk2"/>
                          </a:solidFill>
                          <a:latin typeface="Lexend"/>
                          <a:ea typeface="Lexend"/>
                          <a:cs typeface="Lexend"/>
                          <a:sym typeface="Lexend"/>
                        </a:rPr>
                        <a:t>12</a:t>
                      </a:r>
                      <a:endParaRPr sz="2200">
                        <a:solidFill>
                          <a:schemeClr val="dk2"/>
                        </a:solidFill>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graphicFrame>
        <p:nvGraphicFramePr>
          <p:cNvPr id="845" name="Google Shape;845;p71"/>
          <p:cNvGraphicFramePr/>
          <p:nvPr/>
        </p:nvGraphicFramePr>
        <p:xfrm>
          <a:off x="60567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Clr>
                          <a:schemeClr val="dk1"/>
                        </a:buClr>
                        <a:buSzPts val="1100"/>
                        <a:buFont typeface="Arial"/>
                        <a:buNone/>
                      </a:pPr>
                      <a:r>
                        <a:rPr lang="en-GB" sz="2200">
                          <a:solidFill>
                            <a:schemeClr val="dk2"/>
                          </a:solidFill>
                          <a:latin typeface="Lexend"/>
                          <a:ea typeface="Lexend"/>
                          <a:cs typeface="Lexend"/>
                          <a:sym typeface="Lexend"/>
                        </a:rPr>
                        <a:t>12</a:t>
                      </a:r>
                      <a:endParaRPr sz="2200">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graphicFrame>
        <p:nvGraphicFramePr>
          <p:cNvPr id="846" name="Google Shape;846;p71"/>
          <p:cNvGraphicFramePr/>
          <p:nvPr/>
        </p:nvGraphicFramePr>
        <p:xfrm>
          <a:off x="1256150" y="3010669"/>
          <a:ext cx="3000000" cy="3000000"/>
        </p:xfrm>
        <a:graphic>
          <a:graphicData uri="http://schemas.openxmlformats.org/drawingml/2006/table">
            <a:tbl>
              <a:tblPr>
                <a:noFill/>
                <a:tableStyleId>{681F5079-2932-4BF5-A27F-156CD3D16ADE}</a:tableStyleId>
              </a:tblPr>
              <a:tblGrid>
                <a:gridCol w="4255175"/>
              </a:tblGrid>
              <a:tr h="381000">
                <a:tc>
                  <a:txBody>
                    <a:bodyPr/>
                    <a:lstStyle/>
                    <a:p>
                      <a:pPr indent="0" lvl="0" marL="0" rtl="0" algn="ctr">
                        <a:spcBef>
                          <a:spcPts val="0"/>
                        </a:spcBef>
                        <a:spcAft>
                          <a:spcPts val="0"/>
                        </a:spcAft>
                        <a:buNone/>
                      </a:pPr>
                      <a:r>
                        <a:rPr lang="en-GB" sz="2200">
                          <a:latin typeface="Lexend"/>
                          <a:ea typeface="Lexend"/>
                          <a:cs typeface="Lexend"/>
                          <a:sym typeface="Lexend"/>
                        </a:rPr>
                        <a:t>              </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47" name="Google Shape;847;p71"/>
          <p:cNvSpPr txBox="1"/>
          <p:nvPr/>
        </p:nvSpPr>
        <p:spPr>
          <a:xfrm>
            <a:off x="5728476" y="2468925"/>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2</a:t>
            </a:r>
            <a:r>
              <a:rPr lang="en-GB" sz="1800">
                <a:latin typeface="Lexend"/>
                <a:ea typeface="Lexend"/>
                <a:cs typeface="Lexend"/>
                <a:sym typeface="Lexend"/>
              </a:rPr>
              <a:t>0%</a:t>
            </a:r>
            <a:endParaRPr sz="1800">
              <a:solidFill>
                <a:srgbClr val="000000"/>
              </a:solidFill>
              <a:latin typeface="Lexend"/>
              <a:ea typeface="Lexend"/>
              <a:cs typeface="Lexend"/>
              <a:sym typeface="Lexend"/>
            </a:endParaRPr>
          </a:p>
        </p:txBody>
      </p:sp>
      <p:sp>
        <p:nvSpPr>
          <p:cNvPr id="848" name="Google Shape;848;p71"/>
          <p:cNvSpPr/>
          <p:nvPr/>
        </p:nvSpPr>
        <p:spPr>
          <a:xfrm rot="-5400000">
            <a:off x="3817351" y="1033879"/>
            <a:ext cx="199800" cy="5322145"/>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9" name="Google Shape;849;p71"/>
          <p:cNvSpPr txBox="1"/>
          <p:nvPr>
            <p:ph idx="1" type="body"/>
          </p:nvPr>
        </p:nvSpPr>
        <p:spPr>
          <a:xfrm>
            <a:off x="343511" y="1617011"/>
            <a:ext cx="4952700" cy="521400"/>
          </a:xfrm>
          <a:prstGeom prst="rect">
            <a:avLst/>
          </a:prstGeom>
        </p:spPr>
        <p:txBody>
          <a:bodyPr anchorCtr="0" anchor="t" bIns="0" lIns="0" spcFirstLastPara="1" rIns="0" wrap="square" tIns="0">
            <a:noAutofit/>
          </a:bodyPr>
          <a:lstStyle/>
          <a:p>
            <a:pPr indent="0" lvl="0" marL="0" rtl="0" algn="l">
              <a:spcBef>
                <a:spcPts val="1200"/>
              </a:spcBef>
              <a:spcAft>
                <a:spcPts val="1200"/>
              </a:spcAft>
              <a:buClr>
                <a:schemeClr val="dk1"/>
              </a:buClr>
              <a:buSzPts val="1100"/>
              <a:buFont typeface="Arial"/>
              <a:buNone/>
            </a:pPr>
            <a:r>
              <a:rPr lang="en-GB"/>
              <a:t>What is a 20% decrease from £120?</a:t>
            </a:r>
            <a:endParaRPr/>
          </a:p>
        </p:txBody>
      </p:sp>
      <p:sp>
        <p:nvSpPr>
          <p:cNvPr id="850" name="Google Shape;850;p71"/>
          <p:cNvSpPr txBox="1"/>
          <p:nvPr/>
        </p:nvSpPr>
        <p:spPr>
          <a:xfrm>
            <a:off x="324000" y="1771075"/>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t/>
            </a:r>
            <a:endParaRPr sz="2200">
              <a:solidFill>
                <a:schemeClr val="dk1"/>
              </a:solidFill>
              <a:latin typeface="Lexend"/>
              <a:ea typeface="Lexend"/>
              <a:cs typeface="Lexend"/>
              <a:sym typeface="Lexend"/>
            </a:endParaRPr>
          </a:p>
          <a:p>
            <a:pPr indent="0" lvl="0" marL="0" rtl="0" algn="l">
              <a:lnSpc>
                <a:spcPct val="115000"/>
              </a:lnSpc>
              <a:spcBef>
                <a:spcPts val="1200"/>
              </a:spcBef>
              <a:spcAft>
                <a:spcPts val="1000"/>
              </a:spcAft>
              <a:buNone/>
            </a:pPr>
            <a:r>
              <a:rPr lang="en-GB" sz="2200">
                <a:latin typeface="Lexend"/>
                <a:ea typeface="Lexend"/>
                <a:cs typeface="Lexend"/>
                <a:sym typeface="Lexend"/>
              </a:rPr>
              <a:t> </a:t>
            </a:r>
            <a:endParaRPr sz="2200">
              <a:solidFill>
                <a:srgbClr val="000000"/>
              </a:solidFill>
              <a:latin typeface="Lexend"/>
              <a:ea typeface="Lexend"/>
              <a:cs typeface="Lexend"/>
              <a:sym typeface="Lexend"/>
            </a:endParaRPr>
          </a:p>
        </p:txBody>
      </p:sp>
      <p:sp>
        <p:nvSpPr>
          <p:cNvPr id="851" name="Google Shape;851;p71"/>
          <p:cNvSpPr txBox="1"/>
          <p:nvPr/>
        </p:nvSpPr>
        <p:spPr>
          <a:xfrm>
            <a:off x="6071800" y="1765800"/>
            <a:ext cx="25341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120 − 12 × 2 = 96 </a:t>
            </a:r>
            <a:endParaRPr sz="2200">
              <a:solidFill>
                <a:srgbClr val="000000"/>
              </a:solidFill>
              <a:latin typeface="Lexend"/>
              <a:ea typeface="Lexend"/>
              <a:cs typeface="Lexend"/>
              <a:sym typeface="Lexend"/>
            </a:endParaRPr>
          </a:p>
        </p:txBody>
      </p:sp>
      <p:sp>
        <p:nvSpPr>
          <p:cNvPr id="852" name="Google Shape;852;p71"/>
          <p:cNvSpPr/>
          <p:nvPr/>
        </p:nvSpPr>
        <p:spPr>
          <a:xfrm rot="5400000">
            <a:off x="5945459" y="2344550"/>
            <a:ext cx="199800" cy="1036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3" name="Google Shape;853;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854" name="Google Shape;854;p71"/>
          <p:cNvSpPr txBox="1"/>
          <p:nvPr/>
        </p:nvSpPr>
        <p:spPr>
          <a:xfrm>
            <a:off x="3088003" y="3822300"/>
            <a:ext cx="1842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£120</a:t>
            </a:r>
            <a:endParaRPr sz="22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graphicFrame>
        <p:nvGraphicFramePr>
          <p:cNvPr id="859" name="Google Shape;859;p72"/>
          <p:cNvGraphicFramePr/>
          <p:nvPr/>
        </p:nvGraphicFramePr>
        <p:xfrm>
          <a:off x="1256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0" name="Google Shape;860;p72"/>
          <p:cNvGraphicFramePr/>
          <p:nvPr/>
        </p:nvGraphicFramePr>
        <p:xfrm>
          <a:off x="17895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1" name="Google Shape;861;p72"/>
          <p:cNvGraphicFramePr/>
          <p:nvPr/>
        </p:nvGraphicFramePr>
        <p:xfrm>
          <a:off x="23229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2" name="Google Shape;862;p72"/>
          <p:cNvGraphicFramePr/>
          <p:nvPr/>
        </p:nvGraphicFramePr>
        <p:xfrm>
          <a:off x="28563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3" name="Google Shape;863;p72"/>
          <p:cNvGraphicFramePr/>
          <p:nvPr/>
        </p:nvGraphicFramePr>
        <p:xfrm>
          <a:off x="33897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4" name="Google Shape;864;p72"/>
          <p:cNvGraphicFramePr/>
          <p:nvPr/>
        </p:nvGraphicFramePr>
        <p:xfrm>
          <a:off x="39231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5" name="Google Shape;865;p72"/>
          <p:cNvGraphicFramePr/>
          <p:nvPr/>
        </p:nvGraphicFramePr>
        <p:xfrm>
          <a:off x="44565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6" name="Google Shape;866;p72"/>
          <p:cNvGraphicFramePr/>
          <p:nvPr/>
        </p:nvGraphicFramePr>
        <p:xfrm>
          <a:off x="49899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C1ACEC">
                        <a:alpha val="49370"/>
                      </a:srgbClr>
                    </a:solidFill>
                  </a:tcPr>
                </a:tc>
              </a:tr>
            </a:tbl>
          </a:graphicData>
        </a:graphic>
      </p:graphicFrame>
      <p:graphicFrame>
        <p:nvGraphicFramePr>
          <p:cNvPr id="867" name="Google Shape;867;p72"/>
          <p:cNvGraphicFramePr/>
          <p:nvPr/>
        </p:nvGraphicFramePr>
        <p:xfrm>
          <a:off x="55233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rPr lang="en-GB" sz="2200">
                          <a:solidFill>
                            <a:schemeClr val="dk2"/>
                          </a:solidFill>
                          <a:latin typeface="Lexend"/>
                          <a:ea typeface="Lexend"/>
                          <a:cs typeface="Lexend"/>
                          <a:sym typeface="Lexend"/>
                        </a:rPr>
                        <a:t>12</a:t>
                      </a:r>
                      <a:endParaRPr sz="2200">
                        <a:solidFill>
                          <a:schemeClr val="dk2"/>
                        </a:solidFill>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graphicFrame>
        <p:nvGraphicFramePr>
          <p:cNvPr id="868" name="Google Shape;868;p72"/>
          <p:cNvGraphicFramePr/>
          <p:nvPr/>
        </p:nvGraphicFramePr>
        <p:xfrm>
          <a:off x="6056738" y="3010686"/>
          <a:ext cx="3000000" cy="3000000"/>
        </p:xfrm>
        <a:graphic>
          <a:graphicData uri="http://schemas.openxmlformats.org/drawingml/2006/table">
            <a:tbl>
              <a:tblPr>
                <a:noFill/>
                <a:tableStyleId>{681F5079-2932-4BF5-A27F-156CD3D16ADE}</a:tableStyleId>
              </a:tblPr>
              <a:tblGrid>
                <a:gridCol w="521375"/>
              </a:tblGrid>
              <a:tr h="381000">
                <a:tc>
                  <a:txBody>
                    <a:bodyPr/>
                    <a:lstStyle/>
                    <a:p>
                      <a:pPr indent="0" lvl="0" marL="0" rtl="0" algn="ctr">
                        <a:spcBef>
                          <a:spcPts val="0"/>
                        </a:spcBef>
                        <a:spcAft>
                          <a:spcPts val="0"/>
                        </a:spcAft>
                        <a:buNone/>
                      </a:pPr>
                      <a:r>
                        <a:rPr lang="en-GB" sz="2200">
                          <a:solidFill>
                            <a:schemeClr val="dk2"/>
                          </a:solidFill>
                          <a:latin typeface="Lexend"/>
                          <a:ea typeface="Lexend"/>
                          <a:cs typeface="Lexend"/>
                          <a:sym typeface="Lexend"/>
                        </a:rPr>
                        <a:t>12</a:t>
                      </a:r>
                      <a:endParaRPr sz="2200">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graphicFrame>
        <p:nvGraphicFramePr>
          <p:cNvPr id="869" name="Google Shape;869;p72"/>
          <p:cNvGraphicFramePr/>
          <p:nvPr/>
        </p:nvGraphicFramePr>
        <p:xfrm>
          <a:off x="1256150" y="3010669"/>
          <a:ext cx="3000000" cy="3000000"/>
        </p:xfrm>
        <a:graphic>
          <a:graphicData uri="http://schemas.openxmlformats.org/drawingml/2006/table">
            <a:tbl>
              <a:tblPr>
                <a:noFill/>
                <a:tableStyleId>{681F5079-2932-4BF5-A27F-156CD3D16ADE}</a:tableStyleId>
              </a:tblPr>
              <a:tblGrid>
                <a:gridCol w="4255175"/>
              </a:tblGrid>
              <a:tr h="381000">
                <a:tc>
                  <a:txBody>
                    <a:bodyPr/>
                    <a:lstStyle/>
                    <a:p>
                      <a:pPr indent="0" lvl="0" marL="0" rtl="0" algn="ctr">
                        <a:spcBef>
                          <a:spcPts val="0"/>
                        </a:spcBef>
                        <a:spcAft>
                          <a:spcPts val="0"/>
                        </a:spcAft>
                        <a:buNone/>
                      </a:pPr>
                      <a:r>
                        <a:rPr lang="en-GB" sz="2200">
                          <a:latin typeface="Lexend"/>
                          <a:ea typeface="Lexend"/>
                          <a:cs typeface="Lexend"/>
                          <a:sym typeface="Lexend"/>
                        </a:rPr>
                        <a:t> £96</a:t>
                      </a:r>
                      <a:endParaRPr sz="2200">
                        <a:latin typeface="Lexend"/>
                        <a:ea typeface="Lexend"/>
                        <a:cs typeface="Lexend"/>
                        <a:sym typeface="Lexend"/>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solidFill>
                      <a:srgbClr val="845AD9">
                        <a:alpha val="50000"/>
                      </a:srgbClr>
                    </a:solidFill>
                  </a:tcPr>
                </a:tc>
              </a:tr>
            </a:tbl>
          </a:graphicData>
        </a:graphic>
      </p:graphicFrame>
      <p:sp>
        <p:nvSpPr>
          <p:cNvPr id="870" name="Google Shape;870;p72"/>
          <p:cNvSpPr txBox="1"/>
          <p:nvPr/>
        </p:nvSpPr>
        <p:spPr>
          <a:xfrm>
            <a:off x="5728476" y="2468925"/>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20%</a:t>
            </a:r>
            <a:endParaRPr sz="1800">
              <a:solidFill>
                <a:srgbClr val="000000"/>
              </a:solidFill>
              <a:latin typeface="Lexend"/>
              <a:ea typeface="Lexend"/>
              <a:cs typeface="Lexend"/>
              <a:sym typeface="Lexend"/>
            </a:endParaRPr>
          </a:p>
        </p:txBody>
      </p:sp>
      <p:sp>
        <p:nvSpPr>
          <p:cNvPr id="871" name="Google Shape;871;p72"/>
          <p:cNvSpPr/>
          <p:nvPr/>
        </p:nvSpPr>
        <p:spPr>
          <a:xfrm rot="-5400000">
            <a:off x="3817351" y="1033879"/>
            <a:ext cx="199800" cy="5322145"/>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2" name="Google Shape;872;p72"/>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 </a:t>
            </a:r>
            <a:endParaRPr/>
          </a:p>
          <a:p>
            <a:pPr indent="0" lvl="0" marL="0" rtl="0" algn="l">
              <a:spcBef>
                <a:spcPts val="1000"/>
              </a:spcBef>
              <a:spcAft>
                <a:spcPts val="1000"/>
              </a:spcAft>
              <a:buNone/>
            </a:pPr>
            <a:r>
              <a:t/>
            </a:r>
            <a:endParaRPr/>
          </a:p>
        </p:txBody>
      </p:sp>
      <p:sp>
        <p:nvSpPr>
          <p:cNvPr id="873" name="Google Shape;873;p72"/>
          <p:cNvSpPr txBox="1"/>
          <p:nvPr/>
        </p:nvSpPr>
        <p:spPr>
          <a:xfrm>
            <a:off x="324000" y="1609150"/>
            <a:ext cx="82377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GB" sz="2200">
                <a:latin typeface="Lexend"/>
                <a:ea typeface="Lexend"/>
                <a:cs typeface="Lexend"/>
                <a:sym typeface="Lexend"/>
              </a:rPr>
              <a:t>What is a 20% decrease from £120?</a:t>
            </a:r>
            <a:endParaRPr sz="2200">
              <a:latin typeface="Lexend"/>
              <a:ea typeface="Lexend"/>
              <a:cs typeface="Lexend"/>
              <a:sym typeface="Lexend"/>
            </a:endParaRPr>
          </a:p>
          <a:p>
            <a:pPr indent="0" lvl="0" marL="0" rtl="0" algn="l">
              <a:lnSpc>
                <a:spcPct val="115000"/>
              </a:lnSpc>
              <a:spcBef>
                <a:spcPts val="1200"/>
              </a:spcBef>
              <a:spcAft>
                <a:spcPts val="1000"/>
              </a:spcAft>
              <a:buNone/>
            </a:pPr>
            <a:r>
              <a:rPr lang="en-GB" sz="2200">
                <a:latin typeface="Lexend"/>
                <a:ea typeface="Lexend"/>
                <a:cs typeface="Lexend"/>
                <a:sym typeface="Lexend"/>
              </a:rPr>
              <a:t> </a:t>
            </a:r>
            <a:endParaRPr sz="2200">
              <a:solidFill>
                <a:srgbClr val="000000"/>
              </a:solidFill>
              <a:latin typeface="Lexend"/>
              <a:ea typeface="Lexend"/>
              <a:cs typeface="Lexend"/>
              <a:sym typeface="Lexend"/>
            </a:endParaRPr>
          </a:p>
        </p:txBody>
      </p:sp>
      <p:sp>
        <p:nvSpPr>
          <p:cNvPr id="874" name="Google Shape;874;p72"/>
          <p:cNvSpPr txBox="1"/>
          <p:nvPr/>
        </p:nvSpPr>
        <p:spPr>
          <a:xfrm>
            <a:off x="6071800" y="1765800"/>
            <a:ext cx="2534100" cy="52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120 − 12 × 2 = 96 </a:t>
            </a:r>
            <a:endParaRPr sz="2200">
              <a:solidFill>
                <a:srgbClr val="000000"/>
              </a:solidFill>
              <a:latin typeface="Lexend"/>
              <a:ea typeface="Lexend"/>
              <a:cs typeface="Lexend"/>
              <a:sym typeface="Lexend"/>
            </a:endParaRPr>
          </a:p>
        </p:txBody>
      </p:sp>
      <p:sp>
        <p:nvSpPr>
          <p:cNvPr id="875" name="Google Shape;875;p72"/>
          <p:cNvSpPr/>
          <p:nvPr/>
        </p:nvSpPr>
        <p:spPr>
          <a:xfrm rot="5400000">
            <a:off x="5945459" y="2344550"/>
            <a:ext cx="199800" cy="1036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6" name="Google Shape;876;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877" name="Google Shape;877;p72"/>
          <p:cNvSpPr txBox="1"/>
          <p:nvPr/>
        </p:nvSpPr>
        <p:spPr>
          <a:xfrm>
            <a:off x="3088003" y="3822300"/>
            <a:ext cx="1842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£120</a:t>
            </a:r>
            <a:endParaRPr sz="2200">
              <a:solidFill>
                <a:srgbClr val="000000"/>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73"/>
          <p:cNvSpPr txBox="1"/>
          <p:nvPr>
            <p:ph idx="1" type="body"/>
          </p:nvPr>
        </p:nvSpPr>
        <p:spPr>
          <a:xfrm>
            <a:off x="324000" y="683100"/>
            <a:ext cx="8237700" cy="48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Draw a bar model to work out and represent 20 decreased by 30%</a:t>
            </a:r>
            <a:endParaRPr sz="2000"/>
          </a:p>
          <a:p>
            <a:pPr indent="0" lvl="0" marL="0" rtl="0" algn="l">
              <a:lnSpc>
                <a:spcPct val="100000"/>
              </a:lnSpc>
              <a:spcBef>
                <a:spcPts val="1000"/>
              </a:spcBef>
              <a:spcAft>
                <a:spcPts val="0"/>
              </a:spcAft>
              <a:buNone/>
            </a:pPr>
            <a:r>
              <a:t/>
            </a:r>
            <a:endParaRPr sz="2000"/>
          </a:p>
          <a:p>
            <a:pPr indent="0" lvl="0" marL="0" rtl="0" algn="l">
              <a:lnSpc>
                <a:spcPct val="200000"/>
              </a:lnSpc>
              <a:spcBef>
                <a:spcPts val="1000"/>
              </a:spcBef>
              <a:spcAft>
                <a:spcPts val="0"/>
              </a:spcAft>
              <a:buNone/>
            </a:pPr>
            <a:r>
              <a:t/>
            </a:r>
            <a:endParaRPr sz="2000"/>
          </a:p>
          <a:p>
            <a:pPr indent="0" lvl="0" marL="0" rtl="0" algn="l">
              <a:lnSpc>
                <a:spcPct val="200000"/>
              </a:lnSpc>
              <a:spcBef>
                <a:spcPts val="1000"/>
              </a:spcBef>
              <a:spcAft>
                <a:spcPts val="1000"/>
              </a:spcAft>
              <a:buNone/>
            </a:pPr>
            <a:r>
              <a:t/>
            </a:r>
            <a:endParaRPr sz="2000"/>
          </a:p>
        </p:txBody>
      </p:sp>
      <p:sp>
        <p:nvSpPr>
          <p:cNvPr id="883" name="Google Shape;883;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graphicFrame>
        <p:nvGraphicFramePr>
          <p:cNvPr id="884" name="Google Shape;884;p73"/>
          <p:cNvGraphicFramePr/>
          <p:nvPr/>
        </p:nvGraphicFramePr>
        <p:xfrm>
          <a:off x="866263" y="1682418"/>
          <a:ext cx="3000000" cy="3000000"/>
        </p:xfrm>
        <a:graphic>
          <a:graphicData uri="http://schemas.openxmlformats.org/drawingml/2006/table">
            <a:tbl>
              <a:tblPr>
                <a:noFill/>
                <a:tableStyleId>{681F5079-2932-4BF5-A27F-156CD3D16ADE}</a:tableStyleId>
              </a:tblPr>
              <a:tblGrid>
                <a:gridCol w="502450"/>
                <a:gridCol w="502450"/>
                <a:gridCol w="502450"/>
                <a:gridCol w="502450"/>
                <a:gridCol w="502450"/>
                <a:gridCol w="502450"/>
                <a:gridCol w="502450"/>
                <a:gridCol w="502450"/>
                <a:gridCol w="502450"/>
                <a:gridCol w="5024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graphicFrame>
        <p:nvGraphicFramePr>
          <p:cNvPr id="885" name="Google Shape;885;p73"/>
          <p:cNvGraphicFramePr/>
          <p:nvPr/>
        </p:nvGraphicFramePr>
        <p:xfrm>
          <a:off x="862875" y="1679597"/>
          <a:ext cx="3000000" cy="3000000"/>
        </p:xfrm>
        <a:graphic>
          <a:graphicData uri="http://schemas.openxmlformats.org/drawingml/2006/table">
            <a:tbl>
              <a:tblPr>
                <a:noFill/>
                <a:tableStyleId>{681F5079-2932-4BF5-A27F-156CD3D16ADE}</a:tableStyleId>
              </a:tblPr>
              <a:tblGrid>
                <a:gridCol w="3502400"/>
              </a:tblGrid>
              <a:tr h="75200">
                <a:tc>
                  <a:txBody>
                    <a:bodyPr/>
                    <a:lstStyle/>
                    <a:p>
                      <a:pPr indent="0" lvl="0" marL="0" rtl="0" algn="ctr">
                        <a:spcBef>
                          <a:spcPts val="0"/>
                        </a:spcBef>
                        <a:spcAft>
                          <a:spcPts val="0"/>
                        </a:spcAft>
                        <a:buNone/>
                      </a:pPr>
                      <a:r>
                        <a:t/>
                      </a:r>
                      <a:endParaRPr>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845AD9">
                        <a:alpha val="50000"/>
                      </a:srgbClr>
                    </a:solidFill>
                  </a:tcPr>
                </a:tc>
              </a:tr>
            </a:tbl>
          </a:graphicData>
        </a:graphic>
      </p:graphicFrame>
      <p:grpSp>
        <p:nvGrpSpPr>
          <p:cNvPr id="886" name="Google Shape;886;p73"/>
          <p:cNvGrpSpPr/>
          <p:nvPr/>
        </p:nvGrpSpPr>
        <p:grpSpPr>
          <a:xfrm>
            <a:off x="881025" y="2134575"/>
            <a:ext cx="5024443" cy="527075"/>
            <a:chOff x="889813" y="3533399"/>
            <a:chExt cx="5213700" cy="527075"/>
          </a:xfrm>
        </p:grpSpPr>
        <p:sp>
          <p:nvSpPr>
            <p:cNvPr id="887" name="Google Shape;887;p73"/>
            <p:cNvSpPr/>
            <p:nvPr/>
          </p:nvSpPr>
          <p:spPr>
            <a:xfrm rot="-5400000">
              <a:off x="3421663" y="1001549"/>
              <a:ext cx="1500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8" name="Google Shape;888;p73"/>
            <p:cNvSpPr txBox="1"/>
            <p:nvPr/>
          </p:nvSpPr>
          <p:spPr>
            <a:xfrm>
              <a:off x="2929092" y="3721773"/>
              <a:ext cx="1598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20</a:t>
              </a:r>
              <a:endParaRPr sz="2200">
                <a:solidFill>
                  <a:srgbClr val="000000"/>
                </a:solidFill>
                <a:latin typeface="Lexend"/>
                <a:ea typeface="Lexend"/>
                <a:cs typeface="Lexend"/>
                <a:sym typeface="Lexend"/>
              </a:endParaRPr>
            </a:p>
          </p:txBody>
        </p:sp>
      </p:grpSp>
      <p:sp>
        <p:nvSpPr>
          <p:cNvPr id="889" name="Google Shape;889;p73"/>
          <p:cNvSpPr/>
          <p:nvPr/>
        </p:nvSpPr>
        <p:spPr>
          <a:xfrm rot="5400000">
            <a:off x="5030275" y="794625"/>
            <a:ext cx="199800" cy="1487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0" name="Google Shape;890;p73"/>
          <p:cNvSpPr txBox="1"/>
          <p:nvPr/>
        </p:nvSpPr>
        <p:spPr>
          <a:xfrm>
            <a:off x="4800719" y="1172650"/>
            <a:ext cx="798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30%</a:t>
            </a:r>
            <a:endParaRPr sz="1800">
              <a:solidFill>
                <a:srgbClr val="000000"/>
              </a:solidFill>
              <a:latin typeface="Lexend"/>
              <a:ea typeface="Lexend"/>
              <a:cs typeface="Lexend"/>
              <a:sym typeface="Lexend"/>
            </a:endParaRPr>
          </a:p>
        </p:txBody>
      </p:sp>
      <p:sp>
        <p:nvSpPr>
          <p:cNvPr id="891" name="Google Shape;891;p73"/>
          <p:cNvSpPr txBox="1"/>
          <p:nvPr/>
        </p:nvSpPr>
        <p:spPr>
          <a:xfrm>
            <a:off x="4437199" y="1595825"/>
            <a:ext cx="4683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2</a:t>
            </a:r>
            <a:endParaRPr sz="2500">
              <a:solidFill>
                <a:schemeClr val="dk2"/>
              </a:solidFill>
              <a:latin typeface="Lexend"/>
              <a:ea typeface="Lexend"/>
              <a:cs typeface="Lexend"/>
              <a:sym typeface="Lexend"/>
            </a:endParaRPr>
          </a:p>
        </p:txBody>
      </p:sp>
      <p:graphicFrame>
        <p:nvGraphicFramePr>
          <p:cNvPr id="892" name="Google Shape;892;p73"/>
          <p:cNvGraphicFramePr/>
          <p:nvPr/>
        </p:nvGraphicFramePr>
        <p:xfrm>
          <a:off x="881075" y="3879775"/>
          <a:ext cx="3000000" cy="3000000"/>
        </p:xfrm>
        <a:graphic>
          <a:graphicData uri="http://schemas.openxmlformats.org/drawingml/2006/table">
            <a:tbl>
              <a:tblPr>
                <a:noFill/>
                <a:tableStyleId>{681F5079-2932-4BF5-A27F-156CD3D16ADE}</a:tableStyleId>
              </a:tblPr>
              <a:tblGrid>
                <a:gridCol w="556950"/>
                <a:gridCol w="556950"/>
                <a:gridCol w="556950"/>
                <a:gridCol w="556950"/>
                <a:gridCol w="556950"/>
                <a:gridCol w="556950"/>
                <a:gridCol w="556950"/>
                <a:gridCol w="556950"/>
                <a:gridCol w="556950"/>
                <a:gridCol w="556950"/>
              </a:tblGrid>
              <a:tr h="381000">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solid"/>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solid"/>
                      <a:round/>
                      <a:headEnd len="sm" w="sm" type="none"/>
                      <a:tailEnd len="sm" w="sm" type="none"/>
                    </a:lnT>
                    <a:lnB cap="flat" cmpd="sng" w="2857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rtl="0" algn="l">
                        <a:spcBef>
                          <a:spcPts val="0"/>
                        </a:spcBef>
                        <a:spcAft>
                          <a:spcPts val="0"/>
                        </a:spcAft>
                        <a:buNone/>
                      </a:pPr>
                      <a:r>
                        <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grpSp>
        <p:nvGrpSpPr>
          <p:cNvPr id="893" name="Google Shape;893;p73"/>
          <p:cNvGrpSpPr/>
          <p:nvPr/>
        </p:nvGrpSpPr>
        <p:grpSpPr>
          <a:xfrm>
            <a:off x="862921" y="4355975"/>
            <a:ext cx="5615155" cy="474021"/>
            <a:chOff x="889823" y="3483638"/>
            <a:chExt cx="5213700" cy="508988"/>
          </a:xfrm>
        </p:grpSpPr>
        <p:sp>
          <p:nvSpPr>
            <p:cNvPr id="894" name="Google Shape;894;p73"/>
            <p:cNvSpPr/>
            <p:nvPr/>
          </p:nvSpPr>
          <p:spPr>
            <a:xfrm rot="-5400000">
              <a:off x="3433073" y="940388"/>
              <a:ext cx="127200" cy="5213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5" name="Google Shape;895;p73"/>
            <p:cNvSpPr txBox="1"/>
            <p:nvPr/>
          </p:nvSpPr>
          <p:spPr>
            <a:xfrm>
              <a:off x="2700504" y="3629026"/>
              <a:ext cx="2327700" cy="36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60</a:t>
              </a:r>
              <a:endParaRPr sz="2200">
                <a:solidFill>
                  <a:srgbClr val="000000"/>
                </a:solidFill>
                <a:latin typeface="Lexend"/>
                <a:ea typeface="Lexend"/>
                <a:cs typeface="Lexend"/>
                <a:sym typeface="Lexend"/>
              </a:endParaRPr>
            </a:p>
          </p:txBody>
        </p:sp>
      </p:grpSp>
      <p:graphicFrame>
        <p:nvGraphicFramePr>
          <p:cNvPr id="896" name="Google Shape;896;p73"/>
          <p:cNvGraphicFramePr/>
          <p:nvPr/>
        </p:nvGraphicFramePr>
        <p:xfrm>
          <a:off x="891188" y="3879786"/>
          <a:ext cx="3000000" cy="3000000"/>
        </p:xfrm>
        <a:graphic>
          <a:graphicData uri="http://schemas.openxmlformats.org/drawingml/2006/table">
            <a:tbl>
              <a:tblPr>
                <a:noFill/>
                <a:tableStyleId>{681F5079-2932-4BF5-A27F-156CD3D16ADE}</a:tableStyleId>
              </a:tblPr>
              <a:tblGrid>
                <a:gridCol w="3071475"/>
              </a:tblGrid>
              <a:tr h="75200">
                <a:tc>
                  <a:txBody>
                    <a:bodyPr/>
                    <a:lstStyle/>
                    <a:p>
                      <a:pPr indent="0" lvl="0" marL="0" rtl="0" algn="ctr">
                        <a:spcBef>
                          <a:spcPts val="0"/>
                        </a:spcBef>
                        <a:spcAft>
                          <a:spcPts val="0"/>
                        </a:spcAft>
                        <a:buNone/>
                      </a:pPr>
                      <a:r>
                        <a:t/>
                      </a:r>
                      <a:endParaRPr>
                        <a:latin typeface="Lexend"/>
                        <a:ea typeface="Lexend"/>
                        <a:cs typeface="Lexend"/>
                        <a:sym typeface="Lexend"/>
                      </a:endParaRPr>
                    </a:p>
                  </a:txBody>
                  <a:tcPr marT="91425" marB="91425" marR="91425" marL="91425">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rgbClr val="F6B26B">
                        <a:alpha val="53160"/>
                      </a:srgbClr>
                    </a:solidFill>
                  </a:tcPr>
                </a:tc>
              </a:tr>
            </a:tbl>
          </a:graphicData>
        </a:graphic>
      </p:graphicFrame>
      <p:sp>
        <p:nvSpPr>
          <p:cNvPr id="897" name="Google Shape;897;p73"/>
          <p:cNvSpPr txBox="1"/>
          <p:nvPr/>
        </p:nvSpPr>
        <p:spPr>
          <a:xfrm>
            <a:off x="4282842" y="3793175"/>
            <a:ext cx="3831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6</a:t>
            </a:r>
            <a:endParaRPr sz="2500">
              <a:solidFill>
                <a:schemeClr val="dk2"/>
              </a:solidFill>
              <a:latin typeface="Lexend"/>
              <a:ea typeface="Lexend"/>
              <a:cs typeface="Lexend"/>
              <a:sym typeface="Lexend"/>
            </a:endParaRPr>
          </a:p>
        </p:txBody>
      </p:sp>
      <p:sp>
        <p:nvSpPr>
          <p:cNvPr id="898" name="Google Shape;898;p73"/>
          <p:cNvSpPr/>
          <p:nvPr/>
        </p:nvSpPr>
        <p:spPr>
          <a:xfrm rot="5400000">
            <a:off x="5100125" y="2510775"/>
            <a:ext cx="199800" cy="2474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9" name="Google Shape;899;p73"/>
          <p:cNvSpPr txBox="1"/>
          <p:nvPr/>
        </p:nvSpPr>
        <p:spPr>
          <a:xfrm>
            <a:off x="4905494" y="3339275"/>
            <a:ext cx="7986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45</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00" name="Google Shape;900;p73"/>
          <p:cNvSpPr txBox="1"/>
          <p:nvPr/>
        </p:nvSpPr>
        <p:spPr>
          <a:xfrm>
            <a:off x="4894399" y="1595825"/>
            <a:ext cx="4683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2</a:t>
            </a:r>
            <a:endParaRPr sz="2500">
              <a:solidFill>
                <a:schemeClr val="dk2"/>
              </a:solidFill>
              <a:latin typeface="Lexend"/>
              <a:ea typeface="Lexend"/>
              <a:cs typeface="Lexend"/>
              <a:sym typeface="Lexend"/>
            </a:endParaRPr>
          </a:p>
        </p:txBody>
      </p:sp>
      <p:sp>
        <p:nvSpPr>
          <p:cNvPr id="901" name="Google Shape;901;p73"/>
          <p:cNvSpPr txBox="1"/>
          <p:nvPr/>
        </p:nvSpPr>
        <p:spPr>
          <a:xfrm>
            <a:off x="5351599" y="1595825"/>
            <a:ext cx="4683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2</a:t>
            </a:r>
            <a:endParaRPr sz="2500">
              <a:solidFill>
                <a:schemeClr val="dk2"/>
              </a:solidFill>
              <a:latin typeface="Lexend"/>
              <a:ea typeface="Lexend"/>
              <a:cs typeface="Lexend"/>
              <a:sym typeface="Lexend"/>
            </a:endParaRPr>
          </a:p>
        </p:txBody>
      </p:sp>
      <p:sp>
        <p:nvSpPr>
          <p:cNvPr id="902" name="Google Shape;902;p73"/>
          <p:cNvSpPr txBox="1"/>
          <p:nvPr/>
        </p:nvSpPr>
        <p:spPr>
          <a:xfrm>
            <a:off x="6007950" y="1552450"/>
            <a:ext cx="2890800" cy="41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Decreasing 20 by 30%</a:t>
            </a:r>
            <a:endParaRPr sz="1800">
              <a:solidFill>
                <a:schemeClr val="dk1"/>
              </a:solidFill>
              <a:latin typeface="Kalam"/>
              <a:ea typeface="Kalam"/>
              <a:cs typeface="Kalam"/>
              <a:sym typeface="Kalam"/>
            </a:endParaRPr>
          </a:p>
          <a:p>
            <a:pPr indent="0" lvl="0" marL="0" rtl="0" algn="ctr">
              <a:spcBef>
                <a:spcPts val="0"/>
              </a:spcBef>
              <a:spcAft>
                <a:spcPts val="0"/>
              </a:spcAft>
              <a:buNone/>
            </a:pPr>
            <a:r>
              <a:rPr lang="en-GB" sz="1800">
                <a:solidFill>
                  <a:schemeClr val="dk1"/>
                </a:solidFill>
                <a:latin typeface="Kalam"/>
                <a:ea typeface="Kalam"/>
                <a:cs typeface="Kalam"/>
                <a:sym typeface="Kalam"/>
              </a:rPr>
              <a:t>= 20 − 6 =14 </a:t>
            </a:r>
            <a:endParaRPr sz="1800">
              <a:solidFill>
                <a:schemeClr val="dk1"/>
              </a:solidFill>
              <a:latin typeface="Kalam"/>
              <a:ea typeface="Kalam"/>
              <a:cs typeface="Kalam"/>
              <a:sym typeface="Kalam"/>
            </a:endParaRPr>
          </a:p>
        </p:txBody>
      </p:sp>
      <p:sp>
        <p:nvSpPr>
          <p:cNvPr id="903" name="Google Shape;903;p73"/>
          <p:cNvSpPr txBox="1"/>
          <p:nvPr/>
        </p:nvSpPr>
        <p:spPr>
          <a:xfrm>
            <a:off x="4869902" y="3793175"/>
            <a:ext cx="3831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6</a:t>
            </a:r>
            <a:endParaRPr sz="2500">
              <a:solidFill>
                <a:schemeClr val="dk2"/>
              </a:solidFill>
              <a:latin typeface="Lexend"/>
              <a:ea typeface="Lexend"/>
              <a:cs typeface="Lexend"/>
              <a:sym typeface="Lexend"/>
            </a:endParaRPr>
          </a:p>
        </p:txBody>
      </p:sp>
      <p:sp>
        <p:nvSpPr>
          <p:cNvPr id="904" name="Google Shape;904;p73"/>
          <p:cNvSpPr txBox="1"/>
          <p:nvPr/>
        </p:nvSpPr>
        <p:spPr>
          <a:xfrm>
            <a:off x="5403302" y="3793175"/>
            <a:ext cx="3831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6</a:t>
            </a:r>
            <a:endParaRPr sz="2500">
              <a:solidFill>
                <a:schemeClr val="dk2"/>
              </a:solidFill>
              <a:latin typeface="Lexend"/>
              <a:ea typeface="Lexend"/>
              <a:cs typeface="Lexend"/>
              <a:sym typeface="Lexend"/>
            </a:endParaRPr>
          </a:p>
        </p:txBody>
      </p:sp>
      <p:sp>
        <p:nvSpPr>
          <p:cNvPr id="905" name="Google Shape;905;p73"/>
          <p:cNvSpPr txBox="1"/>
          <p:nvPr/>
        </p:nvSpPr>
        <p:spPr>
          <a:xfrm>
            <a:off x="5985855" y="3793175"/>
            <a:ext cx="3831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6</a:t>
            </a:r>
            <a:endParaRPr sz="2500">
              <a:solidFill>
                <a:schemeClr val="dk2"/>
              </a:solidFill>
              <a:latin typeface="Lexend"/>
              <a:ea typeface="Lexend"/>
              <a:cs typeface="Lexend"/>
              <a:sym typeface="Lexend"/>
            </a:endParaRPr>
          </a:p>
        </p:txBody>
      </p:sp>
      <p:sp>
        <p:nvSpPr>
          <p:cNvPr id="906" name="Google Shape;906;p73"/>
          <p:cNvSpPr txBox="1"/>
          <p:nvPr/>
        </p:nvSpPr>
        <p:spPr>
          <a:xfrm>
            <a:off x="3880980" y="3793175"/>
            <a:ext cx="3831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500">
                <a:solidFill>
                  <a:schemeClr val="dk2"/>
                </a:solidFill>
                <a:latin typeface="Lexend"/>
                <a:ea typeface="Lexend"/>
                <a:cs typeface="Lexend"/>
                <a:sym typeface="Lexend"/>
              </a:rPr>
              <a:t>3</a:t>
            </a:r>
            <a:endParaRPr sz="2500">
              <a:solidFill>
                <a:schemeClr val="dk2"/>
              </a:solidFill>
              <a:latin typeface="Lexend"/>
              <a:ea typeface="Lexend"/>
              <a:cs typeface="Lexend"/>
              <a:sym typeface="Lexend"/>
            </a:endParaRPr>
          </a:p>
        </p:txBody>
      </p:sp>
      <p:sp>
        <p:nvSpPr>
          <p:cNvPr id="907" name="Google Shape;907;p73"/>
          <p:cNvSpPr txBox="1"/>
          <p:nvPr/>
        </p:nvSpPr>
        <p:spPr>
          <a:xfrm>
            <a:off x="6523750" y="3701875"/>
            <a:ext cx="2404200" cy="41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Decreasing 60 by 45%</a:t>
            </a:r>
            <a:endParaRPr sz="1800">
              <a:solidFill>
                <a:schemeClr val="dk1"/>
              </a:solidFill>
              <a:latin typeface="Kalam"/>
              <a:ea typeface="Kalam"/>
              <a:cs typeface="Kalam"/>
              <a:sym typeface="Kalam"/>
            </a:endParaRPr>
          </a:p>
          <a:p>
            <a:pPr indent="0" lvl="0" marL="0" rtl="0" algn="ctr">
              <a:spcBef>
                <a:spcPts val="0"/>
              </a:spcBef>
              <a:spcAft>
                <a:spcPts val="0"/>
              </a:spcAft>
              <a:buNone/>
            </a:pPr>
            <a:r>
              <a:rPr lang="en-GB" sz="1800">
                <a:solidFill>
                  <a:schemeClr val="dk1"/>
                </a:solidFill>
                <a:latin typeface="Kalam"/>
                <a:ea typeface="Kalam"/>
                <a:cs typeface="Kalam"/>
                <a:sym typeface="Kalam"/>
              </a:rPr>
              <a:t>= 60 − 27 = 33 </a:t>
            </a:r>
            <a:endParaRPr sz="1800">
              <a:solidFill>
                <a:schemeClr val="dk1"/>
              </a:solidFill>
              <a:latin typeface="Kalam"/>
              <a:ea typeface="Kalam"/>
              <a:cs typeface="Kalam"/>
              <a:sym typeface="Kalam"/>
            </a:endParaRPr>
          </a:p>
        </p:txBody>
      </p:sp>
      <p:sp>
        <p:nvSpPr>
          <p:cNvPr id="908" name="Google Shape;908;p73"/>
          <p:cNvSpPr txBox="1"/>
          <p:nvPr>
            <p:ph idx="1" type="body"/>
          </p:nvPr>
        </p:nvSpPr>
        <p:spPr>
          <a:xfrm>
            <a:off x="314116" y="2974131"/>
            <a:ext cx="8237700" cy="48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Draw a bar model to work out and represent 60 decreased by 45%</a:t>
            </a:r>
            <a:endParaRPr sz="700"/>
          </a:p>
          <a:p>
            <a:pPr indent="0" lvl="0" marL="0" rtl="0" algn="l">
              <a:lnSpc>
                <a:spcPct val="200000"/>
              </a:lnSpc>
              <a:spcBef>
                <a:spcPts val="1000"/>
              </a:spcBef>
              <a:spcAft>
                <a:spcPts val="0"/>
              </a:spcAft>
              <a:buNone/>
            </a:pPr>
            <a:r>
              <a:t/>
            </a:r>
            <a:endParaRPr sz="2000"/>
          </a:p>
          <a:p>
            <a:pPr indent="0" lvl="0" marL="0" rtl="0" algn="l">
              <a:lnSpc>
                <a:spcPct val="200000"/>
              </a:lnSpc>
              <a:spcBef>
                <a:spcPts val="1000"/>
              </a:spcBef>
              <a:spcAft>
                <a:spcPts val="1000"/>
              </a:spcAft>
              <a:buNone/>
            </a:pPr>
            <a:r>
              <a:t/>
            </a:r>
            <a:endParaRPr sz="2000"/>
          </a:p>
        </p:txBody>
      </p:sp>
      <p:sp>
        <p:nvSpPr>
          <p:cNvPr id="909" name="Google Shape;909;p73"/>
          <p:cNvSpPr txBox="1"/>
          <p:nvPr/>
        </p:nvSpPr>
        <p:spPr>
          <a:xfrm>
            <a:off x="-907150" y="2642050"/>
            <a:ext cx="4905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dk1"/>
              </a:solidFill>
              <a:latin typeface="Lexend"/>
              <a:ea typeface="Lexend"/>
              <a:cs typeface="Lexend"/>
              <a:sym typeface="Lexend"/>
            </a:endParaRPr>
          </a:p>
        </p:txBody>
      </p:sp>
      <p:sp>
        <p:nvSpPr>
          <p:cNvPr id="910" name="Google Shape;910;p73"/>
          <p:cNvSpPr txBox="1"/>
          <p:nvPr>
            <p:ph idx="1" type="body"/>
          </p:nvPr>
        </p:nvSpPr>
        <p:spPr>
          <a:xfrm>
            <a:off x="331050" y="1384175"/>
            <a:ext cx="612300" cy="48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a:t>
            </a:r>
            <a:endParaRPr sz="2000"/>
          </a:p>
          <a:p>
            <a:pPr indent="0" lvl="0" marL="0" rtl="0" algn="l">
              <a:lnSpc>
                <a:spcPct val="100000"/>
              </a:lnSpc>
              <a:spcBef>
                <a:spcPts val="1000"/>
              </a:spcBef>
              <a:spcAft>
                <a:spcPts val="0"/>
              </a:spcAft>
              <a:buNone/>
            </a:pPr>
            <a:r>
              <a:t/>
            </a:r>
            <a:endParaRPr sz="2000"/>
          </a:p>
          <a:p>
            <a:pPr indent="0" lvl="0" marL="0" rtl="0" algn="l">
              <a:lnSpc>
                <a:spcPct val="200000"/>
              </a:lnSpc>
              <a:spcBef>
                <a:spcPts val="1000"/>
              </a:spcBef>
              <a:spcAft>
                <a:spcPts val="0"/>
              </a:spcAft>
              <a:buNone/>
            </a:pPr>
            <a:r>
              <a:t/>
            </a:r>
            <a:endParaRPr sz="2000"/>
          </a:p>
          <a:p>
            <a:pPr indent="0" lvl="0" marL="0" rtl="0" algn="l">
              <a:lnSpc>
                <a:spcPct val="200000"/>
              </a:lnSpc>
              <a:spcBef>
                <a:spcPts val="1000"/>
              </a:spcBef>
              <a:spcAft>
                <a:spcPts val="1000"/>
              </a:spcAft>
              <a:buNone/>
            </a:pPr>
            <a:r>
              <a:t/>
            </a:r>
            <a:endParaRPr sz="2000"/>
          </a:p>
        </p:txBody>
      </p:sp>
      <p:sp>
        <p:nvSpPr>
          <p:cNvPr id="911" name="Google Shape;911;p73"/>
          <p:cNvSpPr txBox="1"/>
          <p:nvPr>
            <p:ph idx="1" type="body"/>
          </p:nvPr>
        </p:nvSpPr>
        <p:spPr>
          <a:xfrm>
            <a:off x="331050" y="3517775"/>
            <a:ext cx="612300" cy="48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b</a:t>
            </a:r>
            <a:r>
              <a:rPr lang="en-GB" sz="2000"/>
              <a:t>)</a:t>
            </a:r>
            <a:endParaRPr sz="2000"/>
          </a:p>
          <a:p>
            <a:pPr indent="0" lvl="0" marL="0" rtl="0" algn="l">
              <a:lnSpc>
                <a:spcPct val="100000"/>
              </a:lnSpc>
              <a:spcBef>
                <a:spcPts val="1000"/>
              </a:spcBef>
              <a:spcAft>
                <a:spcPts val="0"/>
              </a:spcAft>
              <a:buNone/>
            </a:pPr>
            <a:r>
              <a:t/>
            </a:r>
            <a:endParaRPr sz="2000"/>
          </a:p>
          <a:p>
            <a:pPr indent="0" lvl="0" marL="0" rtl="0" algn="l">
              <a:lnSpc>
                <a:spcPct val="200000"/>
              </a:lnSpc>
              <a:spcBef>
                <a:spcPts val="1000"/>
              </a:spcBef>
              <a:spcAft>
                <a:spcPts val="0"/>
              </a:spcAft>
              <a:buNone/>
            </a:pPr>
            <a:r>
              <a:t/>
            </a:r>
            <a:endParaRPr sz="2000"/>
          </a:p>
          <a:p>
            <a:pPr indent="0" lvl="0" marL="0" rtl="0" algn="l">
              <a:lnSpc>
                <a:spcPct val="200000"/>
              </a:lnSpc>
              <a:spcBef>
                <a:spcPts val="1000"/>
              </a:spcBef>
              <a:spcAft>
                <a:spcPts val="1000"/>
              </a:spcAft>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7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917" name="Google Shape;917;p74"/>
          <p:cNvSpPr txBox="1"/>
          <p:nvPr>
            <p:ph idx="4294967295" type="body"/>
          </p:nvPr>
        </p:nvSpPr>
        <p:spPr>
          <a:xfrm>
            <a:off x="324000" y="683100"/>
            <a:ext cx="8237700" cy="4872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Pair up the equivalent questions:</a:t>
            </a:r>
            <a:endParaRPr/>
          </a:p>
          <a:p>
            <a:pPr indent="0" lvl="0" marL="0" rtl="0" algn="l">
              <a:lnSpc>
                <a:spcPct val="100000"/>
              </a:lnSpc>
              <a:spcBef>
                <a:spcPts val="1000"/>
              </a:spcBef>
              <a:spcAft>
                <a:spcPts val="0"/>
              </a:spcAft>
              <a:buNone/>
            </a:pPr>
            <a:r>
              <a:t/>
            </a:r>
            <a:endParaRPr sz="1100"/>
          </a:p>
          <a:p>
            <a:pPr indent="0" lvl="0" marL="0" rtl="0" algn="l">
              <a:lnSpc>
                <a:spcPct val="200000"/>
              </a:lnSpc>
              <a:spcBef>
                <a:spcPts val="1000"/>
              </a:spcBef>
              <a:spcAft>
                <a:spcPts val="1000"/>
              </a:spcAft>
              <a:buNone/>
            </a:pPr>
            <a:r>
              <a:t/>
            </a:r>
            <a:endParaRPr/>
          </a:p>
        </p:txBody>
      </p:sp>
      <p:sp>
        <p:nvSpPr>
          <p:cNvPr id="918" name="Google Shape;918;p74"/>
          <p:cNvSpPr/>
          <p:nvPr/>
        </p:nvSpPr>
        <p:spPr>
          <a:xfrm>
            <a:off x="648500" y="1206950"/>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Decrease 50 by 30%</a:t>
            </a:r>
            <a:endParaRPr sz="2200">
              <a:latin typeface="Lexend"/>
              <a:ea typeface="Lexend"/>
              <a:cs typeface="Lexend"/>
              <a:sym typeface="Lexend"/>
            </a:endParaRPr>
          </a:p>
        </p:txBody>
      </p:sp>
      <p:sp>
        <p:nvSpPr>
          <p:cNvPr id="919" name="Google Shape;919;p74"/>
          <p:cNvSpPr/>
          <p:nvPr/>
        </p:nvSpPr>
        <p:spPr>
          <a:xfrm>
            <a:off x="648500" y="2097588"/>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Work out 97% of 50</a:t>
            </a:r>
            <a:endParaRPr sz="2200">
              <a:latin typeface="Lexend"/>
              <a:ea typeface="Lexend"/>
              <a:cs typeface="Lexend"/>
              <a:sym typeface="Lexend"/>
            </a:endParaRPr>
          </a:p>
        </p:txBody>
      </p:sp>
      <p:sp>
        <p:nvSpPr>
          <p:cNvPr id="920" name="Google Shape;920;p74"/>
          <p:cNvSpPr/>
          <p:nvPr/>
        </p:nvSpPr>
        <p:spPr>
          <a:xfrm>
            <a:off x="648500" y="2988226"/>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Decrease 50 by 20%</a:t>
            </a:r>
            <a:endParaRPr sz="2200">
              <a:latin typeface="Lexend"/>
              <a:ea typeface="Lexend"/>
              <a:cs typeface="Lexend"/>
              <a:sym typeface="Lexend"/>
            </a:endParaRPr>
          </a:p>
        </p:txBody>
      </p:sp>
      <p:sp>
        <p:nvSpPr>
          <p:cNvPr id="921" name="Google Shape;921;p74"/>
          <p:cNvSpPr/>
          <p:nvPr/>
        </p:nvSpPr>
        <p:spPr>
          <a:xfrm>
            <a:off x="648500" y="3878864"/>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Work out 145% of 50</a:t>
            </a:r>
            <a:endParaRPr sz="2200">
              <a:latin typeface="Lexend"/>
              <a:ea typeface="Lexend"/>
              <a:cs typeface="Lexend"/>
              <a:sym typeface="Lexend"/>
            </a:endParaRPr>
          </a:p>
        </p:txBody>
      </p:sp>
      <p:sp>
        <p:nvSpPr>
          <p:cNvPr id="922" name="Google Shape;922;p74"/>
          <p:cNvSpPr/>
          <p:nvPr/>
        </p:nvSpPr>
        <p:spPr>
          <a:xfrm>
            <a:off x="4763300" y="1206950"/>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Work out 80% of 50</a:t>
            </a:r>
            <a:endParaRPr sz="2200">
              <a:latin typeface="Lexend"/>
              <a:ea typeface="Lexend"/>
              <a:cs typeface="Lexend"/>
              <a:sym typeface="Lexend"/>
            </a:endParaRPr>
          </a:p>
        </p:txBody>
      </p:sp>
      <p:sp>
        <p:nvSpPr>
          <p:cNvPr id="923" name="Google Shape;923;p74"/>
          <p:cNvSpPr/>
          <p:nvPr/>
        </p:nvSpPr>
        <p:spPr>
          <a:xfrm>
            <a:off x="4763300" y="2097588"/>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Increase 50 by 45%</a:t>
            </a:r>
            <a:endParaRPr sz="2200">
              <a:latin typeface="Lexend"/>
              <a:ea typeface="Lexend"/>
              <a:cs typeface="Lexend"/>
              <a:sym typeface="Lexend"/>
            </a:endParaRPr>
          </a:p>
        </p:txBody>
      </p:sp>
      <p:sp>
        <p:nvSpPr>
          <p:cNvPr id="924" name="Google Shape;924;p74"/>
          <p:cNvSpPr/>
          <p:nvPr/>
        </p:nvSpPr>
        <p:spPr>
          <a:xfrm>
            <a:off x="4763300" y="2988226"/>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Work out 70% of 50</a:t>
            </a:r>
            <a:endParaRPr sz="2200">
              <a:latin typeface="Lexend"/>
              <a:ea typeface="Lexend"/>
              <a:cs typeface="Lexend"/>
              <a:sym typeface="Lexend"/>
            </a:endParaRPr>
          </a:p>
        </p:txBody>
      </p:sp>
      <p:sp>
        <p:nvSpPr>
          <p:cNvPr id="925" name="Google Shape;925;p74"/>
          <p:cNvSpPr/>
          <p:nvPr/>
        </p:nvSpPr>
        <p:spPr>
          <a:xfrm>
            <a:off x="4763300" y="3878864"/>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Decrease 50 by 3%</a:t>
            </a:r>
            <a:endParaRPr sz="2200">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931" name="Google Shape;931;p75"/>
          <p:cNvSpPr txBox="1"/>
          <p:nvPr>
            <p:ph idx="4294967295" type="body"/>
          </p:nvPr>
        </p:nvSpPr>
        <p:spPr>
          <a:xfrm>
            <a:off x="324000" y="759300"/>
            <a:ext cx="8237700" cy="40659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sz="1800"/>
              <a:t>2) Fill in the bar model and missing information to show:</a:t>
            </a:r>
            <a:endParaRPr/>
          </a:p>
          <a:p>
            <a:pPr indent="0" lvl="0" marL="88900" rtl="0" algn="l">
              <a:lnSpc>
                <a:spcPct val="115000"/>
              </a:lnSpc>
              <a:spcBef>
                <a:spcPts val="0"/>
              </a:spcBef>
              <a:spcAft>
                <a:spcPts val="0"/>
              </a:spcAft>
              <a:buSzPts val="2200"/>
              <a:buNone/>
            </a:pPr>
            <a:r>
              <a:t/>
            </a:r>
            <a:endParaRPr sz="100"/>
          </a:p>
          <a:p>
            <a:pPr indent="0" lvl="0" marL="88900" rtl="0" algn="l">
              <a:lnSpc>
                <a:spcPct val="115000"/>
              </a:lnSpc>
              <a:spcBef>
                <a:spcPts val="0"/>
              </a:spcBef>
              <a:spcAft>
                <a:spcPts val="0"/>
              </a:spcAft>
              <a:buSzPts val="2200"/>
              <a:buNone/>
            </a:pPr>
            <a:r>
              <a:rPr lang="en-GB" sz="1800"/>
              <a:t>a) 400 decreased by 30% is the same as 70</a:t>
            </a:r>
            <a:r>
              <a:rPr lang="en-GB" sz="1800"/>
              <a:t> </a:t>
            </a:r>
            <a:r>
              <a:rPr lang="en-GB" sz="1800"/>
              <a:t>% of 400</a:t>
            </a:r>
            <a:endParaRPr/>
          </a:p>
          <a:p>
            <a:pPr indent="0" lvl="0" marL="88900" rtl="0" algn="l">
              <a:lnSpc>
                <a:spcPct val="115000"/>
              </a:lnSpc>
              <a:spcBef>
                <a:spcPts val="0"/>
              </a:spcBef>
              <a:spcAft>
                <a:spcPts val="0"/>
              </a:spcAft>
              <a:buSzPts val="2200"/>
              <a:buNone/>
            </a:pPr>
            <a:r>
              <a:t/>
            </a:r>
            <a:endParaRPr sz="600"/>
          </a:p>
          <a:p>
            <a:pPr indent="0" lvl="0" marL="88900" rtl="0" algn="l">
              <a:lnSpc>
                <a:spcPct val="115000"/>
              </a:lnSpc>
              <a:spcBef>
                <a:spcPts val="0"/>
              </a:spcBef>
              <a:spcAft>
                <a:spcPts val="0"/>
              </a:spcAft>
              <a:buSzPts val="2200"/>
              <a:buNone/>
            </a:pPr>
            <a:r>
              <a:rPr lang="en-GB" sz="1800"/>
              <a:t>Answer = </a:t>
            </a:r>
            <a:r>
              <a:rPr lang="en-GB" sz="1800">
                <a:latin typeface="Kalam"/>
                <a:ea typeface="Kalam"/>
                <a:cs typeface="Kalam"/>
                <a:sym typeface="Kalam"/>
              </a:rPr>
              <a:t>280</a:t>
            </a:r>
            <a:endParaRPr/>
          </a:p>
          <a:p>
            <a:pPr indent="0" lvl="0" marL="88900" rtl="0" algn="l">
              <a:lnSpc>
                <a:spcPct val="115000"/>
              </a:lnSpc>
              <a:spcBef>
                <a:spcPts val="0"/>
              </a:spcBef>
              <a:spcAft>
                <a:spcPts val="0"/>
              </a:spcAft>
              <a:buSzPts val="2200"/>
              <a:buNone/>
            </a:pPr>
            <a:r>
              <a:t/>
            </a:r>
            <a:endParaRPr sz="1800"/>
          </a:p>
          <a:p>
            <a:pPr indent="0" lvl="0" marL="88900" rtl="0" algn="l">
              <a:lnSpc>
                <a:spcPct val="115000"/>
              </a:lnSpc>
              <a:spcBef>
                <a:spcPts val="0"/>
              </a:spcBef>
              <a:spcAft>
                <a:spcPts val="0"/>
              </a:spcAft>
              <a:buSzPts val="2200"/>
              <a:buNone/>
            </a:pPr>
            <a:r>
              <a:t/>
            </a:r>
            <a:endParaRPr sz="1800"/>
          </a:p>
          <a:p>
            <a:pPr indent="0" lvl="0" marL="88900" rtl="0" algn="l">
              <a:lnSpc>
                <a:spcPct val="115000"/>
              </a:lnSpc>
              <a:spcBef>
                <a:spcPts val="0"/>
              </a:spcBef>
              <a:spcAft>
                <a:spcPts val="0"/>
              </a:spcAft>
              <a:buSzPts val="2200"/>
              <a:buNone/>
            </a:pPr>
            <a:r>
              <a:rPr lang="en-GB" sz="1800"/>
              <a:t>b) 88 decreased by 20% is the same as 80</a:t>
            </a:r>
            <a:r>
              <a:rPr lang="en-GB" sz="1800"/>
              <a:t> </a:t>
            </a:r>
            <a:r>
              <a:rPr lang="en-GB" sz="1800"/>
              <a:t>% of 88</a:t>
            </a:r>
            <a:endParaRPr/>
          </a:p>
          <a:p>
            <a:pPr indent="0" lvl="0" marL="88900" rtl="0" algn="l">
              <a:lnSpc>
                <a:spcPct val="115000"/>
              </a:lnSpc>
              <a:spcBef>
                <a:spcPts val="0"/>
              </a:spcBef>
              <a:spcAft>
                <a:spcPts val="0"/>
              </a:spcAft>
              <a:buSzPts val="2200"/>
              <a:buNone/>
            </a:pPr>
            <a:r>
              <a:t/>
            </a:r>
            <a:endParaRPr sz="400"/>
          </a:p>
          <a:p>
            <a:pPr indent="0" lvl="0" marL="88900" rtl="0" algn="l">
              <a:lnSpc>
                <a:spcPct val="115000"/>
              </a:lnSpc>
              <a:spcBef>
                <a:spcPts val="0"/>
              </a:spcBef>
              <a:spcAft>
                <a:spcPts val="0"/>
              </a:spcAft>
              <a:buSzPts val="2200"/>
              <a:buNone/>
            </a:pPr>
            <a:r>
              <a:rPr lang="en-GB" sz="1800"/>
              <a:t>Answer = </a:t>
            </a:r>
            <a:r>
              <a:rPr lang="en-GB" sz="1800">
                <a:latin typeface="Kalam"/>
                <a:ea typeface="Kalam"/>
                <a:cs typeface="Kalam"/>
                <a:sym typeface="Kalam"/>
              </a:rPr>
              <a:t>70.4</a:t>
            </a:r>
            <a:endParaRPr/>
          </a:p>
          <a:p>
            <a:pPr indent="0" lvl="0" marL="88900" rtl="0" algn="l">
              <a:lnSpc>
                <a:spcPct val="115000"/>
              </a:lnSpc>
              <a:spcBef>
                <a:spcPts val="0"/>
              </a:spcBef>
              <a:spcAft>
                <a:spcPts val="0"/>
              </a:spcAft>
              <a:buSzPts val="2200"/>
              <a:buNone/>
            </a:pPr>
            <a:r>
              <a:t/>
            </a:r>
            <a:endParaRPr sz="1800"/>
          </a:p>
          <a:p>
            <a:pPr indent="0" lvl="0" marL="88900" rtl="0" algn="l">
              <a:lnSpc>
                <a:spcPct val="115000"/>
              </a:lnSpc>
              <a:spcBef>
                <a:spcPts val="0"/>
              </a:spcBef>
              <a:spcAft>
                <a:spcPts val="0"/>
              </a:spcAft>
              <a:buSzPts val="2200"/>
              <a:buNone/>
            </a:pPr>
            <a:r>
              <a:t/>
            </a:r>
            <a:endParaRPr sz="600"/>
          </a:p>
          <a:p>
            <a:pPr indent="0" lvl="0" marL="88900" rtl="0" algn="l">
              <a:lnSpc>
                <a:spcPct val="115000"/>
              </a:lnSpc>
              <a:spcBef>
                <a:spcPts val="0"/>
              </a:spcBef>
              <a:spcAft>
                <a:spcPts val="0"/>
              </a:spcAft>
              <a:buSzPts val="2200"/>
              <a:buNone/>
            </a:pPr>
            <a:r>
              <a:rPr lang="en-GB" sz="1800"/>
              <a:t>c) 64 decreased by 35</a:t>
            </a:r>
            <a:r>
              <a:rPr lang="en-GB" sz="1800"/>
              <a:t> </a:t>
            </a:r>
            <a:r>
              <a:rPr lang="en-GB" sz="1800"/>
              <a:t>% is the same as 65% of 64</a:t>
            </a:r>
            <a:endParaRPr/>
          </a:p>
          <a:p>
            <a:pPr indent="0" lvl="0" marL="88900" rtl="0" algn="l">
              <a:lnSpc>
                <a:spcPct val="115000"/>
              </a:lnSpc>
              <a:spcBef>
                <a:spcPts val="0"/>
              </a:spcBef>
              <a:spcAft>
                <a:spcPts val="0"/>
              </a:spcAft>
              <a:buSzPts val="2200"/>
              <a:buNone/>
            </a:pPr>
            <a:r>
              <a:t/>
            </a:r>
            <a:endParaRPr sz="600"/>
          </a:p>
          <a:p>
            <a:pPr indent="0" lvl="0" marL="88900" rtl="0" algn="l">
              <a:lnSpc>
                <a:spcPct val="115000"/>
              </a:lnSpc>
              <a:spcBef>
                <a:spcPts val="0"/>
              </a:spcBef>
              <a:spcAft>
                <a:spcPts val="0"/>
              </a:spcAft>
              <a:buSzPts val="2200"/>
              <a:buNone/>
            </a:pPr>
            <a:r>
              <a:rPr lang="en-GB" sz="1800"/>
              <a:t>Answer = </a:t>
            </a:r>
            <a:r>
              <a:rPr lang="en-GB" sz="1800">
                <a:latin typeface="Kalam"/>
                <a:ea typeface="Kalam"/>
                <a:cs typeface="Kalam"/>
                <a:sym typeface="Kalam"/>
              </a:rPr>
              <a:t>41.6 </a:t>
            </a:r>
            <a:endParaRPr/>
          </a:p>
          <a:p>
            <a:pPr indent="0" lvl="0" marL="88900" rtl="0" algn="l">
              <a:lnSpc>
                <a:spcPct val="115000"/>
              </a:lnSpc>
              <a:spcBef>
                <a:spcPts val="0"/>
              </a:spcBef>
              <a:spcAft>
                <a:spcPts val="0"/>
              </a:spcAft>
              <a:buSzPts val="2200"/>
              <a:buNone/>
            </a:pPr>
            <a:r>
              <a:t/>
            </a:r>
            <a:endParaRPr sz="1800"/>
          </a:p>
        </p:txBody>
      </p:sp>
      <p:graphicFrame>
        <p:nvGraphicFramePr>
          <p:cNvPr id="932" name="Google Shape;932;p75"/>
          <p:cNvGraphicFramePr/>
          <p:nvPr/>
        </p:nvGraphicFramePr>
        <p:xfrm>
          <a:off x="3355453" y="1651178"/>
          <a:ext cx="3000000" cy="3000000"/>
        </p:xfrm>
        <a:graphic>
          <a:graphicData uri="http://schemas.openxmlformats.org/drawingml/2006/table">
            <a:tbl>
              <a:tblPr>
                <a:noFill/>
                <a:tableStyleId>{F0C192D1-A957-4650-8E3B-4254EDDCCE88}</a:tableStyleId>
              </a:tblPr>
              <a:tblGrid>
                <a:gridCol w="520575"/>
                <a:gridCol w="520575"/>
                <a:gridCol w="520575"/>
                <a:gridCol w="521000"/>
                <a:gridCol w="520575"/>
                <a:gridCol w="520575"/>
                <a:gridCol w="520575"/>
                <a:gridCol w="520575"/>
                <a:gridCol w="520575"/>
                <a:gridCol w="520575"/>
              </a:tblGrid>
              <a:tr h="40955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40</a:t>
                      </a:r>
                      <a:endParaRPr sz="1800" u="none" cap="none" strike="noStrike">
                        <a:solidFill>
                          <a:schemeClr val="dk2"/>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40</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40</a:t>
                      </a:r>
                      <a:endParaRPr sz="1800" u="none" cap="none" strike="noStrike">
                        <a:solidFill>
                          <a:schemeClr val="dk2"/>
                        </a:solidFill>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r>
            </a:tbl>
          </a:graphicData>
        </a:graphic>
      </p:graphicFrame>
      <p:sp>
        <p:nvSpPr>
          <p:cNvPr id="933" name="Google Shape;933;p75"/>
          <p:cNvSpPr txBox="1"/>
          <p:nvPr/>
        </p:nvSpPr>
        <p:spPr>
          <a:xfrm>
            <a:off x="7264401" y="1127393"/>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30%</a:t>
            </a:r>
            <a:endParaRPr/>
          </a:p>
        </p:txBody>
      </p:sp>
      <p:graphicFrame>
        <p:nvGraphicFramePr>
          <p:cNvPr id="934" name="Google Shape;934;p75"/>
          <p:cNvGraphicFramePr/>
          <p:nvPr/>
        </p:nvGraphicFramePr>
        <p:xfrm>
          <a:off x="3355453" y="2821352"/>
          <a:ext cx="3000000" cy="3000000"/>
        </p:xfrm>
        <a:graphic>
          <a:graphicData uri="http://schemas.openxmlformats.org/drawingml/2006/table">
            <a:tbl>
              <a:tblPr>
                <a:noFill/>
                <a:tableStyleId>{F0C192D1-A957-4650-8E3B-4254EDDCCE88}</a:tableStyleId>
              </a:tblPr>
              <a:tblGrid>
                <a:gridCol w="519925"/>
                <a:gridCol w="519925"/>
                <a:gridCol w="519925"/>
                <a:gridCol w="520325"/>
                <a:gridCol w="519925"/>
                <a:gridCol w="519925"/>
                <a:gridCol w="519925"/>
                <a:gridCol w="519925"/>
                <a:gridCol w="519925"/>
                <a:gridCol w="519925"/>
              </a:tblGrid>
              <a:tr h="40955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8.8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8.8</a:t>
                      </a:r>
                      <a:endParaRPr sz="1800" u="none" cap="none" strike="noStrike">
                        <a:solidFill>
                          <a:schemeClr val="dk2"/>
                        </a:solidFill>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r>
            </a:tbl>
          </a:graphicData>
        </a:graphic>
      </p:graphicFrame>
      <p:sp>
        <p:nvSpPr>
          <p:cNvPr id="935" name="Google Shape;935;p75"/>
          <p:cNvSpPr txBox="1"/>
          <p:nvPr/>
        </p:nvSpPr>
        <p:spPr>
          <a:xfrm>
            <a:off x="7506128" y="2324606"/>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20%</a:t>
            </a:r>
            <a:endParaRPr/>
          </a:p>
        </p:txBody>
      </p:sp>
      <p:graphicFrame>
        <p:nvGraphicFramePr>
          <p:cNvPr id="936" name="Google Shape;936;p75"/>
          <p:cNvGraphicFramePr/>
          <p:nvPr/>
        </p:nvGraphicFramePr>
        <p:xfrm>
          <a:off x="3307747" y="3983567"/>
          <a:ext cx="3000000" cy="3000000"/>
        </p:xfrm>
        <a:graphic>
          <a:graphicData uri="http://schemas.openxmlformats.org/drawingml/2006/table">
            <a:tbl>
              <a:tblPr>
                <a:noFill/>
                <a:tableStyleId>{F0C192D1-A957-4650-8E3B-4254EDDCCE88}</a:tableStyleId>
              </a:tblPr>
              <a:tblGrid>
                <a:gridCol w="528800"/>
                <a:gridCol w="528800"/>
                <a:gridCol w="528800"/>
                <a:gridCol w="529225"/>
                <a:gridCol w="528800"/>
                <a:gridCol w="528800"/>
                <a:gridCol w="264400"/>
                <a:gridCol w="264400"/>
                <a:gridCol w="528800"/>
                <a:gridCol w="528800"/>
                <a:gridCol w="528800"/>
              </a:tblGrid>
              <a:tr h="4095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r>
            </a:tbl>
          </a:graphicData>
        </a:graphic>
      </p:graphicFrame>
      <p:sp>
        <p:nvSpPr>
          <p:cNvPr id="937" name="Google Shape;937;p75"/>
          <p:cNvSpPr txBox="1"/>
          <p:nvPr/>
        </p:nvSpPr>
        <p:spPr>
          <a:xfrm>
            <a:off x="7172630" y="3521796"/>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35%</a:t>
            </a:r>
            <a:endParaRPr/>
          </a:p>
        </p:txBody>
      </p:sp>
      <p:sp>
        <p:nvSpPr>
          <p:cNvPr id="938" name="Google Shape;938;p75"/>
          <p:cNvSpPr/>
          <p:nvPr/>
        </p:nvSpPr>
        <p:spPr>
          <a:xfrm>
            <a:off x="4877910" y="1111116"/>
            <a:ext cx="290400" cy="2895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39" name="Google Shape;939;p75"/>
          <p:cNvSpPr/>
          <p:nvPr/>
        </p:nvSpPr>
        <p:spPr>
          <a:xfrm>
            <a:off x="1494850" y="1496989"/>
            <a:ext cx="710400" cy="3030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40" name="Google Shape;940;p75"/>
          <p:cNvSpPr/>
          <p:nvPr/>
        </p:nvSpPr>
        <p:spPr>
          <a:xfrm>
            <a:off x="4753344" y="2449960"/>
            <a:ext cx="271800" cy="2772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41" name="Google Shape;941;p75"/>
          <p:cNvSpPr/>
          <p:nvPr/>
        </p:nvSpPr>
        <p:spPr>
          <a:xfrm rot="5400000">
            <a:off x="7711025" y="769763"/>
            <a:ext cx="138300" cy="1569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2" name="Google Shape;942;p75"/>
          <p:cNvSpPr/>
          <p:nvPr/>
        </p:nvSpPr>
        <p:spPr>
          <a:xfrm rot="5400000">
            <a:off x="7984275" y="2198325"/>
            <a:ext cx="81000" cy="1008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3" name="Google Shape;943;p75"/>
          <p:cNvSpPr/>
          <p:nvPr/>
        </p:nvSpPr>
        <p:spPr>
          <a:xfrm rot="5400000">
            <a:off x="7626925" y="2943600"/>
            <a:ext cx="88200" cy="18513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4" name="Google Shape;944;p75"/>
          <p:cNvSpPr/>
          <p:nvPr/>
        </p:nvSpPr>
        <p:spPr>
          <a:xfrm>
            <a:off x="1494850" y="2868589"/>
            <a:ext cx="710400" cy="3030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45" name="Google Shape;945;p75"/>
          <p:cNvSpPr/>
          <p:nvPr/>
        </p:nvSpPr>
        <p:spPr>
          <a:xfrm>
            <a:off x="1494850" y="4011589"/>
            <a:ext cx="710400" cy="3030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46" name="Google Shape;946;p75"/>
          <p:cNvSpPr/>
          <p:nvPr/>
        </p:nvSpPr>
        <p:spPr>
          <a:xfrm>
            <a:off x="2538000" y="3600000"/>
            <a:ext cx="271800" cy="2772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952" name="Google Shape;952;p76"/>
          <p:cNvSpPr txBox="1"/>
          <p:nvPr>
            <p:ph idx="4294967295" type="body"/>
          </p:nvPr>
        </p:nvSpPr>
        <p:spPr>
          <a:xfrm>
            <a:off x="324000" y="687625"/>
            <a:ext cx="8538600" cy="48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1900"/>
              <a:t>3a) Draw a bar model to work out and represent £124 decreased by 40%</a:t>
            </a:r>
            <a:endParaRPr sz="1900"/>
          </a:p>
        </p:txBody>
      </p:sp>
      <p:sp>
        <p:nvSpPr>
          <p:cNvPr id="953" name="Google Shape;953;p76"/>
          <p:cNvSpPr txBox="1"/>
          <p:nvPr>
            <p:ph idx="4294967295" type="body"/>
          </p:nvPr>
        </p:nvSpPr>
        <p:spPr>
          <a:xfrm>
            <a:off x="324000" y="2668825"/>
            <a:ext cx="8538600" cy="487200"/>
          </a:xfrm>
          <a:prstGeom prst="rect">
            <a:avLst/>
          </a:prstGeom>
        </p:spPr>
        <p:txBody>
          <a:bodyPr anchorCtr="0" anchor="t" bIns="0" lIns="0" spcFirstLastPara="1" rIns="0" wrap="square" tIns="0">
            <a:noAutofit/>
          </a:bodyPr>
          <a:lstStyle/>
          <a:p>
            <a:pPr indent="0" lvl="0" marL="0" rtl="0" algn="l">
              <a:lnSpc>
                <a:spcPct val="200000"/>
              </a:lnSpc>
              <a:spcBef>
                <a:spcPts val="0"/>
              </a:spcBef>
              <a:spcAft>
                <a:spcPts val="1000"/>
              </a:spcAft>
              <a:buNone/>
            </a:pPr>
            <a:r>
              <a:rPr lang="en-GB" sz="1900"/>
              <a:t>3b) Draw a bar model to work out and represent £72 decreased by 35%</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77"/>
          <p:cNvSpPr txBox="1"/>
          <p:nvPr>
            <p:ph idx="4294967295" type="body"/>
          </p:nvPr>
        </p:nvSpPr>
        <p:spPr>
          <a:xfrm>
            <a:off x="324000" y="683100"/>
            <a:ext cx="8237700" cy="4872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Pair up the equivalent questions:</a:t>
            </a:r>
            <a:endParaRPr/>
          </a:p>
          <a:p>
            <a:pPr indent="0" lvl="0" marL="0" rtl="0" algn="l">
              <a:lnSpc>
                <a:spcPct val="100000"/>
              </a:lnSpc>
              <a:spcBef>
                <a:spcPts val="1000"/>
              </a:spcBef>
              <a:spcAft>
                <a:spcPts val="0"/>
              </a:spcAft>
              <a:buNone/>
            </a:pPr>
            <a:r>
              <a:t/>
            </a:r>
            <a:endParaRPr sz="1100"/>
          </a:p>
          <a:p>
            <a:pPr indent="0" lvl="0" marL="0" rtl="0" algn="l">
              <a:lnSpc>
                <a:spcPct val="200000"/>
              </a:lnSpc>
              <a:spcBef>
                <a:spcPts val="1000"/>
              </a:spcBef>
              <a:spcAft>
                <a:spcPts val="1000"/>
              </a:spcAft>
              <a:buNone/>
            </a:pPr>
            <a:r>
              <a:t/>
            </a:r>
            <a:endParaRPr/>
          </a:p>
        </p:txBody>
      </p:sp>
      <p:sp>
        <p:nvSpPr>
          <p:cNvPr id="959" name="Google Shape;959;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960" name="Google Shape;960;p77"/>
          <p:cNvSpPr/>
          <p:nvPr/>
        </p:nvSpPr>
        <p:spPr>
          <a:xfrm>
            <a:off x="648500" y="1206950"/>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Decrease 50 by 30%</a:t>
            </a:r>
            <a:endParaRPr sz="2200">
              <a:latin typeface="Lexend"/>
              <a:ea typeface="Lexend"/>
              <a:cs typeface="Lexend"/>
              <a:sym typeface="Lexend"/>
            </a:endParaRPr>
          </a:p>
        </p:txBody>
      </p:sp>
      <p:sp>
        <p:nvSpPr>
          <p:cNvPr id="961" name="Google Shape;961;p77"/>
          <p:cNvSpPr/>
          <p:nvPr/>
        </p:nvSpPr>
        <p:spPr>
          <a:xfrm>
            <a:off x="648500" y="2097588"/>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Work out 97% of 50</a:t>
            </a:r>
            <a:endParaRPr sz="2200">
              <a:latin typeface="Lexend"/>
              <a:ea typeface="Lexend"/>
              <a:cs typeface="Lexend"/>
              <a:sym typeface="Lexend"/>
            </a:endParaRPr>
          </a:p>
        </p:txBody>
      </p:sp>
      <p:sp>
        <p:nvSpPr>
          <p:cNvPr id="962" name="Google Shape;962;p77"/>
          <p:cNvSpPr/>
          <p:nvPr/>
        </p:nvSpPr>
        <p:spPr>
          <a:xfrm>
            <a:off x="648500" y="2988226"/>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Decrease 50 by 20%</a:t>
            </a:r>
            <a:endParaRPr sz="2200">
              <a:latin typeface="Lexend"/>
              <a:ea typeface="Lexend"/>
              <a:cs typeface="Lexend"/>
              <a:sym typeface="Lexend"/>
            </a:endParaRPr>
          </a:p>
        </p:txBody>
      </p:sp>
      <p:sp>
        <p:nvSpPr>
          <p:cNvPr id="963" name="Google Shape;963;p77"/>
          <p:cNvSpPr/>
          <p:nvPr/>
        </p:nvSpPr>
        <p:spPr>
          <a:xfrm>
            <a:off x="648500" y="3878864"/>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Work out 145% of 50</a:t>
            </a:r>
            <a:endParaRPr sz="2200">
              <a:latin typeface="Lexend"/>
              <a:ea typeface="Lexend"/>
              <a:cs typeface="Lexend"/>
              <a:sym typeface="Lexend"/>
            </a:endParaRPr>
          </a:p>
        </p:txBody>
      </p:sp>
      <p:sp>
        <p:nvSpPr>
          <p:cNvPr id="964" name="Google Shape;964;p77"/>
          <p:cNvSpPr/>
          <p:nvPr/>
        </p:nvSpPr>
        <p:spPr>
          <a:xfrm>
            <a:off x="4763300" y="1206950"/>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Work out 80% of 50</a:t>
            </a:r>
            <a:endParaRPr sz="2200">
              <a:latin typeface="Lexend"/>
              <a:ea typeface="Lexend"/>
              <a:cs typeface="Lexend"/>
              <a:sym typeface="Lexend"/>
            </a:endParaRPr>
          </a:p>
        </p:txBody>
      </p:sp>
      <p:sp>
        <p:nvSpPr>
          <p:cNvPr id="965" name="Google Shape;965;p77"/>
          <p:cNvSpPr/>
          <p:nvPr/>
        </p:nvSpPr>
        <p:spPr>
          <a:xfrm>
            <a:off x="4790250" y="3878863"/>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Decrease 50 by 3%</a:t>
            </a:r>
            <a:endParaRPr sz="2200">
              <a:latin typeface="Lexend"/>
              <a:ea typeface="Lexend"/>
              <a:cs typeface="Lexend"/>
              <a:sym typeface="Lexend"/>
            </a:endParaRPr>
          </a:p>
        </p:txBody>
      </p:sp>
      <p:sp>
        <p:nvSpPr>
          <p:cNvPr id="966" name="Google Shape;966;p77"/>
          <p:cNvSpPr/>
          <p:nvPr/>
        </p:nvSpPr>
        <p:spPr>
          <a:xfrm>
            <a:off x="4763300" y="2988226"/>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Work out 70% of 50</a:t>
            </a:r>
            <a:endParaRPr sz="2200">
              <a:latin typeface="Lexend"/>
              <a:ea typeface="Lexend"/>
              <a:cs typeface="Lexend"/>
              <a:sym typeface="Lexend"/>
            </a:endParaRPr>
          </a:p>
        </p:txBody>
      </p:sp>
      <p:sp>
        <p:nvSpPr>
          <p:cNvPr id="967" name="Google Shape;967;p77"/>
          <p:cNvSpPr/>
          <p:nvPr/>
        </p:nvSpPr>
        <p:spPr>
          <a:xfrm>
            <a:off x="4763300" y="2097589"/>
            <a:ext cx="3252600" cy="8241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Increase 50 by 45%</a:t>
            </a:r>
            <a:endParaRPr sz="2200">
              <a:latin typeface="Lexend"/>
              <a:ea typeface="Lexend"/>
              <a:cs typeface="Lexend"/>
              <a:sym typeface="Lexend"/>
            </a:endParaRPr>
          </a:p>
        </p:txBody>
      </p:sp>
      <p:cxnSp>
        <p:nvCxnSpPr>
          <p:cNvPr id="968" name="Google Shape;968;p77"/>
          <p:cNvCxnSpPr>
            <a:stCxn id="960" idx="3"/>
            <a:endCxn id="966" idx="1"/>
          </p:cNvCxnSpPr>
          <p:nvPr/>
        </p:nvCxnSpPr>
        <p:spPr>
          <a:xfrm>
            <a:off x="3901100" y="1619000"/>
            <a:ext cx="862200" cy="1781400"/>
          </a:xfrm>
          <a:prstGeom prst="straightConnector1">
            <a:avLst/>
          </a:prstGeom>
          <a:noFill/>
          <a:ln cap="flat" cmpd="sng" w="28575">
            <a:solidFill>
              <a:schemeClr val="dk1"/>
            </a:solidFill>
            <a:prstDash val="solid"/>
            <a:round/>
            <a:headEnd len="med" w="med" type="none"/>
            <a:tailEnd len="med" w="med" type="none"/>
          </a:ln>
        </p:spPr>
      </p:cxnSp>
      <p:cxnSp>
        <p:nvCxnSpPr>
          <p:cNvPr id="969" name="Google Shape;969;p77"/>
          <p:cNvCxnSpPr>
            <a:stCxn id="961" idx="3"/>
            <a:endCxn id="965" idx="1"/>
          </p:cNvCxnSpPr>
          <p:nvPr/>
        </p:nvCxnSpPr>
        <p:spPr>
          <a:xfrm>
            <a:off x="3901100" y="2509638"/>
            <a:ext cx="889200" cy="1781400"/>
          </a:xfrm>
          <a:prstGeom prst="straightConnector1">
            <a:avLst/>
          </a:prstGeom>
          <a:noFill/>
          <a:ln cap="flat" cmpd="sng" w="28575">
            <a:solidFill>
              <a:schemeClr val="dk1"/>
            </a:solidFill>
            <a:prstDash val="solid"/>
            <a:round/>
            <a:headEnd len="med" w="med" type="none"/>
            <a:tailEnd len="med" w="med" type="none"/>
          </a:ln>
        </p:spPr>
      </p:cxnSp>
      <p:cxnSp>
        <p:nvCxnSpPr>
          <p:cNvPr id="970" name="Google Shape;970;p77"/>
          <p:cNvCxnSpPr>
            <a:stCxn id="963" idx="3"/>
            <a:endCxn id="967" idx="1"/>
          </p:cNvCxnSpPr>
          <p:nvPr/>
        </p:nvCxnSpPr>
        <p:spPr>
          <a:xfrm flipH="1" rot="10800000">
            <a:off x="3901100" y="2509514"/>
            <a:ext cx="862200" cy="1781400"/>
          </a:xfrm>
          <a:prstGeom prst="straightConnector1">
            <a:avLst/>
          </a:prstGeom>
          <a:noFill/>
          <a:ln cap="flat" cmpd="sng" w="28575">
            <a:solidFill>
              <a:schemeClr val="dk1"/>
            </a:solidFill>
            <a:prstDash val="solid"/>
            <a:round/>
            <a:headEnd len="med" w="med" type="none"/>
            <a:tailEnd len="med" w="med" type="none"/>
          </a:ln>
        </p:spPr>
      </p:cxnSp>
      <p:cxnSp>
        <p:nvCxnSpPr>
          <p:cNvPr id="971" name="Google Shape;971;p77"/>
          <p:cNvCxnSpPr>
            <a:endCxn id="964" idx="1"/>
          </p:cNvCxnSpPr>
          <p:nvPr/>
        </p:nvCxnSpPr>
        <p:spPr>
          <a:xfrm flipH="1" rot="10800000">
            <a:off x="3888800" y="1619000"/>
            <a:ext cx="874500" cy="18237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977" name="Google Shape;977;p78"/>
          <p:cNvSpPr txBox="1"/>
          <p:nvPr>
            <p:ph idx="4294967295" type="body"/>
          </p:nvPr>
        </p:nvSpPr>
        <p:spPr>
          <a:xfrm>
            <a:off x="324000" y="759300"/>
            <a:ext cx="8237700" cy="30207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sz="1800"/>
              <a:t>2) Fill in the bar model and missing information to show:</a:t>
            </a:r>
            <a:endParaRPr/>
          </a:p>
          <a:p>
            <a:pPr indent="0" lvl="0" marL="88900" rtl="0" algn="l">
              <a:lnSpc>
                <a:spcPct val="115000"/>
              </a:lnSpc>
              <a:spcBef>
                <a:spcPts val="0"/>
              </a:spcBef>
              <a:spcAft>
                <a:spcPts val="0"/>
              </a:spcAft>
              <a:buSzPts val="2200"/>
              <a:buNone/>
            </a:pPr>
            <a:r>
              <a:t/>
            </a:r>
            <a:endParaRPr sz="100"/>
          </a:p>
          <a:p>
            <a:pPr indent="0" lvl="0" marL="88900" rtl="0" algn="l">
              <a:lnSpc>
                <a:spcPct val="115000"/>
              </a:lnSpc>
              <a:spcBef>
                <a:spcPts val="0"/>
              </a:spcBef>
              <a:spcAft>
                <a:spcPts val="0"/>
              </a:spcAft>
              <a:buSzPts val="2200"/>
              <a:buNone/>
            </a:pPr>
            <a:r>
              <a:rPr lang="en-GB" sz="1800"/>
              <a:t>a) 400 decreased by 30% is the same as 70% of 400</a:t>
            </a:r>
            <a:endParaRPr/>
          </a:p>
          <a:p>
            <a:pPr indent="0" lvl="0" marL="88900" rtl="0" algn="l">
              <a:lnSpc>
                <a:spcPct val="115000"/>
              </a:lnSpc>
              <a:spcBef>
                <a:spcPts val="0"/>
              </a:spcBef>
              <a:spcAft>
                <a:spcPts val="0"/>
              </a:spcAft>
              <a:buSzPts val="2200"/>
              <a:buNone/>
            </a:pPr>
            <a:r>
              <a:t/>
            </a:r>
            <a:endParaRPr sz="600"/>
          </a:p>
          <a:p>
            <a:pPr indent="0" lvl="0" marL="88900" rtl="0" algn="l">
              <a:lnSpc>
                <a:spcPct val="115000"/>
              </a:lnSpc>
              <a:spcBef>
                <a:spcPts val="0"/>
              </a:spcBef>
              <a:spcAft>
                <a:spcPts val="0"/>
              </a:spcAft>
              <a:buSzPts val="2200"/>
              <a:buNone/>
            </a:pPr>
            <a:r>
              <a:rPr lang="en-GB" sz="1800"/>
              <a:t>Answer = </a:t>
            </a:r>
            <a:r>
              <a:rPr lang="en-GB" sz="1800">
                <a:latin typeface="Kalam"/>
                <a:ea typeface="Kalam"/>
                <a:cs typeface="Kalam"/>
                <a:sym typeface="Kalam"/>
              </a:rPr>
              <a:t>280</a:t>
            </a:r>
            <a:endParaRPr/>
          </a:p>
          <a:p>
            <a:pPr indent="0" lvl="0" marL="88900" rtl="0" algn="l">
              <a:lnSpc>
                <a:spcPct val="115000"/>
              </a:lnSpc>
              <a:spcBef>
                <a:spcPts val="0"/>
              </a:spcBef>
              <a:spcAft>
                <a:spcPts val="0"/>
              </a:spcAft>
              <a:buSzPts val="2200"/>
              <a:buNone/>
            </a:pPr>
            <a:r>
              <a:t/>
            </a:r>
            <a:endParaRPr sz="1800"/>
          </a:p>
          <a:p>
            <a:pPr indent="0" lvl="0" marL="88900" rtl="0" algn="l">
              <a:lnSpc>
                <a:spcPct val="115000"/>
              </a:lnSpc>
              <a:spcBef>
                <a:spcPts val="0"/>
              </a:spcBef>
              <a:spcAft>
                <a:spcPts val="0"/>
              </a:spcAft>
              <a:buSzPts val="2200"/>
              <a:buNone/>
            </a:pPr>
            <a:r>
              <a:t/>
            </a:r>
            <a:endParaRPr sz="1800"/>
          </a:p>
          <a:p>
            <a:pPr indent="0" lvl="0" marL="88900" rtl="0" algn="l">
              <a:lnSpc>
                <a:spcPct val="115000"/>
              </a:lnSpc>
              <a:spcBef>
                <a:spcPts val="0"/>
              </a:spcBef>
              <a:spcAft>
                <a:spcPts val="0"/>
              </a:spcAft>
              <a:buSzPts val="2200"/>
              <a:buNone/>
            </a:pPr>
            <a:r>
              <a:rPr lang="en-GB" sz="1800"/>
              <a:t>b) 88 decreased by 20% is the same as 80% of 88</a:t>
            </a:r>
            <a:endParaRPr/>
          </a:p>
          <a:p>
            <a:pPr indent="0" lvl="0" marL="88900" rtl="0" algn="l">
              <a:lnSpc>
                <a:spcPct val="115000"/>
              </a:lnSpc>
              <a:spcBef>
                <a:spcPts val="0"/>
              </a:spcBef>
              <a:spcAft>
                <a:spcPts val="0"/>
              </a:spcAft>
              <a:buSzPts val="2200"/>
              <a:buNone/>
            </a:pPr>
            <a:r>
              <a:t/>
            </a:r>
            <a:endParaRPr sz="400"/>
          </a:p>
          <a:p>
            <a:pPr indent="0" lvl="0" marL="88900" rtl="0" algn="l">
              <a:lnSpc>
                <a:spcPct val="115000"/>
              </a:lnSpc>
              <a:spcBef>
                <a:spcPts val="0"/>
              </a:spcBef>
              <a:spcAft>
                <a:spcPts val="0"/>
              </a:spcAft>
              <a:buSzPts val="2200"/>
              <a:buNone/>
            </a:pPr>
            <a:r>
              <a:rPr lang="en-GB" sz="1800"/>
              <a:t>Answer = </a:t>
            </a:r>
            <a:r>
              <a:rPr lang="en-GB" sz="1800">
                <a:latin typeface="Kalam"/>
                <a:ea typeface="Kalam"/>
                <a:cs typeface="Kalam"/>
                <a:sym typeface="Kalam"/>
              </a:rPr>
              <a:t>70.4</a:t>
            </a:r>
            <a:endParaRPr/>
          </a:p>
          <a:p>
            <a:pPr indent="0" lvl="0" marL="88900" rtl="0" algn="l">
              <a:lnSpc>
                <a:spcPct val="115000"/>
              </a:lnSpc>
              <a:spcBef>
                <a:spcPts val="0"/>
              </a:spcBef>
              <a:spcAft>
                <a:spcPts val="0"/>
              </a:spcAft>
              <a:buSzPts val="2200"/>
              <a:buNone/>
            </a:pPr>
            <a:r>
              <a:t/>
            </a:r>
            <a:endParaRPr sz="1800"/>
          </a:p>
          <a:p>
            <a:pPr indent="0" lvl="0" marL="88900" rtl="0" algn="l">
              <a:lnSpc>
                <a:spcPct val="115000"/>
              </a:lnSpc>
              <a:spcBef>
                <a:spcPts val="0"/>
              </a:spcBef>
              <a:spcAft>
                <a:spcPts val="0"/>
              </a:spcAft>
              <a:buSzPts val="2200"/>
              <a:buNone/>
            </a:pPr>
            <a:r>
              <a:t/>
            </a:r>
            <a:endParaRPr sz="600"/>
          </a:p>
          <a:p>
            <a:pPr indent="0" lvl="0" marL="88900" rtl="0" algn="l">
              <a:lnSpc>
                <a:spcPct val="115000"/>
              </a:lnSpc>
              <a:spcBef>
                <a:spcPts val="0"/>
              </a:spcBef>
              <a:spcAft>
                <a:spcPts val="0"/>
              </a:spcAft>
              <a:buSzPts val="2200"/>
              <a:buNone/>
            </a:pPr>
            <a:r>
              <a:rPr lang="en-GB" sz="1800"/>
              <a:t>c) 64 decreased by 35% is the same as 65% of 64</a:t>
            </a:r>
            <a:endParaRPr/>
          </a:p>
          <a:p>
            <a:pPr indent="0" lvl="0" marL="88900" rtl="0" algn="l">
              <a:lnSpc>
                <a:spcPct val="115000"/>
              </a:lnSpc>
              <a:spcBef>
                <a:spcPts val="0"/>
              </a:spcBef>
              <a:spcAft>
                <a:spcPts val="0"/>
              </a:spcAft>
              <a:buSzPts val="2200"/>
              <a:buNone/>
            </a:pPr>
            <a:r>
              <a:t/>
            </a:r>
            <a:endParaRPr sz="600"/>
          </a:p>
          <a:p>
            <a:pPr indent="0" lvl="0" marL="88900" rtl="0" algn="l">
              <a:lnSpc>
                <a:spcPct val="115000"/>
              </a:lnSpc>
              <a:spcBef>
                <a:spcPts val="0"/>
              </a:spcBef>
              <a:spcAft>
                <a:spcPts val="0"/>
              </a:spcAft>
              <a:buSzPts val="2200"/>
              <a:buNone/>
            </a:pPr>
            <a:r>
              <a:rPr lang="en-GB" sz="1800"/>
              <a:t>Answer = </a:t>
            </a:r>
            <a:r>
              <a:rPr lang="en-GB" sz="1800">
                <a:latin typeface="Kalam"/>
                <a:ea typeface="Kalam"/>
                <a:cs typeface="Kalam"/>
                <a:sym typeface="Kalam"/>
              </a:rPr>
              <a:t>41.6 </a:t>
            </a:r>
            <a:endParaRPr/>
          </a:p>
          <a:p>
            <a:pPr indent="0" lvl="0" marL="88900" rtl="0" algn="l">
              <a:lnSpc>
                <a:spcPct val="115000"/>
              </a:lnSpc>
              <a:spcBef>
                <a:spcPts val="0"/>
              </a:spcBef>
              <a:spcAft>
                <a:spcPts val="0"/>
              </a:spcAft>
              <a:buSzPts val="2200"/>
              <a:buNone/>
            </a:pPr>
            <a:r>
              <a:t/>
            </a:r>
            <a:endParaRPr sz="1800"/>
          </a:p>
        </p:txBody>
      </p:sp>
      <p:graphicFrame>
        <p:nvGraphicFramePr>
          <p:cNvPr id="978" name="Google Shape;978;p78"/>
          <p:cNvGraphicFramePr/>
          <p:nvPr/>
        </p:nvGraphicFramePr>
        <p:xfrm>
          <a:off x="3355453" y="1651178"/>
          <a:ext cx="3000000" cy="3000000"/>
        </p:xfrm>
        <a:graphic>
          <a:graphicData uri="http://schemas.openxmlformats.org/drawingml/2006/table">
            <a:tbl>
              <a:tblPr>
                <a:noFill/>
                <a:tableStyleId>{F0C192D1-A957-4650-8E3B-4254EDDCCE88}</a:tableStyleId>
              </a:tblPr>
              <a:tblGrid>
                <a:gridCol w="520575"/>
                <a:gridCol w="520575"/>
                <a:gridCol w="520575"/>
                <a:gridCol w="521000"/>
                <a:gridCol w="520575"/>
                <a:gridCol w="520575"/>
                <a:gridCol w="520575"/>
                <a:gridCol w="520575"/>
                <a:gridCol w="520575"/>
                <a:gridCol w="520575"/>
              </a:tblGrid>
              <a:tr h="40955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40</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40</a:t>
                      </a:r>
                      <a:endParaRPr sz="1800" u="none" cap="none" strike="noStrike">
                        <a:solidFill>
                          <a:schemeClr val="dk2"/>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40</a:t>
                      </a:r>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40</a:t>
                      </a:r>
                      <a:endParaRPr sz="1800" u="none" cap="none" strike="noStrike">
                        <a:solidFill>
                          <a:schemeClr val="dk2"/>
                        </a:solidFill>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r>
            </a:tbl>
          </a:graphicData>
        </a:graphic>
      </p:graphicFrame>
      <p:sp>
        <p:nvSpPr>
          <p:cNvPr id="979" name="Google Shape;979;p78"/>
          <p:cNvSpPr txBox="1"/>
          <p:nvPr/>
        </p:nvSpPr>
        <p:spPr>
          <a:xfrm>
            <a:off x="7264401" y="1127393"/>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30%</a:t>
            </a:r>
            <a:endParaRPr/>
          </a:p>
        </p:txBody>
      </p:sp>
      <p:graphicFrame>
        <p:nvGraphicFramePr>
          <p:cNvPr id="980" name="Google Shape;980;p78"/>
          <p:cNvGraphicFramePr/>
          <p:nvPr/>
        </p:nvGraphicFramePr>
        <p:xfrm>
          <a:off x="3355453" y="2821352"/>
          <a:ext cx="3000000" cy="3000000"/>
        </p:xfrm>
        <a:graphic>
          <a:graphicData uri="http://schemas.openxmlformats.org/drawingml/2006/table">
            <a:tbl>
              <a:tblPr>
                <a:noFill/>
                <a:tableStyleId>{F0C192D1-A957-4650-8E3B-4254EDDCCE88}</a:tableStyleId>
              </a:tblPr>
              <a:tblGrid>
                <a:gridCol w="519925"/>
                <a:gridCol w="519925"/>
                <a:gridCol w="519925"/>
                <a:gridCol w="520325"/>
                <a:gridCol w="519925"/>
                <a:gridCol w="519925"/>
                <a:gridCol w="519925"/>
                <a:gridCol w="519925"/>
                <a:gridCol w="519925"/>
                <a:gridCol w="519925"/>
              </a:tblGrid>
              <a:tr h="409550">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8.8</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8.8</a:t>
                      </a:r>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solidFill>
                            <a:schemeClr val="dk2"/>
                          </a:solidFill>
                          <a:latin typeface="Lexend"/>
                          <a:ea typeface="Lexend"/>
                          <a:cs typeface="Lexend"/>
                          <a:sym typeface="Lexend"/>
                        </a:rPr>
                        <a:t>8.8</a:t>
                      </a:r>
                      <a:endParaRPr sz="1800" u="none" cap="none" strike="noStrike">
                        <a:solidFill>
                          <a:schemeClr val="dk2"/>
                        </a:solidFill>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r>
            </a:tbl>
          </a:graphicData>
        </a:graphic>
      </p:graphicFrame>
      <p:sp>
        <p:nvSpPr>
          <p:cNvPr id="981" name="Google Shape;981;p78"/>
          <p:cNvSpPr txBox="1"/>
          <p:nvPr/>
        </p:nvSpPr>
        <p:spPr>
          <a:xfrm>
            <a:off x="7506128" y="2324606"/>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20%</a:t>
            </a:r>
            <a:endParaRPr/>
          </a:p>
        </p:txBody>
      </p:sp>
      <p:graphicFrame>
        <p:nvGraphicFramePr>
          <p:cNvPr id="982" name="Google Shape;982;p78"/>
          <p:cNvGraphicFramePr/>
          <p:nvPr/>
        </p:nvGraphicFramePr>
        <p:xfrm>
          <a:off x="3307747" y="3983567"/>
          <a:ext cx="3000000" cy="3000000"/>
        </p:xfrm>
        <a:graphic>
          <a:graphicData uri="http://schemas.openxmlformats.org/drawingml/2006/table">
            <a:tbl>
              <a:tblPr>
                <a:noFill/>
                <a:tableStyleId>{F0C192D1-A957-4650-8E3B-4254EDDCCE88}</a:tableStyleId>
              </a:tblPr>
              <a:tblGrid>
                <a:gridCol w="528800"/>
                <a:gridCol w="528800"/>
                <a:gridCol w="528800"/>
                <a:gridCol w="529225"/>
                <a:gridCol w="528800"/>
                <a:gridCol w="528800"/>
                <a:gridCol w="264400"/>
                <a:gridCol w="264400"/>
                <a:gridCol w="528800"/>
                <a:gridCol w="528800"/>
                <a:gridCol w="528800"/>
              </a:tblGrid>
              <a:tr h="4095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tcPr>
                </a:tc>
              </a:tr>
            </a:tbl>
          </a:graphicData>
        </a:graphic>
      </p:graphicFrame>
      <p:sp>
        <p:nvSpPr>
          <p:cNvPr id="983" name="Google Shape;983;p78"/>
          <p:cNvSpPr txBox="1"/>
          <p:nvPr/>
        </p:nvSpPr>
        <p:spPr>
          <a:xfrm>
            <a:off x="7172630" y="3521796"/>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35%</a:t>
            </a:r>
            <a:endParaRPr/>
          </a:p>
        </p:txBody>
      </p:sp>
      <p:sp>
        <p:nvSpPr>
          <p:cNvPr id="984" name="Google Shape;984;p78"/>
          <p:cNvSpPr/>
          <p:nvPr/>
        </p:nvSpPr>
        <p:spPr>
          <a:xfrm>
            <a:off x="4860000" y="1111116"/>
            <a:ext cx="290400" cy="2895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85" name="Google Shape;985;p78"/>
          <p:cNvSpPr/>
          <p:nvPr/>
        </p:nvSpPr>
        <p:spPr>
          <a:xfrm>
            <a:off x="1494850" y="1496989"/>
            <a:ext cx="710400" cy="3030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86" name="Google Shape;986;p78"/>
          <p:cNvSpPr/>
          <p:nvPr/>
        </p:nvSpPr>
        <p:spPr>
          <a:xfrm>
            <a:off x="4716000" y="2449960"/>
            <a:ext cx="271800" cy="2772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87" name="Google Shape;987;p78"/>
          <p:cNvSpPr/>
          <p:nvPr/>
        </p:nvSpPr>
        <p:spPr>
          <a:xfrm>
            <a:off x="1484463" y="2869200"/>
            <a:ext cx="710400" cy="3024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88" name="Google Shape;988;p78"/>
          <p:cNvSpPr/>
          <p:nvPr/>
        </p:nvSpPr>
        <p:spPr>
          <a:xfrm>
            <a:off x="2538000" y="3600000"/>
            <a:ext cx="273600" cy="2772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89" name="Google Shape;989;p78"/>
          <p:cNvSpPr/>
          <p:nvPr/>
        </p:nvSpPr>
        <p:spPr>
          <a:xfrm>
            <a:off x="1494000" y="4010400"/>
            <a:ext cx="710400" cy="302400"/>
          </a:xfrm>
          <a:prstGeom prst="rect">
            <a:avLst/>
          </a:prstGeom>
          <a:solidFill>
            <a:srgbClr val="FFFFFF"/>
          </a:solidFill>
          <a:ln cap="flat" cmpd="sng" w="19050">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990" name="Google Shape;990;p78"/>
          <p:cNvSpPr/>
          <p:nvPr/>
        </p:nvSpPr>
        <p:spPr>
          <a:xfrm rot="5400000">
            <a:off x="7711025" y="769763"/>
            <a:ext cx="138300" cy="1569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1" name="Google Shape;991;p78"/>
          <p:cNvSpPr/>
          <p:nvPr/>
        </p:nvSpPr>
        <p:spPr>
          <a:xfrm rot="5400000">
            <a:off x="7984275" y="2198325"/>
            <a:ext cx="81000" cy="1008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2" name="Google Shape;992;p78"/>
          <p:cNvSpPr/>
          <p:nvPr/>
        </p:nvSpPr>
        <p:spPr>
          <a:xfrm rot="5400000">
            <a:off x="7626925" y="2943600"/>
            <a:ext cx="88200" cy="18513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93" name="Google Shape;993;p78"/>
          <p:cNvGrpSpPr/>
          <p:nvPr/>
        </p:nvGrpSpPr>
        <p:grpSpPr>
          <a:xfrm>
            <a:off x="3211431" y="4042812"/>
            <a:ext cx="5510152" cy="782496"/>
            <a:chOff x="3211431" y="4042812"/>
            <a:chExt cx="5510152" cy="782496"/>
          </a:xfrm>
        </p:grpSpPr>
        <p:grpSp>
          <p:nvGrpSpPr>
            <p:cNvPr id="994" name="Google Shape;994;p78"/>
            <p:cNvGrpSpPr/>
            <p:nvPr/>
          </p:nvGrpSpPr>
          <p:grpSpPr>
            <a:xfrm>
              <a:off x="6872706" y="4061212"/>
              <a:ext cx="1848877" cy="349304"/>
              <a:chOff x="6872706" y="4061212"/>
              <a:chExt cx="1848877" cy="349304"/>
            </a:xfrm>
          </p:grpSpPr>
          <p:sp>
            <p:nvSpPr>
              <p:cNvPr id="995" name="Google Shape;995;p78"/>
              <p:cNvSpPr txBox="1"/>
              <p:nvPr/>
            </p:nvSpPr>
            <p:spPr>
              <a:xfrm>
                <a:off x="6872706" y="40612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996" name="Google Shape;996;p78"/>
              <p:cNvSpPr txBox="1"/>
              <p:nvPr/>
            </p:nvSpPr>
            <p:spPr>
              <a:xfrm>
                <a:off x="7398816" y="4062538"/>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997" name="Google Shape;997;p78"/>
              <p:cNvSpPr txBox="1"/>
              <p:nvPr/>
            </p:nvSpPr>
            <p:spPr>
              <a:xfrm>
                <a:off x="7948783" y="4071816"/>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grpSp>
        <p:grpSp>
          <p:nvGrpSpPr>
            <p:cNvPr id="998" name="Google Shape;998;p78"/>
            <p:cNvGrpSpPr/>
            <p:nvPr/>
          </p:nvGrpSpPr>
          <p:grpSpPr>
            <a:xfrm>
              <a:off x="3211431" y="4042812"/>
              <a:ext cx="4183606" cy="782496"/>
              <a:chOff x="3211431" y="4042812"/>
              <a:chExt cx="4183606" cy="782496"/>
            </a:xfrm>
          </p:grpSpPr>
          <p:sp>
            <p:nvSpPr>
              <p:cNvPr id="999" name="Google Shape;999;p78"/>
              <p:cNvSpPr txBox="1"/>
              <p:nvPr/>
            </p:nvSpPr>
            <p:spPr>
              <a:xfrm>
                <a:off x="6622237" y="4486608"/>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Kalam"/>
                    <a:ea typeface="Kalam"/>
                    <a:cs typeface="Kalam"/>
                    <a:sym typeface="Kalam"/>
                  </a:rPr>
                  <a:t>3.2</a:t>
                </a:r>
                <a:endParaRPr/>
              </a:p>
            </p:txBody>
          </p:sp>
          <p:cxnSp>
            <p:nvCxnSpPr>
              <p:cNvPr id="1000" name="Google Shape;1000;p78"/>
              <p:cNvCxnSpPr/>
              <p:nvPr/>
            </p:nvCxnSpPr>
            <p:spPr>
              <a:xfrm rot="10800000">
                <a:off x="6814112" y="4284808"/>
                <a:ext cx="135900" cy="255900"/>
              </a:xfrm>
              <a:prstGeom prst="straightConnector1">
                <a:avLst/>
              </a:prstGeom>
              <a:noFill/>
              <a:ln cap="flat" cmpd="sng" w="28575">
                <a:solidFill>
                  <a:schemeClr val="dk2"/>
                </a:solidFill>
                <a:prstDash val="solid"/>
                <a:round/>
                <a:headEnd len="med" w="med" type="none"/>
                <a:tailEnd len="med" w="med" type="triangle"/>
              </a:ln>
            </p:spPr>
          </p:cxnSp>
          <p:sp>
            <p:nvSpPr>
              <p:cNvPr id="1001" name="Google Shape;1001;p78"/>
              <p:cNvSpPr txBox="1"/>
              <p:nvPr/>
            </p:nvSpPr>
            <p:spPr>
              <a:xfrm>
                <a:off x="3211431" y="40428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1002" name="Google Shape;1002;p78"/>
              <p:cNvSpPr txBox="1"/>
              <p:nvPr/>
            </p:nvSpPr>
            <p:spPr>
              <a:xfrm>
                <a:off x="3728471" y="40428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1003" name="Google Shape;1003;p78"/>
              <p:cNvSpPr txBox="1"/>
              <p:nvPr/>
            </p:nvSpPr>
            <p:spPr>
              <a:xfrm>
                <a:off x="4245511" y="40428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1004" name="Google Shape;1004;p78"/>
              <p:cNvSpPr txBox="1"/>
              <p:nvPr/>
            </p:nvSpPr>
            <p:spPr>
              <a:xfrm>
                <a:off x="4762551" y="40428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1005" name="Google Shape;1005;p78"/>
              <p:cNvSpPr txBox="1"/>
              <p:nvPr/>
            </p:nvSpPr>
            <p:spPr>
              <a:xfrm>
                <a:off x="5279591" y="40428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sp>
            <p:nvSpPr>
              <p:cNvPr id="1006" name="Google Shape;1006;p78"/>
              <p:cNvSpPr txBox="1"/>
              <p:nvPr/>
            </p:nvSpPr>
            <p:spPr>
              <a:xfrm>
                <a:off x="5796631" y="4042812"/>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chemeClr val="dk2"/>
                    </a:solidFill>
                    <a:latin typeface="Kalam"/>
                    <a:ea typeface="Kalam"/>
                    <a:cs typeface="Kalam"/>
                    <a:sym typeface="Kalam"/>
                  </a:rPr>
                  <a:t>6.4</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1012" name="Google Shape;1012;p79"/>
          <p:cNvSpPr txBox="1"/>
          <p:nvPr>
            <p:ph idx="4294967295" type="body"/>
          </p:nvPr>
        </p:nvSpPr>
        <p:spPr>
          <a:xfrm>
            <a:off x="324000" y="667200"/>
            <a:ext cx="8538600" cy="326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900"/>
              <a:t>3a) Draw a bar model to work out and represent £124 decreased by 40%</a:t>
            </a:r>
            <a:endParaRPr sz="1900"/>
          </a:p>
        </p:txBody>
      </p:sp>
      <p:sp>
        <p:nvSpPr>
          <p:cNvPr id="1013" name="Google Shape;1013;p79"/>
          <p:cNvSpPr txBox="1"/>
          <p:nvPr>
            <p:ph idx="4294967295" type="body"/>
          </p:nvPr>
        </p:nvSpPr>
        <p:spPr>
          <a:xfrm>
            <a:off x="324000" y="2897425"/>
            <a:ext cx="8538600" cy="487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900"/>
              <a:t>3b) Draw a bar model to work out and represent £72 decreased by 35%</a:t>
            </a:r>
            <a:endParaRPr sz="1900"/>
          </a:p>
        </p:txBody>
      </p:sp>
      <p:sp>
        <p:nvSpPr>
          <p:cNvPr id="1014" name="Google Shape;1014;p79"/>
          <p:cNvSpPr/>
          <p:nvPr/>
        </p:nvSpPr>
        <p:spPr>
          <a:xfrm rot="-5400000">
            <a:off x="3156400" y="-655575"/>
            <a:ext cx="105600" cy="56823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015" name="Google Shape;1015;p79"/>
          <p:cNvGraphicFramePr/>
          <p:nvPr/>
        </p:nvGraphicFramePr>
        <p:xfrm>
          <a:off x="3472656" y="1581795"/>
          <a:ext cx="3000000" cy="3000000"/>
        </p:xfrm>
        <a:graphic>
          <a:graphicData uri="http://schemas.openxmlformats.org/drawingml/2006/table">
            <a:tbl>
              <a:tblPr>
                <a:noFill/>
                <a:tableStyleId>{681F5079-2932-4BF5-A27F-156CD3D16ADE}</a:tableStyleId>
              </a:tblPr>
              <a:tblGrid>
                <a:gridCol w="641850"/>
              </a:tblGrid>
              <a:tr h="518100">
                <a:tc>
                  <a:txBody>
                    <a:bodyPr/>
                    <a:lstStyle/>
                    <a:p>
                      <a:pPr indent="0" lvl="0" marL="0" rtl="0" algn="ctr">
                        <a:spcBef>
                          <a:spcPts val="0"/>
                        </a:spcBef>
                        <a:spcAft>
                          <a:spcPts val="0"/>
                        </a:spcAft>
                        <a:buNone/>
                      </a:pPr>
                      <a:r>
                        <a:rPr lang="en-GB" sz="1800">
                          <a:solidFill>
                            <a:schemeClr val="dk2"/>
                          </a:solidFill>
                          <a:latin typeface="Kalam"/>
                          <a:ea typeface="Kalam"/>
                          <a:cs typeface="Kalam"/>
                          <a:sym typeface="Kalam"/>
                        </a:rPr>
                        <a:t>12.4</a:t>
                      </a:r>
                      <a:endParaRPr sz="1800">
                        <a:solidFill>
                          <a:schemeClr val="dk2"/>
                        </a:solidFill>
                        <a:latin typeface="Kalam"/>
                        <a:ea typeface="Kalam"/>
                        <a:cs typeface="Kalam"/>
                        <a:sym typeface="Kalam"/>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rgbClr val="FFFFFF"/>
                    </a:solidFill>
                  </a:tcPr>
                </a:tc>
              </a:tr>
            </a:tbl>
          </a:graphicData>
        </a:graphic>
      </p:graphicFrame>
      <p:sp>
        <p:nvSpPr>
          <p:cNvPr id="1016" name="Google Shape;1016;p79"/>
          <p:cNvSpPr/>
          <p:nvPr/>
        </p:nvSpPr>
        <p:spPr>
          <a:xfrm>
            <a:off x="367900" y="1580563"/>
            <a:ext cx="3104700" cy="518100"/>
          </a:xfrm>
          <a:prstGeom prst="rect">
            <a:avLst/>
          </a:prstGeom>
          <a:solidFill>
            <a:srgbClr val="C1ACEC">
              <a:alpha val="4937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7" name="Google Shape;1017;p79"/>
          <p:cNvSpPr txBox="1"/>
          <p:nvPr/>
        </p:nvSpPr>
        <p:spPr>
          <a:xfrm>
            <a:off x="2180700" y="2284238"/>
            <a:ext cx="19338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100% = £124</a:t>
            </a:r>
            <a:endParaRPr sz="2200">
              <a:solidFill>
                <a:srgbClr val="000000"/>
              </a:solidFill>
              <a:latin typeface="Lexend"/>
              <a:ea typeface="Lexend"/>
              <a:cs typeface="Lexend"/>
              <a:sym typeface="Lexend"/>
            </a:endParaRPr>
          </a:p>
        </p:txBody>
      </p:sp>
      <p:sp>
        <p:nvSpPr>
          <p:cNvPr id="1018" name="Google Shape;1018;p79"/>
          <p:cNvSpPr/>
          <p:nvPr/>
        </p:nvSpPr>
        <p:spPr>
          <a:xfrm rot="5400000">
            <a:off x="4728950" y="83100"/>
            <a:ext cx="83100" cy="2595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9" name="Google Shape;1019;p79"/>
          <p:cNvSpPr txBox="1"/>
          <p:nvPr/>
        </p:nvSpPr>
        <p:spPr>
          <a:xfrm>
            <a:off x="4337750" y="921776"/>
            <a:ext cx="865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40%</a:t>
            </a:r>
            <a:endParaRPr/>
          </a:p>
        </p:txBody>
      </p:sp>
      <p:graphicFrame>
        <p:nvGraphicFramePr>
          <p:cNvPr id="1020" name="Google Shape;1020;p79"/>
          <p:cNvGraphicFramePr/>
          <p:nvPr/>
        </p:nvGraphicFramePr>
        <p:xfrm>
          <a:off x="4122827" y="1581795"/>
          <a:ext cx="3000000" cy="3000000"/>
        </p:xfrm>
        <a:graphic>
          <a:graphicData uri="http://schemas.openxmlformats.org/drawingml/2006/table">
            <a:tbl>
              <a:tblPr>
                <a:noFill/>
                <a:tableStyleId>{681F5079-2932-4BF5-A27F-156CD3D16ADE}</a:tableStyleId>
              </a:tblPr>
              <a:tblGrid>
                <a:gridCol w="641850"/>
              </a:tblGrid>
              <a:tr h="518100">
                <a:tc>
                  <a:txBody>
                    <a:bodyPr/>
                    <a:lstStyle/>
                    <a:p>
                      <a:pPr indent="0" lvl="0" marL="0" rtl="0" algn="ctr">
                        <a:spcBef>
                          <a:spcPts val="0"/>
                        </a:spcBef>
                        <a:spcAft>
                          <a:spcPts val="0"/>
                        </a:spcAft>
                        <a:buNone/>
                      </a:pPr>
                      <a:r>
                        <a:rPr lang="en-GB" sz="1800">
                          <a:solidFill>
                            <a:schemeClr val="dk2"/>
                          </a:solidFill>
                          <a:latin typeface="Kalam"/>
                          <a:ea typeface="Kalam"/>
                          <a:cs typeface="Kalam"/>
                          <a:sym typeface="Kalam"/>
                        </a:rPr>
                        <a:t>12.4</a:t>
                      </a:r>
                      <a:endParaRPr sz="1800">
                        <a:solidFill>
                          <a:schemeClr val="dk2"/>
                        </a:solidFill>
                        <a:latin typeface="Kalam"/>
                        <a:ea typeface="Kalam"/>
                        <a:cs typeface="Kalam"/>
                        <a:sym typeface="Kalam"/>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rgbClr val="FFFFFF"/>
                    </a:solidFill>
                  </a:tcPr>
                </a:tc>
              </a:tr>
            </a:tbl>
          </a:graphicData>
        </a:graphic>
      </p:graphicFrame>
      <p:graphicFrame>
        <p:nvGraphicFramePr>
          <p:cNvPr id="1021" name="Google Shape;1021;p79"/>
          <p:cNvGraphicFramePr/>
          <p:nvPr/>
        </p:nvGraphicFramePr>
        <p:xfrm>
          <a:off x="4768056" y="1581795"/>
          <a:ext cx="3000000" cy="3000000"/>
        </p:xfrm>
        <a:graphic>
          <a:graphicData uri="http://schemas.openxmlformats.org/drawingml/2006/table">
            <a:tbl>
              <a:tblPr>
                <a:noFill/>
                <a:tableStyleId>{681F5079-2932-4BF5-A27F-156CD3D16ADE}</a:tableStyleId>
              </a:tblPr>
              <a:tblGrid>
                <a:gridCol w="641850"/>
              </a:tblGrid>
              <a:tr h="518100">
                <a:tc>
                  <a:txBody>
                    <a:bodyPr/>
                    <a:lstStyle/>
                    <a:p>
                      <a:pPr indent="0" lvl="0" marL="0" rtl="0" algn="ctr">
                        <a:spcBef>
                          <a:spcPts val="0"/>
                        </a:spcBef>
                        <a:spcAft>
                          <a:spcPts val="0"/>
                        </a:spcAft>
                        <a:buNone/>
                      </a:pPr>
                      <a:r>
                        <a:rPr lang="en-GB" sz="1800">
                          <a:solidFill>
                            <a:schemeClr val="dk2"/>
                          </a:solidFill>
                          <a:latin typeface="Kalam"/>
                          <a:ea typeface="Kalam"/>
                          <a:cs typeface="Kalam"/>
                          <a:sym typeface="Kalam"/>
                        </a:rPr>
                        <a:t>12.4</a:t>
                      </a:r>
                      <a:endParaRPr sz="1800">
                        <a:solidFill>
                          <a:schemeClr val="dk2"/>
                        </a:solidFill>
                        <a:latin typeface="Kalam"/>
                        <a:ea typeface="Kalam"/>
                        <a:cs typeface="Kalam"/>
                        <a:sym typeface="Kalam"/>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rgbClr val="FFFFFF"/>
                    </a:solidFill>
                  </a:tcPr>
                </a:tc>
              </a:tr>
            </a:tbl>
          </a:graphicData>
        </a:graphic>
      </p:graphicFrame>
      <p:graphicFrame>
        <p:nvGraphicFramePr>
          <p:cNvPr id="1022" name="Google Shape;1022;p79"/>
          <p:cNvGraphicFramePr/>
          <p:nvPr/>
        </p:nvGraphicFramePr>
        <p:xfrm>
          <a:off x="5418227" y="1581795"/>
          <a:ext cx="3000000" cy="3000000"/>
        </p:xfrm>
        <a:graphic>
          <a:graphicData uri="http://schemas.openxmlformats.org/drawingml/2006/table">
            <a:tbl>
              <a:tblPr>
                <a:noFill/>
                <a:tableStyleId>{681F5079-2932-4BF5-A27F-156CD3D16ADE}</a:tableStyleId>
              </a:tblPr>
              <a:tblGrid>
                <a:gridCol w="641850"/>
              </a:tblGrid>
              <a:tr h="518100">
                <a:tc>
                  <a:txBody>
                    <a:bodyPr/>
                    <a:lstStyle/>
                    <a:p>
                      <a:pPr indent="0" lvl="0" marL="0" rtl="0" algn="ctr">
                        <a:spcBef>
                          <a:spcPts val="0"/>
                        </a:spcBef>
                        <a:spcAft>
                          <a:spcPts val="0"/>
                        </a:spcAft>
                        <a:buNone/>
                      </a:pPr>
                      <a:r>
                        <a:rPr lang="en-GB" sz="1800">
                          <a:solidFill>
                            <a:schemeClr val="dk2"/>
                          </a:solidFill>
                          <a:latin typeface="Kalam"/>
                          <a:ea typeface="Kalam"/>
                          <a:cs typeface="Kalam"/>
                          <a:sym typeface="Kalam"/>
                        </a:rPr>
                        <a:t>12.4</a:t>
                      </a:r>
                      <a:endParaRPr sz="1800">
                        <a:solidFill>
                          <a:schemeClr val="dk2"/>
                        </a:solidFill>
                        <a:latin typeface="Kalam"/>
                        <a:ea typeface="Kalam"/>
                        <a:cs typeface="Kalam"/>
                        <a:sym typeface="Kalam"/>
                      </a:endParaRPr>
                    </a:p>
                  </a:txBody>
                  <a:tcPr marT="91425" marB="91425" marR="91425" marL="91425">
                    <a:lnL cap="flat" cmpd="sng" w="19050">
                      <a:solidFill>
                        <a:srgbClr val="9E9E9E"/>
                      </a:solidFill>
                      <a:prstDash val="dash"/>
                      <a:round/>
                      <a:headEnd len="sm" w="sm" type="none"/>
                      <a:tailEnd len="sm" w="sm" type="none"/>
                    </a:lnL>
                    <a:lnR cap="flat" cmpd="sng" w="19050">
                      <a:solidFill>
                        <a:srgbClr val="9E9E9E"/>
                      </a:solidFill>
                      <a:prstDash val="dash"/>
                      <a:round/>
                      <a:headEnd len="sm" w="sm" type="none"/>
                      <a:tailEnd len="sm" w="sm" type="none"/>
                    </a:lnR>
                    <a:lnT cap="flat" cmpd="sng" w="19050">
                      <a:solidFill>
                        <a:srgbClr val="9E9E9E"/>
                      </a:solidFill>
                      <a:prstDash val="dash"/>
                      <a:round/>
                      <a:headEnd len="sm" w="sm" type="none"/>
                      <a:tailEnd len="sm" w="sm" type="none"/>
                    </a:lnT>
                    <a:lnB cap="flat" cmpd="sng" w="19050">
                      <a:solidFill>
                        <a:srgbClr val="9E9E9E"/>
                      </a:solidFill>
                      <a:prstDash val="dash"/>
                      <a:round/>
                      <a:headEnd len="sm" w="sm" type="none"/>
                      <a:tailEnd len="sm" w="sm" type="none"/>
                    </a:lnB>
                    <a:solidFill>
                      <a:srgbClr val="FFFFFF"/>
                    </a:solidFill>
                  </a:tcPr>
                </a:tc>
              </a:tr>
            </a:tbl>
          </a:graphicData>
        </a:graphic>
      </p:graphicFrame>
      <p:sp>
        <p:nvSpPr>
          <p:cNvPr id="1023" name="Google Shape;1023;p79"/>
          <p:cNvSpPr txBox="1"/>
          <p:nvPr/>
        </p:nvSpPr>
        <p:spPr>
          <a:xfrm>
            <a:off x="6256800" y="1339676"/>
            <a:ext cx="2673000" cy="123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Decreasing £124 by 40%</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124 − 12.4 × 4</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74.4</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£74.40</a:t>
            </a:r>
            <a:endParaRPr sz="1800">
              <a:solidFill>
                <a:schemeClr val="dk1"/>
              </a:solidFill>
              <a:latin typeface="Kalam"/>
              <a:ea typeface="Kalam"/>
              <a:cs typeface="Kalam"/>
              <a:sym typeface="Kalam"/>
            </a:endParaRPr>
          </a:p>
        </p:txBody>
      </p:sp>
      <p:graphicFrame>
        <p:nvGraphicFramePr>
          <p:cNvPr id="1024" name="Google Shape;1024;p79"/>
          <p:cNvGraphicFramePr/>
          <p:nvPr/>
        </p:nvGraphicFramePr>
        <p:xfrm>
          <a:off x="502285" y="3839317"/>
          <a:ext cx="3000000" cy="3000000"/>
        </p:xfrm>
        <a:graphic>
          <a:graphicData uri="http://schemas.openxmlformats.org/drawingml/2006/table">
            <a:tbl>
              <a:tblPr>
                <a:noFill/>
                <a:tableStyleId>{F0C192D1-A957-4650-8E3B-4254EDDCCE88}</a:tableStyleId>
              </a:tblPr>
              <a:tblGrid>
                <a:gridCol w="528800"/>
                <a:gridCol w="528800"/>
                <a:gridCol w="528800"/>
                <a:gridCol w="529225"/>
                <a:gridCol w="528800"/>
                <a:gridCol w="528800"/>
                <a:gridCol w="264400"/>
                <a:gridCol w="264400"/>
                <a:gridCol w="528800"/>
                <a:gridCol w="528800"/>
                <a:gridCol w="528800"/>
              </a:tblGrid>
              <a:tr h="409550">
                <a:tc gridSpan="7">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hMerge="1"/>
                <a:tc hMerge="1"/>
                <a:tc hMerge="1"/>
                <a:tc hMerge="1"/>
                <a:tc hMerge="1"/>
                <a:tc hMerge="1"/>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91425" marB="91425" marR="91425" marL="91425">
                    <a:lnL cap="flat" cmpd="sng" w="28575">
                      <a:solidFill>
                        <a:schemeClr val="dk2"/>
                      </a:solidFill>
                      <a:prstDash val="dash"/>
                      <a:round/>
                      <a:headEnd len="sm" w="sm" type="none"/>
                      <a:tailEnd len="sm" w="sm" type="none"/>
                    </a:lnL>
                    <a:lnR cap="flat" cmpd="sng" w="28575">
                      <a:solidFill>
                        <a:schemeClr val="dk2"/>
                      </a:solidFill>
                      <a:prstDash val="dash"/>
                      <a:round/>
                      <a:headEnd len="sm" w="sm" type="none"/>
                      <a:tailEnd len="sm" w="sm" type="none"/>
                    </a:lnR>
                    <a:lnT cap="flat" cmpd="sng" w="28575">
                      <a:solidFill>
                        <a:schemeClr val="dk2"/>
                      </a:solidFill>
                      <a:prstDash val="dash"/>
                      <a:round/>
                      <a:headEnd len="sm" w="sm" type="none"/>
                      <a:tailEnd len="sm" w="sm" type="none"/>
                    </a:lnT>
                    <a:lnB cap="flat" cmpd="sng" w="28575">
                      <a:solidFill>
                        <a:schemeClr val="dk2"/>
                      </a:solidFill>
                      <a:prstDash val="dash"/>
                      <a:round/>
                      <a:headEnd len="sm" w="sm" type="none"/>
                      <a:tailEnd len="sm" w="sm" type="none"/>
                    </a:lnB>
                    <a:solidFill>
                      <a:schemeClr val="lt1"/>
                    </a:solidFill>
                  </a:tcPr>
                </a:tc>
              </a:tr>
            </a:tbl>
          </a:graphicData>
        </a:graphic>
      </p:graphicFrame>
      <p:sp>
        <p:nvSpPr>
          <p:cNvPr id="1025" name="Google Shape;1025;p79"/>
          <p:cNvSpPr txBox="1"/>
          <p:nvPr/>
        </p:nvSpPr>
        <p:spPr>
          <a:xfrm>
            <a:off x="4367168" y="3377546"/>
            <a:ext cx="1089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35%</a:t>
            </a:r>
            <a:endParaRPr/>
          </a:p>
        </p:txBody>
      </p:sp>
      <p:sp>
        <p:nvSpPr>
          <p:cNvPr id="1026" name="Google Shape;1026;p79"/>
          <p:cNvSpPr txBox="1"/>
          <p:nvPr/>
        </p:nvSpPr>
        <p:spPr>
          <a:xfrm>
            <a:off x="4031187" y="3865775"/>
            <a:ext cx="77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lang="en-GB" sz="1800">
                <a:solidFill>
                  <a:schemeClr val="dk2"/>
                </a:solidFill>
                <a:latin typeface="Kalam"/>
                <a:ea typeface="Kalam"/>
                <a:cs typeface="Kalam"/>
                <a:sym typeface="Kalam"/>
              </a:rPr>
              <a:t>7.2</a:t>
            </a:r>
            <a:endParaRPr sz="1800"/>
          </a:p>
        </p:txBody>
      </p:sp>
      <p:sp>
        <p:nvSpPr>
          <p:cNvPr id="1027" name="Google Shape;1027;p79"/>
          <p:cNvSpPr txBox="1"/>
          <p:nvPr/>
        </p:nvSpPr>
        <p:spPr>
          <a:xfrm>
            <a:off x="4557297" y="3867101"/>
            <a:ext cx="77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lang="en-GB" sz="1800">
                <a:solidFill>
                  <a:schemeClr val="dk2"/>
                </a:solidFill>
                <a:latin typeface="Kalam"/>
                <a:ea typeface="Kalam"/>
                <a:cs typeface="Kalam"/>
                <a:sym typeface="Kalam"/>
              </a:rPr>
              <a:t>7.2</a:t>
            </a:r>
            <a:endParaRPr sz="1800"/>
          </a:p>
        </p:txBody>
      </p:sp>
      <p:sp>
        <p:nvSpPr>
          <p:cNvPr id="1028" name="Google Shape;1028;p79"/>
          <p:cNvSpPr txBox="1"/>
          <p:nvPr/>
        </p:nvSpPr>
        <p:spPr>
          <a:xfrm>
            <a:off x="5107264" y="3876379"/>
            <a:ext cx="772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lang="en-GB" sz="1800">
                <a:solidFill>
                  <a:schemeClr val="dk2"/>
                </a:solidFill>
                <a:latin typeface="Kalam"/>
                <a:ea typeface="Kalam"/>
                <a:cs typeface="Kalam"/>
                <a:sym typeface="Kalam"/>
              </a:rPr>
              <a:t>7.2</a:t>
            </a:r>
            <a:endParaRPr sz="1800"/>
          </a:p>
        </p:txBody>
      </p:sp>
      <p:sp>
        <p:nvSpPr>
          <p:cNvPr id="1029" name="Google Shape;1029;p79"/>
          <p:cNvSpPr txBox="1"/>
          <p:nvPr/>
        </p:nvSpPr>
        <p:spPr>
          <a:xfrm>
            <a:off x="3816775" y="4342358"/>
            <a:ext cx="772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Kalam"/>
                <a:ea typeface="Kalam"/>
                <a:cs typeface="Kalam"/>
                <a:sym typeface="Kalam"/>
              </a:rPr>
              <a:t>3.</a:t>
            </a:r>
            <a:r>
              <a:rPr lang="en-GB" sz="1600">
                <a:latin typeface="Kalam"/>
                <a:ea typeface="Kalam"/>
                <a:cs typeface="Kalam"/>
                <a:sym typeface="Kalam"/>
              </a:rPr>
              <a:t>6</a:t>
            </a:r>
            <a:endParaRPr/>
          </a:p>
        </p:txBody>
      </p:sp>
      <p:cxnSp>
        <p:nvCxnSpPr>
          <p:cNvPr id="1030" name="Google Shape;1030;p79"/>
          <p:cNvCxnSpPr/>
          <p:nvPr/>
        </p:nvCxnSpPr>
        <p:spPr>
          <a:xfrm rot="10800000">
            <a:off x="4008650" y="4140558"/>
            <a:ext cx="135900" cy="255900"/>
          </a:xfrm>
          <a:prstGeom prst="straightConnector1">
            <a:avLst/>
          </a:prstGeom>
          <a:noFill/>
          <a:ln cap="flat" cmpd="sng" w="28575">
            <a:solidFill>
              <a:schemeClr val="dk2"/>
            </a:solidFill>
            <a:prstDash val="solid"/>
            <a:round/>
            <a:headEnd len="med" w="med" type="none"/>
            <a:tailEnd len="med" w="med" type="triangle"/>
          </a:ln>
        </p:spPr>
      </p:cxnSp>
      <p:sp>
        <p:nvSpPr>
          <p:cNvPr id="1031" name="Google Shape;1031;p79"/>
          <p:cNvSpPr/>
          <p:nvPr/>
        </p:nvSpPr>
        <p:spPr>
          <a:xfrm rot="5400000">
            <a:off x="4821463" y="2799350"/>
            <a:ext cx="88200" cy="18513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2" name="Google Shape;1032;p79"/>
          <p:cNvSpPr txBox="1"/>
          <p:nvPr/>
        </p:nvSpPr>
        <p:spPr>
          <a:xfrm>
            <a:off x="1619625" y="1625200"/>
            <a:ext cx="99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a:t>
            </a:r>
            <a:r>
              <a:rPr lang="en-GB" sz="1800">
                <a:solidFill>
                  <a:schemeClr val="dk1"/>
                </a:solidFill>
                <a:latin typeface="Kalam"/>
                <a:ea typeface="Kalam"/>
                <a:cs typeface="Kalam"/>
                <a:sym typeface="Kalam"/>
              </a:rPr>
              <a:t>74.40</a:t>
            </a:r>
            <a:endParaRPr/>
          </a:p>
        </p:txBody>
      </p:sp>
      <p:sp>
        <p:nvSpPr>
          <p:cNvPr id="1033" name="Google Shape;1033;p79"/>
          <p:cNvSpPr/>
          <p:nvPr/>
        </p:nvSpPr>
        <p:spPr>
          <a:xfrm>
            <a:off x="491200" y="3839750"/>
            <a:ext cx="3448800" cy="457200"/>
          </a:xfrm>
          <a:prstGeom prst="rect">
            <a:avLst/>
          </a:prstGeom>
          <a:solidFill>
            <a:srgbClr val="C1ACEC">
              <a:alpha val="4937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4" name="Google Shape;1034;p79"/>
          <p:cNvSpPr txBox="1"/>
          <p:nvPr/>
        </p:nvSpPr>
        <p:spPr>
          <a:xfrm>
            <a:off x="6068300" y="3430465"/>
            <a:ext cx="2673000" cy="10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Kalam"/>
                <a:ea typeface="Kalam"/>
                <a:cs typeface="Kalam"/>
                <a:sym typeface="Kalam"/>
              </a:rPr>
              <a:t>Decreasing £72 by 35%</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72 − 7.2 × 3 − 3.6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 46.80</a:t>
            </a:r>
            <a:endParaRPr sz="18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1800">
                <a:solidFill>
                  <a:schemeClr val="dk1"/>
                </a:solidFill>
                <a:latin typeface="Kalam"/>
                <a:ea typeface="Kalam"/>
                <a:cs typeface="Kalam"/>
                <a:sym typeface="Kalam"/>
              </a:rPr>
              <a:t>£46.80</a:t>
            </a:r>
            <a:endParaRPr sz="1800">
              <a:solidFill>
                <a:schemeClr val="dk1"/>
              </a:solidFill>
              <a:latin typeface="Kalam"/>
              <a:ea typeface="Kalam"/>
              <a:cs typeface="Kalam"/>
              <a:sym typeface="Kalam"/>
            </a:endParaRPr>
          </a:p>
        </p:txBody>
      </p:sp>
      <p:sp>
        <p:nvSpPr>
          <p:cNvPr id="1035" name="Google Shape;1035;p79"/>
          <p:cNvSpPr txBox="1"/>
          <p:nvPr/>
        </p:nvSpPr>
        <p:spPr>
          <a:xfrm>
            <a:off x="1619625" y="3835000"/>
            <a:ext cx="99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a:t>
            </a:r>
            <a:r>
              <a:rPr lang="en-GB" sz="1800">
                <a:solidFill>
                  <a:schemeClr val="dk1"/>
                </a:solidFill>
                <a:latin typeface="Kalam"/>
                <a:ea typeface="Kalam"/>
                <a:cs typeface="Kalam"/>
                <a:sym typeface="Kalam"/>
              </a:rPr>
              <a:t>46.80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80"/>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1041" name="Google Shape;1041;p8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042" name="Google Shape;1042;p8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043" name="Google Shape;1043;p8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Decrease by a percentage</a:t>
            </a:r>
            <a:endParaRPr/>
          </a:p>
        </p:txBody>
      </p:sp>
      <p:pic>
        <p:nvPicPr>
          <p:cNvPr id="1044" name="Google Shape;1044;p80"/>
          <p:cNvPicPr preferRelativeResize="0"/>
          <p:nvPr/>
        </p:nvPicPr>
        <p:blipFill>
          <a:blip r:embed="rId3">
            <a:alphaModFix/>
          </a:blip>
          <a:stretch>
            <a:fillRect/>
          </a:stretch>
        </p:blipFill>
        <p:spPr>
          <a:xfrm>
            <a:off x="418975" y="2766075"/>
            <a:ext cx="450575" cy="446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050" name="Google Shape;1050;p81"/>
          <p:cNvGrpSpPr/>
          <p:nvPr/>
        </p:nvGrpSpPr>
        <p:grpSpPr>
          <a:xfrm>
            <a:off x="938873" y="2693334"/>
            <a:ext cx="7037892" cy="868664"/>
            <a:chOff x="745060" y="3293578"/>
            <a:chExt cx="8668422" cy="868664"/>
          </a:xfrm>
        </p:grpSpPr>
        <p:sp>
          <p:nvSpPr>
            <p:cNvPr id="1051" name="Google Shape;1051;p81"/>
            <p:cNvSpPr txBox="1"/>
            <p:nvPr/>
          </p:nvSpPr>
          <p:spPr>
            <a:xfrm>
              <a:off x="7292782"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052" name="Google Shape;1052;p81"/>
            <p:cNvSpPr txBox="1"/>
            <p:nvPr/>
          </p:nvSpPr>
          <p:spPr>
            <a:xfrm>
              <a:off x="7292772"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053" name="Google Shape;1053;p81"/>
            <p:cNvGrpSpPr/>
            <p:nvPr/>
          </p:nvGrpSpPr>
          <p:grpSpPr>
            <a:xfrm>
              <a:off x="745060" y="3293578"/>
              <a:ext cx="6406901" cy="868664"/>
              <a:chOff x="2621369" y="2760450"/>
              <a:chExt cx="4093082" cy="1357500"/>
            </a:xfrm>
          </p:grpSpPr>
          <p:grpSp>
            <p:nvGrpSpPr>
              <p:cNvPr id="1054" name="Google Shape;1054;p81"/>
              <p:cNvGrpSpPr/>
              <p:nvPr/>
            </p:nvGrpSpPr>
            <p:grpSpPr>
              <a:xfrm>
                <a:off x="2621369" y="2760450"/>
                <a:ext cx="4093082" cy="1357500"/>
                <a:chOff x="441900" y="3572013"/>
                <a:chExt cx="3074500" cy="1357500"/>
              </a:xfrm>
            </p:grpSpPr>
            <p:cxnSp>
              <p:nvCxnSpPr>
                <p:cNvPr id="1055" name="Google Shape;1055;p81"/>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056" name="Google Shape;1056;p81"/>
                <p:cNvCxnSpPr/>
                <p:nvPr/>
              </p:nvCxnSpPr>
              <p:spPr>
                <a:xfrm>
                  <a:off x="455200" y="3950800"/>
                  <a:ext cx="3061200" cy="0"/>
                </a:xfrm>
                <a:prstGeom prst="straightConnector1">
                  <a:avLst/>
                </a:prstGeom>
                <a:noFill/>
                <a:ln cap="flat" cmpd="sng" w="38100">
                  <a:solidFill>
                    <a:srgbClr val="000000"/>
                  </a:solidFill>
                  <a:prstDash val="solid"/>
                  <a:round/>
                  <a:headEnd len="med" w="med" type="none"/>
                  <a:tailEnd len="med" w="med" type="triangle"/>
                </a:ln>
              </p:spPr>
            </p:cxnSp>
            <p:cxnSp>
              <p:nvCxnSpPr>
                <p:cNvPr id="1057" name="Google Shape;1057;p81"/>
                <p:cNvCxnSpPr/>
                <p:nvPr/>
              </p:nvCxnSpPr>
              <p:spPr>
                <a:xfrm>
                  <a:off x="455200" y="4555638"/>
                  <a:ext cx="3061200" cy="0"/>
                </a:xfrm>
                <a:prstGeom prst="straightConnector1">
                  <a:avLst/>
                </a:prstGeom>
                <a:noFill/>
                <a:ln cap="flat" cmpd="sng" w="38100">
                  <a:solidFill>
                    <a:srgbClr val="000000"/>
                  </a:solidFill>
                  <a:prstDash val="solid"/>
                  <a:round/>
                  <a:headEnd len="med" w="med" type="none"/>
                  <a:tailEnd len="med" w="med" type="triangle"/>
                </a:ln>
              </p:spPr>
            </p:cxnSp>
          </p:grpSp>
          <p:sp>
            <p:nvSpPr>
              <p:cNvPr id="1058" name="Google Shape;1058;p81"/>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81"/>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81"/>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61" name="Google Shape;1061;p81"/>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2" name="Google Shape;1062;p81"/>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3" name="Google Shape;1063;p81"/>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4" name="Google Shape;1064;p81"/>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5" name="Google Shape;1065;p81"/>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6" name="Google Shape;1066;p81"/>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7" name="Google Shape;1067;p81"/>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8" name="Google Shape;1068;p81"/>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69" name="Google Shape;1069;p81"/>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0" name="Google Shape;1070;p81"/>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1" name="Google Shape;1071;p81"/>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2" name="Google Shape;1072;p81"/>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3" name="Google Shape;1073;p81"/>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4" name="Google Shape;1074;p81"/>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5" name="Google Shape;1075;p81"/>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6" name="Google Shape;1076;p81"/>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7" name="Google Shape;1077;p81"/>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8" name="Google Shape;1078;p81"/>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79" name="Google Shape;1079;p81"/>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80" name="Google Shape;1080;p81"/>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81" name="Google Shape;1081;p81"/>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82" name="Google Shape;1082;p81"/>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83" name="Google Shape;1083;p81"/>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084" name="Google Shape;1084;p81"/>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085" name="Google Shape;1085;p81"/>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86" name="Google Shape;1086;p81"/>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450</a:t>
            </a:r>
            <a:endParaRPr sz="1800">
              <a:solidFill>
                <a:srgbClr val="000000"/>
              </a:solidFill>
              <a:latin typeface="Lexend"/>
              <a:ea typeface="Lexend"/>
              <a:cs typeface="Lexend"/>
              <a:sym typeface="Lexend"/>
            </a:endParaRPr>
          </a:p>
        </p:txBody>
      </p:sp>
      <p:sp>
        <p:nvSpPr>
          <p:cNvPr id="1087" name="Google Shape;1087;p81"/>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088" name="Google Shape;1088;p81"/>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089" name="Google Shape;1089;p81"/>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090" name="Google Shape;1090;p81"/>
          <p:cNvSpPr txBox="1"/>
          <p:nvPr/>
        </p:nvSpPr>
        <p:spPr>
          <a:xfrm>
            <a:off x="324000" y="759300"/>
            <a:ext cx="8237700" cy="69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we have a double number line showing 100% is 450</a:t>
            </a:r>
            <a:endParaRPr sz="2200">
              <a:latin typeface="Lexend"/>
              <a:ea typeface="Lexend"/>
              <a:cs typeface="Lexend"/>
              <a:sym typeface="Lexend"/>
            </a:endParaRPr>
          </a:p>
          <a:p>
            <a:pPr indent="0" lvl="0" marL="0" rtl="0" algn="l">
              <a:lnSpc>
                <a:spcPct val="115000"/>
              </a:lnSpc>
              <a:spcBef>
                <a:spcPts val="1000"/>
              </a:spcBef>
              <a:spcAft>
                <a:spcPts val="1000"/>
              </a:spcAft>
              <a:buNone/>
            </a:pPr>
            <a:r>
              <a:t/>
            </a:r>
            <a:endParaRPr sz="2200">
              <a:latin typeface="Lexend"/>
              <a:ea typeface="Lexend"/>
              <a:cs typeface="Lexend"/>
              <a:sym typeface="Lexend"/>
            </a:endParaRPr>
          </a:p>
        </p:txBody>
      </p:sp>
      <p:sp>
        <p:nvSpPr>
          <p:cNvPr id="1091" name="Google Shape;1091;p81"/>
          <p:cNvSpPr txBox="1"/>
          <p:nvPr/>
        </p:nvSpPr>
        <p:spPr>
          <a:xfrm>
            <a:off x="324000" y="1368900"/>
            <a:ext cx="8237700" cy="69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What is </a:t>
            </a:r>
            <a:r>
              <a:rPr lang="en-GB" sz="2200">
                <a:latin typeface="Lexend"/>
                <a:ea typeface="Lexend"/>
                <a:cs typeface="Lexend"/>
                <a:sym typeface="Lexend"/>
              </a:rPr>
              <a:t>10% of 450?</a:t>
            </a:r>
            <a:endParaRPr sz="2200">
              <a:latin typeface="Lexend"/>
              <a:ea typeface="Lexend"/>
              <a:cs typeface="Lexend"/>
              <a:sym typeface="Lexend"/>
            </a:endParaRPr>
          </a:p>
          <a:p>
            <a:pPr indent="0" lvl="0" marL="0" rtl="0" algn="l">
              <a:lnSpc>
                <a:spcPct val="115000"/>
              </a:lnSpc>
              <a:spcBef>
                <a:spcPts val="1000"/>
              </a:spcBef>
              <a:spcAft>
                <a:spcPts val="1000"/>
              </a:spcAft>
              <a:buNone/>
            </a:pPr>
            <a:r>
              <a:t/>
            </a:r>
            <a:endParaRPr sz="2200">
              <a:latin typeface="Lexend"/>
              <a:ea typeface="Lexend"/>
              <a:cs typeface="Lexend"/>
              <a:sym typeface="Lexend"/>
            </a:endParaRPr>
          </a:p>
        </p:txBody>
      </p:sp>
      <p:sp>
        <p:nvSpPr>
          <p:cNvPr id="1092" name="Google Shape;1092;p81"/>
          <p:cNvSpPr txBox="1"/>
          <p:nvPr/>
        </p:nvSpPr>
        <p:spPr>
          <a:xfrm>
            <a:off x="12015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093" name="Google Shape;1093;p81"/>
          <p:cNvSpPr txBox="1"/>
          <p:nvPr/>
        </p:nvSpPr>
        <p:spPr>
          <a:xfrm>
            <a:off x="1212108"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099" name="Google Shape;1099;p82"/>
          <p:cNvGrpSpPr/>
          <p:nvPr/>
        </p:nvGrpSpPr>
        <p:grpSpPr>
          <a:xfrm>
            <a:off x="938873" y="2693334"/>
            <a:ext cx="7037892" cy="868664"/>
            <a:chOff x="745060" y="3293578"/>
            <a:chExt cx="8668422" cy="868664"/>
          </a:xfrm>
        </p:grpSpPr>
        <p:sp>
          <p:nvSpPr>
            <p:cNvPr id="1100" name="Google Shape;1100;p82"/>
            <p:cNvSpPr txBox="1"/>
            <p:nvPr/>
          </p:nvSpPr>
          <p:spPr>
            <a:xfrm>
              <a:off x="7292782"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101" name="Google Shape;1101;p82"/>
            <p:cNvSpPr txBox="1"/>
            <p:nvPr/>
          </p:nvSpPr>
          <p:spPr>
            <a:xfrm>
              <a:off x="7292772"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102" name="Google Shape;1102;p82"/>
            <p:cNvGrpSpPr/>
            <p:nvPr/>
          </p:nvGrpSpPr>
          <p:grpSpPr>
            <a:xfrm>
              <a:off x="745060" y="3293578"/>
              <a:ext cx="6406901" cy="868664"/>
              <a:chOff x="2621369" y="2760450"/>
              <a:chExt cx="4093082" cy="1357500"/>
            </a:xfrm>
          </p:grpSpPr>
          <p:grpSp>
            <p:nvGrpSpPr>
              <p:cNvPr id="1103" name="Google Shape;1103;p82"/>
              <p:cNvGrpSpPr/>
              <p:nvPr/>
            </p:nvGrpSpPr>
            <p:grpSpPr>
              <a:xfrm>
                <a:off x="2621369" y="2760450"/>
                <a:ext cx="4093082" cy="1357500"/>
                <a:chOff x="441900" y="3572013"/>
                <a:chExt cx="3074500" cy="1357500"/>
              </a:xfrm>
            </p:grpSpPr>
            <p:cxnSp>
              <p:nvCxnSpPr>
                <p:cNvPr id="1104" name="Google Shape;1104;p82"/>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105" name="Google Shape;1105;p82"/>
                <p:cNvCxnSpPr/>
                <p:nvPr/>
              </p:nvCxnSpPr>
              <p:spPr>
                <a:xfrm>
                  <a:off x="455200" y="3950800"/>
                  <a:ext cx="3061200" cy="0"/>
                </a:xfrm>
                <a:prstGeom prst="straightConnector1">
                  <a:avLst/>
                </a:prstGeom>
                <a:noFill/>
                <a:ln cap="flat" cmpd="sng" w="38100">
                  <a:solidFill>
                    <a:srgbClr val="000000"/>
                  </a:solidFill>
                  <a:prstDash val="solid"/>
                  <a:round/>
                  <a:headEnd len="med" w="med" type="none"/>
                  <a:tailEnd len="med" w="med" type="triangle"/>
                </a:ln>
              </p:spPr>
            </p:cxnSp>
            <p:cxnSp>
              <p:nvCxnSpPr>
                <p:cNvPr id="1106" name="Google Shape;1106;p82"/>
                <p:cNvCxnSpPr/>
                <p:nvPr/>
              </p:nvCxnSpPr>
              <p:spPr>
                <a:xfrm>
                  <a:off x="455200" y="4555638"/>
                  <a:ext cx="3061200" cy="0"/>
                </a:xfrm>
                <a:prstGeom prst="straightConnector1">
                  <a:avLst/>
                </a:prstGeom>
                <a:noFill/>
                <a:ln cap="flat" cmpd="sng" w="38100">
                  <a:solidFill>
                    <a:srgbClr val="000000"/>
                  </a:solidFill>
                  <a:prstDash val="solid"/>
                  <a:round/>
                  <a:headEnd len="med" w="med" type="none"/>
                  <a:tailEnd len="med" w="med" type="triangle"/>
                </a:ln>
              </p:spPr>
            </p:cxnSp>
          </p:grpSp>
          <p:sp>
            <p:nvSpPr>
              <p:cNvPr id="1107" name="Google Shape;1107;p82"/>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82"/>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82"/>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10" name="Google Shape;1110;p82"/>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1" name="Google Shape;1111;p82"/>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2" name="Google Shape;1112;p82"/>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3" name="Google Shape;1113;p82"/>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4" name="Google Shape;1114;p82"/>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5" name="Google Shape;1115;p82"/>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6" name="Google Shape;1116;p82"/>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7" name="Google Shape;1117;p82"/>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8" name="Google Shape;1118;p82"/>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19" name="Google Shape;1119;p82"/>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0" name="Google Shape;1120;p82"/>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1" name="Google Shape;1121;p82"/>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2" name="Google Shape;1122;p82"/>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3" name="Google Shape;1123;p82"/>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4" name="Google Shape;1124;p82"/>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5" name="Google Shape;1125;p82"/>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6" name="Google Shape;1126;p82"/>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7" name="Google Shape;1127;p82"/>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8" name="Google Shape;1128;p82"/>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29" name="Google Shape;1129;p82"/>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30" name="Google Shape;1130;p82"/>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31" name="Google Shape;1131;p82"/>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32" name="Google Shape;1132;p82"/>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33" name="Google Shape;1133;p82"/>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134" name="Google Shape;1134;p82"/>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35" name="Google Shape;1135;p82"/>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450</a:t>
            </a:r>
            <a:endParaRPr sz="1800">
              <a:solidFill>
                <a:srgbClr val="000000"/>
              </a:solidFill>
              <a:latin typeface="Lexend"/>
              <a:ea typeface="Lexend"/>
              <a:cs typeface="Lexend"/>
              <a:sym typeface="Lexend"/>
            </a:endParaRPr>
          </a:p>
        </p:txBody>
      </p:sp>
      <p:sp>
        <p:nvSpPr>
          <p:cNvPr id="1136" name="Google Shape;1136;p82"/>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137" name="Google Shape;1137;p82"/>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138" name="Google Shape;1138;p82"/>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139" name="Google Shape;1139;p82"/>
          <p:cNvSpPr txBox="1"/>
          <p:nvPr/>
        </p:nvSpPr>
        <p:spPr>
          <a:xfrm>
            <a:off x="324000" y="759300"/>
            <a:ext cx="8237700" cy="69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Here we have a double number line showing 100% is 450</a:t>
            </a:r>
            <a:endParaRPr sz="2200">
              <a:latin typeface="Lexend"/>
              <a:ea typeface="Lexend"/>
              <a:cs typeface="Lexend"/>
              <a:sym typeface="Lexend"/>
            </a:endParaRPr>
          </a:p>
          <a:p>
            <a:pPr indent="0" lvl="0" marL="0" rtl="0" algn="l">
              <a:lnSpc>
                <a:spcPct val="115000"/>
              </a:lnSpc>
              <a:spcBef>
                <a:spcPts val="1000"/>
              </a:spcBef>
              <a:spcAft>
                <a:spcPts val="1000"/>
              </a:spcAft>
              <a:buNone/>
            </a:pPr>
            <a:r>
              <a:t/>
            </a:r>
            <a:endParaRPr sz="2200">
              <a:latin typeface="Lexend"/>
              <a:ea typeface="Lexend"/>
              <a:cs typeface="Lexend"/>
              <a:sym typeface="Lexend"/>
            </a:endParaRPr>
          </a:p>
        </p:txBody>
      </p:sp>
      <p:sp>
        <p:nvSpPr>
          <p:cNvPr id="1140" name="Google Shape;1140;p82"/>
          <p:cNvSpPr txBox="1"/>
          <p:nvPr/>
        </p:nvSpPr>
        <p:spPr>
          <a:xfrm>
            <a:off x="324000" y="1368900"/>
            <a:ext cx="8237700" cy="69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What is 20% of 450?</a:t>
            </a:r>
            <a:endParaRPr sz="2200">
              <a:latin typeface="Lexend"/>
              <a:ea typeface="Lexend"/>
              <a:cs typeface="Lexend"/>
              <a:sym typeface="Lexend"/>
            </a:endParaRPr>
          </a:p>
          <a:p>
            <a:pPr indent="0" lvl="0" marL="0" rtl="0" algn="l">
              <a:lnSpc>
                <a:spcPct val="115000"/>
              </a:lnSpc>
              <a:spcBef>
                <a:spcPts val="1000"/>
              </a:spcBef>
              <a:spcAft>
                <a:spcPts val="1000"/>
              </a:spcAft>
              <a:buNone/>
            </a:pPr>
            <a:r>
              <a:t/>
            </a:r>
            <a:endParaRPr sz="2200">
              <a:latin typeface="Lexend"/>
              <a:ea typeface="Lexend"/>
              <a:cs typeface="Lexend"/>
              <a:sym typeface="Lexend"/>
            </a:endParaRPr>
          </a:p>
        </p:txBody>
      </p:sp>
      <p:grpSp>
        <p:nvGrpSpPr>
          <p:cNvPr id="1141" name="Google Shape;1141;p82"/>
          <p:cNvGrpSpPr/>
          <p:nvPr/>
        </p:nvGrpSpPr>
        <p:grpSpPr>
          <a:xfrm>
            <a:off x="1201564" y="2510963"/>
            <a:ext cx="821400" cy="1255413"/>
            <a:chOff x="1201564" y="2510963"/>
            <a:chExt cx="821400" cy="1255413"/>
          </a:xfrm>
        </p:grpSpPr>
        <p:sp>
          <p:nvSpPr>
            <p:cNvPr id="1142" name="Google Shape;1142;p82"/>
            <p:cNvSpPr txBox="1"/>
            <p:nvPr/>
          </p:nvSpPr>
          <p:spPr>
            <a:xfrm>
              <a:off x="12015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a:t>
              </a:r>
              <a:endParaRPr sz="1800">
                <a:solidFill>
                  <a:srgbClr val="000000"/>
                </a:solidFill>
                <a:latin typeface="Lexend"/>
                <a:ea typeface="Lexend"/>
                <a:cs typeface="Lexend"/>
                <a:sym typeface="Lexend"/>
              </a:endParaRPr>
            </a:p>
          </p:txBody>
        </p:sp>
        <p:sp>
          <p:nvSpPr>
            <p:cNvPr id="1143" name="Google Shape;1143;p82"/>
            <p:cNvSpPr txBox="1"/>
            <p:nvPr/>
          </p:nvSpPr>
          <p:spPr>
            <a:xfrm>
              <a:off x="1212108"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a:t>
              </a:r>
              <a:endParaRPr sz="1800">
                <a:solidFill>
                  <a:srgbClr val="000000"/>
                </a:solidFill>
                <a:latin typeface="Lexend"/>
                <a:ea typeface="Lexend"/>
                <a:cs typeface="Lexend"/>
                <a:sym typeface="Lexend"/>
              </a:endParaRPr>
            </a:p>
          </p:txBody>
        </p:sp>
      </p:grpSp>
      <p:grpSp>
        <p:nvGrpSpPr>
          <p:cNvPr id="1144" name="Google Shape;1144;p82"/>
          <p:cNvGrpSpPr/>
          <p:nvPr/>
        </p:nvGrpSpPr>
        <p:grpSpPr>
          <a:xfrm>
            <a:off x="1658764" y="2510963"/>
            <a:ext cx="821400" cy="1255413"/>
            <a:chOff x="1201564" y="2510963"/>
            <a:chExt cx="821400" cy="1255413"/>
          </a:xfrm>
        </p:grpSpPr>
        <p:sp>
          <p:nvSpPr>
            <p:cNvPr id="1145" name="Google Shape;1145;p82"/>
            <p:cNvSpPr txBox="1"/>
            <p:nvPr/>
          </p:nvSpPr>
          <p:spPr>
            <a:xfrm>
              <a:off x="12015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a:t>
              </a:r>
              <a:r>
                <a:rPr lang="en-GB" sz="1800">
                  <a:latin typeface="Lexend"/>
                  <a:ea typeface="Lexend"/>
                  <a:cs typeface="Lexend"/>
                  <a:sym typeface="Lexend"/>
                </a:rPr>
                <a:t>0%</a:t>
              </a:r>
              <a:endParaRPr sz="1800">
                <a:solidFill>
                  <a:srgbClr val="000000"/>
                </a:solidFill>
                <a:latin typeface="Lexend"/>
                <a:ea typeface="Lexend"/>
                <a:cs typeface="Lexend"/>
                <a:sym typeface="Lexend"/>
              </a:endParaRPr>
            </a:p>
          </p:txBody>
        </p:sp>
        <p:sp>
          <p:nvSpPr>
            <p:cNvPr id="1146" name="Google Shape;1146;p82"/>
            <p:cNvSpPr txBox="1"/>
            <p:nvPr/>
          </p:nvSpPr>
          <p:spPr>
            <a:xfrm>
              <a:off x="1212108"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90</a:t>
              </a:r>
              <a:endParaRPr sz="1800">
                <a:solidFill>
                  <a:srgbClr val="000000"/>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152" name="Google Shape;1152;p83"/>
          <p:cNvSpPr txBox="1"/>
          <p:nvPr/>
        </p:nvSpPr>
        <p:spPr>
          <a:xfrm>
            <a:off x="324000" y="1434100"/>
            <a:ext cx="8612700" cy="86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What does a 20% decrease of 450 look like on a number line?</a:t>
            </a:r>
            <a:endParaRPr sz="2200">
              <a:latin typeface="Lexend"/>
              <a:ea typeface="Lexend"/>
              <a:cs typeface="Lexend"/>
              <a:sym typeface="Lexend"/>
            </a:endParaRPr>
          </a:p>
        </p:txBody>
      </p:sp>
      <p:grpSp>
        <p:nvGrpSpPr>
          <p:cNvPr id="1153" name="Google Shape;1153;p83"/>
          <p:cNvGrpSpPr/>
          <p:nvPr/>
        </p:nvGrpSpPr>
        <p:grpSpPr>
          <a:xfrm>
            <a:off x="938873" y="2693334"/>
            <a:ext cx="7037892" cy="868664"/>
            <a:chOff x="745060" y="3293578"/>
            <a:chExt cx="8668422" cy="868664"/>
          </a:xfrm>
        </p:grpSpPr>
        <p:sp>
          <p:nvSpPr>
            <p:cNvPr id="1154" name="Google Shape;1154;p83"/>
            <p:cNvSpPr txBox="1"/>
            <p:nvPr/>
          </p:nvSpPr>
          <p:spPr>
            <a:xfrm>
              <a:off x="7292782"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155" name="Google Shape;1155;p83"/>
            <p:cNvSpPr txBox="1"/>
            <p:nvPr/>
          </p:nvSpPr>
          <p:spPr>
            <a:xfrm>
              <a:off x="7292772"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156" name="Google Shape;1156;p83"/>
            <p:cNvGrpSpPr/>
            <p:nvPr/>
          </p:nvGrpSpPr>
          <p:grpSpPr>
            <a:xfrm>
              <a:off x="745060" y="3293578"/>
              <a:ext cx="6406901" cy="868664"/>
              <a:chOff x="2621369" y="2760450"/>
              <a:chExt cx="4093082" cy="1357500"/>
            </a:xfrm>
          </p:grpSpPr>
          <p:grpSp>
            <p:nvGrpSpPr>
              <p:cNvPr id="1157" name="Google Shape;1157;p83"/>
              <p:cNvGrpSpPr/>
              <p:nvPr/>
            </p:nvGrpSpPr>
            <p:grpSpPr>
              <a:xfrm>
                <a:off x="2621369" y="2760450"/>
                <a:ext cx="4093082" cy="1357500"/>
                <a:chOff x="441900" y="3572013"/>
                <a:chExt cx="3074500" cy="1357500"/>
              </a:xfrm>
            </p:grpSpPr>
            <p:cxnSp>
              <p:nvCxnSpPr>
                <p:cNvPr id="1158" name="Google Shape;1158;p83"/>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159" name="Google Shape;1159;p83"/>
                <p:cNvCxnSpPr/>
                <p:nvPr/>
              </p:nvCxnSpPr>
              <p:spPr>
                <a:xfrm>
                  <a:off x="455200" y="3950800"/>
                  <a:ext cx="3061200" cy="0"/>
                </a:xfrm>
                <a:prstGeom prst="straightConnector1">
                  <a:avLst/>
                </a:prstGeom>
                <a:noFill/>
                <a:ln cap="flat" cmpd="sng" w="38100">
                  <a:solidFill>
                    <a:srgbClr val="000000"/>
                  </a:solidFill>
                  <a:prstDash val="solid"/>
                  <a:round/>
                  <a:headEnd len="med" w="med" type="none"/>
                  <a:tailEnd len="med" w="med" type="triangle"/>
                </a:ln>
              </p:spPr>
            </p:cxnSp>
            <p:cxnSp>
              <p:nvCxnSpPr>
                <p:cNvPr id="1160" name="Google Shape;1160;p83"/>
                <p:cNvCxnSpPr/>
                <p:nvPr/>
              </p:nvCxnSpPr>
              <p:spPr>
                <a:xfrm>
                  <a:off x="455200" y="4555638"/>
                  <a:ext cx="3061200" cy="0"/>
                </a:xfrm>
                <a:prstGeom prst="straightConnector1">
                  <a:avLst/>
                </a:prstGeom>
                <a:noFill/>
                <a:ln cap="flat" cmpd="sng" w="38100">
                  <a:solidFill>
                    <a:srgbClr val="000000"/>
                  </a:solidFill>
                  <a:prstDash val="solid"/>
                  <a:round/>
                  <a:headEnd len="med" w="med" type="none"/>
                  <a:tailEnd len="med" w="med" type="triangle"/>
                </a:ln>
              </p:spPr>
            </p:cxnSp>
          </p:grpSp>
          <p:sp>
            <p:nvSpPr>
              <p:cNvPr id="1161" name="Google Shape;1161;p83"/>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83"/>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83"/>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64" name="Google Shape;1164;p83"/>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65" name="Google Shape;1165;p83"/>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66" name="Google Shape;1166;p83"/>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67" name="Google Shape;1167;p83"/>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68" name="Google Shape;1168;p83"/>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69" name="Google Shape;1169;p83"/>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0" name="Google Shape;1170;p83"/>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1" name="Google Shape;1171;p83"/>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2" name="Google Shape;1172;p83"/>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3" name="Google Shape;1173;p83"/>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4" name="Google Shape;1174;p83"/>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5" name="Google Shape;1175;p83"/>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6" name="Google Shape;1176;p83"/>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7" name="Google Shape;1177;p83"/>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8" name="Google Shape;1178;p83"/>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79" name="Google Shape;1179;p83"/>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0" name="Google Shape;1180;p83"/>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1" name="Google Shape;1181;p83"/>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2" name="Google Shape;1182;p83"/>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3" name="Google Shape;1183;p83"/>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4" name="Google Shape;1184;p83"/>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5" name="Google Shape;1185;p83"/>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6" name="Google Shape;1186;p83"/>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187" name="Google Shape;1187;p83"/>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188" name="Google Shape;1188;p83"/>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89" name="Google Shape;1189;p83"/>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450</a:t>
            </a:r>
            <a:endParaRPr sz="1800">
              <a:solidFill>
                <a:srgbClr val="000000"/>
              </a:solidFill>
              <a:latin typeface="Lexend"/>
              <a:ea typeface="Lexend"/>
              <a:cs typeface="Lexend"/>
              <a:sym typeface="Lexend"/>
            </a:endParaRPr>
          </a:p>
        </p:txBody>
      </p:sp>
      <p:sp>
        <p:nvSpPr>
          <p:cNvPr id="1190" name="Google Shape;1190;p83"/>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191" name="Google Shape;1191;p83"/>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192" name="Google Shape;1192;p83"/>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193" name="Google Shape;1193;p83"/>
          <p:cNvSpPr/>
          <p:nvPr/>
        </p:nvSpPr>
        <p:spPr>
          <a:xfrm flipH="1">
            <a:off x="4572005" y="2211225"/>
            <a:ext cx="852000" cy="3810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83"/>
          <p:cNvSpPr txBox="1"/>
          <p:nvPr/>
        </p:nvSpPr>
        <p:spPr>
          <a:xfrm>
            <a:off x="4689764" y="1930938"/>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− 20</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195" name="Google Shape;1195;p83"/>
          <p:cNvSpPr txBox="1"/>
          <p:nvPr/>
        </p:nvSpPr>
        <p:spPr>
          <a:xfrm>
            <a:off x="4291624" y="2492075"/>
            <a:ext cx="75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80</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196" name="Google Shape;1196;p83"/>
          <p:cNvSpPr txBox="1"/>
          <p:nvPr/>
        </p:nvSpPr>
        <p:spPr>
          <a:xfrm>
            <a:off x="16587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20%</a:t>
            </a:r>
            <a:endParaRPr sz="1800">
              <a:solidFill>
                <a:srgbClr val="000000"/>
              </a:solidFill>
              <a:latin typeface="Lexend"/>
              <a:ea typeface="Lexend"/>
              <a:cs typeface="Lexend"/>
              <a:sym typeface="Lexend"/>
            </a:endParaRPr>
          </a:p>
        </p:txBody>
      </p:sp>
      <p:sp>
        <p:nvSpPr>
          <p:cNvPr id="1197" name="Google Shape;1197;p83"/>
          <p:cNvSpPr txBox="1"/>
          <p:nvPr/>
        </p:nvSpPr>
        <p:spPr>
          <a:xfrm>
            <a:off x="1669308"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90</a:t>
            </a:r>
            <a:endParaRPr sz="1800">
              <a:solidFill>
                <a:srgbClr val="000000"/>
              </a:solidFill>
              <a:latin typeface="Lexend"/>
              <a:ea typeface="Lexend"/>
              <a:cs typeface="Lexend"/>
              <a:sym typeface="Lexend"/>
            </a:endParaRPr>
          </a:p>
        </p:txBody>
      </p:sp>
      <p:sp>
        <p:nvSpPr>
          <p:cNvPr id="1198" name="Google Shape;1198;p83"/>
          <p:cNvSpPr/>
          <p:nvPr/>
        </p:nvSpPr>
        <p:spPr>
          <a:xfrm rot="10800000">
            <a:off x="4572000" y="3633252"/>
            <a:ext cx="852000" cy="2772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83"/>
          <p:cNvSpPr txBox="1"/>
          <p:nvPr/>
        </p:nvSpPr>
        <p:spPr>
          <a:xfrm>
            <a:off x="4732208" y="3910450"/>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r>
              <a:rPr lang="en-GB" sz="1800">
                <a:latin typeface="Lexend"/>
                <a:ea typeface="Lexend"/>
                <a:cs typeface="Lexend"/>
                <a:sym typeface="Lexend"/>
              </a:rPr>
              <a:t>90</a:t>
            </a:r>
            <a:endParaRPr sz="1800">
              <a:solidFill>
                <a:srgbClr val="000000"/>
              </a:solidFill>
              <a:latin typeface="Lexend"/>
              <a:ea typeface="Lexend"/>
              <a:cs typeface="Lexend"/>
              <a:sym typeface="Lexend"/>
            </a:endParaRPr>
          </a:p>
        </p:txBody>
      </p:sp>
      <p:sp>
        <p:nvSpPr>
          <p:cNvPr id="1200" name="Google Shape;1200;p83"/>
          <p:cNvSpPr txBox="1"/>
          <p:nvPr/>
        </p:nvSpPr>
        <p:spPr>
          <a:xfrm>
            <a:off x="43182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360</a:t>
            </a:r>
            <a:endParaRPr sz="1800">
              <a:solidFill>
                <a:srgbClr val="000000"/>
              </a:solidFill>
              <a:latin typeface="Lexend"/>
              <a:ea typeface="Lexend"/>
              <a:cs typeface="Lexend"/>
              <a:sym typeface="Lexend"/>
            </a:endParaRPr>
          </a:p>
        </p:txBody>
      </p:sp>
      <p:sp>
        <p:nvSpPr>
          <p:cNvPr id="1201" name="Google Shape;1201;p83"/>
          <p:cNvSpPr txBox="1"/>
          <p:nvPr/>
        </p:nvSpPr>
        <p:spPr>
          <a:xfrm>
            <a:off x="214960" y="762200"/>
            <a:ext cx="82377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207" name="Google Shape;1207;p84"/>
          <p:cNvSpPr txBox="1"/>
          <p:nvPr/>
        </p:nvSpPr>
        <p:spPr>
          <a:xfrm>
            <a:off x="324000" y="759300"/>
            <a:ext cx="8237700" cy="86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This approach works to find a percentage decrease, but now let’s see how we can use a multiplier given we know there is a multiplicative </a:t>
            </a:r>
            <a:r>
              <a:rPr lang="en-GB" sz="2200">
                <a:latin typeface="Lexend"/>
                <a:ea typeface="Lexend"/>
                <a:cs typeface="Lexend"/>
                <a:sym typeface="Lexend"/>
              </a:rPr>
              <a:t>relationship</a:t>
            </a:r>
            <a:r>
              <a:rPr lang="en-GB" sz="2200">
                <a:latin typeface="Lexend"/>
                <a:ea typeface="Lexend"/>
                <a:cs typeface="Lexend"/>
                <a:sym typeface="Lexend"/>
              </a:rPr>
              <a:t>. </a:t>
            </a:r>
            <a:endParaRPr sz="2200">
              <a:latin typeface="Lexend"/>
              <a:ea typeface="Lexend"/>
              <a:cs typeface="Lexend"/>
              <a:sym typeface="Lexend"/>
            </a:endParaRPr>
          </a:p>
        </p:txBody>
      </p:sp>
      <p:grpSp>
        <p:nvGrpSpPr>
          <p:cNvPr id="1208" name="Google Shape;1208;p84"/>
          <p:cNvGrpSpPr/>
          <p:nvPr/>
        </p:nvGrpSpPr>
        <p:grpSpPr>
          <a:xfrm>
            <a:off x="938873" y="2693334"/>
            <a:ext cx="7037892" cy="868664"/>
            <a:chOff x="745060" y="3293578"/>
            <a:chExt cx="8668422" cy="868664"/>
          </a:xfrm>
        </p:grpSpPr>
        <p:sp>
          <p:nvSpPr>
            <p:cNvPr id="1209" name="Google Shape;1209;p84"/>
            <p:cNvSpPr txBox="1"/>
            <p:nvPr/>
          </p:nvSpPr>
          <p:spPr>
            <a:xfrm>
              <a:off x="7292782"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210" name="Google Shape;1210;p84"/>
            <p:cNvSpPr txBox="1"/>
            <p:nvPr/>
          </p:nvSpPr>
          <p:spPr>
            <a:xfrm>
              <a:off x="7292772"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211" name="Google Shape;1211;p84"/>
            <p:cNvGrpSpPr/>
            <p:nvPr/>
          </p:nvGrpSpPr>
          <p:grpSpPr>
            <a:xfrm>
              <a:off x="745060" y="3293578"/>
              <a:ext cx="6406901" cy="868664"/>
              <a:chOff x="2621369" y="2760450"/>
              <a:chExt cx="4093082" cy="1357500"/>
            </a:xfrm>
          </p:grpSpPr>
          <p:grpSp>
            <p:nvGrpSpPr>
              <p:cNvPr id="1212" name="Google Shape;1212;p84"/>
              <p:cNvGrpSpPr/>
              <p:nvPr/>
            </p:nvGrpSpPr>
            <p:grpSpPr>
              <a:xfrm>
                <a:off x="2621369" y="2760450"/>
                <a:ext cx="4093082" cy="1357500"/>
                <a:chOff x="441900" y="3572013"/>
                <a:chExt cx="3074500" cy="1357500"/>
              </a:xfrm>
            </p:grpSpPr>
            <p:cxnSp>
              <p:nvCxnSpPr>
                <p:cNvPr id="1213" name="Google Shape;1213;p84"/>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214" name="Google Shape;1214;p84"/>
                <p:cNvCxnSpPr/>
                <p:nvPr/>
              </p:nvCxnSpPr>
              <p:spPr>
                <a:xfrm>
                  <a:off x="455200" y="3950800"/>
                  <a:ext cx="3061200" cy="0"/>
                </a:xfrm>
                <a:prstGeom prst="straightConnector1">
                  <a:avLst/>
                </a:prstGeom>
                <a:noFill/>
                <a:ln cap="flat" cmpd="sng" w="38100">
                  <a:solidFill>
                    <a:srgbClr val="000000"/>
                  </a:solidFill>
                  <a:prstDash val="solid"/>
                  <a:round/>
                  <a:headEnd len="med" w="med" type="none"/>
                  <a:tailEnd len="med" w="med" type="triangle"/>
                </a:ln>
              </p:spPr>
            </p:cxnSp>
            <p:cxnSp>
              <p:nvCxnSpPr>
                <p:cNvPr id="1215" name="Google Shape;1215;p84"/>
                <p:cNvCxnSpPr/>
                <p:nvPr/>
              </p:nvCxnSpPr>
              <p:spPr>
                <a:xfrm>
                  <a:off x="455200" y="4555638"/>
                  <a:ext cx="3061200" cy="0"/>
                </a:xfrm>
                <a:prstGeom prst="straightConnector1">
                  <a:avLst/>
                </a:prstGeom>
                <a:noFill/>
                <a:ln cap="flat" cmpd="sng" w="38100">
                  <a:solidFill>
                    <a:srgbClr val="000000"/>
                  </a:solidFill>
                  <a:prstDash val="solid"/>
                  <a:round/>
                  <a:headEnd len="med" w="med" type="none"/>
                  <a:tailEnd len="med" w="med" type="triangle"/>
                </a:ln>
              </p:spPr>
            </p:cxnSp>
          </p:grpSp>
          <p:sp>
            <p:nvSpPr>
              <p:cNvPr id="1216" name="Google Shape;1216;p84"/>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84"/>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84"/>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19" name="Google Shape;1219;p84"/>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0" name="Google Shape;1220;p84"/>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1" name="Google Shape;1221;p84"/>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2" name="Google Shape;1222;p84"/>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3" name="Google Shape;1223;p84"/>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4" name="Google Shape;1224;p84"/>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5" name="Google Shape;1225;p84"/>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6" name="Google Shape;1226;p84"/>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7" name="Google Shape;1227;p84"/>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8" name="Google Shape;1228;p84"/>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29" name="Google Shape;1229;p84"/>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0" name="Google Shape;1230;p84"/>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1" name="Google Shape;1231;p84"/>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2" name="Google Shape;1232;p84"/>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3" name="Google Shape;1233;p84"/>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4" name="Google Shape;1234;p84"/>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5" name="Google Shape;1235;p84"/>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6" name="Google Shape;1236;p84"/>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7" name="Google Shape;1237;p84"/>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8" name="Google Shape;1238;p84"/>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39" name="Google Shape;1239;p84"/>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40" name="Google Shape;1240;p84"/>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41" name="Google Shape;1241;p84"/>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42" name="Google Shape;1242;p84"/>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243" name="Google Shape;1243;p84"/>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44" name="Google Shape;1244;p84"/>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450</a:t>
            </a:r>
            <a:endParaRPr sz="1800">
              <a:solidFill>
                <a:srgbClr val="000000"/>
              </a:solidFill>
              <a:latin typeface="Lexend"/>
              <a:ea typeface="Lexend"/>
              <a:cs typeface="Lexend"/>
              <a:sym typeface="Lexend"/>
            </a:endParaRPr>
          </a:p>
        </p:txBody>
      </p:sp>
      <p:sp>
        <p:nvSpPr>
          <p:cNvPr id="1245" name="Google Shape;1245;p84"/>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246" name="Google Shape;1246;p84"/>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247" name="Google Shape;1247;p84"/>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248" name="Google Shape;1248;p84"/>
          <p:cNvSpPr/>
          <p:nvPr/>
        </p:nvSpPr>
        <p:spPr>
          <a:xfrm flipH="1">
            <a:off x="4572005" y="2211225"/>
            <a:ext cx="852000" cy="3810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9" name="Google Shape;1249;p84"/>
          <p:cNvSpPr txBox="1"/>
          <p:nvPr/>
        </p:nvSpPr>
        <p:spPr>
          <a:xfrm>
            <a:off x="4689764" y="1930938"/>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− 20%</a:t>
            </a:r>
            <a:endParaRPr sz="1800">
              <a:solidFill>
                <a:srgbClr val="000000"/>
              </a:solidFill>
              <a:latin typeface="Lexend"/>
              <a:ea typeface="Lexend"/>
              <a:cs typeface="Lexend"/>
              <a:sym typeface="Lexend"/>
            </a:endParaRPr>
          </a:p>
        </p:txBody>
      </p:sp>
      <p:sp>
        <p:nvSpPr>
          <p:cNvPr id="1250" name="Google Shape;1250;p84"/>
          <p:cNvSpPr txBox="1"/>
          <p:nvPr/>
        </p:nvSpPr>
        <p:spPr>
          <a:xfrm>
            <a:off x="4291624" y="2492075"/>
            <a:ext cx="75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80%</a:t>
            </a:r>
            <a:endParaRPr sz="1800">
              <a:solidFill>
                <a:srgbClr val="000000"/>
              </a:solidFill>
              <a:latin typeface="Lexend"/>
              <a:ea typeface="Lexend"/>
              <a:cs typeface="Lexend"/>
              <a:sym typeface="Lexend"/>
            </a:endParaRPr>
          </a:p>
        </p:txBody>
      </p:sp>
      <p:sp>
        <p:nvSpPr>
          <p:cNvPr id="1251" name="Google Shape;1251;p84"/>
          <p:cNvSpPr/>
          <p:nvPr/>
        </p:nvSpPr>
        <p:spPr>
          <a:xfrm rot="10800000">
            <a:off x="4572000" y="3633252"/>
            <a:ext cx="852000" cy="2772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2" name="Google Shape;1252;p84"/>
          <p:cNvSpPr txBox="1"/>
          <p:nvPr/>
        </p:nvSpPr>
        <p:spPr>
          <a:xfrm>
            <a:off x="4732208" y="3910450"/>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 </a:t>
            </a:r>
            <a:r>
              <a:rPr lang="en-GB" sz="1800">
                <a:latin typeface="Lexend"/>
                <a:ea typeface="Lexend"/>
                <a:cs typeface="Lexend"/>
                <a:sym typeface="Lexend"/>
              </a:rPr>
              <a:t>90</a:t>
            </a:r>
            <a:endParaRPr sz="1800">
              <a:solidFill>
                <a:srgbClr val="000000"/>
              </a:solidFill>
              <a:latin typeface="Lexend"/>
              <a:ea typeface="Lexend"/>
              <a:cs typeface="Lexend"/>
              <a:sym typeface="Lexend"/>
            </a:endParaRPr>
          </a:p>
        </p:txBody>
      </p:sp>
      <p:sp>
        <p:nvSpPr>
          <p:cNvPr id="1253" name="Google Shape;1253;p84"/>
          <p:cNvSpPr txBox="1"/>
          <p:nvPr/>
        </p:nvSpPr>
        <p:spPr>
          <a:xfrm>
            <a:off x="43182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360</a:t>
            </a:r>
            <a:endParaRPr sz="1800">
              <a:solidFill>
                <a:srgbClr val="000000"/>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259" name="Google Shape;1259;p85"/>
          <p:cNvSpPr txBox="1"/>
          <p:nvPr/>
        </p:nvSpPr>
        <p:spPr>
          <a:xfrm>
            <a:off x="324000" y="713825"/>
            <a:ext cx="8237700" cy="86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To decrease 450 by 20%, what do you think we multiply 100 by to give 80?</a:t>
            </a:r>
            <a:endParaRPr sz="2200">
              <a:latin typeface="Lexend"/>
              <a:ea typeface="Lexend"/>
              <a:cs typeface="Lexend"/>
              <a:sym typeface="Lexend"/>
            </a:endParaRPr>
          </a:p>
        </p:txBody>
      </p:sp>
      <p:grpSp>
        <p:nvGrpSpPr>
          <p:cNvPr id="1260" name="Google Shape;1260;p85"/>
          <p:cNvGrpSpPr/>
          <p:nvPr/>
        </p:nvGrpSpPr>
        <p:grpSpPr>
          <a:xfrm>
            <a:off x="938873" y="2693334"/>
            <a:ext cx="7037892" cy="868664"/>
            <a:chOff x="745060" y="3293578"/>
            <a:chExt cx="8668422" cy="868664"/>
          </a:xfrm>
        </p:grpSpPr>
        <p:sp>
          <p:nvSpPr>
            <p:cNvPr id="1261" name="Google Shape;1261;p85"/>
            <p:cNvSpPr txBox="1"/>
            <p:nvPr/>
          </p:nvSpPr>
          <p:spPr>
            <a:xfrm>
              <a:off x="7292782" y="3339679"/>
              <a:ext cx="212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Percentage</a:t>
              </a:r>
              <a:endParaRPr sz="2200">
                <a:solidFill>
                  <a:srgbClr val="000000"/>
                </a:solidFill>
                <a:latin typeface="Lexend"/>
                <a:ea typeface="Lexend"/>
                <a:cs typeface="Lexend"/>
                <a:sym typeface="Lexend"/>
              </a:endParaRPr>
            </a:p>
          </p:txBody>
        </p:sp>
        <p:sp>
          <p:nvSpPr>
            <p:cNvPr id="1262" name="Google Shape;1262;p85"/>
            <p:cNvSpPr txBox="1"/>
            <p:nvPr/>
          </p:nvSpPr>
          <p:spPr>
            <a:xfrm>
              <a:off x="7292772" y="3777530"/>
              <a:ext cx="1842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Amount</a:t>
              </a:r>
              <a:endParaRPr sz="2200">
                <a:solidFill>
                  <a:srgbClr val="000000"/>
                </a:solidFill>
                <a:latin typeface="Lexend"/>
                <a:ea typeface="Lexend"/>
                <a:cs typeface="Lexend"/>
                <a:sym typeface="Lexend"/>
              </a:endParaRPr>
            </a:p>
          </p:txBody>
        </p:sp>
        <p:grpSp>
          <p:nvGrpSpPr>
            <p:cNvPr id="1263" name="Google Shape;1263;p85"/>
            <p:cNvGrpSpPr/>
            <p:nvPr/>
          </p:nvGrpSpPr>
          <p:grpSpPr>
            <a:xfrm>
              <a:off x="745060" y="3293578"/>
              <a:ext cx="6406901" cy="868664"/>
              <a:chOff x="2621369" y="2760450"/>
              <a:chExt cx="4093082" cy="1357500"/>
            </a:xfrm>
          </p:grpSpPr>
          <p:grpSp>
            <p:nvGrpSpPr>
              <p:cNvPr id="1264" name="Google Shape;1264;p85"/>
              <p:cNvGrpSpPr/>
              <p:nvPr/>
            </p:nvGrpSpPr>
            <p:grpSpPr>
              <a:xfrm>
                <a:off x="2621369" y="2760450"/>
                <a:ext cx="4093082" cy="1357500"/>
                <a:chOff x="441900" y="3572013"/>
                <a:chExt cx="3074500" cy="1357500"/>
              </a:xfrm>
            </p:grpSpPr>
            <p:cxnSp>
              <p:nvCxnSpPr>
                <p:cNvPr id="1265" name="Google Shape;1265;p85"/>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266" name="Google Shape;1266;p85"/>
                <p:cNvCxnSpPr/>
                <p:nvPr/>
              </p:nvCxnSpPr>
              <p:spPr>
                <a:xfrm>
                  <a:off x="455200" y="3950800"/>
                  <a:ext cx="3061200" cy="0"/>
                </a:xfrm>
                <a:prstGeom prst="straightConnector1">
                  <a:avLst/>
                </a:prstGeom>
                <a:noFill/>
                <a:ln cap="flat" cmpd="sng" w="38100">
                  <a:solidFill>
                    <a:srgbClr val="000000"/>
                  </a:solidFill>
                  <a:prstDash val="solid"/>
                  <a:round/>
                  <a:headEnd len="med" w="med" type="none"/>
                  <a:tailEnd len="med" w="med" type="triangle"/>
                </a:ln>
              </p:spPr>
            </p:cxnSp>
            <p:cxnSp>
              <p:nvCxnSpPr>
                <p:cNvPr id="1267" name="Google Shape;1267;p85"/>
                <p:cNvCxnSpPr/>
                <p:nvPr/>
              </p:nvCxnSpPr>
              <p:spPr>
                <a:xfrm>
                  <a:off x="455200" y="4555638"/>
                  <a:ext cx="3061200" cy="0"/>
                </a:xfrm>
                <a:prstGeom prst="straightConnector1">
                  <a:avLst/>
                </a:prstGeom>
                <a:noFill/>
                <a:ln cap="flat" cmpd="sng" w="38100">
                  <a:solidFill>
                    <a:srgbClr val="000000"/>
                  </a:solidFill>
                  <a:prstDash val="solid"/>
                  <a:round/>
                  <a:headEnd len="med" w="med" type="none"/>
                  <a:tailEnd len="med" w="med" type="triangle"/>
                </a:ln>
              </p:spPr>
            </p:cxnSp>
          </p:grpSp>
          <p:sp>
            <p:nvSpPr>
              <p:cNvPr id="1268" name="Google Shape;1268;p85"/>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5"/>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5"/>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71" name="Google Shape;1271;p85"/>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2" name="Google Shape;1272;p85"/>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3" name="Google Shape;1273;p85"/>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4" name="Google Shape;1274;p85"/>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5" name="Google Shape;1275;p85"/>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6" name="Google Shape;1276;p85"/>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7" name="Google Shape;1277;p85"/>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8" name="Google Shape;1278;p85"/>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79" name="Google Shape;1279;p85"/>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0" name="Google Shape;1280;p85"/>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1" name="Google Shape;1281;p85"/>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2" name="Google Shape;1282;p85"/>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3" name="Google Shape;1283;p85"/>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4" name="Google Shape;1284;p85"/>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5" name="Google Shape;1285;p85"/>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6" name="Google Shape;1286;p85"/>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7" name="Google Shape;1287;p85"/>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8" name="Google Shape;1288;p85"/>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89" name="Google Shape;1289;p85"/>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0" name="Google Shape;1290;p85"/>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1" name="Google Shape;1291;p85"/>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2" name="Google Shape;1292;p85"/>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3" name="Google Shape;1293;p85"/>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294" name="Google Shape;1294;p85"/>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sp>
          <p:nvSpPr>
            <p:cNvPr id="1295" name="Google Shape;1295;p85"/>
            <p:cNvSpPr/>
            <p:nvPr/>
          </p:nvSpPr>
          <p:spPr>
            <a:xfrm>
              <a:off x="770004" y="3560244"/>
              <a:ext cx="5931000" cy="338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96" name="Google Shape;1296;p85"/>
          <p:cNvSpPr txBox="1"/>
          <p:nvPr/>
        </p:nvSpPr>
        <p:spPr>
          <a:xfrm>
            <a:off x="53088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450</a:t>
            </a:r>
            <a:endParaRPr sz="1800">
              <a:solidFill>
                <a:srgbClr val="000000"/>
              </a:solidFill>
              <a:latin typeface="Lexend"/>
              <a:ea typeface="Lexend"/>
              <a:cs typeface="Lexend"/>
              <a:sym typeface="Lexend"/>
            </a:endParaRPr>
          </a:p>
        </p:txBody>
      </p:sp>
      <p:sp>
        <p:nvSpPr>
          <p:cNvPr id="1297" name="Google Shape;1297;p85"/>
          <p:cNvSpPr txBox="1"/>
          <p:nvPr/>
        </p:nvSpPr>
        <p:spPr>
          <a:xfrm>
            <a:off x="504391" y="26398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298" name="Google Shape;1298;p85"/>
          <p:cNvSpPr txBox="1"/>
          <p:nvPr/>
        </p:nvSpPr>
        <p:spPr>
          <a:xfrm>
            <a:off x="5163964" y="25109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299" name="Google Shape;1299;p85"/>
          <p:cNvSpPr txBox="1"/>
          <p:nvPr/>
        </p:nvSpPr>
        <p:spPr>
          <a:xfrm>
            <a:off x="504391" y="3315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300" name="Google Shape;1300;p85"/>
          <p:cNvSpPr/>
          <p:nvPr/>
        </p:nvSpPr>
        <p:spPr>
          <a:xfrm flipH="1">
            <a:off x="4572005" y="2211225"/>
            <a:ext cx="852000" cy="3810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1" name="Google Shape;1301;p85"/>
          <p:cNvSpPr txBox="1"/>
          <p:nvPr/>
        </p:nvSpPr>
        <p:spPr>
          <a:xfrm>
            <a:off x="4291624" y="2492075"/>
            <a:ext cx="75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80%</a:t>
            </a:r>
            <a:endParaRPr sz="1800">
              <a:solidFill>
                <a:srgbClr val="000000"/>
              </a:solidFill>
              <a:latin typeface="Lexend"/>
              <a:ea typeface="Lexend"/>
              <a:cs typeface="Lexend"/>
              <a:sym typeface="Lexend"/>
            </a:endParaRPr>
          </a:p>
        </p:txBody>
      </p:sp>
      <p:sp>
        <p:nvSpPr>
          <p:cNvPr id="1302" name="Google Shape;1302;p85"/>
          <p:cNvSpPr/>
          <p:nvPr/>
        </p:nvSpPr>
        <p:spPr>
          <a:xfrm rot="10800000">
            <a:off x="4572000" y="3633252"/>
            <a:ext cx="852000" cy="2772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3" name="Google Shape;1303;p85"/>
          <p:cNvSpPr txBox="1"/>
          <p:nvPr/>
        </p:nvSpPr>
        <p:spPr>
          <a:xfrm>
            <a:off x="4318277" y="3489175"/>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360</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80}{100}=\ 0.8&quot;&gt;&lt;mfrac&gt;&lt;mn&gt;80&lt;/mn&gt;&lt;mn&gt;100&lt;/mn&gt;&lt;/mfrac&gt;&lt;mo&gt;=&lt;/mo&gt;&lt;mtext&gt;&lt;/mtext&gt;&lt;mn&gt;0.8&lt;/mn&gt;&lt;/math&gt;" id="1304" name="Google Shape;1304;p85" title="80 over 100 equals 0.8"/>
          <p:cNvPicPr preferRelativeResize="0"/>
          <p:nvPr/>
        </p:nvPicPr>
        <p:blipFill>
          <a:blip r:embed="rId3">
            <a:alphaModFix/>
          </a:blip>
          <a:stretch>
            <a:fillRect/>
          </a:stretch>
        </p:blipFill>
        <p:spPr>
          <a:xfrm>
            <a:off x="2587574" y="1690499"/>
            <a:ext cx="1036875" cy="485275"/>
          </a:xfrm>
          <a:prstGeom prst="rect">
            <a:avLst/>
          </a:prstGeom>
          <a:noFill/>
          <a:ln>
            <a:noFill/>
          </a:ln>
        </p:spPr>
      </p:pic>
      <p:pic>
        <p:nvPicPr>
          <p:cNvPr descr="&lt;math xmlns=&quot;http://www.w3.org/1998/Math/MathML&quot; display=&quot;block&quot; data-is-equatio=&quot;1&quot; data-latex=&quot;\times0.8&quot;&gt;&lt;mo&gt;×&lt;/mo&gt;&lt;mn&gt;0.8&lt;/mn&gt;&lt;/math&gt;" id="1305" name="Google Shape;1305;p85" title="times 0.8"/>
          <p:cNvPicPr preferRelativeResize="0"/>
          <p:nvPr/>
        </p:nvPicPr>
        <p:blipFill>
          <a:blip r:embed="rId4">
            <a:alphaModFix/>
          </a:blip>
          <a:stretch>
            <a:fillRect/>
          </a:stretch>
        </p:blipFill>
        <p:spPr>
          <a:xfrm>
            <a:off x="4823993" y="2011050"/>
            <a:ext cx="429500" cy="168275"/>
          </a:xfrm>
          <a:prstGeom prst="rect">
            <a:avLst/>
          </a:prstGeom>
          <a:noFill/>
          <a:ln>
            <a:noFill/>
          </a:ln>
        </p:spPr>
      </p:pic>
      <p:pic>
        <p:nvPicPr>
          <p:cNvPr descr="&lt;math xmlns=&quot;http://www.w3.org/1998/Math/MathML&quot; display=&quot;block&quot; data-is-equatio=&quot;1&quot; data-latex=&quot;\times0.8&quot;&gt;&lt;mo&gt;×&lt;/mo&gt;&lt;mn&gt;0.8&lt;/mn&gt;&lt;/math&gt;" id="1306" name="Google Shape;1306;p85" title="times 0.8"/>
          <p:cNvPicPr preferRelativeResize="0"/>
          <p:nvPr/>
        </p:nvPicPr>
        <p:blipFill>
          <a:blip r:embed="rId4">
            <a:alphaModFix/>
          </a:blip>
          <a:stretch>
            <a:fillRect/>
          </a:stretch>
        </p:blipFill>
        <p:spPr>
          <a:xfrm>
            <a:off x="4755501" y="3953075"/>
            <a:ext cx="428400" cy="169200"/>
          </a:xfrm>
          <a:prstGeom prst="rect">
            <a:avLst/>
          </a:prstGeom>
          <a:noFill/>
          <a:ln>
            <a:noFill/>
          </a:ln>
        </p:spPr>
      </p:pic>
      <p:sp>
        <p:nvSpPr>
          <p:cNvPr id="1307" name="Google Shape;1307;p85"/>
          <p:cNvSpPr txBox="1"/>
          <p:nvPr/>
        </p:nvSpPr>
        <p:spPr>
          <a:xfrm>
            <a:off x="338975" y="1690575"/>
            <a:ext cx="2289300" cy="53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The multiplier is </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86"/>
          <p:cNvSpPr txBox="1"/>
          <p:nvPr>
            <p:ph idx="1" type="body"/>
          </p:nvPr>
        </p:nvSpPr>
        <p:spPr>
          <a:xfrm>
            <a:off x="355975" y="901975"/>
            <a:ext cx="83919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double number line shows a decrease of 120 by 52%. Fill in the missing information.</a:t>
            </a:r>
            <a:endParaRPr sz="1900"/>
          </a:p>
        </p:txBody>
      </p:sp>
      <p:sp>
        <p:nvSpPr>
          <p:cNvPr id="1313" name="Google Shape;1313;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grpSp>
        <p:nvGrpSpPr>
          <p:cNvPr id="1314" name="Google Shape;1314;p86"/>
          <p:cNvGrpSpPr/>
          <p:nvPr/>
        </p:nvGrpSpPr>
        <p:grpSpPr>
          <a:xfrm>
            <a:off x="1701885" y="2435934"/>
            <a:ext cx="6643855" cy="868664"/>
            <a:chOff x="745060" y="3293578"/>
            <a:chExt cx="8183095" cy="868664"/>
          </a:xfrm>
        </p:grpSpPr>
        <p:sp>
          <p:nvSpPr>
            <p:cNvPr id="1315" name="Google Shape;1315;p86"/>
            <p:cNvSpPr txBox="1"/>
            <p:nvPr/>
          </p:nvSpPr>
          <p:spPr>
            <a:xfrm>
              <a:off x="6807455" y="3390917"/>
              <a:ext cx="21207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Percentage</a:t>
              </a:r>
              <a:endParaRPr sz="1900">
                <a:solidFill>
                  <a:srgbClr val="000000"/>
                </a:solidFill>
                <a:latin typeface="Lexend"/>
                <a:ea typeface="Lexend"/>
                <a:cs typeface="Lexend"/>
                <a:sym typeface="Lexend"/>
              </a:endParaRPr>
            </a:p>
          </p:txBody>
        </p:sp>
        <p:sp>
          <p:nvSpPr>
            <p:cNvPr id="1316" name="Google Shape;1316;p86"/>
            <p:cNvSpPr txBox="1"/>
            <p:nvPr/>
          </p:nvSpPr>
          <p:spPr>
            <a:xfrm>
              <a:off x="6807445" y="3828767"/>
              <a:ext cx="1842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900">
                  <a:latin typeface="Lexend"/>
                  <a:ea typeface="Lexend"/>
                  <a:cs typeface="Lexend"/>
                  <a:sym typeface="Lexend"/>
                </a:rPr>
                <a:t>Amount</a:t>
              </a:r>
              <a:endParaRPr sz="1900">
                <a:solidFill>
                  <a:srgbClr val="000000"/>
                </a:solidFill>
                <a:latin typeface="Lexend"/>
                <a:ea typeface="Lexend"/>
                <a:cs typeface="Lexend"/>
                <a:sym typeface="Lexend"/>
              </a:endParaRPr>
            </a:p>
          </p:txBody>
        </p:sp>
        <p:grpSp>
          <p:nvGrpSpPr>
            <p:cNvPr id="1317" name="Google Shape;1317;p86"/>
            <p:cNvGrpSpPr/>
            <p:nvPr/>
          </p:nvGrpSpPr>
          <p:grpSpPr>
            <a:xfrm>
              <a:off x="745060" y="3293578"/>
              <a:ext cx="5961158" cy="868664"/>
              <a:chOff x="2621369" y="2760450"/>
              <a:chExt cx="3808317" cy="1357500"/>
            </a:xfrm>
          </p:grpSpPr>
          <p:grpSp>
            <p:nvGrpSpPr>
              <p:cNvPr id="1318" name="Google Shape;1318;p86"/>
              <p:cNvGrpSpPr/>
              <p:nvPr/>
            </p:nvGrpSpPr>
            <p:grpSpPr>
              <a:xfrm>
                <a:off x="2621369" y="2760450"/>
                <a:ext cx="3808317" cy="1357500"/>
                <a:chOff x="441900" y="3572013"/>
                <a:chExt cx="2860600" cy="1357500"/>
              </a:xfrm>
            </p:grpSpPr>
            <p:cxnSp>
              <p:nvCxnSpPr>
                <p:cNvPr id="1319" name="Google Shape;1319;p86"/>
                <p:cNvCxnSpPr/>
                <p:nvPr/>
              </p:nvCxnSpPr>
              <p:spPr>
                <a:xfrm>
                  <a:off x="441900" y="3572013"/>
                  <a:ext cx="0" cy="1357500"/>
                </a:xfrm>
                <a:prstGeom prst="straightConnector1">
                  <a:avLst/>
                </a:prstGeom>
                <a:noFill/>
                <a:ln cap="flat" cmpd="sng" w="38100">
                  <a:solidFill>
                    <a:srgbClr val="000000"/>
                  </a:solidFill>
                  <a:prstDash val="solid"/>
                  <a:round/>
                  <a:headEnd len="med" w="med" type="none"/>
                  <a:tailEnd len="med" w="med" type="none"/>
                </a:ln>
              </p:spPr>
            </p:cxnSp>
            <p:cxnSp>
              <p:nvCxnSpPr>
                <p:cNvPr id="1320" name="Google Shape;1320;p86"/>
                <p:cNvCxnSpPr/>
                <p:nvPr/>
              </p:nvCxnSpPr>
              <p:spPr>
                <a:xfrm>
                  <a:off x="455200" y="3950800"/>
                  <a:ext cx="2847300" cy="0"/>
                </a:xfrm>
                <a:prstGeom prst="straightConnector1">
                  <a:avLst/>
                </a:prstGeom>
                <a:noFill/>
                <a:ln cap="flat" cmpd="sng" w="38100">
                  <a:solidFill>
                    <a:srgbClr val="000000"/>
                  </a:solidFill>
                  <a:prstDash val="solid"/>
                  <a:round/>
                  <a:headEnd len="med" w="med" type="none"/>
                  <a:tailEnd len="med" w="med" type="triangle"/>
                </a:ln>
              </p:spPr>
            </p:cxnSp>
            <p:cxnSp>
              <p:nvCxnSpPr>
                <p:cNvPr id="1321" name="Google Shape;1321;p86"/>
                <p:cNvCxnSpPr/>
                <p:nvPr/>
              </p:nvCxnSpPr>
              <p:spPr>
                <a:xfrm>
                  <a:off x="455200" y="4555638"/>
                  <a:ext cx="2841900" cy="0"/>
                </a:xfrm>
                <a:prstGeom prst="straightConnector1">
                  <a:avLst/>
                </a:prstGeom>
                <a:noFill/>
                <a:ln cap="flat" cmpd="sng" w="38100">
                  <a:solidFill>
                    <a:srgbClr val="000000"/>
                  </a:solidFill>
                  <a:prstDash val="solid"/>
                  <a:round/>
                  <a:headEnd len="med" w="med" type="none"/>
                  <a:tailEnd len="med" w="med" type="triangle"/>
                </a:ln>
              </p:spPr>
            </p:cxnSp>
          </p:grpSp>
          <p:sp>
            <p:nvSpPr>
              <p:cNvPr id="1322" name="Google Shape;1322;p86"/>
              <p:cNvSpPr/>
              <p:nvPr/>
            </p:nvSpPr>
            <p:spPr>
              <a:xfrm>
                <a:off x="3806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86"/>
              <p:cNvSpPr/>
              <p:nvPr/>
            </p:nvSpPr>
            <p:spPr>
              <a:xfrm>
                <a:off x="6092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86"/>
              <p:cNvSpPr/>
              <p:nvPr/>
            </p:nvSpPr>
            <p:spPr>
              <a:xfrm>
                <a:off x="4949988" y="3165300"/>
                <a:ext cx="63300" cy="552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25" name="Google Shape;1325;p86"/>
            <p:cNvCxnSpPr/>
            <p:nvPr/>
          </p:nvCxnSpPr>
          <p:spPr>
            <a:xfrm>
              <a:off x="74987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6" name="Google Shape;1326;p86"/>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7" name="Google Shape;1327;p86"/>
            <p:cNvCxnSpPr/>
            <p:nvPr/>
          </p:nvCxnSpPr>
          <p:spPr>
            <a:xfrm>
              <a:off x="130502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8" name="Google Shape;1328;p86"/>
            <p:cNvCxnSpPr/>
            <p:nvPr/>
          </p:nvCxnSpPr>
          <p:spPr>
            <a:xfrm>
              <a:off x="186016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29" name="Google Shape;1329;p86"/>
            <p:cNvCxnSpPr/>
            <p:nvPr/>
          </p:nvCxnSpPr>
          <p:spPr>
            <a:xfrm>
              <a:off x="241531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0" name="Google Shape;1330;p86"/>
            <p:cNvCxnSpPr/>
            <p:nvPr/>
          </p:nvCxnSpPr>
          <p:spPr>
            <a:xfrm>
              <a:off x="297045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1" name="Google Shape;1331;p86"/>
            <p:cNvCxnSpPr/>
            <p:nvPr/>
          </p:nvCxnSpPr>
          <p:spPr>
            <a:xfrm>
              <a:off x="352560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2" name="Google Shape;1332;p86"/>
            <p:cNvCxnSpPr/>
            <p:nvPr/>
          </p:nvCxnSpPr>
          <p:spPr>
            <a:xfrm>
              <a:off x="630132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3" name="Google Shape;1333;p86"/>
            <p:cNvCxnSpPr/>
            <p:nvPr/>
          </p:nvCxnSpPr>
          <p:spPr>
            <a:xfrm>
              <a:off x="408074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4" name="Google Shape;1334;p86"/>
            <p:cNvCxnSpPr/>
            <p:nvPr/>
          </p:nvCxnSpPr>
          <p:spPr>
            <a:xfrm>
              <a:off x="463589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5" name="Google Shape;1335;p86"/>
            <p:cNvCxnSpPr/>
            <p:nvPr/>
          </p:nvCxnSpPr>
          <p:spPr>
            <a:xfrm>
              <a:off x="5191036"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6" name="Google Shape;1336;p86"/>
            <p:cNvCxnSpPr/>
            <p:nvPr/>
          </p:nvCxnSpPr>
          <p:spPr>
            <a:xfrm>
              <a:off x="5746181" y="3404677"/>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7" name="Google Shape;1337;p86"/>
            <p:cNvCxnSpPr/>
            <p:nvPr/>
          </p:nvCxnSpPr>
          <p:spPr>
            <a:xfrm>
              <a:off x="130312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8" name="Google Shape;1338;p86"/>
            <p:cNvCxnSpPr/>
            <p:nvPr/>
          </p:nvCxnSpPr>
          <p:spPr>
            <a:xfrm>
              <a:off x="407884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39" name="Google Shape;1339;p86"/>
            <p:cNvCxnSpPr/>
            <p:nvPr/>
          </p:nvCxnSpPr>
          <p:spPr>
            <a:xfrm>
              <a:off x="185826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0" name="Google Shape;1340;p86"/>
            <p:cNvCxnSpPr/>
            <p:nvPr/>
          </p:nvCxnSpPr>
          <p:spPr>
            <a:xfrm>
              <a:off x="241341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1" name="Google Shape;1341;p86"/>
            <p:cNvCxnSpPr/>
            <p:nvPr/>
          </p:nvCxnSpPr>
          <p:spPr>
            <a:xfrm>
              <a:off x="2968555"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2" name="Google Shape;1342;p86"/>
            <p:cNvCxnSpPr/>
            <p:nvPr/>
          </p:nvCxnSpPr>
          <p:spPr>
            <a:xfrm>
              <a:off x="3523700"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3" name="Google Shape;1343;p86"/>
            <p:cNvCxnSpPr/>
            <p:nvPr/>
          </p:nvCxnSpPr>
          <p:spPr>
            <a:xfrm>
              <a:off x="352284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4" name="Google Shape;1344;p86"/>
            <p:cNvCxnSpPr/>
            <p:nvPr/>
          </p:nvCxnSpPr>
          <p:spPr>
            <a:xfrm>
              <a:off x="629856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5" name="Google Shape;1345;p86"/>
            <p:cNvCxnSpPr/>
            <p:nvPr/>
          </p:nvCxnSpPr>
          <p:spPr>
            <a:xfrm>
              <a:off x="407798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6" name="Google Shape;1346;p86"/>
            <p:cNvCxnSpPr/>
            <p:nvPr/>
          </p:nvCxnSpPr>
          <p:spPr>
            <a:xfrm>
              <a:off x="4633132"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7" name="Google Shape;1347;p86"/>
            <p:cNvCxnSpPr/>
            <p:nvPr/>
          </p:nvCxnSpPr>
          <p:spPr>
            <a:xfrm>
              <a:off x="5188277" y="3788984"/>
              <a:ext cx="0" cy="285900"/>
            </a:xfrm>
            <a:prstGeom prst="straightConnector1">
              <a:avLst/>
            </a:prstGeom>
            <a:noFill/>
            <a:ln cap="flat" cmpd="sng" w="38100">
              <a:solidFill>
                <a:srgbClr val="000000"/>
              </a:solidFill>
              <a:prstDash val="solid"/>
              <a:round/>
              <a:headEnd len="med" w="med" type="none"/>
              <a:tailEnd len="med" w="med" type="none"/>
            </a:ln>
          </p:spPr>
        </p:cxnSp>
        <p:cxnSp>
          <p:nvCxnSpPr>
            <p:cNvPr id="1348" name="Google Shape;1348;p86"/>
            <p:cNvCxnSpPr/>
            <p:nvPr/>
          </p:nvCxnSpPr>
          <p:spPr>
            <a:xfrm>
              <a:off x="5743422" y="3788984"/>
              <a:ext cx="0" cy="285900"/>
            </a:xfrm>
            <a:prstGeom prst="straightConnector1">
              <a:avLst/>
            </a:prstGeom>
            <a:noFill/>
            <a:ln cap="flat" cmpd="sng" w="38100">
              <a:solidFill>
                <a:srgbClr val="000000"/>
              </a:solidFill>
              <a:prstDash val="solid"/>
              <a:round/>
              <a:headEnd len="med" w="med" type="none"/>
              <a:tailEnd len="med" w="med" type="none"/>
            </a:ln>
          </p:spPr>
        </p:cxnSp>
      </p:grpSp>
      <p:sp>
        <p:nvSpPr>
          <p:cNvPr id="1349" name="Google Shape;1349;p86"/>
          <p:cNvSpPr txBox="1"/>
          <p:nvPr/>
        </p:nvSpPr>
        <p:spPr>
          <a:xfrm>
            <a:off x="6071889" y="3169099"/>
            <a:ext cx="531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120</a:t>
            </a:r>
            <a:endParaRPr sz="1800">
              <a:solidFill>
                <a:srgbClr val="000000"/>
              </a:solidFill>
              <a:latin typeface="Lexend"/>
              <a:ea typeface="Lexend"/>
              <a:cs typeface="Lexend"/>
              <a:sym typeface="Lexend"/>
            </a:endParaRPr>
          </a:p>
        </p:txBody>
      </p:sp>
      <p:sp>
        <p:nvSpPr>
          <p:cNvPr id="1350" name="Google Shape;1350;p86"/>
          <p:cNvSpPr txBox="1"/>
          <p:nvPr/>
        </p:nvSpPr>
        <p:spPr>
          <a:xfrm>
            <a:off x="1267404" y="23824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351" name="Google Shape;1351;p86"/>
          <p:cNvSpPr txBox="1"/>
          <p:nvPr/>
        </p:nvSpPr>
        <p:spPr>
          <a:xfrm>
            <a:off x="6039240" y="225356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352" name="Google Shape;1352;p86"/>
          <p:cNvSpPr txBox="1"/>
          <p:nvPr/>
        </p:nvSpPr>
        <p:spPr>
          <a:xfrm>
            <a:off x="1267404" y="3058012"/>
            <a:ext cx="591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0</a:t>
            </a:r>
            <a:endParaRPr sz="2200">
              <a:solidFill>
                <a:srgbClr val="000000"/>
              </a:solidFill>
              <a:latin typeface="Lexend"/>
              <a:ea typeface="Lexend"/>
              <a:cs typeface="Lexend"/>
              <a:sym typeface="Lexend"/>
            </a:endParaRPr>
          </a:p>
        </p:txBody>
      </p:sp>
      <p:sp>
        <p:nvSpPr>
          <p:cNvPr id="1353" name="Google Shape;1353;p86"/>
          <p:cNvSpPr txBox="1"/>
          <p:nvPr/>
        </p:nvSpPr>
        <p:spPr>
          <a:xfrm>
            <a:off x="3682370" y="2294559"/>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354" name="Google Shape;1354;p86"/>
          <p:cNvSpPr txBox="1"/>
          <p:nvPr/>
        </p:nvSpPr>
        <p:spPr>
          <a:xfrm>
            <a:off x="4604400" y="1686483"/>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0.48</a:t>
            </a:r>
            <a:endParaRPr sz="1800">
              <a:solidFill>
                <a:srgbClr val="000000"/>
              </a:solidFill>
              <a:latin typeface="Lexend"/>
              <a:ea typeface="Lexend"/>
              <a:cs typeface="Lexend"/>
              <a:sym typeface="Lexend"/>
            </a:endParaRPr>
          </a:p>
        </p:txBody>
      </p:sp>
      <p:sp>
        <p:nvSpPr>
          <p:cNvPr id="1355" name="Google Shape;1355;p86"/>
          <p:cNvSpPr/>
          <p:nvPr/>
        </p:nvSpPr>
        <p:spPr>
          <a:xfrm flipH="1">
            <a:off x="3912399" y="2061611"/>
            <a:ext cx="2312100" cy="4569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6" name="Google Shape;1356;p86"/>
          <p:cNvSpPr/>
          <p:nvPr/>
        </p:nvSpPr>
        <p:spPr>
          <a:xfrm rot="10800000">
            <a:off x="4008450" y="3396626"/>
            <a:ext cx="2198700" cy="2262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7" name="Google Shape;1357;p86"/>
          <p:cNvSpPr txBox="1"/>
          <p:nvPr/>
        </p:nvSpPr>
        <p:spPr>
          <a:xfrm>
            <a:off x="3512868" y="320582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57.6</a:t>
            </a:r>
            <a:endParaRPr sz="1800">
              <a:solidFill>
                <a:srgbClr val="000000"/>
              </a:solidFill>
              <a:latin typeface="Lexend"/>
              <a:ea typeface="Lexend"/>
              <a:cs typeface="Lexend"/>
              <a:sym typeface="Lexend"/>
            </a:endParaRPr>
          </a:p>
        </p:txBody>
      </p:sp>
      <p:sp>
        <p:nvSpPr>
          <p:cNvPr id="1358" name="Google Shape;1358;p86"/>
          <p:cNvSpPr txBox="1"/>
          <p:nvPr/>
        </p:nvSpPr>
        <p:spPr>
          <a:xfrm>
            <a:off x="4604693" y="373484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cxnSp>
        <p:nvCxnSpPr>
          <p:cNvPr id="1359" name="Google Shape;1359;p86"/>
          <p:cNvCxnSpPr/>
          <p:nvPr/>
        </p:nvCxnSpPr>
        <p:spPr>
          <a:xfrm>
            <a:off x="3842536" y="2534721"/>
            <a:ext cx="0" cy="671100"/>
          </a:xfrm>
          <a:prstGeom prst="straightConnector1">
            <a:avLst/>
          </a:prstGeom>
          <a:noFill/>
          <a:ln cap="flat" cmpd="sng" w="38100">
            <a:solidFill>
              <a:srgbClr val="000000"/>
            </a:solidFill>
            <a:prstDash val="solid"/>
            <a:round/>
            <a:headEnd len="med" w="med" type="none"/>
            <a:tailEnd len="med" w="med" type="none"/>
          </a:ln>
        </p:spPr>
      </p:cxnSp>
      <p:sp>
        <p:nvSpPr>
          <p:cNvPr id="1360" name="Google Shape;1360;p86"/>
          <p:cNvSpPr/>
          <p:nvPr/>
        </p:nvSpPr>
        <p:spPr>
          <a:xfrm>
            <a:off x="1722124" y="2702600"/>
            <a:ext cx="4540200" cy="338700"/>
          </a:xfrm>
          <a:prstGeom prst="rect">
            <a:avLst/>
          </a:prstGeom>
          <a:solidFill>
            <a:srgbClr val="E6F2F2"/>
          </a:solidFill>
          <a:ln cap="flat" cmpd="sng" w="9525">
            <a:solidFill>
              <a:srgbClr val="E6F2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1" name="Google Shape;1361;p86"/>
          <p:cNvSpPr txBox="1"/>
          <p:nvPr/>
        </p:nvSpPr>
        <p:spPr>
          <a:xfrm>
            <a:off x="4572000" y="175269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362" name="Google Shape;1362;p86"/>
          <p:cNvSpPr txBox="1"/>
          <p:nvPr/>
        </p:nvSpPr>
        <p:spPr>
          <a:xfrm>
            <a:off x="4662818" y="3636000"/>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0.48</a:t>
            </a:r>
            <a:endParaRPr sz="1800">
              <a:solidFill>
                <a:srgbClr val="000000"/>
              </a:solidFill>
              <a:latin typeface="Lexend"/>
              <a:ea typeface="Lexend"/>
              <a:cs typeface="Lexend"/>
              <a:sym typeface="Lexend"/>
            </a:endParaRPr>
          </a:p>
        </p:txBody>
      </p:sp>
      <p:sp>
        <p:nvSpPr>
          <p:cNvPr id="1363" name="Google Shape;1363;p86"/>
          <p:cNvSpPr txBox="1"/>
          <p:nvPr/>
        </p:nvSpPr>
        <p:spPr>
          <a:xfrm>
            <a:off x="3369593" y="2260883"/>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48</a:t>
            </a:r>
            <a:endParaRPr sz="1800">
              <a:solidFill>
                <a:srgbClr val="000000"/>
              </a:solidFill>
              <a:latin typeface="Lexend"/>
              <a:ea typeface="Lexend"/>
              <a:cs typeface="Lexend"/>
              <a:sym typeface="Lexend"/>
            </a:endParaRPr>
          </a:p>
        </p:txBody>
      </p:sp>
      <p:sp>
        <p:nvSpPr>
          <p:cNvPr id="1364" name="Google Shape;1364;p86"/>
          <p:cNvSpPr txBox="1"/>
          <p:nvPr/>
        </p:nvSpPr>
        <p:spPr>
          <a:xfrm>
            <a:off x="3460768" y="326689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370" name="Google Shape;1370;p87"/>
          <p:cNvSpPr txBox="1"/>
          <p:nvPr/>
        </p:nvSpPr>
        <p:spPr>
          <a:xfrm>
            <a:off x="324000" y="759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Removing the double number lines, can you work out the multiplier to decrease any amount by 35%?</a:t>
            </a:r>
            <a:endParaRPr sz="2200">
              <a:latin typeface="Lexend"/>
              <a:ea typeface="Lexend"/>
              <a:cs typeface="Lexend"/>
              <a:sym typeface="Lexend"/>
            </a:endParaRPr>
          </a:p>
        </p:txBody>
      </p:sp>
      <p:sp>
        <p:nvSpPr>
          <p:cNvPr id="1371" name="Google Shape;1371;p87"/>
          <p:cNvSpPr txBox="1"/>
          <p:nvPr/>
        </p:nvSpPr>
        <p:spPr>
          <a:xfrm>
            <a:off x="5545793" y="1615746"/>
            <a:ext cx="1062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0.65</a:t>
            </a:r>
            <a:endParaRPr sz="1800">
              <a:solidFill>
                <a:srgbClr val="000000"/>
              </a:solidFill>
              <a:latin typeface="Lexend"/>
              <a:ea typeface="Lexend"/>
              <a:cs typeface="Lexend"/>
              <a:sym typeface="Lexend"/>
            </a:endParaRPr>
          </a:p>
        </p:txBody>
      </p:sp>
      <p:sp>
        <p:nvSpPr>
          <p:cNvPr id="1372" name="Google Shape;1372;p87"/>
          <p:cNvSpPr txBox="1"/>
          <p:nvPr/>
        </p:nvSpPr>
        <p:spPr>
          <a:xfrm>
            <a:off x="5019877" y="2084713"/>
            <a:ext cx="821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65</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373" name="Google Shape;1373;p87"/>
          <p:cNvSpPr txBox="1"/>
          <p:nvPr/>
        </p:nvSpPr>
        <p:spPr>
          <a:xfrm>
            <a:off x="6719295" y="2071546"/>
            <a:ext cx="723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100</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374" name="Google Shape;1374;p87"/>
          <p:cNvSpPr/>
          <p:nvPr/>
        </p:nvSpPr>
        <p:spPr>
          <a:xfrm flipH="1">
            <a:off x="5213875" y="1919325"/>
            <a:ext cx="1779900" cy="220500"/>
          </a:xfrm>
          <a:prstGeom prst="arc">
            <a:avLst>
              <a:gd fmla="val 10729459" name="adj1"/>
              <a:gd fmla="val 21575383"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5" name="Google Shape;1375;p87"/>
          <p:cNvSpPr txBox="1"/>
          <p:nvPr/>
        </p:nvSpPr>
        <p:spPr>
          <a:xfrm>
            <a:off x="324000" y="26643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Can you explain how to quickly find this multiplier?</a:t>
            </a:r>
            <a:endParaRPr sz="2200">
              <a:latin typeface="Lexend"/>
              <a:ea typeface="Lexend"/>
              <a:cs typeface="Lexend"/>
              <a:sym typeface="Lexend"/>
            </a:endParaRPr>
          </a:p>
        </p:txBody>
      </p:sp>
      <p:sp>
        <p:nvSpPr>
          <p:cNvPr id="1376" name="Google Shape;1376;p87"/>
          <p:cNvSpPr txBox="1"/>
          <p:nvPr/>
        </p:nvSpPr>
        <p:spPr>
          <a:xfrm>
            <a:off x="324000" y="31215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Given 35% as a decimal is 0.35 and 100% as a decimal is 1, subtracting, as it is a decrease, gives 0.65</a:t>
            </a:r>
            <a:endParaRPr sz="2200">
              <a:latin typeface="Lexend"/>
              <a:ea typeface="Lexend"/>
              <a:cs typeface="Lexend"/>
              <a:sym typeface="Lexend"/>
            </a:endParaRPr>
          </a:p>
        </p:txBody>
      </p:sp>
      <p:sp>
        <p:nvSpPr>
          <p:cNvPr id="1377" name="Google Shape;1377;p87"/>
          <p:cNvSpPr txBox="1"/>
          <p:nvPr/>
        </p:nvSpPr>
        <p:spPr>
          <a:xfrm>
            <a:off x="324000" y="3883500"/>
            <a:ext cx="8237700" cy="565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Also, </a:t>
            </a:r>
            <a:r>
              <a:rPr lang="en-GB" sz="2200">
                <a:latin typeface="Lexend"/>
                <a:ea typeface="Lexend"/>
                <a:cs typeface="Lexend"/>
                <a:sym typeface="Lexend"/>
              </a:rPr>
              <a:t>decreasing</a:t>
            </a:r>
            <a:r>
              <a:rPr lang="en-GB" sz="2200">
                <a:latin typeface="Lexend"/>
                <a:ea typeface="Lexend"/>
                <a:cs typeface="Lexend"/>
                <a:sym typeface="Lexend"/>
              </a:rPr>
              <a:t> anything by 35% is the same as working out 65% of a number.</a:t>
            </a:r>
            <a:endParaRPr sz="22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88"/>
          <p:cNvSpPr txBox="1"/>
          <p:nvPr>
            <p:ph idx="1" type="body"/>
          </p:nvPr>
        </p:nvSpPr>
        <p:spPr>
          <a:xfrm>
            <a:off x="324000" y="683100"/>
            <a:ext cx="8237700" cy="41373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a:t>Identify the multiplier when any number is:</a:t>
            </a:r>
            <a:endParaRPr/>
          </a:p>
          <a:p>
            <a:pPr indent="-368300" lvl="0" marL="457200" rtl="0" algn="l">
              <a:lnSpc>
                <a:spcPct val="150000"/>
              </a:lnSpc>
              <a:spcBef>
                <a:spcPts val="1000"/>
              </a:spcBef>
              <a:spcAft>
                <a:spcPts val="0"/>
              </a:spcAft>
              <a:buSzPts val="2200"/>
              <a:buAutoNum type="alphaLcParenR"/>
            </a:pPr>
            <a:r>
              <a:rPr lang="en-GB"/>
              <a:t>Decreased by 40%</a:t>
            </a:r>
            <a:endParaRPr/>
          </a:p>
          <a:p>
            <a:pPr indent="-368300" lvl="0" marL="457200" rtl="0" algn="l">
              <a:lnSpc>
                <a:spcPct val="150000"/>
              </a:lnSpc>
              <a:spcBef>
                <a:spcPts val="0"/>
              </a:spcBef>
              <a:spcAft>
                <a:spcPts val="0"/>
              </a:spcAft>
              <a:buSzPts val="2200"/>
              <a:buAutoNum type="alphaLcParenR"/>
            </a:pPr>
            <a:r>
              <a:rPr lang="en-GB"/>
              <a:t>De</a:t>
            </a:r>
            <a:r>
              <a:rPr lang="en-GB"/>
              <a:t>creased by 34%</a:t>
            </a:r>
            <a:endParaRPr/>
          </a:p>
          <a:p>
            <a:pPr indent="-368300" lvl="0" marL="457200" rtl="0" algn="l">
              <a:lnSpc>
                <a:spcPct val="150000"/>
              </a:lnSpc>
              <a:spcBef>
                <a:spcPts val="0"/>
              </a:spcBef>
              <a:spcAft>
                <a:spcPts val="0"/>
              </a:spcAft>
              <a:buSzPts val="2200"/>
              <a:buAutoNum type="alphaLcParenR"/>
            </a:pPr>
            <a:r>
              <a:rPr lang="en-GB"/>
              <a:t>De</a:t>
            </a:r>
            <a:r>
              <a:rPr lang="en-GB"/>
              <a:t>creased by 78%</a:t>
            </a:r>
            <a:endParaRPr/>
          </a:p>
          <a:p>
            <a:pPr indent="-368300" lvl="0" marL="457200" rtl="0" algn="l">
              <a:lnSpc>
                <a:spcPct val="150000"/>
              </a:lnSpc>
              <a:spcBef>
                <a:spcPts val="0"/>
              </a:spcBef>
              <a:spcAft>
                <a:spcPts val="0"/>
              </a:spcAft>
              <a:buSzPts val="2200"/>
              <a:buAutoNum type="alphaLcParenR"/>
            </a:pPr>
            <a:r>
              <a:rPr lang="en-GB"/>
              <a:t>De</a:t>
            </a:r>
            <a:r>
              <a:rPr lang="en-GB"/>
              <a:t>creased by 16%</a:t>
            </a:r>
            <a:endParaRPr/>
          </a:p>
          <a:p>
            <a:pPr indent="-368300" lvl="0" marL="457200" rtl="0" algn="l">
              <a:lnSpc>
                <a:spcPct val="150000"/>
              </a:lnSpc>
              <a:spcBef>
                <a:spcPts val="0"/>
              </a:spcBef>
              <a:spcAft>
                <a:spcPts val="0"/>
              </a:spcAft>
              <a:buSzPts val="2200"/>
              <a:buAutoNum type="alphaLcParenR"/>
            </a:pPr>
            <a:r>
              <a:rPr lang="en-GB"/>
              <a:t>De</a:t>
            </a:r>
            <a:r>
              <a:rPr lang="en-GB"/>
              <a:t>creased by 4%</a:t>
            </a:r>
            <a:endParaRPr/>
          </a:p>
          <a:p>
            <a:pPr indent="-368300" lvl="0" marL="457200" rtl="0" algn="l">
              <a:lnSpc>
                <a:spcPct val="150000"/>
              </a:lnSpc>
              <a:spcBef>
                <a:spcPts val="0"/>
              </a:spcBef>
              <a:spcAft>
                <a:spcPts val="0"/>
              </a:spcAft>
              <a:buSzPts val="2200"/>
              <a:buAutoNum type="alphaLcParenR"/>
            </a:pPr>
            <a:r>
              <a:rPr lang="en-GB"/>
              <a:t>De</a:t>
            </a:r>
            <a:r>
              <a:rPr lang="en-GB"/>
              <a:t>creased by 8%</a:t>
            </a:r>
            <a:endParaRPr/>
          </a:p>
          <a:p>
            <a:pPr indent="-368300" lvl="0" marL="457200" rtl="0" algn="l">
              <a:lnSpc>
                <a:spcPct val="150000"/>
              </a:lnSpc>
              <a:spcBef>
                <a:spcPts val="0"/>
              </a:spcBef>
              <a:spcAft>
                <a:spcPts val="0"/>
              </a:spcAft>
              <a:buSzPts val="2200"/>
              <a:buAutoNum type="alphaLcParenR"/>
            </a:pPr>
            <a:r>
              <a:rPr lang="en-GB"/>
              <a:t>De</a:t>
            </a:r>
            <a:r>
              <a:rPr lang="en-GB"/>
              <a:t>creased by 2.3% </a:t>
            </a:r>
            <a:endParaRPr/>
          </a:p>
        </p:txBody>
      </p:sp>
      <p:sp>
        <p:nvSpPr>
          <p:cNvPr id="1383" name="Google Shape;1383;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384" name="Google Shape;1384;p88"/>
          <p:cNvSpPr txBox="1"/>
          <p:nvPr/>
        </p:nvSpPr>
        <p:spPr>
          <a:xfrm>
            <a:off x="3324000" y="12204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0.6</a:t>
            </a:r>
            <a:endParaRPr>
              <a:latin typeface="Kalam"/>
              <a:ea typeface="Kalam"/>
              <a:cs typeface="Kalam"/>
              <a:sym typeface="Kalam"/>
            </a:endParaRPr>
          </a:p>
        </p:txBody>
      </p:sp>
      <p:sp>
        <p:nvSpPr>
          <p:cNvPr id="1385" name="Google Shape;1385;p88"/>
          <p:cNvSpPr txBox="1"/>
          <p:nvPr/>
        </p:nvSpPr>
        <p:spPr>
          <a:xfrm>
            <a:off x="3324000" y="17368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0.66</a:t>
            </a:r>
            <a:endParaRPr>
              <a:latin typeface="Kalam"/>
              <a:ea typeface="Kalam"/>
              <a:cs typeface="Kalam"/>
              <a:sym typeface="Kalam"/>
            </a:endParaRPr>
          </a:p>
        </p:txBody>
      </p:sp>
      <p:sp>
        <p:nvSpPr>
          <p:cNvPr id="1386" name="Google Shape;1386;p88"/>
          <p:cNvSpPr txBox="1"/>
          <p:nvPr/>
        </p:nvSpPr>
        <p:spPr>
          <a:xfrm>
            <a:off x="3324000" y="22320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0.22</a:t>
            </a:r>
            <a:endParaRPr>
              <a:latin typeface="Kalam"/>
              <a:ea typeface="Kalam"/>
              <a:cs typeface="Kalam"/>
              <a:sym typeface="Kalam"/>
            </a:endParaRPr>
          </a:p>
        </p:txBody>
      </p:sp>
      <p:sp>
        <p:nvSpPr>
          <p:cNvPr id="1387" name="Google Shape;1387;p88"/>
          <p:cNvSpPr txBox="1"/>
          <p:nvPr/>
        </p:nvSpPr>
        <p:spPr>
          <a:xfrm>
            <a:off x="3324000" y="27252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0.84</a:t>
            </a:r>
            <a:endParaRPr>
              <a:latin typeface="Kalam"/>
              <a:ea typeface="Kalam"/>
              <a:cs typeface="Kalam"/>
              <a:sym typeface="Kalam"/>
            </a:endParaRPr>
          </a:p>
        </p:txBody>
      </p:sp>
      <p:sp>
        <p:nvSpPr>
          <p:cNvPr id="1388" name="Google Shape;1388;p88"/>
          <p:cNvSpPr txBox="1"/>
          <p:nvPr/>
        </p:nvSpPr>
        <p:spPr>
          <a:xfrm>
            <a:off x="3324000" y="32283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0.96</a:t>
            </a:r>
            <a:endParaRPr>
              <a:latin typeface="Kalam"/>
              <a:ea typeface="Kalam"/>
              <a:cs typeface="Kalam"/>
              <a:sym typeface="Kalam"/>
            </a:endParaRPr>
          </a:p>
        </p:txBody>
      </p:sp>
      <p:sp>
        <p:nvSpPr>
          <p:cNvPr id="1389" name="Google Shape;1389;p88"/>
          <p:cNvSpPr txBox="1"/>
          <p:nvPr/>
        </p:nvSpPr>
        <p:spPr>
          <a:xfrm>
            <a:off x="3324000" y="37617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0.92</a:t>
            </a:r>
            <a:endParaRPr>
              <a:latin typeface="Kalam"/>
              <a:ea typeface="Kalam"/>
              <a:cs typeface="Kalam"/>
              <a:sym typeface="Kalam"/>
            </a:endParaRPr>
          </a:p>
        </p:txBody>
      </p:sp>
      <p:sp>
        <p:nvSpPr>
          <p:cNvPr id="1390" name="Google Shape;1390;p88"/>
          <p:cNvSpPr txBox="1"/>
          <p:nvPr/>
        </p:nvSpPr>
        <p:spPr>
          <a:xfrm>
            <a:off x="3324000" y="42951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0.977</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396" name="Google Shape;1396;p89"/>
          <p:cNvSpPr txBox="1"/>
          <p:nvPr>
            <p:ph idx="4294967295" type="body"/>
          </p:nvPr>
        </p:nvSpPr>
        <p:spPr>
          <a:xfrm>
            <a:off x="324000" y="759300"/>
            <a:ext cx="8237700" cy="4494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a:t>1) </a:t>
            </a:r>
            <a:r>
              <a:rPr lang="en-GB"/>
              <a:t>Match the statements with the calculation. </a:t>
            </a:r>
            <a:endParaRPr/>
          </a:p>
        </p:txBody>
      </p:sp>
      <p:sp>
        <p:nvSpPr>
          <p:cNvPr id="1397" name="Google Shape;1397;p89"/>
          <p:cNvSpPr/>
          <p:nvPr/>
        </p:nvSpPr>
        <p:spPr>
          <a:xfrm>
            <a:off x="437318" y="1208599"/>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84% of 400</a:t>
            </a:r>
            <a:endParaRPr b="0" i="0" sz="1800" u="none" cap="none" strike="noStrike">
              <a:solidFill>
                <a:schemeClr val="dk1"/>
              </a:solidFill>
              <a:latin typeface="Lexend"/>
              <a:ea typeface="Lexend"/>
              <a:cs typeface="Lexend"/>
              <a:sym typeface="Lexend"/>
            </a:endParaRPr>
          </a:p>
        </p:txBody>
      </p:sp>
      <p:sp>
        <p:nvSpPr>
          <p:cNvPr id="1398" name="Google Shape;1398;p89"/>
          <p:cNvSpPr/>
          <p:nvPr/>
        </p:nvSpPr>
        <p:spPr>
          <a:xfrm>
            <a:off x="437318" y="1819858"/>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600 by 14%</a:t>
            </a:r>
            <a:endParaRPr b="0" i="0" sz="1800" u="none" cap="none" strike="noStrike">
              <a:solidFill>
                <a:schemeClr val="dk1"/>
              </a:solidFill>
              <a:latin typeface="Lexend"/>
              <a:ea typeface="Lexend"/>
              <a:cs typeface="Lexend"/>
              <a:sym typeface="Lexend"/>
            </a:endParaRPr>
          </a:p>
        </p:txBody>
      </p:sp>
      <p:sp>
        <p:nvSpPr>
          <p:cNvPr id="1399" name="Google Shape;1399;p89"/>
          <p:cNvSpPr/>
          <p:nvPr/>
        </p:nvSpPr>
        <p:spPr>
          <a:xfrm>
            <a:off x="446595" y="2442383"/>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86% of 400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400" name="Google Shape;1400;p89"/>
          <p:cNvSpPr/>
          <p:nvPr/>
        </p:nvSpPr>
        <p:spPr>
          <a:xfrm>
            <a:off x="446595" y="3061594"/>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14 by 16%</a:t>
            </a:r>
            <a:endParaRPr b="0" i="0" sz="1800" u="none" cap="none" strike="noStrike">
              <a:solidFill>
                <a:schemeClr val="dk1"/>
              </a:solidFill>
              <a:latin typeface="Lexend"/>
              <a:ea typeface="Lexend"/>
              <a:cs typeface="Lexend"/>
              <a:sym typeface="Lexend"/>
            </a:endParaRPr>
          </a:p>
        </p:txBody>
      </p:sp>
      <p:sp>
        <p:nvSpPr>
          <p:cNvPr id="1401" name="Google Shape;1401;p89"/>
          <p:cNvSpPr/>
          <p:nvPr/>
        </p:nvSpPr>
        <p:spPr>
          <a:xfrm>
            <a:off x="446597" y="3721550"/>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16 by 61%</a:t>
            </a:r>
            <a:endParaRPr b="0" i="0" sz="1800" u="none" cap="none" strike="noStrike">
              <a:solidFill>
                <a:schemeClr val="dk1"/>
              </a:solidFill>
              <a:latin typeface="Lexend"/>
              <a:ea typeface="Lexend"/>
              <a:cs typeface="Lexend"/>
              <a:sym typeface="Lexend"/>
            </a:endParaRPr>
          </a:p>
        </p:txBody>
      </p:sp>
      <p:sp>
        <p:nvSpPr>
          <p:cNvPr id="1402" name="Google Shape;1402;p89"/>
          <p:cNvSpPr/>
          <p:nvPr/>
        </p:nvSpPr>
        <p:spPr>
          <a:xfrm>
            <a:off x="3937216" y="1209924"/>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39% of 16 </a:t>
            </a:r>
            <a:endParaRPr b="0" i="0" sz="1800" u="none" cap="none" strike="noStrike">
              <a:solidFill>
                <a:schemeClr val="dk1"/>
              </a:solidFill>
              <a:latin typeface="Lexend"/>
              <a:ea typeface="Lexend"/>
              <a:cs typeface="Lexend"/>
              <a:sym typeface="Lexend"/>
            </a:endParaRPr>
          </a:p>
        </p:txBody>
      </p:sp>
      <p:sp>
        <p:nvSpPr>
          <p:cNvPr id="1403" name="Google Shape;1403;p89"/>
          <p:cNvSpPr/>
          <p:nvPr/>
        </p:nvSpPr>
        <p:spPr>
          <a:xfrm>
            <a:off x="3937216" y="1821183"/>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86% of 600 </a:t>
            </a:r>
            <a:endParaRPr b="0" i="0" sz="1800" u="none" cap="none" strike="noStrike">
              <a:solidFill>
                <a:schemeClr val="dk1"/>
              </a:solidFill>
              <a:latin typeface="Lexend"/>
              <a:ea typeface="Lexend"/>
              <a:cs typeface="Lexend"/>
              <a:sym typeface="Lexend"/>
            </a:endParaRPr>
          </a:p>
        </p:txBody>
      </p:sp>
      <p:sp>
        <p:nvSpPr>
          <p:cNvPr id="1404" name="Google Shape;1404;p89"/>
          <p:cNvSpPr/>
          <p:nvPr/>
        </p:nvSpPr>
        <p:spPr>
          <a:xfrm>
            <a:off x="3946493" y="2443708"/>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400 by 14%</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405" name="Google Shape;1405;p89"/>
          <p:cNvSpPr/>
          <p:nvPr/>
        </p:nvSpPr>
        <p:spPr>
          <a:xfrm>
            <a:off x="3946493" y="3062919"/>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a:t>
            </a: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of 14</a:t>
            </a:r>
            <a:endParaRPr b="0" i="0" sz="1800" u="none" cap="none" strike="noStrike">
              <a:solidFill>
                <a:schemeClr val="dk1"/>
              </a:solidFill>
              <a:latin typeface="Lexend"/>
              <a:ea typeface="Lexend"/>
              <a:cs typeface="Lexend"/>
              <a:sym typeface="Lexend"/>
            </a:endParaRPr>
          </a:p>
        </p:txBody>
      </p:sp>
      <p:sp>
        <p:nvSpPr>
          <p:cNvPr id="1406" name="Google Shape;1406;p89"/>
          <p:cNvSpPr/>
          <p:nvPr/>
        </p:nvSpPr>
        <p:spPr>
          <a:xfrm>
            <a:off x="3946495" y="3722875"/>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400 by 16%</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407" name="Google Shape;1407;p89"/>
          <p:cNvSpPr/>
          <p:nvPr/>
        </p:nvSpPr>
        <p:spPr>
          <a:xfrm>
            <a:off x="7222434" y="1195349"/>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400 × 0.84</a:t>
            </a:r>
            <a:endParaRPr b="0" i="0" sz="1800" u="none" cap="none" strike="noStrike">
              <a:solidFill>
                <a:schemeClr val="dk1"/>
              </a:solidFill>
              <a:latin typeface="Lexend"/>
              <a:ea typeface="Lexend"/>
              <a:cs typeface="Lexend"/>
              <a:sym typeface="Lexend"/>
            </a:endParaRPr>
          </a:p>
        </p:txBody>
      </p:sp>
      <p:sp>
        <p:nvSpPr>
          <p:cNvPr id="1408" name="Google Shape;1408;p89"/>
          <p:cNvSpPr/>
          <p:nvPr/>
        </p:nvSpPr>
        <p:spPr>
          <a:xfrm>
            <a:off x="7222434" y="1806608"/>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16 </a:t>
            </a:r>
            <a:r>
              <a:rPr b="0" i="0" lang="en-GB" sz="1800" u="none" cap="none" strike="noStrike">
                <a:solidFill>
                  <a:srgbClr val="000000"/>
                </a:solidFill>
                <a:latin typeface="Lexend"/>
                <a:ea typeface="Lexend"/>
                <a:cs typeface="Lexend"/>
                <a:sym typeface="Lexend"/>
              </a:rPr>
              <a:t>× 0.39</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sp>
        <p:nvSpPr>
          <p:cNvPr id="1409" name="Google Shape;1409;p89"/>
          <p:cNvSpPr/>
          <p:nvPr/>
        </p:nvSpPr>
        <p:spPr>
          <a:xfrm>
            <a:off x="7231711" y="2429133"/>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600 </a:t>
            </a:r>
            <a:r>
              <a:rPr b="0" i="0" lang="en-GB" sz="1800" u="none" cap="none" strike="noStrike">
                <a:solidFill>
                  <a:srgbClr val="000000"/>
                </a:solidFill>
                <a:latin typeface="Lexend"/>
                <a:ea typeface="Lexend"/>
                <a:cs typeface="Lexend"/>
                <a:sym typeface="Lexend"/>
              </a:rPr>
              <a:t>× 0.86</a:t>
            </a:r>
            <a:endParaRPr b="0" i="0" sz="1800" u="none" cap="none" strike="noStrike">
              <a:solidFill>
                <a:schemeClr val="dk1"/>
              </a:solidFill>
              <a:latin typeface="Lexend"/>
              <a:ea typeface="Lexend"/>
              <a:cs typeface="Lexend"/>
              <a:sym typeface="Lexend"/>
            </a:endParaRPr>
          </a:p>
        </p:txBody>
      </p:sp>
      <p:sp>
        <p:nvSpPr>
          <p:cNvPr id="1410" name="Google Shape;1410;p89"/>
          <p:cNvSpPr/>
          <p:nvPr/>
        </p:nvSpPr>
        <p:spPr>
          <a:xfrm>
            <a:off x="7231711" y="3048344"/>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400 </a:t>
            </a:r>
            <a:r>
              <a:rPr b="0" i="0" lang="en-GB" sz="1800" u="none" cap="none" strike="noStrike">
                <a:solidFill>
                  <a:srgbClr val="000000"/>
                </a:solidFill>
                <a:latin typeface="Lexend"/>
                <a:ea typeface="Lexend"/>
                <a:cs typeface="Lexend"/>
                <a:sym typeface="Lexend"/>
              </a:rPr>
              <a:t>× 0.86</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sp>
        <p:nvSpPr>
          <p:cNvPr id="1411" name="Google Shape;1411;p89"/>
          <p:cNvSpPr/>
          <p:nvPr/>
        </p:nvSpPr>
        <p:spPr>
          <a:xfrm>
            <a:off x="7231713" y="3708300"/>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14 </a:t>
            </a:r>
            <a:r>
              <a:rPr b="0" i="0" lang="en-GB" sz="1800" u="none" cap="none" strike="noStrike">
                <a:solidFill>
                  <a:srgbClr val="000000"/>
                </a:solidFill>
                <a:latin typeface="Lexend"/>
                <a:ea typeface="Lexend"/>
                <a:cs typeface="Lexend"/>
                <a:sym typeface="Lexend"/>
              </a:rPr>
              <a:t>× 0.8</a:t>
            </a:r>
            <a:r>
              <a:rPr lang="en-GB" sz="1800">
                <a:latin typeface="Lexend"/>
                <a:ea typeface="Lexend"/>
                <a:cs typeface="Lexend"/>
                <a:sym typeface="Lexend"/>
              </a:rPr>
              <a:t>4</a:t>
            </a:r>
            <a:endParaRPr b="0" i="0" sz="1800" u="none" cap="none" strike="noStrike">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417" name="Google Shape;1417;p90"/>
          <p:cNvSpPr txBox="1"/>
          <p:nvPr>
            <p:ph idx="1" type="body"/>
          </p:nvPr>
        </p:nvSpPr>
        <p:spPr>
          <a:xfrm>
            <a:off x="324000" y="759300"/>
            <a:ext cx="8237700" cy="23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a:t>
            </a:r>
            <a:r>
              <a:rPr lang="en-GB"/>
              <a:t>) Work out the amount of money when £94 has been decreased by 47%</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3) </a:t>
            </a:r>
            <a:r>
              <a:rPr lang="en-GB"/>
              <a:t>Work out the amount of money when £162 has been decreased by 28%</a:t>
            </a:r>
            <a:endParaRPr/>
          </a:p>
        </p:txBody>
      </p:sp>
      <p:sp>
        <p:nvSpPr>
          <p:cNvPr id="1418" name="Google Shape;1418;p90"/>
          <p:cNvSpPr txBox="1"/>
          <p:nvPr/>
        </p:nvSpPr>
        <p:spPr>
          <a:xfrm>
            <a:off x="214699" y="3385425"/>
            <a:ext cx="5723400" cy="14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4) A T-shirt was reduced by 24% in a sale.</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How much is the T-shirt now? </a:t>
            </a:r>
            <a:endParaRPr sz="2200">
              <a:solidFill>
                <a:schemeClr val="dk1"/>
              </a:solidFill>
              <a:latin typeface="Lexend"/>
              <a:ea typeface="Lexend"/>
              <a:cs typeface="Lexend"/>
              <a:sym typeface="Lexend"/>
            </a:endParaRPr>
          </a:p>
        </p:txBody>
      </p:sp>
      <p:sp>
        <p:nvSpPr>
          <p:cNvPr id="1419" name="Google Shape;1419;p90"/>
          <p:cNvSpPr/>
          <p:nvPr/>
        </p:nvSpPr>
        <p:spPr>
          <a:xfrm rot="-5914865">
            <a:off x="5865795" y="3290691"/>
            <a:ext cx="366041" cy="1427580"/>
          </a:xfrm>
          <a:prstGeom prst="flowChartOffpageConnector">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0" name="Google Shape;1420;p90"/>
          <p:cNvSpPr txBox="1"/>
          <p:nvPr/>
        </p:nvSpPr>
        <p:spPr>
          <a:xfrm>
            <a:off x="6333011" y="3269933"/>
            <a:ext cx="7713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GB" sz="5600" u="none" cap="none" strike="noStrike">
                <a:solidFill>
                  <a:srgbClr val="000000"/>
                </a:solidFill>
                <a:latin typeface="Lexend"/>
                <a:ea typeface="Lexend"/>
                <a:cs typeface="Lexend"/>
                <a:sym typeface="Lexend"/>
              </a:rPr>
              <a:t>👕</a:t>
            </a:r>
            <a:endParaRPr b="0" i="0" sz="5600" u="none" cap="none" strike="noStrike">
              <a:solidFill>
                <a:srgbClr val="000000"/>
              </a:solidFill>
              <a:latin typeface="Lexend"/>
              <a:ea typeface="Lexend"/>
              <a:cs typeface="Lexend"/>
              <a:sym typeface="Lexend"/>
            </a:endParaRPr>
          </a:p>
        </p:txBody>
      </p:sp>
      <p:sp>
        <p:nvSpPr>
          <p:cNvPr id="1421" name="Google Shape;1421;p90"/>
          <p:cNvSpPr txBox="1"/>
          <p:nvPr/>
        </p:nvSpPr>
        <p:spPr>
          <a:xfrm rot="-606078">
            <a:off x="5285954" y="3819745"/>
            <a:ext cx="1525750" cy="369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T-shirt £25</a:t>
            </a:r>
            <a:endParaRPr b="0" i="0" sz="1800" u="none" cap="none" strike="noStrike">
              <a:solidFill>
                <a:srgbClr val="000000"/>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427" name="Google Shape;1427;p91"/>
          <p:cNvSpPr txBox="1"/>
          <p:nvPr>
            <p:ph idx="4294967295" type="body"/>
          </p:nvPr>
        </p:nvSpPr>
        <p:spPr>
          <a:xfrm>
            <a:off x="324000" y="759300"/>
            <a:ext cx="8237700" cy="4494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a:t>1) </a:t>
            </a:r>
            <a:r>
              <a:rPr lang="en-GB"/>
              <a:t>Match the statements with the calculation. </a:t>
            </a:r>
            <a:endParaRPr/>
          </a:p>
        </p:txBody>
      </p:sp>
      <p:sp>
        <p:nvSpPr>
          <p:cNvPr id="1428" name="Google Shape;1428;p91"/>
          <p:cNvSpPr/>
          <p:nvPr/>
        </p:nvSpPr>
        <p:spPr>
          <a:xfrm>
            <a:off x="437318" y="1208599"/>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84% of 400</a:t>
            </a:r>
            <a:endParaRPr b="0" i="0" sz="1800" u="none" cap="none" strike="noStrike">
              <a:solidFill>
                <a:schemeClr val="dk1"/>
              </a:solidFill>
              <a:latin typeface="Lexend"/>
              <a:ea typeface="Lexend"/>
              <a:cs typeface="Lexend"/>
              <a:sym typeface="Lexend"/>
            </a:endParaRPr>
          </a:p>
        </p:txBody>
      </p:sp>
      <p:sp>
        <p:nvSpPr>
          <p:cNvPr id="1429" name="Google Shape;1429;p91"/>
          <p:cNvSpPr/>
          <p:nvPr/>
        </p:nvSpPr>
        <p:spPr>
          <a:xfrm>
            <a:off x="437318" y="1819858"/>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600 by 14%</a:t>
            </a:r>
            <a:endParaRPr b="0" i="0" sz="1800" u="none" cap="none" strike="noStrike">
              <a:solidFill>
                <a:schemeClr val="dk1"/>
              </a:solidFill>
              <a:latin typeface="Lexend"/>
              <a:ea typeface="Lexend"/>
              <a:cs typeface="Lexend"/>
              <a:sym typeface="Lexend"/>
            </a:endParaRPr>
          </a:p>
        </p:txBody>
      </p:sp>
      <p:sp>
        <p:nvSpPr>
          <p:cNvPr id="1430" name="Google Shape;1430;p91"/>
          <p:cNvSpPr/>
          <p:nvPr/>
        </p:nvSpPr>
        <p:spPr>
          <a:xfrm>
            <a:off x="446595" y="2442383"/>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86% of 400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431" name="Google Shape;1431;p91"/>
          <p:cNvSpPr/>
          <p:nvPr/>
        </p:nvSpPr>
        <p:spPr>
          <a:xfrm>
            <a:off x="446595" y="3061594"/>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14 by 16%</a:t>
            </a:r>
            <a:endParaRPr b="0" i="0" sz="1800" u="none" cap="none" strike="noStrike">
              <a:solidFill>
                <a:schemeClr val="dk1"/>
              </a:solidFill>
              <a:latin typeface="Lexend"/>
              <a:ea typeface="Lexend"/>
              <a:cs typeface="Lexend"/>
              <a:sym typeface="Lexend"/>
            </a:endParaRPr>
          </a:p>
        </p:txBody>
      </p:sp>
      <p:sp>
        <p:nvSpPr>
          <p:cNvPr id="1432" name="Google Shape;1432;p91"/>
          <p:cNvSpPr/>
          <p:nvPr/>
        </p:nvSpPr>
        <p:spPr>
          <a:xfrm>
            <a:off x="446597" y="3721550"/>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16 by 61%</a:t>
            </a:r>
            <a:endParaRPr b="0" i="0" sz="1800" u="none" cap="none" strike="noStrike">
              <a:solidFill>
                <a:schemeClr val="dk1"/>
              </a:solidFill>
              <a:latin typeface="Lexend"/>
              <a:ea typeface="Lexend"/>
              <a:cs typeface="Lexend"/>
              <a:sym typeface="Lexend"/>
            </a:endParaRPr>
          </a:p>
        </p:txBody>
      </p:sp>
      <p:sp>
        <p:nvSpPr>
          <p:cNvPr id="1433" name="Google Shape;1433;p91"/>
          <p:cNvSpPr/>
          <p:nvPr/>
        </p:nvSpPr>
        <p:spPr>
          <a:xfrm>
            <a:off x="3937216" y="1209924"/>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39% of 16 </a:t>
            </a:r>
            <a:endParaRPr b="0" i="0" sz="1800" u="none" cap="none" strike="noStrike">
              <a:solidFill>
                <a:schemeClr val="dk1"/>
              </a:solidFill>
              <a:latin typeface="Lexend"/>
              <a:ea typeface="Lexend"/>
              <a:cs typeface="Lexend"/>
              <a:sym typeface="Lexend"/>
            </a:endParaRPr>
          </a:p>
        </p:txBody>
      </p:sp>
      <p:sp>
        <p:nvSpPr>
          <p:cNvPr id="1434" name="Google Shape;1434;p91"/>
          <p:cNvSpPr/>
          <p:nvPr/>
        </p:nvSpPr>
        <p:spPr>
          <a:xfrm>
            <a:off x="3937216" y="1821183"/>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86% of 600 </a:t>
            </a:r>
            <a:endParaRPr b="0" i="0" sz="1800" u="none" cap="none" strike="noStrike">
              <a:solidFill>
                <a:schemeClr val="dk1"/>
              </a:solidFill>
              <a:latin typeface="Lexend"/>
              <a:ea typeface="Lexend"/>
              <a:cs typeface="Lexend"/>
              <a:sym typeface="Lexend"/>
            </a:endParaRPr>
          </a:p>
        </p:txBody>
      </p:sp>
      <p:sp>
        <p:nvSpPr>
          <p:cNvPr id="1435" name="Google Shape;1435;p91"/>
          <p:cNvSpPr/>
          <p:nvPr/>
        </p:nvSpPr>
        <p:spPr>
          <a:xfrm>
            <a:off x="3946493" y="2443708"/>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400 by 14%</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436" name="Google Shape;1436;p91"/>
          <p:cNvSpPr/>
          <p:nvPr/>
        </p:nvSpPr>
        <p:spPr>
          <a:xfrm>
            <a:off x="3946493" y="3062919"/>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Work out 8</a:t>
            </a:r>
            <a:r>
              <a:rPr lang="en-GB" sz="1800">
                <a:solidFill>
                  <a:schemeClr val="dk1"/>
                </a:solidFill>
                <a:latin typeface="Lexend"/>
                <a:ea typeface="Lexend"/>
                <a:cs typeface="Lexend"/>
                <a:sym typeface="Lexend"/>
              </a:rPr>
              <a:t>4</a:t>
            </a:r>
            <a:r>
              <a:rPr b="0" i="0" lang="en-GB" sz="1800" u="none" cap="none" strike="noStrike">
                <a:solidFill>
                  <a:schemeClr val="dk1"/>
                </a:solidFill>
                <a:latin typeface="Lexend"/>
                <a:ea typeface="Lexend"/>
                <a:cs typeface="Lexend"/>
                <a:sym typeface="Lexend"/>
              </a:rPr>
              <a:t>% of 14</a:t>
            </a:r>
            <a:endParaRPr b="0" i="0" sz="1800" u="none" cap="none" strike="noStrike">
              <a:solidFill>
                <a:schemeClr val="dk1"/>
              </a:solidFill>
              <a:latin typeface="Lexend"/>
              <a:ea typeface="Lexend"/>
              <a:cs typeface="Lexend"/>
              <a:sym typeface="Lexend"/>
            </a:endParaRPr>
          </a:p>
        </p:txBody>
      </p:sp>
      <p:sp>
        <p:nvSpPr>
          <p:cNvPr id="1437" name="Google Shape;1437;p91"/>
          <p:cNvSpPr/>
          <p:nvPr/>
        </p:nvSpPr>
        <p:spPr>
          <a:xfrm>
            <a:off x="3946495" y="3722875"/>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400 by 16%</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cxnSp>
        <p:nvCxnSpPr>
          <p:cNvPr id="1438" name="Google Shape;1438;p91"/>
          <p:cNvCxnSpPr>
            <a:stCxn id="1432" idx="3"/>
            <a:endCxn id="1433" idx="1"/>
          </p:cNvCxnSpPr>
          <p:nvPr/>
        </p:nvCxnSpPr>
        <p:spPr>
          <a:xfrm flipH="1" rot="10800000">
            <a:off x="3372797" y="1467500"/>
            <a:ext cx="564300" cy="2511600"/>
          </a:xfrm>
          <a:prstGeom prst="straightConnector1">
            <a:avLst/>
          </a:prstGeom>
          <a:noFill/>
          <a:ln cap="flat" cmpd="sng" w="28575">
            <a:solidFill>
              <a:schemeClr val="dk1"/>
            </a:solidFill>
            <a:prstDash val="solid"/>
            <a:round/>
            <a:headEnd len="sm" w="sm" type="none"/>
            <a:tailEnd len="sm" w="sm" type="none"/>
          </a:ln>
        </p:spPr>
      </p:cxnSp>
      <p:cxnSp>
        <p:nvCxnSpPr>
          <p:cNvPr id="1439" name="Google Shape;1439;p91"/>
          <p:cNvCxnSpPr>
            <a:stCxn id="1428" idx="3"/>
            <a:endCxn id="1437" idx="1"/>
          </p:cNvCxnSpPr>
          <p:nvPr/>
        </p:nvCxnSpPr>
        <p:spPr>
          <a:xfrm>
            <a:off x="3363518" y="1466149"/>
            <a:ext cx="582900" cy="2514300"/>
          </a:xfrm>
          <a:prstGeom prst="straightConnector1">
            <a:avLst/>
          </a:prstGeom>
          <a:noFill/>
          <a:ln cap="flat" cmpd="sng" w="28575">
            <a:solidFill>
              <a:schemeClr val="dk1"/>
            </a:solidFill>
            <a:prstDash val="solid"/>
            <a:round/>
            <a:headEnd len="sm" w="sm" type="none"/>
            <a:tailEnd len="sm" w="sm" type="none"/>
          </a:ln>
        </p:spPr>
      </p:cxnSp>
      <p:cxnSp>
        <p:nvCxnSpPr>
          <p:cNvPr id="1440" name="Google Shape;1440;p91"/>
          <p:cNvCxnSpPr>
            <a:stCxn id="1433" idx="3"/>
            <a:endCxn id="1441" idx="1"/>
          </p:cNvCxnSpPr>
          <p:nvPr/>
        </p:nvCxnSpPr>
        <p:spPr>
          <a:xfrm>
            <a:off x="6725416" y="1467474"/>
            <a:ext cx="497100" cy="596700"/>
          </a:xfrm>
          <a:prstGeom prst="straightConnector1">
            <a:avLst/>
          </a:prstGeom>
          <a:noFill/>
          <a:ln cap="flat" cmpd="sng" w="28575">
            <a:solidFill>
              <a:schemeClr val="dk1"/>
            </a:solidFill>
            <a:prstDash val="solid"/>
            <a:round/>
            <a:headEnd len="sm" w="sm" type="none"/>
            <a:tailEnd len="sm" w="sm" type="none"/>
          </a:ln>
        </p:spPr>
      </p:cxnSp>
      <p:cxnSp>
        <p:nvCxnSpPr>
          <p:cNvPr id="1442" name="Google Shape;1442;p91"/>
          <p:cNvCxnSpPr>
            <a:stCxn id="1430" idx="3"/>
          </p:cNvCxnSpPr>
          <p:nvPr/>
        </p:nvCxnSpPr>
        <p:spPr>
          <a:xfrm flipH="1" rot="10800000">
            <a:off x="3372795" y="2694533"/>
            <a:ext cx="573600" cy="5400"/>
          </a:xfrm>
          <a:prstGeom prst="straightConnector1">
            <a:avLst/>
          </a:prstGeom>
          <a:noFill/>
          <a:ln cap="flat" cmpd="sng" w="28575">
            <a:solidFill>
              <a:schemeClr val="dk1"/>
            </a:solidFill>
            <a:prstDash val="solid"/>
            <a:round/>
            <a:headEnd len="sm" w="sm" type="none"/>
            <a:tailEnd len="sm" w="sm" type="none"/>
          </a:ln>
        </p:spPr>
      </p:cxnSp>
      <p:cxnSp>
        <p:nvCxnSpPr>
          <p:cNvPr id="1443" name="Google Shape;1443;p91"/>
          <p:cNvCxnSpPr/>
          <p:nvPr/>
        </p:nvCxnSpPr>
        <p:spPr>
          <a:xfrm flipH="1" rot="10800000">
            <a:off x="3372795" y="3315544"/>
            <a:ext cx="573600" cy="3600"/>
          </a:xfrm>
          <a:prstGeom prst="straightConnector1">
            <a:avLst/>
          </a:prstGeom>
          <a:noFill/>
          <a:ln cap="flat" cmpd="sng" w="28575">
            <a:solidFill>
              <a:schemeClr val="dk1"/>
            </a:solidFill>
            <a:prstDash val="solid"/>
            <a:round/>
            <a:headEnd len="sm" w="sm" type="none"/>
            <a:tailEnd len="sm" w="sm" type="none"/>
          </a:ln>
        </p:spPr>
      </p:cxnSp>
      <p:sp>
        <p:nvSpPr>
          <p:cNvPr id="1444" name="Google Shape;1444;p91"/>
          <p:cNvSpPr/>
          <p:nvPr/>
        </p:nvSpPr>
        <p:spPr>
          <a:xfrm>
            <a:off x="7222434" y="1195349"/>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400 × 0.84</a:t>
            </a:r>
            <a:endParaRPr b="0" i="0" sz="1800" u="none" cap="none" strike="noStrike">
              <a:solidFill>
                <a:schemeClr val="dk1"/>
              </a:solidFill>
              <a:latin typeface="Lexend"/>
              <a:ea typeface="Lexend"/>
              <a:cs typeface="Lexend"/>
              <a:sym typeface="Lexend"/>
            </a:endParaRPr>
          </a:p>
        </p:txBody>
      </p:sp>
      <p:sp>
        <p:nvSpPr>
          <p:cNvPr id="1441" name="Google Shape;1441;p91"/>
          <p:cNvSpPr/>
          <p:nvPr/>
        </p:nvSpPr>
        <p:spPr>
          <a:xfrm>
            <a:off x="7222434" y="1806608"/>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16 </a:t>
            </a:r>
            <a:r>
              <a:rPr b="0" i="0" lang="en-GB" sz="1800" u="none" cap="none" strike="noStrike">
                <a:solidFill>
                  <a:srgbClr val="000000"/>
                </a:solidFill>
                <a:latin typeface="Lexend"/>
                <a:ea typeface="Lexend"/>
                <a:cs typeface="Lexend"/>
                <a:sym typeface="Lexend"/>
              </a:rPr>
              <a:t>× 0.39</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sp>
        <p:nvSpPr>
          <p:cNvPr id="1445" name="Google Shape;1445;p91"/>
          <p:cNvSpPr/>
          <p:nvPr/>
        </p:nvSpPr>
        <p:spPr>
          <a:xfrm>
            <a:off x="7231711" y="2429133"/>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600 </a:t>
            </a:r>
            <a:r>
              <a:rPr b="0" i="0" lang="en-GB" sz="1800" u="none" cap="none" strike="noStrike">
                <a:solidFill>
                  <a:srgbClr val="000000"/>
                </a:solidFill>
                <a:latin typeface="Lexend"/>
                <a:ea typeface="Lexend"/>
                <a:cs typeface="Lexend"/>
                <a:sym typeface="Lexend"/>
              </a:rPr>
              <a:t>× 0.86</a:t>
            </a:r>
            <a:endParaRPr b="0" i="0" sz="1800" u="none" cap="none" strike="noStrike">
              <a:solidFill>
                <a:schemeClr val="dk1"/>
              </a:solidFill>
              <a:latin typeface="Lexend"/>
              <a:ea typeface="Lexend"/>
              <a:cs typeface="Lexend"/>
              <a:sym typeface="Lexend"/>
            </a:endParaRPr>
          </a:p>
        </p:txBody>
      </p:sp>
      <p:sp>
        <p:nvSpPr>
          <p:cNvPr id="1446" name="Google Shape;1446;p91"/>
          <p:cNvSpPr/>
          <p:nvPr/>
        </p:nvSpPr>
        <p:spPr>
          <a:xfrm>
            <a:off x="7231711" y="3048344"/>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400 </a:t>
            </a:r>
            <a:r>
              <a:rPr b="0" i="0" lang="en-GB" sz="1800" u="none" cap="none" strike="noStrike">
                <a:solidFill>
                  <a:srgbClr val="000000"/>
                </a:solidFill>
                <a:latin typeface="Lexend"/>
                <a:ea typeface="Lexend"/>
                <a:cs typeface="Lexend"/>
                <a:sym typeface="Lexend"/>
              </a:rPr>
              <a:t>× 0.86</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sp>
        <p:nvSpPr>
          <p:cNvPr id="1447" name="Google Shape;1447;p91"/>
          <p:cNvSpPr/>
          <p:nvPr/>
        </p:nvSpPr>
        <p:spPr>
          <a:xfrm>
            <a:off x="7231713" y="3708300"/>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14 </a:t>
            </a:r>
            <a:r>
              <a:rPr b="0" i="0" lang="en-GB" sz="1800" u="none" cap="none" strike="noStrike">
                <a:solidFill>
                  <a:srgbClr val="000000"/>
                </a:solidFill>
                <a:latin typeface="Lexend"/>
                <a:ea typeface="Lexend"/>
                <a:cs typeface="Lexend"/>
                <a:sym typeface="Lexend"/>
              </a:rPr>
              <a:t>× 0.8</a:t>
            </a:r>
            <a:r>
              <a:rPr lang="en-GB" sz="1800">
                <a:latin typeface="Lexend"/>
                <a:ea typeface="Lexend"/>
                <a:cs typeface="Lexend"/>
                <a:sym typeface="Lexend"/>
              </a:rPr>
              <a:t>4</a:t>
            </a:r>
            <a:endParaRPr b="0" i="0" sz="1800" u="none" cap="none" strike="noStrike">
              <a:solidFill>
                <a:schemeClr val="dk1"/>
              </a:solidFill>
              <a:latin typeface="Lexend"/>
              <a:ea typeface="Lexend"/>
              <a:cs typeface="Lexend"/>
              <a:sym typeface="Lexend"/>
            </a:endParaRPr>
          </a:p>
        </p:txBody>
      </p:sp>
      <p:cxnSp>
        <p:nvCxnSpPr>
          <p:cNvPr id="1448" name="Google Shape;1448;p91"/>
          <p:cNvCxnSpPr/>
          <p:nvPr/>
        </p:nvCxnSpPr>
        <p:spPr>
          <a:xfrm>
            <a:off x="6734749" y="2090034"/>
            <a:ext cx="497100" cy="596700"/>
          </a:xfrm>
          <a:prstGeom prst="straightConnector1">
            <a:avLst/>
          </a:prstGeom>
          <a:noFill/>
          <a:ln cap="flat" cmpd="sng" w="28575">
            <a:solidFill>
              <a:schemeClr val="dk1"/>
            </a:solidFill>
            <a:prstDash val="solid"/>
            <a:round/>
            <a:headEnd len="sm" w="sm" type="none"/>
            <a:tailEnd len="sm" w="sm" type="none"/>
          </a:ln>
        </p:spPr>
      </p:cxnSp>
      <p:cxnSp>
        <p:nvCxnSpPr>
          <p:cNvPr id="1449" name="Google Shape;1449;p91"/>
          <p:cNvCxnSpPr/>
          <p:nvPr/>
        </p:nvCxnSpPr>
        <p:spPr>
          <a:xfrm>
            <a:off x="6736076" y="2679756"/>
            <a:ext cx="497100" cy="596700"/>
          </a:xfrm>
          <a:prstGeom prst="straightConnector1">
            <a:avLst/>
          </a:prstGeom>
          <a:noFill/>
          <a:ln cap="flat" cmpd="sng" w="28575">
            <a:solidFill>
              <a:schemeClr val="dk1"/>
            </a:solidFill>
            <a:prstDash val="solid"/>
            <a:round/>
            <a:headEnd len="sm" w="sm" type="none"/>
            <a:tailEnd len="sm" w="sm" type="none"/>
          </a:ln>
        </p:spPr>
      </p:cxnSp>
      <p:cxnSp>
        <p:nvCxnSpPr>
          <p:cNvPr id="1450" name="Google Shape;1450;p91"/>
          <p:cNvCxnSpPr/>
          <p:nvPr/>
        </p:nvCxnSpPr>
        <p:spPr>
          <a:xfrm>
            <a:off x="6753304" y="3293333"/>
            <a:ext cx="497100" cy="596700"/>
          </a:xfrm>
          <a:prstGeom prst="straightConnector1">
            <a:avLst/>
          </a:prstGeom>
          <a:noFill/>
          <a:ln cap="flat" cmpd="sng" w="28575">
            <a:solidFill>
              <a:schemeClr val="dk1"/>
            </a:solidFill>
            <a:prstDash val="solid"/>
            <a:round/>
            <a:headEnd len="sm" w="sm" type="none"/>
            <a:tailEnd len="sm" w="sm" type="none"/>
          </a:ln>
        </p:spPr>
      </p:cxnSp>
      <p:cxnSp>
        <p:nvCxnSpPr>
          <p:cNvPr id="1451" name="Google Shape;1451;p91"/>
          <p:cNvCxnSpPr>
            <a:stCxn id="1437" idx="3"/>
            <a:endCxn id="1444" idx="1"/>
          </p:cNvCxnSpPr>
          <p:nvPr/>
        </p:nvCxnSpPr>
        <p:spPr>
          <a:xfrm flipH="1" rot="10800000">
            <a:off x="6734695" y="1452925"/>
            <a:ext cx="487800" cy="2527500"/>
          </a:xfrm>
          <a:prstGeom prst="straightConnector1">
            <a:avLst/>
          </a:prstGeom>
          <a:noFill/>
          <a:ln cap="flat" cmpd="sng" w="28575">
            <a:solidFill>
              <a:schemeClr val="dk1"/>
            </a:solidFill>
            <a:prstDash val="solid"/>
            <a:round/>
            <a:headEnd len="sm" w="sm" type="none"/>
            <a:tailEnd len="sm" w="sm" type="none"/>
          </a:ln>
        </p:spPr>
      </p:cxnSp>
      <p:cxnSp>
        <p:nvCxnSpPr>
          <p:cNvPr id="1452" name="Google Shape;1452;p91"/>
          <p:cNvCxnSpPr/>
          <p:nvPr/>
        </p:nvCxnSpPr>
        <p:spPr>
          <a:xfrm flipH="1" rot="10800000">
            <a:off x="3358216" y="2100333"/>
            <a:ext cx="579000" cy="360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458" name="Google Shape;1458;p92"/>
          <p:cNvSpPr txBox="1"/>
          <p:nvPr>
            <p:ph idx="1" type="body"/>
          </p:nvPr>
        </p:nvSpPr>
        <p:spPr>
          <a:xfrm>
            <a:off x="324000" y="759300"/>
            <a:ext cx="8237700" cy="230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Work out the amount of money when £94 has been decreased by 47%</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3) Work out the amount of money when £162 has been decreased by 28%</a:t>
            </a:r>
            <a:endParaRPr/>
          </a:p>
        </p:txBody>
      </p:sp>
      <p:sp>
        <p:nvSpPr>
          <p:cNvPr id="1459" name="Google Shape;1459;p92"/>
          <p:cNvSpPr txBox="1"/>
          <p:nvPr/>
        </p:nvSpPr>
        <p:spPr>
          <a:xfrm>
            <a:off x="214699" y="3385425"/>
            <a:ext cx="5723400" cy="143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4) A T-shirt was reduced by 24% in a sale.</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How much is the T-shirt now? </a:t>
            </a:r>
            <a:endParaRPr sz="2200">
              <a:solidFill>
                <a:schemeClr val="dk1"/>
              </a:solidFill>
              <a:latin typeface="Lexend"/>
              <a:ea typeface="Lexend"/>
              <a:cs typeface="Lexend"/>
              <a:sym typeface="Lexend"/>
            </a:endParaRPr>
          </a:p>
        </p:txBody>
      </p:sp>
      <p:sp>
        <p:nvSpPr>
          <p:cNvPr id="1460" name="Google Shape;1460;p92"/>
          <p:cNvSpPr/>
          <p:nvPr/>
        </p:nvSpPr>
        <p:spPr>
          <a:xfrm rot="-5914865">
            <a:off x="5865795" y="3290691"/>
            <a:ext cx="366041" cy="1427580"/>
          </a:xfrm>
          <a:prstGeom prst="flowChartOffpageConnector">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1" name="Google Shape;1461;p92"/>
          <p:cNvSpPr txBox="1"/>
          <p:nvPr/>
        </p:nvSpPr>
        <p:spPr>
          <a:xfrm>
            <a:off x="6333011" y="3269933"/>
            <a:ext cx="7713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GB" sz="5600" u="none" cap="none" strike="noStrike">
                <a:solidFill>
                  <a:srgbClr val="000000"/>
                </a:solidFill>
                <a:latin typeface="Lexend"/>
                <a:ea typeface="Lexend"/>
                <a:cs typeface="Lexend"/>
                <a:sym typeface="Lexend"/>
              </a:rPr>
              <a:t>👕</a:t>
            </a:r>
            <a:endParaRPr b="0" i="0" sz="5600" u="none" cap="none" strike="noStrike">
              <a:solidFill>
                <a:srgbClr val="000000"/>
              </a:solidFill>
              <a:latin typeface="Lexend"/>
              <a:ea typeface="Lexend"/>
              <a:cs typeface="Lexend"/>
              <a:sym typeface="Lexend"/>
            </a:endParaRPr>
          </a:p>
        </p:txBody>
      </p:sp>
      <p:sp>
        <p:nvSpPr>
          <p:cNvPr id="1462" name="Google Shape;1462;p92"/>
          <p:cNvSpPr txBox="1"/>
          <p:nvPr/>
        </p:nvSpPr>
        <p:spPr>
          <a:xfrm rot="-606078">
            <a:off x="5285954" y="3819745"/>
            <a:ext cx="1525750" cy="369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T-shirt £25</a:t>
            </a:r>
            <a:endParaRPr b="0" i="0" sz="1800" u="none" cap="none" strike="noStrike">
              <a:solidFill>
                <a:srgbClr val="000000"/>
              </a:solidFill>
              <a:latin typeface="Lexend"/>
              <a:ea typeface="Lexend"/>
              <a:cs typeface="Lexend"/>
              <a:sym typeface="Lexend"/>
            </a:endParaRPr>
          </a:p>
        </p:txBody>
      </p:sp>
      <p:sp>
        <p:nvSpPr>
          <p:cNvPr id="1463" name="Google Shape;1463;p92"/>
          <p:cNvSpPr txBox="1"/>
          <p:nvPr/>
        </p:nvSpPr>
        <p:spPr>
          <a:xfrm>
            <a:off x="2887200" y="1202200"/>
            <a:ext cx="30000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94 × 0.53 = 49.82</a:t>
            </a:r>
            <a:endParaRPr>
              <a:solidFill>
                <a:schemeClr val="dk1"/>
              </a:solidFill>
              <a:latin typeface="Kalam"/>
              <a:ea typeface="Kalam"/>
              <a:cs typeface="Kalam"/>
              <a:sym typeface="Kalam"/>
            </a:endParaRPr>
          </a:p>
        </p:txBody>
      </p:sp>
      <p:sp>
        <p:nvSpPr>
          <p:cNvPr id="1464" name="Google Shape;1464;p92"/>
          <p:cNvSpPr txBox="1"/>
          <p:nvPr/>
        </p:nvSpPr>
        <p:spPr>
          <a:xfrm>
            <a:off x="2887200" y="2670775"/>
            <a:ext cx="42660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162 × 0.72 = 116.64</a:t>
            </a:r>
            <a:endParaRPr>
              <a:solidFill>
                <a:schemeClr val="dk1"/>
              </a:solidFill>
              <a:latin typeface="Kalam"/>
              <a:ea typeface="Kalam"/>
              <a:cs typeface="Kalam"/>
              <a:sym typeface="Kalam"/>
            </a:endParaRPr>
          </a:p>
        </p:txBody>
      </p:sp>
      <p:sp>
        <p:nvSpPr>
          <p:cNvPr id="1465" name="Google Shape;1465;p92"/>
          <p:cNvSpPr txBox="1"/>
          <p:nvPr/>
        </p:nvSpPr>
        <p:spPr>
          <a:xfrm>
            <a:off x="4548825" y="4427250"/>
            <a:ext cx="30000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£25 × 0.76 = £19</a:t>
            </a:r>
            <a:endParaRPr>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93"/>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Decreasing an amount by a percentage</a:t>
            </a:r>
            <a:endParaRPr/>
          </a:p>
        </p:txBody>
      </p:sp>
      <p:sp>
        <p:nvSpPr>
          <p:cNvPr id="1471" name="Google Shape;1471;p93"/>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multiplier</a:t>
            </a:r>
            <a:endParaRPr/>
          </a:p>
        </p:txBody>
      </p:sp>
      <p:sp>
        <p:nvSpPr>
          <p:cNvPr id="1472" name="Google Shape;1472;p93"/>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473" name="Google Shape;1473;p93"/>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Decrease by a percentage</a:t>
            </a:r>
            <a:endParaRPr/>
          </a:p>
        </p:txBody>
      </p:sp>
      <p:pic>
        <p:nvPicPr>
          <p:cNvPr id="1474" name="Google Shape;1474;p93"/>
          <p:cNvPicPr preferRelativeResize="0"/>
          <p:nvPr/>
        </p:nvPicPr>
        <p:blipFill rotWithShape="1">
          <a:blip r:embed="rId3">
            <a:alphaModFix/>
          </a:blip>
          <a:srcRect b="-42699" l="-1010" r="1010" t="-13136"/>
          <a:stretch/>
        </p:blipFill>
        <p:spPr>
          <a:xfrm>
            <a:off x="414475" y="3641857"/>
            <a:ext cx="450575" cy="696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94"/>
          <p:cNvSpPr txBox="1"/>
          <p:nvPr>
            <p:ph idx="1" type="body"/>
          </p:nvPr>
        </p:nvSpPr>
        <p:spPr>
          <a:xfrm>
            <a:off x="324000" y="741225"/>
            <a:ext cx="6036600" cy="183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Double number lines are excellent visual tools to see a </a:t>
            </a:r>
            <a:r>
              <a:rPr lang="en-GB"/>
              <a:t>percentage</a:t>
            </a:r>
            <a:r>
              <a:rPr lang="en-GB"/>
              <a:t> increase.</a:t>
            </a:r>
            <a:endParaRPr/>
          </a:p>
          <a:p>
            <a:pPr indent="0" lvl="0" marL="0" rtl="0" algn="l">
              <a:spcBef>
                <a:spcPts val="1000"/>
              </a:spcBef>
              <a:spcAft>
                <a:spcPts val="0"/>
              </a:spcAft>
              <a:buNone/>
            </a:pPr>
            <a:r>
              <a:rPr lang="en-GB"/>
              <a:t>For example, </a:t>
            </a:r>
            <a:endParaRPr/>
          </a:p>
          <a:p>
            <a:pPr indent="0" lvl="0" marL="0" rtl="0" algn="l">
              <a:spcBef>
                <a:spcPts val="1000"/>
              </a:spcBef>
              <a:spcAft>
                <a:spcPts val="0"/>
              </a:spcAft>
              <a:buNone/>
            </a:pPr>
            <a:r>
              <a:rPr lang="en-GB"/>
              <a:t>Increasing any number by 35% we simply multiply by 1.35</a:t>
            </a:r>
            <a:endParaRPr/>
          </a:p>
          <a:p>
            <a:pPr indent="0" lvl="0" marL="0" rtl="0" algn="l">
              <a:spcBef>
                <a:spcPts val="1000"/>
              </a:spcBef>
              <a:spcAft>
                <a:spcPts val="0"/>
              </a:spcAft>
              <a:buNone/>
            </a:pPr>
            <a:r>
              <a:rPr lang="en-GB"/>
              <a:t>For </a:t>
            </a:r>
            <a:r>
              <a:rPr lang="en-GB"/>
              <a:t>example,</a:t>
            </a:r>
            <a:endParaRPr/>
          </a:p>
          <a:p>
            <a:pPr indent="0" lvl="0" marL="0" rtl="0" algn="l">
              <a:spcBef>
                <a:spcPts val="1000"/>
              </a:spcBef>
              <a:spcAft>
                <a:spcPts val="0"/>
              </a:spcAft>
              <a:buNone/>
            </a:pPr>
            <a:r>
              <a:rPr lang="en-GB"/>
              <a:t>Decreasing any number by 59% we simply multiply by 0.41</a:t>
            </a:r>
            <a:endParaRPr/>
          </a:p>
          <a:p>
            <a:pPr indent="0" lvl="0" marL="0" rtl="0" algn="l">
              <a:spcBef>
                <a:spcPts val="1000"/>
              </a:spcBef>
              <a:spcAft>
                <a:spcPts val="1000"/>
              </a:spcAft>
              <a:buNone/>
            </a:pPr>
            <a:r>
              <a:t/>
            </a:r>
            <a:endParaRPr/>
          </a:p>
        </p:txBody>
      </p:sp>
      <p:sp>
        <p:nvSpPr>
          <p:cNvPr id="1480" name="Google Shape;148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481" name="Google Shape;1481;p94"/>
          <p:cNvSpPr txBox="1"/>
          <p:nvPr/>
        </p:nvSpPr>
        <p:spPr>
          <a:xfrm>
            <a:off x="6873108" y="1678000"/>
            <a:ext cx="73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1.35</a:t>
            </a:r>
            <a:endParaRPr sz="1800">
              <a:solidFill>
                <a:srgbClr val="000000"/>
              </a:solidFill>
              <a:latin typeface="Lexend"/>
              <a:ea typeface="Lexend"/>
              <a:cs typeface="Lexend"/>
              <a:sym typeface="Lexend"/>
            </a:endParaRPr>
          </a:p>
        </p:txBody>
      </p:sp>
      <p:sp>
        <p:nvSpPr>
          <p:cNvPr id="1482" name="Google Shape;1482;p94"/>
          <p:cNvSpPr txBox="1"/>
          <p:nvPr/>
        </p:nvSpPr>
        <p:spPr>
          <a:xfrm>
            <a:off x="6510801" y="2146975"/>
            <a:ext cx="758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483" name="Google Shape;1483;p94"/>
          <p:cNvSpPr txBox="1"/>
          <p:nvPr/>
        </p:nvSpPr>
        <p:spPr>
          <a:xfrm>
            <a:off x="7681551" y="2133800"/>
            <a:ext cx="621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484" name="Google Shape;1484;p94"/>
          <p:cNvSpPr/>
          <p:nvPr/>
        </p:nvSpPr>
        <p:spPr>
          <a:xfrm>
            <a:off x="6760407" y="1954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5" name="Google Shape;1485;p94"/>
          <p:cNvSpPr txBox="1"/>
          <p:nvPr/>
        </p:nvSpPr>
        <p:spPr>
          <a:xfrm>
            <a:off x="6881581" y="3563843"/>
            <a:ext cx="805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0.41</a:t>
            </a:r>
            <a:endParaRPr sz="1800">
              <a:solidFill>
                <a:srgbClr val="000000"/>
              </a:solidFill>
              <a:latin typeface="Lexend"/>
              <a:ea typeface="Lexend"/>
              <a:cs typeface="Lexend"/>
              <a:sym typeface="Lexend"/>
            </a:endParaRPr>
          </a:p>
        </p:txBody>
      </p:sp>
      <p:sp>
        <p:nvSpPr>
          <p:cNvPr id="1486" name="Google Shape;1486;p94"/>
          <p:cNvSpPr txBox="1"/>
          <p:nvPr/>
        </p:nvSpPr>
        <p:spPr>
          <a:xfrm>
            <a:off x="6429393" y="4032812"/>
            <a:ext cx="62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41%</a:t>
            </a:r>
            <a:endParaRPr sz="1800">
              <a:solidFill>
                <a:srgbClr val="000000"/>
              </a:solidFill>
              <a:latin typeface="Lexend"/>
              <a:ea typeface="Lexend"/>
              <a:cs typeface="Lexend"/>
              <a:sym typeface="Lexend"/>
            </a:endParaRPr>
          </a:p>
        </p:txBody>
      </p:sp>
      <p:sp>
        <p:nvSpPr>
          <p:cNvPr id="1487" name="Google Shape;1487;p94"/>
          <p:cNvSpPr txBox="1"/>
          <p:nvPr/>
        </p:nvSpPr>
        <p:spPr>
          <a:xfrm>
            <a:off x="7793493" y="4019643"/>
            <a:ext cx="64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488" name="Google Shape;1488;p94"/>
          <p:cNvSpPr/>
          <p:nvPr/>
        </p:nvSpPr>
        <p:spPr>
          <a:xfrm flipH="1">
            <a:off x="6652702" y="3867424"/>
            <a:ext cx="1348800" cy="220500"/>
          </a:xfrm>
          <a:prstGeom prst="arc">
            <a:avLst>
              <a:gd fmla="val 10729459" name="adj1"/>
              <a:gd fmla="val 21575383"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pic>
        <p:nvPicPr>
          <p:cNvPr id="1493" name="Google Shape;1493;p95"/>
          <p:cNvPicPr preferRelativeResize="0"/>
          <p:nvPr/>
        </p:nvPicPr>
        <p:blipFill rotWithShape="1">
          <a:blip r:embed="rId3">
            <a:alphaModFix/>
          </a:blip>
          <a:srcRect b="6172" l="40550" r="0" t="13240"/>
          <a:stretch/>
        </p:blipFill>
        <p:spPr>
          <a:xfrm>
            <a:off x="1390650" y="2439875"/>
            <a:ext cx="4513172" cy="1236276"/>
          </a:xfrm>
          <a:prstGeom prst="rect">
            <a:avLst/>
          </a:prstGeom>
          <a:noFill/>
          <a:ln>
            <a:noFill/>
          </a:ln>
        </p:spPr>
      </p:pic>
      <p:pic>
        <p:nvPicPr>
          <p:cNvPr id="1494" name="Google Shape;1494;p95"/>
          <p:cNvPicPr preferRelativeResize="0"/>
          <p:nvPr/>
        </p:nvPicPr>
        <p:blipFill rotWithShape="1">
          <a:blip r:embed="rId3">
            <a:alphaModFix/>
          </a:blip>
          <a:srcRect b="6172" l="40550" r="0" t="13240"/>
          <a:stretch/>
        </p:blipFill>
        <p:spPr>
          <a:xfrm>
            <a:off x="1428575" y="810000"/>
            <a:ext cx="4205251" cy="970925"/>
          </a:xfrm>
          <a:prstGeom prst="rect">
            <a:avLst/>
          </a:prstGeom>
          <a:noFill/>
          <a:ln>
            <a:noFill/>
          </a:ln>
        </p:spPr>
      </p:pic>
      <p:sp>
        <p:nvSpPr>
          <p:cNvPr id="1495" name="Google Shape;1495;p95"/>
          <p:cNvSpPr txBox="1"/>
          <p:nvPr>
            <p:ph idx="1" type="body"/>
          </p:nvPr>
        </p:nvSpPr>
        <p:spPr>
          <a:xfrm>
            <a:off x="1896050" y="926325"/>
            <a:ext cx="3606600" cy="78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When I increase, I add the percentage as a decimal to 1</a:t>
            </a:r>
            <a:endParaRPr sz="1900"/>
          </a:p>
          <a:p>
            <a:pPr indent="0" lvl="0" marL="0" rtl="0" algn="l">
              <a:spcBef>
                <a:spcPts val="1000"/>
              </a:spcBef>
              <a:spcAft>
                <a:spcPts val="1000"/>
              </a:spcAft>
              <a:buNone/>
            </a:pPr>
            <a:r>
              <a:t/>
            </a:r>
            <a:endParaRPr/>
          </a:p>
        </p:txBody>
      </p:sp>
      <p:sp>
        <p:nvSpPr>
          <p:cNvPr id="1496" name="Google Shape;1496;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497" name="Google Shape;1497;p95"/>
          <p:cNvSpPr txBox="1"/>
          <p:nvPr/>
        </p:nvSpPr>
        <p:spPr>
          <a:xfrm>
            <a:off x="6881581" y="3563843"/>
            <a:ext cx="805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0.41</a:t>
            </a:r>
            <a:endParaRPr sz="1800">
              <a:solidFill>
                <a:srgbClr val="000000"/>
              </a:solidFill>
              <a:latin typeface="Lexend"/>
              <a:ea typeface="Lexend"/>
              <a:cs typeface="Lexend"/>
              <a:sym typeface="Lexend"/>
            </a:endParaRPr>
          </a:p>
        </p:txBody>
      </p:sp>
      <p:sp>
        <p:nvSpPr>
          <p:cNvPr id="1498" name="Google Shape;1498;p95"/>
          <p:cNvSpPr txBox="1"/>
          <p:nvPr/>
        </p:nvSpPr>
        <p:spPr>
          <a:xfrm>
            <a:off x="6429393" y="4032812"/>
            <a:ext cx="62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41%</a:t>
            </a:r>
            <a:endParaRPr sz="1800">
              <a:solidFill>
                <a:srgbClr val="000000"/>
              </a:solidFill>
              <a:latin typeface="Lexend"/>
              <a:ea typeface="Lexend"/>
              <a:cs typeface="Lexend"/>
              <a:sym typeface="Lexend"/>
            </a:endParaRPr>
          </a:p>
        </p:txBody>
      </p:sp>
      <p:sp>
        <p:nvSpPr>
          <p:cNvPr id="1499" name="Google Shape;1499;p95"/>
          <p:cNvSpPr txBox="1"/>
          <p:nvPr/>
        </p:nvSpPr>
        <p:spPr>
          <a:xfrm>
            <a:off x="7793493" y="4019643"/>
            <a:ext cx="64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00" name="Google Shape;1500;p95"/>
          <p:cNvSpPr txBox="1"/>
          <p:nvPr/>
        </p:nvSpPr>
        <p:spPr>
          <a:xfrm>
            <a:off x="6315475" y="782900"/>
            <a:ext cx="2383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Increasing by 35% we multiply by 1.35</a:t>
            </a:r>
            <a:endParaRPr sz="1000"/>
          </a:p>
        </p:txBody>
      </p:sp>
      <p:sp>
        <p:nvSpPr>
          <p:cNvPr id="1501" name="Google Shape;1501;p95"/>
          <p:cNvSpPr txBox="1"/>
          <p:nvPr/>
        </p:nvSpPr>
        <p:spPr>
          <a:xfrm>
            <a:off x="6873108" y="1678000"/>
            <a:ext cx="73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1.35</a:t>
            </a:r>
            <a:endParaRPr sz="1800">
              <a:solidFill>
                <a:srgbClr val="000000"/>
              </a:solidFill>
              <a:latin typeface="Lexend"/>
              <a:ea typeface="Lexend"/>
              <a:cs typeface="Lexend"/>
              <a:sym typeface="Lexend"/>
            </a:endParaRPr>
          </a:p>
        </p:txBody>
      </p:sp>
      <p:sp>
        <p:nvSpPr>
          <p:cNvPr id="1502" name="Google Shape;1502;p95"/>
          <p:cNvSpPr txBox="1"/>
          <p:nvPr/>
        </p:nvSpPr>
        <p:spPr>
          <a:xfrm>
            <a:off x="6510801" y="2146975"/>
            <a:ext cx="758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03" name="Google Shape;1503;p95"/>
          <p:cNvSpPr txBox="1"/>
          <p:nvPr/>
        </p:nvSpPr>
        <p:spPr>
          <a:xfrm>
            <a:off x="7681551" y="2133800"/>
            <a:ext cx="621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504" name="Google Shape;1504;p95"/>
          <p:cNvSpPr/>
          <p:nvPr/>
        </p:nvSpPr>
        <p:spPr>
          <a:xfrm>
            <a:off x="6760407" y="1954482"/>
            <a:ext cx="10686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5" name="Google Shape;1505;p95"/>
          <p:cNvSpPr txBox="1"/>
          <p:nvPr/>
        </p:nvSpPr>
        <p:spPr>
          <a:xfrm>
            <a:off x="6315475" y="2840300"/>
            <a:ext cx="2383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De</a:t>
            </a:r>
            <a:r>
              <a:rPr lang="en-GB" sz="1800">
                <a:solidFill>
                  <a:schemeClr val="dk1"/>
                </a:solidFill>
                <a:latin typeface="Lexend"/>
                <a:ea typeface="Lexend"/>
                <a:cs typeface="Lexend"/>
                <a:sym typeface="Lexend"/>
              </a:rPr>
              <a:t>creasing by 59% we multiply by 0.41</a:t>
            </a:r>
            <a:endParaRPr sz="1000"/>
          </a:p>
        </p:txBody>
      </p:sp>
      <p:sp>
        <p:nvSpPr>
          <p:cNvPr id="1506" name="Google Shape;1506;p95"/>
          <p:cNvSpPr/>
          <p:nvPr/>
        </p:nvSpPr>
        <p:spPr>
          <a:xfrm>
            <a:off x="6089750" y="760825"/>
            <a:ext cx="2618400" cy="1810800"/>
          </a:xfrm>
          <a:prstGeom prst="rect">
            <a:avLst/>
          </a:prstGeom>
          <a:no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7" name="Google Shape;1507;p95"/>
          <p:cNvSpPr/>
          <p:nvPr/>
        </p:nvSpPr>
        <p:spPr>
          <a:xfrm>
            <a:off x="6100347" y="2615950"/>
            <a:ext cx="2618400" cy="1810800"/>
          </a:xfrm>
          <a:prstGeom prst="rect">
            <a:avLst/>
          </a:prstGeom>
          <a:no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8" name="Google Shape;1508;p95"/>
          <p:cNvSpPr txBox="1"/>
          <p:nvPr>
            <p:ph idx="1" type="body"/>
          </p:nvPr>
        </p:nvSpPr>
        <p:spPr>
          <a:xfrm>
            <a:off x="1896050" y="2606050"/>
            <a:ext cx="3878400" cy="72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When I decrease, I subtract the percentage as a decimal from 1</a:t>
            </a:r>
            <a:endParaRPr sz="1900"/>
          </a:p>
          <a:p>
            <a:pPr indent="0" lvl="0" marL="0" rtl="0" algn="l">
              <a:spcBef>
                <a:spcPts val="1000"/>
              </a:spcBef>
              <a:spcAft>
                <a:spcPts val="1000"/>
              </a:spcAft>
              <a:buNone/>
            </a:pPr>
            <a:r>
              <a:t/>
            </a:r>
            <a:endParaRPr/>
          </a:p>
        </p:txBody>
      </p:sp>
      <p:sp>
        <p:nvSpPr>
          <p:cNvPr id="1509" name="Google Shape;1509;p95"/>
          <p:cNvSpPr txBox="1"/>
          <p:nvPr>
            <p:ph idx="1" type="body"/>
          </p:nvPr>
        </p:nvSpPr>
        <p:spPr>
          <a:xfrm>
            <a:off x="324000" y="4069750"/>
            <a:ext cx="5580600" cy="40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Can you explain why this works?</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a:p>
        </p:txBody>
      </p:sp>
      <p:pic>
        <p:nvPicPr>
          <p:cNvPr id="1510" name="Google Shape;1510;p95"/>
          <p:cNvPicPr preferRelativeResize="0"/>
          <p:nvPr/>
        </p:nvPicPr>
        <p:blipFill>
          <a:blip r:embed="rId4">
            <a:alphaModFix/>
          </a:blip>
          <a:stretch>
            <a:fillRect/>
          </a:stretch>
        </p:blipFill>
        <p:spPr>
          <a:xfrm>
            <a:off x="819150" y="883093"/>
            <a:ext cx="623346" cy="1177024"/>
          </a:xfrm>
          <a:prstGeom prst="rect">
            <a:avLst/>
          </a:prstGeom>
          <a:noFill/>
          <a:ln>
            <a:noFill/>
          </a:ln>
        </p:spPr>
      </p:pic>
      <p:sp>
        <p:nvSpPr>
          <p:cNvPr id="1511" name="Google Shape;1511;p95"/>
          <p:cNvSpPr txBox="1"/>
          <p:nvPr/>
        </p:nvSpPr>
        <p:spPr>
          <a:xfrm>
            <a:off x="749475" y="2133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512" name="Google Shape;1512;p95"/>
          <p:cNvPicPr preferRelativeResize="0"/>
          <p:nvPr/>
        </p:nvPicPr>
        <p:blipFill>
          <a:blip r:embed="rId5">
            <a:alphaModFix/>
          </a:blip>
          <a:stretch>
            <a:fillRect/>
          </a:stretch>
        </p:blipFill>
        <p:spPr>
          <a:xfrm flipH="1">
            <a:off x="742322" y="2699988"/>
            <a:ext cx="777007" cy="896096"/>
          </a:xfrm>
          <a:prstGeom prst="rect">
            <a:avLst/>
          </a:prstGeom>
          <a:noFill/>
          <a:ln>
            <a:noFill/>
          </a:ln>
        </p:spPr>
      </p:pic>
      <p:sp>
        <p:nvSpPr>
          <p:cNvPr id="1513" name="Google Shape;1513;p95"/>
          <p:cNvSpPr txBox="1"/>
          <p:nvPr/>
        </p:nvSpPr>
        <p:spPr>
          <a:xfrm>
            <a:off x="749475" y="36761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sp>
        <p:nvSpPr>
          <p:cNvPr id="1514" name="Google Shape;1514;p95"/>
          <p:cNvSpPr/>
          <p:nvPr/>
        </p:nvSpPr>
        <p:spPr>
          <a:xfrm>
            <a:off x="6760407" y="1954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5" name="Google Shape;1515;p95"/>
          <p:cNvSpPr/>
          <p:nvPr/>
        </p:nvSpPr>
        <p:spPr>
          <a:xfrm flipH="1">
            <a:off x="6836607" y="3859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pic>
        <p:nvPicPr>
          <p:cNvPr id="1520" name="Google Shape;1520;p96"/>
          <p:cNvPicPr preferRelativeResize="0"/>
          <p:nvPr/>
        </p:nvPicPr>
        <p:blipFill rotWithShape="1">
          <a:blip r:embed="rId3">
            <a:alphaModFix/>
          </a:blip>
          <a:srcRect b="6172" l="40550" r="0" t="13240"/>
          <a:stretch/>
        </p:blipFill>
        <p:spPr>
          <a:xfrm>
            <a:off x="1428575" y="810000"/>
            <a:ext cx="4205251" cy="992474"/>
          </a:xfrm>
          <a:prstGeom prst="rect">
            <a:avLst/>
          </a:prstGeom>
          <a:noFill/>
          <a:ln>
            <a:noFill/>
          </a:ln>
        </p:spPr>
      </p:pic>
      <p:sp>
        <p:nvSpPr>
          <p:cNvPr id="1521" name="Google Shape;1521;p96"/>
          <p:cNvSpPr txBox="1"/>
          <p:nvPr>
            <p:ph idx="1" type="body"/>
          </p:nvPr>
        </p:nvSpPr>
        <p:spPr>
          <a:xfrm>
            <a:off x="1896050" y="926325"/>
            <a:ext cx="3606600" cy="69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When I increase, I add the percentage as a decimal to 1</a:t>
            </a:r>
            <a:endParaRPr/>
          </a:p>
        </p:txBody>
      </p:sp>
      <p:sp>
        <p:nvSpPr>
          <p:cNvPr id="1522" name="Google Shape;1522;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523" name="Google Shape;1523;p96"/>
          <p:cNvSpPr txBox="1"/>
          <p:nvPr/>
        </p:nvSpPr>
        <p:spPr>
          <a:xfrm>
            <a:off x="6881581" y="3563843"/>
            <a:ext cx="805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0.41</a:t>
            </a:r>
            <a:endParaRPr sz="1800">
              <a:solidFill>
                <a:srgbClr val="000000"/>
              </a:solidFill>
              <a:latin typeface="Lexend"/>
              <a:ea typeface="Lexend"/>
              <a:cs typeface="Lexend"/>
              <a:sym typeface="Lexend"/>
            </a:endParaRPr>
          </a:p>
        </p:txBody>
      </p:sp>
      <p:sp>
        <p:nvSpPr>
          <p:cNvPr id="1524" name="Google Shape;1524;p96"/>
          <p:cNvSpPr txBox="1"/>
          <p:nvPr/>
        </p:nvSpPr>
        <p:spPr>
          <a:xfrm>
            <a:off x="6429393" y="4032812"/>
            <a:ext cx="62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41%</a:t>
            </a:r>
            <a:endParaRPr sz="1800">
              <a:solidFill>
                <a:srgbClr val="000000"/>
              </a:solidFill>
              <a:latin typeface="Lexend"/>
              <a:ea typeface="Lexend"/>
              <a:cs typeface="Lexend"/>
              <a:sym typeface="Lexend"/>
            </a:endParaRPr>
          </a:p>
        </p:txBody>
      </p:sp>
      <p:sp>
        <p:nvSpPr>
          <p:cNvPr id="1525" name="Google Shape;1525;p96"/>
          <p:cNvSpPr txBox="1"/>
          <p:nvPr/>
        </p:nvSpPr>
        <p:spPr>
          <a:xfrm>
            <a:off x="7793493" y="4019643"/>
            <a:ext cx="64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26" name="Google Shape;1526;p96"/>
          <p:cNvSpPr txBox="1"/>
          <p:nvPr/>
        </p:nvSpPr>
        <p:spPr>
          <a:xfrm>
            <a:off x="6315475" y="782900"/>
            <a:ext cx="2383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Increasing by 35% we multiply by 1.35</a:t>
            </a:r>
            <a:endParaRPr sz="1000"/>
          </a:p>
        </p:txBody>
      </p:sp>
      <p:sp>
        <p:nvSpPr>
          <p:cNvPr id="1527" name="Google Shape;1527;p96"/>
          <p:cNvSpPr txBox="1"/>
          <p:nvPr/>
        </p:nvSpPr>
        <p:spPr>
          <a:xfrm>
            <a:off x="6873108" y="1678000"/>
            <a:ext cx="73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1.35</a:t>
            </a:r>
            <a:endParaRPr sz="1800">
              <a:solidFill>
                <a:srgbClr val="000000"/>
              </a:solidFill>
              <a:latin typeface="Lexend"/>
              <a:ea typeface="Lexend"/>
              <a:cs typeface="Lexend"/>
              <a:sym typeface="Lexend"/>
            </a:endParaRPr>
          </a:p>
        </p:txBody>
      </p:sp>
      <p:sp>
        <p:nvSpPr>
          <p:cNvPr id="1528" name="Google Shape;1528;p96"/>
          <p:cNvSpPr txBox="1"/>
          <p:nvPr/>
        </p:nvSpPr>
        <p:spPr>
          <a:xfrm>
            <a:off x="6510801" y="2146975"/>
            <a:ext cx="758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29" name="Google Shape;1529;p96"/>
          <p:cNvSpPr txBox="1"/>
          <p:nvPr/>
        </p:nvSpPr>
        <p:spPr>
          <a:xfrm>
            <a:off x="7681551" y="2133800"/>
            <a:ext cx="621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530" name="Google Shape;1530;p96"/>
          <p:cNvSpPr/>
          <p:nvPr/>
        </p:nvSpPr>
        <p:spPr>
          <a:xfrm>
            <a:off x="6760407" y="1954482"/>
            <a:ext cx="10686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1" name="Google Shape;1531;p96"/>
          <p:cNvSpPr txBox="1"/>
          <p:nvPr/>
        </p:nvSpPr>
        <p:spPr>
          <a:xfrm>
            <a:off x="6315475" y="2840300"/>
            <a:ext cx="2383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Decreasing by 59% we multiply by 0.41</a:t>
            </a:r>
            <a:endParaRPr sz="1000"/>
          </a:p>
        </p:txBody>
      </p:sp>
      <p:sp>
        <p:nvSpPr>
          <p:cNvPr id="1532" name="Google Shape;1532;p96"/>
          <p:cNvSpPr/>
          <p:nvPr/>
        </p:nvSpPr>
        <p:spPr>
          <a:xfrm>
            <a:off x="6089750" y="760825"/>
            <a:ext cx="2618400" cy="1810800"/>
          </a:xfrm>
          <a:prstGeom prst="rect">
            <a:avLst/>
          </a:prstGeom>
          <a:no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3" name="Google Shape;1533;p96"/>
          <p:cNvSpPr/>
          <p:nvPr/>
        </p:nvSpPr>
        <p:spPr>
          <a:xfrm>
            <a:off x="6100347" y="2615950"/>
            <a:ext cx="2618400" cy="1810800"/>
          </a:xfrm>
          <a:prstGeom prst="rect">
            <a:avLst/>
          </a:prstGeom>
          <a:no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534" name="Google Shape;1534;p96"/>
          <p:cNvPicPr preferRelativeResize="0"/>
          <p:nvPr/>
        </p:nvPicPr>
        <p:blipFill>
          <a:blip r:embed="rId4">
            <a:alphaModFix/>
          </a:blip>
          <a:stretch>
            <a:fillRect/>
          </a:stretch>
        </p:blipFill>
        <p:spPr>
          <a:xfrm>
            <a:off x="819150" y="883093"/>
            <a:ext cx="623346" cy="1177024"/>
          </a:xfrm>
          <a:prstGeom prst="rect">
            <a:avLst/>
          </a:prstGeom>
          <a:noFill/>
          <a:ln>
            <a:noFill/>
          </a:ln>
        </p:spPr>
      </p:pic>
      <p:sp>
        <p:nvSpPr>
          <p:cNvPr id="1535" name="Google Shape;1535;p96"/>
          <p:cNvSpPr txBox="1"/>
          <p:nvPr/>
        </p:nvSpPr>
        <p:spPr>
          <a:xfrm>
            <a:off x="749475" y="21332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sp>
        <p:nvSpPr>
          <p:cNvPr id="1536" name="Google Shape;1536;p96"/>
          <p:cNvSpPr txBox="1"/>
          <p:nvPr>
            <p:ph idx="1" type="body"/>
          </p:nvPr>
        </p:nvSpPr>
        <p:spPr>
          <a:xfrm>
            <a:off x="324000" y="2571625"/>
            <a:ext cx="5580600" cy="134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latin typeface="Kalam"/>
                <a:ea typeface="Kalam"/>
                <a:cs typeface="Kalam"/>
                <a:sym typeface="Kalam"/>
              </a:rPr>
              <a:t>The original amount is always 100% or 1 as a decimal, so increasing any amount by any percentage simply means you are adding the decimal equivalent to 1</a:t>
            </a:r>
            <a:r>
              <a:rPr lang="en-GB" sz="1900"/>
              <a:t>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a:p>
        </p:txBody>
      </p:sp>
      <p:sp>
        <p:nvSpPr>
          <p:cNvPr id="1537" name="Google Shape;1537;p96"/>
          <p:cNvSpPr/>
          <p:nvPr/>
        </p:nvSpPr>
        <p:spPr>
          <a:xfrm>
            <a:off x="6760407" y="1954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8" name="Google Shape;1538;p96"/>
          <p:cNvSpPr/>
          <p:nvPr/>
        </p:nvSpPr>
        <p:spPr>
          <a:xfrm flipH="1">
            <a:off x="6836607" y="3859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pic>
        <p:nvPicPr>
          <p:cNvPr id="1543" name="Google Shape;1543;p97"/>
          <p:cNvPicPr preferRelativeResize="0"/>
          <p:nvPr/>
        </p:nvPicPr>
        <p:blipFill rotWithShape="1">
          <a:blip r:embed="rId3">
            <a:alphaModFix/>
          </a:blip>
          <a:srcRect b="6172" l="40550" r="0" t="13240"/>
          <a:stretch/>
        </p:blipFill>
        <p:spPr>
          <a:xfrm>
            <a:off x="1450950" y="2519775"/>
            <a:ext cx="4205251" cy="952300"/>
          </a:xfrm>
          <a:prstGeom prst="rect">
            <a:avLst/>
          </a:prstGeom>
          <a:noFill/>
          <a:ln>
            <a:noFill/>
          </a:ln>
        </p:spPr>
      </p:pic>
      <p:sp>
        <p:nvSpPr>
          <p:cNvPr id="1544" name="Google Shape;1544;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545" name="Google Shape;1545;p97"/>
          <p:cNvSpPr txBox="1"/>
          <p:nvPr/>
        </p:nvSpPr>
        <p:spPr>
          <a:xfrm>
            <a:off x="6881581" y="3563843"/>
            <a:ext cx="8055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0.41</a:t>
            </a:r>
            <a:endParaRPr sz="1800">
              <a:solidFill>
                <a:srgbClr val="000000"/>
              </a:solidFill>
              <a:latin typeface="Lexend"/>
              <a:ea typeface="Lexend"/>
              <a:cs typeface="Lexend"/>
              <a:sym typeface="Lexend"/>
            </a:endParaRPr>
          </a:p>
        </p:txBody>
      </p:sp>
      <p:sp>
        <p:nvSpPr>
          <p:cNvPr id="1546" name="Google Shape;1546;p97"/>
          <p:cNvSpPr txBox="1"/>
          <p:nvPr/>
        </p:nvSpPr>
        <p:spPr>
          <a:xfrm>
            <a:off x="6429393" y="4032812"/>
            <a:ext cx="62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41%</a:t>
            </a:r>
            <a:endParaRPr sz="1800">
              <a:solidFill>
                <a:srgbClr val="000000"/>
              </a:solidFill>
              <a:latin typeface="Lexend"/>
              <a:ea typeface="Lexend"/>
              <a:cs typeface="Lexend"/>
              <a:sym typeface="Lexend"/>
            </a:endParaRPr>
          </a:p>
        </p:txBody>
      </p:sp>
      <p:sp>
        <p:nvSpPr>
          <p:cNvPr id="1547" name="Google Shape;1547;p97"/>
          <p:cNvSpPr txBox="1"/>
          <p:nvPr/>
        </p:nvSpPr>
        <p:spPr>
          <a:xfrm>
            <a:off x="7793493" y="4019643"/>
            <a:ext cx="64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48" name="Google Shape;1548;p97"/>
          <p:cNvSpPr txBox="1"/>
          <p:nvPr/>
        </p:nvSpPr>
        <p:spPr>
          <a:xfrm>
            <a:off x="6315475" y="782900"/>
            <a:ext cx="2383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Increasing by 35% we multiply by 1.35</a:t>
            </a:r>
            <a:endParaRPr sz="1000"/>
          </a:p>
        </p:txBody>
      </p:sp>
      <p:sp>
        <p:nvSpPr>
          <p:cNvPr id="1549" name="Google Shape;1549;p97"/>
          <p:cNvSpPr txBox="1"/>
          <p:nvPr/>
        </p:nvSpPr>
        <p:spPr>
          <a:xfrm>
            <a:off x="6873108" y="1678000"/>
            <a:ext cx="732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 1.35</a:t>
            </a:r>
            <a:endParaRPr sz="1800">
              <a:solidFill>
                <a:srgbClr val="000000"/>
              </a:solidFill>
              <a:latin typeface="Lexend"/>
              <a:ea typeface="Lexend"/>
              <a:cs typeface="Lexend"/>
              <a:sym typeface="Lexend"/>
            </a:endParaRPr>
          </a:p>
        </p:txBody>
      </p:sp>
      <p:sp>
        <p:nvSpPr>
          <p:cNvPr id="1550" name="Google Shape;1550;p97"/>
          <p:cNvSpPr txBox="1"/>
          <p:nvPr/>
        </p:nvSpPr>
        <p:spPr>
          <a:xfrm>
            <a:off x="6510801" y="2146975"/>
            <a:ext cx="758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100%</a:t>
            </a:r>
            <a:endParaRPr sz="1800">
              <a:solidFill>
                <a:srgbClr val="000000"/>
              </a:solidFill>
              <a:latin typeface="Lexend"/>
              <a:ea typeface="Lexend"/>
              <a:cs typeface="Lexend"/>
              <a:sym typeface="Lexend"/>
            </a:endParaRPr>
          </a:p>
        </p:txBody>
      </p:sp>
      <p:sp>
        <p:nvSpPr>
          <p:cNvPr id="1551" name="Google Shape;1551;p97"/>
          <p:cNvSpPr txBox="1"/>
          <p:nvPr/>
        </p:nvSpPr>
        <p:spPr>
          <a:xfrm>
            <a:off x="7681551" y="2133800"/>
            <a:ext cx="6213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552" name="Google Shape;1552;p97"/>
          <p:cNvSpPr/>
          <p:nvPr/>
        </p:nvSpPr>
        <p:spPr>
          <a:xfrm>
            <a:off x="6760407" y="1954482"/>
            <a:ext cx="1068600" cy="321300"/>
          </a:xfrm>
          <a:prstGeom prst="arc">
            <a:avLst>
              <a:gd fmla="val 10729459" name="adj1"/>
              <a:gd fmla="val 472" name="adj2"/>
            </a:avLst>
          </a:prstGeom>
          <a:noFill/>
          <a:ln cap="flat" cmpd="sng" w="1905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3" name="Google Shape;1553;p97"/>
          <p:cNvSpPr txBox="1"/>
          <p:nvPr/>
        </p:nvSpPr>
        <p:spPr>
          <a:xfrm>
            <a:off x="6315475" y="2840300"/>
            <a:ext cx="23835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Decreasing by 59% we multiply by 0.41</a:t>
            </a:r>
            <a:endParaRPr sz="1000"/>
          </a:p>
        </p:txBody>
      </p:sp>
      <p:sp>
        <p:nvSpPr>
          <p:cNvPr id="1554" name="Google Shape;1554;p97"/>
          <p:cNvSpPr/>
          <p:nvPr/>
        </p:nvSpPr>
        <p:spPr>
          <a:xfrm>
            <a:off x="6089750" y="760825"/>
            <a:ext cx="2618400" cy="1810800"/>
          </a:xfrm>
          <a:prstGeom prst="rect">
            <a:avLst/>
          </a:prstGeom>
          <a:no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5" name="Google Shape;1555;p97"/>
          <p:cNvSpPr/>
          <p:nvPr/>
        </p:nvSpPr>
        <p:spPr>
          <a:xfrm>
            <a:off x="6100347" y="2615950"/>
            <a:ext cx="2618400" cy="1810800"/>
          </a:xfrm>
          <a:prstGeom prst="rect">
            <a:avLst/>
          </a:prstGeom>
          <a:noFill/>
          <a:ln cap="flat" cmpd="sng" w="952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6" name="Google Shape;1556;p97"/>
          <p:cNvSpPr txBox="1"/>
          <p:nvPr>
            <p:ph idx="1" type="body"/>
          </p:nvPr>
        </p:nvSpPr>
        <p:spPr>
          <a:xfrm>
            <a:off x="1896050" y="2606050"/>
            <a:ext cx="3878400" cy="780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When I decrease, I subtract the percen</a:t>
            </a:r>
            <a:r>
              <a:rPr lang="en-GB" sz="1900"/>
              <a:t>t</a:t>
            </a:r>
            <a:r>
              <a:rPr lang="en-GB" sz="1900"/>
              <a:t>age as a decimal from 1</a:t>
            </a:r>
            <a:endParaRPr sz="1900"/>
          </a:p>
          <a:p>
            <a:pPr indent="0" lvl="0" marL="0" rtl="0" algn="l">
              <a:spcBef>
                <a:spcPts val="1000"/>
              </a:spcBef>
              <a:spcAft>
                <a:spcPts val="1000"/>
              </a:spcAft>
              <a:buNone/>
            </a:pPr>
            <a:r>
              <a:t/>
            </a:r>
            <a:endParaRPr/>
          </a:p>
        </p:txBody>
      </p:sp>
      <p:pic>
        <p:nvPicPr>
          <p:cNvPr id="1557" name="Google Shape;1557;p97"/>
          <p:cNvPicPr preferRelativeResize="0"/>
          <p:nvPr/>
        </p:nvPicPr>
        <p:blipFill>
          <a:blip r:embed="rId4">
            <a:alphaModFix/>
          </a:blip>
          <a:stretch>
            <a:fillRect/>
          </a:stretch>
        </p:blipFill>
        <p:spPr>
          <a:xfrm flipH="1">
            <a:off x="742322" y="2699988"/>
            <a:ext cx="777007" cy="896096"/>
          </a:xfrm>
          <a:prstGeom prst="rect">
            <a:avLst/>
          </a:prstGeom>
          <a:noFill/>
          <a:ln>
            <a:noFill/>
          </a:ln>
        </p:spPr>
      </p:pic>
      <p:sp>
        <p:nvSpPr>
          <p:cNvPr id="1558" name="Google Shape;1558;p97"/>
          <p:cNvSpPr txBox="1"/>
          <p:nvPr/>
        </p:nvSpPr>
        <p:spPr>
          <a:xfrm>
            <a:off x="749475" y="36761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sp>
        <p:nvSpPr>
          <p:cNvPr id="1559" name="Google Shape;1559;p97"/>
          <p:cNvSpPr txBox="1"/>
          <p:nvPr>
            <p:ph idx="1" type="body"/>
          </p:nvPr>
        </p:nvSpPr>
        <p:spPr>
          <a:xfrm>
            <a:off x="405250" y="810000"/>
            <a:ext cx="5580600" cy="1349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latin typeface="Kalam"/>
                <a:ea typeface="Kalam"/>
                <a:cs typeface="Kalam"/>
                <a:sym typeface="Kalam"/>
              </a:rPr>
              <a:t>The original amount is always 100% or 1 as a decimal, so decreasing any amount by any percentage simply means you are subtracting the decimal equivalent from 1</a:t>
            </a:r>
            <a:r>
              <a:rPr lang="en-GB" sz="1900"/>
              <a:t> </a:t>
            </a:r>
            <a:endParaRPr sz="1900"/>
          </a:p>
          <a:p>
            <a:pPr indent="0" lvl="0" marL="0" rtl="0" algn="l">
              <a:spcBef>
                <a:spcPts val="1000"/>
              </a:spcBef>
              <a:spcAft>
                <a:spcPts val="0"/>
              </a:spcAft>
              <a:buNone/>
            </a:pPr>
            <a:r>
              <a:t/>
            </a:r>
            <a:endParaRPr sz="1900"/>
          </a:p>
          <a:p>
            <a:pPr indent="0" lvl="0" marL="0" rtl="0" algn="l">
              <a:spcBef>
                <a:spcPts val="1000"/>
              </a:spcBef>
              <a:spcAft>
                <a:spcPts val="1000"/>
              </a:spcAft>
              <a:buNone/>
            </a:pPr>
            <a:r>
              <a:t/>
            </a:r>
            <a:endParaRPr/>
          </a:p>
        </p:txBody>
      </p:sp>
      <p:sp>
        <p:nvSpPr>
          <p:cNvPr id="1560" name="Google Shape;1560;p97"/>
          <p:cNvSpPr/>
          <p:nvPr/>
        </p:nvSpPr>
        <p:spPr>
          <a:xfrm>
            <a:off x="6760407" y="1954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1" name="Google Shape;1561;p97"/>
          <p:cNvSpPr/>
          <p:nvPr/>
        </p:nvSpPr>
        <p:spPr>
          <a:xfrm flipH="1">
            <a:off x="6836607" y="3859482"/>
            <a:ext cx="1068600" cy="321300"/>
          </a:xfrm>
          <a:prstGeom prst="arc">
            <a:avLst>
              <a:gd fmla="val 10729459" name="adj1"/>
              <a:gd fmla="val 472" name="adj2"/>
            </a:avLst>
          </a:prstGeom>
          <a:noFill/>
          <a:ln cap="flat" cmpd="sng" w="19050">
            <a:solidFill>
              <a:schemeClr val="accent2"/>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9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a:t>Identify the multiplier when any number is:</a:t>
            </a:r>
            <a:endParaRPr/>
          </a:p>
          <a:p>
            <a:pPr indent="-368300" lvl="0" marL="457200" rtl="0" algn="l">
              <a:lnSpc>
                <a:spcPct val="150000"/>
              </a:lnSpc>
              <a:spcBef>
                <a:spcPts val="1000"/>
              </a:spcBef>
              <a:spcAft>
                <a:spcPts val="0"/>
              </a:spcAft>
              <a:buSzPts val="2200"/>
              <a:buAutoNum type="alphaLcParenR"/>
            </a:pPr>
            <a:r>
              <a:rPr lang="en-GB"/>
              <a:t>Increased by 40%</a:t>
            </a:r>
            <a:endParaRPr/>
          </a:p>
          <a:p>
            <a:pPr indent="-368300" lvl="0" marL="457200" rtl="0" algn="l">
              <a:lnSpc>
                <a:spcPct val="150000"/>
              </a:lnSpc>
              <a:spcBef>
                <a:spcPts val="0"/>
              </a:spcBef>
              <a:spcAft>
                <a:spcPts val="0"/>
              </a:spcAft>
              <a:buSzPts val="2200"/>
              <a:buAutoNum type="alphaLcParenR"/>
            </a:pPr>
            <a:r>
              <a:rPr lang="en-GB"/>
              <a:t>Decreased by 34%</a:t>
            </a:r>
            <a:endParaRPr/>
          </a:p>
          <a:p>
            <a:pPr indent="-368300" lvl="0" marL="457200" rtl="0" algn="l">
              <a:lnSpc>
                <a:spcPct val="150000"/>
              </a:lnSpc>
              <a:spcBef>
                <a:spcPts val="0"/>
              </a:spcBef>
              <a:spcAft>
                <a:spcPts val="0"/>
              </a:spcAft>
              <a:buSzPts val="2200"/>
              <a:buAutoNum type="alphaLcParenR"/>
            </a:pPr>
            <a:r>
              <a:rPr lang="en-GB"/>
              <a:t>Increased by 78%</a:t>
            </a:r>
            <a:endParaRPr/>
          </a:p>
          <a:p>
            <a:pPr indent="-368300" lvl="0" marL="457200" rtl="0" algn="l">
              <a:lnSpc>
                <a:spcPct val="150000"/>
              </a:lnSpc>
              <a:spcBef>
                <a:spcPts val="0"/>
              </a:spcBef>
              <a:spcAft>
                <a:spcPts val="0"/>
              </a:spcAft>
              <a:buSzPts val="2200"/>
              <a:buAutoNum type="alphaLcParenR"/>
            </a:pPr>
            <a:r>
              <a:rPr lang="en-GB"/>
              <a:t>Decreased by 16%</a:t>
            </a:r>
            <a:endParaRPr/>
          </a:p>
          <a:p>
            <a:pPr indent="-368300" lvl="0" marL="457200" rtl="0" algn="l">
              <a:lnSpc>
                <a:spcPct val="150000"/>
              </a:lnSpc>
              <a:spcBef>
                <a:spcPts val="0"/>
              </a:spcBef>
              <a:spcAft>
                <a:spcPts val="0"/>
              </a:spcAft>
              <a:buSzPts val="2200"/>
              <a:buAutoNum type="alphaLcParenR"/>
            </a:pPr>
            <a:r>
              <a:rPr lang="en-GB"/>
              <a:t>Increased by 4%</a:t>
            </a:r>
            <a:endParaRPr/>
          </a:p>
          <a:p>
            <a:pPr indent="-368300" lvl="0" marL="457200" rtl="0" algn="l">
              <a:lnSpc>
                <a:spcPct val="150000"/>
              </a:lnSpc>
              <a:spcBef>
                <a:spcPts val="0"/>
              </a:spcBef>
              <a:spcAft>
                <a:spcPts val="0"/>
              </a:spcAft>
              <a:buSzPts val="2200"/>
              <a:buAutoNum type="alphaLcParenR"/>
            </a:pPr>
            <a:r>
              <a:rPr lang="en-GB"/>
              <a:t>Increased by 8%</a:t>
            </a:r>
            <a:endParaRPr/>
          </a:p>
          <a:p>
            <a:pPr indent="-368300" lvl="0" marL="457200" rtl="0" algn="l">
              <a:lnSpc>
                <a:spcPct val="150000"/>
              </a:lnSpc>
              <a:spcBef>
                <a:spcPts val="0"/>
              </a:spcBef>
              <a:spcAft>
                <a:spcPts val="0"/>
              </a:spcAft>
              <a:buSzPts val="2200"/>
              <a:buAutoNum type="alphaLcParenR"/>
            </a:pPr>
            <a:r>
              <a:rPr lang="en-GB"/>
              <a:t>Decreased by 3.2% </a:t>
            </a:r>
            <a:endParaRPr/>
          </a:p>
        </p:txBody>
      </p:sp>
      <p:sp>
        <p:nvSpPr>
          <p:cNvPr id="1567" name="Google Shape;1567;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568" name="Google Shape;1568;p98"/>
          <p:cNvSpPr txBox="1"/>
          <p:nvPr/>
        </p:nvSpPr>
        <p:spPr>
          <a:xfrm>
            <a:off x="3171600" y="12796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1.4</a:t>
            </a:r>
            <a:endParaRPr>
              <a:latin typeface="Kalam"/>
              <a:ea typeface="Kalam"/>
              <a:cs typeface="Kalam"/>
              <a:sym typeface="Kalam"/>
            </a:endParaRPr>
          </a:p>
        </p:txBody>
      </p:sp>
      <p:sp>
        <p:nvSpPr>
          <p:cNvPr id="1569" name="Google Shape;1569;p98"/>
          <p:cNvSpPr txBox="1"/>
          <p:nvPr/>
        </p:nvSpPr>
        <p:spPr>
          <a:xfrm>
            <a:off x="3171600" y="18130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0.66</a:t>
            </a:r>
            <a:endParaRPr>
              <a:latin typeface="Kalam"/>
              <a:ea typeface="Kalam"/>
              <a:cs typeface="Kalam"/>
              <a:sym typeface="Kalam"/>
            </a:endParaRPr>
          </a:p>
        </p:txBody>
      </p:sp>
      <p:sp>
        <p:nvSpPr>
          <p:cNvPr id="1570" name="Google Shape;1570;p98"/>
          <p:cNvSpPr txBox="1"/>
          <p:nvPr/>
        </p:nvSpPr>
        <p:spPr>
          <a:xfrm>
            <a:off x="3171600" y="23464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1.78</a:t>
            </a:r>
            <a:endParaRPr>
              <a:latin typeface="Kalam"/>
              <a:ea typeface="Kalam"/>
              <a:cs typeface="Kalam"/>
              <a:sym typeface="Kalam"/>
            </a:endParaRPr>
          </a:p>
        </p:txBody>
      </p:sp>
      <p:sp>
        <p:nvSpPr>
          <p:cNvPr id="1571" name="Google Shape;1571;p98"/>
          <p:cNvSpPr txBox="1"/>
          <p:nvPr/>
        </p:nvSpPr>
        <p:spPr>
          <a:xfrm>
            <a:off x="3171600" y="28473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0.84</a:t>
            </a:r>
            <a:endParaRPr>
              <a:latin typeface="Kalam"/>
              <a:ea typeface="Kalam"/>
              <a:cs typeface="Kalam"/>
              <a:sym typeface="Kalam"/>
            </a:endParaRPr>
          </a:p>
        </p:txBody>
      </p:sp>
      <p:sp>
        <p:nvSpPr>
          <p:cNvPr id="1572" name="Google Shape;1572;p98"/>
          <p:cNvSpPr txBox="1"/>
          <p:nvPr/>
        </p:nvSpPr>
        <p:spPr>
          <a:xfrm>
            <a:off x="3171600" y="33444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1.04</a:t>
            </a:r>
            <a:endParaRPr>
              <a:latin typeface="Kalam"/>
              <a:ea typeface="Kalam"/>
              <a:cs typeface="Kalam"/>
              <a:sym typeface="Kalam"/>
            </a:endParaRPr>
          </a:p>
        </p:txBody>
      </p:sp>
      <p:sp>
        <p:nvSpPr>
          <p:cNvPr id="1573" name="Google Shape;1573;p98"/>
          <p:cNvSpPr txBox="1"/>
          <p:nvPr/>
        </p:nvSpPr>
        <p:spPr>
          <a:xfrm>
            <a:off x="3171600" y="3841200"/>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1.08</a:t>
            </a:r>
            <a:endParaRPr>
              <a:latin typeface="Kalam"/>
              <a:ea typeface="Kalam"/>
              <a:cs typeface="Kalam"/>
              <a:sym typeface="Kalam"/>
            </a:endParaRPr>
          </a:p>
        </p:txBody>
      </p:sp>
      <p:sp>
        <p:nvSpPr>
          <p:cNvPr id="1574" name="Google Shape;1574;p98"/>
          <p:cNvSpPr txBox="1"/>
          <p:nvPr/>
        </p:nvSpPr>
        <p:spPr>
          <a:xfrm>
            <a:off x="3171600" y="4319993"/>
            <a:ext cx="1613700" cy="5232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1000"/>
              </a:spcAft>
              <a:buNone/>
            </a:pPr>
            <a:r>
              <a:rPr lang="en-GB" sz="2200">
                <a:solidFill>
                  <a:schemeClr val="dk1"/>
                </a:solidFill>
                <a:latin typeface="Kalam"/>
                <a:ea typeface="Kalam"/>
                <a:cs typeface="Kalam"/>
                <a:sym typeface="Kalam"/>
              </a:rPr>
              <a:t>× 0.968</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99"/>
          <p:cNvSpPr txBox="1"/>
          <p:nvPr>
            <p:ph idx="1" type="body"/>
          </p:nvPr>
        </p:nvSpPr>
        <p:spPr>
          <a:xfrm>
            <a:off x="324000" y="759300"/>
            <a:ext cx="8237700" cy="49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Pair up the statement with the calculation and the answer.</a:t>
            </a:r>
            <a:endParaRPr/>
          </a:p>
        </p:txBody>
      </p:sp>
      <p:sp>
        <p:nvSpPr>
          <p:cNvPr id="1580" name="Google Shape;1580;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581" name="Google Shape;1581;p99"/>
          <p:cNvSpPr/>
          <p:nvPr/>
        </p:nvSpPr>
        <p:spPr>
          <a:xfrm>
            <a:off x="274556" y="1252799"/>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Increase</a:t>
            </a:r>
            <a:r>
              <a:rPr b="0" i="0" lang="en-GB" sz="1800" u="none" cap="none" strike="noStrike">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400 by </a:t>
            </a:r>
            <a:r>
              <a:rPr b="0" i="0" lang="en-GB" sz="1800" u="none" cap="none" strike="noStrike">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0</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sp>
        <p:nvSpPr>
          <p:cNvPr id="1582" name="Google Shape;1582;p99"/>
          <p:cNvSpPr/>
          <p:nvPr/>
        </p:nvSpPr>
        <p:spPr>
          <a:xfrm>
            <a:off x="274556" y="1864058"/>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600 by </a:t>
            </a:r>
            <a:r>
              <a:rPr lang="en-GB" sz="1800">
                <a:solidFill>
                  <a:schemeClr val="dk1"/>
                </a:solidFill>
                <a:latin typeface="Lexend"/>
                <a:ea typeface="Lexend"/>
                <a:cs typeface="Lexend"/>
                <a:sym typeface="Lexend"/>
              </a:rPr>
              <a:t>25</a:t>
            </a:r>
            <a:r>
              <a:rPr b="0" i="0" lang="en-GB" sz="1800" u="none" cap="none" strike="noStrike">
                <a:solidFill>
                  <a:schemeClr val="dk1"/>
                </a:solidFill>
                <a:latin typeface="Lexend"/>
                <a:ea typeface="Lexend"/>
                <a:cs typeface="Lexend"/>
                <a:sym typeface="Lexend"/>
              </a:rPr>
              <a:t>%</a:t>
            </a:r>
            <a:endParaRPr b="0" i="0" sz="1800" u="none" cap="none" strike="noStrike">
              <a:solidFill>
                <a:schemeClr val="dk1"/>
              </a:solidFill>
              <a:latin typeface="Lexend"/>
              <a:ea typeface="Lexend"/>
              <a:cs typeface="Lexend"/>
              <a:sym typeface="Lexend"/>
            </a:endParaRPr>
          </a:p>
        </p:txBody>
      </p:sp>
      <p:sp>
        <p:nvSpPr>
          <p:cNvPr id="1583" name="Google Shape;1583;p99"/>
          <p:cNvSpPr/>
          <p:nvPr/>
        </p:nvSpPr>
        <p:spPr>
          <a:xfrm>
            <a:off x="283833" y="2486583"/>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Work out 75% of 600</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584" name="Google Shape;1584;p99"/>
          <p:cNvSpPr/>
          <p:nvPr/>
        </p:nvSpPr>
        <p:spPr>
          <a:xfrm>
            <a:off x="283833" y="3105794"/>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GB" sz="1800" u="none" cap="none" strike="noStrike">
                <a:solidFill>
                  <a:schemeClr val="dk1"/>
                </a:solidFill>
                <a:latin typeface="Lexend"/>
                <a:ea typeface="Lexend"/>
                <a:cs typeface="Lexend"/>
                <a:sym typeface="Lexend"/>
              </a:rPr>
              <a:t>Decrease </a:t>
            </a:r>
            <a:r>
              <a:rPr lang="en-GB" sz="1800">
                <a:solidFill>
                  <a:schemeClr val="dk1"/>
                </a:solidFill>
                <a:latin typeface="Lexend"/>
                <a:ea typeface="Lexend"/>
                <a:cs typeface="Lexend"/>
                <a:sym typeface="Lexend"/>
              </a:rPr>
              <a:t>400</a:t>
            </a:r>
            <a:r>
              <a:rPr b="0" i="0" lang="en-GB" sz="1800" u="none" cap="none" strike="noStrike">
                <a:solidFill>
                  <a:schemeClr val="dk1"/>
                </a:solidFill>
                <a:latin typeface="Lexend"/>
                <a:ea typeface="Lexend"/>
                <a:cs typeface="Lexend"/>
                <a:sym typeface="Lexend"/>
              </a:rPr>
              <a:t> by </a:t>
            </a:r>
            <a:r>
              <a:rPr lang="en-GB" sz="1800">
                <a:solidFill>
                  <a:schemeClr val="dk1"/>
                </a:solidFill>
                <a:latin typeface="Lexend"/>
                <a:ea typeface="Lexend"/>
                <a:cs typeface="Lexend"/>
                <a:sym typeface="Lexend"/>
              </a:rPr>
              <a:t>80</a:t>
            </a:r>
            <a:r>
              <a:rPr b="0" i="0" lang="en-GB" sz="1800" u="none" cap="none" strike="noStrike">
                <a:solidFill>
                  <a:schemeClr val="dk1"/>
                </a:solidFill>
                <a:latin typeface="Lexend"/>
                <a:ea typeface="Lexend"/>
                <a:cs typeface="Lexend"/>
                <a:sym typeface="Lexend"/>
              </a:rPr>
              <a:t>%</a:t>
            </a:r>
            <a:endParaRPr b="0" i="0" sz="1800" u="none" cap="none" strike="noStrike">
              <a:solidFill>
                <a:schemeClr val="dk1"/>
              </a:solidFill>
              <a:latin typeface="Lexend"/>
              <a:ea typeface="Lexend"/>
              <a:cs typeface="Lexend"/>
              <a:sym typeface="Lexend"/>
            </a:endParaRPr>
          </a:p>
        </p:txBody>
      </p:sp>
      <p:sp>
        <p:nvSpPr>
          <p:cNvPr id="1585" name="Google Shape;1585;p99"/>
          <p:cNvSpPr/>
          <p:nvPr/>
        </p:nvSpPr>
        <p:spPr>
          <a:xfrm>
            <a:off x="283835" y="3765750"/>
            <a:ext cx="2926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Work out 20% of 400</a:t>
            </a:r>
            <a:endParaRPr b="0" i="0" sz="1800" u="none" cap="none" strike="noStrike">
              <a:solidFill>
                <a:schemeClr val="dk1"/>
              </a:solidFill>
              <a:latin typeface="Lexend"/>
              <a:ea typeface="Lexend"/>
              <a:cs typeface="Lexend"/>
              <a:sym typeface="Lexend"/>
            </a:endParaRPr>
          </a:p>
        </p:txBody>
      </p:sp>
      <p:sp>
        <p:nvSpPr>
          <p:cNvPr id="1586" name="Google Shape;1586;p99"/>
          <p:cNvSpPr/>
          <p:nvPr/>
        </p:nvSpPr>
        <p:spPr>
          <a:xfrm>
            <a:off x="3799416" y="1856437"/>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600 × 0.75</a:t>
            </a:r>
            <a:endParaRPr b="0" i="0" sz="1800" u="none" cap="none" strike="noStrike">
              <a:solidFill>
                <a:schemeClr val="dk1"/>
              </a:solidFill>
              <a:latin typeface="Lexend"/>
              <a:ea typeface="Lexend"/>
              <a:cs typeface="Lexend"/>
              <a:sym typeface="Lexend"/>
            </a:endParaRPr>
          </a:p>
        </p:txBody>
      </p:sp>
      <p:sp>
        <p:nvSpPr>
          <p:cNvPr id="1587" name="Google Shape;1587;p99"/>
          <p:cNvSpPr/>
          <p:nvPr/>
        </p:nvSpPr>
        <p:spPr>
          <a:xfrm>
            <a:off x="3799416" y="2467696"/>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400 × 1.8</a:t>
            </a:r>
            <a:endParaRPr b="0" i="0" sz="1800" u="none" cap="none" strike="noStrike">
              <a:solidFill>
                <a:schemeClr val="dk1"/>
              </a:solidFill>
              <a:latin typeface="Lexend"/>
              <a:ea typeface="Lexend"/>
              <a:cs typeface="Lexend"/>
              <a:sym typeface="Lexend"/>
            </a:endParaRPr>
          </a:p>
        </p:txBody>
      </p:sp>
      <p:sp>
        <p:nvSpPr>
          <p:cNvPr id="1588" name="Google Shape;1588;p99"/>
          <p:cNvSpPr/>
          <p:nvPr/>
        </p:nvSpPr>
        <p:spPr>
          <a:xfrm>
            <a:off x="3808693" y="3090221"/>
            <a:ext cx="27882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400 × 0.2  </a:t>
            </a:r>
            <a:endParaRPr b="0" i="0" sz="1800" u="none" cap="none" strike="noStrike">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t/>
            </a:r>
            <a:endParaRPr b="0" i="0" sz="1800" u="none" cap="none" strike="noStrike">
              <a:solidFill>
                <a:schemeClr val="dk1"/>
              </a:solidFill>
              <a:latin typeface="Lexend"/>
              <a:ea typeface="Lexend"/>
              <a:cs typeface="Lexend"/>
              <a:sym typeface="Lexend"/>
            </a:endParaRPr>
          </a:p>
        </p:txBody>
      </p:sp>
      <p:sp>
        <p:nvSpPr>
          <p:cNvPr id="1589" name="Google Shape;1589;p99"/>
          <p:cNvSpPr/>
          <p:nvPr/>
        </p:nvSpPr>
        <p:spPr>
          <a:xfrm>
            <a:off x="7023572" y="1850812"/>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latin typeface="Lexend"/>
                <a:ea typeface="Lexend"/>
                <a:cs typeface="Lexend"/>
                <a:sym typeface="Lexend"/>
              </a:rPr>
              <a:t>80</a:t>
            </a:r>
            <a:endParaRPr b="0" i="0" sz="1800" u="none" cap="none" strike="noStrike">
              <a:solidFill>
                <a:schemeClr val="dk1"/>
              </a:solidFill>
              <a:latin typeface="Lexend"/>
              <a:ea typeface="Lexend"/>
              <a:cs typeface="Lexend"/>
              <a:sym typeface="Lexend"/>
            </a:endParaRPr>
          </a:p>
        </p:txBody>
      </p:sp>
      <p:sp>
        <p:nvSpPr>
          <p:cNvPr id="1590" name="Google Shape;1590;p99"/>
          <p:cNvSpPr/>
          <p:nvPr/>
        </p:nvSpPr>
        <p:spPr>
          <a:xfrm>
            <a:off x="7023572" y="2462071"/>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720</a:t>
            </a:r>
            <a:r>
              <a:rPr b="0" i="0" lang="en-GB" sz="1800" u="none" cap="none" strike="noStrike">
                <a:solidFill>
                  <a:schemeClr val="dk1"/>
                </a:solidFill>
                <a:latin typeface="Lexend"/>
                <a:ea typeface="Lexend"/>
                <a:cs typeface="Lexend"/>
                <a:sym typeface="Lexend"/>
              </a:rPr>
              <a:t> </a:t>
            </a:r>
            <a:endParaRPr b="0" i="0" sz="1800" u="none" cap="none" strike="noStrike">
              <a:solidFill>
                <a:schemeClr val="dk1"/>
              </a:solidFill>
              <a:latin typeface="Lexend"/>
              <a:ea typeface="Lexend"/>
              <a:cs typeface="Lexend"/>
              <a:sym typeface="Lexend"/>
            </a:endParaRPr>
          </a:p>
        </p:txBody>
      </p:sp>
      <p:sp>
        <p:nvSpPr>
          <p:cNvPr id="1591" name="Google Shape;1591;p99"/>
          <p:cNvSpPr/>
          <p:nvPr/>
        </p:nvSpPr>
        <p:spPr>
          <a:xfrm>
            <a:off x="7032849" y="3084596"/>
            <a:ext cx="1578300" cy="515100"/>
          </a:xfrm>
          <a:prstGeom prst="roundRect">
            <a:avLst>
              <a:gd fmla="val 16667" name="adj"/>
            </a:avLst>
          </a:prstGeom>
          <a:solidFill>
            <a:schemeClr val="lt1"/>
          </a:solidFill>
          <a:ln cap="flat" cmpd="sng" w="25400">
            <a:solidFill>
              <a:srgbClr val="506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GB" sz="1800">
                <a:solidFill>
                  <a:schemeClr val="dk1"/>
                </a:solidFill>
                <a:latin typeface="Lexend"/>
                <a:ea typeface="Lexend"/>
                <a:cs typeface="Lexend"/>
                <a:sym typeface="Lexend"/>
              </a:rPr>
              <a:t>450</a:t>
            </a:r>
            <a:endParaRPr b="0" i="0" sz="1800" u="none" cap="none" strike="noStrike">
              <a:solidFill>
                <a:schemeClr val="dk1"/>
              </a:solidFill>
              <a:latin typeface="Lexend"/>
              <a:ea typeface="Lexend"/>
              <a:cs typeface="Lexend"/>
              <a:sym typeface="Lexend"/>
            </a:endParaRPr>
          </a:p>
        </p:txBody>
      </p:sp>
      <p:cxnSp>
        <p:nvCxnSpPr>
          <p:cNvPr id="1592" name="Google Shape;1592;p99"/>
          <p:cNvCxnSpPr>
            <a:stCxn id="1581" idx="3"/>
            <a:endCxn id="1587" idx="1"/>
          </p:cNvCxnSpPr>
          <p:nvPr/>
        </p:nvCxnSpPr>
        <p:spPr>
          <a:xfrm>
            <a:off x="3200756" y="1510349"/>
            <a:ext cx="598800" cy="1215000"/>
          </a:xfrm>
          <a:prstGeom prst="straightConnector1">
            <a:avLst/>
          </a:prstGeom>
          <a:noFill/>
          <a:ln cap="flat" cmpd="sng" w="28575">
            <a:solidFill>
              <a:schemeClr val="dk2"/>
            </a:solidFill>
            <a:prstDash val="solid"/>
            <a:round/>
            <a:headEnd len="med" w="med" type="none"/>
            <a:tailEnd len="med" w="med" type="none"/>
          </a:ln>
        </p:spPr>
      </p:cxnSp>
      <p:cxnSp>
        <p:nvCxnSpPr>
          <p:cNvPr id="1593" name="Google Shape;1593;p99"/>
          <p:cNvCxnSpPr>
            <a:endCxn id="1586" idx="1"/>
          </p:cNvCxnSpPr>
          <p:nvPr/>
        </p:nvCxnSpPr>
        <p:spPr>
          <a:xfrm flipH="1" rot="10800000">
            <a:off x="3200616" y="2113987"/>
            <a:ext cx="598800" cy="17400"/>
          </a:xfrm>
          <a:prstGeom prst="straightConnector1">
            <a:avLst/>
          </a:prstGeom>
          <a:noFill/>
          <a:ln cap="flat" cmpd="sng" w="28575">
            <a:solidFill>
              <a:schemeClr val="dk2"/>
            </a:solidFill>
            <a:prstDash val="solid"/>
            <a:round/>
            <a:headEnd len="med" w="med" type="none"/>
            <a:tailEnd len="med" w="med" type="none"/>
          </a:ln>
        </p:spPr>
      </p:cxnSp>
      <p:cxnSp>
        <p:nvCxnSpPr>
          <p:cNvPr id="1594" name="Google Shape;1594;p99"/>
          <p:cNvCxnSpPr>
            <a:endCxn id="1586" idx="1"/>
          </p:cNvCxnSpPr>
          <p:nvPr/>
        </p:nvCxnSpPr>
        <p:spPr>
          <a:xfrm flipH="1" rot="10800000">
            <a:off x="3200616" y="2113987"/>
            <a:ext cx="598800" cy="638700"/>
          </a:xfrm>
          <a:prstGeom prst="straightConnector1">
            <a:avLst/>
          </a:prstGeom>
          <a:noFill/>
          <a:ln cap="flat" cmpd="sng" w="28575">
            <a:solidFill>
              <a:schemeClr val="dk2"/>
            </a:solidFill>
            <a:prstDash val="solid"/>
            <a:round/>
            <a:headEnd len="med" w="med" type="none"/>
            <a:tailEnd len="med" w="med" type="none"/>
          </a:ln>
        </p:spPr>
      </p:cxnSp>
      <p:cxnSp>
        <p:nvCxnSpPr>
          <p:cNvPr id="1595" name="Google Shape;1595;p99"/>
          <p:cNvCxnSpPr/>
          <p:nvPr/>
        </p:nvCxnSpPr>
        <p:spPr>
          <a:xfrm flipH="1" rot="10800000">
            <a:off x="3200741" y="3365587"/>
            <a:ext cx="598800" cy="17400"/>
          </a:xfrm>
          <a:prstGeom prst="straightConnector1">
            <a:avLst/>
          </a:prstGeom>
          <a:noFill/>
          <a:ln cap="flat" cmpd="sng" w="28575">
            <a:solidFill>
              <a:schemeClr val="dk2"/>
            </a:solidFill>
            <a:prstDash val="solid"/>
            <a:round/>
            <a:headEnd len="med" w="med" type="none"/>
            <a:tailEnd len="med" w="med" type="none"/>
          </a:ln>
        </p:spPr>
      </p:cxnSp>
      <p:cxnSp>
        <p:nvCxnSpPr>
          <p:cNvPr id="1596" name="Google Shape;1596;p99"/>
          <p:cNvCxnSpPr>
            <a:stCxn id="1585" idx="3"/>
            <a:endCxn id="1588" idx="1"/>
          </p:cNvCxnSpPr>
          <p:nvPr/>
        </p:nvCxnSpPr>
        <p:spPr>
          <a:xfrm flipH="1" rot="10800000">
            <a:off x="3210035" y="3347700"/>
            <a:ext cx="598800" cy="675600"/>
          </a:xfrm>
          <a:prstGeom prst="straightConnector1">
            <a:avLst/>
          </a:prstGeom>
          <a:noFill/>
          <a:ln cap="flat" cmpd="sng" w="28575">
            <a:solidFill>
              <a:schemeClr val="dk2"/>
            </a:solidFill>
            <a:prstDash val="solid"/>
            <a:round/>
            <a:headEnd len="med" w="med" type="none"/>
            <a:tailEnd len="med" w="med" type="none"/>
          </a:ln>
        </p:spPr>
      </p:cxnSp>
      <p:cxnSp>
        <p:nvCxnSpPr>
          <p:cNvPr id="1597" name="Google Shape;1597;p99"/>
          <p:cNvCxnSpPr>
            <a:stCxn id="1586" idx="3"/>
            <a:endCxn id="1591" idx="1"/>
          </p:cNvCxnSpPr>
          <p:nvPr/>
        </p:nvCxnSpPr>
        <p:spPr>
          <a:xfrm>
            <a:off x="6587616" y="2113987"/>
            <a:ext cx="445200" cy="1228200"/>
          </a:xfrm>
          <a:prstGeom prst="straightConnector1">
            <a:avLst/>
          </a:prstGeom>
          <a:noFill/>
          <a:ln cap="flat" cmpd="sng" w="28575">
            <a:solidFill>
              <a:schemeClr val="dk2"/>
            </a:solidFill>
            <a:prstDash val="solid"/>
            <a:round/>
            <a:headEnd len="med" w="med" type="none"/>
            <a:tailEnd len="med" w="med" type="none"/>
          </a:ln>
        </p:spPr>
      </p:cxnSp>
      <p:cxnSp>
        <p:nvCxnSpPr>
          <p:cNvPr id="1598" name="Google Shape;1598;p99"/>
          <p:cNvCxnSpPr>
            <a:endCxn id="1590" idx="1"/>
          </p:cNvCxnSpPr>
          <p:nvPr/>
        </p:nvCxnSpPr>
        <p:spPr>
          <a:xfrm flipH="1" rot="10800000">
            <a:off x="6587672" y="2719621"/>
            <a:ext cx="435900" cy="14400"/>
          </a:xfrm>
          <a:prstGeom prst="straightConnector1">
            <a:avLst/>
          </a:prstGeom>
          <a:noFill/>
          <a:ln cap="flat" cmpd="sng" w="28575">
            <a:solidFill>
              <a:schemeClr val="dk2"/>
            </a:solidFill>
            <a:prstDash val="solid"/>
            <a:round/>
            <a:headEnd len="med" w="med" type="none"/>
            <a:tailEnd len="med" w="med" type="none"/>
          </a:ln>
        </p:spPr>
      </p:cxnSp>
      <p:cxnSp>
        <p:nvCxnSpPr>
          <p:cNvPr id="1599" name="Google Shape;1599;p99"/>
          <p:cNvCxnSpPr>
            <a:endCxn id="1589" idx="1"/>
          </p:cNvCxnSpPr>
          <p:nvPr/>
        </p:nvCxnSpPr>
        <p:spPr>
          <a:xfrm flipH="1" rot="10800000">
            <a:off x="6587672" y="2108362"/>
            <a:ext cx="435900" cy="12339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100"/>
          <p:cNvSpPr txBox="1"/>
          <p:nvPr>
            <p:ph idx="1" type="body"/>
          </p:nvPr>
        </p:nvSpPr>
        <p:spPr>
          <a:xfrm>
            <a:off x="324000" y="759300"/>
            <a:ext cx="8237700" cy="4530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Tick the calculations that correctly represent each </a:t>
            </a:r>
            <a:r>
              <a:rPr lang="en-GB" sz="1900"/>
              <a:t>statement.</a:t>
            </a:r>
            <a:endParaRPr sz="1900"/>
          </a:p>
          <a:p>
            <a:pPr indent="0" lvl="0" marL="457200" rtl="0" algn="l">
              <a:spcBef>
                <a:spcPts val="1000"/>
              </a:spcBef>
              <a:spcAft>
                <a:spcPts val="1000"/>
              </a:spcAft>
              <a:buNone/>
            </a:pPr>
            <a:r>
              <a:t/>
            </a:r>
            <a:endParaRPr/>
          </a:p>
        </p:txBody>
      </p:sp>
      <p:sp>
        <p:nvSpPr>
          <p:cNvPr id="1605" name="Google Shape;1605;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Mixed percentage change</a:t>
            </a:r>
            <a:endParaRPr/>
          </a:p>
        </p:txBody>
      </p:sp>
      <p:graphicFrame>
        <p:nvGraphicFramePr>
          <p:cNvPr id="1606" name="Google Shape;1606;p100"/>
          <p:cNvGraphicFramePr/>
          <p:nvPr/>
        </p:nvGraphicFramePr>
        <p:xfrm>
          <a:off x="758375" y="1212300"/>
          <a:ext cx="3000000" cy="3000000"/>
        </p:xfrm>
        <a:graphic>
          <a:graphicData uri="http://schemas.openxmlformats.org/drawingml/2006/table">
            <a:tbl>
              <a:tblPr>
                <a:noFill/>
                <a:tableStyleId>{681F5079-2932-4BF5-A27F-156CD3D16ADE}</a:tableStyleId>
              </a:tblPr>
              <a:tblGrid>
                <a:gridCol w="3367500"/>
                <a:gridCol w="2394575"/>
                <a:gridCol w="1928500"/>
              </a:tblGrid>
              <a:tr h="44175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Statement </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74CF1"/>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Calculation</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74CF1"/>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Tick</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74CF1"/>
                    </a:solidFill>
                  </a:tcPr>
                </a:tc>
              </a:tr>
              <a:tr h="370500">
                <a:tc>
                  <a:txBody>
                    <a:bodyPr/>
                    <a:lstStyle/>
                    <a:p>
                      <a:pPr indent="0" lvl="0" marL="0" rtl="0" algn="ctr">
                        <a:spcBef>
                          <a:spcPts val="0"/>
                        </a:spcBef>
                        <a:spcAft>
                          <a:spcPts val="0"/>
                        </a:spcAft>
                        <a:buNone/>
                      </a:pPr>
                      <a:r>
                        <a:rPr lang="en-GB" sz="1800">
                          <a:latin typeface="Lexend"/>
                          <a:ea typeface="Lexend"/>
                          <a:cs typeface="Lexend"/>
                          <a:sym typeface="Lexend"/>
                        </a:rPr>
                        <a:t>Increase £20 by 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 </a:t>
                      </a:r>
                      <a:r>
                        <a:rPr lang="en-GB" sz="1800">
                          <a:solidFill>
                            <a:schemeClr val="dk1"/>
                          </a:solidFill>
                          <a:latin typeface="Lexend"/>
                          <a:ea typeface="Lexend"/>
                          <a:cs typeface="Lexend"/>
                          <a:sym typeface="Lexend"/>
                        </a:rPr>
                        <a:t>× 1.35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Decrease £20 by 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 </a:t>
                      </a:r>
                      <a:r>
                        <a:rPr lang="en-GB" sz="1800">
                          <a:solidFill>
                            <a:schemeClr val="dk1"/>
                          </a:solidFill>
                          <a:latin typeface="Lexend"/>
                          <a:ea typeface="Lexend"/>
                          <a:cs typeface="Lexend"/>
                          <a:sym typeface="Lexend"/>
                        </a:rPr>
                        <a:t>× 0.35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Increase £35 by 20%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35 </a:t>
                      </a:r>
                      <a:r>
                        <a:rPr lang="en-GB" sz="1800">
                          <a:solidFill>
                            <a:schemeClr val="dk1"/>
                          </a:solidFill>
                          <a:latin typeface="Lexend"/>
                          <a:ea typeface="Lexend"/>
                          <a:cs typeface="Lexend"/>
                          <a:sym typeface="Lexend"/>
                        </a:rPr>
                        <a:t>× 0.2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Decrease £35 by 20%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35 </a:t>
                      </a:r>
                      <a:r>
                        <a:rPr lang="en-GB" sz="1800">
                          <a:solidFill>
                            <a:schemeClr val="dk1"/>
                          </a:solidFill>
                          <a:latin typeface="Lexend"/>
                          <a:ea typeface="Lexend"/>
                          <a:cs typeface="Lexend"/>
                          <a:sym typeface="Lexend"/>
                        </a:rPr>
                        <a:t>× 0.8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Increase £45 by 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 </a:t>
                      </a:r>
                      <a:r>
                        <a:rPr lang="en-GB" sz="1800">
                          <a:solidFill>
                            <a:schemeClr val="dk1"/>
                          </a:solidFill>
                          <a:latin typeface="Lexend"/>
                          <a:ea typeface="Lexend"/>
                          <a:cs typeface="Lexend"/>
                          <a:sym typeface="Lexend"/>
                        </a:rPr>
                        <a:t>× 1.1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Decrease £45 by 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 </a:t>
                      </a:r>
                      <a:r>
                        <a:rPr lang="en-GB" sz="1800">
                          <a:solidFill>
                            <a:schemeClr val="dk1"/>
                          </a:solidFill>
                          <a:latin typeface="Lexend"/>
                          <a:ea typeface="Lexend"/>
                          <a:cs typeface="Lexend"/>
                          <a:sym typeface="Lexend"/>
                        </a:rPr>
                        <a:t>× 0.99</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612" name="Google Shape;1612;p101"/>
          <p:cNvSpPr txBox="1"/>
          <p:nvPr>
            <p:ph idx="4294967295" type="body"/>
          </p:nvPr>
        </p:nvSpPr>
        <p:spPr>
          <a:xfrm>
            <a:off x="247799" y="683050"/>
            <a:ext cx="8207700" cy="11004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sz="1800"/>
              <a:t>2a</a:t>
            </a:r>
            <a:r>
              <a:rPr lang="en-GB" sz="1800"/>
              <a:t>) </a:t>
            </a:r>
            <a:r>
              <a:rPr lang="en-GB" sz="1800"/>
              <a:t>Aisha</a:t>
            </a:r>
            <a:r>
              <a:rPr lang="en-GB" sz="1800"/>
              <a:t> has £20 to buy a present for her dad. There is a sale on at the shop. Below are some items with their original prices and the discounts to be applied. Which of the items can she afford?</a:t>
            </a:r>
            <a:endParaRPr/>
          </a:p>
          <a:p>
            <a:pPr indent="0" lvl="0" marL="88900" rtl="0" algn="l">
              <a:lnSpc>
                <a:spcPct val="115000"/>
              </a:lnSpc>
              <a:spcBef>
                <a:spcPts val="0"/>
              </a:spcBef>
              <a:spcAft>
                <a:spcPts val="0"/>
              </a:spcAft>
              <a:buSzPts val="2200"/>
              <a:buNone/>
            </a:pPr>
            <a:r>
              <a:t/>
            </a:r>
            <a:endParaRPr/>
          </a:p>
        </p:txBody>
      </p:sp>
      <p:sp>
        <p:nvSpPr>
          <p:cNvPr id="1613" name="Google Shape;1613;p101"/>
          <p:cNvSpPr/>
          <p:nvPr/>
        </p:nvSpPr>
        <p:spPr>
          <a:xfrm rot="6748065">
            <a:off x="1473282" y="1905993"/>
            <a:ext cx="612648" cy="1397851"/>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01"/>
          <p:cNvSpPr/>
          <p:nvPr/>
        </p:nvSpPr>
        <p:spPr>
          <a:xfrm rot="6748065">
            <a:off x="3122639" y="1863304"/>
            <a:ext cx="612648" cy="1397851"/>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01"/>
          <p:cNvSpPr txBox="1"/>
          <p:nvPr/>
        </p:nvSpPr>
        <p:spPr>
          <a:xfrm>
            <a:off x="353475" y="1876321"/>
            <a:ext cx="12165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5400" u="none" cap="none" strike="noStrike">
                <a:solidFill>
                  <a:schemeClr val="dk1"/>
                </a:solidFill>
                <a:latin typeface="Lexend"/>
                <a:ea typeface="Lexend"/>
                <a:cs typeface="Lexend"/>
                <a:sym typeface="Lexend"/>
              </a:rPr>
              <a:t>🩳</a:t>
            </a:r>
            <a:endParaRPr b="0" i="0" sz="54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6" name="Google Shape;1616;p101"/>
          <p:cNvSpPr txBox="1"/>
          <p:nvPr/>
        </p:nvSpPr>
        <p:spPr>
          <a:xfrm>
            <a:off x="393882"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Shorts £30</a:t>
            </a:r>
            <a:endParaRPr b="0" i="0" sz="1800" u="none" cap="none" strike="noStrike">
              <a:solidFill>
                <a:srgbClr val="000000"/>
              </a:solidFill>
              <a:latin typeface="Lexend"/>
              <a:ea typeface="Lexend"/>
              <a:cs typeface="Lexend"/>
              <a:sym typeface="Lexend"/>
            </a:endParaRPr>
          </a:p>
        </p:txBody>
      </p:sp>
      <p:sp>
        <p:nvSpPr>
          <p:cNvPr id="1617" name="Google Shape;1617;p101"/>
          <p:cNvSpPr txBox="1"/>
          <p:nvPr/>
        </p:nvSpPr>
        <p:spPr>
          <a:xfrm>
            <a:off x="2362899" y="2035833"/>
            <a:ext cx="7713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GB" sz="4800" u="none" cap="none" strike="noStrike">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
        <p:nvSpPr>
          <p:cNvPr id="1618" name="Google Shape;1618;p101"/>
          <p:cNvSpPr txBox="1"/>
          <p:nvPr/>
        </p:nvSpPr>
        <p:spPr>
          <a:xfrm>
            <a:off x="24484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T-shirt £25</a:t>
            </a:r>
            <a:endParaRPr b="0" i="0" sz="1800" u="none" cap="none" strike="noStrike">
              <a:solidFill>
                <a:srgbClr val="000000"/>
              </a:solidFill>
              <a:latin typeface="Lexend"/>
              <a:ea typeface="Lexend"/>
              <a:cs typeface="Lexend"/>
              <a:sym typeface="Lexend"/>
            </a:endParaRPr>
          </a:p>
        </p:txBody>
      </p:sp>
      <p:sp>
        <p:nvSpPr>
          <p:cNvPr id="1619" name="Google Shape;1619;p101"/>
          <p:cNvSpPr txBox="1"/>
          <p:nvPr/>
        </p:nvSpPr>
        <p:spPr>
          <a:xfrm>
            <a:off x="266523" y="3621556"/>
            <a:ext cx="8430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b) For those she can’t afford, what discounts would she need so that she can afford any item in the shop</a:t>
            </a:r>
            <a:r>
              <a:rPr lang="en-GB" sz="1800">
                <a:latin typeface="Lexend"/>
                <a:ea typeface="Lexend"/>
                <a:cs typeface="Lexend"/>
                <a:sym typeface="Lexend"/>
              </a:rPr>
              <a:t>?</a:t>
            </a:r>
            <a:endParaRPr/>
          </a:p>
        </p:txBody>
      </p:sp>
      <p:sp>
        <p:nvSpPr>
          <p:cNvPr id="1620" name="Google Shape;1620;p101"/>
          <p:cNvSpPr txBox="1"/>
          <p:nvPr/>
        </p:nvSpPr>
        <p:spPr>
          <a:xfrm rot="1348065">
            <a:off x="1349633" y="2351997"/>
            <a:ext cx="1118281" cy="6126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10% off</a:t>
            </a:r>
            <a:endParaRPr sz="1800">
              <a:solidFill>
                <a:schemeClr val="dk1"/>
              </a:solidFill>
              <a:latin typeface="Lexend"/>
              <a:ea typeface="Lexend"/>
              <a:cs typeface="Lexend"/>
              <a:sym typeface="Lexend"/>
            </a:endParaRPr>
          </a:p>
        </p:txBody>
      </p:sp>
      <p:sp>
        <p:nvSpPr>
          <p:cNvPr id="1621" name="Google Shape;1621;p101"/>
          <p:cNvSpPr txBox="1"/>
          <p:nvPr/>
        </p:nvSpPr>
        <p:spPr>
          <a:xfrm rot="1348065">
            <a:off x="2987033" y="2321372"/>
            <a:ext cx="1118281" cy="6126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20% off</a:t>
            </a:r>
            <a:endParaRPr sz="1800">
              <a:solidFill>
                <a:schemeClr val="dk1"/>
              </a:solidFill>
              <a:latin typeface="Lexend"/>
              <a:ea typeface="Lexend"/>
              <a:cs typeface="Lexend"/>
              <a:sym typeface="Lexend"/>
            </a:endParaRPr>
          </a:p>
        </p:txBody>
      </p:sp>
      <p:sp>
        <p:nvSpPr>
          <p:cNvPr id="1622" name="Google Shape;1622;p101"/>
          <p:cNvSpPr/>
          <p:nvPr/>
        </p:nvSpPr>
        <p:spPr>
          <a:xfrm rot="8100000">
            <a:off x="6560598" y="2295184"/>
            <a:ext cx="612654" cy="1130082"/>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01"/>
          <p:cNvSpPr txBox="1"/>
          <p:nvPr/>
        </p:nvSpPr>
        <p:spPr>
          <a:xfrm>
            <a:off x="5614226" y="1908825"/>
            <a:ext cx="13188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lang="en-GB" sz="4800">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
        <p:nvSpPr>
          <p:cNvPr id="1624" name="Google Shape;1624;p101"/>
          <p:cNvSpPr txBox="1"/>
          <p:nvPr/>
        </p:nvSpPr>
        <p:spPr>
          <a:xfrm>
            <a:off x="41075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800">
                <a:latin typeface="Lexend"/>
                <a:ea typeface="Lexend"/>
                <a:cs typeface="Lexend"/>
                <a:sym typeface="Lexend"/>
              </a:rPr>
              <a:t>Jacket £50</a:t>
            </a:r>
            <a:endParaRPr b="0" i="0" sz="1800" u="none" cap="none" strike="noStrike">
              <a:solidFill>
                <a:srgbClr val="000000"/>
              </a:solidFill>
              <a:latin typeface="Lexend"/>
              <a:ea typeface="Lexend"/>
              <a:cs typeface="Lexend"/>
              <a:sym typeface="Lexend"/>
            </a:endParaRPr>
          </a:p>
        </p:txBody>
      </p:sp>
      <p:sp>
        <p:nvSpPr>
          <p:cNvPr id="1625" name="Google Shape;1625;p101"/>
          <p:cNvSpPr txBox="1"/>
          <p:nvPr/>
        </p:nvSpPr>
        <p:spPr>
          <a:xfrm>
            <a:off x="59363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800">
                <a:latin typeface="Lexend"/>
                <a:ea typeface="Lexend"/>
                <a:cs typeface="Lexend"/>
                <a:sym typeface="Lexend"/>
              </a:rPr>
              <a:t>Hat £22</a:t>
            </a:r>
            <a:endParaRPr b="0" i="0" sz="1800" u="none" cap="none" strike="noStrike">
              <a:solidFill>
                <a:srgbClr val="000000"/>
              </a:solidFill>
              <a:latin typeface="Lexend"/>
              <a:ea typeface="Lexend"/>
              <a:cs typeface="Lexend"/>
              <a:sym typeface="Lexend"/>
            </a:endParaRPr>
          </a:p>
        </p:txBody>
      </p:sp>
      <p:sp>
        <p:nvSpPr>
          <p:cNvPr id="1626" name="Google Shape;1626;p101"/>
          <p:cNvSpPr txBox="1"/>
          <p:nvPr/>
        </p:nvSpPr>
        <p:spPr>
          <a:xfrm>
            <a:off x="75365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800">
                <a:latin typeface="Lexend"/>
                <a:ea typeface="Lexend"/>
                <a:cs typeface="Lexend"/>
                <a:sym typeface="Lexend"/>
              </a:rPr>
              <a:t>Scarf</a:t>
            </a:r>
            <a:r>
              <a:rPr lang="en-GB" sz="1800">
                <a:latin typeface="Lexend"/>
                <a:ea typeface="Lexend"/>
                <a:cs typeface="Lexend"/>
                <a:sym typeface="Lexend"/>
              </a:rPr>
              <a:t> £22</a:t>
            </a:r>
            <a:endParaRPr b="0" i="0" sz="1800" u="none" cap="none" strike="noStrike">
              <a:solidFill>
                <a:srgbClr val="000000"/>
              </a:solidFill>
              <a:latin typeface="Lexend"/>
              <a:ea typeface="Lexend"/>
              <a:cs typeface="Lexend"/>
              <a:sym typeface="Lexend"/>
            </a:endParaRPr>
          </a:p>
        </p:txBody>
      </p:sp>
      <p:sp>
        <p:nvSpPr>
          <p:cNvPr id="1627" name="Google Shape;1627;p101"/>
          <p:cNvSpPr/>
          <p:nvPr/>
        </p:nvSpPr>
        <p:spPr>
          <a:xfrm rot="8100000">
            <a:off x="7960247" y="2524346"/>
            <a:ext cx="612651" cy="948853"/>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01"/>
          <p:cNvSpPr txBox="1"/>
          <p:nvPr/>
        </p:nvSpPr>
        <p:spPr>
          <a:xfrm rot="2699955">
            <a:off x="7524185" y="2714608"/>
            <a:ext cx="1555808" cy="61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lang="en-GB" sz="1800">
                <a:solidFill>
                  <a:schemeClr val="dk1"/>
                </a:solidFill>
                <a:latin typeface="Lexend"/>
                <a:ea typeface="Lexend"/>
                <a:cs typeface="Lexend"/>
                <a:sym typeface="Lexend"/>
              </a:rPr>
              <a:t>15</a:t>
            </a:r>
            <a:r>
              <a:rPr i="0" lang="en-GB" sz="1800" u="none" cap="none" strike="noStrike">
                <a:solidFill>
                  <a:schemeClr val="dk1"/>
                </a:solidFill>
                <a:latin typeface="Lexend"/>
                <a:ea typeface="Lexend"/>
                <a:cs typeface="Lexend"/>
                <a:sym typeface="Lexend"/>
              </a:rPr>
              <a:t>% off</a:t>
            </a:r>
            <a:endParaRPr sz="1800">
              <a:solidFill>
                <a:schemeClr val="dk1"/>
              </a:solidFill>
              <a:latin typeface="Lexend"/>
              <a:ea typeface="Lexend"/>
              <a:cs typeface="Lexend"/>
              <a:sym typeface="Lexend"/>
            </a:endParaRPr>
          </a:p>
        </p:txBody>
      </p:sp>
      <p:sp>
        <p:nvSpPr>
          <p:cNvPr id="1629" name="Google Shape;1629;p101"/>
          <p:cNvSpPr txBox="1"/>
          <p:nvPr/>
        </p:nvSpPr>
        <p:spPr>
          <a:xfrm rot="2699955">
            <a:off x="6128722" y="2580582"/>
            <a:ext cx="1555808" cy="61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50% off</a:t>
            </a:r>
            <a:endParaRPr sz="1800">
              <a:solidFill>
                <a:schemeClr val="dk1"/>
              </a:solidFill>
              <a:latin typeface="Lexend"/>
              <a:ea typeface="Lexend"/>
              <a:cs typeface="Lexend"/>
              <a:sym typeface="Lexend"/>
            </a:endParaRPr>
          </a:p>
        </p:txBody>
      </p:sp>
      <p:sp>
        <p:nvSpPr>
          <p:cNvPr id="1630" name="Google Shape;1630;p101"/>
          <p:cNvSpPr/>
          <p:nvPr/>
        </p:nvSpPr>
        <p:spPr>
          <a:xfrm rot="8100000">
            <a:off x="4960398" y="2218984"/>
            <a:ext cx="612654" cy="1130082"/>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01"/>
          <p:cNvSpPr txBox="1"/>
          <p:nvPr/>
        </p:nvSpPr>
        <p:spPr>
          <a:xfrm rot="2699955">
            <a:off x="4528522" y="2504382"/>
            <a:ext cx="1555808" cy="61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50% off</a:t>
            </a:r>
            <a:endParaRPr sz="1800">
              <a:solidFill>
                <a:schemeClr val="dk1"/>
              </a:solidFill>
              <a:latin typeface="Lexend"/>
              <a:ea typeface="Lexend"/>
              <a:cs typeface="Lexend"/>
              <a:sym typeface="Lexend"/>
            </a:endParaRPr>
          </a:p>
        </p:txBody>
      </p:sp>
      <p:sp>
        <p:nvSpPr>
          <p:cNvPr id="1632" name="Google Shape;1632;p101"/>
          <p:cNvSpPr txBox="1"/>
          <p:nvPr/>
        </p:nvSpPr>
        <p:spPr>
          <a:xfrm>
            <a:off x="3663302" y="2049300"/>
            <a:ext cx="20118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lang="en-GB" sz="4800">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
        <p:nvSpPr>
          <p:cNvPr id="1633" name="Google Shape;1633;p101"/>
          <p:cNvSpPr txBox="1"/>
          <p:nvPr/>
        </p:nvSpPr>
        <p:spPr>
          <a:xfrm rot="5400000">
            <a:off x="7155350" y="1985725"/>
            <a:ext cx="13188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lang="en-GB" sz="4800">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7" name="Shape 1637"/>
        <p:cNvGrpSpPr/>
        <p:nvPr/>
      </p:nvGrpSpPr>
      <p:grpSpPr>
        <a:xfrm>
          <a:off x="0" y="0"/>
          <a:ext cx="0" cy="0"/>
          <a:chOff x="0" y="0"/>
          <a:chExt cx="0" cy="0"/>
        </a:xfrm>
      </p:grpSpPr>
      <p:sp>
        <p:nvSpPr>
          <p:cNvPr id="1638" name="Google Shape;1638;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639" name="Google Shape;1639;p102"/>
          <p:cNvSpPr txBox="1"/>
          <p:nvPr>
            <p:ph idx="4294967295" type="body"/>
          </p:nvPr>
        </p:nvSpPr>
        <p:spPr>
          <a:xfrm>
            <a:off x="324011" y="720158"/>
            <a:ext cx="8207700" cy="5208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sz="1800"/>
              <a:t>3) </a:t>
            </a:r>
            <a:r>
              <a:rPr lang="en-GB" sz="1800"/>
              <a:t>Laura says,</a:t>
            </a:r>
            <a:endParaRPr sz="1800"/>
          </a:p>
          <a:p>
            <a:pPr indent="0" lvl="0" marL="88900" rtl="0" algn="l">
              <a:lnSpc>
                <a:spcPct val="115000"/>
              </a:lnSpc>
              <a:spcBef>
                <a:spcPts val="0"/>
              </a:spcBef>
              <a:spcAft>
                <a:spcPts val="0"/>
              </a:spcAft>
              <a:buSzPts val="2200"/>
              <a:buNone/>
            </a:pPr>
            <a:r>
              <a:rPr lang="en-GB" sz="1800"/>
              <a:t>“If you increase an amount by 13% and then decrease it by 13% you get the same value you started with.”</a:t>
            </a:r>
            <a:endParaRPr sz="1800"/>
          </a:p>
          <a:p>
            <a:pPr indent="0" lvl="0" marL="88900" rtl="0" algn="l">
              <a:lnSpc>
                <a:spcPct val="115000"/>
              </a:lnSpc>
              <a:spcBef>
                <a:spcPts val="0"/>
              </a:spcBef>
              <a:spcAft>
                <a:spcPts val="0"/>
              </a:spcAft>
              <a:buSzPts val="2200"/>
              <a:buNone/>
            </a:pPr>
            <a:r>
              <a:rPr lang="en-GB" sz="1800"/>
              <a:t>Explain whether Laura is correct.</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Tick the calculations that correctly represent each statement.</a:t>
            </a:r>
            <a:endParaRPr sz="1900"/>
          </a:p>
          <a:p>
            <a:pPr indent="0" lvl="0" marL="457200" rtl="0" algn="l">
              <a:spcBef>
                <a:spcPts val="1000"/>
              </a:spcBef>
              <a:spcAft>
                <a:spcPts val="1000"/>
              </a:spcAft>
              <a:buNone/>
            </a:pPr>
            <a:r>
              <a:t/>
            </a:r>
            <a:endParaRPr/>
          </a:p>
        </p:txBody>
      </p:sp>
      <p:sp>
        <p:nvSpPr>
          <p:cNvPr id="1645" name="Google Shape;1645;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Mixed percentage change</a:t>
            </a:r>
            <a:endParaRPr/>
          </a:p>
        </p:txBody>
      </p:sp>
      <p:graphicFrame>
        <p:nvGraphicFramePr>
          <p:cNvPr id="1646" name="Google Shape;1646;p103"/>
          <p:cNvGraphicFramePr/>
          <p:nvPr/>
        </p:nvGraphicFramePr>
        <p:xfrm>
          <a:off x="758375" y="1212300"/>
          <a:ext cx="3000000" cy="3000000"/>
        </p:xfrm>
        <a:graphic>
          <a:graphicData uri="http://schemas.openxmlformats.org/drawingml/2006/table">
            <a:tbl>
              <a:tblPr>
                <a:noFill/>
                <a:tableStyleId>{681F5079-2932-4BF5-A27F-156CD3D16ADE}</a:tableStyleId>
              </a:tblPr>
              <a:tblGrid>
                <a:gridCol w="3367500"/>
                <a:gridCol w="2394575"/>
                <a:gridCol w="1928500"/>
              </a:tblGrid>
              <a:tr h="441750">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Statement </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74CF1"/>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Calculation</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74CF1"/>
                    </a:solidFill>
                  </a:tcPr>
                </a:tc>
                <a:tc>
                  <a:txBody>
                    <a:bodyPr/>
                    <a:lstStyle/>
                    <a:p>
                      <a:pPr indent="0" lvl="0" marL="0" rtl="0" algn="ctr">
                        <a:spcBef>
                          <a:spcPts val="0"/>
                        </a:spcBef>
                        <a:spcAft>
                          <a:spcPts val="0"/>
                        </a:spcAft>
                        <a:buNone/>
                      </a:pPr>
                      <a:r>
                        <a:rPr lang="en-GB" sz="1900">
                          <a:solidFill>
                            <a:schemeClr val="lt1"/>
                          </a:solidFill>
                          <a:latin typeface="Lexend"/>
                          <a:ea typeface="Lexend"/>
                          <a:cs typeface="Lexend"/>
                          <a:sym typeface="Lexend"/>
                        </a:rPr>
                        <a:t>Tick</a:t>
                      </a:r>
                      <a:endParaRPr sz="1900">
                        <a:solidFill>
                          <a:schemeClr val="lt1"/>
                        </a:solidFill>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374CF1"/>
                    </a:solidFill>
                  </a:tcPr>
                </a:tc>
              </a:tr>
              <a:tr h="370500">
                <a:tc>
                  <a:txBody>
                    <a:bodyPr/>
                    <a:lstStyle/>
                    <a:p>
                      <a:pPr indent="0" lvl="0" marL="0" rtl="0" algn="ctr">
                        <a:spcBef>
                          <a:spcPts val="0"/>
                        </a:spcBef>
                        <a:spcAft>
                          <a:spcPts val="0"/>
                        </a:spcAft>
                        <a:buNone/>
                      </a:pPr>
                      <a:r>
                        <a:rPr lang="en-GB" sz="1800">
                          <a:latin typeface="Lexend"/>
                          <a:ea typeface="Lexend"/>
                          <a:cs typeface="Lexend"/>
                          <a:sym typeface="Lexend"/>
                        </a:rPr>
                        <a:t>Increase £20 by 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 </a:t>
                      </a:r>
                      <a:r>
                        <a:rPr lang="en-GB" sz="1800">
                          <a:solidFill>
                            <a:schemeClr val="dk1"/>
                          </a:solidFill>
                          <a:latin typeface="Lexend"/>
                          <a:ea typeface="Lexend"/>
                          <a:cs typeface="Lexend"/>
                          <a:sym typeface="Lexend"/>
                        </a:rPr>
                        <a:t>× 1.35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Decrease £20 by 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20 </a:t>
                      </a:r>
                      <a:r>
                        <a:rPr lang="en-GB" sz="1800">
                          <a:solidFill>
                            <a:schemeClr val="dk1"/>
                          </a:solidFill>
                          <a:latin typeface="Lexend"/>
                          <a:ea typeface="Lexend"/>
                          <a:cs typeface="Lexend"/>
                          <a:sym typeface="Lexend"/>
                        </a:rPr>
                        <a:t>× 0.35</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Increase £35 by 20%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35 </a:t>
                      </a:r>
                      <a:r>
                        <a:rPr lang="en-GB" sz="1800">
                          <a:solidFill>
                            <a:schemeClr val="dk1"/>
                          </a:solidFill>
                          <a:latin typeface="Lexend"/>
                          <a:ea typeface="Lexend"/>
                          <a:cs typeface="Lexend"/>
                          <a:sym typeface="Lexend"/>
                        </a:rPr>
                        <a:t>× 0.2</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Decrease £35 by 20%</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35 </a:t>
                      </a:r>
                      <a:r>
                        <a:rPr lang="en-GB" sz="1800">
                          <a:solidFill>
                            <a:schemeClr val="dk1"/>
                          </a:solidFill>
                          <a:latin typeface="Lexend"/>
                          <a:ea typeface="Lexend"/>
                          <a:cs typeface="Lexend"/>
                          <a:sym typeface="Lexend"/>
                        </a:rPr>
                        <a:t>× 0.8</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Increase £45 by 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 </a:t>
                      </a:r>
                      <a:r>
                        <a:rPr lang="en-GB" sz="1800">
                          <a:solidFill>
                            <a:schemeClr val="dk1"/>
                          </a:solidFill>
                          <a:latin typeface="Lexend"/>
                          <a:ea typeface="Lexend"/>
                          <a:cs typeface="Lexend"/>
                          <a:sym typeface="Lexend"/>
                        </a:rPr>
                        <a:t>× 1.1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70500">
                <a:tc>
                  <a:txBody>
                    <a:bodyPr/>
                    <a:lstStyle/>
                    <a:p>
                      <a:pPr indent="0" lvl="0" marL="0" rtl="0" algn="ctr">
                        <a:spcBef>
                          <a:spcPts val="0"/>
                        </a:spcBef>
                        <a:spcAft>
                          <a:spcPts val="0"/>
                        </a:spcAft>
                        <a:buNone/>
                      </a:pPr>
                      <a:r>
                        <a:rPr lang="en-GB" sz="1800">
                          <a:latin typeface="Lexend"/>
                          <a:ea typeface="Lexend"/>
                          <a:cs typeface="Lexend"/>
                          <a:sym typeface="Lexend"/>
                        </a:rPr>
                        <a:t>Decrease £45 by 1%</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45 </a:t>
                      </a:r>
                      <a:r>
                        <a:rPr lang="en-GB" sz="1800">
                          <a:solidFill>
                            <a:schemeClr val="dk1"/>
                          </a:solidFill>
                          <a:latin typeface="Lexend"/>
                          <a:ea typeface="Lexend"/>
                          <a:cs typeface="Lexend"/>
                          <a:sym typeface="Lexend"/>
                        </a:rPr>
                        <a:t>× 0.99</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id="1647" name="Google Shape;1647;p103"/>
          <p:cNvPicPr preferRelativeResize="0"/>
          <p:nvPr/>
        </p:nvPicPr>
        <p:blipFill>
          <a:blip r:embed="rId3">
            <a:alphaModFix/>
          </a:blip>
          <a:stretch>
            <a:fillRect/>
          </a:stretch>
        </p:blipFill>
        <p:spPr>
          <a:xfrm>
            <a:off x="7319458" y="1684700"/>
            <a:ext cx="396000" cy="419100"/>
          </a:xfrm>
          <a:prstGeom prst="rect">
            <a:avLst/>
          </a:prstGeom>
          <a:noFill/>
          <a:ln>
            <a:noFill/>
          </a:ln>
        </p:spPr>
      </p:pic>
      <p:pic>
        <p:nvPicPr>
          <p:cNvPr id="1648" name="Google Shape;1648;p103"/>
          <p:cNvPicPr preferRelativeResize="0"/>
          <p:nvPr/>
        </p:nvPicPr>
        <p:blipFill>
          <a:blip r:embed="rId3">
            <a:alphaModFix/>
          </a:blip>
          <a:stretch>
            <a:fillRect/>
          </a:stretch>
        </p:blipFill>
        <p:spPr>
          <a:xfrm>
            <a:off x="7319458" y="3030450"/>
            <a:ext cx="396000" cy="419100"/>
          </a:xfrm>
          <a:prstGeom prst="rect">
            <a:avLst/>
          </a:prstGeom>
          <a:noFill/>
          <a:ln>
            <a:noFill/>
          </a:ln>
        </p:spPr>
      </p:pic>
      <p:pic>
        <p:nvPicPr>
          <p:cNvPr id="1649" name="Google Shape;1649;p103"/>
          <p:cNvPicPr preferRelativeResize="0"/>
          <p:nvPr/>
        </p:nvPicPr>
        <p:blipFill>
          <a:blip r:embed="rId3">
            <a:alphaModFix/>
          </a:blip>
          <a:stretch>
            <a:fillRect/>
          </a:stretch>
        </p:blipFill>
        <p:spPr>
          <a:xfrm>
            <a:off x="7319458" y="39704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655" name="Google Shape;1655;p104"/>
          <p:cNvSpPr txBox="1"/>
          <p:nvPr>
            <p:ph idx="4294967295" type="body"/>
          </p:nvPr>
        </p:nvSpPr>
        <p:spPr>
          <a:xfrm>
            <a:off x="247799" y="683050"/>
            <a:ext cx="8207700" cy="11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200"/>
              <a:buNone/>
            </a:pPr>
            <a:r>
              <a:rPr lang="en-GB" sz="1800"/>
              <a:t>2</a:t>
            </a:r>
            <a:r>
              <a:rPr lang="en-GB" sz="1800"/>
              <a:t>a) </a:t>
            </a:r>
            <a:r>
              <a:rPr lang="en-GB" sz="1800"/>
              <a:t>Aisha</a:t>
            </a:r>
            <a:r>
              <a:rPr lang="en-GB" sz="1800"/>
              <a:t> has £20 to buy a present for her dad. There is a sale on at the shop. Below are some items with their original prices and the discounts to be applied. Which of the items can she afford?</a:t>
            </a:r>
            <a:endParaRPr/>
          </a:p>
          <a:p>
            <a:pPr indent="0" lvl="0" marL="88900" rtl="0" algn="l">
              <a:lnSpc>
                <a:spcPct val="115000"/>
              </a:lnSpc>
              <a:spcBef>
                <a:spcPts val="0"/>
              </a:spcBef>
              <a:spcAft>
                <a:spcPts val="0"/>
              </a:spcAft>
              <a:buSzPts val="2200"/>
              <a:buNone/>
            </a:pPr>
            <a:r>
              <a:t/>
            </a:r>
            <a:endParaRPr/>
          </a:p>
        </p:txBody>
      </p:sp>
      <p:sp>
        <p:nvSpPr>
          <p:cNvPr id="1656" name="Google Shape;1656;p104"/>
          <p:cNvSpPr/>
          <p:nvPr/>
        </p:nvSpPr>
        <p:spPr>
          <a:xfrm rot="6748065">
            <a:off x="1473282" y="1829793"/>
            <a:ext cx="612648" cy="1397851"/>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04"/>
          <p:cNvSpPr/>
          <p:nvPr/>
        </p:nvSpPr>
        <p:spPr>
          <a:xfrm rot="6748065">
            <a:off x="3122639" y="1787104"/>
            <a:ext cx="612648" cy="1397851"/>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04"/>
          <p:cNvSpPr txBox="1"/>
          <p:nvPr/>
        </p:nvSpPr>
        <p:spPr>
          <a:xfrm>
            <a:off x="353475" y="1800121"/>
            <a:ext cx="1216500" cy="113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5400" u="none" cap="none" strike="noStrike">
                <a:solidFill>
                  <a:schemeClr val="dk1"/>
                </a:solidFill>
                <a:latin typeface="Lexend"/>
                <a:ea typeface="Lexend"/>
                <a:cs typeface="Lexend"/>
                <a:sym typeface="Lexend"/>
              </a:rPr>
              <a:t>🩳</a:t>
            </a:r>
            <a:endParaRPr b="0" i="0" sz="5400" u="none" cap="none" strike="noStrike">
              <a:solidFill>
                <a:srgbClr val="000000"/>
              </a:solidFill>
              <a:latin typeface="Lexend"/>
              <a:ea typeface="Lexend"/>
              <a:cs typeface="Lexend"/>
              <a:sym typeface="Lexend"/>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9" name="Google Shape;1659;p104"/>
          <p:cNvSpPr txBox="1"/>
          <p:nvPr/>
        </p:nvSpPr>
        <p:spPr>
          <a:xfrm>
            <a:off x="393882"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Shorts £30</a:t>
            </a:r>
            <a:endParaRPr b="0" i="0" sz="1800" u="none" cap="none" strike="noStrike">
              <a:solidFill>
                <a:srgbClr val="000000"/>
              </a:solidFill>
              <a:latin typeface="Lexend"/>
              <a:ea typeface="Lexend"/>
              <a:cs typeface="Lexend"/>
              <a:sym typeface="Lexend"/>
            </a:endParaRPr>
          </a:p>
        </p:txBody>
      </p:sp>
      <p:sp>
        <p:nvSpPr>
          <p:cNvPr id="1660" name="Google Shape;1660;p104"/>
          <p:cNvSpPr txBox="1"/>
          <p:nvPr/>
        </p:nvSpPr>
        <p:spPr>
          <a:xfrm>
            <a:off x="2362899" y="1959633"/>
            <a:ext cx="7713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GB" sz="4800" u="none" cap="none" strike="noStrike">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
        <p:nvSpPr>
          <p:cNvPr id="1661" name="Google Shape;1661;p104"/>
          <p:cNvSpPr txBox="1"/>
          <p:nvPr/>
        </p:nvSpPr>
        <p:spPr>
          <a:xfrm>
            <a:off x="24484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T-shirt £25</a:t>
            </a:r>
            <a:endParaRPr b="0" i="0" sz="1800" u="none" cap="none" strike="noStrike">
              <a:solidFill>
                <a:srgbClr val="000000"/>
              </a:solidFill>
              <a:latin typeface="Lexend"/>
              <a:ea typeface="Lexend"/>
              <a:cs typeface="Lexend"/>
              <a:sym typeface="Lexend"/>
            </a:endParaRPr>
          </a:p>
        </p:txBody>
      </p:sp>
      <p:sp>
        <p:nvSpPr>
          <p:cNvPr id="1662" name="Google Shape;1662;p104"/>
          <p:cNvSpPr txBox="1"/>
          <p:nvPr/>
        </p:nvSpPr>
        <p:spPr>
          <a:xfrm>
            <a:off x="266523" y="3392956"/>
            <a:ext cx="8430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800" u="none" cap="none" strike="noStrike">
                <a:solidFill>
                  <a:srgbClr val="000000"/>
                </a:solidFill>
                <a:latin typeface="Lexend"/>
                <a:ea typeface="Lexend"/>
                <a:cs typeface="Lexend"/>
                <a:sym typeface="Lexend"/>
              </a:rPr>
              <a:t>b) For those she can’t afford, what discounts would she need so that she can afford any item in the shop? </a:t>
            </a:r>
            <a:endParaRPr/>
          </a:p>
        </p:txBody>
      </p:sp>
      <p:sp>
        <p:nvSpPr>
          <p:cNvPr id="1663" name="Google Shape;1663;p104"/>
          <p:cNvSpPr txBox="1"/>
          <p:nvPr/>
        </p:nvSpPr>
        <p:spPr>
          <a:xfrm>
            <a:off x="280968" y="3105888"/>
            <a:ext cx="4524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800">
                <a:latin typeface="Kalam"/>
                <a:ea typeface="Kalam"/>
                <a:cs typeface="Kalam"/>
                <a:sym typeface="Kalam"/>
              </a:rPr>
              <a:t>Aisha</a:t>
            </a:r>
            <a:r>
              <a:rPr b="0" i="0" lang="en-GB" sz="1800" u="none" cap="none" strike="noStrike">
                <a:solidFill>
                  <a:srgbClr val="000000"/>
                </a:solidFill>
                <a:latin typeface="Kalam"/>
                <a:ea typeface="Kalam"/>
                <a:cs typeface="Kalam"/>
                <a:sym typeface="Kalam"/>
              </a:rPr>
              <a:t> can afford the T-shirt, scarf or the hat.</a:t>
            </a:r>
            <a:endParaRPr/>
          </a:p>
        </p:txBody>
      </p:sp>
      <p:sp>
        <p:nvSpPr>
          <p:cNvPr id="1664" name="Google Shape;1664;p104"/>
          <p:cNvSpPr txBox="1"/>
          <p:nvPr/>
        </p:nvSpPr>
        <p:spPr>
          <a:xfrm>
            <a:off x="320447" y="4025409"/>
            <a:ext cx="88515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GB" sz="1800">
                <a:latin typeface="Kalam"/>
                <a:ea typeface="Kalam"/>
                <a:cs typeface="Kalam"/>
                <a:sym typeface="Kalam"/>
              </a:rPr>
              <a:t>Aisha</a:t>
            </a:r>
            <a:r>
              <a:rPr b="0" i="0" lang="en-GB" sz="1800" u="none" cap="none" strike="noStrike">
                <a:solidFill>
                  <a:srgbClr val="000000"/>
                </a:solidFill>
                <a:latin typeface="Kalam"/>
                <a:ea typeface="Kalam"/>
                <a:cs typeface="Kalam"/>
                <a:sym typeface="Kalam"/>
              </a:rPr>
              <a:t> would need these discounts: Shorts: a minimum of a 33.33% (2 d.p.) discount.</a:t>
            </a:r>
            <a:endParaRPr/>
          </a:p>
          <a:p>
            <a:pPr indent="0" lvl="0" marL="0" marR="0" rtl="0" algn="l">
              <a:lnSpc>
                <a:spcPct val="100000"/>
              </a:lnSpc>
              <a:spcBef>
                <a:spcPts val="0"/>
              </a:spcBef>
              <a:spcAft>
                <a:spcPts val="0"/>
              </a:spcAft>
              <a:buNone/>
            </a:pPr>
            <a:r>
              <a:rPr b="0" i="0" lang="en-GB" sz="1800" u="none" cap="none" strike="noStrike">
                <a:solidFill>
                  <a:srgbClr val="000000"/>
                </a:solidFill>
                <a:latin typeface="Kalam"/>
                <a:ea typeface="Kalam"/>
                <a:cs typeface="Kalam"/>
                <a:sym typeface="Kalam"/>
              </a:rPr>
              <a:t>Jacket: a minimum of 60% discount. </a:t>
            </a:r>
            <a:endParaRPr/>
          </a:p>
        </p:txBody>
      </p:sp>
      <p:sp>
        <p:nvSpPr>
          <p:cNvPr id="1665" name="Google Shape;1665;p104"/>
          <p:cNvSpPr txBox="1"/>
          <p:nvPr/>
        </p:nvSpPr>
        <p:spPr>
          <a:xfrm rot="1348065">
            <a:off x="1349633" y="2275797"/>
            <a:ext cx="1118281" cy="6126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10% off</a:t>
            </a:r>
            <a:endParaRPr sz="1800">
              <a:solidFill>
                <a:schemeClr val="dk1"/>
              </a:solidFill>
              <a:latin typeface="Lexend"/>
              <a:ea typeface="Lexend"/>
              <a:cs typeface="Lexend"/>
              <a:sym typeface="Lexend"/>
            </a:endParaRPr>
          </a:p>
        </p:txBody>
      </p:sp>
      <p:sp>
        <p:nvSpPr>
          <p:cNvPr id="1666" name="Google Shape;1666;p104"/>
          <p:cNvSpPr txBox="1"/>
          <p:nvPr/>
        </p:nvSpPr>
        <p:spPr>
          <a:xfrm rot="1348065">
            <a:off x="2987033" y="2245172"/>
            <a:ext cx="1118281" cy="61264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20% off</a:t>
            </a:r>
            <a:endParaRPr sz="1800">
              <a:solidFill>
                <a:schemeClr val="dk1"/>
              </a:solidFill>
              <a:latin typeface="Lexend"/>
              <a:ea typeface="Lexend"/>
              <a:cs typeface="Lexend"/>
              <a:sym typeface="Lexend"/>
            </a:endParaRPr>
          </a:p>
        </p:txBody>
      </p:sp>
      <p:sp>
        <p:nvSpPr>
          <p:cNvPr id="1667" name="Google Shape;1667;p104"/>
          <p:cNvSpPr/>
          <p:nvPr/>
        </p:nvSpPr>
        <p:spPr>
          <a:xfrm rot="8100000">
            <a:off x="6560598" y="2218984"/>
            <a:ext cx="612654" cy="1130082"/>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04"/>
          <p:cNvSpPr txBox="1"/>
          <p:nvPr/>
        </p:nvSpPr>
        <p:spPr>
          <a:xfrm>
            <a:off x="5614226" y="1832625"/>
            <a:ext cx="13188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lang="en-GB" sz="4800">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
        <p:nvSpPr>
          <p:cNvPr id="1669" name="Google Shape;1669;p104"/>
          <p:cNvSpPr txBox="1"/>
          <p:nvPr/>
        </p:nvSpPr>
        <p:spPr>
          <a:xfrm>
            <a:off x="41075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800">
                <a:latin typeface="Lexend"/>
                <a:ea typeface="Lexend"/>
                <a:cs typeface="Lexend"/>
                <a:sym typeface="Lexend"/>
              </a:rPr>
              <a:t>Jacket £50</a:t>
            </a:r>
            <a:endParaRPr b="0" i="0" sz="1800" u="none" cap="none" strike="noStrike">
              <a:solidFill>
                <a:srgbClr val="000000"/>
              </a:solidFill>
              <a:latin typeface="Lexend"/>
              <a:ea typeface="Lexend"/>
              <a:cs typeface="Lexend"/>
              <a:sym typeface="Lexend"/>
            </a:endParaRPr>
          </a:p>
        </p:txBody>
      </p:sp>
      <p:sp>
        <p:nvSpPr>
          <p:cNvPr id="1670" name="Google Shape;1670;p104"/>
          <p:cNvSpPr txBox="1"/>
          <p:nvPr/>
        </p:nvSpPr>
        <p:spPr>
          <a:xfrm>
            <a:off x="59363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800">
                <a:latin typeface="Lexend"/>
                <a:ea typeface="Lexend"/>
                <a:cs typeface="Lexend"/>
                <a:sym typeface="Lexend"/>
              </a:rPr>
              <a:t>Hat £22</a:t>
            </a:r>
            <a:endParaRPr b="0" i="0" sz="1800" u="none" cap="none" strike="noStrike">
              <a:solidFill>
                <a:srgbClr val="000000"/>
              </a:solidFill>
              <a:latin typeface="Lexend"/>
              <a:ea typeface="Lexend"/>
              <a:cs typeface="Lexend"/>
              <a:sym typeface="Lexend"/>
            </a:endParaRPr>
          </a:p>
        </p:txBody>
      </p:sp>
      <p:sp>
        <p:nvSpPr>
          <p:cNvPr id="1671" name="Google Shape;1671;p104"/>
          <p:cNvSpPr txBox="1"/>
          <p:nvPr/>
        </p:nvSpPr>
        <p:spPr>
          <a:xfrm>
            <a:off x="7536514" y="1665620"/>
            <a:ext cx="152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GB" sz="1800">
                <a:latin typeface="Lexend"/>
                <a:ea typeface="Lexend"/>
                <a:cs typeface="Lexend"/>
                <a:sym typeface="Lexend"/>
              </a:rPr>
              <a:t>Scarf £22</a:t>
            </a:r>
            <a:endParaRPr b="0" i="0" sz="1800" u="none" cap="none" strike="noStrike">
              <a:solidFill>
                <a:srgbClr val="000000"/>
              </a:solidFill>
              <a:latin typeface="Lexend"/>
              <a:ea typeface="Lexend"/>
              <a:cs typeface="Lexend"/>
              <a:sym typeface="Lexend"/>
            </a:endParaRPr>
          </a:p>
        </p:txBody>
      </p:sp>
      <p:sp>
        <p:nvSpPr>
          <p:cNvPr id="1672" name="Google Shape;1672;p104"/>
          <p:cNvSpPr/>
          <p:nvPr/>
        </p:nvSpPr>
        <p:spPr>
          <a:xfrm rot="8100000">
            <a:off x="7960247" y="2448146"/>
            <a:ext cx="612651" cy="948853"/>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04"/>
          <p:cNvSpPr txBox="1"/>
          <p:nvPr/>
        </p:nvSpPr>
        <p:spPr>
          <a:xfrm rot="2699955">
            <a:off x="7524185" y="2638408"/>
            <a:ext cx="1555808" cy="61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lang="en-GB" sz="1800">
                <a:solidFill>
                  <a:schemeClr val="dk1"/>
                </a:solidFill>
                <a:latin typeface="Lexend"/>
                <a:ea typeface="Lexend"/>
                <a:cs typeface="Lexend"/>
                <a:sym typeface="Lexend"/>
              </a:rPr>
              <a:t>15</a:t>
            </a:r>
            <a:r>
              <a:rPr i="0" lang="en-GB" sz="1800" u="none" cap="none" strike="noStrike">
                <a:solidFill>
                  <a:schemeClr val="dk1"/>
                </a:solidFill>
                <a:latin typeface="Lexend"/>
                <a:ea typeface="Lexend"/>
                <a:cs typeface="Lexend"/>
                <a:sym typeface="Lexend"/>
              </a:rPr>
              <a:t>% off</a:t>
            </a:r>
            <a:endParaRPr sz="1800">
              <a:solidFill>
                <a:schemeClr val="dk1"/>
              </a:solidFill>
              <a:latin typeface="Lexend"/>
              <a:ea typeface="Lexend"/>
              <a:cs typeface="Lexend"/>
              <a:sym typeface="Lexend"/>
            </a:endParaRPr>
          </a:p>
        </p:txBody>
      </p:sp>
      <p:sp>
        <p:nvSpPr>
          <p:cNvPr id="1674" name="Google Shape;1674;p104"/>
          <p:cNvSpPr txBox="1"/>
          <p:nvPr/>
        </p:nvSpPr>
        <p:spPr>
          <a:xfrm rot="2699955">
            <a:off x="6128722" y="2504382"/>
            <a:ext cx="1555808" cy="61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50% off</a:t>
            </a:r>
            <a:endParaRPr sz="1800">
              <a:solidFill>
                <a:schemeClr val="dk1"/>
              </a:solidFill>
              <a:latin typeface="Lexend"/>
              <a:ea typeface="Lexend"/>
              <a:cs typeface="Lexend"/>
              <a:sym typeface="Lexend"/>
            </a:endParaRPr>
          </a:p>
        </p:txBody>
      </p:sp>
      <p:sp>
        <p:nvSpPr>
          <p:cNvPr id="1675" name="Google Shape;1675;p104"/>
          <p:cNvSpPr/>
          <p:nvPr/>
        </p:nvSpPr>
        <p:spPr>
          <a:xfrm rot="8100000">
            <a:off x="4960398" y="2142784"/>
            <a:ext cx="612654" cy="1130082"/>
          </a:xfrm>
          <a:prstGeom prst="flowChartOffpageConnector">
            <a:avLst/>
          </a:prstGeom>
          <a:solidFill>
            <a:schemeClr val="lt1"/>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04"/>
          <p:cNvSpPr txBox="1"/>
          <p:nvPr/>
        </p:nvSpPr>
        <p:spPr>
          <a:xfrm rot="2699955">
            <a:off x="4528522" y="2428182"/>
            <a:ext cx="1555808" cy="61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i="0" lang="en-GB" sz="1800" u="none" cap="none" strike="noStrike">
                <a:solidFill>
                  <a:schemeClr val="dk1"/>
                </a:solidFill>
                <a:latin typeface="Lexend"/>
                <a:ea typeface="Lexend"/>
                <a:cs typeface="Lexend"/>
                <a:sym typeface="Lexend"/>
              </a:rPr>
              <a:t>50% off</a:t>
            </a:r>
            <a:endParaRPr sz="1800">
              <a:solidFill>
                <a:schemeClr val="dk1"/>
              </a:solidFill>
              <a:latin typeface="Lexend"/>
              <a:ea typeface="Lexend"/>
              <a:cs typeface="Lexend"/>
              <a:sym typeface="Lexend"/>
            </a:endParaRPr>
          </a:p>
        </p:txBody>
      </p:sp>
      <p:sp>
        <p:nvSpPr>
          <p:cNvPr id="1677" name="Google Shape;1677;p104"/>
          <p:cNvSpPr txBox="1"/>
          <p:nvPr/>
        </p:nvSpPr>
        <p:spPr>
          <a:xfrm>
            <a:off x="3663302" y="1973100"/>
            <a:ext cx="20118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lang="en-GB" sz="4800">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
        <p:nvSpPr>
          <p:cNvPr id="1678" name="Google Shape;1678;p104"/>
          <p:cNvSpPr txBox="1"/>
          <p:nvPr/>
        </p:nvSpPr>
        <p:spPr>
          <a:xfrm rot="5400000">
            <a:off x="7155350" y="1909525"/>
            <a:ext cx="13188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lang="en-GB" sz="4800">
                <a:solidFill>
                  <a:schemeClr val="dk1"/>
                </a:solidFill>
                <a:latin typeface="Lexend"/>
                <a:ea typeface="Lexend"/>
                <a:cs typeface="Lexend"/>
                <a:sym typeface="Lexend"/>
              </a:rPr>
              <a:t>🧣</a:t>
            </a:r>
            <a:endParaRPr b="0" i="0" sz="4800" u="none" cap="none" strike="noStrike">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Mixed percentage change</a:t>
            </a:r>
            <a:endParaRPr/>
          </a:p>
        </p:txBody>
      </p:sp>
      <p:sp>
        <p:nvSpPr>
          <p:cNvPr id="1684" name="Google Shape;1684;p105"/>
          <p:cNvSpPr txBox="1"/>
          <p:nvPr>
            <p:ph idx="4294967295" type="body"/>
          </p:nvPr>
        </p:nvSpPr>
        <p:spPr>
          <a:xfrm>
            <a:off x="324011" y="720158"/>
            <a:ext cx="8207700" cy="520800"/>
          </a:xfrm>
          <a:prstGeom prst="rect">
            <a:avLst/>
          </a:prstGeom>
          <a:noFill/>
          <a:ln>
            <a:noFill/>
          </a:ln>
        </p:spPr>
        <p:txBody>
          <a:bodyPr anchorCtr="0" anchor="t" bIns="0" lIns="0" spcFirstLastPara="1" rIns="0" wrap="square" tIns="0">
            <a:noAutofit/>
          </a:bodyPr>
          <a:lstStyle/>
          <a:p>
            <a:pPr indent="0" lvl="0" marL="88900" rtl="0" algn="l">
              <a:lnSpc>
                <a:spcPct val="115000"/>
              </a:lnSpc>
              <a:spcBef>
                <a:spcPts val="0"/>
              </a:spcBef>
              <a:spcAft>
                <a:spcPts val="0"/>
              </a:spcAft>
              <a:buSzPts val="2200"/>
              <a:buNone/>
            </a:pPr>
            <a:r>
              <a:rPr lang="en-GB" sz="1800"/>
              <a:t>3) Laura says,</a:t>
            </a:r>
            <a:endParaRPr sz="1800"/>
          </a:p>
          <a:p>
            <a:pPr indent="0" lvl="0" marL="88900" rtl="0" algn="l">
              <a:lnSpc>
                <a:spcPct val="115000"/>
              </a:lnSpc>
              <a:spcBef>
                <a:spcPts val="0"/>
              </a:spcBef>
              <a:spcAft>
                <a:spcPts val="0"/>
              </a:spcAft>
              <a:buSzPts val="2200"/>
              <a:buNone/>
            </a:pPr>
            <a:r>
              <a:rPr lang="en-GB" sz="1800"/>
              <a:t>“If you increase an amount by 13% and then decrease it by 13% you get the same value you started with.”</a:t>
            </a:r>
            <a:endParaRPr sz="1800"/>
          </a:p>
          <a:p>
            <a:pPr indent="0" lvl="0" marL="88900" rtl="0" algn="l">
              <a:lnSpc>
                <a:spcPct val="115000"/>
              </a:lnSpc>
              <a:spcBef>
                <a:spcPts val="0"/>
              </a:spcBef>
              <a:spcAft>
                <a:spcPts val="0"/>
              </a:spcAft>
              <a:buSzPts val="2200"/>
              <a:buNone/>
            </a:pPr>
            <a:r>
              <a:rPr lang="en-GB" sz="1800"/>
              <a:t>Explain whether Laura is correct.</a:t>
            </a:r>
            <a:endParaRPr sz="1800"/>
          </a:p>
        </p:txBody>
      </p:sp>
      <p:sp>
        <p:nvSpPr>
          <p:cNvPr id="1685" name="Google Shape;1685;p105"/>
          <p:cNvSpPr txBox="1"/>
          <p:nvPr/>
        </p:nvSpPr>
        <p:spPr>
          <a:xfrm>
            <a:off x="323989" y="2160009"/>
            <a:ext cx="8207700" cy="520800"/>
          </a:xfrm>
          <a:prstGeom prst="rect">
            <a:avLst/>
          </a:prstGeom>
          <a:noFill/>
          <a:ln>
            <a:noFill/>
          </a:ln>
        </p:spPr>
        <p:txBody>
          <a:bodyPr anchorCtr="0" anchor="t" bIns="0" lIns="0" spcFirstLastPara="1" rIns="0" wrap="square" tIns="0">
            <a:noAutofit/>
          </a:bodyPr>
          <a:lstStyle/>
          <a:p>
            <a:pPr indent="0" lvl="0" marL="88900" marR="0" rtl="0" algn="l">
              <a:lnSpc>
                <a:spcPct val="115000"/>
              </a:lnSpc>
              <a:spcBef>
                <a:spcPts val="0"/>
              </a:spcBef>
              <a:spcAft>
                <a:spcPts val="0"/>
              </a:spcAft>
              <a:buClr>
                <a:schemeClr val="dk1"/>
              </a:buClr>
              <a:buSzPts val="2200"/>
              <a:buFont typeface="Lexend"/>
              <a:buNone/>
            </a:pPr>
            <a:r>
              <a:rPr b="0" i="0" lang="en-GB" sz="1800" u="none" cap="none" strike="noStrike">
                <a:solidFill>
                  <a:schemeClr val="dk1"/>
                </a:solidFill>
                <a:latin typeface="Kalam"/>
                <a:ea typeface="Kalam"/>
                <a:cs typeface="Kalam"/>
                <a:sym typeface="Kalam"/>
              </a:rPr>
              <a:t>Laura is not correct. It can be explained in a few different ways: Increasing an amount by 13% then gives you a new, different amount. This new, different amount is then regarded as 100%, thus finding 13% of this new, different amount is not the same as 13% of the original amount. </a:t>
            </a:r>
            <a:endParaRPr/>
          </a:p>
          <a:p>
            <a:pPr indent="0" lvl="0" marL="88900" marR="0" rtl="0" algn="l">
              <a:lnSpc>
                <a:spcPct val="115000"/>
              </a:lnSpc>
              <a:spcBef>
                <a:spcPts val="0"/>
              </a:spcBef>
              <a:spcAft>
                <a:spcPts val="0"/>
              </a:spcAft>
              <a:buClr>
                <a:schemeClr val="dk1"/>
              </a:buClr>
              <a:buSzPts val="2200"/>
              <a:buFont typeface="Lexend"/>
              <a:buNone/>
            </a:pPr>
            <a:r>
              <a:rPr b="0" i="0" lang="en-GB" sz="1800" u="none" cap="none" strike="noStrike">
                <a:solidFill>
                  <a:schemeClr val="dk1"/>
                </a:solidFill>
                <a:latin typeface="Kalam"/>
                <a:ea typeface="Kalam"/>
                <a:cs typeface="Kalam"/>
                <a:sym typeface="Kalam"/>
              </a:rPr>
              <a:t>Using multipliers, an amount increased by 13% then decreased by 13% is the same as </a:t>
            </a:r>
            <a:r>
              <a:rPr b="0" i="0" lang="en-GB" sz="1800" u="none" cap="none" strike="noStrike">
                <a:solidFill>
                  <a:srgbClr val="000000"/>
                </a:solidFill>
                <a:latin typeface="Kalam"/>
                <a:ea typeface="Kalam"/>
                <a:cs typeface="Kalam"/>
                <a:sym typeface="Kalam"/>
              </a:rPr>
              <a:t>× 1.13 × 0.87. Using the associative law, this is the same as × 0.9831 This means the final answer is 98.31% of the original amount. </a:t>
            </a:r>
            <a:endParaRPr b="0" i="0" sz="1800" u="none" cap="none" strike="noStrike">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5">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106"/>
          <p:cNvSpPr txBox="1"/>
          <p:nvPr>
            <p:ph idx="1" type="body"/>
          </p:nvPr>
        </p:nvSpPr>
        <p:spPr>
          <a:xfrm>
            <a:off x="324000" y="829800"/>
            <a:ext cx="8410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We have looked at different representations of percentage increase and decrease;  bar models and double number lines. Both are</a:t>
            </a:r>
            <a:r>
              <a:rPr lang="en-GB"/>
              <a:t> helpful visual approaches to work out the increase.</a:t>
            </a:r>
            <a:endParaRPr/>
          </a:p>
          <a:p>
            <a:pPr indent="0" lvl="0" marL="0" rtl="0" algn="l">
              <a:spcBef>
                <a:spcPts val="1000"/>
              </a:spcBef>
              <a:spcAft>
                <a:spcPts val="0"/>
              </a:spcAft>
              <a:buNone/>
            </a:pPr>
            <a:r>
              <a:rPr lang="en-GB"/>
              <a:t>However, using a multiplier is a good approach to work out any percentage decrease or increase. </a:t>
            </a:r>
            <a:endParaRPr/>
          </a:p>
          <a:p>
            <a:pPr indent="0" lvl="0" marL="0" rtl="0" algn="l">
              <a:spcBef>
                <a:spcPts val="1000"/>
              </a:spcBef>
              <a:spcAft>
                <a:spcPts val="0"/>
              </a:spcAft>
              <a:buNone/>
            </a:pPr>
            <a:r>
              <a:rPr lang="en-GB"/>
              <a:t>It is important to remember the same question can be asked, but in different ways, e.g. Decrease 70 by 12% is the same as 88% of 70</a:t>
            </a:r>
            <a:endParaRPr/>
          </a:p>
          <a:p>
            <a:pPr indent="0" lvl="0" marL="0" rtl="0" algn="l">
              <a:spcBef>
                <a:spcPts val="1000"/>
              </a:spcBef>
              <a:spcAft>
                <a:spcPts val="1000"/>
              </a:spcAft>
              <a:buNone/>
            </a:pPr>
            <a:r>
              <a:t/>
            </a:r>
            <a:endParaRPr/>
          </a:p>
        </p:txBody>
      </p:sp>
      <p:sp>
        <p:nvSpPr>
          <p:cNvPr id="1691" name="Google Shape;1691;p106"/>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Decrease by a percentage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97" name="Google Shape;1697;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