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5D0F3D-F1D8-461F-821C-53E4E061F023}">
  <a:tblStyle styleId="{B75D0F3D-F1D8-461F-821C-53E4E061F02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D556CC2-93B8-4E02-97B1-F55F9CFE80B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ba7dcdd456_0_3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ba7dcdd45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ba7dcdd456_0_3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ba7dcdd45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Decrease by a percentage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657400"/>
            <a:ext cx="66240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Pair up the equivalent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80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Decreasing an amount by a percentage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729867" y="2049203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Decrease 50 by 30%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729867" y="2543077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97% of 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729867" y="3036952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Decrease 50 by 20%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729867" y="3530827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145% of 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011586" y="2049203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80% of 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026530" y="3530826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Decrease 50 by 3%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011586" y="3036952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70% of 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011586" y="2543078"/>
            <a:ext cx="1803600" cy="45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Increase 50 by 45%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482067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bar model and missing information to show: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400 decreased by 30% is the same as 70% of 400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88 decreased by 20% is the same as 80% of 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70.4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64 decreased by 35% is the same as 65% of 64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41.6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/>
          <p:nvPr/>
        </p:nvGraphicFramePr>
        <p:xfrm>
          <a:off x="2356453" y="57125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{B75D0F3D-F1D8-461F-821C-53E4E061F023}</a:tableStyleId>
              </a:tblPr>
              <a:tblGrid>
                <a:gridCol w="471150"/>
                <a:gridCol w="471150"/>
                <a:gridCol w="471150"/>
                <a:gridCol w="471525"/>
                <a:gridCol w="471150"/>
                <a:gridCol w="471150"/>
                <a:gridCol w="471150"/>
                <a:gridCol w="471150"/>
                <a:gridCol w="471150"/>
                <a:gridCol w="471150"/>
              </a:tblGrid>
              <a:tr h="4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solidFill>
                          <a:srgbClr val="808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 u="none" cap="none" strike="noStrike">
                        <a:solidFill>
                          <a:srgbClr val="808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20"/>
          <p:cNvSpPr txBox="1"/>
          <p:nvPr/>
        </p:nvSpPr>
        <p:spPr>
          <a:xfrm>
            <a:off x="5884401" y="5188768"/>
            <a:ext cx="108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30%</a:t>
            </a:r>
            <a:endParaRPr sz="1200"/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2280253" y="68827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{B75D0F3D-F1D8-461F-821C-53E4E061F023}</a:tableStyleId>
              </a:tblPr>
              <a:tblGrid>
                <a:gridCol w="471150"/>
                <a:gridCol w="471150"/>
                <a:gridCol w="471150"/>
                <a:gridCol w="471525"/>
                <a:gridCol w="471150"/>
                <a:gridCol w="471150"/>
                <a:gridCol w="471150"/>
                <a:gridCol w="471150"/>
                <a:gridCol w="471150"/>
                <a:gridCol w="471150"/>
              </a:tblGrid>
              <a:tr h="4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808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8.8</a:t>
                      </a:r>
                      <a:endParaRPr sz="1200" u="none" cap="none" strike="noStrike">
                        <a:solidFill>
                          <a:srgbClr val="808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5973728" y="6385981"/>
            <a:ext cx="108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20%</a:t>
            </a:r>
            <a:endParaRPr sz="1200"/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2003947" y="8044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{B75D0F3D-F1D8-461F-821C-53E4E061F023}</a:tableStyleId>
              </a:tblPr>
              <a:tblGrid>
                <a:gridCol w="471150"/>
                <a:gridCol w="471150"/>
                <a:gridCol w="471150"/>
                <a:gridCol w="471525"/>
                <a:gridCol w="471150"/>
                <a:gridCol w="471150"/>
                <a:gridCol w="382850"/>
                <a:gridCol w="382850"/>
                <a:gridCol w="471150"/>
                <a:gridCol w="471150"/>
                <a:gridCol w="471150"/>
              </a:tblGrid>
              <a:tr h="40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0808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5640230" y="7583171"/>
            <a:ext cx="108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35%</a:t>
            </a:r>
            <a:endParaRPr sz="1200"/>
          </a:p>
        </p:txBody>
      </p:sp>
      <p:sp>
        <p:nvSpPr>
          <p:cNvPr id="178" name="Google Shape;178;p20"/>
          <p:cNvSpPr/>
          <p:nvPr/>
        </p:nvSpPr>
        <p:spPr>
          <a:xfrm rot="5400000">
            <a:off x="6287700" y="4918452"/>
            <a:ext cx="161700" cy="1418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 rot="5400000">
            <a:off x="6476175" y="6316700"/>
            <a:ext cx="99600" cy="913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 rot="5400000">
            <a:off x="6064125" y="7039175"/>
            <a:ext cx="88200" cy="1782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478325" y="5207775"/>
            <a:ext cx="1347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267110" y="5582241"/>
            <a:ext cx="290400" cy="289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267110" y="6628541"/>
            <a:ext cx="290400" cy="289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369948" y="6242275"/>
            <a:ext cx="1347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267110" y="7674841"/>
            <a:ext cx="290400" cy="289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922148" y="7309075"/>
            <a:ext cx="1347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Decrease by a percentage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56300" y="720000"/>
            <a:ext cx="663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Draw a bar model to work out and represent £124 decreased by 40%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56300" y="2333975"/>
            <a:ext cx="8538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3b) Draw a bar model to work out and represent £72 decreased by 35%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3768000"/>
            <a:ext cx="6610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a multiplier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7998" y="4049400"/>
            <a:ext cx="66105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statements with the calculation.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68001" y="4382860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84% of 400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68001" y="4866457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600 by 14%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75341" y="5358967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86% of 400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75341" y="5848855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14 by 16%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75342" y="6370978"/>
            <a:ext cx="23151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16 by 61%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236921" y="4383908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39% of 16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236921" y="4867505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86% of 600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244261" y="5360015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400 by 14%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244261" y="5849903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 of 14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244262" y="6372027"/>
            <a:ext cx="22059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Decrease 400 by 16%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835999" y="4372377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400 × 0.84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835999" y="4855974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× 0.39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843338" y="5348484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600 × 0.86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843338" y="5838372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400 × 0.86 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843340" y="6360496"/>
            <a:ext cx="1248600" cy="40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06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× 0.8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Decrease by a percentage</a:t>
            </a:r>
            <a:endParaRPr/>
          </a:p>
        </p:txBody>
      </p:sp>
      <p:cxnSp>
        <p:nvCxnSpPr>
          <p:cNvPr id="218" name="Google Shape;218;p22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2"/>
          <p:cNvSpPr txBox="1"/>
          <p:nvPr/>
        </p:nvSpPr>
        <p:spPr>
          <a:xfrm>
            <a:off x="468000" y="582450"/>
            <a:ext cx="6624000" cy="1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amount of money when £94 has been decreased by 47%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amount of money when £162 has been decreased by 28%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68000" y="2674496"/>
            <a:ext cx="6523800" cy="23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T-shirt was reduced by 24% in a sale.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is the T-shirt now?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/>
          <p:nvPr/>
        </p:nvSpPr>
        <p:spPr>
          <a:xfrm rot="-3941691">
            <a:off x="6180994" y="2774349"/>
            <a:ext cx="289880" cy="1130546"/>
          </a:xfrm>
          <a:prstGeom prst="flowChartOffpageConnector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 rot="1367369">
            <a:off x="5724730" y="3193941"/>
            <a:ext cx="1208221" cy="276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T-shirt £25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033850" y="2726700"/>
            <a:ext cx="458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👕</a:t>
            </a:r>
            <a:endParaRPr b="0" i="0" sz="4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68000" y="53515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Tick the calculations that correctly represent each statement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468000" y="4987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Mixed percentage change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2"/>
          <p:cNvGraphicFramePr/>
          <p:nvPr/>
        </p:nvGraphicFramePr>
        <p:xfrm>
          <a:off x="477477" y="565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{9D556CC2-93B8-4E02-97B1-F55F9CFE80BC}</a:tableStyleId>
              </a:tblPr>
              <a:tblGrid>
                <a:gridCol w="2900475"/>
                <a:gridCol w="2062475"/>
                <a:gridCol w="1661050"/>
              </a:tblGrid>
              <a:tr h="38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 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Increase £20 by 35%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1.35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Decrease £20 by 35%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Increase £35 by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Decrease £35 by 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Increase £45 by 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Decrease £45 by 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0.99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Decrease by a percentage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468000" y="607972"/>
            <a:ext cx="60921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Aisha has £20 to buy a present for her dad. There is a sale on at the shop. Below are some items with their original prices and the discounts to be applied. Which of the items can she afford?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3"/>
          <p:cNvSpPr/>
          <p:nvPr/>
        </p:nvSpPr>
        <p:spPr>
          <a:xfrm rot="6748068">
            <a:off x="1377622" y="1459145"/>
            <a:ext cx="454741" cy="1037563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8" name="Google Shape;238;p23"/>
          <p:cNvSpPr/>
          <p:nvPr/>
        </p:nvSpPr>
        <p:spPr>
          <a:xfrm rot="6748068">
            <a:off x="2601867" y="1427459"/>
            <a:ext cx="454741" cy="1037563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9" name="Google Shape;239;p23"/>
          <p:cNvSpPr txBox="1"/>
          <p:nvPr/>
        </p:nvSpPr>
        <p:spPr>
          <a:xfrm>
            <a:off x="546438" y="1665722"/>
            <a:ext cx="90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🩳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576431" y="13372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Shorts £30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2037945" y="1555520"/>
            <a:ext cx="5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👕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2101419" y="13372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T-shirt £25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481898" y="3914810"/>
            <a:ext cx="62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For those she can’t afford, what discounts would she need so that she can afford any item in the shop? </a:t>
            </a:r>
            <a:endParaRPr sz="1200"/>
          </a:p>
        </p:txBody>
      </p:sp>
      <p:sp>
        <p:nvSpPr>
          <p:cNvPr id="244" name="Google Shape;244;p23"/>
          <p:cNvSpPr txBox="1"/>
          <p:nvPr/>
        </p:nvSpPr>
        <p:spPr>
          <a:xfrm rot="1348062">
            <a:off x="1285843" y="1790194"/>
            <a:ext cx="830050" cy="454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 rot="1348062">
            <a:off x="2501212" y="1767463"/>
            <a:ext cx="830050" cy="454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3"/>
          <p:cNvSpPr/>
          <p:nvPr/>
        </p:nvSpPr>
        <p:spPr>
          <a:xfrm rot="8100004">
            <a:off x="5153711" y="1748024"/>
            <a:ext cx="454745" cy="838809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23"/>
          <p:cNvSpPr txBox="1"/>
          <p:nvPr/>
        </p:nvSpPr>
        <p:spPr>
          <a:xfrm>
            <a:off x="4451261" y="1461248"/>
            <a:ext cx="97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GB" sz="3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👒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3332895" y="13372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Jacket £50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4690333" y="13372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Hat £22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878090" y="1337288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Scarf £22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3"/>
          <p:cNvSpPr/>
          <p:nvPr/>
        </p:nvSpPr>
        <p:spPr>
          <a:xfrm rot="8100004">
            <a:off x="6192609" y="1918121"/>
            <a:ext cx="454743" cy="704291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23"/>
          <p:cNvSpPr txBox="1"/>
          <p:nvPr/>
        </p:nvSpPr>
        <p:spPr>
          <a:xfrm rot="2699951">
            <a:off x="5868940" y="2059343"/>
            <a:ext cx="1154806" cy="454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 rot="2699951">
            <a:off x="4833149" y="1959862"/>
            <a:ext cx="1154806" cy="454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3"/>
          <p:cNvSpPr/>
          <p:nvPr/>
        </p:nvSpPr>
        <p:spPr>
          <a:xfrm rot="8100004">
            <a:off x="3965954" y="1691465"/>
            <a:ext cx="454745" cy="838809"/>
          </a:xfrm>
          <a:prstGeom prst="flowChartOffpageConnector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5" name="Google Shape;255;p23"/>
          <p:cNvSpPr txBox="1"/>
          <p:nvPr/>
        </p:nvSpPr>
        <p:spPr>
          <a:xfrm rot="2699951">
            <a:off x="3645392" y="1903302"/>
            <a:ext cx="1154806" cy="454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off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3003176" y="1565516"/>
            <a:ext cx="149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GB" sz="3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🧥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 rot="5400000">
            <a:off x="5626520" y="1549692"/>
            <a:ext cx="97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GB" sz="3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🧣</a:t>
            </a:r>
            <a:endParaRPr b="0" i="0" sz="30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468016" y="6281075"/>
            <a:ext cx="662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says,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“If you increase an amount by 13% and then decrease it by 13% you get the same value you started with.”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whether Laura is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