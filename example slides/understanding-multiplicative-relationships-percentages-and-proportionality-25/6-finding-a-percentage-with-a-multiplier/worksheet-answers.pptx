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percentage with a multiplier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52475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 txBox="1"/>
          <p:nvPr/>
        </p:nvSpPr>
        <p:spPr>
          <a:xfrm>
            <a:off x="476398" y="133505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Reviewing percentages of amounts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400" y="1913725"/>
            <a:ext cx="29436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a)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51% of 980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b)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23% of 640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c)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62% of 120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2211508" y="2206800"/>
            <a:ext cx="77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499.8</a:t>
            </a:r>
            <a:endParaRPr sz="1200"/>
          </a:p>
        </p:txBody>
      </p:sp>
      <p:sp>
        <p:nvSpPr>
          <p:cNvPr id="177" name="Google Shape;177;p20"/>
          <p:cNvSpPr txBox="1"/>
          <p:nvPr/>
        </p:nvSpPr>
        <p:spPr>
          <a:xfrm>
            <a:off x="2252308" y="3024000"/>
            <a:ext cx="77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147.2</a:t>
            </a:r>
            <a:endParaRPr sz="1200"/>
          </a:p>
        </p:txBody>
      </p:sp>
      <p:sp>
        <p:nvSpPr>
          <p:cNvPr id="178" name="Google Shape;178;p20"/>
          <p:cNvSpPr txBox="1"/>
          <p:nvPr/>
        </p:nvSpPr>
        <p:spPr>
          <a:xfrm>
            <a:off x="2261258" y="3855600"/>
            <a:ext cx="77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74.4</a:t>
            </a:r>
            <a:endParaRPr sz="1200"/>
          </a:p>
        </p:txBody>
      </p:sp>
      <p:sp>
        <p:nvSpPr>
          <p:cNvPr id="179" name="Google Shape;179;p20"/>
          <p:cNvSpPr txBox="1"/>
          <p:nvPr/>
        </p:nvSpPr>
        <p:spPr>
          <a:xfrm>
            <a:off x="5385458" y="2116591"/>
            <a:ext cx="77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18.2</a:t>
            </a:r>
            <a:endParaRPr sz="1200"/>
          </a:p>
        </p:txBody>
      </p:sp>
      <p:sp>
        <p:nvSpPr>
          <p:cNvPr id="180" name="Google Shape;180;p20"/>
          <p:cNvSpPr txBox="1"/>
          <p:nvPr/>
        </p:nvSpPr>
        <p:spPr>
          <a:xfrm>
            <a:off x="5491512" y="2998800"/>
            <a:ext cx="77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1.2</a:t>
            </a:r>
            <a:endParaRPr sz="1200"/>
          </a:p>
        </p:txBody>
      </p:sp>
      <p:sp>
        <p:nvSpPr>
          <p:cNvPr id="181" name="Google Shape;181;p20"/>
          <p:cNvSpPr txBox="1"/>
          <p:nvPr/>
        </p:nvSpPr>
        <p:spPr>
          <a:xfrm>
            <a:off x="5415312" y="3772800"/>
            <a:ext cx="77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2.16</a:t>
            </a:r>
            <a:endParaRPr sz="1200"/>
          </a:p>
        </p:txBody>
      </p:sp>
      <p:sp>
        <p:nvSpPr>
          <p:cNvPr id="182" name="Google Shape;182;p20"/>
          <p:cNvSpPr txBox="1"/>
          <p:nvPr/>
        </p:nvSpPr>
        <p:spPr>
          <a:xfrm>
            <a:off x="3803775" y="2247800"/>
            <a:ext cx="1788600" cy="21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13% of 140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3% of 40 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9% of 24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76400" y="5723726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calculation showing the decimal multiplier.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do not need to calculate the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a)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56% of 389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b)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24% of 484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c)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16% of 563.1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76273" y="529745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a decimal multiplier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885854" y="6298225"/>
            <a:ext cx="142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0.56 × 3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 </a:t>
            </a:r>
            <a:endParaRPr sz="1200"/>
          </a:p>
        </p:txBody>
      </p:sp>
      <p:sp>
        <p:nvSpPr>
          <p:cNvPr id="186" name="Google Shape;186;p20"/>
          <p:cNvSpPr txBox="1"/>
          <p:nvPr/>
        </p:nvSpPr>
        <p:spPr>
          <a:xfrm>
            <a:off x="1885854" y="7046862"/>
            <a:ext cx="151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0.24 × 484 </a:t>
            </a:r>
            <a:endParaRPr sz="1200"/>
          </a:p>
        </p:txBody>
      </p:sp>
      <p:sp>
        <p:nvSpPr>
          <p:cNvPr id="187" name="Google Shape;187;p20"/>
          <p:cNvSpPr txBox="1"/>
          <p:nvPr/>
        </p:nvSpPr>
        <p:spPr>
          <a:xfrm>
            <a:off x="1885854" y="7856771"/>
            <a:ext cx="178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0.16 × 563.1</a:t>
            </a:r>
            <a:endParaRPr sz="1200"/>
          </a:p>
        </p:txBody>
      </p:sp>
      <p:sp>
        <p:nvSpPr>
          <p:cNvPr id="188" name="Google Shape;188;p20"/>
          <p:cNvSpPr txBox="1"/>
          <p:nvPr/>
        </p:nvSpPr>
        <p:spPr>
          <a:xfrm>
            <a:off x="5332704" y="6282369"/>
            <a:ext cx="17886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0.03 × 186.2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332704" y="7047270"/>
            <a:ext cx="17886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0.333 × 475 </a:t>
            </a:r>
            <a:endParaRPr sz="1200"/>
          </a:p>
        </p:txBody>
      </p:sp>
      <p:sp>
        <p:nvSpPr>
          <p:cNvPr id="190" name="Google Shape;190;p20"/>
          <p:cNvSpPr txBox="1"/>
          <p:nvPr/>
        </p:nvSpPr>
        <p:spPr>
          <a:xfrm>
            <a:off x="5332704" y="7842242"/>
            <a:ext cx="17886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0.033 × 986</a:t>
            </a:r>
            <a:endParaRPr sz="1200"/>
          </a:p>
        </p:txBody>
      </p:sp>
      <p:sp>
        <p:nvSpPr>
          <p:cNvPr id="191" name="Google Shape;191;p20"/>
          <p:cNvSpPr txBox="1"/>
          <p:nvPr/>
        </p:nvSpPr>
        <p:spPr>
          <a:xfrm>
            <a:off x="3807800" y="6335875"/>
            <a:ext cx="19665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3% of 186.2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33.3% of 475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.3% of 986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7" name="Google Shape;197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percentage with a multiplier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476400" y="3197700"/>
            <a:ext cx="6615600" cy="23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explain the strategy behind each student’s working out for finding 48% of 64?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635744" y="3679131"/>
            <a:ext cx="3387600" cy="1814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4\ \times6.4\ =\ 25.6\\&amp;#13;&amp;#10;8\ \times0.64\ =\ 5.12\\&amp;#13;&amp;#10;5.12\ +25.6\ =\ 30.72\end{array}&quot;&gt;&lt;mtable columnalign=&quot;left&quot; columnspacing=&quot;1em&quot; rowspacing=&quot;4pt&quot;&gt;&lt;mtr&gt;&lt;mtd&gt;&lt;mn&gt;4&lt;/mn&gt;&lt;mtext&gt;&lt;/mtext&gt;&lt;mo&gt;×&lt;/mo&gt;&lt;mn&gt;6.4&lt;/mn&gt;&lt;mtext&gt;&lt;/mtext&gt;&lt;mo&gt;=&lt;/mo&gt;&lt;mtext&gt;&lt;/mtext&gt;&lt;mn&gt;25.6&lt;/mn&gt;&lt;/mtd&gt;&lt;/mtr&gt;&lt;mtr&gt;&lt;mtd&gt;&lt;mn&gt;8&lt;/mn&gt;&lt;mtext&gt;&lt;/mtext&gt;&lt;mo&gt;×&lt;/mo&gt;&lt;mn&gt;0.64&lt;/mn&gt;&lt;mtext&gt;&lt;/mtext&gt;&lt;mo&gt;=&lt;/mo&gt;&lt;mtext&gt;&lt;/mtext&gt;&lt;mn&gt;5.12&lt;/mn&gt;&lt;/mtd&gt;&lt;/mtr&gt;&lt;mtr&gt;&lt;mtd&gt;&lt;mn&gt;5.12&lt;/mn&gt;&lt;mtext&gt;&lt;/mtext&gt;&lt;mo&gt;+&lt;/mo&gt;&lt;mn&gt;25.6&lt;/mn&gt;&lt;mtext&gt;&lt;/mtext&gt;&lt;mo&gt;=&lt;/mo&gt;&lt;mtext&gt;&lt;/mtext&gt;&lt;mn&gt;30.72&lt;/mn&gt;&lt;/mtd&gt;&lt;/mtr&gt;&lt;/mtable&gt;&lt;/math&gt;" id="202" name="Google Shape;202;p21" title="3 lines Line 1: 4 times 6.4 equals 25.6 Line 2: 8 times 0.64 equals 5.12 Line 3: 5.12 positive 25.6 equals 30.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544" y="3879306"/>
            <a:ext cx="2945315" cy="117623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996307" y="5144596"/>
            <a:ext cx="8892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104631" y="3679131"/>
            <a:ext cx="298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Alex has found 10% and is multiplying by 4 to give 40%.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104631" y="4339838"/>
            <a:ext cx="298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Then Alex has found 1% and is multiplying by 8 to give 8%.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104631" y="4940480"/>
            <a:ext cx="298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 has then summed 40% and 8% to make 48% which is 30.72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7" name="Google Shape;207;p21"/>
          <p:cNvCxnSpPr>
            <a:stCxn id="204" idx="1"/>
          </p:cNvCxnSpPr>
          <p:nvPr/>
        </p:nvCxnSpPr>
        <p:spPr>
          <a:xfrm flipH="1">
            <a:off x="3215431" y="3956181"/>
            <a:ext cx="889200" cy="933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21"/>
          <p:cNvCxnSpPr/>
          <p:nvPr/>
        </p:nvCxnSpPr>
        <p:spPr>
          <a:xfrm rot="10800000">
            <a:off x="3278432" y="4498950"/>
            <a:ext cx="889200" cy="855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21"/>
          <p:cNvCxnSpPr>
            <a:stCxn id="206" idx="1"/>
          </p:cNvCxnSpPr>
          <p:nvPr/>
        </p:nvCxnSpPr>
        <p:spPr>
          <a:xfrm rot="10800000">
            <a:off x="3579031" y="5095430"/>
            <a:ext cx="525600" cy="1221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21"/>
          <p:cNvSpPr/>
          <p:nvPr/>
        </p:nvSpPr>
        <p:spPr>
          <a:xfrm>
            <a:off x="4098575" y="5804975"/>
            <a:ext cx="2993400" cy="1176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2\ \times0.64\ =\ 1.28\\&amp;#13;&amp;#10;32-1.28\ =\ 30.72\end{array}&quot;&gt;&lt;mtable columnalign=&quot;left&quot; columnspacing=&quot;1em&quot; rowspacing=&quot;4pt&quot;&gt;&lt;mtr&gt;&lt;mtd&gt;&lt;mn&gt;2&lt;/mn&gt;&lt;mtext&gt;&lt;/mtext&gt;&lt;mo&gt;×&lt;/mo&gt;&lt;mn&gt;0.64&lt;/mn&gt;&lt;mtext&gt;&lt;/mtext&gt;&lt;mo&gt;=&lt;/mo&gt;&lt;mtext&gt;&lt;/mtext&gt;&lt;mn&gt;1.28&lt;/mn&gt;&lt;/mtd&gt;&lt;/mtr&gt;&lt;mtr&gt;&lt;mtd&gt;&lt;mn&gt;32&lt;/mn&gt;&lt;mo&gt;−&lt;/mo&gt;&lt;mn&gt;1.28&lt;/mn&gt;&lt;mtext&gt;&lt;/mtext&gt;&lt;mo&gt;=&lt;/mo&gt;&lt;mtext&gt;&lt;/mtext&gt;&lt;mn&gt;30.72&lt;/mn&gt;&lt;/mtd&gt;&lt;/mtr&gt;&lt;/mtable&gt;&lt;/math&gt;" id="211" name="Google Shape;211;p21" title="2 lines Line 1: 2 times 0.64 equals 1.28 Line 2: 32 minus 1.28 equals 30.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5401" y="5932920"/>
            <a:ext cx="2637674" cy="71191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4255404" y="6651547"/>
            <a:ext cx="8913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66934" y="5804975"/>
            <a:ext cx="299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Sam has found 1% and is multiplying by 2 to give 2%.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4" name="Google Shape;214;p21"/>
          <p:cNvCxnSpPr/>
          <p:nvPr/>
        </p:nvCxnSpPr>
        <p:spPr>
          <a:xfrm flipH="1" rot="10800000">
            <a:off x="3480299" y="6021265"/>
            <a:ext cx="609600" cy="333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" name="Google Shape;215;p21"/>
          <p:cNvSpPr txBox="1"/>
          <p:nvPr/>
        </p:nvSpPr>
        <p:spPr>
          <a:xfrm>
            <a:off x="431275" y="6394351"/>
            <a:ext cx="299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32 represents 50% of the 64.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6" name="Google Shape;216;p21"/>
          <p:cNvCxnSpPr>
            <a:stCxn id="215" idx="3"/>
          </p:cNvCxnSpPr>
          <p:nvPr/>
        </p:nvCxnSpPr>
        <p:spPr>
          <a:xfrm flipH="1" rot="10800000">
            <a:off x="3426175" y="6513301"/>
            <a:ext cx="706800" cy="657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" name="Google Shape;217;p21"/>
          <p:cNvSpPr txBox="1"/>
          <p:nvPr/>
        </p:nvSpPr>
        <p:spPr>
          <a:xfrm>
            <a:off x="431275" y="6786289"/>
            <a:ext cx="299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Sam has subtracted 2% from 50% to make 48% which is 30.72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8" name="Google Shape;218;p21"/>
          <p:cNvCxnSpPr/>
          <p:nvPr/>
        </p:nvCxnSpPr>
        <p:spPr>
          <a:xfrm flipH="1" rot="10800000">
            <a:off x="3334739" y="6763871"/>
            <a:ext cx="726900" cy="1761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" name="Google Shape;219;p21"/>
          <p:cNvSpPr txBox="1"/>
          <p:nvPr/>
        </p:nvSpPr>
        <p:spPr>
          <a:xfrm>
            <a:off x="1961575" y="7693500"/>
            <a:ext cx="51303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 hard cheddar cheese contains 37% water, 33% fat, 23% protein, 3.5% carbohydrates, and 3.5% minerals and other compounds.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From a 250g block of cheese, work out how many grams there are of: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" name="Google Shape;22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300" y="7857950"/>
            <a:ext cx="1289124" cy="114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1908422" y="8553375"/>
            <a:ext cx="46500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Protein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3076325" y="8425475"/>
            <a:ext cx="3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0.37 × 250 = 92.5 g </a:t>
            </a:r>
            <a:endParaRPr sz="1200"/>
          </a:p>
        </p:txBody>
      </p:sp>
      <p:sp>
        <p:nvSpPr>
          <p:cNvPr id="223" name="Google Shape;223;p21"/>
          <p:cNvSpPr txBox="1"/>
          <p:nvPr/>
        </p:nvSpPr>
        <p:spPr>
          <a:xfrm>
            <a:off x="3076325" y="8740559"/>
            <a:ext cx="3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0.33 × 250 = 82.5 g </a:t>
            </a:r>
            <a:endParaRPr sz="1200"/>
          </a:p>
        </p:txBody>
      </p:sp>
      <p:sp>
        <p:nvSpPr>
          <p:cNvPr id="224" name="Google Shape;224;p21"/>
          <p:cNvSpPr txBox="1"/>
          <p:nvPr/>
        </p:nvSpPr>
        <p:spPr>
          <a:xfrm>
            <a:off x="3076325" y="9131844"/>
            <a:ext cx="3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0.23 × 250 = 57.5 g </a:t>
            </a:r>
            <a:endParaRPr sz="1200"/>
          </a:p>
        </p:txBody>
      </p:sp>
      <p:sp>
        <p:nvSpPr>
          <p:cNvPr id="225" name="Google Shape;225;p21"/>
          <p:cNvSpPr txBox="1"/>
          <p:nvPr/>
        </p:nvSpPr>
        <p:spPr>
          <a:xfrm>
            <a:off x="476400" y="835500"/>
            <a:ext cx="6624000" cy="21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Work out: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a)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27% of 560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b)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18% of 244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c)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6% of 94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2132299" y="1021067"/>
            <a:ext cx="34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0.27 × 560 = 151.2  </a:t>
            </a:r>
            <a:endParaRPr sz="1200"/>
          </a:p>
        </p:txBody>
      </p:sp>
      <p:sp>
        <p:nvSpPr>
          <p:cNvPr id="227" name="Google Shape;227;p21"/>
          <p:cNvSpPr txBox="1"/>
          <p:nvPr/>
        </p:nvSpPr>
        <p:spPr>
          <a:xfrm>
            <a:off x="2132299" y="1717644"/>
            <a:ext cx="364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0.18 × 244 = 43.92 </a:t>
            </a:r>
            <a:endParaRPr sz="1200"/>
          </a:p>
        </p:txBody>
      </p:sp>
      <p:sp>
        <p:nvSpPr>
          <p:cNvPr id="228" name="Google Shape;228;p21"/>
          <p:cNvSpPr txBox="1"/>
          <p:nvPr/>
        </p:nvSpPr>
        <p:spPr>
          <a:xfrm>
            <a:off x="2164054" y="2449251"/>
            <a:ext cx="364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0.06 × 94 = 5.64 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