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4"/>
    <p:sldMasterId id="21474837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66C8A4-B8F1-4EC2-BC71-58DADF5E252C}">
  <a:tblStyle styleId="{5166C8A4-B8F1-4EC2-BC71-58DADF5E25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2b5e8f584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3" name="Google Shape;1513;g2b5e8f584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2b0ff0be6d2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2b0ff0be6d2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2b4ffefc0a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6" name="Google Shape;1526;g2b4ffefc0a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2b4ffefc0a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2b4ffefc0a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2b4ffefc0a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2b4ffefc0a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2b4ffefc0a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2b4ffefc0a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2b566a686b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2b566a686b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2b566a686b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2b566a686b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2b566a68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2b566a68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2b566a686bd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2b566a686bd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2b566a686b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2b566a686b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g2b566a686b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4" name="Google Shape;1704;g2b566a686b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2b566a686bd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2b566a686bd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2b579750c4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2b579750c4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2b579750c4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2b579750c4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2b579750c4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2b579750c4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2b579750c4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2b579750c4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2b579750c4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2b579750c4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g2b566a686bd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9" name="Google Shape;1829;g2b566a686bd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2b566a686bd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2b566a686bd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2b566a686bd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2b566a686bd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2b566a686b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2b566a686b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2b4ffefc0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2b4ffefc0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2b4ffefc0a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2b4ffefc0a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2b4ffefc0a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2b4ffefc0a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2b566a686bd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2b566a686bd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2b579750c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4" name="Google Shape;1954;g2b579750c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2b4ffefc0a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2b4ffefc0a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2b4ffefc0a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2b4ffefc0a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2b68f0e2ce7_0_1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" name="Google Shape;2011;g2b68f0e2ce7_0_1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2b856edec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2b856edec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g2b68f0e2ce7_0_1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1" name="Google Shape;2031;g2b68f0e2ce7_0_1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g2b4ffefc0a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8" name="Google Shape;2038;g2b4ffefc0a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g2b68f0e2ce7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9" name="Google Shape;2049;g2b68f0e2ce7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g2b68f0e2ce7_0_1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6" name="Google Shape;2066;g2b68f0e2ce7_0_1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g2b68f0e2ce7_0_1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3" name="Google Shape;2073;g2b68f0e2ce7_0_1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2b68f0e2ce7_0_1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2b68f0e2ce7_0_1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2b68f0e2ce7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2b68f0e2ce7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g2b856edec0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7" name="Google Shape;2097;g2b856edec0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6" name="Google Shape;210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89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89.png"/><Relationship Id="rId4" Type="http://schemas.openxmlformats.org/officeDocument/2006/relationships/image" Target="../media/image25.png"/><Relationship Id="rId9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89.png"/><Relationship Id="rId4" Type="http://schemas.openxmlformats.org/officeDocument/2006/relationships/image" Target="../media/image29.png"/><Relationship Id="rId11" Type="http://schemas.openxmlformats.org/officeDocument/2006/relationships/image" Target="../media/image13.png"/><Relationship Id="rId10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2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Relationship Id="rId4" Type="http://schemas.openxmlformats.org/officeDocument/2006/relationships/image" Target="../media/image89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9.png"/><Relationship Id="rId4" Type="http://schemas.openxmlformats.org/officeDocument/2006/relationships/image" Target="../media/image25.png"/><Relationship Id="rId9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9.png"/><Relationship Id="rId4" Type="http://schemas.openxmlformats.org/officeDocument/2006/relationships/image" Target="../media/image29.png"/><Relationship Id="rId11" Type="http://schemas.openxmlformats.org/officeDocument/2006/relationships/image" Target="../media/image13.png"/><Relationship Id="rId10" Type="http://schemas.openxmlformats.org/officeDocument/2006/relationships/image" Target="../media/image35.png"/><Relationship Id="rId9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78750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78750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5" name="Google Shape;755;p6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7" name="Google Shape;76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1" name="Google Shape;781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7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3" name="Google Shape;78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5" name="Google Shape;785;p6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6" name="Google Shape;786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7" name="Google Shape;787;p67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8" name="Google Shape;788;p6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9" name="Google Shape;799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1" name="Google Shape;801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4" name="Google Shape;804;p6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5" name="Google Shape;805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9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7" name="Google Shape;807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" name="Google Shape;80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9" name="Google Shape;819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1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3" name="Google Shape;823;p7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4" name="Google Shape;824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5" name="Google Shape;825;p71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6" name="Google Shape;826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1" name="Google Shape;831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3" name="Google Shape;833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3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4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4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4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4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4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5" name="Google Shape;845;p74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846" name="Google Shape;846;p7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7" name="Google Shape;847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8" name="Google Shape;848;p7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9" name="Google Shape;849;p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50" name="Google Shape;850;p74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52" name="Google Shape;852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5" name="Google Shape;855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7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9" name="Google Shape;859;p75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5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5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2" name="Google Shape;862;p75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5" name="Google Shape;865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7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7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76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0" name="Google Shape;870;p76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6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6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6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6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7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7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7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7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4" name="Google Shape;884;p77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5" name="Google Shape;885;p77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77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7" name="Google Shape;887;p77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7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1" name="Google Shape;891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78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4" name="Google Shape;894;p78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78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6" name="Google Shape;896;p78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9" name="Google Shape;899;p7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7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7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2" name="Google Shape;902;p79"/>
          <p:cNvCxnSpPr>
            <a:endCxn id="903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4" name="Google Shape;904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7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6" name="Google Shape;906;p7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3" name="Google Shape;903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7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7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" name="Google Shape;911;p8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8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8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7" name="Google Shape;917;p80"/>
          <p:cNvCxnSpPr>
            <a:endCxn id="918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8" name="Google Shape;918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1" name="Google Shape;921;p8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2" name="Google Shape;922;p8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3" name="Google Shape;923;p8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5" name="Google Shape;925;p8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8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7" name="Google Shape;937;p8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8" name="Google Shape;938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2" name="Google Shape;942;p8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3" name="Google Shape;943;p8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4" name="Google Shape;944;p8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5" name="Google Shape;945;p8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7" name="Google Shape;947;p8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8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1" name="Google Shape;951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4" name="Google Shape;9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5" name="Google Shape;95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8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8" name="Google Shape;958;p8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1" name="Google Shape;961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3" name="Google Shape;963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" name="Google Shape;965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8" name="Google Shape;968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0" name="Google Shape;970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8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5" name="Google Shape;975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7" name="Google Shape;977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8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0" name="Google Shape;980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8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3" name="Google Shape;983;p8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4" name="Google Shape;984;p8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5" name="Google Shape;985;p8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6" name="Google Shape;986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8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8" name="Google Shape;988;p8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9" name="Google Shape;989;p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3" name="Google Shape;993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6" name="Google Shape;996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7" name="Google Shape;99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8" name="Google Shape;998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9" name="Google Shape;999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1" name="Google Shape;1001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2" name="Google Shape;1002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8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6" name="Google Shape;1006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9" name="Google Shape;1009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0" name="Google Shape;1010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1" name="Google Shape;1011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2" name="Google Shape;1012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4" name="Google Shape;1014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5" name="Google Shape;1015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6" name="Google Shape;1016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9" name="Google Shape;1019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8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2" name="Google Shape;1022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3" name="Google Shape;1023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4" name="Google Shape;1024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5" name="Google Shape;1025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6" name="Google Shape;1026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7" name="Google Shape;1027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8" name="Google Shape;102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Google Shape;1031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9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9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9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9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9" name="Google Shape;1039;p9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0" name="Google Shape;1040;p9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1" name="Google Shape;1041;p9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2" name="Google Shape;1042;p9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9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4" name="Google Shape;1044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9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7" name="Google Shape;1047;p9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8" name="Google Shape;1048;p9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0" name="Google Shape;1050;p9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1" name="Google Shape;1051;p9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0" name="Google Shape;1060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1" name="Google Shape;1061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4" name="Google Shape;1064;p9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5" name="Google Shape;1065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6" name="Google Shape;1066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7" name="Google Shape;1067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8" name="Google Shape;106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9" name="Google Shape;1069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70" name="Google Shape;1070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2" name="Google Shape;1072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4" name="Google Shape;108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7" name="Google Shape;1087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8" name="Google Shape;1088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9" name="Google Shape;1089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0" name="Google Shape;1090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1" name="Google Shape;1091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2" name="Google Shape;1092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3" name="Google Shape;109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4" name="Google Shape;109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5" name="Google Shape;1095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0" name="Google Shape;1100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9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6" name="Google Shape;1106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7" name="Google Shape;1107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0" name="Google Shape;1110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1" name="Google Shape;1111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2" name="Google Shape;1112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3" name="Google Shape;1113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4" name="Google Shape;1114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5" name="Google Shape;1115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6" name="Google Shape;111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7" name="Google Shape;111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8" name="Google Shape;1118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3" name="Google Shape;1123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9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6" name="Google Shape;1126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9" name="Google Shape;1129;p9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0" name="Google Shape;1130;p9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1" name="Google Shape;1131;p9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2" name="Google Shape;1132;p9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3" name="Google Shape;1133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4" name="Google Shape;1134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5" name="Google Shape;1135;p9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6" name="Google Shape;113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8" name="Google Shape;1138;p9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9" name="Google Shape;113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2" name="Google Shape;1142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5" name="Google Shape;1145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8" name="Google Shape;1148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0" name="Google Shape;1150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1" name="Google Shape;1151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2" name="Google Shape;115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4" name="Google Shape;1154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5" name="Google Shape;115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7" name="Google Shape;1157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8" name="Google Shape;1158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1" name="Google Shape;1161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4" name="Google Shape;1164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7" name="Google Shape;1167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8" name="Google Shape;1168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9" name="Google Shape;1169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0" name="Google Shape;1170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1" name="Google Shape;117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2" name="Google Shape;117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3" name="Google Shape;1173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4" name="Google Shape;117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5" name="Google Shape;117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6" name="Google Shape;1176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7" name="Google Shape;1177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0" name="Google Shape;1180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9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3" name="Google Shape;1183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6" name="Google Shape;1186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7" name="Google Shape;1187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8" name="Google Shape;1188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9" name="Google Shape;1189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90" name="Google Shape;119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1" name="Google Shape;119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2" name="Google Shape;1192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3" name="Google Shape;1193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5" name="Google Shape;1195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6" name="Google Shape;1196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7" name="Google Shape;1197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9" name="Google Shape;1199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9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2" name="Google Shape;1202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5" name="Google Shape;1205;p9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6" name="Google Shape;1206;p9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7" name="Google Shape;1207;p9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8" name="Google Shape;1208;p9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9" name="Google Shape;1209;p9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10" name="Google Shape;1210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1" name="Google Shape;121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2" name="Google Shape;1212;p9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3" name="Google Shape;1213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4" name="Google Shape;1214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5" name="Google Shape;1215;p9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6" name="Google Shape;121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7" name="Google Shape;121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8" name="Google Shape;1218;p9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9" name="Google Shape;121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0" name="Google Shape;122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2" name="Google Shape;1222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5" name="Google Shape;1225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8" name="Google Shape;1228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9" name="Google Shape;1229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0" name="Google Shape;1230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1" name="Google Shape;1231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2" name="Google Shape;1232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3" name="Google Shape;123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4" name="Google Shape;123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5" name="Google Shape;1235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6" name="Google Shape;123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7" name="Google Shape;123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8" name="Google Shape;1238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9" name="Google Shape;123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0" name="Google Shape;124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1" name="Google Shape;1241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2" name="Google Shape;124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3" name="Google Shape;124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5" name="Google Shape;1245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8" name="Google Shape;1248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1" name="Google Shape;1251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2" name="Google Shape;1252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3" name="Google Shape;1253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4" name="Google Shape;1254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5" name="Google Shape;1255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6" name="Google Shape;1256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7" name="Google Shape;1257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8" name="Google Shape;1258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9" name="Google Shape;125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0" name="Google Shape;126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1" name="Google Shape;1261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2" name="Google Shape;126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3" name="Google Shape;126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4" name="Google Shape;1264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5" name="Google Shape;126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6" name="Google Shape;126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8" name="Google Shape;1268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10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1" name="Google Shape;127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4" name="Google Shape;1274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5" name="Google Shape;1275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6" name="Google Shape;1276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7" name="Google Shape;1277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8" name="Google Shape;1278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9" name="Google Shape;127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0" name="Google Shape;128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1" name="Google Shape;1281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2" name="Google Shape;128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3" name="Google Shape;128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4" name="Google Shape;1284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8" name="Google Shape;128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9" name="Google Shape;128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1" name="Google Shape;1291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4" name="Google Shape;129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7" name="Google Shape;1297;p10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8" name="Google Shape;1298;p10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9" name="Google Shape;1299;p10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00" name="Google Shape;1300;p10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1" name="Google Shape;130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2" name="Google Shape;130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3" name="Google Shape;1303;p10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4" name="Google Shape;130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10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7" name="Google Shape;1307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" name="Google Shape;1310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3" name="Google Shape;1313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4" name="Google Shape;1314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6" name="Google Shape;1316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8" name="Google Shape;1318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9" name="Google Shape;1319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0" name="Google Shape;132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1" name="Google Shape;132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2" name="Google Shape;1322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3" name="Google Shape;132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4" name="Google Shape;132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5" name="Google Shape;1325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6" name="Google Shape;132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7" name="Google Shape;132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9" name="Google Shape;1329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2" name="Google Shape;133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3" name="Google Shape;1333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5" name="Google Shape;1335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6" name="Google Shape;1336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7" name="Google Shape;1337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8" name="Google Shape;1338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9" name="Google Shape;133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0" name="Google Shape;134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1" name="Google Shape;1341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2" name="Google Shape;134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3" name="Google Shape;134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4" name="Google Shape;1344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5" name="Google Shape;1345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8" name="Google Shape;1348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p10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1" name="Google Shape;1351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4" name="Google Shape;1354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5" name="Google Shape;1355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6" name="Google Shape;1356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7" name="Google Shape;1357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8" name="Google Shape;135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9" name="Google Shape;135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0" name="Google Shape;1360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1" name="Google Shape;1361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2" name="Google Shape;136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3" name="Google Shape;1363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4" name="Google Shape;1364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5" name="Google Shape;136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7" name="Google Shape;1367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10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0" name="Google Shape;1370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2" name="Google Shape;1372;p10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4" name="Google Shape;1374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7" name="Google Shape;1377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1" name="Google Shape;1381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4" name="Google Shape;1384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8" name="Google Shape;1388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10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1" name="Google Shape;1391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5" name="Google Shape;1395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8" name="Google Shape;1398;p11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1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0" name="Google Shape;1400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Google Shape;1403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9" name="Google Shape;140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Google Shape;1411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7" name="Google Shape;141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Google Shape;1419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5" name="Google Shape;1425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7" name="Google Shape;1427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2" name="Google Shape;1432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0" name="Google Shape;1440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1" name="Google Shape;1441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8" name="Google Shape;144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9" name="Google Shape;1449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1" name="Google Shape;1451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1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6" name="Google Shape;1456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7" name="Google Shape;1457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1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0" name="Google Shape;1460;p1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11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2" name="Google Shape;1462;p11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1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1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6" name="Google Shape;1466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8" name="Google Shape;1468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11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1" name="Google Shape;1471;p1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12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2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12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12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" name="Google Shape;1484;p1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12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2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0" name="Google Shape;1490;p1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1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12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3" name="Google Shape;1493;p12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4" name="Google Shape;1494;p12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0.xml"/><Relationship Id="rId42" Type="http://schemas.openxmlformats.org/officeDocument/2006/relationships/slideLayout" Target="../slideLayouts/slideLayout102.xml"/><Relationship Id="rId41" Type="http://schemas.openxmlformats.org/officeDocument/2006/relationships/slideLayout" Target="../slideLayouts/slideLayout101.xml"/><Relationship Id="rId44" Type="http://schemas.openxmlformats.org/officeDocument/2006/relationships/slideLayout" Target="../slideLayouts/slideLayout104.xml"/><Relationship Id="rId43" Type="http://schemas.openxmlformats.org/officeDocument/2006/relationships/slideLayout" Target="../slideLayouts/slideLayout103.xml"/><Relationship Id="rId46" Type="http://schemas.openxmlformats.org/officeDocument/2006/relationships/slideLayout" Target="../slideLayouts/slideLayout106.xml"/><Relationship Id="rId45" Type="http://schemas.openxmlformats.org/officeDocument/2006/relationships/slideLayout" Target="../slideLayouts/slideLayout105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48" Type="http://schemas.openxmlformats.org/officeDocument/2006/relationships/slideLayout" Target="../slideLayouts/slideLayout108.xml"/><Relationship Id="rId47" Type="http://schemas.openxmlformats.org/officeDocument/2006/relationships/slideLayout" Target="../slideLayouts/slideLayout107.xml"/><Relationship Id="rId49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6.xml"/><Relationship Id="rId7" Type="http://schemas.openxmlformats.org/officeDocument/2006/relationships/slideLayout" Target="../slideLayouts/slideLayout67.xml"/><Relationship Id="rId8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91.xml"/><Relationship Id="rId30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5.xml"/><Relationship Id="rId34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98.xml"/><Relationship Id="rId62" Type="http://schemas.openxmlformats.org/officeDocument/2006/relationships/slideLayout" Target="../slideLayouts/slideLayout122.xml"/><Relationship Id="rId61" Type="http://schemas.openxmlformats.org/officeDocument/2006/relationships/slideLayout" Target="../slideLayouts/slideLayout121.xml"/><Relationship Id="rId20" Type="http://schemas.openxmlformats.org/officeDocument/2006/relationships/slideLayout" Target="../slideLayouts/slideLayout80.xml"/><Relationship Id="rId63" Type="http://schemas.openxmlformats.org/officeDocument/2006/relationships/theme" Target="../theme/theme3.xml"/><Relationship Id="rId22" Type="http://schemas.openxmlformats.org/officeDocument/2006/relationships/slideLayout" Target="../slideLayouts/slideLayout82.xml"/><Relationship Id="rId2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83.xml"/><Relationship Id="rId60" Type="http://schemas.openxmlformats.org/officeDocument/2006/relationships/slideLayout" Target="../slideLayouts/slideLayout120.xml"/><Relationship Id="rId26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89.xml"/><Relationship Id="rId51" Type="http://schemas.openxmlformats.org/officeDocument/2006/relationships/slideLayout" Target="../slideLayouts/slideLayout111.xml"/><Relationship Id="rId50" Type="http://schemas.openxmlformats.org/officeDocument/2006/relationships/slideLayout" Target="../slideLayouts/slideLayout110.xml"/><Relationship Id="rId53" Type="http://schemas.openxmlformats.org/officeDocument/2006/relationships/slideLayout" Target="../slideLayouts/slideLayout113.xml"/><Relationship Id="rId5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71.xml"/><Relationship Id="rId5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70.xml"/><Relationship Id="rId5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73.xml"/><Relationship Id="rId5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72.xml"/><Relationship Id="rId5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75.xml"/><Relationship Id="rId59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74.xml"/><Relationship Id="rId5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52" name="Google Shape;752;p63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53" name="Google Shape;753;p6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  <p:sldLayoutId id="2147483768" r:id="rId61"/>
    <p:sldLayoutId id="2147483769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Relationship Id="rId5" Type="http://schemas.openxmlformats.org/officeDocument/2006/relationships/image" Target="../media/image10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7.png"/><Relationship Id="rId4" Type="http://schemas.openxmlformats.org/officeDocument/2006/relationships/image" Target="../media/image105.png"/><Relationship Id="rId5" Type="http://schemas.openxmlformats.org/officeDocument/2006/relationships/image" Target="../media/image109.png"/><Relationship Id="rId6" Type="http://schemas.openxmlformats.org/officeDocument/2006/relationships/image" Target="../media/image106.png"/><Relationship Id="rId7" Type="http://schemas.openxmlformats.org/officeDocument/2006/relationships/image" Target="../media/image10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7.png"/><Relationship Id="rId4" Type="http://schemas.openxmlformats.org/officeDocument/2006/relationships/image" Target="../media/image105.png"/><Relationship Id="rId5" Type="http://schemas.openxmlformats.org/officeDocument/2006/relationships/image" Target="../media/image109.png"/><Relationship Id="rId6" Type="http://schemas.openxmlformats.org/officeDocument/2006/relationships/image" Target="../media/image106.png"/><Relationship Id="rId7" Type="http://schemas.openxmlformats.org/officeDocument/2006/relationships/image" Target="../media/image10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3.png"/><Relationship Id="rId4" Type="http://schemas.openxmlformats.org/officeDocument/2006/relationships/image" Target="../media/image112.png"/><Relationship Id="rId5" Type="http://schemas.openxmlformats.org/officeDocument/2006/relationships/image" Target="../media/image115.png"/><Relationship Id="rId6" Type="http://schemas.openxmlformats.org/officeDocument/2006/relationships/image" Target="../media/image1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 in context</a:t>
            </a:r>
            <a:endParaRPr/>
          </a:p>
        </p:txBody>
      </p:sp>
      <p:sp>
        <p:nvSpPr>
          <p:cNvPr id="1500" name="Google Shape;1500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percentages and proportionality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2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direct proportion in a range of contexts, including compound measures.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28"/>
          <p:cNvSpPr txBox="1"/>
          <p:nvPr>
            <p:ph idx="1" type="subTitle"/>
          </p:nvPr>
        </p:nvSpPr>
        <p:spPr>
          <a:xfrm>
            <a:off x="306950" y="10650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Two variables are in direct proportion if they have a constant multiplicative relationship.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2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521" name="Google Shape;1521;p12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1522" name="Google Shape;1522;p12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 in context</a:t>
            </a:r>
            <a:endParaRPr/>
          </a:p>
        </p:txBody>
      </p:sp>
      <p:pic>
        <p:nvPicPr>
          <p:cNvPr id="1523" name="Google Shape;1523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33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529" name="Google Shape;1529;p13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 between units of measure is an example of variables which are directly proportional.  E.g.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converting between metric units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converting between units of time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converting between different currencies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converting between metric and imperial units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535" name="Google Shape;1535;p131"/>
          <p:cNvSpPr txBox="1"/>
          <p:nvPr>
            <p:ph idx="1" type="body"/>
          </p:nvPr>
        </p:nvSpPr>
        <p:spPr>
          <a:xfrm>
            <a:off x="324000" y="759300"/>
            <a:ext cx="8496000" cy="74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Since </a:t>
            </a:r>
            <a:r>
              <a:rPr lang="en-GB" sz="2000"/>
              <a:t>directly proportional variables have</a:t>
            </a:r>
            <a:r>
              <a:rPr lang="en-GB" sz="2000"/>
              <a:t> a multiplicative relationship, we can use a ratio table to find other information.</a:t>
            </a:r>
            <a:endParaRPr sz="2000"/>
          </a:p>
        </p:txBody>
      </p:sp>
      <p:pic>
        <p:nvPicPr>
          <p:cNvPr id="1536" name="Google Shape;1536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155" y="32812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p131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8" name="Google Shape;1538;p131"/>
          <p:cNvGrpSpPr/>
          <p:nvPr/>
        </p:nvGrpSpPr>
        <p:grpSpPr>
          <a:xfrm>
            <a:off x="969953" y="1450775"/>
            <a:ext cx="3680072" cy="1936816"/>
            <a:chOff x="1017512" y="1867976"/>
            <a:chExt cx="3320166" cy="1936816"/>
          </a:xfrm>
        </p:grpSpPr>
        <p:pic>
          <p:nvPicPr>
            <p:cNvPr id="1539" name="Google Shape;1539;p131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017512" y="1867976"/>
              <a:ext cx="3320166" cy="19368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0" name="Google Shape;1540;p131"/>
            <p:cNvSpPr txBox="1"/>
            <p:nvPr/>
          </p:nvSpPr>
          <p:spPr>
            <a:xfrm>
              <a:off x="1337520" y="2358502"/>
              <a:ext cx="27714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dad has a great way of remembering the miles and kilometres conversion fact.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1" name="Google Shape;1541;p131"/>
          <p:cNvGrpSpPr/>
          <p:nvPr/>
        </p:nvGrpSpPr>
        <p:grpSpPr>
          <a:xfrm>
            <a:off x="4724400" y="2082750"/>
            <a:ext cx="3179126" cy="1892826"/>
            <a:chOff x="4724400" y="2082750"/>
            <a:chExt cx="3179126" cy="1892826"/>
          </a:xfrm>
        </p:grpSpPr>
        <p:pic>
          <p:nvPicPr>
            <p:cNvPr id="1542" name="Google Shape;1542;p131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4724400" y="2082750"/>
              <a:ext cx="3179126" cy="1892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3" name="Google Shape;1543;p131"/>
            <p:cNvSpPr txBox="1"/>
            <p:nvPr/>
          </p:nvSpPr>
          <p:spPr>
            <a:xfrm>
              <a:off x="4949185" y="2436846"/>
              <a:ext cx="2771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When I run I measure it in kilometres but my mum always wants to know what it is in miles!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44" name="Google Shape;1544;p1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6250" y="35208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131"/>
          <p:cNvSpPr txBox="1"/>
          <p:nvPr/>
        </p:nvSpPr>
        <p:spPr>
          <a:xfrm>
            <a:off x="7548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46" name="Google Shape;1546;p131"/>
          <p:cNvGrpSpPr/>
          <p:nvPr/>
        </p:nvGrpSpPr>
        <p:grpSpPr>
          <a:xfrm>
            <a:off x="1191106" y="3531776"/>
            <a:ext cx="2594324" cy="1370526"/>
            <a:chOff x="1334551" y="3772975"/>
            <a:chExt cx="2594324" cy="1370526"/>
          </a:xfrm>
        </p:grpSpPr>
        <p:pic>
          <p:nvPicPr>
            <p:cNvPr id="1547" name="Google Shape;1547;p131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334551" y="3772975"/>
              <a:ext cx="2594324" cy="13705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8" name="Google Shape;1548;p131"/>
            <p:cNvSpPr txBox="1"/>
            <p:nvPr/>
          </p:nvSpPr>
          <p:spPr>
            <a:xfrm>
              <a:off x="1562895" y="4048875"/>
              <a:ext cx="2253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If you had a 5 mile wait in kilometres it would be 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9" name="Google Shape;1549;p131"/>
          <p:cNvGrpSpPr/>
          <p:nvPr/>
        </p:nvGrpSpPr>
        <p:grpSpPr>
          <a:xfrm>
            <a:off x="5687320" y="3895481"/>
            <a:ext cx="2088074" cy="613499"/>
            <a:chOff x="4489675" y="4090990"/>
            <a:chExt cx="2088074" cy="613499"/>
          </a:xfrm>
        </p:grpSpPr>
        <p:pic>
          <p:nvPicPr>
            <p:cNvPr id="1550" name="Google Shape;1550;p131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4489675" y="4090990"/>
              <a:ext cx="2088074" cy="61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1" name="Google Shape;1551;p131"/>
            <p:cNvSpPr txBox="1"/>
            <p:nvPr/>
          </p:nvSpPr>
          <p:spPr>
            <a:xfrm>
              <a:off x="4624875" y="4242450"/>
              <a:ext cx="1882800" cy="35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 is brilliant!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557" name="Google Shape;1557;p132"/>
          <p:cNvSpPr txBox="1"/>
          <p:nvPr>
            <p:ph idx="1" type="body"/>
          </p:nvPr>
        </p:nvSpPr>
        <p:spPr>
          <a:xfrm>
            <a:off x="324000" y="2405825"/>
            <a:ext cx="6183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far did Jacob run this weekend in miles?</a:t>
            </a:r>
            <a:endParaRPr/>
          </a:p>
        </p:txBody>
      </p:sp>
      <p:pic>
        <p:nvPicPr>
          <p:cNvPr id="1558" name="Google Shape;1558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155" y="8428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59" name="Google Shape;1559;p132"/>
          <p:cNvSpPr txBox="1"/>
          <p:nvPr/>
        </p:nvSpPr>
        <p:spPr>
          <a:xfrm>
            <a:off x="309550" y="2083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0" name="Google Shape;1560;p132"/>
          <p:cNvGrpSpPr/>
          <p:nvPr/>
        </p:nvGrpSpPr>
        <p:grpSpPr>
          <a:xfrm>
            <a:off x="1182152" y="572575"/>
            <a:ext cx="2187448" cy="1236800"/>
            <a:chOff x="1182152" y="1944175"/>
            <a:chExt cx="2187448" cy="1236800"/>
          </a:xfrm>
        </p:grpSpPr>
        <p:pic>
          <p:nvPicPr>
            <p:cNvPr id="1561" name="Google Shape;1561;p132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182152" y="1944175"/>
              <a:ext cx="2187448" cy="123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2" name="Google Shape;1562;p132"/>
            <p:cNvSpPr txBox="1"/>
            <p:nvPr/>
          </p:nvSpPr>
          <p:spPr>
            <a:xfrm>
              <a:off x="1360876" y="2143870"/>
              <a:ext cx="1932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How far did you run this weekend Jacob?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3" name="Google Shape;1563;p132"/>
          <p:cNvGrpSpPr/>
          <p:nvPr/>
        </p:nvGrpSpPr>
        <p:grpSpPr>
          <a:xfrm>
            <a:off x="4824000" y="793475"/>
            <a:ext cx="3029350" cy="911014"/>
            <a:chOff x="5357400" y="2165075"/>
            <a:chExt cx="3029350" cy="911014"/>
          </a:xfrm>
        </p:grpSpPr>
        <p:pic>
          <p:nvPicPr>
            <p:cNvPr id="1564" name="Google Shape;1564;p132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5357400" y="2165075"/>
              <a:ext cx="3029350" cy="895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5" name="Google Shape;1565;p132"/>
            <p:cNvSpPr txBox="1"/>
            <p:nvPr/>
          </p:nvSpPr>
          <p:spPr>
            <a:xfrm>
              <a:off x="5538989" y="2303289"/>
              <a:ext cx="26412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ran 3 km on Saturday and 4 km on Sunday.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66" name="Google Shape;1566;p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1050" y="10824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132"/>
          <p:cNvSpPr txBox="1"/>
          <p:nvPr/>
        </p:nvSpPr>
        <p:spPr>
          <a:xfrm>
            <a:off x="7853350" y="2083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68" name="Google Shape;1568;p132"/>
          <p:cNvGraphicFramePr/>
          <p:nvPr/>
        </p:nvGraphicFramePr>
        <p:xfrm>
          <a:off x="3435105" y="288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1130575"/>
                <a:gridCol w="1130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9" name="Google Shape;1569;p132"/>
          <p:cNvSpPr/>
          <p:nvPr/>
        </p:nvSpPr>
        <p:spPr>
          <a:xfrm flipH="1" rot="-5400000">
            <a:off x="3061755" y="3609969"/>
            <a:ext cx="561300" cy="6993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132"/>
          <p:cNvSpPr/>
          <p:nvPr/>
        </p:nvSpPr>
        <p:spPr>
          <a:xfrm rot="5400000">
            <a:off x="5520980" y="3689825"/>
            <a:ext cx="561300" cy="5970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1" name="Google Shape;1571;p132"/>
          <p:cNvGrpSpPr/>
          <p:nvPr/>
        </p:nvGrpSpPr>
        <p:grpSpPr>
          <a:xfrm>
            <a:off x="6121746" y="3707675"/>
            <a:ext cx="472413" cy="561300"/>
            <a:chOff x="6121746" y="3777750"/>
            <a:chExt cx="472413" cy="561300"/>
          </a:xfrm>
        </p:grpSpPr>
        <p:sp>
          <p:nvSpPr>
            <p:cNvPr id="1572" name="Google Shape;1572;p132"/>
            <p:cNvSpPr txBox="1"/>
            <p:nvPr/>
          </p:nvSpPr>
          <p:spPr>
            <a:xfrm>
              <a:off x="6121746" y="3919800"/>
              <a:ext cx="27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\frac{7}{8}\\&amp;#13;&amp;#10;\end{array}&quot;&gt;&lt;mtable columnalign=&quot;left&quot; columnspacing=&quot;1em&quot; rowspacing=&quot;4pt&quot;&gt;&lt;mtr&gt;&lt;mtd&gt;&lt;mfrac&gt;&lt;mn&gt;7&lt;/mn&gt;&lt;mn&gt;8&lt;/mn&gt;&lt;/mfrac&gt;&lt;/mtd&gt;&lt;/mtr&gt;&lt;/mtable&gt;&lt;/math&gt;" id="1573" name="Google Shape;1573;p132" title="1 lines Line 1: seven eigh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395650" y="3777750"/>
              <a:ext cx="198509" cy="561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4" name="Google Shape;1574;p132"/>
          <p:cNvGrpSpPr/>
          <p:nvPr/>
        </p:nvGrpSpPr>
        <p:grpSpPr>
          <a:xfrm>
            <a:off x="2484286" y="3631475"/>
            <a:ext cx="472413" cy="561300"/>
            <a:chOff x="6121746" y="3777750"/>
            <a:chExt cx="472413" cy="561300"/>
          </a:xfrm>
        </p:grpSpPr>
        <p:sp>
          <p:nvSpPr>
            <p:cNvPr id="1575" name="Google Shape;1575;p132"/>
            <p:cNvSpPr txBox="1"/>
            <p:nvPr/>
          </p:nvSpPr>
          <p:spPr>
            <a:xfrm>
              <a:off x="6121746" y="3919800"/>
              <a:ext cx="2739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begin{array}{l}\frac{7}{8}\\&amp;#13;&amp;#10;\end{array}&quot;&gt;&lt;mtable columnalign=&quot;left&quot; columnspacing=&quot;1em&quot; rowspacing=&quot;4pt&quot;&gt;&lt;mtr&gt;&lt;mtd&gt;&lt;mfrac&gt;&lt;mn&gt;7&lt;/mn&gt;&lt;mn&gt;8&lt;/mn&gt;&lt;/mfrac&gt;&lt;/mtd&gt;&lt;/mtr&gt;&lt;/mtable&gt;&lt;/math&gt;" id="1576" name="Google Shape;1576;p132" title="1 lines Line 1: seven eigh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395650" y="3777750"/>
              <a:ext cx="198509" cy="5613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577" name="Google Shape;1577;p132"/>
          <p:cNvGraphicFramePr/>
          <p:nvPr/>
        </p:nvGraphicFramePr>
        <p:xfrm>
          <a:off x="3435105" y="288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1130575"/>
                <a:gridCol w="1130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km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4.375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8" name="Google Shape;1578;p132"/>
          <p:cNvSpPr txBox="1"/>
          <p:nvPr>
            <p:ph idx="1" type="body"/>
          </p:nvPr>
        </p:nvSpPr>
        <p:spPr>
          <a:xfrm>
            <a:off x="324000" y="4505270"/>
            <a:ext cx="6183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Jacob ran 4.375 miles at the weekend.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584" name="Google Shape;1584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155" y="32812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133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86" name="Google Shape;1586;p133"/>
          <p:cNvGrpSpPr/>
          <p:nvPr/>
        </p:nvGrpSpPr>
        <p:grpSpPr>
          <a:xfrm>
            <a:off x="965802" y="2461875"/>
            <a:ext cx="2195268" cy="1383426"/>
            <a:chOff x="1182154" y="1410774"/>
            <a:chExt cx="2195268" cy="1029488"/>
          </a:xfrm>
        </p:grpSpPr>
        <p:pic>
          <p:nvPicPr>
            <p:cNvPr id="1587" name="Google Shape;1587;p133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182154" y="1410774"/>
              <a:ext cx="2187448" cy="1029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8" name="Google Shape;1588;p133"/>
            <p:cNvSpPr txBox="1"/>
            <p:nvPr/>
          </p:nvSpPr>
          <p:spPr>
            <a:xfrm>
              <a:off x="1445423" y="1585053"/>
              <a:ext cx="1932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area of a rectangle is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length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width.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89" name="Google Shape;1589;p133"/>
          <p:cNvGrpSpPr/>
          <p:nvPr/>
        </p:nvGrpSpPr>
        <p:grpSpPr>
          <a:xfrm>
            <a:off x="4899587" y="2849040"/>
            <a:ext cx="2964591" cy="1265832"/>
            <a:chOff x="6123163" y="1712439"/>
            <a:chExt cx="3605681" cy="2065316"/>
          </a:xfrm>
        </p:grpSpPr>
        <p:pic>
          <p:nvPicPr>
            <p:cNvPr id="1590" name="Google Shape;1590;p133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6123163" y="1712439"/>
              <a:ext cx="3592361" cy="16159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1" name="Google Shape;1591;p133"/>
            <p:cNvSpPr txBox="1"/>
            <p:nvPr/>
          </p:nvSpPr>
          <p:spPr>
            <a:xfrm>
              <a:off x="6403343" y="2029954"/>
              <a:ext cx="3325500" cy="17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I’ll work that out.  It is 1.24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5.62 = 6.969 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92" name="Google Shape;1592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8650" y="34446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593" name="Google Shape;1593;p133"/>
          <p:cNvSpPr txBox="1"/>
          <p:nvPr/>
        </p:nvSpPr>
        <p:spPr>
          <a:xfrm>
            <a:off x="7700950" y="4446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133"/>
          <p:cNvSpPr txBox="1"/>
          <p:nvPr>
            <p:ph idx="1" type="body"/>
          </p:nvPr>
        </p:nvSpPr>
        <p:spPr>
          <a:xfrm>
            <a:off x="6344400" y="2373000"/>
            <a:ext cx="2436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Area = </a:t>
            </a:r>
            <a:r>
              <a:rPr lang="en-GB" u="sng"/>
              <a:t>          </a:t>
            </a:r>
            <a:r>
              <a:rPr lang="en-GB"/>
              <a:t> c</a:t>
            </a:r>
            <a:r>
              <a:rPr lang="en-GB"/>
              <a:t>m</a:t>
            </a:r>
            <a:r>
              <a:rPr baseline="30000" lang="en-GB"/>
              <a:t>2</a:t>
            </a:r>
            <a:endParaRPr baseline="30000"/>
          </a:p>
        </p:txBody>
      </p:sp>
      <p:sp>
        <p:nvSpPr>
          <p:cNvPr id="1595" name="Google Shape;1595;p133"/>
          <p:cNvSpPr txBox="1"/>
          <p:nvPr>
            <p:ph idx="1" type="body"/>
          </p:nvPr>
        </p:nvSpPr>
        <p:spPr>
          <a:xfrm>
            <a:off x="7354303" y="2335825"/>
            <a:ext cx="727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6.969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6" name="Google Shape;1596;p133"/>
          <p:cNvSpPr txBox="1"/>
          <p:nvPr>
            <p:ph idx="1" type="body"/>
          </p:nvPr>
        </p:nvSpPr>
        <p:spPr>
          <a:xfrm>
            <a:off x="1378150" y="3962825"/>
            <a:ext cx="6681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Jacob’s answer </a:t>
            </a:r>
            <a:r>
              <a:rPr lang="en-GB"/>
              <a:t>correct</a:t>
            </a:r>
            <a:r>
              <a:rPr lang="en-GB"/>
              <a:t>?</a:t>
            </a:r>
            <a:br>
              <a:rPr lang="en-GB"/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No, the units on the answer line are cm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and not m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7" name="Google Shape;1597;p133"/>
          <p:cNvSpPr txBox="1"/>
          <p:nvPr>
            <p:ph idx="1" type="body"/>
          </p:nvPr>
        </p:nvSpPr>
        <p:spPr>
          <a:xfrm>
            <a:off x="324000" y="771900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area of this rectangle.</a:t>
            </a:r>
            <a:endParaRPr/>
          </a:p>
        </p:txBody>
      </p:sp>
      <p:sp>
        <p:nvSpPr>
          <p:cNvPr id="1598" name="Google Shape;1598;p133"/>
          <p:cNvSpPr/>
          <p:nvPr/>
        </p:nvSpPr>
        <p:spPr>
          <a:xfrm>
            <a:off x="3368275" y="1160330"/>
            <a:ext cx="2436000" cy="805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9" name="Google Shape;1599;p133"/>
          <p:cNvCxnSpPr/>
          <p:nvPr/>
        </p:nvCxnSpPr>
        <p:spPr>
          <a:xfrm>
            <a:off x="3224600" y="1160320"/>
            <a:ext cx="0" cy="8268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00" name="Google Shape;1600;p133"/>
          <p:cNvCxnSpPr/>
          <p:nvPr/>
        </p:nvCxnSpPr>
        <p:spPr>
          <a:xfrm rot="10800000">
            <a:off x="3370875" y="2095855"/>
            <a:ext cx="24360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1" name="Google Shape;1601;p133"/>
          <p:cNvSpPr txBox="1"/>
          <p:nvPr>
            <p:ph idx="1" type="body"/>
          </p:nvPr>
        </p:nvSpPr>
        <p:spPr>
          <a:xfrm>
            <a:off x="2195625" y="140618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1.24 m</a:t>
            </a:r>
            <a:endParaRPr/>
          </a:p>
        </p:txBody>
      </p:sp>
      <p:sp>
        <p:nvSpPr>
          <p:cNvPr id="1602" name="Google Shape;1602;p133"/>
          <p:cNvSpPr txBox="1"/>
          <p:nvPr>
            <p:ph idx="1" type="body"/>
          </p:nvPr>
        </p:nvSpPr>
        <p:spPr>
          <a:xfrm>
            <a:off x="4142670" y="216818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5.62 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608" name="Google Shape;1608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155" y="32812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134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0" name="Google Shape;1610;p134"/>
          <p:cNvGrpSpPr/>
          <p:nvPr/>
        </p:nvGrpSpPr>
        <p:grpSpPr>
          <a:xfrm>
            <a:off x="1013584" y="2373025"/>
            <a:ext cx="3747224" cy="2386474"/>
            <a:chOff x="1215969" y="1410778"/>
            <a:chExt cx="2653466" cy="1248809"/>
          </a:xfrm>
        </p:grpSpPr>
        <p:pic>
          <p:nvPicPr>
            <p:cNvPr id="1611" name="Google Shape;1611;p134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215969" y="1410778"/>
              <a:ext cx="2653466" cy="1248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2" name="Google Shape;1612;p134"/>
            <p:cNvSpPr txBox="1"/>
            <p:nvPr/>
          </p:nvSpPr>
          <p:spPr>
            <a:xfrm>
              <a:off x="1508239" y="1639785"/>
              <a:ext cx="22131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can change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unit of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our answer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.  Centimetres and metres are directly proportional.  Therefore, we can use a ratio table.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3" name="Google Shape;1613;p134"/>
          <p:cNvGrpSpPr/>
          <p:nvPr/>
        </p:nvGrpSpPr>
        <p:grpSpPr>
          <a:xfrm>
            <a:off x="5065971" y="2927147"/>
            <a:ext cx="2795935" cy="1392899"/>
            <a:chOff x="7792884" y="1712439"/>
            <a:chExt cx="3592361" cy="1927355"/>
          </a:xfrm>
        </p:grpSpPr>
        <p:pic>
          <p:nvPicPr>
            <p:cNvPr id="1614" name="Google Shape;1614;p134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7792884" y="1712439"/>
              <a:ext cx="3592361" cy="16159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5" name="Google Shape;1615;p134"/>
            <p:cNvSpPr txBox="1"/>
            <p:nvPr/>
          </p:nvSpPr>
          <p:spPr>
            <a:xfrm>
              <a:off x="8024109" y="1891993"/>
              <a:ext cx="3129900" cy="17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OK, let’s do that.  There are 100 cm in a metre.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16" name="Google Shape;1616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8650" y="34446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Google Shape;1617;p134"/>
          <p:cNvSpPr txBox="1"/>
          <p:nvPr/>
        </p:nvSpPr>
        <p:spPr>
          <a:xfrm>
            <a:off x="7700950" y="4446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134"/>
          <p:cNvSpPr txBox="1"/>
          <p:nvPr>
            <p:ph idx="1" type="body"/>
          </p:nvPr>
        </p:nvSpPr>
        <p:spPr>
          <a:xfrm>
            <a:off x="324000" y="674668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area of this rectangle.</a:t>
            </a:r>
            <a:endParaRPr/>
          </a:p>
        </p:txBody>
      </p:sp>
      <p:sp>
        <p:nvSpPr>
          <p:cNvPr id="1619" name="Google Shape;1619;p134"/>
          <p:cNvSpPr/>
          <p:nvPr/>
        </p:nvSpPr>
        <p:spPr>
          <a:xfrm>
            <a:off x="3368275" y="1160330"/>
            <a:ext cx="2436000" cy="805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0" name="Google Shape;1620;p134"/>
          <p:cNvCxnSpPr/>
          <p:nvPr/>
        </p:nvCxnSpPr>
        <p:spPr>
          <a:xfrm>
            <a:off x="3224600" y="1160320"/>
            <a:ext cx="0" cy="8268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1" name="Google Shape;1621;p134"/>
          <p:cNvCxnSpPr/>
          <p:nvPr/>
        </p:nvCxnSpPr>
        <p:spPr>
          <a:xfrm rot="10800000">
            <a:off x="3370875" y="2095855"/>
            <a:ext cx="24360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2" name="Google Shape;1622;p134"/>
          <p:cNvSpPr txBox="1"/>
          <p:nvPr>
            <p:ph idx="1" type="body"/>
          </p:nvPr>
        </p:nvSpPr>
        <p:spPr>
          <a:xfrm>
            <a:off x="2195625" y="140618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1.24 m</a:t>
            </a:r>
            <a:endParaRPr/>
          </a:p>
        </p:txBody>
      </p:sp>
      <p:sp>
        <p:nvSpPr>
          <p:cNvPr id="1623" name="Google Shape;1623;p134"/>
          <p:cNvSpPr txBox="1"/>
          <p:nvPr>
            <p:ph idx="1" type="body"/>
          </p:nvPr>
        </p:nvSpPr>
        <p:spPr>
          <a:xfrm>
            <a:off x="4142670" y="216818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5.62 m</a:t>
            </a:r>
            <a:endParaRPr/>
          </a:p>
        </p:txBody>
      </p:sp>
      <p:sp>
        <p:nvSpPr>
          <p:cNvPr id="1624" name="Google Shape;1624;p134"/>
          <p:cNvSpPr txBox="1"/>
          <p:nvPr>
            <p:ph idx="1" type="body"/>
          </p:nvPr>
        </p:nvSpPr>
        <p:spPr>
          <a:xfrm>
            <a:off x="6344400" y="2372400"/>
            <a:ext cx="2436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Area = </a:t>
            </a:r>
            <a:r>
              <a:rPr lang="en-GB" u="sng"/>
              <a:t>          </a:t>
            </a:r>
            <a:r>
              <a:rPr lang="en-GB"/>
              <a:t> cm</a:t>
            </a:r>
            <a:r>
              <a:rPr baseline="30000" lang="en-GB"/>
              <a:t>2</a:t>
            </a:r>
            <a:endParaRPr baseline="30000"/>
          </a:p>
        </p:txBody>
      </p:sp>
      <p:sp>
        <p:nvSpPr>
          <p:cNvPr id="1625" name="Google Shape;1625;p134"/>
          <p:cNvSpPr txBox="1"/>
          <p:nvPr>
            <p:ph idx="1" type="body"/>
          </p:nvPr>
        </p:nvSpPr>
        <p:spPr>
          <a:xfrm>
            <a:off x="7302275" y="2289600"/>
            <a:ext cx="727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6.969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631" name="Google Shape;1631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155" y="32812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135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3" name="Google Shape;1633;p135"/>
          <p:cNvGrpSpPr/>
          <p:nvPr/>
        </p:nvGrpSpPr>
        <p:grpSpPr>
          <a:xfrm>
            <a:off x="965956" y="2373027"/>
            <a:ext cx="3677757" cy="1967351"/>
            <a:chOff x="1182154" y="1410774"/>
            <a:chExt cx="2187448" cy="1029488"/>
          </a:xfrm>
        </p:grpSpPr>
        <p:pic>
          <p:nvPicPr>
            <p:cNvPr id="1634" name="Google Shape;1634;p135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182154" y="1410774"/>
              <a:ext cx="2187448" cy="1029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5" name="Google Shape;1635;p135"/>
            <p:cNvSpPr txBox="1"/>
            <p:nvPr/>
          </p:nvSpPr>
          <p:spPr>
            <a:xfrm>
              <a:off x="1360876" y="1563052"/>
              <a:ext cx="1932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have estimated the area by rounding 1.24 m to 100 cm and 5.62 m to 600 cm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.  This gives an area of 100 × 600 = 60 000 cm</a:t>
              </a:r>
              <a:r>
                <a:rPr baseline="30000"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.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6" name="Google Shape;1636;p135"/>
          <p:cNvGrpSpPr/>
          <p:nvPr/>
        </p:nvGrpSpPr>
        <p:grpSpPr>
          <a:xfrm>
            <a:off x="4658644" y="2700069"/>
            <a:ext cx="3273000" cy="1655232"/>
            <a:chOff x="7785387" y="1712439"/>
            <a:chExt cx="3592361" cy="1969108"/>
          </a:xfrm>
        </p:grpSpPr>
        <p:pic>
          <p:nvPicPr>
            <p:cNvPr id="1637" name="Google Shape;1637;p135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7785387" y="1712439"/>
              <a:ext cx="3592361" cy="16159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8" name="Google Shape;1638;p135"/>
            <p:cNvSpPr txBox="1"/>
            <p:nvPr/>
          </p:nvSpPr>
          <p:spPr>
            <a:xfrm>
              <a:off x="7975781" y="1980546"/>
              <a:ext cx="3260700" cy="170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My answer of 696.9 cm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not even close to 60 000 cm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39" name="Google Shape;1639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8650" y="34446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135"/>
          <p:cNvSpPr txBox="1"/>
          <p:nvPr/>
        </p:nvSpPr>
        <p:spPr>
          <a:xfrm>
            <a:off x="7700950" y="4446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35"/>
          <p:cNvSpPr txBox="1"/>
          <p:nvPr>
            <p:ph idx="1" type="body"/>
          </p:nvPr>
        </p:nvSpPr>
        <p:spPr>
          <a:xfrm>
            <a:off x="324000" y="674668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area of this rectangle.</a:t>
            </a:r>
            <a:endParaRPr/>
          </a:p>
        </p:txBody>
      </p:sp>
      <p:sp>
        <p:nvSpPr>
          <p:cNvPr id="1642" name="Google Shape;1642;p135"/>
          <p:cNvSpPr/>
          <p:nvPr/>
        </p:nvSpPr>
        <p:spPr>
          <a:xfrm>
            <a:off x="3368275" y="1160330"/>
            <a:ext cx="2436000" cy="805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3" name="Google Shape;1643;p135"/>
          <p:cNvCxnSpPr/>
          <p:nvPr/>
        </p:nvCxnSpPr>
        <p:spPr>
          <a:xfrm>
            <a:off x="3224600" y="1160320"/>
            <a:ext cx="0" cy="8268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4" name="Google Shape;1644;p135"/>
          <p:cNvCxnSpPr/>
          <p:nvPr/>
        </p:nvCxnSpPr>
        <p:spPr>
          <a:xfrm rot="10800000">
            <a:off x="3370875" y="2095855"/>
            <a:ext cx="24360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45" name="Google Shape;1645;p135"/>
          <p:cNvSpPr txBox="1"/>
          <p:nvPr>
            <p:ph idx="1" type="body"/>
          </p:nvPr>
        </p:nvSpPr>
        <p:spPr>
          <a:xfrm>
            <a:off x="2195625" y="140618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1.24 m</a:t>
            </a:r>
            <a:endParaRPr/>
          </a:p>
        </p:txBody>
      </p:sp>
      <p:sp>
        <p:nvSpPr>
          <p:cNvPr id="1646" name="Google Shape;1646;p135"/>
          <p:cNvSpPr txBox="1"/>
          <p:nvPr>
            <p:ph idx="1" type="body"/>
          </p:nvPr>
        </p:nvSpPr>
        <p:spPr>
          <a:xfrm>
            <a:off x="4142670" y="216818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5.62 m</a:t>
            </a:r>
            <a:endParaRPr/>
          </a:p>
        </p:txBody>
      </p:sp>
      <p:sp>
        <p:nvSpPr>
          <p:cNvPr id="1647" name="Google Shape;1647;p135"/>
          <p:cNvSpPr txBox="1"/>
          <p:nvPr>
            <p:ph idx="1" type="body"/>
          </p:nvPr>
        </p:nvSpPr>
        <p:spPr>
          <a:xfrm>
            <a:off x="6344400" y="2178555"/>
            <a:ext cx="2436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Area = </a:t>
            </a:r>
            <a:r>
              <a:rPr lang="en-GB" u="sng"/>
              <a:t>          </a:t>
            </a:r>
            <a:r>
              <a:rPr lang="en-GB"/>
              <a:t> cm</a:t>
            </a:r>
            <a:r>
              <a:rPr baseline="30000" lang="en-GB"/>
              <a:t>2</a:t>
            </a:r>
            <a:endParaRPr baseline="30000"/>
          </a:p>
        </p:txBody>
      </p:sp>
      <p:sp>
        <p:nvSpPr>
          <p:cNvPr id="1648" name="Google Shape;1648;p135"/>
          <p:cNvSpPr txBox="1"/>
          <p:nvPr>
            <p:ph idx="1" type="body"/>
          </p:nvPr>
        </p:nvSpPr>
        <p:spPr>
          <a:xfrm>
            <a:off x="7302275" y="2095855"/>
            <a:ext cx="727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696.9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9" name="Google Shape;1649;p135"/>
          <p:cNvSpPr txBox="1"/>
          <p:nvPr>
            <p:ph idx="1" type="body"/>
          </p:nvPr>
        </p:nvSpPr>
        <p:spPr>
          <a:xfrm>
            <a:off x="2195625" y="4191425"/>
            <a:ext cx="52311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will take a look at what is wrong with this method.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36"/>
          <p:cNvSpPr txBox="1"/>
          <p:nvPr>
            <p:ph idx="1" type="body"/>
          </p:nvPr>
        </p:nvSpPr>
        <p:spPr>
          <a:xfrm>
            <a:off x="324000" y="4021885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 these exactly the same squares?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Yes, they are so they must have the same area. </a:t>
            </a:r>
            <a:r>
              <a:rPr lang="en-GB" sz="1800"/>
              <a:t>1 m</a:t>
            </a:r>
            <a:r>
              <a:rPr baseline="30000" lang="en-GB" sz="1800"/>
              <a:t>2</a:t>
            </a:r>
            <a:r>
              <a:rPr lang="en-GB" sz="1800"/>
              <a:t> = 10 000 cm</a:t>
            </a:r>
            <a:r>
              <a:rPr baseline="30000" lang="en-GB" sz="1800"/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5" name="Google Shape;1655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656" name="Google Shape;1656;p136"/>
          <p:cNvSpPr txBox="1"/>
          <p:nvPr>
            <p:ph idx="1" type="body"/>
          </p:nvPr>
        </p:nvSpPr>
        <p:spPr>
          <a:xfrm>
            <a:off x="324000" y="6069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will start by looking at a 1 metre square.</a:t>
            </a:r>
            <a:endParaRPr/>
          </a:p>
        </p:txBody>
      </p:sp>
      <p:sp>
        <p:nvSpPr>
          <p:cNvPr id="1657" name="Google Shape;1657;p136"/>
          <p:cNvSpPr txBox="1"/>
          <p:nvPr>
            <p:ph idx="1" type="body"/>
          </p:nvPr>
        </p:nvSpPr>
        <p:spPr>
          <a:xfrm>
            <a:off x="1754850" y="3153155"/>
            <a:ext cx="1871100" cy="9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	= </a:t>
            </a:r>
            <a:r>
              <a:rPr lang="en-GB"/>
              <a:t>1 × 1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</a:t>
            </a:r>
            <a:r>
              <a:rPr lang="en-GB"/>
              <a:t>= 1 m</a:t>
            </a:r>
            <a:r>
              <a:rPr baseline="30000" lang="en-GB"/>
              <a:t>2</a:t>
            </a:r>
            <a:endParaRPr baseline="30000"/>
          </a:p>
        </p:txBody>
      </p:sp>
      <p:sp>
        <p:nvSpPr>
          <p:cNvPr id="1658" name="Google Shape;1658;p136"/>
          <p:cNvSpPr txBox="1"/>
          <p:nvPr>
            <p:ph idx="1" type="body"/>
          </p:nvPr>
        </p:nvSpPr>
        <p:spPr>
          <a:xfrm>
            <a:off x="6174450" y="3153130"/>
            <a:ext cx="2645700" cy="9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   = 100 × 100</a:t>
            </a:r>
            <a:br>
              <a:rPr lang="en-GB"/>
            </a:br>
            <a:r>
              <a:rPr lang="en-GB"/>
              <a:t>           = 10 000 cm</a:t>
            </a:r>
            <a:r>
              <a:rPr baseline="30000" lang="en-GB"/>
              <a:t>2</a:t>
            </a:r>
            <a:endParaRPr baseline="30000"/>
          </a:p>
        </p:txBody>
      </p:sp>
      <p:sp>
        <p:nvSpPr>
          <p:cNvPr id="1659" name="Google Shape;1659;p136"/>
          <p:cNvSpPr/>
          <p:nvPr/>
        </p:nvSpPr>
        <p:spPr>
          <a:xfrm>
            <a:off x="1586025" y="1030228"/>
            <a:ext cx="1517400" cy="15174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0" name="Google Shape;1660;p136"/>
          <p:cNvCxnSpPr/>
          <p:nvPr/>
        </p:nvCxnSpPr>
        <p:spPr>
          <a:xfrm>
            <a:off x="1466800" y="1032425"/>
            <a:ext cx="0" cy="15294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1" name="Google Shape;1661;p136"/>
          <p:cNvCxnSpPr/>
          <p:nvPr/>
        </p:nvCxnSpPr>
        <p:spPr>
          <a:xfrm rot="10800000">
            <a:off x="1608500" y="2672225"/>
            <a:ext cx="15075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2" name="Google Shape;1662;p136"/>
          <p:cNvSpPr txBox="1"/>
          <p:nvPr>
            <p:ph idx="1" type="body"/>
          </p:nvPr>
        </p:nvSpPr>
        <p:spPr>
          <a:xfrm>
            <a:off x="900225" y="1634775"/>
            <a:ext cx="530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m</a:t>
            </a:r>
            <a:endParaRPr/>
          </a:p>
        </p:txBody>
      </p:sp>
      <p:sp>
        <p:nvSpPr>
          <p:cNvPr id="1663" name="Google Shape;1663;p136"/>
          <p:cNvSpPr txBox="1"/>
          <p:nvPr>
            <p:ph idx="1" type="body"/>
          </p:nvPr>
        </p:nvSpPr>
        <p:spPr>
          <a:xfrm>
            <a:off x="2167595" y="2659530"/>
            <a:ext cx="530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m</a:t>
            </a:r>
            <a:endParaRPr/>
          </a:p>
        </p:txBody>
      </p:sp>
      <p:sp>
        <p:nvSpPr>
          <p:cNvPr id="1664" name="Google Shape;1664;p136"/>
          <p:cNvSpPr/>
          <p:nvPr/>
        </p:nvSpPr>
        <p:spPr>
          <a:xfrm>
            <a:off x="6265378" y="1030228"/>
            <a:ext cx="1517400" cy="15174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136"/>
          <p:cNvSpPr txBox="1"/>
          <p:nvPr>
            <p:ph idx="1" type="body"/>
          </p:nvPr>
        </p:nvSpPr>
        <p:spPr>
          <a:xfrm>
            <a:off x="5134160" y="1634775"/>
            <a:ext cx="10134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100 cm</a:t>
            </a:r>
            <a:endParaRPr/>
          </a:p>
        </p:txBody>
      </p:sp>
      <p:sp>
        <p:nvSpPr>
          <p:cNvPr id="1666" name="Google Shape;1666;p136"/>
          <p:cNvSpPr txBox="1"/>
          <p:nvPr>
            <p:ph idx="1" type="body"/>
          </p:nvPr>
        </p:nvSpPr>
        <p:spPr>
          <a:xfrm>
            <a:off x="6627400" y="2735725"/>
            <a:ext cx="10134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100 cm</a:t>
            </a:r>
            <a:endParaRPr/>
          </a:p>
        </p:txBody>
      </p:sp>
      <p:cxnSp>
        <p:nvCxnSpPr>
          <p:cNvPr id="1667" name="Google Shape;1667;p136"/>
          <p:cNvCxnSpPr/>
          <p:nvPr/>
        </p:nvCxnSpPr>
        <p:spPr>
          <a:xfrm>
            <a:off x="6157045" y="1032425"/>
            <a:ext cx="0" cy="15294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8" name="Google Shape;1668;p136"/>
          <p:cNvCxnSpPr/>
          <p:nvPr/>
        </p:nvCxnSpPr>
        <p:spPr>
          <a:xfrm rot="10800000">
            <a:off x="6298745" y="2672225"/>
            <a:ext cx="15075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674" name="Google Shape;1674;p137"/>
          <p:cNvSpPr txBox="1"/>
          <p:nvPr>
            <p:ph idx="1" type="body"/>
          </p:nvPr>
        </p:nvSpPr>
        <p:spPr>
          <a:xfrm>
            <a:off x="324000" y="646823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area of this rectangle.</a:t>
            </a:r>
            <a:endParaRPr/>
          </a:p>
        </p:txBody>
      </p:sp>
      <p:sp>
        <p:nvSpPr>
          <p:cNvPr id="1675" name="Google Shape;1675;p137"/>
          <p:cNvSpPr/>
          <p:nvPr/>
        </p:nvSpPr>
        <p:spPr>
          <a:xfrm>
            <a:off x="3368275" y="1160330"/>
            <a:ext cx="2436000" cy="805200"/>
          </a:xfrm>
          <a:prstGeom prst="rect">
            <a:avLst/>
          </a:prstGeom>
          <a:solidFill>
            <a:srgbClr val="F3EE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6" name="Google Shape;1676;p137"/>
          <p:cNvCxnSpPr/>
          <p:nvPr/>
        </p:nvCxnSpPr>
        <p:spPr>
          <a:xfrm>
            <a:off x="3224600" y="1160320"/>
            <a:ext cx="0" cy="8268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7" name="Google Shape;1677;p137"/>
          <p:cNvCxnSpPr/>
          <p:nvPr/>
        </p:nvCxnSpPr>
        <p:spPr>
          <a:xfrm rot="10800000">
            <a:off x="3370875" y="2095855"/>
            <a:ext cx="24360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78" name="Google Shape;1678;p137"/>
          <p:cNvSpPr txBox="1"/>
          <p:nvPr>
            <p:ph idx="1" type="body"/>
          </p:nvPr>
        </p:nvSpPr>
        <p:spPr>
          <a:xfrm>
            <a:off x="2195625" y="140618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1.24 m</a:t>
            </a:r>
            <a:endParaRPr/>
          </a:p>
        </p:txBody>
      </p:sp>
      <p:sp>
        <p:nvSpPr>
          <p:cNvPr id="1679" name="Google Shape;1679;p137"/>
          <p:cNvSpPr txBox="1"/>
          <p:nvPr>
            <p:ph idx="1" type="body"/>
          </p:nvPr>
        </p:nvSpPr>
        <p:spPr>
          <a:xfrm>
            <a:off x="4142670" y="216818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5.62 m</a:t>
            </a:r>
            <a:endParaRPr/>
          </a:p>
        </p:txBody>
      </p:sp>
      <p:sp>
        <p:nvSpPr>
          <p:cNvPr id="1680" name="Google Shape;1680;p137"/>
          <p:cNvSpPr txBox="1"/>
          <p:nvPr>
            <p:ph idx="1" type="body"/>
          </p:nvPr>
        </p:nvSpPr>
        <p:spPr>
          <a:xfrm>
            <a:off x="6344400" y="2178555"/>
            <a:ext cx="2436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Area = </a:t>
            </a:r>
            <a:r>
              <a:rPr lang="en-GB" u="sng"/>
              <a:t>           </a:t>
            </a:r>
            <a:r>
              <a:rPr lang="en-GB"/>
              <a:t> cm</a:t>
            </a:r>
            <a:r>
              <a:rPr baseline="30000" lang="en-GB"/>
              <a:t>2</a:t>
            </a:r>
            <a:endParaRPr baseline="30000"/>
          </a:p>
        </p:txBody>
      </p:sp>
      <p:graphicFrame>
        <p:nvGraphicFramePr>
          <p:cNvPr id="1681" name="Google Shape;1681;p137"/>
          <p:cNvGraphicFramePr/>
          <p:nvPr/>
        </p:nvGraphicFramePr>
        <p:xfrm>
          <a:off x="2520705" y="273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2088250"/>
                <a:gridCol w="2088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cm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6.969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82" name="Google Shape;1682;p137"/>
          <p:cNvGraphicFramePr/>
          <p:nvPr/>
        </p:nvGraphicFramePr>
        <p:xfrm>
          <a:off x="2520705" y="273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2088250"/>
                <a:gridCol w="2088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cm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6.969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69 690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683" name="Google Shape;1683;p137"/>
          <p:cNvGrpSpPr/>
          <p:nvPr/>
        </p:nvGrpSpPr>
        <p:grpSpPr>
          <a:xfrm>
            <a:off x="4086640" y="3719220"/>
            <a:ext cx="1049700" cy="512320"/>
            <a:chOff x="2257840" y="4024020"/>
            <a:chExt cx="1049700" cy="512320"/>
          </a:xfrm>
        </p:grpSpPr>
        <p:sp>
          <p:nvSpPr>
            <p:cNvPr id="1684" name="Google Shape;1684;p137"/>
            <p:cNvSpPr/>
            <p:nvPr/>
          </p:nvSpPr>
          <p:spPr>
            <a:xfrm>
              <a:off x="2520520" y="4331140"/>
              <a:ext cx="540000" cy="2052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5" name="Google Shape;1685;p137"/>
            <p:cNvSpPr txBox="1"/>
            <p:nvPr/>
          </p:nvSpPr>
          <p:spPr>
            <a:xfrm>
              <a:off x="2257840" y="4024020"/>
              <a:ext cx="1049700" cy="277200"/>
            </a:xfrm>
            <a:prstGeom prst="rect">
              <a:avLst/>
            </a:prstGeom>
            <a:solidFill>
              <a:srgbClr val="EBEDFE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10 000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6" name="Google Shape;1686;p137"/>
          <p:cNvSpPr txBox="1"/>
          <p:nvPr>
            <p:ph idx="1" type="body"/>
          </p:nvPr>
        </p:nvSpPr>
        <p:spPr>
          <a:xfrm>
            <a:off x="7281085" y="2168175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69 690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7" name="Google Shape;1687;p137"/>
          <p:cNvSpPr txBox="1"/>
          <p:nvPr/>
        </p:nvSpPr>
        <p:spPr>
          <a:xfrm>
            <a:off x="4086615" y="3198090"/>
            <a:ext cx="1049700" cy="2772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10 000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37"/>
          <p:cNvSpPr/>
          <p:nvPr/>
        </p:nvSpPr>
        <p:spPr>
          <a:xfrm>
            <a:off x="4335305" y="3492940"/>
            <a:ext cx="540000" cy="20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1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694" name="Google Shape;1694;p1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5428 </a:t>
            </a:r>
            <a:r>
              <a:rPr lang="en-GB"/>
              <a:t>m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</p:txBody>
      </p:sp>
      <p:sp>
        <p:nvSpPr>
          <p:cNvPr id="1695" name="Google Shape;1695;p1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542 800 cm</a:t>
            </a:r>
            <a:r>
              <a:rPr baseline="30000" lang="en-GB"/>
              <a:t>2</a:t>
            </a:r>
            <a:r>
              <a:rPr lang="en-GB"/>
              <a:t> into m</a:t>
            </a:r>
            <a:r>
              <a:rPr baseline="30000" lang="en-GB"/>
              <a:t>2</a:t>
            </a:r>
            <a:endParaRPr baseline="30000"/>
          </a:p>
        </p:txBody>
      </p:sp>
      <p:sp>
        <p:nvSpPr>
          <p:cNvPr id="1696" name="Google Shape;1696;p1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542.8 </a:t>
            </a:r>
            <a:r>
              <a:rPr lang="en-GB"/>
              <a:t>m</a:t>
            </a:r>
            <a:r>
              <a:rPr baseline="30000" lang="en-GB"/>
              <a:t>2</a:t>
            </a:r>
            <a:endParaRPr/>
          </a:p>
        </p:txBody>
      </p:sp>
      <p:sp>
        <p:nvSpPr>
          <p:cNvPr id="1697" name="Google Shape;1697;p1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54.28 m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</p:txBody>
      </p:sp>
      <p:sp>
        <p:nvSpPr>
          <p:cNvPr id="1698" name="Google Shape;1698;p1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5.428 m</a:t>
            </a:r>
            <a:r>
              <a:rPr baseline="30000" lang="en-GB"/>
              <a:t>2</a:t>
            </a:r>
            <a:endParaRPr/>
          </a:p>
        </p:txBody>
      </p:sp>
      <p:pic>
        <p:nvPicPr>
          <p:cNvPr id="1699" name="Google Shape;1699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958" y="32885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0" name="Google Shape;1700;p138"/>
          <p:cNvSpPr/>
          <p:nvPr/>
        </p:nvSpPr>
        <p:spPr>
          <a:xfrm>
            <a:off x="6015325" y="786400"/>
            <a:ext cx="2678100" cy="4896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m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= 10 000 cm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138"/>
          <p:cNvSpPr txBox="1"/>
          <p:nvPr>
            <p:ph idx="4294967295" type="body"/>
          </p:nvPr>
        </p:nvSpPr>
        <p:spPr>
          <a:xfrm>
            <a:off x="3402015" y="3397375"/>
            <a:ext cx="3946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542 800 ÷ 10 000 = 54.28 m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5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707" name="Google Shape;1707;p139"/>
          <p:cNvSpPr txBox="1"/>
          <p:nvPr>
            <p:ph idx="1" type="body"/>
          </p:nvPr>
        </p:nvSpPr>
        <p:spPr>
          <a:xfrm>
            <a:off x="324000" y="759300"/>
            <a:ext cx="8496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Calculate the volume of this cuboid, </a:t>
            </a:r>
            <a:r>
              <a:rPr lang="en-GB" sz="2100"/>
              <a:t>giving your answer in m</a:t>
            </a:r>
            <a:r>
              <a:rPr baseline="30000" lang="en-GB" sz="2100"/>
              <a:t>3</a:t>
            </a:r>
            <a:r>
              <a:rPr lang="en-GB" sz="2100"/>
              <a:t>.</a:t>
            </a:r>
            <a:endParaRPr sz="2100"/>
          </a:p>
        </p:txBody>
      </p:sp>
      <p:pic>
        <p:nvPicPr>
          <p:cNvPr id="1708" name="Google Shape;1708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155" y="32812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139"/>
          <p:cNvSpPr txBox="1"/>
          <p:nvPr/>
        </p:nvSpPr>
        <p:spPr>
          <a:xfrm>
            <a:off x="3095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0" name="Google Shape;1710;p139"/>
          <p:cNvGrpSpPr/>
          <p:nvPr/>
        </p:nvGrpSpPr>
        <p:grpSpPr>
          <a:xfrm>
            <a:off x="4589275" y="2698599"/>
            <a:ext cx="3273000" cy="1691702"/>
            <a:chOff x="7792884" y="1712439"/>
            <a:chExt cx="3592361" cy="1795672"/>
          </a:xfrm>
        </p:grpSpPr>
        <p:pic>
          <p:nvPicPr>
            <p:cNvPr id="1711" name="Google Shape;1711;p13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7792884" y="1712439"/>
              <a:ext cx="3592361" cy="16159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2" name="Google Shape;1712;p139"/>
            <p:cNvSpPr txBox="1"/>
            <p:nvPr/>
          </p:nvSpPr>
          <p:spPr>
            <a:xfrm>
              <a:off x="8024120" y="1892010"/>
              <a:ext cx="3129900" cy="161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All 3 dimensions will be multiplied by 100.  Meaning, the overall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effect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will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be × 1 000 000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13" name="Google Shape;1713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8650" y="34446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139"/>
          <p:cNvSpPr txBox="1"/>
          <p:nvPr/>
        </p:nvSpPr>
        <p:spPr>
          <a:xfrm>
            <a:off x="7700950" y="4446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15" name="Google Shape;1715;p139"/>
          <p:cNvGrpSpPr/>
          <p:nvPr/>
        </p:nvGrpSpPr>
        <p:grpSpPr>
          <a:xfrm>
            <a:off x="1194485" y="2601562"/>
            <a:ext cx="2951093" cy="1878493"/>
            <a:chOff x="1182147" y="1530397"/>
            <a:chExt cx="2187453" cy="865825"/>
          </a:xfrm>
        </p:grpSpPr>
        <p:pic>
          <p:nvPicPr>
            <p:cNvPr id="1716" name="Google Shape;1716;p13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182147" y="1530397"/>
              <a:ext cx="2187453" cy="696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7" name="Google Shape;1717;p139"/>
            <p:cNvSpPr txBox="1"/>
            <p:nvPr/>
          </p:nvSpPr>
          <p:spPr>
            <a:xfrm>
              <a:off x="1360876" y="1623421"/>
              <a:ext cx="19320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Let’s work out the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proportional relationship between cm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and m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18" name="Google Shape;1718;p139"/>
          <p:cNvSpPr/>
          <p:nvPr/>
        </p:nvSpPr>
        <p:spPr>
          <a:xfrm rot="-5400000">
            <a:off x="4165505" y="677675"/>
            <a:ext cx="1009200" cy="2187000"/>
          </a:xfrm>
          <a:prstGeom prst="cube">
            <a:avLst>
              <a:gd fmla="val 25000" name="adj"/>
            </a:avLst>
          </a:prstGeom>
          <a:solidFill>
            <a:srgbClr val="F3EE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9" name="Google Shape;1719;p139"/>
          <p:cNvCxnSpPr/>
          <p:nvPr/>
        </p:nvCxnSpPr>
        <p:spPr>
          <a:xfrm>
            <a:off x="3454965" y="1278565"/>
            <a:ext cx="0" cy="7305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0" name="Google Shape;1720;p139"/>
          <p:cNvCxnSpPr/>
          <p:nvPr/>
        </p:nvCxnSpPr>
        <p:spPr>
          <a:xfrm rot="10800000">
            <a:off x="3844655" y="2386640"/>
            <a:ext cx="19143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1" name="Google Shape;1721;p139"/>
          <p:cNvCxnSpPr/>
          <p:nvPr/>
        </p:nvCxnSpPr>
        <p:spPr>
          <a:xfrm>
            <a:off x="5695615" y="1218590"/>
            <a:ext cx="265500" cy="3045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22" name="Google Shape;1722;p139"/>
          <p:cNvSpPr txBox="1"/>
          <p:nvPr>
            <p:ph idx="1" type="body"/>
          </p:nvPr>
        </p:nvSpPr>
        <p:spPr>
          <a:xfrm>
            <a:off x="2500425" y="146224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45</a:t>
            </a:r>
            <a:r>
              <a:rPr lang="en-GB"/>
              <a:t> cm</a:t>
            </a:r>
            <a:endParaRPr/>
          </a:p>
        </p:txBody>
      </p:sp>
      <p:sp>
        <p:nvSpPr>
          <p:cNvPr id="1723" name="Google Shape;1723;p139"/>
          <p:cNvSpPr txBox="1"/>
          <p:nvPr>
            <p:ph idx="1" type="body"/>
          </p:nvPr>
        </p:nvSpPr>
        <p:spPr>
          <a:xfrm>
            <a:off x="6005625" y="115744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20</a:t>
            </a:r>
            <a:r>
              <a:rPr lang="en-GB"/>
              <a:t> cm</a:t>
            </a:r>
            <a:endParaRPr/>
          </a:p>
        </p:txBody>
      </p:sp>
      <p:sp>
        <p:nvSpPr>
          <p:cNvPr id="1724" name="Google Shape;1724;p139"/>
          <p:cNvSpPr txBox="1"/>
          <p:nvPr>
            <p:ph idx="1" type="body"/>
          </p:nvPr>
        </p:nvSpPr>
        <p:spPr>
          <a:xfrm>
            <a:off x="4385285" y="237664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1.2</a:t>
            </a:r>
            <a:r>
              <a:rPr lang="en-GB"/>
              <a:t> cm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730" name="Google Shape;1730;p140"/>
          <p:cNvSpPr txBox="1"/>
          <p:nvPr>
            <p:ph idx="1" type="body"/>
          </p:nvPr>
        </p:nvSpPr>
        <p:spPr>
          <a:xfrm>
            <a:off x="324000" y="606900"/>
            <a:ext cx="8237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Calculate the volume of this cuboid, giving your answer in m</a:t>
            </a:r>
            <a:r>
              <a:rPr baseline="30000" lang="en-GB" sz="2100"/>
              <a:t>3</a:t>
            </a:r>
            <a:r>
              <a:rPr lang="en-GB" sz="2100"/>
              <a:t>.</a:t>
            </a:r>
            <a:endParaRPr sz="2100"/>
          </a:p>
        </p:txBody>
      </p:sp>
      <p:sp>
        <p:nvSpPr>
          <p:cNvPr id="1731" name="Google Shape;1731;p140"/>
          <p:cNvSpPr/>
          <p:nvPr/>
        </p:nvSpPr>
        <p:spPr>
          <a:xfrm rot="-5400000">
            <a:off x="4165505" y="435060"/>
            <a:ext cx="1009200" cy="2187000"/>
          </a:xfrm>
          <a:prstGeom prst="cube">
            <a:avLst>
              <a:gd fmla="val 25000" name="adj"/>
            </a:avLst>
          </a:prstGeom>
          <a:solidFill>
            <a:srgbClr val="F3EE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2" name="Google Shape;1732;p140"/>
          <p:cNvCxnSpPr/>
          <p:nvPr/>
        </p:nvCxnSpPr>
        <p:spPr>
          <a:xfrm>
            <a:off x="3454965" y="1035950"/>
            <a:ext cx="0" cy="7305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3" name="Google Shape;1733;p140"/>
          <p:cNvCxnSpPr/>
          <p:nvPr/>
        </p:nvCxnSpPr>
        <p:spPr>
          <a:xfrm rot="10800000">
            <a:off x="3844655" y="2144025"/>
            <a:ext cx="19143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4" name="Google Shape;1734;p140"/>
          <p:cNvCxnSpPr/>
          <p:nvPr/>
        </p:nvCxnSpPr>
        <p:spPr>
          <a:xfrm>
            <a:off x="5695615" y="975975"/>
            <a:ext cx="265500" cy="3045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35" name="Google Shape;1735;p140"/>
          <p:cNvSpPr txBox="1"/>
          <p:nvPr>
            <p:ph idx="1" type="body"/>
          </p:nvPr>
        </p:nvSpPr>
        <p:spPr>
          <a:xfrm>
            <a:off x="2500425" y="1219625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45 cm</a:t>
            </a:r>
            <a:endParaRPr/>
          </a:p>
        </p:txBody>
      </p:sp>
      <p:sp>
        <p:nvSpPr>
          <p:cNvPr id="1736" name="Google Shape;1736;p140"/>
          <p:cNvSpPr txBox="1"/>
          <p:nvPr>
            <p:ph idx="1" type="body"/>
          </p:nvPr>
        </p:nvSpPr>
        <p:spPr>
          <a:xfrm>
            <a:off x="6005625" y="914825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20 cm</a:t>
            </a:r>
            <a:endParaRPr/>
          </a:p>
        </p:txBody>
      </p:sp>
      <p:sp>
        <p:nvSpPr>
          <p:cNvPr id="1737" name="Google Shape;1737;p140"/>
          <p:cNvSpPr txBox="1"/>
          <p:nvPr>
            <p:ph idx="1" type="body"/>
          </p:nvPr>
        </p:nvSpPr>
        <p:spPr>
          <a:xfrm>
            <a:off x="4309073" y="2134035"/>
            <a:ext cx="1071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120 cm</a:t>
            </a:r>
            <a:endParaRPr/>
          </a:p>
        </p:txBody>
      </p:sp>
      <p:sp>
        <p:nvSpPr>
          <p:cNvPr id="1738" name="Google Shape;1738;p140"/>
          <p:cNvSpPr txBox="1"/>
          <p:nvPr>
            <p:ph idx="1" type="body"/>
          </p:nvPr>
        </p:nvSpPr>
        <p:spPr>
          <a:xfrm>
            <a:off x="352750" y="2286435"/>
            <a:ext cx="5833800" cy="8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Volume	= 45 </a:t>
            </a:r>
            <a:r>
              <a:rPr lang="en-GB"/>
              <a:t>× 120 × 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= 108 000 cm</a:t>
            </a:r>
            <a:r>
              <a:rPr baseline="30000" lang="en-GB"/>
              <a:t>3</a:t>
            </a:r>
            <a:endParaRPr baseline="30000"/>
          </a:p>
        </p:txBody>
      </p:sp>
      <p:graphicFrame>
        <p:nvGraphicFramePr>
          <p:cNvPr id="1739" name="Google Shape;1739;p140"/>
          <p:cNvGraphicFramePr/>
          <p:nvPr/>
        </p:nvGraphicFramePr>
        <p:xfrm>
          <a:off x="1763125" y="318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2808875"/>
                <a:gridCol w="2808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cm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1 000 000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40" name="Google Shape;1740;p140"/>
          <p:cNvGraphicFramePr/>
          <p:nvPr/>
        </p:nvGraphicFramePr>
        <p:xfrm>
          <a:off x="1763125" y="318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2808875"/>
                <a:gridCol w="2808875"/>
              </a:tblGrid>
              <a:tr h="45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cm</a:t>
                      </a:r>
                      <a:r>
                        <a:rPr baseline="30000"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1 000 000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0.108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41" name="Google Shape;1741;p140"/>
          <p:cNvGrpSpPr/>
          <p:nvPr/>
        </p:nvGrpSpPr>
        <p:grpSpPr>
          <a:xfrm>
            <a:off x="3885050" y="4176425"/>
            <a:ext cx="1403700" cy="512325"/>
            <a:chOff x="3885050" y="4176425"/>
            <a:chExt cx="1403700" cy="512325"/>
          </a:xfrm>
        </p:grpSpPr>
        <p:sp>
          <p:nvSpPr>
            <p:cNvPr id="1742" name="Google Shape;1742;p140"/>
            <p:cNvSpPr/>
            <p:nvPr/>
          </p:nvSpPr>
          <p:spPr>
            <a:xfrm flipH="1">
              <a:off x="4370230" y="4483550"/>
              <a:ext cx="450300" cy="2052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3" name="Google Shape;1743;p140"/>
            <p:cNvSpPr txBox="1"/>
            <p:nvPr/>
          </p:nvSpPr>
          <p:spPr>
            <a:xfrm>
              <a:off x="3885050" y="4176425"/>
              <a:ext cx="1403700" cy="277200"/>
            </a:xfrm>
            <a:prstGeom prst="rect">
              <a:avLst/>
            </a:prstGeom>
            <a:solidFill>
              <a:srgbClr val="EBEDFE"/>
            </a:solidFill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1 000 000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4" name="Google Shape;1744;p140"/>
          <p:cNvSpPr txBox="1"/>
          <p:nvPr/>
        </p:nvSpPr>
        <p:spPr>
          <a:xfrm>
            <a:off x="3885050" y="3655300"/>
            <a:ext cx="1403700" cy="2772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1 000 000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140"/>
          <p:cNvSpPr/>
          <p:nvPr/>
        </p:nvSpPr>
        <p:spPr>
          <a:xfrm flipH="1">
            <a:off x="4356224" y="3950150"/>
            <a:ext cx="450300" cy="20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751" name="Google Shape;1751;p1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132 400</a:t>
            </a:r>
            <a:r>
              <a:rPr lang="en-GB"/>
              <a:t> cm</a:t>
            </a:r>
            <a:r>
              <a:rPr baseline="30000" lang="en-GB"/>
              <a:t>3</a:t>
            </a:r>
            <a:r>
              <a:rPr lang="en-GB"/>
              <a:t> </a:t>
            </a:r>
            <a:endParaRPr/>
          </a:p>
        </p:txBody>
      </p:sp>
      <p:sp>
        <p:nvSpPr>
          <p:cNvPr id="1752" name="Google Shape;1752;p1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13.24 m</a:t>
            </a:r>
            <a:r>
              <a:rPr baseline="30000" lang="en-GB"/>
              <a:t>3</a:t>
            </a:r>
            <a:r>
              <a:rPr lang="en-GB"/>
              <a:t> into cm</a:t>
            </a:r>
            <a:r>
              <a:rPr baseline="30000" lang="en-GB"/>
              <a:t>3</a:t>
            </a:r>
            <a:endParaRPr baseline="30000"/>
          </a:p>
        </p:txBody>
      </p:sp>
      <p:sp>
        <p:nvSpPr>
          <p:cNvPr id="1753" name="Google Shape;1753;p1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1 324 000</a:t>
            </a:r>
            <a:r>
              <a:rPr lang="en-GB"/>
              <a:t> cm</a:t>
            </a:r>
            <a:r>
              <a:rPr baseline="30000" lang="en-GB"/>
              <a:t>3</a:t>
            </a:r>
            <a:endParaRPr/>
          </a:p>
        </p:txBody>
      </p:sp>
      <p:sp>
        <p:nvSpPr>
          <p:cNvPr id="1754" name="Google Shape;1754;p1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13 240 000</a:t>
            </a:r>
            <a:r>
              <a:rPr lang="en-GB"/>
              <a:t> cm</a:t>
            </a:r>
            <a:r>
              <a:rPr baseline="30000" lang="en-GB"/>
              <a:t>3</a:t>
            </a:r>
            <a:r>
              <a:rPr lang="en-GB"/>
              <a:t> </a:t>
            </a:r>
            <a:endParaRPr/>
          </a:p>
        </p:txBody>
      </p:sp>
      <p:sp>
        <p:nvSpPr>
          <p:cNvPr id="1755" name="Google Shape;1755;p1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132 4</a:t>
            </a:r>
            <a:r>
              <a:rPr lang="en-GB"/>
              <a:t>00 000 cm</a:t>
            </a:r>
            <a:r>
              <a:rPr baseline="30000" lang="en-GB"/>
              <a:t>3</a:t>
            </a:r>
            <a:endParaRPr/>
          </a:p>
        </p:txBody>
      </p:sp>
      <p:pic>
        <p:nvPicPr>
          <p:cNvPr id="1756" name="Google Shape;1756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5958" y="32885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141"/>
          <p:cNvSpPr/>
          <p:nvPr/>
        </p:nvSpPr>
        <p:spPr>
          <a:xfrm>
            <a:off x="5582625" y="786400"/>
            <a:ext cx="3110700" cy="489600"/>
          </a:xfrm>
          <a:prstGeom prst="rect">
            <a:avLst/>
          </a:prstGeom>
          <a:solidFill>
            <a:srgbClr val="EBEDFE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 m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= 1 000 000 cm</a:t>
            </a:r>
            <a:r>
              <a:rPr baseline="30000"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41"/>
          <p:cNvSpPr txBox="1"/>
          <p:nvPr>
            <p:ph idx="4294967295" type="body"/>
          </p:nvPr>
        </p:nvSpPr>
        <p:spPr>
          <a:xfrm>
            <a:off x="4164025" y="3363225"/>
            <a:ext cx="4656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13.24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/>
              <a:t>×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1 000 000 = 13 240 000 cm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14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764" name="Google Shape;1764;p14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  </a:t>
            </a:r>
            <a:r>
              <a:rPr lang="en-GB"/>
              <a:t>Write the following in order from the shortest to the tallest, using the conversion 1 m = 3.3 feet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765" name="Google Shape;1765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9314" y="1513227"/>
            <a:ext cx="1182029" cy="10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7575" y="1499726"/>
            <a:ext cx="1018874" cy="102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7" name="Google Shape;1767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0547" y="1608650"/>
            <a:ext cx="1147825" cy="920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8" name="Google Shape;1768;p142"/>
          <p:cNvGrpSpPr/>
          <p:nvPr/>
        </p:nvGrpSpPr>
        <p:grpSpPr>
          <a:xfrm>
            <a:off x="478937" y="1513353"/>
            <a:ext cx="703095" cy="1015374"/>
            <a:chOff x="242400" y="1139863"/>
            <a:chExt cx="2277599" cy="3680224"/>
          </a:xfrm>
        </p:grpSpPr>
        <p:pic>
          <p:nvPicPr>
            <p:cNvPr id="1769" name="Google Shape;1769;p14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42400" y="1139863"/>
              <a:ext cx="2277599" cy="3680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0" name="Google Shape;1770;p142"/>
            <p:cNvSpPr/>
            <p:nvPr/>
          </p:nvSpPr>
          <p:spPr>
            <a:xfrm>
              <a:off x="2252325" y="1475275"/>
              <a:ext cx="35700" cy="543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71" name="Google Shape;1771;p1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1235" y="1834691"/>
            <a:ext cx="1018876" cy="694036"/>
          </a:xfrm>
          <a:prstGeom prst="rect">
            <a:avLst/>
          </a:prstGeom>
          <a:noFill/>
          <a:ln>
            <a:noFill/>
          </a:ln>
        </p:spPr>
      </p:pic>
      <p:sp>
        <p:nvSpPr>
          <p:cNvPr id="1772" name="Google Shape;1772;p142"/>
          <p:cNvSpPr txBox="1"/>
          <p:nvPr/>
        </p:nvSpPr>
        <p:spPr>
          <a:xfrm>
            <a:off x="7920680" y="665635"/>
            <a:ext cx="857400" cy="759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Images are not to scale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42"/>
          <p:cNvSpPr txBox="1"/>
          <p:nvPr>
            <p:ph idx="4294967295" type="body"/>
          </p:nvPr>
        </p:nvSpPr>
        <p:spPr>
          <a:xfrm>
            <a:off x="443025" y="2583335"/>
            <a:ext cx="738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5.1 m</a:t>
            </a:r>
            <a:endParaRPr/>
          </a:p>
        </p:txBody>
      </p:sp>
      <p:sp>
        <p:nvSpPr>
          <p:cNvPr id="1774" name="Google Shape;1774;p142"/>
          <p:cNvSpPr txBox="1"/>
          <p:nvPr>
            <p:ph idx="4294967295" type="body"/>
          </p:nvPr>
        </p:nvSpPr>
        <p:spPr>
          <a:xfrm>
            <a:off x="1882924" y="2583325"/>
            <a:ext cx="1272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14.2 feet</a:t>
            </a:r>
            <a:endParaRPr/>
          </a:p>
        </p:txBody>
      </p:sp>
      <p:sp>
        <p:nvSpPr>
          <p:cNvPr id="1775" name="Google Shape;1775;p142"/>
          <p:cNvSpPr txBox="1"/>
          <p:nvPr>
            <p:ph idx="4294967295" type="body"/>
          </p:nvPr>
        </p:nvSpPr>
        <p:spPr>
          <a:xfrm>
            <a:off x="5540535" y="2583335"/>
            <a:ext cx="11478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10.2 feet</a:t>
            </a:r>
            <a:endParaRPr/>
          </a:p>
        </p:txBody>
      </p:sp>
      <p:sp>
        <p:nvSpPr>
          <p:cNvPr id="1776" name="Google Shape;1776;p142"/>
          <p:cNvSpPr txBox="1"/>
          <p:nvPr>
            <p:ph idx="4294967295" type="body"/>
          </p:nvPr>
        </p:nvSpPr>
        <p:spPr>
          <a:xfrm>
            <a:off x="443025" y="2583335"/>
            <a:ext cx="738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5.1 m</a:t>
            </a:r>
            <a:endParaRPr/>
          </a:p>
        </p:txBody>
      </p:sp>
      <p:sp>
        <p:nvSpPr>
          <p:cNvPr id="1777" name="Google Shape;1777;p142"/>
          <p:cNvSpPr txBox="1"/>
          <p:nvPr>
            <p:ph idx="4294967295" type="body"/>
          </p:nvPr>
        </p:nvSpPr>
        <p:spPr>
          <a:xfrm>
            <a:off x="3872025" y="2583335"/>
            <a:ext cx="738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2.4 m</a:t>
            </a:r>
            <a:endParaRPr/>
          </a:p>
        </p:txBody>
      </p:sp>
      <p:sp>
        <p:nvSpPr>
          <p:cNvPr id="1778" name="Google Shape;1778;p142"/>
          <p:cNvSpPr txBox="1"/>
          <p:nvPr>
            <p:ph idx="4294967295" type="body"/>
          </p:nvPr>
        </p:nvSpPr>
        <p:spPr>
          <a:xfrm>
            <a:off x="7369335" y="2583335"/>
            <a:ext cx="11478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13.2 feet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1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784" name="Google Shape;1784;p143"/>
          <p:cNvSpPr txBox="1"/>
          <p:nvPr>
            <p:ph idx="1" type="body"/>
          </p:nvPr>
        </p:nvSpPr>
        <p:spPr>
          <a:xfrm>
            <a:off x="324000" y="6069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Work out the maximum number of the boxes below that will fit into the box above.</a:t>
            </a:r>
            <a:endParaRPr/>
          </a:p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A cube with dimensions of 40 mm		b)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143"/>
          <p:cNvSpPr txBox="1"/>
          <p:nvPr/>
        </p:nvSpPr>
        <p:spPr>
          <a:xfrm>
            <a:off x="7920680" y="665635"/>
            <a:ext cx="857400" cy="759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Images are not to scale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143"/>
          <p:cNvSpPr/>
          <p:nvPr/>
        </p:nvSpPr>
        <p:spPr>
          <a:xfrm>
            <a:off x="1280035" y="713660"/>
            <a:ext cx="2760900" cy="1695900"/>
          </a:xfrm>
          <a:prstGeom prst="cube">
            <a:avLst>
              <a:gd fmla="val 25000" name="adj"/>
            </a:avLst>
          </a:prstGeom>
          <a:solidFill>
            <a:srgbClr val="EBEDFE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7" name="Google Shape;1787;p143"/>
          <p:cNvCxnSpPr/>
          <p:nvPr/>
        </p:nvCxnSpPr>
        <p:spPr>
          <a:xfrm>
            <a:off x="1168965" y="1182225"/>
            <a:ext cx="0" cy="12255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88" name="Google Shape;1788;p143"/>
          <p:cNvCxnSpPr/>
          <p:nvPr/>
        </p:nvCxnSpPr>
        <p:spPr>
          <a:xfrm rot="10800000">
            <a:off x="1265850" y="2531460"/>
            <a:ext cx="23547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89" name="Google Shape;1789;p143"/>
          <p:cNvCxnSpPr/>
          <p:nvPr/>
        </p:nvCxnSpPr>
        <p:spPr>
          <a:xfrm flipH="1" rot="10800000">
            <a:off x="3705490" y="2044600"/>
            <a:ext cx="406800" cy="4068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90" name="Google Shape;1790;p143"/>
          <p:cNvSpPr txBox="1"/>
          <p:nvPr>
            <p:ph idx="4294967295" type="body"/>
          </p:nvPr>
        </p:nvSpPr>
        <p:spPr>
          <a:xfrm>
            <a:off x="366825" y="1594510"/>
            <a:ext cx="771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1.2 m</a:t>
            </a:r>
            <a:endParaRPr/>
          </a:p>
        </p:txBody>
      </p:sp>
      <p:sp>
        <p:nvSpPr>
          <p:cNvPr id="1791" name="Google Shape;1791;p143"/>
          <p:cNvSpPr txBox="1"/>
          <p:nvPr>
            <p:ph idx="4294967295" type="body"/>
          </p:nvPr>
        </p:nvSpPr>
        <p:spPr>
          <a:xfrm>
            <a:off x="3964725" y="224350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80 cm</a:t>
            </a:r>
            <a:endParaRPr/>
          </a:p>
        </p:txBody>
      </p:sp>
      <p:sp>
        <p:nvSpPr>
          <p:cNvPr id="1792" name="Google Shape;1792;p143"/>
          <p:cNvSpPr txBox="1"/>
          <p:nvPr>
            <p:ph idx="4294967295" type="body"/>
          </p:nvPr>
        </p:nvSpPr>
        <p:spPr>
          <a:xfrm>
            <a:off x="2056612" y="2557010"/>
            <a:ext cx="708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1.6 m</a:t>
            </a:r>
            <a:endParaRPr/>
          </a:p>
        </p:txBody>
      </p:sp>
      <p:sp>
        <p:nvSpPr>
          <p:cNvPr id="1793" name="Google Shape;1793;p143"/>
          <p:cNvSpPr/>
          <p:nvPr/>
        </p:nvSpPr>
        <p:spPr>
          <a:xfrm>
            <a:off x="916800" y="4114150"/>
            <a:ext cx="562500" cy="553500"/>
          </a:xfrm>
          <a:prstGeom prst="cube">
            <a:avLst>
              <a:gd fmla="val 25000" name="adj"/>
            </a:avLst>
          </a:prstGeom>
          <a:solidFill>
            <a:srgbClr val="EBEDFE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143"/>
          <p:cNvSpPr/>
          <p:nvPr/>
        </p:nvSpPr>
        <p:spPr>
          <a:xfrm rot="-5400000">
            <a:off x="6530375" y="3898350"/>
            <a:ext cx="978600" cy="598500"/>
          </a:xfrm>
          <a:prstGeom prst="cube">
            <a:avLst>
              <a:gd fmla="val 25000" name="adj"/>
            </a:avLst>
          </a:prstGeom>
          <a:solidFill>
            <a:srgbClr val="EBEDFE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5" name="Google Shape;1795;p143"/>
          <p:cNvCxnSpPr/>
          <p:nvPr/>
        </p:nvCxnSpPr>
        <p:spPr>
          <a:xfrm>
            <a:off x="7417425" y="384652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96" name="Google Shape;1796;p143"/>
          <p:cNvSpPr txBox="1"/>
          <p:nvPr>
            <p:ph idx="4294967295" type="body"/>
          </p:nvPr>
        </p:nvSpPr>
        <p:spPr>
          <a:xfrm>
            <a:off x="7453425" y="4123400"/>
            <a:ext cx="1002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60 mm</a:t>
            </a:r>
            <a:endParaRPr/>
          </a:p>
        </p:txBody>
      </p:sp>
      <p:cxnSp>
        <p:nvCxnSpPr>
          <p:cNvPr id="1797" name="Google Shape;1797;p143"/>
          <p:cNvCxnSpPr/>
          <p:nvPr/>
        </p:nvCxnSpPr>
        <p:spPr>
          <a:xfrm>
            <a:off x="6716358" y="3630053"/>
            <a:ext cx="4194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98" name="Google Shape;1798;p143"/>
          <p:cNvSpPr txBox="1"/>
          <p:nvPr>
            <p:ph idx="4294967295" type="body"/>
          </p:nvPr>
        </p:nvSpPr>
        <p:spPr>
          <a:xfrm>
            <a:off x="6615225" y="3285200"/>
            <a:ext cx="1002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0.04m</a:t>
            </a:r>
            <a:endParaRPr/>
          </a:p>
        </p:txBody>
      </p:sp>
      <p:cxnSp>
        <p:nvCxnSpPr>
          <p:cNvPr id="1799" name="Google Shape;1799;p143"/>
          <p:cNvCxnSpPr/>
          <p:nvPr/>
        </p:nvCxnSpPr>
        <p:spPr>
          <a:xfrm>
            <a:off x="6659575" y="4538625"/>
            <a:ext cx="171000" cy="1710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800" name="Google Shape;1800;p143"/>
          <p:cNvSpPr txBox="1"/>
          <p:nvPr>
            <p:ph idx="4294967295" type="body"/>
          </p:nvPr>
        </p:nvSpPr>
        <p:spPr>
          <a:xfrm>
            <a:off x="6005625" y="4428197"/>
            <a:ext cx="771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 cm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14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806" name="Google Shape;1806;p1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 Fill in the missing values: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3.2 m</a:t>
            </a:r>
            <a:r>
              <a:rPr baseline="30000" lang="en-GB"/>
              <a:t>2</a:t>
            </a:r>
            <a:r>
              <a:rPr lang="en-GB"/>
              <a:t> = </a:t>
            </a:r>
            <a:r>
              <a:rPr lang="en-GB" u="sng"/>
              <a:t>        </a:t>
            </a:r>
            <a:r>
              <a:rPr lang="en-GB"/>
              <a:t> cm</a:t>
            </a:r>
            <a:r>
              <a:rPr baseline="30000" lang="en-GB"/>
              <a:t>2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125 000 cm</a:t>
            </a:r>
            <a:r>
              <a:rPr baseline="30000" lang="en-GB"/>
              <a:t>2</a:t>
            </a:r>
            <a:r>
              <a:rPr lang="en-GB"/>
              <a:t> = </a:t>
            </a:r>
            <a:r>
              <a:rPr lang="en-GB" u="sng"/>
              <a:t>        </a:t>
            </a:r>
            <a:r>
              <a:rPr lang="en-GB"/>
              <a:t> m</a:t>
            </a:r>
            <a:r>
              <a:rPr baseline="30000" lang="en-GB"/>
              <a:t>2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23 987 000 cm</a:t>
            </a:r>
            <a:r>
              <a:rPr baseline="30000" lang="en-GB"/>
              <a:t>3</a:t>
            </a:r>
            <a:r>
              <a:rPr lang="en-GB"/>
              <a:t> = </a:t>
            </a:r>
            <a:r>
              <a:rPr lang="en-GB" u="sng"/>
              <a:t>        </a:t>
            </a:r>
            <a:r>
              <a:rPr lang="en-GB"/>
              <a:t> m</a:t>
            </a:r>
            <a:r>
              <a:rPr baseline="30000" lang="en-GB"/>
              <a:t>3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0.74 m</a:t>
            </a:r>
            <a:r>
              <a:rPr baseline="30000" lang="en-GB"/>
              <a:t>3</a:t>
            </a:r>
            <a:r>
              <a:rPr lang="en-GB"/>
              <a:t> = </a:t>
            </a:r>
            <a:r>
              <a:rPr lang="en-GB" u="sng"/>
              <a:t>        </a:t>
            </a:r>
            <a:r>
              <a:rPr lang="en-GB"/>
              <a:t> cm</a:t>
            </a:r>
            <a:r>
              <a:rPr baseline="30000" lang="en-GB"/>
              <a:t>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4)   Calculate the area of this triangle.  </a:t>
            </a:r>
            <a:r>
              <a:rPr lang="en-GB"/>
              <a:t>Give your answer to 2 decimal places in 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144"/>
          <p:cNvSpPr/>
          <p:nvPr/>
        </p:nvSpPr>
        <p:spPr>
          <a:xfrm>
            <a:off x="4797800" y="3365875"/>
            <a:ext cx="2859000" cy="1023600"/>
          </a:xfrm>
          <a:prstGeom prst="rtTriangle">
            <a:avLst/>
          </a:prstGeom>
          <a:solidFill>
            <a:srgbClr val="EBEDFE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8" name="Google Shape;1808;p144"/>
          <p:cNvCxnSpPr/>
          <p:nvPr/>
        </p:nvCxnSpPr>
        <p:spPr>
          <a:xfrm>
            <a:off x="4675930" y="3315825"/>
            <a:ext cx="0" cy="10521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9" name="Google Shape;1809;p144"/>
          <p:cNvCxnSpPr/>
          <p:nvPr/>
        </p:nvCxnSpPr>
        <p:spPr>
          <a:xfrm rot="10800000">
            <a:off x="4800975" y="4512650"/>
            <a:ext cx="28839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10" name="Google Shape;1810;p144"/>
          <p:cNvSpPr txBox="1"/>
          <p:nvPr>
            <p:ph idx="4294967295" type="body"/>
          </p:nvPr>
        </p:nvSpPr>
        <p:spPr>
          <a:xfrm>
            <a:off x="3760701" y="3728100"/>
            <a:ext cx="8844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86 cm</a:t>
            </a:r>
            <a:endParaRPr/>
          </a:p>
        </p:txBody>
      </p:sp>
      <p:sp>
        <p:nvSpPr>
          <p:cNvPr id="1811" name="Google Shape;1811;p144"/>
          <p:cNvSpPr txBox="1"/>
          <p:nvPr>
            <p:ph idx="4294967295" type="body"/>
          </p:nvPr>
        </p:nvSpPr>
        <p:spPr>
          <a:xfrm>
            <a:off x="5665700" y="4490100"/>
            <a:ext cx="10101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254 cm</a:t>
            </a:r>
            <a:endParaRPr/>
          </a:p>
        </p:txBody>
      </p:sp>
      <p:sp>
        <p:nvSpPr>
          <p:cNvPr id="1812" name="Google Shape;1812;p144"/>
          <p:cNvSpPr txBox="1"/>
          <p:nvPr>
            <p:ph idx="4294967295" type="body"/>
          </p:nvPr>
        </p:nvSpPr>
        <p:spPr>
          <a:xfrm>
            <a:off x="6351500" y="3575700"/>
            <a:ext cx="1107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268 cm</a:t>
            </a:r>
            <a:endParaRPr/>
          </a:p>
        </p:txBody>
      </p:sp>
      <p:sp>
        <p:nvSpPr>
          <p:cNvPr id="1813" name="Google Shape;1813;p144"/>
          <p:cNvSpPr/>
          <p:nvPr/>
        </p:nvSpPr>
        <p:spPr>
          <a:xfrm>
            <a:off x="4807048" y="4181038"/>
            <a:ext cx="196200" cy="203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14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819" name="Google Shape;1819;p145"/>
          <p:cNvSpPr txBox="1"/>
          <p:nvPr>
            <p:ph idx="1" type="body"/>
          </p:nvPr>
        </p:nvSpPr>
        <p:spPr>
          <a:xfrm>
            <a:off x="324000" y="759300"/>
            <a:ext cx="8237700" cy="35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5)  Calculate the volume of this cuboid.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Give your answer in cm</a:t>
            </a:r>
            <a:r>
              <a:rPr baseline="30000" lang="en-GB"/>
              <a:t>3</a:t>
            </a:r>
            <a:r>
              <a:rPr lang="en-GB"/>
              <a:t>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1820" name="Google Shape;1820;p145"/>
          <p:cNvCxnSpPr/>
          <p:nvPr/>
        </p:nvCxnSpPr>
        <p:spPr>
          <a:xfrm>
            <a:off x="1337505" y="2173075"/>
            <a:ext cx="0" cy="11466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1" name="Google Shape;1821;p145"/>
          <p:cNvCxnSpPr/>
          <p:nvPr/>
        </p:nvCxnSpPr>
        <p:spPr>
          <a:xfrm rot="10800000">
            <a:off x="1490600" y="3390050"/>
            <a:ext cx="20322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2" name="Google Shape;1822;p145"/>
          <p:cNvSpPr txBox="1"/>
          <p:nvPr>
            <p:ph idx="4294967295" type="body"/>
          </p:nvPr>
        </p:nvSpPr>
        <p:spPr>
          <a:xfrm>
            <a:off x="534396" y="2585350"/>
            <a:ext cx="8844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0.7 m</a:t>
            </a:r>
            <a:endParaRPr/>
          </a:p>
        </p:txBody>
      </p:sp>
      <p:sp>
        <p:nvSpPr>
          <p:cNvPr id="1823" name="Google Shape;1823;p145"/>
          <p:cNvSpPr txBox="1"/>
          <p:nvPr>
            <p:ph idx="4294967295" type="body"/>
          </p:nvPr>
        </p:nvSpPr>
        <p:spPr>
          <a:xfrm>
            <a:off x="2159096" y="3367490"/>
            <a:ext cx="8844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1.8 m</a:t>
            </a:r>
            <a:endParaRPr/>
          </a:p>
        </p:txBody>
      </p:sp>
      <p:sp>
        <p:nvSpPr>
          <p:cNvPr id="1824" name="Google Shape;1824;p145"/>
          <p:cNvSpPr txBox="1"/>
          <p:nvPr>
            <p:ph idx="4294967295" type="body"/>
          </p:nvPr>
        </p:nvSpPr>
        <p:spPr>
          <a:xfrm>
            <a:off x="3878161" y="3163225"/>
            <a:ext cx="8844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0.4 m</a:t>
            </a:r>
            <a:endParaRPr/>
          </a:p>
        </p:txBody>
      </p:sp>
      <p:sp>
        <p:nvSpPr>
          <p:cNvPr id="1825" name="Google Shape;1825;p145"/>
          <p:cNvSpPr/>
          <p:nvPr/>
        </p:nvSpPr>
        <p:spPr>
          <a:xfrm>
            <a:off x="1506300" y="1784500"/>
            <a:ext cx="2409300" cy="1513500"/>
          </a:xfrm>
          <a:prstGeom prst="cube">
            <a:avLst>
              <a:gd fmla="val 25000" name="adj"/>
            </a:avLst>
          </a:prstGeom>
          <a:solidFill>
            <a:srgbClr val="EBEDFE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6" name="Google Shape;1826;p145"/>
          <p:cNvCxnSpPr/>
          <p:nvPr/>
        </p:nvCxnSpPr>
        <p:spPr>
          <a:xfrm flipH="1" rot="10800000">
            <a:off x="3635765" y="3025000"/>
            <a:ext cx="334800" cy="3348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4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832" name="Google Shape;1832;p146"/>
          <p:cNvSpPr txBox="1"/>
          <p:nvPr>
            <p:ph idx="1" type="body"/>
          </p:nvPr>
        </p:nvSpPr>
        <p:spPr>
          <a:xfrm>
            <a:off x="324000" y="675210"/>
            <a:ext cx="8237700" cy="7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 </a:t>
            </a:r>
            <a:r>
              <a:rPr lang="en-GB"/>
              <a:t>Write the following in order from the shortest to the tallest, using the conversion 1 m = 3.3 feet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833" name="Google Shape;1833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9314" y="1513227"/>
            <a:ext cx="1182029" cy="10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4" name="Google Shape;1834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7575" y="1499726"/>
            <a:ext cx="1018874" cy="1028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5" name="Google Shape;1835;p1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40547" y="1608650"/>
            <a:ext cx="1147825" cy="920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6" name="Google Shape;1836;p146"/>
          <p:cNvGrpSpPr/>
          <p:nvPr/>
        </p:nvGrpSpPr>
        <p:grpSpPr>
          <a:xfrm>
            <a:off x="478937" y="1513353"/>
            <a:ext cx="703095" cy="1015374"/>
            <a:chOff x="242400" y="1139863"/>
            <a:chExt cx="2277599" cy="3680224"/>
          </a:xfrm>
        </p:grpSpPr>
        <p:pic>
          <p:nvPicPr>
            <p:cNvPr id="1837" name="Google Shape;1837;p14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42400" y="1139863"/>
              <a:ext cx="2277599" cy="3680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8" name="Google Shape;1838;p146"/>
            <p:cNvSpPr/>
            <p:nvPr/>
          </p:nvSpPr>
          <p:spPr>
            <a:xfrm>
              <a:off x="2252325" y="1475275"/>
              <a:ext cx="35700" cy="543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39" name="Google Shape;1839;p1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1235" y="1834691"/>
            <a:ext cx="1018876" cy="694036"/>
          </a:xfrm>
          <a:prstGeom prst="rect">
            <a:avLst/>
          </a:prstGeom>
          <a:noFill/>
          <a:ln>
            <a:noFill/>
          </a:ln>
        </p:spPr>
      </p:pic>
      <p:sp>
        <p:nvSpPr>
          <p:cNvPr id="1840" name="Google Shape;1840;p146"/>
          <p:cNvSpPr txBox="1"/>
          <p:nvPr/>
        </p:nvSpPr>
        <p:spPr>
          <a:xfrm>
            <a:off x="7920680" y="665635"/>
            <a:ext cx="857400" cy="759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Images are not to scale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146"/>
          <p:cNvSpPr txBox="1"/>
          <p:nvPr>
            <p:ph idx="4294967295" type="body"/>
          </p:nvPr>
        </p:nvSpPr>
        <p:spPr>
          <a:xfrm>
            <a:off x="443025" y="2583335"/>
            <a:ext cx="738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5.1 m</a:t>
            </a:r>
            <a:endParaRPr/>
          </a:p>
        </p:txBody>
      </p:sp>
      <p:sp>
        <p:nvSpPr>
          <p:cNvPr id="1842" name="Google Shape;1842;p146"/>
          <p:cNvSpPr txBox="1"/>
          <p:nvPr>
            <p:ph idx="4294967295" type="body"/>
          </p:nvPr>
        </p:nvSpPr>
        <p:spPr>
          <a:xfrm>
            <a:off x="1882924" y="2583325"/>
            <a:ext cx="12975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14.2</a:t>
            </a:r>
            <a:r>
              <a:rPr lang="en-GB"/>
              <a:t> feet</a:t>
            </a:r>
            <a:endParaRPr/>
          </a:p>
        </p:txBody>
      </p:sp>
      <p:sp>
        <p:nvSpPr>
          <p:cNvPr id="1843" name="Google Shape;1843;p146"/>
          <p:cNvSpPr txBox="1"/>
          <p:nvPr>
            <p:ph idx="4294967295" type="body"/>
          </p:nvPr>
        </p:nvSpPr>
        <p:spPr>
          <a:xfrm>
            <a:off x="5540535" y="2583335"/>
            <a:ext cx="11478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10.2 feet</a:t>
            </a:r>
            <a:endParaRPr/>
          </a:p>
        </p:txBody>
      </p:sp>
      <p:sp>
        <p:nvSpPr>
          <p:cNvPr id="1844" name="Google Shape;1844;p146"/>
          <p:cNvSpPr txBox="1"/>
          <p:nvPr>
            <p:ph idx="4294967295" type="body"/>
          </p:nvPr>
        </p:nvSpPr>
        <p:spPr>
          <a:xfrm>
            <a:off x="443025" y="2583335"/>
            <a:ext cx="738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5.1 m</a:t>
            </a:r>
            <a:endParaRPr/>
          </a:p>
        </p:txBody>
      </p:sp>
      <p:sp>
        <p:nvSpPr>
          <p:cNvPr id="1845" name="Google Shape;1845;p146"/>
          <p:cNvSpPr txBox="1"/>
          <p:nvPr>
            <p:ph idx="4294967295" type="body"/>
          </p:nvPr>
        </p:nvSpPr>
        <p:spPr>
          <a:xfrm>
            <a:off x="3872025" y="2583335"/>
            <a:ext cx="738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2.4</a:t>
            </a:r>
            <a:r>
              <a:rPr lang="en-GB"/>
              <a:t> m</a:t>
            </a:r>
            <a:endParaRPr/>
          </a:p>
        </p:txBody>
      </p:sp>
      <p:sp>
        <p:nvSpPr>
          <p:cNvPr id="1846" name="Google Shape;1846;p146"/>
          <p:cNvSpPr txBox="1"/>
          <p:nvPr>
            <p:ph idx="4294967295" type="body"/>
          </p:nvPr>
        </p:nvSpPr>
        <p:spPr>
          <a:xfrm>
            <a:off x="7369335" y="2583335"/>
            <a:ext cx="11478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13</a:t>
            </a:r>
            <a:r>
              <a:rPr lang="en-GB"/>
              <a:t>.2 feet</a:t>
            </a:r>
            <a:endParaRPr/>
          </a:p>
        </p:txBody>
      </p:sp>
      <p:sp>
        <p:nvSpPr>
          <p:cNvPr id="1847" name="Google Shape;1847;p146"/>
          <p:cNvSpPr txBox="1"/>
          <p:nvPr/>
        </p:nvSpPr>
        <p:spPr>
          <a:xfrm>
            <a:off x="394626" y="3117610"/>
            <a:ext cx="57780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Correct order:  garage, elephant, teepee, bus, giraffe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14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853" name="Google Shape;1853;p147"/>
          <p:cNvSpPr txBox="1"/>
          <p:nvPr>
            <p:ph idx="1" type="body"/>
          </p:nvPr>
        </p:nvSpPr>
        <p:spPr>
          <a:xfrm>
            <a:off x="328775" y="577101"/>
            <a:ext cx="8237700" cy="6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Work out the maximum number of the boxes below that will fit into the box above.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 </a:t>
            </a:r>
            <a:r>
              <a:rPr lang="en-GB"/>
              <a:t>A cube with dimensions of 40 mm		b)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147"/>
          <p:cNvSpPr txBox="1"/>
          <p:nvPr/>
        </p:nvSpPr>
        <p:spPr>
          <a:xfrm>
            <a:off x="7920680" y="665635"/>
            <a:ext cx="857400" cy="759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36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Images are not to scale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5" name="Google Shape;1855;p147"/>
          <p:cNvSpPr/>
          <p:nvPr/>
        </p:nvSpPr>
        <p:spPr>
          <a:xfrm>
            <a:off x="1280035" y="713660"/>
            <a:ext cx="2760900" cy="1695900"/>
          </a:xfrm>
          <a:prstGeom prst="cube">
            <a:avLst>
              <a:gd fmla="val 25000" name="adj"/>
            </a:avLst>
          </a:prstGeom>
          <a:solidFill>
            <a:srgbClr val="EBEDFE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6" name="Google Shape;1856;p147"/>
          <p:cNvCxnSpPr/>
          <p:nvPr/>
        </p:nvCxnSpPr>
        <p:spPr>
          <a:xfrm>
            <a:off x="1168965" y="1182225"/>
            <a:ext cx="0" cy="12255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57" name="Google Shape;1857;p147"/>
          <p:cNvCxnSpPr/>
          <p:nvPr/>
        </p:nvCxnSpPr>
        <p:spPr>
          <a:xfrm rot="10800000">
            <a:off x="1265850" y="2531460"/>
            <a:ext cx="23547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58" name="Google Shape;1858;p147"/>
          <p:cNvCxnSpPr/>
          <p:nvPr/>
        </p:nvCxnSpPr>
        <p:spPr>
          <a:xfrm flipH="1" rot="10800000">
            <a:off x="3705490" y="2044600"/>
            <a:ext cx="406800" cy="4068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9" name="Google Shape;1859;p147"/>
          <p:cNvSpPr txBox="1"/>
          <p:nvPr>
            <p:ph idx="4294967295" type="body"/>
          </p:nvPr>
        </p:nvSpPr>
        <p:spPr>
          <a:xfrm>
            <a:off x="366825" y="1594510"/>
            <a:ext cx="771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1.2</a:t>
            </a:r>
            <a:r>
              <a:rPr lang="en-GB"/>
              <a:t> m</a:t>
            </a:r>
            <a:endParaRPr/>
          </a:p>
        </p:txBody>
      </p:sp>
      <p:sp>
        <p:nvSpPr>
          <p:cNvPr id="1860" name="Google Shape;1860;p147"/>
          <p:cNvSpPr txBox="1"/>
          <p:nvPr>
            <p:ph idx="4294967295" type="body"/>
          </p:nvPr>
        </p:nvSpPr>
        <p:spPr>
          <a:xfrm>
            <a:off x="3964725" y="2243500"/>
            <a:ext cx="885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80</a:t>
            </a:r>
            <a:r>
              <a:rPr lang="en-GB"/>
              <a:t> cm</a:t>
            </a:r>
            <a:endParaRPr/>
          </a:p>
        </p:txBody>
      </p:sp>
      <p:sp>
        <p:nvSpPr>
          <p:cNvPr id="1861" name="Google Shape;1861;p147"/>
          <p:cNvSpPr txBox="1"/>
          <p:nvPr>
            <p:ph idx="4294967295" type="body"/>
          </p:nvPr>
        </p:nvSpPr>
        <p:spPr>
          <a:xfrm>
            <a:off x="2056612" y="2557010"/>
            <a:ext cx="7089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1.6 m</a:t>
            </a:r>
            <a:endParaRPr/>
          </a:p>
        </p:txBody>
      </p:sp>
      <p:sp>
        <p:nvSpPr>
          <p:cNvPr id="1862" name="Google Shape;1862;p147"/>
          <p:cNvSpPr/>
          <p:nvPr/>
        </p:nvSpPr>
        <p:spPr>
          <a:xfrm>
            <a:off x="916800" y="4114150"/>
            <a:ext cx="562500" cy="553500"/>
          </a:xfrm>
          <a:prstGeom prst="cube">
            <a:avLst>
              <a:gd fmla="val 25000" name="adj"/>
            </a:avLst>
          </a:prstGeom>
          <a:solidFill>
            <a:srgbClr val="EBEDFE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47"/>
          <p:cNvSpPr/>
          <p:nvPr/>
        </p:nvSpPr>
        <p:spPr>
          <a:xfrm rot="-5400000">
            <a:off x="6530375" y="3898350"/>
            <a:ext cx="978600" cy="598500"/>
          </a:xfrm>
          <a:prstGeom prst="cube">
            <a:avLst>
              <a:gd fmla="val 25000" name="adj"/>
            </a:avLst>
          </a:prstGeom>
          <a:solidFill>
            <a:srgbClr val="EBEDFE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4" name="Google Shape;1864;p147"/>
          <p:cNvCxnSpPr/>
          <p:nvPr/>
        </p:nvCxnSpPr>
        <p:spPr>
          <a:xfrm>
            <a:off x="7417425" y="3846525"/>
            <a:ext cx="0" cy="8553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5" name="Google Shape;1865;p147"/>
          <p:cNvSpPr txBox="1"/>
          <p:nvPr>
            <p:ph idx="4294967295" type="body"/>
          </p:nvPr>
        </p:nvSpPr>
        <p:spPr>
          <a:xfrm>
            <a:off x="7453425" y="4123400"/>
            <a:ext cx="1002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60 mm</a:t>
            </a:r>
            <a:endParaRPr/>
          </a:p>
        </p:txBody>
      </p:sp>
      <p:cxnSp>
        <p:nvCxnSpPr>
          <p:cNvPr id="1866" name="Google Shape;1866;p147"/>
          <p:cNvCxnSpPr/>
          <p:nvPr/>
        </p:nvCxnSpPr>
        <p:spPr>
          <a:xfrm>
            <a:off x="6716358" y="3630053"/>
            <a:ext cx="4194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7" name="Google Shape;1867;p147"/>
          <p:cNvSpPr txBox="1"/>
          <p:nvPr>
            <p:ph idx="4294967295" type="body"/>
          </p:nvPr>
        </p:nvSpPr>
        <p:spPr>
          <a:xfrm>
            <a:off x="6615225" y="3285200"/>
            <a:ext cx="1002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0.04</a:t>
            </a:r>
            <a:r>
              <a:rPr lang="en-GB"/>
              <a:t>m</a:t>
            </a:r>
            <a:endParaRPr/>
          </a:p>
        </p:txBody>
      </p:sp>
      <p:cxnSp>
        <p:nvCxnSpPr>
          <p:cNvPr id="1868" name="Google Shape;1868;p147"/>
          <p:cNvCxnSpPr/>
          <p:nvPr/>
        </p:nvCxnSpPr>
        <p:spPr>
          <a:xfrm>
            <a:off x="6659575" y="4538625"/>
            <a:ext cx="171000" cy="1710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869" name="Google Shape;1869;p147"/>
          <p:cNvSpPr txBox="1"/>
          <p:nvPr>
            <p:ph idx="4294967295" type="body"/>
          </p:nvPr>
        </p:nvSpPr>
        <p:spPr>
          <a:xfrm>
            <a:off x="6005625" y="4428197"/>
            <a:ext cx="771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 cm</a:t>
            </a:r>
            <a:endParaRPr/>
          </a:p>
        </p:txBody>
      </p:sp>
      <p:sp>
        <p:nvSpPr>
          <p:cNvPr id="1870" name="Google Shape;1870;p147"/>
          <p:cNvSpPr txBox="1"/>
          <p:nvPr/>
        </p:nvSpPr>
        <p:spPr>
          <a:xfrm>
            <a:off x="1576415" y="4242060"/>
            <a:ext cx="370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30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40 × 20 = 24 000 boxes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1" name="Google Shape;1871;p147"/>
          <p:cNvSpPr txBox="1"/>
          <p:nvPr/>
        </p:nvSpPr>
        <p:spPr>
          <a:xfrm>
            <a:off x="7755276" y="3434925"/>
            <a:ext cx="10023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16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000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boxes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2" name="Google Shape;1872;p147"/>
          <p:cNvSpPr/>
          <p:nvPr/>
        </p:nvSpPr>
        <p:spPr>
          <a:xfrm>
            <a:off x="7698900" y="3414975"/>
            <a:ext cx="857400" cy="665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1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878" name="Google Shape;1878;p1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 Fill in the missing values: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3.2 m</a:t>
            </a:r>
            <a:r>
              <a:rPr baseline="30000" lang="en-GB"/>
              <a:t>2</a:t>
            </a:r>
            <a:r>
              <a:rPr lang="en-GB"/>
              <a:t>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32 000</a:t>
            </a:r>
            <a:r>
              <a:rPr lang="en-GB"/>
              <a:t> cm</a:t>
            </a:r>
            <a:r>
              <a:rPr baseline="30000" lang="en-GB"/>
              <a:t>2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125 000 c</a:t>
            </a:r>
            <a:r>
              <a:rPr lang="en-GB"/>
              <a:t>m</a:t>
            </a:r>
            <a:r>
              <a:rPr baseline="30000" lang="en-GB"/>
              <a:t>2</a:t>
            </a:r>
            <a:r>
              <a:rPr lang="en-GB"/>
              <a:t>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12.5</a:t>
            </a:r>
            <a:r>
              <a:rPr lang="en-GB"/>
              <a:t> m</a:t>
            </a:r>
            <a:r>
              <a:rPr baseline="30000" lang="en-GB"/>
              <a:t>2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23 987 000 cm</a:t>
            </a:r>
            <a:r>
              <a:rPr baseline="30000" lang="en-GB"/>
              <a:t>3</a:t>
            </a:r>
            <a:r>
              <a:rPr lang="en-GB"/>
              <a:t>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23.987</a:t>
            </a:r>
            <a:r>
              <a:rPr lang="en-GB"/>
              <a:t> m</a:t>
            </a:r>
            <a:r>
              <a:rPr baseline="30000" lang="en-GB"/>
              <a:t>3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0.74 m</a:t>
            </a:r>
            <a:r>
              <a:rPr baseline="30000" lang="en-GB"/>
              <a:t>3</a:t>
            </a:r>
            <a:r>
              <a:rPr lang="en-GB"/>
              <a:t>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740 000</a:t>
            </a:r>
            <a:r>
              <a:rPr lang="en-GB"/>
              <a:t> cm</a:t>
            </a:r>
            <a:r>
              <a:rPr baseline="30000" lang="en-GB"/>
              <a:t>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4)	Calculate the area of this triangle.  Give your answer to 2 decimal places in m</a:t>
            </a:r>
            <a:r>
              <a:rPr baseline="30000" lang="en-GB"/>
              <a:t>2</a:t>
            </a:r>
            <a:r>
              <a:rPr lang="en-GB"/>
              <a:t>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79" name="Google Shape;1879;p148"/>
          <p:cNvSpPr/>
          <p:nvPr/>
        </p:nvSpPr>
        <p:spPr>
          <a:xfrm>
            <a:off x="4797800" y="3365875"/>
            <a:ext cx="2859000" cy="1023600"/>
          </a:xfrm>
          <a:prstGeom prst="rtTriangle">
            <a:avLst/>
          </a:prstGeom>
          <a:solidFill>
            <a:srgbClr val="EBEDFE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0" name="Google Shape;1880;p148"/>
          <p:cNvCxnSpPr/>
          <p:nvPr/>
        </p:nvCxnSpPr>
        <p:spPr>
          <a:xfrm>
            <a:off x="4675930" y="3315825"/>
            <a:ext cx="0" cy="10521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81" name="Google Shape;1881;p148"/>
          <p:cNvCxnSpPr/>
          <p:nvPr/>
        </p:nvCxnSpPr>
        <p:spPr>
          <a:xfrm rot="10800000">
            <a:off x="4800975" y="4512650"/>
            <a:ext cx="28839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2" name="Google Shape;1882;p148"/>
          <p:cNvSpPr txBox="1"/>
          <p:nvPr>
            <p:ph idx="4294967295" type="body"/>
          </p:nvPr>
        </p:nvSpPr>
        <p:spPr>
          <a:xfrm>
            <a:off x="3760701" y="3728100"/>
            <a:ext cx="8844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86 c</a:t>
            </a:r>
            <a:r>
              <a:rPr lang="en-GB"/>
              <a:t>m</a:t>
            </a:r>
            <a:endParaRPr/>
          </a:p>
        </p:txBody>
      </p:sp>
      <p:sp>
        <p:nvSpPr>
          <p:cNvPr id="1883" name="Google Shape;1883;p148"/>
          <p:cNvSpPr txBox="1"/>
          <p:nvPr>
            <p:ph idx="4294967295" type="body"/>
          </p:nvPr>
        </p:nvSpPr>
        <p:spPr>
          <a:xfrm>
            <a:off x="5665700" y="4490100"/>
            <a:ext cx="10101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254 cm</a:t>
            </a:r>
            <a:endParaRPr/>
          </a:p>
        </p:txBody>
      </p:sp>
      <p:sp>
        <p:nvSpPr>
          <p:cNvPr id="1884" name="Google Shape;1884;p148"/>
          <p:cNvSpPr txBox="1"/>
          <p:nvPr>
            <p:ph idx="4294967295" type="body"/>
          </p:nvPr>
        </p:nvSpPr>
        <p:spPr>
          <a:xfrm>
            <a:off x="6351500" y="3575700"/>
            <a:ext cx="1107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268</a:t>
            </a:r>
            <a:r>
              <a:rPr lang="en-GB"/>
              <a:t> cm</a:t>
            </a:r>
            <a:endParaRPr/>
          </a:p>
        </p:txBody>
      </p:sp>
      <p:sp>
        <p:nvSpPr>
          <p:cNvPr id="1885" name="Google Shape;1885;p148"/>
          <p:cNvSpPr/>
          <p:nvPr/>
        </p:nvSpPr>
        <p:spPr>
          <a:xfrm>
            <a:off x="4807048" y="4181038"/>
            <a:ext cx="196200" cy="203700"/>
          </a:xfrm>
          <a:prstGeom prst="rect">
            <a:avLst/>
          </a:prstGeom>
          <a:solidFill>
            <a:srgbClr val="EBEDFE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148"/>
          <p:cNvSpPr txBox="1"/>
          <p:nvPr/>
        </p:nvSpPr>
        <p:spPr>
          <a:xfrm>
            <a:off x="433415" y="3708660"/>
            <a:ext cx="370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1.09 m</a:t>
            </a:r>
            <a:r>
              <a:rPr baseline="30000" lang="en-GB" sz="22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1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892" name="Google Shape;1892;p1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</a:t>
            </a:r>
            <a:r>
              <a:rPr lang="en-GB"/>
              <a:t>)   Calculate the volume of this cuboid.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Give your answer in cm</a:t>
            </a:r>
            <a:r>
              <a:rPr baseline="30000" lang="en-GB"/>
              <a:t>3</a:t>
            </a:r>
            <a:r>
              <a:rPr lang="en-GB"/>
              <a:t>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1893" name="Google Shape;1893;p149"/>
          <p:cNvCxnSpPr/>
          <p:nvPr/>
        </p:nvCxnSpPr>
        <p:spPr>
          <a:xfrm>
            <a:off x="1318605" y="2403300"/>
            <a:ext cx="0" cy="11466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94" name="Google Shape;1894;p149"/>
          <p:cNvCxnSpPr/>
          <p:nvPr/>
        </p:nvCxnSpPr>
        <p:spPr>
          <a:xfrm rot="10800000">
            <a:off x="1471700" y="3620275"/>
            <a:ext cx="20322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95" name="Google Shape;1895;p149"/>
          <p:cNvSpPr txBox="1"/>
          <p:nvPr>
            <p:ph idx="4294967295" type="body"/>
          </p:nvPr>
        </p:nvSpPr>
        <p:spPr>
          <a:xfrm>
            <a:off x="515496" y="2815575"/>
            <a:ext cx="8844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0.7</a:t>
            </a:r>
            <a:r>
              <a:rPr lang="en-GB"/>
              <a:t> m</a:t>
            </a:r>
            <a:endParaRPr/>
          </a:p>
        </p:txBody>
      </p:sp>
      <p:sp>
        <p:nvSpPr>
          <p:cNvPr id="1896" name="Google Shape;1896;p149"/>
          <p:cNvSpPr txBox="1"/>
          <p:nvPr>
            <p:ph idx="4294967295" type="body"/>
          </p:nvPr>
        </p:nvSpPr>
        <p:spPr>
          <a:xfrm>
            <a:off x="2140196" y="3597715"/>
            <a:ext cx="8844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1.8</a:t>
            </a:r>
            <a:r>
              <a:rPr lang="en-GB"/>
              <a:t> m</a:t>
            </a:r>
            <a:endParaRPr/>
          </a:p>
        </p:txBody>
      </p:sp>
      <p:sp>
        <p:nvSpPr>
          <p:cNvPr id="1897" name="Google Shape;1897;p149"/>
          <p:cNvSpPr txBox="1"/>
          <p:nvPr>
            <p:ph idx="4294967295" type="body"/>
          </p:nvPr>
        </p:nvSpPr>
        <p:spPr>
          <a:xfrm>
            <a:off x="3859261" y="3393450"/>
            <a:ext cx="8844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0.4</a:t>
            </a:r>
            <a:r>
              <a:rPr lang="en-GB"/>
              <a:t> m</a:t>
            </a:r>
            <a:endParaRPr/>
          </a:p>
        </p:txBody>
      </p:sp>
      <p:sp>
        <p:nvSpPr>
          <p:cNvPr id="1898" name="Google Shape;1898;p149"/>
          <p:cNvSpPr/>
          <p:nvPr/>
        </p:nvSpPr>
        <p:spPr>
          <a:xfrm>
            <a:off x="1487400" y="2014725"/>
            <a:ext cx="2409300" cy="1513500"/>
          </a:xfrm>
          <a:prstGeom prst="cube">
            <a:avLst>
              <a:gd fmla="val 25000" name="adj"/>
            </a:avLst>
          </a:prstGeom>
          <a:solidFill>
            <a:srgbClr val="EBEDFE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9" name="Google Shape;1899;p149"/>
          <p:cNvCxnSpPr/>
          <p:nvPr/>
        </p:nvCxnSpPr>
        <p:spPr>
          <a:xfrm flipH="1" rot="10800000">
            <a:off x="3616865" y="3255225"/>
            <a:ext cx="334800" cy="3348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0" name="Google Shape;1900;p149"/>
          <p:cNvSpPr txBox="1"/>
          <p:nvPr/>
        </p:nvSpPr>
        <p:spPr>
          <a:xfrm>
            <a:off x="4924690" y="1881735"/>
            <a:ext cx="3703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504 000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200"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15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906" name="Google Shape;1906;p15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1907" name="Google Shape;1907;p15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 in context</a:t>
            </a:r>
            <a:endParaRPr/>
          </a:p>
        </p:txBody>
      </p:sp>
      <p:pic>
        <p:nvPicPr>
          <p:cNvPr id="1908" name="Google Shape;1908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08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1914" name="Google Shape;1914;p1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well</a:t>
            </a:r>
            <a:r>
              <a:rPr lang="en-GB"/>
              <a:t> as conversions there are other contexts which involve direct proportion.  E.g.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changing between different currencies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scaling recipes 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scaling the cost of particular items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1920" name="Google Shape;1920;p152"/>
          <p:cNvSpPr txBox="1"/>
          <p:nvPr>
            <p:ph idx="1" type="body"/>
          </p:nvPr>
        </p:nvSpPr>
        <p:spPr>
          <a:xfrm>
            <a:off x="324000" y="759300"/>
            <a:ext cx="8237700" cy="86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cost of pencils is directly proportional to the number of boxes.</a:t>
            </a:r>
            <a:endParaRPr/>
          </a:p>
        </p:txBody>
      </p:sp>
      <p:pic>
        <p:nvPicPr>
          <p:cNvPr id="1921" name="Google Shape;1921;p152"/>
          <p:cNvPicPr preferRelativeResize="0"/>
          <p:nvPr/>
        </p:nvPicPr>
        <p:blipFill rotWithShape="1">
          <a:blip r:embed="rId3">
            <a:alphaModFix/>
          </a:blip>
          <a:srcRect b="0" l="55438" r="0" t="0"/>
          <a:stretch/>
        </p:blipFill>
        <p:spPr>
          <a:xfrm>
            <a:off x="7534220" y="1105663"/>
            <a:ext cx="1191276" cy="2327976"/>
          </a:xfrm>
          <a:prstGeom prst="rect">
            <a:avLst/>
          </a:prstGeom>
          <a:noFill/>
          <a:ln>
            <a:noFill/>
          </a:ln>
        </p:spPr>
      </p:pic>
      <p:sp>
        <p:nvSpPr>
          <p:cNvPr id="1922" name="Google Shape;1922;p152"/>
          <p:cNvSpPr txBox="1"/>
          <p:nvPr/>
        </p:nvSpPr>
        <p:spPr>
          <a:xfrm rot="-1206743">
            <a:off x="7789158" y="2119510"/>
            <a:ext cx="1079210" cy="5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£3.24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152"/>
          <p:cNvSpPr txBox="1"/>
          <p:nvPr>
            <p:ph idx="1" type="body"/>
          </p:nvPr>
        </p:nvSpPr>
        <p:spPr>
          <a:xfrm>
            <a:off x="324000" y="3807300"/>
            <a:ext cx="82377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cost of 18 boxes of pencils? </a:t>
            </a:r>
            <a:endParaRPr/>
          </a:p>
        </p:txBody>
      </p:sp>
      <p:graphicFrame>
        <p:nvGraphicFramePr>
          <p:cNvPr id="1924" name="Google Shape;1924;p152"/>
          <p:cNvGraphicFramePr/>
          <p:nvPr/>
        </p:nvGraphicFramePr>
        <p:xfrm>
          <a:off x="3213925" y="1753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1346625"/>
                <a:gridCol w="1346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boxes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5" name="Google Shape;1925;p152"/>
          <p:cNvSpPr/>
          <p:nvPr/>
        </p:nvSpPr>
        <p:spPr>
          <a:xfrm flipH="1" rot="-5400000">
            <a:off x="2833155" y="2494999"/>
            <a:ext cx="561300" cy="6993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152"/>
          <p:cNvSpPr txBox="1"/>
          <p:nvPr/>
        </p:nvSpPr>
        <p:spPr>
          <a:xfrm>
            <a:off x="2099455" y="2675300"/>
            <a:ext cx="59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18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27" name="Google Shape;1927;p152"/>
          <p:cNvGraphicFramePr/>
          <p:nvPr/>
        </p:nvGraphicFramePr>
        <p:xfrm>
          <a:off x="3213925" y="1753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1346625"/>
                <a:gridCol w="1346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boxes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28" name="Google Shape;1928;p152"/>
          <p:cNvGraphicFramePr/>
          <p:nvPr/>
        </p:nvGraphicFramePr>
        <p:xfrm>
          <a:off x="3213925" y="1753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1346625"/>
                <a:gridCol w="1346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boxes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58.32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929" name="Google Shape;1929;p152"/>
          <p:cNvGrpSpPr/>
          <p:nvPr/>
        </p:nvGrpSpPr>
        <p:grpSpPr>
          <a:xfrm>
            <a:off x="5753355" y="2563999"/>
            <a:ext cx="1286500" cy="561300"/>
            <a:chOff x="5753355" y="2563999"/>
            <a:chExt cx="1286500" cy="561300"/>
          </a:xfrm>
        </p:grpSpPr>
        <p:sp>
          <p:nvSpPr>
            <p:cNvPr id="1930" name="Google Shape;1930;p152"/>
            <p:cNvSpPr/>
            <p:nvPr/>
          </p:nvSpPr>
          <p:spPr>
            <a:xfrm rot="5400000">
              <a:off x="5771205" y="2546149"/>
              <a:ext cx="561300" cy="5970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152"/>
            <p:cNvSpPr txBox="1"/>
            <p:nvPr/>
          </p:nvSpPr>
          <p:spPr>
            <a:xfrm>
              <a:off x="6442855" y="2675300"/>
              <a:ext cx="59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18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2" name="Google Shape;1932;p152"/>
          <p:cNvSpPr txBox="1"/>
          <p:nvPr>
            <p:ph idx="1" type="body"/>
          </p:nvPr>
        </p:nvSpPr>
        <p:spPr>
          <a:xfrm>
            <a:off x="324000" y="4340700"/>
            <a:ext cx="82377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18 boxes of pencils cost £58.32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1938" name="Google Shape;1938;p153"/>
          <p:cNvSpPr txBox="1"/>
          <p:nvPr>
            <p:ph idx="1" type="body"/>
          </p:nvPr>
        </p:nvSpPr>
        <p:spPr>
          <a:xfrm>
            <a:off x="324000" y="759300"/>
            <a:ext cx="8237700" cy="86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number of dollars received when exchanging currency is directly proportional to the number of pounds.</a:t>
            </a:r>
            <a:endParaRPr/>
          </a:p>
        </p:txBody>
      </p:sp>
      <p:sp>
        <p:nvSpPr>
          <p:cNvPr id="1939" name="Google Shape;1939;p153"/>
          <p:cNvSpPr txBox="1"/>
          <p:nvPr>
            <p:ph idx="1" type="body"/>
          </p:nvPr>
        </p:nvSpPr>
        <p:spPr>
          <a:xfrm>
            <a:off x="324000" y="3807300"/>
            <a:ext cx="82377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many dollars will you get for £100</a:t>
            </a:r>
            <a:r>
              <a:rPr lang="en-GB"/>
              <a:t>? </a:t>
            </a:r>
            <a:endParaRPr/>
          </a:p>
        </p:txBody>
      </p:sp>
      <p:graphicFrame>
        <p:nvGraphicFramePr>
          <p:cNvPr id="1940" name="Google Shape;1940;p153"/>
          <p:cNvGraphicFramePr/>
          <p:nvPr/>
        </p:nvGraphicFramePr>
        <p:xfrm>
          <a:off x="3213925" y="1753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1346625"/>
                <a:gridCol w="1346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18.90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1" name="Google Shape;1941;p153"/>
          <p:cNvSpPr/>
          <p:nvPr/>
        </p:nvSpPr>
        <p:spPr>
          <a:xfrm flipH="1" rot="-5400000">
            <a:off x="2833155" y="2494999"/>
            <a:ext cx="561300" cy="6993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42" name="Google Shape;1942;p153"/>
          <p:cNvGraphicFramePr/>
          <p:nvPr/>
        </p:nvGraphicFramePr>
        <p:xfrm>
          <a:off x="3213925" y="1753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1346625"/>
                <a:gridCol w="1346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18.90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3" name="Google Shape;1943;p153"/>
          <p:cNvSpPr txBox="1"/>
          <p:nvPr>
            <p:ph idx="1" type="body"/>
          </p:nvPr>
        </p:nvSpPr>
        <p:spPr>
          <a:xfrm>
            <a:off x="324000" y="4340700"/>
            <a:ext cx="82377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 will get $126 for £100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944" name="Google Shape;1944;p153"/>
          <p:cNvGrpSpPr/>
          <p:nvPr/>
        </p:nvGrpSpPr>
        <p:grpSpPr>
          <a:xfrm>
            <a:off x="2023252" y="2564000"/>
            <a:ext cx="664698" cy="561300"/>
            <a:chOff x="2023252" y="2564000"/>
            <a:chExt cx="664698" cy="561300"/>
          </a:xfrm>
        </p:grpSpPr>
        <p:sp>
          <p:nvSpPr>
            <p:cNvPr id="1945" name="Google Shape;1945;p153"/>
            <p:cNvSpPr txBox="1"/>
            <p:nvPr/>
          </p:nvSpPr>
          <p:spPr>
            <a:xfrm>
              <a:off x="2023252" y="2675300"/>
              <a:ext cx="287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00}{15}&quot;&gt;&lt;mfrac&gt;&lt;mn&gt;100&lt;/mn&gt;&lt;mn&gt;15&lt;/mn&gt;&lt;/mfrac&gt;&lt;/math&gt;" id="1946" name="Google Shape;1946;p153" title="100 over 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47226" y="2564000"/>
              <a:ext cx="440724" cy="561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7" name="Google Shape;1947;p153"/>
          <p:cNvGrpSpPr/>
          <p:nvPr/>
        </p:nvGrpSpPr>
        <p:grpSpPr>
          <a:xfrm>
            <a:off x="5753355" y="2535970"/>
            <a:ext cx="1277996" cy="589329"/>
            <a:chOff x="5753355" y="2535970"/>
            <a:chExt cx="1277996" cy="589329"/>
          </a:xfrm>
        </p:grpSpPr>
        <p:sp>
          <p:nvSpPr>
            <p:cNvPr id="1948" name="Google Shape;1948;p153"/>
            <p:cNvSpPr/>
            <p:nvPr/>
          </p:nvSpPr>
          <p:spPr>
            <a:xfrm rot="5400000">
              <a:off x="5771205" y="2546149"/>
              <a:ext cx="561300" cy="5970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9" name="Google Shape;1949;p153"/>
            <p:cNvGrpSpPr/>
            <p:nvPr/>
          </p:nvGrpSpPr>
          <p:grpSpPr>
            <a:xfrm>
              <a:off x="6366652" y="2535970"/>
              <a:ext cx="664698" cy="561300"/>
              <a:chOff x="2023252" y="2564000"/>
              <a:chExt cx="664698" cy="561300"/>
            </a:xfrm>
          </p:grpSpPr>
          <p:sp>
            <p:nvSpPr>
              <p:cNvPr id="1950" name="Google Shape;1950;p153"/>
              <p:cNvSpPr txBox="1"/>
              <p:nvPr/>
            </p:nvSpPr>
            <p:spPr>
              <a:xfrm>
                <a:off x="2023252" y="2675300"/>
                <a:ext cx="287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 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\frac{100}{15}&quot;&gt;&lt;mfrac&gt;&lt;mn&gt;100&lt;/mn&gt;&lt;mn&gt;15&lt;/mn&gt;&lt;/mfrac&gt;&lt;/math&gt;" id="1951" name="Google Shape;1951;p153" title="100 over 1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247226" y="2564000"/>
                <a:ext cx="440724" cy="561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1957" name="Google Shape;1957;p154"/>
          <p:cNvSpPr txBox="1"/>
          <p:nvPr>
            <p:ph idx="1" type="body"/>
          </p:nvPr>
        </p:nvSpPr>
        <p:spPr>
          <a:xfrm>
            <a:off x="324000" y="6069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amount of milk needed to bake scones is directly proportional to the number of scones being made.</a:t>
            </a:r>
            <a:endParaRPr sz="2000"/>
          </a:p>
        </p:txBody>
      </p:sp>
      <p:graphicFrame>
        <p:nvGraphicFramePr>
          <p:cNvPr id="1958" name="Google Shape;1958;p154"/>
          <p:cNvGraphicFramePr/>
          <p:nvPr/>
        </p:nvGraphicFramePr>
        <p:xfrm>
          <a:off x="2151725" y="1302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2425150"/>
                <a:gridCol w="2425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scones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milk (ml)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9" name="Google Shape;1959;p154"/>
          <p:cNvSpPr txBox="1"/>
          <p:nvPr>
            <p:ph idx="1" type="body"/>
          </p:nvPr>
        </p:nvSpPr>
        <p:spPr>
          <a:xfrm>
            <a:off x="324000" y="2892900"/>
            <a:ext cx="84960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cafe has 4.5 litres of milk.  How many scones can they make? </a:t>
            </a:r>
            <a:endParaRPr sz="2000"/>
          </a:p>
        </p:txBody>
      </p:sp>
      <p:graphicFrame>
        <p:nvGraphicFramePr>
          <p:cNvPr id="1960" name="Google Shape;1960;p154"/>
          <p:cNvGraphicFramePr/>
          <p:nvPr/>
        </p:nvGraphicFramePr>
        <p:xfrm>
          <a:off x="2151725" y="1302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2425150"/>
                <a:gridCol w="2425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scones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milk (ml)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1" name="Google Shape;1961;p154"/>
          <p:cNvSpPr/>
          <p:nvPr/>
        </p:nvSpPr>
        <p:spPr>
          <a:xfrm flipH="1">
            <a:off x="4341490" y="2617900"/>
            <a:ext cx="540000" cy="20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2" name="Google Shape;1962;p154"/>
          <p:cNvSpPr txBox="1"/>
          <p:nvPr/>
        </p:nvSpPr>
        <p:spPr>
          <a:xfrm>
            <a:off x="4086640" y="2319590"/>
            <a:ext cx="1049700" cy="277200"/>
          </a:xfrm>
          <a:prstGeom prst="rect">
            <a:avLst/>
          </a:prstGeom>
          <a:solidFill>
            <a:srgbClr val="037B7D">
              <a:alpha val="25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154"/>
          <p:cNvSpPr txBox="1"/>
          <p:nvPr/>
        </p:nvSpPr>
        <p:spPr>
          <a:xfrm>
            <a:off x="4086615" y="1798460"/>
            <a:ext cx="1049700" cy="277200"/>
          </a:xfrm>
          <a:prstGeom prst="rect">
            <a:avLst/>
          </a:prstGeom>
          <a:solidFill>
            <a:srgbClr val="037B7D">
              <a:alpha val="25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4" name="Google Shape;1964;p154"/>
          <p:cNvSpPr/>
          <p:nvPr/>
        </p:nvSpPr>
        <p:spPr>
          <a:xfrm>
            <a:off x="4335305" y="2093310"/>
            <a:ext cx="540000" cy="20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5" name="Google Shape;1965;p154"/>
          <p:cNvSpPr txBox="1"/>
          <p:nvPr>
            <p:ph idx="1" type="body"/>
          </p:nvPr>
        </p:nvSpPr>
        <p:spPr>
          <a:xfrm>
            <a:off x="3002850" y="2424425"/>
            <a:ext cx="7335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0.375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6" name="Google Shape;1966;p154"/>
          <p:cNvSpPr txBox="1"/>
          <p:nvPr>
            <p:ph idx="1" type="body"/>
          </p:nvPr>
        </p:nvSpPr>
        <p:spPr>
          <a:xfrm>
            <a:off x="324000" y="3323835"/>
            <a:ext cx="8496000" cy="5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Does my answer look right?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7" name="Google Shape;1967;p154"/>
          <p:cNvSpPr txBox="1"/>
          <p:nvPr>
            <p:ph idx="1" type="body"/>
          </p:nvPr>
        </p:nvSpPr>
        <p:spPr>
          <a:xfrm>
            <a:off x="324000" y="38835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mistake have I made?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 have forgotten to change the 4.5 l into ml which is the unit used in the recipe.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1973" name="Google Shape;1973;p155"/>
          <p:cNvSpPr txBox="1"/>
          <p:nvPr>
            <p:ph idx="1" type="body"/>
          </p:nvPr>
        </p:nvSpPr>
        <p:spPr>
          <a:xfrm>
            <a:off x="324000" y="6069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amount of milk needed to bake scones is directly </a:t>
            </a:r>
            <a:r>
              <a:rPr lang="en-GB" sz="2000"/>
              <a:t>proportional to the number of scones being made.</a:t>
            </a:r>
            <a:endParaRPr sz="2000"/>
          </a:p>
        </p:txBody>
      </p:sp>
      <p:graphicFrame>
        <p:nvGraphicFramePr>
          <p:cNvPr id="1974" name="Google Shape;1974;p155"/>
          <p:cNvGraphicFramePr/>
          <p:nvPr/>
        </p:nvGraphicFramePr>
        <p:xfrm>
          <a:off x="2151725" y="1302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2425150"/>
                <a:gridCol w="2425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scones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milk (ml)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5" name="Google Shape;1975;p155"/>
          <p:cNvSpPr txBox="1"/>
          <p:nvPr>
            <p:ph idx="1" type="body"/>
          </p:nvPr>
        </p:nvSpPr>
        <p:spPr>
          <a:xfrm>
            <a:off x="324000" y="2974850"/>
            <a:ext cx="84960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cafe has 4.5 litres of milk.  How many scones can they make</a:t>
            </a:r>
            <a:r>
              <a:rPr lang="en-GB" sz="2000"/>
              <a:t>? </a:t>
            </a:r>
            <a:endParaRPr sz="2000"/>
          </a:p>
        </p:txBody>
      </p:sp>
      <p:graphicFrame>
        <p:nvGraphicFramePr>
          <p:cNvPr id="1976" name="Google Shape;1976;p155"/>
          <p:cNvGraphicFramePr/>
          <p:nvPr/>
        </p:nvGraphicFramePr>
        <p:xfrm>
          <a:off x="2151725" y="1302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2425150"/>
                <a:gridCol w="2425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scones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milk (ml)</a:t>
                      </a:r>
                      <a:endParaRPr baseline="30000"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7" name="Google Shape;1977;p155"/>
          <p:cNvSpPr/>
          <p:nvPr/>
        </p:nvSpPr>
        <p:spPr>
          <a:xfrm flipH="1">
            <a:off x="4341490" y="2617900"/>
            <a:ext cx="540000" cy="20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155"/>
          <p:cNvSpPr txBox="1"/>
          <p:nvPr/>
        </p:nvSpPr>
        <p:spPr>
          <a:xfrm>
            <a:off x="4086640" y="2319590"/>
            <a:ext cx="1049700" cy="277200"/>
          </a:xfrm>
          <a:prstGeom prst="rect">
            <a:avLst/>
          </a:prstGeom>
          <a:solidFill>
            <a:srgbClr val="037B7D">
              <a:alpha val="25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155"/>
          <p:cNvSpPr txBox="1"/>
          <p:nvPr/>
        </p:nvSpPr>
        <p:spPr>
          <a:xfrm>
            <a:off x="4086615" y="1798460"/>
            <a:ext cx="1049700" cy="277200"/>
          </a:xfrm>
          <a:prstGeom prst="rect">
            <a:avLst/>
          </a:prstGeom>
          <a:solidFill>
            <a:srgbClr val="037B7D">
              <a:alpha val="2500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55"/>
          <p:cNvSpPr/>
          <p:nvPr/>
        </p:nvSpPr>
        <p:spPr>
          <a:xfrm>
            <a:off x="4335305" y="2093310"/>
            <a:ext cx="540000" cy="205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55"/>
          <p:cNvSpPr txBox="1"/>
          <p:nvPr>
            <p:ph idx="1" type="body"/>
          </p:nvPr>
        </p:nvSpPr>
        <p:spPr>
          <a:xfrm>
            <a:off x="3141235" y="2424425"/>
            <a:ext cx="540000" cy="4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375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2" name="Google Shape;1982;p155"/>
          <p:cNvSpPr txBox="1"/>
          <p:nvPr>
            <p:ph idx="1" type="body"/>
          </p:nvPr>
        </p:nvSpPr>
        <p:spPr>
          <a:xfrm>
            <a:off x="324000" y="38835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cafe can make 375 scones if they have 4.5 litres of milk.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graphicFrame>
        <p:nvGraphicFramePr>
          <p:cNvPr id="1988" name="Google Shape;1988;p156"/>
          <p:cNvGraphicFramePr/>
          <p:nvPr/>
        </p:nvGraphicFramePr>
        <p:xfrm>
          <a:off x="1226675" y="25918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1082950"/>
                <a:gridCol w="1082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Packs</a:t>
                      </a:r>
                      <a:endParaRPr baseline="30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baseline="30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89" name="Google Shape;1989;p156"/>
          <p:cNvGraphicFramePr/>
          <p:nvPr/>
        </p:nvGraphicFramePr>
        <p:xfrm>
          <a:off x="1226675" y="25918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1082950"/>
                <a:gridCol w="1082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Packs</a:t>
                      </a:r>
                      <a:endParaRPr baseline="30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baseline="30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990" name="Google Shape;1990;p156"/>
          <p:cNvGrpSpPr/>
          <p:nvPr/>
        </p:nvGrpSpPr>
        <p:grpSpPr>
          <a:xfrm>
            <a:off x="270652" y="3402200"/>
            <a:ext cx="1197683" cy="561300"/>
            <a:chOff x="270652" y="2792600"/>
            <a:chExt cx="1197683" cy="561300"/>
          </a:xfrm>
        </p:grpSpPr>
        <p:sp>
          <p:nvSpPr>
            <p:cNvPr id="1991" name="Google Shape;1991;p156"/>
            <p:cNvSpPr/>
            <p:nvPr/>
          </p:nvSpPr>
          <p:spPr>
            <a:xfrm flipH="1" rot="-5400000">
              <a:off x="953385" y="2838950"/>
              <a:ext cx="561300" cy="4686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156"/>
            <p:cNvSpPr txBox="1"/>
            <p:nvPr/>
          </p:nvSpPr>
          <p:spPr>
            <a:xfrm>
              <a:off x="270652" y="2903900"/>
              <a:ext cx="287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3" name="Google Shape;1993;p156"/>
          <p:cNvSpPr/>
          <p:nvPr/>
        </p:nvSpPr>
        <p:spPr>
          <a:xfrm rot="5400000">
            <a:off x="3173101" y="3467900"/>
            <a:ext cx="561300" cy="4299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156"/>
          <p:cNvSpPr txBox="1"/>
          <p:nvPr>
            <p:ph idx="1" type="subTitle"/>
          </p:nvPr>
        </p:nvSpPr>
        <p:spPr>
          <a:xfrm>
            <a:off x="337825" y="4315200"/>
            <a:ext cx="39822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buy 250 packs for £95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25}{6}&quot;&gt;&lt;mfrac&gt;&lt;mn&gt;125&lt;/mn&gt;&lt;mn&gt;6&lt;/mn&gt;&lt;/mfrac&gt;&lt;/math&gt;" id="1995" name="Google Shape;1995;p156" title="125 over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730" y="3437492"/>
            <a:ext cx="429900" cy="5467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6" name="Google Shape;1996;p156"/>
          <p:cNvGrpSpPr/>
          <p:nvPr/>
        </p:nvGrpSpPr>
        <p:grpSpPr>
          <a:xfrm>
            <a:off x="3623452" y="3437492"/>
            <a:ext cx="676978" cy="546766"/>
            <a:chOff x="3623452" y="3437492"/>
            <a:chExt cx="676978" cy="546766"/>
          </a:xfrm>
        </p:grpSpPr>
        <p:sp>
          <p:nvSpPr>
            <p:cNvPr id="1997" name="Google Shape;1997;p156"/>
            <p:cNvSpPr txBox="1"/>
            <p:nvPr/>
          </p:nvSpPr>
          <p:spPr>
            <a:xfrm>
              <a:off x="3623452" y="3485470"/>
              <a:ext cx="287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25}{6}&quot;&gt;&lt;mfrac&gt;&lt;mn&gt;125&lt;/mn&gt;&lt;mn&gt;6&lt;/mn&gt;&lt;/mfrac&gt;&lt;/math&gt;" id="1998" name="Google Shape;1998;p156" title="125 over 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70530" y="3437492"/>
              <a:ext cx="429900" cy="5467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9" name="Google Shape;1999;p156"/>
          <p:cNvSpPr txBox="1"/>
          <p:nvPr>
            <p:ph idx="1" type="subTitle"/>
          </p:nvPr>
        </p:nvSpPr>
        <p:spPr>
          <a:xfrm>
            <a:off x="337825" y="657600"/>
            <a:ext cx="3982200" cy="10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cost of batteries is directly proportional to the number bought.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12 packs cost £4.56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packs can you buy for £95?</a:t>
            </a:r>
            <a:endParaRPr/>
          </a:p>
        </p:txBody>
      </p:sp>
      <p:sp>
        <p:nvSpPr>
          <p:cNvPr id="2000" name="Google Shape;2000;p156"/>
          <p:cNvSpPr txBox="1"/>
          <p:nvPr>
            <p:ph idx="2" type="subTitle"/>
          </p:nvPr>
        </p:nvSpPr>
        <p:spPr>
          <a:xfrm>
            <a:off x="4824000" y="657600"/>
            <a:ext cx="3982200" cy="15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cost of batteries is directly proportional to the number bought.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15 packs cost £5.25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packs can you buy for £210?</a:t>
            </a:r>
            <a:endParaRPr/>
          </a:p>
        </p:txBody>
      </p:sp>
      <p:graphicFrame>
        <p:nvGraphicFramePr>
          <p:cNvPr id="2001" name="Google Shape;2001;p156"/>
          <p:cNvGraphicFramePr/>
          <p:nvPr/>
        </p:nvGraphicFramePr>
        <p:xfrm>
          <a:off x="5722475" y="2515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1082950"/>
                <a:gridCol w="1082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Packs</a:t>
                      </a:r>
                      <a:endParaRPr baseline="30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baseline="30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5.25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210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02" name="Google Shape;2002;p156"/>
          <p:cNvGraphicFramePr/>
          <p:nvPr/>
        </p:nvGraphicFramePr>
        <p:xfrm>
          <a:off x="5722475" y="2515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1082950"/>
                <a:gridCol w="1082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Packs</a:t>
                      </a:r>
                      <a:endParaRPr baseline="30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baseline="30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5.25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210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03" name="Google Shape;2003;p156"/>
          <p:cNvGrpSpPr/>
          <p:nvPr/>
        </p:nvGrpSpPr>
        <p:grpSpPr>
          <a:xfrm>
            <a:off x="4766446" y="3249800"/>
            <a:ext cx="1197689" cy="561300"/>
            <a:chOff x="270646" y="2792600"/>
            <a:chExt cx="1197689" cy="561300"/>
          </a:xfrm>
        </p:grpSpPr>
        <p:sp>
          <p:nvSpPr>
            <p:cNvPr id="2004" name="Google Shape;2004;p156"/>
            <p:cNvSpPr/>
            <p:nvPr/>
          </p:nvSpPr>
          <p:spPr>
            <a:xfrm flipH="1" rot="-5400000">
              <a:off x="953385" y="2838950"/>
              <a:ext cx="561300" cy="4686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05" name="Google Shape;2005;p156"/>
            <p:cNvSpPr txBox="1"/>
            <p:nvPr/>
          </p:nvSpPr>
          <p:spPr>
            <a:xfrm>
              <a:off x="270646" y="2903900"/>
              <a:ext cx="729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× 40 </a:t>
              </a:r>
              <a:endParaRPr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006" name="Google Shape;2006;p156"/>
          <p:cNvSpPr/>
          <p:nvPr/>
        </p:nvSpPr>
        <p:spPr>
          <a:xfrm rot="5400000">
            <a:off x="7668901" y="3315500"/>
            <a:ext cx="561300" cy="4299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156"/>
          <p:cNvSpPr txBox="1"/>
          <p:nvPr/>
        </p:nvSpPr>
        <p:spPr>
          <a:xfrm>
            <a:off x="8119247" y="3333075"/>
            <a:ext cx="67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40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8" name="Google Shape;2008;p156"/>
          <p:cNvSpPr txBox="1"/>
          <p:nvPr>
            <p:ph idx="1" type="subTitle"/>
          </p:nvPr>
        </p:nvSpPr>
        <p:spPr>
          <a:xfrm>
            <a:off x="4833625" y="4162800"/>
            <a:ext cx="39822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can buy 600 packs for £210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15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2014" name="Google Shape;2014;p1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Work out the following: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</a:t>
            </a:r>
            <a:r>
              <a:rPr lang="en-GB"/>
              <a:t>23 pencils cost £14.95  How much will 34 pencils cost?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14 rulers cost £5.18  How much will 20 rulers cost?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17 sweets cost £2.55  How much will 37 sweets cost?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27 chocolate bars cost £11.07  How much will 39 chocolate bars cost?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15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2020" name="Google Shape;2020;p1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</a:t>
            </a:r>
            <a:r>
              <a:rPr lang="en-GB"/>
              <a:t>  Andeep is comparing prices of sunglasses in the UK, the USA and France.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Rank the following from cheapest to most expensive.</a:t>
            </a:r>
            <a:endParaRPr/>
          </a:p>
        </p:txBody>
      </p:sp>
      <p:sp>
        <p:nvSpPr>
          <p:cNvPr id="2021" name="Google Shape;2021;p158"/>
          <p:cNvSpPr txBox="1"/>
          <p:nvPr/>
        </p:nvSpPr>
        <p:spPr>
          <a:xfrm>
            <a:off x="7348824" y="2021400"/>
            <a:ext cx="1220100" cy="27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 : €1.18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2" name="Google Shape;2022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200" y="2525975"/>
            <a:ext cx="1219950" cy="5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3" name="Google Shape;2023;p158"/>
          <p:cNvSpPr/>
          <p:nvPr/>
        </p:nvSpPr>
        <p:spPr>
          <a:xfrm rot="1964670">
            <a:off x="555267" y="2334958"/>
            <a:ext cx="1114267" cy="337108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£48.00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4" name="Google Shape;2024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9100" y="2525975"/>
            <a:ext cx="1219950" cy="5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5" name="Google Shape;2025;p158"/>
          <p:cNvSpPr/>
          <p:nvPr/>
        </p:nvSpPr>
        <p:spPr>
          <a:xfrm rot="1964670">
            <a:off x="6194067" y="2334958"/>
            <a:ext cx="1114267" cy="337108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€57.23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6" name="Google Shape;2026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800" y="2525975"/>
            <a:ext cx="1219950" cy="5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7" name="Google Shape;2027;p158"/>
          <p:cNvSpPr/>
          <p:nvPr/>
        </p:nvSpPr>
        <p:spPr>
          <a:xfrm rot="1964670">
            <a:off x="3450867" y="2334958"/>
            <a:ext cx="1114267" cy="337108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$60.80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8" name="Google Shape;2028;p158"/>
          <p:cNvSpPr txBox="1"/>
          <p:nvPr/>
        </p:nvSpPr>
        <p:spPr>
          <a:xfrm>
            <a:off x="4579574" y="2021400"/>
            <a:ext cx="1119600" cy="27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 : $1.28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1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2034" name="Google Shape;2034;p159"/>
          <p:cNvSpPr txBox="1"/>
          <p:nvPr>
            <p:ph idx="1" type="body"/>
          </p:nvPr>
        </p:nvSpPr>
        <p:spPr>
          <a:xfrm>
            <a:off x="324000" y="759300"/>
            <a:ext cx="6281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</a:t>
            </a:r>
            <a:r>
              <a:rPr lang="en-GB"/>
              <a:t>	Calculate the ingredients needed for the following numbers of cookies.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	18 cookies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	72 cookies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	6 cookies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	You have plenty of sugar, flour and chocolate chips, but only 1 kilogram of butter.  What is the largest number of cookies you can make?</a:t>
            </a:r>
            <a:endParaRPr/>
          </a:p>
        </p:txBody>
      </p:sp>
      <p:sp>
        <p:nvSpPr>
          <p:cNvPr id="2035" name="Google Shape;2035;p159"/>
          <p:cNvSpPr/>
          <p:nvPr/>
        </p:nvSpPr>
        <p:spPr>
          <a:xfrm>
            <a:off x="6762500" y="769675"/>
            <a:ext cx="1953000" cy="232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Recipe for 15 cookies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75 g butter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 g sugar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 g flour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g chocolate chips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1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2041" name="Google Shape;2041;p160"/>
          <p:cNvSpPr txBox="1"/>
          <p:nvPr>
            <p:ph idx="1" type="body"/>
          </p:nvPr>
        </p:nvSpPr>
        <p:spPr>
          <a:xfrm>
            <a:off x="324000" y="406330"/>
            <a:ext cx="8355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  </a:t>
            </a:r>
            <a:r>
              <a:rPr lang="en-GB"/>
              <a:t>23 pencils cost £14.95  How much will 34 pencils cost?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14.95 ×     = £22.10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  </a:t>
            </a:r>
            <a:r>
              <a:rPr lang="en-GB"/>
              <a:t>14</a:t>
            </a:r>
            <a:r>
              <a:rPr lang="en-GB"/>
              <a:t> rulers cost £5.18  How much will 20 rulers cost?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5.18 ×     = £7.40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  17 sweets cost £2.55  How much will 37 sweets cost?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2.55 ×     = £5.55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 27 chocolate bars cost £11.07 How much will 39 chocolate bars cost?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11.07 ×     = £15.99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4}{23}&quot;&gt;&lt;mfrac&gt;&lt;mn&gt;34&lt;/mn&gt;&lt;mn&gt;23&lt;/mn&gt;&lt;/mfrac&gt;&lt;/math&gt;" id="2042" name="Google Shape;2042;p160" title="34 over 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975" y="1287045"/>
            <a:ext cx="273575" cy="50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3" name="Google Shape;2043;p160"/>
          <p:cNvSpPr txBox="1"/>
          <p:nvPr/>
        </p:nvSpPr>
        <p:spPr>
          <a:xfrm>
            <a:off x="237625" y="466650"/>
            <a:ext cx="43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7}&quot;&gt;&lt;mfrac&gt;&lt;mn&gt;10&lt;/mn&gt;&lt;mn&gt;7&lt;/mn&gt;&lt;/mfrac&gt;&lt;/math&gt;" id="2044" name="Google Shape;2044;p160" title="ten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6400" y="2207825"/>
            <a:ext cx="280287" cy="5157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7}{17}&quot;&gt;&lt;mfrac&gt;&lt;mn&gt;37&lt;/mn&gt;&lt;mn&gt;17&lt;/mn&gt;&lt;/mfrac&gt;&lt;/math&gt;" id="2045" name="Google Shape;2045;p160" title="37 over 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1681" y="3122225"/>
            <a:ext cx="284024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}{9}&quot;&gt;&lt;mfrac&gt;&lt;mn&gt;13&lt;/mn&gt;&lt;mn&gt;9&lt;/mn&gt;&lt;/mfrac&gt;&lt;/math&gt;" id="2046" name="Google Shape;2046;p160" title="thirteen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4499" y="4293255"/>
            <a:ext cx="276549" cy="504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161"/>
          <p:cNvSpPr txBox="1"/>
          <p:nvPr>
            <p:ph idx="1" type="body"/>
          </p:nvPr>
        </p:nvSpPr>
        <p:spPr>
          <a:xfrm>
            <a:off x="324000" y="759300"/>
            <a:ext cx="8237700" cy="13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</a:t>
            </a:r>
            <a:r>
              <a:rPr lang="en-GB"/>
              <a:t>  Andeep is comparing prices of sunglasses in the UK, the USA and France.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Rank the following from cheapest to most expensive.</a:t>
            </a:r>
            <a:endParaRPr/>
          </a:p>
        </p:txBody>
      </p:sp>
      <p:sp>
        <p:nvSpPr>
          <p:cNvPr id="2052" name="Google Shape;2052;p161"/>
          <p:cNvSpPr txBox="1"/>
          <p:nvPr/>
        </p:nvSpPr>
        <p:spPr>
          <a:xfrm>
            <a:off x="7348824" y="2021400"/>
            <a:ext cx="1220100" cy="27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 : €1.18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3" name="Google Shape;2053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200" y="2525975"/>
            <a:ext cx="1219950" cy="5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4" name="Google Shape;2054;p161"/>
          <p:cNvSpPr/>
          <p:nvPr/>
        </p:nvSpPr>
        <p:spPr>
          <a:xfrm rot="1964670">
            <a:off x="555267" y="2334958"/>
            <a:ext cx="1114267" cy="337108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£48.00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5" name="Google Shape;2055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9100" y="2525975"/>
            <a:ext cx="1219950" cy="5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6" name="Google Shape;2056;p161"/>
          <p:cNvSpPr/>
          <p:nvPr/>
        </p:nvSpPr>
        <p:spPr>
          <a:xfrm rot="1964670">
            <a:off x="6194067" y="2334958"/>
            <a:ext cx="1114267" cy="337108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€57.23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57" name="Google Shape;2057;p161"/>
          <p:cNvGraphicFramePr/>
          <p:nvPr/>
        </p:nvGraphicFramePr>
        <p:xfrm>
          <a:off x="6645275" y="334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48.50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57.23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8" name="Google Shape;2058;p161"/>
          <p:cNvSpPr txBox="1"/>
          <p:nvPr/>
        </p:nvSpPr>
        <p:spPr>
          <a:xfrm>
            <a:off x="324125" y="4472400"/>
            <a:ext cx="83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 order from cheapest to most expensive: USA, UK &amp; France.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59" name="Google Shape;2059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800" y="2525975"/>
            <a:ext cx="1219950" cy="5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0" name="Google Shape;2060;p161"/>
          <p:cNvSpPr/>
          <p:nvPr/>
        </p:nvSpPr>
        <p:spPr>
          <a:xfrm rot="1964670">
            <a:off x="3450867" y="2334958"/>
            <a:ext cx="1114267" cy="337108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$60.80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1" name="Google Shape;2061;p161"/>
          <p:cNvSpPr txBox="1"/>
          <p:nvPr/>
        </p:nvSpPr>
        <p:spPr>
          <a:xfrm>
            <a:off x="4579574" y="2021400"/>
            <a:ext cx="1119600" cy="27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 : $1.28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62" name="Google Shape;2062;p161"/>
          <p:cNvGraphicFramePr/>
          <p:nvPr/>
        </p:nvGraphicFramePr>
        <p:xfrm>
          <a:off x="3622800" y="329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{5166C8A4-B8F1-4EC2-BC71-58DADF5E252C}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47.50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60.80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3" name="Google Shape;2063;p161"/>
          <p:cNvSpPr txBox="1"/>
          <p:nvPr/>
        </p:nvSpPr>
        <p:spPr>
          <a:xfrm>
            <a:off x="1479300" y="396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Other contexts involving direct proportion</a:t>
            </a:r>
            <a:endParaRPr sz="1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2069" name="Google Shape;2069;p162"/>
          <p:cNvSpPr txBox="1"/>
          <p:nvPr>
            <p:ph idx="1" type="body"/>
          </p:nvPr>
        </p:nvSpPr>
        <p:spPr>
          <a:xfrm>
            <a:off x="324000" y="759300"/>
            <a:ext cx="6351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</a:t>
            </a:r>
            <a:r>
              <a:rPr lang="en-GB"/>
              <a:t>	Calculate the ingredients needed for the following numbers of cookies.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	18 cookies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Butter 90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Sugar 150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Flour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150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Chocolate chips 120 g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0" name="Google Shape;2070;p162"/>
          <p:cNvSpPr/>
          <p:nvPr/>
        </p:nvSpPr>
        <p:spPr>
          <a:xfrm>
            <a:off x="6762500" y="769675"/>
            <a:ext cx="1953000" cy="232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Recipe for 15 cookies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75 g butter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 g sugar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 g flour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g chocolate chips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2076" name="Google Shape;2076;p163"/>
          <p:cNvSpPr txBox="1"/>
          <p:nvPr>
            <p:ph idx="1" type="body"/>
          </p:nvPr>
        </p:nvSpPr>
        <p:spPr>
          <a:xfrm>
            <a:off x="324000" y="759300"/>
            <a:ext cx="6351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	Calculate the ingredients needed for the following numbers of cookies.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	72 cookies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Butter 360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Sugar 600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Flour 600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Chocolate chips 480 g</a:t>
            </a:r>
            <a:endParaRPr/>
          </a:p>
        </p:txBody>
      </p:sp>
      <p:sp>
        <p:nvSpPr>
          <p:cNvPr id="2077" name="Google Shape;2077;p163"/>
          <p:cNvSpPr/>
          <p:nvPr/>
        </p:nvSpPr>
        <p:spPr>
          <a:xfrm>
            <a:off x="6762500" y="769675"/>
            <a:ext cx="1953000" cy="232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Recipe for 15 cookies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75 g butter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 g sugar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 g flour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g chocolate chips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2083" name="Google Shape;2083;p164"/>
          <p:cNvSpPr txBox="1"/>
          <p:nvPr>
            <p:ph idx="1" type="body"/>
          </p:nvPr>
        </p:nvSpPr>
        <p:spPr>
          <a:xfrm>
            <a:off x="324000" y="759300"/>
            <a:ext cx="6351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	Calculate the ingredients needed for the following numbers of cookies.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	6 cookies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Butter 30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Sugar 50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Flour 50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Chocolate chips 40 g</a:t>
            </a:r>
            <a:endParaRPr/>
          </a:p>
        </p:txBody>
      </p:sp>
      <p:sp>
        <p:nvSpPr>
          <p:cNvPr id="2084" name="Google Shape;2084;p164"/>
          <p:cNvSpPr/>
          <p:nvPr/>
        </p:nvSpPr>
        <p:spPr>
          <a:xfrm>
            <a:off x="6762500" y="769675"/>
            <a:ext cx="1953000" cy="232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Recipe for 15 cookies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75 g butter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 g sugar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 g flour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g chocolate chips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1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2090" name="Google Shape;2090;p165"/>
          <p:cNvSpPr txBox="1"/>
          <p:nvPr>
            <p:ph idx="1" type="body"/>
          </p:nvPr>
        </p:nvSpPr>
        <p:spPr>
          <a:xfrm>
            <a:off x="324000" y="759300"/>
            <a:ext cx="6351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	Calculate the ingredients needed for the following numbers of cookies.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	You have plenty of sugar, flour and chocolate chips, but only 1 kilogram of butter.  What is the largest number of cookies you can make?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 kg = 1000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1000 ÷ 75 = 13.333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13.3 × 15 = 200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1" name="Google Shape;2091;p165"/>
          <p:cNvSpPr/>
          <p:nvPr/>
        </p:nvSpPr>
        <p:spPr>
          <a:xfrm>
            <a:off x="6762500" y="769675"/>
            <a:ext cx="1953000" cy="232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Recipe for 15 cookies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75 g butter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 g sugar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 g flour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g chocolate chips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2" name="Google Shape;2092;p165"/>
          <p:cNvSpPr txBox="1"/>
          <p:nvPr/>
        </p:nvSpPr>
        <p:spPr>
          <a:xfrm>
            <a:off x="608670" y="3980885"/>
            <a:ext cx="23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3" name="Google Shape;2093;p165"/>
          <p:cNvSpPr/>
          <p:nvPr/>
        </p:nvSpPr>
        <p:spPr>
          <a:xfrm>
            <a:off x="3202800" y="3443400"/>
            <a:ext cx="5197500" cy="1342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13.3… represents the number of times you could make the recipe for cookies.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Since you can scale the recipe 13 and one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third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times you could make 200 cookies.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94" name="Google Shape;2094;p165"/>
          <p:cNvCxnSpPr>
            <a:stCxn id="2093" idx="1"/>
          </p:cNvCxnSpPr>
          <p:nvPr/>
        </p:nvCxnSpPr>
        <p:spPr>
          <a:xfrm rot="10800000">
            <a:off x="2777400" y="3961200"/>
            <a:ext cx="425400" cy="153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8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1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Other contexts involving direct proportion</a:t>
            </a:r>
            <a:endParaRPr/>
          </a:p>
        </p:txBody>
      </p:sp>
      <p:sp>
        <p:nvSpPr>
          <p:cNvPr id="2100" name="Google Shape;2100;p166"/>
          <p:cNvSpPr txBox="1"/>
          <p:nvPr>
            <p:ph idx="1" type="body"/>
          </p:nvPr>
        </p:nvSpPr>
        <p:spPr>
          <a:xfrm>
            <a:off x="324000" y="759300"/>
            <a:ext cx="6351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 method for part d)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	You have plenty of sugar, flour and chocolate chips, but only 1 kilogram of butter.  What is the largest number of cookies you can make?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 kg = 1000 g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75 ÷ 15 = 5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1000 ÷ 5 = 200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1" name="Google Shape;2101;p166"/>
          <p:cNvSpPr/>
          <p:nvPr/>
        </p:nvSpPr>
        <p:spPr>
          <a:xfrm>
            <a:off x="6762500" y="769675"/>
            <a:ext cx="1953000" cy="232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Recipe for 15 cookies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75 g butter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 g sugar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 g flour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 g chocolate chips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2" name="Google Shape;2102;p166"/>
          <p:cNvSpPr/>
          <p:nvPr/>
        </p:nvSpPr>
        <p:spPr>
          <a:xfrm>
            <a:off x="2841950" y="3122050"/>
            <a:ext cx="5197500" cy="123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5 represents the number of grams of butter needed per cookie.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Since you have 1000 g of butter you could make 200 cookies.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03" name="Google Shape;2103;p166"/>
          <p:cNvCxnSpPr/>
          <p:nvPr/>
        </p:nvCxnSpPr>
        <p:spPr>
          <a:xfrm flipH="1">
            <a:off x="1931800" y="3353600"/>
            <a:ext cx="1227900" cy="274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7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167"/>
          <p:cNvSpPr txBox="1"/>
          <p:nvPr>
            <p:ph idx="1" type="body"/>
          </p:nvPr>
        </p:nvSpPr>
        <p:spPr>
          <a:xfrm>
            <a:off x="324000" y="6228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Conversion between units of measure are an example of variables which are directly proportional. 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1 m</a:t>
            </a:r>
            <a:r>
              <a:rPr baseline="30000" lang="en-GB" sz="2100"/>
              <a:t>2 </a:t>
            </a:r>
            <a:r>
              <a:rPr lang="en-GB" sz="2100"/>
              <a:t> = 10 000 cm</a:t>
            </a:r>
            <a:r>
              <a:rPr baseline="30000" lang="en-GB" sz="2100"/>
              <a:t>2</a:t>
            </a:r>
            <a:endParaRPr baseline="30000"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 m</a:t>
            </a:r>
            <a:r>
              <a:rPr baseline="30000" lang="en-GB" sz="2100"/>
              <a:t>3 </a:t>
            </a:r>
            <a:r>
              <a:rPr lang="en-GB" sz="2100"/>
              <a:t> = 1 000 000 cm</a:t>
            </a:r>
            <a:r>
              <a:rPr baseline="30000" lang="en-GB" sz="2100"/>
              <a:t>3</a:t>
            </a:r>
            <a:endParaRPr baseline="30000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As well as conversions there are other contexts which involve direct proportion.  E.g.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changing between different currencies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scaling recipes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scaling the cost of particular items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Ratio tables can be used to solve direct proportion problems.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</p:txBody>
      </p:sp>
      <p:sp>
        <p:nvSpPr>
          <p:cNvPr id="2109" name="Google Shape;2109;p1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Direct proportion in context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16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15" name="Google Shape;2115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