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5"/>
    <p:sldMasterId id="2147483666" r:id="rId6"/>
  </p:sldMasterIdLst>
  <p:notesMasterIdLst>
    <p:notesMasterId r:id="rId7"/>
  </p:notesMasterIdLst>
  <p:sldIdLst>
    <p:sldId id="256" r:id="rId8"/>
    <p:sldId id="257" r:id="rId9"/>
    <p:sldId id="258" r:id="rId10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3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3EF578-21B4-4DC5-B685-E79F04CD68A5}">
  <a:tblStyle styleId="{F73EF578-21B4-4DC5-B685-E79F04CD68A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31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0" Type="http://schemas.openxmlformats.org/officeDocument/2006/relationships/slide" Target="slides/slide3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69a7aef6e8_0_58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69a7aef6e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Relationship Id="rId7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Direct proportion in context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12500"/>
            <a:ext cx="66105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Conversions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802800"/>
            <a:ext cx="6202500" cy="5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following in order from the shortest to the tallest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u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sing the conversion 1 m = 3.3 feet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0344" y="2458060"/>
            <a:ext cx="924264" cy="794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6861" y="2447504"/>
            <a:ext cx="796688" cy="804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46975" y="2532675"/>
            <a:ext cx="897520" cy="7194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" name="Google Shape;178;p20"/>
          <p:cNvGrpSpPr/>
          <p:nvPr/>
        </p:nvGrpSpPr>
        <p:grpSpPr>
          <a:xfrm>
            <a:off x="589155" y="2458120"/>
            <a:ext cx="549812" cy="793824"/>
            <a:chOff x="242400" y="1139863"/>
            <a:chExt cx="2277599" cy="3680224"/>
          </a:xfrm>
        </p:grpSpPr>
        <p:pic>
          <p:nvPicPr>
            <p:cNvPr id="179" name="Google Shape;179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42400" y="1139863"/>
              <a:ext cx="2277599" cy="3680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p20"/>
            <p:cNvSpPr/>
            <p:nvPr/>
          </p:nvSpPr>
          <p:spPr>
            <a:xfrm>
              <a:off x="2252325" y="1475275"/>
              <a:ext cx="35700" cy="543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01288" y="2709423"/>
            <a:ext cx="796690" cy="54268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5136000" y="2100100"/>
            <a:ext cx="1942500" cy="2451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3600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Images are not to scale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1686978" y="3294811"/>
            <a:ext cx="8976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14.2 feet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546966" y="3294811"/>
            <a:ext cx="8976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10.2 feet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561069" y="3294811"/>
            <a:ext cx="5778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5.1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3242308" y="3294811"/>
            <a:ext cx="5778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5976960" y="3294811"/>
            <a:ext cx="8976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13.2 feet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67999" y="3582589"/>
            <a:ext cx="45180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Correct order:  garage, elephant, teepee, bus, giraffe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68000" y="3945800"/>
            <a:ext cx="644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maximum number of the boxes below that will fit into the box above.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	A cube with dimensions of 40 mm		b)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6325801" y="4015075"/>
            <a:ext cx="752700" cy="5937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3600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Images are not to scale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1212239" y="4052641"/>
            <a:ext cx="2160000" cy="1326900"/>
          </a:xfrm>
          <a:prstGeom prst="cube">
            <a:avLst>
              <a:gd fmla="val 25000" name="adj"/>
            </a:avLst>
          </a:prstGeom>
          <a:solidFill>
            <a:srgbClr val="EBEDFE"/>
          </a:solidFill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2" name="Google Shape;192;p20"/>
          <p:cNvCxnSpPr/>
          <p:nvPr/>
        </p:nvCxnSpPr>
        <p:spPr>
          <a:xfrm>
            <a:off x="1125341" y="4419233"/>
            <a:ext cx="0" cy="9588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3" name="Google Shape;193;p20"/>
          <p:cNvCxnSpPr/>
          <p:nvPr/>
        </p:nvCxnSpPr>
        <p:spPr>
          <a:xfrm rot="10800000">
            <a:off x="1201093" y="5474838"/>
            <a:ext cx="18423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4" name="Google Shape;194;p20"/>
          <p:cNvCxnSpPr/>
          <p:nvPr/>
        </p:nvCxnSpPr>
        <p:spPr>
          <a:xfrm flipH="1" rot="10800000">
            <a:off x="3109847" y="5093902"/>
            <a:ext cx="318300" cy="3183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5" name="Google Shape;195;p20"/>
          <p:cNvSpPr txBox="1"/>
          <p:nvPr/>
        </p:nvSpPr>
        <p:spPr>
          <a:xfrm>
            <a:off x="497769" y="4741794"/>
            <a:ext cx="6033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1.2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3312666" y="5249546"/>
            <a:ext cx="6927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1819811" y="5494828"/>
            <a:ext cx="5547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928054" y="6484492"/>
            <a:ext cx="440100" cy="432900"/>
          </a:xfrm>
          <a:prstGeom prst="cube">
            <a:avLst>
              <a:gd fmla="val 25000" name="adj"/>
            </a:avLst>
          </a:prstGeom>
          <a:solidFill>
            <a:srgbClr val="EBEDFE"/>
          </a:solidFill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 rot="-5400000">
            <a:off x="4634198" y="6544247"/>
            <a:ext cx="765600" cy="468300"/>
          </a:xfrm>
          <a:prstGeom prst="cube">
            <a:avLst>
              <a:gd fmla="val 25000" name="adj"/>
            </a:avLst>
          </a:prstGeom>
          <a:solidFill>
            <a:srgbClr val="EBEDFE"/>
          </a:solidFill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0" name="Google Shape;200;p20"/>
          <p:cNvCxnSpPr/>
          <p:nvPr/>
        </p:nvCxnSpPr>
        <p:spPr>
          <a:xfrm>
            <a:off x="5328162" y="6503710"/>
            <a:ext cx="0" cy="6693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1" name="Google Shape;201;p20"/>
          <p:cNvSpPr txBox="1"/>
          <p:nvPr/>
        </p:nvSpPr>
        <p:spPr>
          <a:xfrm>
            <a:off x="5356327" y="6720329"/>
            <a:ext cx="784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2" name="Google Shape;202;p20"/>
          <p:cNvCxnSpPr/>
          <p:nvPr/>
        </p:nvCxnSpPr>
        <p:spPr>
          <a:xfrm>
            <a:off x="4779666" y="6334348"/>
            <a:ext cx="3282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3" name="Google Shape;203;p20"/>
          <p:cNvSpPr txBox="1"/>
          <p:nvPr/>
        </p:nvSpPr>
        <p:spPr>
          <a:xfrm>
            <a:off x="4700543" y="6064544"/>
            <a:ext cx="784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0.04m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4" name="Google Shape;204;p20"/>
          <p:cNvCxnSpPr/>
          <p:nvPr/>
        </p:nvCxnSpPr>
        <p:spPr>
          <a:xfrm>
            <a:off x="4735241" y="7045190"/>
            <a:ext cx="133800" cy="1338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05" name="Google Shape;205;p20"/>
          <p:cNvSpPr txBox="1"/>
          <p:nvPr/>
        </p:nvSpPr>
        <p:spPr>
          <a:xfrm>
            <a:off x="4376009" y="7034995"/>
            <a:ext cx="6033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1444119" y="6584566"/>
            <a:ext cx="2897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40 × 20 = 24 000 boxes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6202087" y="6486485"/>
            <a:ext cx="7842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16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000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boxes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6157980" y="6470877"/>
            <a:ext cx="670800" cy="5205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2513850" y="6507100"/>
            <a:ext cx="1081200" cy="3183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468000" y="7366750"/>
            <a:ext cx="6610500" cy="15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missing values: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3.2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32 000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125 000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12.5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23 987 000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23.987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0.74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740 000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area of this triangle.  Give your answer to 2 decimal places in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3902021" y="8918881"/>
            <a:ext cx="1942500" cy="695400"/>
          </a:xfrm>
          <a:prstGeom prst="rtTriangle">
            <a:avLst/>
          </a:prstGeom>
          <a:solidFill>
            <a:srgbClr val="EBEDFE"/>
          </a:solidFill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2" name="Google Shape;212;p20"/>
          <p:cNvCxnSpPr/>
          <p:nvPr/>
        </p:nvCxnSpPr>
        <p:spPr>
          <a:xfrm>
            <a:off x="3819221" y="8884876"/>
            <a:ext cx="0" cy="7146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3" name="Google Shape;213;p20"/>
          <p:cNvCxnSpPr/>
          <p:nvPr/>
        </p:nvCxnSpPr>
        <p:spPr>
          <a:xfrm rot="10800000">
            <a:off x="3904238" y="9698018"/>
            <a:ext cx="19593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4" name="Google Shape;214;p20"/>
          <p:cNvSpPr txBox="1"/>
          <p:nvPr/>
        </p:nvSpPr>
        <p:spPr>
          <a:xfrm>
            <a:off x="3197403" y="9164982"/>
            <a:ext cx="600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4491684" y="9682697"/>
            <a:ext cx="6864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4957625" y="9061439"/>
            <a:ext cx="7527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268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3908304" y="9472715"/>
            <a:ext cx="133200" cy="1383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936800" y="9151774"/>
            <a:ext cx="25164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1.09 m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Direct proportion in context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468000" y="720000"/>
            <a:ext cx="6579000" cy="24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volume of this cuboid.  Give your answer in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5" name="Google Shape;225;p21"/>
          <p:cNvCxnSpPr/>
          <p:nvPr/>
        </p:nvCxnSpPr>
        <p:spPr>
          <a:xfrm>
            <a:off x="1265958" y="1544628"/>
            <a:ext cx="0" cy="9156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6" name="Google Shape;226;p21"/>
          <p:cNvCxnSpPr/>
          <p:nvPr/>
        </p:nvCxnSpPr>
        <p:spPr>
          <a:xfrm rot="10800000">
            <a:off x="1388250" y="2516567"/>
            <a:ext cx="16230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7" name="Google Shape;227;p21"/>
          <p:cNvSpPr txBox="1"/>
          <p:nvPr/>
        </p:nvSpPr>
        <p:spPr>
          <a:xfrm>
            <a:off x="624553" y="1873892"/>
            <a:ext cx="7062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0.7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1922124" y="2498550"/>
            <a:ext cx="7062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1.8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3295060" y="2335413"/>
            <a:ext cx="7062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1400767" y="1234292"/>
            <a:ext cx="1924200" cy="1208700"/>
          </a:xfrm>
          <a:prstGeom prst="cube">
            <a:avLst>
              <a:gd fmla="val 25000" name="adj"/>
            </a:avLst>
          </a:prstGeom>
          <a:solidFill>
            <a:srgbClr val="EBEDFE"/>
          </a:solidFill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1" name="Google Shape;231;p21"/>
          <p:cNvCxnSpPr/>
          <p:nvPr/>
        </p:nvCxnSpPr>
        <p:spPr>
          <a:xfrm flipH="1" rot="10800000">
            <a:off x="3101470" y="2225108"/>
            <a:ext cx="267300" cy="2673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2" name="Google Shape;232;p21"/>
          <p:cNvSpPr txBox="1"/>
          <p:nvPr/>
        </p:nvSpPr>
        <p:spPr>
          <a:xfrm>
            <a:off x="4145968" y="1128079"/>
            <a:ext cx="29580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504 000 cm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33" name="Google Shape;233;p21"/>
          <p:cNvCxnSpPr/>
          <p:nvPr/>
        </p:nvCxnSpPr>
        <p:spPr>
          <a:xfrm>
            <a:off x="474757" y="286056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21"/>
          <p:cNvSpPr txBox="1"/>
          <p:nvPr/>
        </p:nvSpPr>
        <p:spPr>
          <a:xfrm>
            <a:off x="468000" y="2972100"/>
            <a:ext cx="66105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Other contexts involving direct proportion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535634" y="3259219"/>
            <a:ext cx="6543000" cy="23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 pencils cost £14.95  How much will 34 pencils cost?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14.95 ×     = £22.10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 rulers cost £5.18  How much will 20 rulers cost?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5.18 ×     = £7.40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 sweets cost £2.55  How much will 37 sweets cost?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2.55 ×     = £5.55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27 chocolate bars cost £11.07  How much will 39 chocolate bars cost?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11.07 ×     = £15.99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4}{23}&quot;&gt;&lt;mfrac&gt;&lt;mn&gt;34&lt;/mn&gt;&lt;mn&gt;23&lt;/mn&gt;&lt;/mfrac&gt;&lt;/math&gt;" id="236" name="Google Shape;236;p21" title="34 over 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5108" y="3796441"/>
            <a:ext cx="214216" cy="39460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/>
        </p:nvSpPr>
        <p:spPr>
          <a:xfrm>
            <a:off x="468000" y="3306451"/>
            <a:ext cx="34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0}{7}&quot;&gt;&lt;mfrac&gt;&lt;mn&gt;10&lt;/mn&gt;&lt;mn&gt;7&lt;/mn&gt;&lt;/mfrac&gt;&lt;/math&gt;" id="238" name="Google Shape;238;p21" title="ten sev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2195" y="4408932"/>
            <a:ext cx="219471" cy="4038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7}{17}&quot;&gt;&lt;mfrac&gt;&lt;mn&gt;37&lt;/mn&gt;&lt;mn&gt;17&lt;/mn&gt;&lt;/mfrac&gt;&lt;/math&gt;" id="239" name="Google Shape;239;p21" title="37 over 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9821" y="5032579"/>
            <a:ext cx="222397" cy="4096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}{9}&quot;&gt;&lt;mfrac&gt;&lt;mn&gt;13&lt;/mn&gt;&lt;mn&gt;9&lt;/mn&gt;&lt;/mfrac&gt;&lt;/math&gt;" id="240" name="Google Shape;240;p21" title="thirteen ni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40706" y="5688622"/>
            <a:ext cx="216545" cy="395047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468000" y="6528875"/>
            <a:ext cx="6610500" cy="13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Andeep is comparing prices of sunglasses in the UK, the USA and France.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Rank the following from cheapest to most expensive.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6072281" y="7260025"/>
            <a:ext cx="1006200" cy="184800"/>
          </a:xfrm>
          <a:prstGeom prst="rect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 : €1.18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3" name="Google Shape;243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91241" y="7676106"/>
            <a:ext cx="1005992" cy="417277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1"/>
          <p:cNvSpPr/>
          <p:nvPr/>
        </p:nvSpPr>
        <p:spPr>
          <a:xfrm rot="1965058">
            <a:off x="470223" y="7518665"/>
            <a:ext cx="918873" cy="277859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£48.00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5" name="Google Shape;245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72508" y="7676106"/>
            <a:ext cx="1005992" cy="417277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/>
          <p:nvPr/>
        </p:nvSpPr>
        <p:spPr>
          <a:xfrm rot="1965058">
            <a:off x="5120073" y="7518665"/>
            <a:ext cx="918873" cy="277859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€57.23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7" name="Google Shape;247;p21"/>
          <p:cNvGraphicFramePr/>
          <p:nvPr/>
        </p:nvGraphicFramePr>
        <p:xfrm>
          <a:off x="6041013" y="829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{F73EF578-21B4-4DC5-B685-E79F04CD68A5}</a:tableStyleId>
              </a:tblPr>
              <a:tblGrid>
                <a:gridCol w="529900"/>
                <a:gridCol w="529900"/>
              </a:tblGrid>
              <a:tr h="211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1.18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48.50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57.23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8" name="Google Shape;248;p21"/>
          <p:cNvSpPr txBox="1"/>
          <p:nvPr/>
        </p:nvSpPr>
        <p:spPr>
          <a:xfrm>
            <a:off x="468000" y="9128275"/>
            <a:ext cx="661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 order from cheapest to most expensive: USA, UK &amp; France.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49" name="Google Shape;249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79001" y="7676106"/>
            <a:ext cx="1005992" cy="417277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/>
          <p:nvPr/>
        </p:nvSpPr>
        <p:spPr>
          <a:xfrm rot="1965058">
            <a:off x="2857984" y="7518665"/>
            <a:ext cx="918873" cy="277859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$60.80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3788711" y="7260025"/>
            <a:ext cx="923100" cy="184800"/>
          </a:xfrm>
          <a:prstGeom prst="rect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 : $1.28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2" name="Google Shape;252;p21"/>
          <p:cNvGraphicFramePr/>
          <p:nvPr/>
        </p:nvGraphicFramePr>
        <p:xfrm>
          <a:off x="3704338" y="824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{F73EF578-21B4-4DC5-B685-E79F04CD68A5}</a:tableStyleId>
              </a:tblPr>
              <a:tblGrid>
                <a:gridCol w="529900"/>
                <a:gridCol w="529900"/>
              </a:tblGrid>
              <a:tr h="211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$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47.50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60.80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3" name="Google Shape;253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9" name="Google Shape;259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Direct proportion in context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468000" y="720000"/>
            <a:ext cx="63519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ingredients needed for the following numbers of cookies.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 cookies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Butter 90 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Sugar 150 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Flour 150 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Chocolate chips 120 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2803500" y="1067100"/>
            <a:ext cx="1953000" cy="114570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Recipe for 15 cookies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75 g butter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125 g sugar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125 g flour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100 g chocolate chips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2"/>
          <p:cNvSpPr txBox="1"/>
          <p:nvPr/>
        </p:nvSpPr>
        <p:spPr>
          <a:xfrm>
            <a:off x="2601150" y="2381550"/>
            <a:ext cx="1953000" cy="16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72 cookies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Butter 360 g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Sugar 600 g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Flour 600 g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Chocolate chips 480 g</a:t>
            </a:r>
            <a:endParaRPr sz="1200"/>
          </a:p>
        </p:txBody>
      </p:sp>
      <p:sp>
        <p:nvSpPr>
          <p:cNvPr id="265" name="Google Shape;265;p22"/>
          <p:cNvSpPr txBox="1"/>
          <p:nvPr/>
        </p:nvSpPr>
        <p:spPr>
          <a:xfrm>
            <a:off x="4725000" y="2381550"/>
            <a:ext cx="2367000" cy="16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6 cookies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Butter 30 g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Sugar 50 g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Flour 50 g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Chocolate chips 40 g</a:t>
            </a:r>
            <a:endParaRPr sz="1200"/>
          </a:p>
        </p:txBody>
      </p:sp>
      <p:sp>
        <p:nvSpPr>
          <p:cNvPr id="266" name="Google Shape;266;p22"/>
          <p:cNvSpPr txBox="1"/>
          <p:nvPr/>
        </p:nvSpPr>
        <p:spPr>
          <a:xfrm>
            <a:off x="468000" y="4716100"/>
            <a:ext cx="6624000" cy="24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have plenty of sugar, flour and chocolate chips, but only 1 kilogram of butter.  What is the largest number of cookies you can make?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kg = 1000 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1000 ÷ 75 = 13.333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13.3 × 15 = 200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752670" y="7411685"/>
            <a:ext cx="23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2220775" y="5172000"/>
            <a:ext cx="2927100" cy="13428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1905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13.3… represents the number of times you could make the recipe for cookies.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Since you can scale the recipe 13 and one third times you could make 200 cookies.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69" name="Google Shape;269;p22"/>
          <p:cNvCxnSpPr>
            <a:stCxn id="268" idx="1"/>
          </p:cNvCxnSpPr>
          <p:nvPr/>
        </p:nvCxnSpPr>
        <p:spPr>
          <a:xfrm rot="10800000">
            <a:off x="1795375" y="5689800"/>
            <a:ext cx="425400" cy="15360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0" name="Google Shape;270;p22"/>
          <p:cNvSpPr txBox="1"/>
          <p:nvPr/>
        </p:nvSpPr>
        <p:spPr>
          <a:xfrm>
            <a:off x="468000" y="6683275"/>
            <a:ext cx="63519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Alternative method for part 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	You have plenty of sugar, flour and chocolate chips, but only 1 kilogram of butter.  What is the largest number of cookies you can make?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kg = 1000 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75 ÷ 15 = 5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1000 ÷ 5 = 200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2160450" y="7527698"/>
            <a:ext cx="2987400" cy="9051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1905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5 represents the number of grams of butter needed per cookie.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Since you have 1000 g of butter you could make 200 cookies.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72" name="Google Shape;272;p22"/>
          <p:cNvCxnSpPr>
            <a:stCxn id="271" idx="1"/>
          </p:cNvCxnSpPr>
          <p:nvPr/>
        </p:nvCxnSpPr>
        <p:spPr>
          <a:xfrm rot="10800000">
            <a:off x="1469850" y="7980248"/>
            <a:ext cx="690600" cy="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