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C3A9709-75C2-43D6-9A85-4E210738771D}">
  <a:tblStyle styleId="{2C3A9709-75C2-43D6-9A85-4E21073877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" name="Shape 216"/>
        <p:cNvGrpSpPr/>
        <p:nvPr/>
      </p:nvGrpSpPr>
      <p:grpSpPr>
        <a:xfrm>
          <a:off x="0" y="0"/>
          <a:ext cx="0" cy="0"/>
        </a:xfrm>
      </p:grpSpPr>
      <p:sp>
        <p:nvSpPr>
          <p:cNvPr id="217" name="Google Shape;217;g2bac7e9ce2a_0_10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ac7e9ce2a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sp>
        <p:nvSpPr>
          <p:cNvPr id="335" name="Google Shape;335;g2bac7e9ce2a_0_35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bac7e9ce2a_0_3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59" name="Shape 359"/>
        <p:cNvGrpSpPr/>
        <p:nvPr/>
      </p:nvGrpSpPr>
      <p:grpSpPr>
        <a:xfrm>
          <a:off x="0" y="0"/>
          <a:ext cx="0" cy="0"/>
        </a:xfrm>
      </p:grpSpPr>
      <p:sp>
        <p:nvSpPr>
          <p:cNvPr id="360" name="Google Shape;36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963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Direct proportion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53675"/>
            <a:ext cx="6610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following show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relationship between A and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881570" y="21934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765225"/>
                <a:gridCol w="765225"/>
              </a:tblGrid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3340993" y="21934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5495615" y="21934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0"/>
          <p:cNvSpPr txBox="1"/>
          <p:nvPr/>
        </p:nvSpPr>
        <p:spPr>
          <a:xfrm>
            <a:off x="468000" y="2054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906400" y="2054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040000" y="2054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3578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906400" y="3578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040000" y="3578275"/>
            <a:ext cx="4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881570" y="36412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5" name="Google Shape;185;p20"/>
          <p:cNvGraphicFramePr>
            <a:graphicFrameLocks noGrp="1"/>
          </p:cNvGraphicFramePr>
          <p:nvPr/>
        </p:nvGraphicFramePr>
        <p:xfrm>
          <a:off x="3340993" y="36412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5495615" y="3641250"/>
          <a:ext cx="1530450" cy="10944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765225"/>
                <a:gridCol w="765225"/>
              </a:tblGrid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20"/>
          <p:cNvSpPr txBox="1"/>
          <p:nvPr/>
        </p:nvSpPr>
        <p:spPr>
          <a:xfrm>
            <a:off x="454500" y="4894000"/>
            <a:ext cx="66240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tables which show a directly proportional relationship are a, c, d, f.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54500" y="57241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Below are some variables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each other.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Jun is painting his neighbour’s fence.  He paints one fence every 40 minutes.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3108500" y="6915884"/>
            <a:ext cx="48874" cy="429786"/>
            <a:chOff x="941713" y="3767150"/>
            <a:chExt cx="63300" cy="1000200"/>
          </a:xfrm>
        </p:grpSpPr>
        <p:cxnSp>
          <p:nvCxnSpPr>
            <p:cNvPr id="190" name="Google Shape;190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1" name="Google Shape;191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1648549" y="6915884"/>
            <a:ext cx="48874" cy="429786"/>
            <a:chOff x="1475113" y="3767150"/>
            <a:chExt cx="63300" cy="1000200"/>
          </a:xfrm>
        </p:grpSpPr>
        <p:cxnSp>
          <p:nvCxnSpPr>
            <p:cNvPr id="193" name="Google Shape;193;p20"/>
            <p:cNvCxnSpPr/>
            <p:nvPr/>
          </p:nvCxnSpPr>
          <p:spPr>
            <a:xfrm flipH="1">
              <a:off x="15087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" name="Google Shape;194;p20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1380289" y="6832033"/>
            <a:ext cx="2373821" cy="583318"/>
            <a:chOff x="441900" y="3572013"/>
            <a:chExt cx="3074500" cy="1357500"/>
          </a:xfrm>
        </p:grpSpPr>
        <p:cxnSp>
          <p:nvCxnSpPr>
            <p:cNvPr id="196" name="Google Shape;196;p20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2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8" name="Google Shape;198;p2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99" name="Google Shape;199;p20"/>
          <p:cNvSpPr txBox="1"/>
          <p:nvPr/>
        </p:nvSpPr>
        <p:spPr>
          <a:xfrm>
            <a:off x="3806050" y="6859209"/>
            <a:ext cx="5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Fence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792384" y="7162802"/>
            <a:ext cx="55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Time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944444" y="6713407"/>
            <a:ext cx="151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625362" y="6698253"/>
            <a:ext cx="151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921243" y="7415135"/>
            <a:ext cx="327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552853" y="7415135"/>
            <a:ext cx="240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1958239" y="6915884"/>
            <a:ext cx="48874" cy="429786"/>
            <a:chOff x="941713" y="3767150"/>
            <a:chExt cx="63300" cy="1000200"/>
          </a:xfrm>
        </p:grpSpPr>
        <p:cxnSp>
          <p:nvCxnSpPr>
            <p:cNvPr id="206" name="Google Shape;206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7" name="Google Shape;207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2766331" y="6915884"/>
            <a:ext cx="48874" cy="429786"/>
            <a:chOff x="941713" y="3767150"/>
            <a:chExt cx="63300" cy="1000200"/>
          </a:xfrm>
        </p:grpSpPr>
        <p:cxnSp>
          <p:nvCxnSpPr>
            <p:cNvPr id="209" name="Google Shape;209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0" name="Google Shape;210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1" name="Google Shape;211;p20"/>
          <p:cNvSpPr txBox="1"/>
          <p:nvPr/>
        </p:nvSpPr>
        <p:spPr>
          <a:xfrm>
            <a:off x="2720075" y="6713407"/>
            <a:ext cx="151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062243" y="6713407"/>
            <a:ext cx="151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627222" y="7415135"/>
            <a:ext cx="327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980211" y="7415135"/>
            <a:ext cx="327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5" name="Google Shape;215;p20"/>
          <p:cNvGraphicFramePr>
            <a:graphicFrameLocks noGrp="1"/>
          </p:cNvGraphicFramePr>
          <p:nvPr/>
        </p:nvGraphicFramePr>
        <p:xfrm>
          <a:off x="1380295" y="7997875"/>
          <a:ext cx="1530450" cy="65664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765225"/>
                <a:gridCol w="765225"/>
              </a:tblGrid>
              <a:tr h="197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Fence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Time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7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7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Multiplicative relationships and direct proportion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719988"/>
            <a:ext cx="8628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Andeep is making necklaces for the school fete.  He makes 2 necklaces every 7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>
            <a:off x="3376287" y="1463973"/>
            <a:ext cx="43538" cy="382877"/>
            <a:chOff x="941713" y="3767150"/>
            <a:chExt cx="63300" cy="1000200"/>
          </a:xfrm>
        </p:grpSpPr>
        <p:cxnSp>
          <p:nvCxnSpPr>
            <p:cNvPr id="223" name="Google Shape;223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4" name="Google Shape;224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2075589" y="1463973"/>
            <a:ext cx="43538" cy="382877"/>
            <a:chOff x="1475113" y="3767150"/>
            <a:chExt cx="63300" cy="1000200"/>
          </a:xfrm>
        </p:grpSpPr>
        <p:cxnSp>
          <p:nvCxnSpPr>
            <p:cNvPr id="226" name="Google Shape;226;p21"/>
            <p:cNvCxnSpPr/>
            <p:nvPr/>
          </p:nvCxnSpPr>
          <p:spPr>
            <a:xfrm flipH="1">
              <a:off x="15087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7" name="Google Shape;227;p21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1836661" y="1389275"/>
            <a:ext cx="2114641" cy="519651"/>
            <a:chOff x="441900" y="3572013"/>
            <a:chExt cx="3074500" cy="1357500"/>
          </a:xfrm>
        </p:grpSpPr>
        <p:cxnSp>
          <p:nvCxnSpPr>
            <p:cNvPr id="229" name="Google Shape;229;p21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32" name="Google Shape;232;p21"/>
          <p:cNvSpPr txBox="1"/>
          <p:nvPr/>
        </p:nvSpPr>
        <p:spPr>
          <a:xfrm>
            <a:off x="3997795" y="1413571"/>
            <a:ext cx="761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Necklaces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985615" y="1684050"/>
            <a:ext cx="49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Time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339291" y="1283678"/>
            <a:ext cx="13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2055022" y="1270177"/>
            <a:ext cx="13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2318621" y="1908856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2071757" y="1908856"/>
            <a:ext cx="21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38" name="Google Shape;238;p21"/>
          <p:cNvGrpSpPr/>
          <p:nvPr/>
        </p:nvGrpSpPr>
        <p:grpSpPr>
          <a:xfrm>
            <a:off x="2351523" y="1463973"/>
            <a:ext cx="43538" cy="382877"/>
            <a:chOff x="941713" y="3767150"/>
            <a:chExt cx="63300" cy="1000200"/>
          </a:xfrm>
        </p:grpSpPr>
        <p:cxnSp>
          <p:nvCxnSpPr>
            <p:cNvPr id="239" name="Google Shape;239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" name="Google Shape;240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3071450" y="1463973"/>
            <a:ext cx="43538" cy="382877"/>
            <a:chOff x="941713" y="3767150"/>
            <a:chExt cx="63300" cy="1000200"/>
          </a:xfrm>
        </p:grpSpPr>
        <p:cxnSp>
          <p:nvCxnSpPr>
            <p:cNvPr id="242" name="Google Shape;242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3" name="Google Shape;243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44" name="Google Shape;244;p21"/>
          <p:cNvSpPr txBox="1"/>
          <p:nvPr/>
        </p:nvSpPr>
        <p:spPr>
          <a:xfrm>
            <a:off x="3030298" y="1283678"/>
            <a:ext cx="13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3335135" y="1283671"/>
            <a:ext cx="21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2986135" y="1908856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3314465" y="1908856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48" name="Google Shape;248;p21"/>
          <p:cNvGraphicFramePr>
            <a:graphicFrameLocks noGrp="1"/>
          </p:cNvGraphicFramePr>
          <p:nvPr/>
        </p:nvGraphicFramePr>
        <p:xfrm>
          <a:off x="1818995" y="22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836750"/>
                <a:gridCol w="836750"/>
              </a:tblGrid>
              <a:tr h="173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Necklaces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Time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3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3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1"/>
          <p:cNvSpPr txBox="1"/>
          <p:nvPr/>
        </p:nvSpPr>
        <p:spPr>
          <a:xfrm>
            <a:off x="468000" y="3034350"/>
            <a:ext cx="6624000" cy="26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5 miles is equivalent to 8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0" name="Google Shape;250;p21"/>
          <p:cNvGrpSpPr/>
          <p:nvPr/>
        </p:nvGrpSpPr>
        <p:grpSpPr>
          <a:xfrm>
            <a:off x="3317215" y="3841756"/>
            <a:ext cx="41867" cy="368174"/>
            <a:chOff x="941713" y="3767150"/>
            <a:chExt cx="63300" cy="1000200"/>
          </a:xfrm>
        </p:grpSpPr>
        <p:cxnSp>
          <p:nvCxnSpPr>
            <p:cNvPr id="251" name="Google Shape;251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2" name="Google Shape;252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21"/>
          <p:cNvGrpSpPr/>
          <p:nvPr/>
        </p:nvGrpSpPr>
        <p:grpSpPr>
          <a:xfrm>
            <a:off x="2066399" y="3841756"/>
            <a:ext cx="41867" cy="368174"/>
            <a:chOff x="1475113" y="3767150"/>
            <a:chExt cx="63300" cy="1000200"/>
          </a:xfrm>
        </p:grpSpPr>
        <p:cxnSp>
          <p:nvCxnSpPr>
            <p:cNvPr id="254" name="Google Shape;254;p21"/>
            <p:cNvCxnSpPr/>
            <p:nvPr/>
          </p:nvCxnSpPr>
          <p:spPr>
            <a:xfrm flipH="1">
              <a:off x="15087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5" name="Google Shape;255;p21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56" name="Google Shape;256;p21"/>
          <p:cNvGrpSpPr/>
          <p:nvPr/>
        </p:nvGrpSpPr>
        <p:grpSpPr>
          <a:xfrm>
            <a:off x="1836654" y="3769926"/>
            <a:ext cx="2033474" cy="499696"/>
            <a:chOff x="441900" y="3572013"/>
            <a:chExt cx="3074500" cy="1357500"/>
          </a:xfrm>
        </p:grpSpPr>
        <p:cxnSp>
          <p:nvCxnSpPr>
            <p:cNvPr id="257" name="Google Shape;257;p21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9" name="Google Shape;259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60" name="Google Shape;260;p21"/>
          <p:cNvSpPr txBox="1"/>
          <p:nvPr/>
        </p:nvSpPr>
        <p:spPr>
          <a:xfrm>
            <a:off x="3914900" y="3793343"/>
            <a:ext cx="73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Miles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3903193" y="4053446"/>
            <a:ext cx="87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Kilometres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320013" y="3668433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2046647" y="3655450"/>
            <a:ext cx="12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300136" y="4269628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2062740" y="4269628"/>
            <a:ext cx="20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6" name="Google Shape;266;p21"/>
          <p:cNvGrpSpPr/>
          <p:nvPr/>
        </p:nvGrpSpPr>
        <p:grpSpPr>
          <a:xfrm>
            <a:off x="2331759" y="3841756"/>
            <a:ext cx="41867" cy="368174"/>
            <a:chOff x="941713" y="3767150"/>
            <a:chExt cx="63300" cy="1000200"/>
          </a:xfrm>
        </p:grpSpPr>
        <p:cxnSp>
          <p:nvCxnSpPr>
            <p:cNvPr id="267" name="Google Shape;267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8" name="Google Shape;268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69" name="Google Shape;269;p21"/>
          <p:cNvGrpSpPr/>
          <p:nvPr/>
        </p:nvGrpSpPr>
        <p:grpSpPr>
          <a:xfrm>
            <a:off x="3024071" y="3841756"/>
            <a:ext cx="41867" cy="368174"/>
            <a:chOff x="941713" y="3767150"/>
            <a:chExt cx="63300" cy="1000200"/>
          </a:xfrm>
        </p:grpSpPr>
        <p:cxnSp>
          <p:nvCxnSpPr>
            <p:cNvPr id="270" name="Google Shape;270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1" name="Google Shape;271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72" name="Google Shape;272;p21"/>
          <p:cNvSpPr txBox="1"/>
          <p:nvPr/>
        </p:nvSpPr>
        <p:spPr>
          <a:xfrm>
            <a:off x="2965986" y="3668426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259118" y="3668426"/>
            <a:ext cx="20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2942045" y="4269628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257781" y="4269628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76" name="Google Shape;276;p21"/>
          <p:cNvGraphicFramePr>
            <a:graphicFrameLocks noGrp="1"/>
          </p:cNvGraphicFramePr>
          <p:nvPr/>
        </p:nvGraphicFramePr>
        <p:xfrm>
          <a:off x="1818970" y="479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836750"/>
                <a:gridCol w="836750"/>
              </a:tblGrid>
              <a:tr h="166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Miles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Kilometres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66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66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p21"/>
          <p:cNvSpPr txBox="1"/>
          <p:nvPr/>
        </p:nvSpPr>
        <p:spPr>
          <a:xfrm>
            <a:off x="468000" y="55042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A box of tiles covering 0.75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costs £15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8" name="Google Shape;278;p21"/>
          <p:cNvGrpSpPr/>
          <p:nvPr/>
        </p:nvGrpSpPr>
        <p:grpSpPr>
          <a:xfrm>
            <a:off x="3376262" y="6298128"/>
            <a:ext cx="43538" cy="382877"/>
            <a:chOff x="941713" y="3767150"/>
            <a:chExt cx="63300" cy="1000200"/>
          </a:xfrm>
        </p:grpSpPr>
        <p:cxnSp>
          <p:nvCxnSpPr>
            <p:cNvPr id="279" name="Google Shape;279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0" name="Google Shape;280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1"/>
          <p:cNvGrpSpPr/>
          <p:nvPr/>
        </p:nvGrpSpPr>
        <p:grpSpPr>
          <a:xfrm>
            <a:off x="2075564" y="6298128"/>
            <a:ext cx="43538" cy="382877"/>
            <a:chOff x="1475113" y="3767150"/>
            <a:chExt cx="63300" cy="1000200"/>
          </a:xfrm>
        </p:grpSpPr>
        <p:cxnSp>
          <p:nvCxnSpPr>
            <p:cNvPr id="282" name="Google Shape;282;p21"/>
            <p:cNvCxnSpPr/>
            <p:nvPr/>
          </p:nvCxnSpPr>
          <p:spPr>
            <a:xfrm flipH="1">
              <a:off x="15087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3" name="Google Shape;283;p21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21"/>
          <p:cNvGrpSpPr/>
          <p:nvPr/>
        </p:nvGrpSpPr>
        <p:grpSpPr>
          <a:xfrm>
            <a:off x="1836636" y="6223430"/>
            <a:ext cx="2114641" cy="519651"/>
            <a:chOff x="441900" y="3572013"/>
            <a:chExt cx="3074500" cy="1357500"/>
          </a:xfrm>
        </p:grpSpPr>
        <p:cxnSp>
          <p:nvCxnSpPr>
            <p:cNvPr id="285" name="Google Shape;285;p21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7" name="Google Shape;287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88" name="Google Shape;288;p21"/>
          <p:cNvSpPr txBox="1"/>
          <p:nvPr/>
        </p:nvSpPr>
        <p:spPr>
          <a:xfrm>
            <a:off x="3997770" y="6247696"/>
            <a:ext cx="761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3985590" y="6518169"/>
            <a:ext cx="49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286854" y="6117799"/>
            <a:ext cx="21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1964036" y="6117025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2295104" y="6742970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2013892" y="6742970"/>
            <a:ext cx="21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94" name="Google Shape;294;p21"/>
          <p:cNvGrpSpPr/>
          <p:nvPr/>
        </p:nvGrpSpPr>
        <p:grpSpPr>
          <a:xfrm>
            <a:off x="2351498" y="6298128"/>
            <a:ext cx="43538" cy="382877"/>
            <a:chOff x="941713" y="3767150"/>
            <a:chExt cx="63300" cy="1000200"/>
          </a:xfrm>
        </p:grpSpPr>
        <p:cxnSp>
          <p:nvCxnSpPr>
            <p:cNvPr id="295" name="Google Shape;295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21"/>
          <p:cNvGrpSpPr/>
          <p:nvPr/>
        </p:nvGrpSpPr>
        <p:grpSpPr>
          <a:xfrm>
            <a:off x="3071425" y="6298128"/>
            <a:ext cx="43538" cy="382877"/>
            <a:chOff x="941713" y="3767150"/>
            <a:chExt cx="63300" cy="1000200"/>
          </a:xfrm>
        </p:grpSpPr>
        <p:cxnSp>
          <p:nvCxnSpPr>
            <p:cNvPr id="298" name="Google Shape;298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00" name="Google Shape;300;p21"/>
          <p:cNvSpPr txBox="1"/>
          <p:nvPr/>
        </p:nvSpPr>
        <p:spPr>
          <a:xfrm>
            <a:off x="3030273" y="6117806"/>
            <a:ext cx="13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3335110" y="6117799"/>
            <a:ext cx="21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2986110" y="6742970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3314440" y="6742970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04" name="Google Shape;304;p21"/>
          <p:cNvGraphicFramePr>
            <a:graphicFrameLocks noGrp="1"/>
          </p:cNvGraphicFramePr>
          <p:nvPr/>
        </p:nvGraphicFramePr>
        <p:xfrm>
          <a:off x="1854295" y="71143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836750"/>
                <a:gridCol w="836750"/>
              </a:tblGrid>
              <a:tr h="173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Area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Cost (£)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3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3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21"/>
          <p:cNvSpPr txBox="1"/>
          <p:nvPr/>
        </p:nvSpPr>
        <p:spPr>
          <a:xfrm>
            <a:off x="468000" y="7852918"/>
            <a:ext cx="6624000" cy="17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Sofia’s dog eats 3 tins of food every 4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6" name="Google Shape;306;p21"/>
          <p:cNvGrpSpPr/>
          <p:nvPr/>
        </p:nvGrpSpPr>
        <p:grpSpPr>
          <a:xfrm>
            <a:off x="3394082" y="8576577"/>
            <a:ext cx="43544" cy="382877"/>
            <a:chOff x="941713" y="3767150"/>
            <a:chExt cx="63300" cy="1000200"/>
          </a:xfrm>
        </p:grpSpPr>
        <p:cxnSp>
          <p:nvCxnSpPr>
            <p:cNvPr id="307" name="Google Shape;307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8" name="Google Shape;308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21"/>
          <p:cNvGrpSpPr/>
          <p:nvPr/>
        </p:nvGrpSpPr>
        <p:grpSpPr>
          <a:xfrm>
            <a:off x="2093295" y="8576577"/>
            <a:ext cx="43544" cy="382877"/>
            <a:chOff x="1475113" y="3767150"/>
            <a:chExt cx="63300" cy="1000200"/>
          </a:xfrm>
        </p:grpSpPr>
        <p:cxnSp>
          <p:nvCxnSpPr>
            <p:cNvPr id="310" name="Google Shape;310;p21"/>
            <p:cNvCxnSpPr/>
            <p:nvPr/>
          </p:nvCxnSpPr>
          <p:spPr>
            <a:xfrm flipH="1">
              <a:off x="15087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1" name="Google Shape;311;p21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21"/>
          <p:cNvGrpSpPr/>
          <p:nvPr/>
        </p:nvGrpSpPr>
        <p:grpSpPr>
          <a:xfrm>
            <a:off x="1854304" y="8501879"/>
            <a:ext cx="2114949" cy="519651"/>
            <a:chOff x="441900" y="3572013"/>
            <a:chExt cx="3074500" cy="1357500"/>
          </a:xfrm>
        </p:grpSpPr>
        <p:cxnSp>
          <p:nvCxnSpPr>
            <p:cNvPr id="313" name="Google Shape;313;p21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5" name="Google Shape;315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16" name="Google Shape;316;p21"/>
          <p:cNvSpPr txBox="1"/>
          <p:nvPr/>
        </p:nvSpPr>
        <p:spPr>
          <a:xfrm>
            <a:off x="4015604" y="8526273"/>
            <a:ext cx="761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Tins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4003423" y="8796770"/>
            <a:ext cx="49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Day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2356959" y="8396370"/>
            <a:ext cx="13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2072666" y="8382869"/>
            <a:ext cx="13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2336288" y="9021592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2089402" y="9021592"/>
            <a:ext cx="21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2369231" y="8576577"/>
            <a:ext cx="43544" cy="382877"/>
            <a:chOff x="941713" y="3767150"/>
            <a:chExt cx="63300" cy="1000200"/>
          </a:xfrm>
        </p:grpSpPr>
        <p:cxnSp>
          <p:nvCxnSpPr>
            <p:cNvPr id="323" name="Google Shape;323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4" name="Google Shape;324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25" name="Google Shape;325;p21"/>
          <p:cNvGrpSpPr/>
          <p:nvPr/>
        </p:nvGrpSpPr>
        <p:grpSpPr>
          <a:xfrm>
            <a:off x="3089219" y="8576577"/>
            <a:ext cx="43544" cy="382877"/>
            <a:chOff x="941713" y="3767150"/>
            <a:chExt cx="63300" cy="1000200"/>
          </a:xfrm>
        </p:grpSpPr>
        <p:cxnSp>
          <p:nvCxnSpPr>
            <p:cNvPr id="326" name="Google Shape;326;p21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7" name="Google Shape;327;p2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28" name="Google Shape;328;p21"/>
          <p:cNvSpPr txBox="1"/>
          <p:nvPr/>
        </p:nvSpPr>
        <p:spPr>
          <a:xfrm>
            <a:off x="3048025" y="8396370"/>
            <a:ext cx="13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3352888" y="8396364"/>
            <a:ext cx="21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3003859" y="9021592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3332217" y="9021592"/>
            <a:ext cx="29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32" name="Google Shape;332;p21"/>
          <p:cNvGraphicFramePr>
            <a:graphicFrameLocks noGrp="1"/>
          </p:cNvGraphicFramePr>
          <p:nvPr/>
        </p:nvGraphicFramePr>
        <p:xfrm>
          <a:off x="1818970" y="92892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836750"/>
                <a:gridCol w="836750"/>
              </a:tblGrid>
              <a:tr h="190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Tins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Day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0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0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33" name="Google Shape;333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37" name="Shape 337"/>
        <p:cNvGrpSpPr/>
        <p:nvPr/>
      </p:nvGrpSpPr>
      <p:grpSpPr>
        <a:xfrm>
          <a:off x="0" y="0"/>
          <a:ext cx="0" cy="0"/>
        </a:xfrm>
      </p:grpSpPr>
      <p:sp>
        <p:nvSpPr>
          <p:cNvPr id="338" name="Google Shape;338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Multiplicative relationships and direct proportion</a:t>
            </a:r>
            <a:endParaRPr/>
          </a:p>
        </p:txBody>
      </p:sp>
      <p:pic>
        <p:nvPicPr>
          <p:cNvPr id="339" name="Google Shape;3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28" y="1438040"/>
            <a:ext cx="6509487" cy="155318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Graphing proportional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468000" y="997200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 Match each table to the correct graph and fill in the missing values: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1130751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2437775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4041849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6002385" y="1112539"/>
            <a:ext cx="24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6" name="Google Shape;346;p22"/>
          <p:cNvGraphicFramePr>
            <a:graphicFrameLocks noGrp="1"/>
          </p:cNvGraphicFramePr>
          <p:nvPr/>
        </p:nvGraphicFramePr>
        <p:xfrm>
          <a:off x="485070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7" name="Google Shape;347;p22"/>
          <p:cNvGraphicFramePr>
            <a:graphicFrameLocks noGrp="1"/>
          </p:cNvGraphicFramePr>
          <p:nvPr/>
        </p:nvGraphicFramePr>
        <p:xfrm>
          <a:off x="2309896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8" name="Google Shape;348;p22"/>
          <p:cNvGraphicFramePr>
            <a:graphicFrameLocks noGrp="1"/>
          </p:cNvGraphicFramePr>
          <p:nvPr/>
        </p:nvGraphicFramePr>
        <p:xfrm>
          <a:off x="5959548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9" name="Google Shape;349;p22"/>
          <p:cNvGraphicFramePr>
            <a:graphicFrameLocks noGrp="1"/>
          </p:cNvGraphicFramePr>
          <p:nvPr/>
        </p:nvGraphicFramePr>
        <p:xfrm>
          <a:off x="4134722" y="30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50" name="Google Shape;350;p22"/>
          <p:cNvSpPr txBox="1"/>
          <p:nvPr/>
        </p:nvSpPr>
        <p:spPr>
          <a:xfrm>
            <a:off x="2726234" y="4269130"/>
            <a:ext cx="30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6368752" y="4263105"/>
            <a:ext cx="30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904975" y="4245465"/>
            <a:ext cx="30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547493" y="4249000"/>
            <a:ext cx="30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54" name="Google Shape;3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0325" y="5073324"/>
            <a:ext cx="2819350" cy="1790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5" name="Google Shape;355;p22"/>
          <p:cNvGraphicFramePr>
            <a:graphicFrameLocks noGrp="1"/>
          </p:cNvGraphicFramePr>
          <p:nvPr/>
        </p:nvGraphicFramePr>
        <p:xfrm>
          <a:off x="686425" y="507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564475"/>
                <a:gridCol w="564475"/>
              </a:tblGrid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22"/>
          <p:cNvSpPr txBox="1"/>
          <p:nvPr/>
        </p:nvSpPr>
        <p:spPr>
          <a:xfrm>
            <a:off x="468000" y="4750800"/>
            <a:ext cx="6624000" cy="10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The following all have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directly proportional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relationship.  Plot a graph of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7" name="Google Shape;35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9900" y="7128450"/>
            <a:ext cx="2953774" cy="18908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8" name="Google Shape;358;p22"/>
          <p:cNvGraphicFramePr>
            <a:graphicFrameLocks noGrp="1"/>
          </p:cNvGraphicFramePr>
          <p:nvPr/>
        </p:nvGraphicFramePr>
        <p:xfrm>
          <a:off x="686400" y="712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62" name="Shape 362"/>
        <p:cNvGrpSpPr/>
        <p:nvPr/>
      </p:nvGrpSpPr>
      <p:grpSpPr>
        <a:xfrm>
          <a:off x="0" y="0"/>
          <a:ext cx="0" cy="0"/>
        </a:xfrm>
      </p:grpSpPr>
      <p:sp>
        <p:nvSpPr>
          <p:cNvPr id="363" name="Google Shape;363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364" name="Google Shape;364;p23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468000" y="720000"/>
            <a:ext cx="66198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68" name="Google Shape;368;p23"/>
          <p:cNvGraphicFramePr>
            <a:graphicFrameLocks noGrp="1"/>
          </p:cNvGraphicFramePr>
          <p:nvPr/>
        </p:nvGraphicFramePr>
        <p:xfrm>
          <a:off x="850725" y="800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{2C3A9709-75C2-43D6-9A85-4E210738771D}</a:tableStyleId>
              </a:tblPr>
              <a:tblGrid>
                <a:gridCol w="564475"/>
                <a:gridCol w="564475"/>
              </a:tblGrid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69" name="Google Shape;3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400" y="800744"/>
            <a:ext cx="2819351" cy="179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89" y="3253747"/>
            <a:ext cx="5908550" cy="170471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 txBox="1"/>
          <p:nvPr/>
        </p:nvSpPr>
        <p:spPr>
          <a:xfrm>
            <a:off x="4671287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5700522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468000" y="2826625"/>
            <a:ext cx="6452700" cy="23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Match each double number line to the correct graph: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113387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279261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445135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6110092" y="2936602"/>
            <a:ext cx="24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8" name="Google Shape;378;p23"/>
          <p:cNvGrpSpPr/>
          <p:nvPr/>
        </p:nvGrpSpPr>
        <p:grpSpPr>
          <a:xfrm>
            <a:off x="5489961" y="5276449"/>
            <a:ext cx="1270998" cy="600286"/>
            <a:chOff x="441900" y="3572013"/>
            <a:chExt cx="3074500" cy="1357500"/>
          </a:xfrm>
        </p:grpSpPr>
        <p:cxnSp>
          <p:nvCxnSpPr>
            <p:cNvPr id="379" name="Google Shape;379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1" name="Google Shape;381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82" name="Google Shape;382;p23"/>
          <p:cNvSpPr txBox="1"/>
          <p:nvPr/>
        </p:nvSpPr>
        <p:spPr>
          <a:xfrm>
            <a:off x="1709451" y="4578445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3"/>
          <p:cNvSpPr txBox="1"/>
          <p:nvPr/>
        </p:nvSpPr>
        <p:spPr>
          <a:xfrm>
            <a:off x="864852" y="2978595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3362942" y="4562629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2514213" y="2962779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23"/>
          <p:cNvSpPr txBox="1"/>
          <p:nvPr/>
        </p:nvSpPr>
        <p:spPr>
          <a:xfrm>
            <a:off x="4978606" y="4562629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3"/>
          <p:cNvSpPr txBox="1"/>
          <p:nvPr/>
        </p:nvSpPr>
        <p:spPr>
          <a:xfrm>
            <a:off x="4125841" y="2962779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6724954" y="4600457"/>
            <a:ext cx="3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5759426" y="2940768"/>
            <a:ext cx="3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6716400" y="5203635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6720631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2" name="Google Shape;392;p23"/>
          <p:cNvGrpSpPr/>
          <p:nvPr/>
        </p:nvGrpSpPr>
        <p:grpSpPr>
          <a:xfrm>
            <a:off x="3855270" y="5276449"/>
            <a:ext cx="1270998" cy="600286"/>
            <a:chOff x="441900" y="3572013"/>
            <a:chExt cx="3074500" cy="1357500"/>
          </a:xfrm>
        </p:grpSpPr>
        <p:cxnSp>
          <p:nvCxnSpPr>
            <p:cNvPr id="393" name="Google Shape;393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5" name="Google Shape;395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96" name="Google Shape;396;p23"/>
          <p:cNvSpPr txBox="1"/>
          <p:nvPr/>
        </p:nvSpPr>
        <p:spPr>
          <a:xfrm>
            <a:off x="5081709" y="5203635"/>
            <a:ext cx="37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5085940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8" name="Google Shape;398;p23"/>
          <p:cNvGrpSpPr/>
          <p:nvPr/>
        </p:nvGrpSpPr>
        <p:grpSpPr>
          <a:xfrm>
            <a:off x="2160035" y="5276449"/>
            <a:ext cx="1270998" cy="600286"/>
            <a:chOff x="441900" y="3572013"/>
            <a:chExt cx="3074500" cy="1357500"/>
          </a:xfrm>
        </p:grpSpPr>
        <p:cxnSp>
          <p:nvCxnSpPr>
            <p:cNvPr id="399" name="Google Shape;399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1" name="Google Shape;401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02" name="Google Shape;402;p23"/>
          <p:cNvSpPr txBox="1"/>
          <p:nvPr/>
        </p:nvSpPr>
        <p:spPr>
          <a:xfrm>
            <a:off x="3386474" y="5203635"/>
            <a:ext cx="37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3390705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4" name="Google Shape;404;p23"/>
          <p:cNvGrpSpPr/>
          <p:nvPr/>
        </p:nvGrpSpPr>
        <p:grpSpPr>
          <a:xfrm>
            <a:off x="464800" y="5276449"/>
            <a:ext cx="1270998" cy="600286"/>
            <a:chOff x="441900" y="3572013"/>
            <a:chExt cx="3074500" cy="1357500"/>
          </a:xfrm>
        </p:grpSpPr>
        <p:cxnSp>
          <p:nvCxnSpPr>
            <p:cNvPr id="405" name="Google Shape;405;p23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2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7" name="Google Shape;407;p2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08" name="Google Shape;408;p23"/>
          <p:cNvSpPr txBox="1"/>
          <p:nvPr/>
        </p:nvSpPr>
        <p:spPr>
          <a:xfrm>
            <a:off x="1691239" y="5203635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1695470" y="5497296"/>
            <a:ext cx="37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0" name="Google Shape;410;p23"/>
          <p:cNvCxnSpPr/>
          <p:nvPr/>
        </p:nvCxnSpPr>
        <p:spPr>
          <a:xfrm flipH="1">
            <a:off x="856902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23"/>
          <p:cNvCxnSpPr/>
          <p:nvPr/>
        </p:nvCxnSpPr>
        <p:spPr>
          <a:xfrm flipH="1">
            <a:off x="1401799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23"/>
          <p:cNvCxnSpPr/>
          <p:nvPr/>
        </p:nvCxnSpPr>
        <p:spPr>
          <a:xfrm flipH="1">
            <a:off x="2309961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23"/>
          <p:cNvCxnSpPr/>
          <p:nvPr/>
        </p:nvCxnSpPr>
        <p:spPr>
          <a:xfrm flipH="1">
            <a:off x="3097034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23"/>
          <p:cNvCxnSpPr/>
          <p:nvPr/>
        </p:nvCxnSpPr>
        <p:spPr>
          <a:xfrm flipH="1">
            <a:off x="4325321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23"/>
          <p:cNvCxnSpPr/>
          <p:nvPr/>
        </p:nvCxnSpPr>
        <p:spPr>
          <a:xfrm flipH="1">
            <a:off x="4792269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23"/>
          <p:cNvCxnSpPr/>
          <p:nvPr/>
        </p:nvCxnSpPr>
        <p:spPr>
          <a:xfrm flipH="1">
            <a:off x="5821519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23"/>
          <p:cNvCxnSpPr/>
          <p:nvPr/>
        </p:nvCxnSpPr>
        <p:spPr>
          <a:xfrm flipH="1">
            <a:off x="6124240" y="5368672"/>
            <a:ext cx="0" cy="434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8" name="Google Shape;418;p23"/>
          <p:cNvSpPr/>
          <p:nvPr/>
        </p:nvSpPr>
        <p:spPr>
          <a:xfrm>
            <a:off x="809150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1354047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2262209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3033280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4272702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4750786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5768901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071621" y="5456766"/>
            <a:ext cx="95700" cy="241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rgbClr val="E6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35906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1280803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35906" y="573688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1236275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2188964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2088761" y="5736880"/>
            <a:ext cx="58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2982306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2991084" y="5736880"/>
            <a:ext cx="54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4099419" y="507090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3"/>
          <p:cNvSpPr txBox="1"/>
          <p:nvPr/>
        </p:nvSpPr>
        <p:spPr>
          <a:xfrm>
            <a:off x="4068739" y="5736880"/>
            <a:ext cx="54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3"/>
          <p:cNvSpPr txBox="1"/>
          <p:nvPr/>
        </p:nvSpPr>
        <p:spPr>
          <a:xfrm>
            <a:off x="4671273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3"/>
          <p:cNvSpPr txBox="1"/>
          <p:nvPr/>
        </p:nvSpPr>
        <p:spPr>
          <a:xfrm>
            <a:off x="5700536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6003243" y="5070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3"/>
          <p:cNvSpPr txBox="1"/>
          <p:nvPr/>
        </p:nvSpPr>
        <p:spPr>
          <a:xfrm>
            <a:off x="5947579" y="5736880"/>
            <a:ext cx="45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3"/>
          <p:cNvSpPr txBox="1"/>
          <p:nvPr/>
        </p:nvSpPr>
        <p:spPr>
          <a:xfrm>
            <a:off x="2665320" y="5369908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5870958" y="5365121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2" name="Google Shape;442;p23"/>
          <p:cNvSpPr txBox="1"/>
          <p:nvPr/>
        </p:nvSpPr>
        <p:spPr>
          <a:xfrm>
            <a:off x="1017162" y="5373376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4264785" y="5376185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139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2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Multiplicative relationships and direct proportion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2024-03-05T14:10:21.268</cp:lastPrinted>
  <dcterms:created xsi:type="dcterms:W3CDTF">2024-03-05T14:10:21Z</dcterms:created>
  <dcterms:modified xsi:type="dcterms:W3CDTF">2024-03-05T14:10:36Z</dcterms:modified>
</cp:coreProperties>
</file>