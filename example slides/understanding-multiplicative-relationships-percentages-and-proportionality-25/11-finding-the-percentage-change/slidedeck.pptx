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0AD964-791E-40EE-9100-825325764C7A}">
  <a:tblStyle styleId="{520AD964-791E-40EE-9100-825325764C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5e95196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5e95196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b0fb15fd09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b0fb15fd09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b0fb15fd09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b0fb15fd09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b0fb15fd09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b0fb15fd09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b0fb15fd09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b0fb15fd09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b0fb15fd09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b0fb15fd09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b4307fdd5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b4307fdd5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b0fb15fd09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b0fb15fd09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b0fb15fd09_0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b0fb15fd09_0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b4307fdd50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b4307fdd50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b4307fdd50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b4307fdd50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b4307fdd50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b4307fdd50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b4307fdd50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b4307fdd50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b0fb15fd09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b0fb15fd09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b4307fdd50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b4307fdd50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b4307fdd50_0_1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b4307fdd50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b4307fdd50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b4307fdd50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b0fb15fd09_0_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b0fb15fd09_0_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b4307fdd50_0_1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b4307fdd50_0_1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2b4307fdd50_0_1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b4307fdd50_0_1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b4945ef01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b4945ef01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b4945ef01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b4945ef0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b0fb15fd09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b0fb15fd09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2b4307fdd50_0_1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2b4307fdd50_0_1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b4307fdd50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b4307fdd50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23.png"/><Relationship Id="rId6" Type="http://schemas.openxmlformats.org/officeDocument/2006/relationships/image" Target="../media/image26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80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0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16.png"/><Relationship Id="rId6" Type="http://schemas.openxmlformats.org/officeDocument/2006/relationships/image" Target="../media/image32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0.png"/><Relationship Id="rId4" Type="http://schemas.openxmlformats.org/officeDocument/2006/relationships/image" Target="../media/image30.png"/><Relationship Id="rId11" Type="http://schemas.openxmlformats.org/officeDocument/2006/relationships/image" Target="../media/image21.png"/><Relationship Id="rId10" Type="http://schemas.openxmlformats.org/officeDocument/2006/relationships/image" Target="../media/image37.png"/><Relationship Id="rId9" Type="http://schemas.openxmlformats.org/officeDocument/2006/relationships/image" Target="../media/image33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32.png"/><Relationship Id="rId8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2">
  <p:cSld name="CUSTOM_3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7.png"/><Relationship Id="rId4" Type="http://schemas.openxmlformats.org/officeDocument/2006/relationships/image" Target="../media/image64.png"/><Relationship Id="rId5" Type="http://schemas.openxmlformats.org/officeDocument/2006/relationships/image" Target="../media/image52.png"/><Relationship Id="rId6" Type="http://schemas.openxmlformats.org/officeDocument/2006/relationships/image" Target="../media/image6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7.png"/><Relationship Id="rId4" Type="http://schemas.openxmlformats.org/officeDocument/2006/relationships/image" Target="../media/image64.png"/><Relationship Id="rId5" Type="http://schemas.openxmlformats.org/officeDocument/2006/relationships/image" Target="../media/image52.png"/><Relationship Id="rId6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7.png"/><Relationship Id="rId4" Type="http://schemas.openxmlformats.org/officeDocument/2006/relationships/image" Target="../media/image64.png"/><Relationship Id="rId5" Type="http://schemas.openxmlformats.org/officeDocument/2006/relationships/image" Target="../media/image52.png"/><Relationship Id="rId6" Type="http://schemas.openxmlformats.org/officeDocument/2006/relationships/image" Target="../media/image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7.png"/><Relationship Id="rId4" Type="http://schemas.openxmlformats.org/officeDocument/2006/relationships/image" Target="../media/image64.png"/><Relationship Id="rId5" Type="http://schemas.openxmlformats.org/officeDocument/2006/relationships/image" Target="../media/image52.png"/><Relationship Id="rId6" Type="http://schemas.openxmlformats.org/officeDocument/2006/relationships/image" Target="../media/image7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64.png"/><Relationship Id="rId5" Type="http://schemas.openxmlformats.org/officeDocument/2006/relationships/image" Target="../media/image52.png"/><Relationship Id="rId6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5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77.png"/><Relationship Id="rId7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5" Type="http://schemas.openxmlformats.org/officeDocument/2006/relationships/image" Target="../media/image7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5.png"/><Relationship Id="rId4" Type="http://schemas.openxmlformats.org/officeDocument/2006/relationships/image" Target="../media/image71.png"/><Relationship Id="rId5" Type="http://schemas.openxmlformats.org/officeDocument/2006/relationships/image" Target="../media/image73.png"/><Relationship Id="rId6" Type="http://schemas.openxmlformats.org/officeDocument/2006/relationships/image" Target="../media/image77.png"/><Relationship Id="rId7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6.png"/><Relationship Id="rId4" Type="http://schemas.openxmlformats.org/officeDocument/2006/relationships/image" Target="../media/image74.png"/><Relationship Id="rId5" Type="http://schemas.openxmlformats.org/officeDocument/2006/relationships/image" Target="../media/image7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3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762" name="Google Shape;762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the percentage increase or decrease given start and finish quantities.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306950" y="10650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Variables are in proportion if they have a constant multiplicative relationship.</a:t>
            </a:r>
            <a:endParaRPr/>
          </a:p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306950" y="24366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784" name="Google Shape;78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785" name="Google Shape;78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48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24000" y="606900"/>
            <a:ext cx="84960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Alex and Andeep are discussing who has made the biggest improvement in their times tables.</a:t>
            </a:r>
            <a:endParaRPr sz="2000"/>
          </a:p>
        </p:txBody>
      </p:sp>
      <p:pic>
        <p:nvPicPr>
          <p:cNvPr id="793" name="Google Shape;79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9" y="2220838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/>
        </p:nvSpPr>
        <p:spPr>
          <a:xfrm>
            <a:off x="347800" y="3135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5" name="Google Shape;79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0187" y="20863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69"/>
          <p:cNvSpPr txBox="1"/>
          <p:nvPr/>
        </p:nvSpPr>
        <p:spPr>
          <a:xfrm>
            <a:off x="7492675" y="3135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7" name="Google Shape;797;p69"/>
          <p:cNvGrpSpPr/>
          <p:nvPr/>
        </p:nvGrpSpPr>
        <p:grpSpPr>
          <a:xfrm>
            <a:off x="5001825" y="1200150"/>
            <a:ext cx="2630077" cy="1520625"/>
            <a:chOff x="5001825" y="2571750"/>
            <a:chExt cx="2630077" cy="1520625"/>
          </a:xfrm>
        </p:grpSpPr>
        <p:pic>
          <p:nvPicPr>
            <p:cNvPr id="798" name="Google Shape;798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001825" y="2571750"/>
              <a:ext cx="2630077" cy="152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9"/>
            <p:cNvSpPr txBox="1"/>
            <p:nvPr/>
          </p:nvSpPr>
          <p:spPr>
            <a:xfrm>
              <a:off x="5159796" y="2755625"/>
              <a:ext cx="2257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At the beginning of the year my score was 50 and now it is 80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0" name="Google Shape;800;p69"/>
          <p:cNvGrpSpPr/>
          <p:nvPr/>
        </p:nvGrpSpPr>
        <p:grpSpPr>
          <a:xfrm>
            <a:off x="1046275" y="1199175"/>
            <a:ext cx="2671150" cy="1520625"/>
            <a:chOff x="1579675" y="2799375"/>
            <a:chExt cx="2671150" cy="1520625"/>
          </a:xfrm>
        </p:grpSpPr>
        <p:pic>
          <p:nvPicPr>
            <p:cNvPr id="801" name="Google Shape;801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79675" y="2799375"/>
              <a:ext cx="2671150" cy="152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69"/>
            <p:cNvSpPr txBox="1"/>
            <p:nvPr/>
          </p:nvSpPr>
          <p:spPr>
            <a:xfrm>
              <a:off x="1778399" y="2957025"/>
              <a:ext cx="2254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At the beginning of the year my score was 80 and now it is 120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3" name="Google Shape;803;p69"/>
          <p:cNvSpPr txBox="1"/>
          <p:nvPr>
            <p:ph idx="1" type="body"/>
          </p:nvPr>
        </p:nvSpPr>
        <p:spPr>
          <a:xfrm>
            <a:off x="324000" y="3405046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Who has made the biggest improvement?</a:t>
            </a:r>
            <a:endParaRPr sz="2000"/>
          </a:p>
        </p:txBody>
      </p:sp>
      <p:grpSp>
        <p:nvGrpSpPr>
          <p:cNvPr id="804" name="Google Shape;804;p69"/>
          <p:cNvGrpSpPr/>
          <p:nvPr/>
        </p:nvGrpSpPr>
        <p:grpSpPr>
          <a:xfrm>
            <a:off x="970058" y="1199174"/>
            <a:ext cx="2981271" cy="1520625"/>
            <a:chOff x="1579675" y="1503975"/>
            <a:chExt cx="2671150" cy="1520625"/>
          </a:xfrm>
        </p:grpSpPr>
        <p:pic>
          <p:nvPicPr>
            <p:cNvPr id="805" name="Google Shape;805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79675" y="1503975"/>
              <a:ext cx="2671150" cy="152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6" name="Google Shape;806;p69"/>
            <p:cNvSpPr txBox="1"/>
            <p:nvPr/>
          </p:nvSpPr>
          <p:spPr>
            <a:xfrm>
              <a:off x="1778399" y="1661625"/>
              <a:ext cx="2254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made the biggest improvement as my score has gone up by 40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7" name="Google Shape;807;p69"/>
          <p:cNvGrpSpPr/>
          <p:nvPr/>
        </p:nvGrpSpPr>
        <p:grpSpPr>
          <a:xfrm>
            <a:off x="5005800" y="1809750"/>
            <a:ext cx="2630077" cy="899997"/>
            <a:chOff x="5001825" y="2495550"/>
            <a:chExt cx="2630077" cy="899997"/>
          </a:xfrm>
        </p:grpSpPr>
        <p:pic>
          <p:nvPicPr>
            <p:cNvPr id="808" name="Google Shape;808;p69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001825" y="2495550"/>
              <a:ext cx="2630077" cy="86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9" name="Google Shape;809;p69"/>
            <p:cNvSpPr txBox="1"/>
            <p:nvPr/>
          </p:nvSpPr>
          <p:spPr>
            <a:xfrm>
              <a:off x="5131457" y="2622747"/>
              <a:ext cx="2257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But, we did not start on the same score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0" name="Google Shape;810;p69"/>
          <p:cNvSpPr txBox="1"/>
          <p:nvPr>
            <p:ph idx="1" type="body"/>
          </p:nvPr>
        </p:nvSpPr>
        <p:spPr>
          <a:xfrm>
            <a:off x="324000" y="3786046"/>
            <a:ext cx="8237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Is it fair to compare the increase in score if they started on different values?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Let’s take a look using bar models.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816" name="Google Shape;816;p70"/>
          <p:cNvSpPr txBox="1"/>
          <p:nvPr>
            <p:ph idx="1" type="body"/>
          </p:nvPr>
        </p:nvSpPr>
        <p:spPr>
          <a:xfrm>
            <a:off x="610650" y="3668750"/>
            <a:ext cx="31656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Alex’s score increases by 40</a:t>
            </a:r>
            <a:endParaRPr sz="1800"/>
          </a:p>
        </p:txBody>
      </p:sp>
      <p:pic>
        <p:nvPicPr>
          <p:cNvPr id="817" name="Google Shape;81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9" y="1535037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0"/>
          <p:cNvSpPr txBox="1"/>
          <p:nvPr/>
        </p:nvSpPr>
        <p:spPr>
          <a:xfrm>
            <a:off x="347800" y="2449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9" name="Google Shape;81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0187" y="14005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70"/>
          <p:cNvSpPr txBox="1"/>
          <p:nvPr/>
        </p:nvSpPr>
        <p:spPr>
          <a:xfrm>
            <a:off x="7492675" y="2449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1" name="Google Shape;821;p70"/>
          <p:cNvGrpSpPr/>
          <p:nvPr/>
        </p:nvGrpSpPr>
        <p:grpSpPr>
          <a:xfrm>
            <a:off x="5001825" y="514350"/>
            <a:ext cx="2630077" cy="1520625"/>
            <a:chOff x="5001825" y="2571750"/>
            <a:chExt cx="2630077" cy="1520625"/>
          </a:xfrm>
        </p:grpSpPr>
        <p:pic>
          <p:nvPicPr>
            <p:cNvPr id="822" name="Google Shape;822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001825" y="2571750"/>
              <a:ext cx="2630077" cy="152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3" name="Google Shape;823;p70"/>
            <p:cNvSpPr txBox="1"/>
            <p:nvPr/>
          </p:nvSpPr>
          <p:spPr>
            <a:xfrm>
              <a:off x="5159796" y="2755625"/>
              <a:ext cx="2257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At the beginning of the year my score was 50 and now it is 80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24" name="Google Shape;824;p70"/>
          <p:cNvGraphicFramePr/>
          <p:nvPr/>
        </p:nvGraphicFramePr>
        <p:xfrm>
          <a:off x="610650" y="320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25" name="Google Shape;825;p70"/>
          <p:cNvGrpSpPr/>
          <p:nvPr/>
        </p:nvGrpSpPr>
        <p:grpSpPr>
          <a:xfrm>
            <a:off x="1046275" y="513375"/>
            <a:ext cx="2671150" cy="1520625"/>
            <a:chOff x="1579675" y="2799375"/>
            <a:chExt cx="2671150" cy="1520625"/>
          </a:xfrm>
        </p:grpSpPr>
        <p:pic>
          <p:nvPicPr>
            <p:cNvPr id="826" name="Google Shape;826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79675" y="2799375"/>
              <a:ext cx="2671150" cy="1520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7" name="Google Shape;827;p70"/>
            <p:cNvSpPr txBox="1"/>
            <p:nvPr/>
          </p:nvSpPr>
          <p:spPr>
            <a:xfrm>
              <a:off x="1778399" y="2957025"/>
              <a:ext cx="2254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At the beginning of the year my score was 80 and now it is 120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28" name="Google Shape;828;p70"/>
          <p:cNvGraphicFramePr/>
          <p:nvPr/>
        </p:nvGraphicFramePr>
        <p:xfrm>
          <a:off x="5001825" y="320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9" name="Google Shape;829;p70"/>
          <p:cNvSpPr/>
          <p:nvPr/>
        </p:nvSpPr>
        <p:spPr>
          <a:xfrm rot="5400000">
            <a:off x="2040247" y="1651225"/>
            <a:ext cx="72000" cy="293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1061750" y="2744700"/>
            <a:ext cx="2079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original score = 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0"/>
          <p:cNvSpPr/>
          <p:nvPr/>
        </p:nvSpPr>
        <p:spPr>
          <a:xfrm rot="5400000">
            <a:off x="6438593" y="1651225"/>
            <a:ext cx="72000" cy="293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0"/>
          <p:cNvSpPr txBox="1"/>
          <p:nvPr/>
        </p:nvSpPr>
        <p:spPr>
          <a:xfrm>
            <a:off x="5445931" y="2744700"/>
            <a:ext cx="2079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original score = 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3" name="Google Shape;833;p70"/>
          <p:cNvGraphicFramePr/>
          <p:nvPr/>
        </p:nvGraphicFramePr>
        <p:xfrm>
          <a:off x="610650" y="320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4" name="Google Shape;834;p70"/>
          <p:cNvGraphicFramePr/>
          <p:nvPr/>
        </p:nvGraphicFramePr>
        <p:xfrm>
          <a:off x="5001825" y="320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5" name="Google Shape;835;p70"/>
          <p:cNvGraphicFramePr/>
          <p:nvPr/>
        </p:nvGraphicFramePr>
        <p:xfrm>
          <a:off x="610650" y="320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6" name="Google Shape;836;p70"/>
          <p:cNvGraphicFramePr/>
          <p:nvPr/>
        </p:nvGraphicFramePr>
        <p:xfrm>
          <a:off x="5014513" y="320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7" name="Google Shape;837;p70"/>
          <p:cNvSpPr txBox="1"/>
          <p:nvPr>
            <p:ph idx="1" type="body"/>
          </p:nvPr>
        </p:nvSpPr>
        <p:spPr>
          <a:xfrm>
            <a:off x="5001825" y="3668750"/>
            <a:ext cx="3509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Andeep</a:t>
            </a:r>
            <a:r>
              <a:rPr lang="en-GB" sz="1800"/>
              <a:t>’s score increases by 30</a:t>
            </a:r>
            <a:endParaRPr sz="1800"/>
          </a:p>
        </p:txBody>
      </p:sp>
      <p:sp>
        <p:nvSpPr>
          <p:cNvPr id="838" name="Google Shape;838;p70"/>
          <p:cNvSpPr txBox="1"/>
          <p:nvPr>
            <p:ph idx="1" type="body"/>
          </p:nvPr>
        </p:nvSpPr>
        <p:spPr>
          <a:xfrm>
            <a:off x="382050" y="4202150"/>
            <a:ext cx="81288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see that although Alex’s score increased by more than Andeep’s, as a proportion of </a:t>
            </a:r>
            <a:r>
              <a:rPr lang="en-GB" sz="1800"/>
              <a:t>their original scores Andeep’s increased by more.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844" name="Google Shape;844;p71"/>
          <p:cNvSpPr txBox="1"/>
          <p:nvPr>
            <p:ph idx="1" type="body"/>
          </p:nvPr>
        </p:nvSpPr>
        <p:spPr>
          <a:xfrm>
            <a:off x="324000" y="759300"/>
            <a:ext cx="8237700" cy="75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it is more appropriate to consider a percentage change rather than the exact change.</a:t>
            </a:r>
            <a:endParaRPr/>
          </a:p>
        </p:txBody>
      </p:sp>
      <p:sp>
        <p:nvSpPr>
          <p:cNvPr id="845" name="Google Shape;845;p71"/>
          <p:cNvSpPr txBox="1"/>
          <p:nvPr>
            <p:ph idx="1" type="body"/>
          </p:nvPr>
        </p:nvSpPr>
        <p:spPr>
          <a:xfrm>
            <a:off x="610650" y="4049750"/>
            <a:ext cx="31656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Alex’s score increases by 40</a:t>
            </a:r>
            <a:endParaRPr sz="1800"/>
          </a:p>
        </p:txBody>
      </p:sp>
      <p:pic>
        <p:nvPicPr>
          <p:cNvPr id="846" name="Google Shape;8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9" y="1535037"/>
            <a:ext cx="777007" cy="896096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71"/>
          <p:cNvSpPr txBox="1"/>
          <p:nvPr/>
        </p:nvSpPr>
        <p:spPr>
          <a:xfrm>
            <a:off x="347800" y="2449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8" name="Google Shape;84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0187" y="1400549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1"/>
          <p:cNvSpPr txBox="1"/>
          <p:nvPr/>
        </p:nvSpPr>
        <p:spPr>
          <a:xfrm>
            <a:off x="7492675" y="24495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0" name="Google Shape;850;p71"/>
          <p:cNvGraphicFramePr/>
          <p:nvPr/>
        </p:nvGraphicFramePr>
        <p:xfrm>
          <a:off x="610650" y="320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1" name="Google Shape;851;p71"/>
          <p:cNvGraphicFramePr/>
          <p:nvPr/>
        </p:nvGraphicFramePr>
        <p:xfrm>
          <a:off x="5001825" y="320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2" name="Google Shape;852;p71"/>
          <p:cNvSpPr/>
          <p:nvPr/>
        </p:nvSpPr>
        <p:spPr>
          <a:xfrm rot="5400000">
            <a:off x="2040247" y="1651225"/>
            <a:ext cx="72000" cy="293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 txBox="1"/>
          <p:nvPr/>
        </p:nvSpPr>
        <p:spPr>
          <a:xfrm>
            <a:off x="1061750" y="2744700"/>
            <a:ext cx="2079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original score = 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/>
          <p:nvPr/>
        </p:nvSpPr>
        <p:spPr>
          <a:xfrm rot="5400000">
            <a:off x="6438593" y="1651225"/>
            <a:ext cx="72000" cy="293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1"/>
          <p:cNvSpPr txBox="1"/>
          <p:nvPr/>
        </p:nvSpPr>
        <p:spPr>
          <a:xfrm>
            <a:off x="5445931" y="2744700"/>
            <a:ext cx="2079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original score = 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6" name="Google Shape;856;p71"/>
          <p:cNvGraphicFramePr/>
          <p:nvPr/>
        </p:nvGraphicFramePr>
        <p:xfrm>
          <a:off x="610650" y="320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7" name="Google Shape;857;p71"/>
          <p:cNvGraphicFramePr/>
          <p:nvPr/>
        </p:nvGraphicFramePr>
        <p:xfrm>
          <a:off x="5001825" y="320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8" name="Google Shape;858;p71"/>
          <p:cNvGraphicFramePr/>
          <p:nvPr/>
        </p:nvGraphicFramePr>
        <p:xfrm>
          <a:off x="610650" y="320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  <a:gridCol w="29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9" name="Google Shape;859;p71"/>
          <p:cNvGraphicFramePr/>
          <p:nvPr/>
        </p:nvGraphicFramePr>
        <p:xfrm>
          <a:off x="5014513" y="320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588425"/>
                <a:gridCol w="588425"/>
                <a:gridCol w="588425"/>
                <a:gridCol w="588425"/>
                <a:gridCol w="588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0" name="Google Shape;860;p71"/>
          <p:cNvSpPr txBox="1"/>
          <p:nvPr>
            <p:ph idx="1" type="body"/>
          </p:nvPr>
        </p:nvSpPr>
        <p:spPr>
          <a:xfrm>
            <a:off x="5001825" y="4049750"/>
            <a:ext cx="3509100" cy="22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Andeep’s score increases by 30</a:t>
            </a:r>
            <a:endParaRPr sz="1800"/>
          </a:p>
        </p:txBody>
      </p:sp>
      <p:cxnSp>
        <p:nvCxnSpPr>
          <p:cNvPr id="861" name="Google Shape;861;p71"/>
          <p:cNvCxnSpPr/>
          <p:nvPr/>
        </p:nvCxnSpPr>
        <p:spPr>
          <a:xfrm>
            <a:off x="602200" y="3691125"/>
            <a:ext cx="148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62" name="Google Shape;862;p71"/>
          <p:cNvCxnSpPr/>
          <p:nvPr/>
        </p:nvCxnSpPr>
        <p:spPr>
          <a:xfrm flipH="1" rot="10800000">
            <a:off x="5001825" y="3683925"/>
            <a:ext cx="17853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63" name="Google Shape;863;p71"/>
          <p:cNvSpPr txBox="1"/>
          <p:nvPr/>
        </p:nvSpPr>
        <p:spPr>
          <a:xfrm>
            <a:off x="1110700" y="3683925"/>
            <a:ext cx="470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1"/>
          <p:cNvSpPr txBox="1"/>
          <p:nvPr/>
        </p:nvSpPr>
        <p:spPr>
          <a:xfrm>
            <a:off x="5682700" y="3683925"/>
            <a:ext cx="470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870" name="Google Shape;870;p72"/>
          <p:cNvSpPr txBox="1"/>
          <p:nvPr>
            <p:ph idx="1" type="body"/>
          </p:nvPr>
        </p:nvSpPr>
        <p:spPr>
          <a:xfrm>
            <a:off x="324000" y="606900"/>
            <a:ext cx="8237700" cy="7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these problems on a double number line can make it easier to see the percentage change.</a:t>
            </a:r>
            <a:endParaRPr/>
          </a:p>
        </p:txBody>
      </p:sp>
      <p:grpSp>
        <p:nvGrpSpPr>
          <p:cNvPr id="871" name="Google Shape;871;p72"/>
          <p:cNvGrpSpPr/>
          <p:nvPr/>
        </p:nvGrpSpPr>
        <p:grpSpPr>
          <a:xfrm>
            <a:off x="411575" y="3157913"/>
            <a:ext cx="3846372" cy="613454"/>
            <a:chOff x="2164175" y="2531838"/>
            <a:chExt cx="3846372" cy="1357500"/>
          </a:xfrm>
        </p:grpSpPr>
        <p:grpSp>
          <p:nvGrpSpPr>
            <p:cNvPr id="872" name="Google Shape;872;p72"/>
            <p:cNvGrpSpPr/>
            <p:nvPr/>
          </p:nvGrpSpPr>
          <p:grpSpPr>
            <a:xfrm>
              <a:off x="44927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873" name="Google Shape;873;p7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4" name="Google Shape;874;p7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5" name="Google Shape;875;p72"/>
            <p:cNvGrpSpPr/>
            <p:nvPr/>
          </p:nvGrpSpPr>
          <p:grpSpPr>
            <a:xfrm>
              <a:off x="3654588" y="2726975"/>
              <a:ext cx="63300" cy="1000200"/>
              <a:chOff x="1475113" y="3767150"/>
              <a:chExt cx="63300" cy="1000200"/>
            </a:xfrm>
          </p:grpSpPr>
          <p:cxnSp>
            <p:nvCxnSpPr>
              <p:cNvPr id="876" name="Google Shape;876;p72"/>
              <p:cNvCxnSpPr/>
              <p:nvPr/>
            </p:nvCxnSpPr>
            <p:spPr>
              <a:xfrm>
                <a:off x="15087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77" name="Google Shape;877;p72"/>
              <p:cNvSpPr/>
              <p:nvPr/>
            </p:nvSpPr>
            <p:spPr>
              <a:xfrm>
                <a:off x="14751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8" name="Google Shape;878;p72"/>
            <p:cNvGrpSpPr/>
            <p:nvPr/>
          </p:nvGrpSpPr>
          <p:grpSpPr>
            <a:xfrm>
              <a:off x="2164175" y="2531838"/>
              <a:ext cx="3846372" cy="1357500"/>
              <a:chOff x="2164175" y="2531838"/>
              <a:chExt cx="3846372" cy="1357500"/>
            </a:xfrm>
          </p:grpSpPr>
          <p:grpSp>
            <p:nvGrpSpPr>
              <p:cNvPr id="879" name="Google Shape;879;p72"/>
              <p:cNvGrpSpPr/>
              <p:nvPr/>
            </p:nvGrpSpPr>
            <p:grpSpPr>
              <a:xfrm>
                <a:off x="2164175" y="2531838"/>
                <a:ext cx="3074500" cy="1357500"/>
                <a:chOff x="441900" y="3572013"/>
                <a:chExt cx="3074500" cy="1357500"/>
              </a:xfrm>
            </p:grpSpPr>
            <p:cxnSp>
              <p:nvCxnSpPr>
                <p:cNvPr id="880" name="Google Shape;880;p72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81" name="Google Shape;881;p72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882" name="Google Shape;882;p72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883" name="Google Shape;883;p72"/>
              <p:cNvSpPr txBox="1"/>
              <p:nvPr/>
            </p:nvSpPr>
            <p:spPr>
              <a:xfrm>
                <a:off x="5291447" y="2623863"/>
                <a:ext cx="6837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%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884" name="Google Shape;884;p72"/>
              <p:cNvSpPr txBox="1"/>
              <p:nvPr/>
            </p:nvSpPr>
            <p:spPr>
              <a:xfrm>
                <a:off x="5291447" y="3231188"/>
                <a:ext cx="7191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Score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885" name="Google Shape;885;p72"/>
          <p:cNvSpPr txBox="1"/>
          <p:nvPr/>
        </p:nvSpPr>
        <p:spPr>
          <a:xfrm>
            <a:off x="2565080" y="2998800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2"/>
          <p:cNvSpPr txBox="1"/>
          <p:nvPr/>
        </p:nvSpPr>
        <p:spPr>
          <a:xfrm>
            <a:off x="1705603" y="2998725"/>
            <a:ext cx="4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2"/>
          <p:cNvSpPr txBox="1"/>
          <p:nvPr/>
        </p:nvSpPr>
        <p:spPr>
          <a:xfrm>
            <a:off x="2557974" y="36845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2"/>
          <p:cNvSpPr/>
          <p:nvPr/>
        </p:nvSpPr>
        <p:spPr>
          <a:xfrm flipH="1" rot="10800000">
            <a:off x="1900923" y="3887150"/>
            <a:ext cx="896700" cy="234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2"/>
          <p:cNvSpPr txBox="1"/>
          <p:nvPr/>
        </p:nvSpPr>
        <p:spPr>
          <a:xfrm flipH="1">
            <a:off x="2126863" y="4169578"/>
            <a:ext cx="5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2"/>
          <p:cNvSpPr txBox="1"/>
          <p:nvPr/>
        </p:nvSpPr>
        <p:spPr>
          <a:xfrm>
            <a:off x="1790477" y="36845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2"/>
          <p:cNvSpPr txBox="1"/>
          <p:nvPr/>
        </p:nvSpPr>
        <p:spPr>
          <a:xfrm>
            <a:off x="2718506" y="2998800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2"/>
          <p:cNvSpPr txBox="1"/>
          <p:nvPr/>
        </p:nvSpPr>
        <p:spPr>
          <a:xfrm>
            <a:off x="323997" y="1391400"/>
            <a:ext cx="6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2"/>
          <p:cNvSpPr txBox="1"/>
          <p:nvPr/>
        </p:nvSpPr>
        <p:spPr>
          <a:xfrm>
            <a:off x="4983575" y="1391400"/>
            <a:ext cx="8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4" name="Google Shape;894;p72"/>
          <p:cNvSpPr txBox="1"/>
          <p:nvPr/>
        </p:nvSpPr>
        <p:spPr>
          <a:xfrm>
            <a:off x="354226" y="1765775"/>
            <a:ext cx="809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 will be the original as we want to know what percentage of the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original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 increase is.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0}{80}&quot;&gt;&lt;mfrac&gt;&lt;mn&gt;120&lt;/mn&gt;&lt;mn&gt;80&lt;/mn&gt;&lt;/mfrac&gt;&lt;/math&gt;" id="895" name="Google Shape;895;p72" title="120 over 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3635" y="4169573"/>
            <a:ext cx="256200" cy="3267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6" name="Google Shape;896;p72"/>
          <p:cNvGrpSpPr/>
          <p:nvPr/>
        </p:nvGrpSpPr>
        <p:grpSpPr>
          <a:xfrm>
            <a:off x="1900900" y="2430621"/>
            <a:ext cx="896700" cy="669429"/>
            <a:chOff x="1900900" y="2659221"/>
            <a:chExt cx="896700" cy="669429"/>
          </a:xfrm>
        </p:grpSpPr>
        <p:sp>
          <p:nvSpPr>
            <p:cNvPr id="897" name="Google Shape;897;p72"/>
            <p:cNvSpPr/>
            <p:nvPr/>
          </p:nvSpPr>
          <p:spPr>
            <a:xfrm>
              <a:off x="1900900" y="3030750"/>
              <a:ext cx="896700" cy="297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72"/>
            <p:cNvSpPr txBox="1"/>
            <p:nvPr/>
          </p:nvSpPr>
          <p:spPr>
            <a:xfrm>
              <a:off x="2141199" y="2664092"/>
              <a:ext cx="42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120}{80}&quot;&gt;&lt;mfrac&gt;&lt;mn&gt;120&lt;/mn&gt;&lt;mn&gt;80&lt;/mn&gt;&lt;/mfrac&gt;&lt;/math&gt;" id="899" name="Google Shape;899;p72" title="120 over 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08610" y="2659221"/>
              <a:ext cx="256200" cy="326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0" name="Google Shape;900;p72"/>
          <p:cNvSpPr txBox="1"/>
          <p:nvPr/>
        </p:nvSpPr>
        <p:spPr>
          <a:xfrm>
            <a:off x="354226" y="4508975"/>
            <a:ext cx="80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are calculating the percentage change.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72"/>
          <p:cNvCxnSpPr/>
          <p:nvPr/>
        </p:nvCxnSpPr>
        <p:spPr>
          <a:xfrm>
            <a:off x="1944033" y="2932331"/>
            <a:ext cx="838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02" name="Google Shape;902;p72"/>
          <p:cNvSpPr txBox="1"/>
          <p:nvPr/>
        </p:nvSpPr>
        <p:spPr>
          <a:xfrm>
            <a:off x="2122445" y="2655125"/>
            <a:ext cx="50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908" name="Google Shape;908;p73"/>
          <p:cNvSpPr txBox="1"/>
          <p:nvPr>
            <p:ph idx="1" type="body"/>
          </p:nvPr>
        </p:nvSpPr>
        <p:spPr>
          <a:xfrm>
            <a:off x="324000" y="606900"/>
            <a:ext cx="8237700" cy="7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Representing these problems on a double number line can make it easier to see the percentage change.</a:t>
            </a:r>
            <a:endParaRPr/>
          </a:p>
        </p:txBody>
      </p:sp>
      <p:grpSp>
        <p:nvGrpSpPr>
          <p:cNvPr id="909" name="Google Shape;909;p73"/>
          <p:cNvGrpSpPr/>
          <p:nvPr/>
        </p:nvGrpSpPr>
        <p:grpSpPr>
          <a:xfrm>
            <a:off x="4907375" y="3157913"/>
            <a:ext cx="3846372" cy="613454"/>
            <a:chOff x="2164175" y="2531838"/>
            <a:chExt cx="3846372" cy="1357500"/>
          </a:xfrm>
        </p:grpSpPr>
        <p:grpSp>
          <p:nvGrpSpPr>
            <p:cNvPr id="910" name="Google Shape;910;p73"/>
            <p:cNvGrpSpPr/>
            <p:nvPr/>
          </p:nvGrpSpPr>
          <p:grpSpPr>
            <a:xfrm>
              <a:off x="44927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911" name="Google Shape;911;p7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2" name="Google Shape;912;p7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3" name="Google Shape;913;p73"/>
            <p:cNvGrpSpPr/>
            <p:nvPr/>
          </p:nvGrpSpPr>
          <p:grpSpPr>
            <a:xfrm>
              <a:off x="3502188" y="2726975"/>
              <a:ext cx="63300" cy="1000200"/>
              <a:chOff x="1322713" y="3767150"/>
              <a:chExt cx="63300" cy="1000200"/>
            </a:xfrm>
          </p:grpSpPr>
          <p:cxnSp>
            <p:nvCxnSpPr>
              <p:cNvPr id="914" name="Google Shape;914;p73"/>
              <p:cNvCxnSpPr/>
              <p:nvPr/>
            </p:nvCxnSpPr>
            <p:spPr>
              <a:xfrm>
                <a:off x="1356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15" name="Google Shape;915;p73"/>
              <p:cNvSpPr/>
              <p:nvPr/>
            </p:nvSpPr>
            <p:spPr>
              <a:xfrm>
                <a:off x="1322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16" name="Google Shape;916;p73"/>
            <p:cNvGrpSpPr/>
            <p:nvPr/>
          </p:nvGrpSpPr>
          <p:grpSpPr>
            <a:xfrm>
              <a:off x="2164175" y="2531838"/>
              <a:ext cx="3846372" cy="1357500"/>
              <a:chOff x="2164175" y="2531838"/>
              <a:chExt cx="3846372" cy="1357500"/>
            </a:xfrm>
          </p:grpSpPr>
          <p:grpSp>
            <p:nvGrpSpPr>
              <p:cNvPr id="917" name="Google Shape;917;p73"/>
              <p:cNvGrpSpPr/>
              <p:nvPr/>
            </p:nvGrpSpPr>
            <p:grpSpPr>
              <a:xfrm>
                <a:off x="2164175" y="2531838"/>
                <a:ext cx="3074500" cy="1357500"/>
                <a:chOff x="441900" y="3572013"/>
                <a:chExt cx="3074500" cy="1357500"/>
              </a:xfrm>
            </p:grpSpPr>
            <p:cxnSp>
              <p:nvCxnSpPr>
                <p:cNvPr id="918" name="Google Shape;918;p73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19" name="Google Shape;919;p73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920" name="Google Shape;920;p73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921" name="Google Shape;921;p73"/>
              <p:cNvSpPr txBox="1"/>
              <p:nvPr/>
            </p:nvSpPr>
            <p:spPr>
              <a:xfrm>
                <a:off x="5291447" y="2623863"/>
                <a:ext cx="6837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%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22" name="Google Shape;922;p73"/>
              <p:cNvSpPr txBox="1"/>
              <p:nvPr/>
            </p:nvSpPr>
            <p:spPr>
              <a:xfrm>
                <a:off x="5291447" y="3231188"/>
                <a:ext cx="7191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Score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23" name="Google Shape;923;p73"/>
          <p:cNvSpPr txBox="1"/>
          <p:nvPr/>
        </p:nvSpPr>
        <p:spPr>
          <a:xfrm>
            <a:off x="7060880" y="2998800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3"/>
          <p:cNvSpPr txBox="1"/>
          <p:nvPr/>
        </p:nvSpPr>
        <p:spPr>
          <a:xfrm>
            <a:off x="6034834" y="2998725"/>
            <a:ext cx="4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3"/>
          <p:cNvSpPr txBox="1"/>
          <p:nvPr/>
        </p:nvSpPr>
        <p:spPr>
          <a:xfrm>
            <a:off x="7110453" y="36845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3"/>
          <p:cNvSpPr/>
          <p:nvPr/>
        </p:nvSpPr>
        <p:spPr>
          <a:xfrm flipH="1" rot="10800000">
            <a:off x="6396723" y="3887150"/>
            <a:ext cx="896700" cy="2340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73"/>
          <p:cNvSpPr txBox="1"/>
          <p:nvPr/>
        </p:nvSpPr>
        <p:spPr>
          <a:xfrm flipH="1">
            <a:off x="6622663" y="4169578"/>
            <a:ext cx="54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3"/>
          <p:cNvSpPr txBox="1"/>
          <p:nvPr/>
        </p:nvSpPr>
        <p:spPr>
          <a:xfrm>
            <a:off x="6126792" y="36845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73"/>
          <p:cNvSpPr txBox="1"/>
          <p:nvPr/>
        </p:nvSpPr>
        <p:spPr>
          <a:xfrm>
            <a:off x="7200000" y="2998800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3"/>
          <p:cNvSpPr txBox="1"/>
          <p:nvPr/>
        </p:nvSpPr>
        <p:spPr>
          <a:xfrm>
            <a:off x="323997" y="1391400"/>
            <a:ext cx="68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73"/>
          <p:cNvSpPr txBox="1"/>
          <p:nvPr/>
        </p:nvSpPr>
        <p:spPr>
          <a:xfrm>
            <a:off x="4983575" y="1391400"/>
            <a:ext cx="896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3"/>
          <p:cNvSpPr txBox="1"/>
          <p:nvPr/>
        </p:nvSpPr>
        <p:spPr>
          <a:xfrm>
            <a:off x="354226" y="1765775"/>
            <a:ext cx="809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 will be the original as we want to know what percentage of the original the increase is.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3" name="Google Shape;933;p73"/>
          <p:cNvGrpSpPr/>
          <p:nvPr/>
        </p:nvGrpSpPr>
        <p:grpSpPr>
          <a:xfrm>
            <a:off x="6396700" y="2435492"/>
            <a:ext cx="896700" cy="664558"/>
            <a:chOff x="1900900" y="2664092"/>
            <a:chExt cx="896700" cy="664558"/>
          </a:xfrm>
        </p:grpSpPr>
        <p:sp>
          <p:nvSpPr>
            <p:cNvPr id="934" name="Google Shape;934;p73"/>
            <p:cNvSpPr/>
            <p:nvPr/>
          </p:nvSpPr>
          <p:spPr>
            <a:xfrm>
              <a:off x="1900900" y="3030750"/>
              <a:ext cx="896700" cy="2979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73"/>
            <p:cNvSpPr txBox="1"/>
            <p:nvPr/>
          </p:nvSpPr>
          <p:spPr>
            <a:xfrm>
              <a:off x="2141199" y="2664092"/>
              <a:ext cx="423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× 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6" name="Google Shape;936;p73"/>
          <p:cNvSpPr txBox="1"/>
          <p:nvPr/>
        </p:nvSpPr>
        <p:spPr>
          <a:xfrm>
            <a:off x="354226" y="4508975"/>
            <a:ext cx="8097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are calculating the percentage change.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7" name="Google Shape;937;p73"/>
          <p:cNvCxnSpPr/>
          <p:nvPr/>
        </p:nvCxnSpPr>
        <p:spPr>
          <a:xfrm>
            <a:off x="6248725" y="2932325"/>
            <a:ext cx="1029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38" name="Google Shape;938;p73"/>
          <p:cNvSpPr txBox="1"/>
          <p:nvPr/>
        </p:nvSpPr>
        <p:spPr>
          <a:xfrm>
            <a:off x="6568652" y="2655125"/>
            <a:ext cx="50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9" name="Google Shape;939;p73"/>
          <p:cNvGrpSpPr/>
          <p:nvPr/>
        </p:nvGrpSpPr>
        <p:grpSpPr>
          <a:xfrm>
            <a:off x="411575" y="3157913"/>
            <a:ext cx="3846372" cy="613454"/>
            <a:chOff x="2164175" y="2531838"/>
            <a:chExt cx="3846372" cy="1357500"/>
          </a:xfrm>
        </p:grpSpPr>
        <p:grpSp>
          <p:nvGrpSpPr>
            <p:cNvPr id="940" name="Google Shape;940;p73"/>
            <p:cNvGrpSpPr/>
            <p:nvPr/>
          </p:nvGrpSpPr>
          <p:grpSpPr>
            <a:xfrm>
              <a:off x="4492788" y="2726975"/>
              <a:ext cx="63300" cy="1000200"/>
              <a:chOff x="941713" y="3767150"/>
              <a:chExt cx="63300" cy="1000200"/>
            </a:xfrm>
          </p:grpSpPr>
          <p:cxnSp>
            <p:nvCxnSpPr>
              <p:cNvPr id="941" name="Google Shape;941;p73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2" name="Google Shape;942;p73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3" name="Google Shape;943;p73"/>
            <p:cNvGrpSpPr/>
            <p:nvPr/>
          </p:nvGrpSpPr>
          <p:grpSpPr>
            <a:xfrm>
              <a:off x="3654588" y="2726975"/>
              <a:ext cx="63300" cy="1000200"/>
              <a:chOff x="1475113" y="3767150"/>
              <a:chExt cx="63300" cy="1000200"/>
            </a:xfrm>
          </p:grpSpPr>
          <p:cxnSp>
            <p:nvCxnSpPr>
              <p:cNvPr id="944" name="Google Shape;944;p73"/>
              <p:cNvCxnSpPr/>
              <p:nvPr/>
            </p:nvCxnSpPr>
            <p:spPr>
              <a:xfrm>
                <a:off x="15087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45" name="Google Shape;945;p73"/>
              <p:cNvSpPr/>
              <p:nvPr/>
            </p:nvSpPr>
            <p:spPr>
              <a:xfrm>
                <a:off x="14751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6" name="Google Shape;946;p73"/>
            <p:cNvGrpSpPr/>
            <p:nvPr/>
          </p:nvGrpSpPr>
          <p:grpSpPr>
            <a:xfrm>
              <a:off x="2164175" y="2531838"/>
              <a:ext cx="3846372" cy="1357500"/>
              <a:chOff x="2164175" y="2531838"/>
              <a:chExt cx="3846372" cy="1357500"/>
            </a:xfrm>
          </p:grpSpPr>
          <p:grpSp>
            <p:nvGrpSpPr>
              <p:cNvPr id="947" name="Google Shape;947;p73"/>
              <p:cNvGrpSpPr/>
              <p:nvPr/>
            </p:nvGrpSpPr>
            <p:grpSpPr>
              <a:xfrm>
                <a:off x="2164175" y="2531838"/>
                <a:ext cx="3074500" cy="1357500"/>
                <a:chOff x="441900" y="3572013"/>
                <a:chExt cx="3074500" cy="1357500"/>
              </a:xfrm>
            </p:grpSpPr>
            <p:cxnSp>
              <p:nvCxnSpPr>
                <p:cNvPr id="948" name="Google Shape;948;p73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49" name="Google Shape;949;p73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950" name="Google Shape;950;p73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951" name="Google Shape;951;p73"/>
              <p:cNvSpPr txBox="1"/>
              <p:nvPr/>
            </p:nvSpPr>
            <p:spPr>
              <a:xfrm>
                <a:off x="5291447" y="2623863"/>
                <a:ext cx="6837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%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52" name="Google Shape;952;p73"/>
              <p:cNvSpPr txBox="1"/>
              <p:nvPr/>
            </p:nvSpPr>
            <p:spPr>
              <a:xfrm>
                <a:off x="5291447" y="3231188"/>
                <a:ext cx="719100" cy="61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Score</a:t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953" name="Google Shape;953;p73"/>
          <p:cNvSpPr txBox="1"/>
          <p:nvPr/>
        </p:nvSpPr>
        <p:spPr>
          <a:xfrm>
            <a:off x="2565080" y="2998800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3"/>
          <p:cNvSpPr txBox="1"/>
          <p:nvPr/>
        </p:nvSpPr>
        <p:spPr>
          <a:xfrm>
            <a:off x="1705603" y="2998725"/>
            <a:ext cx="4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3"/>
          <p:cNvSpPr txBox="1"/>
          <p:nvPr/>
        </p:nvSpPr>
        <p:spPr>
          <a:xfrm>
            <a:off x="2557974" y="3684525"/>
            <a:ext cx="423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3"/>
          <p:cNvSpPr txBox="1"/>
          <p:nvPr/>
        </p:nvSpPr>
        <p:spPr>
          <a:xfrm>
            <a:off x="1790477" y="3684525"/>
            <a:ext cx="311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7" name="Google Shape;957;p73"/>
          <p:cNvCxnSpPr/>
          <p:nvPr/>
        </p:nvCxnSpPr>
        <p:spPr>
          <a:xfrm>
            <a:off x="1944033" y="2932331"/>
            <a:ext cx="838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58" name="Google Shape;958;p73"/>
          <p:cNvSpPr txBox="1"/>
          <p:nvPr/>
        </p:nvSpPr>
        <p:spPr>
          <a:xfrm>
            <a:off x="2122445" y="2655125"/>
            <a:ext cx="509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80}{50}&quot;&gt;&lt;mfrac&gt;&lt;mn&gt;80&lt;/mn&gt;&lt;mn&gt;50&lt;/mn&gt;&lt;/mfrac&gt;&lt;/math&gt;" id="959" name="Google Shape;959;p73" title="80 over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375" y="2397876"/>
            <a:ext cx="179098" cy="32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0}{50}&quot;&gt;&lt;mfrac&gt;&lt;mn&gt;80&lt;/mn&gt;&lt;mn&gt;50&lt;/mn&gt;&lt;/mfrac&gt;&lt;/math&gt;" id="960" name="Google Shape;960;p73" title="80 over 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5500" y="4151701"/>
            <a:ext cx="179098" cy="326725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3"/>
          <p:cNvSpPr txBox="1"/>
          <p:nvPr/>
        </p:nvSpPr>
        <p:spPr>
          <a:xfrm>
            <a:off x="354226" y="4280375"/>
            <a:ext cx="809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now see that as a percentage of their original scores, Andeep’s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improvement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was greater.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967" name="Google Shape;967;p74"/>
          <p:cNvSpPr txBox="1"/>
          <p:nvPr>
            <p:ph idx="1" type="body"/>
          </p:nvPr>
        </p:nvSpPr>
        <p:spPr>
          <a:xfrm>
            <a:off x="324000" y="59273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also calculate percentage change using a ratio table.</a:t>
            </a:r>
            <a:endParaRPr sz="2000"/>
          </a:p>
        </p:txBody>
      </p:sp>
      <p:graphicFrame>
        <p:nvGraphicFramePr>
          <p:cNvPr id="968" name="Google Shape;968;p74"/>
          <p:cNvGraphicFramePr/>
          <p:nvPr/>
        </p:nvGraphicFramePr>
        <p:xfrm>
          <a:off x="2762250" y="267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(kg)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9" name="Google Shape;969;p74"/>
          <p:cNvSpPr txBox="1"/>
          <p:nvPr>
            <p:ph idx="1" type="body"/>
          </p:nvPr>
        </p:nvSpPr>
        <p:spPr>
          <a:xfrm>
            <a:off x="324000" y="983251"/>
            <a:ext cx="84960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Alex’s cat has been to the vet for her annual check up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Last year her mass was 5.5 kg, this year it is 4.4 kg.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percentage change in her mass?</a:t>
            </a:r>
            <a:endParaRPr sz="2000"/>
          </a:p>
        </p:txBody>
      </p:sp>
      <p:pic>
        <p:nvPicPr>
          <p:cNvPr id="970" name="Google Shape;970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0224" y="924675"/>
            <a:ext cx="1189775" cy="1453625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4"/>
          <p:cNvSpPr txBox="1"/>
          <p:nvPr/>
        </p:nvSpPr>
        <p:spPr>
          <a:xfrm>
            <a:off x="340056" y="1992171"/>
            <a:ext cx="727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 will be the original as we want to know what percentage of her original mass she has lost.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2" name="Google Shape;972;p74"/>
          <p:cNvGraphicFramePr/>
          <p:nvPr/>
        </p:nvGraphicFramePr>
        <p:xfrm>
          <a:off x="2762250" y="267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(kg)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3" name="Google Shape;973;p74"/>
          <p:cNvGraphicFramePr/>
          <p:nvPr/>
        </p:nvGraphicFramePr>
        <p:xfrm>
          <a:off x="2762250" y="267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(kg)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4" name="Google Shape;974;p74"/>
          <p:cNvSpPr/>
          <p:nvPr/>
        </p:nvSpPr>
        <p:spPr>
          <a:xfrm rot="5400000">
            <a:off x="6311250" y="3256950"/>
            <a:ext cx="439800" cy="3516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74"/>
          <p:cNvSpPr txBox="1"/>
          <p:nvPr/>
        </p:nvSpPr>
        <p:spPr>
          <a:xfrm>
            <a:off x="6832600" y="3171150"/>
            <a:ext cx="93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0.8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6" name="Google Shape;976;p74"/>
          <p:cNvGrpSpPr/>
          <p:nvPr/>
        </p:nvGrpSpPr>
        <p:grpSpPr>
          <a:xfrm>
            <a:off x="1651000" y="3171150"/>
            <a:ext cx="1096300" cy="523200"/>
            <a:chOff x="1651000" y="3990300"/>
            <a:chExt cx="1096300" cy="523200"/>
          </a:xfrm>
        </p:grpSpPr>
        <p:sp>
          <p:nvSpPr>
            <p:cNvPr id="977" name="Google Shape;977;p74"/>
            <p:cNvSpPr/>
            <p:nvPr/>
          </p:nvSpPr>
          <p:spPr>
            <a:xfrm flipH="1" rot="-5400000">
              <a:off x="2367050" y="4091539"/>
              <a:ext cx="439800" cy="3207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74"/>
            <p:cNvSpPr txBox="1"/>
            <p:nvPr/>
          </p:nvSpPr>
          <p:spPr>
            <a:xfrm>
              <a:off x="1651000" y="3990300"/>
              <a:ext cx="930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0.8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9" name="Google Shape;979;p74"/>
          <p:cNvSpPr txBox="1"/>
          <p:nvPr/>
        </p:nvSpPr>
        <p:spPr>
          <a:xfrm>
            <a:off x="354226" y="3918425"/>
            <a:ext cx="8097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are calculating the percentage change.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change in percentage is 20%.  Alex’s cat has lost 20% of her original mass.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985" name="Google Shape;985;p75"/>
          <p:cNvSpPr txBox="1"/>
          <p:nvPr>
            <p:ph idx="1" type="body"/>
          </p:nvPr>
        </p:nvSpPr>
        <p:spPr>
          <a:xfrm>
            <a:off x="324000" y="759300"/>
            <a:ext cx="82377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Spot the mistake.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cost of a house increases from £260 000 to £291 200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is the percentage increase in price?</a:t>
            </a:r>
            <a:endParaRPr/>
          </a:p>
        </p:txBody>
      </p:sp>
      <p:graphicFrame>
        <p:nvGraphicFramePr>
          <p:cNvPr id="986" name="Google Shape;986;p75"/>
          <p:cNvGraphicFramePr/>
          <p:nvPr/>
        </p:nvGraphicFramePr>
        <p:xfrm>
          <a:off x="2762250" y="2290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(£)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260 000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291 200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7" name="Google Shape;987;p75"/>
          <p:cNvSpPr/>
          <p:nvPr/>
        </p:nvSpPr>
        <p:spPr>
          <a:xfrm rot="5400000">
            <a:off x="6311250" y="2875950"/>
            <a:ext cx="439800" cy="351600"/>
          </a:xfrm>
          <a:prstGeom prst="arc">
            <a:avLst>
              <a:gd fmla="val 10729459" name="adj1"/>
              <a:gd fmla="val 194289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75"/>
          <p:cNvSpPr txBox="1"/>
          <p:nvPr/>
        </p:nvSpPr>
        <p:spPr>
          <a:xfrm>
            <a:off x="6832600" y="2790150"/>
            <a:ext cx="930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1.12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9" name="Google Shape;989;p75"/>
          <p:cNvGrpSpPr/>
          <p:nvPr/>
        </p:nvGrpSpPr>
        <p:grpSpPr>
          <a:xfrm>
            <a:off x="1498600" y="2790150"/>
            <a:ext cx="1248700" cy="523200"/>
            <a:chOff x="1498600" y="3990300"/>
            <a:chExt cx="1248700" cy="523200"/>
          </a:xfrm>
        </p:grpSpPr>
        <p:sp>
          <p:nvSpPr>
            <p:cNvPr id="990" name="Google Shape;990;p75"/>
            <p:cNvSpPr/>
            <p:nvPr/>
          </p:nvSpPr>
          <p:spPr>
            <a:xfrm flipH="1" rot="-5400000">
              <a:off x="2367050" y="4091539"/>
              <a:ext cx="439800" cy="320700"/>
            </a:xfrm>
            <a:prstGeom prst="arc">
              <a:avLst>
                <a:gd fmla="val 10729459" name="adj1"/>
                <a:gd fmla="val 194289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75"/>
            <p:cNvSpPr txBox="1"/>
            <p:nvPr/>
          </p:nvSpPr>
          <p:spPr>
            <a:xfrm>
              <a:off x="1498600" y="3990300"/>
              <a:ext cx="930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1.12</a:t>
              </a: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2" name="Google Shape;992;p75"/>
          <p:cNvSpPr txBox="1"/>
          <p:nvPr/>
        </p:nvSpPr>
        <p:spPr>
          <a:xfrm>
            <a:off x="355600" y="3628350"/>
            <a:ext cx="446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percentage increase is 112%.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5"/>
          <p:cNvSpPr txBox="1"/>
          <p:nvPr/>
        </p:nvSpPr>
        <p:spPr>
          <a:xfrm>
            <a:off x="355600" y="4133175"/>
            <a:ext cx="8102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percentage increase is 12%.  You need to consider the </a:t>
            </a:r>
            <a:r>
              <a:rPr lang="en-GB" sz="22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difference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in the percentages.  112% − 100% = 12%.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999" name="Google Shape;999;p76"/>
          <p:cNvSpPr txBox="1"/>
          <p:nvPr>
            <p:ph idx="1" type="body"/>
          </p:nvPr>
        </p:nvSpPr>
        <p:spPr>
          <a:xfrm>
            <a:off x="324000" y="606900"/>
            <a:ext cx="82377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Calculate the percentage change from the old to the new values.</a:t>
            </a:r>
            <a:endParaRPr sz="1800"/>
          </a:p>
        </p:txBody>
      </p:sp>
      <p:graphicFrame>
        <p:nvGraphicFramePr>
          <p:cNvPr id="1000" name="Google Shape;1000;p76"/>
          <p:cNvGraphicFramePr/>
          <p:nvPr/>
        </p:nvGraphicFramePr>
        <p:xfrm>
          <a:off x="21695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729150"/>
                <a:gridCol w="729150"/>
                <a:gridCol w="729150"/>
                <a:gridCol w="729150"/>
                <a:gridCol w="729150"/>
                <a:gridCol w="729150"/>
                <a:gridCol w="729150"/>
                <a:gridCol w="729150"/>
                <a:gridCol w="72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1" name="Google Shape;1001;p76"/>
          <p:cNvGraphicFramePr/>
          <p:nvPr/>
        </p:nvGraphicFramePr>
        <p:xfrm>
          <a:off x="371625" y="9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860900"/>
                <a:gridCol w="860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Old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2" name="Google Shape;1002;p76"/>
          <p:cNvSpPr txBox="1"/>
          <p:nvPr>
            <p:ph idx="1" type="body"/>
          </p:nvPr>
        </p:nvSpPr>
        <p:spPr>
          <a:xfrm>
            <a:off x="2152800" y="911700"/>
            <a:ext cx="65910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Shade in the answers in the grid to reveal an image.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Increases are identified by an I and decreases by a D.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7"/>
          <p:cNvSpPr txBox="1"/>
          <p:nvPr>
            <p:ph idx="1" type="body"/>
          </p:nvPr>
        </p:nvSpPr>
        <p:spPr>
          <a:xfrm>
            <a:off x="324000" y="656175"/>
            <a:ext cx="86349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 Below are some items that were bought and sold by a market stall holder.  Rank the items based on the percentage change.</a:t>
            </a:r>
            <a:endParaRPr sz="2100"/>
          </a:p>
        </p:txBody>
      </p:sp>
      <p:sp>
        <p:nvSpPr>
          <p:cNvPr id="1008" name="Google Shape;1008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grpSp>
        <p:nvGrpSpPr>
          <p:cNvPr id="1009" name="Google Shape;1009;p77"/>
          <p:cNvGrpSpPr/>
          <p:nvPr/>
        </p:nvGrpSpPr>
        <p:grpSpPr>
          <a:xfrm>
            <a:off x="571845" y="1460982"/>
            <a:ext cx="535633" cy="971503"/>
            <a:chOff x="3003100" y="2034063"/>
            <a:chExt cx="1329775" cy="2411875"/>
          </a:xfrm>
        </p:grpSpPr>
        <p:pic>
          <p:nvPicPr>
            <p:cNvPr id="1010" name="Google Shape;1010;p77"/>
            <p:cNvPicPr preferRelativeResize="0"/>
            <p:nvPr/>
          </p:nvPicPr>
          <p:blipFill rotWithShape="1">
            <a:blip r:embed="rId3">
              <a:alphaModFix/>
            </a:blip>
            <a:srcRect b="0" l="0" r="21445" t="10136"/>
            <a:stretch/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77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12" name="Google Shape;101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041" y="1379988"/>
            <a:ext cx="863700" cy="12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3" name="Google Shape;1013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922" y="1680028"/>
            <a:ext cx="10766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184" y="1334075"/>
            <a:ext cx="1199350" cy="14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8977" y="1567325"/>
            <a:ext cx="964200" cy="8126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6" name="Google Shape;1016;p77"/>
          <p:cNvGraphicFramePr/>
          <p:nvPr/>
        </p:nvGraphicFramePr>
        <p:xfrm>
          <a:off x="419100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613475"/>
                <a:gridCol w="1781350"/>
                <a:gridCol w="1476700"/>
                <a:gridCol w="2276800"/>
              </a:tblGrid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£105.60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£172.80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1022" name="Google Shape;1022;p78"/>
          <p:cNvSpPr txBox="1"/>
          <p:nvPr>
            <p:ph idx="1" type="body"/>
          </p:nvPr>
        </p:nvSpPr>
        <p:spPr>
          <a:xfrm>
            <a:off x="324000" y="606900"/>
            <a:ext cx="7743600" cy="30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  </a:t>
            </a:r>
            <a:r>
              <a:rPr lang="en-GB" sz="1800"/>
              <a:t>Calculate the percentage change from the old to the new values.</a:t>
            </a:r>
            <a:endParaRPr sz="1800"/>
          </a:p>
        </p:txBody>
      </p:sp>
      <p:graphicFrame>
        <p:nvGraphicFramePr>
          <p:cNvPr id="1023" name="Google Shape;1023;p78"/>
          <p:cNvGraphicFramePr/>
          <p:nvPr/>
        </p:nvGraphicFramePr>
        <p:xfrm>
          <a:off x="2169500" y="162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729150"/>
                <a:gridCol w="729150"/>
                <a:gridCol w="729150"/>
                <a:gridCol w="729150"/>
                <a:gridCol w="729150"/>
                <a:gridCol w="729150"/>
                <a:gridCol w="729150"/>
                <a:gridCol w="729150"/>
                <a:gridCol w="729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4" name="Google Shape;1024;p78"/>
          <p:cNvGraphicFramePr/>
          <p:nvPr/>
        </p:nvGraphicFramePr>
        <p:xfrm>
          <a:off x="371625" y="98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860900"/>
                <a:gridCol w="860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Old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83.64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5" name="Google Shape;1025;p78"/>
          <p:cNvSpPr txBox="1"/>
          <p:nvPr>
            <p:ph idx="1" type="body"/>
          </p:nvPr>
        </p:nvSpPr>
        <p:spPr>
          <a:xfrm>
            <a:off x="2152800" y="911700"/>
            <a:ext cx="6591000" cy="6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Shade in the </a:t>
            </a:r>
            <a:r>
              <a:rPr lang="en-GB" sz="1800"/>
              <a:t>answers in the grid to reveal an image.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Increases are identified by an I and decreases by a D.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9"/>
          <p:cNvSpPr txBox="1"/>
          <p:nvPr>
            <p:ph idx="1" type="body"/>
          </p:nvPr>
        </p:nvSpPr>
        <p:spPr>
          <a:xfrm>
            <a:off x="324000" y="648075"/>
            <a:ext cx="86925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2)  Below are some items that were bought and sold by a market stall holder.  Rank the items based on the </a:t>
            </a:r>
            <a:r>
              <a:rPr lang="en-GB" sz="2100"/>
              <a:t>percentage</a:t>
            </a:r>
            <a:r>
              <a:rPr lang="en-GB" sz="2100"/>
              <a:t> change.</a:t>
            </a:r>
            <a:endParaRPr sz="2100"/>
          </a:p>
        </p:txBody>
      </p:sp>
      <p:sp>
        <p:nvSpPr>
          <p:cNvPr id="1031" name="Google Shape;1031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Finding the percentage change</a:t>
            </a:r>
            <a:endParaRPr/>
          </a:p>
        </p:txBody>
      </p:sp>
      <p:grpSp>
        <p:nvGrpSpPr>
          <p:cNvPr id="1032" name="Google Shape;1032;p79"/>
          <p:cNvGrpSpPr/>
          <p:nvPr/>
        </p:nvGrpSpPr>
        <p:grpSpPr>
          <a:xfrm>
            <a:off x="571845" y="1460982"/>
            <a:ext cx="535633" cy="971503"/>
            <a:chOff x="3003100" y="2034063"/>
            <a:chExt cx="1329775" cy="2411875"/>
          </a:xfrm>
        </p:grpSpPr>
        <p:pic>
          <p:nvPicPr>
            <p:cNvPr id="1033" name="Google Shape;1033;p79"/>
            <p:cNvPicPr preferRelativeResize="0"/>
            <p:nvPr/>
          </p:nvPicPr>
          <p:blipFill rotWithShape="1">
            <a:blip r:embed="rId3">
              <a:alphaModFix/>
            </a:blip>
            <a:srcRect b="0" l="0" r="21445" t="10136"/>
            <a:stretch/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4" name="Google Shape;1034;p79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35" name="Google Shape;103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041" y="1379988"/>
            <a:ext cx="863700" cy="12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922" y="1680028"/>
            <a:ext cx="10766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7" name="Google Shape;1037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184" y="1334075"/>
            <a:ext cx="1199350" cy="14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7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8977" y="1567325"/>
            <a:ext cx="964200" cy="8126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39" name="Google Shape;1039;p79"/>
          <p:cNvGraphicFramePr/>
          <p:nvPr/>
        </p:nvGraphicFramePr>
        <p:xfrm>
          <a:off x="419100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613475"/>
                <a:gridCol w="1781350"/>
                <a:gridCol w="1476700"/>
                <a:gridCol w="2276800"/>
              </a:tblGrid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£105.60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12% decrease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10% increase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£172.80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8% increase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£11.40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5% decrease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15% increase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0" name="Google Shape;1040;p79"/>
          <p:cNvSpPr txBox="1"/>
          <p:nvPr/>
        </p:nvSpPr>
        <p:spPr>
          <a:xfrm>
            <a:off x="355600" y="4476075"/>
            <a:ext cx="8233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Order:  mobile phone, shoes, tablet, sunglasses and cap (or reverse).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1046" name="Google Shape;1046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047" name="Google Shape;1047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pic>
        <p:nvPicPr>
          <p:cNvPr id="1048" name="Google Shape;104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748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054" name="Google Shape;1054;p81"/>
          <p:cNvSpPr txBox="1"/>
          <p:nvPr>
            <p:ph idx="1" type="body"/>
          </p:nvPr>
        </p:nvSpPr>
        <p:spPr>
          <a:xfrm>
            <a:off x="1218500" y="2019300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of £20 = £15</a:t>
            </a:r>
            <a:endParaRPr sz="2000"/>
          </a:p>
        </p:txBody>
      </p:sp>
      <p:sp>
        <p:nvSpPr>
          <p:cNvPr id="1055" name="Google Shape;1055;p81"/>
          <p:cNvSpPr txBox="1"/>
          <p:nvPr>
            <p:ph idx="1" type="body"/>
          </p:nvPr>
        </p:nvSpPr>
        <p:spPr>
          <a:xfrm>
            <a:off x="2271125" y="30090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</a:t>
            </a:r>
            <a:endParaRPr sz="2000"/>
          </a:p>
        </p:txBody>
      </p:sp>
      <p:sp>
        <p:nvSpPr>
          <p:cNvPr id="1056" name="Google Shape;1056;p81"/>
          <p:cNvSpPr txBox="1"/>
          <p:nvPr>
            <p:ph idx="1" type="body"/>
          </p:nvPr>
        </p:nvSpPr>
        <p:spPr>
          <a:xfrm>
            <a:off x="1349733" y="24857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× £20 = £15</a:t>
            </a:r>
            <a:endParaRPr sz="2000"/>
          </a:p>
        </p:txBody>
      </p:sp>
      <p:sp>
        <p:nvSpPr>
          <p:cNvPr id="1057" name="Google Shape;1057;p81"/>
          <p:cNvSpPr/>
          <p:nvPr/>
        </p:nvSpPr>
        <p:spPr>
          <a:xfrm>
            <a:off x="1580665" y="2013950"/>
            <a:ext cx="361200" cy="320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8" name="Google Shape;1058;p81"/>
          <p:cNvGrpSpPr/>
          <p:nvPr/>
        </p:nvGrpSpPr>
        <p:grpSpPr>
          <a:xfrm>
            <a:off x="1963817" y="2260309"/>
            <a:ext cx="3047983" cy="662516"/>
            <a:chOff x="4145042" y="2888959"/>
            <a:chExt cx="3047983" cy="662516"/>
          </a:xfrm>
        </p:grpSpPr>
        <p:sp>
          <p:nvSpPr>
            <p:cNvPr id="1059" name="Google Shape;1059;p81"/>
            <p:cNvSpPr txBox="1"/>
            <p:nvPr/>
          </p:nvSpPr>
          <p:spPr>
            <a:xfrm>
              <a:off x="4713225" y="2997375"/>
              <a:ext cx="2479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‘of’ can be exchanged for multiplication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0" name="Google Shape;1060;p81"/>
            <p:cNvSpPr/>
            <p:nvPr/>
          </p:nvSpPr>
          <p:spPr>
            <a:xfrm rot="-8822636">
              <a:off x="4172966" y="2996768"/>
              <a:ext cx="467651" cy="24098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61" name="Google Shape;1061;p81"/>
          <p:cNvSpPr txBox="1"/>
          <p:nvPr/>
        </p:nvSpPr>
        <p:spPr>
          <a:xfrm>
            <a:off x="2379600" y="2854264"/>
            <a:ext cx="24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rearrange to find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1"/>
          <p:cNvSpPr txBox="1"/>
          <p:nvPr>
            <p:ph idx="1" type="body"/>
          </p:nvPr>
        </p:nvSpPr>
        <p:spPr>
          <a:xfrm>
            <a:off x="2255850" y="3451712"/>
            <a:ext cx="25632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0.75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2000"/>
              <a:t>as a %</a:t>
            </a:r>
            <a:r>
              <a:rPr lang="en-GB" sz="2000"/>
              <a:t> = 0.75 × 100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= 75%</a:t>
            </a:r>
            <a:endParaRPr sz="2000"/>
          </a:p>
        </p:txBody>
      </p:sp>
      <p:sp>
        <p:nvSpPr>
          <p:cNvPr id="1063" name="Google Shape;1063;p81"/>
          <p:cNvSpPr txBox="1"/>
          <p:nvPr>
            <p:ph idx="1" type="body"/>
          </p:nvPr>
        </p:nvSpPr>
        <p:spPr>
          <a:xfrm>
            <a:off x="324000" y="606900"/>
            <a:ext cx="82377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 have both bought a t-shirt in a sale.  They know the original cost and how much they paid.  Who got the best </a:t>
            </a:r>
            <a:r>
              <a:rPr lang="en-GB" sz="1800"/>
              <a:t>percentage</a:t>
            </a:r>
            <a:r>
              <a:rPr lang="en-GB" sz="1800"/>
              <a:t> discount?  </a:t>
            </a:r>
            <a:endParaRPr sz="1800"/>
          </a:p>
        </p:txBody>
      </p:sp>
      <p:pic>
        <p:nvPicPr>
          <p:cNvPr id="1064" name="Google Shape;106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16048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81"/>
          <p:cNvSpPr txBox="1"/>
          <p:nvPr/>
        </p:nvSpPr>
        <p:spPr>
          <a:xfrm>
            <a:off x="309550" y="2845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6" name="Google Shape;1066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1050" y="14634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81"/>
          <p:cNvSpPr txBox="1"/>
          <p:nvPr/>
        </p:nvSpPr>
        <p:spPr>
          <a:xfrm>
            <a:off x="78533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8" name="Google Shape;1068;p81"/>
          <p:cNvGrpSpPr/>
          <p:nvPr/>
        </p:nvGrpSpPr>
        <p:grpSpPr>
          <a:xfrm>
            <a:off x="5698100" y="1237550"/>
            <a:ext cx="2107575" cy="895750"/>
            <a:chOff x="4026964" y="2304351"/>
            <a:chExt cx="3702697" cy="895750"/>
          </a:xfrm>
        </p:grpSpPr>
        <p:pic>
          <p:nvPicPr>
            <p:cNvPr id="1069" name="Google Shape;1069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026964" y="2304351"/>
              <a:ext cx="3702697" cy="89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81"/>
            <p:cNvSpPr txBox="1"/>
            <p:nvPr/>
          </p:nvSpPr>
          <p:spPr>
            <a:xfrm>
              <a:off x="4214947" y="2444751"/>
              <a:ext cx="3244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Mine was £30 and I paid £24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1" name="Google Shape;1071;p81"/>
          <p:cNvGrpSpPr/>
          <p:nvPr/>
        </p:nvGrpSpPr>
        <p:grpSpPr>
          <a:xfrm>
            <a:off x="1532471" y="1100680"/>
            <a:ext cx="1976920" cy="831274"/>
            <a:chOff x="1684801" y="2624750"/>
            <a:chExt cx="1651149" cy="972250"/>
          </a:xfrm>
        </p:grpSpPr>
        <p:pic>
          <p:nvPicPr>
            <p:cNvPr id="1072" name="Google Shape;1072;p8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684801" y="2624750"/>
              <a:ext cx="1651149" cy="97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81"/>
            <p:cNvSpPr txBox="1"/>
            <p:nvPr/>
          </p:nvSpPr>
          <p:spPr>
            <a:xfrm>
              <a:off x="1843750" y="2782395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Mine was £20 and I paid £15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5}{20}&quot;&gt;&lt;mfrac&gt;&lt;mn&gt;15&lt;/mn&gt;&lt;mn&gt;20&lt;/mn&gt;&lt;/mfrac&gt;&lt;/math&gt;" id="1074" name="Google Shape;1074;p81" title="15 over 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3138" y="2964763"/>
            <a:ext cx="279325" cy="5095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5" name="Google Shape;1075;p81"/>
          <p:cNvGrpSpPr/>
          <p:nvPr/>
        </p:nvGrpSpPr>
        <p:grpSpPr>
          <a:xfrm>
            <a:off x="3229843" y="3490409"/>
            <a:ext cx="3599357" cy="303600"/>
            <a:chOff x="3887068" y="2823659"/>
            <a:chExt cx="3599357" cy="303600"/>
          </a:xfrm>
        </p:grpSpPr>
        <p:sp>
          <p:nvSpPr>
            <p:cNvPr id="1076" name="Google Shape;1076;p81"/>
            <p:cNvSpPr txBox="1"/>
            <p:nvPr/>
          </p:nvSpPr>
          <p:spPr>
            <a:xfrm>
              <a:off x="4675125" y="2844975"/>
              <a:ext cx="28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convert to a percentage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81"/>
            <p:cNvSpPr/>
            <p:nvPr/>
          </p:nvSpPr>
          <p:spPr>
            <a:xfrm rot="-10458955">
              <a:off x="3897482" y="2855009"/>
              <a:ext cx="645172" cy="24089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78" name="Google Shape;1078;p81"/>
          <p:cNvSpPr txBox="1"/>
          <p:nvPr/>
        </p:nvSpPr>
        <p:spPr>
          <a:xfrm>
            <a:off x="5141225" y="3840625"/>
            <a:ext cx="340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£15 is 75% of 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original price.  Therefore, Aisha had a 25% discount on her t-shirt.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084" name="Google Shape;1084;p82"/>
          <p:cNvSpPr txBox="1"/>
          <p:nvPr>
            <p:ph idx="1" type="body"/>
          </p:nvPr>
        </p:nvSpPr>
        <p:spPr>
          <a:xfrm>
            <a:off x="1218500" y="2019300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of £30 = £24</a:t>
            </a:r>
            <a:endParaRPr sz="2000"/>
          </a:p>
        </p:txBody>
      </p:sp>
      <p:sp>
        <p:nvSpPr>
          <p:cNvPr id="1085" name="Google Shape;1085;p82"/>
          <p:cNvSpPr txBox="1"/>
          <p:nvPr>
            <p:ph idx="1" type="body"/>
          </p:nvPr>
        </p:nvSpPr>
        <p:spPr>
          <a:xfrm>
            <a:off x="2271125" y="30090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</a:t>
            </a:r>
            <a:endParaRPr sz="2000"/>
          </a:p>
        </p:txBody>
      </p:sp>
      <p:sp>
        <p:nvSpPr>
          <p:cNvPr id="1086" name="Google Shape;1086;p82"/>
          <p:cNvSpPr txBox="1"/>
          <p:nvPr>
            <p:ph idx="1" type="body"/>
          </p:nvPr>
        </p:nvSpPr>
        <p:spPr>
          <a:xfrm>
            <a:off x="1349733" y="24857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× £30 = £24</a:t>
            </a:r>
            <a:endParaRPr sz="2000"/>
          </a:p>
        </p:txBody>
      </p:sp>
      <p:sp>
        <p:nvSpPr>
          <p:cNvPr id="1087" name="Google Shape;1087;p82"/>
          <p:cNvSpPr/>
          <p:nvPr/>
        </p:nvSpPr>
        <p:spPr>
          <a:xfrm>
            <a:off x="1580665" y="2013950"/>
            <a:ext cx="361200" cy="320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88" name="Google Shape;1088;p82"/>
          <p:cNvGrpSpPr/>
          <p:nvPr/>
        </p:nvGrpSpPr>
        <p:grpSpPr>
          <a:xfrm>
            <a:off x="1963817" y="2260309"/>
            <a:ext cx="3047983" cy="662516"/>
            <a:chOff x="4145042" y="2888959"/>
            <a:chExt cx="3047983" cy="662516"/>
          </a:xfrm>
        </p:grpSpPr>
        <p:sp>
          <p:nvSpPr>
            <p:cNvPr id="1089" name="Google Shape;1089;p82"/>
            <p:cNvSpPr txBox="1"/>
            <p:nvPr/>
          </p:nvSpPr>
          <p:spPr>
            <a:xfrm>
              <a:off x="4713225" y="2997375"/>
              <a:ext cx="2479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‘of’ can be exchanged for multiplication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90" name="Google Shape;1090;p82"/>
            <p:cNvSpPr/>
            <p:nvPr/>
          </p:nvSpPr>
          <p:spPr>
            <a:xfrm rot="-8822636">
              <a:off x="4172966" y="2996768"/>
              <a:ext cx="467651" cy="24098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91" name="Google Shape;1091;p82"/>
          <p:cNvSpPr txBox="1"/>
          <p:nvPr/>
        </p:nvSpPr>
        <p:spPr>
          <a:xfrm>
            <a:off x="2379600" y="2854264"/>
            <a:ext cx="24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rearrange to find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2"/>
          <p:cNvSpPr txBox="1"/>
          <p:nvPr>
            <p:ph idx="1" type="body"/>
          </p:nvPr>
        </p:nvSpPr>
        <p:spPr>
          <a:xfrm>
            <a:off x="2255850" y="3451712"/>
            <a:ext cx="25632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0.8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</a:t>
            </a:r>
            <a:r>
              <a:rPr lang="en-GB" sz="2000"/>
              <a:t>as a % </a:t>
            </a:r>
            <a:r>
              <a:rPr lang="en-GB" sz="2000"/>
              <a:t>= 0.8 × 100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= 80%</a:t>
            </a:r>
            <a:endParaRPr sz="2000"/>
          </a:p>
        </p:txBody>
      </p:sp>
      <p:sp>
        <p:nvSpPr>
          <p:cNvPr id="1093" name="Google Shape;1093;p82"/>
          <p:cNvSpPr txBox="1"/>
          <p:nvPr>
            <p:ph idx="1" type="body"/>
          </p:nvPr>
        </p:nvSpPr>
        <p:spPr>
          <a:xfrm>
            <a:off x="324000" y="606900"/>
            <a:ext cx="82377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 have both bought a t-shirt in a sale.  They know the original cost and how much they paid.  Who got the best percentage discount?  </a:t>
            </a:r>
            <a:endParaRPr sz="1800"/>
          </a:p>
        </p:txBody>
      </p:sp>
      <p:pic>
        <p:nvPicPr>
          <p:cNvPr id="1094" name="Google Shape;109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16048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82"/>
          <p:cNvSpPr txBox="1"/>
          <p:nvPr/>
        </p:nvSpPr>
        <p:spPr>
          <a:xfrm>
            <a:off x="309550" y="2845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96" name="Google Shape;109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1050" y="14634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82"/>
          <p:cNvSpPr txBox="1"/>
          <p:nvPr/>
        </p:nvSpPr>
        <p:spPr>
          <a:xfrm>
            <a:off x="78533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8" name="Google Shape;1098;p82"/>
          <p:cNvGrpSpPr/>
          <p:nvPr/>
        </p:nvGrpSpPr>
        <p:grpSpPr>
          <a:xfrm>
            <a:off x="5698100" y="1237550"/>
            <a:ext cx="2107575" cy="895750"/>
            <a:chOff x="4026964" y="2304351"/>
            <a:chExt cx="3702697" cy="895750"/>
          </a:xfrm>
        </p:grpSpPr>
        <p:pic>
          <p:nvPicPr>
            <p:cNvPr id="1099" name="Google Shape;1099;p8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026964" y="2304351"/>
              <a:ext cx="3702697" cy="8957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0" name="Google Shape;1100;p82"/>
            <p:cNvSpPr txBox="1"/>
            <p:nvPr/>
          </p:nvSpPr>
          <p:spPr>
            <a:xfrm>
              <a:off x="4214947" y="2444751"/>
              <a:ext cx="3244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Mine was £30 and I paid £24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1" name="Google Shape;1101;p82"/>
          <p:cNvGrpSpPr/>
          <p:nvPr/>
        </p:nvGrpSpPr>
        <p:grpSpPr>
          <a:xfrm>
            <a:off x="3229843" y="3490409"/>
            <a:ext cx="3599357" cy="303600"/>
            <a:chOff x="3887068" y="2823659"/>
            <a:chExt cx="3599357" cy="303600"/>
          </a:xfrm>
        </p:grpSpPr>
        <p:sp>
          <p:nvSpPr>
            <p:cNvPr id="1102" name="Google Shape;1102;p82"/>
            <p:cNvSpPr txBox="1"/>
            <p:nvPr/>
          </p:nvSpPr>
          <p:spPr>
            <a:xfrm>
              <a:off x="4675125" y="2844975"/>
              <a:ext cx="28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convert to a percentage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3" name="Google Shape;1103;p82"/>
            <p:cNvSpPr/>
            <p:nvPr/>
          </p:nvSpPr>
          <p:spPr>
            <a:xfrm rot="-10458955">
              <a:off x="3897482" y="2855009"/>
              <a:ext cx="645172" cy="24089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4" name="Google Shape;1104;p82"/>
          <p:cNvSpPr txBox="1"/>
          <p:nvPr/>
        </p:nvSpPr>
        <p:spPr>
          <a:xfrm>
            <a:off x="4690825" y="3840625"/>
            <a:ext cx="40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£24 is 80% of the original price.  Therefore, Jacob had a 20% discount on his t-shirt.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4}{30}&quot;&gt;&lt;mfrac&gt;&lt;mn&gt;24&lt;/mn&gt;&lt;mn&gt;30&lt;/mn&gt;&lt;/mfrac&gt;&lt;/math&gt;" id="1105" name="Google Shape;1105;p82" title="24 over 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76525" y="2928038"/>
            <a:ext cx="269800" cy="496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111" name="Google Shape;1111;p83"/>
          <p:cNvSpPr txBox="1"/>
          <p:nvPr>
            <p:ph idx="1" type="body"/>
          </p:nvPr>
        </p:nvSpPr>
        <p:spPr>
          <a:xfrm>
            <a:off x="1218500" y="2171700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of 62 = 76.88</a:t>
            </a:r>
            <a:endParaRPr sz="2000"/>
          </a:p>
        </p:txBody>
      </p:sp>
      <p:sp>
        <p:nvSpPr>
          <p:cNvPr id="1112" name="Google Shape;1112;p83"/>
          <p:cNvSpPr txBox="1"/>
          <p:nvPr>
            <p:ph idx="1" type="body"/>
          </p:nvPr>
        </p:nvSpPr>
        <p:spPr>
          <a:xfrm>
            <a:off x="2271125" y="31614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</a:t>
            </a:r>
            <a:endParaRPr sz="2000"/>
          </a:p>
        </p:txBody>
      </p:sp>
      <p:sp>
        <p:nvSpPr>
          <p:cNvPr id="1113" name="Google Shape;1113;p83"/>
          <p:cNvSpPr txBox="1"/>
          <p:nvPr>
            <p:ph idx="1" type="body"/>
          </p:nvPr>
        </p:nvSpPr>
        <p:spPr>
          <a:xfrm>
            <a:off x="1349733" y="26381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× 62 = 76.88</a:t>
            </a:r>
            <a:endParaRPr sz="2000"/>
          </a:p>
        </p:txBody>
      </p:sp>
      <p:sp>
        <p:nvSpPr>
          <p:cNvPr id="1114" name="Google Shape;1114;p83"/>
          <p:cNvSpPr/>
          <p:nvPr/>
        </p:nvSpPr>
        <p:spPr>
          <a:xfrm>
            <a:off x="1580665" y="2166350"/>
            <a:ext cx="361200" cy="3204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5" name="Google Shape;1115;p83"/>
          <p:cNvGrpSpPr/>
          <p:nvPr/>
        </p:nvGrpSpPr>
        <p:grpSpPr>
          <a:xfrm>
            <a:off x="1963817" y="2412709"/>
            <a:ext cx="3047983" cy="662516"/>
            <a:chOff x="4145042" y="2888959"/>
            <a:chExt cx="3047983" cy="662516"/>
          </a:xfrm>
        </p:grpSpPr>
        <p:sp>
          <p:nvSpPr>
            <p:cNvPr id="1116" name="Google Shape;1116;p83"/>
            <p:cNvSpPr txBox="1"/>
            <p:nvPr/>
          </p:nvSpPr>
          <p:spPr>
            <a:xfrm>
              <a:off x="4713225" y="2997375"/>
              <a:ext cx="2479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‘of’ can be exchanged for multiplication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7" name="Google Shape;1117;p83"/>
            <p:cNvSpPr/>
            <p:nvPr/>
          </p:nvSpPr>
          <p:spPr>
            <a:xfrm rot="-8822636">
              <a:off x="4172966" y="2996768"/>
              <a:ext cx="467651" cy="240981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18" name="Google Shape;1118;p83"/>
          <p:cNvSpPr txBox="1"/>
          <p:nvPr/>
        </p:nvSpPr>
        <p:spPr>
          <a:xfrm>
            <a:off x="2379600" y="3006664"/>
            <a:ext cx="247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rearrange to find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3"/>
          <p:cNvSpPr txBox="1"/>
          <p:nvPr>
            <p:ph idx="1" type="body"/>
          </p:nvPr>
        </p:nvSpPr>
        <p:spPr>
          <a:xfrm>
            <a:off x="2255850" y="3604112"/>
            <a:ext cx="25632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1.24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</a:t>
            </a:r>
            <a:r>
              <a:rPr lang="en-GB" sz="2000"/>
              <a:t>as a % </a:t>
            </a:r>
            <a:r>
              <a:rPr lang="en-GB" sz="2000"/>
              <a:t>= 1.24 × 100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= 124%</a:t>
            </a:r>
            <a:endParaRPr sz="2000"/>
          </a:p>
        </p:txBody>
      </p:sp>
      <p:sp>
        <p:nvSpPr>
          <p:cNvPr id="1120" name="Google Shape;1120;p83"/>
          <p:cNvSpPr txBox="1"/>
          <p:nvPr>
            <p:ph idx="1" type="body"/>
          </p:nvPr>
        </p:nvSpPr>
        <p:spPr>
          <a:xfrm>
            <a:off x="324000" y="606900"/>
            <a:ext cx="84960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Jacob’s teacher has written a percentage on a card.  Aisha choses a number and the teacher increases this by the percentage on the card.  What percentage is on the card?  </a:t>
            </a:r>
            <a:r>
              <a:rPr lang="en-GB" sz="1800"/>
              <a:t>  </a:t>
            </a:r>
            <a:endParaRPr sz="1800"/>
          </a:p>
        </p:txBody>
      </p:sp>
      <p:pic>
        <p:nvPicPr>
          <p:cNvPr id="1121" name="Google Shape;112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16048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3"/>
          <p:cNvSpPr txBox="1"/>
          <p:nvPr/>
        </p:nvSpPr>
        <p:spPr>
          <a:xfrm>
            <a:off x="309550" y="2845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3" name="Google Shape;1123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1050" y="14634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3"/>
          <p:cNvSpPr txBox="1"/>
          <p:nvPr/>
        </p:nvSpPr>
        <p:spPr>
          <a:xfrm>
            <a:off x="7853350" y="2388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5" name="Google Shape;1125;p83"/>
          <p:cNvGrpSpPr/>
          <p:nvPr/>
        </p:nvGrpSpPr>
        <p:grpSpPr>
          <a:xfrm>
            <a:off x="5698100" y="1237550"/>
            <a:ext cx="2107575" cy="1121601"/>
            <a:chOff x="4026964" y="2304351"/>
            <a:chExt cx="3702697" cy="1121601"/>
          </a:xfrm>
        </p:grpSpPr>
        <p:pic>
          <p:nvPicPr>
            <p:cNvPr id="1126" name="Google Shape;1126;p8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026964" y="2304351"/>
              <a:ext cx="3702697" cy="1121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7" name="Google Shape;1127;p83"/>
            <p:cNvSpPr txBox="1"/>
            <p:nvPr/>
          </p:nvSpPr>
          <p:spPr>
            <a:xfrm>
              <a:off x="4214947" y="2444751"/>
              <a:ext cx="3244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Our teacher says the new number is 76.88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8" name="Google Shape;1128;p83"/>
          <p:cNvGrpSpPr/>
          <p:nvPr/>
        </p:nvGrpSpPr>
        <p:grpSpPr>
          <a:xfrm>
            <a:off x="1227670" y="1405584"/>
            <a:ext cx="1976920" cy="497014"/>
            <a:chOff x="1430228" y="3220994"/>
            <a:chExt cx="1651149" cy="972250"/>
          </a:xfrm>
        </p:grpSpPr>
        <p:pic>
          <p:nvPicPr>
            <p:cNvPr id="1129" name="Google Shape;1129;p8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430228" y="3220994"/>
              <a:ext cx="1651149" cy="97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83"/>
            <p:cNvSpPr txBox="1"/>
            <p:nvPr/>
          </p:nvSpPr>
          <p:spPr>
            <a:xfrm>
              <a:off x="1589177" y="3378639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choose 62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83"/>
          <p:cNvGrpSpPr/>
          <p:nvPr/>
        </p:nvGrpSpPr>
        <p:grpSpPr>
          <a:xfrm>
            <a:off x="3229843" y="3642809"/>
            <a:ext cx="3599357" cy="303600"/>
            <a:chOff x="3887068" y="2823659"/>
            <a:chExt cx="3599357" cy="303600"/>
          </a:xfrm>
        </p:grpSpPr>
        <p:sp>
          <p:nvSpPr>
            <p:cNvPr id="1132" name="Google Shape;1132;p83"/>
            <p:cNvSpPr txBox="1"/>
            <p:nvPr/>
          </p:nvSpPr>
          <p:spPr>
            <a:xfrm>
              <a:off x="4675125" y="2844975"/>
              <a:ext cx="2811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convert to a percentage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33" name="Google Shape;1133;p83"/>
            <p:cNvSpPr/>
            <p:nvPr/>
          </p:nvSpPr>
          <p:spPr>
            <a:xfrm rot="-10458955">
              <a:off x="3897482" y="2855009"/>
              <a:ext cx="645172" cy="240899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4" name="Google Shape;1134;p83"/>
          <p:cNvSpPr txBox="1"/>
          <p:nvPr/>
        </p:nvSpPr>
        <p:spPr>
          <a:xfrm>
            <a:off x="4859400" y="3933800"/>
            <a:ext cx="3912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76.88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is 124% of the original number.  Therefore, their teacher chose 24%.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6.88}{62}&quot;&gt;&lt;mfrac&gt;&lt;mn&gt;76.88&lt;/mn&gt;&lt;mn&gt;62&lt;/mn&gt;&lt;/mfrac&gt;&lt;/math&gt;" id="1135" name="Google Shape;1135;p83" title="76.88 over 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0150" y="3111063"/>
            <a:ext cx="524443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141" name="Google Shape;1141;p84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Spot the mistakes.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42" name="Google Shape;1142;p84"/>
          <p:cNvSpPr txBox="1"/>
          <p:nvPr>
            <p:ph idx="1" type="body"/>
          </p:nvPr>
        </p:nvSpPr>
        <p:spPr>
          <a:xfrm>
            <a:off x="1218500" y="2247900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of 36 = 60</a:t>
            </a:r>
            <a:endParaRPr sz="2000"/>
          </a:p>
        </p:txBody>
      </p:sp>
      <p:sp>
        <p:nvSpPr>
          <p:cNvPr id="1143" name="Google Shape;1143;p84"/>
          <p:cNvSpPr txBox="1"/>
          <p:nvPr>
            <p:ph idx="1" type="body"/>
          </p:nvPr>
        </p:nvSpPr>
        <p:spPr>
          <a:xfrm>
            <a:off x="2271125" y="32376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</a:t>
            </a:r>
            <a:endParaRPr sz="2000"/>
          </a:p>
        </p:txBody>
      </p:sp>
      <p:sp>
        <p:nvSpPr>
          <p:cNvPr id="1144" name="Google Shape;1144;p84"/>
          <p:cNvSpPr txBox="1"/>
          <p:nvPr>
            <p:ph idx="1" type="body"/>
          </p:nvPr>
        </p:nvSpPr>
        <p:spPr>
          <a:xfrm>
            <a:off x="1349733" y="27143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% × 36 = 60</a:t>
            </a:r>
            <a:endParaRPr sz="2000"/>
          </a:p>
        </p:txBody>
      </p:sp>
      <p:sp>
        <p:nvSpPr>
          <p:cNvPr id="1145" name="Google Shape;1145;p84"/>
          <p:cNvSpPr txBox="1"/>
          <p:nvPr>
            <p:ph idx="1" type="body"/>
          </p:nvPr>
        </p:nvSpPr>
        <p:spPr>
          <a:xfrm>
            <a:off x="2255850" y="3680312"/>
            <a:ext cx="25632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= 1.666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GB" sz="2000"/>
              <a:t> </a:t>
            </a:r>
            <a:r>
              <a:rPr lang="en-GB" sz="2000"/>
              <a:t>as a %</a:t>
            </a:r>
            <a:r>
              <a:rPr lang="en-GB" sz="2000"/>
              <a:t>= 1.666 × 100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   = 166.6%</a:t>
            </a:r>
            <a:endParaRPr sz="2000"/>
          </a:p>
        </p:txBody>
      </p:sp>
      <p:sp>
        <p:nvSpPr>
          <p:cNvPr id="1146" name="Google Shape;1146;p84"/>
          <p:cNvSpPr txBox="1"/>
          <p:nvPr>
            <p:ph idx="1" type="body"/>
          </p:nvPr>
        </p:nvSpPr>
        <p:spPr>
          <a:xfrm>
            <a:off x="324000" y="911700"/>
            <a:ext cx="84960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Jacob’s teacher has written a percentage on a card.  Aisha choses a number and the teacher changes the number by the percentage on the card.  What percentage is on the card?    </a:t>
            </a:r>
            <a:endParaRPr sz="1800"/>
          </a:p>
        </p:txBody>
      </p:sp>
      <p:pic>
        <p:nvPicPr>
          <p:cNvPr id="1147" name="Google Shape;114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19858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84"/>
          <p:cNvSpPr txBox="1"/>
          <p:nvPr/>
        </p:nvSpPr>
        <p:spPr>
          <a:xfrm>
            <a:off x="309550" y="3226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9" name="Google Shape;1149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1050" y="18444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84"/>
          <p:cNvSpPr txBox="1"/>
          <p:nvPr/>
        </p:nvSpPr>
        <p:spPr>
          <a:xfrm>
            <a:off x="7853350" y="2769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1" name="Google Shape;1151;p84"/>
          <p:cNvGrpSpPr/>
          <p:nvPr/>
        </p:nvGrpSpPr>
        <p:grpSpPr>
          <a:xfrm>
            <a:off x="5698100" y="1618550"/>
            <a:ext cx="2107575" cy="1121601"/>
            <a:chOff x="4026964" y="2304351"/>
            <a:chExt cx="3702697" cy="1121601"/>
          </a:xfrm>
        </p:grpSpPr>
        <p:pic>
          <p:nvPicPr>
            <p:cNvPr id="1152" name="Google Shape;1152;p8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026964" y="2304351"/>
              <a:ext cx="3702697" cy="1121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84"/>
            <p:cNvSpPr txBox="1"/>
            <p:nvPr/>
          </p:nvSpPr>
          <p:spPr>
            <a:xfrm>
              <a:off x="4214947" y="2444751"/>
              <a:ext cx="3244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Our teacher says the new number is 36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84"/>
          <p:cNvGrpSpPr/>
          <p:nvPr/>
        </p:nvGrpSpPr>
        <p:grpSpPr>
          <a:xfrm>
            <a:off x="1227670" y="1710384"/>
            <a:ext cx="1976920" cy="497014"/>
            <a:chOff x="1430228" y="3220994"/>
            <a:chExt cx="1651149" cy="972250"/>
          </a:xfrm>
        </p:grpSpPr>
        <p:pic>
          <p:nvPicPr>
            <p:cNvPr id="1155" name="Google Shape;1155;p84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430228" y="3220994"/>
              <a:ext cx="1651149" cy="97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84"/>
            <p:cNvSpPr txBox="1"/>
            <p:nvPr/>
          </p:nvSpPr>
          <p:spPr>
            <a:xfrm>
              <a:off x="1589177" y="3378639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choose 60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7" name="Google Shape;1157;p84"/>
          <p:cNvSpPr txBox="1"/>
          <p:nvPr/>
        </p:nvSpPr>
        <p:spPr>
          <a:xfrm>
            <a:off x="3895725" y="2850025"/>
            <a:ext cx="341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was a 166.6% increase.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0}{36}&quot;&gt;&lt;mfrac&gt;&lt;mn&gt;60&lt;/mn&gt;&lt;mn&gt;36&lt;/mn&gt;&lt;/mfrac&gt;&lt;/math&gt;" id="1158" name="Google Shape;1158;p84" title="60 over 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86050" y="3180750"/>
            <a:ext cx="269800" cy="4922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84"/>
          <p:cNvSpPr txBox="1"/>
          <p:nvPr/>
        </p:nvSpPr>
        <p:spPr>
          <a:xfrm>
            <a:off x="3160000" y="3475200"/>
            <a:ext cx="12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4"/>
          <p:cNvSpPr txBox="1"/>
          <p:nvPr/>
        </p:nvSpPr>
        <p:spPr>
          <a:xfrm>
            <a:off x="3160000" y="3856200"/>
            <a:ext cx="12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4"/>
          <p:cNvSpPr txBox="1"/>
          <p:nvPr/>
        </p:nvSpPr>
        <p:spPr>
          <a:xfrm>
            <a:off x="3160000" y="4284825"/>
            <a:ext cx="12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4"/>
          <p:cNvSpPr txBox="1"/>
          <p:nvPr/>
        </p:nvSpPr>
        <p:spPr>
          <a:xfrm>
            <a:off x="5465050" y="2560800"/>
            <a:ext cx="12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4"/>
          <p:cNvSpPr/>
          <p:nvPr/>
        </p:nvSpPr>
        <p:spPr>
          <a:xfrm>
            <a:off x="3848100" y="2686050"/>
            <a:ext cx="3162300" cy="4971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4"/>
          <p:cNvSpPr txBox="1"/>
          <p:nvPr/>
        </p:nvSpPr>
        <p:spPr>
          <a:xfrm>
            <a:off x="4986725" y="3335800"/>
            <a:ext cx="3727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60 and 36 are the wrong way around.  We were finding the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percentage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the original number.  Also, the percentage change has not been found.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170" name="Google Shape;1170;p85"/>
          <p:cNvSpPr txBox="1"/>
          <p:nvPr>
            <p:ph idx="1" type="body"/>
          </p:nvPr>
        </p:nvSpPr>
        <p:spPr>
          <a:xfrm>
            <a:off x="324000" y="6069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Correct the mistakes and </a:t>
            </a:r>
            <a:r>
              <a:rPr lang="en-GB" sz="2000"/>
              <a:t>find</a:t>
            </a:r>
            <a:r>
              <a:rPr lang="en-GB" sz="2000"/>
              <a:t> the percentage.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71" name="Google Shape;1171;p85"/>
          <p:cNvSpPr txBox="1"/>
          <p:nvPr>
            <p:ph idx="1" type="body"/>
          </p:nvPr>
        </p:nvSpPr>
        <p:spPr>
          <a:xfrm>
            <a:off x="1218500" y="2247900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% of 60 = 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85"/>
          <p:cNvSpPr txBox="1"/>
          <p:nvPr>
            <p:ph idx="1" type="body"/>
          </p:nvPr>
        </p:nvSpPr>
        <p:spPr>
          <a:xfrm>
            <a:off x="2271125" y="31614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lang="en-GB" sz="2000"/>
              <a:t>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85"/>
          <p:cNvSpPr txBox="1"/>
          <p:nvPr>
            <p:ph idx="1" type="body"/>
          </p:nvPr>
        </p:nvSpPr>
        <p:spPr>
          <a:xfrm>
            <a:off x="1349733" y="2714325"/>
            <a:ext cx="2563200" cy="32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% × 60 = 36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5"/>
          <p:cNvSpPr txBox="1"/>
          <p:nvPr>
            <p:ph idx="1" type="body"/>
          </p:nvPr>
        </p:nvSpPr>
        <p:spPr>
          <a:xfrm>
            <a:off x="2255850" y="3637804"/>
            <a:ext cx="25632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lang="en-GB" sz="2000"/>
              <a:t>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0.6</a:t>
            </a:r>
            <a:endParaRPr i="1"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as a %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0.6 × 100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p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60%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5"/>
          <p:cNvSpPr txBox="1"/>
          <p:nvPr>
            <p:ph idx="1" type="body"/>
          </p:nvPr>
        </p:nvSpPr>
        <p:spPr>
          <a:xfrm>
            <a:off x="324000" y="911700"/>
            <a:ext cx="84960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Jacob’s teacher has written a percentage on card.  Aisha choses a number and the teacher changes the number by the percentage on the card.  What percentage is on the card?    </a:t>
            </a:r>
            <a:endParaRPr sz="1800"/>
          </a:p>
        </p:txBody>
      </p:sp>
      <p:pic>
        <p:nvPicPr>
          <p:cNvPr id="1176" name="Google Shape;117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00" y="198581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85"/>
          <p:cNvSpPr txBox="1"/>
          <p:nvPr/>
        </p:nvSpPr>
        <p:spPr>
          <a:xfrm>
            <a:off x="309550" y="32268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78" name="Google Shape;117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1050" y="18444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85"/>
          <p:cNvSpPr txBox="1"/>
          <p:nvPr/>
        </p:nvSpPr>
        <p:spPr>
          <a:xfrm>
            <a:off x="7853350" y="27696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0" name="Google Shape;1180;p85"/>
          <p:cNvGrpSpPr/>
          <p:nvPr/>
        </p:nvGrpSpPr>
        <p:grpSpPr>
          <a:xfrm>
            <a:off x="5698100" y="1618550"/>
            <a:ext cx="2107575" cy="1121601"/>
            <a:chOff x="4026964" y="2304351"/>
            <a:chExt cx="3702697" cy="1121601"/>
          </a:xfrm>
        </p:grpSpPr>
        <p:pic>
          <p:nvPicPr>
            <p:cNvPr id="1181" name="Google Shape;1181;p8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026964" y="2304351"/>
              <a:ext cx="3702697" cy="11216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85"/>
            <p:cNvSpPr txBox="1"/>
            <p:nvPr/>
          </p:nvSpPr>
          <p:spPr>
            <a:xfrm>
              <a:off x="4214947" y="2444751"/>
              <a:ext cx="32442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Our teacher says the new number is 36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85"/>
          <p:cNvGrpSpPr/>
          <p:nvPr/>
        </p:nvGrpSpPr>
        <p:grpSpPr>
          <a:xfrm>
            <a:off x="1227670" y="1710384"/>
            <a:ext cx="1976920" cy="497014"/>
            <a:chOff x="1430228" y="3220994"/>
            <a:chExt cx="1651149" cy="972250"/>
          </a:xfrm>
        </p:grpSpPr>
        <p:pic>
          <p:nvPicPr>
            <p:cNvPr id="1184" name="Google Shape;1184;p8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430228" y="3220994"/>
              <a:ext cx="1651149" cy="972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85"/>
            <p:cNvSpPr txBox="1"/>
            <p:nvPr/>
          </p:nvSpPr>
          <p:spPr>
            <a:xfrm>
              <a:off x="1589177" y="3378639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choose 60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6" name="Google Shape;1186;p85"/>
          <p:cNvSpPr txBox="1"/>
          <p:nvPr/>
        </p:nvSpPr>
        <p:spPr>
          <a:xfrm>
            <a:off x="4429125" y="4526425"/>
            <a:ext cx="341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was a 40% decrease.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6}{60}&quot;&gt;&lt;mfrac&gt;&lt;mn&gt;36&lt;/mn&gt;&lt;mn&gt;60&lt;/mn&gt;&lt;/mfrac&gt;&lt;/math&gt;" id="1187" name="Google Shape;1187;p85" title="36 over 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3500" y="3104550"/>
            <a:ext cx="233700" cy="42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8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193" name="Google Shape;1193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 </a:t>
            </a:r>
            <a:r>
              <a:rPr lang="en-GB" sz="2100"/>
              <a:t>Some of the Oak pupils have decided that they want to work out who made the biggest improvement on their times tables scores when compared to their starting scores.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Rank them in order from the smallest to the biggest improvement.</a:t>
            </a:r>
            <a:endParaRPr sz="2100"/>
          </a:p>
        </p:txBody>
      </p:sp>
      <p:pic>
        <p:nvPicPr>
          <p:cNvPr id="1194" name="Google Shape;119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02" y="3452527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3665" y="315053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57838" y="3601125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5605" y="3455350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86"/>
          <p:cNvSpPr txBox="1"/>
          <p:nvPr/>
        </p:nvSpPr>
        <p:spPr>
          <a:xfrm>
            <a:off x="64627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6"/>
          <p:cNvSpPr txBox="1"/>
          <p:nvPr/>
        </p:nvSpPr>
        <p:spPr>
          <a:xfrm>
            <a:off x="3095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6"/>
          <p:cNvSpPr txBox="1"/>
          <p:nvPr/>
        </p:nvSpPr>
        <p:spPr>
          <a:xfrm>
            <a:off x="254595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6"/>
          <p:cNvSpPr txBox="1"/>
          <p:nvPr/>
        </p:nvSpPr>
        <p:spPr>
          <a:xfrm>
            <a:off x="7944900" y="4049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2" name="Google Shape;1202;p86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>
            <a:off x="6438800" y="2223000"/>
            <a:ext cx="1666975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3" name="Google Shape;1203;p86"/>
          <p:cNvSpPr txBox="1"/>
          <p:nvPr/>
        </p:nvSpPr>
        <p:spPr>
          <a:xfrm>
            <a:off x="6582583" y="2411025"/>
            <a:ext cx="14577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My score went from 50 to 59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04" name="Google Shape;1204;p86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 flipH="1">
            <a:off x="1074298" y="2629975"/>
            <a:ext cx="1497452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86"/>
          <p:cNvSpPr txBox="1"/>
          <p:nvPr/>
        </p:nvSpPr>
        <p:spPr>
          <a:xfrm>
            <a:off x="1196827" y="2787620"/>
            <a:ext cx="14577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My score went from 80 to 92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6" name="Google Shape;1206;p86"/>
          <p:cNvGrpSpPr/>
          <p:nvPr/>
        </p:nvGrpSpPr>
        <p:grpSpPr>
          <a:xfrm>
            <a:off x="3207898" y="2553775"/>
            <a:ext cx="1656430" cy="1316250"/>
            <a:chOff x="3360298" y="2629975"/>
            <a:chExt cx="1656430" cy="1316250"/>
          </a:xfrm>
        </p:grpSpPr>
        <p:pic>
          <p:nvPicPr>
            <p:cNvPr id="1207" name="Google Shape;1207;p86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3360298" y="2629975"/>
              <a:ext cx="1602227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8" name="Google Shape;1208;p86"/>
            <p:cNvSpPr txBox="1"/>
            <p:nvPr/>
          </p:nvSpPr>
          <p:spPr>
            <a:xfrm>
              <a:off x="3559027" y="2787620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My score went from 45 to 54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9" name="Google Shape;1209;p86"/>
          <p:cNvGrpSpPr/>
          <p:nvPr/>
        </p:nvGrpSpPr>
        <p:grpSpPr>
          <a:xfrm>
            <a:off x="4838600" y="2985000"/>
            <a:ext cx="1666975" cy="1316250"/>
            <a:chOff x="8572400" y="2451600"/>
            <a:chExt cx="1666975" cy="1316250"/>
          </a:xfrm>
        </p:grpSpPr>
        <p:pic>
          <p:nvPicPr>
            <p:cNvPr id="1210" name="Google Shape;1210;p86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>
              <a:off x="8572400" y="2451600"/>
              <a:ext cx="1666975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1" name="Google Shape;1211;p86"/>
            <p:cNvSpPr txBox="1"/>
            <p:nvPr/>
          </p:nvSpPr>
          <p:spPr>
            <a:xfrm>
              <a:off x="8716183" y="2639625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My score went from 60 to 66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217" name="Google Shape;1217;p87"/>
          <p:cNvSpPr txBox="1"/>
          <p:nvPr>
            <p:ph idx="1" type="body"/>
          </p:nvPr>
        </p:nvSpPr>
        <p:spPr>
          <a:xfrm>
            <a:off x="324000" y="6069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Three different brands are claiming that they have reduced the sugar in their cereal by at least 30%. 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Which brand cannot claim this?	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Which brand has reduced the sugar in their cereal by the most?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18" name="Google Shape;121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040" y="2129446"/>
            <a:ext cx="1105075" cy="836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6261" y="1971975"/>
            <a:ext cx="1105075" cy="106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1818" y="2186002"/>
            <a:ext cx="914770" cy="789462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87"/>
          <p:cNvSpPr txBox="1"/>
          <p:nvPr/>
        </p:nvSpPr>
        <p:spPr>
          <a:xfrm>
            <a:off x="3763575" y="2965725"/>
            <a:ext cx="1638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Brand 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g to 8.4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7"/>
          <p:cNvSpPr txBox="1"/>
          <p:nvPr/>
        </p:nvSpPr>
        <p:spPr>
          <a:xfrm>
            <a:off x="866775" y="2975475"/>
            <a:ext cx="1914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Brand 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13.3 g to 9.2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87"/>
          <p:cNvSpPr txBox="1"/>
          <p:nvPr/>
        </p:nvSpPr>
        <p:spPr>
          <a:xfrm>
            <a:off x="6629400" y="2975475"/>
            <a:ext cx="1751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Brand 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9.4 g to 6.6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8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229" name="Google Shape;1229;p88"/>
          <p:cNvSpPr txBox="1"/>
          <p:nvPr>
            <p:ph idx="1" type="body"/>
          </p:nvPr>
        </p:nvSpPr>
        <p:spPr>
          <a:xfrm>
            <a:off x="324000" y="606900"/>
            <a:ext cx="8496000" cy="112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3</a:t>
            </a:r>
            <a:r>
              <a:rPr lang="en-GB" sz="2100"/>
              <a:t>)  Below are some items that were bought and sold by a market stall holder.  Rank the items based on the percentage change.</a:t>
            </a:r>
            <a:endParaRPr sz="2100"/>
          </a:p>
        </p:txBody>
      </p:sp>
      <p:grpSp>
        <p:nvGrpSpPr>
          <p:cNvPr id="1230" name="Google Shape;1230;p88"/>
          <p:cNvGrpSpPr/>
          <p:nvPr/>
        </p:nvGrpSpPr>
        <p:grpSpPr>
          <a:xfrm>
            <a:off x="571845" y="1460982"/>
            <a:ext cx="535633" cy="971503"/>
            <a:chOff x="3003100" y="2034063"/>
            <a:chExt cx="1329775" cy="2411875"/>
          </a:xfrm>
        </p:grpSpPr>
        <p:pic>
          <p:nvPicPr>
            <p:cNvPr id="1231" name="Google Shape;1231;p88"/>
            <p:cNvPicPr preferRelativeResize="0"/>
            <p:nvPr/>
          </p:nvPicPr>
          <p:blipFill rotWithShape="1">
            <a:blip r:embed="rId3">
              <a:alphaModFix/>
            </a:blip>
            <a:srcRect b="0" l="0" r="21445" t="10136"/>
            <a:stretch/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88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33" name="Google Shape;1233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041" y="1379988"/>
            <a:ext cx="863700" cy="12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4" name="Google Shape;1234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922" y="1680028"/>
            <a:ext cx="10766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5" name="Google Shape;1235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184" y="1334075"/>
            <a:ext cx="1199350" cy="14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6" name="Google Shape;1236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8977" y="1567325"/>
            <a:ext cx="964200" cy="8126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7" name="Google Shape;1237;p88"/>
          <p:cNvGraphicFramePr/>
          <p:nvPr/>
        </p:nvGraphicFramePr>
        <p:xfrm>
          <a:off x="419100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613475"/>
                <a:gridCol w="1781350"/>
                <a:gridCol w="1476700"/>
                <a:gridCol w="2276800"/>
              </a:tblGrid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£87.55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£137.50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8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243" name="Google Shape;1243;p89"/>
          <p:cNvSpPr txBox="1"/>
          <p:nvPr>
            <p:ph idx="1" type="body"/>
          </p:nvPr>
        </p:nvSpPr>
        <p:spPr>
          <a:xfrm>
            <a:off x="324000" y="606900"/>
            <a:ext cx="8496000" cy="19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 </a:t>
            </a:r>
            <a:r>
              <a:rPr lang="en-GB" sz="2000"/>
              <a:t>Some of the Oak </a:t>
            </a:r>
            <a:r>
              <a:rPr lang="en-GB" sz="2000"/>
              <a:t>pupils</a:t>
            </a:r>
            <a:r>
              <a:rPr lang="en-GB" sz="2000"/>
              <a:t> have decided that they want to work out who made the biggest improvement on their times tables scores when compared to </a:t>
            </a:r>
            <a:r>
              <a:rPr lang="en-GB" sz="2000"/>
              <a:t>their starting scores.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Rank them in order from the smallest to the biggest improvement.</a:t>
            </a:r>
            <a:endParaRPr sz="2000"/>
          </a:p>
        </p:txBody>
      </p:sp>
      <p:pic>
        <p:nvPicPr>
          <p:cNvPr id="1244" name="Google Shape;124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02" y="3062002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3665" y="2998138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557838" y="3210600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65605" y="3064825"/>
            <a:ext cx="702782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89"/>
          <p:cNvSpPr txBox="1"/>
          <p:nvPr/>
        </p:nvSpPr>
        <p:spPr>
          <a:xfrm>
            <a:off x="6462700" y="41163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9"/>
          <p:cNvSpPr txBox="1"/>
          <p:nvPr/>
        </p:nvSpPr>
        <p:spPr>
          <a:xfrm>
            <a:off x="309550" y="41163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89"/>
          <p:cNvSpPr txBox="1"/>
          <p:nvPr/>
        </p:nvSpPr>
        <p:spPr>
          <a:xfrm>
            <a:off x="2545950" y="41163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89"/>
          <p:cNvSpPr txBox="1"/>
          <p:nvPr/>
        </p:nvSpPr>
        <p:spPr>
          <a:xfrm>
            <a:off x="7944900" y="3897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2" name="Google Shape;1252;p89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>
            <a:off x="6438800" y="2070600"/>
            <a:ext cx="1666975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3" name="Google Shape;1253;p89"/>
          <p:cNvSpPr txBox="1"/>
          <p:nvPr/>
        </p:nvSpPr>
        <p:spPr>
          <a:xfrm>
            <a:off x="6582583" y="2258625"/>
            <a:ext cx="14577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My score went from 50 to 59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4" name="Google Shape;1254;p89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 flipH="1">
            <a:off x="1074298" y="2239450"/>
            <a:ext cx="1497452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5" name="Google Shape;1255;p89"/>
          <p:cNvSpPr txBox="1"/>
          <p:nvPr/>
        </p:nvSpPr>
        <p:spPr>
          <a:xfrm>
            <a:off x="1196827" y="2397095"/>
            <a:ext cx="14577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My score went from 80 to 92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6" name="Google Shape;1256;p89"/>
          <p:cNvGrpSpPr/>
          <p:nvPr/>
        </p:nvGrpSpPr>
        <p:grpSpPr>
          <a:xfrm>
            <a:off x="3207898" y="2163250"/>
            <a:ext cx="1656430" cy="1316250"/>
            <a:chOff x="3360298" y="2629975"/>
            <a:chExt cx="1656430" cy="1316250"/>
          </a:xfrm>
        </p:grpSpPr>
        <p:pic>
          <p:nvPicPr>
            <p:cNvPr id="1257" name="Google Shape;1257;p89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3360298" y="2629975"/>
              <a:ext cx="1602227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8" name="Google Shape;1258;p89"/>
            <p:cNvSpPr txBox="1"/>
            <p:nvPr/>
          </p:nvSpPr>
          <p:spPr>
            <a:xfrm>
              <a:off x="3559027" y="2787620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My score went from 45 to 54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9" name="Google Shape;1259;p89"/>
          <p:cNvGrpSpPr/>
          <p:nvPr/>
        </p:nvGrpSpPr>
        <p:grpSpPr>
          <a:xfrm>
            <a:off x="4838600" y="2594475"/>
            <a:ext cx="1666975" cy="1316250"/>
            <a:chOff x="8572400" y="2451600"/>
            <a:chExt cx="1666975" cy="1316250"/>
          </a:xfrm>
        </p:grpSpPr>
        <p:pic>
          <p:nvPicPr>
            <p:cNvPr id="1260" name="Google Shape;1260;p89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>
              <a:off x="8572400" y="2451600"/>
              <a:ext cx="1666975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89"/>
            <p:cNvSpPr txBox="1"/>
            <p:nvPr/>
          </p:nvSpPr>
          <p:spPr>
            <a:xfrm>
              <a:off x="8716183" y="2639625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My score went from 60 to 66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2" name="Google Shape;1262;p89"/>
          <p:cNvSpPr txBox="1"/>
          <p:nvPr/>
        </p:nvSpPr>
        <p:spPr>
          <a:xfrm>
            <a:off x="1247775" y="4103775"/>
            <a:ext cx="5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3" name="Google Shape;1263;p89"/>
          <p:cNvSpPr txBox="1"/>
          <p:nvPr/>
        </p:nvSpPr>
        <p:spPr>
          <a:xfrm>
            <a:off x="3381375" y="4103775"/>
            <a:ext cx="702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4" name="Google Shape;1264;p89"/>
          <p:cNvSpPr txBox="1"/>
          <p:nvPr/>
        </p:nvSpPr>
        <p:spPr>
          <a:xfrm>
            <a:off x="5999550" y="4103775"/>
            <a:ext cx="5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5" name="Google Shape;1265;p89"/>
          <p:cNvSpPr txBox="1"/>
          <p:nvPr/>
        </p:nvSpPr>
        <p:spPr>
          <a:xfrm>
            <a:off x="7459200" y="3884700"/>
            <a:ext cx="51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%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6" name="Google Shape;1266;p89"/>
          <p:cNvSpPr txBox="1"/>
          <p:nvPr/>
        </p:nvSpPr>
        <p:spPr>
          <a:xfrm>
            <a:off x="409575" y="4484775"/>
            <a:ext cx="407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Order:  Jun, Laura, Sofia and Sam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272" name="Google Shape;1272;p90"/>
          <p:cNvSpPr txBox="1"/>
          <p:nvPr>
            <p:ph idx="1" type="body"/>
          </p:nvPr>
        </p:nvSpPr>
        <p:spPr>
          <a:xfrm>
            <a:off x="324000" y="606900"/>
            <a:ext cx="8496000" cy="194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  Three different brands are claiming that they have reduced the sugar in their cereal by at least 30%. 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Which brand cannot claim this?	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Brand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Which brand has reduced the </a:t>
            </a:r>
            <a:r>
              <a:rPr lang="en-GB" sz="2000"/>
              <a:t>sugar</a:t>
            </a:r>
            <a:r>
              <a:rPr lang="en-GB" sz="2000"/>
              <a:t> in their cereal by the most?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Brand 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73" name="Google Shape;127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9040" y="2129446"/>
            <a:ext cx="1105075" cy="836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6261" y="1971975"/>
            <a:ext cx="1105075" cy="1066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1818" y="2186002"/>
            <a:ext cx="914770" cy="7894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90"/>
          <p:cNvSpPr txBox="1"/>
          <p:nvPr/>
        </p:nvSpPr>
        <p:spPr>
          <a:xfrm>
            <a:off x="3989550" y="2975475"/>
            <a:ext cx="12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Brand B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0"/>
          <p:cNvSpPr txBox="1"/>
          <p:nvPr/>
        </p:nvSpPr>
        <p:spPr>
          <a:xfrm>
            <a:off x="352339" y="3752700"/>
            <a:ext cx="25632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100 − 9.2 ÷ 13.3 × 100 = 30.8% (1 d.p.)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8" name="Google Shape;1278;p90"/>
          <p:cNvSpPr txBox="1"/>
          <p:nvPr/>
        </p:nvSpPr>
        <p:spPr>
          <a:xfrm>
            <a:off x="3400339" y="3752700"/>
            <a:ext cx="23667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100 − 8.4 ÷ 12 × 100 = 30%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90"/>
          <p:cNvSpPr txBox="1"/>
          <p:nvPr/>
        </p:nvSpPr>
        <p:spPr>
          <a:xfrm>
            <a:off x="6322546" y="3752700"/>
            <a:ext cx="2464500" cy="615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360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100 − 6.6 ÷ 9.4 × 100 = 29.8% (1 d.p.)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90"/>
          <p:cNvSpPr txBox="1"/>
          <p:nvPr/>
        </p:nvSpPr>
        <p:spPr>
          <a:xfrm>
            <a:off x="3760950" y="3314175"/>
            <a:ext cx="191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g to 8.4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0"/>
          <p:cNvSpPr txBox="1"/>
          <p:nvPr/>
        </p:nvSpPr>
        <p:spPr>
          <a:xfrm>
            <a:off x="6970775" y="2944550"/>
            <a:ext cx="12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Brand 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0"/>
          <p:cNvSpPr txBox="1"/>
          <p:nvPr/>
        </p:nvSpPr>
        <p:spPr>
          <a:xfrm>
            <a:off x="6566575" y="3283250"/>
            <a:ext cx="209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9.4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g to 6.6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0"/>
          <p:cNvSpPr txBox="1"/>
          <p:nvPr/>
        </p:nvSpPr>
        <p:spPr>
          <a:xfrm>
            <a:off x="1246350" y="2975475"/>
            <a:ext cx="12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Brand 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0"/>
          <p:cNvSpPr txBox="1"/>
          <p:nvPr/>
        </p:nvSpPr>
        <p:spPr>
          <a:xfrm>
            <a:off x="842150" y="3314175"/>
            <a:ext cx="209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13.3 g to 9.2 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multipliers for percentage change</a:t>
            </a:r>
            <a:endParaRPr/>
          </a:p>
        </p:txBody>
      </p:sp>
      <p:sp>
        <p:nvSpPr>
          <p:cNvPr id="1290" name="Google Shape;1290;p91"/>
          <p:cNvSpPr txBox="1"/>
          <p:nvPr>
            <p:ph idx="1" type="body"/>
          </p:nvPr>
        </p:nvSpPr>
        <p:spPr>
          <a:xfrm>
            <a:off x="324000" y="571875"/>
            <a:ext cx="8496000" cy="72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</a:t>
            </a:r>
            <a:r>
              <a:rPr lang="en-GB" sz="2100"/>
              <a:t>)  Below are some items that were bought and sold by a market stall holder.  Rank the items based on the percentage change.</a:t>
            </a:r>
            <a:endParaRPr sz="2100"/>
          </a:p>
        </p:txBody>
      </p:sp>
      <p:grpSp>
        <p:nvGrpSpPr>
          <p:cNvPr id="1291" name="Google Shape;1291;p91"/>
          <p:cNvGrpSpPr/>
          <p:nvPr/>
        </p:nvGrpSpPr>
        <p:grpSpPr>
          <a:xfrm>
            <a:off x="571845" y="1460982"/>
            <a:ext cx="535633" cy="971503"/>
            <a:chOff x="3003100" y="2034063"/>
            <a:chExt cx="1329775" cy="2411875"/>
          </a:xfrm>
        </p:grpSpPr>
        <p:pic>
          <p:nvPicPr>
            <p:cNvPr id="1292" name="Google Shape;1292;p91"/>
            <p:cNvPicPr preferRelativeResize="0"/>
            <p:nvPr/>
          </p:nvPicPr>
          <p:blipFill rotWithShape="1">
            <a:blip r:embed="rId3">
              <a:alphaModFix/>
            </a:blip>
            <a:srcRect b="0" l="0" r="21445" t="10136"/>
            <a:stretch/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3" name="Google Shape;1293;p91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94" name="Google Shape;129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5041" y="1379988"/>
            <a:ext cx="863700" cy="12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2922" y="1680028"/>
            <a:ext cx="10766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4184" y="1334075"/>
            <a:ext cx="1199350" cy="14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08977" y="1567325"/>
            <a:ext cx="964200" cy="8126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8" name="Google Shape;1298;p91"/>
          <p:cNvGraphicFramePr/>
          <p:nvPr/>
        </p:nvGraphicFramePr>
        <p:xfrm>
          <a:off x="419100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{520AD964-791E-40EE-9100-825325764C7A}</a:tableStyleId>
              </a:tblPr>
              <a:tblGrid>
                <a:gridCol w="1613475"/>
                <a:gridCol w="1781350"/>
                <a:gridCol w="1476700"/>
                <a:gridCol w="2276800"/>
              </a:tblGrid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£87.55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 increase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 decrease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£137.50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 increase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£13.58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 decrease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% increase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3600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9" name="Google Shape;1299;p91"/>
          <p:cNvSpPr txBox="1"/>
          <p:nvPr/>
        </p:nvSpPr>
        <p:spPr>
          <a:xfrm>
            <a:off x="355600" y="4476075"/>
            <a:ext cx="826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Order:  shoes, sunglasses, mobile phone, cap and tablet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(or reverse).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92"/>
          <p:cNvSpPr txBox="1"/>
          <p:nvPr>
            <p:ph idx="1" type="body"/>
          </p:nvPr>
        </p:nvSpPr>
        <p:spPr>
          <a:xfrm>
            <a:off x="324000" y="6228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comparing changes, it is often appropriate to use the percentage change as this compares the exact change to the original.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To calculate percentage change you can use a bar model, double number line, ratio table or a multiplier.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It is essential to ensure that the ‘original’ value is assigned to 100% or the amount you are finding a percentage of. </a:t>
            </a:r>
            <a:endParaRPr/>
          </a:p>
        </p:txBody>
      </p:sp>
      <p:sp>
        <p:nvSpPr>
          <p:cNvPr id="1305" name="Google Shape;1305;p9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11" name="Google Shape;131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