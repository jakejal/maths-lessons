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674A360-9701-4B54-BACA-EE7D07AD11C2}">
  <a:tblStyle styleId="{D674A360-9701-4B54-BACA-EE7D07AD11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1" name="Shape 261"/>
        <p:cNvGrpSpPr/>
        <p:nvPr/>
      </p:nvGrpSpPr>
      <p:grpSpPr>
        <a:xfrm>
          <a:off x="0" y="0"/>
          <a:ext cx="0" cy="0"/>
        </a:xfrm>
      </p:grpSpPr>
      <p:sp>
        <p:nvSpPr>
          <p:cNvPr id="262" name="Google Shape;26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673700"/>
            <a:ext cx="66240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Four friends live in different places.  They draw bars to show the percentage of days that they experienced different weather.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many days were sunny, cloudy, rainy or stormy for each person.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58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Finding the original value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801400" y="2357264"/>
            <a:ext cx="308700" cy="2757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392771" y="2381174"/>
            <a:ext cx="308772" cy="227988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3908100" y="2355774"/>
            <a:ext cx="308755" cy="244668"/>
            <a:chOff x="197700" y="2943560"/>
            <a:chExt cx="594675" cy="471150"/>
          </a:xfrm>
        </p:grpSpPr>
        <p:sp>
          <p:nvSpPr>
            <p:cNvPr id="179" name="Google Shape;179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" name="Google Shape;182;p20"/>
          <p:cNvSpPr/>
          <p:nvPr/>
        </p:nvSpPr>
        <p:spPr>
          <a:xfrm>
            <a:off x="4660985" y="2355794"/>
            <a:ext cx="165240" cy="277182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352327" y="7010400"/>
            <a:ext cx="72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609000" y="2855366"/>
          <a:ext cx="6115175" cy="3353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3057600"/>
                <a:gridCol w="1834550"/>
                <a:gridCol w="1223025"/>
              </a:tblGrid>
              <a:tr h="335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5" name="Google Shape;185;p20"/>
          <p:cNvGraphicFramePr>
            <a:graphicFrameLocks noGrp="1"/>
          </p:cNvGraphicFramePr>
          <p:nvPr/>
        </p:nvGraphicFramePr>
        <p:xfrm>
          <a:off x="609000" y="4128409"/>
          <a:ext cx="6115175" cy="3456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2431100"/>
                <a:gridCol w="1215525"/>
                <a:gridCol w="2263150"/>
                <a:gridCol w="205400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609000" y="5363783"/>
          <a:ext cx="6142100" cy="3456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3071050"/>
                <a:gridCol w="1842625"/>
                <a:gridCol w="12284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609000" y="6572250"/>
          <a:ext cx="6187950" cy="3456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1856375"/>
                <a:gridCol w="2803600"/>
                <a:gridCol w="1193250"/>
                <a:gridCol w="3347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8" name="Google Shape;188;p20"/>
          <p:cNvCxnSpPr/>
          <p:nvPr/>
        </p:nvCxnSpPr>
        <p:spPr>
          <a:xfrm>
            <a:off x="582075" y="3243266"/>
            <a:ext cx="61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566250" y="5763700"/>
            <a:ext cx="310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6462225" y="6984244"/>
            <a:ext cx="375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3427125" y="329347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543025" y="451648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718708" y="5731195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566250" y="4522317"/>
            <a:ext cx="247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/>
          <p:nvPr/>
        </p:nvSpPr>
        <p:spPr>
          <a:xfrm>
            <a:off x="2411725" y="2855278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074200" y="4128317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438225" y="5363737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803625" y="6585150"/>
            <a:ext cx="375600" cy="335400"/>
          </a:xfrm>
          <a:prstGeom prst="sun">
            <a:avLst>
              <a:gd name="adj" fmla="val 25000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857925" y="2884362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761208" y="4162588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365975" y="5397975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212142" y="6605994"/>
            <a:ext cx="375624" cy="277236"/>
          </a:xfrm>
          <a:prstGeom prst="cloud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6299157" y="2874187"/>
            <a:ext cx="375597" cy="297578"/>
            <a:chOff x="197700" y="2943560"/>
            <a:chExt cx="594675" cy="471150"/>
          </a:xfrm>
        </p:grpSpPr>
        <p:sp>
          <p:nvSpPr>
            <p:cNvPr id="204" name="Google Shape;204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5646407" y="4152422"/>
            <a:ext cx="375597" cy="297578"/>
            <a:chOff x="197700" y="2943560"/>
            <a:chExt cx="594675" cy="471150"/>
          </a:xfrm>
        </p:grpSpPr>
        <p:sp>
          <p:nvSpPr>
            <p:cNvPr id="208" name="Google Shape;208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6293740" y="5396238"/>
            <a:ext cx="375597" cy="297578"/>
            <a:chOff x="197700" y="2943560"/>
            <a:chExt cx="594675" cy="471150"/>
          </a:xfrm>
        </p:grpSpPr>
        <p:sp>
          <p:nvSpPr>
            <p:cNvPr id="212" name="Google Shape;212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5918157" y="6604172"/>
            <a:ext cx="375597" cy="297578"/>
            <a:chOff x="197700" y="2943560"/>
            <a:chExt cx="594675" cy="471150"/>
          </a:xfrm>
        </p:grpSpPr>
        <p:sp>
          <p:nvSpPr>
            <p:cNvPr id="216" name="Google Shape;216;p2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rgbClr val="F0F0F0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" name="Google Shape;219;p20"/>
          <p:cNvSpPr/>
          <p:nvPr/>
        </p:nvSpPr>
        <p:spPr>
          <a:xfrm>
            <a:off x="6521700" y="4153755"/>
            <a:ext cx="200988" cy="337176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549525" y="6572213"/>
            <a:ext cx="200988" cy="337176"/>
          </a:xfrm>
          <a:prstGeom prst="lightningBolt">
            <a:avLst/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71225" y="2500313"/>
            <a:ext cx="9051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002325" y="2825500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10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641625" y="282431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6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501150" y="282431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4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646400" y="23884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20%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>
            <a:off x="5894650" y="27265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20"/>
          <p:cNvSpPr txBox="1"/>
          <p:nvPr/>
        </p:nvSpPr>
        <p:spPr>
          <a:xfrm>
            <a:off x="474450" y="8574429"/>
            <a:ext cx="65208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original cost for each of these items, given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trainers has increased by 10%.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sunglasses has increased by 15%.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the car has increased by 17%.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£8000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" y="7693265"/>
            <a:ext cx="793240" cy="504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0"/>
          <p:cNvGrpSpPr/>
          <p:nvPr/>
        </p:nvGrpSpPr>
        <p:grpSpPr>
          <a:xfrm>
            <a:off x="1160904" y="7720379"/>
            <a:ext cx="735756" cy="450052"/>
            <a:chOff x="6546880" y="2060737"/>
            <a:chExt cx="1129500" cy="690900"/>
          </a:xfrm>
        </p:grpSpPr>
        <p:sp>
          <p:nvSpPr>
            <p:cNvPr id="230" name="Google Shape;230;p20"/>
            <p:cNvSpPr/>
            <p:nvPr/>
          </p:nvSpPr>
          <p:spPr>
            <a:xfrm rot="-9581508">
              <a:off x="6571825" y="2237611"/>
              <a:ext cx="1079609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 rot="1287977">
              <a:off x="6887609" y="2242418"/>
              <a:ext cx="523837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£66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2" name="Google Shape;2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174" y="7674576"/>
            <a:ext cx="997537" cy="4500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0"/>
          <p:cNvGrpSpPr/>
          <p:nvPr/>
        </p:nvGrpSpPr>
        <p:grpSpPr>
          <a:xfrm>
            <a:off x="3517897" y="7740484"/>
            <a:ext cx="1043738" cy="563982"/>
            <a:chOff x="6546945" y="2060824"/>
            <a:chExt cx="1602300" cy="865800"/>
          </a:xfrm>
        </p:grpSpPr>
        <p:sp>
          <p:nvSpPr>
            <p:cNvPr id="234" name="Google Shape;234;p20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 rot="1288362">
              <a:off x="6955698" y="2357942"/>
              <a:ext cx="961323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£36.80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6" name="Google Shape;2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1686" y="7674575"/>
            <a:ext cx="1150383" cy="411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0"/>
          <p:cNvGrpSpPr/>
          <p:nvPr/>
        </p:nvGrpSpPr>
        <p:grpSpPr>
          <a:xfrm>
            <a:off x="5483846" y="8007136"/>
            <a:ext cx="1043738" cy="563982"/>
            <a:chOff x="6546945" y="2060824"/>
            <a:chExt cx="1602300" cy="865800"/>
          </a:xfrm>
        </p:grpSpPr>
        <p:sp>
          <p:nvSpPr>
            <p:cNvPr id="238" name="Google Shape;238;p20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 rot="1288362">
              <a:off x="6955698" y="2357942"/>
              <a:ext cx="961323" cy="28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£9360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0" name="Google Shape;240;p20"/>
          <p:cNvCxnSpPr/>
          <p:nvPr/>
        </p:nvCxnSpPr>
        <p:spPr>
          <a:xfrm>
            <a:off x="582075" y="4767266"/>
            <a:ext cx="61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1" name="Google Shape;241;p20"/>
          <p:cNvSpPr txBox="1"/>
          <p:nvPr/>
        </p:nvSpPr>
        <p:spPr>
          <a:xfrm>
            <a:off x="3427125" y="481747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3131800" y="36838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10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>
            <a:off x="3380050" y="40219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0"/>
          <p:cNvSpPr txBox="1"/>
          <p:nvPr/>
        </p:nvSpPr>
        <p:spPr>
          <a:xfrm>
            <a:off x="6103600" y="36076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2%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1 day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5" name="Google Shape;245;p20"/>
          <p:cNvCxnSpPr/>
          <p:nvPr/>
        </p:nvCxnSpPr>
        <p:spPr>
          <a:xfrm>
            <a:off x="6351850" y="40219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0"/>
          <p:cNvSpPr txBox="1"/>
          <p:nvPr/>
        </p:nvSpPr>
        <p:spPr>
          <a:xfrm>
            <a:off x="4415075" y="418482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19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>
            <a:off x="582075" y="5986466"/>
            <a:ext cx="61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8" name="Google Shape;248;p20"/>
          <p:cNvSpPr txBox="1"/>
          <p:nvPr/>
        </p:nvSpPr>
        <p:spPr>
          <a:xfrm>
            <a:off x="3427125" y="603667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3761200" y="542707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872275" y="540402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722600" y="49792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8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2" name="Google Shape;252;p20"/>
          <p:cNvCxnSpPr/>
          <p:nvPr/>
        </p:nvCxnSpPr>
        <p:spPr>
          <a:xfrm>
            <a:off x="5970850" y="53173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0"/>
          <p:cNvCxnSpPr/>
          <p:nvPr/>
        </p:nvCxnSpPr>
        <p:spPr>
          <a:xfrm>
            <a:off x="658275" y="7281866"/>
            <a:ext cx="6149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4" name="Google Shape;254;p20"/>
          <p:cNvSpPr txBox="1"/>
          <p:nvPr/>
        </p:nvSpPr>
        <p:spPr>
          <a:xfrm>
            <a:off x="3503325" y="7332070"/>
            <a:ext cx="9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 days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103600" y="61222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5%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6" name="Google Shape;256;p20"/>
          <p:cNvCxnSpPr/>
          <p:nvPr/>
        </p:nvCxnSpPr>
        <p:spPr>
          <a:xfrm>
            <a:off x="6351850" y="64603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0"/>
          <p:cNvSpPr txBox="1"/>
          <p:nvPr/>
        </p:nvSpPr>
        <p:spPr>
          <a:xfrm>
            <a:off x="5396600" y="61360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80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8" name="Google Shape;258;p20"/>
          <p:cNvCxnSpPr/>
          <p:nvPr/>
        </p:nvCxnSpPr>
        <p:spPr>
          <a:xfrm>
            <a:off x="5644850" y="6474163"/>
            <a:ext cx="2553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0"/>
          <p:cNvSpPr txBox="1"/>
          <p:nvPr/>
        </p:nvSpPr>
        <p:spPr>
          <a:xfrm>
            <a:off x="2653400" y="65932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180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672200" y="6593263"/>
            <a:ext cx="8013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12 days</a:t>
            </a:r>
            <a:endParaRPr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4" name="Shape 264"/>
        <p:cNvGrpSpPr/>
        <p:nvPr/>
      </p:nvGrpSpPr>
      <p:grpSpPr>
        <a:xfrm>
          <a:off x="0" y="0"/>
          <a:ext cx="0" cy="0"/>
        </a:xfrm>
      </p:grpSpPr>
      <p:sp>
        <p:nvSpPr>
          <p:cNvPr id="265" name="Google Shape;26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66" name="Google Shape;26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476401" y="592175"/>
            <a:ext cx="6506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a multiplier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0" name="Google Shape;270;p21"/>
          <p:cNvGraphicFramePr>
            <a:graphicFrameLocks noGrp="1"/>
          </p:cNvGraphicFramePr>
          <p:nvPr/>
        </p:nvGraphicFramePr>
        <p:xfrm>
          <a:off x="451050" y="17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219850"/>
                <a:gridCol w="1844275"/>
                <a:gridCol w="1624825"/>
              </a:tblGrid>
              <a:tr h="30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Increase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412.16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522.24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326.34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35%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445.5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1" name="Google Shape;271;p21"/>
          <p:cNvGraphicFramePr>
            <a:graphicFrameLocks noGrp="1"/>
          </p:cNvGraphicFramePr>
          <p:nvPr/>
        </p:nvGraphicFramePr>
        <p:xfrm>
          <a:off x="4759200" y="224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{D674A360-9701-4B54-BACA-EE7D07AD11C2}</a:tableStyleId>
              </a:tblPr>
              <a:tblGrid>
                <a:gridCol w="769400"/>
                <a:gridCol w="769400"/>
                <a:gridCol w="7694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1"/>
          <p:cNvSpPr txBox="1"/>
          <p:nvPr/>
        </p:nvSpPr>
        <p:spPr>
          <a:xfrm>
            <a:off x="476400" y="971172"/>
            <a:ext cx="66156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new amount and percentage increase find the original amount.  All of the answers are in the grid except for one.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i) Write a percentage question that gives this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6400" y="50265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statement in several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 = £80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£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 = £250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7083900"/>
            <a:ext cx="65061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to use the multiplier method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social media manager earns £34 980 a year.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includes a pay rise of 6%.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their wage before the pay rise?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a concert ticket is £89.60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includes an increase of 28% on the previous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 cost of the ticket last year?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Their new ticket includes the original cost (100%) and the increase (28%).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cost = £89.60 ÷ 1.28 = £70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558898" y="2668834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801000" y="2271225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6321183" y="2271225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801000" y="3050539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558898" y="2271225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321183" y="2668834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321183" y="3050541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801000" y="2668834"/>
            <a:ext cx="153000" cy="1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51050" y="5619875"/>
            <a:ext cx="668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Eg. Increase £50 by 60%  = £80;  Increase £40 by 100%  = £80; Increase £10 by 800%  = £80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51050" y="6327425"/>
            <a:ext cx="66843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Eg. Increase £200 by 25% = £250;  Increase £160 by 56.25% = £250;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Increase £50 by 50%  = £250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434275" y="7328975"/>
            <a:ext cx="2657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Their new wage includes the original wage (100%) and the pay rise (6%).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wage 	= £34 980 ÷ 1.06 = £33 000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Finding the original amount after an increase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2024-02-27T09:56:13.680</cp:lastPrinted>
  <dcterms:created xsi:type="dcterms:W3CDTF">2024-02-27T09:56:13Z</dcterms:created>
  <dcterms:modified xsi:type="dcterms:W3CDTF">2024-02-27T09:56:24Z</dcterms:modified>
</cp:coreProperties>
</file>