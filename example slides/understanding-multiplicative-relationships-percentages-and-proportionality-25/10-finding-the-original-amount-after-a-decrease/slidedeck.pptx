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7664A1-E65E-4D7B-A04D-379E3E552E56}">
  <a:tblStyle styleId="{3B7664A1-E65E-4D7B-A04D-379E3E552E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b318bd51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b318bd51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b0fde6df9d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b0fde6df9d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b318bd51b1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b318bd51b1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b378510ad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b378510a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b378510ad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b378510ad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b378510ad0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b378510ad0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b0fde6df9d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b0fde6df9d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b378510ad0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b378510ad0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b378510ad0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b378510ad0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b378510ad0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b378510ad0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b378510ad0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2b378510ad0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b378510ad0_1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b378510ad0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b378510ad0_1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b378510ad0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b378510ad0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b378510ad0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b378510ad0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b378510ad0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b0fde6df9d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b0fde6df9d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b378510ad0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b378510ad0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b378510ad0_1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b378510ad0_1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b378510ad0_1_2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b378510ad0_1_2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b378510ad0_1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b378510ad0_1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b0fde6df9d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b0fde6df9d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b43371a2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b43371a2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b430cae9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b430cae9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b430cae9e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b430cae9e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b430cae9e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b430cae9e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b430cae9e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b430cae9e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b430cae9e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b430cae9e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b0fde6df9d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b0fde6df9d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b0fde6df9d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b0fde6df9d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b0fde6df9d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b0fde6df9d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b0fde6df9d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b0fde6df9d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b0fde6df9d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b0fde6df9d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b378510ad0_1_2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b378510ad0_1_2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b378510ad0_1_2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b378510ad0_1_2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b0fde6df9d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b0fde6df9d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b378510ad0_1_2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b378510ad0_1_2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b378510ad0_1_2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b378510ad0_1_2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b378510ad0_1_2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b378510ad0_1_2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Relationship Id="rId4" Type="http://schemas.openxmlformats.org/officeDocument/2006/relationships/image" Target="../media/image79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9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9.png"/><Relationship Id="rId4" Type="http://schemas.openxmlformats.org/officeDocument/2006/relationships/image" Target="../media/image30.png"/><Relationship Id="rId11" Type="http://schemas.openxmlformats.org/officeDocument/2006/relationships/image" Target="../media/image23.png"/><Relationship Id="rId10" Type="http://schemas.openxmlformats.org/officeDocument/2006/relationships/image" Target="../media/image39.png"/><Relationship Id="rId9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2">
  <p:cSld name="CUSTOM_3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1" name="Google Shape;761;p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2" name="Google Shape;762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3" name="Google Shape;76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2">
  <p:cSld name="TITLE_AND_TWO_COLUMNS_1_1_5_1_3_1_1_1_1_2_2">
    <p:bg>
      <p:bgPr>
        <a:solidFill>
          <a:srgbClr val="E6F2F2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9" name="Google Shape;769;p6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1" name="Google Shape;771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2" name="Google Shape;77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theme" Target="../theme/theme2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6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Relationship Id="rId5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2.png"/><Relationship Id="rId4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sp>
        <p:nvSpPr>
          <p:cNvPr id="778" name="Google Shape;778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7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original value, given the final value after a stated percentage decrease.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9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The reciprocal is the multiplicative inverse of any non-zero number. Any non-zero number multiplied by its reciprocal is equal to 1.</a:t>
            </a:r>
            <a:endParaRPr/>
          </a:p>
        </p:txBody>
      </p:sp>
      <p:sp>
        <p:nvSpPr>
          <p:cNvPr id="794" name="Google Shape;794;p69"/>
          <p:cNvSpPr txBox="1"/>
          <p:nvPr>
            <p:ph idx="1" type="subTitle"/>
          </p:nvPr>
        </p:nvSpPr>
        <p:spPr>
          <a:xfrm>
            <a:off x="306950" y="24366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800" name="Google Shape;800;p7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801" name="Google Shape;801;p7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sp>
        <p:nvSpPr>
          <p:cNvPr id="802" name="Google Shape;802;p7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 </a:t>
            </a:r>
            <a:endParaRPr/>
          </a:p>
        </p:txBody>
      </p:sp>
      <p:pic>
        <p:nvPicPr>
          <p:cNvPr id="803" name="Google Shape;8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809" name="Google Shape;809;p71"/>
          <p:cNvSpPr txBox="1"/>
          <p:nvPr>
            <p:ph idx="1" type="body"/>
          </p:nvPr>
        </p:nvSpPr>
        <p:spPr>
          <a:xfrm>
            <a:off x="324000" y="688550"/>
            <a:ext cx="8190000" cy="18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Alex’s cat goes to the vet once a year.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vet tells Alex that his cat has lost 30% of its mass.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His cat now has a mass of 4.2 kg.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was the mass of Alex’s cat last year? </a:t>
            </a:r>
            <a:endParaRPr/>
          </a:p>
        </p:txBody>
      </p:sp>
      <p:pic>
        <p:nvPicPr>
          <p:cNvPr id="810" name="Google Shape;81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373" y="759299"/>
            <a:ext cx="1021925" cy="12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/>
          <p:nvPr/>
        </p:nvSpPr>
        <p:spPr>
          <a:xfrm rot="-5400000">
            <a:off x="4478075" y="272800"/>
            <a:ext cx="199800" cy="7251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1"/>
          <p:cNvSpPr/>
          <p:nvPr/>
        </p:nvSpPr>
        <p:spPr>
          <a:xfrm rot="5400000">
            <a:off x="3377925" y="705025"/>
            <a:ext cx="199800" cy="5050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 txBox="1"/>
          <p:nvPr/>
        </p:nvSpPr>
        <p:spPr>
          <a:xfrm>
            <a:off x="3130325" y="2756118"/>
            <a:ext cx="24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4.2 kg ÷ 7 = 0.6 kg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1"/>
          <p:cNvSpPr txBox="1"/>
          <p:nvPr/>
        </p:nvSpPr>
        <p:spPr>
          <a:xfrm>
            <a:off x="2022900" y="4049875"/>
            <a:ext cx="24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 kg × 10 = 6 kg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1"/>
          <p:cNvSpPr txBox="1"/>
          <p:nvPr/>
        </p:nvSpPr>
        <p:spPr>
          <a:xfrm>
            <a:off x="4441525" y="4062963"/>
            <a:ext cx="207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original mass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1"/>
          <p:cNvSpPr/>
          <p:nvPr/>
        </p:nvSpPr>
        <p:spPr>
          <a:xfrm>
            <a:off x="4014900" y="2704071"/>
            <a:ext cx="1564800" cy="38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1"/>
          <p:cNvSpPr txBox="1"/>
          <p:nvPr>
            <p:ph idx="1" type="body"/>
          </p:nvPr>
        </p:nvSpPr>
        <p:spPr>
          <a:xfrm>
            <a:off x="343650" y="4466425"/>
            <a:ext cx="60519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Alex’s cat had a mass of 6 kg last year.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18" name="Google Shape;818;p71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9" name="Google Shape;819;p71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0" name="Google Shape;820;p71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21" name="Google Shape;821;p71"/>
          <p:cNvGrpSpPr/>
          <p:nvPr/>
        </p:nvGrpSpPr>
        <p:grpSpPr>
          <a:xfrm>
            <a:off x="6031225" y="2756691"/>
            <a:ext cx="2160300" cy="583209"/>
            <a:chOff x="6031225" y="2756691"/>
            <a:chExt cx="2160300" cy="583209"/>
          </a:xfrm>
        </p:grpSpPr>
        <p:sp>
          <p:nvSpPr>
            <p:cNvPr id="822" name="Google Shape;822;p71"/>
            <p:cNvSpPr/>
            <p:nvPr/>
          </p:nvSpPr>
          <p:spPr>
            <a:xfrm rot="5400000">
              <a:off x="7011475" y="2159850"/>
              <a:ext cx="199800" cy="21603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3" name="Google Shape;823;p71"/>
            <p:cNvSpPr txBox="1"/>
            <p:nvPr/>
          </p:nvSpPr>
          <p:spPr>
            <a:xfrm>
              <a:off x="6421464" y="2756691"/>
              <a:ext cx="1337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ass lost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24" name="Google Shape;824;p71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25" name="Google Shape;825;p71"/>
          <p:cNvSpPr txBox="1"/>
          <p:nvPr/>
        </p:nvSpPr>
        <p:spPr>
          <a:xfrm>
            <a:off x="1729850" y="2723871"/>
            <a:ext cx="15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new mass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831" name="Google Shape;831;p72"/>
          <p:cNvSpPr/>
          <p:nvPr/>
        </p:nvSpPr>
        <p:spPr>
          <a:xfrm rot="-5400000">
            <a:off x="4478075" y="272800"/>
            <a:ext cx="199800" cy="7251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/>
          <p:nvPr/>
        </p:nvSpPr>
        <p:spPr>
          <a:xfrm rot="5400000">
            <a:off x="3567200" y="515875"/>
            <a:ext cx="199800" cy="5428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2"/>
          <p:cNvSpPr txBox="1"/>
          <p:nvPr/>
        </p:nvSpPr>
        <p:spPr>
          <a:xfrm>
            <a:off x="3457248" y="2729375"/>
            <a:ext cx="26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£41.25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÷ 3 = £13.75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2"/>
          <p:cNvSpPr txBox="1"/>
          <p:nvPr/>
        </p:nvSpPr>
        <p:spPr>
          <a:xfrm>
            <a:off x="4758503" y="3998200"/>
            <a:ext cx="24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£13.75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 = £55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2"/>
          <p:cNvSpPr txBox="1"/>
          <p:nvPr/>
        </p:nvSpPr>
        <p:spPr>
          <a:xfrm>
            <a:off x="2754074" y="4005031"/>
            <a:ext cx="207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original price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2"/>
          <p:cNvSpPr/>
          <p:nvPr/>
        </p:nvSpPr>
        <p:spPr>
          <a:xfrm>
            <a:off x="4342773" y="2687075"/>
            <a:ext cx="1564800" cy="38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2"/>
          <p:cNvSpPr txBox="1"/>
          <p:nvPr>
            <p:ph idx="1" type="body"/>
          </p:nvPr>
        </p:nvSpPr>
        <p:spPr>
          <a:xfrm>
            <a:off x="317169" y="4540060"/>
            <a:ext cx="6051900" cy="2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Lucas needs £55 to buy the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hoodie.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38" name="Google Shape;838;p72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12750"/>
                <a:gridCol w="1812750"/>
                <a:gridCol w="1812750"/>
                <a:gridCol w="1812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9" name="Google Shape;839;p72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0" name="Google Shape;840;p72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12750"/>
                <a:gridCol w="1812750"/>
                <a:gridCol w="1812750"/>
                <a:gridCol w="1812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41" name="Google Shape;841;p72"/>
          <p:cNvGrpSpPr/>
          <p:nvPr/>
        </p:nvGrpSpPr>
        <p:grpSpPr>
          <a:xfrm>
            <a:off x="6320576" y="2729400"/>
            <a:ext cx="2075678" cy="610538"/>
            <a:chOff x="5966304" y="2729362"/>
            <a:chExt cx="2448600" cy="610538"/>
          </a:xfrm>
        </p:grpSpPr>
        <p:sp>
          <p:nvSpPr>
            <p:cNvPr id="842" name="Google Shape;842;p72"/>
            <p:cNvSpPr/>
            <p:nvPr/>
          </p:nvSpPr>
          <p:spPr>
            <a:xfrm rot="5400000">
              <a:off x="7011475" y="2159850"/>
              <a:ext cx="199800" cy="21603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72"/>
            <p:cNvSpPr txBox="1"/>
            <p:nvPr/>
          </p:nvSpPr>
          <p:spPr>
            <a:xfrm>
              <a:off x="5966304" y="2729362"/>
              <a:ext cx="244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amount saved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44" name="Google Shape;844;p72"/>
          <p:cNvGraphicFramePr/>
          <p:nvPr/>
        </p:nvGraphicFramePr>
        <p:xfrm>
          <a:off x="958625" y="33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45" name="Google Shape;845;p72"/>
          <p:cNvSpPr txBox="1"/>
          <p:nvPr/>
        </p:nvSpPr>
        <p:spPr>
          <a:xfrm>
            <a:off x="1970814" y="2725352"/>
            <a:ext cx="15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sale price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6" name="Google Shape;84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21" y="1420687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2"/>
          <p:cNvSpPr txBox="1"/>
          <p:nvPr/>
        </p:nvSpPr>
        <p:spPr>
          <a:xfrm>
            <a:off x="3095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8" name="Google Shape;84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4790" y="14239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2"/>
          <p:cNvSpPr txBox="1"/>
          <p:nvPr/>
        </p:nvSpPr>
        <p:spPr>
          <a:xfrm>
            <a:off x="75485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0" name="Google Shape;850;p72"/>
          <p:cNvGrpSpPr/>
          <p:nvPr/>
        </p:nvGrpSpPr>
        <p:grpSpPr>
          <a:xfrm>
            <a:off x="4264796" y="496375"/>
            <a:ext cx="3291345" cy="2170701"/>
            <a:chOff x="4449050" y="496375"/>
            <a:chExt cx="3106801" cy="2170701"/>
          </a:xfrm>
        </p:grpSpPr>
        <p:pic>
          <p:nvPicPr>
            <p:cNvPr id="851" name="Google Shape;851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449050" y="496375"/>
              <a:ext cx="3106801" cy="2170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72"/>
            <p:cNvSpPr txBox="1"/>
            <p:nvPr/>
          </p:nvSpPr>
          <p:spPr>
            <a:xfrm>
              <a:off x="4677804" y="861075"/>
              <a:ext cx="2649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just bought a hoodie for £41.25 but that was when the shop had a 25% sale that has finished now.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3" name="Google Shape;853;p72"/>
          <p:cNvGrpSpPr/>
          <p:nvPr/>
        </p:nvGrpSpPr>
        <p:grpSpPr>
          <a:xfrm>
            <a:off x="1133025" y="1016967"/>
            <a:ext cx="2896625" cy="1272500"/>
            <a:chOff x="1226700" y="1867975"/>
            <a:chExt cx="2896625" cy="1272500"/>
          </a:xfrm>
        </p:grpSpPr>
        <p:pic>
          <p:nvPicPr>
            <p:cNvPr id="854" name="Google Shape;854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700" y="1867975"/>
              <a:ext cx="2896625" cy="1203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p72"/>
            <p:cNvSpPr txBox="1"/>
            <p:nvPr/>
          </p:nvSpPr>
          <p:spPr>
            <a:xfrm>
              <a:off x="1481601" y="2023275"/>
              <a:ext cx="2487600" cy="11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 work out how much it will cost me to buy the hoodie now.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861" name="Google Shape;861;p73"/>
          <p:cNvSpPr txBox="1"/>
          <p:nvPr>
            <p:ph idx="1" type="body"/>
          </p:nvPr>
        </p:nvSpPr>
        <p:spPr>
          <a:xfrm>
            <a:off x="324000" y="621069"/>
            <a:ext cx="8237700" cy="9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also solve this type of problem with a double number line. This is more useful when the bar cannot be easily partitioned to show the percentage.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73"/>
          <p:cNvSpPr txBox="1"/>
          <p:nvPr>
            <p:ph idx="1" type="body"/>
          </p:nvPr>
        </p:nvSpPr>
        <p:spPr>
          <a:xfrm>
            <a:off x="324000" y="1902300"/>
            <a:ext cx="7332900" cy="29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cost of a car depreciates by 16% in the first year.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car is now worth £12 600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much did the car cost when it was first purchased?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percentage of the original cost is the car now worth?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100% − 16% = 84%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63" name="Google Shape;86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775" y="2527800"/>
            <a:ext cx="1933250" cy="6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grpSp>
        <p:nvGrpSpPr>
          <p:cNvPr id="869" name="Google Shape;869;p74"/>
          <p:cNvGrpSpPr/>
          <p:nvPr/>
        </p:nvGrpSpPr>
        <p:grpSpPr>
          <a:xfrm>
            <a:off x="2164175" y="3310313"/>
            <a:ext cx="4544768" cy="613454"/>
            <a:chOff x="2164175" y="2531838"/>
            <a:chExt cx="4544768" cy="1357500"/>
          </a:xfrm>
        </p:grpSpPr>
        <p:grpSp>
          <p:nvGrpSpPr>
            <p:cNvPr id="870" name="Google Shape;870;p74"/>
            <p:cNvGrpSpPr/>
            <p:nvPr/>
          </p:nvGrpSpPr>
          <p:grpSpPr>
            <a:xfrm>
              <a:off x="44927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871" name="Google Shape;871;p74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2" name="Google Shape;872;p74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3" name="Google Shape;873;p74"/>
            <p:cNvGrpSpPr/>
            <p:nvPr/>
          </p:nvGrpSpPr>
          <p:grpSpPr>
            <a:xfrm>
              <a:off x="3654588" y="2726975"/>
              <a:ext cx="63300" cy="1000200"/>
              <a:chOff x="1475113" y="3767150"/>
              <a:chExt cx="63300" cy="1000200"/>
            </a:xfrm>
          </p:grpSpPr>
          <p:cxnSp>
            <p:nvCxnSpPr>
              <p:cNvPr id="874" name="Google Shape;874;p74"/>
              <p:cNvCxnSpPr/>
              <p:nvPr/>
            </p:nvCxnSpPr>
            <p:spPr>
              <a:xfrm>
                <a:off x="15087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5" name="Google Shape;875;p74"/>
              <p:cNvSpPr/>
              <p:nvPr/>
            </p:nvSpPr>
            <p:spPr>
              <a:xfrm>
                <a:off x="14751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6" name="Google Shape;876;p74"/>
            <p:cNvGrpSpPr/>
            <p:nvPr/>
          </p:nvGrpSpPr>
          <p:grpSpPr>
            <a:xfrm>
              <a:off x="2164175" y="2531838"/>
              <a:ext cx="4544768" cy="1357500"/>
              <a:chOff x="2164175" y="2531838"/>
              <a:chExt cx="4544768" cy="1357500"/>
            </a:xfrm>
          </p:grpSpPr>
          <p:grpSp>
            <p:nvGrpSpPr>
              <p:cNvPr id="877" name="Google Shape;877;p74"/>
              <p:cNvGrpSpPr/>
              <p:nvPr/>
            </p:nvGrpSpPr>
            <p:grpSpPr>
              <a:xfrm>
                <a:off x="2164175" y="2531838"/>
                <a:ext cx="3074500" cy="1357500"/>
                <a:chOff x="441900" y="3572013"/>
                <a:chExt cx="3074500" cy="1357500"/>
              </a:xfrm>
            </p:grpSpPr>
            <p:cxnSp>
              <p:nvCxnSpPr>
                <p:cNvPr id="878" name="Google Shape;878;p74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79" name="Google Shape;879;p74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880" name="Google Shape;880;p74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881" name="Google Shape;881;p74"/>
              <p:cNvSpPr txBox="1"/>
              <p:nvPr/>
            </p:nvSpPr>
            <p:spPr>
              <a:xfrm>
                <a:off x="5291443" y="2623878"/>
                <a:ext cx="13581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%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2" name="Google Shape;882;p74"/>
              <p:cNvSpPr txBox="1"/>
              <p:nvPr/>
            </p:nvSpPr>
            <p:spPr>
              <a:xfrm>
                <a:off x="5291443" y="3231203"/>
                <a:ext cx="14175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cost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83" name="Google Shape;883;p74"/>
          <p:cNvSpPr txBox="1"/>
          <p:nvPr/>
        </p:nvSpPr>
        <p:spPr>
          <a:xfrm>
            <a:off x="4315913" y="31511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3528278" y="3151125"/>
            <a:ext cx="4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4"/>
          <p:cNvSpPr/>
          <p:nvPr/>
        </p:nvSpPr>
        <p:spPr>
          <a:xfrm>
            <a:off x="3729700" y="2954550"/>
            <a:ext cx="772200" cy="2979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74"/>
          <p:cNvSpPr txBox="1"/>
          <p:nvPr/>
        </p:nvSpPr>
        <p:spPr>
          <a:xfrm>
            <a:off x="4462968" y="3836925"/>
            <a:ext cx="25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3306224" y="3836925"/>
            <a:ext cx="77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>
            <p:ph idx="1" type="body"/>
          </p:nvPr>
        </p:nvSpPr>
        <p:spPr>
          <a:xfrm>
            <a:off x="324000" y="683100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cost of a car depreciates by 16% in the first year.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car is now worth £12 600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much did the car cost when it was first purchased?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is now worth 84% of the original cost.</a:t>
            </a:r>
            <a:endParaRPr/>
          </a:p>
        </p:txBody>
      </p:sp>
      <p:pic>
        <p:nvPicPr>
          <p:cNvPr id="889" name="Google Shape;88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775" y="2070600"/>
            <a:ext cx="1933250" cy="691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0" name="Google Shape;890;p74"/>
          <p:cNvGrpSpPr/>
          <p:nvPr/>
        </p:nvGrpSpPr>
        <p:grpSpPr>
          <a:xfrm>
            <a:off x="3893799" y="2494525"/>
            <a:ext cx="502446" cy="402150"/>
            <a:chOff x="3893799" y="2723125"/>
            <a:chExt cx="502446" cy="402150"/>
          </a:xfrm>
        </p:grpSpPr>
        <p:sp>
          <p:nvSpPr>
            <p:cNvPr id="891" name="Google Shape;891;p74"/>
            <p:cNvSpPr txBox="1"/>
            <p:nvPr/>
          </p:nvSpPr>
          <p:spPr>
            <a:xfrm>
              <a:off x="3893799" y="2782800"/>
              <a:ext cx="42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0}{84}&quot;&gt;&lt;mfrac&gt;&lt;mn&gt;100&lt;/mn&gt;&lt;mn&gt;84&lt;/mn&gt;&lt;/mfrac&gt;&lt;/math&gt;" id="892" name="Google Shape;892;p74" title="100 over 8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80890" y="2723125"/>
              <a:ext cx="315355" cy="402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3" name="Google Shape;893;p74"/>
          <p:cNvGrpSpPr/>
          <p:nvPr/>
        </p:nvGrpSpPr>
        <p:grpSpPr>
          <a:xfrm>
            <a:off x="3687589" y="4019370"/>
            <a:ext cx="838686" cy="706105"/>
            <a:chOff x="3687589" y="4019370"/>
            <a:chExt cx="838686" cy="706105"/>
          </a:xfrm>
        </p:grpSpPr>
        <p:grpSp>
          <p:nvGrpSpPr>
            <p:cNvPr id="894" name="Google Shape;894;p74"/>
            <p:cNvGrpSpPr/>
            <p:nvPr/>
          </p:nvGrpSpPr>
          <p:grpSpPr>
            <a:xfrm flipH="1">
              <a:off x="3687589" y="4019370"/>
              <a:ext cx="838686" cy="635839"/>
              <a:chOff x="3719500" y="4557761"/>
              <a:chExt cx="772200" cy="635839"/>
            </a:xfrm>
          </p:grpSpPr>
          <p:sp>
            <p:nvSpPr>
              <p:cNvPr id="895" name="Google Shape;895;p74"/>
              <p:cNvSpPr/>
              <p:nvPr/>
            </p:nvSpPr>
            <p:spPr>
              <a:xfrm rot="10800000">
                <a:off x="3719500" y="4557761"/>
                <a:ext cx="772200" cy="234000"/>
              </a:xfrm>
              <a:prstGeom prst="arc">
                <a:avLst>
                  <a:gd fmla="val 10729459" name="adj1"/>
                  <a:gd fmla="val 472" name="adj2"/>
                </a:avLst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74"/>
              <p:cNvSpPr txBox="1"/>
              <p:nvPr/>
            </p:nvSpPr>
            <p:spPr>
              <a:xfrm>
                <a:off x="3893799" y="4916400"/>
                <a:ext cx="423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100}{84}&quot;&gt;&lt;mfrac&gt;&lt;mn&gt;100&lt;/mn&gt;&lt;mn&gt;84&lt;/mn&gt;&lt;/mfrac&gt;&lt;/math&gt;" id="897" name="Google Shape;897;p74" title="100 over 8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80890" y="4323325"/>
              <a:ext cx="315355" cy="402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8" name="Google Shape;898;p74"/>
          <p:cNvSpPr txBox="1"/>
          <p:nvPr/>
        </p:nvSpPr>
        <p:spPr>
          <a:xfrm>
            <a:off x="4315935" y="3836925"/>
            <a:ext cx="77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15 000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4"/>
          <p:cNvSpPr txBox="1"/>
          <p:nvPr/>
        </p:nvSpPr>
        <p:spPr>
          <a:xfrm>
            <a:off x="6214675" y="3494675"/>
            <a:ext cx="26052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original cost of the car was £15 000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324000" y="759300"/>
            <a:ext cx="7360800" cy="17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reduced sugar chocolate bar contains 30% less sugar than the regular bar.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reduced sugar bar contains 36.8 grams of sugar.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sugar is in the regular bar?</a:t>
            </a:r>
            <a:endParaRPr/>
          </a:p>
        </p:txBody>
      </p:sp>
      <p:graphicFrame>
        <p:nvGraphicFramePr>
          <p:cNvPr id="906" name="Google Shape;906;p75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7" name="Google Shape;907;p75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rams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8" name="Google Shape;908;p75"/>
          <p:cNvSpPr/>
          <p:nvPr/>
        </p:nvSpPr>
        <p:spPr>
          <a:xfrm rot="-2196002">
            <a:off x="2096012" y="3450630"/>
            <a:ext cx="560526" cy="33750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>
              <a:alpha val="5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5"/>
          <p:cNvSpPr txBox="1"/>
          <p:nvPr/>
        </p:nvSpPr>
        <p:spPr>
          <a:xfrm>
            <a:off x="419099" y="2922525"/>
            <a:ext cx="1729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percentage  is equivalent  to 36.8 g?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0" name="Google Shape;910;p75"/>
          <p:cNvGrpSpPr/>
          <p:nvPr/>
        </p:nvGrpSpPr>
        <p:grpSpPr>
          <a:xfrm>
            <a:off x="7284676" y="886299"/>
            <a:ext cx="1449794" cy="613801"/>
            <a:chOff x="7284676" y="886299"/>
            <a:chExt cx="1449794" cy="613801"/>
          </a:xfrm>
        </p:grpSpPr>
        <p:grpSp>
          <p:nvGrpSpPr>
            <p:cNvPr id="911" name="Google Shape;911;p75"/>
            <p:cNvGrpSpPr/>
            <p:nvPr/>
          </p:nvGrpSpPr>
          <p:grpSpPr>
            <a:xfrm>
              <a:off x="7284676" y="886299"/>
              <a:ext cx="1449794" cy="613801"/>
              <a:chOff x="1759500" y="884250"/>
              <a:chExt cx="5535679" cy="2250005"/>
            </a:xfrm>
          </p:grpSpPr>
          <p:sp>
            <p:nvSpPr>
              <p:cNvPr id="912" name="Google Shape;912;p75"/>
              <p:cNvSpPr/>
              <p:nvPr/>
            </p:nvSpPr>
            <p:spPr>
              <a:xfrm>
                <a:off x="2884500" y="2009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75"/>
              <p:cNvSpPr/>
              <p:nvPr/>
            </p:nvSpPr>
            <p:spPr>
              <a:xfrm>
                <a:off x="1759500" y="2009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75"/>
              <p:cNvSpPr/>
              <p:nvPr/>
            </p:nvSpPr>
            <p:spPr>
              <a:xfrm>
                <a:off x="4020379" y="884255"/>
                <a:ext cx="3274800" cy="2250000"/>
              </a:xfrm>
              <a:prstGeom prst="rect">
                <a:avLst/>
              </a:prstGeom>
              <a:solidFill>
                <a:srgbClr val="845A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75"/>
              <p:cNvSpPr/>
              <p:nvPr/>
            </p:nvSpPr>
            <p:spPr>
              <a:xfrm>
                <a:off x="2884500" y="884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75"/>
              <p:cNvSpPr/>
              <p:nvPr/>
            </p:nvSpPr>
            <p:spPr>
              <a:xfrm>
                <a:off x="1759500" y="884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7" name="Google Shape;917;p75"/>
            <p:cNvSpPr/>
            <p:nvPr/>
          </p:nvSpPr>
          <p:spPr>
            <a:xfrm>
              <a:off x="7883950" y="886300"/>
              <a:ext cx="686700" cy="503700"/>
            </a:xfrm>
            <a:prstGeom prst="diagStripe">
              <a:avLst>
                <a:gd fmla="val 41726" name="adj"/>
              </a:avLst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923" name="Google Shape;923;p76"/>
          <p:cNvSpPr txBox="1"/>
          <p:nvPr>
            <p:ph idx="1" type="body"/>
          </p:nvPr>
        </p:nvSpPr>
        <p:spPr>
          <a:xfrm>
            <a:off x="324000" y="759300"/>
            <a:ext cx="7360800" cy="17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reduced sugar chocolate bar contains 30% less sugar than the regular bar.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reduced sugar bar contains 36.8 grams of sugar.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much sugar is in the regular bar?</a:t>
            </a:r>
            <a:endParaRPr/>
          </a:p>
        </p:txBody>
      </p:sp>
      <p:sp>
        <p:nvSpPr>
          <p:cNvPr id="924" name="Google Shape;924;p76"/>
          <p:cNvSpPr/>
          <p:nvPr/>
        </p:nvSpPr>
        <p:spPr>
          <a:xfrm flipH="1" rot="-5400000">
            <a:off x="2290850" y="340573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6"/>
          <p:cNvSpPr txBox="1"/>
          <p:nvPr/>
        </p:nvSpPr>
        <p:spPr>
          <a:xfrm>
            <a:off x="324000" y="44169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regular bar of chocolate contains 52.6 g (1 d.p.)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26" name="Google Shape;926;p76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rams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27" name="Google Shape;927;p76"/>
          <p:cNvGrpSpPr/>
          <p:nvPr/>
        </p:nvGrpSpPr>
        <p:grpSpPr>
          <a:xfrm>
            <a:off x="1498600" y="3289300"/>
            <a:ext cx="730979" cy="523200"/>
            <a:chOff x="1498600" y="3289300"/>
            <a:chExt cx="730979" cy="523200"/>
          </a:xfrm>
        </p:grpSpPr>
        <p:sp>
          <p:nvSpPr>
            <p:cNvPr id="928" name="Google Shape;928;p76"/>
            <p:cNvSpPr txBox="1"/>
            <p:nvPr/>
          </p:nvSpPr>
          <p:spPr>
            <a:xfrm>
              <a:off x="1498600" y="32893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0}{70}&quot;&gt;&lt;mfrac&gt;&lt;mn&gt;100&lt;/mn&gt;&lt;mn&gt;70&lt;/mn&gt;&lt;/mfrac&gt;&lt;/math&gt;" id="929" name="Google Shape;929;p76" title="100 over 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9300" y="3289300"/>
              <a:ext cx="410279" cy="52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0" name="Google Shape;930;p76"/>
          <p:cNvGrpSpPr/>
          <p:nvPr/>
        </p:nvGrpSpPr>
        <p:grpSpPr>
          <a:xfrm>
            <a:off x="6507750" y="3304500"/>
            <a:ext cx="1239054" cy="523200"/>
            <a:chOff x="6507750" y="3304500"/>
            <a:chExt cx="1239054" cy="523200"/>
          </a:xfrm>
        </p:grpSpPr>
        <p:grpSp>
          <p:nvGrpSpPr>
            <p:cNvPr id="931" name="Google Shape;931;p76"/>
            <p:cNvGrpSpPr/>
            <p:nvPr/>
          </p:nvGrpSpPr>
          <p:grpSpPr>
            <a:xfrm>
              <a:off x="6507750" y="3304500"/>
              <a:ext cx="797950" cy="523200"/>
              <a:chOff x="6507750" y="3304500"/>
              <a:chExt cx="797950" cy="523200"/>
            </a:xfrm>
          </p:grpSpPr>
          <p:sp>
            <p:nvSpPr>
              <p:cNvPr id="932" name="Google Shape;932;p76"/>
              <p:cNvSpPr/>
              <p:nvPr/>
            </p:nvSpPr>
            <p:spPr>
              <a:xfrm rot="5400000">
                <a:off x="6463650" y="3390300"/>
                <a:ext cx="439800" cy="351600"/>
              </a:xfrm>
              <a:prstGeom prst="arc">
                <a:avLst>
                  <a:gd fmla="val 10729459" name="adj1"/>
                  <a:gd fmla="val 194289" name="adj2"/>
                </a:avLst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76"/>
              <p:cNvSpPr txBox="1"/>
              <p:nvPr/>
            </p:nvSpPr>
            <p:spPr>
              <a:xfrm>
                <a:off x="6985000" y="3304500"/>
                <a:ext cx="320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100}{70}&quot;&gt;&lt;mfrac&gt;&lt;mn&gt;100&lt;/mn&gt;&lt;mn&gt;70&lt;/mn&gt;&lt;/mfrac&gt;&lt;/math&gt;" id="934" name="Google Shape;934;p76" title="100 over 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36525" y="3304500"/>
              <a:ext cx="410279" cy="5232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935" name="Google Shape;935;p76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rams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52.6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36" name="Google Shape;936;p76"/>
          <p:cNvGrpSpPr/>
          <p:nvPr/>
        </p:nvGrpSpPr>
        <p:grpSpPr>
          <a:xfrm>
            <a:off x="7284676" y="886299"/>
            <a:ext cx="1449794" cy="613801"/>
            <a:chOff x="7284676" y="886299"/>
            <a:chExt cx="1449794" cy="613801"/>
          </a:xfrm>
        </p:grpSpPr>
        <p:grpSp>
          <p:nvGrpSpPr>
            <p:cNvPr id="937" name="Google Shape;937;p76"/>
            <p:cNvGrpSpPr/>
            <p:nvPr/>
          </p:nvGrpSpPr>
          <p:grpSpPr>
            <a:xfrm>
              <a:off x="7284676" y="886299"/>
              <a:ext cx="1449794" cy="613801"/>
              <a:chOff x="1759500" y="884250"/>
              <a:chExt cx="5535679" cy="2250005"/>
            </a:xfrm>
          </p:grpSpPr>
          <p:sp>
            <p:nvSpPr>
              <p:cNvPr id="938" name="Google Shape;938;p76"/>
              <p:cNvSpPr/>
              <p:nvPr/>
            </p:nvSpPr>
            <p:spPr>
              <a:xfrm>
                <a:off x="2884500" y="2009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76"/>
              <p:cNvSpPr/>
              <p:nvPr/>
            </p:nvSpPr>
            <p:spPr>
              <a:xfrm>
                <a:off x="1759500" y="2009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76"/>
              <p:cNvSpPr/>
              <p:nvPr/>
            </p:nvSpPr>
            <p:spPr>
              <a:xfrm>
                <a:off x="4020379" y="884255"/>
                <a:ext cx="3274800" cy="2250000"/>
              </a:xfrm>
              <a:prstGeom prst="rect">
                <a:avLst/>
              </a:prstGeom>
              <a:solidFill>
                <a:srgbClr val="845A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76"/>
              <p:cNvSpPr/>
              <p:nvPr/>
            </p:nvSpPr>
            <p:spPr>
              <a:xfrm>
                <a:off x="2884500" y="884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76"/>
              <p:cNvSpPr/>
              <p:nvPr/>
            </p:nvSpPr>
            <p:spPr>
              <a:xfrm>
                <a:off x="1759500" y="884250"/>
                <a:ext cx="1125000" cy="1125000"/>
              </a:xfrm>
              <a:prstGeom prst="rect">
                <a:avLst/>
              </a:prstGeom>
              <a:solidFill>
                <a:srgbClr val="5B0F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3" name="Google Shape;943;p76"/>
            <p:cNvSpPr/>
            <p:nvPr/>
          </p:nvSpPr>
          <p:spPr>
            <a:xfrm>
              <a:off x="7883950" y="886300"/>
              <a:ext cx="686700" cy="503700"/>
            </a:xfrm>
            <a:prstGeom prst="diagStripe">
              <a:avLst>
                <a:gd fmla="val 41726" name="adj"/>
              </a:avLst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7"/>
          <p:cNvSpPr txBox="1"/>
          <p:nvPr>
            <p:ph idx="1" type="body"/>
          </p:nvPr>
        </p:nvSpPr>
        <p:spPr>
          <a:xfrm>
            <a:off x="324000" y="683100"/>
            <a:ext cx="82377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any of the 3 different methods, answer this question.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low salt packet of crisps contains 0.17 g of salt.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packet </a:t>
            </a:r>
            <a:r>
              <a:rPr lang="en-GB"/>
              <a:t>contains</a:t>
            </a:r>
            <a:r>
              <a:rPr lang="en-GB"/>
              <a:t> 45% less salt than the regular bags.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salt is in a regular bag?</a:t>
            </a:r>
            <a:endParaRPr/>
          </a:p>
        </p:txBody>
      </p:sp>
      <p:sp>
        <p:nvSpPr>
          <p:cNvPr id="949" name="Google Shape;94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950" name="Google Shape;950;p77"/>
          <p:cNvSpPr/>
          <p:nvPr/>
        </p:nvSpPr>
        <p:spPr>
          <a:xfrm flipH="1" rot="-5400000">
            <a:off x="2290850" y="340573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7"/>
          <p:cNvSpPr txBox="1"/>
          <p:nvPr/>
        </p:nvSpPr>
        <p:spPr>
          <a:xfrm>
            <a:off x="324000" y="44169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regular bag of crisps contains 0.31 g (2 d.p.)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52" name="Google Shape;952;p77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rams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0.17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0.31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3" name="Google Shape;953;p77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rams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0.17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54" name="Google Shape;954;p77"/>
          <p:cNvGrpSpPr/>
          <p:nvPr/>
        </p:nvGrpSpPr>
        <p:grpSpPr>
          <a:xfrm>
            <a:off x="1498600" y="3289300"/>
            <a:ext cx="731497" cy="538400"/>
            <a:chOff x="1498600" y="3289300"/>
            <a:chExt cx="731497" cy="538400"/>
          </a:xfrm>
        </p:grpSpPr>
        <p:sp>
          <p:nvSpPr>
            <p:cNvPr id="955" name="Google Shape;955;p77"/>
            <p:cNvSpPr txBox="1"/>
            <p:nvPr/>
          </p:nvSpPr>
          <p:spPr>
            <a:xfrm>
              <a:off x="1498600" y="32893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0}{55}&quot;&gt;&lt;mfrac&gt;&lt;mn&gt;100&lt;/mn&gt;&lt;mn&gt;55&lt;/mn&gt;&lt;/mfrac&gt;&lt;/math&gt;" id="956" name="Google Shape;956;p77" title="100 over 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9300" y="3304500"/>
              <a:ext cx="410797" cy="52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7" name="Google Shape;957;p77"/>
          <p:cNvGrpSpPr/>
          <p:nvPr/>
        </p:nvGrpSpPr>
        <p:grpSpPr>
          <a:xfrm>
            <a:off x="6507750" y="3304500"/>
            <a:ext cx="1163372" cy="523200"/>
            <a:chOff x="6507750" y="3304500"/>
            <a:chExt cx="1163372" cy="523200"/>
          </a:xfrm>
        </p:grpSpPr>
        <p:grpSp>
          <p:nvGrpSpPr>
            <p:cNvPr id="958" name="Google Shape;958;p77"/>
            <p:cNvGrpSpPr/>
            <p:nvPr/>
          </p:nvGrpSpPr>
          <p:grpSpPr>
            <a:xfrm>
              <a:off x="6507750" y="3304500"/>
              <a:ext cx="797950" cy="523200"/>
              <a:chOff x="6507750" y="3304500"/>
              <a:chExt cx="797950" cy="523200"/>
            </a:xfrm>
          </p:grpSpPr>
          <p:sp>
            <p:nvSpPr>
              <p:cNvPr id="959" name="Google Shape;959;p77"/>
              <p:cNvSpPr/>
              <p:nvPr/>
            </p:nvSpPr>
            <p:spPr>
              <a:xfrm rot="5400000">
                <a:off x="6463650" y="3390300"/>
                <a:ext cx="439800" cy="351600"/>
              </a:xfrm>
              <a:prstGeom prst="arc">
                <a:avLst>
                  <a:gd fmla="val 10729459" name="adj1"/>
                  <a:gd fmla="val 194289" name="adj2"/>
                </a:avLst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77"/>
              <p:cNvSpPr txBox="1"/>
              <p:nvPr/>
            </p:nvSpPr>
            <p:spPr>
              <a:xfrm>
                <a:off x="6985000" y="3304500"/>
                <a:ext cx="320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100}{55}&quot;&gt;&lt;mfrac&gt;&lt;mn&gt;100&lt;/mn&gt;&lt;mn&gt;55&lt;/mn&gt;&lt;/mfrac&gt;&lt;/math&gt;" id="961" name="Google Shape;961;p77" title="100 over 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60325" y="3304500"/>
              <a:ext cx="410797" cy="52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967" name="Google Shape;967;p78"/>
          <p:cNvSpPr txBox="1"/>
          <p:nvPr>
            <p:ph idx="1" type="body"/>
          </p:nvPr>
        </p:nvSpPr>
        <p:spPr>
          <a:xfrm>
            <a:off x="324000" y="759300"/>
            <a:ext cx="7527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preferred method, answer the following.  Give your answers to an appropriate degree of accuracy.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t-shirt costs £21 in a sale offering a 25% discount.  What is the cost of the t-shirt before the discount?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68" name="Google Shape;96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625" y="981900"/>
            <a:ext cx="875400" cy="896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974" name="Google Shape;974;p79"/>
          <p:cNvSpPr txBox="1"/>
          <p:nvPr>
            <p:ph idx="1" type="body"/>
          </p:nvPr>
        </p:nvSpPr>
        <p:spPr>
          <a:xfrm>
            <a:off x="324000" y="759300"/>
            <a:ext cx="7803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preferred method, answer the following.  Give your answers to an appropriate degree of accuracy.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A car's value depreciates by 22% in the first year. It is now worth £11 544.  What was the cost of the car originally?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9275" y="1188837"/>
            <a:ext cx="1704525" cy="7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981" name="Google Shape;981;p80"/>
          <p:cNvSpPr txBox="1"/>
          <p:nvPr>
            <p:ph idx="1" type="body"/>
          </p:nvPr>
        </p:nvSpPr>
        <p:spPr>
          <a:xfrm>
            <a:off x="324000" y="759300"/>
            <a:ext cx="74865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preferred method, answer the following.  Give your answers to an appropriate degree of accuracy.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A packet of crisps contains 33% less fat. This low fat packet contains 5.3 g of fat. How much fat is in a regular packet? </a:t>
            </a:r>
            <a:endParaRPr/>
          </a:p>
        </p:txBody>
      </p:sp>
      <p:grpSp>
        <p:nvGrpSpPr>
          <p:cNvPr id="982" name="Google Shape;982;p80"/>
          <p:cNvGrpSpPr/>
          <p:nvPr/>
        </p:nvGrpSpPr>
        <p:grpSpPr>
          <a:xfrm>
            <a:off x="7886725" y="1028409"/>
            <a:ext cx="772904" cy="1029105"/>
            <a:chOff x="5104000" y="3238125"/>
            <a:chExt cx="888600" cy="1155000"/>
          </a:xfrm>
        </p:grpSpPr>
        <p:sp>
          <p:nvSpPr>
            <p:cNvPr id="983" name="Google Shape;983;p80"/>
            <p:cNvSpPr/>
            <p:nvPr/>
          </p:nvSpPr>
          <p:spPr>
            <a:xfrm>
              <a:off x="5104000" y="3238125"/>
              <a:ext cx="888600" cy="11550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80"/>
            <p:cNvSpPr/>
            <p:nvPr/>
          </p:nvSpPr>
          <p:spPr>
            <a:xfrm>
              <a:off x="5104000" y="3648975"/>
              <a:ext cx="888600" cy="180900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80"/>
            <p:cNvSpPr/>
            <p:nvPr/>
          </p:nvSpPr>
          <p:spPr>
            <a:xfrm>
              <a:off x="5251200" y="3476375"/>
              <a:ext cx="579900" cy="570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80"/>
            <p:cNvSpPr/>
            <p:nvPr/>
          </p:nvSpPr>
          <p:spPr>
            <a:xfrm rot="-1402819">
              <a:off x="5309964" y="3559792"/>
              <a:ext cx="173877" cy="164344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80"/>
            <p:cNvSpPr/>
            <p:nvPr/>
          </p:nvSpPr>
          <p:spPr>
            <a:xfrm rot="765889">
              <a:off x="5462328" y="3788334"/>
              <a:ext cx="173795" cy="164328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80"/>
            <p:cNvSpPr/>
            <p:nvPr/>
          </p:nvSpPr>
          <p:spPr>
            <a:xfrm rot="-344405">
              <a:off x="5587664" y="3572300"/>
              <a:ext cx="173972" cy="164301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80"/>
            <p:cNvSpPr/>
            <p:nvPr/>
          </p:nvSpPr>
          <p:spPr>
            <a:xfrm>
              <a:off x="53875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80"/>
            <p:cNvSpPr/>
            <p:nvPr/>
          </p:nvSpPr>
          <p:spPr>
            <a:xfrm>
              <a:off x="5463775" y="35052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80"/>
            <p:cNvSpPr/>
            <p:nvPr/>
          </p:nvSpPr>
          <p:spPr>
            <a:xfrm>
              <a:off x="56161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80"/>
            <p:cNvSpPr/>
            <p:nvPr/>
          </p:nvSpPr>
          <p:spPr>
            <a:xfrm>
              <a:off x="5539975" y="36576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998" name="Google Shape;998;p81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preferred method, answer the following.  Give your answers to an appropriate degree of accuracy.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t-shirt costs £21 in a sale offering a 25% discount.  What is the cost of the t-shirt before the discount?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99" name="Google Shape;99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625" y="981900"/>
            <a:ext cx="875400" cy="89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1"/>
          <p:cNvSpPr/>
          <p:nvPr/>
        </p:nvSpPr>
        <p:spPr>
          <a:xfrm flipH="1" rot="-5400000">
            <a:off x="2290850" y="340573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81"/>
          <p:cNvSpPr txBox="1"/>
          <p:nvPr/>
        </p:nvSpPr>
        <p:spPr>
          <a:xfrm>
            <a:off x="324000" y="44169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price of the t-shirt before 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discount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is £28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02" name="Google Shape;1002;p81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price (£)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3" name="Google Shape;1003;p81"/>
          <p:cNvSpPr txBox="1"/>
          <p:nvPr/>
        </p:nvSpPr>
        <p:spPr>
          <a:xfrm>
            <a:off x="1498600" y="3289300"/>
            <a:ext cx="3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4" name="Google Shape;1004;p81"/>
          <p:cNvGrpSpPr/>
          <p:nvPr/>
        </p:nvGrpSpPr>
        <p:grpSpPr>
          <a:xfrm>
            <a:off x="6507750" y="3304500"/>
            <a:ext cx="797950" cy="523200"/>
            <a:chOff x="6507750" y="3304500"/>
            <a:chExt cx="797950" cy="523200"/>
          </a:xfrm>
        </p:grpSpPr>
        <p:sp>
          <p:nvSpPr>
            <p:cNvPr id="1005" name="Google Shape;1005;p81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81"/>
            <p:cNvSpPr txBox="1"/>
            <p:nvPr/>
          </p:nvSpPr>
          <p:spPr>
            <a:xfrm>
              <a:off x="6985000" y="33045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0}{75}&quot;&gt;&lt;mfrac&gt;&lt;mn&gt;100&lt;/mn&gt;&lt;mn&gt;75&lt;/mn&gt;&lt;/mfrac&gt;&lt;/math&gt;" id="1007" name="Google Shape;1007;p81" title="100 over 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300" y="3304500"/>
            <a:ext cx="410809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0}{75}&quot;&gt;&lt;mfrac&gt;&lt;mn&gt;100&lt;/mn&gt;&lt;mn&gt;75&lt;/mn&gt;&lt;/mfrac&gt;&lt;/math&gt;" id="1008" name="Google Shape;1008;p81" title="100 over 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3800" y="3304500"/>
            <a:ext cx="41080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014" name="Google Shape;1014;p82"/>
          <p:cNvSpPr txBox="1"/>
          <p:nvPr>
            <p:ph idx="1" type="body"/>
          </p:nvPr>
        </p:nvSpPr>
        <p:spPr>
          <a:xfrm>
            <a:off x="324000" y="606900"/>
            <a:ext cx="8362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preferred method, answer the following.  Give your answers to an appropriate degree of accuracy.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  A car's value depreciates by 22% in the first year. It is now worth £11 544. What was the cost of the car originally?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700" y="1188826"/>
            <a:ext cx="1514301" cy="6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82"/>
          <p:cNvSpPr/>
          <p:nvPr/>
        </p:nvSpPr>
        <p:spPr>
          <a:xfrm flipH="1" rot="-5400000">
            <a:off x="2290850" y="340573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82"/>
          <p:cNvSpPr txBox="1"/>
          <p:nvPr/>
        </p:nvSpPr>
        <p:spPr>
          <a:xfrm>
            <a:off x="324000" y="44169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cost of the car was originally £14 800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18" name="Google Shape;1018;p82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cost</a:t>
                      </a: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 (£)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11 544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14 800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9" name="Google Shape;1019;p82"/>
          <p:cNvSpPr txBox="1"/>
          <p:nvPr/>
        </p:nvSpPr>
        <p:spPr>
          <a:xfrm>
            <a:off x="1498600" y="3289300"/>
            <a:ext cx="3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0" name="Google Shape;1020;p82"/>
          <p:cNvGrpSpPr/>
          <p:nvPr/>
        </p:nvGrpSpPr>
        <p:grpSpPr>
          <a:xfrm>
            <a:off x="6507750" y="3304500"/>
            <a:ext cx="797950" cy="523200"/>
            <a:chOff x="6507750" y="3304500"/>
            <a:chExt cx="797950" cy="523200"/>
          </a:xfrm>
        </p:grpSpPr>
        <p:sp>
          <p:nvSpPr>
            <p:cNvPr id="1021" name="Google Shape;1021;p82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82"/>
            <p:cNvSpPr txBox="1"/>
            <p:nvPr/>
          </p:nvSpPr>
          <p:spPr>
            <a:xfrm>
              <a:off x="6985000" y="33045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0}{78}&quot;&gt;&lt;mfrac&gt;&lt;mn&gt;100&lt;/mn&gt;&lt;mn&gt;78&lt;/mn&gt;&lt;/mfrac&gt;&lt;/math&gt;" id="1023" name="Google Shape;1023;p82" title="100 over 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299" y="3304500"/>
            <a:ext cx="410271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0}{78}&quot;&gt;&lt;mfrac&gt;&lt;mn&gt;100&lt;/mn&gt;&lt;mn&gt;78&lt;/mn&gt;&lt;/mfrac&gt;&lt;/math&gt;" id="1024" name="Google Shape;1024;p82" title="100 over 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0324" y="3304500"/>
            <a:ext cx="410271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030" name="Google Shape;1030;p83"/>
          <p:cNvSpPr txBox="1"/>
          <p:nvPr>
            <p:ph idx="1" type="body"/>
          </p:nvPr>
        </p:nvSpPr>
        <p:spPr>
          <a:xfrm>
            <a:off x="324000" y="606900"/>
            <a:ext cx="7956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preferred method answer the following.  Give your answers to an appropriate degree of accuracy.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A packet of crisps contains 33% less fat. This low fat packet contains 5.3 g of fat. How much fat is in a regular packet? </a:t>
            </a:r>
            <a:endParaRPr/>
          </a:p>
        </p:txBody>
      </p:sp>
      <p:sp>
        <p:nvSpPr>
          <p:cNvPr id="1031" name="Google Shape;1031;p83"/>
          <p:cNvSpPr/>
          <p:nvPr/>
        </p:nvSpPr>
        <p:spPr>
          <a:xfrm flipH="1" rot="-5400000">
            <a:off x="2290850" y="340573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83"/>
          <p:cNvSpPr txBox="1"/>
          <p:nvPr/>
        </p:nvSpPr>
        <p:spPr>
          <a:xfrm>
            <a:off x="324000" y="441690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regular packet contains 7.9 g of fat.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33" name="Google Shape;1033;p83"/>
          <p:cNvGraphicFramePr/>
          <p:nvPr/>
        </p:nvGraphicFramePr>
        <p:xfrm>
          <a:off x="2701925" y="26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887500"/>
                <a:gridCol w="188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grams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5.3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7.9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4" name="Google Shape;1034;p83"/>
          <p:cNvSpPr txBox="1"/>
          <p:nvPr/>
        </p:nvSpPr>
        <p:spPr>
          <a:xfrm>
            <a:off x="1498600" y="3289300"/>
            <a:ext cx="3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5" name="Google Shape;1035;p83"/>
          <p:cNvGrpSpPr/>
          <p:nvPr/>
        </p:nvGrpSpPr>
        <p:grpSpPr>
          <a:xfrm>
            <a:off x="6507750" y="3304500"/>
            <a:ext cx="797950" cy="523200"/>
            <a:chOff x="6507750" y="3304500"/>
            <a:chExt cx="797950" cy="523200"/>
          </a:xfrm>
        </p:grpSpPr>
        <p:sp>
          <p:nvSpPr>
            <p:cNvPr id="1036" name="Google Shape;1036;p83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83"/>
            <p:cNvSpPr txBox="1"/>
            <p:nvPr/>
          </p:nvSpPr>
          <p:spPr>
            <a:xfrm>
              <a:off x="6985000" y="33045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0}{67}&quot;&gt;&lt;mfrac&gt;&lt;mn&gt;100&lt;/mn&gt;&lt;mn&gt;67&lt;/mn&gt;&lt;/mfrac&gt;&lt;/math&gt;" id="1038" name="Google Shape;1038;p83" title="100 over 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300" y="3289300"/>
            <a:ext cx="410812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0}{67}&quot;&gt;&lt;mfrac&gt;&lt;mn&gt;100&lt;/mn&gt;&lt;mn&gt;67&lt;/mn&gt;&lt;/mfrac&gt;&lt;/math&gt;" id="1039" name="Google Shape;1039;p83" title="100 over 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525" y="3304500"/>
            <a:ext cx="410812" cy="52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0" name="Google Shape;1040;p83"/>
          <p:cNvGrpSpPr/>
          <p:nvPr/>
        </p:nvGrpSpPr>
        <p:grpSpPr>
          <a:xfrm>
            <a:off x="7937924" y="875995"/>
            <a:ext cx="797963" cy="1016400"/>
            <a:chOff x="5104000" y="3238125"/>
            <a:chExt cx="888600" cy="1155000"/>
          </a:xfrm>
        </p:grpSpPr>
        <p:sp>
          <p:nvSpPr>
            <p:cNvPr id="1041" name="Google Shape;1041;p83"/>
            <p:cNvSpPr/>
            <p:nvPr/>
          </p:nvSpPr>
          <p:spPr>
            <a:xfrm>
              <a:off x="5104000" y="3238125"/>
              <a:ext cx="888600" cy="11550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83"/>
            <p:cNvSpPr/>
            <p:nvPr/>
          </p:nvSpPr>
          <p:spPr>
            <a:xfrm>
              <a:off x="5104000" y="3648975"/>
              <a:ext cx="888600" cy="180900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83"/>
            <p:cNvSpPr/>
            <p:nvPr/>
          </p:nvSpPr>
          <p:spPr>
            <a:xfrm>
              <a:off x="5251200" y="3476375"/>
              <a:ext cx="579900" cy="570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4" name="Google Shape;1044;p83"/>
            <p:cNvSpPr/>
            <p:nvPr/>
          </p:nvSpPr>
          <p:spPr>
            <a:xfrm rot="-1402819">
              <a:off x="5309964" y="3559792"/>
              <a:ext cx="173877" cy="164344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83"/>
            <p:cNvSpPr/>
            <p:nvPr/>
          </p:nvSpPr>
          <p:spPr>
            <a:xfrm rot="765889">
              <a:off x="5462328" y="3788334"/>
              <a:ext cx="173795" cy="164328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83"/>
            <p:cNvSpPr/>
            <p:nvPr/>
          </p:nvSpPr>
          <p:spPr>
            <a:xfrm rot="-344405">
              <a:off x="5587664" y="3572300"/>
              <a:ext cx="173972" cy="164301"/>
            </a:xfrm>
            <a:prstGeom prst="triangle">
              <a:avLst>
                <a:gd fmla="val 50000" name="adj"/>
              </a:avLst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83"/>
            <p:cNvSpPr/>
            <p:nvPr/>
          </p:nvSpPr>
          <p:spPr>
            <a:xfrm>
              <a:off x="53875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8" name="Google Shape;1048;p83"/>
            <p:cNvSpPr/>
            <p:nvPr/>
          </p:nvSpPr>
          <p:spPr>
            <a:xfrm>
              <a:off x="5463775" y="35052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83"/>
            <p:cNvSpPr/>
            <p:nvPr/>
          </p:nvSpPr>
          <p:spPr>
            <a:xfrm>
              <a:off x="5616175" y="38100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83"/>
            <p:cNvSpPr/>
            <p:nvPr/>
          </p:nvSpPr>
          <p:spPr>
            <a:xfrm>
              <a:off x="5539975" y="3657600"/>
              <a:ext cx="46800" cy="46800"/>
            </a:xfrm>
            <a:prstGeom prst="ellipse">
              <a:avLst/>
            </a:prstGeom>
            <a:solidFill>
              <a:srgbClr val="F6B26B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pic>
        <p:nvPicPr>
          <p:cNvPr id="1056" name="Google Shape;105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53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058" name="Google Shape;1058;p8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1059" name="Google Shape;1059;p8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1065" name="Google Shape;1065;p85"/>
          <p:cNvSpPr txBox="1"/>
          <p:nvPr>
            <p:ph idx="1" type="body"/>
          </p:nvPr>
        </p:nvSpPr>
        <p:spPr>
          <a:xfrm>
            <a:off x="3171125" y="2419350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94</a:t>
            </a:r>
            <a:r>
              <a:rPr lang="en-GB" sz="2000"/>
              <a:t>%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£7.05</a:t>
            </a:r>
            <a:endParaRPr sz="2000"/>
          </a:p>
        </p:txBody>
      </p:sp>
      <p:sp>
        <p:nvSpPr>
          <p:cNvPr id="1066" name="Google Shape;1066;p85"/>
          <p:cNvSpPr txBox="1"/>
          <p:nvPr/>
        </p:nvSpPr>
        <p:spPr>
          <a:xfrm>
            <a:off x="324000" y="4499450"/>
            <a:ext cx="35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usual ticket costs £7.50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5"/>
          <p:cNvSpPr txBox="1"/>
          <p:nvPr>
            <p:ph idx="1" type="body"/>
          </p:nvPr>
        </p:nvSpPr>
        <p:spPr>
          <a:xfrm>
            <a:off x="3461750" y="367577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0.94</a:t>
            </a:r>
            <a:r>
              <a:rPr lang="en-GB" sz="2000"/>
              <a:t> ×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£7.05</a:t>
            </a:r>
            <a:endParaRPr sz="2000"/>
          </a:p>
        </p:txBody>
      </p:sp>
      <p:sp>
        <p:nvSpPr>
          <p:cNvPr id="1068" name="Google Shape;1068;p85"/>
          <p:cNvSpPr txBox="1"/>
          <p:nvPr>
            <p:ph idx="1" type="body"/>
          </p:nvPr>
        </p:nvSpPr>
        <p:spPr>
          <a:xfrm>
            <a:off x="3302358" y="319057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94</a:t>
            </a:r>
            <a:r>
              <a:rPr lang="en-GB" sz="2000"/>
              <a:t>% ×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£7.05</a:t>
            </a:r>
            <a:endParaRPr sz="2000"/>
          </a:p>
        </p:txBody>
      </p:sp>
      <p:sp>
        <p:nvSpPr>
          <p:cNvPr id="1069" name="Google Shape;1069;p85"/>
          <p:cNvSpPr/>
          <p:nvPr/>
        </p:nvSpPr>
        <p:spPr>
          <a:xfrm>
            <a:off x="3695215" y="2414000"/>
            <a:ext cx="361200" cy="320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0" name="Google Shape;1070;p85"/>
          <p:cNvGrpSpPr/>
          <p:nvPr/>
        </p:nvGrpSpPr>
        <p:grpSpPr>
          <a:xfrm>
            <a:off x="3916442" y="2660359"/>
            <a:ext cx="3054814" cy="566886"/>
            <a:chOff x="4145042" y="2888959"/>
            <a:chExt cx="3054814" cy="566886"/>
          </a:xfrm>
        </p:grpSpPr>
        <p:sp>
          <p:nvSpPr>
            <p:cNvPr id="1071" name="Google Shape;1071;p85"/>
            <p:cNvSpPr txBox="1"/>
            <p:nvPr/>
          </p:nvSpPr>
          <p:spPr>
            <a:xfrm>
              <a:off x="4720056" y="2901746"/>
              <a:ext cx="2479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‘of’ can be exchanged for multiplication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85"/>
            <p:cNvSpPr/>
            <p:nvPr/>
          </p:nvSpPr>
          <p:spPr>
            <a:xfrm rot="-8822636">
              <a:off x="4172966" y="2996768"/>
              <a:ext cx="467651" cy="24098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3" name="Google Shape;1073;p85"/>
          <p:cNvSpPr/>
          <p:nvPr/>
        </p:nvSpPr>
        <p:spPr>
          <a:xfrm>
            <a:off x="3210790" y="3156157"/>
            <a:ext cx="699900" cy="395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4" name="Google Shape;1074;p85"/>
          <p:cNvGrpSpPr/>
          <p:nvPr/>
        </p:nvGrpSpPr>
        <p:grpSpPr>
          <a:xfrm>
            <a:off x="3736719" y="3382391"/>
            <a:ext cx="4967808" cy="456600"/>
            <a:chOff x="4145042" y="2888959"/>
            <a:chExt cx="4967808" cy="456600"/>
          </a:xfrm>
        </p:grpSpPr>
        <p:sp>
          <p:nvSpPr>
            <p:cNvPr id="1075" name="Google Shape;1075;p85"/>
            <p:cNvSpPr txBox="1"/>
            <p:nvPr/>
          </p:nvSpPr>
          <p:spPr>
            <a:xfrm>
              <a:off x="4761050" y="2935911"/>
              <a:ext cx="4351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convert to a multiplier in decimal form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6" name="Google Shape;1076;p85"/>
            <p:cNvSpPr/>
            <p:nvPr/>
          </p:nvSpPr>
          <p:spPr>
            <a:xfrm rot="-8822636">
              <a:off x="4172966" y="2996768"/>
              <a:ext cx="467651" cy="24098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7" name="Google Shape;1077;p85"/>
          <p:cNvSpPr txBox="1"/>
          <p:nvPr>
            <p:ph idx="1" type="body"/>
          </p:nvPr>
        </p:nvSpPr>
        <p:spPr>
          <a:xfrm>
            <a:off x="4208475" y="4118462"/>
            <a:ext cx="25632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£7.05 ÷ 0.94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£7.50</a:t>
            </a:r>
            <a:endParaRPr sz="2000"/>
          </a:p>
        </p:txBody>
      </p:sp>
      <p:sp>
        <p:nvSpPr>
          <p:cNvPr id="1078" name="Google Shape;1078;p85"/>
          <p:cNvSpPr txBox="1"/>
          <p:nvPr>
            <p:ph idx="1" type="body"/>
          </p:nvPr>
        </p:nvSpPr>
        <p:spPr>
          <a:xfrm>
            <a:off x="324000" y="606900"/>
            <a:ext cx="82377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buys her cinema ticket online. This saves her 6% of the usual cost of the ticket.  </a:t>
            </a:r>
            <a:endParaRPr/>
          </a:p>
        </p:txBody>
      </p:sp>
      <p:pic>
        <p:nvPicPr>
          <p:cNvPr id="1079" name="Google Shape;107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14524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5"/>
          <p:cNvSpPr txBox="1"/>
          <p:nvPr/>
        </p:nvSpPr>
        <p:spPr>
          <a:xfrm>
            <a:off x="309550" y="2693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1" name="Google Shape;108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2450" y="17682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85"/>
          <p:cNvSpPr txBox="1"/>
          <p:nvPr/>
        </p:nvSpPr>
        <p:spPr>
          <a:xfrm>
            <a:off x="7624750" y="2693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3" name="Google Shape;1083;p85"/>
          <p:cNvGrpSpPr/>
          <p:nvPr/>
        </p:nvGrpSpPr>
        <p:grpSpPr>
          <a:xfrm>
            <a:off x="4179375" y="856550"/>
            <a:ext cx="3702676" cy="1506599"/>
            <a:chOff x="4026975" y="2304350"/>
            <a:chExt cx="3702676" cy="1506599"/>
          </a:xfrm>
        </p:grpSpPr>
        <p:pic>
          <p:nvPicPr>
            <p:cNvPr id="1084" name="Google Shape;1084;p8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026975" y="2304350"/>
              <a:ext cx="3702676" cy="150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85"/>
            <p:cNvSpPr txBox="1"/>
            <p:nvPr/>
          </p:nvSpPr>
          <p:spPr>
            <a:xfrm>
              <a:off x="4214948" y="2482850"/>
              <a:ext cx="3244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I’d like to go with you Aisha but I cannot get my ticket online. How much will my ticket cost?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85"/>
          <p:cNvGrpSpPr/>
          <p:nvPr/>
        </p:nvGrpSpPr>
        <p:grpSpPr>
          <a:xfrm>
            <a:off x="1227601" y="1253150"/>
            <a:ext cx="1724733" cy="972250"/>
            <a:chOff x="1684801" y="2624750"/>
            <a:chExt cx="1724733" cy="972250"/>
          </a:xfrm>
        </p:grpSpPr>
        <p:pic>
          <p:nvPicPr>
            <p:cNvPr id="1087" name="Google Shape;1087;p8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84801" y="2624750"/>
              <a:ext cx="1651149" cy="97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85"/>
            <p:cNvSpPr txBox="1"/>
            <p:nvPr/>
          </p:nvSpPr>
          <p:spPr>
            <a:xfrm>
              <a:off x="1951834" y="2809718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ticket cost £7.05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9" name="Google Shape;1089;p85"/>
          <p:cNvSpPr txBox="1"/>
          <p:nvPr/>
        </p:nvSpPr>
        <p:spPr>
          <a:xfrm>
            <a:off x="324000" y="3155750"/>
            <a:ext cx="26238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percentage of the usual ticket price does Aisha pay?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100% − 6% = 94%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1095" name="Google Shape;1095;p86"/>
          <p:cNvSpPr txBox="1"/>
          <p:nvPr>
            <p:ph idx="1" type="body"/>
          </p:nvPr>
        </p:nvSpPr>
        <p:spPr>
          <a:xfrm>
            <a:off x="324000" y="606900"/>
            <a:ext cx="82377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Spot the mistakes.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online store sells a TV for £393.60. This is 18% lower than a shop on the high street.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much does the TV cost on the high street?</a:t>
            </a:r>
            <a:endParaRPr/>
          </a:p>
        </p:txBody>
      </p:sp>
      <p:sp>
        <p:nvSpPr>
          <p:cNvPr id="1096" name="Google Shape;1096;p86"/>
          <p:cNvSpPr txBox="1"/>
          <p:nvPr>
            <p:ph idx="1" type="body"/>
          </p:nvPr>
        </p:nvSpPr>
        <p:spPr>
          <a:xfrm>
            <a:off x="3171125" y="245350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18%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</a:t>
            </a:r>
            <a:r>
              <a:rPr lang="en-GB"/>
              <a:t>£393.60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97" name="Google Shape;1097;p86"/>
          <p:cNvSpPr txBox="1"/>
          <p:nvPr>
            <p:ph idx="1" type="body"/>
          </p:nvPr>
        </p:nvSpPr>
        <p:spPr>
          <a:xfrm>
            <a:off x="3461750" y="3411077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0.18 ÷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/>
              <a:t>= £</a:t>
            </a:r>
            <a:r>
              <a:rPr lang="en-GB"/>
              <a:t>393.60</a:t>
            </a:r>
            <a:endParaRPr sz="2000"/>
          </a:p>
        </p:txBody>
      </p:sp>
      <p:sp>
        <p:nvSpPr>
          <p:cNvPr id="1098" name="Google Shape;1098;p86"/>
          <p:cNvSpPr txBox="1"/>
          <p:nvPr>
            <p:ph idx="1" type="body"/>
          </p:nvPr>
        </p:nvSpPr>
        <p:spPr>
          <a:xfrm>
            <a:off x="3302358" y="2932291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18% ÷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£</a:t>
            </a:r>
            <a:r>
              <a:rPr lang="en-GB"/>
              <a:t>393.60</a:t>
            </a:r>
            <a:endParaRPr sz="2000"/>
          </a:p>
        </p:txBody>
      </p:sp>
      <p:sp>
        <p:nvSpPr>
          <p:cNvPr id="1099" name="Google Shape;1099;p86"/>
          <p:cNvSpPr txBox="1"/>
          <p:nvPr>
            <p:ph idx="1" type="body"/>
          </p:nvPr>
        </p:nvSpPr>
        <p:spPr>
          <a:xfrm>
            <a:off x="4208475" y="3889862"/>
            <a:ext cx="25632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/>
              <a:t>= </a:t>
            </a:r>
            <a:r>
              <a:rPr lang="en-GB"/>
              <a:t>£393.60</a:t>
            </a:r>
            <a:r>
              <a:rPr lang="en-GB" sz="2000"/>
              <a:t> ×   0.18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</a:t>
            </a:r>
            <a:r>
              <a:rPr lang="en-GB"/>
              <a:t>£393.60</a:t>
            </a:r>
            <a:endParaRPr sz="2000"/>
          </a:p>
        </p:txBody>
      </p:sp>
      <p:sp>
        <p:nvSpPr>
          <p:cNvPr id="1100" name="Google Shape;1100;p86"/>
          <p:cNvSpPr/>
          <p:nvPr/>
        </p:nvSpPr>
        <p:spPr>
          <a:xfrm>
            <a:off x="6256993" y="938944"/>
            <a:ext cx="1429500" cy="32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6"/>
          <p:cNvSpPr/>
          <p:nvPr/>
        </p:nvSpPr>
        <p:spPr>
          <a:xfrm>
            <a:off x="1848526" y="2453525"/>
            <a:ext cx="17922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100% − 18%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2" name="Google Shape;1102;p86"/>
          <p:cNvSpPr/>
          <p:nvPr/>
        </p:nvSpPr>
        <p:spPr>
          <a:xfrm>
            <a:off x="2779650" y="2453525"/>
            <a:ext cx="8610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82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%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3" name="Google Shape;1103;p86"/>
          <p:cNvSpPr/>
          <p:nvPr/>
        </p:nvSpPr>
        <p:spPr>
          <a:xfrm>
            <a:off x="3822070" y="2932300"/>
            <a:ext cx="2682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4" name="Google Shape;1104;p86"/>
          <p:cNvSpPr/>
          <p:nvPr/>
        </p:nvSpPr>
        <p:spPr>
          <a:xfrm>
            <a:off x="3814986" y="2918260"/>
            <a:ext cx="268200" cy="32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6"/>
          <p:cNvSpPr/>
          <p:nvPr/>
        </p:nvSpPr>
        <p:spPr>
          <a:xfrm>
            <a:off x="3995906" y="3418075"/>
            <a:ext cx="2682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6"/>
          <p:cNvSpPr/>
          <p:nvPr/>
        </p:nvSpPr>
        <p:spPr>
          <a:xfrm>
            <a:off x="2911910" y="2938755"/>
            <a:ext cx="8610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82%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6"/>
          <p:cNvSpPr/>
          <p:nvPr/>
        </p:nvSpPr>
        <p:spPr>
          <a:xfrm>
            <a:off x="3084450" y="3409998"/>
            <a:ext cx="8610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0.82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86"/>
          <p:cNvSpPr/>
          <p:nvPr/>
        </p:nvSpPr>
        <p:spPr>
          <a:xfrm>
            <a:off x="5622921" y="3903865"/>
            <a:ext cx="268200" cy="32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6"/>
          <p:cNvSpPr/>
          <p:nvPr/>
        </p:nvSpPr>
        <p:spPr>
          <a:xfrm>
            <a:off x="5616015" y="3889850"/>
            <a:ext cx="3381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86"/>
          <p:cNvSpPr/>
          <p:nvPr/>
        </p:nvSpPr>
        <p:spPr>
          <a:xfrm>
            <a:off x="5974250" y="3903880"/>
            <a:ext cx="8610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82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86"/>
          <p:cNvSpPr/>
          <p:nvPr/>
        </p:nvSpPr>
        <p:spPr>
          <a:xfrm>
            <a:off x="3422172" y="3411075"/>
            <a:ext cx="545700" cy="320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6"/>
          <p:cNvSpPr/>
          <p:nvPr/>
        </p:nvSpPr>
        <p:spPr>
          <a:xfrm>
            <a:off x="4572000" y="4292450"/>
            <a:ext cx="1202400" cy="3204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£480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7"/>
          <p:cNvSpPr txBox="1"/>
          <p:nvPr>
            <p:ph idx="1" type="body"/>
          </p:nvPr>
        </p:nvSpPr>
        <p:spPr>
          <a:xfrm>
            <a:off x="324000" y="606900"/>
            <a:ext cx="8237700" cy="9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Given the new amount and percentage decrease find the original amount. All of the answers are in the grid except for one.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percentage question that gives this answer.</a:t>
            </a:r>
            <a:endParaRPr sz="1800"/>
          </a:p>
        </p:txBody>
      </p:sp>
      <p:graphicFrame>
        <p:nvGraphicFramePr>
          <p:cNvPr id="1118" name="Google Shape;1118;p87"/>
          <p:cNvGraphicFramePr/>
          <p:nvPr/>
        </p:nvGraphicFramePr>
        <p:xfrm>
          <a:off x="5535900" y="209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018500"/>
                <a:gridCol w="1018500"/>
                <a:gridCol w="101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9" name="Google Shape;1119;p87"/>
          <p:cNvGraphicFramePr/>
          <p:nvPr/>
        </p:nvGraphicFramePr>
        <p:xfrm>
          <a:off x="603450" y="1617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245400"/>
                <a:gridCol w="2520750"/>
                <a:gridCol w="1959100"/>
              </a:tblGrid>
              <a:tr h="3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Decrease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306.24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245.76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303.66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0" name="Google Shape;1120;p87"/>
          <p:cNvSpPr txBox="1"/>
          <p:nvPr>
            <p:ph idx="4294967295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Using a multiplier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8"/>
          <p:cNvSpPr txBox="1"/>
          <p:nvPr>
            <p:ph idx="1" type="body"/>
          </p:nvPr>
        </p:nvSpPr>
        <p:spPr>
          <a:xfrm>
            <a:off x="324000" y="606900"/>
            <a:ext cx="8237700" cy="9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Given the new amount and percentage decrease find the original amount. All of the answers are in the grid except for one.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percentage question that gives this answer.</a:t>
            </a:r>
            <a:endParaRPr sz="1800"/>
          </a:p>
        </p:txBody>
      </p:sp>
      <p:sp>
        <p:nvSpPr>
          <p:cNvPr id="1126" name="Google Shape;1126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a multiplier</a:t>
            </a:r>
            <a:endParaRPr sz="1800"/>
          </a:p>
        </p:txBody>
      </p:sp>
      <p:graphicFrame>
        <p:nvGraphicFramePr>
          <p:cNvPr id="1127" name="Google Shape;1127;p88"/>
          <p:cNvGraphicFramePr/>
          <p:nvPr/>
        </p:nvGraphicFramePr>
        <p:xfrm>
          <a:off x="5535900" y="209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018500"/>
                <a:gridCol w="1018500"/>
                <a:gridCol w="101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28" name="Google Shape;1128;p88"/>
          <p:cNvSpPr txBox="1"/>
          <p:nvPr/>
        </p:nvSpPr>
        <p:spPr>
          <a:xfrm>
            <a:off x="7601406" y="2650082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8"/>
          <p:cNvSpPr txBox="1"/>
          <p:nvPr/>
        </p:nvSpPr>
        <p:spPr>
          <a:xfrm>
            <a:off x="7601406" y="2140040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8"/>
          <p:cNvSpPr txBox="1"/>
          <p:nvPr/>
        </p:nvSpPr>
        <p:spPr>
          <a:xfrm>
            <a:off x="5563918" y="2140040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8"/>
          <p:cNvSpPr txBox="1"/>
          <p:nvPr/>
        </p:nvSpPr>
        <p:spPr>
          <a:xfrm>
            <a:off x="7601406" y="3160100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8"/>
          <p:cNvSpPr txBox="1"/>
          <p:nvPr/>
        </p:nvSpPr>
        <p:spPr>
          <a:xfrm>
            <a:off x="6589669" y="2146845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8"/>
          <p:cNvSpPr txBox="1"/>
          <p:nvPr/>
        </p:nvSpPr>
        <p:spPr>
          <a:xfrm>
            <a:off x="5563918" y="3160107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8"/>
          <p:cNvSpPr txBox="1"/>
          <p:nvPr/>
        </p:nvSpPr>
        <p:spPr>
          <a:xfrm>
            <a:off x="6589669" y="3160107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8"/>
          <p:cNvSpPr txBox="1"/>
          <p:nvPr/>
        </p:nvSpPr>
        <p:spPr>
          <a:xfrm>
            <a:off x="5563918" y="2650082"/>
            <a:ext cx="204300" cy="277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36" name="Google Shape;1136;p88"/>
          <p:cNvGraphicFramePr/>
          <p:nvPr/>
        </p:nvGraphicFramePr>
        <p:xfrm>
          <a:off x="603450" y="1617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245400"/>
                <a:gridCol w="2520750"/>
                <a:gridCol w="1959100"/>
              </a:tblGrid>
              <a:tr h="30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Decrease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306.24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245.76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303.66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E.g. 35%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211.25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142" name="Google Shape;1142;p8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1143" name="Google Shape;1143;p8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original amount after a decrease</a:t>
            </a:r>
            <a:endParaRPr/>
          </a:p>
        </p:txBody>
      </p:sp>
      <p:sp>
        <p:nvSpPr>
          <p:cNvPr id="1144" name="Google Shape;1144;p8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 </a:t>
            </a:r>
            <a:endParaRPr/>
          </a:p>
        </p:txBody>
      </p:sp>
      <p:pic>
        <p:nvPicPr>
          <p:cNvPr id="1145" name="Google Shape;114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2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Reverse percentage problems are problems where you </a:t>
            </a:r>
            <a:r>
              <a:rPr lang="en-GB">
                <a:solidFill>
                  <a:schemeClr val="accent2"/>
                </a:solidFill>
              </a:rPr>
              <a:t>know</a:t>
            </a:r>
            <a:r>
              <a:rPr lang="en-GB"/>
              <a:t> the </a:t>
            </a:r>
            <a:r>
              <a:rPr lang="en-GB">
                <a:solidFill>
                  <a:schemeClr val="accent2"/>
                </a:solidFill>
              </a:rPr>
              <a:t>new value</a:t>
            </a:r>
            <a:r>
              <a:rPr lang="en-GB"/>
              <a:t> and need to </a:t>
            </a:r>
            <a:r>
              <a:rPr lang="en-GB">
                <a:solidFill>
                  <a:schemeClr val="accent2"/>
                </a:solidFill>
              </a:rPr>
              <a:t>find</a:t>
            </a:r>
            <a:r>
              <a:rPr lang="en-GB"/>
              <a:t> the </a:t>
            </a:r>
            <a:r>
              <a:rPr lang="en-GB">
                <a:solidFill>
                  <a:schemeClr val="accent2"/>
                </a:solidFill>
              </a:rPr>
              <a:t>original value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A </a:t>
            </a:r>
            <a:r>
              <a:rPr lang="en-GB"/>
              <a:t>special</a:t>
            </a:r>
            <a:r>
              <a:rPr lang="en-GB"/>
              <a:t> offer box of cereal contains 375 grams. This is 25% more </a:t>
            </a:r>
            <a:r>
              <a:rPr lang="en-GB"/>
              <a:t>than the usual box. How heavy is the usual box?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Izzy buys a bag from a shop advertising a 10% sale. She pays £22.50 for the bag. What is the cost of the bag before the sale?</a:t>
            </a:r>
            <a:endParaRPr/>
          </a:p>
        </p:txBody>
      </p:sp>
      <p:sp>
        <p:nvSpPr>
          <p:cNvPr id="1151" name="Google Shape;115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Mixed reverse percentage problems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1"/>
          <p:cNvSpPr txBox="1"/>
          <p:nvPr>
            <p:ph idx="1" type="body"/>
          </p:nvPr>
        </p:nvSpPr>
        <p:spPr>
          <a:xfrm>
            <a:off x="324000" y="826835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72 apples in this special offer box.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apples are in the normal box?</a:t>
            </a:r>
            <a:endParaRPr/>
          </a:p>
        </p:txBody>
      </p:sp>
      <p:pic>
        <p:nvPicPr>
          <p:cNvPr id="1157" name="Google Shape;1157;p91"/>
          <p:cNvPicPr preferRelativeResize="0"/>
          <p:nvPr/>
        </p:nvPicPr>
        <p:blipFill rotWithShape="1">
          <a:blip r:embed="rId3">
            <a:alphaModFix/>
          </a:blip>
          <a:srcRect b="0" l="49617" r="0" t="0"/>
          <a:stretch/>
        </p:blipFill>
        <p:spPr>
          <a:xfrm>
            <a:off x="6390400" y="675450"/>
            <a:ext cx="2372124" cy="1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91"/>
          <p:cNvPicPr preferRelativeResize="0"/>
          <p:nvPr/>
        </p:nvPicPr>
        <p:blipFill rotWithShape="1">
          <a:blip r:embed="rId4">
            <a:alphaModFix/>
          </a:blip>
          <a:srcRect b="0" l="53336" r="0" t="0"/>
          <a:stretch/>
        </p:blipFill>
        <p:spPr>
          <a:xfrm>
            <a:off x="6901271" y="967545"/>
            <a:ext cx="292275" cy="314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160" name="Google Shape;1160;p91"/>
          <p:cNvSpPr txBox="1"/>
          <p:nvPr>
            <p:ph idx="1" type="body"/>
          </p:nvPr>
        </p:nvSpPr>
        <p:spPr>
          <a:xfrm>
            <a:off x="353946" y="1580021"/>
            <a:ext cx="2487000" cy="1183200"/>
          </a:xfrm>
          <a:prstGeom prst="rect">
            <a:avLst/>
          </a:prstGeom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Izzy’s workings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100% − 20% = 80%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72 ÷ 0.8 = 90 apples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61" name="Google Shape;1161;p91"/>
          <p:cNvSpPr txBox="1"/>
          <p:nvPr/>
        </p:nvSpPr>
        <p:spPr>
          <a:xfrm>
            <a:off x="7040474" y="991871"/>
            <a:ext cx="786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20% extra free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2" name="Google Shape;1162;p91"/>
          <p:cNvPicPr preferRelativeResize="0"/>
          <p:nvPr/>
        </p:nvPicPr>
        <p:blipFill rotWithShape="1">
          <a:blip r:embed="rId4">
            <a:alphaModFix/>
          </a:blip>
          <a:srcRect b="0" l="53336" r="0" t="0"/>
          <a:stretch/>
        </p:blipFill>
        <p:spPr>
          <a:xfrm>
            <a:off x="7960529" y="1141230"/>
            <a:ext cx="56964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91"/>
          <p:cNvSpPr txBox="1"/>
          <p:nvPr>
            <p:ph idx="1" type="body"/>
          </p:nvPr>
        </p:nvSpPr>
        <p:spPr>
          <a:xfrm>
            <a:off x="324000" y="2816700"/>
            <a:ext cx="8135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Are</a:t>
            </a:r>
            <a:r>
              <a:rPr lang="en-GB" sz="2000"/>
              <a:t> Izzy’s calculations correct?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Izzy has subtracted 20% from 100%, she should have added it as the box contains an </a:t>
            </a:r>
            <a:r>
              <a:rPr lang="en-GB"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rPr>
              <a:t>extra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20%.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could Izzy have known her answer was incorrect?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 of apples in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normal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box was more than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special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offer box!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2"/>
          <p:cNvSpPr txBox="1"/>
          <p:nvPr>
            <p:ph idx="1" type="body"/>
          </p:nvPr>
        </p:nvSpPr>
        <p:spPr>
          <a:xfrm>
            <a:off x="324000" y="863839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72 apples in this special offer box.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apples are in the normal box?</a:t>
            </a:r>
            <a:endParaRPr/>
          </a:p>
        </p:txBody>
      </p:sp>
      <p:pic>
        <p:nvPicPr>
          <p:cNvPr id="1169" name="Google Shape;1169;p92"/>
          <p:cNvPicPr preferRelativeResize="0"/>
          <p:nvPr/>
        </p:nvPicPr>
        <p:blipFill rotWithShape="1">
          <a:blip r:embed="rId3">
            <a:alphaModFix/>
          </a:blip>
          <a:srcRect b="0" l="49617" r="0" t="0"/>
          <a:stretch/>
        </p:blipFill>
        <p:spPr>
          <a:xfrm>
            <a:off x="6390400" y="675450"/>
            <a:ext cx="2372124" cy="1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92"/>
          <p:cNvPicPr preferRelativeResize="0"/>
          <p:nvPr/>
        </p:nvPicPr>
        <p:blipFill rotWithShape="1">
          <a:blip r:embed="rId4">
            <a:alphaModFix/>
          </a:blip>
          <a:srcRect b="0" l="53336" r="0" t="0"/>
          <a:stretch/>
        </p:blipFill>
        <p:spPr>
          <a:xfrm>
            <a:off x="6901271" y="967545"/>
            <a:ext cx="292275" cy="314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172" name="Google Shape;1172;p92"/>
          <p:cNvSpPr txBox="1"/>
          <p:nvPr/>
        </p:nvSpPr>
        <p:spPr>
          <a:xfrm>
            <a:off x="7040474" y="991871"/>
            <a:ext cx="786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20% extra free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3" name="Google Shape;1173;p92"/>
          <p:cNvPicPr preferRelativeResize="0"/>
          <p:nvPr/>
        </p:nvPicPr>
        <p:blipFill rotWithShape="1">
          <a:blip r:embed="rId4">
            <a:alphaModFix/>
          </a:blip>
          <a:srcRect b="0" l="53336" r="0" t="0"/>
          <a:stretch/>
        </p:blipFill>
        <p:spPr>
          <a:xfrm>
            <a:off x="7960529" y="1141230"/>
            <a:ext cx="56964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92"/>
          <p:cNvSpPr txBox="1"/>
          <p:nvPr>
            <p:ph idx="1" type="body"/>
          </p:nvPr>
        </p:nvSpPr>
        <p:spPr>
          <a:xfrm>
            <a:off x="324000" y="2083039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know the number of apples in the </a:t>
            </a:r>
            <a:r>
              <a:rPr lang="en-GB"/>
              <a:t>special</a:t>
            </a:r>
            <a:r>
              <a:rPr lang="en-GB"/>
              <a:t> offer box.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Usual box + extra free = 72 apples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100% + 20% = 72 apples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120%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= 72 apples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1.2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= 72 apples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= 72 ÷ 1.2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= 60 apples</a:t>
            </a:r>
            <a:endParaRPr/>
          </a:p>
        </p:txBody>
      </p:sp>
      <p:sp>
        <p:nvSpPr>
          <p:cNvPr id="1175" name="Google Shape;1175;p92"/>
          <p:cNvSpPr txBox="1"/>
          <p:nvPr>
            <p:ph idx="1" type="body"/>
          </p:nvPr>
        </p:nvSpPr>
        <p:spPr>
          <a:xfrm>
            <a:off x="4320000" y="3780000"/>
            <a:ext cx="42807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box usually contains 60 apples.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3"/>
          <p:cNvSpPr txBox="1"/>
          <p:nvPr>
            <p:ph idx="1" type="body"/>
          </p:nvPr>
        </p:nvSpPr>
        <p:spPr>
          <a:xfrm>
            <a:off x="324000" y="759300"/>
            <a:ext cx="823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each of the following we will decide if you need to subtract the percentage from 100% or add the percentage onto 100%.</a:t>
            </a:r>
            <a:endParaRPr/>
          </a:p>
        </p:txBody>
      </p:sp>
      <p:sp>
        <p:nvSpPr>
          <p:cNvPr id="1181" name="Google Shape;11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182" name="Google Shape;1182;p93"/>
          <p:cNvSpPr txBox="1"/>
          <p:nvPr>
            <p:ph idx="1" type="body"/>
          </p:nvPr>
        </p:nvSpPr>
        <p:spPr>
          <a:xfrm>
            <a:off x="324000" y="2588100"/>
            <a:ext cx="823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height of a sunflower increases by 10% over a week and now measures 1.2 m. How tall was the sunflower last week?</a:t>
            </a:r>
            <a:endParaRPr/>
          </a:p>
        </p:txBody>
      </p:sp>
      <p:sp>
        <p:nvSpPr>
          <p:cNvPr id="1183" name="Google Shape;1183;p93"/>
          <p:cNvSpPr txBox="1"/>
          <p:nvPr>
            <p:ph idx="1" type="body"/>
          </p:nvPr>
        </p:nvSpPr>
        <p:spPr>
          <a:xfrm>
            <a:off x="3752700" y="3611850"/>
            <a:ext cx="16386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100% + 10%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93"/>
          <p:cNvSpPr/>
          <p:nvPr/>
        </p:nvSpPr>
        <p:spPr>
          <a:xfrm>
            <a:off x="3791526" y="2618400"/>
            <a:ext cx="13614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4"/>
          <p:cNvSpPr txBox="1"/>
          <p:nvPr>
            <p:ph idx="1" type="body"/>
          </p:nvPr>
        </p:nvSpPr>
        <p:spPr>
          <a:xfrm>
            <a:off x="324000" y="759300"/>
            <a:ext cx="823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each of the following we will decide if you need to subtract the percentage from 100% or add the percentage onto 100%.</a:t>
            </a:r>
            <a:endParaRPr/>
          </a:p>
        </p:txBody>
      </p:sp>
      <p:sp>
        <p:nvSpPr>
          <p:cNvPr id="1190" name="Google Shape;119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191" name="Google Shape;1191;p94"/>
          <p:cNvSpPr txBox="1"/>
          <p:nvPr>
            <p:ph idx="1" type="body"/>
          </p:nvPr>
        </p:nvSpPr>
        <p:spPr>
          <a:xfrm>
            <a:off x="324000" y="2588100"/>
            <a:ext cx="823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water level in a pond drops by 5%.  The level is currently 45 cm. What was the level before the drop</a:t>
            </a:r>
            <a:r>
              <a:rPr lang="en-GB"/>
              <a:t>?</a:t>
            </a:r>
            <a:endParaRPr/>
          </a:p>
        </p:txBody>
      </p:sp>
      <p:sp>
        <p:nvSpPr>
          <p:cNvPr id="1192" name="Google Shape;1192;p94"/>
          <p:cNvSpPr txBox="1"/>
          <p:nvPr>
            <p:ph idx="1" type="body"/>
          </p:nvPr>
        </p:nvSpPr>
        <p:spPr>
          <a:xfrm>
            <a:off x="3752700" y="3611850"/>
            <a:ext cx="16386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100% − 5%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94"/>
          <p:cNvSpPr/>
          <p:nvPr/>
        </p:nvSpPr>
        <p:spPr>
          <a:xfrm>
            <a:off x="3773954" y="2604231"/>
            <a:ext cx="8193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5"/>
          <p:cNvSpPr txBox="1"/>
          <p:nvPr>
            <p:ph idx="1" type="body"/>
          </p:nvPr>
        </p:nvSpPr>
        <p:spPr>
          <a:xfrm>
            <a:off x="324000" y="759300"/>
            <a:ext cx="823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each of the following we will decide if you need to subtract the percentage from 100% or add the percentage onto 100%.</a:t>
            </a:r>
            <a:endParaRPr/>
          </a:p>
        </p:txBody>
      </p:sp>
      <p:sp>
        <p:nvSpPr>
          <p:cNvPr id="1199" name="Google Shape;119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200" name="Google Shape;1200;p95"/>
          <p:cNvSpPr txBox="1"/>
          <p:nvPr>
            <p:ph idx="1" type="body"/>
          </p:nvPr>
        </p:nvSpPr>
        <p:spPr>
          <a:xfrm>
            <a:off x="324000" y="2588100"/>
            <a:ext cx="823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puppy gains 8% of its birth mass over the first 3 months.  It nows weighs 6 kg. How much did it weigh at birth?</a:t>
            </a:r>
            <a:endParaRPr/>
          </a:p>
        </p:txBody>
      </p:sp>
      <p:sp>
        <p:nvSpPr>
          <p:cNvPr id="1201" name="Google Shape;1201;p95"/>
          <p:cNvSpPr txBox="1"/>
          <p:nvPr>
            <p:ph idx="1" type="body"/>
          </p:nvPr>
        </p:nvSpPr>
        <p:spPr>
          <a:xfrm>
            <a:off x="3752700" y="3611850"/>
            <a:ext cx="16386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100% + 8%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95"/>
          <p:cNvSpPr/>
          <p:nvPr/>
        </p:nvSpPr>
        <p:spPr>
          <a:xfrm>
            <a:off x="1499760" y="2618381"/>
            <a:ext cx="8193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 </a:t>
            </a:r>
            <a:endParaRPr/>
          </a:p>
        </p:txBody>
      </p:sp>
      <p:sp>
        <p:nvSpPr>
          <p:cNvPr id="1208" name="Google Shape;1208;p96"/>
          <p:cNvSpPr txBox="1"/>
          <p:nvPr>
            <p:ph idx="1" type="body"/>
          </p:nvPr>
        </p:nvSpPr>
        <p:spPr>
          <a:xfrm>
            <a:off x="324000" y="78733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cost of a camera </a:t>
            </a:r>
            <a:r>
              <a:rPr lang="en-GB"/>
              <a:t>increases by 15% to £276.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was the cost of the camera originally?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is the correct ratio table to match this problem?</a:t>
            </a:r>
            <a:endParaRPr/>
          </a:p>
        </p:txBody>
      </p:sp>
      <p:graphicFrame>
        <p:nvGraphicFramePr>
          <p:cNvPr id="1209" name="Google Shape;1209;p96"/>
          <p:cNvGraphicFramePr/>
          <p:nvPr/>
        </p:nvGraphicFramePr>
        <p:xfrm>
          <a:off x="647700" y="2034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166375"/>
                <a:gridCol w="1166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 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0" name="Google Shape;1210;p96"/>
          <p:cNvGraphicFramePr/>
          <p:nvPr/>
        </p:nvGraphicFramePr>
        <p:xfrm>
          <a:off x="6134100" y="2034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166375"/>
                <a:gridCol w="1166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 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1" name="Google Shape;1211;p96"/>
          <p:cNvGraphicFramePr/>
          <p:nvPr/>
        </p:nvGraphicFramePr>
        <p:xfrm>
          <a:off x="3390900" y="2034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166375"/>
                <a:gridCol w="1166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 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12" name="Google Shape;121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8" y="3709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8764" y="670500"/>
            <a:ext cx="1171236" cy="8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6"/>
          <p:cNvSpPr txBox="1"/>
          <p:nvPr>
            <p:ph idx="1" type="body"/>
          </p:nvPr>
        </p:nvSpPr>
        <p:spPr>
          <a:xfrm>
            <a:off x="656830" y="3612855"/>
            <a:ext cx="2332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represents £276 being equal to 15%.</a:t>
            </a:r>
            <a:endParaRPr sz="1800"/>
          </a:p>
        </p:txBody>
      </p:sp>
      <p:sp>
        <p:nvSpPr>
          <p:cNvPr id="1215" name="Google Shape;1215;p96"/>
          <p:cNvSpPr txBox="1"/>
          <p:nvPr>
            <p:ph idx="1" type="body"/>
          </p:nvPr>
        </p:nvSpPr>
        <p:spPr>
          <a:xfrm>
            <a:off x="6143230" y="3612855"/>
            <a:ext cx="2332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represents £276 being equal to 85%, therefore a 15% decrease.</a:t>
            </a:r>
            <a:endParaRPr sz="1800"/>
          </a:p>
        </p:txBody>
      </p:sp>
      <p:sp>
        <p:nvSpPr>
          <p:cNvPr id="1216" name="Google Shape;1216;p96"/>
          <p:cNvSpPr/>
          <p:nvPr/>
        </p:nvSpPr>
        <p:spPr>
          <a:xfrm>
            <a:off x="3210576" y="792425"/>
            <a:ext cx="13614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 </a:t>
            </a:r>
            <a:endParaRPr/>
          </a:p>
        </p:txBody>
      </p:sp>
      <p:graphicFrame>
        <p:nvGraphicFramePr>
          <p:cNvPr id="1222" name="Google Shape;1222;p97"/>
          <p:cNvGraphicFramePr/>
          <p:nvPr/>
        </p:nvGraphicFramePr>
        <p:xfrm>
          <a:off x="3390900" y="2034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166375"/>
                <a:gridCol w="1166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 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23" name="Google Shape;122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8764" y="670500"/>
            <a:ext cx="1171236" cy="86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97"/>
          <p:cNvSpPr/>
          <p:nvPr/>
        </p:nvSpPr>
        <p:spPr>
          <a:xfrm flipH="1" rot="-5400000">
            <a:off x="3052850" y="287233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5" name="Google Shape;1225;p97"/>
          <p:cNvGrpSpPr/>
          <p:nvPr/>
        </p:nvGrpSpPr>
        <p:grpSpPr>
          <a:xfrm>
            <a:off x="2260600" y="2755900"/>
            <a:ext cx="715450" cy="552409"/>
            <a:chOff x="2260600" y="2755900"/>
            <a:chExt cx="715450" cy="552409"/>
          </a:xfrm>
        </p:grpSpPr>
        <p:sp>
          <p:nvSpPr>
            <p:cNvPr id="1226" name="Google Shape;1226;p97"/>
            <p:cNvSpPr txBox="1"/>
            <p:nvPr/>
          </p:nvSpPr>
          <p:spPr>
            <a:xfrm>
              <a:off x="2260600" y="27559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0}{115}&quot;&gt;&lt;mfrac&gt;&lt;mn&gt;100&lt;/mn&gt;&lt;mn&gt;115&lt;/mn&gt;&lt;/mfrac&gt;&lt;/math&gt;" id="1227" name="Google Shape;1227;p97" title="100 over 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65250" y="2785138"/>
              <a:ext cx="410800" cy="5231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8" name="Google Shape;1228;p97"/>
          <p:cNvGrpSpPr/>
          <p:nvPr/>
        </p:nvGrpSpPr>
        <p:grpSpPr>
          <a:xfrm>
            <a:off x="5669550" y="2785115"/>
            <a:ext cx="1192700" cy="523200"/>
            <a:chOff x="5669550" y="2785115"/>
            <a:chExt cx="1192700" cy="523200"/>
          </a:xfrm>
        </p:grpSpPr>
        <p:grpSp>
          <p:nvGrpSpPr>
            <p:cNvPr id="1229" name="Google Shape;1229;p97"/>
            <p:cNvGrpSpPr/>
            <p:nvPr/>
          </p:nvGrpSpPr>
          <p:grpSpPr>
            <a:xfrm>
              <a:off x="5669550" y="2785115"/>
              <a:ext cx="797950" cy="523200"/>
              <a:chOff x="6507750" y="3304500"/>
              <a:chExt cx="797950" cy="523200"/>
            </a:xfrm>
          </p:grpSpPr>
          <p:sp>
            <p:nvSpPr>
              <p:cNvPr id="1230" name="Google Shape;1230;p97"/>
              <p:cNvSpPr/>
              <p:nvPr/>
            </p:nvSpPr>
            <p:spPr>
              <a:xfrm rot="5400000">
                <a:off x="6463650" y="3390300"/>
                <a:ext cx="439800" cy="351600"/>
              </a:xfrm>
              <a:prstGeom prst="arc">
                <a:avLst>
                  <a:gd fmla="val 10729459" name="adj1"/>
                  <a:gd fmla="val 194289" name="adj2"/>
                </a:avLst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97"/>
              <p:cNvSpPr txBox="1"/>
              <p:nvPr/>
            </p:nvSpPr>
            <p:spPr>
              <a:xfrm>
                <a:off x="6985000" y="3304500"/>
                <a:ext cx="320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100}{115}&quot;&gt;&lt;mfrac&gt;&lt;mn&gt;100&lt;/mn&gt;&lt;mn&gt;115&lt;/mn&gt;&lt;/mfrac&gt;&lt;/math&gt;" id="1232" name="Google Shape;1232;p97" title="100 over 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51450" y="2785138"/>
              <a:ext cx="410800" cy="5231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3" name="Google Shape;1233;p97"/>
          <p:cNvSpPr txBox="1"/>
          <p:nvPr>
            <p:ph idx="1" type="body"/>
          </p:nvPr>
        </p:nvSpPr>
        <p:spPr>
          <a:xfrm>
            <a:off x="4781955" y="3150350"/>
            <a:ext cx="7155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240</a:t>
            </a:r>
            <a:endParaRPr/>
          </a:p>
        </p:txBody>
      </p:sp>
      <p:sp>
        <p:nvSpPr>
          <p:cNvPr id="1234" name="Google Shape;1234;p97"/>
          <p:cNvSpPr txBox="1"/>
          <p:nvPr>
            <p:ph idx="1" type="body"/>
          </p:nvPr>
        </p:nvSpPr>
        <p:spPr>
          <a:xfrm>
            <a:off x="419550" y="4145700"/>
            <a:ext cx="52500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camera originally cost £240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5" name="Google Shape;1235;p97"/>
          <p:cNvSpPr txBox="1"/>
          <p:nvPr>
            <p:ph idx="1" type="body"/>
          </p:nvPr>
        </p:nvSpPr>
        <p:spPr>
          <a:xfrm>
            <a:off x="324000" y="78733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cost of a camera increases by 15% to £276.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was the cost of the camera originally?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241" name="Google Shape;1241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Keywords in questions: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shop offers a discount for bulk buys of 5%.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bank gives 2.3% interest on a savings account.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house is sold at a loss of 12%.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value of a caravan depreciates by 15% over a year.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special offer bag of sweets contains an extra 12%.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An antique clock is sold for a profit of 52%.</a:t>
            </a:r>
            <a:endParaRPr/>
          </a:p>
        </p:txBody>
      </p:sp>
      <p:sp>
        <p:nvSpPr>
          <p:cNvPr id="1242" name="Google Shape;1242;p98"/>
          <p:cNvSpPr/>
          <p:nvPr/>
        </p:nvSpPr>
        <p:spPr>
          <a:xfrm>
            <a:off x="2439750" y="1283700"/>
            <a:ext cx="12087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8"/>
          <p:cNvSpPr/>
          <p:nvPr/>
        </p:nvSpPr>
        <p:spPr>
          <a:xfrm>
            <a:off x="2770105" y="1803075"/>
            <a:ext cx="11352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8"/>
          <p:cNvSpPr/>
          <p:nvPr/>
        </p:nvSpPr>
        <p:spPr>
          <a:xfrm>
            <a:off x="2982800" y="2322450"/>
            <a:ext cx="5817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8"/>
          <p:cNvSpPr/>
          <p:nvPr/>
        </p:nvSpPr>
        <p:spPr>
          <a:xfrm>
            <a:off x="3474100" y="2841825"/>
            <a:ext cx="16599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8"/>
          <p:cNvSpPr/>
          <p:nvPr/>
        </p:nvSpPr>
        <p:spPr>
          <a:xfrm>
            <a:off x="5964475" y="3350850"/>
            <a:ext cx="7815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8"/>
          <p:cNvSpPr/>
          <p:nvPr/>
        </p:nvSpPr>
        <p:spPr>
          <a:xfrm>
            <a:off x="4235910" y="3883750"/>
            <a:ext cx="8841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253" name="Google Shape;1253;p99"/>
          <p:cNvSpPr txBox="1"/>
          <p:nvPr>
            <p:ph idx="1" type="body"/>
          </p:nvPr>
        </p:nvSpPr>
        <p:spPr>
          <a:xfrm>
            <a:off x="324000" y="759300"/>
            <a:ext cx="8237700" cy="7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now sort these into whether they are increase or decrease problems:</a:t>
            </a:r>
            <a:endParaRPr/>
          </a:p>
        </p:txBody>
      </p:sp>
      <p:sp>
        <p:nvSpPr>
          <p:cNvPr id="1254" name="Google Shape;1254;p99"/>
          <p:cNvSpPr/>
          <p:nvPr/>
        </p:nvSpPr>
        <p:spPr>
          <a:xfrm>
            <a:off x="552600" y="1582738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discount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9"/>
          <p:cNvSpPr/>
          <p:nvPr/>
        </p:nvSpPr>
        <p:spPr>
          <a:xfrm>
            <a:off x="3581575" y="1582738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interes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99"/>
          <p:cNvSpPr/>
          <p:nvPr/>
        </p:nvSpPr>
        <p:spPr>
          <a:xfrm>
            <a:off x="6610551" y="1582738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loss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99"/>
          <p:cNvSpPr/>
          <p:nvPr/>
        </p:nvSpPr>
        <p:spPr>
          <a:xfrm>
            <a:off x="552601" y="2160000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depreciates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9"/>
          <p:cNvSpPr/>
          <p:nvPr/>
        </p:nvSpPr>
        <p:spPr>
          <a:xfrm>
            <a:off x="3561751" y="2192338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extra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99"/>
          <p:cNvSpPr/>
          <p:nvPr/>
        </p:nvSpPr>
        <p:spPr>
          <a:xfrm>
            <a:off x="6610551" y="2192350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profit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9"/>
          <p:cNvSpPr/>
          <p:nvPr/>
        </p:nvSpPr>
        <p:spPr>
          <a:xfrm>
            <a:off x="1333500" y="2686200"/>
            <a:ext cx="2605500" cy="19482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DECREASE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9"/>
          <p:cNvSpPr/>
          <p:nvPr/>
        </p:nvSpPr>
        <p:spPr>
          <a:xfrm>
            <a:off x="5219700" y="2686200"/>
            <a:ext cx="2605500" cy="19482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CREASE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9"/>
          <p:cNvSpPr/>
          <p:nvPr/>
        </p:nvSpPr>
        <p:spPr>
          <a:xfrm>
            <a:off x="1626000" y="3178688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discount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99"/>
          <p:cNvSpPr/>
          <p:nvPr/>
        </p:nvSpPr>
        <p:spPr>
          <a:xfrm>
            <a:off x="5512200" y="3178688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interest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9"/>
          <p:cNvSpPr/>
          <p:nvPr/>
        </p:nvSpPr>
        <p:spPr>
          <a:xfrm>
            <a:off x="1626001" y="3671869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loss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9"/>
          <p:cNvSpPr/>
          <p:nvPr/>
        </p:nvSpPr>
        <p:spPr>
          <a:xfrm>
            <a:off x="1626001" y="4165050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depreciates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9"/>
          <p:cNvSpPr/>
          <p:nvPr/>
        </p:nvSpPr>
        <p:spPr>
          <a:xfrm>
            <a:off x="5512201" y="3671869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extra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9"/>
          <p:cNvSpPr/>
          <p:nvPr/>
        </p:nvSpPr>
        <p:spPr>
          <a:xfrm>
            <a:off x="5512201" y="4165050"/>
            <a:ext cx="2020500" cy="36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profit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00"/>
          <p:cNvSpPr/>
          <p:nvPr/>
        </p:nvSpPr>
        <p:spPr>
          <a:xfrm>
            <a:off x="6453485" y="3358215"/>
            <a:ext cx="438900" cy="720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100"/>
          <p:cNvSpPr/>
          <p:nvPr/>
        </p:nvSpPr>
        <p:spPr>
          <a:xfrm>
            <a:off x="2581300" y="3330185"/>
            <a:ext cx="438900" cy="720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275" name="Google Shape;1275;p100"/>
          <p:cNvSpPr txBox="1"/>
          <p:nvPr>
            <p:ph idx="1" type="body"/>
          </p:nvPr>
        </p:nvSpPr>
        <p:spPr>
          <a:xfrm>
            <a:off x="324000" y="780205"/>
            <a:ext cx="8237700" cy="18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Spot and correct the mistake.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Sam’s aunt buys a vase and sells it for a profit of 45%.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She sells it for £232.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did she pay for it?</a:t>
            </a:r>
            <a:endParaRPr/>
          </a:p>
        </p:txBody>
      </p:sp>
      <p:graphicFrame>
        <p:nvGraphicFramePr>
          <p:cNvPr id="1276" name="Google Shape;1276;p100"/>
          <p:cNvGraphicFramePr/>
          <p:nvPr/>
        </p:nvGraphicFramePr>
        <p:xfrm>
          <a:off x="3390900" y="2752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{3B7664A1-E65E-4D7B-A04D-379E3E552E56}</a:tableStyleId>
              </a:tblPr>
              <a:tblGrid>
                <a:gridCol w="1166375"/>
                <a:gridCol w="1166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 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412.82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7" name="Google Shape;1277;p100"/>
          <p:cNvSpPr/>
          <p:nvPr/>
        </p:nvSpPr>
        <p:spPr>
          <a:xfrm flipH="1" rot="-5400000">
            <a:off x="3052850" y="359052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00"/>
          <p:cNvSpPr txBox="1"/>
          <p:nvPr/>
        </p:nvSpPr>
        <p:spPr>
          <a:xfrm>
            <a:off x="2260600" y="3474090"/>
            <a:ext cx="3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9" name="Google Shape;1279;p100"/>
          <p:cNvGrpSpPr/>
          <p:nvPr/>
        </p:nvGrpSpPr>
        <p:grpSpPr>
          <a:xfrm>
            <a:off x="5669550" y="3503305"/>
            <a:ext cx="797950" cy="523200"/>
            <a:chOff x="6507750" y="3304500"/>
            <a:chExt cx="797950" cy="523200"/>
          </a:xfrm>
        </p:grpSpPr>
        <p:sp>
          <p:nvSpPr>
            <p:cNvPr id="1280" name="Google Shape;1280;p100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00"/>
            <p:cNvSpPr txBox="1"/>
            <p:nvPr/>
          </p:nvSpPr>
          <p:spPr>
            <a:xfrm>
              <a:off x="6985000" y="33045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00}{55}&quot;&gt;&lt;mfrac&gt;&lt;mn&gt;100&lt;/mn&gt;&lt;mn&gt;55&lt;/mn&gt;&lt;/mfrac&gt;&lt;/math&gt;" id="1282" name="Google Shape;1282;p100" title="100 over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1300" y="3428940"/>
            <a:ext cx="410799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0}{55}&quot;&gt;&lt;mfrac&gt;&lt;mn&gt;100&lt;/mn&gt;&lt;mn&gt;55&lt;/mn&gt;&lt;/mfrac&gt;&lt;/math&gt;" id="1283" name="Google Shape;1283;p100" title="100 over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050" y="3474090"/>
            <a:ext cx="410799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0"/>
          <p:cNvSpPr/>
          <p:nvPr/>
        </p:nvSpPr>
        <p:spPr>
          <a:xfrm>
            <a:off x="5774400" y="1317090"/>
            <a:ext cx="8595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100"/>
          <p:cNvSpPr/>
          <p:nvPr/>
        </p:nvSpPr>
        <p:spPr>
          <a:xfrm>
            <a:off x="3553400" y="3361638"/>
            <a:ext cx="8595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100"/>
          <p:cNvSpPr/>
          <p:nvPr/>
        </p:nvSpPr>
        <p:spPr>
          <a:xfrm>
            <a:off x="3553400" y="3361638"/>
            <a:ext cx="859500" cy="3363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0}{145}&quot;&gt;&lt;mfrac&gt;&lt;mn&gt;100&lt;/mn&gt;&lt;mn&gt;145&lt;/mn&gt;&lt;/mfrac&gt;&lt;/math&gt;" id="1287" name="Google Shape;1287;p100" title="100 over 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1300" y="3527296"/>
            <a:ext cx="410800" cy="523189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100}{145}&quot;&gt;&lt;mfrac&gt;&lt;mn&gt;100&lt;/mn&gt;&lt;mn&gt;145&lt;/mn&gt;&lt;/mfrac&gt;&lt;/math&gt;" id="1288" name="Google Shape;1288;p100" title="100 over 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3485" y="3555326"/>
            <a:ext cx="410800" cy="523189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1289" name="Google Shape;1289;p100"/>
          <p:cNvSpPr/>
          <p:nvPr/>
        </p:nvSpPr>
        <p:spPr>
          <a:xfrm>
            <a:off x="4699075" y="3868048"/>
            <a:ext cx="859500" cy="3363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160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100"/>
          <p:cNvSpPr txBox="1"/>
          <p:nvPr>
            <p:ph idx="1" type="body"/>
          </p:nvPr>
        </p:nvSpPr>
        <p:spPr>
          <a:xfrm>
            <a:off x="419550" y="4406690"/>
            <a:ext cx="52500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Sam’s aunt paid £160 for the vase.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296" name="Google Shape;1296;p101"/>
          <p:cNvSpPr txBox="1"/>
          <p:nvPr>
            <p:ph idx="1" type="body"/>
          </p:nvPr>
        </p:nvSpPr>
        <p:spPr>
          <a:xfrm>
            <a:off x="324000" y="73155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Decide whether each of the following questions indicate a decrease or increase question.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watch is sold for £46.80, this was a loss of 35%.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bag of apples contains an extra 25% free. The bag contains 20 apples.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value of a motorbike depreciates by 20%. It is now worth £6820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savings account earns 2.2% interest. The account now contains £613.20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You buy a laptop for £244.40, this price has been discounted by 6%.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302" name="Google Shape;1302;p102"/>
          <p:cNvSpPr txBox="1"/>
          <p:nvPr>
            <p:ph idx="1" type="body"/>
          </p:nvPr>
        </p:nvSpPr>
        <p:spPr>
          <a:xfrm>
            <a:off x="324000" y="77944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Using your preferred method, find the original amounts in the following questions.</a:t>
            </a:r>
            <a:endParaRPr/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watch is sold for £46.80. This was a loss of 35%.</a:t>
            </a:r>
            <a:endParaRPr/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bag of apples contains an extra 25% free. The bag contains 20 apples.</a:t>
            </a:r>
            <a:endParaRPr/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value of a motorbike depreciates by 20%. It is now worth £6820</a:t>
            </a:r>
            <a:endParaRPr/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savings account earns 2.2% interest. The account now contains £613.20</a:t>
            </a:r>
            <a:endParaRPr/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You buy a laptop for £244.40. This price has been discounted by 6%.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03"/>
          <p:cNvSpPr txBox="1"/>
          <p:nvPr>
            <p:ph idx="1" type="body"/>
          </p:nvPr>
        </p:nvSpPr>
        <p:spPr>
          <a:xfrm>
            <a:off x="324000" y="731550"/>
            <a:ext cx="8496000" cy="41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Decide whether each of the following questions indicate a decrease or increase question.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watch is sold for £46.80, this was a loss of 35%.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bag of apples contains an extra 25% free. The bag contains 20 apples.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value of a motorbike depreciates by 20%. It is now worth £6820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savings account earns 2.2% interest. The account now contains £613.20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You buy a laptop for £244.40, this price has been discounted by 6%.</a:t>
            </a:r>
            <a:endParaRPr/>
          </a:p>
        </p:txBody>
      </p:sp>
      <p:sp>
        <p:nvSpPr>
          <p:cNvPr id="1308" name="Google Shape;130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309" name="Google Shape;1309;p103"/>
          <p:cNvSpPr/>
          <p:nvPr/>
        </p:nvSpPr>
        <p:spPr>
          <a:xfrm>
            <a:off x="5760378" y="1464853"/>
            <a:ext cx="5790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3"/>
          <p:cNvSpPr/>
          <p:nvPr/>
        </p:nvSpPr>
        <p:spPr>
          <a:xfrm>
            <a:off x="4617374" y="1855104"/>
            <a:ext cx="7689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3"/>
          <p:cNvSpPr/>
          <p:nvPr/>
        </p:nvSpPr>
        <p:spPr>
          <a:xfrm>
            <a:off x="4229544" y="2617301"/>
            <a:ext cx="16335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3"/>
          <p:cNvSpPr/>
          <p:nvPr/>
        </p:nvSpPr>
        <p:spPr>
          <a:xfrm>
            <a:off x="4782073" y="3374452"/>
            <a:ext cx="11649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103"/>
          <p:cNvSpPr/>
          <p:nvPr/>
        </p:nvSpPr>
        <p:spPr>
          <a:xfrm>
            <a:off x="772026" y="4494974"/>
            <a:ext cx="1517100" cy="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3"/>
          <p:cNvSpPr txBox="1"/>
          <p:nvPr/>
        </p:nvSpPr>
        <p:spPr>
          <a:xfrm>
            <a:off x="7755000" y="1512100"/>
            <a:ext cx="106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decrease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103"/>
          <p:cNvSpPr txBox="1"/>
          <p:nvPr/>
        </p:nvSpPr>
        <p:spPr>
          <a:xfrm>
            <a:off x="7755000" y="2959900"/>
            <a:ext cx="106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decrease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103"/>
          <p:cNvSpPr txBox="1"/>
          <p:nvPr/>
        </p:nvSpPr>
        <p:spPr>
          <a:xfrm>
            <a:off x="7269600" y="4483900"/>
            <a:ext cx="106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decrease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103"/>
          <p:cNvSpPr txBox="1"/>
          <p:nvPr/>
        </p:nvSpPr>
        <p:spPr>
          <a:xfrm>
            <a:off x="7831200" y="2197900"/>
            <a:ext cx="106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crease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103"/>
          <p:cNvSpPr txBox="1"/>
          <p:nvPr/>
        </p:nvSpPr>
        <p:spPr>
          <a:xfrm>
            <a:off x="7655275" y="3780000"/>
            <a:ext cx="106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increase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324" name="Google Shape;1324;p104"/>
          <p:cNvSpPr txBox="1"/>
          <p:nvPr>
            <p:ph idx="1" type="body"/>
          </p:nvPr>
        </p:nvSpPr>
        <p:spPr>
          <a:xfrm>
            <a:off x="324000" y="85564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Using your preferred method, find the original amounts in the following questions.</a:t>
            </a:r>
            <a:endParaRPr/>
          </a:p>
          <a:p>
            <a:pPr indent="-3683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watch is sold for £46.80. This was a loss of 35%.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46.80 ÷ 0.65 = £72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bag of apples contains an extra 25% free.  The bag contains 20 apples.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20 ÷ 1.25 = 16 apples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330" name="Google Shape;1330;p105"/>
          <p:cNvSpPr txBox="1"/>
          <p:nvPr>
            <p:ph idx="1" type="body"/>
          </p:nvPr>
        </p:nvSpPr>
        <p:spPr>
          <a:xfrm>
            <a:off x="324000" y="85564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Using your preferred method, find the original amounts in the following questions.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The value of a motorbike depreciates by 20%.  It is now worth £6820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6820 ÷ 0.8 = £8525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  A savings account earns 2.2% interest.  The account now contains £613.20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613.20 ÷ 1.022 = £600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reverse percentage problems</a:t>
            </a:r>
            <a:endParaRPr/>
          </a:p>
        </p:txBody>
      </p:sp>
      <p:sp>
        <p:nvSpPr>
          <p:cNvPr id="1336" name="Google Shape;1336;p106"/>
          <p:cNvSpPr txBox="1"/>
          <p:nvPr>
            <p:ph idx="1" type="body"/>
          </p:nvPr>
        </p:nvSpPr>
        <p:spPr>
          <a:xfrm>
            <a:off x="324000" y="85564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Using your preferred method, find the original amounts in the following questions.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	You buy a laptop for £244.40. This price has been discounted by 6%.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244.40 ÷ 0.94 = £260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07"/>
          <p:cNvSpPr txBox="1"/>
          <p:nvPr>
            <p:ph idx="1" type="body"/>
          </p:nvPr>
        </p:nvSpPr>
        <p:spPr>
          <a:xfrm>
            <a:off x="324000" y="810000"/>
            <a:ext cx="81138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Bar models, double number lines, ratio tables and multipliers can be used to find the original amount.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‘Of’ can be exchanged for multiplication in maths </a:t>
            </a:r>
            <a:r>
              <a:rPr lang="en-GB" sz="1900"/>
              <a:t>problems</a:t>
            </a:r>
            <a:r>
              <a:rPr lang="en-GB" sz="1900"/>
              <a:t>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A ‘multiplier’ is the decimal </a:t>
            </a:r>
            <a:r>
              <a:rPr lang="en-GB" sz="1900"/>
              <a:t>equivalent</a:t>
            </a:r>
            <a:r>
              <a:rPr lang="en-GB" sz="1900"/>
              <a:t> of a percentage.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Keywords such as discount, loss and depreciation usually indicate a decrease.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Keywords such as profit, extra and interest usually indicate an increase.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It is important to fully understand </a:t>
            </a:r>
            <a:r>
              <a:rPr lang="en-GB" sz="1900"/>
              <a:t>the </a:t>
            </a:r>
            <a:r>
              <a:rPr lang="en-GB" sz="1900"/>
              <a:t>context when determining the correct approach.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42" name="Google Shape;1342;p10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the original amount after a decrease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48" name="Google Shape;1348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