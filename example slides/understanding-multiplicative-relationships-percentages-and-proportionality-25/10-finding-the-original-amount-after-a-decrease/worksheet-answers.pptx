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931781-F74C-4EAE-ACB4-C901BD8EE3E8}">
  <a:tblStyle styleId="{BB931781-F74C-4EAE-ACB4-C901BD8EE3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7e4c1a228_0_6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7e4c1a22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399" y="1335050"/>
            <a:ext cx="6314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Finding the original value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782200"/>
            <a:ext cx="6610500" cy="2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preferred method, answer the following questions. 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your answers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t-shirt costs £21 in a sale offering a 25% discount.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cost of the t-shirt before the discount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683" y="2494114"/>
            <a:ext cx="690067" cy="70659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 flipH="1" rot="-5400000">
            <a:off x="1188636" y="3836104"/>
            <a:ext cx="346800" cy="2529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148000" y="3947375"/>
            <a:ext cx="18984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price of the t-shirt before the discount is £28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9" name="Google Shape;179;p20"/>
          <p:cNvGraphicFramePr/>
          <p:nvPr/>
        </p:nvGraphicFramePr>
        <p:xfrm>
          <a:off x="1411775" y="320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{BB931781-F74C-4EAE-ACB4-C901BD8EE3E8}</a:tableStyleId>
              </a:tblPr>
              <a:tblGrid>
                <a:gridCol w="1275625"/>
                <a:gridCol w="1275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price (£)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0"/>
          <p:cNvSpPr txBox="1"/>
          <p:nvPr/>
        </p:nvSpPr>
        <p:spPr>
          <a:xfrm>
            <a:off x="564123" y="3744309"/>
            <a:ext cx="2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3903254" y="3756332"/>
            <a:ext cx="629024" cy="523352"/>
            <a:chOff x="6507750" y="3304500"/>
            <a:chExt cx="797950" cy="663900"/>
          </a:xfrm>
        </p:grpSpPr>
        <p:sp>
          <p:nvSpPr>
            <p:cNvPr id="182" name="Google Shape;182;p20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6985000" y="3304500"/>
              <a:ext cx="320700" cy="6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75}&quot;&gt;&lt;mfrac&gt;&lt;mn&gt;100&lt;/mn&gt;&lt;mn&gt;75&lt;/mn&gt;&lt;/mfrac&gt;&lt;/math&gt;" id="184" name="Google Shape;184;p20" title="100 over 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7475" y="3832498"/>
            <a:ext cx="252900" cy="322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75}&quot;&gt;&lt;mfrac&gt;&lt;mn&gt;100&lt;/mn&gt;&lt;mn&gt;75&lt;/mn&gt;&lt;/mfrac&gt;&lt;/math&gt;" id="185" name="Google Shape;185;p20" title="100 over 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675" y="3832498"/>
            <a:ext cx="252900" cy="32209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52600" y="4721700"/>
            <a:ext cx="6467400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car's value depreciates by 22% in the first year.  It is now worth £11 544.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 cost of the car originally?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8654" y="5026187"/>
            <a:ext cx="1338246" cy="5573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173100" y="6188975"/>
            <a:ext cx="16944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cost of the car was originally £14 800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9" name="Google Shape;189;p20"/>
          <p:cNvGraphicFramePr/>
          <p:nvPr/>
        </p:nvGraphicFramePr>
        <p:xfrm>
          <a:off x="1411775" y="547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{BB931781-F74C-4EAE-ACB4-C901BD8EE3E8}</a:tableStyleId>
              </a:tblPr>
              <a:tblGrid>
                <a:gridCol w="1275625"/>
                <a:gridCol w="1275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cost (£)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11 544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14 800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0"/>
          <p:cNvSpPr/>
          <p:nvPr/>
        </p:nvSpPr>
        <p:spPr>
          <a:xfrm flipH="1" rot="-5400000">
            <a:off x="1188636" y="6045904"/>
            <a:ext cx="346800" cy="2529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64123" y="5954109"/>
            <a:ext cx="2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0"/>
          <p:cNvGrpSpPr/>
          <p:nvPr/>
        </p:nvGrpSpPr>
        <p:grpSpPr>
          <a:xfrm>
            <a:off x="3903254" y="5966132"/>
            <a:ext cx="629024" cy="523352"/>
            <a:chOff x="6507750" y="3304500"/>
            <a:chExt cx="797950" cy="663900"/>
          </a:xfrm>
        </p:grpSpPr>
        <p:sp>
          <p:nvSpPr>
            <p:cNvPr id="193" name="Google Shape;193;p20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6985000" y="3304500"/>
              <a:ext cx="320700" cy="6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78}&quot;&gt;&lt;mfrac&gt;&lt;mn&gt;100&lt;/mn&gt;&lt;mn&gt;78&lt;/mn&gt;&lt;/mfrac&gt;&lt;/math&gt;" id="195" name="Google Shape;195;p20" title="100 over 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700" y="6047700"/>
            <a:ext cx="252900" cy="322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78}&quot;&gt;&lt;mfrac&gt;&lt;mn&gt;100&lt;/mn&gt;&lt;mn&gt;78&lt;/mn&gt;&lt;/mfrac&gt;&lt;/math&gt;" id="196" name="Google Shape;196;p20" title="100 over 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2500" y="6047700"/>
            <a:ext cx="252900" cy="3225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628800" y="7007700"/>
            <a:ext cx="6610500" cy="23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packet of crisps contains 33% less fat.  This low fat packet contains 5.3 g of fat.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fat is in a regular packet?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191500" y="8448150"/>
            <a:ext cx="1694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regular packet contains 7.9 g of fat.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9" name="Google Shape;199;p20"/>
          <p:cNvGraphicFramePr/>
          <p:nvPr/>
        </p:nvGraphicFramePr>
        <p:xfrm>
          <a:off x="1390325" y="788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{BB931781-F74C-4EAE-ACB4-C901BD8EE3E8}</a:tableStyleId>
              </a:tblPr>
              <a:tblGrid>
                <a:gridCol w="1286350"/>
                <a:gridCol w="128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grams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00}{67}&quot;&gt;&lt;mfrac&gt;&lt;mn&gt;100&lt;/mn&gt;&lt;mn&gt;67&lt;/mn&gt;&lt;/mfrac&gt;&lt;/math&gt;" id="200" name="Google Shape;200;p20" title="100 over 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9700" y="8519975"/>
            <a:ext cx="252900" cy="32208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 flipH="1" rot="-5400000">
            <a:off x="1188636" y="8484304"/>
            <a:ext cx="346800" cy="2529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64123" y="8392509"/>
            <a:ext cx="2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3903254" y="8404532"/>
            <a:ext cx="629024" cy="523352"/>
            <a:chOff x="6507750" y="3304500"/>
            <a:chExt cx="797950" cy="663900"/>
          </a:xfrm>
        </p:grpSpPr>
        <p:sp>
          <p:nvSpPr>
            <p:cNvPr id="204" name="Google Shape;204;p20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6985000" y="3304500"/>
              <a:ext cx="320700" cy="6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67}&quot;&gt;&lt;mfrac&gt;&lt;mn&gt;100&lt;/mn&gt;&lt;mn&gt;67&lt;/mn&gt;&lt;/mfrac&gt;&lt;/math&gt;" id="206" name="Google Shape;206;p20" title="100 over 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5900" y="8519975"/>
            <a:ext cx="252900" cy="3220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0"/>
          <p:cNvGrpSpPr/>
          <p:nvPr/>
        </p:nvGrpSpPr>
        <p:grpSpPr>
          <a:xfrm>
            <a:off x="6210600" y="7429271"/>
            <a:ext cx="541069" cy="721413"/>
            <a:chOff x="5104000" y="3238125"/>
            <a:chExt cx="888600" cy="1155000"/>
          </a:xfrm>
        </p:grpSpPr>
        <p:sp>
          <p:nvSpPr>
            <p:cNvPr id="208" name="Google Shape;208;p20"/>
            <p:cNvSpPr/>
            <p:nvPr/>
          </p:nvSpPr>
          <p:spPr>
            <a:xfrm>
              <a:off x="5104000" y="3238125"/>
              <a:ext cx="888600" cy="1155000"/>
            </a:xfrm>
            <a:prstGeom prst="rect">
              <a:avLst/>
            </a:prstGeom>
            <a:solidFill>
              <a:srgbClr val="037B7D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5104000" y="3648975"/>
              <a:ext cx="888600" cy="180900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5251200" y="3476375"/>
              <a:ext cx="579900" cy="5703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 rot="-1402819">
              <a:off x="5309964" y="3559792"/>
              <a:ext cx="173877" cy="164344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 rot="765889">
              <a:off x="5462328" y="3788334"/>
              <a:ext cx="173795" cy="164328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 rot="-344405">
              <a:off x="5587664" y="3572300"/>
              <a:ext cx="173972" cy="164301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53875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5463775" y="35052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56161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5539975" y="36576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original amount after a decrease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76400" y="1064100"/>
            <a:ext cx="6615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new amount and percentage decrease find the original amount.  All of the answers are in the grid except for one.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percentage question that gives this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76400" y="744575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Using a multiplier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" name="Google Shape;225;p21"/>
          <p:cNvGraphicFramePr/>
          <p:nvPr/>
        </p:nvGraphicFramePr>
        <p:xfrm>
          <a:off x="4759200" y="240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{BB931781-F74C-4EAE-ACB4-C901BD8EE3E8}</a:tableStyleId>
              </a:tblPr>
              <a:tblGrid>
                <a:gridCol w="777600"/>
                <a:gridCol w="777600"/>
                <a:gridCol w="777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1"/>
          <p:cNvSpPr txBox="1"/>
          <p:nvPr/>
        </p:nvSpPr>
        <p:spPr>
          <a:xfrm>
            <a:off x="6381207" y="2840185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381207" y="2444848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801924" y="2444848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381207" y="3235503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596996" y="2450123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801924" y="3235508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596996" y="3235508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801924" y="2840185"/>
            <a:ext cx="158400" cy="18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4" name="Google Shape;234;p21"/>
          <p:cNvGraphicFramePr/>
          <p:nvPr/>
        </p:nvGraphicFramePr>
        <p:xfrm>
          <a:off x="755850" y="192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{BB931781-F74C-4EAE-ACB4-C901BD8EE3E8}</a:tableStyleId>
              </a:tblPr>
              <a:tblGrid>
                <a:gridCol w="218550"/>
                <a:gridCol w="1781225"/>
                <a:gridCol w="1384350"/>
              </a:tblGrid>
              <a:tr h="3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#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Decrease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306.24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245.76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303.66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E.g. 35%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211.25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5" name="Google Shape;235;p21"/>
          <p:cNvCxnSpPr/>
          <p:nvPr/>
        </p:nvCxnSpPr>
        <p:spPr>
          <a:xfrm>
            <a:off x="474757" y="53857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7999" y="54498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Mixed reverse percentage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6400" y="6027792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Decide whether each of the following questions indicate a decrease or increase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watch is sold for £46.80, this was a loss of 35%.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bag of apples contains an extra 25% free.  The bag contains 20 apples.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value of a motorbike depreciates by 20%.  It is now worth £6820.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savings account earns 2.2% interest.  The account now contains £613.20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buy a laptop for £244.40, this price has been discounted by 6%.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635101" y="6396150"/>
            <a:ext cx="343200" cy="25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011626" y="7052161"/>
            <a:ext cx="439200" cy="25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800650" y="7691853"/>
            <a:ext cx="883500" cy="25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122725" y="8292943"/>
            <a:ext cx="583200" cy="25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572750" y="8945230"/>
            <a:ext cx="883500" cy="25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219841" y="6617500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219841" y="8096414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219841" y="9249572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277626" y="7347749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277626" y="8674263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" name="Google Shape;254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472200" y="864001"/>
            <a:ext cx="6615600" cy="3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preferred method, find the original amounts in the following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watch is sold for £46.80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was a loss of 35%.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46.80 ÷ 0.65 = £72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bag of apples contains an extra 25% free.  The bag contains 20 apples.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 ÷ 1.25 = 16 apples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value of a motorbike depreciates by 20%.  It is now worth £6820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6820 ÷ 0.8 = £8525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savings account earns 2.2% interest.  The account now contains £613.20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613.20 ÷ 1.022 = £600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buy a laptop for £244.40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price has been discounted by 6%.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244.40 ÷ 0.94 = £260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