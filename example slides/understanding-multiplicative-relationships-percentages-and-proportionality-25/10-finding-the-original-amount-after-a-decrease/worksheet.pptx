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3639EDF-5EB0-4380-A057-1B00A35AC4DE}">
  <a:tblStyle styleId="{D3639EDF-5EB0-4380-A057-1B00A35AC4D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original amount after a decrease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76399" y="1335050"/>
            <a:ext cx="6314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Finding the original value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76400" y="1782200"/>
            <a:ext cx="6610500" cy="23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your preferred method, answer the following questions.  Giv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your answers to an appropriate degree of accuracy.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t-shirt costs £21 in a sale offering a 25% discount.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cost of the t-shirt before the discount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A car's value depreciates by 22% in the first year.  It is now worth £11 544.  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was the cost of the car originally?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A packet of crisps contains 33% less fat.  This low fat packet contains 5.3 g of fat.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much fat is in a regular packet?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" name="Google Shape;16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2483" y="2341714"/>
            <a:ext cx="690067" cy="706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8654" y="3654587"/>
            <a:ext cx="1338246" cy="5573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5" name="Google Shape;165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20"/>
          <p:cNvSpPr txBox="1"/>
          <p:nvPr/>
        </p:nvSpPr>
        <p:spPr>
          <a:xfrm>
            <a:off x="476400" y="5940900"/>
            <a:ext cx="66156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Given the new amount and percentage decrease, find the original amount.  All of the answers are in the grid except for one.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percentage question that gives this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76400" y="5621375"/>
            <a:ext cx="6615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Using a multiplier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8" name="Google Shape;168;p20"/>
          <p:cNvGraphicFramePr/>
          <p:nvPr/>
        </p:nvGraphicFramePr>
        <p:xfrm>
          <a:off x="4759200" y="727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{D3639EDF-5EB0-4380-A057-1B00A35AC4DE}</a:tableStyleId>
              </a:tblPr>
              <a:tblGrid>
                <a:gridCol w="777600"/>
                <a:gridCol w="777600"/>
                <a:gridCol w="777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9" name="Google Shape;169;p20"/>
          <p:cNvGraphicFramePr/>
          <p:nvPr/>
        </p:nvGraphicFramePr>
        <p:xfrm>
          <a:off x="755850" y="6799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{D3639EDF-5EB0-4380-A057-1B00A35AC4DE}</a:tableStyleId>
              </a:tblPr>
              <a:tblGrid>
                <a:gridCol w="218550"/>
                <a:gridCol w="1781225"/>
                <a:gridCol w="1384350"/>
              </a:tblGrid>
              <a:tr h="30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#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Percentage Decrease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Amount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306.24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245.76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73.6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12.5%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288.75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3.6%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303.66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70" name="Google Shape;170;p20"/>
          <p:cNvCxnSpPr/>
          <p:nvPr/>
        </p:nvCxnSpPr>
        <p:spPr>
          <a:xfrm>
            <a:off x="474757" y="546196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1" name="Google Shape;171;p20"/>
          <p:cNvGrpSpPr/>
          <p:nvPr/>
        </p:nvGrpSpPr>
        <p:grpSpPr>
          <a:xfrm>
            <a:off x="6133956" y="4686014"/>
            <a:ext cx="483310" cy="654423"/>
            <a:chOff x="5104000" y="3238125"/>
            <a:chExt cx="888600" cy="1155000"/>
          </a:xfrm>
        </p:grpSpPr>
        <p:sp>
          <p:nvSpPr>
            <p:cNvPr id="172" name="Google Shape;172;p20"/>
            <p:cNvSpPr/>
            <p:nvPr/>
          </p:nvSpPr>
          <p:spPr>
            <a:xfrm>
              <a:off x="5104000" y="3238125"/>
              <a:ext cx="888600" cy="1155000"/>
            </a:xfrm>
            <a:prstGeom prst="rect">
              <a:avLst/>
            </a:prstGeom>
            <a:solidFill>
              <a:srgbClr val="037B7D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" name="Google Shape;173;p20"/>
            <p:cNvSpPr/>
            <p:nvPr/>
          </p:nvSpPr>
          <p:spPr>
            <a:xfrm>
              <a:off x="5104000" y="3648975"/>
              <a:ext cx="888600" cy="180900"/>
            </a:xfrm>
            <a:prstGeom prst="snip2DiagRect">
              <a:avLst>
                <a:gd fmla="val 0" name="adj1"/>
                <a:gd fmla="val 16667" name="adj2"/>
              </a:avLst>
            </a:prstGeom>
            <a:solidFill>
              <a:srgbClr val="F6B26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" name="Google Shape;174;p20"/>
            <p:cNvSpPr/>
            <p:nvPr/>
          </p:nvSpPr>
          <p:spPr>
            <a:xfrm>
              <a:off x="5251200" y="3476375"/>
              <a:ext cx="579900" cy="5703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" name="Google Shape;175;p20"/>
            <p:cNvSpPr/>
            <p:nvPr/>
          </p:nvSpPr>
          <p:spPr>
            <a:xfrm rot="-1402819">
              <a:off x="5309964" y="3559792"/>
              <a:ext cx="173877" cy="164344"/>
            </a:xfrm>
            <a:prstGeom prst="triangle">
              <a:avLst>
                <a:gd fmla="val 50000" name="adj"/>
              </a:avLst>
            </a:prstGeom>
            <a:solidFill>
              <a:srgbClr val="F6B26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" name="Google Shape;176;p20"/>
            <p:cNvSpPr/>
            <p:nvPr/>
          </p:nvSpPr>
          <p:spPr>
            <a:xfrm rot="765889">
              <a:off x="5462328" y="3788334"/>
              <a:ext cx="173795" cy="164328"/>
            </a:xfrm>
            <a:prstGeom prst="triangle">
              <a:avLst>
                <a:gd fmla="val 50000" name="adj"/>
              </a:avLst>
            </a:prstGeom>
            <a:solidFill>
              <a:srgbClr val="F6B26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" name="Google Shape;177;p20"/>
            <p:cNvSpPr/>
            <p:nvPr/>
          </p:nvSpPr>
          <p:spPr>
            <a:xfrm rot="-344405">
              <a:off x="5587664" y="3572300"/>
              <a:ext cx="173972" cy="164301"/>
            </a:xfrm>
            <a:prstGeom prst="triangle">
              <a:avLst>
                <a:gd fmla="val 50000" name="adj"/>
              </a:avLst>
            </a:prstGeom>
            <a:solidFill>
              <a:srgbClr val="F6B26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5387575" y="3810000"/>
              <a:ext cx="46800" cy="46800"/>
            </a:xfrm>
            <a:prstGeom prst="ellipse">
              <a:avLst/>
            </a:prstGeom>
            <a:solidFill>
              <a:srgbClr val="F6B26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" name="Google Shape;179;p20"/>
            <p:cNvSpPr/>
            <p:nvPr/>
          </p:nvSpPr>
          <p:spPr>
            <a:xfrm>
              <a:off x="5463775" y="3505200"/>
              <a:ext cx="46800" cy="46800"/>
            </a:xfrm>
            <a:prstGeom prst="ellipse">
              <a:avLst/>
            </a:prstGeom>
            <a:solidFill>
              <a:srgbClr val="F6B26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" name="Google Shape;180;p20"/>
            <p:cNvSpPr/>
            <p:nvPr/>
          </p:nvSpPr>
          <p:spPr>
            <a:xfrm>
              <a:off x="5616175" y="3810000"/>
              <a:ext cx="46800" cy="46800"/>
            </a:xfrm>
            <a:prstGeom prst="ellipse">
              <a:avLst/>
            </a:prstGeom>
            <a:solidFill>
              <a:srgbClr val="F6B26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" name="Google Shape;181;p20"/>
            <p:cNvSpPr/>
            <p:nvPr/>
          </p:nvSpPr>
          <p:spPr>
            <a:xfrm>
              <a:off x="5539975" y="3657600"/>
              <a:ext cx="46800" cy="46800"/>
            </a:xfrm>
            <a:prstGeom prst="ellipse">
              <a:avLst/>
            </a:prstGeom>
            <a:solidFill>
              <a:srgbClr val="F6B26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7" name="Google Shape;187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original amount after a decrease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467999" y="649250"/>
            <a:ext cx="64416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Mixed reverse percentage problems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476400" y="1227192"/>
            <a:ext cx="6615600" cy="24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Decide whether each of the following questions indicate a decrease or increase question.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watch is sold for £46.80, this was a loss of 35%.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bag of apples contains an extra 25% free. The bag contains 20 apples.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value of a motorbike depreciates by 20%. It is now worth £6820.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savings account earns 2.2% interest. The account now contains £613.20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buy a laptop for £244.40, this price has been discounted by 6%.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476400" y="4965001"/>
            <a:ext cx="6615600" cy="38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your preferred method, find the original amounts in the following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questions.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watch is sold for £46.80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his was a loss of 35%.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bag of apples contains an extra 25% free. The bag contains 20 apples.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value of a motorbike depreciates by 20%. It is now worth £6820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savings account earns 2.2% interest. The account now contains £613.20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buy a laptop for £244.40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his price has been discounted by 6%.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