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E5720D-90A7-4BD0-9A34-C6B6E83E1595}">
  <a:tblStyle styleId="{36E5720D-90A7-4BD0-9A34-C6B6E83E159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68769d6014_0_1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68769d601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/>
          <p:nvPr/>
        </p:nvSpPr>
        <p:spPr>
          <a:xfrm>
            <a:off x="4622223" y="4647425"/>
            <a:ext cx="113100" cy="5181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2" name="Google Shape;172;p20"/>
          <p:cNvGraphicFramePr/>
          <p:nvPr/>
        </p:nvGraphicFramePr>
        <p:xfrm>
          <a:off x="1130063" y="46390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{36E5720D-90A7-4BD0-9A34-C6B6E83E1595}</a:tableStyleId>
              </a:tblPr>
              <a:tblGrid>
                <a:gridCol w="584675"/>
                <a:gridCol w="584675"/>
                <a:gridCol w="584675"/>
                <a:gridCol w="584675"/>
                <a:gridCol w="584675"/>
                <a:gridCol w="584675"/>
                <a:gridCol w="584675"/>
                <a:gridCol w="584675"/>
                <a:gridCol w="584675"/>
                <a:gridCol w="584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3" name="Google Shape;173;p20"/>
          <p:cNvGraphicFramePr/>
          <p:nvPr/>
        </p:nvGraphicFramePr>
        <p:xfrm>
          <a:off x="1130075" y="46496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{36E5720D-90A7-4BD0-9A34-C6B6E83E1595}</a:tableStyleId>
              </a:tblPr>
              <a:tblGrid>
                <a:gridCol w="5846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4" name="Google Shape;174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5" name="Google Shape;175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percentages</a:t>
            </a:r>
            <a:endParaRPr/>
          </a:p>
        </p:txBody>
      </p:sp>
      <p:sp>
        <p:nvSpPr>
          <p:cNvPr id="176" name="Google Shape;176;p20"/>
          <p:cNvSpPr/>
          <p:nvPr/>
        </p:nvSpPr>
        <p:spPr>
          <a:xfrm>
            <a:off x="3393693" y="2774000"/>
            <a:ext cx="168900" cy="5181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7" name="Google Shape;177;p20"/>
          <p:cNvGraphicFramePr/>
          <p:nvPr/>
        </p:nvGraphicFramePr>
        <p:xfrm>
          <a:off x="1086063" y="27711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{36E5720D-90A7-4BD0-9A34-C6B6E83E1595}</a:tableStyleId>
              </a:tblPr>
              <a:tblGrid>
                <a:gridCol w="584675"/>
                <a:gridCol w="584675"/>
                <a:gridCol w="584675"/>
                <a:gridCol w="584675"/>
                <a:gridCol w="584675"/>
                <a:gridCol w="584675"/>
                <a:gridCol w="584675"/>
                <a:gridCol w="584675"/>
                <a:gridCol w="584675"/>
                <a:gridCol w="584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8" name="Google Shape;178;p20"/>
          <p:cNvSpPr txBox="1"/>
          <p:nvPr/>
        </p:nvSpPr>
        <p:spPr>
          <a:xfrm>
            <a:off x="474750" y="1963756"/>
            <a:ext cx="6610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percentage of the amount using bar models.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74748" y="1411250"/>
            <a:ext cx="60819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Finding percentages of amounts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0" name="Google Shape;180;p20"/>
          <p:cNvGraphicFramePr/>
          <p:nvPr/>
        </p:nvGraphicFramePr>
        <p:xfrm>
          <a:off x="1100538" y="27554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{36E5720D-90A7-4BD0-9A34-C6B6E83E1595}</a:tableStyleId>
              </a:tblPr>
              <a:tblGrid>
                <a:gridCol w="58467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1" name="Google Shape;181;p20"/>
          <p:cNvSpPr/>
          <p:nvPr/>
        </p:nvSpPr>
        <p:spPr>
          <a:xfrm rot="5400000">
            <a:off x="1278038" y="2290329"/>
            <a:ext cx="199800" cy="5844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1086153" y="2215025"/>
            <a:ext cx="673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476400" y="2325845"/>
            <a:ext cx="59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/>
          </a:p>
        </p:txBody>
      </p:sp>
      <p:sp>
        <p:nvSpPr>
          <p:cNvPr id="184" name="Google Shape;184;p20"/>
          <p:cNvSpPr/>
          <p:nvPr/>
        </p:nvSpPr>
        <p:spPr>
          <a:xfrm rot="5400000">
            <a:off x="1860559" y="2305097"/>
            <a:ext cx="199800" cy="5844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1668673" y="2229793"/>
            <a:ext cx="673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/>
          <p:nvPr/>
        </p:nvSpPr>
        <p:spPr>
          <a:xfrm rot="5400000">
            <a:off x="2424853" y="2305097"/>
            <a:ext cx="199800" cy="5844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2175168" y="2229792"/>
            <a:ext cx="81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/>
          <p:nvPr/>
        </p:nvSpPr>
        <p:spPr>
          <a:xfrm rot="5400000">
            <a:off x="3031675" y="2305097"/>
            <a:ext cx="199800" cy="5844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2684054" y="2229792"/>
            <a:ext cx="81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/>
          <p:nvPr/>
        </p:nvSpPr>
        <p:spPr>
          <a:xfrm rot="5400000">
            <a:off x="3406600" y="2531354"/>
            <a:ext cx="199800" cy="1122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3081320" y="2229794"/>
            <a:ext cx="81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1206122" y="3596863"/>
            <a:ext cx="3996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42% of 800</a:t>
            </a:r>
            <a:endParaRPr sz="1200"/>
          </a:p>
        </p:txBody>
      </p:sp>
      <p:sp>
        <p:nvSpPr>
          <p:cNvPr id="193" name="Google Shape;193;p20"/>
          <p:cNvSpPr/>
          <p:nvPr/>
        </p:nvSpPr>
        <p:spPr>
          <a:xfrm rot="5400000">
            <a:off x="1319055" y="4161163"/>
            <a:ext cx="199800" cy="5784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1130164" y="4082875"/>
            <a:ext cx="666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/>
          <p:nvPr/>
        </p:nvSpPr>
        <p:spPr>
          <a:xfrm rot="5400000">
            <a:off x="1895595" y="4175930"/>
            <a:ext cx="199800" cy="5784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1706704" y="4097642"/>
            <a:ext cx="666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/>
          <p:nvPr/>
        </p:nvSpPr>
        <p:spPr>
          <a:xfrm rot="5400000">
            <a:off x="2454095" y="4175930"/>
            <a:ext cx="199800" cy="5784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2265205" y="4097642"/>
            <a:ext cx="666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/>
          <p:nvPr/>
        </p:nvSpPr>
        <p:spPr>
          <a:xfrm rot="5400000">
            <a:off x="3054688" y="4175930"/>
            <a:ext cx="199800" cy="5784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2865798" y="4097642"/>
            <a:ext cx="666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/>
          <p:nvPr/>
        </p:nvSpPr>
        <p:spPr>
          <a:xfrm rot="5400000">
            <a:off x="4556728" y="4409462"/>
            <a:ext cx="199800" cy="1113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4376259" y="4097643"/>
            <a:ext cx="666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1238622" y="5454513"/>
            <a:ext cx="3996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61% of 440</a:t>
            </a:r>
            <a:endParaRPr sz="1200"/>
          </a:p>
        </p:txBody>
      </p:sp>
      <p:sp>
        <p:nvSpPr>
          <p:cNvPr id="204" name="Google Shape;204;p20"/>
          <p:cNvSpPr/>
          <p:nvPr/>
        </p:nvSpPr>
        <p:spPr>
          <a:xfrm rot="5400000">
            <a:off x="3629266" y="4175930"/>
            <a:ext cx="199800" cy="5784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3440375" y="4097642"/>
            <a:ext cx="666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/>
          <p:nvPr/>
        </p:nvSpPr>
        <p:spPr>
          <a:xfrm rot="5400000">
            <a:off x="4203843" y="4175930"/>
            <a:ext cx="199800" cy="5784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4014952" y="4097642"/>
            <a:ext cx="666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476400" y="4459445"/>
            <a:ext cx="59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/>
          </a:p>
        </p:txBody>
      </p:sp>
      <p:sp>
        <p:nvSpPr>
          <p:cNvPr id="209" name="Google Shape;209;p20"/>
          <p:cNvSpPr txBox="1"/>
          <p:nvPr/>
        </p:nvSpPr>
        <p:spPr>
          <a:xfrm>
            <a:off x="1200575" y="2821088"/>
            <a:ext cx="59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1820700" y="2862750"/>
            <a:ext cx="59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2440825" y="2862750"/>
            <a:ext cx="59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2984513" y="2821088"/>
            <a:ext cx="59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3546113" y="3284688"/>
            <a:ext cx="59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16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14" name="Google Shape;214;p20"/>
          <p:cNvCxnSpPr/>
          <p:nvPr/>
        </p:nvCxnSpPr>
        <p:spPr>
          <a:xfrm rot="10800000">
            <a:off x="3468875" y="3138200"/>
            <a:ext cx="110700" cy="310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5" name="Google Shape;215;p20"/>
          <p:cNvSpPr txBox="1"/>
          <p:nvPr/>
        </p:nvSpPr>
        <p:spPr>
          <a:xfrm>
            <a:off x="4196052" y="2318350"/>
            <a:ext cx="289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10% = 80 and 1% = 8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2758440" y="3508803"/>
            <a:ext cx="338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80 + 80 + 80 + 80 + 16 = 336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4974343" y="4188783"/>
            <a:ext cx="266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10% = 44 and 1% = 4.4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1206425" y="4723625"/>
            <a:ext cx="48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44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1765482" y="4723625"/>
            <a:ext cx="48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44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2404601" y="4723625"/>
            <a:ext cx="48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44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2956367" y="4723625"/>
            <a:ext cx="48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44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3602778" y="4728289"/>
            <a:ext cx="48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44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4154544" y="4728289"/>
            <a:ext cx="48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44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4751075" y="5183650"/>
            <a:ext cx="74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4.4</a:t>
            </a:r>
            <a:endParaRPr sz="1200"/>
          </a:p>
        </p:txBody>
      </p:sp>
      <p:cxnSp>
        <p:nvCxnSpPr>
          <p:cNvPr id="225" name="Google Shape;225;p20"/>
          <p:cNvCxnSpPr/>
          <p:nvPr/>
        </p:nvCxnSpPr>
        <p:spPr>
          <a:xfrm rot="10800000">
            <a:off x="4713050" y="5058850"/>
            <a:ext cx="110700" cy="310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6" name="Google Shape;226;p20"/>
          <p:cNvSpPr txBox="1"/>
          <p:nvPr/>
        </p:nvSpPr>
        <p:spPr>
          <a:xfrm>
            <a:off x="2839378" y="5371953"/>
            <a:ext cx="275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44 × 6 + 4.4 = 268.4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476400" y="5712300"/>
            <a:ext cx="6624000" cy="10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Here is a percentage bar to show the percentage of days that experienced different weather conditions.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how many days were sunny, cloudy, or rainy.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0"/>
          <p:cNvSpPr/>
          <p:nvPr/>
        </p:nvSpPr>
        <p:spPr>
          <a:xfrm rot="-5400000">
            <a:off x="3717750" y="4556250"/>
            <a:ext cx="117300" cy="66066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0"/>
          <p:cNvSpPr txBox="1"/>
          <p:nvPr/>
        </p:nvSpPr>
        <p:spPr>
          <a:xfrm>
            <a:off x="3218175" y="7967100"/>
            <a:ext cx="1733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20 days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30" name="Google Shape;230;p20"/>
          <p:cNvGraphicFramePr/>
          <p:nvPr/>
        </p:nvGraphicFramePr>
        <p:xfrm>
          <a:off x="473100" y="7007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{36E5720D-90A7-4BD0-9A34-C6B6E83E1595}</a:tableStyleId>
              </a:tblPr>
              <a:tblGrid>
                <a:gridCol w="3282825"/>
                <a:gridCol w="2021275"/>
                <a:gridCol w="1319925"/>
              </a:tblGrid>
              <a:tr h="53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rain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1" name="Google Shape;231;p20"/>
          <p:cNvSpPr txBox="1"/>
          <p:nvPr/>
        </p:nvSpPr>
        <p:spPr>
          <a:xfrm>
            <a:off x="6174150" y="6578425"/>
            <a:ext cx="47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32" name="Google Shape;232;p20"/>
          <p:cNvGraphicFramePr/>
          <p:nvPr/>
        </p:nvGraphicFramePr>
        <p:xfrm>
          <a:off x="461675" y="8303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{36E5720D-90A7-4BD0-9A34-C6B6E83E1595}</a:tableStyleId>
              </a:tblPr>
              <a:tblGrid>
                <a:gridCol w="3282800"/>
                <a:gridCol w="2021275"/>
                <a:gridCol w="1319925"/>
              </a:tblGrid>
              <a:tr h="571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3" name="Google Shape;233;p20"/>
          <p:cNvGraphicFramePr/>
          <p:nvPr/>
        </p:nvGraphicFramePr>
        <p:xfrm>
          <a:off x="464513" y="83031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{36E5720D-90A7-4BD0-9A34-C6B6E83E1595}</a:tableStyleId>
              </a:tblPr>
              <a:tblGrid>
                <a:gridCol w="662400"/>
                <a:gridCol w="662400"/>
                <a:gridCol w="662400"/>
                <a:gridCol w="662400"/>
                <a:gridCol w="641800"/>
                <a:gridCol w="683000"/>
                <a:gridCol w="662400"/>
                <a:gridCol w="662400"/>
                <a:gridCol w="662400"/>
                <a:gridCol w="662400"/>
              </a:tblGrid>
              <a:tr h="571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4" name="Google Shape;234;p20"/>
          <p:cNvGraphicFramePr/>
          <p:nvPr/>
        </p:nvGraphicFramePr>
        <p:xfrm>
          <a:off x="464313" y="83086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{36E5720D-90A7-4BD0-9A34-C6B6E83E1595}</a:tableStyleId>
              </a:tblPr>
              <a:tblGrid>
                <a:gridCol w="662400"/>
                <a:gridCol w="662400"/>
                <a:gridCol w="662400"/>
                <a:gridCol w="662400"/>
                <a:gridCol w="630550"/>
                <a:gridCol w="694250"/>
                <a:gridCol w="662400"/>
                <a:gridCol w="662400"/>
                <a:gridCol w="662400"/>
                <a:gridCol w="662400"/>
              </a:tblGrid>
              <a:tr h="571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5" name="Google Shape;235;p20"/>
          <p:cNvSpPr txBox="1"/>
          <p:nvPr/>
        </p:nvSpPr>
        <p:spPr>
          <a:xfrm>
            <a:off x="468000" y="9026100"/>
            <a:ext cx="642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Sunny = 10 days, 	Cloudy = 6 days, 	Rainy = 4 days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3950" y="1777875"/>
            <a:ext cx="5888049" cy="52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percentages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476400" y="835500"/>
            <a:ext cx="6615600" cy="1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 Work out the 29% of 120 using the two different bar models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1"/>
          <p:cNvSpPr/>
          <p:nvPr/>
        </p:nvSpPr>
        <p:spPr>
          <a:xfrm rot="5400000">
            <a:off x="1481192" y="1391328"/>
            <a:ext cx="153000" cy="5490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1294919" y="1376825"/>
            <a:ext cx="632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476400" y="1411445"/>
            <a:ext cx="59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/>
          </a:p>
        </p:txBody>
      </p:sp>
      <p:sp>
        <p:nvSpPr>
          <p:cNvPr id="246" name="Google Shape;246;p21"/>
          <p:cNvSpPr/>
          <p:nvPr/>
        </p:nvSpPr>
        <p:spPr>
          <a:xfrm rot="5400000">
            <a:off x="2039982" y="1395079"/>
            <a:ext cx="153000" cy="5490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1842262" y="1388135"/>
            <a:ext cx="632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/>
          <p:nvPr/>
        </p:nvSpPr>
        <p:spPr>
          <a:xfrm rot="5400000">
            <a:off x="1475822" y="2905354"/>
            <a:ext cx="175800" cy="5631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1282551" y="2863675"/>
            <a:ext cx="648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1"/>
          <p:cNvSpPr/>
          <p:nvPr/>
        </p:nvSpPr>
        <p:spPr>
          <a:xfrm rot="5400000">
            <a:off x="2037131" y="2918341"/>
            <a:ext cx="175800" cy="5631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1843860" y="2876662"/>
            <a:ext cx="648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1"/>
          <p:cNvSpPr/>
          <p:nvPr/>
        </p:nvSpPr>
        <p:spPr>
          <a:xfrm rot="5400000">
            <a:off x="2580878" y="2918341"/>
            <a:ext cx="175800" cy="5631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2387606" y="2876662"/>
            <a:ext cx="648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1"/>
          <p:cNvSpPr/>
          <p:nvPr/>
        </p:nvSpPr>
        <p:spPr>
          <a:xfrm rot="-5400000">
            <a:off x="2889943" y="3763324"/>
            <a:ext cx="99000" cy="1083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3227875" y="3278075"/>
            <a:ext cx="107400" cy="51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2686372" y="3893475"/>
            <a:ext cx="648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476400" y="3087845"/>
            <a:ext cx="59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/>
          </a:p>
        </p:txBody>
      </p:sp>
      <p:sp>
        <p:nvSpPr>
          <p:cNvPr id="258" name="Google Shape;258;p21"/>
          <p:cNvSpPr/>
          <p:nvPr/>
        </p:nvSpPr>
        <p:spPr>
          <a:xfrm rot="5400000">
            <a:off x="2533359" y="1450923"/>
            <a:ext cx="153000" cy="4374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2391441" y="1388182"/>
            <a:ext cx="632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1283063" y="1843825"/>
            <a:ext cx="59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1912000" y="1849463"/>
            <a:ext cx="59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5148000" y="1372200"/>
            <a:ext cx="194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10% = 12 and 1% = 1.2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3" name="Google Shape;263;p21"/>
          <p:cNvSpPr txBox="1"/>
          <p:nvPr/>
        </p:nvSpPr>
        <p:spPr>
          <a:xfrm>
            <a:off x="2460150" y="1854063"/>
            <a:ext cx="68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10.8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1121700" y="2257675"/>
            <a:ext cx="597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29% of 120 = 10% × 2 + 9% = 12 × 2 + 10.8 = 34.8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>
            <a:off x="1121700" y="4102975"/>
            <a:ext cx="597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29% of 120 = 10% × 3 - 1% = 12 × 3 - 1.2 = 34.8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66" name="Google Shape;26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7900" y="3240888"/>
            <a:ext cx="5888049" cy="52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1"/>
          <p:cNvSpPr txBox="1"/>
          <p:nvPr/>
        </p:nvSpPr>
        <p:spPr>
          <a:xfrm>
            <a:off x="476400" y="4645500"/>
            <a:ext cx="6557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Show two different bar models to work out 99% of 200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476400" y="5103991"/>
            <a:ext cx="47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/>
          </a:p>
        </p:txBody>
      </p:sp>
      <p:sp>
        <p:nvSpPr>
          <p:cNvPr id="269" name="Google Shape;269;p21"/>
          <p:cNvSpPr txBox="1"/>
          <p:nvPr/>
        </p:nvSpPr>
        <p:spPr>
          <a:xfrm>
            <a:off x="476400" y="6802482"/>
            <a:ext cx="47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/>
          </a:p>
        </p:txBody>
      </p:sp>
      <p:sp>
        <p:nvSpPr>
          <p:cNvPr id="270" name="Google Shape;270;p21"/>
          <p:cNvSpPr txBox="1"/>
          <p:nvPr/>
        </p:nvSpPr>
        <p:spPr>
          <a:xfrm>
            <a:off x="1110346" y="5841263"/>
            <a:ext cx="260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10% = 20 and 1% = 2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1076692" y="6089000"/>
            <a:ext cx="5711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99% of 200 = 90% × 9 + 9% = 20 × 9 + 18 = 198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2" name="Google Shape;272;p21"/>
          <p:cNvSpPr/>
          <p:nvPr/>
        </p:nvSpPr>
        <p:spPr>
          <a:xfrm rot="5400000">
            <a:off x="6643281" y="5102431"/>
            <a:ext cx="159000" cy="4698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6426586" y="5044820"/>
            <a:ext cx="679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1"/>
          <p:cNvSpPr/>
          <p:nvPr/>
        </p:nvSpPr>
        <p:spPr>
          <a:xfrm rot="5400000">
            <a:off x="1375971" y="5046507"/>
            <a:ext cx="159000" cy="589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1148346" y="5040886"/>
            <a:ext cx="679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1"/>
          <p:cNvSpPr/>
          <p:nvPr/>
        </p:nvSpPr>
        <p:spPr>
          <a:xfrm rot="5400000">
            <a:off x="1965598" y="5049776"/>
            <a:ext cx="159000" cy="589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1"/>
          <p:cNvSpPr txBox="1"/>
          <p:nvPr/>
        </p:nvSpPr>
        <p:spPr>
          <a:xfrm>
            <a:off x="1737973" y="5038277"/>
            <a:ext cx="679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1"/>
          <p:cNvSpPr/>
          <p:nvPr/>
        </p:nvSpPr>
        <p:spPr>
          <a:xfrm rot="5400000">
            <a:off x="2559749" y="5046507"/>
            <a:ext cx="159000" cy="589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1"/>
          <p:cNvSpPr txBox="1"/>
          <p:nvPr/>
        </p:nvSpPr>
        <p:spPr>
          <a:xfrm>
            <a:off x="2332124" y="5040886"/>
            <a:ext cx="679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1"/>
          <p:cNvSpPr/>
          <p:nvPr/>
        </p:nvSpPr>
        <p:spPr>
          <a:xfrm rot="5400000">
            <a:off x="3149375" y="5049776"/>
            <a:ext cx="159000" cy="589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1"/>
          <p:cNvSpPr txBox="1"/>
          <p:nvPr/>
        </p:nvSpPr>
        <p:spPr>
          <a:xfrm>
            <a:off x="2921750" y="5038277"/>
            <a:ext cx="679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1"/>
          <p:cNvSpPr/>
          <p:nvPr/>
        </p:nvSpPr>
        <p:spPr>
          <a:xfrm rot="5400000">
            <a:off x="3755788" y="5046507"/>
            <a:ext cx="159000" cy="589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>
            <a:off x="3528163" y="5040886"/>
            <a:ext cx="679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1"/>
          <p:cNvSpPr/>
          <p:nvPr/>
        </p:nvSpPr>
        <p:spPr>
          <a:xfrm rot="5400000">
            <a:off x="4345414" y="5049776"/>
            <a:ext cx="159000" cy="589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1"/>
          <p:cNvSpPr txBox="1"/>
          <p:nvPr/>
        </p:nvSpPr>
        <p:spPr>
          <a:xfrm>
            <a:off x="4117789" y="5038277"/>
            <a:ext cx="679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1"/>
          <p:cNvSpPr/>
          <p:nvPr/>
        </p:nvSpPr>
        <p:spPr>
          <a:xfrm rot="5400000">
            <a:off x="4939565" y="5046507"/>
            <a:ext cx="159000" cy="589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1"/>
          <p:cNvSpPr/>
          <p:nvPr/>
        </p:nvSpPr>
        <p:spPr>
          <a:xfrm rot="5400000">
            <a:off x="6106991" y="5046674"/>
            <a:ext cx="159000" cy="589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1"/>
          <p:cNvSpPr txBox="1"/>
          <p:nvPr/>
        </p:nvSpPr>
        <p:spPr>
          <a:xfrm>
            <a:off x="5879366" y="5035175"/>
            <a:ext cx="679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1"/>
          <p:cNvSpPr txBox="1"/>
          <p:nvPr/>
        </p:nvSpPr>
        <p:spPr>
          <a:xfrm>
            <a:off x="4711940" y="5040886"/>
            <a:ext cx="679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1"/>
          <p:cNvSpPr/>
          <p:nvPr/>
        </p:nvSpPr>
        <p:spPr>
          <a:xfrm rot="5400000">
            <a:off x="5529192" y="5049776"/>
            <a:ext cx="159000" cy="589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1"/>
          <p:cNvSpPr txBox="1"/>
          <p:nvPr/>
        </p:nvSpPr>
        <p:spPr>
          <a:xfrm>
            <a:off x="5301567" y="5038277"/>
            <a:ext cx="679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1"/>
          <p:cNvSpPr/>
          <p:nvPr/>
        </p:nvSpPr>
        <p:spPr>
          <a:xfrm rot="5400000">
            <a:off x="3931875" y="3885400"/>
            <a:ext cx="282000" cy="59721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1"/>
          <p:cNvSpPr txBox="1"/>
          <p:nvPr/>
        </p:nvSpPr>
        <p:spPr>
          <a:xfrm>
            <a:off x="3632061" y="6509960"/>
            <a:ext cx="651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100%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1"/>
          <p:cNvSpPr/>
          <p:nvPr/>
        </p:nvSpPr>
        <p:spPr>
          <a:xfrm rot="-5400000">
            <a:off x="6954475" y="7411197"/>
            <a:ext cx="89700" cy="1086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1"/>
          <p:cNvSpPr txBox="1"/>
          <p:nvPr/>
        </p:nvSpPr>
        <p:spPr>
          <a:xfrm>
            <a:off x="6779576" y="7541279"/>
            <a:ext cx="312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1"/>
          <p:cNvSpPr txBox="1"/>
          <p:nvPr/>
        </p:nvSpPr>
        <p:spPr>
          <a:xfrm>
            <a:off x="1067876" y="7436417"/>
            <a:ext cx="5711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99% of 200 = 100% - 1% = 200 - 2 = 198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97" name="Google Shape;29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1825" y="5397700"/>
            <a:ext cx="5970301" cy="498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7875" y="6921700"/>
            <a:ext cx="6034251" cy="498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9" name="Google Shape;299;p21"/>
          <p:cNvCxnSpPr/>
          <p:nvPr/>
        </p:nvCxnSpPr>
        <p:spPr>
          <a:xfrm>
            <a:off x="505207" y="824523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0" name="Google Shape;300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5" name="Google Shape;305;p22"/>
          <p:cNvGraphicFramePr/>
          <p:nvPr/>
        </p:nvGraphicFramePr>
        <p:xfrm>
          <a:off x="468000" y="7310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{36E5720D-90A7-4BD0-9A34-C6B6E83E1595}</a:tableStyleId>
              </a:tblPr>
              <a:tblGrid>
                <a:gridCol w="1535125"/>
                <a:gridCol w="1659075"/>
                <a:gridCol w="1763150"/>
                <a:gridCol w="1645950"/>
              </a:tblGrid>
              <a:tr h="337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Bar model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Double number line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Ratio table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97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Advantages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97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Disadvantages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06" name="Google Shape;306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7" name="Google Shape;307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percentages</a:t>
            </a:r>
            <a:endParaRPr/>
          </a:p>
        </p:txBody>
      </p:sp>
      <p:sp>
        <p:nvSpPr>
          <p:cNvPr id="308" name="Google Shape;308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</a:t>
            </a:r>
            <a:r>
              <a:rPr lang="en-GB"/>
              <a:t> in Education and Industry</a:t>
            </a:r>
            <a:endParaRPr/>
          </a:p>
        </p:txBody>
      </p:sp>
      <p:sp>
        <p:nvSpPr>
          <p:cNvPr id="310" name="Google Shape;310;p22"/>
          <p:cNvSpPr txBox="1"/>
          <p:nvPr/>
        </p:nvSpPr>
        <p:spPr>
          <a:xfrm>
            <a:off x="476400" y="1216500"/>
            <a:ext cx="2645700" cy="23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Using the ratio table, work out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61% of 840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Lexend"/>
              <a:buAutoNum type="alphaL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59% of 840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Lexend"/>
              <a:buAutoNum type="alphaLcParenR" startAt="3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98% of 840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2"/>
          <p:cNvSpPr txBox="1"/>
          <p:nvPr/>
        </p:nvSpPr>
        <p:spPr>
          <a:xfrm>
            <a:off x="488700" y="725450"/>
            <a:ext cx="66033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Ratio tables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12" name="Google Shape;312;p22"/>
          <p:cNvGraphicFramePr/>
          <p:nvPr/>
        </p:nvGraphicFramePr>
        <p:xfrm>
          <a:off x="4120370" y="943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{36E5720D-90A7-4BD0-9A34-C6B6E83E1595}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13" name="Google Shape;313;p22"/>
          <p:cNvGraphicFramePr/>
          <p:nvPr/>
        </p:nvGraphicFramePr>
        <p:xfrm>
          <a:off x="4120370" y="17041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{36E5720D-90A7-4BD0-9A34-C6B6E83E1595}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14" name="Google Shape;314;p22"/>
          <p:cNvGraphicFramePr/>
          <p:nvPr/>
        </p:nvGraphicFramePr>
        <p:xfrm>
          <a:off x="4120370" y="20838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{36E5720D-90A7-4BD0-9A34-C6B6E83E1595}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8.4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15" name="Google Shape;315;p22"/>
          <p:cNvSpPr txBox="1"/>
          <p:nvPr/>
        </p:nvSpPr>
        <p:spPr>
          <a:xfrm>
            <a:off x="1824450" y="1439225"/>
            <a:ext cx="117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512.4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6" name="Google Shape;316;p22"/>
          <p:cNvSpPr txBox="1"/>
          <p:nvPr/>
        </p:nvSpPr>
        <p:spPr>
          <a:xfrm>
            <a:off x="1824450" y="2112450"/>
            <a:ext cx="117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495.6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317" name="Google Shape;317;p22"/>
          <p:cNvGraphicFramePr/>
          <p:nvPr/>
        </p:nvGraphicFramePr>
        <p:xfrm>
          <a:off x="4120370" y="24647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{36E5720D-90A7-4BD0-9A34-C6B6E83E1595}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420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50%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18" name="Google Shape;318;p22"/>
          <p:cNvGraphicFramePr/>
          <p:nvPr/>
        </p:nvGraphicFramePr>
        <p:xfrm>
          <a:off x="4120370" y="28444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{36E5720D-90A7-4BD0-9A34-C6B6E83E1595}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16.8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2%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19" name="Google Shape;319;p22"/>
          <p:cNvGraphicFramePr/>
          <p:nvPr/>
        </p:nvGraphicFramePr>
        <p:xfrm>
          <a:off x="4120370" y="32267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{36E5720D-90A7-4BD0-9A34-C6B6E83E1595}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504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60%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20" name="Google Shape;320;p22"/>
          <p:cNvSpPr txBox="1"/>
          <p:nvPr/>
        </p:nvSpPr>
        <p:spPr>
          <a:xfrm>
            <a:off x="1927200" y="2785675"/>
            <a:ext cx="1358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823.2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1" name="Google Shape;321;p22"/>
          <p:cNvSpPr txBox="1"/>
          <p:nvPr/>
        </p:nvSpPr>
        <p:spPr>
          <a:xfrm>
            <a:off x="476400" y="3959700"/>
            <a:ext cx="6603300" cy="24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Using any representation you prefer work out: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23% of 720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Lexend"/>
              <a:buAutoNum type="alphaL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11% of 940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Lexend"/>
              <a:buAutoNum type="alphaLcParenR" startAt="3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49% of 56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" name="Google Shape;322;p22"/>
          <p:cNvSpPr txBox="1"/>
          <p:nvPr/>
        </p:nvSpPr>
        <p:spPr>
          <a:xfrm>
            <a:off x="2013261" y="4231012"/>
            <a:ext cx="94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165.6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3" name="Google Shape;323;p22"/>
          <p:cNvSpPr txBox="1"/>
          <p:nvPr/>
        </p:nvSpPr>
        <p:spPr>
          <a:xfrm>
            <a:off x="2013261" y="4907441"/>
            <a:ext cx="94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103.4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4" name="Google Shape;324;p22"/>
          <p:cNvSpPr txBox="1"/>
          <p:nvPr/>
        </p:nvSpPr>
        <p:spPr>
          <a:xfrm>
            <a:off x="1907671" y="5567217"/>
            <a:ext cx="94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27.44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5" name="Google Shape;325;p22"/>
          <p:cNvSpPr txBox="1"/>
          <p:nvPr/>
        </p:nvSpPr>
        <p:spPr>
          <a:xfrm>
            <a:off x="476400" y="6702900"/>
            <a:ext cx="66033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Write what you think are the advantages and disadvantages of using a bar model, double number line and ratio table when trying to find a percentage of an amount.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6" name="Google Shape;326;p22"/>
          <p:cNvSpPr txBox="1"/>
          <p:nvPr/>
        </p:nvSpPr>
        <p:spPr>
          <a:xfrm>
            <a:off x="2076075" y="7779000"/>
            <a:ext cx="13584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Good visual representation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7" name="Google Shape;327;p22"/>
          <p:cNvSpPr txBox="1"/>
          <p:nvPr/>
        </p:nvSpPr>
        <p:spPr>
          <a:xfrm>
            <a:off x="3810188" y="7760813"/>
            <a:ext cx="16455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Good visual representation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8" name="Google Shape;328;p22"/>
          <p:cNvSpPr txBox="1"/>
          <p:nvPr/>
        </p:nvSpPr>
        <p:spPr>
          <a:xfrm>
            <a:off x="5831400" y="7832550"/>
            <a:ext cx="124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Concise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9" name="Google Shape;329;p22"/>
          <p:cNvSpPr txBox="1"/>
          <p:nvPr/>
        </p:nvSpPr>
        <p:spPr>
          <a:xfrm>
            <a:off x="2181125" y="8549000"/>
            <a:ext cx="1518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Takes time to draw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0" name="Google Shape;330;p22"/>
          <p:cNvSpPr txBox="1"/>
          <p:nvPr/>
        </p:nvSpPr>
        <p:spPr>
          <a:xfrm>
            <a:off x="3736800" y="8442800"/>
            <a:ext cx="15189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Takes time to draw as it is scaled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1" name="Google Shape;331;p22"/>
          <p:cNvSpPr txBox="1"/>
          <p:nvPr/>
        </p:nvSpPr>
        <p:spPr>
          <a:xfrm>
            <a:off x="5526300" y="8413650"/>
            <a:ext cx="15189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Doesn’t show visual representation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