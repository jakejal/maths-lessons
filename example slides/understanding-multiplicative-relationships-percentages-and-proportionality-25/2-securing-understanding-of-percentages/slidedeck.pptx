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F440242-4130-4551-9114-283A1CD0215E}">
  <a:tblStyle styleId="{7F440242-4130-4551-9114-283A1CD0215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b1a98312e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b1a98312e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b1a98312e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b1a98312e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b1a98312e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b1a98312e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b5767a7b26_0_2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b5767a7b26_0_2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b43d842c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b43d842c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b43d842c80_3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b43d842c80_3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b43d842c80_3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b43d842c80_3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b43d842c8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b43d842c8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b43d842c80_3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b43d842c80_3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2b43d842c80_4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1" name="Google Shape;891;g2b43d842c80_4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2b43d842c80_3_4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b43d842c80_3_4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g2b43d842c80_3_4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9" name="Google Shape;929;g2b43d842c80_3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b43d842c80_3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b43d842c80_3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b492eedb6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b492eedb6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b43d842c80_3_5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b43d842c80_3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b43d842c80_3_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2b43d842c80_3_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b43d842c8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b43d842c8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2fcb4686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32fcb4686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32fcb46861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32fcb46861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g32fcb46861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2" name="Google Shape;1152;g32fcb46861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2fcb468615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8" name="Google Shape;1208;g32fcb46861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2b43d842c8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2b43d842c8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b43d842c8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b43d842c8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b492eedb61_2_1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b492eedb61_2_1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2b492eedb61_2_1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2b492eedb61_2_1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2b492eedb61_2_1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b492eedb61_2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2b492eedb61_2_1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2b492eedb61_2_1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2b492eedb61_2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2b492eedb61_2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2b492eedb61_2_1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2b492eedb61_2_1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g2b492eedb61_2_1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5" name="Google Shape;1425;g2b492eedb61_2_1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2b492eedb61_2_1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2b492eedb61_2_1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2b492eedb61_2_1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2b492eedb61_2_1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2b492eedb61_2_1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2b492eedb61_2_1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2b492eedb61_2_1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2b492eedb61_2_1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b492eedb61_2_15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b492eedb61_2_15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3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g2b492eedb61_2_1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5" name="Google Shape;1515;g2b492eedb61_2_1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2b492eedb61_2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2b492eedb61_2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b492eedb61_2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b492eedb61_2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g2b492eedb61_2_1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7" name="Google Shape;1537;g2b492eedb61_2_1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g2b492eedb61_2_1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9" name="Google Shape;1549;g2b492eedb61_2_1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2b492eedb61_2_15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2b492eedb61_2_1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2b492eedb61_2_1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b492eedb61_2_1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2b492eedb61_2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6" name="Google Shape;1586;g2b492eedb61_2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2b492eedb61_2_1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9" name="Google Shape;1599;g2b492eedb61_2_1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b43d842c80_0_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b43d842c80_0_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44.png"/><Relationship Id="rId5" Type="http://schemas.openxmlformats.org/officeDocument/2006/relationships/image" Target="../media/image28.png"/><Relationship Id="rId6" Type="http://schemas.openxmlformats.org/officeDocument/2006/relationships/image" Target="../media/image27.png"/><Relationship Id="rId7" Type="http://schemas.openxmlformats.org/officeDocument/2006/relationships/image" Target="../media/image2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44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2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44.png"/><Relationship Id="rId4" Type="http://schemas.openxmlformats.org/officeDocument/2006/relationships/image" Target="../media/image32.png"/><Relationship Id="rId11" Type="http://schemas.openxmlformats.org/officeDocument/2006/relationships/image" Target="../media/image23.png"/><Relationship Id="rId10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9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9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9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9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62"/>
          <p:cNvSpPr/>
          <p:nvPr/>
        </p:nvSpPr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sp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2">
  <p:cSld name="CUSTOM_3_1_3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6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percentages</a:t>
            </a:r>
            <a:endParaRPr/>
          </a:p>
        </p:txBody>
      </p:sp>
      <p:sp>
        <p:nvSpPr>
          <p:cNvPr id="762" name="Google Shape;762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percentages and proportionality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5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manipulate percentages of an amount with a representation.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/>
        </p:nvSpPr>
        <p:spPr>
          <a:xfrm>
            <a:off x="383150" y="1965150"/>
            <a:ext cx="849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Two fractions are equivalent if they have the same value. 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7"/>
          <p:cNvSpPr txBox="1"/>
          <p:nvPr/>
        </p:nvSpPr>
        <p:spPr>
          <a:xfrm>
            <a:off x="383150" y="836400"/>
            <a:ext cx="776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ariables are in proportion if they have a constant multiplicative relationship.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sp>
        <p:nvSpPr>
          <p:cNvPr id="784" name="Google Shape;78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sp>
        <p:nvSpPr>
          <p:cNvPr id="785" name="Google Shape;78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percentages</a:t>
            </a:r>
            <a:endParaRPr/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950" y="20458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330150" y="759300"/>
            <a:ext cx="8580300" cy="4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Let’s look at a bar model showing 240; we can use it to find 32%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793" name="Google Shape;793;p69"/>
          <p:cNvGraphicFramePr/>
          <p:nvPr/>
        </p:nvGraphicFramePr>
        <p:xfrm>
          <a:off x="377850" y="22738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8341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4" name="Google Shape;794;p69"/>
          <p:cNvGraphicFramePr/>
          <p:nvPr/>
        </p:nvGraphicFramePr>
        <p:xfrm>
          <a:off x="377788" y="22830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834150"/>
                <a:gridCol w="834150"/>
                <a:gridCol w="834150"/>
                <a:gridCol w="834150"/>
                <a:gridCol w="834150"/>
                <a:gridCol w="834150"/>
                <a:gridCol w="834150"/>
                <a:gridCol w="834150"/>
                <a:gridCol w="834150"/>
                <a:gridCol w="8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5" name="Google Shape;795;p69"/>
          <p:cNvSpPr/>
          <p:nvPr/>
        </p:nvSpPr>
        <p:spPr>
          <a:xfrm rot="5400000">
            <a:off x="681814" y="1669800"/>
            <a:ext cx="199800" cy="807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69"/>
          <p:cNvSpPr txBox="1"/>
          <p:nvPr/>
        </p:nvSpPr>
        <p:spPr>
          <a:xfrm>
            <a:off x="377992" y="163005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7" name="Google Shape;797;p69"/>
          <p:cNvSpPr/>
          <p:nvPr/>
        </p:nvSpPr>
        <p:spPr>
          <a:xfrm rot="5400000">
            <a:off x="1517353" y="1669800"/>
            <a:ext cx="199800" cy="807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8" name="Google Shape;798;p69"/>
          <p:cNvSpPr txBox="1"/>
          <p:nvPr/>
        </p:nvSpPr>
        <p:spPr>
          <a:xfrm>
            <a:off x="1213530" y="163005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69"/>
          <p:cNvSpPr/>
          <p:nvPr/>
        </p:nvSpPr>
        <p:spPr>
          <a:xfrm rot="5400000">
            <a:off x="2353033" y="1669800"/>
            <a:ext cx="199800" cy="807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9"/>
          <p:cNvSpPr txBox="1"/>
          <p:nvPr/>
        </p:nvSpPr>
        <p:spPr>
          <a:xfrm>
            <a:off x="2049210" y="163005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/>
          <p:nvPr/>
        </p:nvSpPr>
        <p:spPr>
          <a:xfrm rot="5400000">
            <a:off x="2880041" y="1988100"/>
            <a:ext cx="199800" cy="171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69"/>
          <p:cNvSpPr txBox="1"/>
          <p:nvPr/>
        </p:nvSpPr>
        <p:spPr>
          <a:xfrm>
            <a:off x="2674547" y="163005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69"/>
          <p:cNvSpPr txBox="1"/>
          <p:nvPr/>
        </p:nvSpPr>
        <p:spPr>
          <a:xfrm>
            <a:off x="2684000" y="2892166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4.8</a:t>
            </a:r>
            <a:endParaRPr/>
          </a:p>
        </p:txBody>
      </p:sp>
      <p:sp>
        <p:nvSpPr>
          <p:cNvPr id="804" name="Google Shape;804;p69"/>
          <p:cNvSpPr txBox="1"/>
          <p:nvPr/>
        </p:nvSpPr>
        <p:spPr>
          <a:xfrm>
            <a:off x="330141" y="3441300"/>
            <a:ext cx="486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32% = 10% + 10% + 10% + 2%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32% = 24 + 24 + 24 + 4.8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32% of 240 = 76.8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 txBox="1"/>
          <p:nvPr/>
        </p:nvSpPr>
        <p:spPr>
          <a:xfrm>
            <a:off x="6596550" y="3536225"/>
            <a:ext cx="2093400" cy="9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100%   = 240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%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5%       =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1%       = 2.4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6" name="Google Shape;806;p69"/>
          <p:cNvGraphicFramePr/>
          <p:nvPr/>
        </p:nvGraphicFramePr>
        <p:xfrm>
          <a:off x="377788" y="22830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834150"/>
                <a:gridCol w="834150"/>
                <a:gridCol w="834150"/>
                <a:gridCol w="834150"/>
                <a:gridCol w="834150"/>
                <a:gridCol w="834150"/>
                <a:gridCol w="834150"/>
                <a:gridCol w="834150"/>
                <a:gridCol w="834150"/>
                <a:gridCol w="834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07" name="Google Shape;807;p69"/>
          <p:cNvSpPr/>
          <p:nvPr/>
        </p:nvSpPr>
        <p:spPr>
          <a:xfrm>
            <a:off x="2895950" y="2313362"/>
            <a:ext cx="168000" cy="460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8" name="Google Shape;808;p69"/>
          <p:cNvCxnSpPr/>
          <p:nvPr/>
        </p:nvCxnSpPr>
        <p:spPr>
          <a:xfrm rot="10800000">
            <a:off x="2979950" y="2573266"/>
            <a:ext cx="0" cy="39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9" name="Google Shape;809;p69"/>
          <p:cNvSpPr txBox="1"/>
          <p:nvPr/>
        </p:nvSpPr>
        <p:spPr>
          <a:xfrm>
            <a:off x="1326775" y="2261620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/>
          </a:p>
        </p:txBody>
      </p:sp>
      <p:sp>
        <p:nvSpPr>
          <p:cNvPr id="810" name="Google Shape;810;p69"/>
          <p:cNvSpPr txBox="1"/>
          <p:nvPr/>
        </p:nvSpPr>
        <p:spPr>
          <a:xfrm>
            <a:off x="2220488" y="2261620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/>
          </a:p>
        </p:txBody>
      </p:sp>
      <p:sp>
        <p:nvSpPr>
          <p:cNvPr id="811" name="Google Shape;811;p69"/>
          <p:cNvSpPr txBox="1"/>
          <p:nvPr/>
        </p:nvSpPr>
        <p:spPr>
          <a:xfrm>
            <a:off x="485775" y="2261620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70"/>
          <p:cNvSpPr txBox="1"/>
          <p:nvPr>
            <p:ph idx="1" type="subTitle"/>
          </p:nvPr>
        </p:nvSpPr>
        <p:spPr>
          <a:xfrm>
            <a:off x="337825" y="657600"/>
            <a:ext cx="3982200" cy="72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23% of 500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Use a bar model if it helps. </a:t>
            </a:r>
            <a:endParaRPr/>
          </a:p>
        </p:txBody>
      </p:sp>
      <p:sp>
        <p:nvSpPr>
          <p:cNvPr id="817" name="Google Shape;817;p70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graphicFrame>
        <p:nvGraphicFramePr>
          <p:cNvPr id="818" name="Google Shape;818;p70"/>
          <p:cNvGraphicFramePr/>
          <p:nvPr/>
        </p:nvGraphicFramePr>
        <p:xfrm>
          <a:off x="337825" y="1900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4119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9" name="Google Shape;819;p70"/>
          <p:cNvGraphicFramePr/>
          <p:nvPr/>
        </p:nvGraphicFramePr>
        <p:xfrm>
          <a:off x="337838" y="191047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20" name="Google Shape;820;p70"/>
          <p:cNvSpPr/>
          <p:nvPr/>
        </p:nvSpPr>
        <p:spPr>
          <a:xfrm>
            <a:off x="1186747" y="1939425"/>
            <a:ext cx="128100" cy="460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 txBox="1"/>
          <p:nvPr>
            <p:ph idx="2" type="subTitle"/>
          </p:nvPr>
        </p:nvSpPr>
        <p:spPr>
          <a:xfrm>
            <a:off x="4674600" y="694800"/>
            <a:ext cx="3982200" cy="84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 42% of 340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Use a bar model if it helps.</a:t>
            </a:r>
            <a:endParaRPr/>
          </a:p>
        </p:txBody>
      </p:sp>
      <p:sp>
        <p:nvSpPr>
          <p:cNvPr id="822" name="Google Shape;822;p70"/>
          <p:cNvSpPr txBox="1"/>
          <p:nvPr/>
        </p:nvSpPr>
        <p:spPr>
          <a:xfrm>
            <a:off x="277463" y="2560450"/>
            <a:ext cx="42405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Firstly, plan how to find 23%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23% = 10% + 10% + 3%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3" name="Google Shape;823;p70"/>
          <p:cNvSpPr/>
          <p:nvPr/>
        </p:nvSpPr>
        <p:spPr>
          <a:xfrm rot="5400000">
            <a:off x="424121" y="1591838"/>
            <a:ext cx="199800" cy="40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 txBox="1"/>
          <p:nvPr/>
        </p:nvSpPr>
        <p:spPr>
          <a:xfrm>
            <a:off x="266473" y="1397613"/>
            <a:ext cx="51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25" name="Google Shape;825;p70"/>
          <p:cNvGraphicFramePr/>
          <p:nvPr/>
        </p:nvGraphicFramePr>
        <p:xfrm>
          <a:off x="337838" y="19079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</a:tblGrid>
              <a:tr h="52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6" name="Google Shape;826;p70"/>
          <p:cNvSpPr/>
          <p:nvPr/>
        </p:nvSpPr>
        <p:spPr>
          <a:xfrm rot="5400000">
            <a:off x="861896" y="1591825"/>
            <a:ext cx="199800" cy="40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27" name="Google Shape;827;p70"/>
          <p:cNvGraphicFramePr/>
          <p:nvPr/>
        </p:nvGraphicFramePr>
        <p:xfrm>
          <a:off x="4657516" y="20724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4119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28" name="Google Shape;828;p70"/>
          <p:cNvSpPr txBox="1"/>
          <p:nvPr/>
        </p:nvSpPr>
        <p:spPr>
          <a:xfrm>
            <a:off x="704248" y="1397600"/>
            <a:ext cx="51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/>
          <p:nvPr/>
        </p:nvSpPr>
        <p:spPr>
          <a:xfrm rot="5400000">
            <a:off x="1158973" y="1707600"/>
            <a:ext cx="199800" cy="177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1116223" y="1413425"/>
            <a:ext cx="51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1" name="Google Shape;831;p70"/>
          <p:cNvGraphicFramePr/>
          <p:nvPr/>
        </p:nvGraphicFramePr>
        <p:xfrm>
          <a:off x="4657528" y="20533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32" name="Google Shape;832;p70"/>
          <p:cNvSpPr txBox="1"/>
          <p:nvPr/>
        </p:nvSpPr>
        <p:spPr>
          <a:xfrm>
            <a:off x="277463" y="3106650"/>
            <a:ext cx="42405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Find 10% and 1%.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10% = 500 ÷ 10 = 50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1% = 50 ÷ 10 = 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3% = 5 × 3 = 15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23% = 10% + 10% + 3%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23% of 500 = 50 + 50 + 15 = 115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3" name="Google Shape;833;p70"/>
          <p:cNvSpPr/>
          <p:nvPr/>
        </p:nvSpPr>
        <p:spPr>
          <a:xfrm>
            <a:off x="6336814" y="2085875"/>
            <a:ext cx="67800" cy="4602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0"/>
          <p:cNvSpPr txBox="1"/>
          <p:nvPr/>
        </p:nvSpPr>
        <p:spPr>
          <a:xfrm>
            <a:off x="4545441" y="2574225"/>
            <a:ext cx="4240500" cy="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Firstly, plan how to find 42%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42% = 10% + 10% + 10% + 10% + 2%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5" name="Google Shape;835;p70"/>
          <p:cNvSpPr/>
          <p:nvPr/>
        </p:nvSpPr>
        <p:spPr>
          <a:xfrm rot="5400000">
            <a:off x="4760875" y="1758013"/>
            <a:ext cx="199800" cy="40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0"/>
          <p:cNvSpPr txBox="1"/>
          <p:nvPr/>
        </p:nvSpPr>
        <p:spPr>
          <a:xfrm>
            <a:off x="4603226" y="1563788"/>
            <a:ext cx="51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7" name="Google Shape;837;p70"/>
          <p:cNvGraphicFramePr/>
          <p:nvPr/>
        </p:nvGraphicFramePr>
        <p:xfrm>
          <a:off x="4657516" y="20507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  <a:gridCol w="411975"/>
              </a:tblGrid>
              <a:tr h="52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8" name="Google Shape;838;p70"/>
          <p:cNvSpPr/>
          <p:nvPr/>
        </p:nvSpPr>
        <p:spPr>
          <a:xfrm rot="5400000">
            <a:off x="5198650" y="1758000"/>
            <a:ext cx="199800" cy="40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0"/>
          <p:cNvSpPr txBox="1"/>
          <p:nvPr/>
        </p:nvSpPr>
        <p:spPr>
          <a:xfrm>
            <a:off x="5041001" y="1563775"/>
            <a:ext cx="51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0"/>
          <p:cNvSpPr/>
          <p:nvPr/>
        </p:nvSpPr>
        <p:spPr>
          <a:xfrm rot="5400000">
            <a:off x="6290850" y="1905175"/>
            <a:ext cx="199200" cy="105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1" name="Google Shape;841;p70"/>
          <p:cNvSpPr txBox="1"/>
          <p:nvPr/>
        </p:nvSpPr>
        <p:spPr>
          <a:xfrm>
            <a:off x="6224707" y="1573050"/>
            <a:ext cx="51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2" name="Google Shape;842;p70"/>
          <p:cNvSpPr txBox="1"/>
          <p:nvPr/>
        </p:nvSpPr>
        <p:spPr>
          <a:xfrm>
            <a:off x="4514807" y="3125765"/>
            <a:ext cx="42405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Find 10% and 1%.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10% = 340 ÷ 10 = 34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1% = 34 ÷ 10 = 3.4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2% = 3.4 × 1 = 6.8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42% = 10% × 4 + 2%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42% of 340 = 34 × 4 + 6.8 = 142.8 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3" name="Google Shape;843;p70"/>
          <p:cNvSpPr/>
          <p:nvPr/>
        </p:nvSpPr>
        <p:spPr>
          <a:xfrm rot="5400000">
            <a:off x="5629259" y="1758000"/>
            <a:ext cx="199800" cy="40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0"/>
          <p:cNvSpPr txBox="1"/>
          <p:nvPr/>
        </p:nvSpPr>
        <p:spPr>
          <a:xfrm>
            <a:off x="5471610" y="1563775"/>
            <a:ext cx="51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0"/>
          <p:cNvSpPr/>
          <p:nvPr/>
        </p:nvSpPr>
        <p:spPr>
          <a:xfrm rot="5400000">
            <a:off x="6020181" y="1758000"/>
            <a:ext cx="199800" cy="40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0"/>
          <p:cNvSpPr txBox="1"/>
          <p:nvPr/>
        </p:nvSpPr>
        <p:spPr>
          <a:xfrm>
            <a:off x="5862532" y="1563775"/>
            <a:ext cx="515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10%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Two</a:t>
            </a:r>
            <a:r>
              <a:rPr lang="en-GB" sz="1900"/>
              <a:t> pupils worked out 48% of 600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Can you explain each pupil’s </a:t>
            </a:r>
            <a:r>
              <a:rPr lang="en-GB" sz="1900"/>
              <a:t>method</a:t>
            </a:r>
            <a:r>
              <a:rPr lang="en-GB" sz="1900"/>
              <a:t>? </a:t>
            </a:r>
            <a:endParaRPr sz="1900"/>
          </a:p>
        </p:txBody>
      </p:sp>
      <p:sp>
        <p:nvSpPr>
          <p:cNvPr id="852" name="Google Shape;85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sp>
        <p:nvSpPr>
          <p:cNvPr id="853" name="Google Shape;853;p71"/>
          <p:cNvSpPr/>
          <p:nvPr/>
        </p:nvSpPr>
        <p:spPr>
          <a:xfrm>
            <a:off x="305500" y="1650600"/>
            <a:ext cx="4091700" cy="252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4" name="Google Shape;854;p71"/>
          <p:cNvGraphicFramePr/>
          <p:nvPr/>
        </p:nvGraphicFramePr>
        <p:xfrm>
          <a:off x="398588" y="22060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5" name="Google Shape;855;p71"/>
          <p:cNvSpPr/>
          <p:nvPr/>
        </p:nvSpPr>
        <p:spPr>
          <a:xfrm>
            <a:off x="4470000" y="1650600"/>
            <a:ext cx="4091700" cy="2525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56" name="Google Shape;856;p71"/>
          <p:cNvGraphicFramePr/>
          <p:nvPr/>
        </p:nvGraphicFramePr>
        <p:xfrm>
          <a:off x="4601588" y="21706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7" name="Google Shape;857;p71"/>
          <p:cNvSpPr/>
          <p:nvPr/>
        </p:nvSpPr>
        <p:spPr>
          <a:xfrm>
            <a:off x="1954550" y="2226138"/>
            <a:ext cx="267000" cy="477900"/>
          </a:xfrm>
          <a:prstGeom prst="rect">
            <a:avLst/>
          </a:prstGeom>
          <a:solidFill>
            <a:srgbClr val="FFD9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8" name="Google Shape;858;p71"/>
          <p:cNvSpPr/>
          <p:nvPr/>
        </p:nvSpPr>
        <p:spPr>
          <a:xfrm rot="5400000">
            <a:off x="1104500" y="1359250"/>
            <a:ext cx="104700" cy="1516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9" name="Google Shape;859;p71"/>
          <p:cNvSpPr txBox="1"/>
          <p:nvPr/>
        </p:nvSpPr>
        <p:spPr>
          <a:xfrm>
            <a:off x="794901" y="1774413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0" name="Google Shape;860;p71"/>
          <p:cNvSpPr/>
          <p:nvPr/>
        </p:nvSpPr>
        <p:spPr>
          <a:xfrm rot="5400000">
            <a:off x="2026300" y="1965567"/>
            <a:ext cx="108900" cy="301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1" name="Google Shape;861;p71"/>
          <p:cNvSpPr txBox="1"/>
          <p:nvPr/>
        </p:nvSpPr>
        <p:spPr>
          <a:xfrm>
            <a:off x="1789426" y="1774413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2" name="Google Shape;862;p71"/>
          <p:cNvSpPr/>
          <p:nvPr/>
        </p:nvSpPr>
        <p:spPr>
          <a:xfrm rot="5400000">
            <a:off x="5491650" y="1136878"/>
            <a:ext cx="104700" cy="1943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1"/>
          <p:cNvSpPr txBox="1"/>
          <p:nvPr/>
        </p:nvSpPr>
        <p:spPr>
          <a:xfrm>
            <a:off x="5079887" y="1765800"/>
            <a:ext cx="92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4" name="Google Shape;864;p71"/>
          <p:cNvSpPr/>
          <p:nvPr/>
        </p:nvSpPr>
        <p:spPr>
          <a:xfrm rot="-5400000">
            <a:off x="6406350" y="2709079"/>
            <a:ext cx="87600" cy="99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5" name="Google Shape;865;p71"/>
          <p:cNvSpPr txBox="1"/>
          <p:nvPr/>
        </p:nvSpPr>
        <p:spPr>
          <a:xfrm>
            <a:off x="6174801" y="2802363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1"/>
          <p:cNvSpPr/>
          <p:nvPr/>
        </p:nvSpPr>
        <p:spPr>
          <a:xfrm>
            <a:off x="6403250" y="2190725"/>
            <a:ext cx="99000" cy="477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1"/>
          <p:cNvSpPr txBox="1"/>
          <p:nvPr/>
        </p:nvSpPr>
        <p:spPr>
          <a:xfrm>
            <a:off x="601900" y="2920600"/>
            <a:ext cx="34407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48%     = 60 × 4 + 6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 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= 240 + 48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= 288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1"/>
          <p:cNvSpPr txBox="1"/>
          <p:nvPr/>
        </p:nvSpPr>
        <p:spPr>
          <a:xfrm>
            <a:off x="4816400" y="2920600"/>
            <a:ext cx="3440700" cy="9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48%     = 300 − 6 × 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= 300 − 12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= 288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1"/>
          <p:cNvSpPr txBox="1"/>
          <p:nvPr/>
        </p:nvSpPr>
        <p:spPr>
          <a:xfrm>
            <a:off x="3369600" y="3780000"/>
            <a:ext cx="92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Alex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1"/>
          <p:cNvSpPr txBox="1"/>
          <p:nvPr/>
        </p:nvSpPr>
        <p:spPr>
          <a:xfrm>
            <a:off x="7590425" y="3780000"/>
            <a:ext cx="928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1" name="Google Shape;871;p71"/>
          <p:cNvSpPr txBox="1"/>
          <p:nvPr/>
        </p:nvSpPr>
        <p:spPr>
          <a:xfrm>
            <a:off x="368100" y="4212100"/>
            <a:ext cx="40620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Alex has found 48% by summing 40% and 8%.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2" name="Google Shape;872;p71"/>
          <p:cNvSpPr txBox="1"/>
          <p:nvPr/>
        </p:nvSpPr>
        <p:spPr>
          <a:xfrm>
            <a:off x="4482900" y="4212100"/>
            <a:ext cx="4062000" cy="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Sam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has found 48% by subtracting 2% from 50%.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2"/>
          <p:cNvSpPr/>
          <p:nvPr/>
        </p:nvSpPr>
        <p:spPr>
          <a:xfrm>
            <a:off x="3927093" y="1554800"/>
            <a:ext cx="168900" cy="5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78" name="Google Shape;878;p72"/>
          <p:cNvGraphicFramePr/>
          <p:nvPr/>
        </p:nvGraphicFramePr>
        <p:xfrm>
          <a:off x="1086063" y="15519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9" name="Google Shape;879;p72"/>
          <p:cNvSpPr txBox="1"/>
          <p:nvPr>
            <p:ph idx="1" type="body"/>
          </p:nvPr>
        </p:nvSpPr>
        <p:spPr>
          <a:xfrm>
            <a:off x="324000" y="759300"/>
            <a:ext cx="88200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Work out the percentage of the amount using bar models.</a:t>
            </a:r>
            <a:endParaRPr sz="1900"/>
          </a:p>
        </p:txBody>
      </p:sp>
      <p:sp>
        <p:nvSpPr>
          <p:cNvPr id="880" name="Google Shape;880;p7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graphicFrame>
        <p:nvGraphicFramePr>
          <p:cNvPr id="881" name="Google Shape;881;p72"/>
          <p:cNvGraphicFramePr/>
          <p:nvPr/>
        </p:nvGraphicFramePr>
        <p:xfrm>
          <a:off x="1086075" y="15547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80</a:t>
                      </a: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2" name="Google Shape;882;p72"/>
          <p:cNvSpPr txBox="1"/>
          <p:nvPr/>
        </p:nvSpPr>
        <p:spPr>
          <a:xfrm>
            <a:off x="324000" y="13352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900"/>
          </a:p>
        </p:txBody>
      </p:sp>
      <p:sp>
        <p:nvSpPr>
          <p:cNvPr id="883" name="Google Shape;883;p72"/>
          <p:cNvSpPr txBox="1"/>
          <p:nvPr/>
        </p:nvSpPr>
        <p:spPr>
          <a:xfrm>
            <a:off x="1085922" y="2209800"/>
            <a:ext cx="39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42% of 800</a:t>
            </a:r>
            <a:endParaRPr/>
          </a:p>
        </p:txBody>
      </p:sp>
      <p:sp>
        <p:nvSpPr>
          <p:cNvPr id="884" name="Google Shape;884;p72"/>
          <p:cNvSpPr txBox="1"/>
          <p:nvPr/>
        </p:nvSpPr>
        <p:spPr>
          <a:xfrm>
            <a:off x="1053722" y="4306238"/>
            <a:ext cx="39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61% of 440</a:t>
            </a:r>
            <a:endParaRPr/>
          </a:p>
        </p:txBody>
      </p:sp>
      <p:graphicFrame>
        <p:nvGraphicFramePr>
          <p:cNvPr id="885" name="Google Shape;885;p72"/>
          <p:cNvGraphicFramePr/>
          <p:nvPr/>
        </p:nvGraphicFramePr>
        <p:xfrm>
          <a:off x="1053863" y="36484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6" name="Google Shape;886;p72"/>
          <p:cNvSpPr/>
          <p:nvPr/>
        </p:nvSpPr>
        <p:spPr>
          <a:xfrm>
            <a:off x="5308023" y="3656825"/>
            <a:ext cx="113100" cy="5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7" name="Google Shape;887;p72"/>
          <p:cNvGraphicFramePr/>
          <p:nvPr/>
        </p:nvGraphicFramePr>
        <p:xfrm>
          <a:off x="1053875" y="36590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440</a:t>
                      </a:r>
                      <a:endParaRPr sz="22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8" name="Google Shape;888;p72"/>
          <p:cNvSpPr txBox="1"/>
          <p:nvPr/>
        </p:nvSpPr>
        <p:spPr>
          <a:xfrm>
            <a:off x="324000" y="34688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3"/>
          <p:cNvSpPr txBox="1"/>
          <p:nvPr>
            <p:ph idx="1" type="body"/>
          </p:nvPr>
        </p:nvSpPr>
        <p:spPr>
          <a:xfrm>
            <a:off x="324000" y="759300"/>
            <a:ext cx="8237700" cy="10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Here is a percentage bar to show the percentage of days that experienced different weather conditions.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Work out how many days were sunny, cloudy, or rainy.</a:t>
            </a:r>
            <a:endParaRPr/>
          </a:p>
        </p:txBody>
      </p:sp>
      <p:sp>
        <p:nvSpPr>
          <p:cNvPr id="894" name="Google Shape;894;p7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sp>
        <p:nvSpPr>
          <p:cNvPr id="895" name="Google Shape;895;p73"/>
          <p:cNvSpPr/>
          <p:nvPr/>
        </p:nvSpPr>
        <p:spPr>
          <a:xfrm rot="-5400000">
            <a:off x="4276050" y="-40575"/>
            <a:ext cx="87900" cy="7084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3"/>
          <p:cNvSpPr txBox="1"/>
          <p:nvPr/>
        </p:nvSpPr>
        <p:spPr>
          <a:xfrm>
            <a:off x="3522975" y="3623700"/>
            <a:ext cx="173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20 days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97" name="Google Shape;897;p73"/>
          <p:cNvGraphicFramePr/>
          <p:nvPr/>
        </p:nvGraphicFramePr>
        <p:xfrm>
          <a:off x="777900" y="258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3505275"/>
                <a:gridCol w="2158250"/>
                <a:gridCol w="1409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</a:t>
                      </a:r>
                      <a:r>
                        <a:rPr lang="en-GB" sz="3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</a:t>
                      </a:r>
                      <a:r>
                        <a:rPr lang="en-GB" sz="3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3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3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8" name="Google Shape;898;p73"/>
          <p:cNvSpPr txBox="1"/>
          <p:nvPr/>
        </p:nvSpPr>
        <p:spPr>
          <a:xfrm>
            <a:off x="6021750" y="1625425"/>
            <a:ext cx="47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4"/>
          <p:cNvSpPr/>
          <p:nvPr/>
        </p:nvSpPr>
        <p:spPr>
          <a:xfrm>
            <a:off x="2447401" y="1781725"/>
            <a:ext cx="622200" cy="5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4" name="Google Shape;904;p74"/>
          <p:cNvGraphicFramePr/>
          <p:nvPr/>
        </p:nvGraphicFramePr>
        <p:xfrm>
          <a:off x="1053863" y="17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29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5" name="Google Shape;905;p74"/>
          <p:cNvSpPr txBox="1"/>
          <p:nvPr>
            <p:ph idx="1" type="body"/>
          </p:nvPr>
        </p:nvSpPr>
        <p:spPr>
          <a:xfrm>
            <a:off x="324000" y="759300"/>
            <a:ext cx="88200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3) </a:t>
            </a:r>
            <a:r>
              <a:rPr lang="en-GB" sz="1900"/>
              <a:t>Work out the 29% of 120 using the two different bar models</a:t>
            </a:r>
            <a:endParaRPr sz="1900"/>
          </a:p>
        </p:txBody>
      </p:sp>
      <p:sp>
        <p:nvSpPr>
          <p:cNvPr id="906" name="Google Shape;906;p7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graphicFrame>
        <p:nvGraphicFramePr>
          <p:cNvPr id="907" name="Google Shape;907;p74"/>
          <p:cNvGraphicFramePr/>
          <p:nvPr/>
        </p:nvGraphicFramePr>
        <p:xfrm>
          <a:off x="1051551" y="17817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8" name="Google Shape;908;p74"/>
          <p:cNvSpPr/>
          <p:nvPr/>
        </p:nvSpPr>
        <p:spPr>
          <a:xfrm rot="5400000">
            <a:off x="1326193" y="1246745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4"/>
          <p:cNvSpPr txBox="1"/>
          <p:nvPr/>
        </p:nvSpPr>
        <p:spPr>
          <a:xfrm>
            <a:off x="1086217" y="1224425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4"/>
          <p:cNvSpPr txBox="1"/>
          <p:nvPr/>
        </p:nvSpPr>
        <p:spPr>
          <a:xfrm>
            <a:off x="324000" y="13352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900"/>
          </a:p>
        </p:txBody>
      </p:sp>
      <p:sp>
        <p:nvSpPr>
          <p:cNvPr id="911" name="Google Shape;911;p74"/>
          <p:cNvSpPr/>
          <p:nvPr/>
        </p:nvSpPr>
        <p:spPr>
          <a:xfrm rot="5400000">
            <a:off x="2048950" y="1251642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4"/>
          <p:cNvSpPr txBox="1"/>
          <p:nvPr/>
        </p:nvSpPr>
        <p:spPr>
          <a:xfrm>
            <a:off x="1794168" y="1239192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3" name="Google Shape;913;p74"/>
          <p:cNvSpPr/>
          <p:nvPr/>
        </p:nvSpPr>
        <p:spPr>
          <a:xfrm rot="5400000">
            <a:off x="1308799" y="3126238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4"/>
          <p:cNvSpPr txBox="1"/>
          <p:nvPr/>
        </p:nvSpPr>
        <p:spPr>
          <a:xfrm>
            <a:off x="1054017" y="3092263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5" name="Google Shape;915;p74"/>
          <p:cNvSpPr/>
          <p:nvPr/>
        </p:nvSpPr>
        <p:spPr>
          <a:xfrm rot="5400000">
            <a:off x="2016750" y="3119480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74"/>
          <p:cNvSpPr txBox="1"/>
          <p:nvPr/>
        </p:nvSpPr>
        <p:spPr>
          <a:xfrm>
            <a:off x="1761968" y="310703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4"/>
          <p:cNvSpPr/>
          <p:nvPr/>
        </p:nvSpPr>
        <p:spPr>
          <a:xfrm rot="5400000">
            <a:off x="2702550" y="3119480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4"/>
          <p:cNvSpPr txBox="1"/>
          <p:nvPr/>
        </p:nvSpPr>
        <p:spPr>
          <a:xfrm>
            <a:off x="2447768" y="310703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4"/>
          <p:cNvSpPr/>
          <p:nvPr/>
        </p:nvSpPr>
        <p:spPr>
          <a:xfrm rot="-5400000">
            <a:off x="3087475" y="4195295"/>
            <a:ext cx="112500" cy="13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20" name="Google Shape;920;p74"/>
          <p:cNvGraphicFramePr/>
          <p:nvPr/>
        </p:nvGraphicFramePr>
        <p:xfrm>
          <a:off x="1053863" y="36484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1" name="Google Shape;921;p74"/>
          <p:cNvSpPr/>
          <p:nvPr/>
        </p:nvSpPr>
        <p:spPr>
          <a:xfrm>
            <a:off x="3075475" y="3659075"/>
            <a:ext cx="107400" cy="51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22" name="Google Shape;922;p74"/>
          <p:cNvGraphicFramePr/>
          <p:nvPr/>
        </p:nvGraphicFramePr>
        <p:xfrm>
          <a:off x="1051550" y="36416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23" name="Google Shape;923;p74"/>
          <p:cNvSpPr txBox="1"/>
          <p:nvPr/>
        </p:nvSpPr>
        <p:spPr>
          <a:xfrm>
            <a:off x="2824586" y="434993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4" name="Google Shape;924;p74"/>
          <p:cNvSpPr txBox="1"/>
          <p:nvPr/>
        </p:nvSpPr>
        <p:spPr>
          <a:xfrm>
            <a:off x="324000" y="34688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900"/>
          </a:p>
        </p:txBody>
      </p:sp>
      <p:sp>
        <p:nvSpPr>
          <p:cNvPr id="925" name="Google Shape;925;p74"/>
          <p:cNvSpPr/>
          <p:nvPr/>
        </p:nvSpPr>
        <p:spPr>
          <a:xfrm rot="5400000">
            <a:off x="2687075" y="1323850"/>
            <a:ext cx="199800" cy="565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74"/>
          <p:cNvSpPr txBox="1"/>
          <p:nvPr/>
        </p:nvSpPr>
        <p:spPr>
          <a:xfrm>
            <a:off x="2504493" y="1239254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1" name="Google Shape;931;p75"/>
          <p:cNvGraphicFramePr/>
          <p:nvPr/>
        </p:nvGraphicFramePr>
        <p:xfrm>
          <a:off x="1186788" y="17816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29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2" name="Google Shape;932;p75"/>
          <p:cNvSpPr txBox="1"/>
          <p:nvPr>
            <p:ph idx="1" type="body"/>
          </p:nvPr>
        </p:nvSpPr>
        <p:spPr>
          <a:xfrm>
            <a:off x="324000" y="759300"/>
            <a:ext cx="8433300" cy="4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4) </a:t>
            </a:r>
            <a:r>
              <a:rPr lang="en-GB" sz="1900"/>
              <a:t>Show two different bar models to work out 99% of 200</a:t>
            </a:r>
            <a:endParaRPr sz="1900"/>
          </a:p>
        </p:txBody>
      </p:sp>
      <p:sp>
        <p:nvSpPr>
          <p:cNvPr id="933" name="Google Shape;933;p7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graphicFrame>
        <p:nvGraphicFramePr>
          <p:cNvPr id="934" name="Google Shape;934;p75"/>
          <p:cNvGraphicFramePr/>
          <p:nvPr/>
        </p:nvGraphicFramePr>
        <p:xfrm>
          <a:off x="1186801" y="1781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5" name="Google Shape;935;p75"/>
          <p:cNvSpPr txBox="1"/>
          <p:nvPr/>
        </p:nvSpPr>
        <p:spPr>
          <a:xfrm>
            <a:off x="324000" y="13352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900"/>
          </a:p>
        </p:txBody>
      </p:sp>
      <p:sp>
        <p:nvSpPr>
          <p:cNvPr id="936" name="Google Shape;936;p75"/>
          <p:cNvSpPr txBox="1"/>
          <p:nvPr/>
        </p:nvSpPr>
        <p:spPr>
          <a:xfrm>
            <a:off x="324000" y="34688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900"/>
          </a:p>
        </p:txBody>
      </p:sp>
      <p:graphicFrame>
        <p:nvGraphicFramePr>
          <p:cNvPr id="937" name="Google Shape;937;p75"/>
          <p:cNvGraphicFramePr/>
          <p:nvPr/>
        </p:nvGraphicFramePr>
        <p:xfrm>
          <a:off x="1120338" y="35209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29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8" name="Google Shape;938;p75"/>
          <p:cNvGraphicFramePr/>
          <p:nvPr/>
        </p:nvGraphicFramePr>
        <p:xfrm>
          <a:off x="1120351" y="3520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6"/>
          <p:cNvSpPr/>
          <p:nvPr/>
        </p:nvSpPr>
        <p:spPr>
          <a:xfrm>
            <a:off x="3927093" y="1783400"/>
            <a:ext cx="168900" cy="5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4" name="Google Shape;944;p76"/>
          <p:cNvGraphicFramePr/>
          <p:nvPr/>
        </p:nvGraphicFramePr>
        <p:xfrm>
          <a:off x="1086063" y="17805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5" name="Google Shape;945;p76"/>
          <p:cNvSpPr txBox="1"/>
          <p:nvPr>
            <p:ph idx="1" type="body"/>
          </p:nvPr>
        </p:nvSpPr>
        <p:spPr>
          <a:xfrm>
            <a:off x="324000" y="759300"/>
            <a:ext cx="8820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Work out the percentage of the amount using bar models.</a:t>
            </a:r>
            <a:endParaRPr sz="1900"/>
          </a:p>
        </p:txBody>
      </p:sp>
      <p:sp>
        <p:nvSpPr>
          <p:cNvPr id="946" name="Google Shape;946;p7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graphicFrame>
        <p:nvGraphicFramePr>
          <p:cNvPr id="947" name="Google Shape;947;p76"/>
          <p:cNvGraphicFramePr/>
          <p:nvPr/>
        </p:nvGraphicFramePr>
        <p:xfrm>
          <a:off x="1086075" y="17833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8" name="Google Shape;948;p76"/>
          <p:cNvSpPr/>
          <p:nvPr/>
        </p:nvSpPr>
        <p:spPr>
          <a:xfrm rot="5400000">
            <a:off x="1340999" y="1236875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9" name="Google Shape;949;p76"/>
          <p:cNvSpPr txBox="1"/>
          <p:nvPr/>
        </p:nvSpPr>
        <p:spPr>
          <a:xfrm>
            <a:off x="1086217" y="1224425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0" name="Google Shape;950;p76"/>
          <p:cNvSpPr txBox="1"/>
          <p:nvPr/>
        </p:nvSpPr>
        <p:spPr>
          <a:xfrm>
            <a:off x="324000" y="13352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900"/>
          </a:p>
        </p:txBody>
      </p:sp>
      <p:sp>
        <p:nvSpPr>
          <p:cNvPr id="951" name="Google Shape;951;p76"/>
          <p:cNvSpPr/>
          <p:nvPr/>
        </p:nvSpPr>
        <p:spPr>
          <a:xfrm rot="5400000">
            <a:off x="2048950" y="1251642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2" name="Google Shape;952;p76"/>
          <p:cNvSpPr txBox="1"/>
          <p:nvPr/>
        </p:nvSpPr>
        <p:spPr>
          <a:xfrm>
            <a:off x="1794168" y="1239192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3" name="Google Shape;953;p76"/>
          <p:cNvSpPr/>
          <p:nvPr/>
        </p:nvSpPr>
        <p:spPr>
          <a:xfrm rot="5400000">
            <a:off x="2734750" y="1251642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6"/>
          <p:cNvSpPr txBox="1"/>
          <p:nvPr/>
        </p:nvSpPr>
        <p:spPr>
          <a:xfrm>
            <a:off x="2479968" y="1239192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6"/>
          <p:cNvSpPr/>
          <p:nvPr/>
        </p:nvSpPr>
        <p:spPr>
          <a:xfrm rot="5400000">
            <a:off x="3472236" y="1251642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6"/>
          <p:cNvSpPr txBox="1"/>
          <p:nvPr/>
        </p:nvSpPr>
        <p:spPr>
          <a:xfrm>
            <a:off x="3217454" y="1239192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6"/>
          <p:cNvSpPr/>
          <p:nvPr/>
        </p:nvSpPr>
        <p:spPr>
          <a:xfrm rot="5400000">
            <a:off x="3927753" y="1528600"/>
            <a:ext cx="199800" cy="13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6"/>
          <p:cNvSpPr txBox="1"/>
          <p:nvPr/>
        </p:nvSpPr>
        <p:spPr>
          <a:xfrm>
            <a:off x="3690920" y="1239194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6"/>
          <p:cNvSpPr txBox="1"/>
          <p:nvPr/>
        </p:nvSpPr>
        <p:spPr>
          <a:xfrm>
            <a:off x="1053722" y="2606263"/>
            <a:ext cx="39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42% of 800</a:t>
            </a:r>
            <a:endParaRPr/>
          </a:p>
        </p:txBody>
      </p:sp>
      <p:sp>
        <p:nvSpPr>
          <p:cNvPr id="960" name="Google Shape;960;p76"/>
          <p:cNvSpPr/>
          <p:nvPr/>
        </p:nvSpPr>
        <p:spPr>
          <a:xfrm rot="5400000">
            <a:off x="1308799" y="3170991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76"/>
          <p:cNvSpPr txBox="1"/>
          <p:nvPr/>
        </p:nvSpPr>
        <p:spPr>
          <a:xfrm>
            <a:off x="1054017" y="3158541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2" name="Google Shape;962;p76"/>
          <p:cNvSpPr/>
          <p:nvPr/>
        </p:nvSpPr>
        <p:spPr>
          <a:xfrm rot="5400000">
            <a:off x="2016750" y="3185758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3" name="Google Shape;963;p76"/>
          <p:cNvSpPr txBox="1"/>
          <p:nvPr/>
        </p:nvSpPr>
        <p:spPr>
          <a:xfrm>
            <a:off x="1761968" y="3173308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4" name="Google Shape;964;p76"/>
          <p:cNvSpPr/>
          <p:nvPr/>
        </p:nvSpPr>
        <p:spPr>
          <a:xfrm rot="5400000">
            <a:off x="2702550" y="3185758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6"/>
          <p:cNvSpPr txBox="1"/>
          <p:nvPr/>
        </p:nvSpPr>
        <p:spPr>
          <a:xfrm>
            <a:off x="2447768" y="3173308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6" name="Google Shape;966;p76"/>
          <p:cNvSpPr/>
          <p:nvPr/>
        </p:nvSpPr>
        <p:spPr>
          <a:xfrm rot="5400000">
            <a:off x="3440036" y="3185758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7" name="Google Shape;967;p76"/>
          <p:cNvSpPr txBox="1"/>
          <p:nvPr/>
        </p:nvSpPr>
        <p:spPr>
          <a:xfrm>
            <a:off x="3185254" y="3173308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6"/>
          <p:cNvSpPr/>
          <p:nvPr/>
        </p:nvSpPr>
        <p:spPr>
          <a:xfrm rot="5400000">
            <a:off x="5284453" y="3472541"/>
            <a:ext cx="199800" cy="13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6"/>
          <p:cNvSpPr txBox="1"/>
          <p:nvPr/>
        </p:nvSpPr>
        <p:spPr>
          <a:xfrm>
            <a:off x="5039995" y="3173309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6"/>
          <p:cNvSpPr txBox="1"/>
          <p:nvPr/>
        </p:nvSpPr>
        <p:spPr>
          <a:xfrm>
            <a:off x="1086222" y="4530191"/>
            <a:ext cx="399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 out 61% of 440</a:t>
            </a:r>
            <a:endParaRPr/>
          </a:p>
        </p:txBody>
      </p:sp>
      <p:graphicFrame>
        <p:nvGraphicFramePr>
          <p:cNvPr id="971" name="Google Shape;971;p76"/>
          <p:cNvGraphicFramePr/>
          <p:nvPr/>
        </p:nvGraphicFramePr>
        <p:xfrm>
          <a:off x="1053863" y="3714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2" name="Google Shape;972;p76"/>
          <p:cNvSpPr/>
          <p:nvPr/>
        </p:nvSpPr>
        <p:spPr>
          <a:xfrm>
            <a:off x="5308023" y="3723103"/>
            <a:ext cx="113100" cy="5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73" name="Google Shape;973;p76"/>
          <p:cNvGraphicFramePr/>
          <p:nvPr/>
        </p:nvGraphicFramePr>
        <p:xfrm>
          <a:off x="1053875" y="37253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4" name="Google Shape;974;p76"/>
          <p:cNvSpPr/>
          <p:nvPr/>
        </p:nvSpPr>
        <p:spPr>
          <a:xfrm rot="5400000">
            <a:off x="4145577" y="3185758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6"/>
          <p:cNvSpPr txBox="1"/>
          <p:nvPr/>
        </p:nvSpPr>
        <p:spPr>
          <a:xfrm>
            <a:off x="3890795" y="3173308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6"/>
          <p:cNvSpPr/>
          <p:nvPr/>
        </p:nvSpPr>
        <p:spPr>
          <a:xfrm rot="5400000">
            <a:off x="4851118" y="3185758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6"/>
          <p:cNvSpPr txBox="1"/>
          <p:nvPr/>
        </p:nvSpPr>
        <p:spPr>
          <a:xfrm>
            <a:off x="4596336" y="3173308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6"/>
          <p:cNvSpPr txBox="1"/>
          <p:nvPr/>
        </p:nvSpPr>
        <p:spPr>
          <a:xfrm>
            <a:off x="324000" y="3535123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900"/>
          </a:p>
        </p:txBody>
      </p:sp>
      <p:sp>
        <p:nvSpPr>
          <p:cNvPr id="979" name="Google Shape;979;p76"/>
          <p:cNvSpPr txBox="1"/>
          <p:nvPr/>
        </p:nvSpPr>
        <p:spPr>
          <a:xfrm>
            <a:off x="1144950" y="1792350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0" name="Google Shape;980;p76"/>
          <p:cNvSpPr txBox="1"/>
          <p:nvPr/>
        </p:nvSpPr>
        <p:spPr>
          <a:xfrm>
            <a:off x="1820700" y="1792350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1" name="Google Shape;981;p76"/>
          <p:cNvSpPr txBox="1"/>
          <p:nvPr/>
        </p:nvSpPr>
        <p:spPr>
          <a:xfrm>
            <a:off x="2593225" y="1792350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76"/>
          <p:cNvSpPr txBox="1"/>
          <p:nvPr/>
        </p:nvSpPr>
        <p:spPr>
          <a:xfrm>
            <a:off x="3260163" y="1792350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80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76"/>
          <p:cNvSpPr txBox="1"/>
          <p:nvPr/>
        </p:nvSpPr>
        <p:spPr>
          <a:xfrm>
            <a:off x="3927113" y="2217888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84" name="Google Shape;984;p76"/>
          <p:cNvCxnSpPr/>
          <p:nvPr/>
        </p:nvCxnSpPr>
        <p:spPr>
          <a:xfrm rot="10800000">
            <a:off x="4002275" y="2071400"/>
            <a:ext cx="110700" cy="31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5" name="Google Shape;985;p76"/>
          <p:cNvSpPr txBox="1"/>
          <p:nvPr/>
        </p:nvSpPr>
        <p:spPr>
          <a:xfrm>
            <a:off x="5164285" y="1330325"/>
            <a:ext cx="344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10% = 80 and 1% = 8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76"/>
          <p:cNvSpPr txBox="1"/>
          <p:nvPr/>
        </p:nvSpPr>
        <p:spPr>
          <a:xfrm>
            <a:off x="3927172" y="2514025"/>
            <a:ext cx="452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80 + 80 + 80 + 80 + 16 = 336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76"/>
          <p:cNvSpPr txBox="1"/>
          <p:nvPr/>
        </p:nvSpPr>
        <p:spPr>
          <a:xfrm>
            <a:off x="5774401" y="3264453"/>
            <a:ext cx="327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10% = 44 and 1% = 4.4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76"/>
          <p:cNvSpPr txBox="1"/>
          <p:nvPr/>
        </p:nvSpPr>
        <p:spPr>
          <a:xfrm>
            <a:off x="1054025" y="3723103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9" name="Google Shape;989;p76"/>
          <p:cNvSpPr txBox="1"/>
          <p:nvPr/>
        </p:nvSpPr>
        <p:spPr>
          <a:xfrm>
            <a:off x="1729775" y="3723103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0" name="Google Shape;990;p76"/>
          <p:cNvSpPr txBox="1"/>
          <p:nvPr/>
        </p:nvSpPr>
        <p:spPr>
          <a:xfrm>
            <a:off x="2502300" y="3723103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1" name="Google Shape;991;p76"/>
          <p:cNvSpPr txBox="1"/>
          <p:nvPr/>
        </p:nvSpPr>
        <p:spPr>
          <a:xfrm>
            <a:off x="3169238" y="3723103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2" name="Google Shape;992;p76"/>
          <p:cNvSpPr txBox="1"/>
          <p:nvPr/>
        </p:nvSpPr>
        <p:spPr>
          <a:xfrm>
            <a:off x="3950575" y="3728741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3" name="Google Shape;993;p76"/>
          <p:cNvSpPr txBox="1"/>
          <p:nvPr/>
        </p:nvSpPr>
        <p:spPr>
          <a:xfrm>
            <a:off x="4617513" y="3728741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4" name="Google Shape;994;p76"/>
          <p:cNvSpPr txBox="1"/>
          <p:nvPr/>
        </p:nvSpPr>
        <p:spPr>
          <a:xfrm>
            <a:off x="5284475" y="4183128"/>
            <a:ext cx="74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4.4</a:t>
            </a:r>
            <a:endParaRPr/>
          </a:p>
        </p:txBody>
      </p:sp>
      <p:cxnSp>
        <p:nvCxnSpPr>
          <p:cNvPr id="995" name="Google Shape;995;p76"/>
          <p:cNvCxnSpPr/>
          <p:nvPr/>
        </p:nvCxnSpPr>
        <p:spPr>
          <a:xfrm rot="10800000">
            <a:off x="5398850" y="4058328"/>
            <a:ext cx="110700" cy="3102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6" name="Google Shape;996;p76"/>
          <p:cNvSpPr txBox="1"/>
          <p:nvPr/>
        </p:nvSpPr>
        <p:spPr>
          <a:xfrm>
            <a:off x="3852072" y="4467138"/>
            <a:ext cx="452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44 × 6 + 4.4 = 268.4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7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</a:t>
            </a:r>
            <a:r>
              <a:rPr lang="en-GB" sz="1900"/>
              <a:t>Here is a percentage bar to show the percentage of days that experienced different weather conditions.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Work out how many days were sunny, cloudy, or rainy.</a:t>
            </a:r>
            <a:endParaRPr/>
          </a:p>
        </p:txBody>
      </p:sp>
      <p:sp>
        <p:nvSpPr>
          <p:cNvPr id="1002" name="Google Shape;1002;p7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graphicFrame>
        <p:nvGraphicFramePr>
          <p:cNvPr id="1003" name="Google Shape;1003;p77"/>
          <p:cNvGraphicFramePr/>
          <p:nvPr/>
        </p:nvGraphicFramePr>
        <p:xfrm>
          <a:off x="777900" y="235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3505275"/>
                <a:gridCol w="2158250"/>
                <a:gridCol w="1409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Sun 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Cloud </a:t>
                      </a:r>
                      <a:r>
                        <a:rPr lang="en-GB" sz="24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30%</a:t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3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Rain</a:t>
                      </a:r>
                      <a:endParaRPr sz="3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4" name="Google Shape;1004;p77"/>
          <p:cNvSpPr/>
          <p:nvPr/>
        </p:nvSpPr>
        <p:spPr>
          <a:xfrm rot="-5400000">
            <a:off x="4276050" y="-269175"/>
            <a:ext cx="87900" cy="7084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7"/>
          <p:cNvSpPr txBox="1"/>
          <p:nvPr/>
        </p:nvSpPr>
        <p:spPr>
          <a:xfrm>
            <a:off x="3522975" y="3395100"/>
            <a:ext cx="1733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Lexend"/>
                <a:ea typeface="Lexend"/>
                <a:cs typeface="Lexend"/>
                <a:sym typeface="Lexend"/>
              </a:rPr>
              <a:t>20 days</a:t>
            </a:r>
            <a:endParaRPr sz="2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6" name="Google Shape;1006;p77"/>
          <p:cNvGraphicFramePr/>
          <p:nvPr/>
        </p:nvGraphicFramePr>
        <p:xfrm>
          <a:off x="769213" y="2378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631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7" name="Google Shape;1007;p77"/>
          <p:cNvGraphicFramePr/>
          <p:nvPr/>
        </p:nvGraphicFramePr>
        <p:xfrm>
          <a:off x="759186" y="19520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1077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8" name="Google Shape;1008;p77"/>
          <p:cNvSpPr txBox="1"/>
          <p:nvPr/>
        </p:nvSpPr>
        <p:spPr>
          <a:xfrm>
            <a:off x="396475" y="3935950"/>
            <a:ext cx="76074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Sunny = 10 days, 	Cloudy = 6 days, 	Rainy = 4 days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8"/>
          <p:cNvSpPr/>
          <p:nvPr/>
        </p:nvSpPr>
        <p:spPr>
          <a:xfrm>
            <a:off x="2447401" y="1781725"/>
            <a:ext cx="622200" cy="5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4" name="Google Shape;1014;p78"/>
          <p:cNvGraphicFramePr/>
          <p:nvPr/>
        </p:nvGraphicFramePr>
        <p:xfrm>
          <a:off x="1053863" y="1794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29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5" name="Google Shape;1015;p78"/>
          <p:cNvSpPr txBox="1"/>
          <p:nvPr>
            <p:ph idx="1" type="body"/>
          </p:nvPr>
        </p:nvSpPr>
        <p:spPr>
          <a:xfrm>
            <a:off x="324000" y="759300"/>
            <a:ext cx="8928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3) </a:t>
            </a:r>
            <a:r>
              <a:rPr lang="en-GB" sz="1900"/>
              <a:t>Work out the 29% of 120 using the two different bar models.</a:t>
            </a:r>
            <a:endParaRPr sz="1900"/>
          </a:p>
        </p:txBody>
      </p:sp>
      <p:sp>
        <p:nvSpPr>
          <p:cNvPr id="1016" name="Google Shape;1016;p7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graphicFrame>
        <p:nvGraphicFramePr>
          <p:cNvPr id="1017" name="Google Shape;1017;p78"/>
          <p:cNvGraphicFramePr/>
          <p:nvPr/>
        </p:nvGraphicFramePr>
        <p:xfrm>
          <a:off x="1051551" y="17817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8" name="Google Shape;1018;p78"/>
          <p:cNvSpPr/>
          <p:nvPr/>
        </p:nvSpPr>
        <p:spPr>
          <a:xfrm rot="5400000">
            <a:off x="1326193" y="1246745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9" name="Google Shape;1019;p78"/>
          <p:cNvSpPr txBox="1"/>
          <p:nvPr/>
        </p:nvSpPr>
        <p:spPr>
          <a:xfrm>
            <a:off x="1086217" y="1224425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0" name="Google Shape;1020;p78"/>
          <p:cNvSpPr txBox="1"/>
          <p:nvPr/>
        </p:nvSpPr>
        <p:spPr>
          <a:xfrm>
            <a:off x="324000" y="13352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900"/>
          </a:p>
        </p:txBody>
      </p:sp>
      <p:sp>
        <p:nvSpPr>
          <p:cNvPr id="1021" name="Google Shape;1021;p78"/>
          <p:cNvSpPr/>
          <p:nvPr/>
        </p:nvSpPr>
        <p:spPr>
          <a:xfrm rot="5400000">
            <a:off x="2048950" y="1251642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8"/>
          <p:cNvSpPr txBox="1"/>
          <p:nvPr/>
        </p:nvSpPr>
        <p:spPr>
          <a:xfrm>
            <a:off x="1794168" y="1239192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8"/>
          <p:cNvSpPr/>
          <p:nvPr/>
        </p:nvSpPr>
        <p:spPr>
          <a:xfrm rot="5400000">
            <a:off x="1308799" y="2952313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8"/>
          <p:cNvSpPr txBox="1"/>
          <p:nvPr/>
        </p:nvSpPr>
        <p:spPr>
          <a:xfrm>
            <a:off x="1054017" y="2939863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8"/>
          <p:cNvSpPr/>
          <p:nvPr/>
        </p:nvSpPr>
        <p:spPr>
          <a:xfrm rot="5400000">
            <a:off x="2016750" y="2967080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8"/>
          <p:cNvSpPr txBox="1"/>
          <p:nvPr/>
        </p:nvSpPr>
        <p:spPr>
          <a:xfrm>
            <a:off x="1761968" y="295463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8"/>
          <p:cNvSpPr/>
          <p:nvPr/>
        </p:nvSpPr>
        <p:spPr>
          <a:xfrm rot="5400000">
            <a:off x="2702550" y="2967080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8"/>
          <p:cNvSpPr txBox="1"/>
          <p:nvPr/>
        </p:nvSpPr>
        <p:spPr>
          <a:xfrm>
            <a:off x="2447768" y="295463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78"/>
          <p:cNvSpPr/>
          <p:nvPr/>
        </p:nvSpPr>
        <p:spPr>
          <a:xfrm rot="-5400000">
            <a:off x="3087475" y="4042895"/>
            <a:ext cx="112500" cy="13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30" name="Google Shape;1030;p78"/>
          <p:cNvGraphicFramePr/>
          <p:nvPr/>
        </p:nvGraphicFramePr>
        <p:xfrm>
          <a:off x="1053863" y="3496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1" name="Google Shape;1031;p78"/>
          <p:cNvSpPr/>
          <p:nvPr/>
        </p:nvSpPr>
        <p:spPr>
          <a:xfrm>
            <a:off x="3075475" y="3506675"/>
            <a:ext cx="107400" cy="518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32" name="Google Shape;1032;p78"/>
          <p:cNvGraphicFramePr/>
          <p:nvPr/>
        </p:nvGraphicFramePr>
        <p:xfrm>
          <a:off x="1051550" y="3489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33" name="Google Shape;1033;p78"/>
          <p:cNvSpPr txBox="1"/>
          <p:nvPr/>
        </p:nvSpPr>
        <p:spPr>
          <a:xfrm>
            <a:off x="2824586" y="4197530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78"/>
          <p:cNvSpPr txBox="1"/>
          <p:nvPr/>
        </p:nvSpPr>
        <p:spPr>
          <a:xfrm>
            <a:off x="324000" y="33164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900"/>
          </a:p>
        </p:txBody>
      </p:sp>
      <p:sp>
        <p:nvSpPr>
          <p:cNvPr id="1035" name="Google Shape;1035;p78"/>
          <p:cNvSpPr/>
          <p:nvPr/>
        </p:nvSpPr>
        <p:spPr>
          <a:xfrm rot="5400000">
            <a:off x="2687075" y="1323850"/>
            <a:ext cx="199800" cy="565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78"/>
          <p:cNvSpPr txBox="1"/>
          <p:nvPr/>
        </p:nvSpPr>
        <p:spPr>
          <a:xfrm>
            <a:off x="2504493" y="1239254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78"/>
          <p:cNvSpPr txBox="1"/>
          <p:nvPr/>
        </p:nvSpPr>
        <p:spPr>
          <a:xfrm>
            <a:off x="1130663" y="1767625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8" name="Google Shape;1038;p78"/>
          <p:cNvSpPr txBox="1"/>
          <p:nvPr/>
        </p:nvSpPr>
        <p:spPr>
          <a:xfrm>
            <a:off x="1912000" y="1773263"/>
            <a:ext cx="591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9" name="Google Shape;1039;p78"/>
          <p:cNvSpPr txBox="1"/>
          <p:nvPr/>
        </p:nvSpPr>
        <p:spPr>
          <a:xfrm>
            <a:off x="5820001" y="1271338"/>
            <a:ext cx="327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10% = 12 and 1% = 1.2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0" name="Google Shape;1040;p78"/>
          <p:cNvSpPr txBox="1"/>
          <p:nvPr/>
        </p:nvSpPr>
        <p:spPr>
          <a:xfrm>
            <a:off x="2476200" y="1770450"/>
            <a:ext cx="681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10.8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1" name="Google Shape;1041;p78"/>
          <p:cNvSpPr txBox="1"/>
          <p:nvPr/>
        </p:nvSpPr>
        <p:spPr>
          <a:xfrm>
            <a:off x="969300" y="2410075"/>
            <a:ext cx="71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29% of 120 = 10% × 2 + 9% = 12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2 + 10.8 = 34.8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42" name="Google Shape;1042;p78"/>
          <p:cNvSpPr txBox="1"/>
          <p:nvPr/>
        </p:nvSpPr>
        <p:spPr>
          <a:xfrm>
            <a:off x="969300" y="4331575"/>
            <a:ext cx="71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29% of 120 = 10% × 3 - 1% = 12 × 3 - 1.2 = 34.8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7" name="Google Shape;1047;p79"/>
          <p:cNvGraphicFramePr/>
          <p:nvPr/>
        </p:nvGraphicFramePr>
        <p:xfrm>
          <a:off x="1186788" y="17816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29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048" name="Google Shape;1048;p79"/>
          <p:cNvSpPr txBox="1"/>
          <p:nvPr>
            <p:ph idx="1" type="body"/>
          </p:nvPr>
        </p:nvSpPr>
        <p:spPr>
          <a:xfrm>
            <a:off x="324000" y="759300"/>
            <a:ext cx="8237700" cy="4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4) </a:t>
            </a:r>
            <a:r>
              <a:rPr lang="en-GB" sz="1900"/>
              <a:t>Show two different bar models to work out 99% of 200</a:t>
            </a:r>
            <a:endParaRPr sz="1900"/>
          </a:p>
        </p:txBody>
      </p:sp>
      <p:sp>
        <p:nvSpPr>
          <p:cNvPr id="1049" name="Google Shape;1049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graphicFrame>
        <p:nvGraphicFramePr>
          <p:cNvPr id="1050" name="Google Shape;1050;p79"/>
          <p:cNvGraphicFramePr/>
          <p:nvPr/>
        </p:nvGraphicFramePr>
        <p:xfrm>
          <a:off x="1186801" y="17816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1" name="Google Shape;1051;p79"/>
          <p:cNvSpPr txBox="1"/>
          <p:nvPr/>
        </p:nvSpPr>
        <p:spPr>
          <a:xfrm>
            <a:off x="324000" y="13352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900"/>
          </a:p>
        </p:txBody>
      </p:sp>
      <p:sp>
        <p:nvSpPr>
          <p:cNvPr id="1052" name="Google Shape;1052;p79"/>
          <p:cNvSpPr txBox="1"/>
          <p:nvPr/>
        </p:nvSpPr>
        <p:spPr>
          <a:xfrm>
            <a:off x="324000" y="3468845"/>
            <a:ext cx="591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900"/>
          </a:p>
        </p:txBody>
      </p:sp>
      <p:graphicFrame>
        <p:nvGraphicFramePr>
          <p:cNvPr id="1053" name="Google Shape;1053;p79"/>
          <p:cNvGraphicFramePr/>
          <p:nvPr/>
        </p:nvGraphicFramePr>
        <p:xfrm>
          <a:off x="1120338" y="35209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  <a:gridCol w="709025"/>
              </a:tblGrid>
              <a:tr h="298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4" name="Google Shape;1054;p79"/>
          <p:cNvGraphicFramePr/>
          <p:nvPr/>
        </p:nvGraphicFramePr>
        <p:xfrm>
          <a:off x="1120351" y="35209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090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5" name="Google Shape;1055;p79"/>
          <p:cNvSpPr txBox="1"/>
          <p:nvPr/>
        </p:nvSpPr>
        <p:spPr>
          <a:xfrm>
            <a:off x="1120351" y="2261388"/>
            <a:ext cx="327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10% = 20 and 1% = 2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79"/>
          <p:cNvSpPr txBox="1"/>
          <p:nvPr/>
        </p:nvSpPr>
        <p:spPr>
          <a:xfrm>
            <a:off x="1078075" y="2572588"/>
            <a:ext cx="71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99%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of 200 = 90% × 9 + 9% = 20 × 9 + 18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198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7" name="Google Shape;1057;p79"/>
          <p:cNvSpPr/>
          <p:nvPr/>
        </p:nvSpPr>
        <p:spPr>
          <a:xfrm rot="5400000">
            <a:off x="7751025" y="1345500"/>
            <a:ext cx="199800" cy="565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9"/>
          <p:cNvSpPr txBox="1"/>
          <p:nvPr/>
        </p:nvSpPr>
        <p:spPr>
          <a:xfrm>
            <a:off x="7524140" y="1260904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79"/>
          <p:cNvSpPr/>
          <p:nvPr/>
        </p:nvSpPr>
        <p:spPr>
          <a:xfrm rot="5400000">
            <a:off x="1407418" y="1278283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0" name="Google Shape;1060;p79"/>
          <p:cNvSpPr txBox="1"/>
          <p:nvPr/>
        </p:nvSpPr>
        <p:spPr>
          <a:xfrm>
            <a:off x="1167442" y="1255963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1" name="Google Shape;1061;p79"/>
          <p:cNvSpPr/>
          <p:nvPr/>
        </p:nvSpPr>
        <p:spPr>
          <a:xfrm rot="5400000">
            <a:off x="2117518" y="1282389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79"/>
          <p:cNvSpPr txBox="1"/>
          <p:nvPr/>
        </p:nvSpPr>
        <p:spPr>
          <a:xfrm>
            <a:off x="1877542" y="1252685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3" name="Google Shape;1063;p79"/>
          <p:cNvSpPr/>
          <p:nvPr/>
        </p:nvSpPr>
        <p:spPr>
          <a:xfrm rot="5400000">
            <a:off x="2833067" y="1278283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79"/>
          <p:cNvSpPr txBox="1"/>
          <p:nvPr/>
        </p:nvSpPr>
        <p:spPr>
          <a:xfrm>
            <a:off x="2593090" y="1255963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5" name="Google Shape;1065;p79"/>
          <p:cNvSpPr/>
          <p:nvPr/>
        </p:nvSpPr>
        <p:spPr>
          <a:xfrm rot="5400000">
            <a:off x="3543167" y="1282389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9"/>
          <p:cNvSpPr txBox="1"/>
          <p:nvPr/>
        </p:nvSpPr>
        <p:spPr>
          <a:xfrm>
            <a:off x="3303190" y="1252685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9"/>
          <p:cNvSpPr/>
          <p:nvPr/>
        </p:nvSpPr>
        <p:spPr>
          <a:xfrm rot="5400000">
            <a:off x="4273483" y="1278283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79"/>
          <p:cNvSpPr txBox="1"/>
          <p:nvPr/>
        </p:nvSpPr>
        <p:spPr>
          <a:xfrm>
            <a:off x="4033507" y="1255963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79"/>
          <p:cNvSpPr/>
          <p:nvPr/>
        </p:nvSpPr>
        <p:spPr>
          <a:xfrm rot="5400000">
            <a:off x="4983583" y="1282389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79"/>
          <p:cNvSpPr txBox="1"/>
          <p:nvPr/>
        </p:nvSpPr>
        <p:spPr>
          <a:xfrm>
            <a:off x="4743607" y="1252685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79"/>
          <p:cNvSpPr/>
          <p:nvPr/>
        </p:nvSpPr>
        <p:spPr>
          <a:xfrm rot="5400000">
            <a:off x="5699132" y="1278283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79"/>
          <p:cNvSpPr/>
          <p:nvPr/>
        </p:nvSpPr>
        <p:spPr>
          <a:xfrm rot="5400000">
            <a:off x="7105088" y="1278492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79"/>
          <p:cNvSpPr txBox="1"/>
          <p:nvPr/>
        </p:nvSpPr>
        <p:spPr>
          <a:xfrm>
            <a:off x="6865112" y="1248788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79"/>
          <p:cNvSpPr txBox="1"/>
          <p:nvPr/>
        </p:nvSpPr>
        <p:spPr>
          <a:xfrm>
            <a:off x="5459156" y="1255963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79"/>
          <p:cNvSpPr/>
          <p:nvPr/>
        </p:nvSpPr>
        <p:spPr>
          <a:xfrm rot="5400000">
            <a:off x="6409232" y="1282389"/>
            <a:ext cx="199800" cy="710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79"/>
          <p:cNvSpPr txBox="1"/>
          <p:nvPr/>
        </p:nvSpPr>
        <p:spPr>
          <a:xfrm>
            <a:off x="6169256" y="1252685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79"/>
          <p:cNvSpPr/>
          <p:nvPr/>
        </p:nvSpPr>
        <p:spPr>
          <a:xfrm rot="5400000">
            <a:off x="4492250" y="-8353"/>
            <a:ext cx="354300" cy="7127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79"/>
          <p:cNvSpPr txBox="1"/>
          <p:nvPr/>
        </p:nvSpPr>
        <p:spPr>
          <a:xfrm>
            <a:off x="4288079" y="3101388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79"/>
          <p:cNvSpPr/>
          <p:nvPr/>
        </p:nvSpPr>
        <p:spPr>
          <a:xfrm rot="-5400000">
            <a:off x="8078875" y="4042107"/>
            <a:ext cx="112500" cy="136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79"/>
          <p:cNvSpPr txBox="1"/>
          <p:nvPr/>
        </p:nvSpPr>
        <p:spPr>
          <a:xfrm>
            <a:off x="7815986" y="4196742"/>
            <a:ext cx="818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79"/>
          <p:cNvSpPr txBox="1"/>
          <p:nvPr/>
        </p:nvSpPr>
        <p:spPr>
          <a:xfrm>
            <a:off x="1067000" y="4073738"/>
            <a:ext cx="7174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99% of 200 = 100% - 1% = 200 - 2 = 198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8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 percentages of amounts</a:t>
            </a:r>
            <a:endParaRPr/>
          </a:p>
        </p:txBody>
      </p:sp>
      <p:sp>
        <p:nvSpPr>
          <p:cNvPr id="1087" name="Google Shape;1087;p8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sp>
        <p:nvSpPr>
          <p:cNvPr id="1088" name="Google Shape;1088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percentages</a:t>
            </a:r>
            <a:endParaRPr/>
          </a:p>
        </p:txBody>
      </p:sp>
      <p:pic>
        <p:nvPicPr>
          <p:cNvPr id="1089" name="Google Shape;1089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800" y="2988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81"/>
          <p:cNvSpPr txBox="1"/>
          <p:nvPr>
            <p:ph idx="1" type="body"/>
          </p:nvPr>
        </p:nvSpPr>
        <p:spPr>
          <a:xfrm>
            <a:off x="324000" y="759300"/>
            <a:ext cx="82377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Fractions, percentages and ratio all show proportion. Double number lines are excellent visual tools as they show that proportional relationship.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However, it is important to remember when drawing double number lines: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lines are scaled number lines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Both lines must start from zero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The numbers illustrate the proportionality.</a:t>
            </a:r>
            <a:endParaRPr/>
          </a:p>
        </p:txBody>
      </p:sp>
      <p:sp>
        <p:nvSpPr>
          <p:cNvPr id="1095" name="Google Shape;1095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82"/>
          <p:cNvSpPr txBox="1"/>
          <p:nvPr>
            <p:ph idx="1" type="body"/>
          </p:nvPr>
        </p:nvSpPr>
        <p:spPr>
          <a:xfrm>
            <a:off x="324000" y="7593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Let’s use our bar model of 240 to illustrate.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102" name="Google Shape;1102;p82"/>
          <p:cNvGraphicFramePr/>
          <p:nvPr/>
        </p:nvGraphicFramePr>
        <p:xfrm>
          <a:off x="674525" y="14948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255200"/>
              </a:tblGrid>
              <a:tr h="444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</a:tr>
            </a:tbl>
          </a:graphicData>
        </a:graphic>
      </p:graphicFrame>
      <p:sp>
        <p:nvSpPr>
          <p:cNvPr id="1103" name="Google Shape;1103;p82"/>
          <p:cNvSpPr/>
          <p:nvPr/>
        </p:nvSpPr>
        <p:spPr>
          <a:xfrm rot="-5400000">
            <a:off x="4208985" y="-1504785"/>
            <a:ext cx="199800" cy="7255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82"/>
          <p:cNvSpPr txBox="1"/>
          <p:nvPr/>
        </p:nvSpPr>
        <p:spPr>
          <a:xfrm>
            <a:off x="4110027" y="2251346"/>
            <a:ext cx="131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82"/>
          <p:cNvSpPr/>
          <p:nvPr/>
        </p:nvSpPr>
        <p:spPr>
          <a:xfrm rot="5400000">
            <a:off x="940025" y="1098225"/>
            <a:ext cx="199800" cy="714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6" name="Google Shape;1106;p82"/>
          <p:cNvSpPr txBox="1"/>
          <p:nvPr/>
        </p:nvSpPr>
        <p:spPr>
          <a:xfrm>
            <a:off x="745964" y="1102930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07" name="Google Shape;1107;p82"/>
          <p:cNvGraphicFramePr/>
          <p:nvPr/>
        </p:nvGraphicFramePr>
        <p:xfrm>
          <a:off x="682625" y="150530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  <a:gridCol w="7239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ADB0"/>
                    </a:solidFill>
                  </a:tcPr>
                </a:tc>
              </a:tr>
            </a:tbl>
          </a:graphicData>
        </a:graphic>
      </p:graphicFrame>
      <p:sp>
        <p:nvSpPr>
          <p:cNvPr id="1108" name="Google Shape;1108;p82"/>
          <p:cNvSpPr txBox="1"/>
          <p:nvPr/>
        </p:nvSpPr>
        <p:spPr>
          <a:xfrm>
            <a:off x="6144502" y="4069100"/>
            <a:ext cx="5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9" name="Google Shape;1109;p82"/>
          <p:cNvSpPr txBox="1"/>
          <p:nvPr/>
        </p:nvSpPr>
        <p:spPr>
          <a:xfrm>
            <a:off x="12284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82"/>
          <p:cNvSpPr txBox="1"/>
          <p:nvPr/>
        </p:nvSpPr>
        <p:spPr>
          <a:xfrm>
            <a:off x="386791" y="32400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1" name="Google Shape;1111;p82"/>
          <p:cNvSpPr txBox="1"/>
          <p:nvPr/>
        </p:nvSpPr>
        <p:spPr>
          <a:xfrm>
            <a:off x="6096011" y="3070638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12" name="Google Shape;1112;p82"/>
          <p:cNvGrpSpPr/>
          <p:nvPr/>
        </p:nvGrpSpPr>
        <p:grpSpPr>
          <a:xfrm>
            <a:off x="821260" y="3293578"/>
            <a:ext cx="8668422" cy="868664"/>
            <a:chOff x="745060" y="3293578"/>
            <a:chExt cx="8668422" cy="868664"/>
          </a:xfrm>
        </p:grpSpPr>
        <p:sp>
          <p:nvSpPr>
            <p:cNvPr id="1113" name="Google Shape;1113;p82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14" name="Google Shape;1114;p82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15" name="Google Shape;1115;p82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1116" name="Google Shape;1116;p82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1117" name="Google Shape;1117;p82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18" name="Google Shape;1118;p82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119" name="Google Shape;1119;p82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1120" name="Google Shape;1120;p82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82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82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123" name="Google Shape;1123;p82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4" name="Google Shape;1124;p82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5" name="Google Shape;1125;p82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6" name="Google Shape;1126;p82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7" name="Google Shape;1127;p82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8" name="Google Shape;1128;p82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9" name="Google Shape;1129;p82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0" name="Google Shape;1130;p82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1" name="Google Shape;1131;p82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2" name="Google Shape;1132;p82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3" name="Google Shape;1133;p82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4" name="Google Shape;1134;p82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5" name="Google Shape;1135;p82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6" name="Google Shape;1136;p82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7" name="Google Shape;1137;p82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8" name="Google Shape;1138;p82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39" name="Google Shape;1139;p82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0" name="Google Shape;1140;p82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1" name="Google Shape;1141;p82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2" name="Google Shape;1142;p82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3" name="Google Shape;1143;p82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4" name="Google Shape;1144;p82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5" name="Google Shape;1145;p82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46" name="Google Shape;1146;p82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47" name="Google Shape;1147;p82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8" name="Google Shape;1148;p82"/>
          <p:cNvSpPr txBox="1"/>
          <p:nvPr/>
        </p:nvSpPr>
        <p:spPr>
          <a:xfrm>
            <a:off x="386791" y="39156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2"/>
          <p:cNvSpPr txBox="1"/>
          <p:nvPr/>
        </p:nvSpPr>
        <p:spPr>
          <a:xfrm>
            <a:off x="10961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3"/>
          <p:cNvSpPr txBox="1"/>
          <p:nvPr>
            <p:ph idx="1" type="body"/>
          </p:nvPr>
        </p:nvSpPr>
        <p:spPr>
          <a:xfrm>
            <a:off x="324000" y="7593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you think we can use our double number line to calculate 40%?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sp>
        <p:nvSpPr>
          <p:cNvPr id="1156" name="Google Shape;1156;p83"/>
          <p:cNvSpPr txBox="1"/>
          <p:nvPr/>
        </p:nvSpPr>
        <p:spPr>
          <a:xfrm>
            <a:off x="6144502" y="4069100"/>
            <a:ext cx="5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3"/>
          <p:cNvSpPr txBox="1"/>
          <p:nvPr/>
        </p:nvSpPr>
        <p:spPr>
          <a:xfrm>
            <a:off x="12284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8" name="Google Shape;1158;p83"/>
          <p:cNvSpPr txBox="1"/>
          <p:nvPr/>
        </p:nvSpPr>
        <p:spPr>
          <a:xfrm>
            <a:off x="386791" y="32400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83"/>
          <p:cNvSpPr txBox="1"/>
          <p:nvPr/>
        </p:nvSpPr>
        <p:spPr>
          <a:xfrm>
            <a:off x="6096011" y="3070638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0" name="Google Shape;1160;p83"/>
          <p:cNvGrpSpPr/>
          <p:nvPr/>
        </p:nvGrpSpPr>
        <p:grpSpPr>
          <a:xfrm>
            <a:off x="821260" y="3293578"/>
            <a:ext cx="8668422" cy="868664"/>
            <a:chOff x="745060" y="3293578"/>
            <a:chExt cx="8668422" cy="868664"/>
          </a:xfrm>
        </p:grpSpPr>
        <p:sp>
          <p:nvSpPr>
            <p:cNvPr id="1161" name="Google Shape;1161;p83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83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63" name="Google Shape;1163;p83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1164" name="Google Shape;1164;p83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1165" name="Google Shape;1165;p83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66" name="Google Shape;1166;p83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167" name="Google Shape;1167;p83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1168" name="Google Shape;1168;p83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83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83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171" name="Google Shape;1171;p83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2" name="Google Shape;1172;p83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3" name="Google Shape;1173;p83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4" name="Google Shape;1174;p83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5" name="Google Shape;1175;p83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6" name="Google Shape;1176;p83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7" name="Google Shape;1177;p83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8" name="Google Shape;1178;p83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79" name="Google Shape;1179;p83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0" name="Google Shape;1180;p83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1" name="Google Shape;1181;p83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2" name="Google Shape;1182;p83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3" name="Google Shape;1183;p83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4" name="Google Shape;1184;p83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5" name="Google Shape;1185;p83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6" name="Google Shape;1186;p83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7" name="Google Shape;1187;p83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8" name="Google Shape;1188;p83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89" name="Google Shape;1189;p83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0" name="Google Shape;1190;p83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1" name="Google Shape;1191;p83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2" name="Google Shape;1192;p83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3" name="Google Shape;1193;p83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4" name="Google Shape;1194;p83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95" name="Google Shape;1195;p83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96" name="Google Shape;1196;p83"/>
          <p:cNvSpPr txBox="1"/>
          <p:nvPr/>
        </p:nvSpPr>
        <p:spPr>
          <a:xfrm>
            <a:off x="386791" y="39156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7" name="Google Shape;1197;p83"/>
          <p:cNvSpPr txBox="1"/>
          <p:nvPr/>
        </p:nvSpPr>
        <p:spPr>
          <a:xfrm>
            <a:off x="10961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8" name="Google Shape;1198;p83"/>
          <p:cNvSpPr txBox="1"/>
          <p:nvPr/>
        </p:nvSpPr>
        <p:spPr>
          <a:xfrm>
            <a:off x="17618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48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9" name="Google Shape;1199;p83"/>
          <p:cNvSpPr txBox="1"/>
          <p:nvPr/>
        </p:nvSpPr>
        <p:spPr>
          <a:xfrm>
            <a:off x="16295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3"/>
          <p:cNvSpPr txBox="1"/>
          <p:nvPr/>
        </p:nvSpPr>
        <p:spPr>
          <a:xfrm>
            <a:off x="23714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72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3"/>
          <p:cNvSpPr txBox="1"/>
          <p:nvPr/>
        </p:nvSpPr>
        <p:spPr>
          <a:xfrm>
            <a:off x="22391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3"/>
          <p:cNvSpPr txBox="1"/>
          <p:nvPr/>
        </p:nvSpPr>
        <p:spPr>
          <a:xfrm>
            <a:off x="29048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83"/>
          <p:cNvSpPr txBox="1"/>
          <p:nvPr/>
        </p:nvSpPr>
        <p:spPr>
          <a:xfrm>
            <a:off x="27725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3"/>
          <p:cNvSpPr txBox="1"/>
          <p:nvPr>
            <p:ph idx="1" type="body"/>
          </p:nvPr>
        </p:nvSpPr>
        <p:spPr>
          <a:xfrm>
            <a:off x="324000" y="15975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work out the next multiples of 10%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83"/>
          <p:cNvSpPr txBox="1"/>
          <p:nvPr>
            <p:ph idx="1" type="body"/>
          </p:nvPr>
        </p:nvSpPr>
        <p:spPr>
          <a:xfrm>
            <a:off x="324000" y="20547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Therefore 40% of 240 = 96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4"/>
          <p:cNvSpPr txBox="1"/>
          <p:nvPr>
            <p:ph idx="1" type="body"/>
          </p:nvPr>
        </p:nvSpPr>
        <p:spPr>
          <a:xfrm>
            <a:off x="324000" y="7593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you think we can use our double number line to calculate 40%?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sp>
        <p:nvSpPr>
          <p:cNvPr id="1212" name="Google Shape;1212;p84"/>
          <p:cNvSpPr txBox="1"/>
          <p:nvPr/>
        </p:nvSpPr>
        <p:spPr>
          <a:xfrm>
            <a:off x="6144502" y="4069100"/>
            <a:ext cx="53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4"/>
          <p:cNvSpPr txBox="1"/>
          <p:nvPr/>
        </p:nvSpPr>
        <p:spPr>
          <a:xfrm>
            <a:off x="12284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84"/>
          <p:cNvSpPr txBox="1"/>
          <p:nvPr/>
        </p:nvSpPr>
        <p:spPr>
          <a:xfrm>
            <a:off x="386791" y="32400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84"/>
          <p:cNvSpPr txBox="1"/>
          <p:nvPr/>
        </p:nvSpPr>
        <p:spPr>
          <a:xfrm>
            <a:off x="6096011" y="3070638"/>
            <a:ext cx="82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100%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6" name="Google Shape;1216;p84"/>
          <p:cNvGrpSpPr/>
          <p:nvPr/>
        </p:nvGrpSpPr>
        <p:grpSpPr>
          <a:xfrm>
            <a:off x="821260" y="3293578"/>
            <a:ext cx="8668422" cy="868664"/>
            <a:chOff x="745060" y="3293578"/>
            <a:chExt cx="8668422" cy="868664"/>
          </a:xfrm>
        </p:grpSpPr>
        <p:sp>
          <p:nvSpPr>
            <p:cNvPr id="1217" name="Google Shape;1217;p84"/>
            <p:cNvSpPr txBox="1"/>
            <p:nvPr/>
          </p:nvSpPr>
          <p:spPr>
            <a:xfrm>
              <a:off x="7292782" y="3339679"/>
              <a:ext cx="2120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Percentage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8" name="Google Shape;1218;p84"/>
            <p:cNvSpPr txBox="1"/>
            <p:nvPr/>
          </p:nvSpPr>
          <p:spPr>
            <a:xfrm>
              <a:off x="7292772" y="3777530"/>
              <a:ext cx="1842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Amount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19" name="Google Shape;1219;p84"/>
            <p:cNvGrpSpPr/>
            <p:nvPr/>
          </p:nvGrpSpPr>
          <p:grpSpPr>
            <a:xfrm>
              <a:off x="745060" y="3293578"/>
              <a:ext cx="6406901" cy="868664"/>
              <a:chOff x="2621369" y="2760450"/>
              <a:chExt cx="4093082" cy="1357500"/>
            </a:xfrm>
          </p:grpSpPr>
          <p:grpSp>
            <p:nvGrpSpPr>
              <p:cNvPr id="1220" name="Google Shape;1220;p84"/>
              <p:cNvGrpSpPr/>
              <p:nvPr/>
            </p:nvGrpSpPr>
            <p:grpSpPr>
              <a:xfrm>
                <a:off x="2621369" y="2760450"/>
                <a:ext cx="4093082" cy="1357500"/>
                <a:chOff x="441900" y="3572013"/>
                <a:chExt cx="3074500" cy="1357500"/>
              </a:xfrm>
            </p:grpSpPr>
            <p:cxnSp>
              <p:nvCxnSpPr>
                <p:cNvPr id="1221" name="Google Shape;1221;p84"/>
                <p:cNvCxnSpPr/>
                <p:nvPr/>
              </p:nvCxnSpPr>
              <p:spPr>
                <a:xfrm>
                  <a:off x="441900" y="3572013"/>
                  <a:ext cx="0" cy="135750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222" name="Google Shape;1222;p84"/>
                <p:cNvCxnSpPr/>
                <p:nvPr/>
              </p:nvCxnSpPr>
              <p:spPr>
                <a:xfrm>
                  <a:off x="455200" y="3950800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  <p:cxnSp>
              <p:nvCxnSpPr>
                <p:cNvPr id="1223" name="Google Shape;1223;p84"/>
                <p:cNvCxnSpPr/>
                <p:nvPr/>
              </p:nvCxnSpPr>
              <p:spPr>
                <a:xfrm>
                  <a:off x="455200" y="4555638"/>
                  <a:ext cx="3061200" cy="0"/>
                </a:xfrm>
                <a:prstGeom prst="straightConnector1">
                  <a:avLst/>
                </a:prstGeom>
                <a:noFill/>
                <a:ln cap="flat" cmpd="sng" w="3810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triangle"/>
                </a:ln>
              </p:spPr>
            </p:cxnSp>
          </p:grpSp>
          <p:sp>
            <p:nvSpPr>
              <p:cNvPr id="1224" name="Google Shape;1224;p84"/>
              <p:cNvSpPr/>
              <p:nvPr/>
            </p:nvSpPr>
            <p:spPr>
              <a:xfrm>
                <a:off x="3806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84"/>
              <p:cNvSpPr/>
              <p:nvPr/>
            </p:nvSpPr>
            <p:spPr>
              <a:xfrm>
                <a:off x="6092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84"/>
              <p:cNvSpPr/>
              <p:nvPr/>
            </p:nvSpPr>
            <p:spPr>
              <a:xfrm>
                <a:off x="4949988" y="3165300"/>
                <a:ext cx="63300" cy="552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1227" name="Google Shape;1227;p84"/>
            <p:cNvCxnSpPr/>
            <p:nvPr/>
          </p:nvCxnSpPr>
          <p:spPr>
            <a:xfrm>
              <a:off x="74987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8" name="Google Shape;1228;p84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9" name="Google Shape;1229;p84"/>
            <p:cNvCxnSpPr/>
            <p:nvPr/>
          </p:nvCxnSpPr>
          <p:spPr>
            <a:xfrm>
              <a:off x="130502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0" name="Google Shape;1230;p84"/>
            <p:cNvCxnSpPr/>
            <p:nvPr/>
          </p:nvCxnSpPr>
          <p:spPr>
            <a:xfrm>
              <a:off x="186016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1" name="Google Shape;1231;p84"/>
            <p:cNvCxnSpPr/>
            <p:nvPr/>
          </p:nvCxnSpPr>
          <p:spPr>
            <a:xfrm>
              <a:off x="241531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2" name="Google Shape;1232;p84"/>
            <p:cNvCxnSpPr/>
            <p:nvPr/>
          </p:nvCxnSpPr>
          <p:spPr>
            <a:xfrm>
              <a:off x="297045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3" name="Google Shape;1233;p84"/>
            <p:cNvCxnSpPr/>
            <p:nvPr/>
          </p:nvCxnSpPr>
          <p:spPr>
            <a:xfrm>
              <a:off x="352560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4" name="Google Shape;1234;p84"/>
            <p:cNvCxnSpPr/>
            <p:nvPr/>
          </p:nvCxnSpPr>
          <p:spPr>
            <a:xfrm>
              <a:off x="630132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5" name="Google Shape;1235;p84"/>
            <p:cNvCxnSpPr/>
            <p:nvPr/>
          </p:nvCxnSpPr>
          <p:spPr>
            <a:xfrm>
              <a:off x="408074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6" name="Google Shape;1236;p84"/>
            <p:cNvCxnSpPr/>
            <p:nvPr/>
          </p:nvCxnSpPr>
          <p:spPr>
            <a:xfrm>
              <a:off x="463589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7" name="Google Shape;1237;p84"/>
            <p:cNvCxnSpPr/>
            <p:nvPr/>
          </p:nvCxnSpPr>
          <p:spPr>
            <a:xfrm>
              <a:off x="5191036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8" name="Google Shape;1238;p84"/>
            <p:cNvCxnSpPr/>
            <p:nvPr/>
          </p:nvCxnSpPr>
          <p:spPr>
            <a:xfrm>
              <a:off x="5746181" y="3404677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9" name="Google Shape;1239;p84"/>
            <p:cNvCxnSpPr/>
            <p:nvPr/>
          </p:nvCxnSpPr>
          <p:spPr>
            <a:xfrm>
              <a:off x="130312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0" name="Google Shape;1240;p84"/>
            <p:cNvCxnSpPr/>
            <p:nvPr/>
          </p:nvCxnSpPr>
          <p:spPr>
            <a:xfrm>
              <a:off x="407884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1" name="Google Shape;1241;p84"/>
            <p:cNvCxnSpPr/>
            <p:nvPr/>
          </p:nvCxnSpPr>
          <p:spPr>
            <a:xfrm>
              <a:off x="185826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2" name="Google Shape;1242;p84"/>
            <p:cNvCxnSpPr/>
            <p:nvPr/>
          </p:nvCxnSpPr>
          <p:spPr>
            <a:xfrm>
              <a:off x="241341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3" name="Google Shape;1243;p84"/>
            <p:cNvCxnSpPr/>
            <p:nvPr/>
          </p:nvCxnSpPr>
          <p:spPr>
            <a:xfrm>
              <a:off x="2968555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4" name="Google Shape;1244;p84"/>
            <p:cNvCxnSpPr/>
            <p:nvPr/>
          </p:nvCxnSpPr>
          <p:spPr>
            <a:xfrm>
              <a:off x="3523700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5" name="Google Shape;1245;p84"/>
            <p:cNvCxnSpPr/>
            <p:nvPr/>
          </p:nvCxnSpPr>
          <p:spPr>
            <a:xfrm>
              <a:off x="352284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84"/>
            <p:cNvCxnSpPr/>
            <p:nvPr/>
          </p:nvCxnSpPr>
          <p:spPr>
            <a:xfrm>
              <a:off x="629856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7" name="Google Shape;1247;p84"/>
            <p:cNvCxnSpPr/>
            <p:nvPr/>
          </p:nvCxnSpPr>
          <p:spPr>
            <a:xfrm>
              <a:off x="407798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8" name="Google Shape;1248;p84"/>
            <p:cNvCxnSpPr/>
            <p:nvPr/>
          </p:nvCxnSpPr>
          <p:spPr>
            <a:xfrm>
              <a:off x="463313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84"/>
            <p:cNvCxnSpPr/>
            <p:nvPr/>
          </p:nvCxnSpPr>
          <p:spPr>
            <a:xfrm>
              <a:off x="5188277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84"/>
            <p:cNvCxnSpPr/>
            <p:nvPr/>
          </p:nvCxnSpPr>
          <p:spPr>
            <a:xfrm>
              <a:off x="5743422" y="3788984"/>
              <a:ext cx="0" cy="2859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51" name="Google Shape;1251;p84"/>
            <p:cNvSpPr/>
            <p:nvPr/>
          </p:nvSpPr>
          <p:spPr>
            <a:xfrm>
              <a:off x="770000" y="3560250"/>
              <a:ext cx="6119700" cy="338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52" name="Google Shape;1252;p84"/>
          <p:cNvSpPr txBox="1"/>
          <p:nvPr/>
        </p:nvSpPr>
        <p:spPr>
          <a:xfrm>
            <a:off x="386791" y="3915612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3" name="Google Shape;1253;p84"/>
          <p:cNvSpPr txBox="1"/>
          <p:nvPr/>
        </p:nvSpPr>
        <p:spPr>
          <a:xfrm>
            <a:off x="10961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4" name="Google Shape;1254;p84"/>
          <p:cNvSpPr txBox="1"/>
          <p:nvPr/>
        </p:nvSpPr>
        <p:spPr>
          <a:xfrm>
            <a:off x="2904831" y="4069100"/>
            <a:ext cx="591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96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5" name="Google Shape;1255;p84"/>
          <p:cNvSpPr txBox="1"/>
          <p:nvPr/>
        </p:nvSpPr>
        <p:spPr>
          <a:xfrm>
            <a:off x="2772514" y="31014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40%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6" name="Google Shape;1256;p84"/>
          <p:cNvSpPr txBox="1"/>
          <p:nvPr>
            <p:ph idx="1" type="body"/>
          </p:nvPr>
        </p:nvSpPr>
        <p:spPr>
          <a:xfrm>
            <a:off x="324000" y="15975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use the multiplicative relationship.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57" name="Google Shape;1257;p84"/>
          <p:cNvSpPr/>
          <p:nvPr/>
        </p:nvSpPr>
        <p:spPr>
          <a:xfrm>
            <a:off x="1397975" y="2742700"/>
            <a:ext cx="1683000" cy="66660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84"/>
          <p:cNvSpPr txBox="1"/>
          <p:nvPr/>
        </p:nvSpPr>
        <p:spPr>
          <a:xfrm>
            <a:off x="1877514" y="27427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9" name="Google Shape;1259;p84"/>
          <p:cNvSpPr txBox="1"/>
          <p:nvPr/>
        </p:nvSpPr>
        <p:spPr>
          <a:xfrm>
            <a:off x="1877514" y="4320005"/>
            <a:ext cx="72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× 4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4"/>
          <p:cNvSpPr/>
          <p:nvPr/>
        </p:nvSpPr>
        <p:spPr>
          <a:xfrm flipH="1" rot="10800000">
            <a:off x="1540635" y="4036400"/>
            <a:ext cx="1397700" cy="578700"/>
          </a:xfrm>
          <a:prstGeom prst="arc">
            <a:avLst>
              <a:gd fmla="val 10729459" name="adj1"/>
              <a:gd fmla="val 0" name="adj2"/>
            </a:avLst>
          </a:prstGeom>
          <a:noFill/>
          <a:ln cap="flat" cmpd="sng" w="19050">
            <a:solidFill>
              <a:srgbClr val="037B7D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84"/>
          <p:cNvSpPr txBox="1"/>
          <p:nvPr>
            <p:ph idx="1" type="body"/>
          </p:nvPr>
        </p:nvSpPr>
        <p:spPr>
          <a:xfrm>
            <a:off x="324000" y="1978500"/>
            <a:ext cx="8237700" cy="51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Therefore 40% of 240 = 96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Another representation of proportion is to use a ratio table. Finding 10%, 5% and/or 1% still remains important regardless of how we represent the proportion.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Let’s look at how a percentage from a double number line can be written using a ratio table.</a:t>
            </a:r>
            <a:endParaRPr/>
          </a:p>
        </p:txBody>
      </p:sp>
      <p:sp>
        <p:nvSpPr>
          <p:cNvPr id="1267" name="Google Shape;1267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double number line.</a:t>
            </a:r>
            <a:endParaRPr/>
          </a:p>
        </p:txBody>
      </p:sp>
      <p:sp>
        <p:nvSpPr>
          <p:cNvPr id="1273" name="Google Shape;1273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pSp>
        <p:nvGrpSpPr>
          <p:cNvPr id="1274" name="Google Shape;1274;p86"/>
          <p:cNvGrpSpPr/>
          <p:nvPr/>
        </p:nvGrpSpPr>
        <p:grpSpPr>
          <a:xfrm>
            <a:off x="374779" y="1180138"/>
            <a:ext cx="9102891" cy="1275663"/>
            <a:chOff x="374779" y="1561138"/>
            <a:chExt cx="9102891" cy="1275663"/>
          </a:xfrm>
        </p:grpSpPr>
        <p:grpSp>
          <p:nvGrpSpPr>
            <p:cNvPr id="1275" name="Google Shape;1275;p86"/>
            <p:cNvGrpSpPr/>
            <p:nvPr/>
          </p:nvGrpSpPr>
          <p:grpSpPr>
            <a:xfrm>
              <a:off x="809247" y="1784078"/>
              <a:ext cx="8668422" cy="868664"/>
              <a:chOff x="745060" y="3293578"/>
              <a:chExt cx="8668422" cy="868664"/>
            </a:xfrm>
          </p:grpSpPr>
          <p:sp>
            <p:nvSpPr>
              <p:cNvPr id="1276" name="Google Shape;1276;p86"/>
              <p:cNvSpPr txBox="1"/>
              <p:nvPr/>
            </p:nvSpPr>
            <p:spPr>
              <a:xfrm>
                <a:off x="7292782" y="3339679"/>
                <a:ext cx="21207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Percentage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77" name="Google Shape;1277;p86"/>
              <p:cNvSpPr txBox="1"/>
              <p:nvPr/>
            </p:nvSpPr>
            <p:spPr>
              <a:xfrm>
                <a:off x="7292772" y="3777530"/>
                <a:ext cx="1842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200">
                    <a:latin typeface="Lexend"/>
                    <a:ea typeface="Lexend"/>
                    <a:cs typeface="Lexend"/>
                    <a:sym typeface="Lexend"/>
                  </a:rPr>
                  <a:t>Amount</a:t>
                </a:r>
                <a:endParaRPr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grpSp>
            <p:nvGrpSpPr>
              <p:cNvPr id="1278" name="Google Shape;1278;p86"/>
              <p:cNvGrpSpPr/>
              <p:nvPr/>
            </p:nvGrpSpPr>
            <p:grpSpPr>
              <a:xfrm>
                <a:off x="745060" y="3293578"/>
                <a:ext cx="6406901" cy="868664"/>
                <a:chOff x="2621369" y="2760450"/>
                <a:chExt cx="4093082" cy="1357500"/>
              </a:xfrm>
            </p:grpSpPr>
            <p:grpSp>
              <p:nvGrpSpPr>
                <p:cNvPr id="1279" name="Google Shape;1279;p86"/>
                <p:cNvGrpSpPr/>
                <p:nvPr/>
              </p:nvGrpSpPr>
              <p:grpSpPr>
                <a:xfrm>
                  <a:off x="2621369" y="2760450"/>
                  <a:ext cx="4093082" cy="1357500"/>
                  <a:chOff x="441900" y="3572013"/>
                  <a:chExt cx="3074500" cy="1357500"/>
                </a:xfrm>
              </p:grpSpPr>
              <p:cxnSp>
                <p:nvCxnSpPr>
                  <p:cNvPr id="1280" name="Google Shape;1280;p86"/>
                  <p:cNvCxnSpPr/>
                  <p:nvPr/>
                </p:nvCxnSpPr>
                <p:spPr>
                  <a:xfrm>
                    <a:off x="441900" y="3572013"/>
                    <a:ext cx="0" cy="135750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281" name="Google Shape;1281;p86"/>
                  <p:cNvCxnSpPr/>
                  <p:nvPr/>
                </p:nvCxnSpPr>
                <p:spPr>
                  <a:xfrm>
                    <a:off x="455200" y="3950800"/>
                    <a:ext cx="3061200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  <p:cxnSp>
                <p:nvCxnSpPr>
                  <p:cNvPr id="1282" name="Google Shape;1282;p86"/>
                  <p:cNvCxnSpPr/>
                  <p:nvPr/>
                </p:nvCxnSpPr>
                <p:spPr>
                  <a:xfrm>
                    <a:off x="455200" y="4555638"/>
                    <a:ext cx="3061200" cy="0"/>
                  </a:xfrm>
                  <a:prstGeom prst="straightConnector1">
                    <a:avLst/>
                  </a:prstGeom>
                  <a:noFill/>
                  <a:ln cap="flat" cmpd="sng" w="38100">
                    <a:solidFill>
                      <a:srgbClr val="000000"/>
                    </a:solidFill>
                    <a:prstDash val="solid"/>
                    <a:round/>
                    <a:headEnd len="med" w="med" type="none"/>
                    <a:tailEnd len="med" w="med" type="triangle"/>
                  </a:ln>
                </p:spPr>
              </p:cxnSp>
            </p:grpSp>
            <p:sp>
              <p:nvSpPr>
                <p:cNvPr id="1283" name="Google Shape;1283;p86"/>
                <p:cNvSpPr/>
                <p:nvPr/>
              </p:nvSpPr>
              <p:spPr>
                <a:xfrm>
                  <a:off x="3806988" y="3165300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4" name="Google Shape;1284;p86"/>
                <p:cNvSpPr/>
                <p:nvPr/>
              </p:nvSpPr>
              <p:spPr>
                <a:xfrm>
                  <a:off x="6092988" y="3165300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85" name="Google Shape;1285;p86"/>
                <p:cNvSpPr/>
                <p:nvPr/>
              </p:nvSpPr>
              <p:spPr>
                <a:xfrm>
                  <a:off x="4949988" y="3165300"/>
                  <a:ext cx="63300" cy="55260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cxnSp>
            <p:nvCxnSpPr>
              <p:cNvPr id="1286" name="Google Shape;1286;p86"/>
              <p:cNvCxnSpPr/>
              <p:nvPr/>
            </p:nvCxnSpPr>
            <p:spPr>
              <a:xfrm>
                <a:off x="749876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" name="Google Shape;1287;p86"/>
              <p:cNvCxnSpPr/>
              <p:nvPr/>
            </p:nvCxnSpPr>
            <p:spPr>
              <a:xfrm>
                <a:off x="3525601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8" name="Google Shape;1288;p86"/>
              <p:cNvCxnSpPr/>
              <p:nvPr/>
            </p:nvCxnSpPr>
            <p:spPr>
              <a:xfrm>
                <a:off x="1305021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9" name="Google Shape;1289;p86"/>
              <p:cNvCxnSpPr/>
              <p:nvPr/>
            </p:nvCxnSpPr>
            <p:spPr>
              <a:xfrm>
                <a:off x="1860166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0" name="Google Shape;1290;p86"/>
              <p:cNvCxnSpPr/>
              <p:nvPr/>
            </p:nvCxnSpPr>
            <p:spPr>
              <a:xfrm>
                <a:off x="2415311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1" name="Google Shape;1291;p86"/>
              <p:cNvCxnSpPr/>
              <p:nvPr/>
            </p:nvCxnSpPr>
            <p:spPr>
              <a:xfrm>
                <a:off x="2970456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2" name="Google Shape;1292;p86"/>
              <p:cNvCxnSpPr/>
              <p:nvPr/>
            </p:nvCxnSpPr>
            <p:spPr>
              <a:xfrm>
                <a:off x="3525601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3" name="Google Shape;1293;p86"/>
              <p:cNvCxnSpPr/>
              <p:nvPr/>
            </p:nvCxnSpPr>
            <p:spPr>
              <a:xfrm>
                <a:off x="6301326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4" name="Google Shape;1294;p86"/>
              <p:cNvCxnSpPr/>
              <p:nvPr/>
            </p:nvCxnSpPr>
            <p:spPr>
              <a:xfrm>
                <a:off x="4080746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5" name="Google Shape;1295;p86"/>
              <p:cNvCxnSpPr/>
              <p:nvPr/>
            </p:nvCxnSpPr>
            <p:spPr>
              <a:xfrm>
                <a:off x="4635891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6" name="Google Shape;1296;p86"/>
              <p:cNvCxnSpPr/>
              <p:nvPr/>
            </p:nvCxnSpPr>
            <p:spPr>
              <a:xfrm>
                <a:off x="5191036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7" name="Google Shape;1297;p86"/>
              <p:cNvCxnSpPr/>
              <p:nvPr/>
            </p:nvCxnSpPr>
            <p:spPr>
              <a:xfrm>
                <a:off x="5746181" y="3404677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" name="Google Shape;1298;p86"/>
              <p:cNvCxnSpPr/>
              <p:nvPr/>
            </p:nvCxnSpPr>
            <p:spPr>
              <a:xfrm>
                <a:off x="1303120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" name="Google Shape;1299;p86"/>
              <p:cNvCxnSpPr/>
              <p:nvPr/>
            </p:nvCxnSpPr>
            <p:spPr>
              <a:xfrm>
                <a:off x="4078845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0" name="Google Shape;1300;p86"/>
              <p:cNvCxnSpPr/>
              <p:nvPr/>
            </p:nvCxnSpPr>
            <p:spPr>
              <a:xfrm>
                <a:off x="1858265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1" name="Google Shape;1301;p86"/>
              <p:cNvCxnSpPr/>
              <p:nvPr/>
            </p:nvCxnSpPr>
            <p:spPr>
              <a:xfrm>
                <a:off x="2413410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2" name="Google Shape;1302;p86"/>
              <p:cNvCxnSpPr/>
              <p:nvPr/>
            </p:nvCxnSpPr>
            <p:spPr>
              <a:xfrm>
                <a:off x="2968555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3" name="Google Shape;1303;p86"/>
              <p:cNvCxnSpPr/>
              <p:nvPr/>
            </p:nvCxnSpPr>
            <p:spPr>
              <a:xfrm>
                <a:off x="3523700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4" name="Google Shape;1304;p86"/>
              <p:cNvCxnSpPr/>
              <p:nvPr/>
            </p:nvCxnSpPr>
            <p:spPr>
              <a:xfrm>
                <a:off x="3522842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5" name="Google Shape;1305;p86"/>
              <p:cNvCxnSpPr/>
              <p:nvPr/>
            </p:nvCxnSpPr>
            <p:spPr>
              <a:xfrm>
                <a:off x="6298567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6" name="Google Shape;1306;p86"/>
              <p:cNvCxnSpPr/>
              <p:nvPr/>
            </p:nvCxnSpPr>
            <p:spPr>
              <a:xfrm>
                <a:off x="4077987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7" name="Google Shape;1307;p86"/>
              <p:cNvCxnSpPr/>
              <p:nvPr/>
            </p:nvCxnSpPr>
            <p:spPr>
              <a:xfrm>
                <a:off x="4633132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8" name="Google Shape;1308;p86"/>
              <p:cNvCxnSpPr/>
              <p:nvPr/>
            </p:nvCxnSpPr>
            <p:spPr>
              <a:xfrm>
                <a:off x="5188277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09" name="Google Shape;1309;p86"/>
              <p:cNvCxnSpPr/>
              <p:nvPr/>
            </p:nvCxnSpPr>
            <p:spPr>
              <a:xfrm>
                <a:off x="5743422" y="3788984"/>
                <a:ext cx="0" cy="2859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10" name="Google Shape;1310;p86"/>
              <p:cNvSpPr/>
              <p:nvPr/>
            </p:nvSpPr>
            <p:spPr>
              <a:xfrm>
                <a:off x="770000" y="3560250"/>
                <a:ext cx="6119700" cy="3387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1311" name="Google Shape;1311;p86"/>
            <p:cNvSpPr txBox="1"/>
            <p:nvPr/>
          </p:nvSpPr>
          <p:spPr>
            <a:xfrm>
              <a:off x="6208689" y="2559600"/>
              <a:ext cx="5316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900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2" name="Google Shape;1312;p86"/>
            <p:cNvSpPr txBox="1"/>
            <p:nvPr/>
          </p:nvSpPr>
          <p:spPr>
            <a:xfrm>
              <a:off x="374779" y="1730512"/>
              <a:ext cx="59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0%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3" name="Google Shape;1313;p86"/>
            <p:cNvSpPr txBox="1"/>
            <p:nvPr/>
          </p:nvSpPr>
          <p:spPr>
            <a:xfrm>
              <a:off x="6194377" y="1561138"/>
              <a:ext cx="8214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100%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4" name="Google Shape;1314;p86"/>
            <p:cNvSpPr txBox="1"/>
            <p:nvPr/>
          </p:nvSpPr>
          <p:spPr>
            <a:xfrm>
              <a:off x="374779" y="2406112"/>
              <a:ext cx="59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0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5" name="Google Shape;1315;p86"/>
            <p:cNvSpPr txBox="1"/>
            <p:nvPr/>
          </p:nvSpPr>
          <p:spPr>
            <a:xfrm>
              <a:off x="3440112" y="2528838"/>
              <a:ext cx="796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450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6" name="Google Shape;1316;p86"/>
            <p:cNvSpPr txBox="1"/>
            <p:nvPr/>
          </p:nvSpPr>
          <p:spPr>
            <a:xfrm>
              <a:off x="3516312" y="1588963"/>
              <a:ext cx="796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50%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317" name="Google Shape;1317;p86"/>
            <p:cNvGrpSpPr/>
            <p:nvPr/>
          </p:nvGrpSpPr>
          <p:grpSpPr>
            <a:xfrm>
              <a:off x="867340" y="1887115"/>
              <a:ext cx="0" cy="662596"/>
              <a:chOff x="3589065" y="3241702"/>
              <a:chExt cx="0" cy="662596"/>
            </a:xfrm>
          </p:grpSpPr>
          <p:cxnSp>
            <p:nvCxnSpPr>
              <p:cNvPr id="1318" name="Google Shape;1318;p86"/>
              <p:cNvCxnSpPr/>
              <p:nvPr/>
            </p:nvCxnSpPr>
            <p:spPr>
              <a:xfrm>
                <a:off x="3589065" y="3241702"/>
                <a:ext cx="0" cy="136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19" name="Google Shape;1319;p86"/>
              <p:cNvCxnSpPr/>
              <p:nvPr/>
            </p:nvCxnSpPr>
            <p:spPr>
              <a:xfrm>
                <a:off x="3589065" y="3768098"/>
                <a:ext cx="0" cy="13620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20" name="Google Shape;1320;p86"/>
            <p:cNvSpPr txBox="1"/>
            <p:nvPr/>
          </p:nvSpPr>
          <p:spPr>
            <a:xfrm>
              <a:off x="789087" y="2519000"/>
              <a:ext cx="796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1" name="Google Shape;1321;p86"/>
            <p:cNvSpPr txBox="1"/>
            <p:nvPr/>
          </p:nvSpPr>
          <p:spPr>
            <a:xfrm>
              <a:off x="865287" y="1579125"/>
              <a:ext cx="7968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1%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22" name="Google Shape;1322;p86"/>
          <p:cNvSpPr txBox="1"/>
          <p:nvPr>
            <p:ph idx="1" type="body"/>
          </p:nvPr>
        </p:nvSpPr>
        <p:spPr>
          <a:xfrm>
            <a:off x="324000" y="2664300"/>
            <a:ext cx="8237700" cy="39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put this in our ratio table:</a:t>
            </a:r>
            <a:endParaRPr/>
          </a:p>
        </p:txBody>
      </p:sp>
      <p:graphicFrame>
        <p:nvGraphicFramePr>
          <p:cNvPr id="1323" name="Google Shape;1323;p86"/>
          <p:cNvGraphicFramePr/>
          <p:nvPr/>
        </p:nvGraphicFramePr>
        <p:xfrm>
          <a:off x="5096875" y="280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24" name="Google Shape;1324;p86"/>
          <p:cNvGrpSpPr/>
          <p:nvPr/>
        </p:nvGrpSpPr>
        <p:grpSpPr>
          <a:xfrm>
            <a:off x="5164575" y="3353853"/>
            <a:ext cx="2060050" cy="317617"/>
            <a:chOff x="5164575" y="3353853"/>
            <a:chExt cx="2060050" cy="317617"/>
          </a:xfrm>
        </p:grpSpPr>
        <p:pic>
          <p:nvPicPr>
            <p:cNvPr id="1325" name="Google Shape;1325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64575" y="3353853"/>
              <a:ext cx="609825" cy="317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6" name="Google Shape;1326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14800" y="3353853"/>
              <a:ext cx="609825" cy="3176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27" name="Google Shape;1327;p86"/>
          <p:cNvGrpSpPr/>
          <p:nvPr/>
        </p:nvGrpSpPr>
        <p:grpSpPr>
          <a:xfrm>
            <a:off x="5164575" y="3780003"/>
            <a:ext cx="2060050" cy="317617"/>
            <a:chOff x="5164575" y="3780003"/>
            <a:chExt cx="2060050" cy="317617"/>
          </a:xfrm>
        </p:grpSpPr>
        <p:pic>
          <p:nvPicPr>
            <p:cNvPr id="1328" name="Google Shape;1328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64575" y="3780003"/>
              <a:ext cx="609825" cy="317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29" name="Google Shape;1329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14800" y="3780003"/>
              <a:ext cx="609825" cy="31761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30" name="Google Shape;1330;p86"/>
          <p:cNvGrpSpPr/>
          <p:nvPr/>
        </p:nvGrpSpPr>
        <p:grpSpPr>
          <a:xfrm>
            <a:off x="5164575" y="4206153"/>
            <a:ext cx="2060050" cy="369167"/>
            <a:chOff x="5164575" y="4206153"/>
            <a:chExt cx="2060050" cy="369167"/>
          </a:xfrm>
        </p:grpSpPr>
        <p:pic>
          <p:nvPicPr>
            <p:cNvPr id="1331" name="Google Shape;1331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64575" y="4206153"/>
              <a:ext cx="609825" cy="3176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2" name="Google Shape;1332;p8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14800" y="4257703"/>
              <a:ext cx="609825" cy="31761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338" name="Google Shape;1338;p87"/>
          <p:cNvGraphicFramePr/>
          <p:nvPr/>
        </p:nvGraphicFramePr>
        <p:xfrm>
          <a:off x="5096875" y="280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39" name="Google Shape;1339;p87"/>
          <p:cNvSpPr txBox="1"/>
          <p:nvPr>
            <p:ph idx="1" type="body"/>
          </p:nvPr>
        </p:nvSpPr>
        <p:spPr>
          <a:xfrm>
            <a:off x="324000" y="759300"/>
            <a:ext cx="8237700" cy="18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we work out these amounts without the double number line?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87"/>
          <p:cNvSpPr txBox="1"/>
          <p:nvPr>
            <p:ph idx="1" type="body"/>
          </p:nvPr>
        </p:nvSpPr>
        <p:spPr>
          <a:xfrm>
            <a:off x="329275" y="1187475"/>
            <a:ext cx="8451300" cy="8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Given ratio tables show proportion, we can identify a multiplicative relationship.</a:t>
            </a:r>
            <a:endParaRPr/>
          </a:p>
        </p:txBody>
      </p:sp>
      <p:sp>
        <p:nvSpPr>
          <p:cNvPr id="1341" name="Google Shape;1341;p87"/>
          <p:cNvSpPr/>
          <p:nvPr/>
        </p:nvSpPr>
        <p:spPr>
          <a:xfrm rot="5228845">
            <a:off x="7675868" y="3438993"/>
            <a:ext cx="699266" cy="569813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87"/>
          <p:cNvSpPr/>
          <p:nvPr/>
        </p:nvSpPr>
        <p:spPr>
          <a:xfrm flipH="1" rot="-5571155">
            <a:off x="4638794" y="3449063"/>
            <a:ext cx="699266" cy="543087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87"/>
          <p:cNvSpPr txBox="1"/>
          <p:nvPr/>
        </p:nvSpPr>
        <p:spPr>
          <a:xfrm>
            <a:off x="8327453" y="3502811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4" name="Google Shape;1344;p87"/>
          <p:cNvSpPr txBox="1"/>
          <p:nvPr/>
        </p:nvSpPr>
        <p:spPr>
          <a:xfrm>
            <a:off x="4192978" y="3562361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350" name="Google Shape;1350;p88"/>
          <p:cNvGraphicFramePr/>
          <p:nvPr/>
        </p:nvGraphicFramePr>
        <p:xfrm>
          <a:off x="5096875" y="280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1" name="Google Shape;1351;p88"/>
          <p:cNvSpPr txBox="1"/>
          <p:nvPr>
            <p:ph idx="1" type="body"/>
          </p:nvPr>
        </p:nvSpPr>
        <p:spPr>
          <a:xfrm>
            <a:off x="324000" y="759300"/>
            <a:ext cx="8237700" cy="182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we work out these amounts without the double number line?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88"/>
          <p:cNvSpPr txBox="1"/>
          <p:nvPr>
            <p:ph idx="1" type="body"/>
          </p:nvPr>
        </p:nvSpPr>
        <p:spPr>
          <a:xfrm>
            <a:off x="329275" y="1187475"/>
            <a:ext cx="8451300" cy="8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Given ratio tables show proportion, we can identify a multiplicative relationship.</a:t>
            </a:r>
            <a:endParaRPr/>
          </a:p>
        </p:txBody>
      </p:sp>
      <p:sp>
        <p:nvSpPr>
          <p:cNvPr id="1353" name="Google Shape;1353;p88"/>
          <p:cNvSpPr/>
          <p:nvPr/>
        </p:nvSpPr>
        <p:spPr>
          <a:xfrm rot="5228845">
            <a:off x="7675868" y="3896193"/>
            <a:ext cx="699266" cy="569813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88"/>
          <p:cNvSpPr/>
          <p:nvPr/>
        </p:nvSpPr>
        <p:spPr>
          <a:xfrm flipH="1" rot="-5571155">
            <a:off x="4638794" y="3906263"/>
            <a:ext cx="699266" cy="543087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5" name="Google Shape;1355;p88"/>
          <p:cNvSpPr txBox="1"/>
          <p:nvPr/>
        </p:nvSpPr>
        <p:spPr>
          <a:xfrm>
            <a:off x="8327453" y="3960011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8"/>
          <p:cNvSpPr txBox="1"/>
          <p:nvPr/>
        </p:nvSpPr>
        <p:spPr>
          <a:xfrm>
            <a:off x="4192978" y="4019561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362" name="Google Shape;1362;p89"/>
          <p:cNvGraphicFramePr/>
          <p:nvPr/>
        </p:nvGraphicFramePr>
        <p:xfrm>
          <a:off x="5096875" y="2806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3" name="Google Shape;1363;p89"/>
          <p:cNvSpPr txBox="1"/>
          <p:nvPr>
            <p:ph idx="1" type="body"/>
          </p:nvPr>
        </p:nvSpPr>
        <p:spPr>
          <a:xfrm>
            <a:off x="324000" y="759300"/>
            <a:ext cx="8237700" cy="175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do we work out these amounts without the double number line?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89"/>
          <p:cNvSpPr txBox="1"/>
          <p:nvPr>
            <p:ph idx="1" type="body"/>
          </p:nvPr>
        </p:nvSpPr>
        <p:spPr>
          <a:xfrm>
            <a:off x="329275" y="1187475"/>
            <a:ext cx="8451300" cy="8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Given ratio tables show proportion, we can identify a multiplicative relationship.</a:t>
            </a:r>
            <a:endParaRPr/>
          </a:p>
        </p:txBody>
      </p:sp>
      <p:sp>
        <p:nvSpPr>
          <p:cNvPr id="1365" name="Google Shape;1365;p89"/>
          <p:cNvSpPr/>
          <p:nvPr/>
        </p:nvSpPr>
        <p:spPr>
          <a:xfrm rot="5561657">
            <a:off x="7419782" y="3711689"/>
            <a:ext cx="1148770" cy="488946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89"/>
          <p:cNvSpPr/>
          <p:nvPr/>
        </p:nvSpPr>
        <p:spPr>
          <a:xfrm flipH="1" rot="-5571557">
            <a:off x="4507582" y="3693557"/>
            <a:ext cx="1100570" cy="508839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7" name="Google Shape;1367;p89"/>
          <p:cNvSpPr txBox="1"/>
          <p:nvPr/>
        </p:nvSpPr>
        <p:spPr>
          <a:xfrm>
            <a:off x="8221503" y="3559061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89"/>
          <p:cNvSpPr txBox="1"/>
          <p:nvPr/>
        </p:nvSpPr>
        <p:spPr>
          <a:xfrm>
            <a:off x="4145403" y="3720611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374" name="Google Shape;1374;p90"/>
          <p:cNvGraphicFramePr/>
          <p:nvPr/>
        </p:nvGraphicFramePr>
        <p:xfrm>
          <a:off x="3115675" y="189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5" name="Google Shape;1375;p90"/>
          <p:cNvSpPr txBox="1"/>
          <p:nvPr>
            <p:ph idx="1" type="body"/>
          </p:nvPr>
        </p:nvSpPr>
        <p:spPr>
          <a:xfrm>
            <a:off x="324000" y="759300"/>
            <a:ext cx="8237700" cy="8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ratio tables, we can work out any percentage of an amount. For example, work out 72% of 400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90"/>
          <p:cNvSpPr/>
          <p:nvPr/>
        </p:nvSpPr>
        <p:spPr>
          <a:xfrm>
            <a:off x="405325" y="1859100"/>
            <a:ext cx="1743000" cy="87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Identify 100% first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77" name="Google Shape;1377;p90"/>
          <p:cNvGraphicFramePr/>
          <p:nvPr/>
        </p:nvGraphicFramePr>
        <p:xfrm>
          <a:off x="3116533" y="28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78" name="Google Shape;1378;p90"/>
          <p:cNvSpPr/>
          <p:nvPr/>
        </p:nvSpPr>
        <p:spPr>
          <a:xfrm>
            <a:off x="405325" y="2528275"/>
            <a:ext cx="17430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Identify 10%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9" name="Google Shape;1379;p90"/>
          <p:cNvSpPr/>
          <p:nvPr/>
        </p:nvSpPr>
        <p:spPr>
          <a:xfrm rot="5228795">
            <a:off x="5817650" y="2486694"/>
            <a:ext cx="572510" cy="57251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90"/>
          <p:cNvSpPr/>
          <p:nvPr/>
        </p:nvSpPr>
        <p:spPr>
          <a:xfrm flipH="1" rot="-5570637">
            <a:off x="2754502" y="2524196"/>
            <a:ext cx="604645" cy="524165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90"/>
          <p:cNvSpPr txBox="1"/>
          <p:nvPr/>
        </p:nvSpPr>
        <p:spPr>
          <a:xfrm>
            <a:off x="6407691" y="2615286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90"/>
          <p:cNvSpPr txBox="1"/>
          <p:nvPr/>
        </p:nvSpPr>
        <p:spPr>
          <a:xfrm>
            <a:off x="2273216" y="2674836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3" name="Google Shape;1383;p90"/>
          <p:cNvSpPr/>
          <p:nvPr/>
        </p:nvSpPr>
        <p:spPr>
          <a:xfrm>
            <a:off x="405325" y="2997925"/>
            <a:ext cx="1743000" cy="6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Identify 1%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84" name="Google Shape;1384;p90"/>
          <p:cNvGraphicFramePr/>
          <p:nvPr/>
        </p:nvGraphicFramePr>
        <p:xfrm>
          <a:off x="3111666" y="3258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5" name="Google Shape;1385;p90"/>
          <p:cNvSpPr/>
          <p:nvPr/>
        </p:nvSpPr>
        <p:spPr>
          <a:xfrm rot="5228795">
            <a:off x="5817650" y="3040360"/>
            <a:ext cx="572510" cy="572510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90"/>
          <p:cNvSpPr/>
          <p:nvPr/>
        </p:nvSpPr>
        <p:spPr>
          <a:xfrm flipH="1" rot="-5570637">
            <a:off x="2754502" y="3077862"/>
            <a:ext cx="604645" cy="524165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90"/>
          <p:cNvSpPr txBox="1"/>
          <p:nvPr/>
        </p:nvSpPr>
        <p:spPr>
          <a:xfrm>
            <a:off x="6407691" y="3168952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8" name="Google Shape;1388;p90"/>
          <p:cNvSpPr txBox="1"/>
          <p:nvPr/>
        </p:nvSpPr>
        <p:spPr>
          <a:xfrm>
            <a:off x="2273216" y="3228502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÷10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394" name="Google Shape;1394;p91"/>
          <p:cNvGraphicFramePr/>
          <p:nvPr/>
        </p:nvGraphicFramePr>
        <p:xfrm>
          <a:off x="3115675" y="189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5" name="Google Shape;1395;p91"/>
          <p:cNvSpPr txBox="1"/>
          <p:nvPr>
            <p:ph idx="1" type="body"/>
          </p:nvPr>
        </p:nvSpPr>
        <p:spPr>
          <a:xfrm>
            <a:off x="324000" y="759300"/>
            <a:ext cx="82377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ratio tables, we can work out any percentage of an amount. For example, work out 72% of 400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96" name="Google Shape;1396;p91"/>
          <p:cNvGraphicFramePr/>
          <p:nvPr/>
        </p:nvGraphicFramePr>
        <p:xfrm>
          <a:off x="3116533" y="28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97" name="Google Shape;1397;p91"/>
          <p:cNvGraphicFramePr/>
          <p:nvPr/>
        </p:nvGraphicFramePr>
        <p:xfrm>
          <a:off x="3111666" y="3258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8" name="Google Shape;1398;p91"/>
          <p:cNvSpPr/>
          <p:nvPr/>
        </p:nvSpPr>
        <p:spPr>
          <a:xfrm>
            <a:off x="415675" y="2073500"/>
            <a:ext cx="1743000" cy="872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What would you do to find 72%?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399" name="Google Shape;1399;p91"/>
          <p:cNvGraphicFramePr/>
          <p:nvPr/>
        </p:nvGraphicFramePr>
        <p:xfrm>
          <a:off x="3111666" y="371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0" name="Google Shape;1400;p91"/>
          <p:cNvSpPr/>
          <p:nvPr/>
        </p:nvSpPr>
        <p:spPr>
          <a:xfrm flipH="1" rot="-5571084">
            <a:off x="2531324" y="3223646"/>
            <a:ext cx="1091551" cy="531371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91"/>
          <p:cNvSpPr txBox="1"/>
          <p:nvPr/>
        </p:nvSpPr>
        <p:spPr>
          <a:xfrm>
            <a:off x="2392616" y="3327774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2" name="Google Shape;1402;p91"/>
          <p:cNvSpPr/>
          <p:nvPr/>
        </p:nvSpPr>
        <p:spPr>
          <a:xfrm rot="5228916">
            <a:off x="5560749" y="3238371"/>
            <a:ext cx="1091551" cy="501933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91"/>
          <p:cNvSpPr txBox="1"/>
          <p:nvPr/>
        </p:nvSpPr>
        <p:spPr>
          <a:xfrm>
            <a:off x="6384316" y="3327786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×7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91"/>
          <p:cNvSpPr/>
          <p:nvPr/>
        </p:nvSpPr>
        <p:spPr>
          <a:xfrm>
            <a:off x="415675" y="2390950"/>
            <a:ext cx="1743000" cy="111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There are lots of ways. This is just one example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5" name="Google Shape;1405;p91"/>
          <p:cNvSpPr/>
          <p:nvPr/>
        </p:nvSpPr>
        <p:spPr>
          <a:xfrm>
            <a:off x="415675" y="2390950"/>
            <a:ext cx="1743000" cy="111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Find 70% and 2% and sum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411" name="Google Shape;1411;p92"/>
          <p:cNvGraphicFramePr/>
          <p:nvPr/>
        </p:nvGraphicFramePr>
        <p:xfrm>
          <a:off x="3115675" y="189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2" name="Google Shape;1412;p92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ratio tables, we can work out any percentage of an amount. For example, work out 72% of 400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13" name="Google Shape;1413;p92"/>
          <p:cNvGraphicFramePr/>
          <p:nvPr/>
        </p:nvGraphicFramePr>
        <p:xfrm>
          <a:off x="3116533" y="28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4" name="Google Shape;1414;p92"/>
          <p:cNvGraphicFramePr/>
          <p:nvPr/>
        </p:nvGraphicFramePr>
        <p:xfrm>
          <a:off x="3111666" y="3258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5" name="Google Shape;1415;p92"/>
          <p:cNvGraphicFramePr/>
          <p:nvPr/>
        </p:nvGraphicFramePr>
        <p:xfrm>
          <a:off x="3111666" y="371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16" name="Google Shape;1416;p92"/>
          <p:cNvGraphicFramePr/>
          <p:nvPr/>
        </p:nvGraphicFramePr>
        <p:xfrm>
          <a:off x="3111666" y="4172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7" name="Google Shape;1417;p92"/>
          <p:cNvSpPr/>
          <p:nvPr/>
        </p:nvSpPr>
        <p:spPr>
          <a:xfrm flipH="1" rot="-5571084">
            <a:off x="2556874" y="3678171"/>
            <a:ext cx="1091551" cy="531371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92"/>
          <p:cNvSpPr txBox="1"/>
          <p:nvPr/>
        </p:nvSpPr>
        <p:spPr>
          <a:xfrm>
            <a:off x="2387741" y="3782299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×2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92"/>
          <p:cNvSpPr/>
          <p:nvPr/>
        </p:nvSpPr>
        <p:spPr>
          <a:xfrm rot="5228916">
            <a:off x="5506424" y="3692896"/>
            <a:ext cx="1091551" cy="501933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92"/>
          <p:cNvSpPr txBox="1"/>
          <p:nvPr/>
        </p:nvSpPr>
        <p:spPr>
          <a:xfrm>
            <a:off x="6329991" y="3650886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×2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1" name="Google Shape;1421;p92"/>
          <p:cNvSpPr/>
          <p:nvPr/>
        </p:nvSpPr>
        <p:spPr>
          <a:xfrm>
            <a:off x="415675" y="2390950"/>
            <a:ext cx="1743000" cy="111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There are lots of ways. This is just one example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92"/>
          <p:cNvSpPr/>
          <p:nvPr/>
        </p:nvSpPr>
        <p:spPr>
          <a:xfrm>
            <a:off x="415675" y="2390950"/>
            <a:ext cx="1743000" cy="111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latin typeface="Lexend"/>
                <a:ea typeface="Lexend"/>
                <a:cs typeface="Lexend"/>
                <a:sym typeface="Lexend"/>
              </a:rPr>
              <a:t>Find 70% and 2% and sum</a:t>
            </a:r>
            <a:endParaRPr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428" name="Google Shape;1428;p93"/>
          <p:cNvGraphicFramePr/>
          <p:nvPr/>
        </p:nvGraphicFramePr>
        <p:xfrm>
          <a:off x="3115675" y="189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9" name="Google Shape;1429;p93"/>
          <p:cNvSpPr txBox="1"/>
          <p:nvPr>
            <p:ph idx="1" type="body"/>
          </p:nvPr>
        </p:nvSpPr>
        <p:spPr>
          <a:xfrm>
            <a:off x="324000" y="759300"/>
            <a:ext cx="8237700" cy="99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ratio tables, we can work out any percentage of an amount. For example, work out 72% of 400</a:t>
            </a:r>
            <a:endParaRPr/>
          </a:p>
        </p:txBody>
      </p:sp>
      <p:graphicFrame>
        <p:nvGraphicFramePr>
          <p:cNvPr id="1430" name="Google Shape;1430;p93"/>
          <p:cNvGraphicFramePr/>
          <p:nvPr/>
        </p:nvGraphicFramePr>
        <p:xfrm>
          <a:off x="3116533" y="280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1" name="Google Shape;1431;p93"/>
          <p:cNvGraphicFramePr/>
          <p:nvPr/>
        </p:nvGraphicFramePr>
        <p:xfrm>
          <a:off x="3111666" y="32580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32" name="Google Shape;1432;p93"/>
          <p:cNvGraphicFramePr/>
          <p:nvPr/>
        </p:nvGraphicFramePr>
        <p:xfrm>
          <a:off x="3111666" y="37152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280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33" name="Google Shape;1433;p93"/>
          <p:cNvGraphicFramePr/>
          <p:nvPr/>
        </p:nvGraphicFramePr>
        <p:xfrm>
          <a:off x="3111666" y="417248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448525"/>
                <a:gridCol w="144852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434" name="Google Shape;1434;p93"/>
          <p:cNvSpPr txBox="1"/>
          <p:nvPr/>
        </p:nvSpPr>
        <p:spPr>
          <a:xfrm>
            <a:off x="324000" y="38509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72% of 400 = 288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94"/>
          <p:cNvSpPr/>
          <p:nvPr/>
        </p:nvSpPr>
        <p:spPr>
          <a:xfrm>
            <a:off x="324000" y="1584875"/>
            <a:ext cx="4368600" cy="2863500"/>
          </a:xfrm>
          <a:prstGeom prst="rect">
            <a:avLst/>
          </a:prstGeom>
          <a:solidFill>
            <a:srgbClr val="EBED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9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Andeep has worked out 47% of 120 using a ratio table and his correct answer is below. Can you use the ratio table in another way to find 47% of 120?</a:t>
            </a:r>
            <a:endParaRPr sz="1900"/>
          </a:p>
        </p:txBody>
      </p:sp>
      <p:sp>
        <p:nvSpPr>
          <p:cNvPr id="1441" name="Google Shape;144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442" name="Google Shape;1442;p94"/>
          <p:cNvGraphicFramePr/>
          <p:nvPr/>
        </p:nvGraphicFramePr>
        <p:xfrm>
          <a:off x="640150" y="171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250675"/>
                <a:gridCol w="12506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3" name="Google Shape;1443;p94"/>
          <p:cNvGraphicFramePr/>
          <p:nvPr/>
        </p:nvGraphicFramePr>
        <p:xfrm>
          <a:off x="641008" y="262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250675"/>
                <a:gridCol w="12506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4" name="Google Shape;1444;p94"/>
          <p:cNvGraphicFramePr/>
          <p:nvPr/>
        </p:nvGraphicFramePr>
        <p:xfrm>
          <a:off x="636141" y="30769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250675"/>
                <a:gridCol w="12506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45" name="Google Shape;1445;p94"/>
          <p:cNvGraphicFramePr/>
          <p:nvPr/>
        </p:nvGraphicFramePr>
        <p:xfrm>
          <a:off x="636141" y="35341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250675"/>
                <a:gridCol w="12506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46" name="Google Shape;1446;p94"/>
          <p:cNvGraphicFramePr/>
          <p:nvPr/>
        </p:nvGraphicFramePr>
        <p:xfrm>
          <a:off x="636141" y="3991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250675"/>
                <a:gridCol w="12506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447" name="Google Shape;1447;p94"/>
          <p:cNvSpPr txBox="1"/>
          <p:nvPr/>
        </p:nvSpPr>
        <p:spPr>
          <a:xfrm>
            <a:off x="1178825" y="4443200"/>
            <a:ext cx="27054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48 + 8.4 = 56.4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0783" y="4443200"/>
            <a:ext cx="396000" cy="419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49" name="Google Shape;1449;p94"/>
          <p:cNvGraphicFramePr/>
          <p:nvPr/>
        </p:nvGraphicFramePr>
        <p:xfrm>
          <a:off x="4973170" y="16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0" name="Google Shape;1450;p94"/>
          <p:cNvGraphicFramePr/>
          <p:nvPr/>
        </p:nvGraphicFramePr>
        <p:xfrm>
          <a:off x="4973170" y="2560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1" name="Google Shape;1451;p94"/>
          <p:cNvGraphicFramePr/>
          <p:nvPr/>
        </p:nvGraphicFramePr>
        <p:xfrm>
          <a:off x="4973170" y="30166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1.2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52" name="Google Shape;1452;p94"/>
          <p:cNvGraphicFramePr/>
          <p:nvPr/>
        </p:nvGraphicFramePr>
        <p:xfrm>
          <a:off x="4973170" y="34724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53" name="Google Shape;1453;p94"/>
          <p:cNvGraphicFramePr/>
          <p:nvPr/>
        </p:nvGraphicFramePr>
        <p:xfrm>
          <a:off x="4973170" y="39283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454" name="Google Shape;1454;p94"/>
          <p:cNvSpPr txBox="1"/>
          <p:nvPr/>
        </p:nvSpPr>
        <p:spPr>
          <a:xfrm>
            <a:off x="5644250" y="4443200"/>
            <a:ext cx="25542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60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- 3.6 = 56.4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5" name="Google Shape;1455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7358" y="43854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94"/>
          <p:cNvSpPr txBox="1"/>
          <p:nvPr/>
        </p:nvSpPr>
        <p:spPr>
          <a:xfrm>
            <a:off x="7372525" y="1620600"/>
            <a:ext cx="11760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There are lots of different ways. Here is just one.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ratio table, 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40% of 350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21% of 350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99% of 350</a:t>
            </a:r>
            <a:endParaRPr/>
          </a:p>
        </p:txBody>
      </p:sp>
      <p:sp>
        <p:nvSpPr>
          <p:cNvPr id="1462" name="Google Shape;146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463" name="Google Shape;1463;p95"/>
          <p:cNvGraphicFramePr/>
          <p:nvPr/>
        </p:nvGraphicFramePr>
        <p:xfrm>
          <a:off x="4729970" y="79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4" name="Google Shape;1464;p95"/>
          <p:cNvGraphicFramePr/>
          <p:nvPr/>
        </p:nvGraphicFramePr>
        <p:xfrm>
          <a:off x="4729970" y="170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65" name="Google Shape;1465;p95"/>
          <p:cNvGraphicFramePr/>
          <p:nvPr/>
        </p:nvGraphicFramePr>
        <p:xfrm>
          <a:off x="4729970" y="2160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9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ratio table, 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40% of 350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21% of 350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99% of 350</a:t>
            </a:r>
            <a:endParaRPr/>
          </a:p>
        </p:txBody>
      </p:sp>
      <p:sp>
        <p:nvSpPr>
          <p:cNvPr id="1471" name="Google Shape;1471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472" name="Google Shape;1472;p96"/>
          <p:cNvGraphicFramePr/>
          <p:nvPr/>
        </p:nvGraphicFramePr>
        <p:xfrm>
          <a:off x="4729970" y="79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73" name="Google Shape;1473;p96"/>
          <p:cNvGraphicFramePr/>
          <p:nvPr/>
        </p:nvGraphicFramePr>
        <p:xfrm>
          <a:off x="4729970" y="170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74" name="Google Shape;1474;p96"/>
          <p:cNvGraphicFramePr/>
          <p:nvPr/>
        </p:nvGraphicFramePr>
        <p:xfrm>
          <a:off x="4729970" y="2160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75" name="Google Shape;1475;p96"/>
          <p:cNvGraphicFramePr/>
          <p:nvPr/>
        </p:nvGraphicFramePr>
        <p:xfrm>
          <a:off x="4729970" y="26185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76" name="Google Shape;1476;p96"/>
          <p:cNvSpPr/>
          <p:nvPr/>
        </p:nvSpPr>
        <p:spPr>
          <a:xfrm flipH="1" rot="-5571084">
            <a:off x="4037699" y="2062096"/>
            <a:ext cx="1091551" cy="531371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96"/>
          <p:cNvSpPr txBox="1"/>
          <p:nvPr/>
        </p:nvSpPr>
        <p:spPr>
          <a:xfrm>
            <a:off x="3898991" y="2166224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×4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96"/>
          <p:cNvSpPr/>
          <p:nvPr/>
        </p:nvSpPr>
        <p:spPr>
          <a:xfrm rot="5228916">
            <a:off x="6540224" y="2076821"/>
            <a:ext cx="1091551" cy="501933"/>
          </a:xfrm>
          <a:prstGeom prst="arc">
            <a:avLst>
              <a:gd fmla="val 10729459" name="adj1"/>
              <a:gd fmla="val 472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9" name="Google Shape;1479;p96"/>
          <p:cNvSpPr txBox="1"/>
          <p:nvPr/>
        </p:nvSpPr>
        <p:spPr>
          <a:xfrm>
            <a:off x="7414441" y="2108111"/>
            <a:ext cx="723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×4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96"/>
          <p:cNvSpPr txBox="1"/>
          <p:nvPr/>
        </p:nvSpPr>
        <p:spPr>
          <a:xfrm>
            <a:off x="2299650" y="2757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97"/>
          <p:cNvSpPr txBox="1"/>
          <p:nvPr>
            <p:ph idx="1" type="body"/>
          </p:nvPr>
        </p:nvSpPr>
        <p:spPr>
          <a:xfrm>
            <a:off x="324000" y="759300"/>
            <a:ext cx="8237700" cy="72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ratio table, 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40% of 350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21% of 350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99% of 350</a:t>
            </a:r>
            <a:endParaRPr/>
          </a:p>
        </p:txBody>
      </p:sp>
      <p:sp>
        <p:nvSpPr>
          <p:cNvPr id="1486" name="Google Shape;148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487" name="Google Shape;1487;p97"/>
          <p:cNvGraphicFramePr/>
          <p:nvPr/>
        </p:nvGraphicFramePr>
        <p:xfrm>
          <a:off x="4729970" y="79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8" name="Google Shape;1488;p97"/>
          <p:cNvGraphicFramePr/>
          <p:nvPr/>
        </p:nvGraphicFramePr>
        <p:xfrm>
          <a:off x="4729970" y="170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9" name="Google Shape;1489;p97"/>
          <p:cNvGraphicFramePr/>
          <p:nvPr/>
        </p:nvGraphicFramePr>
        <p:xfrm>
          <a:off x="4729970" y="2160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90" name="Google Shape;1490;p97"/>
          <p:cNvGraphicFramePr/>
          <p:nvPr/>
        </p:nvGraphicFramePr>
        <p:xfrm>
          <a:off x="4729970" y="25423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491" name="Google Shape;1491;p97"/>
          <p:cNvGrpSpPr/>
          <p:nvPr/>
        </p:nvGrpSpPr>
        <p:grpSpPr>
          <a:xfrm>
            <a:off x="3898991" y="1769332"/>
            <a:ext cx="4239350" cy="1116900"/>
            <a:chOff x="3898991" y="1769332"/>
            <a:chExt cx="4239350" cy="1116900"/>
          </a:xfrm>
        </p:grpSpPr>
        <p:sp>
          <p:nvSpPr>
            <p:cNvPr id="1492" name="Google Shape;1492;p97"/>
            <p:cNvSpPr/>
            <p:nvPr/>
          </p:nvSpPr>
          <p:spPr>
            <a:xfrm flipH="1" rot="-5571084">
              <a:off x="4037699" y="2062096"/>
              <a:ext cx="1091551" cy="531371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97"/>
            <p:cNvSpPr txBox="1"/>
            <p:nvPr/>
          </p:nvSpPr>
          <p:spPr>
            <a:xfrm>
              <a:off x="3898991" y="2166224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×2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97"/>
            <p:cNvSpPr/>
            <p:nvPr/>
          </p:nvSpPr>
          <p:spPr>
            <a:xfrm rot="5228916">
              <a:off x="6540224" y="2076821"/>
              <a:ext cx="1091551" cy="501933"/>
            </a:xfrm>
            <a:prstGeom prst="arc">
              <a:avLst>
                <a:gd fmla="val 10729459" name="adj1"/>
                <a:gd fmla="val 472" name="adj2"/>
              </a:avLst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97"/>
            <p:cNvSpPr txBox="1"/>
            <p:nvPr/>
          </p:nvSpPr>
          <p:spPr>
            <a:xfrm>
              <a:off x="7414441" y="2108111"/>
              <a:ext cx="723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1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×2</a:t>
              </a:r>
              <a:endParaRPr sz="2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96" name="Google Shape;1496;p97"/>
          <p:cNvSpPr txBox="1"/>
          <p:nvPr/>
        </p:nvSpPr>
        <p:spPr>
          <a:xfrm>
            <a:off x="2299650" y="2757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497" name="Google Shape;1497;p97"/>
          <p:cNvGraphicFramePr/>
          <p:nvPr/>
        </p:nvGraphicFramePr>
        <p:xfrm>
          <a:off x="4729970" y="214892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8" name="Google Shape;1498;p97"/>
          <p:cNvGraphicFramePr/>
          <p:nvPr/>
        </p:nvGraphicFramePr>
        <p:xfrm>
          <a:off x="4729970" y="2614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499" name="Google Shape;1499;p97"/>
          <p:cNvSpPr txBox="1"/>
          <p:nvPr/>
        </p:nvSpPr>
        <p:spPr>
          <a:xfrm>
            <a:off x="2223450" y="3138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73.5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9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the ratio table, 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40% of 350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21% of 350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99% of 350</a:t>
            </a:r>
            <a:endParaRPr/>
          </a:p>
        </p:txBody>
      </p:sp>
      <p:sp>
        <p:nvSpPr>
          <p:cNvPr id="1505" name="Google Shape;1505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506" name="Google Shape;1506;p98"/>
          <p:cNvGraphicFramePr/>
          <p:nvPr/>
        </p:nvGraphicFramePr>
        <p:xfrm>
          <a:off x="4729970" y="79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7" name="Google Shape;1507;p98"/>
          <p:cNvGraphicFramePr/>
          <p:nvPr/>
        </p:nvGraphicFramePr>
        <p:xfrm>
          <a:off x="4729970" y="170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08" name="Google Shape;1508;p98"/>
          <p:cNvGraphicFramePr/>
          <p:nvPr/>
        </p:nvGraphicFramePr>
        <p:xfrm>
          <a:off x="4729970" y="2160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9" name="Google Shape;1509;p98"/>
          <p:cNvSpPr txBox="1"/>
          <p:nvPr/>
        </p:nvSpPr>
        <p:spPr>
          <a:xfrm>
            <a:off x="2299650" y="2757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140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10" name="Google Shape;1510;p98"/>
          <p:cNvGraphicFramePr/>
          <p:nvPr/>
        </p:nvGraphicFramePr>
        <p:xfrm>
          <a:off x="4729970" y="21648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3.5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511" name="Google Shape;1511;p98"/>
          <p:cNvSpPr txBox="1"/>
          <p:nvPr/>
        </p:nvSpPr>
        <p:spPr>
          <a:xfrm>
            <a:off x="2223450" y="3138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73.5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2" name="Google Shape;1512;p98"/>
          <p:cNvSpPr txBox="1"/>
          <p:nvPr/>
        </p:nvSpPr>
        <p:spPr>
          <a:xfrm>
            <a:off x="2194500" y="351840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346.5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6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Using the ratio table, 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61% of 840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59% of 840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98% of 840</a:t>
            </a:r>
            <a:endParaRPr/>
          </a:p>
        </p:txBody>
      </p:sp>
      <p:sp>
        <p:nvSpPr>
          <p:cNvPr id="1518" name="Google Shape;1518;p9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519" name="Google Shape;1519;p99"/>
          <p:cNvGraphicFramePr/>
          <p:nvPr/>
        </p:nvGraphicFramePr>
        <p:xfrm>
          <a:off x="5110970" y="79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20" name="Google Shape;1520;p99"/>
          <p:cNvGraphicFramePr/>
          <p:nvPr/>
        </p:nvGraphicFramePr>
        <p:xfrm>
          <a:off x="5110970" y="170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21" name="Google Shape;1521;p99"/>
          <p:cNvGraphicFramePr/>
          <p:nvPr/>
        </p:nvGraphicFramePr>
        <p:xfrm>
          <a:off x="5110970" y="2160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Using any representation you prefer work out: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23% of 720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 startAt="2"/>
            </a:pPr>
            <a:r>
              <a:rPr lang="en-GB"/>
              <a:t>11% of 940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 startAt="3"/>
            </a:pPr>
            <a:r>
              <a:rPr lang="en-GB"/>
              <a:t>49% of 56</a:t>
            </a:r>
            <a:endParaRPr/>
          </a:p>
        </p:txBody>
      </p:sp>
      <p:sp>
        <p:nvSpPr>
          <p:cNvPr id="1527" name="Google Shape;1527;p10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) Write what you think are the advantages and disadvantages of using a bar model, double number line and ratio table when trying to find a percentage of an amount.</a:t>
            </a:r>
            <a:endParaRPr/>
          </a:p>
        </p:txBody>
      </p:sp>
      <p:sp>
        <p:nvSpPr>
          <p:cNvPr id="1533" name="Google Shape;1533;p10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534" name="Google Shape;1534;p101"/>
          <p:cNvGraphicFramePr/>
          <p:nvPr/>
        </p:nvGraphicFramePr>
        <p:xfrm>
          <a:off x="324000" y="212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881950"/>
                <a:gridCol w="2033925"/>
                <a:gridCol w="2449375"/>
                <a:gridCol w="1729950"/>
              </a:tblGrid>
              <a:tr h="5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model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Double number line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table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8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Advantages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Disadvantages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10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Using the ratio table, 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61% of 840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59% of 840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98% of 840</a:t>
            </a:r>
            <a:endParaRPr/>
          </a:p>
        </p:txBody>
      </p:sp>
      <p:sp>
        <p:nvSpPr>
          <p:cNvPr id="1540" name="Google Shape;1540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541" name="Google Shape;1541;p102"/>
          <p:cNvGraphicFramePr/>
          <p:nvPr/>
        </p:nvGraphicFramePr>
        <p:xfrm>
          <a:off x="5110970" y="79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42" name="Google Shape;1542;p102"/>
          <p:cNvGraphicFramePr/>
          <p:nvPr/>
        </p:nvGraphicFramePr>
        <p:xfrm>
          <a:off x="5110970" y="170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3" name="Google Shape;1543;p102"/>
          <p:cNvGraphicFramePr/>
          <p:nvPr/>
        </p:nvGraphicFramePr>
        <p:xfrm>
          <a:off x="5110970" y="2160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544" name="Google Shape;1544;p102"/>
          <p:cNvSpPr txBox="1"/>
          <p:nvPr/>
        </p:nvSpPr>
        <p:spPr>
          <a:xfrm>
            <a:off x="2299650" y="2757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512.4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45" name="Google Shape;1545;p102"/>
          <p:cNvGraphicFramePr/>
          <p:nvPr/>
        </p:nvGraphicFramePr>
        <p:xfrm>
          <a:off x="5110970" y="2617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6" name="Google Shape;1546;p102"/>
          <p:cNvGraphicFramePr/>
          <p:nvPr/>
        </p:nvGraphicFramePr>
        <p:xfrm>
          <a:off x="5110970" y="3073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Using the ratio table, 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61% of 840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59% of 840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98% of 840</a:t>
            </a:r>
            <a:endParaRPr/>
          </a:p>
        </p:txBody>
      </p:sp>
      <p:sp>
        <p:nvSpPr>
          <p:cNvPr id="1552" name="Google Shape;1552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553" name="Google Shape;1553;p103"/>
          <p:cNvGraphicFramePr/>
          <p:nvPr/>
        </p:nvGraphicFramePr>
        <p:xfrm>
          <a:off x="5110970" y="79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54" name="Google Shape;1554;p103"/>
          <p:cNvGraphicFramePr/>
          <p:nvPr/>
        </p:nvGraphicFramePr>
        <p:xfrm>
          <a:off x="5110970" y="170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55" name="Google Shape;1555;p103"/>
          <p:cNvGraphicFramePr/>
          <p:nvPr/>
        </p:nvGraphicFramePr>
        <p:xfrm>
          <a:off x="5110970" y="2160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556" name="Google Shape;1556;p103"/>
          <p:cNvSpPr txBox="1"/>
          <p:nvPr/>
        </p:nvSpPr>
        <p:spPr>
          <a:xfrm>
            <a:off x="2299650" y="2757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512.4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7" name="Google Shape;1557;p103"/>
          <p:cNvSpPr txBox="1"/>
          <p:nvPr/>
        </p:nvSpPr>
        <p:spPr>
          <a:xfrm>
            <a:off x="2299650" y="3138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495.6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58" name="Google Shape;1558;p103"/>
          <p:cNvGraphicFramePr/>
          <p:nvPr/>
        </p:nvGraphicFramePr>
        <p:xfrm>
          <a:off x="5110970" y="2617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59" name="Google Shape;1559;p103"/>
          <p:cNvGraphicFramePr/>
          <p:nvPr/>
        </p:nvGraphicFramePr>
        <p:xfrm>
          <a:off x="5110970" y="3073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0" name="Google Shape;1560;p103"/>
          <p:cNvGraphicFramePr/>
          <p:nvPr/>
        </p:nvGraphicFramePr>
        <p:xfrm>
          <a:off x="5110970" y="35315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Using the ratio table, work out: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61% of 840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59% of 840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98% of 840</a:t>
            </a:r>
            <a:endParaRPr/>
          </a:p>
        </p:txBody>
      </p:sp>
      <p:sp>
        <p:nvSpPr>
          <p:cNvPr id="1566" name="Google Shape;1566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graphicFrame>
        <p:nvGraphicFramePr>
          <p:cNvPr id="1567" name="Google Shape;1567;p104"/>
          <p:cNvGraphicFramePr/>
          <p:nvPr/>
        </p:nvGraphicFramePr>
        <p:xfrm>
          <a:off x="5110970" y="791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Amount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%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68" name="Google Shape;1568;p104"/>
          <p:cNvGraphicFramePr/>
          <p:nvPr/>
        </p:nvGraphicFramePr>
        <p:xfrm>
          <a:off x="5110970" y="1704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69" name="Google Shape;1569;p104"/>
          <p:cNvGraphicFramePr/>
          <p:nvPr/>
        </p:nvGraphicFramePr>
        <p:xfrm>
          <a:off x="5110970" y="2160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8.4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0" name="Google Shape;1570;p104"/>
          <p:cNvSpPr txBox="1"/>
          <p:nvPr/>
        </p:nvSpPr>
        <p:spPr>
          <a:xfrm>
            <a:off x="2299650" y="2757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512.4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1" name="Google Shape;1571;p104"/>
          <p:cNvSpPr txBox="1"/>
          <p:nvPr/>
        </p:nvSpPr>
        <p:spPr>
          <a:xfrm>
            <a:off x="2299650" y="313835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495.6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72" name="Google Shape;1572;p104"/>
          <p:cNvSpPr txBox="1"/>
          <p:nvPr/>
        </p:nvSpPr>
        <p:spPr>
          <a:xfrm>
            <a:off x="2299650" y="3519350"/>
            <a:ext cx="1358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= 823.2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573" name="Google Shape;1573;p104"/>
          <p:cNvGraphicFramePr/>
          <p:nvPr/>
        </p:nvGraphicFramePr>
        <p:xfrm>
          <a:off x="5110970" y="26171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574" name="Google Shape;1574;p104"/>
          <p:cNvGraphicFramePr/>
          <p:nvPr/>
        </p:nvGraphicFramePr>
        <p:xfrm>
          <a:off x="5110970" y="30730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128275"/>
                <a:gridCol w="1128275"/>
              </a:tblGrid>
              <a:tr h="359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16.8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2%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sp>
        <p:nvSpPr>
          <p:cNvPr id="1580" name="Google Shape;1580;p105"/>
          <p:cNvSpPr txBox="1"/>
          <p:nvPr/>
        </p:nvSpPr>
        <p:spPr>
          <a:xfrm>
            <a:off x="2469098" y="1192825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165.6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1" name="Google Shape;1581;p105"/>
          <p:cNvSpPr txBox="1"/>
          <p:nvPr/>
        </p:nvSpPr>
        <p:spPr>
          <a:xfrm>
            <a:off x="2469098" y="222680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103.4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2" name="Google Shape;1582;p105"/>
          <p:cNvSpPr txBox="1"/>
          <p:nvPr/>
        </p:nvSpPr>
        <p:spPr>
          <a:xfrm>
            <a:off x="2337373" y="3240000"/>
            <a:ext cx="1175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27.44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3" name="Google Shape;1583;p10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Using any representation you prefer work out: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23% of 720 =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 startAt="2"/>
            </a:pPr>
            <a:r>
              <a:rPr lang="en-GB"/>
              <a:t>11% of 940 =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 startAt="3"/>
            </a:pPr>
            <a:r>
              <a:rPr lang="en-GB"/>
              <a:t>49% of 56 =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88" name="Google Shape;1588;p106"/>
          <p:cNvGraphicFramePr/>
          <p:nvPr/>
        </p:nvGraphicFramePr>
        <p:xfrm>
          <a:off x="324000" y="212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{7F440242-4130-4551-9114-283A1CD0215E}</a:tableStyleId>
              </a:tblPr>
              <a:tblGrid>
                <a:gridCol w="1881950"/>
                <a:gridCol w="2033925"/>
                <a:gridCol w="2449375"/>
                <a:gridCol w="1729950"/>
              </a:tblGrid>
              <a:tr h="513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Bar model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Double number line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Ratio table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8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Advantages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Disadvantages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9" name="Google Shape;1589;p106"/>
          <p:cNvSpPr txBox="1"/>
          <p:nvPr>
            <p:ph idx="1" type="body"/>
          </p:nvPr>
        </p:nvSpPr>
        <p:spPr>
          <a:xfrm>
            <a:off x="324000" y="759300"/>
            <a:ext cx="8237700" cy="12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3)</a:t>
            </a:r>
            <a:r>
              <a:rPr lang="en-GB"/>
              <a:t> Write what you think are the advantages and disadvantages of using a bar model, double number line and ratio table when trying to find a percentage of an amount.</a:t>
            </a:r>
            <a:endParaRPr/>
          </a:p>
        </p:txBody>
      </p:sp>
      <p:sp>
        <p:nvSpPr>
          <p:cNvPr id="1590" name="Google Shape;1590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Ratio tables</a:t>
            </a:r>
            <a:endParaRPr/>
          </a:p>
        </p:txBody>
      </p:sp>
      <p:sp>
        <p:nvSpPr>
          <p:cNvPr id="1591" name="Google Shape;1591;p106"/>
          <p:cNvSpPr txBox="1"/>
          <p:nvPr/>
        </p:nvSpPr>
        <p:spPr>
          <a:xfrm>
            <a:off x="2449950" y="2673600"/>
            <a:ext cx="2094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Good visual representation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2" name="Google Shape;1592;p106"/>
          <p:cNvSpPr txBox="1"/>
          <p:nvPr/>
        </p:nvSpPr>
        <p:spPr>
          <a:xfrm>
            <a:off x="4544675" y="2725350"/>
            <a:ext cx="2094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Good visual representation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3" name="Google Shape;1593;p106"/>
          <p:cNvSpPr txBox="1"/>
          <p:nvPr/>
        </p:nvSpPr>
        <p:spPr>
          <a:xfrm>
            <a:off x="6917925" y="2785075"/>
            <a:ext cx="12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Concise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4" name="Google Shape;1594;p106"/>
          <p:cNvSpPr txBox="1"/>
          <p:nvPr/>
        </p:nvSpPr>
        <p:spPr>
          <a:xfrm>
            <a:off x="2205950" y="3546100"/>
            <a:ext cx="209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Takes time to draw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5" name="Google Shape;1595;p106"/>
          <p:cNvSpPr txBox="1"/>
          <p:nvPr/>
        </p:nvSpPr>
        <p:spPr>
          <a:xfrm>
            <a:off x="4239875" y="3546100"/>
            <a:ext cx="2094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Takes time to draw as it is scaled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6" name="Google Shape;1596;p106"/>
          <p:cNvSpPr txBox="1"/>
          <p:nvPr/>
        </p:nvSpPr>
        <p:spPr>
          <a:xfrm>
            <a:off x="6648626" y="3415113"/>
            <a:ext cx="1873200" cy="10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Doesn’t show visual representation</a:t>
            </a:r>
            <a:endParaRPr sz="17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10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know fractions, percentages and ratio all show proportion.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Proportion can be represented a number of ways and in this lesson we have focussed on bar models, double number lines and ratio tables.</a:t>
            </a:r>
            <a:endParaRPr/>
          </a:p>
        </p:txBody>
      </p:sp>
      <p:sp>
        <p:nvSpPr>
          <p:cNvPr id="1602" name="Google Shape;1602;p10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Securing understanding of percentages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08" name="Google Shape;1608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