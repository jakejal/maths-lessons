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e0bed7172_0_16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be0bed717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be0bed7172_0_34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be0bed717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 flipH="1">
            <a:off x="2899591" y="5606068"/>
            <a:ext cx="783000" cy="783300"/>
          </a:xfrm>
          <a:prstGeom prst="arc">
            <a:avLst>
              <a:gd fmla="val 5344843" name="adj1"/>
              <a:gd fmla="val 8988316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0"/>
          <p:cNvSpPr/>
          <p:nvPr/>
        </p:nvSpPr>
        <p:spPr>
          <a:xfrm flipH="1">
            <a:off x="1816600" y="6183502"/>
            <a:ext cx="1086600" cy="1087200"/>
          </a:xfrm>
          <a:prstGeom prst="arc">
            <a:avLst>
              <a:gd fmla="val 19809554" name="adj1"/>
              <a:gd fmla="val 57629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/>
          <p:nvPr/>
        </p:nvSpPr>
        <p:spPr>
          <a:xfrm flipH="1" rot="-5400000">
            <a:off x="5649256" y="4898484"/>
            <a:ext cx="1450800" cy="1451700"/>
          </a:xfrm>
          <a:prstGeom prst="arc">
            <a:avLst>
              <a:gd fmla="val 19809554" name="adj1"/>
              <a:gd fmla="val 57629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283487" y="5991881"/>
            <a:ext cx="1289400" cy="74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091027" y="5991881"/>
            <a:ext cx="1289400" cy="74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 rot="-5400000">
            <a:off x="5365980" y="5877324"/>
            <a:ext cx="1289400" cy="74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 rot="-5400000">
            <a:off x="2461407" y="2558134"/>
            <a:ext cx="1294500" cy="698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 rot="-3033530">
            <a:off x="4140446" y="1937941"/>
            <a:ext cx="773038" cy="864035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585797" y="2880916"/>
            <a:ext cx="448500" cy="241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795539" y="3031981"/>
            <a:ext cx="448500" cy="241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551990" y="2739567"/>
            <a:ext cx="823200" cy="241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048587" y="3505664"/>
            <a:ext cx="448500" cy="241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74896" y="2385277"/>
            <a:ext cx="433500" cy="241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1471339" y="2385277"/>
            <a:ext cx="448500" cy="241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278508" y="2385277"/>
            <a:ext cx="448500" cy="241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189578" y="2767289"/>
            <a:ext cx="907200" cy="241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cosine ratio</a:t>
            </a:r>
            <a:endParaRPr/>
          </a:p>
        </p:txBody>
      </p: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562249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Substitute the labelled sides and angle in each triangle into the given version of the cosine formula, and find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>
            <a:stCxn id="177" idx="2"/>
          </p:cNvCxnSpPr>
          <p:nvPr/>
        </p:nvCxnSpPr>
        <p:spPr>
          <a:xfrm>
            <a:off x="3780000" y="1931549"/>
            <a:ext cx="0" cy="205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0"/>
          <p:cNvSpPr txBox="1"/>
          <p:nvPr/>
        </p:nvSpPr>
        <p:spPr>
          <a:xfrm>
            <a:off x="884199" y="2388278"/>
            <a:ext cx="1705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    )  =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507075" y="3021249"/>
            <a:ext cx="880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  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445232" y="2884428"/>
            <a:ext cx="124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5498899" y="3021258"/>
            <a:ext cx="86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0"/>
          <p:cNvSpPr txBox="1"/>
          <p:nvPr/>
        </p:nvSpPr>
        <p:spPr>
          <a:xfrm flipH="1">
            <a:off x="474751" y="2438038"/>
            <a:ext cx="4335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937683" y="2782843"/>
            <a:ext cx="252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flipH="1">
            <a:off x="2357485" y="3149192"/>
            <a:ext cx="810600" cy="810600"/>
          </a:xfrm>
          <a:prstGeom prst="arc">
            <a:avLst>
              <a:gd fmla="val 10771373" name="adj1"/>
              <a:gd fmla="val 14522387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466027" y="1911608"/>
            <a:ext cx="974100" cy="974100"/>
          </a:xfrm>
          <a:prstGeom prst="arc">
            <a:avLst>
              <a:gd fmla="val 21431706" name="adj1"/>
              <a:gd fmla="val 2341765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701821" y="3521216"/>
            <a:ext cx="355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 flipH="1">
            <a:off x="3332230" y="3429204"/>
            <a:ext cx="124800" cy="124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 flipH="1">
            <a:off x="2849347" y="3677935"/>
            <a:ext cx="5169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 flipH="1">
            <a:off x="2838725" y="3407951"/>
            <a:ext cx="3006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flipH="1" rot="-3694285">
            <a:off x="2343604" y="2735694"/>
            <a:ext cx="1229459" cy="136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 rot="2365968">
            <a:off x="4547890" y="2800790"/>
            <a:ext cx="118078" cy="11807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859325" y="2777442"/>
            <a:ext cx="594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282069" y="2122191"/>
            <a:ext cx="49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 flipH="1">
            <a:off x="4100791" y="2406370"/>
            <a:ext cx="355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text{adj}}{h}=\cos\left(\theta°\right)\ \ \ \ \ \frac{\text{ad}\text{j}}{\cos\left(\theta°\right)}=h\ \ \ \ \ h\times\cos\left(\theta°\right)=\text{adj}&quot;&gt;&lt;mfrac&gt;&lt;mtext&gt;adj&lt;/mtext&gt;&lt;mi&gt;h&lt;/mi&gt;&lt;/mfrac&gt;&lt;mo&gt;=&lt;/mo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row&gt;&lt;mtext&gt;ad&lt;/mtext&gt;&lt;mtext&gt;j&lt;/mtext&gt;&lt;/mrow&gt;&lt;mrow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adj&lt;/mtext&gt;&lt;/math&gt;" id="196" name="Google Shape;196;p20" title="adj over h equals cosine theta degrees the fraction with numerator ad j and denominator cosine theta degrees equals h h times cosine theta degrees equals adj"/>
          <p:cNvPicPr preferRelativeResize="0"/>
          <p:nvPr/>
        </p:nvPicPr>
        <p:blipFill rotWithShape="1">
          <a:blip r:embed="rId3">
            <a:alphaModFix/>
          </a:blip>
          <a:srcRect b="0" l="34162" r="36761" t="0"/>
          <a:stretch/>
        </p:blipFill>
        <p:spPr>
          <a:xfrm>
            <a:off x="5466234" y="2049815"/>
            <a:ext cx="1291217" cy="511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text{adj}}{h}=\cos\left(\theta°\right)\ \ \ \ \ \frac{\text{ad}\text{j}}{\cos\left(\theta°\right)}=h\ \ \ \ \ h\times\cos\left(\theta°\right)=\text{adj}&quot;&gt;&lt;mfrac&gt;&lt;mtext&gt;adj&lt;/mtext&gt;&lt;mi&gt;h&lt;/mi&gt;&lt;/mfrac&gt;&lt;mo&gt;=&lt;/mo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row&gt;&lt;mtext&gt;ad&lt;/mtext&gt;&lt;mtext&gt;j&lt;/mtext&gt;&lt;/mrow&gt;&lt;mrow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adj&lt;/mtext&gt;&lt;/math&gt;" id="197" name="Google Shape;197;p20" title="adj over h equals cosine theta degrees the fraction with numerator ad j and denominator cosine theta degrees equals h h times cosine theta degrees equals adj"/>
          <p:cNvPicPr preferRelativeResize="0"/>
          <p:nvPr/>
        </p:nvPicPr>
        <p:blipFill rotWithShape="1">
          <a:blip r:embed="rId3">
            <a:alphaModFix/>
          </a:blip>
          <a:srcRect b="0" l="64787" r="0" t="0"/>
          <a:stretch/>
        </p:blipFill>
        <p:spPr>
          <a:xfrm>
            <a:off x="566969" y="1934030"/>
            <a:ext cx="1563726" cy="51100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474750" y="1317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Ratio tables, the unit circle, and tangents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76400" y="486585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Match the triangle to the equation showing the relationship between its hypotenuse and an adjacent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the equation to find the length of the missing side labelled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each triangle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rot="5400000">
            <a:off x="1091032" y="6584480"/>
            <a:ext cx="150000" cy="150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797619" y="6540449"/>
            <a:ext cx="379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660481" y="6272222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717547" y="6059933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 rot="5400000">
            <a:off x="3283491" y="6584480"/>
            <a:ext cx="150000" cy="150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466034" y="6825698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910006" y="6059933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253970" y="6122135"/>
            <a:ext cx="379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53°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10061" y="5890660"/>
            <a:ext cx="24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895298" y="5831771"/>
            <a:ext cx="24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6565858" y="5545092"/>
            <a:ext cx="24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232030" y="6743270"/>
            <a:ext cx="150000" cy="150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044451" y="6082364"/>
            <a:ext cx="379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467381" y="5999289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1243" y="6197184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" name="Google Shape;215;p20"/>
          <p:cNvGrpSpPr/>
          <p:nvPr/>
        </p:nvGrpSpPr>
        <p:grpSpPr>
          <a:xfrm>
            <a:off x="1099295" y="2211020"/>
            <a:ext cx="5373948" cy="4682254"/>
            <a:chOff x="1099295" y="2211020"/>
            <a:chExt cx="5373948" cy="4682254"/>
          </a:xfrm>
        </p:grpSpPr>
        <p:grpSp>
          <p:nvGrpSpPr>
            <p:cNvPr id="216" name="Google Shape;216;p20"/>
            <p:cNvGrpSpPr/>
            <p:nvPr/>
          </p:nvGrpSpPr>
          <p:grpSpPr>
            <a:xfrm>
              <a:off x="2710564" y="2211020"/>
              <a:ext cx="2395665" cy="1434815"/>
              <a:chOff x="2710564" y="2211020"/>
              <a:chExt cx="2395665" cy="1434815"/>
            </a:xfrm>
          </p:grpSpPr>
          <p:cxnSp>
            <p:nvCxnSpPr>
              <p:cNvPr id="217" name="Google Shape;217;p20"/>
              <p:cNvCxnSpPr/>
              <p:nvPr/>
            </p:nvCxnSpPr>
            <p:spPr>
              <a:xfrm flipH="1">
                <a:off x="2710564" y="2211020"/>
                <a:ext cx="698100" cy="1294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18" name="Google Shape;218;p20"/>
              <p:cNvCxnSpPr/>
              <p:nvPr/>
            </p:nvCxnSpPr>
            <p:spPr>
              <a:xfrm rot="10800000">
                <a:off x="3546595" y="2259943"/>
                <a:ext cx="0" cy="1305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19" name="Google Shape;219;p20"/>
              <p:cNvCxnSpPr/>
              <p:nvPr/>
            </p:nvCxnSpPr>
            <p:spPr>
              <a:xfrm>
                <a:off x="2749004" y="3645835"/>
                <a:ext cx="717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20" name="Google Shape;220;p20"/>
              <p:cNvCxnSpPr/>
              <p:nvPr/>
            </p:nvCxnSpPr>
            <p:spPr>
              <a:xfrm flipH="1">
                <a:off x="3947629" y="2283990"/>
                <a:ext cx="1158600" cy="48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221" name="Google Shape;221;p20"/>
              <p:cNvCxnSpPr/>
              <p:nvPr/>
            </p:nvCxnSpPr>
            <p:spPr>
              <a:xfrm flipH="1" rot="-5400000">
                <a:off x="3988008" y="2442627"/>
                <a:ext cx="491100" cy="597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cxnSp>
          <p:nvCxnSpPr>
            <p:cNvPr id="222" name="Google Shape;222;p20"/>
            <p:cNvCxnSpPr/>
            <p:nvPr/>
          </p:nvCxnSpPr>
          <p:spPr>
            <a:xfrm rot="10800000">
              <a:off x="3342276" y="5933097"/>
              <a:ext cx="1289400" cy="7425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3" name="Google Shape;223;p20"/>
            <p:cNvCxnSpPr/>
            <p:nvPr/>
          </p:nvCxnSpPr>
          <p:spPr>
            <a:xfrm>
              <a:off x="1099295" y="6825693"/>
              <a:ext cx="12894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4" name="Google Shape;224;p20"/>
            <p:cNvCxnSpPr/>
            <p:nvPr/>
          </p:nvCxnSpPr>
          <p:spPr>
            <a:xfrm rot="10800000">
              <a:off x="1149817" y="5933097"/>
              <a:ext cx="1289400" cy="7425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5" name="Google Shape;225;p20"/>
            <p:cNvCxnSpPr/>
            <p:nvPr/>
          </p:nvCxnSpPr>
          <p:spPr>
            <a:xfrm rot="10800000">
              <a:off x="3168013" y="5991986"/>
              <a:ext cx="0" cy="7425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6" name="Google Shape;226;p20"/>
            <p:cNvCxnSpPr/>
            <p:nvPr/>
          </p:nvCxnSpPr>
          <p:spPr>
            <a:xfrm rot="5400000">
              <a:off x="5307197" y="5818535"/>
              <a:ext cx="1289400" cy="7425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7" name="Google Shape;227;p20"/>
            <p:cNvCxnSpPr/>
            <p:nvPr/>
          </p:nvCxnSpPr>
          <p:spPr>
            <a:xfrm rot="-5400000">
              <a:off x="5828543" y="6248574"/>
              <a:ext cx="12894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28" name="Google Shape;228;p20"/>
          <p:cNvSpPr/>
          <p:nvPr/>
        </p:nvSpPr>
        <p:spPr>
          <a:xfrm>
            <a:off x="5184696" y="7339969"/>
            <a:ext cx="1902300" cy="32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31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(53°)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184696" y="7339969"/>
            <a:ext cx="324000" cy="324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76393" y="7339969"/>
            <a:ext cx="1902300" cy="32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 × cos(31°)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76393" y="7339969"/>
            <a:ext cx="324000" cy="324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830544" y="7339969"/>
            <a:ext cx="1902300" cy="32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cos(31°) = 53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830544" y="7339969"/>
            <a:ext cx="324000" cy="324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3425" y="6893275"/>
            <a:ext cx="1086600" cy="2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6057034" y="2982063"/>
            <a:ext cx="1493700" cy="1493700"/>
          </a:xfrm>
          <a:prstGeom prst="arc">
            <a:avLst>
              <a:gd fmla="val 10771373" name="adj1"/>
              <a:gd fmla="val 1206867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 flipH="1">
            <a:off x="4684818" y="1644051"/>
            <a:ext cx="1042800" cy="1042800"/>
          </a:xfrm>
          <a:prstGeom prst="arc">
            <a:avLst>
              <a:gd fmla="val 10771373" name="adj1"/>
              <a:gd fmla="val 13388379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 flipH="1">
            <a:off x="127741" y="1618091"/>
            <a:ext cx="1094400" cy="1094400"/>
          </a:xfrm>
          <a:prstGeom prst="arc">
            <a:avLst>
              <a:gd fmla="val 10771373" name="adj1"/>
              <a:gd fmla="val 1305063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 flipH="1">
            <a:off x="2339671" y="1618091"/>
            <a:ext cx="1094400" cy="1094400"/>
          </a:xfrm>
          <a:prstGeom prst="arc">
            <a:avLst>
              <a:gd fmla="val 10771373" name="adj1"/>
              <a:gd fmla="val 1305063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 flipH="1">
            <a:off x="2443990" y="3248882"/>
            <a:ext cx="1094400" cy="1094400"/>
          </a:xfrm>
          <a:prstGeom prst="arc">
            <a:avLst>
              <a:gd fmla="val 10771373" name="adj1"/>
              <a:gd fmla="val 1305063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 flipH="1">
            <a:off x="3567930" y="2584849"/>
            <a:ext cx="884100" cy="884100"/>
          </a:xfrm>
          <a:prstGeom prst="arc">
            <a:avLst>
              <a:gd fmla="val 2216544" name="adj1"/>
              <a:gd fmla="val 5415087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 flipH="1">
            <a:off x="192716" y="3441078"/>
            <a:ext cx="1042800" cy="1042800"/>
          </a:xfrm>
          <a:prstGeom prst="arc">
            <a:avLst>
              <a:gd fmla="val 10771373" name="adj1"/>
              <a:gd fmla="val 13388379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 flipH="1" rot="5400000">
            <a:off x="5785968" y="2689257"/>
            <a:ext cx="562500" cy="15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 rot="-5400000">
            <a:off x="5236572" y="1170120"/>
            <a:ext cx="9498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 rot="-5400000">
            <a:off x="791533" y="1256520"/>
            <a:ext cx="7770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 rot="-5400000">
            <a:off x="3003463" y="1256520"/>
            <a:ext cx="7770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 rot="-5400000">
            <a:off x="744470" y="2967147"/>
            <a:ext cx="9498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 rot="-5400000">
            <a:off x="3107782" y="2887311"/>
            <a:ext cx="7770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74888" y="3277000"/>
            <a:ext cx="6540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30410" y="776025"/>
            <a:ext cx="649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By using the cosine formula, find the length of the missing side labelled with a letter for each of these triangles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1"/>
          <p:cNvCxnSpPr/>
          <p:nvPr/>
        </p:nvCxnSpPr>
        <p:spPr>
          <a:xfrm>
            <a:off x="4861479" y="1178945"/>
            <a:ext cx="0" cy="281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1"/>
          <p:cNvCxnSpPr/>
          <p:nvPr/>
        </p:nvCxnSpPr>
        <p:spPr>
          <a:xfrm>
            <a:off x="2695985" y="1178945"/>
            <a:ext cx="0" cy="281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1"/>
          <p:cNvSpPr/>
          <p:nvPr/>
        </p:nvSpPr>
        <p:spPr>
          <a:xfrm>
            <a:off x="1551571" y="2016557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705606" y="1479982"/>
            <a:ext cx="4836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763500" y="2016557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 flipH="1">
            <a:off x="3042479" y="1958465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 flipH="1">
            <a:off x="5305873" y="3583394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6083003" y="2016557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066990" y="1479973"/>
            <a:ext cx="6540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 flipH="1">
            <a:off x="5340950" y="1942691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867819" y="3647348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102925" y="3330959"/>
            <a:ext cx="5952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 flipH="1">
            <a:off x="3146798" y="3589256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 flipH="1">
            <a:off x="830550" y="1958465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 flipH="1">
            <a:off x="3660928" y="3202303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48°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3029691" y="3129632"/>
            <a:ext cx="4284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015162" y="3090852"/>
            <a:ext cx="4284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816008" y="2282990"/>
            <a:ext cx="706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2852044" y="1479973"/>
            <a:ext cx="5709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3038609" y="2282990"/>
            <a:ext cx="706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368629" y="2287391"/>
            <a:ext cx="706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1590901" y="3813584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 flipH="1">
            <a:off x="848848" y="3739717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876526" y="4084418"/>
            <a:ext cx="706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cm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560190" y="3861009"/>
            <a:ext cx="10140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cm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963270" y="3533396"/>
            <a:ext cx="5658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522706" y="117559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2734640" y="117559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946575" y="117559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22706" y="291788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2734640" y="291788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946575" y="291788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 flipH="1">
            <a:off x="670691" y="6607263"/>
            <a:ext cx="1681500" cy="1681800"/>
          </a:xfrm>
          <a:prstGeom prst="arc">
            <a:avLst>
              <a:gd fmla="val 10771373" name="adj1"/>
              <a:gd fmla="val 1227390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 rot="-5400000">
            <a:off x="2156838" y="5723666"/>
            <a:ext cx="1059000" cy="2388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 rot="-5400000">
            <a:off x="2788028" y="4087171"/>
            <a:ext cx="2064300" cy="4656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 rot="-5400000">
            <a:off x="2606087" y="4558017"/>
            <a:ext cx="1775400" cy="4003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 rot="-5400000">
            <a:off x="2364437" y="5184866"/>
            <a:ext cx="1390200" cy="3135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68000" y="457300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Find the lengths of the distances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(rounded to the nearest integer).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3685755" y="7252460"/>
            <a:ext cx="195000" cy="19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 flipH="1">
            <a:off x="1874353" y="7202314"/>
            <a:ext cx="532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2336556" y="7654479"/>
            <a:ext cx="69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431957" y="7252460"/>
            <a:ext cx="195000" cy="19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5300563" y="7252460"/>
            <a:ext cx="195000" cy="19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5953080" y="7252460"/>
            <a:ext cx="195000" cy="19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988695" y="7645083"/>
            <a:ext cx="535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763558" y="7645089"/>
            <a:ext cx="5916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5550277" y="7645083"/>
            <a:ext cx="535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2299486" y="6441415"/>
            <a:ext cx="69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2" name="Google Shape;302;p21"/>
          <p:cNvGrpSpPr/>
          <p:nvPr/>
        </p:nvGrpSpPr>
        <p:grpSpPr>
          <a:xfrm>
            <a:off x="601929" y="1150360"/>
            <a:ext cx="6258516" cy="6465910"/>
            <a:chOff x="601929" y="1150360"/>
            <a:chExt cx="6258516" cy="6465910"/>
          </a:xfrm>
        </p:grpSpPr>
        <p:cxnSp>
          <p:nvCxnSpPr>
            <p:cNvPr id="303" name="Google Shape;303;p21"/>
            <p:cNvCxnSpPr/>
            <p:nvPr/>
          </p:nvCxnSpPr>
          <p:spPr>
            <a:xfrm rot="10800000">
              <a:off x="5227043" y="3169151"/>
              <a:ext cx="0" cy="5688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04" name="Google Shape;304;p21"/>
            <p:cNvCxnSpPr/>
            <p:nvPr/>
          </p:nvCxnSpPr>
          <p:spPr>
            <a:xfrm rot="10800000">
              <a:off x="5337945" y="3095216"/>
              <a:ext cx="1522500" cy="5625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05" name="Google Shape;305;p21"/>
            <p:cNvCxnSpPr/>
            <p:nvPr/>
          </p:nvCxnSpPr>
          <p:spPr>
            <a:xfrm rot="10800000">
              <a:off x="5305964" y="3825505"/>
              <a:ext cx="15225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306" name="Google Shape;306;p21"/>
            <p:cNvGrpSpPr/>
            <p:nvPr/>
          </p:nvGrpSpPr>
          <p:grpSpPr>
            <a:xfrm>
              <a:off x="601929" y="1150360"/>
              <a:ext cx="5703258" cy="2898552"/>
              <a:chOff x="601929" y="1150360"/>
              <a:chExt cx="5703258" cy="2898552"/>
            </a:xfrm>
          </p:grpSpPr>
          <p:cxnSp>
            <p:nvCxnSpPr>
              <p:cNvPr id="307" name="Google Shape;307;p21"/>
              <p:cNvCxnSpPr/>
              <p:nvPr/>
            </p:nvCxnSpPr>
            <p:spPr>
              <a:xfrm flipH="1">
                <a:off x="2907661" y="2944467"/>
                <a:ext cx="1039800" cy="777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08" name="Google Shape;308;p21"/>
              <p:cNvCxnSpPr/>
              <p:nvPr/>
            </p:nvCxnSpPr>
            <p:spPr>
              <a:xfrm rot="10800000">
                <a:off x="4111087" y="3047309"/>
                <a:ext cx="0" cy="753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09" name="Google Shape;309;p21"/>
              <p:cNvGrpSpPr/>
              <p:nvPr/>
            </p:nvGrpSpPr>
            <p:grpSpPr>
              <a:xfrm>
                <a:off x="601929" y="1150360"/>
                <a:ext cx="5703258" cy="1101525"/>
                <a:chOff x="601929" y="1150360"/>
                <a:chExt cx="5703258" cy="1101525"/>
              </a:xfrm>
            </p:grpSpPr>
            <p:cxnSp>
              <p:nvCxnSpPr>
                <p:cNvPr id="310" name="Google Shape;310;p21"/>
                <p:cNvCxnSpPr/>
                <p:nvPr/>
              </p:nvCxnSpPr>
              <p:spPr>
                <a:xfrm flipH="1">
                  <a:off x="601929" y="1329450"/>
                  <a:ext cx="1039800" cy="777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11" name="Google Shape;311;p21"/>
                <p:cNvCxnSpPr/>
                <p:nvPr/>
              </p:nvCxnSpPr>
              <p:spPr>
                <a:xfrm rot="10800000">
                  <a:off x="1773759" y="1387928"/>
                  <a:ext cx="0" cy="777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12" name="Google Shape;312;p21"/>
                <p:cNvCxnSpPr/>
                <p:nvPr/>
              </p:nvCxnSpPr>
              <p:spPr>
                <a:xfrm flipH="1">
                  <a:off x="2813858" y="1329450"/>
                  <a:ext cx="1039800" cy="777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13" name="Google Shape;313;p21"/>
                <p:cNvCxnSpPr/>
                <p:nvPr/>
              </p:nvCxnSpPr>
              <p:spPr>
                <a:xfrm rot="10800000">
                  <a:off x="3985689" y="1387928"/>
                  <a:ext cx="0" cy="777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14" name="Google Shape;314;p21"/>
                <p:cNvCxnSpPr/>
                <p:nvPr/>
              </p:nvCxnSpPr>
              <p:spPr>
                <a:xfrm flipH="1">
                  <a:off x="5144336" y="1150360"/>
                  <a:ext cx="1039800" cy="949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15" name="Google Shape;315;p21"/>
                <p:cNvCxnSpPr/>
                <p:nvPr/>
              </p:nvCxnSpPr>
              <p:spPr>
                <a:xfrm rot="10800000">
                  <a:off x="6305186" y="1215118"/>
                  <a:ext cx="0" cy="949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16" name="Google Shape;316;p21"/>
                <p:cNvCxnSpPr/>
                <p:nvPr/>
              </p:nvCxnSpPr>
              <p:spPr>
                <a:xfrm rot="10800000">
                  <a:off x="638897" y="2247484"/>
                  <a:ext cx="1061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17" name="Google Shape;317;p21"/>
                <p:cNvCxnSpPr/>
                <p:nvPr/>
              </p:nvCxnSpPr>
              <p:spPr>
                <a:xfrm rot="10800000">
                  <a:off x="2861498" y="2247484"/>
                  <a:ext cx="1061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cxnSp>
              <p:nvCxnSpPr>
                <p:cNvPr id="318" name="Google Shape;318;p21"/>
                <p:cNvCxnSpPr/>
                <p:nvPr/>
              </p:nvCxnSpPr>
              <p:spPr>
                <a:xfrm rot="10800000">
                  <a:off x="5191518" y="2251886"/>
                  <a:ext cx="1061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575756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  <p:cxnSp>
            <p:nvCxnSpPr>
              <p:cNvPr id="319" name="Google Shape;319;p21"/>
              <p:cNvCxnSpPr/>
              <p:nvPr/>
            </p:nvCxnSpPr>
            <p:spPr>
              <a:xfrm flipH="1">
                <a:off x="652234" y="2947387"/>
                <a:ext cx="1039800" cy="94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 rot="10800000">
                <a:off x="1813084" y="3012145"/>
                <a:ext cx="0" cy="94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21" name="Google Shape;321;p21"/>
              <p:cNvCxnSpPr/>
              <p:nvPr/>
            </p:nvCxnSpPr>
            <p:spPr>
              <a:xfrm rot="10800000">
                <a:off x="699416" y="4048912"/>
                <a:ext cx="10611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22" name="Google Shape;322;p21"/>
              <p:cNvCxnSpPr/>
              <p:nvPr/>
            </p:nvCxnSpPr>
            <p:spPr>
              <a:xfrm rot="10800000">
                <a:off x="2955127" y="3901482"/>
                <a:ext cx="10611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cxnSp>
          <p:nvCxnSpPr>
            <p:cNvPr id="323" name="Google Shape;323;p21"/>
            <p:cNvCxnSpPr/>
            <p:nvPr/>
          </p:nvCxnSpPr>
          <p:spPr>
            <a:xfrm rot="10800000">
              <a:off x="1492141" y="7615614"/>
              <a:ext cx="23889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4" name="Google Shape;324;p21"/>
            <p:cNvCxnSpPr/>
            <p:nvPr/>
          </p:nvCxnSpPr>
          <p:spPr>
            <a:xfrm>
              <a:off x="3881041" y="7615614"/>
              <a:ext cx="7509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5" name="Google Shape;325;p21"/>
            <p:cNvCxnSpPr/>
            <p:nvPr/>
          </p:nvCxnSpPr>
          <p:spPr>
            <a:xfrm rot="10800000">
              <a:off x="4631801" y="7616270"/>
              <a:ext cx="8550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6" name="Google Shape;326;p21"/>
            <p:cNvCxnSpPr/>
            <p:nvPr/>
          </p:nvCxnSpPr>
          <p:spPr>
            <a:xfrm>
              <a:off x="5486801" y="7615614"/>
              <a:ext cx="6624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7" name="Google Shape;327;p21"/>
            <p:cNvCxnSpPr/>
            <p:nvPr/>
          </p:nvCxnSpPr>
          <p:spPr>
            <a:xfrm flipH="1">
              <a:off x="1492147" y="6218246"/>
              <a:ext cx="2388600" cy="10590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8" name="Google Shape;328;p21"/>
            <p:cNvCxnSpPr/>
            <p:nvPr/>
          </p:nvCxnSpPr>
          <p:spPr>
            <a:xfrm flipH="1" rot="10800000">
              <a:off x="3880747" y="5887046"/>
              <a:ext cx="746100" cy="3312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9" name="Google Shape;329;p21"/>
            <p:cNvCxnSpPr/>
            <p:nvPr/>
          </p:nvCxnSpPr>
          <p:spPr>
            <a:xfrm flipH="1">
              <a:off x="4627062" y="5501990"/>
              <a:ext cx="868500" cy="3852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0" name="Google Shape;330;p21"/>
            <p:cNvCxnSpPr/>
            <p:nvPr/>
          </p:nvCxnSpPr>
          <p:spPr>
            <a:xfrm flipH="1" rot="10800000">
              <a:off x="5495562" y="5213090"/>
              <a:ext cx="652800" cy="288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31" name="Google Shape;331;p21"/>
          <p:cNvSpPr txBox="1"/>
          <p:nvPr/>
        </p:nvSpPr>
        <p:spPr>
          <a:xfrm>
            <a:off x="3894879" y="5787880"/>
            <a:ext cx="535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4691449" y="5423980"/>
            <a:ext cx="5916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5423411" y="5125744"/>
            <a:ext cx="535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" name="Google Shape;334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36" name="Google Shape;33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Using the cosine ratio</a:t>
            </a:r>
            <a:endParaRPr/>
          </a:p>
        </p:txBody>
      </p:sp>
      <p:pic>
        <p:nvPicPr>
          <p:cNvPr id="337" name="Google Shape;3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50" y="2671915"/>
            <a:ext cx="6480000" cy="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/>
          <p:nvPr/>
        </p:nvSpPr>
        <p:spPr>
          <a:xfrm rot="10800000">
            <a:off x="3777840" y="4622417"/>
            <a:ext cx="615600" cy="615600"/>
          </a:xfrm>
          <a:prstGeom prst="arc">
            <a:avLst>
              <a:gd fmla="val 16177816" name="adj1"/>
              <a:gd fmla="val 19918225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/>
          <p:nvPr/>
        </p:nvSpPr>
        <p:spPr>
          <a:xfrm rot="10800000">
            <a:off x="715753" y="7948314"/>
            <a:ext cx="669000" cy="669000"/>
          </a:xfrm>
          <a:prstGeom prst="arc">
            <a:avLst>
              <a:gd fmla="val 7644222" name="adj1"/>
              <a:gd fmla="val 1080995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/>
          <p:nvPr/>
        </p:nvSpPr>
        <p:spPr>
          <a:xfrm rot="10800000">
            <a:off x="752435" y="4927739"/>
            <a:ext cx="1011300" cy="1011600"/>
          </a:xfrm>
          <a:prstGeom prst="arc">
            <a:avLst>
              <a:gd fmla="val 9151910" name="adj1"/>
              <a:gd fmla="val 1080995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/>
          <p:nvPr/>
        </p:nvSpPr>
        <p:spPr>
          <a:xfrm rot="10800000">
            <a:off x="4998631" y="5159295"/>
            <a:ext cx="1011300" cy="1011600"/>
          </a:xfrm>
          <a:prstGeom prst="arc">
            <a:avLst>
              <a:gd fmla="val 9151910" name="adj1"/>
              <a:gd fmla="val 1080995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 rot="10800000">
            <a:off x="4998631" y="7528309"/>
            <a:ext cx="1011300" cy="1011600"/>
          </a:xfrm>
          <a:prstGeom prst="arc">
            <a:avLst>
              <a:gd fmla="val 9151910" name="adj1"/>
              <a:gd fmla="val 1080995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/>
          <p:nvPr/>
        </p:nvSpPr>
        <p:spPr>
          <a:xfrm rot="10800000">
            <a:off x="2379872" y="7716440"/>
            <a:ext cx="1140000" cy="1140300"/>
          </a:xfrm>
          <a:prstGeom prst="arc">
            <a:avLst>
              <a:gd fmla="val 9585297" name="adj1"/>
              <a:gd fmla="val 10809952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/>
          <p:nvPr/>
        </p:nvSpPr>
        <p:spPr>
          <a:xfrm rot="-5400000">
            <a:off x="3387401" y="4702467"/>
            <a:ext cx="480900" cy="9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 rot="-5400000">
            <a:off x="959349" y="7589177"/>
            <a:ext cx="782100" cy="605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/>
          <p:nvPr/>
        </p:nvSpPr>
        <p:spPr>
          <a:xfrm rot="-5400000">
            <a:off x="1456787" y="4738911"/>
            <a:ext cx="480900" cy="9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/>
          <p:nvPr/>
        </p:nvSpPr>
        <p:spPr>
          <a:xfrm rot="-5400000">
            <a:off x="5702983" y="4970466"/>
            <a:ext cx="480900" cy="9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/>
          <p:nvPr/>
        </p:nvSpPr>
        <p:spPr>
          <a:xfrm rot="-5400000">
            <a:off x="5702983" y="7339481"/>
            <a:ext cx="480900" cy="9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/>
          <p:nvPr/>
        </p:nvSpPr>
        <p:spPr>
          <a:xfrm rot="-5400000">
            <a:off x="3359411" y="7377258"/>
            <a:ext cx="480900" cy="1351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/>
          <p:nvPr/>
        </p:nvSpPr>
        <p:spPr>
          <a:xfrm flipH="1">
            <a:off x="188678" y="1997274"/>
            <a:ext cx="995400" cy="995400"/>
          </a:xfrm>
          <a:prstGeom prst="arc">
            <a:avLst>
              <a:gd fmla="val 10771373" name="adj1"/>
              <a:gd fmla="val 12861570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1809657" y="3356037"/>
            <a:ext cx="995400" cy="995400"/>
          </a:xfrm>
          <a:prstGeom prst="arc">
            <a:avLst>
              <a:gd fmla="val 10771373" name="adj1"/>
              <a:gd fmla="val 12861570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/>
          <p:nvPr/>
        </p:nvSpPr>
        <p:spPr>
          <a:xfrm flipH="1">
            <a:off x="2149841" y="2393492"/>
            <a:ext cx="774300" cy="774300"/>
          </a:xfrm>
          <a:prstGeom prst="arc">
            <a:avLst>
              <a:gd fmla="val 10771373" name="adj1"/>
              <a:gd fmla="val 14015484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/>
          <p:nvPr/>
        </p:nvSpPr>
        <p:spPr>
          <a:xfrm flipH="1">
            <a:off x="668216" y="1719607"/>
            <a:ext cx="1163700" cy="780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1161819" y="3078370"/>
            <a:ext cx="1163700" cy="780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/>
          <p:nvPr/>
        </p:nvSpPr>
        <p:spPr>
          <a:xfrm flipH="1">
            <a:off x="2535653" y="1611668"/>
            <a:ext cx="841500" cy="1174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329006" y="6227659"/>
            <a:ext cx="543000" cy="309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1906222" y="6227659"/>
            <a:ext cx="543000" cy="309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474750" y="720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angles using the cosine formula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57940" y="982789"/>
            <a:ext cx="654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each triangle to: an equation that describes the relationship between its hypotenuse and an adjacent side, and to the size of its angle (2 d.p.).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 flipH="1">
            <a:off x="890379" y="2348581"/>
            <a:ext cx="3294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 flipH="1">
            <a:off x="627979" y="1861266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/>
          <p:nvPr/>
        </p:nvSpPr>
        <p:spPr>
          <a:xfrm flipH="1" rot="-5400000">
            <a:off x="1684822" y="2353091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 flipH="1">
            <a:off x="950658" y="2596932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1773956" y="3707343"/>
            <a:ext cx="3294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1739056" y="3220028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/>
          <p:nvPr/>
        </p:nvSpPr>
        <p:spPr>
          <a:xfrm rot="5400000">
            <a:off x="1161913" y="3711853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1416377" y="3955694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557940" y="3392184"/>
            <a:ext cx="519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 flipH="1">
            <a:off x="2608896" y="2627385"/>
            <a:ext cx="3294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 flipH="1">
            <a:off x="2305783" y="2003101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/>
          <p:nvPr/>
        </p:nvSpPr>
        <p:spPr>
          <a:xfrm flipH="1" rot="-5400000">
            <a:off x="3230064" y="2638927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 flipH="1">
            <a:off x="2731757" y="2882776"/>
            <a:ext cx="4590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 flipH="1">
            <a:off x="3461762" y="2089502"/>
            <a:ext cx="3294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8" name="Google Shape;3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250" y="1476238"/>
            <a:ext cx="216594" cy="21659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2"/>
          <p:cNvSpPr txBox="1"/>
          <p:nvPr/>
        </p:nvSpPr>
        <p:spPr>
          <a:xfrm>
            <a:off x="1869907" y="1480556"/>
            <a:ext cx="193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0" name="Google Shape;38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862" y="1453047"/>
            <a:ext cx="216594" cy="21659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2"/>
          <p:cNvSpPr txBox="1"/>
          <p:nvPr/>
        </p:nvSpPr>
        <p:spPr>
          <a:xfrm>
            <a:off x="2911519" y="1457365"/>
            <a:ext cx="193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2" name="Google Shape;3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871" y="3050335"/>
            <a:ext cx="216594" cy="21659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2"/>
          <p:cNvSpPr txBox="1"/>
          <p:nvPr/>
        </p:nvSpPr>
        <p:spPr>
          <a:xfrm>
            <a:off x="737527" y="3054653"/>
            <a:ext cx="193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3940005" y="1485640"/>
            <a:ext cx="1274400" cy="41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3940001" y="1485644"/>
            <a:ext cx="414000" cy="4140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cos\left(\theta°\right)=\frac{3}{4}\ \ \ \ \ \ \ \ \ \ \ \ \ \theta°=\cos^{-1}\left(\frac{3}{5}\right)\ \ \ \ \ \ \ \ \ \ \ \ \ \ \ \ \ \ \ \ \ \ \ \cos\left(\theta°\right)=\frac{4}{5}&quot;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θ&lt;/mi&gt;&lt;mrow data-mjx-texclass=&quot;ORD&quot;&gt;&lt;mo data-mjx-pseudoscript=&quot;true&quot;&gt;°&lt;/mo&gt;&lt;/mrow&gt;&lt;mo&gt;=&lt;/mo&gt;&lt;msup&gt;&lt;mi&gt;cos&lt;/mi&gt;&lt;mrow data-mjx-texclass=&quot;ORD&quot;&gt;&lt;mo&gt;−&lt;/mo&gt;&lt;mn&gt;1&lt;/mn&gt;&lt;/mrow&gt;&lt;/msup&gt;&lt;mo data-mjx-texclass=&quot;NONE&quot;&gt;⁡&lt;/mo&gt;&lt;mrow data-mjx-texclass=&quot;INNER&quot;&gt;&lt;mo data-mjx-texclass=&quot;OPEN&quot;&gt;(&lt;/mo&gt;&lt;mfrac&gt;&lt;mn&gt;3&lt;/mn&gt;&lt;mn&gt;5&lt;/mn&gt;&lt;/mfrac&gt;&lt;mo data-mjx-texclass=&quot;CLOSE&quot;&gt;)&lt;/mo&gt;&lt;/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4&lt;/mn&gt;&lt;mn&gt;5&lt;/mn&gt;&lt;/mfrac&gt;&lt;/math&gt;" id="386" name="Google Shape;386;p22" title="cosine theta degrees equals three fourths theta degrees equals the inverse cosine of three fifths cosine theta degrees equals four fifths"/>
          <p:cNvPicPr preferRelativeResize="0"/>
          <p:nvPr/>
        </p:nvPicPr>
        <p:blipFill rotWithShape="1">
          <a:blip r:embed="rId4">
            <a:alphaModFix/>
          </a:blip>
          <a:srcRect b="0" l="0" r="81015" t="0"/>
          <a:stretch/>
        </p:blipFill>
        <p:spPr>
          <a:xfrm>
            <a:off x="4383612" y="1511626"/>
            <a:ext cx="716473" cy="36185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/>
          <p:nvPr/>
        </p:nvSpPr>
        <p:spPr>
          <a:xfrm>
            <a:off x="5293326" y="1852557"/>
            <a:ext cx="1274400" cy="41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5293322" y="1852562"/>
            <a:ext cx="414000" cy="4140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cos\left(\theta°\right)=\frac{3}{4}\ \ \ \ \ \ \ \ \ \ \ \ \ \theta°=\cos^{-1}\left(\frac{3}{5}\right)\ \ \ \ \ \ \ \ \ \ \ \ \ \ \ \ \ \ \ \ \ \ \ \cos\left(\theta°\right)=\frac{4}{5}&quot;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θ&lt;/mi&gt;&lt;mrow data-mjx-texclass=&quot;ORD&quot;&gt;&lt;mo data-mjx-pseudoscript=&quot;true&quot;&gt;°&lt;/mo&gt;&lt;/mrow&gt;&lt;mo&gt;=&lt;/mo&gt;&lt;msup&gt;&lt;mi&gt;cos&lt;/mi&gt;&lt;mrow data-mjx-texclass=&quot;ORD&quot;&gt;&lt;mo&gt;−&lt;/mo&gt;&lt;mn&gt;1&lt;/mn&gt;&lt;/mrow&gt;&lt;/msup&gt;&lt;mo data-mjx-texclass=&quot;NONE&quot;&gt;⁡&lt;/mo&gt;&lt;mrow data-mjx-texclass=&quot;INNER&quot;&gt;&lt;mo data-mjx-texclass=&quot;OPEN&quot;&gt;(&lt;/mo&gt;&lt;mfrac&gt;&lt;mn&gt;3&lt;/mn&gt;&lt;mn&gt;5&lt;/mn&gt;&lt;/mfrac&gt;&lt;mo data-mjx-texclass=&quot;CLOSE&quot;&gt;)&lt;/mo&gt;&lt;/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4&lt;/mn&gt;&lt;mn&gt;5&lt;/mn&gt;&lt;/mfrac&gt;&lt;/math&gt;" id="389" name="Google Shape;389;p22" title="cosine theta degrees equals three fourths theta degrees equals the inverse cosine of three fifths cosine theta degrees equals four fifths"/>
          <p:cNvPicPr preferRelativeResize="0"/>
          <p:nvPr/>
        </p:nvPicPr>
        <p:blipFill rotWithShape="1">
          <a:blip r:embed="rId4">
            <a:alphaModFix/>
          </a:blip>
          <a:srcRect b="0" l="80626" r="0" t="0"/>
          <a:stretch/>
        </p:blipFill>
        <p:spPr>
          <a:xfrm>
            <a:off x="5736931" y="1878538"/>
            <a:ext cx="731173" cy="36185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2"/>
          <p:cNvSpPr/>
          <p:nvPr/>
        </p:nvSpPr>
        <p:spPr>
          <a:xfrm>
            <a:off x="4087298" y="2468896"/>
            <a:ext cx="1603500" cy="41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4087295" y="2468894"/>
            <a:ext cx="414000" cy="4140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cos\left(\theta°\right)=\frac{3}{4}\ \ \ \ \ \ \ \ \ \ \ \ \ \theta°=\cos^{-1}\left(\frac{3}{5}\right)\ \ \ \ \ \ \ \ \ \ \ \ \ \ \ \ \ \ \ \ \ \ \ \cos\left(\theta°\right)=\frac{4}{5}&quot;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θ&lt;/mi&gt;&lt;mrow data-mjx-texclass=&quot;ORD&quot;&gt;&lt;mo data-mjx-pseudoscript=&quot;true&quot;&gt;°&lt;/mo&gt;&lt;/mrow&gt;&lt;mo&gt;=&lt;/mo&gt;&lt;msup&gt;&lt;mi&gt;cos&lt;/mi&gt;&lt;mrow data-mjx-texclass=&quot;ORD&quot;&gt;&lt;mo&gt;−&lt;/mo&gt;&lt;mn&gt;1&lt;/mn&gt;&lt;/mrow&gt;&lt;/msup&gt;&lt;mo data-mjx-texclass=&quot;NONE&quot;&gt;⁡&lt;/mo&gt;&lt;mrow data-mjx-texclass=&quot;INNER&quot;&gt;&lt;mo data-mjx-texclass=&quot;OPEN&quot;&gt;(&lt;/mo&gt;&lt;mfrac&gt;&lt;mn&gt;3&lt;/mn&gt;&lt;mn&gt;5&lt;/mn&gt;&lt;/mfrac&gt;&lt;mo data-mjx-texclass=&quot;CLOSE&quot;&gt;)&lt;/mo&gt;&lt;/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4&lt;/mn&gt;&lt;mn&gt;5&lt;/mn&gt;&lt;/mfrac&gt;&lt;/math&gt;" id="392" name="Google Shape;392;p22" title="cosine theta degrees equals three fourths theta degrees equals the inverse cosine of three fifths cosine theta degrees equals four fifths"/>
          <p:cNvPicPr preferRelativeResize="0"/>
          <p:nvPr/>
        </p:nvPicPr>
        <p:blipFill rotWithShape="1">
          <a:blip r:embed="rId4">
            <a:alphaModFix/>
          </a:blip>
          <a:srcRect b="0" l="31304" r="41793" t="0"/>
          <a:stretch/>
        </p:blipFill>
        <p:spPr>
          <a:xfrm>
            <a:off x="4530903" y="2494878"/>
            <a:ext cx="1015257" cy="361857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2"/>
          <p:cNvSpPr/>
          <p:nvPr/>
        </p:nvSpPr>
        <p:spPr>
          <a:xfrm>
            <a:off x="3941338" y="3296952"/>
            <a:ext cx="1337100" cy="317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53.13°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3941338" y="3296952"/>
            <a:ext cx="317700" cy="3177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3941338" y="3754820"/>
            <a:ext cx="1337100" cy="317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41.41°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941338" y="3754820"/>
            <a:ext cx="317700" cy="3177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5562080" y="3296952"/>
            <a:ext cx="1337100" cy="317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36.87°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5562080" y="3296952"/>
            <a:ext cx="317700" cy="3177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1731406" y="6293506"/>
            <a:ext cx="116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0" name="Google Shape;400;p22"/>
          <p:cNvCxnSpPr/>
          <p:nvPr/>
        </p:nvCxnSpPr>
        <p:spPr>
          <a:xfrm rot="10800000">
            <a:off x="4945075" y="4750201"/>
            <a:ext cx="0" cy="522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22"/>
          <p:cNvCxnSpPr/>
          <p:nvPr/>
        </p:nvCxnSpPr>
        <p:spPr>
          <a:xfrm rot="10800000">
            <a:off x="2793600" y="4750201"/>
            <a:ext cx="0" cy="522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22"/>
          <p:cNvCxnSpPr/>
          <p:nvPr/>
        </p:nvCxnSpPr>
        <p:spPr>
          <a:xfrm>
            <a:off x="651967" y="7412577"/>
            <a:ext cx="6447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22"/>
          <p:cNvSpPr/>
          <p:nvPr/>
        </p:nvSpPr>
        <p:spPr>
          <a:xfrm>
            <a:off x="2042201" y="5324476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508871" y="5900050"/>
            <a:ext cx="824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1262195" y="6013039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1262195" y="5840663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2"/>
          <p:cNvCxnSpPr/>
          <p:nvPr/>
        </p:nvCxnSpPr>
        <p:spPr>
          <a:xfrm>
            <a:off x="1311170" y="6010848"/>
            <a:ext cx="20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2"/>
          <p:cNvSpPr txBox="1"/>
          <p:nvPr/>
        </p:nvSpPr>
        <p:spPr>
          <a:xfrm flipH="1">
            <a:off x="1154018" y="4926065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 flipH="1">
            <a:off x="1446293" y="5558310"/>
            <a:ext cx="543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1262195" y="6384493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1262195" y="6212118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2" name="Google Shape;412;p22"/>
          <p:cNvCxnSpPr/>
          <p:nvPr/>
        </p:nvCxnSpPr>
        <p:spPr>
          <a:xfrm>
            <a:off x="1311170" y="6382302"/>
            <a:ext cx="20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22"/>
          <p:cNvSpPr txBox="1"/>
          <p:nvPr/>
        </p:nvSpPr>
        <p:spPr>
          <a:xfrm>
            <a:off x="443991" y="6271513"/>
            <a:ext cx="889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1562424" y="6271513"/>
            <a:ext cx="168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 flipH="1">
            <a:off x="3055336" y="4905017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 flipH="1">
            <a:off x="4228907" y="5082568"/>
            <a:ext cx="543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3966930" y="5287057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 flipH="1">
            <a:off x="1466379" y="5267307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 flipH="1">
            <a:off x="3872454" y="5023479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4139826" y="6293506"/>
            <a:ext cx="116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2931655" y="5784272"/>
            <a:ext cx="824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3678268" y="5897261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3678268" y="5724886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4" name="Google Shape;424;p22"/>
          <p:cNvCxnSpPr/>
          <p:nvPr/>
        </p:nvCxnSpPr>
        <p:spPr>
          <a:xfrm>
            <a:off x="3727243" y="5895070"/>
            <a:ext cx="20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22"/>
          <p:cNvSpPr txBox="1"/>
          <p:nvPr/>
        </p:nvSpPr>
        <p:spPr>
          <a:xfrm>
            <a:off x="3678268" y="6384493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3678268" y="6212118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7" name="Google Shape;427;p22"/>
          <p:cNvCxnSpPr/>
          <p:nvPr/>
        </p:nvCxnSpPr>
        <p:spPr>
          <a:xfrm>
            <a:off x="3727243" y="6382302"/>
            <a:ext cx="20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22"/>
          <p:cNvSpPr txBox="1"/>
          <p:nvPr/>
        </p:nvSpPr>
        <p:spPr>
          <a:xfrm>
            <a:off x="2866775" y="6271513"/>
            <a:ext cx="889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3985208" y="6271513"/>
            <a:ext cx="168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6288397" y="5556031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 flipH="1">
            <a:off x="5400214" y="5157620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 flipH="1">
            <a:off x="5712575" y="5498863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6288397" y="7925046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 flipH="1">
            <a:off x="5379319" y="7526635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 flipH="1">
            <a:off x="5788432" y="7840110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642129" y="4539650"/>
            <a:ext cx="61428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size of each angle marked with a letter (1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 flipH="1">
            <a:off x="5634517" y="5773190"/>
            <a:ext cx="695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8" name="Google Shape;438;p22"/>
          <p:cNvGrpSpPr/>
          <p:nvPr/>
        </p:nvGrpSpPr>
        <p:grpSpPr>
          <a:xfrm>
            <a:off x="610269" y="1553590"/>
            <a:ext cx="5819220" cy="4218878"/>
            <a:chOff x="610269" y="1553590"/>
            <a:chExt cx="5819220" cy="4218878"/>
          </a:xfrm>
        </p:grpSpPr>
        <p:cxnSp>
          <p:nvCxnSpPr>
            <p:cNvPr id="439" name="Google Shape;439;p22"/>
            <p:cNvCxnSpPr/>
            <p:nvPr/>
          </p:nvCxnSpPr>
          <p:spPr>
            <a:xfrm flipH="1">
              <a:off x="3108771" y="4857378"/>
              <a:ext cx="922500" cy="480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40" name="Google Shape;440;p22"/>
            <p:cNvCxnSpPr/>
            <p:nvPr/>
          </p:nvCxnSpPr>
          <p:spPr>
            <a:xfrm flipH="1">
              <a:off x="5424353" y="5125378"/>
              <a:ext cx="922500" cy="480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41" name="Google Shape;441;p22"/>
            <p:cNvGrpSpPr/>
            <p:nvPr/>
          </p:nvGrpSpPr>
          <p:grpSpPr>
            <a:xfrm>
              <a:off x="610269" y="1553590"/>
              <a:ext cx="2863105" cy="4003997"/>
              <a:chOff x="610269" y="1553590"/>
              <a:chExt cx="2863105" cy="4003997"/>
            </a:xfrm>
          </p:grpSpPr>
          <p:cxnSp>
            <p:nvCxnSpPr>
              <p:cNvPr id="442" name="Google Shape;442;p22"/>
              <p:cNvCxnSpPr/>
              <p:nvPr/>
            </p:nvCxnSpPr>
            <p:spPr>
              <a:xfrm flipH="1" rot="10800000">
                <a:off x="610269" y="1633971"/>
                <a:ext cx="1163700" cy="780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43" name="Google Shape;443;p22"/>
              <p:cNvCxnSpPr/>
              <p:nvPr/>
            </p:nvCxnSpPr>
            <p:spPr>
              <a:xfrm rot="10800000">
                <a:off x="668216" y="2585783"/>
                <a:ext cx="11637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44" name="Google Shape;444;p22"/>
              <p:cNvCxnSpPr/>
              <p:nvPr/>
            </p:nvCxnSpPr>
            <p:spPr>
              <a:xfrm rot="10800000">
                <a:off x="1219766" y="2992733"/>
                <a:ext cx="1163700" cy="780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45" name="Google Shape;445;p22"/>
              <p:cNvCxnSpPr/>
              <p:nvPr/>
            </p:nvCxnSpPr>
            <p:spPr>
              <a:xfrm>
                <a:off x="1161819" y="3944545"/>
                <a:ext cx="11637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46" name="Google Shape;446;p22"/>
              <p:cNvCxnSpPr/>
              <p:nvPr/>
            </p:nvCxnSpPr>
            <p:spPr>
              <a:xfrm rot="5400000">
                <a:off x="675304" y="3463096"/>
                <a:ext cx="780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47" name="Google Shape;447;p22"/>
              <p:cNvCxnSpPr/>
              <p:nvPr/>
            </p:nvCxnSpPr>
            <p:spPr>
              <a:xfrm flipH="1" rot="10800000">
                <a:off x="2465644" y="1553590"/>
                <a:ext cx="835200" cy="1169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48" name="Google Shape;448;p22"/>
              <p:cNvCxnSpPr/>
              <p:nvPr/>
            </p:nvCxnSpPr>
            <p:spPr>
              <a:xfrm rot="10800000">
                <a:off x="2524853" y="2871628"/>
                <a:ext cx="852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49" name="Google Shape;449;p22"/>
              <p:cNvCxnSpPr/>
              <p:nvPr/>
            </p:nvCxnSpPr>
            <p:spPr>
              <a:xfrm rot="5400000">
                <a:off x="2888523" y="2195875"/>
                <a:ext cx="11697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50" name="Google Shape;450;p22"/>
              <p:cNvCxnSpPr/>
              <p:nvPr/>
            </p:nvCxnSpPr>
            <p:spPr>
              <a:xfrm flipH="1">
                <a:off x="1178157" y="4893822"/>
                <a:ext cx="922500" cy="480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51" name="Google Shape;451;p22"/>
              <p:cNvCxnSpPr/>
              <p:nvPr/>
            </p:nvCxnSpPr>
            <p:spPr>
              <a:xfrm rot="10800000">
                <a:off x="1214588" y="5557588"/>
                <a:ext cx="9507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7575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cxnSp>
          <p:nvCxnSpPr>
            <p:cNvPr id="452" name="Google Shape;452;p22"/>
            <p:cNvCxnSpPr/>
            <p:nvPr/>
          </p:nvCxnSpPr>
          <p:spPr>
            <a:xfrm rot="10800000">
              <a:off x="4204041" y="4925192"/>
              <a:ext cx="0" cy="480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53" name="Google Shape;453;p22"/>
            <p:cNvCxnSpPr/>
            <p:nvPr/>
          </p:nvCxnSpPr>
          <p:spPr>
            <a:xfrm rot="10800000">
              <a:off x="5478789" y="5772468"/>
              <a:ext cx="9507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54" name="Google Shape;454;p22"/>
          <p:cNvSpPr/>
          <p:nvPr/>
        </p:nvSpPr>
        <p:spPr>
          <a:xfrm>
            <a:off x="1538558" y="8167537"/>
            <a:ext cx="114300" cy="114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2"/>
          <p:cNvSpPr txBox="1"/>
          <p:nvPr/>
        </p:nvSpPr>
        <p:spPr>
          <a:xfrm flipH="1">
            <a:off x="846653" y="7659446"/>
            <a:ext cx="4815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 flipH="1">
            <a:off x="1130058" y="8110485"/>
            <a:ext cx="2424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2"/>
          <p:cNvSpPr txBox="1"/>
          <p:nvPr/>
        </p:nvSpPr>
        <p:spPr>
          <a:xfrm flipH="1">
            <a:off x="988662" y="8373458"/>
            <a:ext cx="748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4158294" y="8177477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 flipH="1">
            <a:off x="3095565" y="7751235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2"/>
          <p:cNvSpPr txBox="1"/>
          <p:nvPr/>
        </p:nvSpPr>
        <p:spPr>
          <a:xfrm flipH="1">
            <a:off x="3290384" y="8125746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 flipH="1">
            <a:off x="3265615" y="8410019"/>
            <a:ext cx="820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 flipH="1">
            <a:off x="5555558" y="8162604"/>
            <a:ext cx="85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0.435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63" name="Google Shape;463;p22"/>
          <p:cNvGrpSpPr/>
          <p:nvPr/>
        </p:nvGrpSpPr>
        <p:grpSpPr>
          <a:xfrm>
            <a:off x="977671" y="7458355"/>
            <a:ext cx="5451818" cy="928684"/>
            <a:chOff x="977671" y="7458355"/>
            <a:chExt cx="5451818" cy="928684"/>
          </a:xfrm>
        </p:grpSpPr>
        <p:cxnSp>
          <p:nvCxnSpPr>
            <p:cNvPr id="464" name="Google Shape;464;p22"/>
            <p:cNvCxnSpPr/>
            <p:nvPr/>
          </p:nvCxnSpPr>
          <p:spPr>
            <a:xfrm flipH="1">
              <a:off x="977671" y="7458355"/>
              <a:ext cx="605100" cy="7821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5" name="Google Shape;465;p22"/>
            <p:cNvCxnSpPr/>
            <p:nvPr/>
          </p:nvCxnSpPr>
          <p:spPr>
            <a:xfrm flipH="1">
              <a:off x="5424353" y="7494393"/>
              <a:ext cx="922500" cy="480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6" name="Google Shape;466;p22"/>
            <p:cNvCxnSpPr/>
            <p:nvPr/>
          </p:nvCxnSpPr>
          <p:spPr>
            <a:xfrm rot="10800000">
              <a:off x="1037268" y="8350471"/>
              <a:ext cx="6156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7" name="Google Shape;467;p22"/>
            <p:cNvCxnSpPr/>
            <p:nvPr/>
          </p:nvCxnSpPr>
          <p:spPr>
            <a:xfrm flipH="1">
              <a:off x="2839199" y="7746820"/>
              <a:ext cx="1351800" cy="480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8" name="Google Shape;468;p22"/>
            <p:cNvCxnSpPr/>
            <p:nvPr/>
          </p:nvCxnSpPr>
          <p:spPr>
            <a:xfrm rot="10800000">
              <a:off x="2974757" y="8387039"/>
              <a:ext cx="13248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9" name="Google Shape;469;p22"/>
            <p:cNvCxnSpPr/>
            <p:nvPr/>
          </p:nvCxnSpPr>
          <p:spPr>
            <a:xfrm rot="10800000">
              <a:off x="5478789" y="8146219"/>
              <a:ext cx="9507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70" name="Google Shape;470;p22"/>
          <p:cNvSpPr txBox="1"/>
          <p:nvPr/>
        </p:nvSpPr>
        <p:spPr>
          <a:xfrm>
            <a:off x="634475" y="4934807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2832057" y="4934807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5029638" y="4934807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634475" y="7432718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2832057" y="7432718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>
            <a:off x="5029638" y="7432718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6" name="Google Shape;476;p22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" name="Google Shape;477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78" name="Google Shape;478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Using the cosine ratio</a:t>
            </a:r>
            <a:endParaRPr/>
          </a:p>
        </p:txBody>
      </p:sp>
      <p:sp>
        <p:nvSpPr>
          <p:cNvPr id="479" name="Google Shape;479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