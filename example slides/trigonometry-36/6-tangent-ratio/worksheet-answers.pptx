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  <p:sldId id="258" r:id="rId9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061259C-89A0-4B13-B190-3B47E442A6F2}">
  <a:tblStyle styleId="{A061259C-89A0-4B13-B190-3B47E442A6F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482CE080-D290-4475-977F-222348B27112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2be01b3a717_0_298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2be01b3a717_0_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/>
        </p:nvSpPr>
        <p:spPr>
          <a:xfrm>
            <a:off x="474750" y="1317004"/>
            <a:ext cx="6624000" cy="1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Ratio tables, the unit circle, and tangents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Tangent ratio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3017050" y="1542600"/>
            <a:ext cx="4062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1) Fill in the blanks and ratio table. By considering corresponding sides, find the length of side labelled </a:t>
            </a:r>
            <a:r>
              <a:rPr i="1"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cm.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74" name="Google Shape;174;p20"/>
          <p:cNvGraphicFramePr/>
          <p:nvPr/>
        </p:nvGraphicFramePr>
        <p:xfrm>
          <a:off x="4434250" y="393005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{A061259C-89A0-4B13-B190-3B47E442A6F2}</a:tableStyleId>
              </a:tblPr>
              <a:tblGrid>
                <a:gridCol w="1048650"/>
                <a:gridCol w="1048650"/>
              </a:tblGrid>
              <a:tr h="25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adjacent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opposite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0.268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18.5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4.958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5" name="Google Shape;175;p20"/>
          <p:cNvSpPr/>
          <p:nvPr/>
        </p:nvSpPr>
        <p:spPr>
          <a:xfrm>
            <a:off x="5482900" y="4444950"/>
            <a:ext cx="1054200" cy="2505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/>
          <p:nvPr/>
        </p:nvSpPr>
        <p:spPr>
          <a:xfrm>
            <a:off x="4232775" y="4256275"/>
            <a:ext cx="143877" cy="397564"/>
          </a:xfrm>
          <a:custGeom>
            <a:rect b="b" l="l" r="r" t="t"/>
            <a:pathLst>
              <a:path extrusionOk="0" h="30529" w="2102">
                <a:moveTo>
                  <a:pt x="2102" y="0"/>
                </a:moveTo>
                <a:cubicBezTo>
                  <a:pt x="1752" y="2548"/>
                  <a:pt x="9" y="10201"/>
                  <a:pt x="1" y="15289"/>
                </a:cubicBezTo>
                <a:cubicBezTo>
                  <a:pt x="-7" y="20377"/>
                  <a:pt x="1711" y="27989"/>
                  <a:pt x="2053" y="30529"/>
                </a:cubicBezTo>
              </a:path>
            </a:pathLst>
          </a:cu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177" name="Google Shape;177;p20"/>
          <p:cNvSpPr/>
          <p:nvPr/>
        </p:nvSpPr>
        <p:spPr>
          <a:xfrm>
            <a:off x="3383777" y="4286750"/>
            <a:ext cx="791400" cy="3366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3402850" y="4286750"/>
            <a:ext cx="763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× 18.5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9" name="Google Shape;179;p20"/>
          <p:cNvSpPr/>
          <p:nvPr/>
        </p:nvSpPr>
        <p:spPr>
          <a:xfrm>
            <a:off x="6344682" y="3073810"/>
            <a:ext cx="609900" cy="232200"/>
          </a:xfrm>
          <a:prstGeom prst="rect">
            <a:avLst/>
          </a:prstGeom>
          <a:noFill/>
          <a:ln cap="flat" cmpd="sng" w="28575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6330135" y="3058491"/>
            <a:ext cx="638700" cy="26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0.268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1" name="Google Shape;181;p20"/>
          <p:cNvSpPr/>
          <p:nvPr/>
        </p:nvSpPr>
        <p:spPr>
          <a:xfrm>
            <a:off x="4740436" y="2654814"/>
            <a:ext cx="1082400" cy="1082400"/>
          </a:xfrm>
          <a:prstGeom prst="arc">
            <a:avLst>
              <a:gd fmla="val 19900924" name="adj1"/>
              <a:gd fmla="val 53074" name="adj2"/>
            </a:avLst>
          </a:prstGeom>
          <a:solidFill>
            <a:srgbClr val="F3EEFB"/>
          </a:solidFill>
          <a:ln cap="flat" cmpd="sng" w="2857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0"/>
          <p:cNvSpPr/>
          <p:nvPr/>
        </p:nvSpPr>
        <p:spPr>
          <a:xfrm>
            <a:off x="2458950" y="2626343"/>
            <a:ext cx="1127100" cy="1127100"/>
          </a:xfrm>
          <a:prstGeom prst="arc">
            <a:avLst>
              <a:gd fmla="val 19900924" name="adj1"/>
              <a:gd fmla="val 53074" name="adj2"/>
            </a:avLst>
          </a:prstGeom>
          <a:solidFill>
            <a:srgbClr val="F3EEFB"/>
          </a:solidFill>
          <a:ln cap="flat" cmpd="sng" w="2857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0"/>
          <p:cNvSpPr/>
          <p:nvPr/>
        </p:nvSpPr>
        <p:spPr>
          <a:xfrm>
            <a:off x="6080489" y="3066359"/>
            <a:ext cx="134100" cy="134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0"/>
          <p:cNvSpPr/>
          <p:nvPr/>
        </p:nvSpPr>
        <p:spPr>
          <a:xfrm>
            <a:off x="4062433" y="3066359"/>
            <a:ext cx="134100" cy="134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/>
          <p:nvPr/>
        </p:nvSpPr>
        <p:spPr>
          <a:xfrm flipH="1" rot="-5400000">
            <a:off x="5145049" y="1845592"/>
            <a:ext cx="31613" cy="1132204"/>
          </a:xfrm>
          <a:custGeom>
            <a:rect b="b" l="l" r="r" t="t"/>
            <a:pathLst>
              <a:path extrusionOk="0" h="30529" w="2102">
                <a:moveTo>
                  <a:pt x="2102" y="0"/>
                </a:moveTo>
                <a:cubicBezTo>
                  <a:pt x="1752" y="2548"/>
                  <a:pt x="9" y="10201"/>
                  <a:pt x="1" y="15289"/>
                </a:cubicBezTo>
                <a:cubicBezTo>
                  <a:pt x="-7" y="20377"/>
                  <a:pt x="1711" y="27989"/>
                  <a:pt x="2053" y="30529"/>
                </a:cubicBezTo>
              </a:path>
            </a:pathLst>
          </a:custGeom>
          <a:noFill/>
          <a:ln cap="flat" cmpd="sng" w="28575">
            <a:solidFill>
              <a:srgbClr val="000000"/>
            </a:solidFill>
            <a:prstDash val="dash"/>
            <a:round/>
            <a:headEnd len="med" w="med" type="none"/>
            <a:tailEnd len="med" w="med" type="triangle"/>
          </a:ln>
        </p:spPr>
      </p:sp>
      <p:sp>
        <p:nvSpPr>
          <p:cNvPr id="186" name="Google Shape;186;p20"/>
          <p:cNvSpPr txBox="1"/>
          <p:nvPr/>
        </p:nvSpPr>
        <p:spPr>
          <a:xfrm>
            <a:off x="4141810" y="2179742"/>
            <a:ext cx="2038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sketch a similar triangle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3186515" y="3016248"/>
            <a:ext cx="4329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15°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0"/>
          <p:cNvSpPr txBox="1"/>
          <p:nvPr/>
        </p:nvSpPr>
        <p:spPr>
          <a:xfrm>
            <a:off x="5445538" y="3022244"/>
            <a:ext cx="4329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15°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5465758" y="3285328"/>
            <a:ext cx="5658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0"/>
          <p:cNvSpPr txBox="1"/>
          <p:nvPr/>
        </p:nvSpPr>
        <p:spPr>
          <a:xfrm>
            <a:off x="6323202" y="2869197"/>
            <a:ext cx="652500" cy="16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tan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(15°)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3187550" y="3285328"/>
            <a:ext cx="8301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18.5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4266763" y="2788243"/>
            <a:ext cx="5658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0"/>
          <p:cNvSpPr txBox="1"/>
          <p:nvPr/>
        </p:nvSpPr>
        <p:spPr>
          <a:xfrm>
            <a:off x="4282049" y="3064350"/>
            <a:ext cx="737700" cy="26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4.958 cm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4" name="Google Shape;194;p20"/>
          <p:cNvSpPr/>
          <p:nvPr/>
        </p:nvSpPr>
        <p:spPr>
          <a:xfrm rot="-5400000">
            <a:off x="5483509" y="2469237"/>
            <a:ext cx="512700" cy="9495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0"/>
          <p:cNvSpPr/>
          <p:nvPr/>
        </p:nvSpPr>
        <p:spPr>
          <a:xfrm rot="-5400000">
            <a:off x="3268126" y="2272043"/>
            <a:ext cx="651000" cy="12054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0"/>
          <p:cNvSpPr txBox="1"/>
          <p:nvPr/>
        </p:nvSpPr>
        <p:spPr>
          <a:xfrm>
            <a:off x="6352325" y="9972000"/>
            <a:ext cx="48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>
                <a:solidFill>
                  <a:srgbClr val="000000"/>
                </a:solidFill>
                <a:latin typeface="Lexend Medium"/>
                <a:ea typeface="Lexend Medium"/>
                <a:cs typeface="Lexend Medium"/>
                <a:sym typeface="Lexend Medium"/>
              </a:rPr>
              <a:t>‹#›</a:t>
            </a:fld>
            <a:endParaRPr sz="1200">
              <a:solidFill>
                <a:srgbClr val="000000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grpSp>
        <p:nvGrpSpPr>
          <p:cNvPr id="197" name="Google Shape;197;p20"/>
          <p:cNvGrpSpPr/>
          <p:nvPr/>
        </p:nvGrpSpPr>
        <p:grpSpPr>
          <a:xfrm>
            <a:off x="2990975" y="2549243"/>
            <a:ext cx="3293956" cy="721451"/>
            <a:chOff x="2990975" y="2549243"/>
            <a:chExt cx="3293956" cy="721451"/>
          </a:xfrm>
        </p:grpSpPr>
        <p:cxnSp>
          <p:nvCxnSpPr>
            <p:cNvPr id="198" name="Google Shape;198;p20"/>
            <p:cNvCxnSpPr/>
            <p:nvPr/>
          </p:nvCxnSpPr>
          <p:spPr>
            <a:xfrm rot="10800000">
              <a:off x="5265074" y="3270695"/>
              <a:ext cx="949500" cy="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99" name="Google Shape;199;p20"/>
            <p:cNvCxnSpPr/>
            <p:nvPr/>
          </p:nvCxnSpPr>
          <p:spPr>
            <a:xfrm rot="10800000">
              <a:off x="6284931" y="2687637"/>
              <a:ext cx="0" cy="51270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200" name="Google Shape;200;p20"/>
            <p:cNvCxnSpPr/>
            <p:nvPr/>
          </p:nvCxnSpPr>
          <p:spPr>
            <a:xfrm rot="10800000">
              <a:off x="2990975" y="3270598"/>
              <a:ext cx="1205400" cy="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201" name="Google Shape;201;p20"/>
            <p:cNvCxnSpPr/>
            <p:nvPr/>
          </p:nvCxnSpPr>
          <p:spPr>
            <a:xfrm rot="10800000">
              <a:off x="4266740" y="2549243"/>
              <a:ext cx="0" cy="651000"/>
            </a:xfrm>
            <a:prstGeom prst="straightConnector1">
              <a:avLst/>
            </a:prstGeom>
            <a:noFill/>
            <a:ln cap="flat" cmpd="sng" w="28575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aphicFrame>
        <p:nvGraphicFramePr>
          <p:cNvPr id="202" name="Google Shape;202;p20"/>
          <p:cNvGraphicFramePr/>
          <p:nvPr/>
        </p:nvGraphicFramePr>
        <p:xfrm>
          <a:off x="474749" y="154250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{482CE080-D290-4475-977F-222348B27112}</a:tableStyleId>
              </a:tblPr>
              <a:tblGrid>
                <a:gridCol w="615550"/>
                <a:gridCol w="615550"/>
                <a:gridCol w="615550"/>
                <a:gridCol w="615550"/>
              </a:tblGrid>
              <a:tr h="186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angle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sine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cosine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tangent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6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86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0.087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0.996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0.087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86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0.174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0.985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0.176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86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0.259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0.966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0.268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86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0.342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0.94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0.364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86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0.423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0.906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0.466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86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0.866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0.577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86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0.574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0.819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86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0.643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0.766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0.839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86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0.707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0.707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86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0.766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0.643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1.192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86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0.819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0.574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1.428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86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0.866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1.732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86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0.906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0.423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2.145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86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0.94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0.342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2.747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86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0.966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0.259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3.732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86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0.985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0.174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5.671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86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0.996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0.087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11.43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86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∞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3" name="Google Shape;203;p20"/>
          <p:cNvSpPr/>
          <p:nvPr/>
        </p:nvSpPr>
        <p:spPr>
          <a:xfrm flipH="1" rot="10800000">
            <a:off x="3424768" y="8722520"/>
            <a:ext cx="913800" cy="914100"/>
          </a:xfrm>
          <a:prstGeom prst="arc">
            <a:avLst>
              <a:gd fmla="val 21431706" name="adj1"/>
              <a:gd fmla="val 2341765" name="adj2"/>
            </a:avLst>
          </a:prstGeom>
          <a:solidFill>
            <a:srgbClr val="F3EEFB"/>
          </a:solidFill>
          <a:ln cap="flat" cmpd="sng" w="2857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0"/>
          <p:cNvSpPr/>
          <p:nvPr/>
        </p:nvSpPr>
        <p:spPr>
          <a:xfrm>
            <a:off x="3442174" y="6257790"/>
            <a:ext cx="913800" cy="914100"/>
          </a:xfrm>
          <a:prstGeom prst="arc">
            <a:avLst>
              <a:gd fmla="val 21431706" name="adj1"/>
              <a:gd fmla="val 2341765" name="adj2"/>
            </a:avLst>
          </a:prstGeom>
          <a:solidFill>
            <a:srgbClr val="F3EEFB"/>
          </a:solidFill>
          <a:ln cap="flat" cmpd="sng" w="2857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0"/>
          <p:cNvSpPr/>
          <p:nvPr/>
        </p:nvSpPr>
        <p:spPr>
          <a:xfrm rot="5400000">
            <a:off x="731368" y="6413096"/>
            <a:ext cx="758100" cy="758400"/>
          </a:xfrm>
          <a:prstGeom prst="arc">
            <a:avLst>
              <a:gd fmla="val 17955657" name="adj1"/>
              <a:gd fmla="val 53074" name="adj2"/>
            </a:avLst>
          </a:prstGeom>
          <a:solidFill>
            <a:srgbClr val="F3EEFB"/>
          </a:solidFill>
          <a:ln cap="flat" cmpd="sng" w="2857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0"/>
          <p:cNvSpPr/>
          <p:nvPr/>
        </p:nvSpPr>
        <p:spPr>
          <a:xfrm rot="5400000">
            <a:off x="2474462" y="6660777"/>
            <a:ext cx="572700" cy="617700"/>
          </a:xfrm>
          <a:prstGeom prst="arc">
            <a:avLst>
              <a:gd fmla="val 17955657" name="adj1"/>
              <a:gd fmla="val 53074" name="adj2"/>
            </a:avLst>
          </a:prstGeom>
          <a:solidFill>
            <a:srgbClr val="F3EEFB"/>
          </a:solidFill>
          <a:ln cap="flat" cmpd="sng" w="2857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0"/>
          <p:cNvSpPr txBox="1"/>
          <p:nvPr/>
        </p:nvSpPr>
        <p:spPr>
          <a:xfrm>
            <a:off x="468000" y="6052575"/>
            <a:ext cx="6624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) By sketching similar triangles with a adjacent of 1 unit, find the length of the side indicated on each triangle.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20"/>
          <p:cNvSpPr/>
          <p:nvPr/>
        </p:nvSpPr>
        <p:spPr>
          <a:xfrm rot="5400000">
            <a:off x="1109918" y="7208593"/>
            <a:ext cx="106800" cy="1068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9" name="Google Shape;209;p20"/>
          <p:cNvCxnSpPr/>
          <p:nvPr/>
        </p:nvCxnSpPr>
        <p:spPr>
          <a:xfrm rot="-5400000">
            <a:off x="745801" y="7050897"/>
            <a:ext cx="529800" cy="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10" name="Google Shape;210;p20"/>
          <p:cNvSpPr/>
          <p:nvPr/>
        </p:nvSpPr>
        <p:spPr>
          <a:xfrm flipH="1" rot="-5400000">
            <a:off x="2032829" y="6170655"/>
            <a:ext cx="26375" cy="1267946"/>
          </a:xfrm>
          <a:custGeom>
            <a:rect b="b" l="l" r="r" t="t"/>
            <a:pathLst>
              <a:path extrusionOk="0" h="30529" w="2102">
                <a:moveTo>
                  <a:pt x="2102" y="0"/>
                </a:moveTo>
                <a:cubicBezTo>
                  <a:pt x="1752" y="2548"/>
                  <a:pt x="9" y="10201"/>
                  <a:pt x="1" y="15289"/>
                </a:cubicBezTo>
                <a:cubicBezTo>
                  <a:pt x="-7" y="20377"/>
                  <a:pt x="1711" y="27989"/>
                  <a:pt x="2053" y="30529"/>
                </a:cubicBezTo>
              </a:path>
            </a:pathLst>
          </a:custGeom>
          <a:noFill/>
          <a:ln cap="flat" cmpd="sng" w="28575">
            <a:solidFill>
              <a:srgbClr val="000000"/>
            </a:solidFill>
            <a:prstDash val="dash"/>
            <a:round/>
            <a:headEnd len="med" w="med" type="none"/>
            <a:tailEnd len="med" w="med" type="triangle"/>
          </a:ln>
        </p:spPr>
      </p:sp>
      <p:sp>
        <p:nvSpPr>
          <p:cNvPr id="211" name="Google Shape;211;p20"/>
          <p:cNvSpPr txBox="1"/>
          <p:nvPr/>
        </p:nvSpPr>
        <p:spPr>
          <a:xfrm>
            <a:off x="904791" y="6549377"/>
            <a:ext cx="2282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sketch a similar triangle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20"/>
          <p:cNvSpPr/>
          <p:nvPr/>
        </p:nvSpPr>
        <p:spPr>
          <a:xfrm flipH="1" rot="5400000">
            <a:off x="2019566" y="7185263"/>
            <a:ext cx="142978" cy="1189486"/>
          </a:xfrm>
          <a:custGeom>
            <a:rect b="b" l="l" r="r" t="t"/>
            <a:pathLst>
              <a:path extrusionOk="0" h="30529" w="2102">
                <a:moveTo>
                  <a:pt x="2102" y="0"/>
                </a:moveTo>
                <a:cubicBezTo>
                  <a:pt x="1752" y="2548"/>
                  <a:pt x="9" y="10201"/>
                  <a:pt x="1" y="15289"/>
                </a:cubicBezTo>
                <a:cubicBezTo>
                  <a:pt x="-7" y="20377"/>
                  <a:pt x="1711" y="27989"/>
                  <a:pt x="2053" y="30529"/>
                </a:cubicBezTo>
              </a:path>
            </a:pathLst>
          </a:cu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213" name="Google Shape;213;p20"/>
          <p:cNvSpPr txBox="1"/>
          <p:nvPr/>
        </p:nvSpPr>
        <p:spPr>
          <a:xfrm>
            <a:off x="1020479" y="7879299"/>
            <a:ext cx="1665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×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0"/>
          <p:cNvSpPr txBox="1"/>
          <p:nvPr/>
        </p:nvSpPr>
        <p:spPr>
          <a:xfrm flipH="1">
            <a:off x="1097682" y="6921789"/>
            <a:ext cx="3429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65°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0"/>
          <p:cNvSpPr/>
          <p:nvPr/>
        </p:nvSpPr>
        <p:spPr>
          <a:xfrm>
            <a:off x="2014362" y="7879175"/>
            <a:ext cx="378900" cy="2604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0"/>
          <p:cNvSpPr txBox="1"/>
          <p:nvPr/>
        </p:nvSpPr>
        <p:spPr>
          <a:xfrm>
            <a:off x="1276674" y="7449437"/>
            <a:ext cx="5706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0"/>
          <p:cNvSpPr txBox="1"/>
          <p:nvPr/>
        </p:nvSpPr>
        <p:spPr>
          <a:xfrm>
            <a:off x="477843" y="8433851"/>
            <a:ext cx="30855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60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2.145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  = 128.7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The length of the side marked </a:t>
            </a:r>
            <a:r>
              <a:rPr i="1" lang="en-GB" sz="1200">
                <a:latin typeface="Kalam"/>
                <a:ea typeface="Kalam"/>
                <a:cs typeface="Kalam"/>
                <a:sym typeface="Kalam"/>
              </a:rPr>
              <a:t>b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is 128.7 cm 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8" name="Google Shape;218;p20"/>
          <p:cNvSpPr txBox="1"/>
          <p:nvPr/>
        </p:nvSpPr>
        <p:spPr>
          <a:xfrm>
            <a:off x="2014216" y="7917437"/>
            <a:ext cx="378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60</a:t>
            </a:r>
            <a:endParaRPr sz="1200"/>
          </a:p>
        </p:txBody>
      </p:sp>
      <p:sp>
        <p:nvSpPr>
          <p:cNvPr id="219" name="Google Shape;219;p20"/>
          <p:cNvSpPr/>
          <p:nvPr/>
        </p:nvSpPr>
        <p:spPr>
          <a:xfrm rot="5400000">
            <a:off x="2763320" y="7280883"/>
            <a:ext cx="80700" cy="873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0"/>
          <p:cNvSpPr txBox="1"/>
          <p:nvPr/>
        </p:nvSpPr>
        <p:spPr>
          <a:xfrm rot="29936">
            <a:off x="2829367" y="7527513"/>
            <a:ext cx="620124" cy="1495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2.145 cm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1" name="Google Shape;221;p20"/>
          <p:cNvSpPr txBox="1"/>
          <p:nvPr/>
        </p:nvSpPr>
        <p:spPr>
          <a:xfrm flipH="1">
            <a:off x="2750111" y="7067494"/>
            <a:ext cx="2796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latin typeface="Lexend"/>
                <a:ea typeface="Lexend"/>
                <a:cs typeface="Lexend"/>
                <a:sym typeface="Lexend"/>
              </a:rPr>
              <a:t>65°</a:t>
            </a:r>
            <a:endParaRPr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" name="Google Shape;222;p20"/>
          <p:cNvSpPr/>
          <p:nvPr/>
        </p:nvSpPr>
        <p:spPr>
          <a:xfrm rot="2365551">
            <a:off x="4657312" y="7227419"/>
            <a:ext cx="150690" cy="15069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3" name="Google Shape;223;p20"/>
          <p:cNvCxnSpPr/>
          <p:nvPr/>
        </p:nvCxnSpPr>
        <p:spPr>
          <a:xfrm rot="10800000">
            <a:off x="3833097" y="6768176"/>
            <a:ext cx="850500" cy="6996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24" name="Google Shape;224;p20"/>
          <p:cNvCxnSpPr/>
          <p:nvPr/>
        </p:nvCxnSpPr>
        <p:spPr>
          <a:xfrm flipH="1" rot="10798354">
            <a:off x="4801753" y="6706826"/>
            <a:ext cx="626400" cy="7608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25" name="Google Shape;225;p20"/>
          <p:cNvSpPr txBox="1"/>
          <p:nvPr/>
        </p:nvSpPr>
        <p:spPr>
          <a:xfrm flipH="1">
            <a:off x="4026048" y="6698347"/>
            <a:ext cx="344100" cy="19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50°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" name="Google Shape;226;p20"/>
          <p:cNvSpPr txBox="1"/>
          <p:nvPr/>
        </p:nvSpPr>
        <p:spPr>
          <a:xfrm>
            <a:off x="3793979" y="7127024"/>
            <a:ext cx="635400" cy="19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8.8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0"/>
          <p:cNvSpPr txBox="1"/>
          <p:nvPr/>
        </p:nvSpPr>
        <p:spPr>
          <a:xfrm>
            <a:off x="5051848" y="7026739"/>
            <a:ext cx="572400" cy="19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" name="Google Shape;228;p20"/>
          <p:cNvSpPr/>
          <p:nvPr/>
        </p:nvSpPr>
        <p:spPr>
          <a:xfrm flipH="1" rot="8434449">
            <a:off x="4639906" y="8516301"/>
            <a:ext cx="150690" cy="15069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9" name="Google Shape;229;p20"/>
          <p:cNvCxnSpPr/>
          <p:nvPr/>
        </p:nvCxnSpPr>
        <p:spPr>
          <a:xfrm flipH="1">
            <a:off x="3815690" y="8426634"/>
            <a:ext cx="850500" cy="6996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30" name="Google Shape;230;p20"/>
          <p:cNvSpPr txBox="1"/>
          <p:nvPr/>
        </p:nvSpPr>
        <p:spPr>
          <a:xfrm>
            <a:off x="3992773" y="9008870"/>
            <a:ext cx="344100" cy="19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40°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0"/>
          <p:cNvSpPr txBox="1"/>
          <p:nvPr/>
        </p:nvSpPr>
        <p:spPr>
          <a:xfrm>
            <a:off x="3829727" y="8526370"/>
            <a:ext cx="572400" cy="19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" name="Google Shape;232;p20"/>
          <p:cNvSpPr txBox="1"/>
          <p:nvPr/>
        </p:nvSpPr>
        <p:spPr>
          <a:xfrm>
            <a:off x="5103624" y="8658300"/>
            <a:ext cx="5982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18.5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33" name="Google Shape;233;p20"/>
          <p:cNvCxnSpPr/>
          <p:nvPr/>
        </p:nvCxnSpPr>
        <p:spPr>
          <a:xfrm>
            <a:off x="3691897" y="6309029"/>
            <a:ext cx="0" cy="3489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4" name="Google Shape;234;p20"/>
          <p:cNvSpPr txBox="1"/>
          <p:nvPr/>
        </p:nvSpPr>
        <p:spPr>
          <a:xfrm flipH="1">
            <a:off x="580832" y="6953989"/>
            <a:ext cx="3429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35" name="Google Shape;235;p20"/>
          <p:cNvCxnSpPr/>
          <p:nvPr/>
        </p:nvCxnSpPr>
        <p:spPr>
          <a:xfrm rot="-5400000">
            <a:off x="2421990" y="7152425"/>
            <a:ext cx="462900" cy="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36" name="Google Shape;236;p20"/>
          <p:cNvSpPr txBox="1"/>
          <p:nvPr/>
        </p:nvSpPr>
        <p:spPr>
          <a:xfrm rot="29936">
            <a:off x="2143831" y="7065915"/>
            <a:ext cx="620124" cy="1495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 cm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7" name="Google Shape;237;p20"/>
          <p:cNvSpPr/>
          <p:nvPr/>
        </p:nvSpPr>
        <p:spPr>
          <a:xfrm>
            <a:off x="2760194" y="6964888"/>
            <a:ext cx="749100" cy="4002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8" name="Google Shape;238;p20"/>
          <p:cNvSpPr/>
          <p:nvPr/>
        </p:nvSpPr>
        <p:spPr>
          <a:xfrm>
            <a:off x="1109759" y="6786001"/>
            <a:ext cx="919200" cy="5298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39" name="Google Shape;239;p20"/>
          <p:cNvCxnSpPr/>
          <p:nvPr/>
        </p:nvCxnSpPr>
        <p:spPr>
          <a:xfrm rot="10800000">
            <a:off x="4833475" y="8464010"/>
            <a:ext cx="585600" cy="7089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40" name="Google Shape;240;p20"/>
          <p:cNvSpPr/>
          <p:nvPr/>
        </p:nvSpPr>
        <p:spPr>
          <a:xfrm rot="-3032698">
            <a:off x="4137784" y="6127715"/>
            <a:ext cx="985723" cy="1101227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" name="Google Shape;241;p20"/>
          <p:cNvSpPr/>
          <p:nvPr/>
        </p:nvSpPr>
        <p:spPr>
          <a:xfrm flipH="1" rot="-7767302">
            <a:off x="4120378" y="8665469"/>
            <a:ext cx="985723" cy="1101227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" name="Google Shape;242;p20"/>
          <p:cNvSpPr txBox="1"/>
          <p:nvPr/>
        </p:nvSpPr>
        <p:spPr>
          <a:xfrm>
            <a:off x="5546299" y="6779125"/>
            <a:ext cx="14118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 = 1.04896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3" name="Google Shape;243;p20"/>
          <p:cNvSpPr txBox="1"/>
          <p:nvPr/>
        </p:nvSpPr>
        <p:spPr>
          <a:xfrm>
            <a:off x="5586349" y="8841563"/>
            <a:ext cx="14118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d = 22.05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244" name="Google Shape;24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3825" y="7362113"/>
            <a:ext cx="1116300" cy="155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31675" y="7396300"/>
            <a:ext cx="850500" cy="171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1"/>
          <p:cNvSpPr/>
          <p:nvPr/>
        </p:nvSpPr>
        <p:spPr>
          <a:xfrm flipH="1">
            <a:off x="5494811" y="2221432"/>
            <a:ext cx="271500" cy="2502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1" name="Google Shape;251;p21"/>
          <p:cNvSpPr txBox="1"/>
          <p:nvPr/>
        </p:nvSpPr>
        <p:spPr>
          <a:xfrm>
            <a:off x="474750" y="783604"/>
            <a:ext cx="6624000" cy="1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The opposite and the adjacent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2" name="Google Shape;252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53" name="Google Shape;253;p21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Tangent ratio</a:t>
            </a:r>
            <a:endParaRPr/>
          </a:p>
        </p:txBody>
      </p:sp>
      <p:sp>
        <p:nvSpPr>
          <p:cNvPr id="254" name="Google Shape;254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</a:t>
            </a: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.3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5" name="Google Shape;255;p21"/>
          <p:cNvSpPr/>
          <p:nvPr/>
        </p:nvSpPr>
        <p:spPr>
          <a:xfrm flipH="1">
            <a:off x="5433763" y="2231978"/>
            <a:ext cx="14112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12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-GB" sz="1200">
                <a:solidFill>
                  <a:srgbClr val="037B7D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tan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GB" sz="1200">
                <a:solidFill>
                  <a:srgbClr val="037B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lang="en-GB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θ°</a:t>
            </a:r>
            <a:r>
              <a:rPr lang="en-GB" sz="1200">
                <a:solidFill>
                  <a:srgbClr val="037B7D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6" name="Google Shape;256;p21"/>
          <p:cNvSpPr txBox="1"/>
          <p:nvPr/>
        </p:nvSpPr>
        <p:spPr>
          <a:xfrm flipH="1">
            <a:off x="5492160" y="2232133"/>
            <a:ext cx="275100" cy="2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16.9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57" name="Google Shape;257;p21"/>
          <p:cNvCxnSpPr/>
          <p:nvPr/>
        </p:nvCxnSpPr>
        <p:spPr>
          <a:xfrm>
            <a:off x="474757" y="7517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8" name="Google Shape;258;p21"/>
          <p:cNvSpPr/>
          <p:nvPr/>
        </p:nvSpPr>
        <p:spPr>
          <a:xfrm flipH="1">
            <a:off x="3553157" y="2402226"/>
            <a:ext cx="998100" cy="998100"/>
          </a:xfrm>
          <a:prstGeom prst="arc">
            <a:avLst>
              <a:gd fmla="val 10771373" name="adj1"/>
              <a:gd fmla="val 13148850" name="adj2"/>
            </a:avLst>
          </a:prstGeom>
          <a:solidFill>
            <a:srgbClr val="F3EEFB"/>
          </a:solidFill>
          <a:ln cap="flat" cmpd="sng" w="2857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9" name="Google Shape;259;p21"/>
          <p:cNvSpPr/>
          <p:nvPr/>
        </p:nvSpPr>
        <p:spPr>
          <a:xfrm flipH="1">
            <a:off x="4045764" y="1858005"/>
            <a:ext cx="1277100" cy="10494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0" name="Google Shape;260;p21"/>
          <p:cNvSpPr/>
          <p:nvPr/>
        </p:nvSpPr>
        <p:spPr>
          <a:xfrm rot="5400000">
            <a:off x="5782775" y="3834358"/>
            <a:ext cx="1309500" cy="1309500"/>
          </a:xfrm>
          <a:prstGeom prst="arc">
            <a:avLst>
              <a:gd fmla="val 5394639" name="adj1"/>
              <a:gd fmla="val 7194094" name="adj2"/>
            </a:avLst>
          </a:prstGeom>
          <a:solidFill>
            <a:srgbClr val="F3EEFB"/>
          </a:solidFill>
          <a:ln cap="flat" cmpd="sng" w="2857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1" name="Google Shape;261;p21"/>
          <p:cNvSpPr/>
          <p:nvPr/>
        </p:nvSpPr>
        <p:spPr>
          <a:xfrm>
            <a:off x="5206182" y="3778086"/>
            <a:ext cx="1240500" cy="7146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2" name="Google Shape;262;p21"/>
          <p:cNvSpPr/>
          <p:nvPr/>
        </p:nvSpPr>
        <p:spPr>
          <a:xfrm>
            <a:off x="2967925" y="2304271"/>
            <a:ext cx="925800" cy="925800"/>
          </a:xfrm>
          <a:prstGeom prst="arc">
            <a:avLst>
              <a:gd fmla="val 10771373" name="adj1"/>
              <a:gd fmla="val 13506230" name="adj2"/>
            </a:avLst>
          </a:prstGeom>
          <a:solidFill>
            <a:srgbClr val="F3EEFB"/>
          </a:solidFill>
          <a:ln cap="flat" cmpd="sng" w="2857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3" name="Google Shape;263;p21"/>
          <p:cNvSpPr/>
          <p:nvPr/>
        </p:nvSpPr>
        <p:spPr>
          <a:xfrm>
            <a:off x="2191227" y="1520949"/>
            <a:ext cx="1254000" cy="12540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4" name="Google Shape;264;p21"/>
          <p:cNvSpPr txBox="1"/>
          <p:nvPr/>
        </p:nvSpPr>
        <p:spPr>
          <a:xfrm>
            <a:off x="474750" y="1072075"/>
            <a:ext cx="6610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Find the length of the side opposite the labelled angle using this relationship.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5" name="Google Shape;265;p21"/>
          <p:cNvSpPr/>
          <p:nvPr/>
        </p:nvSpPr>
        <p:spPr>
          <a:xfrm>
            <a:off x="2571139" y="1371850"/>
            <a:ext cx="2247300" cy="3252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6" name="Google Shape;266;p21"/>
          <p:cNvSpPr txBox="1"/>
          <p:nvPr/>
        </p:nvSpPr>
        <p:spPr>
          <a:xfrm>
            <a:off x="2571150" y="1433974"/>
            <a:ext cx="2247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opposite side = adj × </a:t>
            </a: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tan(</a:t>
            </a:r>
            <a:r>
              <a:rPr i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θ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67" name="Google Shape;267;p21"/>
          <p:cNvCxnSpPr/>
          <p:nvPr/>
        </p:nvCxnSpPr>
        <p:spPr>
          <a:xfrm>
            <a:off x="3694740" y="1925670"/>
            <a:ext cx="34500" cy="37086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8" name="Google Shape;268;p21"/>
          <p:cNvSpPr/>
          <p:nvPr/>
        </p:nvSpPr>
        <p:spPr>
          <a:xfrm>
            <a:off x="2191227" y="2535170"/>
            <a:ext cx="239700" cy="2397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69" name="Google Shape;269;p21"/>
          <p:cNvCxnSpPr/>
          <p:nvPr/>
        </p:nvCxnSpPr>
        <p:spPr>
          <a:xfrm>
            <a:off x="2090993" y="1520949"/>
            <a:ext cx="0" cy="12585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70" name="Google Shape;270;p21"/>
          <p:cNvSpPr txBox="1"/>
          <p:nvPr/>
        </p:nvSpPr>
        <p:spPr>
          <a:xfrm>
            <a:off x="2993709" y="2603365"/>
            <a:ext cx="318900" cy="15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40°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1" name="Google Shape;271;p21"/>
          <p:cNvSpPr/>
          <p:nvPr/>
        </p:nvSpPr>
        <p:spPr>
          <a:xfrm>
            <a:off x="535636" y="1950524"/>
            <a:ext cx="14112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12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37B7D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tan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GB" sz="1200">
                <a:solidFill>
                  <a:srgbClr val="E6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r>
              <a:rPr lang="en-GB" sz="1200">
                <a:solidFill>
                  <a:srgbClr val="037B7D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2" name="Google Shape;272;p21"/>
          <p:cNvSpPr/>
          <p:nvPr/>
        </p:nvSpPr>
        <p:spPr>
          <a:xfrm flipH="1">
            <a:off x="5122473" y="2706990"/>
            <a:ext cx="200400" cy="2004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73" name="Google Shape;273;p21"/>
          <p:cNvCxnSpPr/>
          <p:nvPr/>
        </p:nvCxnSpPr>
        <p:spPr>
          <a:xfrm>
            <a:off x="5406776" y="1858011"/>
            <a:ext cx="0" cy="10533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74" name="Google Shape;274;p21"/>
          <p:cNvSpPr txBox="1"/>
          <p:nvPr/>
        </p:nvSpPr>
        <p:spPr>
          <a:xfrm flipH="1">
            <a:off x="4212940" y="2746686"/>
            <a:ext cx="348000" cy="13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35°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5" name="Google Shape;275;p21"/>
          <p:cNvSpPr/>
          <p:nvPr/>
        </p:nvSpPr>
        <p:spPr>
          <a:xfrm flipH="1">
            <a:off x="6214553" y="2221432"/>
            <a:ext cx="271500" cy="2502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6" name="Google Shape;276;p21"/>
          <p:cNvSpPr txBox="1"/>
          <p:nvPr/>
        </p:nvSpPr>
        <p:spPr>
          <a:xfrm flipH="1">
            <a:off x="2446833" y="2960121"/>
            <a:ext cx="742800" cy="15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91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7" name="Google Shape;277;p21"/>
          <p:cNvSpPr/>
          <p:nvPr/>
        </p:nvSpPr>
        <p:spPr>
          <a:xfrm>
            <a:off x="535636" y="2343898"/>
            <a:ext cx="14112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37B7D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</a:t>
            </a:r>
            <a:r>
              <a:rPr lang="en-GB" sz="1200">
                <a:solidFill>
                  <a:srgbClr val="037B7D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sin( </a:t>
            </a: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θ° </a:t>
            </a:r>
            <a:r>
              <a:rPr lang="en-GB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8" name="Google Shape;278;p21"/>
          <p:cNvSpPr/>
          <p:nvPr/>
        </p:nvSpPr>
        <p:spPr>
          <a:xfrm flipH="1">
            <a:off x="2801224" y="3694183"/>
            <a:ext cx="824700" cy="825000"/>
          </a:xfrm>
          <a:prstGeom prst="arc">
            <a:avLst>
              <a:gd fmla="val 21431706" name="adj1"/>
              <a:gd fmla="val 2341765" name="adj2"/>
            </a:avLst>
          </a:prstGeom>
          <a:solidFill>
            <a:srgbClr val="F3EEFB"/>
          </a:solidFill>
          <a:ln cap="flat" cmpd="sng" w="2857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9" name="Google Shape;279;p21"/>
          <p:cNvSpPr/>
          <p:nvPr/>
        </p:nvSpPr>
        <p:spPr>
          <a:xfrm flipH="1" rot="-2371797">
            <a:off x="2393993" y="4568933"/>
            <a:ext cx="135746" cy="135746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0" name="Google Shape;280;p21"/>
          <p:cNvSpPr txBox="1"/>
          <p:nvPr/>
        </p:nvSpPr>
        <p:spPr>
          <a:xfrm>
            <a:off x="2812774" y="4094136"/>
            <a:ext cx="310200" cy="1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55°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1" name="Google Shape;281;p21"/>
          <p:cNvSpPr txBox="1"/>
          <p:nvPr/>
        </p:nvSpPr>
        <p:spPr>
          <a:xfrm flipH="1">
            <a:off x="2824273" y="4484876"/>
            <a:ext cx="670800" cy="1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143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2" name="Google Shape;282;p21"/>
          <p:cNvSpPr/>
          <p:nvPr/>
        </p:nvSpPr>
        <p:spPr>
          <a:xfrm rot="5400000">
            <a:off x="5206169" y="4306463"/>
            <a:ext cx="186300" cy="1863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83" name="Google Shape;283;p21"/>
          <p:cNvCxnSpPr/>
          <p:nvPr/>
        </p:nvCxnSpPr>
        <p:spPr>
          <a:xfrm rot="-5400000">
            <a:off x="4742627" y="4142058"/>
            <a:ext cx="722700" cy="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84" name="Google Shape;284;p21"/>
          <p:cNvSpPr txBox="1"/>
          <p:nvPr/>
        </p:nvSpPr>
        <p:spPr>
          <a:xfrm>
            <a:off x="4655883" y="4069921"/>
            <a:ext cx="449100" cy="14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5" name="Google Shape;285;p21"/>
          <p:cNvSpPr txBox="1"/>
          <p:nvPr/>
        </p:nvSpPr>
        <p:spPr>
          <a:xfrm>
            <a:off x="5805182" y="4302762"/>
            <a:ext cx="315600" cy="15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20°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6" name="Google Shape;286;p21"/>
          <p:cNvSpPr txBox="1"/>
          <p:nvPr/>
        </p:nvSpPr>
        <p:spPr>
          <a:xfrm flipH="1">
            <a:off x="706796" y="2631449"/>
            <a:ext cx="1019700" cy="2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=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76.349 cm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87" name="Google Shape;287;p21"/>
          <p:cNvSpPr txBox="1"/>
          <p:nvPr/>
        </p:nvSpPr>
        <p:spPr>
          <a:xfrm flipH="1">
            <a:off x="6211562" y="2232126"/>
            <a:ext cx="271500" cy="2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35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88" name="Google Shape;288;p21"/>
          <p:cNvSpPr txBox="1"/>
          <p:nvPr/>
        </p:nvSpPr>
        <p:spPr>
          <a:xfrm flipH="1">
            <a:off x="5587829" y="2650984"/>
            <a:ext cx="1116300" cy="2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= 11.83 cm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89" name="Google Shape;289;p21"/>
          <p:cNvSpPr txBox="1"/>
          <p:nvPr/>
        </p:nvSpPr>
        <p:spPr>
          <a:xfrm>
            <a:off x="1183793" y="4388231"/>
            <a:ext cx="998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adj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×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tan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θ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90" name="Google Shape;290;p21"/>
          <p:cNvCxnSpPr/>
          <p:nvPr/>
        </p:nvCxnSpPr>
        <p:spPr>
          <a:xfrm flipH="1" rot="10800000">
            <a:off x="2505867" y="4154507"/>
            <a:ext cx="767400" cy="6312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91" name="Google Shape;291;p21"/>
          <p:cNvCxnSpPr/>
          <p:nvPr/>
        </p:nvCxnSpPr>
        <p:spPr>
          <a:xfrm rot="-10798174">
            <a:off x="1834373" y="4099462"/>
            <a:ext cx="564900" cy="6861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92" name="Google Shape;292;p21"/>
          <p:cNvSpPr txBox="1"/>
          <p:nvPr/>
        </p:nvSpPr>
        <p:spPr>
          <a:xfrm flipH="1">
            <a:off x="1003832" y="4802980"/>
            <a:ext cx="1254000" cy="2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= 204.204 cm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93" name="Google Shape;293;p21"/>
          <p:cNvSpPr txBox="1"/>
          <p:nvPr/>
        </p:nvSpPr>
        <p:spPr>
          <a:xfrm flipH="1">
            <a:off x="5232055" y="4928824"/>
            <a:ext cx="1254000" cy="2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d = 0.16016 cm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94" name="Google Shape;294;p21"/>
          <p:cNvSpPr txBox="1"/>
          <p:nvPr/>
        </p:nvSpPr>
        <p:spPr>
          <a:xfrm>
            <a:off x="535674" y="1325988"/>
            <a:ext cx="348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21"/>
          <p:cNvSpPr txBox="1"/>
          <p:nvPr/>
        </p:nvSpPr>
        <p:spPr>
          <a:xfrm>
            <a:off x="3798076" y="1760734"/>
            <a:ext cx="348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21"/>
          <p:cNvSpPr txBox="1"/>
          <p:nvPr/>
        </p:nvSpPr>
        <p:spPr>
          <a:xfrm>
            <a:off x="3798076" y="3745633"/>
            <a:ext cx="348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7" name="Google Shape;297;p21"/>
          <p:cNvSpPr txBox="1"/>
          <p:nvPr/>
        </p:nvSpPr>
        <p:spPr>
          <a:xfrm>
            <a:off x="496474" y="3806158"/>
            <a:ext cx="348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21"/>
          <p:cNvSpPr/>
          <p:nvPr/>
        </p:nvSpPr>
        <p:spPr>
          <a:xfrm>
            <a:off x="637452" y="1956260"/>
            <a:ext cx="271500" cy="2502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9" name="Google Shape;299;p21"/>
          <p:cNvSpPr/>
          <p:nvPr/>
        </p:nvSpPr>
        <p:spPr>
          <a:xfrm>
            <a:off x="1329331" y="1956260"/>
            <a:ext cx="271500" cy="2502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0" name="Google Shape;300;p21"/>
          <p:cNvSpPr/>
          <p:nvPr/>
        </p:nvSpPr>
        <p:spPr>
          <a:xfrm>
            <a:off x="651608" y="2335478"/>
            <a:ext cx="271500" cy="2502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21"/>
          <p:cNvSpPr/>
          <p:nvPr/>
        </p:nvSpPr>
        <p:spPr>
          <a:xfrm>
            <a:off x="1141000" y="2335469"/>
            <a:ext cx="558600" cy="2502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2" name="Google Shape;302;p21"/>
          <p:cNvSpPr txBox="1"/>
          <p:nvPr/>
        </p:nvSpPr>
        <p:spPr>
          <a:xfrm flipH="1">
            <a:off x="637464" y="1963984"/>
            <a:ext cx="271500" cy="2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91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03" name="Google Shape;303;p21"/>
          <p:cNvSpPr txBox="1"/>
          <p:nvPr/>
        </p:nvSpPr>
        <p:spPr>
          <a:xfrm flipH="1">
            <a:off x="651620" y="2340044"/>
            <a:ext cx="271500" cy="2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91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04" name="Google Shape;304;p21"/>
          <p:cNvSpPr txBox="1"/>
          <p:nvPr/>
        </p:nvSpPr>
        <p:spPr>
          <a:xfrm flipH="1">
            <a:off x="1329343" y="1963977"/>
            <a:ext cx="271500" cy="2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40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05" name="Google Shape;305;p21"/>
          <p:cNvSpPr txBox="1"/>
          <p:nvPr/>
        </p:nvSpPr>
        <p:spPr>
          <a:xfrm flipH="1">
            <a:off x="1140961" y="2345639"/>
            <a:ext cx="558600" cy="2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0.839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06" name="Google Shape;306;p21"/>
          <p:cNvSpPr/>
          <p:nvPr/>
        </p:nvSpPr>
        <p:spPr>
          <a:xfrm flipH="1" rot="3032759">
            <a:off x="2109204" y="3576764"/>
            <a:ext cx="888964" cy="993406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07" name="Google Shape;307;p21"/>
          <p:cNvCxnSpPr/>
          <p:nvPr/>
        </p:nvCxnSpPr>
        <p:spPr>
          <a:xfrm rot="10800000">
            <a:off x="4065300" y="3036263"/>
            <a:ext cx="1299900" cy="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08" name="Google Shape;308;p21"/>
          <p:cNvSpPr txBox="1"/>
          <p:nvPr/>
        </p:nvSpPr>
        <p:spPr>
          <a:xfrm flipH="1">
            <a:off x="4343858" y="3068346"/>
            <a:ext cx="742800" cy="15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16.9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09" name="Google Shape;309;p21"/>
          <p:cNvCxnSpPr/>
          <p:nvPr/>
        </p:nvCxnSpPr>
        <p:spPr>
          <a:xfrm rot="10800000">
            <a:off x="5196550" y="4599760"/>
            <a:ext cx="1258200" cy="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10" name="Google Shape;310;p21"/>
          <p:cNvSpPr txBox="1"/>
          <p:nvPr/>
        </p:nvSpPr>
        <p:spPr>
          <a:xfrm flipH="1">
            <a:off x="5466370" y="4631842"/>
            <a:ext cx="718800" cy="15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0.44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1" name="Google Shape;311;p21"/>
          <p:cNvSpPr/>
          <p:nvPr/>
        </p:nvSpPr>
        <p:spPr>
          <a:xfrm>
            <a:off x="535636" y="1602578"/>
            <a:ext cx="14112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adj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×  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tan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 </a:t>
            </a:r>
            <a:r>
              <a:rPr i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θ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12" name="Google Shape;31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52225" y="2813325"/>
            <a:ext cx="1411200" cy="17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5925" y="3300778"/>
            <a:ext cx="6793199" cy="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21"/>
          <p:cNvSpPr/>
          <p:nvPr/>
        </p:nvSpPr>
        <p:spPr>
          <a:xfrm>
            <a:off x="4438288" y="7280087"/>
            <a:ext cx="853500" cy="2616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21"/>
          <p:cNvSpPr/>
          <p:nvPr/>
        </p:nvSpPr>
        <p:spPr>
          <a:xfrm>
            <a:off x="4438288" y="7640359"/>
            <a:ext cx="853500" cy="2616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21"/>
          <p:cNvSpPr txBox="1"/>
          <p:nvPr/>
        </p:nvSpPr>
        <p:spPr>
          <a:xfrm flipH="1">
            <a:off x="4438427" y="7285457"/>
            <a:ext cx="8535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65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17" name="Google Shape;317;p21"/>
          <p:cNvSpPr txBox="1"/>
          <p:nvPr/>
        </p:nvSpPr>
        <p:spPr>
          <a:xfrm flipH="1">
            <a:off x="4438427" y="7653382"/>
            <a:ext cx="8535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5.671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18" name="Google Shape;318;p21"/>
          <p:cNvSpPr/>
          <p:nvPr/>
        </p:nvSpPr>
        <p:spPr>
          <a:xfrm>
            <a:off x="2571139" y="6409256"/>
            <a:ext cx="2247300" cy="3252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9" name="Google Shape;319;p21"/>
          <p:cNvSpPr txBox="1"/>
          <p:nvPr/>
        </p:nvSpPr>
        <p:spPr>
          <a:xfrm>
            <a:off x="2571150" y="6471381"/>
            <a:ext cx="2247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opposite side = adj × </a:t>
            </a: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tan(</a:t>
            </a:r>
            <a:r>
              <a:rPr i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θ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20" name="Google Shape;320;p21"/>
          <p:cNvCxnSpPr/>
          <p:nvPr/>
        </p:nvCxnSpPr>
        <p:spPr>
          <a:xfrm>
            <a:off x="3780575" y="6739250"/>
            <a:ext cx="0" cy="27294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1" name="Google Shape;321;p21"/>
          <p:cNvSpPr/>
          <p:nvPr/>
        </p:nvSpPr>
        <p:spPr>
          <a:xfrm flipH="1">
            <a:off x="5109603" y="7669540"/>
            <a:ext cx="861300" cy="861300"/>
          </a:xfrm>
          <a:prstGeom prst="arc">
            <a:avLst>
              <a:gd fmla="val 10771373" name="adj1"/>
              <a:gd fmla="val 14522387" name="adj2"/>
            </a:avLst>
          </a:prstGeom>
          <a:solidFill>
            <a:srgbClr val="F3EEFB"/>
          </a:solidFill>
          <a:ln cap="flat" cmpd="sng" w="2857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2" name="Google Shape;322;p21"/>
          <p:cNvSpPr txBox="1"/>
          <p:nvPr/>
        </p:nvSpPr>
        <p:spPr>
          <a:xfrm flipH="1">
            <a:off x="3909314" y="7413479"/>
            <a:ext cx="4905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adj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3" name="Google Shape;323;p21"/>
          <p:cNvSpPr/>
          <p:nvPr/>
        </p:nvSpPr>
        <p:spPr>
          <a:xfrm>
            <a:off x="2252684" y="7079831"/>
            <a:ext cx="1164600" cy="1164600"/>
          </a:xfrm>
          <a:prstGeom prst="arc">
            <a:avLst>
              <a:gd fmla="val 10771373" name="adj1"/>
              <a:gd fmla="val 12609969" name="adj2"/>
            </a:avLst>
          </a:prstGeom>
          <a:solidFill>
            <a:srgbClr val="F3EEFB"/>
          </a:solidFill>
          <a:ln cap="flat" cmpd="sng" w="2857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4" name="Google Shape;324;p21"/>
          <p:cNvSpPr txBox="1"/>
          <p:nvPr/>
        </p:nvSpPr>
        <p:spPr>
          <a:xfrm>
            <a:off x="468036" y="6206396"/>
            <a:ext cx="6600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Find the length of the adjacent when given the side opposite the labelled angle.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5" name="Google Shape;325;p21"/>
          <p:cNvSpPr/>
          <p:nvPr/>
        </p:nvSpPr>
        <p:spPr>
          <a:xfrm flipH="1">
            <a:off x="1230617" y="7515584"/>
            <a:ext cx="150900" cy="1509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26" name="Google Shape;326;p21"/>
          <p:cNvCxnSpPr/>
          <p:nvPr/>
        </p:nvCxnSpPr>
        <p:spPr>
          <a:xfrm>
            <a:off x="1289945" y="6670756"/>
            <a:ext cx="1644300" cy="9363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27" name="Google Shape;327;p21"/>
          <p:cNvCxnSpPr/>
          <p:nvPr/>
        </p:nvCxnSpPr>
        <p:spPr>
          <a:xfrm>
            <a:off x="1230742" y="7752147"/>
            <a:ext cx="1644300" cy="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28" name="Google Shape;328;p21"/>
          <p:cNvCxnSpPr/>
          <p:nvPr/>
        </p:nvCxnSpPr>
        <p:spPr>
          <a:xfrm rot="10800000">
            <a:off x="1144918" y="6730023"/>
            <a:ext cx="0" cy="9363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29" name="Google Shape;329;p21"/>
          <p:cNvSpPr txBox="1"/>
          <p:nvPr/>
        </p:nvSpPr>
        <p:spPr>
          <a:xfrm flipH="1">
            <a:off x="611324" y="7129050"/>
            <a:ext cx="535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88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0" name="Google Shape;330;p21"/>
          <p:cNvSpPr txBox="1"/>
          <p:nvPr/>
        </p:nvSpPr>
        <p:spPr>
          <a:xfrm>
            <a:off x="1571404" y="8130643"/>
            <a:ext cx="5781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0.17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31" name="Google Shape;331;p21"/>
          <p:cNvCxnSpPr/>
          <p:nvPr/>
        </p:nvCxnSpPr>
        <p:spPr>
          <a:xfrm>
            <a:off x="1571400" y="8099192"/>
            <a:ext cx="5781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2" name="Google Shape;332;p21"/>
          <p:cNvSpPr txBox="1"/>
          <p:nvPr/>
        </p:nvSpPr>
        <p:spPr>
          <a:xfrm>
            <a:off x="2249441" y="7499040"/>
            <a:ext cx="363600" cy="13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21"/>
          <p:cNvSpPr/>
          <p:nvPr/>
        </p:nvSpPr>
        <p:spPr>
          <a:xfrm flipH="1">
            <a:off x="6229059" y="7948660"/>
            <a:ext cx="150900" cy="1509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4" name="Google Shape;334;p21"/>
          <p:cNvSpPr txBox="1"/>
          <p:nvPr/>
        </p:nvSpPr>
        <p:spPr>
          <a:xfrm flipH="1">
            <a:off x="6466499" y="7264935"/>
            <a:ext cx="6255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65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35" name="Google Shape;335;p21"/>
          <p:cNvCxnSpPr/>
          <p:nvPr/>
        </p:nvCxnSpPr>
        <p:spPr>
          <a:xfrm flipH="1">
            <a:off x="5477308" y="6475221"/>
            <a:ext cx="844200" cy="15657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36" name="Google Shape;336;p21"/>
          <p:cNvCxnSpPr/>
          <p:nvPr/>
        </p:nvCxnSpPr>
        <p:spPr>
          <a:xfrm rot="10800000">
            <a:off x="5536511" y="8186002"/>
            <a:ext cx="844200" cy="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37" name="Google Shape;337;p21"/>
          <p:cNvCxnSpPr/>
          <p:nvPr/>
        </p:nvCxnSpPr>
        <p:spPr>
          <a:xfrm rot="10800000">
            <a:off x="6466628" y="6534386"/>
            <a:ext cx="0" cy="15657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38" name="Google Shape;338;p21"/>
          <p:cNvCxnSpPr/>
          <p:nvPr/>
        </p:nvCxnSpPr>
        <p:spPr>
          <a:xfrm>
            <a:off x="4438288" y="7590977"/>
            <a:ext cx="8535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9" name="Google Shape;339;p21"/>
          <p:cNvSpPr txBox="1"/>
          <p:nvPr/>
        </p:nvSpPr>
        <p:spPr>
          <a:xfrm flipH="1">
            <a:off x="5606629" y="7930227"/>
            <a:ext cx="363600" cy="13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80°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21"/>
          <p:cNvSpPr txBox="1"/>
          <p:nvPr/>
        </p:nvSpPr>
        <p:spPr>
          <a:xfrm flipH="1">
            <a:off x="5545239" y="8247780"/>
            <a:ext cx="8535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adj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1" name="Google Shape;341;p21"/>
          <p:cNvSpPr txBox="1"/>
          <p:nvPr/>
        </p:nvSpPr>
        <p:spPr>
          <a:xfrm flipH="1">
            <a:off x="1571725" y="7797591"/>
            <a:ext cx="5781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opp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42" name="Google Shape;342;p21"/>
          <p:cNvSpPr txBox="1"/>
          <p:nvPr/>
        </p:nvSpPr>
        <p:spPr>
          <a:xfrm flipH="1">
            <a:off x="2172074" y="7981094"/>
            <a:ext cx="8928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500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cm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43" name="Google Shape;343;p21"/>
          <p:cNvSpPr txBox="1"/>
          <p:nvPr/>
        </p:nvSpPr>
        <p:spPr>
          <a:xfrm flipH="1">
            <a:off x="4270100" y="8020864"/>
            <a:ext cx="11178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1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1.46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cm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44" name="Google Shape;344;p21"/>
          <p:cNvSpPr txBox="1"/>
          <p:nvPr/>
        </p:nvSpPr>
        <p:spPr>
          <a:xfrm>
            <a:off x="468036" y="6771815"/>
            <a:ext cx="363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5" name="Google Shape;345;p21"/>
          <p:cNvSpPr txBox="1"/>
          <p:nvPr/>
        </p:nvSpPr>
        <p:spPr>
          <a:xfrm>
            <a:off x="3876418" y="6987185"/>
            <a:ext cx="363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6" name="Google Shape;346;p21"/>
          <p:cNvSpPr/>
          <p:nvPr/>
        </p:nvSpPr>
        <p:spPr>
          <a:xfrm rot="5400000">
            <a:off x="624869" y="8244274"/>
            <a:ext cx="739500" cy="739500"/>
          </a:xfrm>
          <a:prstGeom prst="arc">
            <a:avLst>
              <a:gd fmla="val 18031654" name="adj1"/>
              <a:gd fmla="val 66266" name="adj2"/>
            </a:avLst>
          </a:prstGeom>
          <a:solidFill>
            <a:srgbClr val="F3EEFB"/>
          </a:solidFill>
          <a:ln cap="flat" cmpd="sng" w="2857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7" name="Google Shape;347;p21"/>
          <p:cNvSpPr/>
          <p:nvPr/>
        </p:nvSpPr>
        <p:spPr>
          <a:xfrm rot="5400000">
            <a:off x="988057" y="9155854"/>
            <a:ext cx="194700" cy="1947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48" name="Google Shape;348;p21"/>
          <p:cNvCxnSpPr/>
          <p:nvPr/>
        </p:nvCxnSpPr>
        <p:spPr>
          <a:xfrm flipH="1" rot="5400000">
            <a:off x="1322019" y="8269701"/>
            <a:ext cx="746700" cy="12963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49" name="Google Shape;349;p21"/>
          <p:cNvCxnSpPr/>
          <p:nvPr/>
        </p:nvCxnSpPr>
        <p:spPr>
          <a:xfrm>
            <a:off x="993029" y="9429981"/>
            <a:ext cx="1291200" cy="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50" name="Google Shape;350;p21"/>
          <p:cNvSpPr txBox="1"/>
          <p:nvPr/>
        </p:nvSpPr>
        <p:spPr>
          <a:xfrm>
            <a:off x="990402" y="8758927"/>
            <a:ext cx="3297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65°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1" name="Google Shape;351;p21"/>
          <p:cNvSpPr txBox="1"/>
          <p:nvPr/>
        </p:nvSpPr>
        <p:spPr>
          <a:xfrm flipH="1">
            <a:off x="1323415" y="9444365"/>
            <a:ext cx="6255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183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2" name="Google Shape;352;p21"/>
          <p:cNvSpPr txBox="1"/>
          <p:nvPr/>
        </p:nvSpPr>
        <p:spPr>
          <a:xfrm>
            <a:off x="1630423" y="8708015"/>
            <a:ext cx="6345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202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3" name="Google Shape;353;p21"/>
          <p:cNvSpPr txBox="1"/>
          <p:nvPr/>
        </p:nvSpPr>
        <p:spPr>
          <a:xfrm>
            <a:off x="3876425" y="8532000"/>
            <a:ext cx="3192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d) A right-angled triangle has an angle of 85°.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 length of the side opposite this angle is 142 cm.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4" name="Google Shape;354;p21"/>
          <p:cNvSpPr txBox="1"/>
          <p:nvPr/>
        </p:nvSpPr>
        <p:spPr>
          <a:xfrm flipH="1">
            <a:off x="2468778" y="8758928"/>
            <a:ext cx="11178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85.31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cm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55" name="Google Shape;355;p21"/>
          <p:cNvSpPr txBox="1"/>
          <p:nvPr/>
        </p:nvSpPr>
        <p:spPr>
          <a:xfrm flipH="1">
            <a:off x="5348825" y="9225933"/>
            <a:ext cx="11178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12.42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cm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56" name="Google Shape;356;p21"/>
          <p:cNvSpPr txBox="1"/>
          <p:nvPr/>
        </p:nvSpPr>
        <p:spPr>
          <a:xfrm flipH="1">
            <a:off x="470083" y="8923475"/>
            <a:ext cx="439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adj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57" name="Google Shape;357;p21"/>
          <p:cNvCxnSpPr/>
          <p:nvPr/>
        </p:nvCxnSpPr>
        <p:spPr>
          <a:xfrm rot="10800000">
            <a:off x="909883" y="8598915"/>
            <a:ext cx="0" cy="7242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58" name="Google Shape;358;p21"/>
          <p:cNvSpPr txBox="1"/>
          <p:nvPr/>
        </p:nvSpPr>
        <p:spPr>
          <a:xfrm>
            <a:off x="468036" y="8552933"/>
            <a:ext cx="363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21"/>
          <p:cNvSpPr txBox="1"/>
          <p:nvPr/>
        </p:nvSpPr>
        <p:spPr>
          <a:xfrm flipH="1">
            <a:off x="970630" y="7969875"/>
            <a:ext cx="5607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adj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0" name="Google Shape;360;p21"/>
          <p:cNvSpPr txBox="1"/>
          <p:nvPr/>
        </p:nvSpPr>
        <p:spPr>
          <a:xfrm flipH="1">
            <a:off x="5381003" y="7034048"/>
            <a:ext cx="6255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66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21"/>
          <p:cNvSpPr/>
          <p:nvPr/>
        </p:nvSpPr>
        <p:spPr>
          <a:xfrm flipH="1" rot="5400000">
            <a:off x="1584685" y="6376023"/>
            <a:ext cx="936300" cy="16443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21"/>
          <p:cNvSpPr/>
          <p:nvPr/>
        </p:nvSpPr>
        <p:spPr>
          <a:xfrm rot="-5400000">
            <a:off x="5175741" y="6895136"/>
            <a:ext cx="1565700" cy="8442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21"/>
          <p:cNvSpPr/>
          <p:nvPr/>
        </p:nvSpPr>
        <p:spPr>
          <a:xfrm>
            <a:off x="988134" y="8603834"/>
            <a:ext cx="1296300" cy="7467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64" name="Google Shape;364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7713" y="8450628"/>
            <a:ext cx="6793199" cy="4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22"/>
          <p:cNvSpPr txBox="1"/>
          <p:nvPr/>
        </p:nvSpPr>
        <p:spPr>
          <a:xfrm>
            <a:off x="474750" y="885548"/>
            <a:ext cx="6624000" cy="1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Effectively using a calculator for the tan ratio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0" name="Google Shape;370;p2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71" name="Google Shape;371;p22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Tangent ratio</a:t>
            </a:r>
            <a:endParaRPr/>
          </a:p>
        </p:txBody>
      </p:sp>
      <p:sp>
        <p:nvSpPr>
          <p:cNvPr id="372" name="Google Shape;372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3" name="Google Shape;373;p22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Mathematics in Education and Industry</a:t>
            </a:r>
            <a:endParaRPr/>
          </a:p>
        </p:txBody>
      </p:sp>
      <p:sp>
        <p:nvSpPr>
          <p:cNvPr id="374" name="Google Shape;374;p22"/>
          <p:cNvSpPr txBox="1"/>
          <p:nvPr/>
        </p:nvSpPr>
        <p:spPr>
          <a:xfrm>
            <a:off x="474750" y="1174018"/>
            <a:ext cx="6610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Starting with the smallest, put these side lengths of right-angled triangles in order of size.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5" name="Google Shape;375;p22"/>
          <p:cNvSpPr/>
          <p:nvPr/>
        </p:nvSpPr>
        <p:spPr>
          <a:xfrm>
            <a:off x="1153825" y="1476850"/>
            <a:ext cx="1164600" cy="2601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0.4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×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tan(10°)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6" name="Google Shape;376;p22"/>
          <p:cNvSpPr txBox="1"/>
          <p:nvPr/>
        </p:nvSpPr>
        <p:spPr>
          <a:xfrm>
            <a:off x="1153825" y="1743937"/>
            <a:ext cx="1164600" cy="1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0.071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77" name="Google Shape;377;p22"/>
          <p:cNvSpPr/>
          <p:nvPr/>
        </p:nvSpPr>
        <p:spPr>
          <a:xfrm>
            <a:off x="3844043" y="1476850"/>
            <a:ext cx="1164600" cy="2601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0.4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×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tan(70°)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8" name="Google Shape;378;p22"/>
          <p:cNvSpPr txBox="1"/>
          <p:nvPr/>
        </p:nvSpPr>
        <p:spPr>
          <a:xfrm>
            <a:off x="3844043" y="1743937"/>
            <a:ext cx="1164600" cy="1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1.099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79" name="Google Shape;379;p22"/>
          <p:cNvSpPr/>
          <p:nvPr/>
        </p:nvSpPr>
        <p:spPr>
          <a:xfrm>
            <a:off x="1154015" y="2360137"/>
            <a:ext cx="1164600" cy="2601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50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×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tan(70°)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0" name="Google Shape;380;p22"/>
          <p:cNvSpPr txBox="1"/>
          <p:nvPr/>
        </p:nvSpPr>
        <p:spPr>
          <a:xfrm>
            <a:off x="1154015" y="2627224"/>
            <a:ext cx="1164600" cy="1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137.374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81" name="Google Shape;381;p22"/>
          <p:cNvSpPr/>
          <p:nvPr/>
        </p:nvSpPr>
        <p:spPr>
          <a:xfrm>
            <a:off x="3289529" y="2360137"/>
            <a:ext cx="1164600" cy="2601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50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×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tan(45°)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2" name="Google Shape;382;p22"/>
          <p:cNvSpPr txBox="1"/>
          <p:nvPr/>
        </p:nvSpPr>
        <p:spPr>
          <a:xfrm>
            <a:off x="3289529" y="2627230"/>
            <a:ext cx="1164600" cy="1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50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83" name="Google Shape;383;p22"/>
          <p:cNvSpPr/>
          <p:nvPr/>
        </p:nvSpPr>
        <p:spPr>
          <a:xfrm>
            <a:off x="5425037" y="2360185"/>
            <a:ext cx="692400" cy="4695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4" name="Google Shape;384;p22"/>
          <p:cNvSpPr txBox="1"/>
          <p:nvPr/>
        </p:nvSpPr>
        <p:spPr>
          <a:xfrm>
            <a:off x="5452728" y="2628883"/>
            <a:ext cx="6375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tan(70°)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85" name="Google Shape;385;p22"/>
          <p:cNvCxnSpPr/>
          <p:nvPr/>
        </p:nvCxnSpPr>
        <p:spPr>
          <a:xfrm rot="10800000">
            <a:off x="5530441" y="2602144"/>
            <a:ext cx="481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6" name="Google Shape;386;p22"/>
          <p:cNvSpPr txBox="1"/>
          <p:nvPr/>
        </p:nvSpPr>
        <p:spPr>
          <a:xfrm>
            <a:off x="5452728" y="2433716"/>
            <a:ext cx="6375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50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7" name="Google Shape;387;p22"/>
          <p:cNvSpPr txBox="1"/>
          <p:nvPr/>
        </p:nvSpPr>
        <p:spPr>
          <a:xfrm>
            <a:off x="5425037" y="2829500"/>
            <a:ext cx="692400" cy="1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18.199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88" name="Google Shape;388;p22"/>
          <p:cNvSpPr/>
          <p:nvPr/>
        </p:nvSpPr>
        <p:spPr>
          <a:xfrm>
            <a:off x="5425096" y="1476900"/>
            <a:ext cx="692400" cy="4695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9" name="Google Shape;389;p22"/>
          <p:cNvSpPr txBox="1"/>
          <p:nvPr/>
        </p:nvSpPr>
        <p:spPr>
          <a:xfrm>
            <a:off x="5452788" y="1745598"/>
            <a:ext cx="6375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tan(10°)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90" name="Google Shape;390;p22"/>
          <p:cNvCxnSpPr/>
          <p:nvPr/>
        </p:nvCxnSpPr>
        <p:spPr>
          <a:xfrm rot="10800000">
            <a:off x="5530500" y="1718858"/>
            <a:ext cx="481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1" name="Google Shape;391;p22"/>
          <p:cNvSpPr txBox="1"/>
          <p:nvPr/>
        </p:nvSpPr>
        <p:spPr>
          <a:xfrm>
            <a:off x="5452788" y="1550430"/>
            <a:ext cx="6375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0.4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2" name="Google Shape;392;p22"/>
          <p:cNvSpPr txBox="1"/>
          <p:nvPr/>
        </p:nvSpPr>
        <p:spPr>
          <a:xfrm>
            <a:off x="5425096" y="1946215"/>
            <a:ext cx="692400" cy="1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2.269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93" name="Google Shape;393;p22"/>
          <p:cNvSpPr/>
          <p:nvPr/>
        </p:nvSpPr>
        <p:spPr>
          <a:xfrm>
            <a:off x="2735025" y="1476906"/>
            <a:ext cx="692400" cy="4695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4" name="Google Shape;394;p22"/>
          <p:cNvSpPr txBox="1"/>
          <p:nvPr/>
        </p:nvSpPr>
        <p:spPr>
          <a:xfrm>
            <a:off x="2762716" y="1745604"/>
            <a:ext cx="6375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tan(70°)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95" name="Google Shape;395;p22"/>
          <p:cNvCxnSpPr/>
          <p:nvPr/>
        </p:nvCxnSpPr>
        <p:spPr>
          <a:xfrm rot="10800000">
            <a:off x="2840428" y="1718865"/>
            <a:ext cx="481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6" name="Google Shape;396;p22"/>
          <p:cNvSpPr txBox="1"/>
          <p:nvPr/>
        </p:nvSpPr>
        <p:spPr>
          <a:xfrm>
            <a:off x="2762716" y="1550436"/>
            <a:ext cx="6375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0.4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7" name="Google Shape;397;p22"/>
          <p:cNvSpPr txBox="1"/>
          <p:nvPr/>
        </p:nvSpPr>
        <p:spPr>
          <a:xfrm>
            <a:off x="2735025" y="1939148"/>
            <a:ext cx="692400" cy="1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0.146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398" name="Google Shape;398;p22"/>
          <p:cNvCxnSpPr>
            <a:stCxn id="375" idx="3"/>
          </p:cNvCxnSpPr>
          <p:nvPr/>
        </p:nvCxnSpPr>
        <p:spPr>
          <a:xfrm>
            <a:off x="2318425" y="1606900"/>
            <a:ext cx="4053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9" name="Google Shape;399;p22"/>
          <p:cNvCxnSpPr/>
          <p:nvPr/>
        </p:nvCxnSpPr>
        <p:spPr>
          <a:xfrm>
            <a:off x="3433031" y="1606939"/>
            <a:ext cx="4053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0" name="Google Shape;400;p22"/>
          <p:cNvCxnSpPr/>
          <p:nvPr/>
        </p:nvCxnSpPr>
        <p:spPr>
          <a:xfrm>
            <a:off x="5008509" y="1606939"/>
            <a:ext cx="4053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1" name="Google Shape;401;p22"/>
          <p:cNvCxnSpPr/>
          <p:nvPr/>
        </p:nvCxnSpPr>
        <p:spPr>
          <a:xfrm rot="10800000">
            <a:off x="4454051" y="2490056"/>
            <a:ext cx="958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2" name="Google Shape;402;p22"/>
          <p:cNvCxnSpPr/>
          <p:nvPr/>
        </p:nvCxnSpPr>
        <p:spPr>
          <a:xfrm rot="10800000">
            <a:off x="2330891" y="2490056"/>
            <a:ext cx="958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3" name="Google Shape;403;p22"/>
          <p:cNvCxnSpPr/>
          <p:nvPr/>
        </p:nvCxnSpPr>
        <p:spPr>
          <a:xfrm>
            <a:off x="5771314" y="2122436"/>
            <a:ext cx="0" cy="2286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04" name="Google Shape;404;p22"/>
          <p:cNvSpPr/>
          <p:nvPr/>
        </p:nvSpPr>
        <p:spPr>
          <a:xfrm>
            <a:off x="4043491" y="5269076"/>
            <a:ext cx="1458300" cy="1458300"/>
          </a:xfrm>
          <a:prstGeom prst="arc">
            <a:avLst>
              <a:gd fmla="val 10771373" name="adj1"/>
              <a:gd fmla="val 12068672" name="adj2"/>
            </a:avLst>
          </a:prstGeom>
          <a:solidFill>
            <a:srgbClr val="F3EEFB"/>
          </a:solidFill>
          <a:ln cap="flat" cmpd="sng" w="2857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22"/>
          <p:cNvSpPr/>
          <p:nvPr/>
        </p:nvSpPr>
        <p:spPr>
          <a:xfrm flipH="1">
            <a:off x="5728287" y="3099232"/>
            <a:ext cx="923400" cy="923400"/>
          </a:xfrm>
          <a:prstGeom prst="arc">
            <a:avLst>
              <a:gd fmla="val 2215612" name="adj1"/>
              <a:gd fmla="val 5387200" name="adj2"/>
            </a:avLst>
          </a:prstGeom>
          <a:solidFill>
            <a:srgbClr val="F3EEFB"/>
          </a:solidFill>
          <a:ln cap="flat" cmpd="sng" w="2857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6" name="Google Shape;406;p22"/>
          <p:cNvSpPr/>
          <p:nvPr/>
        </p:nvSpPr>
        <p:spPr>
          <a:xfrm flipH="1">
            <a:off x="131720" y="3786680"/>
            <a:ext cx="1100700" cy="1100700"/>
          </a:xfrm>
          <a:prstGeom prst="arc">
            <a:avLst>
              <a:gd fmla="val 10771373" name="adj1"/>
              <a:gd fmla="val 13050632" name="adj2"/>
            </a:avLst>
          </a:prstGeom>
          <a:solidFill>
            <a:srgbClr val="F3EEFB"/>
          </a:solidFill>
          <a:ln cap="flat" cmpd="sng" w="2857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7" name="Google Shape;407;p22"/>
          <p:cNvSpPr txBox="1"/>
          <p:nvPr/>
        </p:nvSpPr>
        <p:spPr>
          <a:xfrm>
            <a:off x="536785" y="3088774"/>
            <a:ext cx="6533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Find the lengths of all sides in each of these triangles (3 d.p.)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08" name="Google Shape;408;p22"/>
          <p:cNvCxnSpPr/>
          <p:nvPr/>
        </p:nvCxnSpPr>
        <p:spPr>
          <a:xfrm>
            <a:off x="4892292" y="3637906"/>
            <a:ext cx="0" cy="29610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9" name="Google Shape;409;p22"/>
          <p:cNvCxnSpPr/>
          <p:nvPr/>
        </p:nvCxnSpPr>
        <p:spPr>
          <a:xfrm>
            <a:off x="2714576" y="3637906"/>
            <a:ext cx="0" cy="29610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0" name="Google Shape;410;p22"/>
          <p:cNvSpPr/>
          <p:nvPr/>
        </p:nvSpPr>
        <p:spPr>
          <a:xfrm>
            <a:off x="814780" y="4442036"/>
            <a:ext cx="8004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 cm</a:t>
            </a:r>
            <a:endParaRPr sz="1200">
              <a:solidFill>
                <a:srgbClr val="374CF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1" name="Google Shape;411;p22"/>
          <p:cNvSpPr/>
          <p:nvPr/>
        </p:nvSpPr>
        <p:spPr>
          <a:xfrm>
            <a:off x="1563709" y="4187396"/>
            <a:ext cx="149100" cy="149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12" name="Google Shape;412;p22"/>
          <p:cNvCxnSpPr/>
          <p:nvPr/>
        </p:nvCxnSpPr>
        <p:spPr>
          <a:xfrm flipH="1">
            <a:off x="608876" y="3496410"/>
            <a:ext cx="1045500" cy="7818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413" name="Google Shape;413;p22"/>
          <p:cNvCxnSpPr/>
          <p:nvPr/>
        </p:nvCxnSpPr>
        <p:spPr>
          <a:xfrm rot="10800000">
            <a:off x="667472" y="4410777"/>
            <a:ext cx="1045500" cy="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414" name="Google Shape;414;p22"/>
          <p:cNvSpPr txBox="1"/>
          <p:nvPr/>
        </p:nvSpPr>
        <p:spPr>
          <a:xfrm flipH="1">
            <a:off x="838808" y="4128976"/>
            <a:ext cx="407700" cy="2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33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15" name="Google Shape;415;p22"/>
          <p:cNvCxnSpPr/>
          <p:nvPr/>
        </p:nvCxnSpPr>
        <p:spPr>
          <a:xfrm rot="10800000">
            <a:off x="1787152" y="3554805"/>
            <a:ext cx="0" cy="7818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416" name="Google Shape;416;p22"/>
          <p:cNvSpPr/>
          <p:nvPr/>
        </p:nvSpPr>
        <p:spPr>
          <a:xfrm>
            <a:off x="1800823" y="3887507"/>
            <a:ext cx="7713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tan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(33°)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7" name="Google Shape;417;p22"/>
          <p:cNvSpPr/>
          <p:nvPr/>
        </p:nvSpPr>
        <p:spPr>
          <a:xfrm flipH="1">
            <a:off x="2356134" y="3786680"/>
            <a:ext cx="1100700" cy="1100700"/>
          </a:xfrm>
          <a:prstGeom prst="arc">
            <a:avLst>
              <a:gd fmla="val 10771373" name="adj1"/>
              <a:gd fmla="val 13050632" name="adj2"/>
            </a:avLst>
          </a:prstGeom>
          <a:solidFill>
            <a:srgbClr val="F3EEFB"/>
          </a:solidFill>
          <a:ln cap="flat" cmpd="sng" w="2857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8" name="Google Shape;418;p22"/>
          <p:cNvSpPr/>
          <p:nvPr/>
        </p:nvSpPr>
        <p:spPr>
          <a:xfrm>
            <a:off x="3788122" y="4187396"/>
            <a:ext cx="149100" cy="149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19" name="Google Shape;419;p22"/>
          <p:cNvCxnSpPr/>
          <p:nvPr/>
        </p:nvCxnSpPr>
        <p:spPr>
          <a:xfrm flipH="1">
            <a:off x="2833289" y="3496410"/>
            <a:ext cx="1045500" cy="7818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420" name="Google Shape;420;p22"/>
          <p:cNvCxnSpPr/>
          <p:nvPr/>
        </p:nvCxnSpPr>
        <p:spPr>
          <a:xfrm rot="10800000">
            <a:off x="2891885" y="4410777"/>
            <a:ext cx="1045500" cy="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421" name="Google Shape;421;p22"/>
          <p:cNvSpPr txBox="1"/>
          <p:nvPr/>
        </p:nvSpPr>
        <p:spPr>
          <a:xfrm>
            <a:off x="3186933" y="4431729"/>
            <a:ext cx="486300" cy="18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2" name="Google Shape;422;p22"/>
          <p:cNvSpPr txBox="1"/>
          <p:nvPr/>
        </p:nvSpPr>
        <p:spPr>
          <a:xfrm flipH="1">
            <a:off x="3063221" y="4128976"/>
            <a:ext cx="407700" cy="2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42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23" name="Google Shape;423;p22"/>
          <p:cNvCxnSpPr/>
          <p:nvPr/>
        </p:nvCxnSpPr>
        <p:spPr>
          <a:xfrm rot="10800000">
            <a:off x="4011565" y="3554805"/>
            <a:ext cx="0" cy="7818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424" name="Google Shape;424;p22"/>
          <p:cNvSpPr/>
          <p:nvPr/>
        </p:nvSpPr>
        <p:spPr>
          <a:xfrm>
            <a:off x="6046184" y="4187396"/>
            <a:ext cx="149100" cy="149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25" name="Google Shape;425;p22"/>
          <p:cNvCxnSpPr/>
          <p:nvPr/>
        </p:nvCxnSpPr>
        <p:spPr>
          <a:xfrm flipH="1">
            <a:off x="5091350" y="3496410"/>
            <a:ext cx="1045500" cy="7818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426" name="Google Shape;426;p22"/>
          <p:cNvCxnSpPr/>
          <p:nvPr/>
        </p:nvCxnSpPr>
        <p:spPr>
          <a:xfrm rot="10800000">
            <a:off x="5149946" y="4410777"/>
            <a:ext cx="1045500" cy="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427" name="Google Shape;427;p22"/>
          <p:cNvSpPr txBox="1"/>
          <p:nvPr/>
        </p:nvSpPr>
        <p:spPr>
          <a:xfrm>
            <a:off x="5450595" y="4445892"/>
            <a:ext cx="486300" cy="18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28" name="Google Shape;428;p22"/>
          <p:cNvCxnSpPr/>
          <p:nvPr/>
        </p:nvCxnSpPr>
        <p:spPr>
          <a:xfrm rot="10800000">
            <a:off x="6269626" y="3554805"/>
            <a:ext cx="0" cy="7818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429" name="Google Shape;429;p22"/>
          <p:cNvSpPr txBox="1"/>
          <p:nvPr/>
        </p:nvSpPr>
        <p:spPr>
          <a:xfrm flipH="1">
            <a:off x="5840227" y="3755889"/>
            <a:ext cx="407700" cy="2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48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0" name="Google Shape;430;p22"/>
          <p:cNvSpPr/>
          <p:nvPr/>
        </p:nvSpPr>
        <p:spPr>
          <a:xfrm flipH="1">
            <a:off x="168838" y="5451208"/>
            <a:ext cx="1100700" cy="1100700"/>
          </a:xfrm>
          <a:prstGeom prst="arc">
            <a:avLst>
              <a:gd fmla="val 10771373" name="adj1"/>
              <a:gd fmla="val 13050632" name="adj2"/>
            </a:avLst>
          </a:prstGeom>
          <a:solidFill>
            <a:srgbClr val="F3EEFB"/>
          </a:solidFill>
          <a:ln cap="flat" cmpd="sng" w="2857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1" name="Google Shape;431;p22"/>
          <p:cNvSpPr/>
          <p:nvPr/>
        </p:nvSpPr>
        <p:spPr>
          <a:xfrm>
            <a:off x="1600826" y="5851923"/>
            <a:ext cx="149100" cy="149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32" name="Google Shape;432;p22"/>
          <p:cNvCxnSpPr/>
          <p:nvPr/>
        </p:nvCxnSpPr>
        <p:spPr>
          <a:xfrm flipH="1">
            <a:off x="645993" y="5160937"/>
            <a:ext cx="1045500" cy="7818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433" name="Google Shape;433;p22"/>
          <p:cNvCxnSpPr/>
          <p:nvPr/>
        </p:nvCxnSpPr>
        <p:spPr>
          <a:xfrm rot="10800000">
            <a:off x="704589" y="6075304"/>
            <a:ext cx="1045500" cy="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434" name="Google Shape;434;p22"/>
          <p:cNvSpPr txBox="1"/>
          <p:nvPr/>
        </p:nvSpPr>
        <p:spPr>
          <a:xfrm>
            <a:off x="955466" y="6087461"/>
            <a:ext cx="591000" cy="18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19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5" name="Google Shape;435;p22"/>
          <p:cNvSpPr txBox="1"/>
          <p:nvPr/>
        </p:nvSpPr>
        <p:spPr>
          <a:xfrm flipH="1">
            <a:off x="875925" y="5793503"/>
            <a:ext cx="407700" cy="2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42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36" name="Google Shape;436;p22"/>
          <p:cNvCxnSpPr/>
          <p:nvPr/>
        </p:nvCxnSpPr>
        <p:spPr>
          <a:xfrm rot="10800000">
            <a:off x="1824269" y="5219332"/>
            <a:ext cx="0" cy="7818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437" name="Google Shape;437;p22"/>
          <p:cNvSpPr/>
          <p:nvPr/>
        </p:nvSpPr>
        <p:spPr>
          <a:xfrm flipH="1">
            <a:off x="3266447" y="5851923"/>
            <a:ext cx="149100" cy="149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38" name="Google Shape;438;p22"/>
          <p:cNvCxnSpPr/>
          <p:nvPr/>
        </p:nvCxnSpPr>
        <p:spPr>
          <a:xfrm>
            <a:off x="3266284" y="6075304"/>
            <a:ext cx="1513500" cy="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439" name="Google Shape;439;p22"/>
          <p:cNvSpPr txBox="1"/>
          <p:nvPr/>
        </p:nvSpPr>
        <p:spPr>
          <a:xfrm>
            <a:off x="4017937" y="5808330"/>
            <a:ext cx="407700" cy="2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9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40" name="Google Shape;440;p22"/>
          <p:cNvCxnSpPr/>
          <p:nvPr/>
        </p:nvCxnSpPr>
        <p:spPr>
          <a:xfrm rot="10800000">
            <a:off x="3186934" y="5435252"/>
            <a:ext cx="0" cy="5721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441" name="Google Shape;441;p22"/>
          <p:cNvSpPr/>
          <p:nvPr/>
        </p:nvSpPr>
        <p:spPr>
          <a:xfrm>
            <a:off x="6233675" y="5269076"/>
            <a:ext cx="1458300" cy="1458300"/>
          </a:xfrm>
          <a:prstGeom prst="arc">
            <a:avLst>
              <a:gd fmla="val 10771373" name="adj1"/>
              <a:gd fmla="val 12068672" name="adj2"/>
            </a:avLst>
          </a:prstGeom>
          <a:solidFill>
            <a:srgbClr val="F3EEFB"/>
          </a:solidFill>
          <a:ln cap="flat" cmpd="sng" w="2857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2" name="Google Shape;442;p22"/>
          <p:cNvSpPr/>
          <p:nvPr/>
        </p:nvSpPr>
        <p:spPr>
          <a:xfrm flipH="1">
            <a:off x="5456631" y="5851923"/>
            <a:ext cx="149100" cy="149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43" name="Google Shape;443;p22"/>
          <p:cNvCxnSpPr/>
          <p:nvPr/>
        </p:nvCxnSpPr>
        <p:spPr>
          <a:xfrm>
            <a:off x="5456468" y="6075304"/>
            <a:ext cx="1513500" cy="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444" name="Google Shape;444;p22"/>
          <p:cNvSpPr txBox="1"/>
          <p:nvPr/>
        </p:nvSpPr>
        <p:spPr>
          <a:xfrm>
            <a:off x="6208121" y="5808330"/>
            <a:ext cx="407700" cy="2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9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45" name="Google Shape;445;p22"/>
          <p:cNvCxnSpPr/>
          <p:nvPr/>
        </p:nvCxnSpPr>
        <p:spPr>
          <a:xfrm rot="10800000">
            <a:off x="5377118" y="5435252"/>
            <a:ext cx="0" cy="5721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446" name="Google Shape;446;p22"/>
          <p:cNvSpPr txBox="1"/>
          <p:nvPr/>
        </p:nvSpPr>
        <p:spPr>
          <a:xfrm>
            <a:off x="5003708" y="5621711"/>
            <a:ext cx="329700" cy="18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42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47" name="Google Shape;447;p22"/>
          <p:cNvCxnSpPr/>
          <p:nvPr/>
        </p:nvCxnSpPr>
        <p:spPr>
          <a:xfrm rot="10800000">
            <a:off x="3303942" y="5360864"/>
            <a:ext cx="1530900" cy="5658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448" name="Google Shape;448;p22"/>
          <p:cNvCxnSpPr/>
          <p:nvPr/>
        </p:nvCxnSpPr>
        <p:spPr>
          <a:xfrm rot="10800000">
            <a:off x="5488838" y="5360864"/>
            <a:ext cx="1530900" cy="565800"/>
          </a:xfrm>
          <a:prstGeom prst="straightConnector1">
            <a:avLst/>
          </a:prstGeom>
          <a:noFill/>
          <a:ln cap="flat" cmpd="sng" w="28575">
            <a:solidFill>
              <a:srgbClr val="845AD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449" name="Google Shape;449;p22"/>
          <p:cNvSpPr txBox="1"/>
          <p:nvPr/>
        </p:nvSpPr>
        <p:spPr>
          <a:xfrm>
            <a:off x="536785" y="3402287"/>
            <a:ext cx="204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0" name="Google Shape;450;p22"/>
          <p:cNvSpPr txBox="1"/>
          <p:nvPr/>
        </p:nvSpPr>
        <p:spPr>
          <a:xfrm>
            <a:off x="2797162" y="3402287"/>
            <a:ext cx="204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1" name="Google Shape;451;p22"/>
          <p:cNvSpPr txBox="1"/>
          <p:nvPr/>
        </p:nvSpPr>
        <p:spPr>
          <a:xfrm>
            <a:off x="4972001" y="3402287"/>
            <a:ext cx="204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2" name="Google Shape;452;p22"/>
          <p:cNvSpPr txBox="1"/>
          <p:nvPr/>
        </p:nvSpPr>
        <p:spPr>
          <a:xfrm>
            <a:off x="536785" y="5015302"/>
            <a:ext cx="204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3" name="Google Shape;453;p22"/>
          <p:cNvSpPr txBox="1"/>
          <p:nvPr/>
        </p:nvSpPr>
        <p:spPr>
          <a:xfrm>
            <a:off x="2797162" y="5015302"/>
            <a:ext cx="204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4" name="Google Shape;454;p22"/>
          <p:cNvSpPr txBox="1"/>
          <p:nvPr/>
        </p:nvSpPr>
        <p:spPr>
          <a:xfrm>
            <a:off x="4972001" y="5015302"/>
            <a:ext cx="204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5" name="Google Shape;455;p22"/>
          <p:cNvSpPr/>
          <p:nvPr/>
        </p:nvSpPr>
        <p:spPr>
          <a:xfrm rot="-5400000">
            <a:off x="799090" y="3422947"/>
            <a:ext cx="781800" cy="10455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6" name="Google Shape;456;p22"/>
          <p:cNvSpPr/>
          <p:nvPr/>
        </p:nvSpPr>
        <p:spPr>
          <a:xfrm rot="-5400000">
            <a:off x="3023504" y="3422947"/>
            <a:ext cx="781800" cy="10455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7" name="Google Shape;457;p22"/>
          <p:cNvSpPr/>
          <p:nvPr/>
        </p:nvSpPr>
        <p:spPr>
          <a:xfrm rot="-5400000">
            <a:off x="5281565" y="3422947"/>
            <a:ext cx="781800" cy="10455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8" name="Google Shape;458;p22"/>
          <p:cNvSpPr/>
          <p:nvPr/>
        </p:nvSpPr>
        <p:spPr>
          <a:xfrm rot="-5400000">
            <a:off x="836208" y="5087474"/>
            <a:ext cx="781800" cy="10455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9" name="Google Shape;459;p22"/>
          <p:cNvSpPr/>
          <p:nvPr/>
        </p:nvSpPr>
        <p:spPr>
          <a:xfrm>
            <a:off x="1784280" y="3721761"/>
            <a:ext cx="8004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solidFill>
                <a:srgbClr val="374CF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0" name="Google Shape;460;p22"/>
          <p:cNvSpPr/>
          <p:nvPr/>
        </p:nvSpPr>
        <p:spPr>
          <a:xfrm>
            <a:off x="4014525" y="3878712"/>
            <a:ext cx="4053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solidFill>
                <a:srgbClr val="374CF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1" name="Google Shape;461;p22"/>
          <p:cNvSpPr/>
          <p:nvPr/>
        </p:nvSpPr>
        <p:spPr>
          <a:xfrm>
            <a:off x="6291325" y="3878712"/>
            <a:ext cx="4053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solidFill>
                <a:srgbClr val="374CF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22"/>
          <p:cNvSpPr/>
          <p:nvPr/>
        </p:nvSpPr>
        <p:spPr>
          <a:xfrm>
            <a:off x="1824275" y="5527893"/>
            <a:ext cx="4053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solidFill>
                <a:srgbClr val="374CF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3" name="Google Shape;463;p22"/>
          <p:cNvSpPr/>
          <p:nvPr/>
        </p:nvSpPr>
        <p:spPr>
          <a:xfrm flipH="1" rot="5400000">
            <a:off x="5939231" y="4952774"/>
            <a:ext cx="565800" cy="15309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4" name="Google Shape;464;p22"/>
          <p:cNvSpPr/>
          <p:nvPr/>
        </p:nvSpPr>
        <p:spPr>
          <a:xfrm flipH="1" rot="5400000">
            <a:off x="3749047" y="4952774"/>
            <a:ext cx="565800" cy="1530900"/>
          </a:xfrm>
          <a:prstGeom prst="rtTriangl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5" name="Google Shape;465;p22"/>
          <p:cNvSpPr txBox="1"/>
          <p:nvPr/>
        </p:nvSpPr>
        <p:spPr>
          <a:xfrm>
            <a:off x="3716066" y="6107873"/>
            <a:ext cx="591000" cy="18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42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6" name="Google Shape;466;p22"/>
          <p:cNvSpPr/>
          <p:nvPr/>
        </p:nvSpPr>
        <p:spPr>
          <a:xfrm>
            <a:off x="2787888" y="5632368"/>
            <a:ext cx="4053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solidFill>
                <a:srgbClr val="374CF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7" name="Google Shape;467;p22"/>
          <p:cNvSpPr/>
          <p:nvPr/>
        </p:nvSpPr>
        <p:spPr>
          <a:xfrm>
            <a:off x="6010563" y="6087468"/>
            <a:ext cx="4053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solidFill>
                <a:srgbClr val="374CF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8" name="Google Shape;468;p22"/>
          <p:cNvSpPr txBox="1"/>
          <p:nvPr/>
        </p:nvSpPr>
        <p:spPr>
          <a:xfrm>
            <a:off x="6164893" y="5013647"/>
            <a:ext cx="925800" cy="26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f = 121.977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69" name="Google Shape;469;p22"/>
          <p:cNvSpPr txBox="1"/>
          <p:nvPr/>
        </p:nvSpPr>
        <p:spPr>
          <a:xfrm>
            <a:off x="3895172" y="5013653"/>
            <a:ext cx="999300" cy="26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 = 14.462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70" name="Google Shape;470;p22"/>
          <p:cNvSpPr txBox="1"/>
          <p:nvPr/>
        </p:nvSpPr>
        <p:spPr>
          <a:xfrm>
            <a:off x="1750103" y="6111243"/>
            <a:ext cx="925800" cy="26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d = 17.108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71" name="Google Shape;471;p22"/>
          <p:cNvSpPr txBox="1"/>
          <p:nvPr/>
        </p:nvSpPr>
        <p:spPr>
          <a:xfrm>
            <a:off x="3968495" y="4580524"/>
            <a:ext cx="925800" cy="26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b = 0.900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72" name="Google Shape;472;p22"/>
          <p:cNvSpPr txBox="1"/>
          <p:nvPr/>
        </p:nvSpPr>
        <p:spPr>
          <a:xfrm>
            <a:off x="1750103" y="4580524"/>
            <a:ext cx="925800" cy="26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 = 0.649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73" name="Google Shape;473;p22"/>
          <p:cNvSpPr txBox="1"/>
          <p:nvPr/>
        </p:nvSpPr>
        <p:spPr>
          <a:xfrm>
            <a:off x="6164893" y="4580524"/>
            <a:ext cx="925800" cy="26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 = 0.900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474" name="Google Shape;47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1875" y="806115"/>
            <a:ext cx="6793199" cy="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5" name="Google Shape;47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8100" y="4906890"/>
            <a:ext cx="6793199" cy="4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orksheet Answers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LD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