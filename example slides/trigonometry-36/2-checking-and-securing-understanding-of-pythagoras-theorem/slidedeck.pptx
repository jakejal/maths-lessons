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742">
          <p15:clr>
            <a:srgbClr val="747775"/>
          </p15:clr>
        </p15:guide>
        <p15:guide id="2" pos="1587">
          <p15:clr>
            <a:srgbClr val="747775"/>
          </p15:clr>
        </p15:guide>
        <p15:guide id="3" pos="2381">
          <p15:clr>
            <a:srgbClr val="747775"/>
          </p15:clr>
        </p15:guide>
        <p15:guide id="4" pos="5266">
          <p15:clr>
            <a:srgbClr val="747775"/>
          </p15:clr>
        </p15:guide>
        <p15:guide id="5" pos="4989">
          <p15:clr>
            <a:srgbClr val="747775"/>
          </p15:clr>
        </p15:guide>
        <p15:guide id="6" pos="3572">
          <p15:clr>
            <a:srgbClr val="747775"/>
          </p15:clr>
        </p15:guide>
        <p15:guide id="7" pos="442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742"/>
        <p:guide pos="1587"/>
        <p:guide pos="2381"/>
        <p:guide pos="5266"/>
        <p:guide pos="4989"/>
        <p:guide pos="3572"/>
        <p:guide pos="442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2ba9297b8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2ba9297b8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ba9297b808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ba9297b808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2bb94d6dd93_0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2bb94d6dd93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2bb94d6dd93_0_2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2bb94d6dd93_0_2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2bb94d6dd93_0_3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2bb94d6dd93_0_3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2bb94d6dd93_0_4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2bb94d6dd93_0_4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bb94d6dd93_0_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2bb94d6dd93_0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2bb94d6dd93_0_6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2bb94d6dd93_0_6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2bb94d6dd93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2bb94d6dd93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2bb94d6dd93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2bb94d6dd93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ba9297b808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ba9297b808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2bb94d6dd93_0_7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2bb94d6dd93_0_7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2bb94d6dd93_0_7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2bb94d6dd93_0_7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2bb94d6dd93_0_7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2bb94d6dd93_0_7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2bb94d6dd93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2bb94d6dd93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2bb94d6dd93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2bb94d6dd93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2ba9297b808_0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2ba9297b808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2bb94d6dd93_0_7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2bb94d6dd93_0_7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g2bb94d6dd93_0_7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4" name="Google Shape;1354;g2bb94d6dd93_0_7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g2bb94d6dd93_0_7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g2bb94d6dd93_0_7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g2bb94d6dd93_0_7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5" name="Google Shape;1415;g2bb94d6dd93_0_7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g2bb94d6dd93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5" name="Google Shape;1435;g2bb94d6dd93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2bb94d6dd93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g2bb94d6dd93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2ba9297b808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8" name="Google Shape;1588;g2ba9297b808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g2bb94d6dd93_0_7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8" name="Google Shape;1598;g2bb94d6dd93_0_7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g2bb94d6dd93_0_7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5" name="Google Shape;1625;g2bb94d6dd93_0_7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g2bb94d6dd93_0_77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3" name="Google Shape;1653;g2bb94d6dd93_0_7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g2bb94d6dd93_0_7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5" name="Google Shape;1685;g2bb94d6dd93_0_7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g2bb94d6dd93_0_7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2" name="Google Shape;1712;g2bb94d6dd93_0_7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g2bb94d6dd93_0_7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7" name="Google Shape;1747;g2bb94d6dd93_0_7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g2bb94d6dd93_0_7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6" name="Google Shape;1786;g2bb94d6dd93_0_7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g2bb94d6dd93_0_79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1" name="Google Shape;1811;g2bb94d6dd93_0_7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2bb94d6dd93_0_79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7" name="Google Shape;1847;g2bb94d6dd93_0_7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g2bb94d6dd93_0_80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5" name="Google Shape;1875;g2bb94d6dd93_0_8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g2bb94d6dd93_0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6" name="Google Shape;1896;g2bb94d6dd93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g2bb94d6dd93_0_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1" name="Google Shape;1931;g2bb94d6dd93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0" name="Google Shape;1970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4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6" name="Google Shape;1976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2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8.png"/><Relationship Id="rId4" Type="http://schemas.openxmlformats.org/officeDocument/2006/relationships/image" Target="../media/image66.png"/><Relationship Id="rId5" Type="http://schemas.openxmlformats.org/officeDocument/2006/relationships/image" Target="../media/image30.png"/><Relationship Id="rId6" Type="http://schemas.openxmlformats.org/officeDocument/2006/relationships/image" Target="../media/image33.png"/><Relationship Id="rId7" Type="http://schemas.openxmlformats.org/officeDocument/2006/relationships/image" Target="../media/image2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66.png"/><Relationship Id="rId4" Type="http://schemas.openxmlformats.org/officeDocument/2006/relationships/image" Target="../media/image13.png"/><Relationship Id="rId9" Type="http://schemas.openxmlformats.org/officeDocument/2006/relationships/image" Target="../media/image20.png"/><Relationship Id="rId5" Type="http://schemas.openxmlformats.org/officeDocument/2006/relationships/image" Target="../media/image18.png"/><Relationship Id="rId6" Type="http://schemas.openxmlformats.org/officeDocument/2006/relationships/image" Target="../media/image34.png"/><Relationship Id="rId7" Type="http://schemas.openxmlformats.org/officeDocument/2006/relationships/image" Target="../media/image30.png"/><Relationship Id="rId8" Type="http://schemas.openxmlformats.org/officeDocument/2006/relationships/image" Target="../media/image3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66.png"/><Relationship Id="rId4" Type="http://schemas.openxmlformats.org/officeDocument/2006/relationships/image" Target="../media/image31.png"/><Relationship Id="rId11" Type="http://schemas.openxmlformats.org/officeDocument/2006/relationships/image" Target="../media/image20.png"/><Relationship Id="rId10" Type="http://schemas.openxmlformats.org/officeDocument/2006/relationships/image" Target="../media/image38.png"/><Relationship Id="rId9" Type="http://schemas.openxmlformats.org/officeDocument/2006/relationships/image" Target="../media/image33.png"/><Relationship Id="rId5" Type="http://schemas.openxmlformats.org/officeDocument/2006/relationships/image" Target="../media/image13.png"/><Relationship Id="rId6" Type="http://schemas.openxmlformats.org/officeDocument/2006/relationships/image" Target="../media/image18.png"/><Relationship Id="rId7" Type="http://schemas.openxmlformats.org/officeDocument/2006/relationships/image" Target="../media/image34.png"/><Relationship Id="rId8" Type="http://schemas.openxmlformats.org/officeDocument/2006/relationships/image" Target="../media/image3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2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9.png"/><Relationship Id="rId4" Type="http://schemas.openxmlformats.org/officeDocument/2006/relationships/image" Target="../media/image55.png"/><Relationship Id="rId5" Type="http://schemas.openxmlformats.org/officeDocument/2006/relationships/image" Target="../media/image54.png"/><Relationship Id="rId6" Type="http://schemas.openxmlformats.org/officeDocument/2006/relationships/image" Target="../media/image58.png"/><Relationship Id="rId7" Type="http://schemas.openxmlformats.org/officeDocument/2006/relationships/image" Target="../media/image56.png"/><Relationship Id="rId8" Type="http://schemas.openxmlformats.org/officeDocument/2006/relationships/image" Target="../media/image5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1.png"/><Relationship Id="rId6" Type="http://schemas.openxmlformats.org/officeDocument/2006/relationships/image" Target="../media/image5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2.png"/><Relationship Id="rId4" Type="http://schemas.openxmlformats.org/officeDocument/2006/relationships/image" Target="../media/image64.png"/><Relationship Id="rId5" Type="http://schemas.openxmlformats.org/officeDocument/2006/relationships/image" Target="../media/image6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2.png"/><Relationship Id="rId4" Type="http://schemas.openxmlformats.org/officeDocument/2006/relationships/image" Target="../media/image64.png"/><Relationship Id="rId5" Type="http://schemas.openxmlformats.org/officeDocument/2006/relationships/image" Target="../media/image6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4.png"/><Relationship Id="rId4" Type="http://schemas.openxmlformats.org/officeDocument/2006/relationships/image" Target="../media/image61.png"/><Relationship Id="rId5" Type="http://schemas.openxmlformats.org/officeDocument/2006/relationships/image" Target="../media/image5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2.png"/><Relationship Id="rId4" Type="http://schemas.openxmlformats.org/officeDocument/2006/relationships/image" Target="../media/image64.png"/><Relationship Id="rId5" Type="http://schemas.openxmlformats.org/officeDocument/2006/relationships/image" Target="../media/image6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4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5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Pythagoras’ theorem</a:t>
            </a:r>
            <a:endParaRPr/>
          </a:p>
        </p:txBody>
      </p:sp>
      <p:sp>
        <p:nvSpPr>
          <p:cNvPr id="754" name="Google Shape;754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Trigonometry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6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Pythagoras’ theorem to find the length of any side of a right-angled triangle.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66"/>
          <p:cNvSpPr txBox="1"/>
          <p:nvPr>
            <p:ph idx="2" type="subTitle"/>
          </p:nvPr>
        </p:nvSpPr>
        <p:spPr>
          <a:xfrm>
            <a:off x="324000" y="2173438"/>
            <a:ext cx="8496000" cy="82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Pythagoras’ theorem states that the sum of the squares of the two shorter sides of a right-angled triangle is equal to the square of the hypotenuse.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</p:txBody>
      </p:sp>
      <p:sp>
        <p:nvSpPr>
          <p:cNvPr id="770" name="Google Shape;770;p66"/>
          <p:cNvSpPr txBox="1"/>
          <p:nvPr>
            <p:ph idx="1" type="subTitle"/>
          </p:nvPr>
        </p:nvSpPr>
        <p:spPr>
          <a:xfrm>
            <a:off x="324000" y="1048850"/>
            <a:ext cx="8496000" cy="7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hypotenuse is the side of a right-angled triangle which is opposite the right angle. 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7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the hypotenuse</a:t>
            </a:r>
            <a:endParaRPr/>
          </a:p>
        </p:txBody>
      </p:sp>
      <p:sp>
        <p:nvSpPr>
          <p:cNvPr id="776" name="Google Shape;776;p67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a shorter side</a:t>
            </a:r>
            <a:endParaRPr/>
          </a:p>
        </p:txBody>
      </p:sp>
      <p:sp>
        <p:nvSpPr>
          <p:cNvPr id="777" name="Google Shape;777;p67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any side</a:t>
            </a:r>
            <a:endParaRPr/>
          </a:p>
        </p:txBody>
      </p:sp>
      <p:sp>
        <p:nvSpPr>
          <p:cNvPr id="778" name="Google Shape;778;p67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Pythagoras’ theorem on a coordinate grid</a:t>
            </a:r>
            <a:endParaRPr/>
          </a:p>
        </p:txBody>
      </p:sp>
      <p:sp>
        <p:nvSpPr>
          <p:cNvPr id="779" name="Google Shape;779;p67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Pythagoras’ theorem</a:t>
            </a:r>
            <a:endParaRPr/>
          </a:p>
        </p:txBody>
      </p:sp>
      <p:pic>
        <p:nvPicPr>
          <p:cNvPr id="780" name="Google Shape;78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022" y="152485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68"/>
          <p:cNvSpPr txBox="1"/>
          <p:nvPr>
            <p:ph idx="1" type="body"/>
          </p:nvPr>
        </p:nvSpPr>
        <p:spPr>
          <a:xfrm>
            <a:off x="4300050" y="1922638"/>
            <a:ext cx="4629000" cy="35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</a:t>
            </a:r>
            <a:r>
              <a:rPr lang="en-GB" sz="2000"/>
              <a:t>hich side is the shortest?</a:t>
            </a:r>
            <a:endParaRPr sz="2000"/>
          </a:p>
        </p:txBody>
      </p:sp>
      <p:sp>
        <p:nvSpPr>
          <p:cNvPr id="786" name="Google Shape;786;p68"/>
          <p:cNvSpPr txBox="1"/>
          <p:nvPr>
            <p:ph idx="1" type="body"/>
          </p:nvPr>
        </p:nvSpPr>
        <p:spPr>
          <a:xfrm>
            <a:off x="4300050" y="1376100"/>
            <a:ext cx="4629000" cy="35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Which side is the longest?</a:t>
            </a:r>
            <a:endParaRPr sz="2000"/>
          </a:p>
        </p:txBody>
      </p:sp>
      <p:sp>
        <p:nvSpPr>
          <p:cNvPr id="787" name="Google Shape;787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the hypotenuse</a:t>
            </a:r>
            <a:endParaRPr/>
          </a:p>
        </p:txBody>
      </p:sp>
      <p:sp>
        <p:nvSpPr>
          <p:cNvPr id="788" name="Google Shape;788;p68"/>
          <p:cNvSpPr/>
          <p:nvPr/>
        </p:nvSpPr>
        <p:spPr>
          <a:xfrm>
            <a:off x="914459" y="2267583"/>
            <a:ext cx="2564700" cy="14724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8"/>
          <p:cNvSpPr/>
          <p:nvPr/>
        </p:nvSpPr>
        <p:spPr>
          <a:xfrm flipH="1">
            <a:off x="916565" y="3524502"/>
            <a:ext cx="211500" cy="211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0" name="Google Shape;790;p68"/>
          <p:cNvSpPr/>
          <p:nvPr/>
        </p:nvSpPr>
        <p:spPr>
          <a:xfrm flipH="1">
            <a:off x="2987750" y="3291564"/>
            <a:ext cx="849900" cy="849900"/>
          </a:xfrm>
          <a:prstGeom prst="arc">
            <a:avLst>
              <a:gd fmla="val 19600073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1" name="Google Shape;791;p68"/>
          <p:cNvSpPr txBox="1"/>
          <p:nvPr/>
        </p:nvSpPr>
        <p:spPr>
          <a:xfrm flipH="1">
            <a:off x="2510579" y="3355828"/>
            <a:ext cx="75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8"/>
          <p:cNvSpPr/>
          <p:nvPr/>
        </p:nvSpPr>
        <p:spPr>
          <a:xfrm flipH="1">
            <a:off x="574325" y="1918573"/>
            <a:ext cx="700200" cy="700200"/>
          </a:xfrm>
          <a:prstGeom prst="arc">
            <a:avLst>
              <a:gd fmla="val 5470236" name="adj1"/>
              <a:gd fmla="val 900241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/>
        </p:nvSpPr>
        <p:spPr>
          <a:xfrm flipH="1">
            <a:off x="916948" y="2511060"/>
            <a:ext cx="75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60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68"/>
          <p:cNvSpPr txBox="1"/>
          <p:nvPr/>
        </p:nvSpPr>
        <p:spPr>
          <a:xfrm flipH="1">
            <a:off x="744842" y="1881450"/>
            <a:ext cx="31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8"/>
          <p:cNvSpPr txBox="1"/>
          <p:nvPr/>
        </p:nvSpPr>
        <p:spPr>
          <a:xfrm flipH="1">
            <a:off x="701487" y="3653757"/>
            <a:ext cx="31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68"/>
          <p:cNvSpPr txBox="1"/>
          <p:nvPr/>
        </p:nvSpPr>
        <p:spPr>
          <a:xfrm flipH="1">
            <a:off x="3368487" y="3653757"/>
            <a:ext cx="31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8"/>
          <p:cNvSpPr txBox="1"/>
          <p:nvPr>
            <p:ph idx="1" type="body"/>
          </p:nvPr>
        </p:nvSpPr>
        <p:spPr>
          <a:xfrm>
            <a:off x="324000" y="759300"/>
            <a:ext cx="8496000" cy="35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figure below shows </a:t>
            </a:r>
            <a:r>
              <a:rPr lang="en-GB" sz="2000">
                <a:solidFill>
                  <a:srgbClr val="202124"/>
                </a:solidFill>
                <a:highlight>
                  <a:srgbClr val="FFFFFF"/>
                </a:highlight>
              </a:rPr>
              <a:t>△ABC.</a:t>
            </a:r>
            <a:endParaRPr sz="2000"/>
          </a:p>
        </p:txBody>
      </p:sp>
      <p:sp>
        <p:nvSpPr>
          <p:cNvPr id="798" name="Google Shape;798;p68"/>
          <p:cNvSpPr txBox="1"/>
          <p:nvPr>
            <p:ph idx="1" type="body"/>
          </p:nvPr>
        </p:nvSpPr>
        <p:spPr>
          <a:xfrm>
            <a:off x="7698832" y="1368812"/>
            <a:ext cx="371700" cy="32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AB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99" name="Google Shape;799;p68"/>
          <p:cNvSpPr txBox="1"/>
          <p:nvPr>
            <p:ph idx="1" type="body"/>
          </p:nvPr>
        </p:nvSpPr>
        <p:spPr>
          <a:xfrm>
            <a:off x="7794739" y="1902212"/>
            <a:ext cx="371700" cy="32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CA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0" name="Google Shape;800;p68"/>
          <p:cNvSpPr txBox="1"/>
          <p:nvPr>
            <p:ph idx="1" type="body"/>
          </p:nvPr>
        </p:nvSpPr>
        <p:spPr>
          <a:xfrm>
            <a:off x="4300351" y="3240457"/>
            <a:ext cx="4519800" cy="77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 longest side of a triangle is opposite the largest angle.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1" name="Google Shape;801;p68"/>
          <p:cNvSpPr txBox="1"/>
          <p:nvPr>
            <p:ph idx="1" type="body"/>
          </p:nvPr>
        </p:nvSpPr>
        <p:spPr>
          <a:xfrm>
            <a:off x="4300350" y="4115457"/>
            <a:ext cx="4519800" cy="77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 shortest side of a triangle is opposite the smallest angle.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2" name="Google Shape;802;p68"/>
          <p:cNvSpPr txBox="1"/>
          <p:nvPr>
            <p:ph idx="1" type="body"/>
          </p:nvPr>
        </p:nvSpPr>
        <p:spPr>
          <a:xfrm>
            <a:off x="4300050" y="2455120"/>
            <a:ext cx="4629000" cy="77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can you be sure without knowing the lengths?</a:t>
            </a:r>
            <a:endParaRPr sz="2000"/>
          </a:p>
        </p:txBody>
      </p:sp>
      <p:cxnSp>
        <p:nvCxnSpPr>
          <p:cNvPr id="803" name="Google Shape;803;p68"/>
          <p:cNvCxnSpPr/>
          <p:nvPr/>
        </p:nvCxnSpPr>
        <p:spPr>
          <a:xfrm flipH="1" rot="10800000">
            <a:off x="1176050" y="2970325"/>
            <a:ext cx="860400" cy="531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4" name="Google Shape;804;p68"/>
          <p:cNvCxnSpPr>
            <a:stCxn id="791" idx="3"/>
          </p:cNvCxnSpPr>
          <p:nvPr/>
        </p:nvCxnSpPr>
        <p:spPr>
          <a:xfrm rot="10800000">
            <a:off x="959279" y="3127678"/>
            <a:ext cx="1551300" cy="459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9" name="Google Shape;809;p69"/>
          <p:cNvGrpSpPr/>
          <p:nvPr/>
        </p:nvGrpSpPr>
        <p:grpSpPr>
          <a:xfrm>
            <a:off x="4863695" y="2228716"/>
            <a:ext cx="1490251" cy="1106734"/>
            <a:chOff x="4687759" y="2119780"/>
            <a:chExt cx="1557373" cy="1156583"/>
          </a:xfrm>
        </p:grpSpPr>
        <p:grpSp>
          <p:nvGrpSpPr>
            <p:cNvPr id="810" name="Google Shape;810;p69"/>
            <p:cNvGrpSpPr/>
            <p:nvPr/>
          </p:nvGrpSpPr>
          <p:grpSpPr>
            <a:xfrm rot="5419203">
              <a:off x="4265397" y="2545532"/>
              <a:ext cx="1156431" cy="305248"/>
              <a:chOff x="6353075" y="4549793"/>
              <a:chExt cx="1174500" cy="435074"/>
            </a:xfrm>
          </p:grpSpPr>
          <p:cxnSp>
            <p:nvCxnSpPr>
              <p:cNvPr id="811" name="Google Shape;811;p69"/>
              <p:cNvCxnSpPr/>
              <p:nvPr/>
            </p:nvCxnSpPr>
            <p:spPr>
              <a:xfrm>
                <a:off x="6353075" y="4549793"/>
                <a:ext cx="117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812" name="Google Shape;812;p69"/>
              <p:cNvSpPr txBox="1"/>
              <p:nvPr/>
            </p:nvSpPr>
            <p:spPr>
              <a:xfrm rot="-5386025">
                <a:off x="6756354" y="4678261"/>
                <a:ext cx="369003" cy="2418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i="1" lang="en-GB"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813" name="Google Shape;813;p69"/>
            <p:cNvSpPr/>
            <p:nvPr/>
          </p:nvSpPr>
          <p:spPr>
            <a:xfrm>
              <a:off x="5107532" y="2119780"/>
              <a:ext cx="1137600" cy="11376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14" name="Google Shape;814;p69"/>
          <p:cNvSpPr/>
          <p:nvPr/>
        </p:nvSpPr>
        <p:spPr>
          <a:xfrm>
            <a:off x="6354133" y="2229133"/>
            <a:ext cx="1333200" cy="10887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5" name="Google Shape;815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the hypotenuse</a:t>
            </a:r>
            <a:endParaRPr/>
          </a:p>
        </p:txBody>
      </p:sp>
      <p:sp>
        <p:nvSpPr>
          <p:cNvPr id="816" name="Google Shape;816;p69"/>
          <p:cNvSpPr txBox="1"/>
          <p:nvPr>
            <p:ph idx="1" type="body"/>
          </p:nvPr>
        </p:nvSpPr>
        <p:spPr>
          <a:xfrm>
            <a:off x="324000" y="759300"/>
            <a:ext cx="3996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longest side of a right-angled triangle is called the ‘</a:t>
            </a:r>
            <a:r>
              <a:rPr lang="en-GB" sz="1800">
                <a:solidFill>
                  <a:schemeClr val="accent4"/>
                </a:solidFill>
              </a:rPr>
              <a:t>hypotenuse</a:t>
            </a:r>
            <a:r>
              <a:rPr lang="en-GB" sz="1800"/>
              <a:t>’.</a:t>
            </a:r>
            <a:endParaRPr sz="1800"/>
          </a:p>
        </p:txBody>
      </p:sp>
      <p:sp>
        <p:nvSpPr>
          <p:cNvPr id="817" name="Google Shape;817;p69"/>
          <p:cNvSpPr txBox="1"/>
          <p:nvPr>
            <p:ph idx="1" type="body"/>
          </p:nvPr>
        </p:nvSpPr>
        <p:spPr>
          <a:xfrm>
            <a:off x="324000" y="1597500"/>
            <a:ext cx="4438500" cy="3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It</a:t>
            </a:r>
            <a:r>
              <a:rPr lang="en-GB" sz="1800"/>
              <a:t> is always opposite the right-angle.</a:t>
            </a:r>
            <a:endParaRPr sz="1800"/>
          </a:p>
        </p:txBody>
      </p:sp>
      <p:sp>
        <p:nvSpPr>
          <p:cNvPr id="818" name="Google Shape;818;p69"/>
          <p:cNvSpPr/>
          <p:nvPr/>
        </p:nvSpPr>
        <p:spPr>
          <a:xfrm>
            <a:off x="6354140" y="3317381"/>
            <a:ext cx="1333200" cy="1333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69"/>
          <p:cNvSpPr/>
          <p:nvPr/>
        </p:nvSpPr>
        <p:spPr>
          <a:xfrm rot="2351846">
            <a:off x="6702885" y="1240405"/>
            <a:ext cx="1722641" cy="1722641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69"/>
          <p:cNvSpPr/>
          <p:nvPr/>
        </p:nvSpPr>
        <p:spPr>
          <a:xfrm>
            <a:off x="6354133" y="2229133"/>
            <a:ext cx="1333200" cy="1088700"/>
          </a:xfrm>
          <a:prstGeom prst="rtTriangle">
            <a:avLst/>
          </a:prstGeom>
          <a:solidFill>
            <a:srgbClr val="DACEF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69"/>
          <p:cNvSpPr/>
          <p:nvPr/>
        </p:nvSpPr>
        <p:spPr>
          <a:xfrm rot="10800000">
            <a:off x="6354223" y="3118176"/>
            <a:ext cx="199200" cy="199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22" name="Google Shape;822;p69"/>
          <p:cNvCxnSpPr/>
          <p:nvPr/>
        </p:nvCxnSpPr>
        <p:spPr>
          <a:xfrm rot="-8469566">
            <a:off x="6212664" y="2702906"/>
            <a:ext cx="1738466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823" name="Google Shape;823;p69"/>
          <p:cNvGrpSpPr/>
          <p:nvPr/>
        </p:nvGrpSpPr>
        <p:grpSpPr>
          <a:xfrm rot="19080">
            <a:off x="6353718" y="3439735"/>
            <a:ext cx="1333195" cy="308737"/>
            <a:chOff x="6353075" y="4549793"/>
            <a:chExt cx="1174500" cy="459841"/>
          </a:xfrm>
        </p:grpSpPr>
        <p:cxnSp>
          <p:nvCxnSpPr>
            <p:cNvPr id="824" name="Google Shape;824;p69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825" name="Google Shape;825;p69"/>
            <p:cNvSpPr txBox="1"/>
            <p:nvPr/>
          </p:nvSpPr>
          <p:spPr>
            <a:xfrm rot="3085">
              <a:off x="6604950" y="4600434"/>
              <a:ext cx="668700" cy="40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i="1" sz="2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826" name="Google Shape;826;p69"/>
          <p:cNvGrpSpPr/>
          <p:nvPr/>
        </p:nvGrpSpPr>
        <p:grpSpPr>
          <a:xfrm rot="5419338">
            <a:off x="5498325" y="2615612"/>
            <a:ext cx="1106631" cy="333366"/>
            <a:chOff x="6353075" y="4549793"/>
            <a:chExt cx="1174500" cy="496523"/>
          </a:xfrm>
        </p:grpSpPr>
        <p:cxnSp>
          <p:nvCxnSpPr>
            <p:cNvPr id="827" name="Google Shape;827;p69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828" name="Google Shape;828;p69"/>
            <p:cNvSpPr txBox="1"/>
            <p:nvPr/>
          </p:nvSpPr>
          <p:spPr>
            <a:xfrm rot="-5388022">
              <a:off x="6725391" y="4708960"/>
              <a:ext cx="430503" cy="24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29" name="Google Shape;829;p69"/>
          <p:cNvSpPr txBox="1"/>
          <p:nvPr/>
        </p:nvSpPr>
        <p:spPr>
          <a:xfrm>
            <a:off x="6691315" y="1844219"/>
            <a:ext cx="1849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36 + 64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69"/>
          <p:cNvSpPr txBox="1"/>
          <p:nvPr/>
        </p:nvSpPr>
        <p:spPr>
          <a:xfrm>
            <a:off x="5366250" y="2701087"/>
            <a:ext cx="8556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-GB" sz="18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1" name="Google Shape;831;p69"/>
          <p:cNvSpPr txBox="1"/>
          <p:nvPr/>
        </p:nvSpPr>
        <p:spPr>
          <a:xfrm>
            <a:off x="6592648" y="3990536"/>
            <a:ext cx="8556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69"/>
          <p:cNvSpPr txBox="1"/>
          <p:nvPr/>
        </p:nvSpPr>
        <p:spPr>
          <a:xfrm>
            <a:off x="6998364" y="1983938"/>
            <a:ext cx="1235400" cy="29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69"/>
          <p:cNvSpPr txBox="1"/>
          <p:nvPr/>
        </p:nvSpPr>
        <p:spPr>
          <a:xfrm rot="20127">
            <a:off x="7048332" y="2423244"/>
            <a:ext cx="256204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69"/>
          <p:cNvSpPr txBox="1"/>
          <p:nvPr>
            <p:ph idx="1" type="body"/>
          </p:nvPr>
        </p:nvSpPr>
        <p:spPr>
          <a:xfrm>
            <a:off x="324000" y="2130900"/>
            <a:ext cx="4248000" cy="168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Pythagoras’ theorem states that the</a:t>
            </a:r>
            <a:r>
              <a:rPr lang="en-GB" sz="1800">
                <a:solidFill>
                  <a:schemeClr val="accent4"/>
                </a:solidFill>
              </a:rPr>
              <a:t> sum of the squares</a:t>
            </a:r>
            <a:r>
              <a:rPr lang="en-GB" sz="1800"/>
              <a:t> of the two shorter sides of a </a:t>
            </a:r>
            <a:r>
              <a:rPr lang="en-GB" sz="1800">
                <a:solidFill>
                  <a:schemeClr val="accent4"/>
                </a:solidFill>
              </a:rPr>
              <a:t>right-angled triangle</a:t>
            </a:r>
            <a:r>
              <a:rPr lang="en-GB" sz="1800"/>
              <a:t> is equal to the square of its longest side (the hypotenuse).</a:t>
            </a:r>
            <a:endParaRPr sz="1800"/>
          </a:p>
        </p:txBody>
      </p:sp>
      <p:sp>
        <p:nvSpPr>
          <p:cNvPr id="835" name="Google Shape;835;p69"/>
          <p:cNvSpPr txBox="1"/>
          <p:nvPr>
            <p:ph idx="1" type="body"/>
          </p:nvPr>
        </p:nvSpPr>
        <p:spPr>
          <a:xfrm>
            <a:off x="324000" y="3959700"/>
            <a:ext cx="4359600" cy="9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/>
              <a:t>Pythagoras’ theorem can be expressed as a formula as </a:t>
            </a:r>
            <a:r>
              <a:rPr i="1" lang="en-GB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solidFill>
                  <a:schemeClr val="accent4"/>
                </a:solidFill>
              </a:rPr>
              <a:t> = </a:t>
            </a:r>
            <a:r>
              <a:rPr i="1" lang="en-GB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-GB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solidFill>
                  <a:schemeClr val="accent4"/>
                </a:solidFill>
              </a:rPr>
              <a:t> + </a:t>
            </a:r>
            <a:r>
              <a:rPr i="1" lang="en-GB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/>
              <a:t>, where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/>
              <a:t> is the hypotenuse of the triangle. </a:t>
            </a:r>
            <a:endParaRPr sz="1800"/>
          </a:p>
        </p:txBody>
      </p:sp>
      <p:sp>
        <p:nvSpPr>
          <p:cNvPr id="836" name="Google Shape;836;p69"/>
          <p:cNvSpPr txBox="1"/>
          <p:nvPr/>
        </p:nvSpPr>
        <p:spPr>
          <a:xfrm flipH="1" rot="1348">
            <a:off x="7320279" y="2114038"/>
            <a:ext cx="152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hypotenuse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37" name="Google Shape;837;p69"/>
          <p:cNvCxnSpPr>
            <a:endCxn id="820" idx="5"/>
          </p:cNvCxnSpPr>
          <p:nvPr/>
        </p:nvCxnSpPr>
        <p:spPr>
          <a:xfrm flipH="1">
            <a:off x="7020733" y="2454883"/>
            <a:ext cx="389100" cy="318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8" name="Google Shape;838;p69"/>
          <p:cNvCxnSpPr>
            <a:endCxn id="820" idx="5"/>
          </p:cNvCxnSpPr>
          <p:nvPr/>
        </p:nvCxnSpPr>
        <p:spPr>
          <a:xfrm flipH="1" rot="10800000">
            <a:off x="6590233" y="2773483"/>
            <a:ext cx="430500" cy="312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the hypotenuse</a:t>
            </a:r>
            <a:endParaRPr/>
          </a:p>
        </p:txBody>
      </p:sp>
      <p:sp>
        <p:nvSpPr>
          <p:cNvPr id="844" name="Google Shape;844;p70"/>
          <p:cNvSpPr txBox="1"/>
          <p:nvPr>
            <p:ph idx="1" type="body"/>
          </p:nvPr>
        </p:nvSpPr>
        <p:spPr>
          <a:xfrm>
            <a:off x="324000" y="759300"/>
            <a:ext cx="8496000" cy="35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Pythagoras’ theorem can be used to find the length of the hypotenuse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845" name="Google Shape;845;p70"/>
          <p:cNvSpPr/>
          <p:nvPr/>
        </p:nvSpPr>
        <p:spPr>
          <a:xfrm>
            <a:off x="3210853" y="2700180"/>
            <a:ext cx="1157700" cy="9453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0"/>
          <p:cNvSpPr/>
          <p:nvPr/>
        </p:nvSpPr>
        <p:spPr>
          <a:xfrm>
            <a:off x="3210859" y="3645230"/>
            <a:ext cx="1157700" cy="11577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70"/>
          <p:cNvSpPr/>
          <p:nvPr/>
        </p:nvSpPr>
        <p:spPr>
          <a:xfrm rot="2351785">
            <a:off x="3513813" y="1841513"/>
            <a:ext cx="1495773" cy="1495773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8" name="Google Shape;848;p70"/>
          <p:cNvSpPr/>
          <p:nvPr/>
        </p:nvSpPr>
        <p:spPr>
          <a:xfrm>
            <a:off x="3210853" y="2700180"/>
            <a:ext cx="1157700" cy="945300"/>
          </a:xfrm>
          <a:prstGeom prst="rtTriangle">
            <a:avLst/>
          </a:prstGeom>
          <a:solidFill>
            <a:srgbClr val="DACEF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70"/>
          <p:cNvSpPr/>
          <p:nvPr/>
        </p:nvSpPr>
        <p:spPr>
          <a:xfrm rot="10800000">
            <a:off x="3210519" y="3471825"/>
            <a:ext cx="173400" cy="1734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0" name="Google Shape;850;p70"/>
          <p:cNvGrpSpPr/>
          <p:nvPr/>
        </p:nvGrpSpPr>
        <p:grpSpPr>
          <a:xfrm rot="19180">
            <a:off x="3210911" y="3751898"/>
            <a:ext cx="1157840" cy="268133"/>
            <a:chOff x="6353075" y="4549793"/>
            <a:chExt cx="1174500" cy="459841"/>
          </a:xfrm>
        </p:grpSpPr>
        <p:cxnSp>
          <p:nvCxnSpPr>
            <p:cNvPr id="851" name="Google Shape;851;p70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852" name="Google Shape;852;p70"/>
            <p:cNvSpPr txBox="1"/>
            <p:nvPr/>
          </p:nvSpPr>
          <p:spPr>
            <a:xfrm rot="3085">
              <a:off x="6604950" y="4600434"/>
              <a:ext cx="668700" cy="40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53" name="Google Shape;853;p70"/>
          <p:cNvGrpSpPr/>
          <p:nvPr/>
        </p:nvGrpSpPr>
        <p:grpSpPr>
          <a:xfrm rot="5419745">
            <a:off x="2314459" y="2884107"/>
            <a:ext cx="961109" cy="594008"/>
            <a:chOff x="6353075" y="4549793"/>
            <a:chExt cx="1174500" cy="1018708"/>
          </a:xfrm>
        </p:grpSpPr>
        <p:cxnSp>
          <p:nvCxnSpPr>
            <p:cNvPr id="854" name="Google Shape;854;p70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855" name="Google Shape;855;p70"/>
            <p:cNvSpPr txBox="1"/>
            <p:nvPr/>
          </p:nvSpPr>
          <p:spPr>
            <a:xfrm rot="-5387007">
              <a:off x="6463454" y="4970144"/>
              <a:ext cx="952507" cy="24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856" name="Google Shape;856;p70"/>
          <p:cNvCxnSpPr/>
          <p:nvPr/>
        </p:nvCxnSpPr>
        <p:spPr>
          <a:xfrm rot="-8469743">
            <a:off x="3087504" y="3111892"/>
            <a:ext cx="150977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57" name="Google Shape;857;p70"/>
          <p:cNvSpPr txBox="1"/>
          <p:nvPr/>
        </p:nvSpPr>
        <p:spPr>
          <a:xfrm>
            <a:off x="3503666" y="2169544"/>
            <a:ext cx="16059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36 + 64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8" name="Google Shape;858;p70"/>
          <p:cNvSpPr txBox="1"/>
          <p:nvPr/>
        </p:nvSpPr>
        <p:spPr>
          <a:xfrm>
            <a:off x="3417973" y="4287945"/>
            <a:ext cx="8157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64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9" name="Google Shape;859;p70"/>
          <p:cNvSpPr txBox="1"/>
          <p:nvPr/>
        </p:nvSpPr>
        <p:spPr>
          <a:xfrm>
            <a:off x="3598116" y="2290884"/>
            <a:ext cx="1439100" cy="25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100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0" name="Google Shape;860;p70"/>
          <p:cNvSpPr txBox="1"/>
          <p:nvPr/>
        </p:nvSpPr>
        <p:spPr>
          <a:xfrm rot="2353313">
            <a:off x="3503384" y="2880706"/>
            <a:ext cx="859684" cy="23805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861" name="Google Shape;861;p70"/>
          <p:cNvGrpSpPr/>
          <p:nvPr/>
        </p:nvGrpSpPr>
        <p:grpSpPr>
          <a:xfrm>
            <a:off x="1576344" y="2699849"/>
            <a:ext cx="1634453" cy="961120"/>
            <a:chOff x="4278282" y="2119780"/>
            <a:chExt cx="1966851" cy="1156583"/>
          </a:xfrm>
        </p:grpSpPr>
        <p:grpSp>
          <p:nvGrpSpPr>
            <p:cNvPr id="862" name="Google Shape;862;p70"/>
            <p:cNvGrpSpPr/>
            <p:nvPr/>
          </p:nvGrpSpPr>
          <p:grpSpPr>
            <a:xfrm rot="5419203">
              <a:off x="4060659" y="2340793"/>
              <a:ext cx="1156431" cy="714725"/>
              <a:chOff x="6353075" y="4549793"/>
              <a:chExt cx="1174500" cy="1018708"/>
            </a:xfrm>
          </p:grpSpPr>
          <p:cxnSp>
            <p:nvCxnSpPr>
              <p:cNvPr id="863" name="Google Shape;863;p70"/>
              <p:cNvCxnSpPr/>
              <p:nvPr/>
            </p:nvCxnSpPr>
            <p:spPr>
              <a:xfrm>
                <a:off x="6353075" y="4549793"/>
                <a:ext cx="117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864" name="Google Shape;864;p70"/>
              <p:cNvSpPr txBox="1"/>
              <p:nvPr/>
            </p:nvSpPr>
            <p:spPr>
              <a:xfrm rot="-5387007">
                <a:off x="6463454" y="4970144"/>
                <a:ext cx="952507" cy="2418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865" name="Google Shape;865;p70"/>
            <p:cNvSpPr/>
            <p:nvPr/>
          </p:nvSpPr>
          <p:spPr>
            <a:xfrm>
              <a:off x="5107532" y="2119780"/>
              <a:ext cx="1137600" cy="11376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66" name="Google Shape;866;p70"/>
          <p:cNvSpPr txBox="1"/>
          <p:nvPr>
            <p:ph idx="1" type="body"/>
          </p:nvPr>
        </p:nvSpPr>
        <p:spPr>
          <a:xfrm>
            <a:off x="321375" y="1219800"/>
            <a:ext cx="4040400" cy="35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Method 1: manipulating the diagram</a:t>
            </a:r>
            <a:endParaRPr sz="1800"/>
          </a:p>
        </p:txBody>
      </p:sp>
      <p:sp>
        <p:nvSpPr>
          <p:cNvPr id="867" name="Google Shape;867;p70"/>
          <p:cNvSpPr txBox="1"/>
          <p:nvPr/>
        </p:nvSpPr>
        <p:spPr>
          <a:xfrm>
            <a:off x="2352969" y="3055282"/>
            <a:ext cx="8157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36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8" name="Google Shape;868;p70"/>
          <p:cNvSpPr txBox="1"/>
          <p:nvPr/>
        </p:nvSpPr>
        <p:spPr>
          <a:xfrm flipH="1">
            <a:off x="6569763" y="2176538"/>
            <a:ext cx="16395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6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36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9" name="Google Shape;869;p70"/>
          <p:cNvSpPr txBox="1"/>
          <p:nvPr/>
        </p:nvSpPr>
        <p:spPr>
          <a:xfrm flipH="1">
            <a:off x="5792775" y="3249525"/>
            <a:ext cx="1353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36 + 64 =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0" name="Google Shape;870;p70"/>
          <p:cNvSpPr txBox="1"/>
          <p:nvPr/>
        </p:nvSpPr>
        <p:spPr>
          <a:xfrm flipH="1">
            <a:off x="6400337" y="3799050"/>
            <a:ext cx="1059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100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= 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1" name="Google Shape;871;p70"/>
          <p:cNvSpPr txBox="1"/>
          <p:nvPr/>
        </p:nvSpPr>
        <p:spPr>
          <a:xfrm flipH="1">
            <a:off x="6619687" y="2709938"/>
            <a:ext cx="16395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64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}&quot;&gt;&lt;msqrt&gt;&lt;mtext&gt;&lt;/mtext&gt;&lt;mtext&gt;&lt;/mtext&gt;&lt;mtext&gt;&lt;/mtext&gt;&lt;mtext&gt;&lt;/mtext&gt;&lt;mtext&gt;&lt;/mtext&gt;&lt;mtext&gt;&lt;/mtext&gt;&lt;mtext&gt;&lt;/mtext&gt;&lt;/msqrt&gt;&lt;/math&gt;" id="872" name="Google Shape;872;p70" title="the square root o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8842" y="3817172"/>
            <a:ext cx="615550" cy="293794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70"/>
          <p:cNvSpPr txBox="1"/>
          <p:nvPr/>
        </p:nvSpPr>
        <p:spPr>
          <a:xfrm flipH="1">
            <a:off x="7207730" y="3249525"/>
            <a:ext cx="548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the hypotenuse</a:t>
            </a:r>
            <a:endParaRPr/>
          </a:p>
        </p:txBody>
      </p:sp>
      <p:sp>
        <p:nvSpPr>
          <p:cNvPr id="879" name="Google Shape;879;p71"/>
          <p:cNvSpPr txBox="1"/>
          <p:nvPr>
            <p:ph idx="1" type="body"/>
          </p:nvPr>
        </p:nvSpPr>
        <p:spPr>
          <a:xfrm>
            <a:off x="324000" y="759300"/>
            <a:ext cx="8496000" cy="35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Pythagoras’s theorem can be used to find the length of the hypotenuse.</a:t>
            </a:r>
            <a:endParaRPr sz="1800"/>
          </a:p>
        </p:txBody>
      </p:sp>
      <p:sp>
        <p:nvSpPr>
          <p:cNvPr id="880" name="Google Shape;880;p71"/>
          <p:cNvSpPr/>
          <p:nvPr/>
        </p:nvSpPr>
        <p:spPr>
          <a:xfrm>
            <a:off x="3213915" y="2703615"/>
            <a:ext cx="1149600" cy="9387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1"/>
          <p:cNvSpPr/>
          <p:nvPr/>
        </p:nvSpPr>
        <p:spPr>
          <a:xfrm>
            <a:off x="3213915" y="2703615"/>
            <a:ext cx="1149600" cy="938700"/>
          </a:xfrm>
          <a:prstGeom prst="rtTriangle">
            <a:avLst/>
          </a:prstGeom>
          <a:solidFill>
            <a:srgbClr val="DACEF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71"/>
          <p:cNvSpPr/>
          <p:nvPr/>
        </p:nvSpPr>
        <p:spPr>
          <a:xfrm rot="10800000">
            <a:off x="3213832" y="3469937"/>
            <a:ext cx="171900" cy="1719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83" name="Google Shape;883;p71"/>
          <p:cNvGrpSpPr/>
          <p:nvPr/>
        </p:nvGrpSpPr>
        <p:grpSpPr>
          <a:xfrm rot="18970">
            <a:off x="3213418" y="3747366"/>
            <a:ext cx="1149383" cy="266202"/>
            <a:chOff x="6353075" y="4549793"/>
            <a:chExt cx="1174500" cy="459841"/>
          </a:xfrm>
        </p:grpSpPr>
        <p:cxnSp>
          <p:nvCxnSpPr>
            <p:cNvPr id="884" name="Google Shape;884;p71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885" name="Google Shape;885;p71"/>
            <p:cNvSpPr txBox="1"/>
            <p:nvPr/>
          </p:nvSpPr>
          <p:spPr>
            <a:xfrm rot="3085">
              <a:off x="6604950" y="4600434"/>
              <a:ext cx="668700" cy="40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86" name="Google Shape;886;p71"/>
          <p:cNvGrpSpPr/>
          <p:nvPr/>
        </p:nvGrpSpPr>
        <p:grpSpPr>
          <a:xfrm rot="5419468">
            <a:off x="2324468" y="2885570"/>
            <a:ext cx="954062" cy="589730"/>
            <a:chOff x="6353075" y="4549793"/>
            <a:chExt cx="1174500" cy="1018708"/>
          </a:xfrm>
        </p:grpSpPr>
        <p:cxnSp>
          <p:nvCxnSpPr>
            <p:cNvPr id="887" name="Google Shape;887;p71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888" name="Google Shape;888;p71"/>
            <p:cNvSpPr txBox="1"/>
            <p:nvPr/>
          </p:nvSpPr>
          <p:spPr>
            <a:xfrm rot="-5387007">
              <a:off x="6463454" y="4970144"/>
              <a:ext cx="952507" cy="24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889" name="Google Shape;889;p71"/>
          <p:cNvCxnSpPr/>
          <p:nvPr/>
        </p:nvCxnSpPr>
        <p:spPr>
          <a:xfrm rot="-8469452">
            <a:off x="3091308" y="3112237"/>
            <a:ext cx="1499088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90" name="Google Shape;890;p71"/>
          <p:cNvSpPr txBox="1"/>
          <p:nvPr/>
        </p:nvSpPr>
        <p:spPr>
          <a:xfrm rot="2353369">
            <a:off x="3504389" y="2882902"/>
            <a:ext cx="853500" cy="236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1"/>
          <p:cNvSpPr txBox="1"/>
          <p:nvPr/>
        </p:nvSpPr>
        <p:spPr>
          <a:xfrm rot="21513">
            <a:off x="2024748" y="2577984"/>
            <a:ext cx="239705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1"/>
          <p:cNvSpPr txBox="1"/>
          <p:nvPr/>
        </p:nvSpPr>
        <p:spPr>
          <a:xfrm rot="23359">
            <a:off x="3054159" y="4231554"/>
            <a:ext cx="264906" cy="2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1"/>
          <p:cNvSpPr txBox="1"/>
          <p:nvPr/>
        </p:nvSpPr>
        <p:spPr>
          <a:xfrm rot="23359">
            <a:off x="4307037" y="2378471"/>
            <a:ext cx="264906" cy="2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4" name="Google Shape;894;p71"/>
          <p:cNvCxnSpPr/>
          <p:nvPr/>
        </p:nvCxnSpPr>
        <p:spPr>
          <a:xfrm>
            <a:off x="2254478" y="2846322"/>
            <a:ext cx="254100" cy="228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5" name="Google Shape;895;p71"/>
          <p:cNvCxnSpPr/>
          <p:nvPr/>
        </p:nvCxnSpPr>
        <p:spPr>
          <a:xfrm flipH="1" rot="10800000">
            <a:off x="3272798" y="3999152"/>
            <a:ext cx="253500" cy="284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6" name="Google Shape;896;p71"/>
          <p:cNvCxnSpPr>
            <a:stCxn id="890" idx="0"/>
          </p:cNvCxnSpPr>
          <p:nvPr/>
        </p:nvCxnSpPr>
        <p:spPr>
          <a:xfrm flipH="1" rot="10800000">
            <a:off x="4005388" y="2620238"/>
            <a:ext cx="304200" cy="288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7" name="Google Shape;897;p71"/>
          <p:cNvSpPr txBox="1"/>
          <p:nvPr/>
        </p:nvSpPr>
        <p:spPr>
          <a:xfrm flipH="1">
            <a:off x="5874052" y="2074275"/>
            <a:ext cx="1483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8" name="Google Shape;898;p71"/>
          <p:cNvSpPr txBox="1"/>
          <p:nvPr/>
        </p:nvSpPr>
        <p:spPr>
          <a:xfrm flipH="1">
            <a:off x="5874052" y="2547600"/>
            <a:ext cx="1483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</a:t>
            </a:r>
            <a:r>
              <a:rPr baseline="30000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baseline="30000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9" name="Google Shape;899;p71"/>
          <p:cNvSpPr txBox="1"/>
          <p:nvPr/>
        </p:nvSpPr>
        <p:spPr>
          <a:xfrm flipH="1">
            <a:off x="5759452" y="3020925"/>
            <a:ext cx="1598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36 + 64 =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0" name="Google Shape;900;p71"/>
          <p:cNvSpPr txBox="1"/>
          <p:nvPr/>
        </p:nvSpPr>
        <p:spPr>
          <a:xfrm flipH="1">
            <a:off x="6320452" y="3494250"/>
            <a:ext cx="103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 =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1" name="Google Shape;901;p71"/>
          <p:cNvSpPr txBox="1"/>
          <p:nvPr/>
        </p:nvSpPr>
        <p:spPr>
          <a:xfrm flipH="1">
            <a:off x="6462652" y="3967575"/>
            <a:ext cx="8952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=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²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2" name="Google Shape;902;p71"/>
          <p:cNvSpPr txBox="1"/>
          <p:nvPr>
            <p:ph idx="1" type="body"/>
          </p:nvPr>
        </p:nvSpPr>
        <p:spPr>
          <a:xfrm>
            <a:off x="321375" y="1219800"/>
            <a:ext cx="4040400" cy="35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Method 2: using the formula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the hypotenuse</a:t>
            </a:r>
            <a:endParaRPr/>
          </a:p>
        </p:txBody>
      </p:sp>
      <p:sp>
        <p:nvSpPr>
          <p:cNvPr id="908" name="Google Shape;908;p72"/>
          <p:cNvSpPr txBox="1"/>
          <p:nvPr>
            <p:ph idx="1" type="body"/>
          </p:nvPr>
        </p:nvSpPr>
        <p:spPr>
          <a:xfrm>
            <a:off x="324000" y="759300"/>
            <a:ext cx="8496000" cy="35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Triangles can be in different orientations, but the right angle can be used to find which side is the hypotenuse.</a:t>
            </a:r>
            <a:endParaRPr sz="1800"/>
          </a:p>
        </p:txBody>
      </p:sp>
      <p:grpSp>
        <p:nvGrpSpPr>
          <p:cNvPr id="909" name="Google Shape;909;p72"/>
          <p:cNvGrpSpPr/>
          <p:nvPr/>
        </p:nvGrpSpPr>
        <p:grpSpPr>
          <a:xfrm rot="-1858464">
            <a:off x="711131" y="1851564"/>
            <a:ext cx="1796562" cy="1793218"/>
            <a:chOff x="8299500" y="3454765"/>
            <a:chExt cx="1215472" cy="1213210"/>
          </a:xfrm>
        </p:grpSpPr>
        <p:sp>
          <p:nvSpPr>
            <p:cNvPr id="910" name="Google Shape;910;p72"/>
            <p:cNvSpPr/>
            <p:nvPr/>
          </p:nvSpPr>
          <p:spPr>
            <a:xfrm rot="10800000">
              <a:off x="8375367" y="3555888"/>
              <a:ext cx="1026600" cy="1054200"/>
            </a:xfrm>
            <a:prstGeom prst="rtTriangl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1" name="Google Shape;911;p72"/>
            <p:cNvSpPr/>
            <p:nvPr/>
          </p:nvSpPr>
          <p:spPr>
            <a:xfrm rot="10800000">
              <a:off x="9274174" y="3555849"/>
              <a:ext cx="127800" cy="127800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12" name="Google Shape;912;p72"/>
            <p:cNvCxnSpPr/>
            <p:nvPr/>
          </p:nvCxnSpPr>
          <p:spPr>
            <a:xfrm>
              <a:off x="8365250" y="3454765"/>
              <a:ext cx="1013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13" name="Google Shape;913;p72"/>
            <p:cNvCxnSpPr/>
            <p:nvPr/>
          </p:nvCxnSpPr>
          <p:spPr>
            <a:xfrm rot="10800000">
              <a:off x="9514972" y="3561597"/>
              <a:ext cx="0" cy="1048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14" name="Google Shape;914;p72"/>
            <p:cNvCxnSpPr/>
            <p:nvPr/>
          </p:nvCxnSpPr>
          <p:spPr>
            <a:xfrm rot="10800000">
              <a:off x="8299500" y="3600875"/>
              <a:ext cx="1011000" cy="1067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915" name="Google Shape;915;p72"/>
          <p:cNvCxnSpPr/>
          <p:nvPr/>
        </p:nvCxnSpPr>
        <p:spPr>
          <a:xfrm rot="10800000">
            <a:off x="1226952" y="2032771"/>
            <a:ext cx="0" cy="15717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72"/>
          <p:cNvCxnSpPr/>
          <p:nvPr/>
        </p:nvCxnSpPr>
        <p:spPr>
          <a:xfrm rot="-1858756">
            <a:off x="2127095" y="2351694"/>
            <a:ext cx="190003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7" name="Google Shape;917;p72"/>
          <p:cNvSpPr txBox="1"/>
          <p:nvPr/>
        </p:nvSpPr>
        <p:spPr>
          <a:xfrm rot="1369">
            <a:off x="514231" y="1735507"/>
            <a:ext cx="7536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2"/>
          <p:cNvSpPr txBox="1"/>
          <p:nvPr/>
        </p:nvSpPr>
        <p:spPr>
          <a:xfrm rot="1369">
            <a:off x="2325024" y="1972784"/>
            <a:ext cx="7536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9" name="Google Shape;919;p72"/>
          <p:cNvCxnSpPr>
            <a:endCxn id="910" idx="5"/>
          </p:cNvCxnSpPr>
          <p:nvPr/>
        </p:nvCxnSpPr>
        <p:spPr>
          <a:xfrm flipH="1">
            <a:off x="1602323" y="2034295"/>
            <a:ext cx="194100" cy="755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0" name="Google Shape;920;p72"/>
          <p:cNvSpPr txBox="1"/>
          <p:nvPr/>
        </p:nvSpPr>
        <p:spPr>
          <a:xfrm flipH="1">
            <a:off x="3902135" y="1464675"/>
            <a:ext cx="1614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+ 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1" name="Google Shape;921;p72"/>
          <p:cNvSpPr txBox="1"/>
          <p:nvPr/>
        </p:nvSpPr>
        <p:spPr>
          <a:xfrm flipH="1">
            <a:off x="3694835" y="1880850"/>
            <a:ext cx="1821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18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+  18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2" name="Google Shape;922;p72"/>
          <p:cNvSpPr txBox="1"/>
          <p:nvPr/>
        </p:nvSpPr>
        <p:spPr>
          <a:xfrm flipH="1">
            <a:off x="3592774" y="2297025"/>
            <a:ext cx="19392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324  +  324  = 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3" name="Google Shape;923;p72"/>
          <p:cNvSpPr txBox="1"/>
          <p:nvPr/>
        </p:nvSpPr>
        <p:spPr>
          <a:xfrm flipH="1">
            <a:off x="4445135" y="2713200"/>
            <a:ext cx="1071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648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4" name="Google Shape;924;p72"/>
          <p:cNvSpPr txBox="1"/>
          <p:nvPr/>
        </p:nvSpPr>
        <p:spPr>
          <a:xfrm flipH="1">
            <a:off x="4381926" y="3129375"/>
            <a:ext cx="11112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25.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²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25" name="Google Shape;925;p72"/>
          <p:cNvGrpSpPr/>
          <p:nvPr/>
        </p:nvGrpSpPr>
        <p:grpSpPr>
          <a:xfrm>
            <a:off x="6426574" y="1643077"/>
            <a:ext cx="2323795" cy="1081022"/>
            <a:chOff x="6426574" y="1643077"/>
            <a:chExt cx="2323795" cy="1081022"/>
          </a:xfrm>
        </p:grpSpPr>
        <p:pic>
          <p:nvPicPr>
            <p:cNvPr id="926" name="Google Shape;926;p7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426574" y="1643077"/>
              <a:ext cx="2323795" cy="1081022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927" name="Google Shape;927;p72"/>
            <p:cNvPicPr preferRelativeResize="0"/>
            <p:nvPr/>
          </p:nvPicPr>
          <p:blipFill rotWithShape="1">
            <a:blip r:embed="rId4">
              <a:alphaModFix/>
            </a:blip>
            <a:srcRect b="0" l="0" r="3372" t="0"/>
            <a:stretch/>
          </p:blipFill>
          <p:spPr>
            <a:xfrm>
              <a:off x="6526402" y="1743275"/>
              <a:ext cx="2058028" cy="82500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28" name="Google Shape;928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6569" y="2666276"/>
            <a:ext cx="1493806" cy="480280"/>
          </a:xfrm>
          <a:prstGeom prst="rect">
            <a:avLst/>
          </a:prstGeom>
          <a:noFill/>
          <a:ln cap="flat" cmpd="sng" w="28575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29" name="Google Shape;929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46528" y="1738354"/>
            <a:ext cx="2076425" cy="813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72"/>
          <p:cNvPicPr preferRelativeResize="0"/>
          <p:nvPr/>
        </p:nvPicPr>
        <p:blipFill rotWithShape="1">
          <a:blip r:embed="rId7">
            <a:alphaModFix/>
          </a:blip>
          <a:srcRect b="0" l="0" r="0" t="12747"/>
          <a:stretch/>
        </p:blipFill>
        <p:spPr>
          <a:xfrm>
            <a:off x="6558374" y="1853560"/>
            <a:ext cx="2060929" cy="709798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72"/>
          <p:cNvSpPr/>
          <p:nvPr/>
        </p:nvSpPr>
        <p:spPr>
          <a:xfrm>
            <a:off x="6448339" y="2696669"/>
            <a:ext cx="438900" cy="4344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2"/>
          <p:cNvSpPr/>
          <p:nvPr/>
        </p:nvSpPr>
        <p:spPr>
          <a:xfrm>
            <a:off x="6936127" y="2696669"/>
            <a:ext cx="438900" cy="4344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2"/>
          <p:cNvSpPr/>
          <p:nvPr/>
        </p:nvSpPr>
        <p:spPr>
          <a:xfrm>
            <a:off x="7423914" y="2696669"/>
            <a:ext cx="438900" cy="4344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4" name="Google Shape;934;p7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44495" y="1741013"/>
            <a:ext cx="2076431" cy="823539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72"/>
          <p:cNvSpPr txBox="1"/>
          <p:nvPr/>
        </p:nvSpPr>
        <p:spPr>
          <a:xfrm flipH="1">
            <a:off x="324000" y="3898102"/>
            <a:ext cx="84960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Sometimes, you may have to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change the format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your answer so that the hypotenuse is a length given as a decimal.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2"/>
          <p:cNvSpPr txBox="1"/>
          <p:nvPr/>
        </p:nvSpPr>
        <p:spPr>
          <a:xfrm flipH="1">
            <a:off x="324000" y="4531350"/>
            <a:ext cx="84960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Decimals may need to be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rounded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 an appropriate degree of accuracy.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2"/>
          <p:cNvSpPr txBox="1"/>
          <p:nvPr/>
        </p:nvSpPr>
        <p:spPr>
          <a:xfrm rot="1112">
            <a:off x="918812" y="2956733"/>
            <a:ext cx="9276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25.5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72"/>
          <p:cNvSpPr txBox="1"/>
          <p:nvPr/>
        </p:nvSpPr>
        <p:spPr>
          <a:xfrm flipH="1">
            <a:off x="3856050" y="3490668"/>
            <a:ext cx="12927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(to 1 d.p.)</a:t>
            </a:r>
            <a:r>
              <a:rPr lang="en-GB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²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73"/>
          <p:cNvSpPr txBox="1"/>
          <p:nvPr/>
        </p:nvSpPr>
        <p:spPr>
          <a:xfrm flipH="1">
            <a:off x="4628508" y="3103650"/>
            <a:ext cx="34374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hypotenuse = 23.3 cm (1 d.p.)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4" name="Google Shape;944;p73"/>
          <p:cNvSpPr txBox="1"/>
          <p:nvPr/>
        </p:nvSpPr>
        <p:spPr>
          <a:xfrm flipH="1">
            <a:off x="324000" y="733800"/>
            <a:ext cx="8496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Find the missing length in this triangle. 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Give your answer in decimal form accurate to 1 decimal place.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length of the hypotenuse</a:t>
            </a:r>
            <a:endParaRPr/>
          </a:p>
        </p:txBody>
      </p:sp>
      <p:sp>
        <p:nvSpPr>
          <p:cNvPr id="946" name="Google Shape;946;p73"/>
          <p:cNvSpPr txBox="1"/>
          <p:nvPr/>
        </p:nvSpPr>
        <p:spPr>
          <a:xfrm flipH="1">
            <a:off x="707239" y="2699989"/>
            <a:ext cx="1223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73"/>
          <p:cNvSpPr txBox="1"/>
          <p:nvPr/>
        </p:nvSpPr>
        <p:spPr>
          <a:xfrm flipH="1" rot="71915">
            <a:off x="2125247" y="1635844"/>
            <a:ext cx="702754" cy="14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8" name="Google Shape;948;p73"/>
          <p:cNvGrpSpPr/>
          <p:nvPr/>
        </p:nvGrpSpPr>
        <p:grpSpPr>
          <a:xfrm rot="5400000">
            <a:off x="1234527" y="2371481"/>
            <a:ext cx="2554938" cy="1567686"/>
            <a:chOff x="6434075" y="1114801"/>
            <a:chExt cx="1965942" cy="1206284"/>
          </a:xfrm>
        </p:grpSpPr>
        <p:sp>
          <p:nvSpPr>
            <p:cNvPr id="949" name="Google Shape;949;p73"/>
            <p:cNvSpPr/>
            <p:nvPr/>
          </p:nvSpPr>
          <p:spPr>
            <a:xfrm>
              <a:off x="6536865" y="1206054"/>
              <a:ext cx="1788900" cy="9693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0" name="Google Shape;950;p73"/>
            <p:cNvSpPr/>
            <p:nvPr/>
          </p:nvSpPr>
          <p:spPr>
            <a:xfrm>
              <a:off x="6536850" y="2023925"/>
              <a:ext cx="156000" cy="151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51" name="Google Shape;951;p73"/>
            <p:cNvCxnSpPr/>
            <p:nvPr/>
          </p:nvCxnSpPr>
          <p:spPr>
            <a:xfrm rot="10799427">
              <a:off x="6538887" y="2320934"/>
              <a:ext cx="1800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52" name="Google Shape;952;p73"/>
            <p:cNvCxnSpPr/>
            <p:nvPr/>
          </p:nvCxnSpPr>
          <p:spPr>
            <a:xfrm rot="10800000">
              <a:off x="6434075" y="1174050"/>
              <a:ext cx="0" cy="1079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53" name="Google Shape;953;p73"/>
            <p:cNvCxnSpPr/>
            <p:nvPr/>
          </p:nvCxnSpPr>
          <p:spPr>
            <a:xfrm rot="1718604">
              <a:off x="6444671" y="1614001"/>
              <a:ext cx="208279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954" name="Google Shape;954;p73"/>
          <p:cNvSpPr txBox="1"/>
          <p:nvPr/>
        </p:nvSpPr>
        <p:spPr>
          <a:xfrm flipH="1">
            <a:off x="4778602" y="2106000"/>
            <a:ext cx="19575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+ 12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544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5" name="Google Shape;955;p73"/>
          <p:cNvSpPr txBox="1"/>
          <p:nvPr/>
        </p:nvSpPr>
        <p:spPr>
          <a:xfrm flipH="1">
            <a:off x="5395972" y="2673600"/>
            <a:ext cx="19575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544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4  34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956" name="Google Shape;956;p73" title="the square root of"/>
          <p:cNvPicPr preferRelativeResize="0"/>
          <p:nvPr/>
        </p:nvPicPr>
        <p:blipFill rotWithShape="1">
          <a:blip r:embed="rId3">
            <a:alphaModFix/>
          </a:blip>
          <a:srcRect b="0" l="0" r="58418" t="0"/>
          <a:stretch/>
        </p:blipFill>
        <p:spPr>
          <a:xfrm>
            <a:off x="5225615" y="2640625"/>
            <a:ext cx="560425" cy="26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957" name="Google Shape;957;p73" title="the square root of"/>
          <p:cNvPicPr preferRelativeResize="0"/>
          <p:nvPr/>
        </p:nvPicPr>
        <p:blipFill rotWithShape="1">
          <a:blip r:embed="rId3">
            <a:alphaModFix/>
          </a:blip>
          <a:srcRect b="0" l="0" r="72846" t="0"/>
          <a:stretch/>
        </p:blipFill>
        <p:spPr>
          <a:xfrm>
            <a:off x="6346381" y="2640625"/>
            <a:ext cx="365975" cy="26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7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Find the missing lengths. Give any decimal lengths to 1 decimal place.</a:t>
            </a:r>
            <a:endParaRPr sz="1600"/>
          </a:p>
        </p:txBody>
      </p:sp>
      <p:sp>
        <p:nvSpPr>
          <p:cNvPr id="963" name="Google Shape;963;p7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the hypotenuse</a:t>
            </a:r>
            <a:endParaRPr/>
          </a:p>
        </p:txBody>
      </p:sp>
      <p:sp>
        <p:nvSpPr>
          <p:cNvPr id="964" name="Google Shape;964;p74"/>
          <p:cNvSpPr/>
          <p:nvPr/>
        </p:nvSpPr>
        <p:spPr>
          <a:xfrm>
            <a:off x="897750" y="1645697"/>
            <a:ext cx="1511100" cy="8127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4"/>
          <p:cNvSpPr/>
          <p:nvPr/>
        </p:nvSpPr>
        <p:spPr>
          <a:xfrm>
            <a:off x="897750" y="2330463"/>
            <a:ext cx="127800" cy="12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74"/>
          <p:cNvSpPr/>
          <p:nvPr/>
        </p:nvSpPr>
        <p:spPr>
          <a:xfrm flipH="1" rot="-9518150">
            <a:off x="1102029" y="3760251"/>
            <a:ext cx="1511140" cy="581448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74"/>
          <p:cNvSpPr/>
          <p:nvPr/>
        </p:nvSpPr>
        <p:spPr>
          <a:xfrm flipH="1" rot="-9517435">
            <a:off x="1232100" y="3524222"/>
            <a:ext cx="127576" cy="12757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4"/>
          <p:cNvSpPr/>
          <p:nvPr/>
        </p:nvSpPr>
        <p:spPr>
          <a:xfrm rot="2382498">
            <a:off x="4049794" y="3698095"/>
            <a:ext cx="1244367" cy="694511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74"/>
          <p:cNvSpPr/>
          <p:nvPr/>
        </p:nvSpPr>
        <p:spPr>
          <a:xfrm rot="2380070">
            <a:off x="3997762" y="3842648"/>
            <a:ext cx="127832" cy="127832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74"/>
          <p:cNvSpPr txBox="1"/>
          <p:nvPr/>
        </p:nvSpPr>
        <p:spPr>
          <a:xfrm>
            <a:off x="324000" y="1270953"/>
            <a:ext cx="2499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74"/>
          <p:cNvSpPr txBox="1"/>
          <p:nvPr/>
        </p:nvSpPr>
        <p:spPr>
          <a:xfrm>
            <a:off x="3301802" y="1270953"/>
            <a:ext cx="2499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74"/>
          <p:cNvSpPr txBox="1"/>
          <p:nvPr/>
        </p:nvSpPr>
        <p:spPr>
          <a:xfrm>
            <a:off x="6127204" y="1270953"/>
            <a:ext cx="2499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74"/>
          <p:cNvSpPr txBox="1"/>
          <p:nvPr/>
        </p:nvSpPr>
        <p:spPr>
          <a:xfrm>
            <a:off x="324000" y="3156382"/>
            <a:ext cx="2499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74"/>
          <p:cNvSpPr txBox="1"/>
          <p:nvPr/>
        </p:nvSpPr>
        <p:spPr>
          <a:xfrm>
            <a:off x="3301802" y="3156382"/>
            <a:ext cx="2499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74"/>
          <p:cNvSpPr txBox="1"/>
          <p:nvPr/>
        </p:nvSpPr>
        <p:spPr>
          <a:xfrm>
            <a:off x="6127204" y="3156382"/>
            <a:ext cx="2499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6" name="Google Shape;976;p74"/>
          <p:cNvCxnSpPr/>
          <p:nvPr/>
        </p:nvCxnSpPr>
        <p:spPr>
          <a:xfrm rot="10800000">
            <a:off x="810014" y="1647197"/>
            <a:ext cx="0" cy="81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77" name="Google Shape;977;p74"/>
          <p:cNvCxnSpPr/>
          <p:nvPr/>
        </p:nvCxnSpPr>
        <p:spPr>
          <a:xfrm>
            <a:off x="892022" y="2542341"/>
            <a:ext cx="1521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78" name="Google Shape;978;p74"/>
          <p:cNvCxnSpPr/>
          <p:nvPr/>
        </p:nvCxnSpPr>
        <p:spPr>
          <a:xfrm>
            <a:off x="957836" y="1567796"/>
            <a:ext cx="1510200" cy="81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79" name="Google Shape;979;p74"/>
          <p:cNvCxnSpPr/>
          <p:nvPr/>
        </p:nvCxnSpPr>
        <p:spPr>
          <a:xfrm rot="10800000">
            <a:off x="1276077" y="3416058"/>
            <a:ext cx="1408500" cy="55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80" name="Google Shape;980;p74"/>
          <p:cNvCxnSpPr/>
          <p:nvPr/>
        </p:nvCxnSpPr>
        <p:spPr>
          <a:xfrm flipH="1" rot="10800000">
            <a:off x="957329" y="3474135"/>
            <a:ext cx="207600" cy="539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81" name="Google Shape;981;p74"/>
          <p:cNvCxnSpPr/>
          <p:nvPr/>
        </p:nvCxnSpPr>
        <p:spPr>
          <a:xfrm rot="10800000">
            <a:off x="1037853" y="4147417"/>
            <a:ext cx="1629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982" name="Google Shape;982;p74"/>
          <p:cNvGrpSpPr/>
          <p:nvPr/>
        </p:nvGrpSpPr>
        <p:grpSpPr>
          <a:xfrm>
            <a:off x="6546900" y="3463377"/>
            <a:ext cx="1215472" cy="1213210"/>
            <a:chOff x="8299500" y="3454765"/>
            <a:chExt cx="1215472" cy="1213210"/>
          </a:xfrm>
        </p:grpSpPr>
        <p:sp>
          <p:nvSpPr>
            <p:cNvPr id="983" name="Google Shape;983;p74"/>
            <p:cNvSpPr/>
            <p:nvPr/>
          </p:nvSpPr>
          <p:spPr>
            <a:xfrm rot="10800000">
              <a:off x="8375367" y="3555888"/>
              <a:ext cx="1026600" cy="10542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4" name="Google Shape;984;p74"/>
            <p:cNvSpPr/>
            <p:nvPr/>
          </p:nvSpPr>
          <p:spPr>
            <a:xfrm rot="10800000">
              <a:off x="9274174" y="3555849"/>
              <a:ext cx="127800" cy="1278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85" name="Google Shape;985;p74"/>
            <p:cNvCxnSpPr/>
            <p:nvPr/>
          </p:nvCxnSpPr>
          <p:spPr>
            <a:xfrm>
              <a:off x="8365250" y="3454765"/>
              <a:ext cx="1013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86" name="Google Shape;986;p74"/>
            <p:cNvCxnSpPr/>
            <p:nvPr/>
          </p:nvCxnSpPr>
          <p:spPr>
            <a:xfrm rot="10800000">
              <a:off x="9514972" y="3561597"/>
              <a:ext cx="0" cy="1048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87" name="Google Shape;987;p74"/>
            <p:cNvCxnSpPr/>
            <p:nvPr/>
          </p:nvCxnSpPr>
          <p:spPr>
            <a:xfrm rot="10800000">
              <a:off x="8299500" y="3600875"/>
              <a:ext cx="1011000" cy="1067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988" name="Google Shape;988;p74"/>
          <p:cNvGrpSpPr/>
          <p:nvPr/>
        </p:nvGrpSpPr>
        <p:grpSpPr>
          <a:xfrm rot="-199833">
            <a:off x="3774846" y="935883"/>
            <a:ext cx="1582346" cy="1316367"/>
            <a:chOff x="6500625" y="1151721"/>
            <a:chExt cx="1964279" cy="1634100"/>
          </a:xfrm>
        </p:grpSpPr>
        <p:sp>
          <p:nvSpPr>
            <p:cNvPr id="989" name="Google Shape;989;p74"/>
            <p:cNvSpPr/>
            <p:nvPr/>
          </p:nvSpPr>
          <p:spPr>
            <a:xfrm rot="-1670821">
              <a:off x="6740400" y="1449679"/>
              <a:ext cx="1511200" cy="948783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0" name="Google Shape;990;p74"/>
            <p:cNvSpPr/>
            <p:nvPr/>
          </p:nvSpPr>
          <p:spPr>
            <a:xfrm rot="-1669644">
              <a:off x="7005152" y="2547745"/>
              <a:ext cx="127889" cy="127889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91" name="Google Shape;991;p74"/>
            <p:cNvCxnSpPr/>
            <p:nvPr/>
          </p:nvCxnSpPr>
          <p:spPr>
            <a:xfrm rot="10800000">
              <a:off x="6500625" y="1869550"/>
              <a:ext cx="442500" cy="89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92" name="Google Shape;992;p74"/>
            <p:cNvCxnSpPr/>
            <p:nvPr/>
          </p:nvCxnSpPr>
          <p:spPr>
            <a:xfrm flipH="1" rot="10800000">
              <a:off x="7126604" y="2066721"/>
              <a:ext cx="1338300" cy="719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93" name="Google Shape;993;p74"/>
            <p:cNvCxnSpPr/>
            <p:nvPr/>
          </p:nvCxnSpPr>
          <p:spPr>
            <a:xfrm rot="10800000">
              <a:off x="6606200" y="1750174"/>
              <a:ext cx="1779600" cy="13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994" name="Google Shape;994;p74"/>
          <p:cNvCxnSpPr/>
          <p:nvPr/>
        </p:nvCxnSpPr>
        <p:spPr>
          <a:xfrm flipH="1" rot="10800000">
            <a:off x="3885078" y="3310308"/>
            <a:ext cx="453900" cy="51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95" name="Google Shape;995;p74"/>
          <p:cNvCxnSpPr/>
          <p:nvPr/>
        </p:nvCxnSpPr>
        <p:spPr>
          <a:xfrm rot="10800000">
            <a:off x="3888474" y="4001196"/>
            <a:ext cx="961200" cy="78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96" name="Google Shape;996;p74"/>
          <p:cNvCxnSpPr/>
          <p:nvPr/>
        </p:nvCxnSpPr>
        <p:spPr>
          <a:xfrm rot="10800000">
            <a:off x="4517513" y="3348757"/>
            <a:ext cx="523800" cy="133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97" name="Google Shape;997;p74"/>
          <p:cNvCxnSpPr/>
          <p:nvPr/>
        </p:nvCxnSpPr>
        <p:spPr>
          <a:xfrm rot="10800000">
            <a:off x="7154575" y="3514487"/>
            <a:ext cx="0" cy="106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8" name="Google Shape;998;p74"/>
          <p:cNvCxnSpPr/>
          <p:nvPr/>
        </p:nvCxnSpPr>
        <p:spPr>
          <a:xfrm>
            <a:off x="7583825" y="4053762"/>
            <a:ext cx="128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9" name="Google Shape;999;p74"/>
          <p:cNvSpPr txBox="1"/>
          <p:nvPr/>
        </p:nvSpPr>
        <p:spPr>
          <a:xfrm>
            <a:off x="1308025" y="2542350"/>
            <a:ext cx="7038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74"/>
          <p:cNvSpPr txBox="1"/>
          <p:nvPr/>
        </p:nvSpPr>
        <p:spPr>
          <a:xfrm>
            <a:off x="302447" y="1929796"/>
            <a:ext cx="5601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74"/>
          <p:cNvSpPr txBox="1"/>
          <p:nvPr/>
        </p:nvSpPr>
        <p:spPr>
          <a:xfrm>
            <a:off x="3475500" y="1838398"/>
            <a:ext cx="567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74"/>
          <p:cNvSpPr txBox="1"/>
          <p:nvPr/>
        </p:nvSpPr>
        <p:spPr>
          <a:xfrm>
            <a:off x="4788628" y="1930639"/>
            <a:ext cx="567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74"/>
          <p:cNvSpPr txBox="1"/>
          <p:nvPr/>
        </p:nvSpPr>
        <p:spPr>
          <a:xfrm flipH="1">
            <a:off x="339673" y="3532950"/>
            <a:ext cx="7038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22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74"/>
          <p:cNvSpPr txBox="1"/>
          <p:nvPr/>
        </p:nvSpPr>
        <p:spPr>
          <a:xfrm flipH="1">
            <a:off x="1754622" y="3413728"/>
            <a:ext cx="7038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65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74"/>
          <p:cNvSpPr txBox="1"/>
          <p:nvPr/>
        </p:nvSpPr>
        <p:spPr>
          <a:xfrm>
            <a:off x="3580594" y="3381105"/>
            <a:ext cx="7038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3.1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74"/>
          <p:cNvSpPr txBox="1"/>
          <p:nvPr/>
        </p:nvSpPr>
        <p:spPr>
          <a:xfrm>
            <a:off x="3809194" y="4352133"/>
            <a:ext cx="7038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4.8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74"/>
          <p:cNvSpPr txBox="1"/>
          <p:nvPr/>
        </p:nvSpPr>
        <p:spPr>
          <a:xfrm>
            <a:off x="6738877" y="3204287"/>
            <a:ext cx="8451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inches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8" name="Google Shape;1008;p74"/>
          <p:cNvGrpSpPr/>
          <p:nvPr/>
        </p:nvGrpSpPr>
        <p:grpSpPr>
          <a:xfrm rot="10800000">
            <a:off x="6191161" y="1456466"/>
            <a:ext cx="2176021" cy="1737209"/>
            <a:chOff x="6500592" y="1151719"/>
            <a:chExt cx="1897803" cy="1515096"/>
          </a:xfrm>
        </p:grpSpPr>
        <p:sp>
          <p:nvSpPr>
            <p:cNvPr id="1009" name="Google Shape;1009;p74"/>
            <p:cNvSpPr/>
            <p:nvPr/>
          </p:nvSpPr>
          <p:spPr>
            <a:xfrm rot="-1670821">
              <a:off x="6708595" y="1457567"/>
              <a:ext cx="1511200" cy="812706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0" name="Google Shape;1010;p74"/>
            <p:cNvSpPr/>
            <p:nvPr/>
          </p:nvSpPr>
          <p:spPr>
            <a:xfrm rot="-1669644">
              <a:off x="6948524" y="2425837"/>
              <a:ext cx="127889" cy="127889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11" name="Google Shape;1011;p74"/>
            <p:cNvCxnSpPr/>
            <p:nvPr/>
          </p:nvCxnSpPr>
          <p:spPr>
            <a:xfrm rot="10800000">
              <a:off x="6500592" y="1869658"/>
              <a:ext cx="380400" cy="754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12" name="Google Shape;1012;p74"/>
            <p:cNvCxnSpPr/>
            <p:nvPr/>
          </p:nvCxnSpPr>
          <p:spPr>
            <a:xfrm flipH="1" rot="10800000">
              <a:off x="7058595" y="1943515"/>
              <a:ext cx="1339800" cy="723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13" name="Google Shape;1013;p74"/>
            <p:cNvCxnSpPr/>
            <p:nvPr/>
          </p:nvCxnSpPr>
          <p:spPr>
            <a:xfrm rot="10800000">
              <a:off x="6606195" y="1760000"/>
              <a:ext cx="1716000" cy="19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014" name="Google Shape;1014;p74"/>
          <p:cNvSpPr txBox="1"/>
          <p:nvPr/>
        </p:nvSpPr>
        <p:spPr>
          <a:xfrm>
            <a:off x="6349599" y="1600420"/>
            <a:ext cx="8094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2.6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c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74"/>
          <p:cNvSpPr txBox="1"/>
          <p:nvPr/>
        </p:nvSpPr>
        <p:spPr>
          <a:xfrm>
            <a:off x="8127659" y="1662296"/>
            <a:ext cx="8547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7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Find the missing lengths. Give any decimal lengths to 1 decimal place.</a:t>
            </a:r>
            <a:endParaRPr sz="1600"/>
          </a:p>
        </p:txBody>
      </p:sp>
      <p:sp>
        <p:nvSpPr>
          <p:cNvPr id="1021" name="Google Shape;1021;p7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the hypotenuse</a:t>
            </a:r>
            <a:endParaRPr/>
          </a:p>
        </p:txBody>
      </p:sp>
      <p:sp>
        <p:nvSpPr>
          <p:cNvPr id="1022" name="Google Shape;1022;p75"/>
          <p:cNvSpPr/>
          <p:nvPr/>
        </p:nvSpPr>
        <p:spPr>
          <a:xfrm>
            <a:off x="897750" y="1645697"/>
            <a:ext cx="1511100" cy="8127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5"/>
          <p:cNvSpPr/>
          <p:nvPr/>
        </p:nvSpPr>
        <p:spPr>
          <a:xfrm>
            <a:off x="897750" y="2330463"/>
            <a:ext cx="127800" cy="12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5"/>
          <p:cNvSpPr/>
          <p:nvPr/>
        </p:nvSpPr>
        <p:spPr>
          <a:xfrm flipH="1" rot="-9518150">
            <a:off x="1102029" y="3760251"/>
            <a:ext cx="1511140" cy="581448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75"/>
          <p:cNvSpPr/>
          <p:nvPr/>
        </p:nvSpPr>
        <p:spPr>
          <a:xfrm flipH="1" rot="-9517435">
            <a:off x="1232100" y="3524222"/>
            <a:ext cx="127576" cy="12757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75"/>
          <p:cNvSpPr/>
          <p:nvPr/>
        </p:nvSpPr>
        <p:spPr>
          <a:xfrm rot="2382498">
            <a:off x="4049794" y="3698095"/>
            <a:ext cx="1244367" cy="694511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75"/>
          <p:cNvSpPr/>
          <p:nvPr/>
        </p:nvSpPr>
        <p:spPr>
          <a:xfrm rot="2380070">
            <a:off x="3997762" y="3842648"/>
            <a:ext cx="127832" cy="127832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75"/>
          <p:cNvSpPr txBox="1"/>
          <p:nvPr/>
        </p:nvSpPr>
        <p:spPr>
          <a:xfrm>
            <a:off x="324000" y="1270953"/>
            <a:ext cx="2499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75"/>
          <p:cNvSpPr txBox="1"/>
          <p:nvPr/>
        </p:nvSpPr>
        <p:spPr>
          <a:xfrm>
            <a:off x="3301802" y="1270953"/>
            <a:ext cx="2499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75"/>
          <p:cNvSpPr txBox="1"/>
          <p:nvPr/>
        </p:nvSpPr>
        <p:spPr>
          <a:xfrm>
            <a:off x="6127204" y="1270953"/>
            <a:ext cx="2499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75"/>
          <p:cNvSpPr txBox="1"/>
          <p:nvPr/>
        </p:nvSpPr>
        <p:spPr>
          <a:xfrm>
            <a:off x="324000" y="3156382"/>
            <a:ext cx="2499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75"/>
          <p:cNvSpPr txBox="1"/>
          <p:nvPr/>
        </p:nvSpPr>
        <p:spPr>
          <a:xfrm>
            <a:off x="3301802" y="3156382"/>
            <a:ext cx="2499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75"/>
          <p:cNvSpPr txBox="1"/>
          <p:nvPr/>
        </p:nvSpPr>
        <p:spPr>
          <a:xfrm>
            <a:off x="6127204" y="3156382"/>
            <a:ext cx="2499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4" name="Google Shape;1034;p75"/>
          <p:cNvCxnSpPr/>
          <p:nvPr/>
        </p:nvCxnSpPr>
        <p:spPr>
          <a:xfrm rot="10800000">
            <a:off x="810014" y="1647197"/>
            <a:ext cx="0" cy="81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5" name="Google Shape;1035;p75"/>
          <p:cNvCxnSpPr/>
          <p:nvPr/>
        </p:nvCxnSpPr>
        <p:spPr>
          <a:xfrm>
            <a:off x="892022" y="2542341"/>
            <a:ext cx="1521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6" name="Google Shape;1036;p75"/>
          <p:cNvCxnSpPr/>
          <p:nvPr/>
        </p:nvCxnSpPr>
        <p:spPr>
          <a:xfrm>
            <a:off x="957836" y="1567796"/>
            <a:ext cx="1510200" cy="81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7" name="Google Shape;1037;p75"/>
          <p:cNvCxnSpPr/>
          <p:nvPr/>
        </p:nvCxnSpPr>
        <p:spPr>
          <a:xfrm rot="10800000">
            <a:off x="1276077" y="3416058"/>
            <a:ext cx="1408500" cy="55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8" name="Google Shape;1038;p75"/>
          <p:cNvCxnSpPr/>
          <p:nvPr/>
        </p:nvCxnSpPr>
        <p:spPr>
          <a:xfrm flipH="1" rot="10800000">
            <a:off x="957329" y="3474135"/>
            <a:ext cx="207600" cy="539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9" name="Google Shape;1039;p75"/>
          <p:cNvCxnSpPr/>
          <p:nvPr/>
        </p:nvCxnSpPr>
        <p:spPr>
          <a:xfrm rot="10800000">
            <a:off x="1037853" y="4147417"/>
            <a:ext cx="1629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040" name="Google Shape;1040;p75"/>
          <p:cNvGrpSpPr/>
          <p:nvPr/>
        </p:nvGrpSpPr>
        <p:grpSpPr>
          <a:xfrm>
            <a:off x="6546900" y="3463377"/>
            <a:ext cx="1215472" cy="1213210"/>
            <a:chOff x="8299500" y="3454765"/>
            <a:chExt cx="1215472" cy="1213210"/>
          </a:xfrm>
        </p:grpSpPr>
        <p:sp>
          <p:nvSpPr>
            <p:cNvPr id="1041" name="Google Shape;1041;p75"/>
            <p:cNvSpPr/>
            <p:nvPr/>
          </p:nvSpPr>
          <p:spPr>
            <a:xfrm rot="10800000">
              <a:off x="8375367" y="3555888"/>
              <a:ext cx="1026600" cy="10542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2" name="Google Shape;1042;p75"/>
            <p:cNvSpPr/>
            <p:nvPr/>
          </p:nvSpPr>
          <p:spPr>
            <a:xfrm rot="10800000">
              <a:off x="9274174" y="3555849"/>
              <a:ext cx="127800" cy="1278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43" name="Google Shape;1043;p75"/>
            <p:cNvCxnSpPr/>
            <p:nvPr/>
          </p:nvCxnSpPr>
          <p:spPr>
            <a:xfrm>
              <a:off x="8365250" y="3454765"/>
              <a:ext cx="1013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44" name="Google Shape;1044;p75"/>
            <p:cNvCxnSpPr/>
            <p:nvPr/>
          </p:nvCxnSpPr>
          <p:spPr>
            <a:xfrm rot="10800000">
              <a:off x="9514972" y="3561597"/>
              <a:ext cx="0" cy="1048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45" name="Google Shape;1045;p75"/>
            <p:cNvCxnSpPr/>
            <p:nvPr/>
          </p:nvCxnSpPr>
          <p:spPr>
            <a:xfrm rot="10800000">
              <a:off x="8299500" y="3600875"/>
              <a:ext cx="1011000" cy="1067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046" name="Google Shape;1046;p75"/>
          <p:cNvGrpSpPr/>
          <p:nvPr/>
        </p:nvGrpSpPr>
        <p:grpSpPr>
          <a:xfrm rot="-199833">
            <a:off x="3774846" y="935883"/>
            <a:ext cx="1582346" cy="1316367"/>
            <a:chOff x="6500625" y="1151721"/>
            <a:chExt cx="1964279" cy="1634100"/>
          </a:xfrm>
        </p:grpSpPr>
        <p:sp>
          <p:nvSpPr>
            <p:cNvPr id="1047" name="Google Shape;1047;p75"/>
            <p:cNvSpPr/>
            <p:nvPr/>
          </p:nvSpPr>
          <p:spPr>
            <a:xfrm rot="-1670821">
              <a:off x="6740400" y="1449679"/>
              <a:ext cx="1511200" cy="948783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8" name="Google Shape;1048;p75"/>
            <p:cNvSpPr/>
            <p:nvPr/>
          </p:nvSpPr>
          <p:spPr>
            <a:xfrm rot="-1669644">
              <a:off x="7005152" y="2547745"/>
              <a:ext cx="127889" cy="127889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49" name="Google Shape;1049;p75"/>
            <p:cNvCxnSpPr/>
            <p:nvPr/>
          </p:nvCxnSpPr>
          <p:spPr>
            <a:xfrm rot="10800000">
              <a:off x="6500625" y="1869550"/>
              <a:ext cx="442500" cy="89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50" name="Google Shape;1050;p75"/>
            <p:cNvCxnSpPr/>
            <p:nvPr/>
          </p:nvCxnSpPr>
          <p:spPr>
            <a:xfrm flipH="1" rot="10800000">
              <a:off x="7126604" y="2066721"/>
              <a:ext cx="1338300" cy="719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51" name="Google Shape;1051;p75"/>
            <p:cNvCxnSpPr/>
            <p:nvPr/>
          </p:nvCxnSpPr>
          <p:spPr>
            <a:xfrm rot="10800000">
              <a:off x="6606200" y="1750174"/>
              <a:ext cx="1779600" cy="13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1052" name="Google Shape;1052;p75"/>
          <p:cNvCxnSpPr/>
          <p:nvPr/>
        </p:nvCxnSpPr>
        <p:spPr>
          <a:xfrm flipH="1" rot="10800000">
            <a:off x="3885078" y="3310308"/>
            <a:ext cx="453900" cy="51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53" name="Google Shape;1053;p75"/>
          <p:cNvCxnSpPr/>
          <p:nvPr/>
        </p:nvCxnSpPr>
        <p:spPr>
          <a:xfrm rot="10800000">
            <a:off x="3888474" y="4001196"/>
            <a:ext cx="961200" cy="78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54" name="Google Shape;1054;p75"/>
          <p:cNvCxnSpPr/>
          <p:nvPr/>
        </p:nvCxnSpPr>
        <p:spPr>
          <a:xfrm rot="10800000">
            <a:off x="4517513" y="3348757"/>
            <a:ext cx="523800" cy="133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55" name="Google Shape;1055;p75"/>
          <p:cNvCxnSpPr/>
          <p:nvPr/>
        </p:nvCxnSpPr>
        <p:spPr>
          <a:xfrm rot="10800000">
            <a:off x="7154575" y="3514487"/>
            <a:ext cx="0" cy="106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6" name="Google Shape;1056;p75"/>
          <p:cNvCxnSpPr/>
          <p:nvPr/>
        </p:nvCxnSpPr>
        <p:spPr>
          <a:xfrm>
            <a:off x="7583825" y="4053762"/>
            <a:ext cx="128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7" name="Google Shape;1057;p75"/>
          <p:cNvSpPr txBox="1"/>
          <p:nvPr/>
        </p:nvSpPr>
        <p:spPr>
          <a:xfrm>
            <a:off x="1308025" y="2542350"/>
            <a:ext cx="7038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75"/>
          <p:cNvSpPr txBox="1"/>
          <p:nvPr/>
        </p:nvSpPr>
        <p:spPr>
          <a:xfrm>
            <a:off x="302447" y="1929796"/>
            <a:ext cx="5601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75"/>
          <p:cNvSpPr txBox="1"/>
          <p:nvPr/>
        </p:nvSpPr>
        <p:spPr>
          <a:xfrm>
            <a:off x="1674051" y="1701200"/>
            <a:ext cx="6684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13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0" name="Google Shape;1060;p75"/>
          <p:cNvSpPr txBox="1"/>
          <p:nvPr/>
        </p:nvSpPr>
        <p:spPr>
          <a:xfrm>
            <a:off x="3475500" y="1838398"/>
            <a:ext cx="567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75"/>
          <p:cNvSpPr txBox="1"/>
          <p:nvPr/>
        </p:nvSpPr>
        <p:spPr>
          <a:xfrm>
            <a:off x="4788628" y="1930639"/>
            <a:ext cx="567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75"/>
          <p:cNvSpPr txBox="1"/>
          <p:nvPr/>
        </p:nvSpPr>
        <p:spPr>
          <a:xfrm>
            <a:off x="4322200" y="1206050"/>
            <a:ext cx="538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3" name="Google Shape;1063;p75"/>
          <p:cNvSpPr txBox="1"/>
          <p:nvPr/>
        </p:nvSpPr>
        <p:spPr>
          <a:xfrm flipH="1">
            <a:off x="339673" y="3532950"/>
            <a:ext cx="7038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22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75"/>
          <p:cNvSpPr txBox="1"/>
          <p:nvPr/>
        </p:nvSpPr>
        <p:spPr>
          <a:xfrm flipH="1">
            <a:off x="1754622" y="3413728"/>
            <a:ext cx="7038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65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75"/>
          <p:cNvSpPr txBox="1"/>
          <p:nvPr/>
        </p:nvSpPr>
        <p:spPr>
          <a:xfrm flipH="1">
            <a:off x="1303400" y="4139600"/>
            <a:ext cx="9612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68.6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m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6" name="Google Shape;1066;p75"/>
          <p:cNvSpPr txBox="1"/>
          <p:nvPr/>
        </p:nvSpPr>
        <p:spPr>
          <a:xfrm>
            <a:off x="3580594" y="3381105"/>
            <a:ext cx="7038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3.1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75"/>
          <p:cNvSpPr txBox="1"/>
          <p:nvPr/>
        </p:nvSpPr>
        <p:spPr>
          <a:xfrm>
            <a:off x="3809194" y="4352133"/>
            <a:ext cx="7038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4.8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75"/>
          <p:cNvSpPr txBox="1"/>
          <p:nvPr/>
        </p:nvSpPr>
        <p:spPr>
          <a:xfrm>
            <a:off x="4799794" y="3799161"/>
            <a:ext cx="7038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5.7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m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9" name="Google Shape;1069;p75"/>
          <p:cNvSpPr txBox="1"/>
          <p:nvPr/>
        </p:nvSpPr>
        <p:spPr>
          <a:xfrm>
            <a:off x="6738877" y="3204287"/>
            <a:ext cx="8451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inches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75"/>
          <p:cNvSpPr txBox="1"/>
          <p:nvPr/>
        </p:nvSpPr>
        <p:spPr>
          <a:xfrm>
            <a:off x="7812201" y="3890087"/>
            <a:ext cx="8451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inches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1" name="Google Shape;1071;p75"/>
          <p:cNvSpPr txBox="1"/>
          <p:nvPr/>
        </p:nvSpPr>
        <p:spPr>
          <a:xfrm>
            <a:off x="6147980" y="4181839"/>
            <a:ext cx="10158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8.5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inches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72" name="Google Shape;1072;p75"/>
          <p:cNvGrpSpPr/>
          <p:nvPr/>
        </p:nvGrpSpPr>
        <p:grpSpPr>
          <a:xfrm rot="10800000">
            <a:off x="6191161" y="1456466"/>
            <a:ext cx="2176021" cy="1737209"/>
            <a:chOff x="6500592" y="1151719"/>
            <a:chExt cx="1897803" cy="1515096"/>
          </a:xfrm>
        </p:grpSpPr>
        <p:sp>
          <p:nvSpPr>
            <p:cNvPr id="1073" name="Google Shape;1073;p75"/>
            <p:cNvSpPr/>
            <p:nvPr/>
          </p:nvSpPr>
          <p:spPr>
            <a:xfrm rot="-1670821">
              <a:off x="6708595" y="1457567"/>
              <a:ext cx="1511200" cy="812706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4" name="Google Shape;1074;p75"/>
            <p:cNvSpPr/>
            <p:nvPr/>
          </p:nvSpPr>
          <p:spPr>
            <a:xfrm rot="-1669644">
              <a:off x="6948524" y="2425837"/>
              <a:ext cx="127889" cy="127889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75" name="Google Shape;1075;p75"/>
            <p:cNvCxnSpPr/>
            <p:nvPr/>
          </p:nvCxnSpPr>
          <p:spPr>
            <a:xfrm rot="10800000">
              <a:off x="6500592" y="1869658"/>
              <a:ext cx="380400" cy="754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76" name="Google Shape;1076;p75"/>
            <p:cNvCxnSpPr/>
            <p:nvPr/>
          </p:nvCxnSpPr>
          <p:spPr>
            <a:xfrm flipH="1" rot="10800000">
              <a:off x="7058595" y="1943515"/>
              <a:ext cx="1339800" cy="723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77" name="Google Shape;1077;p75"/>
            <p:cNvCxnSpPr/>
            <p:nvPr/>
          </p:nvCxnSpPr>
          <p:spPr>
            <a:xfrm rot="10800000">
              <a:off x="6606195" y="1760000"/>
              <a:ext cx="1716000" cy="19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078" name="Google Shape;1078;p75"/>
          <p:cNvSpPr txBox="1"/>
          <p:nvPr/>
        </p:nvSpPr>
        <p:spPr>
          <a:xfrm>
            <a:off x="8127659" y="1662296"/>
            <a:ext cx="8547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75"/>
          <p:cNvSpPr txBox="1"/>
          <p:nvPr/>
        </p:nvSpPr>
        <p:spPr>
          <a:xfrm>
            <a:off x="6974814" y="2486350"/>
            <a:ext cx="8094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3.3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c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0" name="Google Shape;1080;p75"/>
          <p:cNvSpPr txBox="1"/>
          <p:nvPr/>
        </p:nvSpPr>
        <p:spPr>
          <a:xfrm>
            <a:off x="6349599" y="1600420"/>
            <a:ext cx="8094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2.6 c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76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the hypotenuse</a:t>
            </a:r>
            <a:endParaRPr/>
          </a:p>
        </p:txBody>
      </p:sp>
      <p:sp>
        <p:nvSpPr>
          <p:cNvPr id="1086" name="Google Shape;1086;p76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a shorter side</a:t>
            </a:r>
            <a:endParaRPr/>
          </a:p>
        </p:txBody>
      </p:sp>
      <p:sp>
        <p:nvSpPr>
          <p:cNvPr id="1087" name="Google Shape;1087;p76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any side</a:t>
            </a:r>
            <a:endParaRPr/>
          </a:p>
        </p:txBody>
      </p:sp>
      <p:sp>
        <p:nvSpPr>
          <p:cNvPr id="1088" name="Google Shape;1088;p76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Pythagoras’ theorem on a coordinate grid</a:t>
            </a:r>
            <a:endParaRPr/>
          </a:p>
        </p:txBody>
      </p:sp>
      <p:sp>
        <p:nvSpPr>
          <p:cNvPr id="1089" name="Google Shape;1089;p76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Pythagoras’ theorem</a:t>
            </a:r>
            <a:endParaRPr/>
          </a:p>
        </p:txBody>
      </p:sp>
      <p:pic>
        <p:nvPicPr>
          <p:cNvPr id="1090" name="Google Shape;109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022" y="234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77"/>
          <p:cNvSpPr/>
          <p:nvPr/>
        </p:nvSpPr>
        <p:spPr>
          <a:xfrm>
            <a:off x="5801659" y="3645230"/>
            <a:ext cx="1157700" cy="11577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a shorter side</a:t>
            </a:r>
            <a:endParaRPr/>
          </a:p>
        </p:txBody>
      </p:sp>
      <p:sp>
        <p:nvSpPr>
          <p:cNvPr id="1097" name="Google Shape;1097;p77"/>
          <p:cNvSpPr txBox="1"/>
          <p:nvPr>
            <p:ph idx="1" type="body"/>
          </p:nvPr>
        </p:nvSpPr>
        <p:spPr>
          <a:xfrm>
            <a:off x="324000" y="759300"/>
            <a:ext cx="8237700" cy="4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Pythagoras’s theorem can be used to find the length of one of the shorter sides of a right-angle triangle.</a:t>
            </a:r>
            <a:endParaRPr sz="1800"/>
          </a:p>
        </p:txBody>
      </p:sp>
      <p:sp>
        <p:nvSpPr>
          <p:cNvPr id="1098" name="Google Shape;1098;p77"/>
          <p:cNvSpPr/>
          <p:nvPr/>
        </p:nvSpPr>
        <p:spPr>
          <a:xfrm>
            <a:off x="5801653" y="2700180"/>
            <a:ext cx="1157700" cy="9453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77"/>
          <p:cNvSpPr/>
          <p:nvPr/>
        </p:nvSpPr>
        <p:spPr>
          <a:xfrm rot="2351785">
            <a:off x="6104613" y="1841513"/>
            <a:ext cx="1495773" cy="1495773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77"/>
          <p:cNvSpPr/>
          <p:nvPr/>
        </p:nvSpPr>
        <p:spPr>
          <a:xfrm>
            <a:off x="5801653" y="2700180"/>
            <a:ext cx="1157700" cy="9453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77"/>
          <p:cNvSpPr/>
          <p:nvPr/>
        </p:nvSpPr>
        <p:spPr>
          <a:xfrm rot="10800000">
            <a:off x="5801319" y="3471825"/>
            <a:ext cx="173400" cy="1734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77"/>
          <p:cNvSpPr txBox="1"/>
          <p:nvPr/>
        </p:nvSpPr>
        <p:spPr>
          <a:xfrm rot="2291719">
            <a:off x="6244567" y="2962728"/>
            <a:ext cx="658856" cy="238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03" name="Google Shape;1103;p77"/>
          <p:cNvGrpSpPr/>
          <p:nvPr/>
        </p:nvGrpSpPr>
        <p:grpSpPr>
          <a:xfrm rot="5419745">
            <a:off x="4905259" y="2884107"/>
            <a:ext cx="961109" cy="594008"/>
            <a:chOff x="6353075" y="4549793"/>
            <a:chExt cx="1174500" cy="1018708"/>
          </a:xfrm>
        </p:grpSpPr>
        <p:cxnSp>
          <p:nvCxnSpPr>
            <p:cNvPr id="1104" name="Google Shape;1104;p77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05" name="Google Shape;1105;p77"/>
            <p:cNvSpPr txBox="1"/>
            <p:nvPr/>
          </p:nvSpPr>
          <p:spPr>
            <a:xfrm rot="-5387007">
              <a:off x="6463454" y="4970144"/>
              <a:ext cx="952507" cy="24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106" name="Google Shape;1106;p77"/>
          <p:cNvCxnSpPr/>
          <p:nvPr/>
        </p:nvCxnSpPr>
        <p:spPr>
          <a:xfrm rot="-8469743">
            <a:off x="5678304" y="3111892"/>
            <a:ext cx="150977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07" name="Google Shape;1107;p77"/>
          <p:cNvSpPr txBox="1"/>
          <p:nvPr/>
        </p:nvSpPr>
        <p:spPr>
          <a:xfrm>
            <a:off x="5599166" y="4284094"/>
            <a:ext cx="16059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64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8" name="Google Shape;1108;p77"/>
          <p:cNvSpPr txBox="1"/>
          <p:nvPr/>
        </p:nvSpPr>
        <p:spPr>
          <a:xfrm>
            <a:off x="6465975" y="2306750"/>
            <a:ext cx="9033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100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9" name="Google Shape;1109;p77"/>
          <p:cNvSpPr txBox="1"/>
          <p:nvPr/>
        </p:nvSpPr>
        <p:spPr>
          <a:xfrm rot="15593">
            <a:off x="5992284" y="3795123"/>
            <a:ext cx="859809" cy="23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110" name="Google Shape;1110;p77"/>
          <p:cNvGrpSpPr/>
          <p:nvPr/>
        </p:nvGrpSpPr>
        <p:grpSpPr>
          <a:xfrm>
            <a:off x="4167144" y="2699849"/>
            <a:ext cx="1634453" cy="961120"/>
            <a:chOff x="4278282" y="2119780"/>
            <a:chExt cx="1966851" cy="1156583"/>
          </a:xfrm>
        </p:grpSpPr>
        <p:grpSp>
          <p:nvGrpSpPr>
            <p:cNvPr id="1111" name="Google Shape;1111;p77"/>
            <p:cNvGrpSpPr/>
            <p:nvPr/>
          </p:nvGrpSpPr>
          <p:grpSpPr>
            <a:xfrm rot="5419203">
              <a:off x="4060659" y="2340793"/>
              <a:ext cx="1156431" cy="714725"/>
              <a:chOff x="6353075" y="4549793"/>
              <a:chExt cx="1174500" cy="1018708"/>
            </a:xfrm>
          </p:grpSpPr>
          <p:cxnSp>
            <p:nvCxnSpPr>
              <p:cNvPr id="1112" name="Google Shape;1112;p77"/>
              <p:cNvCxnSpPr/>
              <p:nvPr/>
            </p:nvCxnSpPr>
            <p:spPr>
              <a:xfrm>
                <a:off x="6353075" y="4549793"/>
                <a:ext cx="117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113" name="Google Shape;1113;p77"/>
              <p:cNvSpPr txBox="1"/>
              <p:nvPr/>
            </p:nvSpPr>
            <p:spPr>
              <a:xfrm rot="-5387007">
                <a:off x="6463454" y="4970144"/>
                <a:ext cx="952507" cy="2418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114" name="Google Shape;1114;p77"/>
            <p:cNvSpPr/>
            <p:nvPr/>
          </p:nvSpPr>
          <p:spPr>
            <a:xfrm>
              <a:off x="5107532" y="2119780"/>
              <a:ext cx="1137600" cy="11376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15" name="Google Shape;1115;p77"/>
          <p:cNvSpPr txBox="1"/>
          <p:nvPr>
            <p:ph idx="1" type="body"/>
          </p:nvPr>
        </p:nvSpPr>
        <p:spPr>
          <a:xfrm>
            <a:off x="321375" y="1524600"/>
            <a:ext cx="4040400" cy="35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Method 1: manipulating the diagram</a:t>
            </a:r>
            <a:endParaRPr sz="1800"/>
          </a:p>
        </p:txBody>
      </p:sp>
      <p:sp>
        <p:nvSpPr>
          <p:cNvPr id="1116" name="Google Shape;1116;p77"/>
          <p:cNvSpPr txBox="1"/>
          <p:nvPr/>
        </p:nvSpPr>
        <p:spPr>
          <a:xfrm>
            <a:off x="4943769" y="3055282"/>
            <a:ext cx="8157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36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7" name="Google Shape;1117;p77"/>
          <p:cNvSpPr txBox="1"/>
          <p:nvPr/>
        </p:nvSpPr>
        <p:spPr>
          <a:xfrm flipH="1">
            <a:off x="1937102" y="2176538"/>
            <a:ext cx="16395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6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36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8" name="Google Shape;1118;p77"/>
          <p:cNvSpPr txBox="1"/>
          <p:nvPr/>
        </p:nvSpPr>
        <p:spPr>
          <a:xfrm flipH="1">
            <a:off x="1291541" y="3249525"/>
            <a:ext cx="1353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100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− 36 =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9" name="Google Shape;1119;p77"/>
          <p:cNvSpPr txBox="1"/>
          <p:nvPr/>
        </p:nvSpPr>
        <p:spPr>
          <a:xfrm flipH="1">
            <a:off x="1882724" y="3799050"/>
            <a:ext cx="1059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64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= 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0" name="Google Shape;1120;p77"/>
          <p:cNvSpPr txBox="1"/>
          <p:nvPr/>
        </p:nvSpPr>
        <p:spPr>
          <a:xfrm flipH="1">
            <a:off x="1971487" y="2709938"/>
            <a:ext cx="16395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100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}&quot;&gt;&lt;msqrt&gt;&lt;mtext&gt;&lt;/mtext&gt;&lt;mtext&gt;&lt;/mtext&gt;&lt;mtext&gt;&lt;/mtext&gt;&lt;mtext&gt;&lt;/mtext&gt;&lt;mtext&gt;&lt;/mtext&gt;&lt;mtext&gt;&lt;/mtext&gt;&lt;mtext&gt;&lt;/mtext&gt;&lt;/msqrt&gt;&lt;/math&gt;" id="1121" name="Google Shape;1121;p77" title="the square root o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9490" y="3817172"/>
            <a:ext cx="615550" cy="293794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77"/>
          <p:cNvSpPr txBox="1"/>
          <p:nvPr/>
        </p:nvSpPr>
        <p:spPr>
          <a:xfrm flipH="1">
            <a:off x="2706496" y="3249525"/>
            <a:ext cx="548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23" name="Google Shape;1123;p77"/>
          <p:cNvCxnSpPr/>
          <p:nvPr/>
        </p:nvCxnSpPr>
        <p:spPr>
          <a:xfrm rot="19180">
            <a:off x="5801711" y="3751898"/>
            <a:ext cx="115784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78"/>
          <p:cNvSpPr txBox="1"/>
          <p:nvPr/>
        </p:nvSpPr>
        <p:spPr>
          <a:xfrm rot="2353369">
            <a:off x="6095189" y="2882902"/>
            <a:ext cx="853500" cy="236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a shorter side</a:t>
            </a:r>
            <a:endParaRPr/>
          </a:p>
        </p:txBody>
      </p:sp>
      <p:sp>
        <p:nvSpPr>
          <p:cNvPr id="1130" name="Google Shape;1130;p78"/>
          <p:cNvSpPr txBox="1"/>
          <p:nvPr>
            <p:ph idx="1" type="body"/>
          </p:nvPr>
        </p:nvSpPr>
        <p:spPr>
          <a:xfrm>
            <a:off x="324000" y="759300"/>
            <a:ext cx="8237700" cy="10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Pythagoras’s theorem can be used to find the length of the hypotenuse.</a:t>
            </a:r>
            <a:endParaRPr sz="1800"/>
          </a:p>
        </p:txBody>
      </p:sp>
      <p:sp>
        <p:nvSpPr>
          <p:cNvPr id="1131" name="Google Shape;1131;p78"/>
          <p:cNvSpPr/>
          <p:nvPr/>
        </p:nvSpPr>
        <p:spPr>
          <a:xfrm>
            <a:off x="5804715" y="2703615"/>
            <a:ext cx="1149600" cy="9387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78"/>
          <p:cNvSpPr/>
          <p:nvPr/>
        </p:nvSpPr>
        <p:spPr>
          <a:xfrm>
            <a:off x="5804715" y="2703615"/>
            <a:ext cx="1149600" cy="9387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78"/>
          <p:cNvSpPr/>
          <p:nvPr/>
        </p:nvSpPr>
        <p:spPr>
          <a:xfrm rot="10800000">
            <a:off x="5804632" y="3469937"/>
            <a:ext cx="171900" cy="1719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4" name="Google Shape;1134;p78"/>
          <p:cNvCxnSpPr/>
          <p:nvPr/>
        </p:nvCxnSpPr>
        <p:spPr>
          <a:xfrm rot="18970">
            <a:off x="5804218" y="3747366"/>
            <a:ext cx="1149383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35" name="Google Shape;1135;p78"/>
          <p:cNvSpPr txBox="1"/>
          <p:nvPr/>
        </p:nvSpPr>
        <p:spPr>
          <a:xfrm rot="20794">
            <a:off x="6050706" y="3776677"/>
            <a:ext cx="654402" cy="23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6" name="Google Shape;1136;p78"/>
          <p:cNvGrpSpPr/>
          <p:nvPr/>
        </p:nvGrpSpPr>
        <p:grpSpPr>
          <a:xfrm rot="5419468">
            <a:off x="4915268" y="2885570"/>
            <a:ext cx="954062" cy="589730"/>
            <a:chOff x="6353075" y="4549793"/>
            <a:chExt cx="1174500" cy="1018708"/>
          </a:xfrm>
        </p:grpSpPr>
        <p:cxnSp>
          <p:nvCxnSpPr>
            <p:cNvPr id="1137" name="Google Shape;1137;p78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38" name="Google Shape;1138;p78"/>
            <p:cNvSpPr txBox="1"/>
            <p:nvPr/>
          </p:nvSpPr>
          <p:spPr>
            <a:xfrm rot="-5387007">
              <a:off x="6463454" y="4970144"/>
              <a:ext cx="952507" cy="24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139" name="Google Shape;1139;p78"/>
          <p:cNvCxnSpPr/>
          <p:nvPr/>
        </p:nvCxnSpPr>
        <p:spPr>
          <a:xfrm rot="-8469452">
            <a:off x="5701952" y="3099008"/>
            <a:ext cx="1499088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40" name="Google Shape;1140;p78"/>
          <p:cNvSpPr txBox="1"/>
          <p:nvPr/>
        </p:nvSpPr>
        <p:spPr>
          <a:xfrm rot="21513">
            <a:off x="4615548" y="2577984"/>
            <a:ext cx="239705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1" name="Google Shape;1141;p78"/>
          <p:cNvSpPr txBox="1"/>
          <p:nvPr/>
        </p:nvSpPr>
        <p:spPr>
          <a:xfrm rot="23359">
            <a:off x="5644959" y="4231554"/>
            <a:ext cx="264906" cy="2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78"/>
          <p:cNvSpPr txBox="1"/>
          <p:nvPr/>
        </p:nvSpPr>
        <p:spPr>
          <a:xfrm rot="23359">
            <a:off x="6897837" y="2378471"/>
            <a:ext cx="264906" cy="2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3" name="Google Shape;1143;p78"/>
          <p:cNvCxnSpPr/>
          <p:nvPr/>
        </p:nvCxnSpPr>
        <p:spPr>
          <a:xfrm>
            <a:off x="4845278" y="2846322"/>
            <a:ext cx="254100" cy="228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4" name="Google Shape;1144;p78"/>
          <p:cNvCxnSpPr/>
          <p:nvPr/>
        </p:nvCxnSpPr>
        <p:spPr>
          <a:xfrm flipH="1" rot="10800000">
            <a:off x="5863598" y="3999152"/>
            <a:ext cx="253500" cy="284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5" name="Google Shape;1145;p78"/>
          <p:cNvCxnSpPr>
            <a:stCxn id="1128" idx="0"/>
          </p:cNvCxnSpPr>
          <p:nvPr/>
        </p:nvCxnSpPr>
        <p:spPr>
          <a:xfrm flipH="1" rot="10800000">
            <a:off x="6596188" y="2620238"/>
            <a:ext cx="304200" cy="288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6" name="Google Shape;1146;p78"/>
          <p:cNvSpPr txBox="1"/>
          <p:nvPr/>
        </p:nvSpPr>
        <p:spPr>
          <a:xfrm flipH="1">
            <a:off x="1468644" y="2074275"/>
            <a:ext cx="2391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+ 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7" name="Google Shape;1147;p78"/>
          <p:cNvSpPr txBox="1"/>
          <p:nvPr/>
        </p:nvSpPr>
        <p:spPr>
          <a:xfrm flipH="1">
            <a:off x="1492199" y="2547600"/>
            <a:ext cx="2391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+ 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 10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8" name="Google Shape;1148;p78"/>
          <p:cNvSpPr txBox="1"/>
          <p:nvPr/>
        </p:nvSpPr>
        <p:spPr>
          <a:xfrm flipH="1">
            <a:off x="1443543" y="3020925"/>
            <a:ext cx="2391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36  + 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9" name="Google Shape;1149;p78"/>
          <p:cNvSpPr txBox="1"/>
          <p:nvPr/>
        </p:nvSpPr>
        <p:spPr>
          <a:xfrm flipH="1">
            <a:off x="2162898" y="3494250"/>
            <a:ext cx="15462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 64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0" name="Google Shape;1150;p78"/>
          <p:cNvSpPr txBox="1"/>
          <p:nvPr/>
        </p:nvSpPr>
        <p:spPr>
          <a:xfrm flipH="1">
            <a:off x="2238969" y="3967575"/>
            <a:ext cx="15462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 8</a:t>
            </a:r>
            <a:r>
              <a:rPr lang="en-GB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²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1" name="Google Shape;1151;p78"/>
          <p:cNvSpPr txBox="1"/>
          <p:nvPr>
            <p:ph idx="1" type="body"/>
          </p:nvPr>
        </p:nvSpPr>
        <p:spPr>
          <a:xfrm>
            <a:off x="321375" y="1219800"/>
            <a:ext cx="4040400" cy="35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Method 2: using the formula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79"/>
          <p:cNvSpPr txBox="1"/>
          <p:nvPr/>
        </p:nvSpPr>
        <p:spPr>
          <a:xfrm flipH="1">
            <a:off x="4257879" y="3103650"/>
            <a:ext cx="38406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Missing length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18.4 cm (1 d.p.)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7" name="Google Shape;1157;p79"/>
          <p:cNvSpPr txBox="1"/>
          <p:nvPr/>
        </p:nvSpPr>
        <p:spPr>
          <a:xfrm flipH="1">
            <a:off x="324000" y="733800"/>
            <a:ext cx="8496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Find the missing length in this triangle. 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Give your answer in decimal form accurate to 1 decimal place.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a shorter side</a:t>
            </a:r>
            <a:endParaRPr/>
          </a:p>
        </p:txBody>
      </p:sp>
      <p:sp>
        <p:nvSpPr>
          <p:cNvPr id="1159" name="Google Shape;1159;p79"/>
          <p:cNvSpPr txBox="1"/>
          <p:nvPr/>
        </p:nvSpPr>
        <p:spPr>
          <a:xfrm flipH="1">
            <a:off x="2536039" y="2928589"/>
            <a:ext cx="1223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79"/>
          <p:cNvSpPr txBox="1"/>
          <p:nvPr/>
        </p:nvSpPr>
        <p:spPr>
          <a:xfrm flipH="1" rot="71915">
            <a:off x="2125247" y="1635844"/>
            <a:ext cx="702754" cy="14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61" name="Google Shape;1161;p79"/>
          <p:cNvGrpSpPr/>
          <p:nvPr/>
        </p:nvGrpSpPr>
        <p:grpSpPr>
          <a:xfrm rot="5400000">
            <a:off x="1234527" y="2371481"/>
            <a:ext cx="2554938" cy="1567686"/>
            <a:chOff x="6434075" y="1114801"/>
            <a:chExt cx="1965942" cy="1206284"/>
          </a:xfrm>
        </p:grpSpPr>
        <p:sp>
          <p:nvSpPr>
            <p:cNvPr id="1162" name="Google Shape;1162;p79"/>
            <p:cNvSpPr/>
            <p:nvPr/>
          </p:nvSpPr>
          <p:spPr>
            <a:xfrm>
              <a:off x="6536865" y="1206054"/>
              <a:ext cx="1788900" cy="9693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3" name="Google Shape;1163;p79"/>
            <p:cNvSpPr/>
            <p:nvPr/>
          </p:nvSpPr>
          <p:spPr>
            <a:xfrm>
              <a:off x="6536850" y="2023925"/>
              <a:ext cx="156000" cy="151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64" name="Google Shape;1164;p79"/>
            <p:cNvCxnSpPr/>
            <p:nvPr/>
          </p:nvCxnSpPr>
          <p:spPr>
            <a:xfrm rot="10799427">
              <a:off x="6538887" y="2320934"/>
              <a:ext cx="1800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65" name="Google Shape;1165;p79"/>
            <p:cNvCxnSpPr/>
            <p:nvPr/>
          </p:nvCxnSpPr>
          <p:spPr>
            <a:xfrm rot="10800000">
              <a:off x="6434075" y="1174050"/>
              <a:ext cx="0" cy="1079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66" name="Google Shape;1166;p79"/>
            <p:cNvCxnSpPr/>
            <p:nvPr/>
          </p:nvCxnSpPr>
          <p:spPr>
            <a:xfrm rot="1718604">
              <a:off x="6444671" y="1614001"/>
              <a:ext cx="208279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167" name="Google Shape;1167;p79"/>
          <p:cNvSpPr txBox="1"/>
          <p:nvPr/>
        </p:nvSpPr>
        <p:spPr>
          <a:xfrm flipH="1">
            <a:off x="4778602" y="2106000"/>
            <a:ext cx="19575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22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12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340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8" name="Google Shape;1168;p79"/>
          <p:cNvSpPr txBox="1"/>
          <p:nvPr/>
        </p:nvSpPr>
        <p:spPr>
          <a:xfrm flipH="1">
            <a:off x="5403742" y="2673600"/>
            <a:ext cx="19575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340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2  85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1169" name="Google Shape;1169;p79" title="the square root of"/>
          <p:cNvPicPr preferRelativeResize="0"/>
          <p:nvPr/>
        </p:nvPicPr>
        <p:blipFill rotWithShape="1">
          <a:blip r:embed="rId3">
            <a:alphaModFix/>
          </a:blip>
          <a:srcRect b="0" l="0" r="58418" t="0"/>
          <a:stretch/>
        </p:blipFill>
        <p:spPr>
          <a:xfrm>
            <a:off x="5241169" y="2640625"/>
            <a:ext cx="560425" cy="26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1170" name="Google Shape;1170;p79" title="the square root of"/>
          <p:cNvPicPr preferRelativeResize="0"/>
          <p:nvPr/>
        </p:nvPicPr>
        <p:blipFill rotWithShape="1">
          <a:blip r:embed="rId3">
            <a:alphaModFix/>
          </a:blip>
          <a:srcRect b="0" l="0" r="72846" t="0"/>
          <a:stretch/>
        </p:blipFill>
        <p:spPr>
          <a:xfrm>
            <a:off x="6370135" y="2640625"/>
            <a:ext cx="365975" cy="26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80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Find the missing lengths. Give any decimal lengths to 1 decimal place.</a:t>
            </a:r>
            <a:endParaRPr sz="1600"/>
          </a:p>
        </p:txBody>
      </p:sp>
      <p:sp>
        <p:nvSpPr>
          <p:cNvPr id="1176" name="Google Shape;1176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a shorter side</a:t>
            </a:r>
            <a:endParaRPr/>
          </a:p>
        </p:txBody>
      </p:sp>
      <p:sp>
        <p:nvSpPr>
          <p:cNvPr id="1177" name="Google Shape;1177;p80"/>
          <p:cNvSpPr/>
          <p:nvPr/>
        </p:nvSpPr>
        <p:spPr>
          <a:xfrm rot="3664453">
            <a:off x="6826946" y="1858152"/>
            <a:ext cx="1244220" cy="694345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80"/>
          <p:cNvSpPr/>
          <p:nvPr/>
        </p:nvSpPr>
        <p:spPr>
          <a:xfrm rot="3665344">
            <a:off x="6867221" y="1789883"/>
            <a:ext cx="127831" cy="127831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80"/>
          <p:cNvSpPr txBox="1"/>
          <p:nvPr/>
        </p:nvSpPr>
        <p:spPr>
          <a:xfrm>
            <a:off x="324000" y="1270953"/>
            <a:ext cx="2499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80"/>
          <p:cNvSpPr txBox="1"/>
          <p:nvPr/>
        </p:nvSpPr>
        <p:spPr>
          <a:xfrm>
            <a:off x="3073202" y="1270953"/>
            <a:ext cx="2499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80"/>
          <p:cNvSpPr txBox="1"/>
          <p:nvPr/>
        </p:nvSpPr>
        <p:spPr>
          <a:xfrm>
            <a:off x="6122768" y="1270953"/>
            <a:ext cx="2499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2" name="Google Shape;1182;p80"/>
          <p:cNvSpPr txBox="1"/>
          <p:nvPr/>
        </p:nvSpPr>
        <p:spPr>
          <a:xfrm>
            <a:off x="324000" y="3156382"/>
            <a:ext cx="2499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3" name="Google Shape;1183;p80"/>
          <p:cNvSpPr txBox="1"/>
          <p:nvPr/>
        </p:nvSpPr>
        <p:spPr>
          <a:xfrm>
            <a:off x="3073202" y="3156382"/>
            <a:ext cx="2499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80"/>
          <p:cNvSpPr txBox="1"/>
          <p:nvPr/>
        </p:nvSpPr>
        <p:spPr>
          <a:xfrm>
            <a:off x="6122768" y="3156382"/>
            <a:ext cx="2499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85" name="Google Shape;1185;p80"/>
          <p:cNvGrpSpPr/>
          <p:nvPr/>
        </p:nvGrpSpPr>
        <p:grpSpPr>
          <a:xfrm flipH="1">
            <a:off x="639068" y="1341327"/>
            <a:ext cx="1264796" cy="1324343"/>
            <a:chOff x="602606" y="1614562"/>
            <a:chExt cx="1820113" cy="910264"/>
          </a:xfrm>
        </p:grpSpPr>
        <p:sp>
          <p:nvSpPr>
            <p:cNvPr id="1186" name="Google Shape;1186;p80"/>
            <p:cNvSpPr/>
            <p:nvPr/>
          </p:nvSpPr>
          <p:spPr>
            <a:xfrm>
              <a:off x="745350" y="1645697"/>
              <a:ext cx="1511100" cy="8127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7" name="Google Shape;1187;p80"/>
            <p:cNvSpPr/>
            <p:nvPr/>
          </p:nvSpPr>
          <p:spPr>
            <a:xfrm>
              <a:off x="745337" y="2367988"/>
              <a:ext cx="191400" cy="903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88" name="Google Shape;1188;p80"/>
            <p:cNvCxnSpPr/>
            <p:nvPr/>
          </p:nvCxnSpPr>
          <p:spPr>
            <a:xfrm rot="10800000">
              <a:off x="602606" y="1647197"/>
              <a:ext cx="0" cy="811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89" name="Google Shape;1189;p80"/>
            <p:cNvCxnSpPr/>
            <p:nvPr/>
          </p:nvCxnSpPr>
          <p:spPr>
            <a:xfrm>
              <a:off x="739622" y="2524826"/>
              <a:ext cx="1521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90" name="Google Shape;1190;p80"/>
            <p:cNvCxnSpPr/>
            <p:nvPr/>
          </p:nvCxnSpPr>
          <p:spPr>
            <a:xfrm>
              <a:off x="912519" y="1614562"/>
              <a:ext cx="1510200" cy="813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191" name="Google Shape;1191;p80"/>
          <p:cNvGrpSpPr/>
          <p:nvPr/>
        </p:nvGrpSpPr>
        <p:grpSpPr>
          <a:xfrm rot="-1724611">
            <a:off x="3311463" y="3492329"/>
            <a:ext cx="1727285" cy="1180943"/>
            <a:chOff x="339673" y="3416058"/>
            <a:chExt cx="1727248" cy="1180917"/>
          </a:xfrm>
        </p:grpSpPr>
        <p:sp>
          <p:nvSpPr>
            <p:cNvPr id="1192" name="Google Shape;1192;p80"/>
            <p:cNvSpPr/>
            <p:nvPr/>
          </p:nvSpPr>
          <p:spPr>
            <a:xfrm rot="9518150">
              <a:off x="411081" y="3760251"/>
              <a:ext cx="1511140" cy="581448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3" name="Google Shape;1193;p80"/>
            <p:cNvSpPr/>
            <p:nvPr/>
          </p:nvSpPr>
          <p:spPr>
            <a:xfrm rot="9517435">
              <a:off x="1664573" y="3524222"/>
              <a:ext cx="127576" cy="127576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94" name="Google Shape;1194;p80"/>
            <p:cNvCxnSpPr/>
            <p:nvPr/>
          </p:nvCxnSpPr>
          <p:spPr>
            <a:xfrm flipH="1" rot="10800000">
              <a:off x="339673" y="3416058"/>
              <a:ext cx="1408500" cy="55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95" name="Google Shape;1195;p80"/>
            <p:cNvCxnSpPr/>
            <p:nvPr/>
          </p:nvCxnSpPr>
          <p:spPr>
            <a:xfrm rot="10800000">
              <a:off x="1859321" y="3474135"/>
              <a:ext cx="207600" cy="539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96" name="Google Shape;1196;p80"/>
            <p:cNvCxnSpPr/>
            <p:nvPr/>
          </p:nvCxnSpPr>
          <p:spPr>
            <a:xfrm>
              <a:off x="357097" y="4147417"/>
              <a:ext cx="162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197" name="Google Shape;1197;p80"/>
          <p:cNvGrpSpPr/>
          <p:nvPr/>
        </p:nvGrpSpPr>
        <p:grpSpPr>
          <a:xfrm rot="8100000">
            <a:off x="6714702" y="3054955"/>
            <a:ext cx="1247197" cy="1241462"/>
            <a:chOff x="8299500" y="3426326"/>
            <a:chExt cx="1247386" cy="1241649"/>
          </a:xfrm>
        </p:grpSpPr>
        <p:sp>
          <p:nvSpPr>
            <p:cNvPr id="1198" name="Google Shape;1198;p80"/>
            <p:cNvSpPr/>
            <p:nvPr/>
          </p:nvSpPr>
          <p:spPr>
            <a:xfrm rot="10800000">
              <a:off x="8375367" y="3555888"/>
              <a:ext cx="1026600" cy="10542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9" name="Google Shape;1199;p80"/>
            <p:cNvSpPr/>
            <p:nvPr/>
          </p:nvSpPr>
          <p:spPr>
            <a:xfrm rot="10800000">
              <a:off x="9274174" y="3555849"/>
              <a:ext cx="127800" cy="1278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00" name="Google Shape;1200;p80"/>
            <p:cNvCxnSpPr/>
            <p:nvPr/>
          </p:nvCxnSpPr>
          <p:spPr>
            <a:xfrm>
              <a:off x="8354484" y="3426326"/>
              <a:ext cx="1013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01" name="Google Shape;1201;p80"/>
            <p:cNvCxnSpPr/>
            <p:nvPr/>
          </p:nvCxnSpPr>
          <p:spPr>
            <a:xfrm rot="10800000">
              <a:off x="9546886" y="3570825"/>
              <a:ext cx="0" cy="1048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02" name="Google Shape;1202;p80"/>
            <p:cNvCxnSpPr/>
            <p:nvPr/>
          </p:nvCxnSpPr>
          <p:spPr>
            <a:xfrm rot="10800000">
              <a:off x="8299500" y="3600875"/>
              <a:ext cx="1011000" cy="1067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203" name="Google Shape;1203;p80"/>
          <p:cNvGrpSpPr/>
          <p:nvPr/>
        </p:nvGrpSpPr>
        <p:grpSpPr>
          <a:xfrm rot="10800000">
            <a:off x="3314655" y="1380815"/>
            <a:ext cx="2027613" cy="1618729"/>
            <a:chOff x="6500592" y="1151719"/>
            <a:chExt cx="1897803" cy="1515096"/>
          </a:xfrm>
        </p:grpSpPr>
        <p:sp>
          <p:nvSpPr>
            <p:cNvPr id="1204" name="Google Shape;1204;p80"/>
            <p:cNvSpPr/>
            <p:nvPr/>
          </p:nvSpPr>
          <p:spPr>
            <a:xfrm rot="-1670821">
              <a:off x="6708595" y="1457567"/>
              <a:ext cx="1511200" cy="812706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5" name="Google Shape;1205;p80"/>
            <p:cNvSpPr/>
            <p:nvPr/>
          </p:nvSpPr>
          <p:spPr>
            <a:xfrm rot="-1669644">
              <a:off x="6948524" y="2425837"/>
              <a:ext cx="127889" cy="127889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06" name="Google Shape;1206;p80"/>
            <p:cNvCxnSpPr/>
            <p:nvPr/>
          </p:nvCxnSpPr>
          <p:spPr>
            <a:xfrm rot="10800000">
              <a:off x="6500592" y="1869658"/>
              <a:ext cx="380400" cy="754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07" name="Google Shape;1207;p80"/>
            <p:cNvCxnSpPr/>
            <p:nvPr/>
          </p:nvCxnSpPr>
          <p:spPr>
            <a:xfrm flipH="1" rot="10800000">
              <a:off x="7058595" y="1943515"/>
              <a:ext cx="1339800" cy="723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08" name="Google Shape;1208;p80"/>
            <p:cNvCxnSpPr/>
            <p:nvPr/>
          </p:nvCxnSpPr>
          <p:spPr>
            <a:xfrm rot="10800000">
              <a:off x="6606195" y="1760000"/>
              <a:ext cx="1716000" cy="19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1209" name="Google Shape;1209;p80"/>
          <p:cNvCxnSpPr/>
          <p:nvPr/>
        </p:nvCxnSpPr>
        <p:spPr>
          <a:xfrm flipH="1" rot="-9518499">
            <a:off x="6874045" y="1299060"/>
            <a:ext cx="453872" cy="51838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10" name="Google Shape;1210;p80"/>
          <p:cNvCxnSpPr/>
          <p:nvPr/>
        </p:nvCxnSpPr>
        <p:spPr>
          <a:xfrm rot="-9517024">
            <a:off x="6559963" y="2026967"/>
            <a:ext cx="961055" cy="78217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11" name="Google Shape;1211;p80"/>
          <p:cNvCxnSpPr/>
          <p:nvPr/>
        </p:nvCxnSpPr>
        <p:spPr>
          <a:xfrm rot="-9517523">
            <a:off x="7297371" y="1550048"/>
            <a:ext cx="523508" cy="1338269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12" name="Google Shape;1212;p80"/>
          <p:cNvCxnSpPr/>
          <p:nvPr/>
        </p:nvCxnSpPr>
        <p:spPr>
          <a:xfrm flipH="1" rot="10800000">
            <a:off x="6942194" y="3958406"/>
            <a:ext cx="93000" cy="9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3" name="Google Shape;1213;p80"/>
          <p:cNvCxnSpPr/>
          <p:nvPr/>
        </p:nvCxnSpPr>
        <p:spPr>
          <a:xfrm rot="10800000">
            <a:off x="7656044" y="3969506"/>
            <a:ext cx="81900" cy="81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4" name="Google Shape;1214;p80"/>
          <p:cNvSpPr txBox="1"/>
          <p:nvPr/>
        </p:nvSpPr>
        <p:spPr>
          <a:xfrm>
            <a:off x="573900" y="1690400"/>
            <a:ext cx="698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80"/>
          <p:cNvSpPr txBox="1"/>
          <p:nvPr/>
        </p:nvSpPr>
        <p:spPr>
          <a:xfrm>
            <a:off x="1039459" y="2660681"/>
            <a:ext cx="698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80"/>
          <p:cNvSpPr txBox="1"/>
          <p:nvPr/>
        </p:nvSpPr>
        <p:spPr>
          <a:xfrm>
            <a:off x="4044731" y="2340441"/>
            <a:ext cx="754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26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m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80"/>
          <p:cNvSpPr txBox="1"/>
          <p:nvPr/>
        </p:nvSpPr>
        <p:spPr>
          <a:xfrm>
            <a:off x="3462147" y="1514924"/>
            <a:ext cx="754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24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m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80"/>
          <p:cNvSpPr txBox="1"/>
          <p:nvPr/>
        </p:nvSpPr>
        <p:spPr>
          <a:xfrm>
            <a:off x="7609607" y="2019268"/>
            <a:ext cx="7152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17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19" name="Google Shape;1219;p80"/>
          <p:cNvGrpSpPr/>
          <p:nvPr/>
        </p:nvGrpSpPr>
        <p:grpSpPr>
          <a:xfrm flipH="1">
            <a:off x="652950" y="3313189"/>
            <a:ext cx="1028000" cy="1076387"/>
            <a:chOff x="602606" y="1614562"/>
            <a:chExt cx="1820113" cy="910264"/>
          </a:xfrm>
        </p:grpSpPr>
        <p:sp>
          <p:nvSpPr>
            <p:cNvPr id="1220" name="Google Shape;1220;p80"/>
            <p:cNvSpPr/>
            <p:nvPr/>
          </p:nvSpPr>
          <p:spPr>
            <a:xfrm>
              <a:off x="745350" y="1645697"/>
              <a:ext cx="1511100" cy="8127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1" name="Google Shape;1221;p80"/>
            <p:cNvSpPr/>
            <p:nvPr/>
          </p:nvSpPr>
          <p:spPr>
            <a:xfrm>
              <a:off x="745337" y="2367988"/>
              <a:ext cx="191400" cy="903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22" name="Google Shape;1222;p80"/>
            <p:cNvCxnSpPr/>
            <p:nvPr/>
          </p:nvCxnSpPr>
          <p:spPr>
            <a:xfrm rot="10800000">
              <a:off x="602606" y="1647197"/>
              <a:ext cx="0" cy="811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23" name="Google Shape;1223;p80"/>
            <p:cNvCxnSpPr/>
            <p:nvPr/>
          </p:nvCxnSpPr>
          <p:spPr>
            <a:xfrm>
              <a:off x="739622" y="2524826"/>
              <a:ext cx="1521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24" name="Google Shape;1224;p80"/>
            <p:cNvCxnSpPr/>
            <p:nvPr/>
          </p:nvCxnSpPr>
          <p:spPr>
            <a:xfrm>
              <a:off x="912519" y="1614562"/>
              <a:ext cx="1510200" cy="813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225" name="Google Shape;1225;p80"/>
          <p:cNvSpPr txBox="1"/>
          <p:nvPr/>
        </p:nvSpPr>
        <p:spPr>
          <a:xfrm>
            <a:off x="523796" y="3564323"/>
            <a:ext cx="5676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unit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80"/>
          <p:cNvSpPr txBox="1"/>
          <p:nvPr/>
        </p:nvSpPr>
        <p:spPr>
          <a:xfrm>
            <a:off x="1719096" y="3779525"/>
            <a:ext cx="9234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0.8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units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80"/>
          <p:cNvSpPr txBox="1"/>
          <p:nvPr/>
        </p:nvSpPr>
        <p:spPr>
          <a:xfrm>
            <a:off x="6708255" y="1283364"/>
            <a:ext cx="7152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80"/>
          <p:cNvSpPr txBox="1"/>
          <p:nvPr/>
        </p:nvSpPr>
        <p:spPr>
          <a:xfrm>
            <a:off x="4243806" y="4193091"/>
            <a:ext cx="754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80"/>
          <p:cNvSpPr txBox="1"/>
          <p:nvPr/>
        </p:nvSpPr>
        <p:spPr>
          <a:xfrm>
            <a:off x="4757634" y="3246071"/>
            <a:ext cx="754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80"/>
          <p:cNvSpPr txBox="1"/>
          <p:nvPr/>
        </p:nvSpPr>
        <p:spPr>
          <a:xfrm>
            <a:off x="6900648" y="3280325"/>
            <a:ext cx="9753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 inches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Find the missing lengths. Give any decimal lengths to 1 decimal place.</a:t>
            </a:r>
            <a:endParaRPr sz="1600"/>
          </a:p>
        </p:txBody>
      </p:sp>
      <p:sp>
        <p:nvSpPr>
          <p:cNvPr id="1236" name="Google Shape;1236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a shorter side</a:t>
            </a:r>
            <a:endParaRPr/>
          </a:p>
        </p:txBody>
      </p:sp>
      <p:sp>
        <p:nvSpPr>
          <p:cNvPr id="1237" name="Google Shape;1237;p81"/>
          <p:cNvSpPr/>
          <p:nvPr/>
        </p:nvSpPr>
        <p:spPr>
          <a:xfrm rot="3664453">
            <a:off x="6826946" y="1858152"/>
            <a:ext cx="1244220" cy="694345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81"/>
          <p:cNvSpPr/>
          <p:nvPr/>
        </p:nvSpPr>
        <p:spPr>
          <a:xfrm rot="3665344">
            <a:off x="6867221" y="1789883"/>
            <a:ext cx="127831" cy="127831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81"/>
          <p:cNvSpPr txBox="1"/>
          <p:nvPr/>
        </p:nvSpPr>
        <p:spPr>
          <a:xfrm>
            <a:off x="324000" y="1270953"/>
            <a:ext cx="2499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81"/>
          <p:cNvSpPr txBox="1"/>
          <p:nvPr/>
        </p:nvSpPr>
        <p:spPr>
          <a:xfrm>
            <a:off x="3073202" y="1270953"/>
            <a:ext cx="2499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81"/>
          <p:cNvSpPr txBox="1"/>
          <p:nvPr/>
        </p:nvSpPr>
        <p:spPr>
          <a:xfrm>
            <a:off x="6122768" y="1270953"/>
            <a:ext cx="2499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81"/>
          <p:cNvSpPr txBox="1"/>
          <p:nvPr/>
        </p:nvSpPr>
        <p:spPr>
          <a:xfrm>
            <a:off x="324000" y="3156382"/>
            <a:ext cx="2499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81"/>
          <p:cNvSpPr txBox="1"/>
          <p:nvPr/>
        </p:nvSpPr>
        <p:spPr>
          <a:xfrm>
            <a:off x="3073202" y="3156382"/>
            <a:ext cx="2499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81"/>
          <p:cNvSpPr txBox="1"/>
          <p:nvPr/>
        </p:nvSpPr>
        <p:spPr>
          <a:xfrm>
            <a:off x="6122768" y="3156382"/>
            <a:ext cx="2499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45" name="Google Shape;1245;p81"/>
          <p:cNvGrpSpPr/>
          <p:nvPr/>
        </p:nvGrpSpPr>
        <p:grpSpPr>
          <a:xfrm flipH="1">
            <a:off x="639068" y="1341327"/>
            <a:ext cx="1264796" cy="1324343"/>
            <a:chOff x="602606" y="1614562"/>
            <a:chExt cx="1820113" cy="910264"/>
          </a:xfrm>
        </p:grpSpPr>
        <p:sp>
          <p:nvSpPr>
            <p:cNvPr id="1246" name="Google Shape;1246;p81"/>
            <p:cNvSpPr/>
            <p:nvPr/>
          </p:nvSpPr>
          <p:spPr>
            <a:xfrm>
              <a:off x="745350" y="1645697"/>
              <a:ext cx="1511100" cy="8127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7" name="Google Shape;1247;p81"/>
            <p:cNvSpPr/>
            <p:nvPr/>
          </p:nvSpPr>
          <p:spPr>
            <a:xfrm>
              <a:off x="745337" y="2367988"/>
              <a:ext cx="191400" cy="903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48" name="Google Shape;1248;p81"/>
            <p:cNvCxnSpPr/>
            <p:nvPr/>
          </p:nvCxnSpPr>
          <p:spPr>
            <a:xfrm rot="10800000">
              <a:off x="602606" y="1647197"/>
              <a:ext cx="0" cy="811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49" name="Google Shape;1249;p81"/>
            <p:cNvCxnSpPr/>
            <p:nvPr/>
          </p:nvCxnSpPr>
          <p:spPr>
            <a:xfrm>
              <a:off x="739622" y="2524826"/>
              <a:ext cx="1521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50" name="Google Shape;1250;p81"/>
            <p:cNvCxnSpPr/>
            <p:nvPr/>
          </p:nvCxnSpPr>
          <p:spPr>
            <a:xfrm>
              <a:off x="912519" y="1614562"/>
              <a:ext cx="1510200" cy="813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251" name="Google Shape;1251;p81"/>
          <p:cNvGrpSpPr/>
          <p:nvPr/>
        </p:nvGrpSpPr>
        <p:grpSpPr>
          <a:xfrm rot="-1724611">
            <a:off x="3311463" y="3492329"/>
            <a:ext cx="1727285" cy="1180943"/>
            <a:chOff x="339673" y="3416058"/>
            <a:chExt cx="1727248" cy="1180917"/>
          </a:xfrm>
        </p:grpSpPr>
        <p:sp>
          <p:nvSpPr>
            <p:cNvPr id="1252" name="Google Shape;1252;p81"/>
            <p:cNvSpPr/>
            <p:nvPr/>
          </p:nvSpPr>
          <p:spPr>
            <a:xfrm rot="9518150">
              <a:off x="411081" y="3760251"/>
              <a:ext cx="1511140" cy="581448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3" name="Google Shape;1253;p81"/>
            <p:cNvSpPr/>
            <p:nvPr/>
          </p:nvSpPr>
          <p:spPr>
            <a:xfrm rot="9517435">
              <a:off x="1664573" y="3524222"/>
              <a:ext cx="127576" cy="127576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54" name="Google Shape;1254;p81"/>
            <p:cNvCxnSpPr/>
            <p:nvPr/>
          </p:nvCxnSpPr>
          <p:spPr>
            <a:xfrm flipH="1" rot="10800000">
              <a:off x="339673" y="3416058"/>
              <a:ext cx="1408500" cy="55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55" name="Google Shape;1255;p81"/>
            <p:cNvCxnSpPr/>
            <p:nvPr/>
          </p:nvCxnSpPr>
          <p:spPr>
            <a:xfrm rot="10800000">
              <a:off x="1859321" y="3474135"/>
              <a:ext cx="207600" cy="539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56" name="Google Shape;1256;p81"/>
            <p:cNvCxnSpPr/>
            <p:nvPr/>
          </p:nvCxnSpPr>
          <p:spPr>
            <a:xfrm>
              <a:off x="357097" y="4147417"/>
              <a:ext cx="162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257" name="Google Shape;1257;p81"/>
          <p:cNvGrpSpPr/>
          <p:nvPr/>
        </p:nvGrpSpPr>
        <p:grpSpPr>
          <a:xfrm rot="8100000">
            <a:off x="6714702" y="3054955"/>
            <a:ext cx="1247197" cy="1241462"/>
            <a:chOff x="8299500" y="3426326"/>
            <a:chExt cx="1247386" cy="1241649"/>
          </a:xfrm>
        </p:grpSpPr>
        <p:sp>
          <p:nvSpPr>
            <p:cNvPr id="1258" name="Google Shape;1258;p81"/>
            <p:cNvSpPr/>
            <p:nvPr/>
          </p:nvSpPr>
          <p:spPr>
            <a:xfrm rot="10800000">
              <a:off x="8375367" y="3555888"/>
              <a:ext cx="1026600" cy="10542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9" name="Google Shape;1259;p81"/>
            <p:cNvSpPr/>
            <p:nvPr/>
          </p:nvSpPr>
          <p:spPr>
            <a:xfrm rot="10800000">
              <a:off x="9274174" y="3555849"/>
              <a:ext cx="127800" cy="1278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60" name="Google Shape;1260;p81"/>
            <p:cNvCxnSpPr/>
            <p:nvPr/>
          </p:nvCxnSpPr>
          <p:spPr>
            <a:xfrm>
              <a:off x="8354484" y="3426326"/>
              <a:ext cx="1013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61" name="Google Shape;1261;p81"/>
            <p:cNvCxnSpPr/>
            <p:nvPr/>
          </p:nvCxnSpPr>
          <p:spPr>
            <a:xfrm rot="10800000">
              <a:off x="9546886" y="3570825"/>
              <a:ext cx="0" cy="1048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62" name="Google Shape;1262;p81"/>
            <p:cNvCxnSpPr/>
            <p:nvPr/>
          </p:nvCxnSpPr>
          <p:spPr>
            <a:xfrm rot="10800000">
              <a:off x="8299500" y="3600875"/>
              <a:ext cx="1011000" cy="1067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263" name="Google Shape;1263;p81"/>
          <p:cNvGrpSpPr/>
          <p:nvPr/>
        </p:nvGrpSpPr>
        <p:grpSpPr>
          <a:xfrm rot="10800000">
            <a:off x="3314655" y="1380815"/>
            <a:ext cx="2027613" cy="1618729"/>
            <a:chOff x="6500592" y="1151719"/>
            <a:chExt cx="1897803" cy="1515096"/>
          </a:xfrm>
        </p:grpSpPr>
        <p:sp>
          <p:nvSpPr>
            <p:cNvPr id="1264" name="Google Shape;1264;p81"/>
            <p:cNvSpPr/>
            <p:nvPr/>
          </p:nvSpPr>
          <p:spPr>
            <a:xfrm rot="-1670821">
              <a:off x="6708595" y="1457567"/>
              <a:ext cx="1511200" cy="812706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5" name="Google Shape;1265;p81"/>
            <p:cNvSpPr/>
            <p:nvPr/>
          </p:nvSpPr>
          <p:spPr>
            <a:xfrm rot="-1669644">
              <a:off x="6948524" y="2425837"/>
              <a:ext cx="127889" cy="127889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66" name="Google Shape;1266;p81"/>
            <p:cNvCxnSpPr/>
            <p:nvPr/>
          </p:nvCxnSpPr>
          <p:spPr>
            <a:xfrm rot="10800000">
              <a:off x="6500592" y="1869658"/>
              <a:ext cx="380400" cy="754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67" name="Google Shape;1267;p81"/>
            <p:cNvCxnSpPr/>
            <p:nvPr/>
          </p:nvCxnSpPr>
          <p:spPr>
            <a:xfrm flipH="1" rot="10800000">
              <a:off x="7058595" y="1943515"/>
              <a:ext cx="1339800" cy="723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68" name="Google Shape;1268;p81"/>
            <p:cNvCxnSpPr/>
            <p:nvPr/>
          </p:nvCxnSpPr>
          <p:spPr>
            <a:xfrm rot="10800000">
              <a:off x="6606195" y="1760000"/>
              <a:ext cx="1716000" cy="19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1269" name="Google Shape;1269;p81"/>
          <p:cNvCxnSpPr/>
          <p:nvPr/>
        </p:nvCxnSpPr>
        <p:spPr>
          <a:xfrm flipH="1" rot="-9518499">
            <a:off x="6874045" y="1299060"/>
            <a:ext cx="453872" cy="51838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70" name="Google Shape;1270;p81"/>
          <p:cNvCxnSpPr/>
          <p:nvPr/>
        </p:nvCxnSpPr>
        <p:spPr>
          <a:xfrm rot="-9517024">
            <a:off x="6559963" y="2026967"/>
            <a:ext cx="961055" cy="78217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71" name="Google Shape;1271;p81"/>
          <p:cNvCxnSpPr/>
          <p:nvPr/>
        </p:nvCxnSpPr>
        <p:spPr>
          <a:xfrm rot="-9517523">
            <a:off x="7297371" y="1550048"/>
            <a:ext cx="523508" cy="1338269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72" name="Google Shape;1272;p81"/>
          <p:cNvCxnSpPr/>
          <p:nvPr/>
        </p:nvCxnSpPr>
        <p:spPr>
          <a:xfrm flipH="1" rot="10800000">
            <a:off x="6942194" y="3958406"/>
            <a:ext cx="93000" cy="9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3" name="Google Shape;1273;p81"/>
          <p:cNvCxnSpPr/>
          <p:nvPr/>
        </p:nvCxnSpPr>
        <p:spPr>
          <a:xfrm rot="10800000">
            <a:off x="7656044" y="3969506"/>
            <a:ext cx="81900" cy="81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4" name="Google Shape;1274;p81"/>
          <p:cNvSpPr txBox="1"/>
          <p:nvPr/>
        </p:nvSpPr>
        <p:spPr>
          <a:xfrm>
            <a:off x="573900" y="1690400"/>
            <a:ext cx="698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81"/>
          <p:cNvSpPr txBox="1"/>
          <p:nvPr/>
        </p:nvSpPr>
        <p:spPr>
          <a:xfrm>
            <a:off x="1963639" y="1909167"/>
            <a:ext cx="6528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6" name="Google Shape;1276;p81"/>
          <p:cNvSpPr txBox="1"/>
          <p:nvPr/>
        </p:nvSpPr>
        <p:spPr>
          <a:xfrm>
            <a:off x="1039459" y="2660681"/>
            <a:ext cx="698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81"/>
          <p:cNvSpPr txBox="1"/>
          <p:nvPr/>
        </p:nvSpPr>
        <p:spPr>
          <a:xfrm>
            <a:off x="5118967" y="1572581"/>
            <a:ext cx="796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m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8" name="Google Shape;1278;p81"/>
          <p:cNvSpPr txBox="1"/>
          <p:nvPr/>
        </p:nvSpPr>
        <p:spPr>
          <a:xfrm>
            <a:off x="4044731" y="2340441"/>
            <a:ext cx="754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26 m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81"/>
          <p:cNvSpPr txBox="1"/>
          <p:nvPr/>
        </p:nvSpPr>
        <p:spPr>
          <a:xfrm>
            <a:off x="3462147" y="1514924"/>
            <a:ext cx="754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24 m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81"/>
          <p:cNvSpPr txBox="1"/>
          <p:nvPr/>
        </p:nvSpPr>
        <p:spPr>
          <a:xfrm>
            <a:off x="7609607" y="2019268"/>
            <a:ext cx="7152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17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81" name="Google Shape;1281;p81"/>
          <p:cNvGrpSpPr/>
          <p:nvPr/>
        </p:nvGrpSpPr>
        <p:grpSpPr>
          <a:xfrm flipH="1">
            <a:off x="652950" y="3313189"/>
            <a:ext cx="1028000" cy="1076387"/>
            <a:chOff x="602606" y="1614562"/>
            <a:chExt cx="1820113" cy="910264"/>
          </a:xfrm>
        </p:grpSpPr>
        <p:sp>
          <p:nvSpPr>
            <p:cNvPr id="1282" name="Google Shape;1282;p81"/>
            <p:cNvSpPr/>
            <p:nvPr/>
          </p:nvSpPr>
          <p:spPr>
            <a:xfrm>
              <a:off x="745350" y="1645697"/>
              <a:ext cx="1511100" cy="8127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3" name="Google Shape;1283;p81"/>
            <p:cNvSpPr/>
            <p:nvPr/>
          </p:nvSpPr>
          <p:spPr>
            <a:xfrm>
              <a:off x="745337" y="2367988"/>
              <a:ext cx="191400" cy="903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84" name="Google Shape;1284;p81"/>
            <p:cNvCxnSpPr/>
            <p:nvPr/>
          </p:nvCxnSpPr>
          <p:spPr>
            <a:xfrm rot="10800000">
              <a:off x="602606" y="1647197"/>
              <a:ext cx="0" cy="811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85" name="Google Shape;1285;p81"/>
            <p:cNvCxnSpPr/>
            <p:nvPr/>
          </p:nvCxnSpPr>
          <p:spPr>
            <a:xfrm>
              <a:off x="739622" y="2524826"/>
              <a:ext cx="1521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86" name="Google Shape;1286;p81"/>
            <p:cNvCxnSpPr/>
            <p:nvPr/>
          </p:nvCxnSpPr>
          <p:spPr>
            <a:xfrm>
              <a:off x="912519" y="1614562"/>
              <a:ext cx="1510200" cy="813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287" name="Google Shape;1287;p81"/>
          <p:cNvSpPr txBox="1"/>
          <p:nvPr/>
        </p:nvSpPr>
        <p:spPr>
          <a:xfrm>
            <a:off x="523796" y="3564323"/>
            <a:ext cx="5676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unit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81"/>
          <p:cNvSpPr txBox="1"/>
          <p:nvPr/>
        </p:nvSpPr>
        <p:spPr>
          <a:xfrm>
            <a:off x="722147" y="4421150"/>
            <a:ext cx="9753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0.6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units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9" name="Google Shape;1289;p81"/>
          <p:cNvSpPr txBox="1"/>
          <p:nvPr/>
        </p:nvSpPr>
        <p:spPr>
          <a:xfrm>
            <a:off x="1719096" y="3779525"/>
            <a:ext cx="9234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0.8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units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81"/>
          <p:cNvSpPr txBox="1"/>
          <p:nvPr/>
        </p:nvSpPr>
        <p:spPr>
          <a:xfrm>
            <a:off x="6708255" y="1283364"/>
            <a:ext cx="7152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81"/>
          <p:cNvSpPr txBox="1"/>
          <p:nvPr/>
        </p:nvSpPr>
        <p:spPr>
          <a:xfrm>
            <a:off x="6420891" y="2301961"/>
            <a:ext cx="796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15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2" name="Google Shape;1292;p81"/>
          <p:cNvSpPr txBox="1"/>
          <p:nvPr/>
        </p:nvSpPr>
        <p:spPr>
          <a:xfrm>
            <a:off x="4243806" y="4193091"/>
            <a:ext cx="754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81"/>
          <p:cNvSpPr txBox="1"/>
          <p:nvPr/>
        </p:nvSpPr>
        <p:spPr>
          <a:xfrm>
            <a:off x="4757634" y="3246071"/>
            <a:ext cx="754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81"/>
          <p:cNvSpPr txBox="1"/>
          <p:nvPr/>
        </p:nvSpPr>
        <p:spPr>
          <a:xfrm>
            <a:off x="3287013" y="3519898"/>
            <a:ext cx="796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9.8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5" name="Google Shape;1295;p81"/>
          <p:cNvSpPr txBox="1"/>
          <p:nvPr/>
        </p:nvSpPr>
        <p:spPr>
          <a:xfrm>
            <a:off x="6900648" y="3280325"/>
            <a:ext cx="9753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 inches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81"/>
          <p:cNvSpPr txBox="1"/>
          <p:nvPr/>
        </p:nvSpPr>
        <p:spPr>
          <a:xfrm>
            <a:off x="7795072" y="4046628"/>
            <a:ext cx="1111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4.2 inches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7" name="Google Shape;1297;p81"/>
          <p:cNvSpPr txBox="1"/>
          <p:nvPr/>
        </p:nvSpPr>
        <p:spPr>
          <a:xfrm>
            <a:off x="5966272" y="4135876"/>
            <a:ext cx="1111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4.2 inches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82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the hypotenuse</a:t>
            </a:r>
            <a:endParaRPr/>
          </a:p>
        </p:txBody>
      </p:sp>
      <p:sp>
        <p:nvSpPr>
          <p:cNvPr id="1303" name="Google Shape;1303;p82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a shorter side</a:t>
            </a:r>
            <a:endParaRPr/>
          </a:p>
        </p:txBody>
      </p:sp>
      <p:sp>
        <p:nvSpPr>
          <p:cNvPr id="1304" name="Google Shape;1304;p82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any side</a:t>
            </a:r>
            <a:endParaRPr/>
          </a:p>
        </p:txBody>
      </p:sp>
      <p:sp>
        <p:nvSpPr>
          <p:cNvPr id="1305" name="Google Shape;1305;p82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Pythagoras’ theorem on a coordinate grid</a:t>
            </a:r>
            <a:endParaRPr/>
          </a:p>
        </p:txBody>
      </p:sp>
      <p:sp>
        <p:nvSpPr>
          <p:cNvPr id="1306" name="Google Shape;1306;p82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Pythagoras’ theorem</a:t>
            </a:r>
            <a:endParaRPr/>
          </a:p>
        </p:txBody>
      </p:sp>
      <p:pic>
        <p:nvPicPr>
          <p:cNvPr id="1307" name="Google Shape;130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922" y="32051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83"/>
          <p:cNvSpPr txBox="1"/>
          <p:nvPr>
            <p:ph idx="1" type="body"/>
          </p:nvPr>
        </p:nvSpPr>
        <p:spPr>
          <a:xfrm>
            <a:off x="324000" y="759300"/>
            <a:ext cx="8496000" cy="7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calculations </a:t>
            </a:r>
            <a:r>
              <a:rPr lang="en-GB" sz="1800"/>
              <a:t>you </a:t>
            </a:r>
            <a:r>
              <a:rPr lang="en-GB" sz="1800"/>
              <a:t>perform when using Pythagoras’ theorem may differ depending on which length on the triangle you are finding.</a:t>
            </a:r>
            <a:endParaRPr sz="1800"/>
          </a:p>
        </p:txBody>
      </p:sp>
      <p:sp>
        <p:nvSpPr>
          <p:cNvPr id="1313" name="Google Shape;1313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</a:t>
            </a:r>
            <a:r>
              <a:rPr lang="en-GB"/>
              <a:t> the length of any side</a:t>
            </a:r>
            <a:endParaRPr/>
          </a:p>
        </p:txBody>
      </p:sp>
      <p:sp>
        <p:nvSpPr>
          <p:cNvPr id="1314" name="Google Shape;1314;p83"/>
          <p:cNvSpPr/>
          <p:nvPr/>
        </p:nvSpPr>
        <p:spPr>
          <a:xfrm>
            <a:off x="1011107" y="2256209"/>
            <a:ext cx="1157700" cy="9453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5" name="Google Shape;1315;p83"/>
          <p:cNvSpPr/>
          <p:nvPr/>
        </p:nvSpPr>
        <p:spPr>
          <a:xfrm>
            <a:off x="1011107" y="2256209"/>
            <a:ext cx="1157700" cy="945300"/>
          </a:xfrm>
          <a:prstGeom prst="rtTriangle">
            <a:avLst/>
          </a:prstGeom>
          <a:solidFill>
            <a:srgbClr val="EBEDFE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6" name="Google Shape;1316;p83"/>
          <p:cNvSpPr/>
          <p:nvPr/>
        </p:nvSpPr>
        <p:spPr>
          <a:xfrm rot="10800000">
            <a:off x="1010773" y="3027854"/>
            <a:ext cx="173400" cy="1734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17" name="Google Shape;1317;p83"/>
          <p:cNvGrpSpPr/>
          <p:nvPr/>
        </p:nvGrpSpPr>
        <p:grpSpPr>
          <a:xfrm rot="19180">
            <a:off x="1011166" y="3307927"/>
            <a:ext cx="1157840" cy="268133"/>
            <a:chOff x="6353075" y="4549793"/>
            <a:chExt cx="1174500" cy="459841"/>
          </a:xfrm>
        </p:grpSpPr>
        <p:cxnSp>
          <p:nvCxnSpPr>
            <p:cNvPr id="1318" name="Google Shape;1318;p83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19" name="Google Shape;1319;p83"/>
            <p:cNvSpPr txBox="1"/>
            <p:nvPr/>
          </p:nvSpPr>
          <p:spPr>
            <a:xfrm rot="3085">
              <a:off x="6604950" y="4600434"/>
              <a:ext cx="668700" cy="40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0" name="Google Shape;1320;p83"/>
          <p:cNvGrpSpPr/>
          <p:nvPr/>
        </p:nvGrpSpPr>
        <p:grpSpPr>
          <a:xfrm rot="5419745">
            <a:off x="114713" y="2440137"/>
            <a:ext cx="961109" cy="594008"/>
            <a:chOff x="6353075" y="4549793"/>
            <a:chExt cx="1174500" cy="1018708"/>
          </a:xfrm>
        </p:grpSpPr>
        <p:cxnSp>
          <p:nvCxnSpPr>
            <p:cNvPr id="1321" name="Google Shape;1321;p83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22" name="Google Shape;1322;p83"/>
            <p:cNvSpPr txBox="1"/>
            <p:nvPr/>
          </p:nvSpPr>
          <p:spPr>
            <a:xfrm rot="-5387007">
              <a:off x="6463454" y="4970144"/>
              <a:ext cx="952507" cy="24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323" name="Google Shape;1323;p83"/>
          <p:cNvCxnSpPr/>
          <p:nvPr/>
        </p:nvCxnSpPr>
        <p:spPr>
          <a:xfrm rot="-8469743">
            <a:off x="914217" y="2648078"/>
            <a:ext cx="150977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24" name="Google Shape;1324;p83"/>
          <p:cNvSpPr txBox="1"/>
          <p:nvPr/>
        </p:nvSpPr>
        <p:spPr>
          <a:xfrm flipH="1">
            <a:off x="2784778" y="3025894"/>
            <a:ext cx="1353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64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+ 25 =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5" name="Google Shape;1325;p83"/>
          <p:cNvSpPr txBox="1"/>
          <p:nvPr/>
        </p:nvSpPr>
        <p:spPr>
          <a:xfrm flipH="1">
            <a:off x="3300804" y="3488672"/>
            <a:ext cx="1196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89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= 9.4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6" name="Google Shape;1326;p83"/>
          <p:cNvSpPr txBox="1"/>
          <p:nvPr/>
        </p:nvSpPr>
        <p:spPr>
          <a:xfrm flipH="1">
            <a:off x="3332011" y="2100338"/>
            <a:ext cx="16395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8</a:t>
            </a:r>
            <a:r>
              <a:rPr baseline="30000"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64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7" name="Google Shape;1327;p83"/>
          <p:cNvSpPr txBox="1"/>
          <p:nvPr/>
        </p:nvSpPr>
        <p:spPr>
          <a:xfrm flipH="1">
            <a:off x="3450366" y="2563116"/>
            <a:ext cx="16395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r>
              <a:rPr baseline="30000"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25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}&quot;&gt;&lt;msqrt&gt;&lt;mtext&gt;&lt;/mtext&gt;&lt;mtext&gt;&lt;/mtext&gt;&lt;mtext&gt;&lt;/mtext&gt;&lt;mtext&gt;&lt;/mtext&gt;&lt;mtext&gt;&lt;/mtext&gt;&lt;mtext&gt;&lt;/mtext&gt;&lt;mtext&gt;&lt;/mtext&gt;&lt;/msqrt&gt;&lt;/math&gt;" id="1328" name="Google Shape;1328;p83" title="the square root o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797" y="3475947"/>
            <a:ext cx="615550" cy="293794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83"/>
          <p:cNvSpPr txBox="1"/>
          <p:nvPr/>
        </p:nvSpPr>
        <p:spPr>
          <a:xfrm flipH="1">
            <a:off x="3977748" y="3034154"/>
            <a:ext cx="548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89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0" name="Google Shape;1330;p83"/>
          <p:cNvSpPr/>
          <p:nvPr/>
        </p:nvSpPr>
        <p:spPr>
          <a:xfrm>
            <a:off x="5405496" y="2256202"/>
            <a:ext cx="1078800" cy="9453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1" name="Google Shape;1331;p83"/>
          <p:cNvSpPr/>
          <p:nvPr/>
        </p:nvSpPr>
        <p:spPr>
          <a:xfrm>
            <a:off x="5405496" y="2256202"/>
            <a:ext cx="1078800" cy="945300"/>
          </a:xfrm>
          <a:prstGeom prst="rtTriangle">
            <a:avLst/>
          </a:prstGeom>
          <a:solidFill>
            <a:srgbClr val="EBEDFE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83"/>
          <p:cNvSpPr/>
          <p:nvPr/>
        </p:nvSpPr>
        <p:spPr>
          <a:xfrm rot="10800000">
            <a:off x="5405378" y="3027856"/>
            <a:ext cx="161400" cy="1734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33" name="Google Shape;1333;p83"/>
          <p:cNvCxnSpPr/>
          <p:nvPr/>
        </p:nvCxnSpPr>
        <p:spPr>
          <a:xfrm rot="21032">
            <a:off x="5405549" y="3308000"/>
            <a:ext cx="107882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34" name="Google Shape;1334;p83"/>
          <p:cNvSpPr txBox="1"/>
          <p:nvPr/>
        </p:nvSpPr>
        <p:spPr>
          <a:xfrm rot="21832">
            <a:off x="5992003" y="2422982"/>
            <a:ext cx="614112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35" name="Google Shape;1335;p83"/>
          <p:cNvCxnSpPr/>
          <p:nvPr/>
        </p:nvCxnSpPr>
        <p:spPr>
          <a:xfrm rot="5418240">
            <a:off x="4814168" y="2737188"/>
            <a:ext cx="961214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36" name="Google Shape;1336;p83"/>
          <p:cNvSpPr txBox="1"/>
          <p:nvPr/>
        </p:nvSpPr>
        <p:spPr>
          <a:xfrm rot="20311">
            <a:off x="4702941" y="2637500"/>
            <a:ext cx="609311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37" name="Google Shape;1337;p83"/>
          <p:cNvCxnSpPr/>
          <p:nvPr/>
        </p:nvCxnSpPr>
        <p:spPr>
          <a:xfrm rot="-8350483">
            <a:off x="5294578" y="2648079"/>
            <a:ext cx="144825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38" name="Google Shape;1338;p83"/>
          <p:cNvCxnSpPr/>
          <p:nvPr/>
        </p:nvCxnSpPr>
        <p:spPr>
          <a:xfrm rot="10800000">
            <a:off x="4582054" y="1630100"/>
            <a:ext cx="0" cy="2814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9" name="Google Shape;1339;p83"/>
          <p:cNvSpPr txBox="1"/>
          <p:nvPr/>
        </p:nvSpPr>
        <p:spPr>
          <a:xfrm flipH="1">
            <a:off x="3758030" y="3875250"/>
            <a:ext cx="957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(1 d.p.)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0" name="Google Shape;1340;p83"/>
          <p:cNvSpPr txBox="1"/>
          <p:nvPr/>
        </p:nvSpPr>
        <p:spPr>
          <a:xfrm flipH="1">
            <a:off x="7637351" y="2100338"/>
            <a:ext cx="16395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8</a:t>
            </a:r>
            <a:r>
              <a:rPr baseline="30000"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64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1" name="Google Shape;1341;p83"/>
          <p:cNvSpPr txBox="1"/>
          <p:nvPr/>
        </p:nvSpPr>
        <p:spPr>
          <a:xfrm flipH="1">
            <a:off x="7074107" y="3025894"/>
            <a:ext cx="1353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64 − 25 =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2" name="Google Shape;1342;p83"/>
          <p:cNvSpPr txBox="1"/>
          <p:nvPr/>
        </p:nvSpPr>
        <p:spPr>
          <a:xfrm flipH="1">
            <a:off x="7599870" y="3488672"/>
            <a:ext cx="1196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  = 6.2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3" name="Google Shape;1343;p83"/>
          <p:cNvSpPr txBox="1"/>
          <p:nvPr/>
        </p:nvSpPr>
        <p:spPr>
          <a:xfrm flipH="1">
            <a:off x="7741663" y="2563116"/>
            <a:ext cx="16395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r>
              <a:rPr baseline="30000"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25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}&quot;&gt;&lt;msqrt&gt;&lt;mtext&gt;&lt;/mtext&gt;&lt;mtext&gt;&lt;/mtext&gt;&lt;mtext&gt;&lt;/mtext&gt;&lt;mtext&gt;&lt;/mtext&gt;&lt;mtext&gt;&lt;/mtext&gt;&lt;mtext&gt;&lt;/mtext&gt;&lt;mtext&gt;&lt;/mtext&gt;&lt;/msqrt&gt;&lt;/math&gt;" id="1344" name="Google Shape;1344;p83" title="the square root o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3339" y="3475954"/>
            <a:ext cx="615550" cy="293794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83"/>
          <p:cNvSpPr txBox="1"/>
          <p:nvPr/>
        </p:nvSpPr>
        <p:spPr>
          <a:xfrm flipH="1">
            <a:off x="8336662" y="3040769"/>
            <a:ext cx="548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39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6" name="Google Shape;1346;p83"/>
          <p:cNvSpPr txBox="1"/>
          <p:nvPr/>
        </p:nvSpPr>
        <p:spPr>
          <a:xfrm flipH="1">
            <a:off x="8057097" y="3875250"/>
            <a:ext cx="957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(1 d.p.)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7" name="Google Shape;1347;p83"/>
          <p:cNvSpPr txBox="1"/>
          <p:nvPr>
            <p:ph idx="1" type="body"/>
          </p:nvPr>
        </p:nvSpPr>
        <p:spPr>
          <a:xfrm>
            <a:off x="324000" y="1597500"/>
            <a:ext cx="31419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Finding the hypotenuse:</a:t>
            </a:r>
            <a:endParaRPr sz="1800"/>
          </a:p>
        </p:txBody>
      </p:sp>
      <p:sp>
        <p:nvSpPr>
          <p:cNvPr id="1348" name="Google Shape;1348;p83"/>
          <p:cNvSpPr txBox="1"/>
          <p:nvPr>
            <p:ph idx="1" type="body"/>
          </p:nvPr>
        </p:nvSpPr>
        <p:spPr>
          <a:xfrm>
            <a:off x="4753654" y="1597500"/>
            <a:ext cx="40002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Finding one of the shorter sides:</a:t>
            </a:r>
            <a:endParaRPr sz="1800"/>
          </a:p>
        </p:txBody>
      </p:sp>
      <p:sp>
        <p:nvSpPr>
          <p:cNvPr id="1349" name="Google Shape;1349;p83"/>
          <p:cNvSpPr txBox="1"/>
          <p:nvPr>
            <p:ph idx="1" type="body"/>
          </p:nvPr>
        </p:nvSpPr>
        <p:spPr>
          <a:xfrm>
            <a:off x="2305200" y="4527425"/>
            <a:ext cx="46587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At which point do the </a:t>
            </a:r>
            <a:r>
              <a:rPr lang="en-GB" sz="1800"/>
              <a:t>calculations</a:t>
            </a:r>
            <a:r>
              <a:rPr lang="en-GB" sz="1800"/>
              <a:t> differ?</a:t>
            </a:r>
            <a:endParaRPr sz="1800"/>
          </a:p>
        </p:txBody>
      </p:sp>
      <p:sp>
        <p:nvSpPr>
          <p:cNvPr id="1350" name="Google Shape;1350;p83"/>
          <p:cNvSpPr/>
          <p:nvPr/>
        </p:nvSpPr>
        <p:spPr>
          <a:xfrm>
            <a:off x="3086090" y="3007100"/>
            <a:ext cx="304200" cy="304200"/>
          </a:xfrm>
          <a:prstGeom prst="ellipse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1" name="Google Shape;1351;p83"/>
          <p:cNvSpPr/>
          <p:nvPr/>
        </p:nvSpPr>
        <p:spPr>
          <a:xfrm>
            <a:off x="7363759" y="3007100"/>
            <a:ext cx="304200" cy="304200"/>
          </a:xfrm>
          <a:prstGeom prst="ellipse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84"/>
          <p:cNvSpPr txBox="1"/>
          <p:nvPr>
            <p:ph idx="1" type="body"/>
          </p:nvPr>
        </p:nvSpPr>
        <p:spPr>
          <a:xfrm>
            <a:off x="324000" y="759300"/>
            <a:ext cx="8496000" cy="7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way that the formula </a:t>
            </a:r>
            <a:r>
              <a:rPr i="1" lang="en-GB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chemeClr val="accent2"/>
                </a:solidFill>
              </a:rPr>
              <a:t> = </a:t>
            </a:r>
            <a:r>
              <a:rPr i="1" lang="en-GB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-GB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chemeClr val="accent2"/>
                </a:solidFill>
              </a:rPr>
              <a:t> + </a:t>
            </a:r>
            <a:r>
              <a:rPr i="1" lang="en-GB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/>
              <a:t> is used may differ depending on which length on the triangle you are finding.</a:t>
            </a:r>
            <a:endParaRPr sz="1800"/>
          </a:p>
        </p:txBody>
      </p:sp>
      <p:sp>
        <p:nvSpPr>
          <p:cNvPr id="1357" name="Google Shape;1357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any side</a:t>
            </a:r>
            <a:endParaRPr/>
          </a:p>
        </p:txBody>
      </p:sp>
      <p:sp>
        <p:nvSpPr>
          <p:cNvPr id="1358" name="Google Shape;1358;p84"/>
          <p:cNvSpPr/>
          <p:nvPr/>
        </p:nvSpPr>
        <p:spPr>
          <a:xfrm>
            <a:off x="1011107" y="2256209"/>
            <a:ext cx="1157700" cy="9453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84"/>
          <p:cNvSpPr/>
          <p:nvPr/>
        </p:nvSpPr>
        <p:spPr>
          <a:xfrm>
            <a:off x="1011107" y="2256209"/>
            <a:ext cx="1157700" cy="945300"/>
          </a:xfrm>
          <a:prstGeom prst="rtTriangle">
            <a:avLst/>
          </a:prstGeom>
          <a:solidFill>
            <a:srgbClr val="EBEDFE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0" name="Google Shape;1360;p84"/>
          <p:cNvSpPr/>
          <p:nvPr/>
        </p:nvSpPr>
        <p:spPr>
          <a:xfrm rot="10800000">
            <a:off x="1010773" y="3027854"/>
            <a:ext cx="173400" cy="1734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61" name="Google Shape;1361;p84"/>
          <p:cNvGrpSpPr/>
          <p:nvPr/>
        </p:nvGrpSpPr>
        <p:grpSpPr>
          <a:xfrm rot="19180">
            <a:off x="1011166" y="3307927"/>
            <a:ext cx="1157840" cy="268133"/>
            <a:chOff x="6353075" y="4549793"/>
            <a:chExt cx="1174500" cy="459841"/>
          </a:xfrm>
        </p:grpSpPr>
        <p:cxnSp>
          <p:nvCxnSpPr>
            <p:cNvPr id="1362" name="Google Shape;1362;p84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63" name="Google Shape;1363;p84"/>
            <p:cNvSpPr txBox="1"/>
            <p:nvPr/>
          </p:nvSpPr>
          <p:spPr>
            <a:xfrm rot="3085">
              <a:off x="6604950" y="4600434"/>
              <a:ext cx="668700" cy="40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4" name="Google Shape;1364;p84"/>
          <p:cNvGrpSpPr/>
          <p:nvPr/>
        </p:nvGrpSpPr>
        <p:grpSpPr>
          <a:xfrm rot="5419745">
            <a:off x="114713" y="2440137"/>
            <a:ext cx="961109" cy="594008"/>
            <a:chOff x="6353075" y="4549793"/>
            <a:chExt cx="1174500" cy="1018708"/>
          </a:xfrm>
        </p:grpSpPr>
        <p:cxnSp>
          <p:nvCxnSpPr>
            <p:cNvPr id="1365" name="Google Shape;1365;p84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66" name="Google Shape;1366;p84"/>
            <p:cNvSpPr txBox="1"/>
            <p:nvPr/>
          </p:nvSpPr>
          <p:spPr>
            <a:xfrm rot="-5387007">
              <a:off x="6463454" y="4970144"/>
              <a:ext cx="952507" cy="24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367" name="Google Shape;1367;p84"/>
          <p:cNvCxnSpPr/>
          <p:nvPr/>
        </p:nvCxnSpPr>
        <p:spPr>
          <a:xfrm rot="-8469743">
            <a:off x="914217" y="2648078"/>
            <a:ext cx="150977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68" name="Google Shape;1368;p84"/>
          <p:cNvSpPr/>
          <p:nvPr/>
        </p:nvSpPr>
        <p:spPr>
          <a:xfrm>
            <a:off x="5405496" y="2256202"/>
            <a:ext cx="1078800" cy="9453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9" name="Google Shape;1369;p84"/>
          <p:cNvSpPr/>
          <p:nvPr/>
        </p:nvSpPr>
        <p:spPr>
          <a:xfrm>
            <a:off x="5405496" y="2256202"/>
            <a:ext cx="1078800" cy="945300"/>
          </a:xfrm>
          <a:prstGeom prst="rtTriangle">
            <a:avLst/>
          </a:prstGeom>
          <a:solidFill>
            <a:srgbClr val="EBEDFE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84"/>
          <p:cNvSpPr/>
          <p:nvPr/>
        </p:nvSpPr>
        <p:spPr>
          <a:xfrm rot="10800000">
            <a:off x="5405378" y="3027856"/>
            <a:ext cx="161400" cy="1734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71" name="Google Shape;1371;p84"/>
          <p:cNvCxnSpPr/>
          <p:nvPr/>
        </p:nvCxnSpPr>
        <p:spPr>
          <a:xfrm rot="21032">
            <a:off x="5405549" y="3308000"/>
            <a:ext cx="107882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72" name="Google Shape;1372;p84"/>
          <p:cNvSpPr txBox="1"/>
          <p:nvPr/>
        </p:nvSpPr>
        <p:spPr>
          <a:xfrm rot="21832">
            <a:off x="5992003" y="2422982"/>
            <a:ext cx="614112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73" name="Google Shape;1373;p84"/>
          <p:cNvCxnSpPr/>
          <p:nvPr/>
        </p:nvCxnSpPr>
        <p:spPr>
          <a:xfrm rot="5418240">
            <a:off x="4814168" y="2737188"/>
            <a:ext cx="961214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74" name="Google Shape;1374;p84"/>
          <p:cNvSpPr txBox="1"/>
          <p:nvPr/>
        </p:nvSpPr>
        <p:spPr>
          <a:xfrm rot="20311">
            <a:off x="4702941" y="2637500"/>
            <a:ext cx="609311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75" name="Google Shape;1375;p84"/>
          <p:cNvCxnSpPr/>
          <p:nvPr/>
        </p:nvCxnSpPr>
        <p:spPr>
          <a:xfrm rot="-8350483">
            <a:off x="5294578" y="2648079"/>
            <a:ext cx="144825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76" name="Google Shape;1376;p84"/>
          <p:cNvCxnSpPr/>
          <p:nvPr/>
        </p:nvCxnSpPr>
        <p:spPr>
          <a:xfrm rot="10800000">
            <a:off x="4582054" y="1630100"/>
            <a:ext cx="0" cy="2814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7" name="Google Shape;1377;p84"/>
          <p:cNvSpPr txBox="1"/>
          <p:nvPr>
            <p:ph idx="1" type="body"/>
          </p:nvPr>
        </p:nvSpPr>
        <p:spPr>
          <a:xfrm>
            <a:off x="324000" y="1597500"/>
            <a:ext cx="31419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Finding the hypotenuse:</a:t>
            </a:r>
            <a:endParaRPr sz="1800"/>
          </a:p>
        </p:txBody>
      </p:sp>
      <p:sp>
        <p:nvSpPr>
          <p:cNvPr id="1378" name="Google Shape;1378;p84"/>
          <p:cNvSpPr txBox="1"/>
          <p:nvPr>
            <p:ph idx="1" type="body"/>
          </p:nvPr>
        </p:nvSpPr>
        <p:spPr>
          <a:xfrm>
            <a:off x="4753654" y="1597500"/>
            <a:ext cx="40002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Finding one of the shorter sides:</a:t>
            </a:r>
            <a:endParaRPr sz="1800"/>
          </a:p>
        </p:txBody>
      </p:sp>
      <p:sp>
        <p:nvSpPr>
          <p:cNvPr id="1379" name="Google Shape;1379;p84"/>
          <p:cNvSpPr txBox="1"/>
          <p:nvPr>
            <p:ph idx="1" type="body"/>
          </p:nvPr>
        </p:nvSpPr>
        <p:spPr>
          <a:xfrm>
            <a:off x="1977752" y="4527425"/>
            <a:ext cx="52122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At which point do the solutions begin to differ?</a:t>
            </a:r>
            <a:endParaRPr sz="1800"/>
          </a:p>
        </p:txBody>
      </p:sp>
      <p:sp>
        <p:nvSpPr>
          <p:cNvPr id="1380" name="Google Shape;1380;p84"/>
          <p:cNvSpPr txBox="1"/>
          <p:nvPr/>
        </p:nvSpPr>
        <p:spPr>
          <a:xfrm flipH="1">
            <a:off x="2647027" y="1998075"/>
            <a:ext cx="2391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+ 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1" name="Google Shape;1381;p84"/>
          <p:cNvSpPr txBox="1"/>
          <p:nvPr/>
        </p:nvSpPr>
        <p:spPr>
          <a:xfrm flipH="1">
            <a:off x="2701661" y="2403990"/>
            <a:ext cx="2391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</a:t>
            </a:r>
            <a:r>
              <a:rPr baseline="30000"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+  8</a:t>
            </a:r>
            <a:r>
              <a:rPr baseline="30000"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2" name="Google Shape;1382;p84"/>
          <p:cNvSpPr txBox="1"/>
          <p:nvPr/>
        </p:nvSpPr>
        <p:spPr>
          <a:xfrm flipH="1">
            <a:off x="2606702" y="2809905"/>
            <a:ext cx="2391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25</a:t>
            </a: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 64  = 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3" name="Google Shape;1383;p84"/>
          <p:cNvSpPr txBox="1"/>
          <p:nvPr/>
        </p:nvSpPr>
        <p:spPr>
          <a:xfrm flipH="1">
            <a:off x="3285240" y="3215820"/>
            <a:ext cx="15462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89  = 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4" name="Google Shape;1384;p84"/>
          <p:cNvSpPr txBox="1"/>
          <p:nvPr/>
        </p:nvSpPr>
        <p:spPr>
          <a:xfrm flipH="1">
            <a:off x="3293720" y="3621735"/>
            <a:ext cx="15462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9.4 = 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5" name="Google Shape;1385;p84"/>
          <p:cNvSpPr txBox="1"/>
          <p:nvPr/>
        </p:nvSpPr>
        <p:spPr>
          <a:xfrm flipH="1">
            <a:off x="6918008" y="1998075"/>
            <a:ext cx="2391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+ 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6" name="Google Shape;1386;p84"/>
          <p:cNvSpPr txBox="1"/>
          <p:nvPr/>
        </p:nvSpPr>
        <p:spPr>
          <a:xfrm flipH="1">
            <a:off x="6949333" y="2403990"/>
            <a:ext cx="2391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</a:t>
            </a:r>
            <a:r>
              <a:rPr baseline="30000"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+ 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 8</a:t>
            </a:r>
            <a:r>
              <a:rPr baseline="30000"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7" name="Google Shape;1387;p84"/>
          <p:cNvSpPr txBox="1"/>
          <p:nvPr/>
        </p:nvSpPr>
        <p:spPr>
          <a:xfrm flipH="1">
            <a:off x="6892907" y="2809905"/>
            <a:ext cx="2391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25  + 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 64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8" name="Google Shape;1388;p84"/>
          <p:cNvSpPr txBox="1"/>
          <p:nvPr/>
        </p:nvSpPr>
        <p:spPr>
          <a:xfrm flipH="1">
            <a:off x="7581183" y="3215820"/>
            <a:ext cx="15462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 39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9" name="Google Shape;1389;p84"/>
          <p:cNvSpPr txBox="1"/>
          <p:nvPr/>
        </p:nvSpPr>
        <p:spPr>
          <a:xfrm flipH="1">
            <a:off x="7649484" y="3621735"/>
            <a:ext cx="15462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 6.2</a:t>
            </a:r>
            <a:r>
              <a:rPr lang="en-GB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²</a:t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0" name="Google Shape;1390;p84"/>
          <p:cNvSpPr txBox="1"/>
          <p:nvPr/>
        </p:nvSpPr>
        <p:spPr>
          <a:xfrm flipH="1">
            <a:off x="2941642" y="4027650"/>
            <a:ext cx="957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d.p.)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1" name="Google Shape;1391;p84"/>
          <p:cNvSpPr txBox="1"/>
          <p:nvPr/>
        </p:nvSpPr>
        <p:spPr>
          <a:xfrm flipH="1">
            <a:off x="8074132" y="4027650"/>
            <a:ext cx="957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d.p.)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2" name="Google Shape;1392;p84"/>
          <p:cNvSpPr/>
          <p:nvPr/>
        </p:nvSpPr>
        <p:spPr>
          <a:xfrm>
            <a:off x="2662700" y="2406675"/>
            <a:ext cx="1546200" cy="3570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3" name="Google Shape;1393;p84"/>
          <p:cNvSpPr/>
          <p:nvPr/>
        </p:nvSpPr>
        <p:spPr>
          <a:xfrm>
            <a:off x="6899576" y="2377600"/>
            <a:ext cx="1600500" cy="3570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85"/>
          <p:cNvSpPr txBox="1"/>
          <p:nvPr>
            <p:ph type="title"/>
          </p:nvPr>
        </p:nvSpPr>
        <p:spPr>
          <a:xfrm>
            <a:off x="324000" y="810000"/>
            <a:ext cx="8496000" cy="6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calculation(s) may be used as part of the solution for finding the missing length in this triangle?</a:t>
            </a:r>
            <a:endParaRPr sz="2000"/>
          </a:p>
        </p:txBody>
      </p:sp>
      <p:sp>
        <p:nvSpPr>
          <p:cNvPr id="1399" name="Google Shape;1399;p8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any side</a:t>
            </a:r>
            <a:endParaRPr/>
          </a:p>
        </p:txBody>
      </p:sp>
      <p:sp>
        <p:nvSpPr>
          <p:cNvPr id="1400" name="Google Shape;1400;p85"/>
          <p:cNvSpPr txBox="1"/>
          <p:nvPr>
            <p:ph idx="1" type="subTitle"/>
          </p:nvPr>
        </p:nvSpPr>
        <p:spPr>
          <a:xfrm>
            <a:off x="1034425" y="1685375"/>
            <a:ext cx="3285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15</a:t>
            </a:r>
            <a:r>
              <a:rPr baseline="30000" lang="en-GB"/>
              <a:t>2</a:t>
            </a:r>
            <a:r>
              <a:rPr lang="en-GB"/>
              <a:t> + 7</a:t>
            </a:r>
            <a:r>
              <a:rPr baseline="30000" lang="en-GB"/>
              <a:t>2</a:t>
            </a:r>
            <a:endParaRPr/>
          </a:p>
        </p:txBody>
      </p:sp>
      <p:sp>
        <p:nvSpPr>
          <p:cNvPr id="1401" name="Google Shape;1401;p85"/>
          <p:cNvSpPr txBox="1"/>
          <p:nvPr>
            <p:ph idx="3" type="subTitle"/>
          </p:nvPr>
        </p:nvSpPr>
        <p:spPr>
          <a:xfrm>
            <a:off x="1034425" y="2489443"/>
            <a:ext cx="3285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r>
              <a:rPr baseline="30000" lang="en-GB"/>
              <a:t>2</a:t>
            </a:r>
            <a:r>
              <a:rPr lang="en-GB"/>
              <a:t> + 15</a:t>
            </a:r>
            <a:r>
              <a:rPr baseline="30000" lang="en-GB"/>
              <a:t>2</a:t>
            </a:r>
            <a:endParaRPr/>
          </a:p>
        </p:txBody>
      </p:sp>
      <p:sp>
        <p:nvSpPr>
          <p:cNvPr id="1402" name="Google Shape;1402;p85"/>
          <p:cNvSpPr txBox="1"/>
          <p:nvPr>
            <p:ph idx="4" type="subTitle"/>
          </p:nvPr>
        </p:nvSpPr>
        <p:spPr>
          <a:xfrm>
            <a:off x="1034425" y="3309758"/>
            <a:ext cx="3267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15</a:t>
            </a:r>
            <a:r>
              <a:rPr baseline="30000" lang="en-GB"/>
              <a:t>2</a:t>
            </a:r>
            <a:r>
              <a:rPr lang="en-GB"/>
              <a:t> − 7</a:t>
            </a:r>
            <a:r>
              <a:rPr baseline="30000" lang="en-GB"/>
              <a:t>2</a:t>
            </a:r>
            <a:endParaRPr/>
          </a:p>
        </p:txBody>
      </p:sp>
      <p:sp>
        <p:nvSpPr>
          <p:cNvPr id="1403" name="Google Shape;1403;p85"/>
          <p:cNvSpPr txBox="1"/>
          <p:nvPr>
            <p:ph idx="5" type="subTitle"/>
          </p:nvPr>
        </p:nvSpPr>
        <p:spPr>
          <a:xfrm>
            <a:off x="1034425" y="4113827"/>
            <a:ext cx="3285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r>
              <a:rPr baseline="30000" lang="en-GB"/>
              <a:t>2</a:t>
            </a:r>
            <a:r>
              <a:rPr lang="en-GB"/>
              <a:t> − 15</a:t>
            </a:r>
            <a:r>
              <a:rPr baseline="30000" lang="en-GB"/>
              <a:t>2</a:t>
            </a:r>
            <a:endParaRPr/>
          </a:p>
        </p:txBody>
      </p:sp>
      <p:sp>
        <p:nvSpPr>
          <p:cNvPr id="1404" name="Google Shape;1404;p85"/>
          <p:cNvSpPr txBox="1"/>
          <p:nvPr/>
        </p:nvSpPr>
        <p:spPr>
          <a:xfrm rot="843">
            <a:off x="5004437" y="3296019"/>
            <a:ext cx="1223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5" name="Google Shape;1405;p85"/>
          <p:cNvSpPr txBox="1"/>
          <p:nvPr/>
        </p:nvSpPr>
        <p:spPr>
          <a:xfrm rot="-140957">
            <a:off x="4641205" y="2047744"/>
            <a:ext cx="702591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06" name="Google Shape;1406;p85"/>
          <p:cNvGrpSpPr/>
          <p:nvPr/>
        </p:nvGrpSpPr>
        <p:grpSpPr>
          <a:xfrm flipH="1" rot="-7578387">
            <a:off x="4774582" y="2515046"/>
            <a:ext cx="2554944" cy="1567690"/>
            <a:chOff x="6434075" y="1114801"/>
            <a:chExt cx="1965942" cy="1206284"/>
          </a:xfrm>
        </p:grpSpPr>
        <p:sp>
          <p:nvSpPr>
            <p:cNvPr id="1407" name="Google Shape;1407;p85"/>
            <p:cNvSpPr/>
            <p:nvPr/>
          </p:nvSpPr>
          <p:spPr>
            <a:xfrm>
              <a:off x="6536865" y="1206054"/>
              <a:ext cx="1788900" cy="9693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8" name="Google Shape;1408;p85"/>
            <p:cNvSpPr/>
            <p:nvPr/>
          </p:nvSpPr>
          <p:spPr>
            <a:xfrm>
              <a:off x="6536850" y="2023925"/>
              <a:ext cx="156000" cy="151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09" name="Google Shape;1409;p85"/>
            <p:cNvCxnSpPr/>
            <p:nvPr/>
          </p:nvCxnSpPr>
          <p:spPr>
            <a:xfrm rot="10799427">
              <a:off x="6538887" y="2320934"/>
              <a:ext cx="1800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410" name="Google Shape;1410;p85"/>
            <p:cNvCxnSpPr/>
            <p:nvPr/>
          </p:nvCxnSpPr>
          <p:spPr>
            <a:xfrm rot="10800000">
              <a:off x="6434075" y="1174050"/>
              <a:ext cx="0" cy="1079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411" name="Google Shape;1411;p85"/>
            <p:cNvCxnSpPr/>
            <p:nvPr/>
          </p:nvCxnSpPr>
          <p:spPr>
            <a:xfrm rot="1718604">
              <a:off x="6444671" y="1614001"/>
              <a:ext cx="208279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id="1412" name="Google Shape;1412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5358" y="328663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86"/>
          <p:cNvSpPr txBox="1"/>
          <p:nvPr>
            <p:ph type="title"/>
          </p:nvPr>
        </p:nvSpPr>
        <p:spPr>
          <a:xfrm>
            <a:off x="324000" y="810000"/>
            <a:ext cx="8496000" cy="6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Which calculation(s) may be used as part of the solution for finding the missing length in this triangle?</a:t>
            </a:r>
            <a:endParaRPr sz="2000"/>
          </a:p>
        </p:txBody>
      </p:sp>
      <p:sp>
        <p:nvSpPr>
          <p:cNvPr id="1418" name="Google Shape;1418;p8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any side</a:t>
            </a:r>
            <a:endParaRPr/>
          </a:p>
        </p:txBody>
      </p:sp>
      <p:sp>
        <p:nvSpPr>
          <p:cNvPr id="1419" name="Google Shape;1419;p86"/>
          <p:cNvSpPr txBox="1"/>
          <p:nvPr>
            <p:ph idx="1" type="subTitle"/>
          </p:nvPr>
        </p:nvSpPr>
        <p:spPr>
          <a:xfrm>
            <a:off x="1034425" y="1685375"/>
            <a:ext cx="3285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15</a:t>
            </a:r>
            <a:r>
              <a:rPr baseline="30000" lang="en-GB"/>
              <a:t>2</a:t>
            </a:r>
            <a:r>
              <a:rPr lang="en-GB"/>
              <a:t> + 7</a:t>
            </a:r>
            <a:r>
              <a:rPr baseline="30000" lang="en-GB"/>
              <a:t>2</a:t>
            </a:r>
            <a:endParaRPr/>
          </a:p>
        </p:txBody>
      </p:sp>
      <p:sp>
        <p:nvSpPr>
          <p:cNvPr id="1420" name="Google Shape;1420;p86"/>
          <p:cNvSpPr txBox="1"/>
          <p:nvPr>
            <p:ph idx="3" type="subTitle"/>
          </p:nvPr>
        </p:nvSpPr>
        <p:spPr>
          <a:xfrm>
            <a:off x="1034425" y="2489443"/>
            <a:ext cx="3285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r>
              <a:rPr baseline="30000" lang="en-GB"/>
              <a:t>2</a:t>
            </a:r>
            <a:r>
              <a:rPr lang="en-GB"/>
              <a:t> + 15</a:t>
            </a:r>
            <a:r>
              <a:rPr baseline="30000" lang="en-GB"/>
              <a:t>2</a:t>
            </a:r>
            <a:endParaRPr/>
          </a:p>
        </p:txBody>
      </p:sp>
      <p:sp>
        <p:nvSpPr>
          <p:cNvPr id="1421" name="Google Shape;1421;p86"/>
          <p:cNvSpPr txBox="1"/>
          <p:nvPr>
            <p:ph idx="4" type="subTitle"/>
          </p:nvPr>
        </p:nvSpPr>
        <p:spPr>
          <a:xfrm>
            <a:off x="1034425" y="3309758"/>
            <a:ext cx="3267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15</a:t>
            </a:r>
            <a:r>
              <a:rPr baseline="30000" lang="en-GB"/>
              <a:t>2</a:t>
            </a:r>
            <a:r>
              <a:rPr lang="en-GB"/>
              <a:t> − 7</a:t>
            </a:r>
            <a:r>
              <a:rPr baseline="30000" lang="en-GB"/>
              <a:t>2</a:t>
            </a:r>
            <a:endParaRPr/>
          </a:p>
        </p:txBody>
      </p:sp>
      <p:sp>
        <p:nvSpPr>
          <p:cNvPr id="1422" name="Google Shape;1422;p86"/>
          <p:cNvSpPr txBox="1"/>
          <p:nvPr>
            <p:ph idx="5" type="subTitle"/>
          </p:nvPr>
        </p:nvSpPr>
        <p:spPr>
          <a:xfrm>
            <a:off x="1034425" y="4113827"/>
            <a:ext cx="3285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r>
              <a:rPr baseline="30000" lang="en-GB"/>
              <a:t>2</a:t>
            </a:r>
            <a:r>
              <a:rPr lang="en-GB"/>
              <a:t> − 15</a:t>
            </a:r>
            <a:r>
              <a:rPr baseline="30000" lang="en-GB"/>
              <a:t>2</a:t>
            </a:r>
            <a:endParaRPr/>
          </a:p>
        </p:txBody>
      </p:sp>
      <p:sp>
        <p:nvSpPr>
          <p:cNvPr id="1423" name="Google Shape;1423;p86"/>
          <p:cNvSpPr txBox="1"/>
          <p:nvPr/>
        </p:nvSpPr>
        <p:spPr>
          <a:xfrm rot="843">
            <a:off x="6376037" y="2381619"/>
            <a:ext cx="1223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86"/>
          <p:cNvSpPr txBox="1"/>
          <p:nvPr/>
        </p:nvSpPr>
        <p:spPr>
          <a:xfrm rot="-140957">
            <a:off x="4641205" y="2047744"/>
            <a:ext cx="702591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25" name="Google Shape;1425;p86"/>
          <p:cNvGrpSpPr/>
          <p:nvPr/>
        </p:nvGrpSpPr>
        <p:grpSpPr>
          <a:xfrm flipH="1" rot="-7578387">
            <a:off x="4774582" y="2515046"/>
            <a:ext cx="2554944" cy="1567690"/>
            <a:chOff x="6434075" y="1114801"/>
            <a:chExt cx="1965942" cy="1206284"/>
          </a:xfrm>
        </p:grpSpPr>
        <p:sp>
          <p:nvSpPr>
            <p:cNvPr id="1426" name="Google Shape;1426;p86"/>
            <p:cNvSpPr/>
            <p:nvPr/>
          </p:nvSpPr>
          <p:spPr>
            <a:xfrm>
              <a:off x="6536865" y="1206054"/>
              <a:ext cx="1788900" cy="9693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7" name="Google Shape;1427;p86"/>
            <p:cNvSpPr/>
            <p:nvPr/>
          </p:nvSpPr>
          <p:spPr>
            <a:xfrm>
              <a:off x="6536850" y="2023925"/>
              <a:ext cx="156000" cy="151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28" name="Google Shape;1428;p86"/>
            <p:cNvCxnSpPr/>
            <p:nvPr/>
          </p:nvCxnSpPr>
          <p:spPr>
            <a:xfrm rot="10799427">
              <a:off x="6538887" y="2320934"/>
              <a:ext cx="1800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429" name="Google Shape;1429;p86"/>
            <p:cNvCxnSpPr/>
            <p:nvPr/>
          </p:nvCxnSpPr>
          <p:spPr>
            <a:xfrm rot="10800000">
              <a:off x="6434075" y="1174050"/>
              <a:ext cx="0" cy="1079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430" name="Google Shape;1430;p86"/>
            <p:cNvCxnSpPr/>
            <p:nvPr/>
          </p:nvCxnSpPr>
          <p:spPr>
            <a:xfrm rot="1718604">
              <a:off x="6444671" y="1614001"/>
              <a:ext cx="208279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id="1431" name="Google Shape;1431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1983" y="245031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2" name="Google Shape;1432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1983" y="1685363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87"/>
          <p:cNvSpPr txBox="1"/>
          <p:nvPr/>
        </p:nvSpPr>
        <p:spPr>
          <a:xfrm>
            <a:off x="2852479" y="1678052"/>
            <a:ext cx="612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87"/>
          <p:cNvSpPr txBox="1"/>
          <p:nvPr>
            <p:ph idx="1" type="body"/>
          </p:nvPr>
        </p:nvSpPr>
        <p:spPr>
          <a:xfrm>
            <a:off x="324000" y="759300"/>
            <a:ext cx="8237700" cy="4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Find the missing lengths. Give any decimal lengths to 1 decimal place.</a:t>
            </a:r>
            <a:endParaRPr sz="1600"/>
          </a:p>
        </p:txBody>
      </p:sp>
      <p:sp>
        <p:nvSpPr>
          <p:cNvPr id="1439" name="Google Shape;1439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any side</a:t>
            </a:r>
            <a:endParaRPr/>
          </a:p>
        </p:txBody>
      </p:sp>
      <p:sp>
        <p:nvSpPr>
          <p:cNvPr id="1440" name="Google Shape;1440;p87"/>
          <p:cNvSpPr/>
          <p:nvPr/>
        </p:nvSpPr>
        <p:spPr>
          <a:xfrm rot="10800000">
            <a:off x="7151132" y="3419454"/>
            <a:ext cx="953100" cy="9786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1" name="Google Shape;1441;p87"/>
          <p:cNvSpPr/>
          <p:nvPr/>
        </p:nvSpPr>
        <p:spPr>
          <a:xfrm rot="10800000">
            <a:off x="7985739" y="3419638"/>
            <a:ext cx="118500" cy="118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87"/>
          <p:cNvSpPr/>
          <p:nvPr/>
        </p:nvSpPr>
        <p:spPr>
          <a:xfrm rot="10800000">
            <a:off x="6916893" y="3184662"/>
            <a:ext cx="470100" cy="469800"/>
          </a:xfrm>
          <a:prstGeom prst="arc">
            <a:avLst>
              <a:gd fmla="val 10969089" name="adj1"/>
              <a:gd fmla="val 13418498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87"/>
          <p:cNvSpPr/>
          <p:nvPr/>
        </p:nvSpPr>
        <p:spPr>
          <a:xfrm flipH="1">
            <a:off x="372252" y="1674418"/>
            <a:ext cx="1290900" cy="7482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4" name="Google Shape;1444;p87"/>
          <p:cNvSpPr/>
          <p:nvPr/>
        </p:nvSpPr>
        <p:spPr>
          <a:xfrm flipH="1">
            <a:off x="1553944" y="2311477"/>
            <a:ext cx="109200" cy="113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5" name="Google Shape;1445;p87"/>
          <p:cNvSpPr txBox="1"/>
          <p:nvPr/>
        </p:nvSpPr>
        <p:spPr>
          <a:xfrm>
            <a:off x="311150" y="1227317"/>
            <a:ext cx="2319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6" name="Google Shape;1446;p87"/>
          <p:cNvSpPr txBox="1"/>
          <p:nvPr/>
        </p:nvSpPr>
        <p:spPr>
          <a:xfrm>
            <a:off x="2447160" y="1227317"/>
            <a:ext cx="2319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47" name="Google Shape;1447;p87"/>
          <p:cNvCxnSpPr/>
          <p:nvPr/>
        </p:nvCxnSpPr>
        <p:spPr>
          <a:xfrm flipH="1" rot="10800000">
            <a:off x="341866" y="1604634"/>
            <a:ext cx="1265700" cy="739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48" name="Google Shape;1448;p87"/>
          <p:cNvCxnSpPr/>
          <p:nvPr/>
        </p:nvCxnSpPr>
        <p:spPr>
          <a:xfrm rot="10800000">
            <a:off x="1741178" y="1677311"/>
            <a:ext cx="0" cy="747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49" name="Google Shape;1449;p87"/>
          <p:cNvCxnSpPr/>
          <p:nvPr/>
        </p:nvCxnSpPr>
        <p:spPr>
          <a:xfrm rot="10800000">
            <a:off x="372000" y="2508183"/>
            <a:ext cx="1293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50" name="Google Shape;1450;p87"/>
          <p:cNvCxnSpPr/>
          <p:nvPr/>
        </p:nvCxnSpPr>
        <p:spPr>
          <a:xfrm rot="10800000">
            <a:off x="7138205" y="3344923"/>
            <a:ext cx="972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51" name="Google Shape;1451;p87"/>
          <p:cNvCxnSpPr/>
          <p:nvPr/>
        </p:nvCxnSpPr>
        <p:spPr>
          <a:xfrm rot="10800000">
            <a:off x="8193323" y="3424009"/>
            <a:ext cx="0" cy="98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52" name="Google Shape;1452;p87"/>
          <p:cNvCxnSpPr/>
          <p:nvPr/>
        </p:nvCxnSpPr>
        <p:spPr>
          <a:xfrm rot="10800000">
            <a:off x="7069552" y="3484584"/>
            <a:ext cx="960000" cy="986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53" name="Google Shape;1453;p87"/>
          <p:cNvSpPr txBox="1"/>
          <p:nvPr/>
        </p:nvSpPr>
        <p:spPr>
          <a:xfrm>
            <a:off x="7374911" y="3441855"/>
            <a:ext cx="5790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4" name="Google Shape;1454;p87"/>
          <p:cNvSpPr txBox="1"/>
          <p:nvPr/>
        </p:nvSpPr>
        <p:spPr>
          <a:xfrm>
            <a:off x="7144164" y="3958471"/>
            <a:ext cx="4206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87"/>
          <p:cNvSpPr/>
          <p:nvPr/>
        </p:nvSpPr>
        <p:spPr>
          <a:xfrm rot="-3061355">
            <a:off x="5040871" y="3494722"/>
            <a:ext cx="1639709" cy="430249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6" name="Google Shape;1456;p87"/>
          <p:cNvSpPr/>
          <p:nvPr/>
        </p:nvSpPr>
        <p:spPr>
          <a:xfrm rot="-3130545">
            <a:off x="5442643" y="4337962"/>
            <a:ext cx="118876" cy="11887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57" name="Google Shape;1457;p87"/>
          <p:cNvCxnSpPr/>
          <p:nvPr/>
        </p:nvCxnSpPr>
        <p:spPr>
          <a:xfrm flipH="1" rot="9826152">
            <a:off x="4997756" y="3343291"/>
            <a:ext cx="1613196" cy="572472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58" name="Google Shape;1458;p87"/>
          <p:cNvCxnSpPr/>
          <p:nvPr/>
        </p:nvCxnSpPr>
        <p:spPr>
          <a:xfrm flipH="1" rot="9826124">
            <a:off x="5444248" y="3423293"/>
            <a:ext cx="1354488" cy="948912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59" name="Google Shape;1459;p87"/>
          <p:cNvCxnSpPr/>
          <p:nvPr/>
        </p:nvCxnSpPr>
        <p:spPr>
          <a:xfrm rot="-974604">
            <a:off x="5160372" y="4250818"/>
            <a:ext cx="245604" cy="36712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60" name="Google Shape;1460;p87"/>
          <p:cNvSpPr/>
          <p:nvPr/>
        </p:nvSpPr>
        <p:spPr>
          <a:xfrm rot="9518169">
            <a:off x="2622179" y="3765085"/>
            <a:ext cx="1437045" cy="553037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87"/>
          <p:cNvSpPr/>
          <p:nvPr/>
        </p:nvSpPr>
        <p:spPr>
          <a:xfrm rot="9521890">
            <a:off x="3814099" y="3540559"/>
            <a:ext cx="121394" cy="121394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62" name="Google Shape;1462;p87"/>
          <p:cNvCxnSpPr/>
          <p:nvPr/>
        </p:nvCxnSpPr>
        <p:spPr>
          <a:xfrm flipH="1" rot="10800000">
            <a:off x="2545772" y="3423022"/>
            <a:ext cx="1341000" cy="55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63" name="Google Shape;1463;p87"/>
          <p:cNvCxnSpPr/>
          <p:nvPr/>
        </p:nvCxnSpPr>
        <p:spPr>
          <a:xfrm>
            <a:off x="2557280" y="4138701"/>
            <a:ext cx="1568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64" name="Google Shape;1464;p87"/>
          <p:cNvSpPr txBox="1"/>
          <p:nvPr/>
        </p:nvSpPr>
        <p:spPr>
          <a:xfrm flipH="1">
            <a:off x="3149529" y="4130662"/>
            <a:ext cx="7473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41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87"/>
          <p:cNvSpPr txBox="1"/>
          <p:nvPr/>
        </p:nvSpPr>
        <p:spPr>
          <a:xfrm>
            <a:off x="4759298" y="1227401"/>
            <a:ext cx="23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87"/>
          <p:cNvSpPr txBox="1"/>
          <p:nvPr/>
        </p:nvSpPr>
        <p:spPr>
          <a:xfrm>
            <a:off x="6797957" y="1227401"/>
            <a:ext cx="23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87"/>
          <p:cNvSpPr/>
          <p:nvPr/>
        </p:nvSpPr>
        <p:spPr>
          <a:xfrm rot="7213553">
            <a:off x="699342" y="3768505"/>
            <a:ext cx="1214516" cy="671081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87"/>
          <p:cNvSpPr/>
          <p:nvPr/>
        </p:nvSpPr>
        <p:spPr>
          <a:xfrm rot="7209604">
            <a:off x="1284765" y="3439187"/>
            <a:ext cx="102703" cy="10574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87"/>
          <p:cNvSpPr/>
          <p:nvPr/>
        </p:nvSpPr>
        <p:spPr>
          <a:xfrm flipH="1" rot="1471600">
            <a:off x="7069891" y="1477158"/>
            <a:ext cx="1289999" cy="574053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87"/>
          <p:cNvSpPr/>
          <p:nvPr/>
        </p:nvSpPr>
        <p:spPr>
          <a:xfrm flipH="1" rot="1471329">
            <a:off x="8101088" y="2165772"/>
            <a:ext cx="109145" cy="10914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71" name="Google Shape;1471;p87"/>
          <p:cNvCxnSpPr/>
          <p:nvPr/>
        </p:nvCxnSpPr>
        <p:spPr>
          <a:xfrm flipH="1" rot="-199511">
            <a:off x="8266940" y="1812902"/>
            <a:ext cx="268953" cy="521381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72" name="Google Shape;1472;p87"/>
          <p:cNvCxnSpPr/>
          <p:nvPr/>
        </p:nvCxnSpPr>
        <p:spPr>
          <a:xfrm rot="-200220">
            <a:off x="6971239" y="1799267"/>
            <a:ext cx="1164775" cy="60160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73" name="Google Shape;1473;p87"/>
          <p:cNvCxnSpPr/>
          <p:nvPr/>
        </p:nvCxnSpPr>
        <p:spPr>
          <a:xfrm rot="10800000">
            <a:off x="1362145" y="3354575"/>
            <a:ext cx="594000" cy="31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74" name="Google Shape;1474;p87"/>
          <p:cNvCxnSpPr/>
          <p:nvPr/>
        </p:nvCxnSpPr>
        <p:spPr>
          <a:xfrm flipH="1" rot="10800000">
            <a:off x="631423" y="3352043"/>
            <a:ext cx="616500" cy="10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75" name="Google Shape;1475;p87"/>
          <p:cNvSpPr txBox="1"/>
          <p:nvPr/>
        </p:nvSpPr>
        <p:spPr>
          <a:xfrm rot="-2234">
            <a:off x="7254325" y="2109842"/>
            <a:ext cx="4617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87"/>
          <p:cNvSpPr txBox="1"/>
          <p:nvPr/>
        </p:nvSpPr>
        <p:spPr>
          <a:xfrm flipH="1">
            <a:off x="1549400" y="3259115"/>
            <a:ext cx="7104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87"/>
          <p:cNvSpPr txBox="1"/>
          <p:nvPr/>
        </p:nvSpPr>
        <p:spPr>
          <a:xfrm>
            <a:off x="8443624" y="1969892"/>
            <a:ext cx="5046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87"/>
          <p:cNvSpPr txBox="1"/>
          <p:nvPr/>
        </p:nvSpPr>
        <p:spPr>
          <a:xfrm>
            <a:off x="311150" y="3039088"/>
            <a:ext cx="2319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87"/>
          <p:cNvSpPr txBox="1"/>
          <p:nvPr/>
        </p:nvSpPr>
        <p:spPr>
          <a:xfrm>
            <a:off x="2447160" y="3039088"/>
            <a:ext cx="2319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87"/>
          <p:cNvSpPr txBox="1"/>
          <p:nvPr/>
        </p:nvSpPr>
        <p:spPr>
          <a:xfrm>
            <a:off x="4759298" y="3039171"/>
            <a:ext cx="23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87"/>
          <p:cNvSpPr txBox="1"/>
          <p:nvPr/>
        </p:nvSpPr>
        <p:spPr>
          <a:xfrm>
            <a:off x="6797957" y="3039171"/>
            <a:ext cx="23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82" name="Google Shape;1482;p87"/>
          <p:cNvCxnSpPr/>
          <p:nvPr/>
        </p:nvCxnSpPr>
        <p:spPr>
          <a:xfrm rot="10800000">
            <a:off x="7008991" y="1682972"/>
            <a:ext cx="1411800" cy="13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83" name="Google Shape;1483;p87"/>
          <p:cNvCxnSpPr/>
          <p:nvPr/>
        </p:nvCxnSpPr>
        <p:spPr>
          <a:xfrm rot="10800000">
            <a:off x="4001379" y="3502391"/>
            <a:ext cx="190800" cy="516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84" name="Google Shape;1484;p87"/>
          <p:cNvSpPr txBox="1"/>
          <p:nvPr/>
        </p:nvSpPr>
        <p:spPr>
          <a:xfrm>
            <a:off x="765004" y="2500445"/>
            <a:ext cx="612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85" name="Google Shape;1485;p87"/>
          <p:cNvGrpSpPr/>
          <p:nvPr/>
        </p:nvGrpSpPr>
        <p:grpSpPr>
          <a:xfrm flipH="1" rot="-5400000">
            <a:off x="4911037" y="1656468"/>
            <a:ext cx="1125104" cy="905060"/>
            <a:chOff x="628823" y="1567796"/>
            <a:chExt cx="1686813" cy="974545"/>
          </a:xfrm>
        </p:grpSpPr>
        <p:sp>
          <p:nvSpPr>
            <p:cNvPr id="1486" name="Google Shape;1486;p87"/>
            <p:cNvSpPr/>
            <p:nvPr/>
          </p:nvSpPr>
          <p:spPr>
            <a:xfrm>
              <a:off x="745350" y="1645697"/>
              <a:ext cx="1511100" cy="8127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7" name="Google Shape;1487;p87"/>
            <p:cNvSpPr/>
            <p:nvPr/>
          </p:nvSpPr>
          <p:spPr>
            <a:xfrm>
              <a:off x="745350" y="2330455"/>
              <a:ext cx="165000" cy="1278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88" name="Google Shape;1488;p87"/>
            <p:cNvCxnSpPr/>
            <p:nvPr/>
          </p:nvCxnSpPr>
          <p:spPr>
            <a:xfrm rot="10800000">
              <a:off x="628823" y="1647197"/>
              <a:ext cx="0" cy="811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489" name="Google Shape;1489;p87"/>
            <p:cNvCxnSpPr/>
            <p:nvPr/>
          </p:nvCxnSpPr>
          <p:spPr>
            <a:xfrm>
              <a:off x="739622" y="2542341"/>
              <a:ext cx="1521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490" name="Google Shape;1490;p87"/>
            <p:cNvCxnSpPr/>
            <p:nvPr/>
          </p:nvCxnSpPr>
          <p:spPr>
            <a:xfrm>
              <a:off x="805436" y="1567796"/>
              <a:ext cx="1510200" cy="813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491" name="Google Shape;1491;p87"/>
          <p:cNvSpPr txBox="1"/>
          <p:nvPr/>
        </p:nvSpPr>
        <p:spPr>
          <a:xfrm>
            <a:off x="1779586" y="1938374"/>
            <a:ext cx="5328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2" name="Google Shape;1492;p87"/>
          <p:cNvSpPr/>
          <p:nvPr/>
        </p:nvSpPr>
        <p:spPr>
          <a:xfrm flipH="1">
            <a:off x="2688432" y="1674418"/>
            <a:ext cx="1290900" cy="7482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3" name="Google Shape;1493;p87"/>
          <p:cNvSpPr/>
          <p:nvPr/>
        </p:nvSpPr>
        <p:spPr>
          <a:xfrm flipH="1">
            <a:off x="3870124" y="2311477"/>
            <a:ext cx="109200" cy="113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4" name="Google Shape;1494;p87"/>
          <p:cNvCxnSpPr/>
          <p:nvPr/>
        </p:nvCxnSpPr>
        <p:spPr>
          <a:xfrm flipH="1" rot="10800000">
            <a:off x="2658046" y="1604634"/>
            <a:ext cx="1265700" cy="739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95" name="Google Shape;1495;p87"/>
          <p:cNvCxnSpPr/>
          <p:nvPr/>
        </p:nvCxnSpPr>
        <p:spPr>
          <a:xfrm rot="10800000">
            <a:off x="4057358" y="1677311"/>
            <a:ext cx="0" cy="747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96" name="Google Shape;1496;p87"/>
          <p:cNvCxnSpPr/>
          <p:nvPr/>
        </p:nvCxnSpPr>
        <p:spPr>
          <a:xfrm rot="10800000">
            <a:off x="2688180" y="2508183"/>
            <a:ext cx="1293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97" name="Google Shape;1497;p87"/>
          <p:cNvSpPr txBox="1"/>
          <p:nvPr/>
        </p:nvSpPr>
        <p:spPr>
          <a:xfrm>
            <a:off x="4095766" y="1938374"/>
            <a:ext cx="5328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8" name="Google Shape;1498;p87"/>
          <p:cNvSpPr txBox="1"/>
          <p:nvPr/>
        </p:nvSpPr>
        <p:spPr>
          <a:xfrm>
            <a:off x="5233296" y="1287410"/>
            <a:ext cx="612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9" name="Google Shape;1499;p87"/>
          <p:cNvSpPr txBox="1"/>
          <p:nvPr/>
        </p:nvSpPr>
        <p:spPr>
          <a:xfrm>
            <a:off x="4934244" y="2109804"/>
            <a:ext cx="612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0" name="Google Shape;1500;p87"/>
          <p:cNvCxnSpPr/>
          <p:nvPr/>
        </p:nvCxnSpPr>
        <p:spPr>
          <a:xfrm flipH="1" rot="10800000">
            <a:off x="761809" y="3809881"/>
            <a:ext cx="1222500" cy="753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01" name="Google Shape;1501;p87"/>
          <p:cNvSpPr txBox="1"/>
          <p:nvPr/>
        </p:nvSpPr>
        <p:spPr>
          <a:xfrm flipH="1">
            <a:off x="1325111" y="4231035"/>
            <a:ext cx="7104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37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87"/>
          <p:cNvSpPr txBox="1"/>
          <p:nvPr/>
        </p:nvSpPr>
        <p:spPr>
          <a:xfrm flipH="1">
            <a:off x="4108646" y="3570963"/>
            <a:ext cx="7473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3" name="Google Shape;1503;p87"/>
          <p:cNvSpPr txBox="1"/>
          <p:nvPr/>
        </p:nvSpPr>
        <p:spPr>
          <a:xfrm flipH="1">
            <a:off x="4754347" y="4386956"/>
            <a:ext cx="7473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0.5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4" name="Google Shape;1504;p87"/>
          <p:cNvSpPr txBox="1"/>
          <p:nvPr/>
        </p:nvSpPr>
        <p:spPr>
          <a:xfrm flipH="1">
            <a:off x="6100081" y="3938378"/>
            <a:ext cx="7473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88"/>
          <p:cNvSpPr txBox="1"/>
          <p:nvPr/>
        </p:nvSpPr>
        <p:spPr>
          <a:xfrm>
            <a:off x="2852479" y="1678052"/>
            <a:ext cx="612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0" name="Google Shape;1510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Find the missing lengths. Give any decimal lengths to 1 decimal place.</a:t>
            </a:r>
            <a:endParaRPr sz="1600"/>
          </a:p>
        </p:txBody>
      </p:sp>
      <p:sp>
        <p:nvSpPr>
          <p:cNvPr id="1511" name="Google Shape;1511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any side</a:t>
            </a:r>
            <a:endParaRPr/>
          </a:p>
        </p:txBody>
      </p:sp>
      <p:sp>
        <p:nvSpPr>
          <p:cNvPr id="1512" name="Google Shape;1512;p88"/>
          <p:cNvSpPr/>
          <p:nvPr/>
        </p:nvSpPr>
        <p:spPr>
          <a:xfrm rot="10800000">
            <a:off x="7151132" y="3419454"/>
            <a:ext cx="953100" cy="9786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88"/>
          <p:cNvSpPr/>
          <p:nvPr/>
        </p:nvSpPr>
        <p:spPr>
          <a:xfrm rot="10800000">
            <a:off x="7985739" y="3419638"/>
            <a:ext cx="118500" cy="118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4" name="Google Shape;1514;p88"/>
          <p:cNvSpPr/>
          <p:nvPr/>
        </p:nvSpPr>
        <p:spPr>
          <a:xfrm rot="10800000">
            <a:off x="6916893" y="3184662"/>
            <a:ext cx="470100" cy="469800"/>
          </a:xfrm>
          <a:prstGeom prst="arc">
            <a:avLst>
              <a:gd fmla="val 10969089" name="adj1"/>
              <a:gd fmla="val 13418498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5" name="Google Shape;1515;p88"/>
          <p:cNvSpPr/>
          <p:nvPr/>
        </p:nvSpPr>
        <p:spPr>
          <a:xfrm flipH="1">
            <a:off x="372252" y="1674418"/>
            <a:ext cx="1290900" cy="7482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6" name="Google Shape;1516;p88"/>
          <p:cNvSpPr/>
          <p:nvPr/>
        </p:nvSpPr>
        <p:spPr>
          <a:xfrm flipH="1">
            <a:off x="1553944" y="2311477"/>
            <a:ext cx="109200" cy="113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88"/>
          <p:cNvSpPr txBox="1"/>
          <p:nvPr/>
        </p:nvSpPr>
        <p:spPr>
          <a:xfrm>
            <a:off x="311150" y="1227317"/>
            <a:ext cx="2319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88"/>
          <p:cNvSpPr txBox="1"/>
          <p:nvPr/>
        </p:nvSpPr>
        <p:spPr>
          <a:xfrm>
            <a:off x="2447160" y="1227317"/>
            <a:ext cx="2319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19" name="Google Shape;1519;p88"/>
          <p:cNvCxnSpPr/>
          <p:nvPr/>
        </p:nvCxnSpPr>
        <p:spPr>
          <a:xfrm flipH="1" rot="10800000">
            <a:off x="341866" y="1604634"/>
            <a:ext cx="1265700" cy="739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20" name="Google Shape;1520;p88"/>
          <p:cNvCxnSpPr/>
          <p:nvPr/>
        </p:nvCxnSpPr>
        <p:spPr>
          <a:xfrm rot="10800000">
            <a:off x="1741178" y="1677311"/>
            <a:ext cx="0" cy="747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21" name="Google Shape;1521;p88"/>
          <p:cNvCxnSpPr/>
          <p:nvPr/>
        </p:nvCxnSpPr>
        <p:spPr>
          <a:xfrm rot="10800000">
            <a:off x="372000" y="2508183"/>
            <a:ext cx="1293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22" name="Google Shape;1522;p88"/>
          <p:cNvCxnSpPr/>
          <p:nvPr/>
        </p:nvCxnSpPr>
        <p:spPr>
          <a:xfrm rot="10800000">
            <a:off x="7138205" y="3344923"/>
            <a:ext cx="972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23" name="Google Shape;1523;p88"/>
          <p:cNvCxnSpPr/>
          <p:nvPr/>
        </p:nvCxnSpPr>
        <p:spPr>
          <a:xfrm rot="10800000">
            <a:off x="8193323" y="3424009"/>
            <a:ext cx="0" cy="98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24" name="Google Shape;1524;p88"/>
          <p:cNvCxnSpPr/>
          <p:nvPr/>
        </p:nvCxnSpPr>
        <p:spPr>
          <a:xfrm rot="10800000">
            <a:off x="7069552" y="3484584"/>
            <a:ext cx="960000" cy="986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25" name="Google Shape;1525;p88"/>
          <p:cNvSpPr txBox="1"/>
          <p:nvPr/>
        </p:nvSpPr>
        <p:spPr>
          <a:xfrm>
            <a:off x="533011" y="1674422"/>
            <a:ext cx="579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15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6" name="Google Shape;1526;p88"/>
          <p:cNvSpPr txBox="1"/>
          <p:nvPr/>
        </p:nvSpPr>
        <p:spPr>
          <a:xfrm>
            <a:off x="7374911" y="3441855"/>
            <a:ext cx="5790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7" name="Google Shape;1527;p88"/>
          <p:cNvSpPr txBox="1"/>
          <p:nvPr/>
        </p:nvSpPr>
        <p:spPr>
          <a:xfrm>
            <a:off x="7144164" y="3958471"/>
            <a:ext cx="4206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8" name="Google Shape;1528;p88"/>
          <p:cNvSpPr/>
          <p:nvPr/>
        </p:nvSpPr>
        <p:spPr>
          <a:xfrm rot="-3061355">
            <a:off x="5040871" y="3494722"/>
            <a:ext cx="1639709" cy="430249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9" name="Google Shape;1529;p88"/>
          <p:cNvSpPr/>
          <p:nvPr/>
        </p:nvSpPr>
        <p:spPr>
          <a:xfrm rot="-3130545">
            <a:off x="5442643" y="4337962"/>
            <a:ext cx="118876" cy="11887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30" name="Google Shape;1530;p88"/>
          <p:cNvCxnSpPr/>
          <p:nvPr/>
        </p:nvCxnSpPr>
        <p:spPr>
          <a:xfrm flipH="1" rot="9826152">
            <a:off x="4997756" y="3343291"/>
            <a:ext cx="1613196" cy="572472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31" name="Google Shape;1531;p88"/>
          <p:cNvCxnSpPr/>
          <p:nvPr/>
        </p:nvCxnSpPr>
        <p:spPr>
          <a:xfrm flipH="1" rot="9826124">
            <a:off x="5444248" y="3423293"/>
            <a:ext cx="1354488" cy="948912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32" name="Google Shape;1532;p88"/>
          <p:cNvCxnSpPr/>
          <p:nvPr/>
        </p:nvCxnSpPr>
        <p:spPr>
          <a:xfrm rot="-974604">
            <a:off x="5160372" y="4250818"/>
            <a:ext cx="245604" cy="36712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33" name="Google Shape;1533;p88"/>
          <p:cNvSpPr txBox="1"/>
          <p:nvPr/>
        </p:nvSpPr>
        <p:spPr>
          <a:xfrm>
            <a:off x="5223017" y="3417177"/>
            <a:ext cx="612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2.1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m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4" name="Google Shape;1534;p88"/>
          <p:cNvSpPr/>
          <p:nvPr/>
        </p:nvSpPr>
        <p:spPr>
          <a:xfrm rot="9518169">
            <a:off x="2622179" y="3765085"/>
            <a:ext cx="1437045" cy="553037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5" name="Google Shape;1535;p88"/>
          <p:cNvSpPr/>
          <p:nvPr/>
        </p:nvSpPr>
        <p:spPr>
          <a:xfrm rot="9521890">
            <a:off x="3814099" y="3540559"/>
            <a:ext cx="121394" cy="121394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36" name="Google Shape;1536;p88"/>
          <p:cNvCxnSpPr/>
          <p:nvPr/>
        </p:nvCxnSpPr>
        <p:spPr>
          <a:xfrm flipH="1" rot="10800000">
            <a:off x="2545772" y="3423022"/>
            <a:ext cx="1341000" cy="55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37" name="Google Shape;1537;p88"/>
          <p:cNvCxnSpPr/>
          <p:nvPr/>
        </p:nvCxnSpPr>
        <p:spPr>
          <a:xfrm>
            <a:off x="2557280" y="4138701"/>
            <a:ext cx="1568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38" name="Google Shape;1538;p88"/>
          <p:cNvSpPr txBox="1"/>
          <p:nvPr/>
        </p:nvSpPr>
        <p:spPr>
          <a:xfrm flipH="1">
            <a:off x="3149529" y="4130662"/>
            <a:ext cx="7473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41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9" name="Google Shape;1539;p88"/>
          <p:cNvSpPr txBox="1"/>
          <p:nvPr/>
        </p:nvSpPr>
        <p:spPr>
          <a:xfrm flipH="1">
            <a:off x="2721919" y="3380461"/>
            <a:ext cx="7473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40 mm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0" name="Google Shape;1540;p88"/>
          <p:cNvSpPr txBox="1"/>
          <p:nvPr/>
        </p:nvSpPr>
        <p:spPr>
          <a:xfrm>
            <a:off x="4759298" y="1227401"/>
            <a:ext cx="23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1" name="Google Shape;1541;p88"/>
          <p:cNvSpPr txBox="1"/>
          <p:nvPr/>
        </p:nvSpPr>
        <p:spPr>
          <a:xfrm>
            <a:off x="6797957" y="1227401"/>
            <a:ext cx="23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2" name="Google Shape;1542;p88"/>
          <p:cNvSpPr/>
          <p:nvPr/>
        </p:nvSpPr>
        <p:spPr>
          <a:xfrm rot="7213553">
            <a:off x="699342" y="3768505"/>
            <a:ext cx="1214516" cy="671081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3" name="Google Shape;1543;p88"/>
          <p:cNvSpPr/>
          <p:nvPr/>
        </p:nvSpPr>
        <p:spPr>
          <a:xfrm rot="7209604">
            <a:off x="1284765" y="3439187"/>
            <a:ext cx="102703" cy="10574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4" name="Google Shape;1544;p88"/>
          <p:cNvSpPr/>
          <p:nvPr/>
        </p:nvSpPr>
        <p:spPr>
          <a:xfrm flipH="1" rot="1471600">
            <a:off x="7069891" y="1477158"/>
            <a:ext cx="1289999" cy="574053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5" name="Google Shape;1545;p88"/>
          <p:cNvSpPr/>
          <p:nvPr/>
        </p:nvSpPr>
        <p:spPr>
          <a:xfrm flipH="1" rot="1471329">
            <a:off x="8101088" y="2165772"/>
            <a:ext cx="109145" cy="10914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46" name="Google Shape;1546;p88"/>
          <p:cNvCxnSpPr/>
          <p:nvPr/>
        </p:nvCxnSpPr>
        <p:spPr>
          <a:xfrm flipH="1" rot="-199511">
            <a:off x="8266940" y="1812902"/>
            <a:ext cx="268953" cy="521381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47" name="Google Shape;1547;p88"/>
          <p:cNvCxnSpPr/>
          <p:nvPr/>
        </p:nvCxnSpPr>
        <p:spPr>
          <a:xfrm rot="-200220">
            <a:off x="6971239" y="1799267"/>
            <a:ext cx="1164775" cy="60160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48" name="Google Shape;1548;p88"/>
          <p:cNvCxnSpPr/>
          <p:nvPr/>
        </p:nvCxnSpPr>
        <p:spPr>
          <a:xfrm rot="10800000">
            <a:off x="1362145" y="3354575"/>
            <a:ext cx="594000" cy="31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49" name="Google Shape;1549;p88"/>
          <p:cNvCxnSpPr/>
          <p:nvPr/>
        </p:nvCxnSpPr>
        <p:spPr>
          <a:xfrm flipH="1" rot="10800000">
            <a:off x="631423" y="3352043"/>
            <a:ext cx="616500" cy="10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50" name="Google Shape;1550;p88"/>
          <p:cNvSpPr txBox="1"/>
          <p:nvPr/>
        </p:nvSpPr>
        <p:spPr>
          <a:xfrm rot="-2234">
            <a:off x="7254325" y="2109842"/>
            <a:ext cx="4617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1" name="Google Shape;1551;p88"/>
          <p:cNvSpPr txBox="1"/>
          <p:nvPr/>
        </p:nvSpPr>
        <p:spPr>
          <a:xfrm flipH="1">
            <a:off x="1549400" y="3259115"/>
            <a:ext cx="7104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2" name="Google Shape;1552;p88"/>
          <p:cNvSpPr txBox="1"/>
          <p:nvPr/>
        </p:nvSpPr>
        <p:spPr>
          <a:xfrm>
            <a:off x="8443624" y="1969892"/>
            <a:ext cx="5046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3" name="Google Shape;1553;p88"/>
          <p:cNvSpPr txBox="1"/>
          <p:nvPr/>
        </p:nvSpPr>
        <p:spPr>
          <a:xfrm flipH="1">
            <a:off x="323584" y="3536901"/>
            <a:ext cx="7884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35 mm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4" name="Google Shape;1554;p88"/>
          <p:cNvSpPr txBox="1"/>
          <p:nvPr/>
        </p:nvSpPr>
        <p:spPr>
          <a:xfrm>
            <a:off x="311150" y="3039088"/>
            <a:ext cx="2319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5" name="Google Shape;1555;p88"/>
          <p:cNvSpPr txBox="1"/>
          <p:nvPr/>
        </p:nvSpPr>
        <p:spPr>
          <a:xfrm>
            <a:off x="2447160" y="3039088"/>
            <a:ext cx="2319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6" name="Google Shape;1556;p88"/>
          <p:cNvSpPr txBox="1"/>
          <p:nvPr/>
        </p:nvSpPr>
        <p:spPr>
          <a:xfrm>
            <a:off x="4759298" y="3039171"/>
            <a:ext cx="23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7" name="Google Shape;1557;p88"/>
          <p:cNvSpPr txBox="1"/>
          <p:nvPr/>
        </p:nvSpPr>
        <p:spPr>
          <a:xfrm>
            <a:off x="6797957" y="3039171"/>
            <a:ext cx="23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58" name="Google Shape;1558;p88"/>
          <p:cNvCxnSpPr/>
          <p:nvPr/>
        </p:nvCxnSpPr>
        <p:spPr>
          <a:xfrm rot="10800000">
            <a:off x="7008991" y="1682972"/>
            <a:ext cx="1411800" cy="13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59" name="Google Shape;1559;p88"/>
          <p:cNvCxnSpPr/>
          <p:nvPr/>
        </p:nvCxnSpPr>
        <p:spPr>
          <a:xfrm rot="10800000">
            <a:off x="4001379" y="3502391"/>
            <a:ext cx="190800" cy="516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60" name="Google Shape;1560;p88"/>
          <p:cNvSpPr txBox="1"/>
          <p:nvPr/>
        </p:nvSpPr>
        <p:spPr>
          <a:xfrm>
            <a:off x="765004" y="2500445"/>
            <a:ext cx="612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61" name="Google Shape;1561;p88"/>
          <p:cNvGrpSpPr/>
          <p:nvPr/>
        </p:nvGrpSpPr>
        <p:grpSpPr>
          <a:xfrm flipH="1" rot="-5400000">
            <a:off x="4911037" y="1656468"/>
            <a:ext cx="1125104" cy="905060"/>
            <a:chOff x="628823" y="1567796"/>
            <a:chExt cx="1686813" cy="974545"/>
          </a:xfrm>
        </p:grpSpPr>
        <p:sp>
          <p:nvSpPr>
            <p:cNvPr id="1562" name="Google Shape;1562;p88"/>
            <p:cNvSpPr/>
            <p:nvPr/>
          </p:nvSpPr>
          <p:spPr>
            <a:xfrm>
              <a:off x="745350" y="1645697"/>
              <a:ext cx="1511100" cy="8127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3" name="Google Shape;1563;p88"/>
            <p:cNvSpPr/>
            <p:nvPr/>
          </p:nvSpPr>
          <p:spPr>
            <a:xfrm>
              <a:off x="745350" y="2330455"/>
              <a:ext cx="165000" cy="1278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64" name="Google Shape;1564;p88"/>
            <p:cNvCxnSpPr/>
            <p:nvPr/>
          </p:nvCxnSpPr>
          <p:spPr>
            <a:xfrm rot="10800000">
              <a:off x="628823" y="1647197"/>
              <a:ext cx="0" cy="811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65" name="Google Shape;1565;p88"/>
            <p:cNvCxnSpPr/>
            <p:nvPr/>
          </p:nvCxnSpPr>
          <p:spPr>
            <a:xfrm>
              <a:off x="739622" y="2542341"/>
              <a:ext cx="1521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66" name="Google Shape;1566;p88"/>
            <p:cNvCxnSpPr/>
            <p:nvPr/>
          </p:nvCxnSpPr>
          <p:spPr>
            <a:xfrm>
              <a:off x="805436" y="1567796"/>
              <a:ext cx="1510200" cy="813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567" name="Google Shape;1567;p88"/>
          <p:cNvSpPr txBox="1"/>
          <p:nvPr/>
        </p:nvSpPr>
        <p:spPr>
          <a:xfrm>
            <a:off x="1779586" y="1938374"/>
            <a:ext cx="5328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8" name="Google Shape;1568;p88"/>
          <p:cNvSpPr/>
          <p:nvPr/>
        </p:nvSpPr>
        <p:spPr>
          <a:xfrm flipH="1">
            <a:off x="2688432" y="1674418"/>
            <a:ext cx="1290900" cy="7482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9" name="Google Shape;1569;p88"/>
          <p:cNvSpPr/>
          <p:nvPr/>
        </p:nvSpPr>
        <p:spPr>
          <a:xfrm flipH="1">
            <a:off x="3870124" y="2311477"/>
            <a:ext cx="109200" cy="113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70" name="Google Shape;1570;p88"/>
          <p:cNvCxnSpPr/>
          <p:nvPr/>
        </p:nvCxnSpPr>
        <p:spPr>
          <a:xfrm flipH="1" rot="10800000">
            <a:off x="2658046" y="1604634"/>
            <a:ext cx="1265700" cy="739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71" name="Google Shape;1571;p88"/>
          <p:cNvCxnSpPr/>
          <p:nvPr/>
        </p:nvCxnSpPr>
        <p:spPr>
          <a:xfrm rot="10800000">
            <a:off x="4057358" y="1677311"/>
            <a:ext cx="0" cy="747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72" name="Google Shape;1572;p88"/>
          <p:cNvCxnSpPr/>
          <p:nvPr/>
        </p:nvCxnSpPr>
        <p:spPr>
          <a:xfrm rot="10800000">
            <a:off x="2688180" y="2508183"/>
            <a:ext cx="1293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73" name="Google Shape;1573;p88"/>
          <p:cNvSpPr txBox="1"/>
          <p:nvPr/>
        </p:nvSpPr>
        <p:spPr>
          <a:xfrm>
            <a:off x="3064135" y="2522423"/>
            <a:ext cx="7104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7.9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4" name="Google Shape;1574;p88"/>
          <p:cNvSpPr txBox="1"/>
          <p:nvPr/>
        </p:nvSpPr>
        <p:spPr>
          <a:xfrm>
            <a:off x="4095766" y="1938374"/>
            <a:ext cx="5328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5" name="Google Shape;1575;p88"/>
          <p:cNvSpPr txBox="1"/>
          <p:nvPr/>
        </p:nvSpPr>
        <p:spPr>
          <a:xfrm>
            <a:off x="5233296" y="1287410"/>
            <a:ext cx="612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88"/>
          <p:cNvSpPr txBox="1"/>
          <p:nvPr/>
        </p:nvSpPr>
        <p:spPr>
          <a:xfrm>
            <a:off x="4934244" y="2109804"/>
            <a:ext cx="612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7" name="Google Shape;1577;p88"/>
          <p:cNvSpPr txBox="1"/>
          <p:nvPr/>
        </p:nvSpPr>
        <p:spPr>
          <a:xfrm>
            <a:off x="5926248" y="1959653"/>
            <a:ext cx="7104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4.5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8" name="Google Shape;1578;p88"/>
          <p:cNvSpPr txBox="1"/>
          <p:nvPr/>
        </p:nvSpPr>
        <p:spPr>
          <a:xfrm>
            <a:off x="7421536" y="1408154"/>
            <a:ext cx="7104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3.2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m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79" name="Google Shape;1579;p88"/>
          <p:cNvCxnSpPr/>
          <p:nvPr/>
        </p:nvCxnSpPr>
        <p:spPr>
          <a:xfrm flipH="1" rot="10800000">
            <a:off x="761809" y="3809881"/>
            <a:ext cx="1222500" cy="753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80" name="Google Shape;1580;p88"/>
          <p:cNvSpPr txBox="1"/>
          <p:nvPr/>
        </p:nvSpPr>
        <p:spPr>
          <a:xfrm flipH="1">
            <a:off x="1325111" y="4231035"/>
            <a:ext cx="7104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37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1" name="Google Shape;1581;p88"/>
          <p:cNvSpPr txBox="1"/>
          <p:nvPr/>
        </p:nvSpPr>
        <p:spPr>
          <a:xfrm flipH="1">
            <a:off x="4108646" y="3570963"/>
            <a:ext cx="7473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2" name="Google Shape;1582;p88"/>
          <p:cNvSpPr txBox="1"/>
          <p:nvPr/>
        </p:nvSpPr>
        <p:spPr>
          <a:xfrm flipH="1">
            <a:off x="4754347" y="4386956"/>
            <a:ext cx="7473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0.5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3" name="Google Shape;1583;p88"/>
          <p:cNvSpPr txBox="1"/>
          <p:nvPr/>
        </p:nvSpPr>
        <p:spPr>
          <a:xfrm flipH="1">
            <a:off x="6100081" y="3938378"/>
            <a:ext cx="7473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4" name="Google Shape;1584;p88"/>
          <p:cNvSpPr txBox="1"/>
          <p:nvPr/>
        </p:nvSpPr>
        <p:spPr>
          <a:xfrm>
            <a:off x="7381254" y="3061315"/>
            <a:ext cx="6165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0.7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m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5" name="Google Shape;1585;p88"/>
          <p:cNvSpPr txBox="1"/>
          <p:nvPr/>
        </p:nvSpPr>
        <p:spPr>
          <a:xfrm>
            <a:off x="8203647" y="3734182"/>
            <a:ext cx="6165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0.7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m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8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the hypotenuse</a:t>
            </a:r>
            <a:endParaRPr/>
          </a:p>
        </p:txBody>
      </p:sp>
      <p:sp>
        <p:nvSpPr>
          <p:cNvPr id="1591" name="Google Shape;1591;p8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a shorter side</a:t>
            </a:r>
            <a:endParaRPr/>
          </a:p>
        </p:txBody>
      </p:sp>
      <p:sp>
        <p:nvSpPr>
          <p:cNvPr id="1592" name="Google Shape;1592;p8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length of any side</a:t>
            </a:r>
            <a:endParaRPr/>
          </a:p>
        </p:txBody>
      </p:sp>
      <p:sp>
        <p:nvSpPr>
          <p:cNvPr id="1593" name="Google Shape;1593;p8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</a:t>
            </a:r>
            <a:r>
              <a:rPr lang="en-GB"/>
              <a:t> Pythagoras’ theorem on a coordinate grid</a:t>
            </a:r>
            <a:endParaRPr/>
          </a:p>
        </p:txBody>
      </p:sp>
      <p:sp>
        <p:nvSpPr>
          <p:cNvPr id="1594" name="Google Shape;1594;p8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Pythagoras’ theorem</a:t>
            </a:r>
            <a:endParaRPr/>
          </a:p>
        </p:txBody>
      </p:sp>
      <p:pic>
        <p:nvPicPr>
          <p:cNvPr id="1595" name="Google Shape;1595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022" y="40296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0" name="Google Shape;1600;p90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4587002" y="1530088"/>
            <a:ext cx="3759498" cy="139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1" name="Google Shape;1601;p90"/>
          <p:cNvPicPr preferRelativeResize="0"/>
          <p:nvPr/>
        </p:nvPicPr>
        <p:blipFill rotWithShape="1">
          <a:blip r:embed="rId4">
            <a:alphaModFix/>
          </a:blip>
          <a:srcRect b="486" l="357" r="12412" t="277"/>
          <a:stretch/>
        </p:blipFill>
        <p:spPr>
          <a:xfrm>
            <a:off x="701900" y="1784025"/>
            <a:ext cx="3249200" cy="2795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2" name="Google Shape;1602;p90"/>
          <p:cNvGrpSpPr/>
          <p:nvPr/>
        </p:nvGrpSpPr>
        <p:grpSpPr>
          <a:xfrm rot="10800000">
            <a:off x="1620702" y="2255077"/>
            <a:ext cx="1850942" cy="1395123"/>
            <a:chOff x="1624408" y="2255077"/>
            <a:chExt cx="1850942" cy="1395123"/>
          </a:xfrm>
        </p:grpSpPr>
        <p:sp>
          <p:nvSpPr>
            <p:cNvPr id="1603" name="Google Shape;1603;p90"/>
            <p:cNvSpPr/>
            <p:nvPr/>
          </p:nvSpPr>
          <p:spPr>
            <a:xfrm flipH="1" rot="10800000">
              <a:off x="1626750" y="2256400"/>
              <a:ext cx="1848600" cy="1393800"/>
            </a:xfrm>
            <a:prstGeom prst="rtTriangle">
              <a:avLst/>
            </a:prstGeom>
            <a:solidFill>
              <a:srgbClr val="FAEAF6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4" name="Google Shape;1604;p90"/>
            <p:cNvSpPr/>
            <p:nvPr/>
          </p:nvSpPr>
          <p:spPr>
            <a:xfrm>
              <a:off x="1624408" y="2255077"/>
              <a:ext cx="174000" cy="1740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05" name="Google Shape;1605;p90"/>
          <p:cNvGrpSpPr/>
          <p:nvPr/>
        </p:nvGrpSpPr>
        <p:grpSpPr>
          <a:xfrm>
            <a:off x="1620702" y="2255077"/>
            <a:ext cx="1850942" cy="1395123"/>
            <a:chOff x="1624408" y="2255077"/>
            <a:chExt cx="1850942" cy="1395123"/>
          </a:xfrm>
        </p:grpSpPr>
        <p:sp>
          <p:nvSpPr>
            <p:cNvPr id="1606" name="Google Shape;1606;p90"/>
            <p:cNvSpPr/>
            <p:nvPr/>
          </p:nvSpPr>
          <p:spPr>
            <a:xfrm flipH="1" rot="10800000">
              <a:off x="1626750" y="2256400"/>
              <a:ext cx="1848600" cy="1393800"/>
            </a:xfrm>
            <a:prstGeom prst="rtTriangle">
              <a:avLst/>
            </a:prstGeom>
            <a:solidFill>
              <a:srgbClr val="FAEAF6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7" name="Google Shape;1607;p90"/>
            <p:cNvSpPr/>
            <p:nvPr/>
          </p:nvSpPr>
          <p:spPr>
            <a:xfrm>
              <a:off x="1624408" y="2255077"/>
              <a:ext cx="174000" cy="1740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08" name="Google Shape;1608;p90"/>
          <p:cNvSpPr txBox="1"/>
          <p:nvPr>
            <p:ph idx="1" type="body"/>
          </p:nvPr>
        </p:nvSpPr>
        <p:spPr>
          <a:xfrm>
            <a:off x="324000" y="759300"/>
            <a:ext cx="84960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Pythagoras’ theorem can be used to calculate distances on a grid.</a:t>
            </a:r>
            <a:endParaRPr sz="1800"/>
          </a:p>
        </p:txBody>
      </p:sp>
      <p:sp>
        <p:nvSpPr>
          <p:cNvPr id="1609" name="Google Shape;160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Pythagoras’ theorem on a coordinate grid</a:t>
            </a:r>
            <a:endParaRPr/>
          </a:p>
        </p:txBody>
      </p:sp>
      <p:sp>
        <p:nvSpPr>
          <p:cNvPr id="1610" name="Google Shape;1610;p90"/>
          <p:cNvSpPr txBox="1"/>
          <p:nvPr>
            <p:ph idx="1" type="body"/>
          </p:nvPr>
        </p:nvSpPr>
        <p:spPr>
          <a:xfrm>
            <a:off x="324000" y="1194507"/>
            <a:ext cx="84960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E.g. Find</a:t>
            </a:r>
            <a:r>
              <a:rPr lang="en-GB" sz="1800"/>
              <a:t> the distance between points A and B.</a:t>
            </a:r>
            <a:endParaRPr sz="1800"/>
          </a:p>
        </p:txBody>
      </p:sp>
      <p:sp>
        <p:nvSpPr>
          <p:cNvPr id="1611" name="Google Shape;1611;p90"/>
          <p:cNvSpPr txBox="1"/>
          <p:nvPr>
            <p:ph idx="1" type="body"/>
          </p:nvPr>
        </p:nvSpPr>
        <p:spPr>
          <a:xfrm>
            <a:off x="1343619" y="3321607"/>
            <a:ext cx="2193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endParaRPr sz="2000"/>
          </a:p>
        </p:txBody>
      </p:sp>
      <p:sp>
        <p:nvSpPr>
          <p:cNvPr id="1612" name="Google Shape;1612;p90"/>
          <p:cNvSpPr txBox="1"/>
          <p:nvPr>
            <p:ph idx="1" type="body"/>
          </p:nvPr>
        </p:nvSpPr>
        <p:spPr>
          <a:xfrm>
            <a:off x="3233131" y="1950007"/>
            <a:ext cx="2193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endParaRPr sz="2000"/>
          </a:p>
        </p:txBody>
      </p:sp>
      <p:cxnSp>
        <p:nvCxnSpPr>
          <p:cNvPr id="1613" name="Google Shape;1613;p90"/>
          <p:cNvCxnSpPr/>
          <p:nvPr/>
        </p:nvCxnSpPr>
        <p:spPr>
          <a:xfrm flipH="1" rot="10800000">
            <a:off x="1627775" y="2253300"/>
            <a:ext cx="1848600" cy="13938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4" name="Google Shape;1614;p90"/>
          <p:cNvSpPr/>
          <p:nvPr/>
        </p:nvSpPr>
        <p:spPr>
          <a:xfrm>
            <a:off x="1565844" y="3579625"/>
            <a:ext cx="135000" cy="135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5" name="Google Shape;1615;p90"/>
          <p:cNvSpPr/>
          <p:nvPr/>
        </p:nvSpPr>
        <p:spPr>
          <a:xfrm>
            <a:off x="3413481" y="2186825"/>
            <a:ext cx="135000" cy="135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6" name="Google Shape;1616;p90"/>
          <p:cNvSpPr txBox="1"/>
          <p:nvPr>
            <p:ph idx="1" type="body"/>
          </p:nvPr>
        </p:nvSpPr>
        <p:spPr>
          <a:xfrm>
            <a:off x="4677625" y="1653425"/>
            <a:ext cx="3490800" cy="108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I can’t see a right-angled triangle.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Does that mean Pythagoras’ theorem isn’t useful here?</a:t>
            </a:r>
            <a:endParaRPr sz="1600"/>
          </a:p>
        </p:txBody>
      </p:sp>
      <p:sp>
        <p:nvSpPr>
          <p:cNvPr id="1617" name="Google Shape;1617;p90"/>
          <p:cNvSpPr txBox="1"/>
          <p:nvPr>
            <p:ph idx="1" type="body"/>
          </p:nvPr>
        </p:nvSpPr>
        <p:spPr>
          <a:xfrm>
            <a:off x="4456769" y="3108969"/>
            <a:ext cx="3150600" cy="9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We can use the horizontal and vertical lines on the grid to construct a right-angle triangle.</a:t>
            </a:r>
            <a:endParaRPr sz="1600"/>
          </a:p>
        </p:txBody>
      </p:sp>
      <p:pic>
        <p:nvPicPr>
          <p:cNvPr id="1618" name="Google Shape;1618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20735" y="3814057"/>
            <a:ext cx="587640" cy="75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9" name="Google Shape;1619;p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92292" y="2560565"/>
            <a:ext cx="602108" cy="667948"/>
          </a:xfrm>
          <a:prstGeom prst="rect">
            <a:avLst/>
          </a:prstGeom>
          <a:noFill/>
          <a:ln>
            <a:noFill/>
          </a:ln>
        </p:spPr>
      </p:pic>
      <p:sp>
        <p:nvSpPr>
          <p:cNvPr id="1620" name="Google Shape;1620;p90"/>
          <p:cNvSpPr txBox="1"/>
          <p:nvPr>
            <p:ph idx="1" type="body"/>
          </p:nvPr>
        </p:nvSpPr>
        <p:spPr>
          <a:xfrm>
            <a:off x="8091937" y="3267245"/>
            <a:ext cx="682200" cy="29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Sofia</a:t>
            </a:r>
            <a:endParaRPr sz="1600"/>
          </a:p>
        </p:txBody>
      </p:sp>
      <p:sp>
        <p:nvSpPr>
          <p:cNvPr id="1621" name="Google Shape;1621;p90"/>
          <p:cNvSpPr txBox="1"/>
          <p:nvPr>
            <p:ph idx="1" type="body"/>
          </p:nvPr>
        </p:nvSpPr>
        <p:spPr>
          <a:xfrm>
            <a:off x="7589499" y="4562650"/>
            <a:ext cx="799200" cy="29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Andeep</a:t>
            </a:r>
            <a:endParaRPr sz="1600"/>
          </a:p>
        </p:txBody>
      </p:sp>
      <p:pic>
        <p:nvPicPr>
          <p:cNvPr id="1622" name="Google Shape;1622;p90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4327743" y="2962394"/>
            <a:ext cx="3569300" cy="128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7" name="Google Shape;1627;p91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4579584" y="3144525"/>
            <a:ext cx="3249198" cy="118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8" name="Google Shape;1628;p91"/>
          <p:cNvPicPr preferRelativeResize="0"/>
          <p:nvPr/>
        </p:nvPicPr>
        <p:blipFill rotWithShape="1">
          <a:blip r:embed="rId4">
            <a:alphaModFix/>
          </a:blip>
          <a:srcRect b="486" l="357" r="12412" t="277"/>
          <a:stretch/>
        </p:blipFill>
        <p:spPr>
          <a:xfrm>
            <a:off x="701900" y="1784025"/>
            <a:ext cx="3249200" cy="2795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9" name="Google Shape;1629;p91"/>
          <p:cNvGrpSpPr/>
          <p:nvPr/>
        </p:nvGrpSpPr>
        <p:grpSpPr>
          <a:xfrm rot="10800000">
            <a:off x="1620702" y="2255077"/>
            <a:ext cx="1850942" cy="1395123"/>
            <a:chOff x="1624408" y="2255077"/>
            <a:chExt cx="1850942" cy="1395123"/>
          </a:xfrm>
        </p:grpSpPr>
        <p:sp>
          <p:nvSpPr>
            <p:cNvPr id="1630" name="Google Shape;1630;p91"/>
            <p:cNvSpPr/>
            <p:nvPr/>
          </p:nvSpPr>
          <p:spPr>
            <a:xfrm flipH="1" rot="10800000">
              <a:off x="1626750" y="2256400"/>
              <a:ext cx="1848600" cy="1393800"/>
            </a:xfrm>
            <a:prstGeom prst="rtTriangle">
              <a:avLst/>
            </a:prstGeom>
            <a:solidFill>
              <a:srgbClr val="FAEAF6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1" name="Google Shape;1631;p91"/>
            <p:cNvSpPr/>
            <p:nvPr/>
          </p:nvSpPr>
          <p:spPr>
            <a:xfrm>
              <a:off x="1624408" y="2255077"/>
              <a:ext cx="174000" cy="1740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32" name="Google Shape;1632;p91"/>
          <p:cNvSpPr txBox="1"/>
          <p:nvPr>
            <p:ph idx="1" type="body"/>
          </p:nvPr>
        </p:nvSpPr>
        <p:spPr>
          <a:xfrm>
            <a:off x="324000" y="759300"/>
            <a:ext cx="84960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Pythagoras’ theorem can be used to calculate distances on a grid.</a:t>
            </a:r>
            <a:endParaRPr sz="1800"/>
          </a:p>
        </p:txBody>
      </p:sp>
      <p:sp>
        <p:nvSpPr>
          <p:cNvPr id="1633" name="Google Shape;1633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Pythagoras’ theorem on a coordinate grid</a:t>
            </a:r>
            <a:endParaRPr/>
          </a:p>
        </p:txBody>
      </p:sp>
      <p:sp>
        <p:nvSpPr>
          <p:cNvPr id="1634" name="Google Shape;1634;p91"/>
          <p:cNvSpPr txBox="1"/>
          <p:nvPr>
            <p:ph idx="1" type="body"/>
          </p:nvPr>
        </p:nvSpPr>
        <p:spPr>
          <a:xfrm>
            <a:off x="324000" y="1194507"/>
            <a:ext cx="84960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E.g. Find</a:t>
            </a:r>
            <a:r>
              <a:rPr lang="en-GB" sz="1800"/>
              <a:t> the distance between points A and B.</a:t>
            </a:r>
            <a:endParaRPr sz="1800"/>
          </a:p>
        </p:txBody>
      </p:sp>
      <p:sp>
        <p:nvSpPr>
          <p:cNvPr id="1635" name="Google Shape;1635;p91"/>
          <p:cNvSpPr txBox="1"/>
          <p:nvPr>
            <p:ph idx="1" type="body"/>
          </p:nvPr>
        </p:nvSpPr>
        <p:spPr>
          <a:xfrm>
            <a:off x="1343619" y="3321607"/>
            <a:ext cx="2193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endParaRPr sz="2000"/>
          </a:p>
        </p:txBody>
      </p:sp>
      <p:sp>
        <p:nvSpPr>
          <p:cNvPr id="1636" name="Google Shape;1636;p91"/>
          <p:cNvSpPr txBox="1"/>
          <p:nvPr>
            <p:ph idx="1" type="body"/>
          </p:nvPr>
        </p:nvSpPr>
        <p:spPr>
          <a:xfrm>
            <a:off x="3233131" y="1950007"/>
            <a:ext cx="2193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endParaRPr sz="2000"/>
          </a:p>
        </p:txBody>
      </p:sp>
      <p:cxnSp>
        <p:nvCxnSpPr>
          <p:cNvPr id="1637" name="Google Shape;1637;p91"/>
          <p:cNvCxnSpPr/>
          <p:nvPr/>
        </p:nvCxnSpPr>
        <p:spPr>
          <a:xfrm flipH="1" rot="10800000">
            <a:off x="1627775" y="2253300"/>
            <a:ext cx="1848600" cy="13938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8" name="Google Shape;1638;p91"/>
          <p:cNvSpPr/>
          <p:nvPr/>
        </p:nvSpPr>
        <p:spPr>
          <a:xfrm>
            <a:off x="1565844" y="3579625"/>
            <a:ext cx="135000" cy="135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9" name="Google Shape;1639;p91"/>
          <p:cNvSpPr/>
          <p:nvPr/>
        </p:nvSpPr>
        <p:spPr>
          <a:xfrm>
            <a:off x="3413481" y="2186825"/>
            <a:ext cx="135000" cy="135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0" name="Google Shape;1640;p91"/>
          <p:cNvSpPr txBox="1"/>
          <p:nvPr>
            <p:ph idx="1" type="body"/>
          </p:nvPr>
        </p:nvSpPr>
        <p:spPr>
          <a:xfrm>
            <a:off x="4647888" y="3261369"/>
            <a:ext cx="3150600" cy="9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We can use the squares to obtain the lengths of the horizontal and vertical edges.</a:t>
            </a:r>
            <a:endParaRPr sz="1600"/>
          </a:p>
        </p:txBody>
      </p:sp>
      <p:pic>
        <p:nvPicPr>
          <p:cNvPr id="1641" name="Google Shape;1641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20735" y="3814057"/>
            <a:ext cx="587640" cy="75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2" name="Google Shape;1642;p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92292" y="2560565"/>
            <a:ext cx="602108" cy="667948"/>
          </a:xfrm>
          <a:prstGeom prst="rect">
            <a:avLst/>
          </a:prstGeom>
          <a:noFill/>
          <a:ln>
            <a:noFill/>
          </a:ln>
        </p:spPr>
      </p:pic>
      <p:sp>
        <p:nvSpPr>
          <p:cNvPr id="1643" name="Google Shape;1643;p91"/>
          <p:cNvSpPr txBox="1"/>
          <p:nvPr>
            <p:ph idx="1" type="body"/>
          </p:nvPr>
        </p:nvSpPr>
        <p:spPr>
          <a:xfrm>
            <a:off x="8091937" y="3267245"/>
            <a:ext cx="682200" cy="29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Sofia</a:t>
            </a:r>
            <a:endParaRPr sz="1600"/>
          </a:p>
        </p:txBody>
      </p:sp>
      <p:sp>
        <p:nvSpPr>
          <p:cNvPr id="1644" name="Google Shape;1644;p91"/>
          <p:cNvSpPr txBox="1"/>
          <p:nvPr>
            <p:ph idx="1" type="body"/>
          </p:nvPr>
        </p:nvSpPr>
        <p:spPr>
          <a:xfrm>
            <a:off x="7589499" y="4562650"/>
            <a:ext cx="799200" cy="29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Andeep</a:t>
            </a:r>
            <a:endParaRPr sz="1600"/>
          </a:p>
        </p:txBody>
      </p:sp>
      <p:sp>
        <p:nvSpPr>
          <p:cNvPr id="1645" name="Google Shape;1645;p91"/>
          <p:cNvSpPr txBox="1"/>
          <p:nvPr>
            <p:ph idx="1" type="body"/>
          </p:nvPr>
        </p:nvSpPr>
        <p:spPr>
          <a:xfrm>
            <a:off x="2057333" y="3803232"/>
            <a:ext cx="9705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 units</a:t>
            </a:r>
            <a:endParaRPr/>
          </a:p>
        </p:txBody>
      </p:sp>
      <p:cxnSp>
        <p:nvCxnSpPr>
          <p:cNvPr id="1646" name="Google Shape;1646;p91"/>
          <p:cNvCxnSpPr/>
          <p:nvPr/>
        </p:nvCxnSpPr>
        <p:spPr>
          <a:xfrm>
            <a:off x="1620700" y="3803594"/>
            <a:ext cx="1864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47" name="Google Shape;1647;p91"/>
          <p:cNvCxnSpPr/>
          <p:nvPr/>
        </p:nvCxnSpPr>
        <p:spPr>
          <a:xfrm>
            <a:off x="3666900" y="2268975"/>
            <a:ext cx="0" cy="1384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48" name="Google Shape;1648;p91"/>
          <p:cNvSpPr txBox="1"/>
          <p:nvPr>
            <p:ph idx="1" type="body"/>
          </p:nvPr>
        </p:nvSpPr>
        <p:spPr>
          <a:xfrm>
            <a:off x="3704308" y="2783145"/>
            <a:ext cx="9705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 units</a:t>
            </a:r>
            <a:endParaRPr/>
          </a:p>
        </p:txBody>
      </p:sp>
      <p:sp>
        <p:nvSpPr>
          <p:cNvPr id="1649" name="Google Shape;1649;p91"/>
          <p:cNvSpPr txBox="1"/>
          <p:nvPr>
            <p:ph idx="1" type="body"/>
          </p:nvPr>
        </p:nvSpPr>
        <p:spPr>
          <a:xfrm>
            <a:off x="5409275" y="1737576"/>
            <a:ext cx="2663700" cy="9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The length of the hypotenuse is the distance between points A and B.</a:t>
            </a:r>
            <a:endParaRPr sz="1600"/>
          </a:p>
        </p:txBody>
      </p:sp>
      <p:pic>
        <p:nvPicPr>
          <p:cNvPr id="1650" name="Google Shape;1650;p91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5250830" y="1645233"/>
            <a:ext cx="3103391" cy="1150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5" name="Google Shape;1655;p92"/>
          <p:cNvPicPr preferRelativeResize="0"/>
          <p:nvPr/>
        </p:nvPicPr>
        <p:blipFill rotWithShape="1">
          <a:blip r:embed="rId3">
            <a:alphaModFix/>
          </a:blip>
          <a:srcRect b="486" l="357" r="12412" t="277"/>
          <a:stretch/>
        </p:blipFill>
        <p:spPr>
          <a:xfrm>
            <a:off x="701900" y="1784025"/>
            <a:ext cx="3249200" cy="2795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6" name="Google Shape;1656;p92"/>
          <p:cNvGrpSpPr/>
          <p:nvPr/>
        </p:nvGrpSpPr>
        <p:grpSpPr>
          <a:xfrm rot="10800000">
            <a:off x="1620702" y="2255077"/>
            <a:ext cx="1850942" cy="1395123"/>
            <a:chOff x="1624408" y="2255077"/>
            <a:chExt cx="1850942" cy="1395123"/>
          </a:xfrm>
        </p:grpSpPr>
        <p:sp>
          <p:nvSpPr>
            <p:cNvPr id="1657" name="Google Shape;1657;p92"/>
            <p:cNvSpPr/>
            <p:nvPr/>
          </p:nvSpPr>
          <p:spPr>
            <a:xfrm flipH="1" rot="10800000">
              <a:off x="1626750" y="2256400"/>
              <a:ext cx="1848600" cy="1393800"/>
            </a:xfrm>
            <a:prstGeom prst="rtTriangle">
              <a:avLst/>
            </a:prstGeom>
            <a:solidFill>
              <a:srgbClr val="FAEAF6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8" name="Google Shape;1658;p92"/>
            <p:cNvSpPr/>
            <p:nvPr/>
          </p:nvSpPr>
          <p:spPr>
            <a:xfrm>
              <a:off x="1624408" y="2255077"/>
              <a:ext cx="174000" cy="1740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59" name="Google Shape;1659;p92"/>
          <p:cNvSpPr txBox="1"/>
          <p:nvPr>
            <p:ph idx="1" type="body"/>
          </p:nvPr>
        </p:nvSpPr>
        <p:spPr>
          <a:xfrm>
            <a:off x="324000" y="759300"/>
            <a:ext cx="84960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Pythagoras’ theorem can be used to calculate distances on a grid.</a:t>
            </a:r>
            <a:endParaRPr sz="1800"/>
          </a:p>
        </p:txBody>
      </p:sp>
      <p:sp>
        <p:nvSpPr>
          <p:cNvPr id="1660" name="Google Shape;1660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Pythagoras’ theorem on a coordinate grid</a:t>
            </a:r>
            <a:endParaRPr/>
          </a:p>
        </p:txBody>
      </p:sp>
      <p:sp>
        <p:nvSpPr>
          <p:cNvPr id="1661" name="Google Shape;1661;p92"/>
          <p:cNvSpPr txBox="1"/>
          <p:nvPr>
            <p:ph idx="1" type="body"/>
          </p:nvPr>
        </p:nvSpPr>
        <p:spPr>
          <a:xfrm>
            <a:off x="324000" y="1194507"/>
            <a:ext cx="84960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E.g. F</a:t>
            </a:r>
            <a:r>
              <a:rPr lang="en-GB" sz="1800"/>
              <a:t>ind the distance between points A and B.</a:t>
            </a:r>
            <a:endParaRPr sz="1800"/>
          </a:p>
        </p:txBody>
      </p:sp>
      <p:sp>
        <p:nvSpPr>
          <p:cNvPr id="1662" name="Google Shape;1662;p92"/>
          <p:cNvSpPr txBox="1"/>
          <p:nvPr>
            <p:ph idx="1" type="body"/>
          </p:nvPr>
        </p:nvSpPr>
        <p:spPr>
          <a:xfrm>
            <a:off x="1343619" y="3321607"/>
            <a:ext cx="2193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endParaRPr sz="2000"/>
          </a:p>
        </p:txBody>
      </p:sp>
      <p:sp>
        <p:nvSpPr>
          <p:cNvPr id="1663" name="Google Shape;1663;p92"/>
          <p:cNvSpPr txBox="1"/>
          <p:nvPr>
            <p:ph idx="1" type="body"/>
          </p:nvPr>
        </p:nvSpPr>
        <p:spPr>
          <a:xfrm>
            <a:off x="3233131" y="1950007"/>
            <a:ext cx="2193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endParaRPr sz="2000"/>
          </a:p>
        </p:txBody>
      </p:sp>
      <p:cxnSp>
        <p:nvCxnSpPr>
          <p:cNvPr id="1664" name="Google Shape;1664;p92"/>
          <p:cNvCxnSpPr/>
          <p:nvPr/>
        </p:nvCxnSpPr>
        <p:spPr>
          <a:xfrm flipH="1" rot="10800000">
            <a:off x="1627775" y="2253300"/>
            <a:ext cx="1848600" cy="13938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5" name="Google Shape;1665;p92"/>
          <p:cNvSpPr/>
          <p:nvPr/>
        </p:nvSpPr>
        <p:spPr>
          <a:xfrm>
            <a:off x="1565844" y="3579625"/>
            <a:ext cx="135000" cy="135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92"/>
          <p:cNvSpPr/>
          <p:nvPr/>
        </p:nvSpPr>
        <p:spPr>
          <a:xfrm>
            <a:off x="3413481" y="2186825"/>
            <a:ext cx="135000" cy="135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7" name="Google Shape;1667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0735" y="3814057"/>
            <a:ext cx="587640" cy="75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8" name="Google Shape;166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92292" y="2560565"/>
            <a:ext cx="602108" cy="667948"/>
          </a:xfrm>
          <a:prstGeom prst="rect">
            <a:avLst/>
          </a:prstGeom>
          <a:noFill/>
          <a:ln>
            <a:noFill/>
          </a:ln>
        </p:spPr>
      </p:pic>
      <p:sp>
        <p:nvSpPr>
          <p:cNvPr id="1669" name="Google Shape;1669;p92"/>
          <p:cNvSpPr txBox="1"/>
          <p:nvPr>
            <p:ph idx="1" type="body"/>
          </p:nvPr>
        </p:nvSpPr>
        <p:spPr>
          <a:xfrm>
            <a:off x="8091937" y="3267245"/>
            <a:ext cx="682200" cy="29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Sofia</a:t>
            </a:r>
            <a:endParaRPr sz="1600"/>
          </a:p>
        </p:txBody>
      </p:sp>
      <p:sp>
        <p:nvSpPr>
          <p:cNvPr id="1670" name="Google Shape;1670;p92"/>
          <p:cNvSpPr txBox="1"/>
          <p:nvPr>
            <p:ph idx="1" type="body"/>
          </p:nvPr>
        </p:nvSpPr>
        <p:spPr>
          <a:xfrm>
            <a:off x="7589499" y="4562650"/>
            <a:ext cx="799200" cy="29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Andeep</a:t>
            </a:r>
            <a:endParaRPr sz="1600"/>
          </a:p>
        </p:txBody>
      </p:sp>
      <p:sp>
        <p:nvSpPr>
          <p:cNvPr id="1671" name="Google Shape;1671;p92"/>
          <p:cNvSpPr txBox="1"/>
          <p:nvPr>
            <p:ph idx="1" type="body"/>
          </p:nvPr>
        </p:nvSpPr>
        <p:spPr>
          <a:xfrm>
            <a:off x="2057333" y="3803232"/>
            <a:ext cx="9705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 units</a:t>
            </a:r>
            <a:endParaRPr/>
          </a:p>
        </p:txBody>
      </p:sp>
      <p:cxnSp>
        <p:nvCxnSpPr>
          <p:cNvPr id="1672" name="Google Shape;1672;p92"/>
          <p:cNvCxnSpPr/>
          <p:nvPr/>
        </p:nvCxnSpPr>
        <p:spPr>
          <a:xfrm>
            <a:off x="1620700" y="3803594"/>
            <a:ext cx="1864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73" name="Google Shape;1673;p92"/>
          <p:cNvCxnSpPr/>
          <p:nvPr/>
        </p:nvCxnSpPr>
        <p:spPr>
          <a:xfrm>
            <a:off x="3666900" y="2268975"/>
            <a:ext cx="0" cy="1384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74" name="Google Shape;1674;p92"/>
          <p:cNvSpPr txBox="1"/>
          <p:nvPr>
            <p:ph idx="1" type="body"/>
          </p:nvPr>
        </p:nvSpPr>
        <p:spPr>
          <a:xfrm>
            <a:off x="3704308" y="2783145"/>
            <a:ext cx="9705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 units</a:t>
            </a:r>
            <a:endParaRPr/>
          </a:p>
        </p:txBody>
      </p:sp>
      <p:sp>
        <p:nvSpPr>
          <p:cNvPr id="1675" name="Google Shape;1675;p92"/>
          <p:cNvSpPr txBox="1"/>
          <p:nvPr/>
        </p:nvSpPr>
        <p:spPr>
          <a:xfrm flipH="1">
            <a:off x="5629345" y="2176550"/>
            <a:ext cx="172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4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16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76" name="Google Shape;1676;p92"/>
          <p:cNvSpPr txBox="1"/>
          <p:nvPr/>
        </p:nvSpPr>
        <p:spPr>
          <a:xfrm flipH="1">
            <a:off x="5099278" y="3249531"/>
            <a:ext cx="1427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16 + 9 =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77" name="Google Shape;1677;p92"/>
          <p:cNvSpPr txBox="1"/>
          <p:nvPr/>
        </p:nvSpPr>
        <p:spPr>
          <a:xfrm flipH="1">
            <a:off x="5557772" y="3799052"/>
            <a:ext cx="1117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  = 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78" name="Google Shape;1678;p92"/>
          <p:cNvSpPr txBox="1"/>
          <p:nvPr/>
        </p:nvSpPr>
        <p:spPr>
          <a:xfrm flipH="1">
            <a:off x="5727243" y="2709947"/>
            <a:ext cx="172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9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}&quot;&gt;&lt;msqrt&gt;&lt;mtext&gt;&lt;/mtext&gt;&lt;mtext&gt;&lt;/mtext&gt;&lt;mtext&gt;&lt;/mtext&gt;&lt;mtext&gt;&lt;/mtext&gt;&lt;mtext&gt;&lt;/mtext&gt;&lt;mtext&gt;&lt;/mtext&gt;&lt;mtext&gt;&lt;/mtext&gt;&lt;/msqrt&gt;&lt;/math&gt;" id="1679" name="Google Shape;1679;p92" title="the square root o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40906" y="3801685"/>
            <a:ext cx="615550" cy="293794"/>
          </a:xfrm>
          <a:prstGeom prst="rect">
            <a:avLst/>
          </a:prstGeom>
          <a:noFill/>
          <a:ln>
            <a:noFill/>
          </a:ln>
        </p:spPr>
      </p:pic>
      <p:sp>
        <p:nvSpPr>
          <p:cNvPr id="1680" name="Google Shape;1680;p92"/>
          <p:cNvSpPr txBox="1"/>
          <p:nvPr/>
        </p:nvSpPr>
        <p:spPr>
          <a:xfrm flipH="1">
            <a:off x="6370467" y="3249531"/>
            <a:ext cx="578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81" name="Google Shape;1681;p92"/>
          <p:cNvCxnSpPr/>
          <p:nvPr/>
        </p:nvCxnSpPr>
        <p:spPr>
          <a:xfrm flipH="1">
            <a:off x="1573943" y="2207883"/>
            <a:ext cx="1752300" cy="1297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82" name="Google Shape;1682;p92"/>
          <p:cNvSpPr txBox="1"/>
          <p:nvPr>
            <p:ph idx="1" type="body"/>
          </p:nvPr>
        </p:nvSpPr>
        <p:spPr>
          <a:xfrm>
            <a:off x="1628690" y="2435758"/>
            <a:ext cx="9705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 units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7" name="Google Shape;1687;p93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4327743" y="2962394"/>
            <a:ext cx="3569300" cy="1289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8" name="Google Shape;1688;p93"/>
          <p:cNvCxnSpPr/>
          <p:nvPr/>
        </p:nvCxnSpPr>
        <p:spPr>
          <a:xfrm rot="10800000">
            <a:off x="1006280" y="2481889"/>
            <a:ext cx="19290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89" name="Google Shape;1689;p93"/>
          <p:cNvCxnSpPr/>
          <p:nvPr/>
        </p:nvCxnSpPr>
        <p:spPr>
          <a:xfrm>
            <a:off x="2934744" y="2555560"/>
            <a:ext cx="0" cy="1560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90" name="Google Shape;1690;p93"/>
          <p:cNvSpPr txBox="1"/>
          <p:nvPr>
            <p:ph idx="1" type="body"/>
          </p:nvPr>
        </p:nvSpPr>
        <p:spPr>
          <a:xfrm>
            <a:off x="324000" y="759300"/>
            <a:ext cx="84960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Pythagoras’ theorem can be used to find the distance between pairs of coordinates.</a:t>
            </a:r>
            <a:endParaRPr sz="1800"/>
          </a:p>
        </p:txBody>
      </p:sp>
      <p:sp>
        <p:nvSpPr>
          <p:cNvPr id="1691" name="Google Shape;1691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Pythagoras’ theorem on a coordinate grid</a:t>
            </a:r>
            <a:endParaRPr/>
          </a:p>
        </p:txBody>
      </p:sp>
      <p:sp>
        <p:nvSpPr>
          <p:cNvPr id="1692" name="Google Shape;1692;p93"/>
          <p:cNvSpPr txBox="1"/>
          <p:nvPr>
            <p:ph idx="1" type="body"/>
          </p:nvPr>
        </p:nvSpPr>
        <p:spPr>
          <a:xfrm>
            <a:off x="324000" y="1423107"/>
            <a:ext cx="84960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E.g. </a:t>
            </a:r>
            <a:r>
              <a:rPr lang="en-GB" sz="1800"/>
              <a:t>How far is the point (4, 3) from the origin?</a:t>
            </a:r>
            <a:endParaRPr sz="1800"/>
          </a:p>
        </p:txBody>
      </p:sp>
      <p:sp>
        <p:nvSpPr>
          <p:cNvPr id="1693" name="Google Shape;1693;p93"/>
          <p:cNvSpPr txBox="1"/>
          <p:nvPr>
            <p:ph idx="1" type="body"/>
          </p:nvPr>
        </p:nvSpPr>
        <p:spPr>
          <a:xfrm>
            <a:off x="795970" y="3816287"/>
            <a:ext cx="2193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4" name="Google Shape;1694;p93"/>
          <p:cNvSpPr txBox="1"/>
          <p:nvPr>
            <p:ph idx="1" type="body"/>
          </p:nvPr>
        </p:nvSpPr>
        <p:spPr>
          <a:xfrm>
            <a:off x="2964021" y="2086863"/>
            <a:ext cx="7221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(4, 3)</a:t>
            </a:r>
            <a:endParaRPr sz="2000"/>
          </a:p>
        </p:txBody>
      </p:sp>
      <p:sp>
        <p:nvSpPr>
          <p:cNvPr id="1695" name="Google Shape;1695;p93"/>
          <p:cNvSpPr/>
          <p:nvPr/>
        </p:nvSpPr>
        <p:spPr>
          <a:xfrm>
            <a:off x="1032444" y="3808225"/>
            <a:ext cx="135000" cy="135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6" name="Google Shape;1696;p93"/>
          <p:cNvSpPr/>
          <p:nvPr/>
        </p:nvSpPr>
        <p:spPr>
          <a:xfrm>
            <a:off x="2880081" y="2415425"/>
            <a:ext cx="135000" cy="135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97" name="Google Shape;1697;p93"/>
          <p:cNvCxnSpPr/>
          <p:nvPr/>
        </p:nvCxnSpPr>
        <p:spPr>
          <a:xfrm rot="10800000">
            <a:off x="1099944" y="1908830"/>
            <a:ext cx="0" cy="1964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8" name="Google Shape;1698;p93"/>
          <p:cNvCxnSpPr/>
          <p:nvPr/>
        </p:nvCxnSpPr>
        <p:spPr>
          <a:xfrm>
            <a:off x="1090219" y="3884811"/>
            <a:ext cx="2326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9" name="Google Shape;1699;p93"/>
          <p:cNvSpPr txBox="1"/>
          <p:nvPr>
            <p:ph idx="1" type="body"/>
          </p:nvPr>
        </p:nvSpPr>
        <p:spPr>
          <a:xfrm>
            <a:off x="861468" y="1779012"/>
            <a:ext cx="2193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0" name="Google Shape;1700;p93"/>
          <p:cNvSpPr txBox="1"/>
          <p:nvPr>
            <p:ph idx="1" type="body"/>
          </p:nvPr>
        </p:nvSpPr>
        <p:spPr>
          <a:xfrm>
            <a:off x="3376068" y="3836412"/>
            <a:ext cx="2193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1" name="Google Shape;1701;p93"/>
          <p:cNvSpPr txBox="1"/>
          <p:nvPr>
            <p:ph idx="1" type="body"/>
          </p:nvPr>
        </p:nvSpPr>
        <p:spPr>
          <a:xfrm>
            <a:off x="2839831" y="4060280"/>
            <a:ext cx="2937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 </a:t>
            </a:r>
            <a:endParaRPr sz="2000"/>
          </a:p>
        </p:txBody>
      </p:sp>
      <p:sp>
        <p:nvSpPr>
          <p:cNvPr id="1702" name="Google Shape;1702;p93"/>
          <p:cNvSpPr txBox="1"/>
          <p:nvPr>
            <p:ph idx="1" type="body"/>
          </p:nvPr>
        </p:nvSpPr>
        <p:spPr>
          <a:xfrm>
            <a:off x="857158" y="2325652"/>
            <a:ext cx="2937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</a:t>
            </a:r>
            <a:r>
              <a:rPr lang="en-GB" sz="2000"/>
              <a:t> </a:t>
            </a:r>
            <a:endParaRPr sz="2000"/>
          </a:p>
        </p:txBody>
      </p:sp>
      <p:pic>
        <p:nvPicPr>
          <p:cNvPr id="1703" name="Google Shape;1703;p93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5011226" y="1678237"/>
            <a:ext cx="3350374" cy="1342799"/>
          </a:xfrm>
          <a:prstGeom prst="rect">
            <a:avLst/>
          </a:prstGeom>
          <a:noFill/>
          <a:ln>
            <a:noFill/>
          </a:ln>
        </p:spPr>
      </p:pic>
      <p:sp>
        <p:nvSpPr>
          <p:cNvPr id="1704" name="Google Shape;1704;p93"/>
          <p:cNvSpPr txBox="1"/>
          <p:nvPr>
            <p:ph idx="1" type="body"/>
          </p:nvPr>
        </p:nvSpPr>
        <p:spPr>
          <a:xfrm>
            <a:off x="5123600" y="1785500"/>
            <a:ext cx="3020100" cy="108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This question has no diagram</a:t>
            </a:r>
            <a:r>
              <a:rPr lang="en-GB" sz="1600"/>
              <a:t>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Does that mean Pythagoras’ theorem isn’t useful here?</a:t>
            </a:r>
            <a:endParaRPr sz="1600"/>
          </a:p>
        </p:txBody>
      </p:sp>
      <p:sp>
        <p:nvSpPr>
          <p:cNvPr id="1705" name="Google Shape;1705;p93"/>
          <p:cNvSpPr txBox="1"/>
          <p:nvPr>
            <p:ph idx="1" type="body"/>
          </p:nvPr>
        </p:nvSpPr>
        <p:spPr>
          <a:xfrm>
            <a:off x="4392100" y="3092925"/>
            <a:ext cx="3280800" cy="9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We could draw a set of axes and mark roughly where (4, 3) would be in relation to the origin.</a:t>
            </a:r>
            <a:endParaRPr sz="1600"/>
          </a:p>
        </p:txBody>
      </p:sp>
      <p:pic>
        <p:nvPicPr>
          <p:cNvPr id="1706" name="Google Shape;1706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0735" y="3814057"/>
            <a:ext cx="587640" cy="75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7" name="Google Shape;1707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92292" y="2692649"/>
            <a:ext cx="602108" cy="667948"/>
          </a:xfrm>
          <a:prstGeom prst="rect">
            <a:avLst/>
          </a:prstGeom>
          <a:noFill/>
          <a:ln>
            <a:noFill/>
          </a:ln>
        </p:spPr>
      </p:pic>
      <p:sp>
        <p:nvSpPr>
          <p:cNvPr id="1708" name="Google Shape;1708;p93"/>
          <p:cNvSpPr txBox="1"/>
          <p:nvPr>
            <p:ph idx="1" type="body"/>
          </p:nvPr>
        </p:nvSpPr>
        <p:spPr>
          <a:xfrm>
            <a:off x="8091937" y="3399328"/>
            <a:ext cx="682200" cy="29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Sofia</a:t>
            </a:r>
            <a:endParaRPr sz="1600"/>
          </a:p>
        </p:txBody>
      </p:sp>
      <p:sp>
        <p:nvSpPr>
          <p:cNvPr id="1709" name="Google Shape;1709;p93"/>
          <p:cNvSpPr txBox="1"/>
          <p:nvPr>
            <p:ph idx="1" type="body"/>
          </p:nvPr>
        </p:nvSpPr>
        <p:spPr>
          <a:xfrm>
            <a:off x="7589499" y="4562650"/>
            <a:ext cx="799200" cy="29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Andeep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4" name="Google Shape;1714;p94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4937797" y="2962400"/>
            <a:ext cx="2883052" cy="1289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5" name="Google Shape;1715;p94"/>
          <p:cNvCxnSpPr/>
          <p:nvPr/>
        </p:nvCxnSpPr>
        <p:spPr>
          <a:xfrm rot="10800000">
            <a:off x="1006280" y="2481889"/>
            <a:ext cx="19290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16" name="Google Shape;1716;p94"/>
          <p:cNvCxnSpPr/>
          <p:nvPr/>
        </p:nvCxnSpPr>
        <p:spPr>
          <a:xfrm>
            <a:off x="2934744" y="2555560"/>
            <a:ext cx="0" cy="1560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17" name="Google Shape;1717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Pythagoras’ theorem on a coordinate grid</a:t>
            </a:r>
            <a:endParaRPr/>
          </a:p>
        </p:txBody>
      </p:sp>
      <p:grpSp>
        <p:nvGrpSpPr>
          <p:cNvPr id="1718" name="Google Shape;1718;p94"/>
          <p:cNvGrpSpPr/>
          <p:nvPr/>
        </p:nvGrpSpPr>
        <p:grpSpPr>
          <a:xfrm rot="10800000">
            <a:off x="1087302" y="2483677"/>
            <a:ext cx="1850942" cy="1395123"/>
            <a:chOff x="1624408" y="2255077"/>
            <a:chExt cx="1850942" cy="1395123"/>
          </a:xfrm>
        </p:grpSpPr>
        <p:sp>
          <p:nvSpPr>
            <p:cNvPr id="1719" name="Google Shape;1719;p94"/>
            <p:cNvSpPr/>
            <p:nvPr/>
          </p:nvSpPr>
          <p:spPr>
            <a:xfrm flipH="1" rot="10800000">
              <a:off x="1626750" y="2256400"/>
              <a:ext cx="1848600" cy="1393800"/>
            </a:xfrm>
            <a:prstGeom prst="rtTriangle">
              <a:avLst/>
            </a:prstGeom>
            <a:solidFill>
              <a:srgbClr val="FAEAF6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0" name="Google Shape;1720;p94"/>
            <p:cNvSpPr/>
            <p:nvPr/>
          </p:nvSpPr>
          <p:spPr>
            <a:xfrm>
              <a:off x="1624408" y="2255077"/>
              <a:ext cx="174000" cy="1740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21" name="Google Shape;1721;p94"/>
          <p:cNvSpPr txBox="1"/>
          <p:nvPr>
            <p:ph idx="1" type="body"/>
          </p:nvPr>
        </p:nvSpPr>
        <p:spPr>
          <a:xfrm>
            <a:off x="795970" y="3816287"/>
            <a:ext cx="2193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2" name="Google Shape;1722;p94"/>
          <p:cNvSpPr txBox="1"/>
          <p:nvPr>
            <p:ph idx="1" type="body"/>
          </p:nvPr>
        </p:nvSpPr>
        <p:spPr>
          <a:xfrm>
            <a:off x="2964021" y="2086863"/>
            <a:ext cx="7221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(4, 3)</a:t>
            </a:r>
            <a:endParaRPr sz="2000"/>
          </a:p>
        </p:txBody>
      </p:sp>
      <p:cxnSp>
        <p:nvCxnSpPr>
          <p:cNvPr id="1723" name="Google Shape;1723;p94"/>
          <p:cNvCxnSpPr/>
          <p:nvPr/>
        </p:nvCxnSpPr>
        <p:spPr>
          <a:xfrm flipH="1" rot="10800000">
            <a:off x="1094375" y="2481900"/>
            <a:ext cx="1848600" cy="13938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4" name="Google Shape;1724;p94"/>
          <p:cNvSpPr/>
          <p:nvPr/>
        </p:nvSpPr>
        <p:spPr>
          <a:xfrm>
            <a:off x="1032444" y="3808225"/>
            <a:ext cx="135000" cy="135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5" name="Google Shape;1725;p94"/>
          <p:cNvSpPr/>
          <p:nvPr/>
        </p:nvSpPr>
        <p:spPr>
          <a:xfrm>
            <a:off x="2880081" y="2415425"/>
            <a:ext cx="135000" cy="135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6" name="Google Shape;1726;p94"/>
          <p:cNvSpPr txBox="1"/>
          <p:nvPr>
            <p:ph idx="1" type="body"/>
          </p:nvPr>
        </p:nvSpPr>
        <p:spPr>
          <a:xfrm>
            <a:off x="1600133" y="4059872"/>
            <a:ext cx="9705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 units</a:t>
            </a:r>
            <a:endParaRPr sz="2000"/>
          </a:p>
        </p:txBody>
      </p:sp>
      <p:cxnSp>
        <p:nvCxnSpPr>
          <p:cNvPr id="1727" name="Google Shape;1727;p94"/>
          <p:cNvCxnSpPr/>
          <p:nvPr/>
        </p:nvCxnSpPr>
        <p:spPr>
          <a:xfrm>
            <a:off x="1087300" y="4032194"/>
            <a:ext cx="1832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28" name="Google Shape;1728;p94"/>
          <p:cNvCxnSpPr/>
          <p:nvPr/>
        </p:nvCxnSpPr>
        <p:spPr>
          <a:xfrm>
            <a:off x="3133500" y="2497575"/>
            <a:ext cx="0" cy="1384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29" name="Google Shape;1729;p94"/>
          <p:cNvSpPr txBox="1"/>
          <p:nvPr>
            <p:ph idx="1" type="body"/>
          </p:nvPr>
        </p:nvSpPr>
        <p:spPr>
          <a:xfrm>
            <a:off x="3170908" y="3077675"/>
            <a:ext cx="9705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 units</a:t>
            </a:r>
            <a:endParaRPr sz="2000"/>
          </a:p>
        </p:txBody>
      </p:sp>
      <p:cxnSp>
        <p:nvCxnSpPr>
          <p:cNvPr id="1730" name="Google Shape;1730;p94"/>
          <p:cNvCxnSpPr/>
          <p:nvPr/>
        </p:nvCxnSpPr>
        <p:spPr>
          <a:xfrm rot="10800000">
            <a:off x="1099944" y="1908830"/>
            <a:ext cx="0" cy="1964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1" name="Google Shape;1731;p94"/>
          <p:cNvCxnSpPr/>
          <p:nvPr/>
        </p:nvCxnSpPr>
        <p:spPr>
          <a:xfrm>
            <a:off x="1090219" y="3884811"/>
            <a:ext cx="2326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2" name="Google Shape;1732;p94"/>
          <p:cNvSpPr txBox="1"/>
          <p:nvPr>
            <p:ph idx="1" type="body"/>
          </p:nvPr>
        </p:nvSpPr>
        <p:spPr>
          <a:xfrm>
            <a:off x="861468" y="1779012"/>
            <a:ext cx="2193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3" name="Google Shape;1733;p94"/>
          <p:cNvSpPr txBox="1"/>
          <p:nvPr>
            <p:ph idx="1" type="body"/>
          </p:nvPr>
        </p:nvSpPr>
        <p:spPr>
          <a:xfrm>
            <a:off x="3376068" y="3836412"/>
            <a:ext cx="2193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4" name="Google Shape;1734;p94"/>
          <p:cNvSpPr txBox="1"/>
          <p:nvPr>
            <p:ph idx="1" type="body"/>
          </p:nvPr>
        </p:nvSpPr>
        <p:spPr>
          <a:xfrm>
            <a:off x="2839831" y="4060280"/>
            <a:ext cx="2937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 </a:t>
            </a:r>
            <a:endParaRPr sz="2000"/>
          </a:p>
        </p:txBody>
      </p:sp>
      <p:sp>
        <p:nvSpPr>
          <p:cNvPr id="1735" name="Google Shape;1735;p94"/>
          <p:cNvSpPr txBox="1"/>
          <p:nvPr>
            <p:ph idx="1" type="body"/>
          </p:nvPr>
        </p:nvSpPr>
        <p:spPr>
          <a:xfrm>
            <a:off x="857158" y="2325652"/>
            <a:ext cx="2937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 </a:t>
            </a:r>
            <a:endParaRPr sz="2000"/>
          </a:p>
        </p:txBody>
      </p:sp>
      <p:pic>
        <p:nvPicPr>
          <p:cNvPr id="1736" name="Google Shape;1736;p94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4744300" y="1686670"/>
            <a:ext cx="3617300" cy="12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7" name="Google Shape;1737;p94"/>
          <p:cNvSpPr txBox="1"/>
          <p:nvPr>
            <p:ph idx="1" type="body"/>
          </p:nvPr>
        </p:nvSpPr>
        <p:spPr>
          <a:xfrm>
            <a:off x="4872441" y="1807427"/>
            <a:ext cx="3176700" cy="108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If we draw a line from the origin to (4, 3), a right-angled triangle becomes clearer to see.</a:t>
            </a:r>
            <a:endParaRPr sz="1600"/>
          </a:p>
        </p:txBody>
      </p:sp>
      <p:sp>
        <p:nvSpPr>
          <p:cNvPr id="1738" name="Google Shape;1738;p94"/>
          <p:cNvSpPr txBox="1"/>
          <p:nvPr>
            <p:ph idx="1" type="body"/>
          </p:nvPr>
        </p:nvSpPr>
        <p:spPr>
          <a:xfrm>
            <a:off x="5090850" y="3092925"/>
            <a:ext cx="2440500" cy="9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This is the same triangle that we used to solve the previous problem.</a:t>
            </a:r>
            <a:endParaRPr sz="1600"/>
          </a:p>
        </p:txBody>
      </p:sp>
      <p:pic>
        <p:nvPicPr>
          <p:cNvPr id="1739" name="Google Shape;1739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0735" y="3814057"/>
            <a:ext cx="587640" cy="75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0" name="Google Shape;1740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92292" y="2677109"/>
            <a:ext cx="602108" cy="667948"/>
          </a:xfrm>
          <a:prstGeom prst="rect">
            <a:avLst/>
          </a:prstGeom>
          <a:noFill/>
          <a:ln>
            <a:noFill/>
          </a:ln>
        </p:spPr>
      </p:pic>
      <p:sp>
        <p:nvSpPr>
          <p:cNvPr id="1741" name="Google Shape;1741;p94"/>
          <p:cNvSpPr txBox="1"/>
          <p:nvPr>
            <p:ph idx="1" type="body"/>
          </p:nvPr>
        </p:nvSpPr>
        <p:spPr>
          <a:xfrm>
            <a:off x="8091937" y="3383789"/>
            <a:ext cx="682200" cy="29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Sofia</a:t>
            </a:r>
            <a:endParaRPr sz="1600"/>
          </a:p>
        </p:txBody>
      </p:sp>
      <p:sp>
        <p:nvSpPr>
          <p:cNvPr id="1742" name="Google Shape;1742;p94"/>
          <p:cNvSpPr txBox="1"/>
          <p:nvPr>
            <p:ph idx="1" type="body"/>
          </p:nvPr>
        </p:nvSpPr>
        <p:spPr>
          <a:xfrm>
            <a:off x="7589499" y="4562650"/>
            <a:ext cx="799200" cy="29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Andeep</a:t>
            </a:r>
            <a:endParaRPr sz="1600"/>
          </a:p>
        </p:txBody>
      </p:sp>
      <p:sp>
        <p:nvSpPr>
          <p:cNvPr id="1743" name="Google Shape;1743;p94"/>
          <p:cNvSpPr txBox="1"/>
          <p:nvPr>
            <p:ph idx="1" type="body"/>
          </p:nvPr>
        </p:nvSpPr>
        <p:spPr>
          <a:xfrm>
            <a:off x="324000" y="759300"/>
            <a:ext cx="84960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Pythagoras’ theorem can be used to find the distance between pairs of coordinates.</a:t>
            </a:r>
            <a:endParaRPr sz="1800"/>
          </a:p>
        </p:txBody>
      </p:sp>
      <p:sp>
        <p:nvSpPr>
          <p:cNvPr id="1744" name="Google Shape;1744;p94"/>
          <p:cNvSpPr txBox="1"/>
          <p:nvPr>
            <p:ph idx="1" type="body"/>
          </p:nvPr>
        </p:nvSpPr>
        <p:spPr>
          <a:xfrm>
            <a:off x="324000" y="1423107"/>
            <a:ext cx="84960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E.g. How far is the point (4, 3) from the origin?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9" name="Google Shape;1749;p95"/>
          <p:cNvCxnSpPr/>
          <p:nvPr/>
        </p:nvCxnSpPr>
        <p:spPr>
          <a:xfrm rot="10800000">
            <a:off x="1006280" y="2481889"/>
            <a:ext cx="19290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50" name="Google Shape;1750;p95"/>
          <p:cNvCxnSpPr/>
          <p:nvPr/>
        </p:nvCxnSpPr>
        <p:spPr>
          <a:xfrm>
            <a:off x="2934744" y="2555560"/>
            <a:ext cx="0" cy="1560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51" name="Google Shape;1751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Pythagoras’ theorem on a coordinate grid</a:t>
            </a:r>
            <a:endParaRPr/>
          </a:p>
        </p:txBody>
      </p:sp>
      <p:grpSp>
        <p:nvGrpSpPr>
          <p:cNvPr id="1752" name="Google Shape;1752;p95"/>
          <p:cNvGrpSpPr/>
          <p:nvPr/>
        </p:nvGrpSpPr>
        <p:grpSpPr>
          <a:xfrm rot="10800000">
            <a:off x="1087302" y="2483677"/>
            <a:ext cx="1850942" cy="1395123"/>
            <a:chOff x="1624408" y="2255077"/>
            <a:chExt cx="1850942" cy="1395123"/>
          </a:xfrm>
        </p:grpSpPr>
        <p:sp>
          <p:nvSpPr>
            <p:cNvPr id="1753" name="Google Shape;1753;p95"/>
            <p:cNvSpPr/>
            <p:nvPr/>
          </p:nvSpPr>
          <p:spPr>
            <a:xfrm flipH="1" rot="10800000">
              <a:off x="1626750" y="2256400"/>
              <a:ext cx="1848600" cy="1393800"/>
            </a:xfrm>
            <a:prstGeom prst="rtTriangle">
              <a:avLst/>
            </a:prstGeom>
            <a:solidFill>
              <a:srgbClr val="FAEAF6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4" name="Google Shape;1754;p95"/>
            <p:cNvSpPr/>
            <p:nvPr/>
          </p:nvSpPr>
          <p:spPr>
            <a:xfrm>
              <a:off x="1624408" y="2255077"/>
              <a:ext cx="174000" cy="1740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55" name="Google Shape;1755;p95"/>
          <p:cNvSpPr txBox="1"/>
          <p:nvPr>
            <p:ph idx="1" type="body"/>
          </p:nvPr>
        </p:nvSpPr>
        <p:spPr>
          <a:xfrm>
            <a:off x="795970" y="3816287"/>
            <a:ext cx="2193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6" name="Google Shape;1756;p95"/>
          <p:cNvSpPr txBox="1"/>
          <p:nvPr>
            <p:ph idx="1" type="body"/>
          </p:nvPr>
        </p:nvSpPr>
        <p:spPr>
          <a:xfrm>
            <a:off x="2964021" y="2086863"/>
            <a:ext cx="7221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(4, 3)</a:t>
            </a:r>
            <a:endParaRPr sz="2000"/>
          </a:p>
        </p:txBody>
      </p:sp>
      <p:cxnSp>
        <p:nvCxnSpPr>
          <p:cNvPr id="1757" name="Google Shape;1757;p95"/>
          <p:cNvCxnSpPr/>
          <p:nvPr/>
        </p:nvCxnSpPr>
        <p:spPr>
          <a:xfrm flipH="1" rot="10800000">
            <a:off x="1094375" y="2481900"/>
            <a:ext cx="1848600" cy="13938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8" name="Google Shape;1758;p95"/>
          <p:cNvSpPr/>
          <p:nvPr/>
        </p:nvSpPr>
        <p:spPr>
          <a:xfrm>
            <a:off x="1032444" y="3808225"/>
            <a:ext cx="135000" cy="135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9" name="Google Shape;1759;p95"/>
          <p:cNvSpPr/>
          <p:nvPr/>
        </p:nvSpPr>
        <p:spPr>
          <a:xfrm>
            <a:off x="2880081" y="2415425"/>
            <a:ext cx="135000" cy="135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0" name="Google Shape;1760;p95"/>
          <p:cNvSpPr txBox="1"/>
          <p:nvPr>
            <p:ph idx="1" type="body"/>
          </p:nvPr>
        </p:nvSpPr>
        <p:spPr>
          <a:xfrm>
            <a:off x="1600133" y="4059872"/>
            <a:ext cx="9705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 units</a:t>
            </a:r>
            <a:endParaRPr sz="2000"/>
          </a:p>
        </p:txBody>
      </p:sp>
      <p:cxnSp>
        <p:nvCxnSpPr>
          <p:cNvPr id="1761" name="Google Shape;1761;p95"/>
          <p:cNvCxnSpPr/>
          <p:nvPr/>
        </p:nvCxnSpPr>
        <p:spPr>
          <a:xfrm>
            <a:off x="1087300" y="4032194"/>
            <a:ext cx="1832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62" name="Google Shape;1762;p95"/>
          <p:cNvCxnSpPr/>
          <p:nvPr/>
        </p:nvCxnSpPr>
        <p:spPr>
          <a:xfrm>
            <a:off x="3133500" y="2497575"/>
            <a:ext cx="0" cy="1384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63" name="Google Shape;1763;p95"/>
          <p:cNvSpPr txBox="1"/>
          <p:nvPr>
            <p:ph idx="1" type="body"/>
          </p:nvPr>
        </p:nvSpPr>
        <p:spPr>
          <a:xfrm>
            <a:off x="3170908" y="3077675"/>
            <a:ext cx="9705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 units</a:t>
            </a:r>
            <a:endParaRPr sz="2000"/>
          </a:p>
        </p:txBody>
      </p:sp>
      <p:cxnSp>
        <p:nvCxnSpPr>
          <p:cNvPr id="1764" name="Google Shape;1764;p95"/>
          <p:cNvCxnSpPr/>
          <p:nvPr/>
        </p:nvCxnSpPr>
        <p:spPr>
          <a:xfrm flipH="1">
            <a:off x="1132943" y="2436483"/>
            <a:ext cx="1659900" cy="1264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65" name="Google Shape;1765;p95"/>
          <p:cNvSpPr txBox="1"/>
          <p:nvPr>
            <p:ph idx="1" type="body"/>
          </p:nvPr>
        </p:nvSpPr>
        <p:spPr>
          <a:xfrm>
            <a:off x="1323890" y="2664358"/>
            <a:ext cx="9705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5 units</a:t>
            </a:r>
            <a:endParaRPr sz="2000"/>
          </a:p>
        </p:txBody>
      </p:sp>
      <p:cxnSp>
        <p:nvCxnSpPr>
          <p:cNvPr id="1766" name="Google Shape;1766;p95"/>
          <p:cNvCxnSpPr/>
          <p:nvPr/>
        </p:nvCxnSpPr>
        <p:spPr>
          <a:xfrm rot="10800000">
            <a:off x="1099944" y="1908830"/>
            <a:ext cx="0" cy="1964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7" name="Google Shape;1767;p95"/>
          <p:cNvCxnSpPr/>
          <p:nvPr/>
        </p:nvCxnSpPr>
        <p:spPr>
          <a:xfrm>
            <a:off x="1090219" y="3884811"/>
            <a:ext cx="2326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8" name="Google Shape;1768;p95"/>
          <p:cNvSpPr txBox="1"/>
          <p:nvPr>
            <p:ph idx="1" type="body"/>
          </p:nvPr>
        </p:nvSpPr>
        <p:spPr>
          <a:xfrm>
            <a:off x="861468" y="1779012"/>
            <a:ext cx="2193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9" name="Google Shape;1769;p95"/>
          <p:cNvSpPr txBox="1"/>
          <p:nvPr>
            <p:ph idx="1" type="body"/>
          </p:nvPr>
        </p:nvSpPr>
        <p:spPr>
          <a:xfrm>
            <a:off x="3376068" y="3836412"/>
            <a:ext cx="2193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0" name="Google Shape;1770;p95"/>
          <p:cNvSpPr txBox="1"/>
          <p:nvPr>
            <p:ph idx="1" type="body"/>
          </p:nvPr>
        </p:nvSpPr>
        <p:spPr>
          <a:xfrm>
            <a:off x="2839831" y="4060280"/>
            <a:ext cx="2937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 </a:t>
            </a:r>
            <a:endParaRPr sz="2000"/>
          </a:p>
        </p:txBody>
      </p:sp>
      <p:sp>
        <p:nvSpPr>
          <p:cNvPr id="1771" name="Google Shape;1771;p95"/>
          <p:cNvSpPr txBox="1"/>
          <p:nvPr>
            <p:ph idx="1" type="body"/>
          </p:nvPr>
        </p:nvSpPr>
        <p:spPr>
          <a:xfrm>
            <a:off x="857158" y="2325652"/>
            <a:ext cx="2937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 </a:t>
            </a:r>
            <a:endParaRPr sz="2000"/>
          </a:p>
        </p:txBody>
      </p:sp>
      <p:pic>
        <p:nvPicPr>
          <p:cNvPr id="1772" name="Google Shape;1772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0735" y="3814057"/>
            <a:ext cx="587640" cy="75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3" name="Google Shape;1773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2292" y="2560565"/>
            <a:ext cx="602108" cy="667948"/>
          </a:xfrm>
          <a:prstGeom prst="rect">
            <a:avLst/>
          </a:prstGeom>
          <a:noFill/>
          <a:ln>
            <a:noFill/>
          </a:ln>
        </p:spPr>
      </p:pic>
      <p:sp>
        <p:nvSpPr>
          <p:cNvPr id="1774" name="Google Shape;1774;p95"/>
          <p:cNvSpPr txBox="1"/>
          <p:nvPr>
            <p:ph idx="1" type="body"/>
          </p:nvPr>
        </p:nvSpPr>
        <p:spPr>
          <a:xfrm>
            <a:off x="8091937" y="3267245"/>
            <a:ext cx="682200" cy="29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Sofia</a:t>
            </a:r>
            <a:endParaRPr sz="1600"/>
          </a:p>
        </p:txBody>
      </p:sp>
      <p:sp>
        <p:nvSpPr>
          <p:cNvPr id="1775" name="Google Shape;1775;p95"/>
          <p:cNvSpPr txBox="1"/>
          <p:nvPr>
            <p:ph idx="1" type="body"/>
          </p:nvPr>
        </p:nvSpPr>
        <p:spPr>
          <a:xfrm>
            <a:off x="7589499" y="4562650"/>
            <a:ext cx="799200" cy="29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Andeep</a:t>
            </a:r>
            <a:endParaRPr sz="1600"/>
          </a:p>
        </p:txBody>
      </p:sp>
      <p:sp>
        <p:nvSpPr>
          <p:cNvPr id="1776" name="Google Shape;1776;p95"/>
          <p:cNvSpPr txBox="1"/>
          <p:nvPr/>
        </p:nvSpPr>
        <p:spPr>
          <a:xfrm flipH="1">
            <a:off x="5294963" y="2176550"/>
            <a:ext cx="172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4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16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7" name="Google Shape;1777;p95"/>
          <p:cNvSpPr txBox="1"/>
          <p:nvPr/>
        </p:nvSpPr>
        <p:spPr>
          <a:xfrm flipH="1">
            <a:off x="4780436" y="3249531"/>
            <a:ext cx="1427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16 + 9 =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8" name="Google Shape;1778;p95"/>
          <p:cNvSpPr txBox="1"/>
          <p:nvPr/>
        </p:nvSpPr>
        <p:spPr>
          <a:xfrm flipH="1">
            <a:off x="5238930" y="3799052"/>
            <a:ext cx="1117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  = 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9" name="Google Shape;1779;p95"/>
          <p:cNvSpPr txBox="1"/>
          <p:nvPr/>
        </p:nvSpPr>
        <p:spPr>
          <a:xfrm flipH="1">
            <a:off x="5408400" y="2709947"/>
            <a:ext cx="172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9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}&quot;&gt;&lt;msqrt&gt;&lt;mtext&gt;&lt;/mtext&gt;&lt;mtext&gt;&lt;/mtext&gt;&lt;mtext&gt;&lt;/mtext&gt;&lt;mtext&gt;&lt;/mtext&gt;&lt;mtext&gt;&lt;/mtext&gt;&lt;mtext&gt;&lt;/mtext&gt;&lt;mtext&gt;&lt;/mtext&gt;&lt;/msqrt&gt;&lt;/math&gt;" id="1780" name="Google Shape;1780;p95" title="the square root o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9832" y="3801685"/>
            <a:ext cx="615550" cy="293794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Google Shape;1781;p95"/>
          <p:cNvSpPr txBox="1"/>
          <p:nvPr/>
        </p:nvSpPr>
        <p:spPr>
          <a:xfrm flipH="1">
            <a:off x="6051624" y="3249531"/>
            <a:ext cx="578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2" name="Google Shape;1782;p95"/>
          <p:cNvSpPr txBox="1"/>
          <p:nvPr>
            <p:ph idx="1" type="body"/>
          </p:nvPr>
        </p:nvSpPr>
        <p:spPr>
          <a:xfrm>
            <a:off x="324000" y="759300"/>
            <a:ext cx="84960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Pythagoras’ theorem can be used to find the distance between pairs of coordinates.</a:t>
            </a:r>
            <a:endParaRPr sz="1800"/>
          </a:p>
        </p:txBody>
      </p:sp>
      <p:sp>
        <p:nvSpPr>
          <p:cNvPr id="1783" name="Google Shape;1783;p95"/>
          <p:cNvSpPr txBox="1"/>
          <p:nvPr>
            <p:ph idx="1" type="body"/>
          </p:nvPr>
        </p:nvSpPr>
        <p:spPr>
          <a:xfrm>
            <a:off x="324000" y="1423107"/>
            <a:ext cx="84960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E.g. How far is the point (4, 3) from the origin?</a:t>
            </a:r>
            <a:endParaRPr sz="1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8" name="Google Shape;1788;p96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4327750" y="2761177"/>
            <a:ext cx="3569300" cy="1495726"/>
          </a:xfrm>
          <a:prstGeom prst="rect">
            <a:avLst/>
          </a:prstGeom>
          <a:noFill/>
          <a:ln>
            <a:noFill/>
          </a:ln>
        </p:spPr>
      </p:pic>
      <p:sp>
        <p:nvSpPr>
          <p:cNvPr id="1789" name="Google Shape;1789;p96"/>
          <p:cNvSpPr txBox="1"/>
          <p:nvPr>
            <p:ph idx="1" type="body"/>
          </p:nvPr>
        </p:nvSpPr>
        <p:spPr>
          <a:xfrm>
            <a:off x="324000" y="759300"/>
            <a:ext cx="8496000" cy="95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Pythagoras’ theorem can be used to find the radius of a circle on a coordinate grid when the coordinates of the centre and a point on the circumference are known.</a:t>
            </a:r>
            <a:endParaRPr sz="1800"/>
          </a:p>
        </p:txBody>
      </p:sp>
      <p:sp>
        <p:nvSpPr>
          <p:cNvPr id="1790" name="Google Shape;1790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Pythagoras’ theorem on a coordinate grid</a:t>
            </a:r>
            <a:endParaRPr/>
          </a:p>
        </p:txBody>
      </p:sp>
      <p:pic>
        <p:nvPicPr>
          <p:cNvPr id="1791" name="Google Shape;1791;p96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5087426" y="1546150"/>
            <a:ext cx="3350374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2" name="Google Shape;1792;p96"/>
          <p:cNvSpPr txBox="1"/>
          <p:nvPr>
            <p:ph idx="1" type="body"/>
          </p:nvPr>
        </p:nvSpPr>
        <p:spPr>
          <a:xfrm>
            <a:off x="5199800" y="1653425"/>
            <a:ext cx="2968800" cy="9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We normally use Pythagoras’ theorem when there are triangles, not circles.</a:t>
            </a:r>
            <a:endParaRPr sz="1600"/>
          </a:p>
        </p:txBody>
      </p:sp>
      <p:sp>
        <p:nvSpPr>
          <p:cNvPr id="1793" name="Google Shape;1793;p96"/>
          <p:cNvSpPr txBox="1"/>
          <p:nvPr>
            <p:ph idx="1" type="body"/>
          </p:nvPr>
        </p:nvSpPr>
        <p:spPr>
          <a:xfrm>
            <a:off x="4410275" y="2864325"/>
            <a:ext cx="3197100" cy="95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The centre is at the origin and the circumference goes through (4, 3). The radius is the distance between these two points.</a:t>
            </a:r>
            <a:endParaRPr sz="1600"/>
          </a:p>
        </p:txBody>
      </p:sp>
      <p:pic>
        <p:nvPicPr>
          <p:cNvPr id="1794" name="Google Shape;1794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0735" y="3814057"/>
            <a:ext cx="587640" cy="75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5" name="Google Shape;1795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92292" y="2560565"/>
            <a:ext cx="602108" cy="667948"/>
          </a:xfrm>
          <a:prstGeom prst="rect">
            <a:avLst/>
          </a:prstGeom>
          <a:noFill/>
          <a:ln>
            <a:noFill/>
          </a:ln>
        </p:spPr>
      </p:pic>
      <p:sp>
        <p:nvSpPr>
          <p:cNvPr id="1796" name="Google Shape;1796;p96"/>
          <p:cNvSpPr txBox="1"/>
          <p:nvPr>
            <p:ph idx="1" type="body"/>
          </p:nvPr>
        </p:nvSpPr>
        <p:spPr>
          <a:xfrm>
            <a:off x="8091937" y="3267245"/>
            <a:ext cx="682200" cy="29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Sofia</a:t>
            </a:r>
            <a:endParaRPr sz="1600"/>
          </a:p>
        </p:txBody>
      </p:sp>
      <p:sp>
        <p:nvSpPr>
          <p:cNvPr id="1797" name="Google Shape;1797;p96"/>
          <p:cNvSpPr txBox="1"/>
          <p:nvPr>
            <p:ph idx="1" type="body"/>
          </p:nvPr>
        </p:nvSpPr>
        <p:spPr>
          <a:xfrm>
            <a:off x="7589499" y="4562650"/>
            <a:ext cx="799200" cy="29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Andeep</a:t>
            </a:r>
            <a:endParaRPr sz="1600"/>
          </a:p>
        </p:txBody>
      </p:sp>
      <p:cxnSp>
        <p:nvCxnSpPr>
          <p:cNvPr id="1798" name="Google Shape;1798;p96"/>
          <p:cNvCxnSpPr/>
          <p:nvPr/>
        </p:nvCxnSpPr>
        <p:spPr>
          <a:xfrm rot="10800000">
            <a:off x="2088119" y="2236407"/>
            <a:ext cx="0" cy="255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9" name="Google Shape;1799;p96"/>
          <p:cNvCxnSpPr/>
          <p:nvPr/>
        </p:nvCxnSpPr>
        <p:spPr>
          <a:xfrm>
            <a:off x="921473" y="3621661"/>
            <a:ext cx="2586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0" name="Google Shape;1800;p96"/>
          <p:cNvSpPr/>
          <p:nvPr/>
        </p:nvSpPr>
        <p:spPr>
          <a:xfrm>
            <a:off x="1009132" y="2514037"/>
            <a:ext cx="2186700" cy="2186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1" name="Google Shape;1801;p96"/>
          <p:cNvSpPr txBox="1"/>
          <p:nvPr/>
        </p:nvSpPr>
        <p:spPr>
          <a:xfrm>
            <a:off x="1875252" y="3348926"/>
            <a:ext cx="3045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2" name="Google Shape;1802;p96"/>
          <p:cNvSpPr txBox="1"/>
          <p:nvPr/>
        </p:nvSpPr>
        <p:spPr>
          <a:xfrm>
            <a:off x="1904100" y="2133554"/>
            <a:ext cx="2760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3" name="Google Shape;1803;p96"/>
          <p:cNvSpPr txBox="1"/>
          <p:nvPr/>
        </p:nvSpPr>
        <p:spPr>
          <a:xfrm>
            <a:off x="3366518" y="3586864"/>
            <a:ext cx="2145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4" name="Google Shape;1804;p96"/>
          <p:cNvSpPr txBox="1"/>
          <p:nvPr>
            <p:ph idx="1" type="body"/>
          </p:nvPr>
        </p:nvSpPr>
        <p:spPr>
          <a:xfrm>
            <a:off x="324000" y="1826100"/>
            <a:ext cx="3957000" cy="40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E.g. Find the length of the radius.</a:t>
            </a:r>
            <a:endParaRPr sz="1800"/>
          </a:p>
        </p:txBody>
      </p:sp>
      <p:sp>
        <p:nvSpPr>
          <p:cNvPr id="1805" name="Google Shape;1805;p96"/>
          <p:cNvSpPr txBox="1"/>
          <p:nvPr>
            <p:ph idx="1" type="body"/>
          </p:nvPr>
        </p:nvSpPr>
        <p:spPr>
          <a:xfrm>
            <a:off x="3073612" y="2723218"/>
            <a:ext cx="7221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(4, 3)</a:t>
            </a:r>
            <a:endParaRPr sz="1600"/>
          </a:p>
        </p:txBody>
      </p:sp>
      <p:cxnSp>
        <p:nvCxnSpPr>
          <p:cNvPr id="1806" name="Google Shape;1806;p96"/>
          <p:cNvCxnSpPr/>
          <p:nvPr/>
        </p:nvCxnSpPr>
        <p:spPr>
          <a:xfrm flipH="1" rot="10800000">
            <a:off x="2077252" y="2960923"/>
            <a:ext cx="886800" cy="6576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7" name="Google Shape;1807;p96"/>
          <p:cNvSpPr/>
          <p:nvPr/>
        </p:nvSpPr>
        <p:spPr>
          <a:xfrm>
            <a:off x="2928652" y="2902423"/>
            <a:ext cx="100200" cy="100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8" name="Google Shape;1808;p96"/>
          <p:cNvSpPr/>
          <p:nvPr/>
        </p:nvSpPr>
        <p:spPr>
          <a:xfrm>
            <a:off x="2032450" y="3553353"/>
            <a:ext cx="110400" cy="1104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13" name="Google Shape;1813;p97"/>
          <p:cNvCxnSpPr/>
          <p:nvPr/>
        </p:nvCxnSpPr>
        <p:spPr>
          <a:xfrm rot="10800000">
            <a:off x="2088119" y="2236407"/>
            <a:ext cx="0" cy="255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4" name="Google Shape;1814;p97"/>
          <p:cNvCxnSpPr/>
          <p:nvPr/>
        </p:nvCxnSpPr>
        <p:spPr>
          <a:xfrm>
            <a:off x="921473" y="3621661"/>
            <a:ext cx="2586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5" name="Google Shape;1815;p97"/>
          <p:cNvSpPr/>
          <p:nvPr/>
        </p:nvSpPr>
        <p:spPr>
          <a:xfrm>
            <a:off x="1009132" y="2514037"/>
            <a:ext cx="2186700" cy="2186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6" name="Google Shape;1816;p97"/>
          <p:cNvCxnSpPr/>
          <p:nvPr/>
        </p:nvCxnSpPr>
        <p:spPr>
          <a:xfrm>
            <a:off x="2976637" y="2954369"/>
            <a:ext cx="0" cy="6762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817" name="Google Shape;1817;p97"/>
          <p:cNvGrpSpPr/>
          <p:nvPr/>
        </p:nvGrpSpPr>
        <p:grpSpPr>
          <a:xfrm rot="10800000">
            <a:off x="2084639" y="2951427"/>
            <a:ext cx="893201" cy="668100"/>
            <a:chOff x="2587935" y="2255807"/>
            <a:chExt cx="886200" cy="668100"/>
          </a:xfrm>
        </p:grpSpPr>
        <p:sp>
          <p:nvSpPr>
            <p:cNvPr id="1818" name="Google Shape;1818;p97"/>
            <p:cNvSpPr/>
            <p:nvPr/>
          </p:nvSpPr>
          <p:spPr>
            <a:xfrm flipH="1" rot="10800000">
              <a:off x="2587935" y="2255807"/>
              <a:ext cx="886200" cy="668100"/>
            </a:xfrm>
            <a:prstGeom prst="rtTriangle">
              <a:avLst/>
            </a:prstGeom>
            <a:solidFill>
              <a:srgbClr val="FAEAF6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9" name="Google Shape;1819;p97"/>
            <p:cNvSpPr/>
            <p:nvPr/>
          </p:nvSpPr>
          <p:spPr>
            <a:xfrm>
              <a:off x="2589819" y="2256294"/>
              <a:ext cx="96000" cy="957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20" name="Google Shape;1820;p97"/>
          <p:cNvSpPr txBox="1"/>
          <p:nvPr>
            <p:ph idx="1" type="body"/>
          </p:nvPr>
        </p:nvSpPr>
        <p:spPr>
          <a:xfrm>
            <a:off x="324000" y="759300"/>
            <a:ext cx="8496000" cy="95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Pythagoras’ theorem can be used to find the radius of a circle on a coordinate grid when </a:t>
            </a:r>
            <a:r>
              <a:rPr lang="en-GB" sz="1800"/>
              <a:t>the</a:t>
            </a:r>
            <a:r>
              <a:rPr lang="en-GB" sz="1800"/>
              <a:t> coordinates of the centre and a point on the circumference are known.</a:t>
            </a:r>
            <a:endParaRPr sz="1800"/>
          </a:p>
        </p:txBody>
      </p:sp>
      <p:sp>
        <p:nvSpPr>
          <p:cNvPr id="1821" name="Google Shape;1821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Pythagoras’ theorem on a coordinate grid</a:t>
            </a:r>
            <a:endParaRPr/>
          </a:p>
        </p:txBody>
      </p:sp>
      <p:sp>
        <p:nvSpPr>
          <p:cNvPr id="1822" name="Google Shape;1822;p97"/>
          <p:cNvSpPr txBox="1"/>
          <p:nvPr>
            <p:ph idx="1" type="body"/>
          </p:nvPr>
        </p:nvSpPr>
        <p:spPr>
          <a:xfrm>
            <a:off x="4537750" y="1653425"/>
            <a:ext cx="3630900" cy="9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Once we draw on the horizontal and vertical distances, we have the same triangle as in the previous problems</a:t>
            </a:r>
            <a:r>
              <a:rPr lang="en-GB" sz="1600"/>
              <a:t>.</a:t>
            </a:r>
            <a:endParaRPr sz="1600"/>
          </a:p>
        </p:txBody>
      </p:sp>
      <p:pic>
        <p:nvPicPr>
          <p:cNvPr id="1823" name="Google Shape;1823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0735" y="3814057"/>
            <a:ext cx="587640" cy="75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4" name="Google Shape;1824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2292" y="2560565"/>
            <a:ext cx="602108" cy="667948"/>
          </a:xfrm>
          <a:prstGeom prst="rect">
            <a:avLst/>
          </a:prstGeom>
          <a:noFill/>
          <a:ln>
            <a:noFill/>
          </a:ln>
        </p:spPr>
      </p:pic>
      <p:sp>
        <p:nvSpPr>
          <p:cNvPr id="1825" name="Google Shape;1825;p97"/>
          <p:cNvSpPr txBox="1"/>
          <p:nvPr>
            <p:ph idx="1" type="body"/>
          </p:nvPr>
        </p:nvSpPr>
        <p:spPr>
          <a:xfrm>
            <a:off x="8091937" y="3267245"/>
            <a:ext cx="682200" cy="29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Sofia</a:t>
            </a:r>
            <a:endParaRPr sz="1600"/>
          </a:p>
        </p:txBody>
      </p:sp>
      <p:sp>
        <p:nvSpPr>
          <p:cNvPr id="1826" name="Google Shape;1826;p97"/>
          <p:cNvSpPr txBox="1"/>
          <p:nvPr>
            <p:ph idx="1" type="body"/>
          </p:nvPr>
        </p:nvSpPr>
        <p:spPr>
          <a:xfrm>
            <a:off x="7589499" y="4562650"/>
            <a:ext cx="799200" cy="29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Andeep</a:t>
            </a:r>
            <a:endParaRPr sz="1600"/>
          </a:p>
        </p:txBody>
      </p:sp>
      <p:cxnSp>
        <p:nvCxnSpPr>
          <p:cNvPr id="1827" name="Google Shape;1827;p97"/>
          <p:cNvCxnSpPr/>
          <p:nvPr/>
        </p:nvCxnSpPr>
        <p:spPr>
          <a:xfrm rot="10800000">
            <a:off x="2092866" y="2956761"/>
            <a:ext cx="87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28" name="Google Shape;1828;p97"/>
          <p:cNvSpPr txBox="1"/>
          <p:nvPr/>
        </p:nvSpPr>
        <p:spPr>
          <a:xfrm>
            <a:off x="1875252" y="3348926"/>
            <a:ext cx="3045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9" name="Google Shape;1829;p97"/>
          <p:cNvSpPr txBox="1"/>
          <p:nvPr/>
        </p:nvSpPr>
        <p:spPr>
          <a:xfrm>
            <a:off x="1904100" y="2133554"/>
            <a:ext cx="2760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0" name="Google Shape;1830;p97"/>
          <p:cNvSpPr txBox="1"/>
          <p:nvPr/>
        </p:nvSpPr>
        <p:spPr>
          <a:xfrm>
            <a:off x="3366518" y="3586864"/>
            <a:ext cx="2145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1" name="Google Shape;1831;p97"/>
          <p:cNvSpPr txBox="1"/>
          <p:nvPr/>
        </p:nvSpPr>
        <p:spPr>
          <a:xfrm>
            <a:off x="2887200" y="3624825"/>
            <a:ext cx="2565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2" name="Google Shape;1832;p97"/>
          <p:cNvSpPr txBox="1"/>
          <p:nvPr/>
        </p:nvSpPr>
        <p:spPr>
          <a:xfrm>
            <a:off x="1942450" y="2844625"/>
            <a:ext cx="1563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3" name="Google Shape;1833;p97"/>
          <p:cNvSpPr txBox="1"/>
          <p:nvPr>
            <p:ph idx="1" type="body"/>
          </p:nvPr>
        </p:nvSpPr>
        <p:spPr>
          <a:xfrm>
            <a:off x="324000" y="1826100"/>
            <a:ext cx="3957000" cy="40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E.g. Find the length of the radius.</a:t>
            </a:r>
            <a:endParaRPr sz="1800"/>
          </a:p>
        </p:txBody>
      </p:sp>
      <p:sp>
        <p:nvSpPr>
          <p:cNvPr id="1834" name="Google Shape;1834;p97"/>
          <p:cNvSpPr txBox="1"/>
          <p:nvPr>
            <p:ph idx="1" type="body"/>
          </p:nvPr>
        </p:nvSpPr>
        <p:spPr>
          <a:xfrm>
            <a:off x="3073612" y="2723218"/>
            <a:ext cx="7221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(4, 3)</a:t>
            </a:r>
            <a:endParaRPr sz="1600"/>
          </a:p>
        </p:txBody>
      </p:sp>
      <p:cxnSp>
        <p:nvCxnSpPr>
          <p:cNvPr id="1835" name="Google Shape;1835;p97"/>
          <p:cNvCxnSpPr/>
          <p:nvPr/>
        </p:nvCxnSpPr>
        <p:spPr>
          <a:xfrm flipH="1" rot="10800000">
            <a:off x="2077252" y="2960923"/>
            <a:ext cx="886800" cy="6576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6" name="Google Shape;1836;p97"/>
          <p:cNvSpPr/>
          <p:nvPr/>
        </p:nvSpPr>
        <p:spPr>
          <a:xfrm>
            <a:off x="2928652" y="2902423"/>
            <a:ext cx="100200" cy="100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7" name="Google Shape;1837;p97"/>
          <p:cNvSpPr/>
          <p:nvPr/>
        </p:nvSpPr>
        <p:spPr>
          <a:xfrm>
            <a:off x="2032450" y="3553353"/>
            <a:ext cx="110400" cy="1104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8" name="Google Shape;1838;p97"/>
          <p:cNvPicPr preferRelativeResize="0"/>
          <p:nvPr/>
        </p:nvPicPr>
        <p:blipFill rotWithShape="1">
          <a:blip r:embed="rId5">
            <a:alphaModFix/>
          </a:blip>
          <a:srcRect b="4760" l="40550" r="0" t="13015"/>
          <a:stretch/>
        </p:blipFill>
        <p:spPr>
          <a:xfrm flipH="1">
            <a:off x="4469449" y="1536624"/>
            <a:ext cx="4017423" cy="125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839" name="Google Shape;1839;p97"/>
          <p:cNvSpPr txBox="1"/>
          <p:nvPr/>
        </p:nvSpPr>
        <p:spPr>
          <a:xfrm flipH="1">
            <a:off x="5027514" y="2938550"/>
            <a:ext cx="172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4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16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0" name="Google Shape;1840;p97"/>
          <p:cNvSpPr txBox="1"/>
          <p:nvPr/>
        </p:nvSpPr>
        <p:spPr>
          <a:xfrm flipH="1">
            <a:off x="4505218" y="3817018"/>
            <a:ext cx="1427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16 + 9 =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1" name="Google Shape;1841;p97"/>
          <p:cNvSpPr txBox="1"/>
          <p:nvPr/>
        </p:nvSpPr>
        <p:spPr>
          <a:xfrm flipH="1">
            <a:off x="4963712" y="4256252"/>
            <a:ext cx="1117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  = 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2" name="Google Shape;1842;p97"/>
          <p:cNvSpPr txBox="1"/>
          <p:nvPr/>
        </p:nvSpPr>
        <p:spPr>
          <a:xfrm flipH="1">
            <a:off x="5133183" y="3377784"/>
            <a:ext cx="172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9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}&quot;&gt;&lt;msqrt&gt;&lt;mtext&gt;&lt;/mtext&gt;&lt;mtext&gt;&lt;/mtext&gt;&lt;mtext&gt;&lt;/mtext&gt;&lt;mtext&gt;&lt;/mtext&gt;&lt;mtext&gt;&lt;/mtext&gt;&lt;mtext&gt;&lt;/mtext&gt;&lt;mtext&gt;&lt;/mtext&gt;&lt;/msqrt&gt;&lt;/math&gt;" id="1843" name="Google Shape;1843;p97" title="the square root o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31306" y="4258885"/>
            <a:ext cx="615550" cy="293794"/>
          </a:xfrm>
          <a:prstGeom prst="rect">
            <a:avLst/>
          </a:prstGeom>
          <a:noFill/>
          <a:ln>
            <a:noFill/>
          </a:ln>
        </p:spPr>
      </p:pic>
      <p:sp>
        <p:nvSpPr>
          <p:cNvPr id="1844" name="Google Shape;1844;p97"/>
          <p:cNvSpPr txBox="1"/>
          <p:nvPr/>
        </p:nvSpPr>
        <p:spPr>
          <a:xfrm flipH="1">
            <a:off x="5776406" y="3820411"/>
            <a:ext cx="578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Pythagoras’ theorem on a coordinate grid</a:t>
            </a:r>
            <a:endParaRPr/>
          </a:p>
        </p:txBody>
      </p:sp>
      <p:sp>
        <p:nvSpPr>
          <p:cNvPr id="1850" name="Google Shape;1850;p98"/>
          <p:cNvSpPr txBox="1"/>
          <p:nvPr>
            <p:ph type="title"/>
          </p:nvPr>
        </p:nvSpPr>
        <p:spPr>
          <a:xfrm>
            <a:off x="324000" y="748775"/>
            <a:ext cx="8488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triangle can be used to find the distance between a point with the coordinates (4, 9) and the origin?</a:t>
            </a:r>
            <a:endParaRPr/>
          </a:p>
        </p:txBody>
      </p:sp>
      <p:grpSp>
        <p:nvGrpSpPr>
          <p:cNvPr id="1851" name="Google Shape;1851;p98"/>
          <p:cNvGrpSpPr/>
          <p:nvPr/>
        </p:nvGrpSpPr>
        <p:grpSpPr>
          <a:xfrm flipH="1">
            <a:off x="3701685" y="1967401"/>
            <a:ext cx="1432652" cy="1622181"/>
            <a:chOff x="739622" y="1614562"/>
            <a:chExt cx="1683097" cy="910264"/>
          </a:xfrm>
        </p:grpSpPr>
        <p:sp>
          <p:nvSpPr>
            <p:cNvPr id="1852" name="Google Shape;1852;p98"/>
            <p:cNvSpPr/>
            <p:nvPr/>
          </p:nvSpPr>
          <p:spPr>
            <a:xfrm>
              <a:off x="745350" y="1645697"/>
              <a:ext cx="1511100" cy="812700"/>
            </a:xfrm>
            <a:prstGeom prst="rtTriangl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3" name="Google Shape;1853;p98"/>
            <p:cNvSpPr/>
            <p:nvPr/>
          </p:nvSpPr>
          <p:spPr>
            <a:xfrm>
              <a:off x="745337" y="2367988"/>
              <a:ext cx="191400" cy="90300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54" name="Google Shape;1854;p98"/>
            <p:cNvCxnSpPr/>
            <p:nvPr/>
          </p:nvCxnSpPr>
          <p:spPr>
            <a:xfrm>
              <a:off x="739622" y="2524826"/>
              <a:ext cx="15216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55" name="Google Shape;1855;p98"/>
            <p:cNvCxnSpPr/>
            <p:nvPr/>
          </p:nvCxnSpPr>
          <p:spPr>
            <a:xfrm>
              <a:off x="912519" y="1614562"/>
              <a:ext cx="1510200" cy="813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856" name="Google Shape;1856;p98"/>
          <p:cNvSpPr txBox="1"/>
          <p:nvPr/>
        </p:nvSpPr>
        <p:spPr>
          <a:xfrm>
            <a:off x="3735580" y="2371744"/>
            <a:ext cx="85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7" name="Google Shape;1857;p98"/>
          <p:cNvSpPr txBox="1"/>
          <p:nvPr/>
        </p:nvSpPr>
        <p:spPr>
          <a:xfrm>
            <a:off x="4199907" y="3606700"/>
            <a:ext cx="85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58" name="Google Shape;1858;p98"/>
          <p:cNvGrpSpPr/>
          <p:nvPr/>
        </p:nvGrpSpPr>
        <p:grpSpPr>
          <a:xfrm flipH="1">
            <a:off x="6734751" y="2022886"/>
            <a:ext cx="1411814" cy="1566695"/>
            <a:chOff x="602606" y="1645697"/>
            <a:chExt cx="1658616" cy="879129"/>
          </a:xfrm>
        </p:grpSpPr>
        <p:sp>
          <p:nvSpPr>
            <p:cNvPr id="1859" name="Google Shape;1859;p98"/>
            <p:cNvSpPr/>
            <p:nvPr/>
          </p:nvSpPr>
          <p:spPr>
            <a:xfrm>
              <a:off x="745350" y="1645697"/>
              <a:ext cx="1511100" cy="812700"/>
            </a:xfrm>
            <a:prstGeom prst="rtTriangl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0" name="Google Shape;1860;p98"/>
            <p:cNvSpPr/>
            <p:nvPr/>
          </p:nvSpPr>
          <p:spPr>
            <a:xfrm>
              <a:off x="745337" y="2367988"/>
              <a:ext cx="191400" cy="90300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61" name="Google Shape;1861;p98"/>
            <p:cNvCxnSpPr/>
            <p:nvPr/>
          </p:nvCxnSpPr>
          <p:spPr>
            <a:xfrm rot="10800000">
              <a:off x="602606" y="1647197"/>
              <a:ext cx="0" cy="811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62" name="Google Shape;1862;p98"/>
            <p:cNvCxnSpPr/>
            <p:nvPr/>
          </p:nvCxnSpPr>
          <p:spPr>
            <a:xfrm>
              <a:off x="739622" y="2524826"/>
              <a:ext cx="15216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863" name="Google Shape;1863;p98"/>
          <p:cNvSpPr txBox="1"/>
          <p:nvPr/>
        </p:nvSpPr>
        <p:spPr>
          <a:xfrm>
            <a:off x="8231380" y="2676544"/>
            <a:ext cx="85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4" name="Google Shape;1864;p98"/>
          <p:cNvSpPr txBox="1"/>
          <p:nvPr/>
        </p:nvSpPr>
        <p:spPr>
          <a:xfrm>
            <a:off x="7095507" y="3606700"/>
            <a:ext cx="85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65" name="Google Shape;1865;p98"/>
          <p:cNvGrpSpPr/>
          <p:nvPr/>
        </p:nvGrpSpPr>
        <p:grpSpPr>
          <a:xfrm flipH="1">
            <a:off x="729885" y="1967401"/>
            <a:ext cx="1549280" cy="1503799"/>
            <a:chOff x="602606" y="1614562"/>
            <a:chExt cx="1820113" cy="843835"/>
          </a:xfrm>
        </p:grpSpPr>
        <p:sp>
          <p:nvSpPr>
            <p:cNvPr id="1866" name="Google Shape;1866;p98"/>
            <p:cNvSpPr/>
            <p:nvPr/>
          </p:nvSpPr>
          <p:spPr>
            <a:xfrm>
              <a:off x="745350" y="1645697"/>
              <a:ext cx="1511100" cy="812700"/>
            </a:xfrm>
            <a:prstGeom prst="rtTriangl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7" name="Google Shape;1867;p98"/>
            <p:cNvSpPr/>
            <p:nvPr/>
          </p:nvSpPr>
          <p:spPr>
            <a:xfrm>
              <a:off x="745337" y="2367988"/>
              <a:ext cx="191400" cy="90300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68" name="Google Shape;1868;p98"/>
            <p:cNvCxnSpPr/>
            <p:nvPr/>
          </p:nvCxnSpPr>
          <p:spPr>
            <a:xfrm rot="10800000">
              <a:off x="602606" y="1647197"/>
              <a:ext cx="0" cy="811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69" name="Google Shape;1869;p98"/>
            <p:cNvCxnSpPr/>
            <p:nvPr/>
          </p:nvCxnSpPr>
          <p:spPr>
            <a:xfrm>
              <a:off x="912519" y="1614562"/>
              <a:ext cx="1510200" cy="813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870" name="Google Shape;1870;p98"/>
          <p:cNvSpPr txBox="1"/>
          <p:nvPr/>
        </p:nvSpPr>
        <p:spPr>
          <a:xfrm>
            <a:off x="763780" y="2371744"/>
            <a:ext cx="85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1" name="Google Shape;1871;p98"/>
          <p:cNvSpPr txBox="1"/>
          <p:nvPr/>
        </p:nvSpPr>
        <p:spPr>
          <a:xfrm>
            <a:off x="2371107" y="2616100"/>
            <a:ext cx="85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72" name="Google Shape;1872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208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calculation(s) may be used as part of the solution for finding the</a:t>
            </a:r>
            <a:r>
              <a:rPr lang="en-GB" sz="2000"/>
              <a:t> radius of the circle?</a:t>
            </a:r>
            <a:endParaRPr sz="2000"/>
          </a:p>
        </p:txBody>
      </p:sp>
      <p:sp>
        <p:nvSpPr>
          <p:cNvPr id="1878" name="Google Shape;1878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Pythagoras’ theorem on a coordinate grid</a:t>
            </a:r>
            <a:endParaRPr/>
          </a:p>
        </p:txBody>
      </p:sp>
      <p:cxnSp>
        <p:nvCxnSpPr>
          <p:cNvPr id="1879" name="Google Shape;1879;p99"/>
          <p:cNvCxnSpPr/>
          <p:nvPr/>
        </p:nvCxnSpPr>
        <p:spPr>
          <a:xfrm rot="10800000">
            <a:off x="5770038" y="1462974"/>
            <a:ext cx="0" cy="3215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0" name="Google Shape;1880;p99"/>
          <p:cNvCxnSpPr/>
          <p:nvPr/>
        </p:nvCxnSpPr>
        <p:spPr>
          <a:xfrm>
            <a:off x="4302501" y="3205379"/>
            <a:ext cx="325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1" name="Google Shape;1881;p99"/>
          <p:cNvSpPr/>
          <p:nvPr/>
        </p:nvSpPr>
        <p:spPr>
          <a:xfrm>
            <a:off x="4412767" y="1812088"/>
            <a:ext cx="2750700" cy="2750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2" name="Google Shape;1882;p99"/>
          <p:cNvSpPr txBox="1"/>
          <p:nvPr/>
        </p:nvSpPr>
        <p:spPr>
          <a:xfrm>
            <a:off x="5502270" y="2862303"/>
            <a:ext cx="3831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3" name="Google Shape;1883;p99"/>
          <p:cNvSpPr txBox="1"/>
          <p:nvPr/>
        </p:nvSpPr>
        <p:spPr>
          <a:xfrm>
            <a:off x="5538559" y="1333474"/>
            <a:ext cx="3471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4" name="Google Shape;1884;p99"/>
          <p:cNvSpPr txBox="1"/>
          <p:nvPr/>
        </p:nvSpPr>
        <p:spPr>
          <a:xfrm>
            <a:off x="7378152" y="3161608"/>
            <a:ext cx="2697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5" name="Google Shape;1885;p99"/>
          <p:cNvSpPr txBox="1"/>
          <p:nvPr>
            <p:ph idx="4294967295" type="body"/>
          </p:nvPr>
        </p:nvSpPr>
        <p:spPr>
          <a:xfrm>
            <a:off x="6542328" y="1656675"/>
            <a:ext cx="1117500" cy="45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(5, 12)</a:t>
            </a:r>
            <a:endParaRPr/>
          </a:p>
        </p:txBody>
      </p:sp>
      <p:sp>
        <p:nvSpPr>
          <p:cNvPr id="1886" name="Google Shape;1886;p99"/>
          <p:cNvSpPr/>
          <p:nvPr/>
        </p:nvSpPr>
        <p:spPr>
          <a:xfrm>
            <a:off x="6398753" y="1930926"/>
            <a:ext cx="126000" cy="126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7" name="Google Shape;1887;p99"/>
          <p:cNvSpPr/>
          <p:nvPr/>
        </p:nvSpPr>
        <p:spPr>
          <a:xfrm>
            <a:off x="5700011" y="3119455"/>
            <a:ext cx="138900" cy="1389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8" name="Google Shape;1888;p99"/>
          <p:cNvSpPr txBox="1"/>
          <p:nvPr>
            <p:ph idx="1" type="subTitle"/>
          </p:nvPr>
        </p:nvSpPr>
        <p:spPr>
          <a:xfrm>
            <a:off x="1034425" y="1685375"/>
            <a:ext cx="3285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12</a:t>
            </a:r>
            <a:r>
              <a:rPr baseline="30000" lang="en-GB"/>
              <a:t>2</a:t>
            </a:r>
            <a:r>
              <a:rPr lang="en-GB"/>
              <a:t> + 5</a:t>
            </a:r>
            <a:r>
              <a:rPr baseline="30000" lang="en-GB"/>
              <a:t>2</a:t>
            </a:r>
            <a:endParaRPr/>
          </a:p>
        </p:txBody>
      </p:sp>
      <p:sp>
        <p:nvSpPr>
          <p:cNvPr id="1889" name="Google Shape;1889;p99"/>
          <p:cNvSpPr txBox="1"/>
          <p:nvPr>
            <p:ph idx="3" type="subTitle"/>
          </p:nvPr>
        </p:nvSpPr>
        <p:spPr>
          <a:xfrm>
            <a:off x="1034425" y="2489443"/>
            <a:ext cx="3285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r>
              <a:rPr baseline="30000" lang="en-GB"/>
              <a:t>2</a:t>
            </a:r>
            <a:r>
              <a:rPr lang="en-GB"/>
              <a:t> + 12</a:t>
            </a:r>
            <a:r>
              <a:rPr baseline="30000" lang="en-GB"/>
              <a:t>2</a:t>
            </a:r>
            <a:endParaRPr/>
          </a:p>
        </p:txBody>
      </p:sp>
      <p:sp>
        <p:nvSpPr>
          <p:cNvPr id="1890" name="Google Shape;1890;p99"/>
          <p:cNvSpPr txBox="1"/>
          <p:nvPr>
            <p:ph idx="4" type="subTitle"/>
          </p:nvPr>
        </p:nvSpPr>
        <p:spPr>
          <a:xfrm>
            <a:off x="1034425" y="3309758"/>
            <a:ext cx="3267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12</a:t>
            </a:r>
            <a:r>
              <a:rPr baseline="30000" lang="en-GB"/>
              <a:t>2</a:t>
            </a:r>
            <a:r>
              <a:rPr lang="en-GB"/>
              <a:t> − 5</a:t>
            </a:r>
            <a:r>
              <a:rPr baseline="30000" lang="en-GB"/>
              <a:t>2</a:t>
            </a:r>
            <a:endParaRPr/>
          </a:p>
        </p:txBody>
      </p:sp>
      <p:sp>
        <p:nvSpPr>
          <p:cNvPr id="1891" name="Google Shape;1891;p99"/>
          <p:cNvSpPr txBox="1"/>
          <p:nvPr>
            <p:ph idx="5" type="subTitle"/>
          </p:nvPr>
        </p:nvSpPr>
        <p:spPr>
          <a:xfrm>
            <a:off x="1034425" y="4113827"/>
            <a:ext cx="3285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r>
              <a:rPr baseline="30000" lang="en-GB"/>
              <a:t>2</a:t>
            </a:r>
            <a:r>
              <a:rPr lang="en-GB"/>
              <a:t> − 12</a:t>
            </a:r>
            <a:r>
              <a:rPr baseline="30000" lang="en-GB"/>
              <a:t>2</a:t>
            </a:r>
            <a:endParaRPr/>
          </a:p>
        </p:txBody>
      </p:sp>
      <p:pic>
        <p:nvPicPr>
          <p:cNvPr id="1892" name="Google Shape;1892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6933" y="16849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3" name="Google Shape;1893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6933" y="2450313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8" name="Google Shape;1898;p100"/>
          <p:cNvCxnSpPr/>
          <p:nvPr/>
        </p:nvCxnSpPr>
        <p:spPr>
          <a:xfrm rot="10800000">
            <a:off x="1935719" y="1931607"/>
            <a:ext cx="0" cy="255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9" name="Google Shape;1899;p100"/>
          <p:cNvCxnSpPr/>
          <p:nvPr/>
        </p:nvCxnSpPr>
        <p:spPr>
          <a:xfrm>
            <a:off x="769073" y="3316861"/>
            <a:ext cx="2586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0" name="Google Shape;1900;p100"/>
          <p:cNvSpPr/>
          <p:nvPr/>
        </p:nvSpPr>
        <p:spPr>
          <a:xfrm>
            <a:off x="856732" y="2209237"/>
            <a:ext cx="2186700" cy="2186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1" name="Google Shape;1901;p100"/>
          <p:cNvCxnSpPr/>
          <p:nvPr/>
        </p:nvCxnSpPr>
        <p:spPr>
          <a:xfrm rot="10800000">
            <a:off x="1940466" y="2651961"/>
            <a:ext cx="87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02" name="Google Shape;1902;p100"/>
          <p:cNvCxnSpPr/>
          <p:nvPr/>
        </p:nvCxnSpPr>
        <p:spPr>
          <a:xfrm>
            <a:off x="2824237" y="2649569"/>
            <a:ext cx="0" cy="6762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03" name="Google Shape;1903;p100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Point P has coordinates (7, 24). How far is point P from the origin?</a:t>
            </a:r>
            <a:endParaRPr sz="1600"/>
          </a:p>
        </p:txBody>
      </p:sp>
      <p:sp>
        <p:nvSpPr>
          <p:cNvPr id="1904" name="Google Shape;1904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Pythagoras’ theorem on a coordinate grid</a:t>
            </a:r>
            <a:endParaRPr/>
          </a:p>
        </p:txBody>
      </p:sp>
      <p:sp>
        <p:nvSpPr>
          <p:cNvPr id="1905" name="Google Shape;1905;p100"/>
          <p:cNvSpPr txBox="1"/>
          <p:nvPr>
            <p:ph idx="1" type="body"/>
          </p:nvPr>
        </p:nvSpPr>
        <p:spPr>
          <a:xfrm>
            <a:off x="313320" y="1308631"/>
            <a:ext cx="3251100" cy="48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2) What is the length of the </a:t>
            </a:r>
            <a:br>
              <a:rPr lang="en-GB" sz="1600"/>
            </a:br>
            <a:r>
              <a:rPr lang="en-GB" sz="1600"/>
              <a:t>    radius of the circle? </a:t>
            </a:r>
            <a:endParaRPr sz="1600"/>
          </a:p>
        </p:txBody>
      </p:sp>
      <p:sp>
        <p:nvSpPr>
          <p:cNvPr id="1906" name="Google Shape;1906;p100"/>
          <p:cNvSpPr txBox="1"/>
          <p:nvPr/>
        </p:nvSpPr>
        <p:spPr>
          <a:xfrm>
            <a:off x="1722852" y="3044126"/>
            <a:ext cx="3045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7" name="Google Shape;1907;p100"/>
          <p:cNvSpPr txBox="1"/>
          <p:nvPr/>
        </p:nvSpPr>
        <p:spPr>
          <a:xfrm>
            <a:off x="1751700" y="1828754"/>
            <a:ext cx="2760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8" name="Google Shape;1908;p100"/>
          <p:cNvSpPr txBox="1"/>
          <p:nvPr/>
        </p:nvSpPr>
        <p:spPr>
          <a:xfrm>
            <a:off x="3214118" y="3282064"/>
            <a:ext cx="2145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9" name="Google Shape;1909;p100"/>
          <p:cNvSpPr/>
          <p:nvPr/>
        </p:nvSpPr>
        <p:spPr>
          <a:xfrm>
            <a:off x="1880050" y="3248553"/>
            <a:ext cx="110400" cy="1104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0" name="Google Shape;1910;p100"/>
          <p:cNvSpPr/>
          <p:nvPr/>
        </p:nvSpPr>
        <p:spPr>
          <a:xfrm>
            <a:off x="2776252" y="2597623"/>
            <a:ext cx="100200" cy="100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1" name="Google Shape;1911;p100"/>
          <p:cNvSpPr txBox="1"/>
          <p:nvPr/>
        </p:nvSpPr>
        <p:spPr>
          <a:xfrm>
            <a:off x="2678174" y="3320021"/>
            <a:ext cx="3132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0.8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2" name="Google Shape;1912;p100"/>
          <p:cNvSpPr txBox="1"/>
          <p:nvPr/>
        </p:nvSpPr>
        <p:spPr>
          <a:xfrm>
            <a:off x="1633050" y="2539829"/>
            <a:ext cx="3132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0.6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3" name="Google Shape;1913;p100"/>
          <p:cNvSpPr txBox="1"/>
          <p:nvPr>
            <p:ph idx="1" type="body"/>
          </p:nvPr>
        </p:nvSpPr>
        <p:spPr>
          <a:xfrm>
            <a:off x="4478750" y="1308625"/>
            <a:ext cx="3561900" cy="9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3) The diagram shows quarter of a </a:t>
            </a:r>
            <a:br>
              <a:rPr lang="en-GB" sz="1600"/>
            </a:br>
            <a:r>
              <a:rPr lang="en-GB" sz="1600"/>
              <a:t>    circle on a coordinate grid.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    What is the value of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600"/>
              <a:t>(to 1 d.p.)</a:t>
            </a:r>
            <a:r>
              <a:rPr lang="en-GB" sz="1600"/>
              <a:t>?</a:t>
            </a:r>
            <a:endParaRPr sz="1600"/>
          </a:p>
        </p:txBody>
      </p:sp>
      <p:sp>
        <p:nvSpPr>
          <p:cNvPr id="1914" name="Google Shape;1914;p100"/>
          <p:cNvSpPr txBox="1"/>
          <p:nvPr>
            <p:ph idx="1" type="body"/>
          </p:nvPr>
        </p:nvSpPr>
        <p:spPr>
          <a:xfrm>
            <a:off x="311500" y="4566125"/>
            <a:ext cx="3410400" cy="2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r>
              <a:rPr lang="en-GB" sz="1600"/>
              <a:t>iagrams are not drawn to scale.</a:t>
            </a:r>
            <a:endParaRPr sz="1600"/>
          </a:p>
        </p:txBody>
      </p:sp>
      <p:sp>
        <p:nvSpPr>
          <p:cNvPr id="1915" name="Google Shape;1915;p100"/>
          <p:cNvSpPr/>
          <p:nvPr/>
        </p:nvSpPr>
        <p:spPr>
          <a:xfrm>
            <a:off x="3721946" y="2702344"/>
            <a:ext cx="3016500" cy="30165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6" name="Google Shape;1916;p100"/>
          <p:cNvCxnSpPr/>
          <p:nvPr/>
        </p:nvCxnSpPr>
        <p:spPr>
          <a:xfrm rot="10800000">
            <a:off x="5229575" y="3081626"/>
            <a:ext cx="10647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17" name="Google Shape;1917;p100"/>
          <p:cNvCxnSpPr>
            <a:stCxn id="1918" idx="4"/>
          </p:cNvCxnSpPr>
          <p:nvPr/>
        </p:nvCxnSpPr>
        <p:spPr>
          <a:xfrm rot="10800000">
            <a:off x="5238013" y="2425385"/>
            <a:ext cx="900" cy="18255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9" name="Google Shape;1919;p100"/>
          <p:cNvCxnSpPr>
            <a:stCxn id="1918" idx="2"/>
          </p:cNvCxnSpPr>
          <p:nvPr/>
        </p:nvCxnSpPr>
        <p:spPr>
          <a:xfrm flipH="1" rot="10800000">
            <a:off x="5188813" y="4199885"/>
            <a:ext cx="1868700" cy="9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0" name="Google Shape;1920;p100"/>
          <p:cNvSpPr txBox="1"/>
          <p:nvPr/>
        </p:nvSpPr>
        <p:spPr>
          <a:xfrm>
            <a:off x="6589564" y="4090047"/>
            <a:ext cx="25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100"/>
          <p:cNvSpPr txBox="1"/>
          <p:nvPr/>
        </p:nvSpPr>
        <p:spPr>
          <a:xfrm>
            <a:off x="4962158" y="2502218"/>
            <a:ext cx="23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2" name="Google Shape;1922;p100"/>
          <p:cNvSpPr txBox="1"/>
          <p:nvPr/>
        </p:nvSpPr>
        <p:spPr>
          <a:xfrm>
            <a:off x="5036323" y="4169290"/>
            <a:ext cx="2862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3" name="Google Shape;1923;p100"/>
          <p:cNvSpPr txBox="1"/>
          <p:nvPr/>
        </p:nvSpPr>
        <p:spPr>
          <a:xfrm>
            <a:off x="4998288" y="2315821"/>
            <a:ext cx="2658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4" name="Google Shape;1924;p100"/>
          <p:cNvSpPr txBox="1"/>
          <p:nvPr/>
        </p:nvSpPr>
        <p:spPr>
          <a:xfrm>
            <a:off x="7051066" y="4094174"/>
            <a:ext cx="2658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8" name="Google Shape;1918;p100"/>
          <p:cNvSpPr/>
          <p:nvPr/>
        </p:nvSpPr>
        <p:spPr>
          <a:xfrm>
            <a:off x="5188813" y="4150685"/>
            <a:ext cx="100200" cy="100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5" name="Google Shape;1925;p100"/>
          <p:cNvCxnSpPr/>
          <p:nvPr/>
        </p:nvCxnSpPr>
        <p:spPr>
          <a:xfrm>
            <a:off x="6241516" y="3144936"/>
            <a:ext cx="0" cy="10590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26" name="Google Shape;1926;p100"/>
          <p:cNvSpPr txBox="1"/>
          <p:nvPr/>
        </p:nvSpPr>
        <p:spPr>
          <a:xfrm>
            <a:off x="4826580" y="2860812"/>
            <a:ext cx="56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3.8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7" name="Google Shape;1927;p100"/>
          <p:cNvSpPr/>
          <p:nvPr/>
        </p:nvSpPr>
        <p:spPr>
          <a:xfrm>
            <a:off x="6192925" y="3033042"/>
            <a:ext cx="100200" cy="100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8" name="Google Shape;1928;p100"/>
          <p:cNvSpPr txBox="1"/>
          <p:nvPr/>
        </p:nvSpPr>
        <p:spPr>
          <a:xfrm>
            <a:off x="6095091" y="4053047"/>
            <a:ext cx="25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p101"/>
          <p:cNvSpPr/>
          <p:nvPr/>
        </p:nvSpPr>
        <p:spPr>
          <a:xfrm>
            <a:off x="3721946" y="2702344"/>
            <a:ext cx="3016500" cy="30165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4" name="Google Shape;1934;p101"/>
          <p:cNvCxnSpPr/>
          <p:nvPr/>
        </p:nvCxnSpPr>
        <p:spPr>
          <a:xfrm rot="10800000">
            <a:off x="5229575" y="3081626"/>
            <a:ext cx="10647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35" name="Google Shape;1935;p101"/>
          <p:cNvCxnSpPr/>
          <p:nvPr/>
        </p:nvCxnSpPr>
        <p:spPr>
          <a:xfrm rot="10800000">
            <a:off x="1935719" y="1931607"/>
            <a:ext cx="0" cy="255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6" name="Google Shape;1936;p101"/>
          <p:cNvCxnSpPr/>
          <p:nvPr/>
        </p:nvCxnSpPr>
        <p:spPr>
          <a:xfrm>
            <a:off x="769073" y="3316861"/>
            <a:ext cx="2586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7" name="Google Shape;1937;p101"/>
          <p:cNvSpPr/>
          <p:nvPr/>
        </p:nvSpPr>
        <p:spPr>
          <a:xfrm>
            <a:off x="856732" y="2209237"/>
            <a:ext cx="2186700" cy="2186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8" name="Google Shape;1938;p101"/>
          <p:cNvCxnSpPr/>
          <p:nvPr/>
        </p:nvCxnSpPr>
        <p:spPr>
          <a:xfrm rot="10800000">
            <a:off x="1940466" y="2651961"/>
            <a:ext cx="87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39" name="Google Shape;1939;p101"/>
          <p:cNvCxnSpPr/>
          <p:nvPr/>
        </p:nvCxnSpPr>
        <p:spPr>
          <a:xfrm>
            <a:off x="2824237" y="2649569"/>
            <a:ext cx="0" cy="6762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40" name="Google Shape;1940;p101"/>
          <p:cNvSpPr txBox="1"/>
          <p:nvPr>
            <p:ph idx="1" type="body"/>
          </p:nvPr>
        </p:nvSpPr>
        <p:spPr>
          <a:xfrm>
            <a:off x="324000" y="759300"/>
            <a:ext cx="82377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Point P has coordinates (7, 24). How far is point P from the origin?</a:t>
            </a:r>
            <a:endParaRPr sz="1600"/>
          </a:p>
        </p:txBody>
      </p:sp>
      <p:sp>
        <p:nvSpPr>
          <p:cNvPr id="1941" name="Google Shape;1941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Pythagoras’ theorem on a coordinate grid</a:t>
            </a:r>
            <a:endParaRPr/>
          </a:p>
        </p:txBody>
      </p:sp>
      <p:sp>
        <p:nvSpPr>
          <p:cNvPr id="1942" name="Google Shape;1942;p101"/>
          <p:cNvSpPr txBox="1"/>
          <p:nvPr>
            <p:ph idx="1" type="body"/>
          </p:nvPr>
        </p:nvSpPr>
        <p:spPr>
          <a:xfrm>
            <a:off x="313320" y="1308631"/>
            <a:ext cx="3251100" cy="48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2) What is the length of the </a:t>
            </a:r>
            <a:br>
              <a:rPr lang="en-GB" sz="1600"/>
            </a:br>
            <a:r>
              <a:rPr lang="en-GB" sz="1600"/>
              <a:t>    radius of the circle? </a:t>
            </a:r>
            <a:endParaRPr sz="1600"/>
          </a:p>
        </p:txBody>
      </p:sp>
      <p:sp>
        <p:nvSpPr>
          <p:cNvPr id="1943" name="Google Shape;1943;p101"/>
          <p:cNvSpPr txBox="1"/>
          <p:nvPr/>
        </p:nvSpPr>
        <p:spPr>
          <a:xfrm>
            <a:off x="1722852" y="3044126"/>
            <a:ext cx="3045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4" name="Google Shape;1944;p101"/>
          <p:cNvSpPr txBox="1"/>
          <p:nvPr/>
        </p:nvSpPr>
        <p:spPr>
          <a:xfrm>
            <a:off x="1751700" y="1828754"/>
            <a:ext cx="2760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5" name="Google Shape;1945;p101"/>
          <p:cNvSpPr txBox="1"/>
          <p:nvPr/>
        </p:nvSpPr>
        <p:spPr>
          <a:xfrm>
            <a:off x="3214118" y="3282064"/>
            <a:ext cx="2145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6" name="Google Shape;1946;p101"/>
          <p:cNvSpPr txBox="1"/>
          <p:nvPr/>
        </p:nvSpPr>
        <p:spPr>
          <a:xfrm>
            <a:off x="2678174" y="3320021"/>
            <a:ext cx="3132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0.8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7" name="Google Shape;1947;p101"/>
          <p:cNvSpPr txBox="1"/>
          <p:nvPr/>
        </p:nvSpPr>
        <p:spPr>
          <a:xfrm>
            <a:off x="1633050" y="2539829"/>
            <a:ext cx="3132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0.6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48" name="Google Shape;1948;p101"/>
          <p:cNvCxnSpPr>
            <a:stCxn id="1949" idx="4"/>
          </p:cNvCxnSpPr>
          <p:nvPr/>
        </p:nvCxnSpPr>
        <p:spPr>
          <a:xfrm rot="10800000">
            <a:off x="5238013" y="2425385"/>
            <a:ext cx="900" cy="18255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0" name="Google Shape;1950;p101"/>
          <p:cNvCxnSpPr>
            <a:stCxn id="1949" idx="2"/>
          </p:cNvCxnSpPr>
          <p:nvPr/>
        </p:nvCxnSpPr>
        <p:spPr>
          <a:xfrm flipH="1" rot="10800000">
            <a:off x="5188813" y="4199885"/>
            <a:ext cx="1868700" cy="9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1" name="Google Shape;1951;p101"/>
          <p:cNvSpPr txBox="1"/>
          <p:nvPr/>
        </p:nvSpPr>
        <p:spPr>
          <a:xfrm>
            <a:off x="6589564" y="4090047"/>
            <a:ext cx="25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2" name="Google Shape;1952;p101"/>
          <p:cNvSpPr txBox="1"/>
          <p:nvPr/>
        </p:nvSpPr>
        <p:spPr>
          <a:xfrm>
            <a:off x="4962158" y="2502218"/>
            <a:ext cx="23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3" name="Google Shape;1953;p101"/>
          <p:cNvSpPr txBox="1"/>
          <p:nvPr/>
        </p:nvSpPr>
        <p:spPr>
          <a:xfrm>
            <a:off x="5036323" y="4169290"/>
            <a:ext cx="2862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4" name="Google Shape;1954;p101"/>
          <p:cNvSpPr txBox="1"/>
          <p:nvPr/>
        </p:nvSpPr>
        <p:spPr>
          <a:xfrm>
            <a:off x="4998288" y="2315821"/>
            <a:ext cx="2658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5" name="Google Shape;1955;p101"/>
          <p:cNvSpPr txBox="1"/>
          <p:nvPr/>
        </p:nvSpPr>
        <p:spPr>
          <a:xfrm>
            <a:off x="7051066" y="4094174"/>
            <a:ext cx="2658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9" name="Google Shape;1949;p101"/>
          <p:cNvSpPr/>
          <p:nvPr/>
        </p:nvSpPr>
        <p:spPr>
          <a:xfrm>
            <a:off x="5188813" y="4150685"/>
            <a:ext cx="100200" cy="100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6" name="Google Shape;1956;p101"/>
          <p:cNvSpPr txBox="1"/>
          <p:nvPr>
            <p:ph idx="1" type="body"/>
          </p:nvPr>
        </p:nvSpPr>
        <p:spPr>
          <a:xfrm>
            <a:off x="4478750" y="1308625"/>
            <a:ext cx="4341300" cy="9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3) The diagram shows quarter of a </a:t>
            </a:r>
            <a:br>
              <a:rPr lang="en-GB" sz="1600"/>
            </a:br>
            <a:r>
              <a:rPr lang="en-GB" sz="1600"/>
              <a:t>    circle on a coordinate grid.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    What is the value of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600"/>
              <a:t> (to 1 d.p.)?</a:t>
            </a:r>
            <a:endParaRPr sz="1600"/>
          </a:p>
        </p:txBody>
      </p:sp>
      <p:cxnSp>
        <p:nvCxnSpPr>
          <p:cNvPr id="1957" name="Google Shape;1957;p101"/>
          <p:cNvCxnSpPr/>
          <p:nvPr/>
        </p:nvCxnSpPr>
        <p:spPr>
          <a:xfrm>
            <a:off x="6241516" y="3144936"/>
            <a:ext cx="0" cy="10590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58" name="Google Shape;1958;p101"/>
          <p:cNvSpPr txBox="1"/>
          <p:nvPr/>
        </p:nvSpPr>
        <p:spPr>
          <a:xfrm>
            <a:off x="4826580" y="2860812"/>
            <a:ext cx="56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3.8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9" name="Google Shape;1959;p101"/>
          <p:cNvSpPr/>
          <p:nvPr/>
        </p:nvSpPr>
        <p:spPr>
          <a:xfrm>
            <a:off x="6192925" y="3033042"/>
            <a:ext cx="100200" cy="100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0" name="Google Shape;1960;p101"/>
          <p:cNvSpPr txBox="1"/>
          <p:nvPr/>
        </p:nvSpPr>
        <p:spPr>
          <a:xfrm>
            <a:off x="6095091" y="4053047"/>
            <a:ext cx="25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1" name="Google Shape;1961;p101"/>
          <p:cNvSpPr txBox="1"/>
          <p:nvPr>
            <p:ph idx="1" type="body"/>
          </p:nvPr>
        </p:nvSpPr>
        <p:spPr>
          <a:xfrm>
            <a:off x="311500" y="4566125"/>
            <a:ext cx="3410400" cy="2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Diagrams are not drawn to scale.</a:t>
            </a:r>
            <a:endParaRPr sz="1600"/>
          </a:p>
        </p:txBody>
      </p:sp>
      <p:sp>
        <p:nvSpPr>
          <p:cNvPr id="1962" name="Google Shape;1962;p101"/>
          <p:cNvSpPr txBox="1"/>
          <p:nvPr>
            <p:ph idx="1" type="body"/>
          </p:nvPr>
        </p:nvSpPr>
        <p:spPr>
          <a:xfrm>
            <a:off x="7338343" y="752731"/>
            <a:ext cx="10950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25 units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3" name="Google Shape;1963;p101"/>
          <p:cNvSpPr txBox="1"/>
          <p:nvPr>
            <p:ph idx="1" type="body"/>
          </p:nvPr>
        </p:nvSpPr>
        <p:spPr>
          <a:xfrm>
            <a:off x="3172935" y="2625600"/>
            <a:ext cx="7446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unit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4" name="Google Shape;1964;p101"/>
          <p:cNvSpPr/>
          <p:nvPr/>
        </p:nvSpPr>
        <p:spPr>
          <a:xfrm>
            <a:off x="1880050" y="3248553"/>
            <a:ext cx="110400" cy="1104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5" name="Google Shape;1965;p101"/>
          <p:cNvSpPr/>
          <p:nvPr/>
        </p:nvSpPr>
        <p:spPr>
          <a:xfrm>
            <a:off x="2776252" y="2597623"/>
            <a:ext cx="100200" cy="100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66" name="Google Shape;1966;p101"/>
          <p:cNvCxnSpPr/>
          <p:nvPr/>
        </p:nvCxnSpPr>
        <p:spPr>
          <a:xfrm flipH="1" rot="10800000">
            <a:off x="1944978" y="2647397"/>
            <a:ext cx="885900" cy="645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67" name="Google Shape;1967;p101"/>
          <p:cNvSpPr txBox="1"/>
          <p:nvPr>
            <p:ph idx="1" type="body"/>
          </p:nvPr>
        </p:nvSpPr>
        <p:spPr>
          <a:xfrm>
            <a:off x="5661148" y="4566125"/>
            <a:ext cx="9285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= 3.2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p102"/>
          <p:cNvSpPr txBox="1"/>
          <p:nvPr>
            <p:ph idx="1" type="body"/>
          </p:nvPr>
        </p:nvSpPr>
        <p:spPr>
          <a:xfrm>
            <a:off x="324000" y="1080000"/>
            <a:ext cx="84555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The sum of the squares of the two shorter sides of a right-angled triangle equals the square of the longest side.</a:t>
            </a:r>
            <a:br>
              <a:rPr lang="en-GB" sz="2000"/>
            </a:br>
            <a:endParaRPr sz="6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The longest side of a right-angled triangle is always opposite the right angle. This is called the hypotenuse.</a:t>
            </a:r>
            <a:br>
              <a:rPr lang="en-GB" sz="2000"/>
            </a:br>
            <a:endParaRPr sz="6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000"/>
              <a:t>The formula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-GB" sz="2000"/>
              <a:t>2</a:t>
            </a:r>
            <a:r>
              <a:rPr lang="en-GB" sz="2000"/>
              <a:t> 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2000"/>
              <a:t>2</a:t>
            </a:r>
            <a:r>
              <a:rPr lang="en-GB" sz="2000"/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000"/>
              <a:t>2</a:t>
            </a:r>
            <a:r>
              <a:rPr lang="en-GB" sz="2000"/>
              <a:t> can be used to find the length of the hypotenuse or can be rearranged to find the length of one of the shorter sides.</a:t>
            </a:r>
            <a:br>
              <a:rPr lang="en-GB" sz="2000"/>
            </a:br>
            <a:endParaRPr sz="6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If a right-angled triangle is not immediately available, see if you can construct one within the problem.</a:t>
            </a:r>
            <a:endParaRPr sz="2000"/>
          </a:p>
        </p:txBody>
      </p:sp>
      <p:sp>
        <p:nvSpPr>
          <p:cNvPr id="1973" name="Google Shape;1973;p102"/>
          <p:cNvSpPr txBox="1"/>
          <p:nvPr>
            <p:ph type="title"/>
          </p:nvPr>
        </p:nvSpPr>
        <p:spPr>
          <a:xfrm>
            <a:off x="1684800" y="27496"/>
            <a:ext cx="5741400" cy="708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Pythagoras’ theorem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7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p103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979" name="Google Shape;1979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