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1f1e5cb2e7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1f1e5cb2e7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1f1e5cb2e76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1f1e5cb2e76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1f1e5cb2e76_0_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1f1e5cb2e76_0_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bacf82562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2bacf82562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2bacf82562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2bacf82562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1f1e5cb2e76_0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1f1e5cb2e76_0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1f210609ef9_1_1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1f210609ef9_1_1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1f210609ef9_1_1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1f210609ef9_1_1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1f210609ef9_1_1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1f210609ef9_1_1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1f210609ef9_1_1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3" name="Google Shape;963;g1f210609ef9_1_1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1f210609ef9_1_1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1" name="Google Shape;1001;g1f210609ef9_1_1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1f210609ef9_1_1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1f210609ef9_1_1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1f210609ef9_1_1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1f210609ef9_1_1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1f210609ef9_1_1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1f210609ef9_1_1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1f1e5cb2e76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1f1e5cb2e76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2bacf825622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1" name="Google Shape;1161;g2bacf825622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1f210609ef9_1_1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5" name="Google Shape;1195;g1f210609ef9_1_1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2bacf825622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0" name="Google Shape;1210;g2bacf825622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g2bacf825622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7" name="Google Shape;1257;g2bacf825622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g2bacf825622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g2bacf825622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g1f210609ef9_1_1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6" name="Google Shape;1316;g1f210609ef9_1_1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1f1e5cb2e76_0_7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2" name="Google Shape;1352;g1f1e5cb2e76_0_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g1f210609ef9_1_1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0" name="Google Shape;1360;g1f210609ef9_1_1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g1f210609ef9_1_1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1" name="Google Shape;1381;g1f210609ef9_1_1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1f1e5cb2e76_0_7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1" name="Google Shape;1401;g1f1e5cb2e76_0_7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g1f210609ef9_1_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4" name="Google Shape;1434;g1f210609ef9_1_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g1f1e5cb2e76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4" name="Google Shape;1464;g1f1e5cb2e76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1f210609ef9_1_9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9" name="Google Shape;1499;g1f210609ef9_1_9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g1f210609ef9_1_9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1" name="Google Shape;1531;g1f210609ef9_1_9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g1f210609ef9_1_9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1" name="Google Shape;1561;g1f210609ef9_1_9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g1f210609ef9_1_1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7" name="Google Shape;1597;g1f210609ef9_1_1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g2bc0355be97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0" name="Google Shape;1630;g2bc0355be97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g1f210609ef9_1_10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9" name="Google Shape;1659;g1f210609ef9_1_1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2" name="Shape 1722"/>
        <p:cNvGrpSpPr/>
        <p:nvPr/>
      </p:nvGrpSpPr>
      <p:grpSpPr>
        <a:xfrm>
          <a:off x="0" y="0"/>
          <a:ext cx="0" cy="0"/>
          <a:chOff x="0" y="0"/>
          <a:chExt cx="0" cy="0"/>
        </a:xfrm>
      </p:grpSpPr>
      <p:sp>
        <p:nvSpPr>
          <p:cNvPr id="1723" name="Google Shape;1723;g2bc0355be97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4" name="Google Shape;1724;g2bc0355be97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2" name="Shape 1742"/>
        <p:cNvGrpSpPr/>
        <p:nvPr/>
      </p:nvGrpSpPr>
      <p:grpSpPr>
        <a:xfrm>
          <a:off x="0" y="0"/>
          <a:ext cx="0" cy="0"/>
          <a:chOff x="0" y="0"/>
          <a:chExt cx="0" cy="0"/>
        </a:xfrm>
      </p:grpSpPr>
      <p:sp>
        <p:nvSpPr>
          <p:cNvPr id="1743" name="Google Shape;1743;g2bc0355be97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4" name="Google Shape;1744;g2bc0355be97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2" name="Shape 1762"/>
        <p:cNvGrpSpPr/>
        <p:nvPr/>
      </p:nvGrpSpPr>
      <p:grpSpPr>
        <a:xfrm>
          <a:off x="0" y="0"/>
          <a:ext cx="0" cy="0"/>
          <a:chOff x="0" y="0"/>
          <a:chExt cx="0" cy="0"/>
        </a:xfrm>
      </p:grpSpPr>
      <p:sp>
        <p:nvSpPr>
          <p:cNvPr id="1763" name="Google Shape;1763;g1f1e5cb2e76_0_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4" name="Google Shape;1764;g1f1e5cb2e76_0_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9" name="Shape 1769"/>
        <p:cNvGrpSpPr/>
        <p:nvPr/>
      </p:nvGrpSpPr>
      <p:grpSpPr>
        <a:xfrm>
          <a:off x="0" y="0"/>
          <a:ext cx="0" cy="0"/>
          <a:chOff x="0" y="0"/>
          <a:chExt cx="0" cy="0"/>
        </a:xfrm>
      </p:grpSpPr>
      <p:sp>
        <p:nvSpPr>
          <p:cNvPr id="1770" name="Google Shape;1770;g1f210609ef9_1_1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1" name="Google Shape;1771;g1f210609ef9_1_1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0" name="Shape 1790"/>
        <p:cNvGrpSpPr/>
        <p:nvPr/>
      </p:nvGrpSpPr>
      <p:grpSpPr>
        <a:xfrm>
          <a:off x="0" y="0"/>
          <a:ext cx="0" cy="0"/>
          <a:chOff x="0" y="0"/>
          <a:chExt cx="0" cy="0"/>
        </a:xfrm>
      </p:grpSpPr>
      <p:sp>
        <p:nvSpPr>
          <p:cNvPr id="1791" name="Google Shape;1791;g2bacf825622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2" name="Google Shape;1792;g2bacf825622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9" name="Shape 1809"/>
        <p:cNvGrpSpPr/>
        <p:nvPr/>
      </p:nvGrpSpPr>
      <p:grpSpPr>
        <a:xfrm>
          <a:off x="0" y="0"/>
          <a:ext cx="0" cy="0"/>
          <a:chOff x="0" y="0"/>
          <a:chExt cx="0" cy="0"/>
        </a:xfrm>
      </p:grpSpPr>
      <p:sp>
        <p:nvSpPr>
          <p:cNvPr id="1810" name="Google Shape;1810;g2bacf825622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1" name="Google Shape;1811;g2bacf825622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6" name="Shape 1826"/>
        <p:cNvGrpSpPr/>
        <p:nvPr/>
      </p:nvGrpSpPr>
      <p:grpSpPr>
        <a:xfrm>
          <a:off x="0" y="0"/>
          <a:ext cx="0" cy="0"/>
          <a:chOff x="0" y="0"/>
          <a:chExt cx="0" cy="0"/>
        </a:xfrm>
      </p:grpSpPr>
      <p:sp>
        <p:nvSpPr>
          <p:cNvPr id="1827" name="Google Shape;1827;g1f210609ef9_1_10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8" name="Google Shape;1828;g1f210609ef9_1_10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2" name="Shape 1872"/>
        <p:cNvGrpSpPr/>
        <p:nvPr/>
      </p:nvGrpSpPr>
      <p:grpSpPr>
        <a:xfrm>
          <a:off x="0" y="0"/>
          <a:ext cx="0" cy="0"/>
          <a:chOff x="0" y="0"/>
          <a:chExt cx="0" cy="0"/>
        </a:xfrm>
      </p:grpSpPr>
      <p:sp>
        <p:nvSpPr>
          <p:cNvPr id="1873" name="Google Shape;1873;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4" name="Google Shape;1874;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8" name="Shape 1878"/>
        <p:cNvGrpSpPr/>
        <p:nvPr/>
      </p:nvGrpSpPr>
      <p:grpSpPr>
        <a:xfrm>
          <a:off x="0" y="0"/>
          <a:ext cx="0" cy="0"/>
          <a:chOff x="0" y="0"/>
          <a:chExt cx="0" cy="0"/>
        </a:xfrm>
      </p:grpSpPr>
      <p:sp>
        <p:nvSpPr>
          <p:cNvPr id="1879" name="Google Shape;1879;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0" name="Google Shape;1880;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2.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6.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24.png"/><Relationship Id="rId4" Type="http://schemas.openxmlformats.org/officeDocument/2006/relationships/image" Target="../media/image15.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6.png"/><Relationship Id="rId4" Type="http://schemas.openxmlformats.org/officeDocument/2006/relationships/image" Target="../media/image66.png"/><Relationship Id="rId5" Type="http://schemas.openxmlformats.org/officeDocument/2006/relationships/image" Target="../media/image25.png"/><Relationship Id="rId6" Type="http://schemas.openxmlformats.org/officeDocument/2006/relationships/image" Target="../media/image28.png"/><Relationship Id="rId7" Type="http://schemas.openxmlformats.org/officeDocument/2006/relationships/image" Target="../media/image1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66.png"/><Relationship Id="rId4" Type="http://schemas.openxmlformats.org/officeDocument/2006/relationships/image" Target="../media/image14.png"/><Relationship Id="rId9" Type="http://schemas.openxmlformats.org/officeDocument/2006/relationships/image" Target="../media/image17.png"/><Relationship Id="rId5" Type="http://schemas.openxmlformats.org/officeDocument/2006/relationships/image" Target="../media/image26.png"/><Relationship Id="rId6" Type="http://schemas.openxmlformats.org/officeDocument/2006/relationships/image" Target="../media/image32.png"/><Relationship Id="rId7" Type="http://schemas.openxmlformats.org/officeDocument/2006/relationships/image" Target="../media/image25.png"/><Relationship Id="rId8" Type="http://schemas.openxmlformats.org/officeDocument/2006/relationships/image" Target="../media/image2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66.png"/><Relationship Id="rId4" Type="http://schemas.openxmlformats.org/officeDocument/2006/relationships/image" Target="../media/image29.png"/><Relationship Id="rId11" Type="http://schemas.openxmlformats.org/officeDocument/2006/relationships/image" Target="../media/image17.png"/><Relationship Id="rId10" Type="http://schemas.openxmlformats.org/officeDocument/2006/relationships/image" Target="../media/image35.png"/><Relationship Id="rId9" Type="http://schemas.openxmlformats.org/officeDocument/2006/relationships/image" Target="../media/image28.png"/><Relationship Id="rId5" Type="http://schemas.openxmlformats.org/officeDocument/2006/relationships/image" Target="../media/image14.png"/><Relationship Id="rId6" Type="http://schemas.openxmlformats.org/officeDocument/2006/relationships/image" Target="../media/image26.png"/><Relationship Id="rId7" Type="http://schemas.openxmlformats.org/officeDocument/2006/relationships/image" Target="../media/image32.png"/><Relationship Id="rId8" Type="http://schemas.openxmlformats.org/officeDocument/2006/relationships/image" Target="../media/image2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8.png"/><Relationship Id="rId4" Type="http://schemas.openxmlformats.org/officeDocument/2006/relationships/image" Target="../media/image42.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50.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50.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5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50.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99" name="Google Shape;99;p12"/>
          <p:cNvGrpSpPr/>
          <p:nvPr/>
        </p:nvGrpSpPr>
        <p:grpSpPr>
          <a:xfrm>
            <a:off x="2650916" y="1644417"/>
            <a:ext cx="1745270" cy="1430724"/>
            <a:chOff x="2642961" y="1644312"/>
            <a:chExt cx="1454634" cy="1195657"/>
          </a:xfrm>
        </p:grpSpPr>
        <p:pic>
          <p:nvPicPr>
            <p:cNvPr id="100" name="Google Shape;100;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1" name="Google Shape;101;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4" name="Google Shape;104;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5" name="Google Shape;105;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6" name="Google Shape;106;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4" name="Google Shape;114;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5" name="Google Shape;115;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6" name="Google Shape;116;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7" name="Shape 117"/>
        <p:cNvGrpSpPr/>
        <p:nvPr/>
      </p:nvGrpSpPr>
      <p:grpSpPr>
        <a:xfrm>
          <a:off x="0" y="0"/>
          <a:ext cx="0" cy="0"/>
          <a:chOff x="0" y="0"/>
          <a:chExt cx="0" cy="0"/>
        </a:xfrm>
      </p:grpSpPr>
      <p:sp>
        <p:nvSpPr>
          <p:cNvPr id="118" name="Google Shape;118;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0" name="Google Shape;120;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1" name="Google Shape;121;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2" name="Google Shape;122;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3" name="Google Shape;123;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4" name="Google Shape;124;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5" name="Google Shape;125;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6" name="Google Shape;126;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7" name="Google Shape;127;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8" name="Google Shape;128;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29" name="Shape 129"/>
        <p:cNvGrpSpPr/>
        <p:nvPr/>
      </p:nvGrpSpPr>
      <p:grpSpPr>
        <a:xfrm>
          <a:off x="0" y="0"/>
          <a:ext cx="0" cy="0"/>
          <a:chOff x="0" y="0"/>
          <a:chExt cx="0" cy="0"/>
        </a:xfrm>
      </p:grpSpPr>
      <p:sp>
        <p:nvSpPr>
          <p:cNvPr id="130" name="Google Shape;130;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3" name="Google Shape;133;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5" name="Google Shape;135;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7" name="Google Shape;137;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8" name="Google Shape;138;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9" name="Google Shape;139;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0" name="Google Shape;140;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1" name="Google Shape;141;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3" name="Shape 143"/>
        <p:cNvGrpSpPr/>
        <p:nvPr/>
      </p:nvGrpSpPr>
      <p:grpSpPr>
        <a:xfrm>
          <a:off x="0" y="0"/>
          <a:ext cx="0" cy="0"/>
          <a:chOff x="0" y="0"/>
          <a:chExt cx="0" cy="0"/>
        </a:xfrm>
      </p:grpSpPr>
      <p:sp>
        <p:nvSpPr>
          <p:cNvPr id="144" name="Google Shape;144;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 name="Google Shape;145;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6" name="Google Shape;14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7" name="Google Shape;147;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8" name="Google Shape;148;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9" name="Google Shape;149;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1" name="Shape 151"/>
        <p:cNvGrpSpPr/>
        <p:nvPr/>
      </p:nvGrpSpPr>
      <p:grpSpPr>
        <a:xfrm>
          <a:off x="0" y="0"/>
          <a:ext cx="0" cy="0"/>
          <a:chOff x="0" y="0"/>
          <a:chExt cx="0" cy="0"/>
        </a:xfrm>
      </p:grpSpPr>
      <p:sp>
        <p:nvSpPr>
          <p:cNvPr id="152" name="Google Shape;152;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4" name="Google Shape;154;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5" name="Google Shape;155;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6" name="Google Shape;156;p17"/>
          <p:cNvCxnSpPr>
            <a:endCxn id="157"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8" name="Google Shape;158;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59" name="Google Shape;159;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0" name="Google Shape;160;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7" name="Google Shape;157;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1" name="Google Shape;161;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2" name="Google Shape;162;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3" name="Google Shape;163;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4" name="Shape 164"/>
        <p:cNvGrpSpPr/>
        <p:nvPr/>
      </p:nvGrpSpPr>
      <p:grpSpPr>
        <a:xfrm>
          <a:off x="0" y="0"/>
          <a:ext cx="0" cy="0"/>
          <a:chOff x="0" y="0"/>
          <a:chExt cx="0" cy="0"/>
        </a:xfrm>
      </p:grpSpPr>
      <p:pic>
        <p:nvPicPr>
          <p:cNvPr id="165" name="Google Shape;165;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6" name="Google Shape;166;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7" name="Google Shape;167;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8" name="Google Shape;168;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69" name="Google Shape;169;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0" name="Google Shape;170;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1" name="Google Shape;171;p18"/>
          <p:cNvCxnSpPr>
            <a:endCxn id="172"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2" name="Google Shape;172;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3" name="Google Shape;173;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4" name="Google Shape;174;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5" name="Google Shape;175;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7" name="Google Shape;177;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8" name="Google Shape;178;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0" name="Google Shape;180;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1" name="Google Shape;181;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2" name="Shape 182"/>
        <p:cNvGrpSpPr/>
        <p:nvPr/>
      </p:nvGrpSpPr>
      <p:grpSpPr>
        <a:xfrm>
          <a:off x="0" y="0"/>
          <a:ext cx="0" cy="0"/>
          <a:chOff x="0" y="0"/>
          <a:chExt cx="0" cy="0"/>
        </a:xfrm>
      </p:grpSpPr>
      <p:pic>
        <p:nvPicPr>
          <p:cNvPr id="183" name="Google Shape;183;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4" name="Google Shape;184;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5" name="Google Shape;185;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6" name="Google Shape;186;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7" name="Google Shape;187;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8" name="Google Shape;188;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89" name="Google Shape;189;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0" name="Google Shape;190;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1" name="Google Shape;191;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2" name="Google Shape;192;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3" name="Google Shape;193;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4" name="Google Shape;194;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5" name="Google Shape;195;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99" name="Google Shape;199;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0" name="Google Shape;200;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 name="Google Shape;201;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2" name="Google Shape;202;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3" name="Google Shape;203;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4" name="Shape 204"/>
        <p:cNvGrpSpPr/>
        <p:nvPr/>
      </p:nvGrpSpPr>
      <p:grpSpPr>
        <a:xfrm>
          <a:off x="0" y="0"/>
          <a:ext cx="0" cy="0"/>
          <a:chOff x="0" y="0"/>
          <a:chExt cx="0" cy="0"/>
        </a:xfrm>
      </p:grpSpPr>
      <p:pic>
        <p:nvPicPr>
          <p:cNvPr id="205" name="Google Shape;205;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6" name="Google Shape;206;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8" name="Google Shape;208;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09" name="Google Shape;209;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0" name="Google Shape;210;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1" name="Shape 211"/>
        <p:cNvGrpSpPr/>
        <p:nvPr/>
      </p:nvGrpSpPr>
      <p:grpSpPr>
        <a:xfrm>
          <a:off x="0" y="0"/>
          <a:ext cx="0" cy="0"/>
          <a:chOff x="0" y="0"/>
          <a:chExt cx="0" cy="0"/>
        </a:xfrm>
      </p:grpSpPr>
      <p:pic>
        <p:nvPicPr>
          <p:cNvPr id="212" name="Google Shape;212;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3" name="Google Shape;213;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5" name="Google Shape;215;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6" name="Google Shape;216;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7" name="Google Shape;217;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8" name="Shape 218"/>
        <p:cNvGrpSpPr/>
        <p:nvPr/>
      </p:nvGrpSpPr>
      <p:grpSpPr>
        <a:xfrm>
          <a:off x="0" y="0"/>
          <a:ext cx="0" cy="0"/>
          <a:chOff x="0" y="0"/>
          <a:chExt cx="0" cy="0"/>
        </a:xfrm>
      </p:grpSpPr>
      <p:pic>
        <p:nvPicPr>
          <p:cNvPr id="219" name="Google Shape;219;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0" name="Google Shape;220;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2" name="Google Shape;222;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3" name="Google Shape;223;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4" name="Google Shape;224;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5" name="Shape 225"/>
        <p:cNvGrpSpPr/>
        <p:nvPr/>
      </p:nvGrpSpPr>
      <p:grpSpPr>
        <a:xfrm>
          <a:off x="0" y="0"/>
          <a:ext cx="0" cy="0"/>
          <a:chOff x="0" y="0"/>
          <a:chExt cx="0" cy="0"/>
        </a:xfrm>
      </p:grpSpPr>
      <p:pic>
        <p:nvPicPr>
          <p:cNvPr id="226" name="Google Shape;22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7" name="Google Shape;227;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9" name="Google Shape;22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0" name="Google Shape;23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1" name="Google Shape;23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2" name="Shape 232"/>
        <p:cNvGrpSpPr/>
        <p:nvPr/>
      </p:nvGrpSpPr>
      <p:grpSpPr>
        <a:xfrm>
          <a:off x="0" y="0"/>
          <a:ext cx="0" cy="0"/>
          <a:chOff x="0" y="0"/>
          <a:chExt cx="0" cy="0"/>
        </a:xfrm>
      </p:grpSpPr>
      <p:sp>
        <p:nvSpPr>
          <p:cNvPr id="233" name="Google Shape;233;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4" name="Google Shape;234;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5" name="Google Shape;235;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7" name="Google Shape;237;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39" name="Google Shape;239;p24"/>
          <p:cNvGrpSpPr/>
          <p:nvPr/>
        </p:nvGrpSpPr>
        <p:grpSpPr>
          <a:xfrm>
            <a:off x="7834231" y="1285"/>
            <a:ext cx="828900" cy="576065"/>
            <a:chOff x="7801496" y="1285"/>
            <a:chExt cx="828900" cy="576065"/>
          </a:xfrm>
        </p:grpSpPr>
        <p:pic>
          <p:nvPicPr>
            <p:cNvPr id="240" name="Google Shape;240;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1" name="Google Shape;241;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2" name="Google Shape;242;p24"/>
          <p:cNvGrpSpPr/>
          <p:nvPr/>
        </p:nvGrpSpPr>
        <p:grpSpPr>
          <a:xfrm>
            <a:off x="8635663" y="1285"/>
            <a:ext cx="499700" cy="576065"/>
            <a:chOff x="8635663" y="1285"/>
            <a:chExt cx="499700" cy="576065"/>
          </a:xfrm>
        </p:grpSpPr>
        <p:pic>
          <p:nvPicPr>
            <p:cNvPr id="243" name="Google Shape;243;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4" name="Google Shape;244;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5" name="Shape 245"/>
        <p:cNvGrpSpPr/>
        <p:nvPr/>
      </p:nvGrpSpPr>
      <p:grpSpPr>
        <a:xfrm>
          <a:off x="0" y="0"/>
          <a:ext cx="0" cy="0"/>
          <a:chOff x="0" y="0"/>
          <a:chExt cx="0" cy="0"/>
        </a:xfrm>
      </p:grpSpPr>
      <p:sp>
        <p:nvSpPr>
          <p:cNvPr id="246" name="Google Shape;246;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7" name="Google Shape;247;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8" name="Google Shape;248;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0" name="Google Shape;250;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2" name="Google Shape;252;p25"/>
          <p:cNvGrpSpPr/>
          <p:nvPr/>
        </p:nvGrpSpPr>
        <p:grpSpPr>
          <a:xfrm>
            <a:off x="7834231" y="1285"/>
            <a:ext cx="828900" cy="576065"/>
            <a:chOff x="7801496" y="1285"/>
            <a:chExt cx="828900" cy="576065"/>
          </a:xfrm>
        </p:grpSpPr>
        <p:pic>
          <p:nvPicPr>
            <p:cNvPr id="253" name="Google Shape;253;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4" name="Google Shape;254;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5" name="Google Shape;255;p25"/>
          <p:cNvGrpSpPr/>
          <p:nvPr/>
        </p:nvGrpSpPr>
        <p:grpSpPr>
          <a:xfrm>
            <a:off x="8635663" y="1285"/>
            <a:ext cx="499700" cy="576065"/>
            <a:chOff x="8635663" y="1285"/>
            <a:chExt cx="499700" cy="576065"/>
          </a:xfrm>
        </p:grpSpPr>
        <p:pic>
          <p:nvPicPr>
            <p:cNvPr id="256" name="Google Shape;256;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7" name="Google Shape;257;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8" name="Shape 258"/>
        <p:cNvGrpSpPr/>
        <p:nvPr/>
      </p:nvGrpSpPr>
      <p:grpSpPr>
        <a:xfrm>
          <a:off x="0" y="0"/>
          <a:ext cx="0" cy="0"/>
          <a:chOff x="0" y="0"/>
          <a:chExt cx="0" cy="0"/>
        </a:xfrm>
      </p:grpSpPr>
      <p:sp>
        <p:nvSpPr>
          <p:cNvPr id="259" name="Google Shape;259;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0" name="Google Shape;260;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1" name="Google Shape;261;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3" name="Google Shape;263;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5" name="Google Shape;265;p26"/>
          <p:cNvGrpSpPr/>
          <p:nvPr/>
        </p:nvGrpSpPr>
        <p:grpSpPr>
          <a:xfrm>
            <a:off x="7834231" y="1285"/>
            <a:ext cx="828900" cy="576065"/>
            <a:chOff x="7801496" y="1285"/>
            <a:chExt cx="828900" cy="576065"/>
          </a:xfrm>
        </p:grpSpPr>
        <p:pic>
          <p:nvPicPr>
            <p:cNvPr id="266" name="Google Shape;266;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7" name="Google Shape;267;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8" name="Google Shape;268;p26"/>
          <p:cNvGrpSpPr/>
          <p:nvPr/>
        </p:nvGrpSpPr>
        <p:grpSpPr>
          <a:xfrm>
            <a:off x="8635663" y="1285"/>
            <a:ext cx="499700" cy="576065"/>
            <a:chOff x="8635663" y="1285"/>
            <a:chExt cx="499700" cy="576065"/>
          </a:xfrm>
        </p:grpSpPr>
        <p:pic>
          <p:nvPicPr>
            <p:cNvPr id="269" name="Google Shape;269;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0" name="Google Shape;270;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1" name="Shape 271"/>
        <p:cNvGrpSpPr/>
        <p:nvPr/>
      </p:nvGrpSpPr>
      <p:grpSpPr>
        <a:xfrm>
          <a:off x="0" y="0"/>
          <a:ext cx="0" cy="0"/>
          <a:chOff x="0" y="0"/>
          <a:chExt cx="0" cy="0"/>
        </a:xfrm>
      </p:grpSpPr>
      <p:sp>
        <p:nvSpPr>
          <p:cNvPr id="272" name="Google Shape;272;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 name="Google Shape;273;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4" name="Google Shape;274;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6" name="Google Shape;276;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8" name="Google Shape;278;p27"/>
          <p:cNvGrpSpPr/>
          <p:nvPr/>
        </p:nvGrpSpPr>
        <p:grpSpPr>
          <a:xfrm>
            <a:off x="7834231" y="1285"/>
            <a:ext cx="828900" cy="576065"/>
            <a:chOff x="7801496" y="1285"/>
            <a:chExt cx="828900" cy="576065"/>
          </a:xfrm>
        </p:grpSpPr>
        <p:pic>
          <p:nvPicPr>
            <p:cNvPr id="279" name="Google Shape;279;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0" name="Google Shape;280;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1" name="Google Shape;281;p27"/>
          <p:cNvGrpSpPr/>
          <p:nvPr/>
        </p:nvGrpSpPr>
        <p:grpSpPr>
          <a:xfrm>
            <a:off x="8635663" y="1285"/>
            <a:ext cx="499700" cy="576065"/>
            <a:chOff x="8635663" y="1285"/>
            <a:chExt cx="499700" cy="576065"/>
          </a:xfrm>
        </p:grpSpPr>
        <p:pic>
          <p:nvPicPr>
            <p:cNvPr id="282" name="Google Shape;282;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3" name="Google Shape;283;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4" name="Shape 284"/>
        <p:cNvGrpSpPr/>
        <p:nvPr/>
      </p:nvGrpSpPr>
      <p:grpSpPr>
        <a:xfrm>
          <a:off x="0" y="0"/>
          <a:ext cx="0" cy="0"/>
          <a:chOff x="0" y="0"/>
          <a:chExt cx="0" cy="0"/>
        </a:xfrm>
      </p:grpSpPr>
      <p:pic>
        <p:nvPicPr>
          <p:cNvPr id="285" name="Google Shape;285;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6" name="Google Shape;286;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7" name="Google Shape;287;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8" name="Google Shape;288;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0" name="Google Shape;290;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1" name="Google Shape;291;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2" name="Google Shape;292;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3" name="Google Shape;293;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5" name="Google Shape;295;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6" name="Google Shape;296;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7" name="Google Shape;297;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8" name="Google Shape;298;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299" name="Google Shape;299;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0" name="Google Shape;300;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1" name="Google Shape;301;p28"/>
          <p:cNvGrpSpPr/>
          <p:nvPr/>
        </p:nvGrpSpPr>
        <p:grpSpPr>
          <a:xfrm>
            <a:off x="324128" y="3139463"/>
            <a:ext cx="457200" cy="457200"/>
            <a:chOff x="1020916" y="1442088"/>
            <a:chExt cx="457200" cy="457200"/>
          </a:xfrm>
        </p:grpSpPr>
        <p:pic>
          <p:nvPicPr>
            <p:cNvPr id="302" name="Google Shape;302;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3" name="Google Shape;303;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4" name="Google Shape;304;p28"/>
          <p:cNvGrpSpPr/>
          <p:nvPr/>
        </p:nvGrpSpPr>
        <p:grpSpPr>
          <a:xfrm>
            <a:off x="324128" y="3987825"/>
            <a:ext cx="457200" cy="457200"/>
            <a:chOff x="1020916" y="1442088"/>
            <a:chExt cx="457200" cy="457200"/>
          </a:xfrm>
        </p:grpSpPr>
        <p:pic>
          <p:nvPicPr>
            <p:cNvPr id="305" name="Google Shape;305;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6" name="Google Shape;306;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7" name="Shape 307"/>
        <p:cNvGrpSpPr/>
        <p:nvPr/>
      </p:nvGrpSpPr>
      <p:grpSpPr>
        <a:xfrm>
          <a:off x="0" y="0"/>
          <a:ext cx="0" cy="0"/>
          <a:chOff x="0" y="0"/>
          <a:chExt cx="0" cy="0"/>
        </a:xfrm>
      </p:grpSpPr>
      <p:pic>
        <p:nvPicPr>
          <p:cNvPr id="308" name="Google Shape;308;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9" name="Google Shape;309;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1" name="Google Shape;311;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2" name="Google Shape;312;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3" name="Google Shape;313;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4" name="Google Shape;314;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5" name="Google Shape;315;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6" name="Google Shape;316;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7" name="Google Shape;317;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8" name="Google Shape;318;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9" name="Google Shape;319;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0" name="Google Shape;320;p29"/>
          <p:cNvGrpSpPr/>
          <p:nvPr/>
        </p:nvGrpSpPr>
        <p:grpSpPr>
          <a:xfrm>
            <a:off x="324128" y="3139463"/>
            <a:ext cx="457200" cy="457200"/>
            <a:chOff x="1020916" y="1442088"/>
            <a:chExt cx="457200" cy="457200"/>
          </a:xfrm>
        </p:grpSpPr>
        <p:pic>
          <p:nvPicPr>
            <p:cNvPr id="321" name="Google Shape;321;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2" name="Google Shape;322;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3" name="Google Shape;323;p29"/>
          <p:cNvGrpSpPr/>
          <p:nvPr/>
        </p:nvGrpSpPr>
        <p:grpSpPr>
          <a:xfrm>
            <a:off x="324128" y="3987825"/>
            <a:ext cx="457200" cy="457200"/>
            <a:chOff x="1020916" y="1442088"/>
            <a:chExt cx="457200" cy="457200"/>
          </a:xfrm>
        </p:grpSpPr>
        <p:pic>
          <p:nvPicPr>
            <p:cNvPr id="324" name="Google Shape;324;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5" name="Google Shape;325;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6" name="Google Shape;326;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7" name="Google Shape;327;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8" name="Google Shape;328;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29" name="Google Shape;329;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0" name="Shape 330"/>
        <p:cNvGrpSpPr/>
        <p:nvPr/>
      </p:nvGrpSpPr>
      <p:grpSpPr>
        <a:xfrm>
          <a:off x="0" y="0"/>
          <a:ext cx="0" cy="0"/>
          <a:chOff x="0" y="0"/>
          <a:chExt cx="0" cy="0"/>
        </a:xfrm>
      </p:grpSpPr>
      <p:pic>
        <p:nvPicPr>
          <p:cNvPr id="331" name="Google Shape;331;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2" name="Google Shape;332;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4" name="Google Shape;33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5" name="Google Shape;33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6" name="Google Shape;336;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7" name="Google Shape;337;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8" name="Google Shape;338;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39" name="Google Shape;339;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0" name="Google Shape;340;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1" name="Google Shape;341;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2" name="Google Shape;342;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3" name="Google Shape;343;p30"/>
          <p:cNvGrpSpPr/>
          <p:nvPr/>
        </p:nvGrpSpPr>
        <p:grpSpPr>
          <a:xfrm>
            <a:off x="324128" y="3139463"/>
            <a:ext cx="457200" cy="457200"/>
            <a:chOff x="1020916" y="1442088"/>
            <a:chExt cx="457200" cy="457200"/>
          </a:xfrm>
        </p:grpSpPr>
        <p:pic>
          <p:nvPicPr>
            <p:cNvPr id="344" name="Google Shape;344;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5" name="Google Shape;345;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6" name="Google Shape;346;p30"/>
          <p:cNvGrpSpPr/>
          <p:nvPr/>
        </p:nvGrpSpPr>
        <p:grpSpPr>
          <a:xfrm>
            <a:off x="324128" y="3987825"/>
            <a:ext cx="457200" cy="457200"/>
            <a:chOff x="1020916" y="1442088"/>
            <a:chExt cx="457200" cy="457200"/>
          </a:xfrm>
        </p:grpSpPr>
        <p:pic>
          <p:nvPicPr>
            <p:cNvPr id="347" name="Google Shape;347;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8" name="Google Shape;348;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49" name="Google Shape;349;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0" name="Google Shape;350;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1" name="Google Shape;351;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2" name="Google Shape;352;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3" name="Shape 353"/>
        <p:cNvGrpSpPr/>
        <p:nvPr/>
      </p:nvGrpSpPr>
      <p:grpSpPr>
        <a:xfrm>
          <a:off x="0" y="0"/>
          <a:ext cx="0" cy="0"/>
          <a:chOff x="0" y="0"/>
          <a:chExt cx="0" cy="0"/>
        </a:xfrm>
      </p:grpSpPr>
      <p:pic>
        <p:nvPicPr>
          <p:cNvPr id="354" name="Google Shape;354;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5" name="Google Shape;355;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7" name="Google Shape;357;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8" name="Google Shape;358;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59" name="Google Shape;359;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0" name="Google Shape;360;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1" name="Google Shape;361;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2" name="Google Shape;362;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3" name="Google Shape;363;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4" name="Google Shape;364;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5" name="Google Shape;365;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6" name="Google Shape;366;p31"/>
          <p:cNvGrpSpPr/>
          <p:nvPr/>
        </p:nvGrpSpPr>
        <p:grpSpPr>
          <a:xfrm>
            <a:off x="324128" y="3139463"/>
            <a:ext cx="457200" cy="457200"/>
            <a:chOff x="1020916" y="1442088"/>
            <a:chExt cx="457200" cy="457200"/>
          </a:xfrm>
        </p:grpSpPr>
        <p:pic>
          <p:nvPicPr>
            <p:cNvPr id="367" name="Google Shape;367;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8" name="Google Shape;368;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69" name="Google Shape;369;p31"/>
          <p:cNvGrpSpPr/>
          <p:nvPr/>
        </p:nvGrpSpPr>
        <p:grpSpPr>
          <a:xfrm>
            <a:off x="324128" y="3987825"/>
            <a:ext cx="457200" cy="457200"/>
            <a:chOff x="1020916" y="1442088"/>
            <a:chExt cx="457200" cy="457200"/>
          </a:xfrm>
        </p:grpSpPr>
        <p:pic>
          <p:nvPicPr>
            <p:cNvPr id="370" name="Google Shape;370;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1" name="Google Shape;371;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2" name="Google Shape;372;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3" name="Google Shape;373;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4" name="Google Shape;374;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5" name="Google Shape;375;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6" name="Shape 376"/>
        <p:cNvGrpSpPr/>
        <p:nvPr/>
      </p:nvGrpSpPr>
      <p:grpSpPr>
        <a:xfrm>
          <a:off x="0" y="0"/>
          <a:ext cx="0" cy="0"/>
          <a:chOff x="0" y="0"/>
          <a:chExt cx="0" cy="0"/>
        </a:xfrm>
      </p:grpSpPr>
      <p:pic>
        <p:nvPicPr>
          <p:cNvPr id="377" name="Google Shape;377;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8" name="Google Shape;378;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0" name="Google Shape;380;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1" name="Google Shape;381;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2" name="Google Shape;382;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3" name="Google Shape;383;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6" name="Google Shape;386;p32"/>
          <p:cNvGrpSpPr/>
          <p:nvPr/>
        </p:nvGrpSpPr>
        <p:grpSpPr>
          <a:xfrm>
            <a:off x="323653" y="1804438"/>
            <a:ext cx="457200" cy="457200"/>
            <a:chOff x="1020916" y="1442088"/>
            <a:chExt cx="457200" cy="457200"/>
          </a:xfrm>
        </p:grpSpPr>
        <p:pic>
          <p:nvPicPr>
            <p:cNvPr id="387" name="Google Shape;387;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8" name="Google Shape;388;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89" name="Google Shape;389;p32"/>
          <p:cNvGrpSpPr/>
          <p:nvPr/>
        </p:nvGrpSpPr>
        <p:grpSpPr>
          <a:xfrm>
            <a:off x="323653" y="2766575"/>
            <a:ext cx="457200" cy="457200"/>
            <a:chOff x="1020916" y="1442088"/>
            <a:chExt cx="457200" cy="457200"/>
          </a:xfrm>
        </p:grpSpPr>
        <p:pic>
          <p:nvPicPr>
            <p:cNvPr id="390" name="Google Shape;390;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1" name="Google Shape;391;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2" name="Google Shape;392;p32"/>
          <p:cNvGrpSpPr/>
          <p:nvPr/>
        </p:nvGrpSpPr>
        <p:grpSpPr>
          <a:xfrm>
            <a:off x="323641" y="3729038"/>
            <a:ext cx="457200" cy="457200"/>
            <a:chOff x="1020916" y="1442088"/>
            <a:chExt cx="457200" cy="457200"/>
          </a:xfrm>
        </p:grpSpPr>
        <p:pic>
          <p:nvPicPr>
            <p:cNvPr id="393" name="Google Shape;393;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4" name="Google Shape;394;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5" name="Shape 395"/>
        <p:cNvGrpSpPr/>
        <p:nvPr/>
      </p:nvGrpSpPr>
      <p:grpSpPr>
        <a:xfrm>
          <a:off x="0" y="0"/>
          <a:ext cx="0" cy="0"/>
          <a:chOff x="0" y="0"/>
          <a:chExt cx="0" cy="0"/>
        </a:xfrm>
      </p:grpSpPr>
      <p:pic>
        <p:nvPicPr>
          <p:cNvPr id="396" name="Google Shape;396;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7" name="Google Shape;397;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9" name="Google Shape;399;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0" name="Google Shape;400;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1" name="Google Shape;401;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2" name="Google Shape;402;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3" name="Google Shape;403;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5" name="Google Shape;405;p33"/>
          <p:cNvGrpSpPr/>
          <p:nvPr/>
        </p:nvGrpSpPr>
        <p:grpSpPr>
          <a:xfrm>
            <a:off x="323653" y="1804438"/>
            <a:ext cx="457200" cy="457200"/>
            <a:chOff x="1020916" y="1442088"/>
            <a:chExt cx="457200" cy="457200"/>
          </a:xfrm>
        </p:grpSpPr>
        <p:pic>
          <p:nvPicPr>
            <p:cNvPr id="406" name="Google Shape;406;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7" name="Google Shape;407;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8" name="Google Shape;408;p33"/>
          <p:cNvGrpSpPr/>
          <p:nvPr/>
        </p:nvGrpSpPr>
        <p:grpSpPr>
          <a:xfrm>
            <a:off x="323653" y="2766575"/>
            <a:ext cx="457200" cy="457200"/>
            <a:chOff x="1020916" y="1442088"/>
            <a:chExt cx="457200" cy="457200"/>
          </a:xfrm>
        </p:grpSpPr>
        <p:pic>
          <p:nvPicPr>
            <p:cNvPr id="409" name="Google Shape;409;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0" name="Google Shape;410;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1" name="Google Shape;411;p33"/>
          <p:cNvGrpSpPr/>
          <p:nvPr/>
        </p:nvGrpSpPr>
        <p:grpSpPr>
          <a:xfrm>
            <a:off x="323641" y="3729038"/>
            <a:ext cx="457200" cy="457200"/>
            <a:chOff x="1020916" y="1442088"/>
            <a:chExt cx="457200" cy="457200"/>
          </a:xfrm>
        </p:grpSpPr>
        <p:pic>
          <p:nvPicPr>
            <p:cNvPr id="412" name="Google Shape;412;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3" name="Google Shape;413;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4" name="Shape 414"/>
        <p:cNvGrpSpPr/>
        <p:nvPr/>
      </p:nvGrpSpPr>
      <p:grpSpPr>
        <a:xfrm>
          <a:off x="0" y="0"/>
          <a:ext cx="0" cy="0"/>
          <a:chOff x="0" y="0"/>
          <a:chExt cx="0" cy="0"/>
        </a:xfrm>
      </p:grpSpPr>
      <p:pic>
        <p:nvPicPr>
          <p:cNvPr id="415" name="Google Shape;415;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6" name="Google Shape;416;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8" name="Google Shape;418;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19" name="Google Shape;419;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0" name="Google Shape;420;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1" name="Google Shape;421;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2" name="Google Shape;422;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4" name="Google Shape;424;p34"/>
          <p:cNvGrpSpPr/>
          <p:nvPr/>
        </p:nvGrpSpPr>
        <p:grpSpPr>
          <a:xfrm>
            <a:off x="323653" y="1804438"/>
            <a:ext cx="457200" cy="457200"/>
            <a:chOff x="1020916" y="1442088"/>
            <a:chExt cx="457200" cy="457200"/>
          </a:xfrm>
        </p:grpSpPr>
        <p:pic>
          <p:nvPicPr>
            <p:cNvPr id="425" name="Google Shape;425;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6" name="Google Shape;426;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7" name="Google Shape;427;p34"/>
          <p:cNvGrpSpPr/>
          <p:nvPr/>
        </p:nvGrpSpPr>
        <p:grpSpPr>
          <a:xfrm>
            <a:off x="323653" y="2766575"/>
            <a:ext cx="457200" cy="457200"/>
            <a:chOff x="1020916" y="1442088"/>
            <a:chExt cx="457200" cy="457200"/>
          </a:xfrm>
        </p:grpSpPr>
        <p:pic>
          <p:nvPicPr>
            <p:cNvPr id="428" name="Google Shape;428;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9" name="Google Shape;429;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0" name="Google Shape;430;p34"/>
          <p:cNvGrpSpPr/>
          <p:nvPr/>
        </p:nvGrpSpPr>
        <p:grpSpPr>
          <a:xfrm>
            <a:off x="323641" y="3729038"/>
            <a:ext cx="457200" cy="457200"/>
            <a:chOff x="1020916" y="1442088"/>
            <a:chExt cx="457200" cy="457200"/>
          </a:xfrm>
        </p:grpSpPr>
        <p:pic>
          <p:nvPicPr>
            <p:cNvPr id="431" name="Google Shape;43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2" name="Google Shape;43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3" name="Shape 433"/>
        <p:cNvGrpSpPr/>
        <p:nvPr/>
      </p:nvGrpSpPr>
      <p:grpSpPr>
        <a:xfrm>
          <a:off x="0" y="0"/>
          <a:ext cx="0" cy="0"/>
          <a:chOff x="0" y="0"/>
          <a:chExt cx="0" cy="0"/>
        </a:xfrm>
      </p:grpSpPr>
      <p:pic>
        <p:nvPicPr>
          <p:cNvPr id="434" name="Google Shape;434;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5" name="Google Shape;435;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7" name="Google Shape;437;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8" name="Google Shape;438;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39" name="Google Shape;439;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0" name="Google Shape;440;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1" name="Google Shape;441;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3" name="Google Shape;443;p35"/>
          <p:cNvGrpSpPr/>
          <p:nvPr/>
        </p:nvGrpSpPr>
        <p:grpSpPr>
          <a:xfrm>
            <a:off x="323653" y="1804438"/>
            <a:ext cx="457200" cy="457200"/>
            <a:chOff x="1020916" y="1442088"/>
            <a:chExt cx="457200" cy="457200"/>
          </a:xfrm>
        </p:grpSpPr>
        <p:pic>
          <p:nvPicPr>
            <p:cNvPr id="444" name="Google Shape;444;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5" name="Google Shape;445;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6" name="Google Shape;446;p35"/>
          <p:cNvGrpSpPr/>
          <p:nvPr/>
        </p:nvGrpSpPr>
        <p:grpSpPr>
          <a:xfrm>
            <a:off x="323653" y="2766575"/>
            <a:ext cx="457200" cy="457200"/>
            <a:chOff x="1020916" y="1442088"/>
            <a:chExt cx="457200" cy="457200"/>
          </a:xfrm>
        </p:grpSpPr>
        <p:pic>
          <p:nvPicPr>
            <p:cNvPr id="447" name="Google Shape;447;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8" name="Google Shape;448;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49" name="Google Shape;449;p35"/>
          <p:cNvGrpSpPr/>
          <p:nvPr/>
        </p:nvGrpSpPr>
        <p:grpSpPr>
          <a:xfrm>
            <a:off x="323641" y="3729038"/>
            <a:ext cx="457200" cy="457200"/>
            <a:chOff x="1020916" y="1442088"/>
            <a:chExt cx="457200" cy="457200"/>
          </a:xfrm>
        </p:grpSpPr>
        <p:pic>
          <p:nvPicPr>
            <p:cNvPr id="450" name="Google Shape;45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1" name="Google Shape;45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2" name="Shape 452"/>
        <p:cNvGrpSpPr/>
        <p:nvPr/>
      </p:nvGrpSpPr>
      <p:grpSpPr>
        <a:xfrm>
          <a:off x="0" y="0"/>
          <a:ext cx="0" cy="0"/>
          <a:chOff x="0" y="0"/>
          <a:chExt cx="0" cy="0"/>
        </a:xfrm>
      </p:grpSpPr>
      <p:pic>
        <p:nvPicPr>
          <p:cNvPr id="453" name="Google Shape;453;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4" name="Google Shape;454;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7" name="Google Shape;457;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8" name="Google Shape;458;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9" name="Google Shape;459;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0" name="Google Shape;460;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3" name="Google Shape;463;p36"/>
          <p:cNvGrpSpPr/>
          <p:nvPr/>
        </p:nvGrpSpPr>
        <p:grpSpPr>
          <a:xfrm>
            <a:off x="323653" y="1652038"/>
            <a:ext cx="457200" cy="457200"/>
            <a:chOff x="1020916" y="1442088"/>
            <a:chExt cx="457200" cy="457200"/>
          </a:xfrm>
        </p:grpSpPr>
        <p:pic>
          <p:nvPicPr>
            <p:cNvPr id="464" name="Google Shape;46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5" name="Google Shape;46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6" name="Google Shape;466;p36"/>
          <p:cNvGrpSpPr/>
          <p:nvPr/>
        </p:nvGrpSpPr>
        <p:grpSpPr>
          <a:xfrm>
            <a:off x="323653" y="2461775"/>
            <a:ext cx="457200" cy="457200"/>
            <a:chOff x="1020916" y="1442088"/>
            <a:chExt cx="457200" cy="457200"/>
          </a:xfrm>
        </p:grpSpPr>
        <p:pic>
          <p:nvPicPr>
            <p:cNvPr id="467" name="Google Shape;467;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8" name="Google Shape;468;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69" name="Google Shape;469;p36"/>
          <p:cNvGrpSpPr/>
          <p:nvPr/>
        </p:nvGrpSpPr>
        <p:grpSpPr>
          <a:xfrm>
            <a:off x="323641" y="3271838"/>
            <a:ext cx="457200" cy="457200"/>
            <a:chOff x="1020916" y="1442088"/>
            <a:chExt cx="457200" cy="457200"/>
          </a:xfrm>
        </p:grpSpPr>
        <p:pic>
          <p:nvPicPr>
            <p:cNvPr id="470" name="Google Shape;470;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1" name="Google Shape;471;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2" name="Google Shape;472;p36"/>
          <p:cNvGrpSpPr/>
          <p:nvPr/>
        </p:nvGrpSpPr>
        <p:grpSpPr>
          <a:xfrm>
            <a:off x="323641" y="4081763"/>
            <a:ext cx="457200" cy="457200"/>
            <a:chOff x="1020916" y="1442088"/>
            <a:chExt cx="457200" cy="457200"/>
          </a:xfrm>
        </p:grpSpPr>
        <p:pic>
          <p:nvPicPr>
            <p:cNvPr id="473" name="Google Shape;473;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4" name="Google Shape;474;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5" name="Shape 475"/>
        <p:cNvGrpSpPr/>
        <p:nvPr/>
      </p:nvGrpSpPr>
      <p:grpSpPr>
        <a:xfrm>
          <a:off x="0" y="0"/>
          <a:ext cx="0" cy="0"/>
          <a:chOff x="0" y="0"/>
          <a:chExt cx="0" cy="0"/>
        </a:xfrm>
      </p:grpSpPr>
      <p:pic>
        <p:nvPicPr>
          <p:cNvPr id="476" name="Google Shape;476;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7" name="Google Shape;477;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79" name="Google Shape;479;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0" name="Google Shape;480;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1" name="Google Shape;481;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2" name="Google Shape;482;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3" name="Google Shape;483;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6" name="Google Shape;486;p37"/>
          <p:cNvGrpSpPr/>
          <p:nvPr/>
        </p:nvGrpSpPr>
        <p:grpSpPr>
          <a:xfrm>
            <a:off x="323653" y="1652038"/>
            <a:ext cx="457200" cy="457200"/>
            <a:chOff x="1020916" y="1442088"/>
            <a:chExt cx="457200" cy="457200"/>
          </a:xfrm>
        </p:grpSpPr>
        <p:pic>
          <p:nvPicPr>
            <p:cNvPr id="487" name="Google Shape;48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8" name="Google Shape;48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89" name="Google Shape;489;p37"/>
          <p:cNvGrpSpPr/>
          <p:nvPr/>
        </p:nvGrpSpPr>
        <p:grpSpPr>
          <a:xfrm>
            <a:off x="323653" y="2461775"/>
            <a:ext cx="457200" cy="457200"/>
            <a:chOff x="1020916" y="1442088"/>
            <a:chExt cx="457200" cy="457200"/>
          </a:xfrm>
        </p:grpSpPr>
        <p:pic>
          <p:nvPicPr>
            <p:cNvPr id="490" name="Google Shape;490;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1" name="Google Shape;491;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2" name="Google Shape;492;p37"/>
          <p:cNvGrpSpPr/>
          <p:nvPr/>
        </p:nvGrpSpPr>
        <p:grpSpPr>
          <a:xfrm>
            <a:off x="323641" y="3271838"/>
            <a:ext cx="457200" cy="457200"/>
            <a:chOff x="1020916" y="1442088"/>
            <a:chExt cx="457200" cy="457200"/>
          </a:xfrm>
        </p:grpSpPr>
        <p:pic>
          <p:nvPicPr>
            <p:cNvPr id="493" name="Google Shape;493;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4" name="Google Shape;494;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5" name="Google Shape;495;p37"/>
          <p:cNvGrpSpPr/>
          <p:nvPr/>
        </p:nvGrpSpPr>
        <p:grpSpPr>
          <a:xfrm>
            <a:off x="323641" y="4081763"/>
            <a:ext cx="457200" cy="457200"/>
            <a:chOff x="1020916" y="1442088"/>
            <a:chExt cx="457200" cy="457200"/>
          </a:xfrm>
        </p:grpSpPr>
        <p:pic>
          <p:nvPicPr>
            <p:cNvPr id="496" name="Google Shape;496;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7" name="Google Shape;497;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8" name="Shape 498"/>
        <p:cNvGrpSpPr/>
        <p:nvPr/>
      </p:nvGrpSpPr>
      <p:grpSpPr>
        <a:xfrm>
          <a:off x="0" y="0"/>
          <a:ext cx="0" cy="0"/>
          <a:chOff x="0" y="0"/>
          <a:chExt cx="0" cy="0"/>
        </a:xfrm>
      </p:grpSpPr>
      <p:pic>
        <p:nvPicPr>
          <p:cNvPr id="499" name="Google Shape;499;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0" name="Google Shape;500;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2" name="Google Shape;502;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3" name="Google Shape;503;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4" name="Google Shape;504;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5" name="Google Shape;505;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6" name="Google Shape;506;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09" name="Google Shape;509;p38"/>
          <p:cNvGrpSpPr/>
          <p:nvPr/>
        </p:nvGrpSpPr>
        <p:grpSpPr>
          <a:xfrm>
            <a:off x="323653" y="1652038"/>
            <a:ext cx="457200" cy="457200"/>
            <a:chOff x="1020916" y="1442088"/>
            <a:chExt cx="457200" cy="457200"/>
          </a:xfrm>
        </p:grpSpPr>
        <p:pic>
          <p:nvPicPr>
            <p:cNvPr id="510" name="Google Shape;51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1" name="Google Shape;51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2" name="Google Shape;512;p38"/>
          <p:cNvGrpSpPr/>
          <p:nvPr/>
        </p:nvGrpSpPr>
        <p:grpSpPr>
          <a:xfrm>
            <a:off x="323653" y="2461775"/>
            <a:ext cx="457200" cy="457200"/>
            <a:chOff x="1020916" y="1442088"/>
            <a:chExt cx="457200" cy="457200"/>
          </a:xfrm>
        </p:grpSpPr>
        <p:pic>
          <p:nvPicPr>
            <p:cNvPr id="513" name="Google Shape;513;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4" name="Google Shape;514;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5" name="Google Shape;515;p38"/>
          <p:cNvGrpSpPr/>
          <p:nvPr/>
        </p:nvGrpSpPr>
        <p:grpSpPr>
          <a:xfrm>
            <a:off x="323641" y="3271838"/>
            <a:ext cx="457200" cy="457200"/>
            <a:chOff x="1020916" y="1442088"/>
            <a:chExt cx="457200" cy="457200"/>
          </a:xfrm>
        </p:grpSpPr>
        <p:pic>
          <p:nvPicPr>
            <p:cNvPr id="516" name="Google Shape;516;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7" name="Google Shape;517;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8" name="Google Shape;518;p38"/>
          <p:cNvGrpSpPr/>
          <p:nvPr/>
        </p:nvGrpSpPr>
        <p:grpSpPr>
          <a:xfrm>
            <a:off x="323641" y="4081763"/>
            <a:ext cx="457200" cy="457200"/>
            <a:chOff x="1020916" y="1442088"/>
            <a:chExt cx="457200" cy="457200"/>
          </a:xfrm>
        </p:grpSpPr>
        <p:pic>
          <p:nvPicPr>
            <p:cNvPr id="519" name="Google Shape;519;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0" name="Google Shape;520;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1" name="Shape 521"/>
        <p:cNvGrpSpPr/>
        <p:nvPr/>
      </p:nvGrpSpPr>
      <p:grpSpPr>
        <a:xfrm>
          <a:off x="0" y="0"/>
          <a:ext cx="0" cy="0"/>
          <a:chOff x="0" y="0"/>
          <a:chExt cx="0" cy="0"/>
        </a:xfrm>
      </p:grpSpPr>
      <p:pic>
        <p:nvPicPr>
          <p:cNvPr id="522" name="Google Shape;522;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3" name="Google Shape;523;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5" name="Google Shape;525;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6" name="Google Shape;526;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7" name="Google Shape;527;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8" name="Google Shape;528;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29" name="Google Shape;529;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39"/>
          <p:cNvGrpSpPr/>
          <p:nvPr/>
        </p:nvGrpSpPr>
        <p:grpSpPr>
          <a:xfrm>
            <a:off x="323653" y="1652038"/>
            <a:ext cx="457200" cy="457200"/>
            <a:chOff x="1020916" y="1442088"/>
            <a:chExt cx="457200" cy="457200"/>
          </a:xfrm>
        </p:grpSpPr>
        <p:pic>
          <p:nvPicPr>
            <p:cNvPr id="533" name="Google Shape;53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39"/>
          <p:cNvGrpSpPr/>
          <p:nvPr/>
        </p:nvGrpSpPr>
        <p:grpSpPr>
          <a:xfrm>
            <a:off x="323653" y="2461775"/>
            <a:ext cx="457200" cy="457200"/>
            <a:chOff x="1020916" y="1442088"/>
            <a:chExt cx="457200" cy="457200"/>
          </a:xfrm>
        </p:grpSpPr>
        <p:pic>
          <p:nvPicPr>
            <p:cNvPr id="536" name="Google Shape;536;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39"/>
          <p:cNvGrpSpPr/>
          <p:nvPr/>
        </p:nvGrpSpPr>
        <p:grpSpPr>
          <a:xfrm>
            <a:off x="323641" y="3271838"/>
            <a:ext cx="457200" cy="457200"/>
            <a:chOff x="1020916" y="1442088"/>
            <a:chExt cx="457200" cy="457200"/>
          </a:xfrm>
        </p:grpSpPr>
        <p:pic>
          <p:nvPicPr>
            <p:cNvPr id="539" name="Google Shape;539;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1" name="Google Shape;541;p39"/>
          <p:cNvGrpSpPr/>
          <p:nvPr/>
        </p:nvGrpSpPr>
        <p:grpSpPr>
          <a:xfrm>
            <a:off x="323641" y="4081763"/>
            <a:ext cx="457200" cy="457200"/>
            <a:chOff x="1020916" y="1442088"/>
            <a:chExt cx="457200" cy="457200"/>
          </a:xfrm>
        </p:grpSpPr>
        <p:pic>
          <p:nvPicPr>
            <p:cNvPr id="542" name="Google Shape;542;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3" name="Google Shape;543;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4" name="Shape 544"/>
        <p:cNvGrpSpPr/>
        <p:nvPr/>
      </p:nvGrpSpPr>
      <p:grpSpPr>
        <a:xfrm>
          <a:off x="0" y="0"/>
          <a:ext cx="0" cy="0"/>
          <a:chOff x="0" y="0"/>
          <a:chExt cx="0" cy="0"/>
        </a:xfrm>
      </p:grpSpPr>
      <p:pic>
        <p:nvPicPr>
          <p:cNvPr id="545" name="Google Shape;545;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6" name="Google Shape;546;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8" name="Google Shape;548;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9" name="Google Shape;549;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0" name="Google Shape;550;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1" name="Google Shape;551;p40"/>
          <p:cNvSpPr/>
          <p:nvPr>
            <p:ph idx="3" type="pic"/>
          </p:nvPr>
        </p:nvSpPr>
        <p:spPr>
          <a:xfrm>
            <a:off x="324000" y="1893950"/>
            <a:ext cx="2555400" cy="1939500"/>
          </a:xfrm>
          <a:prstGeom prst="rect">
            <a:avLst/>
          </a:prstGeom>
          <a:noFill/>
          <a:ln>
            <a:noFill/>
          </a:ln>
        </p:spPr>
      </p:sp>
      <p:sp>
        <p:nvSpPr>
          <p:cNvPr id="552" name="Google Shape;552;p40"/>
          <p:cNvSpPr/>
          <p:nvPr>
            <p:ph idx="4" type="pic"/>
          </p:nvPr>
        </p:nvSpPr>
        <p:spPr>
          <a:xfrm>
            <a:off x="6256800" y="1893950"/>
            <a:ext cx="2555400" cy="1939500"/>
          </a:xfrm>
          <a:prstGeom prst="rect">
            <a:avLst/>
          </a:prstGeom>
          <a:noFill/>
          <a:ln>
            <a:noFill/>
          </a:ln>
        </p:spPr>
      </p:sp>
      <p:sp>
        <p:nvSpPr>
          <p:cNvPr id="553" name="Google Shape;553;p40"/>
          <p:cNvSpPr/>
          <p:nvPr>
            <p:ph idx="5" type="pic"/>
          </p:nvPr>
        </p:nvSpPr>
        <p:spPr>
          <a:xfrm>
            <a:off x="3294300" y="1893950"/>
            <a:ext cx="2555400" cy="1939500"/>
          </a:xfrm>
          <a:prstGeom prst="rect">
            <a:avLst/>
          </a:prstGeom>
          <a:noFill/>
          <a:ln>
            <a:noFill/>
          </a:ln>
        </p:spPr>
      </p:sp>
      <p:grpSp>
        <p:nvGrpSpPr>
          <p:cNvPr id="554" name="Google Shape;554;p40"/>
          <p:cNvGrpSpPr/>
          <p:nvPr/>
        </p:nvGrpSpPr>
        <p:grpSpPr>
          <a:xfrm>
            <a:off x="1381028" y="4148538"/>
            <a:ext cx="457200" cy="457200"/>
            <a:chOff x="1020916" y="1442088"/>
            <a:chExt cx="457200" cy="457200"/>
          </a:xfrm>
        </p:grpSpPr>
        <p:pic>
          <p:nvPicPr>
            <p:cNvPr id="555" name="Google Shape;555;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6" name="Google Shape;556;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7" name="Google Shape;557;p40"/>
          <p:cNvGrpSpPr/>
          <p:nvPr/>
        </p:nvGrpSpPr>
        <p:grpSpPr>
          <a:xfrm>
            <a:off x="4331066" y="4148550"/>
            <a:ext cx="457200" cy="457200"/>
            <a:chOff x="1020916" y="1442088"/>
            <a:chExt cx="457200" cy="457200"/>
          </a:xfrm>
        </p:grpSpPr>
        <p:pic>
          <p:nvPicPr>
            <p:cNvPr id="558" name="Google Shape;558;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9" name="Google Shape;559;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0" name="Google Shape;560;p40"/>
          <p:cNvGrpSpPr/>
          <p:nvPr/>
        </p:nvGrpSpPr>
        <p:grpSpPr>
          <a:xfrm>
            <a:off x="7305791" y="4148538"/>
            <a:ext cx="457200" cy="457200"/>
            <a:chOff x="1020916" y="1442088"/>
            <a:chExt cx="457200" cy="457200"/>
          </a:xfrm>
        </p:grpSpPr>
        <p:pic>
          <p:nvPicPr>
            <p:cNvPr id="561" name="Google Shape;561;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2" name="Google Shape;562;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3" name="Shape 563"/>
        <p:cNvGrpSpPr/>
        <p:nvPr/>
      </p:nvGrpSpPr>
      <p:grpSpPr>
        <a:xfrm>
          <a:off x="0" y="0"/>
          <a:ext cx="0" cy="0"/>
          <a:chOff x="0" y="0"/>
          <a:chExt cx="0" cy="0"/>
        </a:xfrm>
      </p:grpSpPr>
      <p:pic>
        <p:nvPicPr>
          <p:cNvPr id="564" name="Google Shape;564;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5" name="Google Shape;565;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7" name="Google Shape;567;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8" name="Google Shape;568;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69" name="Google Shape;569;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0" name="Google Shape;570;p41"/>
          <p:cNvSpPr/>
          <p:nvPr>
            <p:ph idx="3" type="pic"/>
          </p:nvPr>
        </p:nvSpPr>
        <p:spPr>
          <a:xfrm>
            <a:off x="324000" y="1893950"/>
            <a:ext cx="2555400" cy="1939500"/>
          </a:xfrm>
          <a:prstGeom prst="rect">
            <a:avLst/>
          </a:prstGeom>
          <a:noFill/>
          <a:ln>
            <a:noFill/>
          </a:ln>
        </p:spPr>
      </p:sp>
      <p:sp>
        <p:nvSpPr>
          <p:cNvPr id="571" name="Google Shape;571;p41"/>
          <p:cNvSpPr/>
          <p:nvPr>
            <p:ph idx="4" type="pic"/>
          </p:nvPr>
        </p:nvSpPr>
        <p:spPr>
          <a:xfrm>
            <a:off x="6256800" y="1893950"/>
            <a:ext cx="2555400" cy="1939500"/>
          </a:xfrm>
          <a:prstGeom prst="rect">
            <a:avLst/>
          </a:prstGeom>
          <a:noFill/>
          <a:ln>
            <a:noFill/>
          </a:ln>
        </p:spPr>
      </p:sp>
      <p:sp>
        <p:nvSpPr>
          <p:cNvPr id="572" name="Google Shape;572;p41"/>
          <p:cNvSpPr/>
          <p:nvPr>
            <p:ph idx="5" type="pic"/>
          </p:nvPr>
        </p:nvSpPr>
        <p:spPr>
          <a:xfrm>
            <a:off x="3294300" y="1893950"/>
            <a:ext cx="2555400" cy="1939500"/>
          </a:xfrm>
          <a:prstGeom prst="rect">
            <a:avLst/>
          </a:prstGeom>
          <a:noFill/>
          <a:ln>
            <a:noFill/>
          </a:ln>
        </p:spPr>
      </p:sp>
      <p:grpSp>
        <p:nvGrpSpPr>
          <p:cNvPr id="573" name="Google Shape;573;p41"/>
          <p:cNvGrpSpPr/>
          <p:nvPr/>
        </p:nvGrpSpPr>
        <p:grpSpPr>
          <a:xfrm>
            <a:off x="1381028" y="4148538"/>
            <a:ext cx="457200" cy="457200"/>
            <a:chOff x="1020916" y="1442088"/>
            <a:chExt cx="457200" cy="457200"/>
          </a:xfrm>
        </p:grpSpPr>
        <p:pic>
          <p:nvPicPr>
            <p:cNvPr id="574" name="Google Shape;574;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5" name="Google Shape;575;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6" name="Google Shape;576;p41"/>
          <p:cNvGrpSpPr/>
          <p:nvPr/>
        </p:nvGrpSpPr>
        <p:grpSpPr>
          <a:xfrm>
            <a:off x="4331066" y="4148550"/>
            <a:ext cx="457200" cy="457200"/>
            <a:chOff x="1020916" y="1442088"/>
            <a:chExt cx="457200" cy="457200"/>
          </a:xfrm>
        </p:grpSpPr>
        <p:pic>
          <p:nvPicPr>
            <p:cNvPr id="577" name="Google Shape;57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8" name="Google Shape;57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79" name="Google Shape;579;p41"/>
          <p:cNvGrpSpPr/>
          <p:nvPr/>
        </p:nvGrpSpPr>
        <p:grpSpPr>
          <a:xfrm>
            <a:off x="7305791" y="4148538"/>
            <a:ext cx="457200" cy="457200"/>
            <a:chOff x="1020916" y="1442088"/>
            <a:chExt cx="457200" cy="457200"/>
          </a:xfrm>
        </p:grpSpPr>
        <p:pic>
          <p:nvPicPr>
            <p:cNvPr id="580" name="Google Shape;58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1" name="Google Shape;58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2" name="Shape 582"/>
        <p:cNvGrpSpPr/>
        <p:nvPr/>
      </p:nvGrpSpPr>
      <p:grpSpPr>
        <a:xfrm>
          <a:off x="0" y="0"/>
          <a:ext cx="0" cy="0"/>
          <a:chOff x="0" y="0"/>
          <a:chExt cx="0" cy="0"/>
        </a:xfrm>
      </p:grpSpPr>
      <p:pic>
        <p:nvPicPr>
          <p:cNvPr id="583" name="Google Shape;583;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4" name="Google Shape;584;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6" name="Google Shape;586;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7" name="Google Shape;587;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8" name="Google Shape;588;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9" name="Google Shape;589;p42"/>
          <p:cNvSpPr/>
          <p:nvPr>
            <p:ph idx="3" type="pic"/>
          </p:nvPr>
        </p:nvSpPr>
        <p:spPr>
          <a:xfrm>
            <a:off x="324000" y="1893950"/>
            <a:ext cx="2555400" cy="1939500"/>
          </a:xfrm>
          <a:prstGeom prst="rect">
            <a:avLst/>
          </a:prstGeom>
          <a:noFill/>
          <a:ln>
            <a:noFill/>
          </a:ln>
        </p:spPr>
      </p:sp>
      <p:sp>
        <p:nvSpPr>
          <p:cNvPr id="590" name="Google Shape;590;p42"/>
          <p:cNvSpPr/>
          <p:nvPr>
            <p:ph idx="4" type="pic"/>
          </p:nvPr>
        </p:nvSpPr>
        <p:spPr>
          <a:xfrm>
            <a:off x="6256800" y="1893950"/>
            <a:ext cx="2555400" cy="1939500"/>
          </a:xfrm>
          <a:prstGeom prst="rect">
            <a:avLst/>
          </a:prstGeom>
          <a:noFill/>
          <a:ln>
            <a:noFill/>
          </a:ln>
        </p:spPr>
      </p:sp>
      <p:sp>
        <p:nvSpPr>
          <p:cNvPr id="591" name="Google Shape;591;p42"/>
          <p:cNvSpPr/>
          <p:nvPr>
            <p:ph idx="5" type="pic"/>
          </p:nvPr>
        </p:nvSpPr>
        <p:spPr>
          <a:xfrm>
            <a:off x="3294300" y="1893950"/>
            <a:ext cx="2555400" cy="1939500"/>
          </a:xfrm>
          <a:prstGeom prst="rect">
            <a:avLst/>
          </a:prstGeom>
          <a:noFill/>
          <a:ln>
            <a:noFill/>
          </a:ln>
        </p:spPr>
      </p:sp>
      <p:grpSp>
        <p:nvGrpSpPr>
          <p:cNvPr id="592" name="Google Shape;592;p42"/>
          <p:cNvGrpSpPr/>
          <p:nvPr/>
        </p:nvGrpSpPr>
        <p:grpSpPr>
          <a:xfrm>
            <a:off x="1381028" y="4148538"/>
            <a:ext cx="457200" cy="457200"/>
            <a:chOff x="1020916" y="1442088"/>
            <a:chExt cx="457200" cy="457200"/>
          </a:xfrm>
        </p:grpSpPr>
        <p:pic>
          <p:nvPicPr>
            <p:cNvPr id="593" name="Google Shape;593;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4" name="Google Shape;594;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5" name="Google Shape;595;p42"/>
          <p:cNvGrpSpPr/>
          <p:nvPr/>
        </p:nvGrpSpPr>
        <p:grpSpPr>
          <a:xfrm>
            <a:off x="4331066" y="4148550"/>
            <a:ext cx="457200" cy="457200"/>
            <a:chOff x="1020916" y="1442088"/>
            <a:chExt cx="457200" cy="457200"/>
          </a:xfrm>
        </p:grpSpPr>
        <p:pic>
          <p:nvPicPr>
            <p:cNvPr id="596" name="Google Shape;596;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7" name="Google Shape;597;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8" name="Google Shape;598;p42"/>
          <p:cNvGrpSpPr/>
          <p:nvPr/>
        </p:nvGrpSpPr>
        <p:grpSpPr>
          <a:xfrm>
            <a:off x="7305791" y="4148538"/>
            <a:ext cx="457200" cy="457200"/>
            <a:chOff x="1020916" y="1442088"/>
            <a:chExt cx="457200" cy="457200"/>
          </a:xfrm>
        </p:grpSpPr>
        <p:pic>
          <p:nvPicPr>
            <p:cNvPr id="599" name="Google Shape;59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1" name="Shape 601"/>
        <p:cNvGrpSpPr/>
        <p:nvPr/>
      </p:nvGrpSpPr>
      <p:grpSpPr>
        <a:xfrm>
          <a:off x="0" y="0"/>
          <a:ext cx="0" cy="0"/>
          <a:chOff x="0" y="0"/>
          <a:chExt cx="0" cy="0"/>
        </a:xfrm>
      </p:grpSpPr>
      <p:pic>
        <p:nvPicPr>
          <p:cNvPr id="602" name="Google Shape;602;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3" name="Google Shape;603;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5" name="Google Shape;605;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6" name="Google Shape;606;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7" name="Google Shape;607;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8" name="Google Shape;608;p43"/>
          <p:cNvSpPr/>
          <p:nvPr>
            <p:ph idx="3" type="pic"/>
          </p:nvPr>
        </p:nvSpPr>
        <p:spPr>
          <a:xfrm>
            <a:off x="324000" y="1893950"/>
            <a:ext cx="2555400" cy="1939500"/>
          </a:xfrm>
          <a:prstGeom prst="rect">
            <a:avLst/>
          </a:prstGeom>
          <a:noFill/>
          <a:ln>
            <a:noFill/>
          </a:ln>
        </p:spPr>
      </p:sp>
      <p:sp>
        <p:nvSpPr>
          <p:cNvPr id="609" name="Google Shape;609;p43"/>
          <p:cNvSpPr/>
          <p:nvPr>
            <p:ph idx="4" type="pic"/>
          </p:nvPr>
        </p:nvSpPr>
        <p:spPr>
          <a:xfrm>
            <a:off x="6256800" y="1893950"/>
            <a:ext cx="2555400" cy="1939500"/>
          </a:xfrm>
          <a:prstGeom prst="rect">
            <a:avLst/>
          </a:prstGeom>
          <a:noFill/>
          <a:ln>
            <a:noFill/>
          </a:ln>
        </p:spPr>
      </p:sp>
      <p:sp>
        <p:nvSpPr>
          <p:cNvPr id="610" name="Google Shape;610;p43"/>
          <p:cNvSpPr/>
          <p:nvPr>
            <p:ph idx="5" type="pic"/>
          </p:nvPr>
        </p:nvSpPr>
        <p:spPr>
          <a:xfrm>
            <a:off x="3294300" y="1893950"/>
            <a:ext cx="2555400" cy="1939500"/>
          </a:xfrm>
          <a:prstGeom prst="rect">
            <a:avLst/>
          </a:prstGeom>
          <a:noFill/>
          <a:ln>
            <a:noFill/>
          </a:ln>
        </p:spPr>
      </p:sp>
      <p:grpSp>
        <p:nvGrpSpPr>
          <p:cNvPr id="611" name="Google Shape;611;p43"/>
          <p:cNvGrpSpPr/>
          <p:nvPr/>
        </p:nvGrpSpPr>
        <p:grpSpPr>
          <a:xfrm>
            <a:off x="1381028" y="4148538"/>
            <a:ext cx="457200" cy="457200"/>
            <a:chOff x="1020916" y="1442088"/>
            <a:chExt cx="457200" cy="457200"/>
          </a:xfrm>
        </p:grpSpPr>
        <p:pic>
          <p:nvPicPr>
            <p:cNvPr id="612" name="Google Shape;61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3" name="Google Shape;61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4" name="Google Shape;614;p43"/>
          <p:cNvGrpSpPr/>
          <p:nvPr/>
        </p:nvGrpSpPr>
        <p:grpSpPr>
          <a:xfrm>
            <a:off x="4331066" y="4148550"/>
            <a:ext cx="457200" cy="457200"/>
            <a:chOff x="1020916" y="1442088"/>
            <a:chExt cx="457200" cy="457200"/>
          </a:xfrm>
        </p:grpSpPr>
        <p:pic>
          <p:nvPicPr>
            <p:cNvPr id="615" name="Google Shape;615;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6" name="Google Shape;616;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7" name="Google Shape;617;p43"/>
          <p:cNvGrpSpPr/>
          <p:nvPr/>
        </p:nvGrpSpPr>
        <p:grpSpPr>
          <a:xfrm>
            <a:off x="7305791" y="4148538"/>
            <a:ext cx="457200" cy="457200"/>
            <a:chOff x="1020916" y="1442088"/>
            <a:chExt cx="457200" cy="457200"/>
          </a:xfrm>
        </p:grpSpPr>
        <p:pic>
          <p:nvPicPr>
            <p:cNvPr id="618" name="Google Shape;61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9" name="Google Shape;61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0" name="Shape 620"/>
        <p:cNvGrpSpPr/>
        <p:nvPr/>
      </p:nvGrpSpPr>
      <p:grpSpPr>
        <a:xfrm>
          <a:off x="0" y="0"/>
          <a:ext cx="0" cy="0"/>
          <a:chOff x="0" y="0"/>
          <a:chExt cx="0" cy="0"/>
        </a:xfrm>
      </p:grpSpPr>
      <p:pic>
        <p:nvPicPr>
          <p:cNvPr id="621" name="Google Shape;621;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2" name="Google Shape;622;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4" name="Google Shape;624;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5" name="Google Shape;625;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6" name="Google Shape;626;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7" name="Shape 627"/>
        <p:cNvGrpSpPr/>
        <p:nvPr/>
      </p:nvGrpSpPr>
      <p:grpSpPr>
        <a:xfrm>
          <a:off x="0" y="0"/>
          <a:ext cx="0" cy="0"/>
          <a:chOff x="0" y="0"/>
          <a:chExt cx="0" cy="0"/>
        </a:xfrm>
      </p:grpSpPr>
      <p:pic>
        <p:nvPicPr>
          <p:cNvPr id="628" name="Google Shape;628;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29" name="Google Shape;629;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1" name="Google Shape;631;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2" name="Google Shape;632;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3" name="Google Shape;633;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4" name="Shape 634"/>
        <p:cNvGrpSpPr/>
        <p:nvPr/>
      </p:nvGrpSpPr>
      <p:grpSpPr>
        <a:xfrm>
          <a:off x="0" y="0"/>
          <a:ext cx="0" cy="0"/>
          <a:chOff x="0" y="0"/>
          <a:chExt cx="0" cy="0"/>
        </a:xfrm>
      </p:grpSpPr>
      <p:pic>
        <p:nvPicPr>
          <p:cNvPr id="635" name="Google Shape;635;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6" name="Google Shape;636;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8" name="Google Shape;63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9" name="Google Shape;63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0" name="Google Shape;64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1" name="Shape 641"/>
        <p:cNvGrpSpPr/>
        <p:nvPr/>
      </p:nvGrpSpPr>
      <p:grpSpPr>
        <a:xfrm>
          <a:off x="0" y="0"/>
          <a:ext cx="0" cy="0"/>
          <a:chOff x="0" y="0"/>
          <a:chExt cx="0" cy="0"/>
        </a:xfrm>
      </p:grpSpPr>
      <p:pic>
        <p:nvPicPr>
          <p:cNvPr id="642" name="Google Shape;64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3" name="Google Shape;643;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5" name="Google Shape;6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6" name="Google Shape;6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7" name="Google Shape;64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8" name="Shape 648"/>
        <p:cNvGrpSpPr/>
        <p:nvPr/>
      </p:nvGrpSpPr>
      <p:grpSpPr>
        <a:xfrm>
          <a:off x="0" y="0"/>
          <a:ext cx="0" cy="0"/>
          <a:chOff x="0" y="0"/>
          <a:chExt cx="0" cy="0"/>
        </a:xfrm>
      </p:grpSpPr>
      <p:pic>
        <p:nvPicPr>
          <p:cNvPr id="649" name="Google Shape;649;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0" name="Google Shape;650;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2" name="Google Shape;652;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3" name="Google Shape;65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4" name="Google Shape;654;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5" name="Google Shape;655;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6" name="Shape 656"/>
        <p:cNvGrpSpPr/>
        <p:nvPr/>
      </p:nvGrpSpPr>
      <p:grpSpPr>
        <a:xfrm>
          <a:off x="0" y="0"/>
          <a:ext cx="0" cy="0"/>
          <a:chOff x="0" y="0"/>
          <a:chExt cx="0" cy="0"/>
        </a:xfrm>
      </p:grpSpPr>
      <p:pic>
        <p:nvPicPr>
          <p:cNvPr id="657" name="Google Shape;657;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8" name="Google Shape;658;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0" name="Google Shape;66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1" name="Google Shape;661;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2" name="Google Shape;662;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3" name="Google Shape;663;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4" name="Shape 664"/>
        <p:cNvGrpSpPr/>
        <p:nvPr/>
      </p:nvGrpSpPr>
      <p:grpSpPr>
        <a:xfrm>
          <a:off x="0" y="0"/>
          <a:ext cx="0" cy="0"/>
          <a:chOff x="0" y="0"/>
          <a:chExt cx="0" cy="0"/>
        </a:xfrm>
      </p:grpSpPr>
      <p:pic>
        <p:nvPicPr>
          <p:cNvPr id="665" name="Google Shape;665;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6" name="Google Shape;666;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8" name="Google Shape;668;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69" name="Google Shape;669;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0" name="Google Shape;670;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1" name="Google Shape;671;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2" name="Shape 672"/>
        <p:cNvGrpSpPr/>
        <p:nvPr/>
      </p:nvGrpSpPr>
      <p:grpSpPr>
        <a:xfrm>
          <a:off x="0" y="0"/>
          <a:ext cx="0" cy="0"/>
          <a:chOff x="0" y="0"/>
          <a:chExt cx="0" cy="0"/>
        </a:xfrm>
      </p:grpSpPr>
      <p:pic>
        <p:nvPicPr>
          <p:cNvPr id="673" name="Google Shape;673;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4" name="Google Shape;674;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6" name="Google Shape;676;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7" name="Google Shape;67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8" name="Google Shape;678;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9" name="Google Shape;679;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0" name="Shape 680"/>
        <p:cNvGrpSpPr/>
        <p:nvPr/>
      </p:nvGrpSpPr>
      <p:grpSpPr>
        <a:xfrm>
          <a:off x="0" y="0"/>
          <a:ext cx="0" cy="0"/>
          <a:chOff x="0" y="0"/>
          <a:chExt cx="0" cy="0"/>
        </a:xfrm>
      </p:grpSpPr>
      <p:pic>
        <p:nvPicPr>
          <p:cNvPr id="681" name="Google Shape;681;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2" name="Google Shape;682;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4" name="Google Shape;684;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5" name="Google Shape;685;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6" name="Google Shape;686;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7" name="Google Shape;687;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8" name="Shape 688"/>
        <p:cNvGrpSpPr/>
        <p:nvPr/>
      </p:nvGrpSpPr>
      <p:grpSpPr>
        <a:xfrm>
          <a:off x="0" y="0"/>
          <a:ext cx="0" cy="0"/>
          <a:chOff x="0" y="0"/>
          <a:chExt cx="0" cy="0"/>
        </a:xfrm>
      </p:grpSpPr>
      <p:pic>
        <p:nvPicPr>
          <p:cNvPr id="689" name="Google Shape;689;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0" name="Google Shape;690;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2" name="Google Shape;692;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3" name="Google Shape;693;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4" name="Google Shape;694;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5" name="Google Shape;695;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6" name="Shape 696"/>
        <p:cNvGrpSpPr/>
        <p:nvPr/>
      </p:nvGrpSpPr>
      <p:grpSpPr>
        <a:xfrm>
          <a:off x="0" y="0"/>
          <a:ext cx="0" cy="0"/>
          <a:chOff x="0" y="0"/>
          <a:chExt cx="0" cy="0"/>
        </a:xfrm>
      </p:grpSpPr>
      <p:pic>
        <p:nvPicPr>
          <p:cNvPr id="697" name="Google Shape;697;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8" name="Google Shape;698;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0" name="Google Shape;700;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1" name="Google Shape;701;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2" name="Google Shape;702;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3" name="Google Shape;703;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4" name="Shape 704"/>
        <p:cNvGrpSpPr/>
        <p:nvPr/>
      </p:nvGrpSpPr>
      <p:grpSpPr>
        <a:xfrm>
          <a:off x="0" y="0"/>
          <a:ext cx="0" cy="0"/>
          <a:chOff x="0" y="0"/>
          <a:chExt cx="0" cy="0"/>
        </a:xfrm>
      </p:grpSpPr>
      <p:pic>
        <p:nvPicPr>
          <p:cNvPr id="705" name="Google Shape;705;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6" name="Google Shape;706;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8" name="Google Shape;70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09" name="Google Shape;70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0" name="Google Shape;710;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1" name="Google Shape;711;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2" name="Shape 712"/>
        <p:cNvGrpSpPr/>
        <p:nvPr/>
      </p:nvGrpSpPr>
      <p:grpSpPr>
        <a:xfrm>
          <a:off x="0" y="0"/>
          <a:ext cx="0" cy="0"/>
          <a:chOff x="0" y="0"/>
          <a:chExt cx="0" cy="0"/>
        </a:xfrm>
      </p:grpSpPr>
      <p:sp>
        <p:nvSpPr>
          <p:cNvPr id="713" name="Google Shape;713;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4" name="Google Shape;714;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5" name="Google Shape;715;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6" name="Google Shape;716;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7" name="Google Shape;717;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8" name="Shape 718"/>
        <p:cNvGrpSpPr/>
        <p:nvPr/>
      </p:nvGrpSpPr>
      <p:grpSpPr>
        <a:xfrm>
          <a:off x="0" y="0"/>
          <a:ext cx="0" cy="0"/>
          <a:chOff x="0" y="0"/>
          <a:chExt cx="0" cy="0"/>
        </a:xfrm>
      </p:grpSpPr>
      <p:sp>
        <p:nvSpPr>
          <p:cNvPr id="719" name="Google Shape;719;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0" name="Google Shape;720;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1" name="Google Shape;721;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2" name="Google Shape;722;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3" name="Google Shape;723;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4" name="Shape 724"/>
        <p:cNvGrpSpPr/>
        <p:nvPr/>
      </p:nvGrpSpPr>
      <p:grpSpPr>
        <a:xfrm>
          <a:off x="0" y="0"/>
          <a:ext cx="0" cy="0"/>
          <a:chOff x="0" y="0"/>
          <a:chExt cx="0" cy="0"/>
        </a:xfrm>
      </p:grpSpPr>
      <p:pic>
        <p:nvPicPr>
          <p:cNvPr id="725" name="Google Shape;725;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6" name="Google Shape;726;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7" name="Shape 727"/>
        <p:cNvGrpSpPr/>
        <p:nvPr/>
      </p:nvGrpSpPr>
      <p:grpSpPr>
        <a:xfrm>
          <a:off x="0" y="0"/>
          <a:ext cx="0" cy="0"/>
          <a:chOff x="0" y="0"/>
          <a:chExt cx="0" cy="0"/>
        </a:xfrm>
      </p:grpSpPr>
      <p:sp>
        <p:nvSpPr>
          <p:cNvPr id="728" name="Google Shape;728;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29" name="Google Shape;729;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0" name="Google Shape;730;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1" name="Google Shape;731;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2" name="Google Shape;732;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3" name="Google Shape;733;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7" name="Shape 737"/>
        <p:cNvGrpSpPr/>
        <p:nvPr/>
      </p:nvGrpSpPr>
      <p:grpSpPr>
        <a:xfrm>
          <a:off x="0" y="0"/>
          <a:ext cx="0" cy="0"/>
          <a:chOff x="0" y="0"/>
          <a:chExt cx="0" cy="0"/>
        </a:xfrm>
      </p:grpSpPr>
      <p:pic>
        <p:nvPicPr>
          <p:cNvPr id="738" name="Google Shape;738;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39" name="Google Shape;739;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0" name="Shape 740"/>
        <p:cNvGrpSpPr/>
        <p:nvPr/>
      </p:nvGrpSpPr>
      <p:grpSpPr>
        <a:xfrm>
          <a:off x="0" y="0"/>
          <a:ext cx="0" cy="0"/>
          <a:chOff x="0" y="0"/>
          <a:chExt cx="0" cy="0"/>
        </a:xfrm>
      </p:grpSpPr>
      <p:sp>
        <p:nvSpPr>
          <p:cNvPr id="741" name="Google Shape;741;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742" name="Shape 742"/>
        <p:cNvGrpSpPr/>
        <p:nvPr/>
      </p:nvGrpSpPr>
      <p:grpSpPr>
        <a:xfrm>
          <a:off x="0" y="0"/>
          <a:ext cx="0" cy="0"/>
          <a:chOff x="0" y="0"/>
          <a:chExt cx="0" cy="0"/>
        </a:xfrm>
      </p:grpSpPr>
      <p:sp>
        <p:nvSpPr>
          <p:cNvPr id="743" name="Google Shape;743;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4" name="Google Shape;744;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5" name="Google Shape;745;p62"/>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46" name="Google Shape;746;p62"/>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47" name="Google Shape;747;p62"/>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748" name="Google Shape;748;p62"/>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749" name="Google Shape;749;p62"/>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50" name="Google Shape;750;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1.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4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55.png"/><Relationship Id="rId4" Type="http://schemas.openxmlformats.org/officeDocument/2006/relationships/image" Target="../media/image52.png"/><Relationship Id="rId5" Type="http://schemas.openxmlformats.org/officeDocument/2006/relationships/image" Target="../media/image5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 Id="rId3" Type="http://schemas.openxmlformats.org/officeDocument/2006/relationships/image" Target="../media/image5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4.xml"/><Relationship Id="rId3" Type="http://schemas.openxmlformats.org/officeDocument/2006/relationships/image" Target="../media/image5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7.xml"/><Relationship Id="rId3" Type="http://schemas.openxmlformats.org/officeDocument/2006/relationships/image" Target="../media/image5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4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5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7.xml"/><Relationship Id="rId3" Type="http://schemas.openxmlformats.org/officeDocument/2006/relationships/image" Target="../media/image5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 Id="rId3" Type="http://schemas.openxmlformats.org/officeDocument/2006/relationships/image" Target="../media/image61.png"/><Relationship Id="rId4" Type="http://schemas.openxmlformats.org/officeDocument/2006/relationships/image" Target="../media/image54.png"/><Relationship Id="rId5" Type="http://schemas.openxmlformats.org/officeDocument/2006/relationships/image" Target="../media/image59.png"/><Relationship Id="rId6" Type="http://schemas.openxmlformats.org/officeDocument/2006/relationships/image" Target="../media/image6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 Id="rId3" Type="http://schemas.openxmlformats.org/officeDocument/2006/relationships/image" Target="../media/image59.png"/><Relationship Id="rId4" Type="http://schemas.openxmlformats.org/officeDocument/2006/relationships/image" Target="../media/image6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0.xml"/><Relationship Id="rId3" Type="http://schemas.openxmlformats.org/officeDocument/2006/relationships/image" Target="../media/image59.png"/><Relationship Id="rId4" Type="http://schemas.openxmlformats.org/officeDocument/2006/relationships/image" Target="../media/image6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 Id="rId3" Type="http://schemas.openxmlformats.org/officeDocument/2006/relationships/image" Target="../media/image6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 Id="rId3" Type="http://schemas.openxmlformats.org/officeDocument/2006/relationships/image" Target="../media/image6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5.xml"/><Relationship Id="rId3" Type="http://schemas.openxmlformats.org/officeDocument/2006/relationships/image" Target="../media/image6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6.xml"/><Relationship Id="rId3" Type="http://schemas.openxmlformats.org/officeDocument/2006/relationships/image" Target="../media/image65.png"/><Relationship Id="rId4" Type="http://schemas.openxmlformats.org/officeDocument/2006/relationships/image" Target="../media/image44.png"/><Relationship Id="rId5"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5.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6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Choosing an appropriate method for finding lengths of a triangle</a:t>
            </a:r>
            <a:endParaRPr/>
          </a:p>
        </p:txBody>
      </p:sp>
      <p:sp>
        <p:nvSpPr>
          <p:cNvPr id="756" name="Google Shape;756;p63"/>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Trigonometry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0" name="Shape 760"/>
        <p:cNvGrpSpPr/>
        <p:nvPr/>
      </p:nvGrpSpPr>
      <p:grpSpPr>
        <a:xfrm>
          <a:off x="0" y="0"/>
          <a:ext cx="0" cy="0"/>
          <a:chOff x="0" y="0"/>
          <a:chExt cx="0" cy="0"/>
        </a:xfrm>
      </p:grpSpPr>
      <p:sp>
        <p:nvSpPr>
          <p:cNvPr id="761" name="Google Shape;761;p64"/>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choose the appropriate method to find the missing side in a right-angled triangle.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66"/>
          <p:cNvSpPr txBox="1"/>
          <p:nvPr>
            <p:ph idx="2" type="subTitle"/>
          </p:nvPr>
        </p:nvSpPr>
        <p:spPr>
          <a:xfrm>
            <a:off x="324000" y="826800"/>
            <a:ext cx="8496000" cy="389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highlight>
                  <a:schemeClr val="lt1"/>
                </a:highlight>
              </a:rPr>
              <a:t>The trigonometric ratios are ratios between each pair of lengths in a right-angled triangle:</a:t>
            </a:r>
            <a:br>
              <a:rPr lang="en-GB">
                <a:highlight>
                  <a:schemeClr val="lt1"/>
                </a:highlight>
              </a:rPr>
            </a:br>
            <a:endParaRPr>
              <a:highlight>
                <a:schemeClr val="lt1"/>
              </a:highlight>
            </a:endParaRPr>
          </a:p>
          <a:p>
            <a:pPr indent="0" lvl="0" marL="0" rtl="0" algn="l">
              <a:spcBef>
                <a:spcPts val="0"/>
              </a:spcBef>
              <a:spcAft>
                <a:spcPts val="0"/>
              </a:spcAft>
              <a:buClr>
                <a:schemeClr val="dk1"/>
              </a:buClr>
              <a:buSzPts val="1100"/>
              <a:buFont typeface="Arial"/>
              <a:buNone/>
            </a:pPr>
            <a:r>
              <a:rPr lang="en-GB">
                <a:highlight>
                  <a:schemeClr val="lt1"/>
                </a:highlight>
              </a:rPr>
              <a:t>sin(</a:t>
            </a:r>
            <a:r>
              <a:rPr i="1" lang="en-GB">
                <a:highlight>
                  <a:schemeClr val="lt1"/>
                </a:highlight>
              </a:rPr>
              <a:t>θ</a:t>
            </a:r>
            <a:r>
              <a:rPr lang="en-GB">
                <a:highlight>
                  <a:schemeClr val="lt1"/>
                </a:highlight>
              </a:rPr>
              <a:t>°) =   opposite         cos(</a:t>
            </a:r>
            <a:r>
              <a:rPr i="1" lang="en-GB">
                <a:highlight>
                  <a:schemeClr val="lt1"/>
                </a:highlight>
              </a:rPr>
              <a:t>θ</a:t>
            </a:r>
            <a:r>
              <a:rPr lang="en-GB">
                <a:highlight>
                  <a:schemeClr val="lt1"/>
                </a:highlight>
              </a:rPr>
              <a:t>°) =   adjacent          tan(</a:t>
            </a:r>
            <a:r>
              <a:rPr i="1" lang="en-GB">
                <a:highlight>
                  <a:schemeClr val="lt1"/>
                </a:highlight>
              </a:rPr>
              <a:t>θ</a:t>
            </a:r>
            <a:r>
              <a:rPr lang="en-GB">
                <a:highlight>
                  <a:schemeClr val="lt1"/>
                </a:highlight>
              </a:rPr>
              <a:t>°) = opposite</a:t>
            </a:r>
            <a:endParaRPr>
              <a:highlight>
                <a:schemeClr val="lt1"/>
              </a:highlight>
            </a:endParaRPr>
          </a:p>
          <a:p>
            <a:pPr indent="0" lvl="0" marL="0" rtl="0" algn="l">
              <a:spcBef>
                <a:spcPts val="0"/>
              </a:spcBef>
              <a:spcAft>
                <a:spcPts val="0"/>
              </a:spcAft>
              <a:buClr>
                <a:schemeClr val="dk1"/>
              </a:buClr>
              <a:buSzPts val="1100"/>
              <a:buFont typeface="Arial"/>
              <a:buNone/>
            </a:pPr>
            <a:r>
              <a:rPr lang="en-GB">
                <a:highlight>
                  <a:schemeClr val="lt1"/>
                </a:highlight>
              </a:rPr>
              <a:t>               hypotenuse                       hypotenuse                      adjacent</a:t>
            </a:r>
            <a:endParaRPr>
              <a:highlight>
                <a:schemeClr val="lt1"/>
              </a:highlight>
            </a:endParaRPr>
          </a:p>
          <a:p>
            <a:pPr indent="0" lvl="0" marL="0" rtl="0" algn="l">
              <a:spcBef>
                <a:spcPts val="0"/>
              </a:spcBef>
              <a:spcAft>
                <a:spcPts val="1000"/>
              </a:spcAft>
              <a:buNone/>
            </a:pPr>
            <a:r>
              <a:t/>
            </a:r>
            <a:endParaRPr sz="1800"/>
          </a:p>
        </p:txBody>
      </p:sp>
      <p:cxnSp>
        <p:nvCxnSpPr>
          <p:cNvPr id="772" name="Google Shape;772;p66"/>
          <p:cNvCxnSpPr/>
          <p:nvPr/>
        </p:nvCxnSpPr>
        <p:spPr>
          <a:xfrm>
            <a:off x="1405250" y="2241018"/>
            <a:ext cx="1364400" cy="0"/>
          </a:xfrm>
          <a:prstGeom prst="straightConnector1">
            <a:avLst/>
          </a:prstGeom>
          <a:noFill/>
          <a:ln cap="flat" cmpd="sng" w="19050">
            <a:solidFill>
              <a:srgbClr val="000000"/>
            </a:solidFill>
            <a:prstDash val="solid"/>
            <a:round/>
            <a:headEnd len="med" w="med" type="none"/>
            <a:tailEnd len="med" w="med" type="none"/>
          </a:ln>
        </p:spPr>
      </p:cxnSp>
      <p:cxnSp>
        <p:nvCxnSpPr>
          <p:cNvPr id="773" name="Google Shape;773;p66"/>
          <p:cNvCxnSpPr/>
          <p:nvPr/>
        </p:nvCxnSpPr>
        <p:spPr>
          <a:xfrm>
            <a:off x="4495800" y="2241018"/>
            <a:ext cx="1364400" cy="0"/>
          </a:xfrm>
          <a:prstGeom prst="straightConnector1">
            <a:avLst/>
          </a:prstGeom>
          <a:noFill/>
          <a:ln cap="flat" cmpd="sng" w="19050">
            <a:solidFill>
              <a:srgbClr val="000000"/>
            </a:solidFill>
            <a:prstDash val="solid"/>
            <a:round/>
            <a:headEnd len="med" w="med" type="none"/>
            <a:tailEnd len="med" w="med" type="none"/>
          </a:ln>
        </p:spPr>
      </p:cxnSp>
      <p:cxnSp>
        <p:nvCxnSpPr>
          <p:cNvPr id="774" name="Google Shape;774;p66"/>
          <p:cNvCxnSpPr/>
          <p:nvPr/>
        </p:nvCxnSpPr>
        <p:spPr>
          <a:xfrm>
            <a:off x="7490125" y="2241025"/>
            <a:ext cx="1081200" cy="0"/>
          </a:xfrm>
          <a:prstGeom prst="straightConnector1">
            <a:avLst/>
          </a:prstGeom>
          <a:noFill/>
          <a:ln cap="flat" cmpd="sng" w="19050">
            <a:solidFill>
              <a:srgbClr val="000000"/>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6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Trigonometry or not</a:t>
            </a:r>
            <a:endParaRPr/>
          </a:p>
        </p:txBody>
      </p:sp>
      <p:sp>
        <p:nvSpPr>
          <p:cNvPr id="780" name="Google Shape;780;p6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781" name="Google Shape;781;p6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Choosing an appropriate method for finding lengths of a triangle</a:t>
            </a:r>
            <a:endParaRPr/>
          </a:p>
        </p:txBody>
      </p:sp>
      <p:pic>
        <p:nvPicPr>
          <p:cNvPr id="782" name="Google Shape;782;p67"/>
          <p:cNvPicPr preferRelativeResize="0"/>
          <p:nvPr/>
        </p:nvPicPr>
        <p:blipFill>
          <a:blip r:embed="rId3">
            <a:alphaModFix/>
          </a:blip>
          <a:stretch>
            <a:fillRect/>
          </a:stretch>
        </p:blipFill>
        <p:spPr>
          <a:xfrm>
            <a:off x="418385" y="205949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grpSp>
        <p:nvGrpSpPr>
          <p:cNvPr id="787" name="Google Shape;787;p68"/>
          <p:cNvGrpSpPr/>
          <p:nvPr/>
        </p:nvGrpSpPr>
        <p:grpSpPr>
          <a:xfrm>
            <a:off x="776327" y="1305193"/>
            <a:ext cx="1633225" cy="1840966"/>
            <a:chOff x="-2098225" y="1379675"/>
            <a:chExt cx="1037100" cy="1840966"/>
          </a:xfrm>
        </p:grpSpPr>
        <p:sp>
          <p:nvSpPr>
            <p:cNvPr id="788" name="Google Shape;788;p6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789" name="Google Shape;789;p68"/>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790" name="Google Shape;790;p68"/>
            <p:cNvCxnSpPr/>
            <p:nvPr/>
          </p:nvCxnSpPr>
          <p:spPr>
            <a:xfrm rot="10800000">
              <a:off x="-2022025" y="3220641"/>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791" name="Google Shape;791;p68"/>
          <p:cNvSpPr txBox="1"/>
          <p:nvPr>
            <p:ph idx="1" type="body"/>
          </p:nvPr>
        </p:nvSpPr>
        <p:spPr>
          <a:xfrm>
            <a:off x="324000" y="759300"/>
            <a:ext cx="8237700" cy="546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Alex and Aisha are discussing how they would find the perimeter of this triangle.</a:t>
            </a:r>
            <a:endParaRPr sz="1800"/>
          </a:p>
        </p:txBody>
      </p:sp>
      <p:sp>
        <p:nvSpPr>
          <p:cNvPr id="792" name="Google Shape;792;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Trigonometry or not</a:t>
            </a:r>
            <a:endParaRPr/>
          </a:p>
        </p:txBody>
      </p:sp>
      <p:sp>
        <p:nvSpPr>
          <p:cNvPr id="793" name="Google Shape;793;p68"/>
          <p:cNvSpPr/>
          <p:nvPr/>
        </p:nvSpPr>
        <p:spPr>
          <a:xfrm>
            <a:off x="2173475" y="2835675"/>
            <a:ext cx="236100" cy="213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4" name="Google Shape;794;p68"/>
          <p:cNvSpPr/>
          <p:nvPr/>
        </p:nvSpPr>
        <p:spPr>
          <a:xfrm>
            <a:off x="429600" y="2571750"/>
            <a:ext cx="950400" cy="950400"/>
          </a:xfrm>
          <a:prstGeom prst="arc">
            <a:avLst>
              <a:gd fmla="val 18736236"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5" name="Google Shape;795;p68"/>
          <p:cNvSpPr txBox="1"/>
          <p:nvPr>
            <p:ph idx="1" type="body"/>
          </p:nvPr>
        </p:nvSpPr>
        <p:spPr>
          <a:xfrm>
            <a:off x="861657" y="1851250"/>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15 cm</a:t>
            </a:r>
            <a:endParaRPr sz="1800"/>
          </a:p>
        </p:txBody>
      </p:sp>
      <p:sp>
        <p:nvSpPr>
          <p:cNvPr id="796" name="Google Shape;796;p68"/>
          <p:cNvSpPr txBox="1"/>
          <p:nvPr>
            <p:ph idx="1" type="body"/>
          </p:nvPr>
        </p:nvSpPr>
        <p:spPr>
          <a:xfrm>
            <a:off x="1395057" y="3165914"/>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a:t>
            </a:r>
            <a:r>
              <a:rPr lang="en-GB" sz="1800"/>
              <a:t> cm</a:t>
            </a:r>
            <a:endParaRPr sz="1800"/>
          </a:p>
        </p:txBody>
      </p:sp>
      <p:sp>
        <p:nvSpPr>
          <p:cNvPr id="797" name="Google Shape;797;p68"/>
          <p:cNvSpPr txBox="1"/>
          <p:nvPr/>
        </p:nvSpPr>
        <p:spPr>
          <a:xfrm>
            <a:off x="1368675" y="2671925"/>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53.1</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pic>
        <p:nvPicPr>
          <p:cNvPr id="798" name="Google Shape;798;p68"/>
          <p:cNvPicPr preferRelativeResize="0"/>
          <p:nvPr/>
        </p:nvPicPr>
        <p:blipFill>
          <a:blip r:embed="rId3">
            <a:alphaModFix/>
          </a:blip>
          <a:stretch>
            <a:fillRect/>
          </a:stretch>
        </p:blipFill>
        <p:spPr>
          <a:xfrm>
            <a:off x="3382725" y="2859618"/>
            <a:ext cx="623346" cy="1177024"/>
          </a:xfrm>
          <a:prstGeom prst="rect">
            <a:avLst/>
          </a:prstGeom>
          <a:noFill/>
          <a:ln>
            <a:noFill/>
          </a:ln>
        </p:spPr>
      </p:pic>
      <p:sp>
        <p:nvSpPr>
          <p:cNvPr id="799" name="Google Shape;799;p68"/>
          <p:cNvSpPr txBox="1"/>
          <p:nvPr/>
        </p:nvSpPr>
        <p:spPr>
          <a:xfrm>
            <a:off x="3312100" y="40366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800" name="Google Shape;800;p68"/>
          <p:cNvPicPr preferRelativeResize="0"/>
          <p:nvPr/>
        </p:nvPicPr>
        <p:blipFill>
          <a:blip r:embed="rId4">
            <a:alphaModFix/>
          </a:blip>
          <a:stretch>
            <a:fillRect/>
          </a:stretch>
        </p:blipFill>
        <p:spPr>
          <a:xfrm>
            <a:off x="7905334" y="3097888"/>
            <a:ext cx="777007" cy="896096"/>
          </a:xfrm>
          <a:prstGeom prst="rect">
            <a:avLst/>
          </a:prstGeom>
          <a:noFill/>
          <a:ln>
            <a:noFill/>
          </a:ln>
        </p:spPr>
      </p:pic>
      <p:sp>
        <p:nvSpPr>
          <p:cNvPr id="801" name="Google Shape;801;p68"/>
          <p:cNvSpPr txBox="1"/>
          <p:nvPr/>
        </p:nvSpPr>
        <p:spPr>
          <a:xfrm>
            <a:off x="7797050" y="40366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pic>
        <p:nvPicPr>
          <p:cNvPr id="802" name="Google Shape;802;p68"/>
          <p:cNvPicPr preferRelativeResize="0"/>
          <p:nvPr/>
        </p:nvPicPr>
        <p:blipFill rotWithShape="1">
          <a:blip r:embed="rId5">
            <a:alphaModFix/>
          </a:blip>
          <a:srcRect b="0" l="0" r="69082" t="56280"/>
          <a:stretch/>
        </p:blipFill>
        <p:spPr>
          <a:xfrm flipH="1">
            <a:off x="3929880" y="1731189"/>
            <a:ext cx="2123602" cy="1337649"/>
          </a:xfrm>
          <a:prstGeom prst="rect">
            <a:avLst/>
          </a:prstGeom>
          <a:noFill/>
          <a:ln>
            <a:noFill/>
          </a:ln>
        </p:spPr>
      </p:pic>
      <p:sp>
        <p:nvSpPr>
          <p:cNvPr id="803" name="Google Shape;803;p68"/>
          <p:cNvSpPr txBox="1"/>
          <p:nvPr>
            <p:ph idx="1" type="body"/>
          </p:nvPr>
        </p:nvSpPr>
        <p:spPr>
          <a:xfrm>
            <a:off x="4141251" y="1913750"/>
            <a:ext cx="1785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So we need to calculate the third edge first.</a:t>
            </a:r>
            <a:endParaRPr sz="1800"/>
          </a:p>
        </p:txBody>
      </p:sp>
      <p:pic>
        <p:nvPicPr>
          <p:cNvPr id="804" name="Google Shape;804;p68"/>
          <p:cNvPicPr preferRelativeResize="0"/>
          <p:nvPr/>
        </p:nvPicPr>
        <p:blipFill rotWithShape="1">
          <a:blip r:embed="rId5">
            <a:alphaModFix/>
          </a:blip>
          <a:srcRect b="0" l="0" r="69082" t="56280"/>
          <a:stretch/>
        </p:blipFill>
        <p:spPr>
          <a:xfrm>
            <a:off x="6085605" y="1656239"/>
            <a:ext cx="2123602" cy="1337649"/>
          </a:xfrm>
          <a:prstGeom prst="rect">
            <a:avLst/>
          </a:prstGeom>
          <a:noFill/>
          <a:ln>
            <a:noFill/>
          </a:ln>
        </p:spPr>
      </p:pic>
      <p:sp>
        <p:nvSpPr>
          <p:cNvPr id="805" name="Google Shape;805;p68"/>
          <p:cNvSpPr txBox="1"/>
          <p:nvPr>
            <p:ph idx="1" type="body"/>
          </p:nvPr>
        </p:nvSpPr>
        <p:spPr>
          <a:xfrm>
            <a:off x="6220051" y="1844829"/>
            <a:ext cx="1785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perimeter is the sum of the edges.</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pic>
        <p:nvPicPr>
          <p:cNvPr id="810" name="Google Shape;810;p69"/>
          <p:cNvPicPr preferRelativeResize="0"/>
          <p:nvPr/>
        </p:nvPicPr>
        <p:blipFill rotWithShape="1">
          <a:blip r:embed="rId3">
            <a:alphaModFix/>
          </a:blip>
          <a:srcRect b="4760" l="40550" r="0" t="13015"/>
          <a:stretch/>
        </p:blipFill>
        <p:spPr>
          <a:xfrm flipH="1">
            <a:off x="4320001" y="1049650"/>
            <a:ext cx="4018749" cy="2475350"/>
          </a:xfrm>
          <a:prstGeom prst="rect">
            <a:avLst/>
          </a:prstGeom>
          <a:noFill/>
          <a:ln>
            <a:noFill/>
          </a:ln>
        </p:spPr>
      </p:pic>
      <p:grpSp>
        <p:nvGrpSpPr>
          <p:cNvPr id="811" name="Google Shape;811;p69"/>
          <p:cNvGrpSpPr/>
          <p:nvPr/>
        </p:nvGrpSpPr>
        <p:grpSpPr>
          <a:xfrm>
            <a:off x="776327" y="1305193"/>
            <a:ext cx="1785140" cy="1840966"/>
            <a:chOff x="-2098225" y="1379675"/>
            <a:chExt cx="1133566" cy="1840966"/>
          </a:xfrm>
        </p:grpSpPr>
        <p:sp>
          <p:nvSpPr>
            <p:cNvPr id="812" name="Google Shape;812;p6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13" name="Google Shape;813;p69"/>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814" name="Google Shape;814;p69"/>
            <p:cNvCxnSpPr/>
            <p:nvPr/>
          </p:nvCxnSpPr>
          <p:spPr>
            <a:xfrm rot="10800000">
              <a:off x="-2022025" y="3220641"/>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815" name="Google Shape;815;p69"/>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816" name="Google Shape;816;p6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Alex and Aisha are discussing how they would find the perimeter of this triangle.</a:t>
            </a:r>
            <a:endParaRPr sz="1800"/>
          </a:p>
        </p:txBody>
      </p:sp>
      <p:sp>
        <p:nvSpPr>
          <p:cNvPr id="817" name="Google Shape;817;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sp>
        <p:nvSpPr>
          <p:cNvPr id="818" name="Google Shape;818;p69"/>
          <p:cNvSpPr/>
          <p:nvPr/>
        </p:nvSpPr>
        <p:spPr>
          <a:xfrm>
            <a:off x="2173475" y="2835675"/>
            <a:ext cx="236100" cy="213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9" name="Google Shape;819;p69"/>
          <p:cNvSpPr/>
          <p:nvPr/>
        </p:nvSpPr>
        <p:spPr>
          <a:xfrm>
            <a:off x="429600" y="2571750"/>
            <a:ext cx="950400" cy="950400"/>
          </a:xfrm>
          <a:prstGeom prst="arc">
            <a:avLst>
              <a:gd fmla="val 18736236"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0" name="Google Shape;820;p69"/>
          <p:cNvSpPr txBox="1"/>
          <p:nvPr>
            <p:ph idx="1" type="body"/>
          </p:nvPr>
        </p:nvSpPr>
        <p:spPr>
          <a:xfrm>
            <a:off x="861657" y="1851250"/>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15 cm</a:t>
            </a:r>
            <a:endParaRPr sz="1800"/>
          </a:p>
        </p:txBody>
      </p:sp>
      <p:sp>
        <p:nvSpPr>
          <p:cNvPr id="821" name="Google Shape;821;p69"/>
          <p:cNvSpPr txBox="1"/>
          <p:nvPr>
            <p:ph idx="1" type="body"/>
          </p:nvPr>
        </p:nvSpPr>
        <p:spPr>
          <a:xfrm>
            <a:off x="1395057" y="3165914"/>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 cm</a:t>
            </a:r>
            <a:endParaRPr sz="1800"/>
          </a:p>
        </p:txBody>
      </p:sp>
      <p:sp>
        <p:nvSpPr>
          <p:cNvPr id="822" name="Google Shape;822;p69"/>
          <p:cNvSpPr txBox="1"/>
          <p:nvPr>
            <p:ph idx="1" type="body"/>
          </p:nvPr>
        </p:nvSpPr>
        <p:spPr>
          <a:xfrm>
            <a:off x="2645508" y="2073429"/>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823" name="Google Shape;823;p69"/>
          <p:cNvSpPr txBox="1"/>
          <p:nvPr/>
        </p:nvSpPr>
        <p:spPr>
          <a:xfrm>
            <a:off x="1368675" y="2671925"/>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53.1</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pic>
        <p:nvPicPr>
          <p:cNvPr id="824" name="Google Shape;824;p69"/>
          <p:cNvPicPr preferRelativeResize="0"/>
          <p:nvPr/>
        </p:nvPicPr>
        <p:blipFill>
          <a:blip r:embed="rId4">
            <a:alphaModFix/>
          </a:blip>
          <a:stretch>
            <a:fillRect/>
          </a:stretch>
        </p:blipFill>
        <p:spPr>
          <a:xfrm>
            <a:off x="3382725" y="2859618"/>
            <a:ext cx="623346" cy="1177024"/>
          </a:xfrm>
          <a:prstGeom prst="rect">
            <a:avLst/>
          </a:prstGeom>
          <a:noFill/>
          <a:ln>
            <a:noFill/>
          </a:ln>
        </p:spPr>
      </p:pic>
      <p:sp>
        <p:nvSpPr>
          <p:cNvPr id="825" name="Google Shape;825;p69"/>
          <p:cNvSpPr txBox="1"/>
          <p:nvPr/>
        </p:nvSpPr>
        <p:spPr>
          <a:xfrm>
            <a:off x="3312100" y="40366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826" name="Google Shape;826;p69"/>
          <p:cNvPicPr preferRelativeResize="0"/>
          <p:nvPr/>
        </p:nvPicPr>
        <p:blipFill>
          <a:blip r:embed="rId5">
            <a:alphaModFix/>
          </a:blip>
          <a:stretch>
            <a:fillRect/>
          </a:stretch>
        </p:blipFill>
        <p:spPr>
          <a:xfrm>
            <a:off x="7905334" y="3097888"/>
            <a:ext cx="777007" cy="896096"/>
          </a:xfrm>
          <a:prstGeom prst="rect">
            <a:avLst/>
          </a:prstGeom>
          <a:noFill/>
          <a:ln>
            <a:noFill/>
          </a:ln>
        </p:spPr>
      </p:pic>
      <p:sp>
        <p:nvSpPr>
          <p:cNvPr id="827" name="Google Shape;827;p69"/>
          <p:cNvSpPr txBox="1"/>
          <p:nvPr/>
        </p:nvSpPr>
        <p:spPr>
          <a:xfrm>
            <a:off x="7797050" y="40366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sp>
        <p:nvSpPr>
          <p:cNvPr id="828" name="Google Shape;828;p69"/>
          <p:cNvSpPr txBox="1"/>
          <p:nvPr>
            <p:ph idx="1" type="body"/>
          </p:nvPr>
        </p:nvSpPr>
        <p:spPr>
          <a:xfrm>
            <a:off x="4418925" y="1189850"/>
            <a:ext cx="36327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Let the third edge be </a:t>
            </a:r>
            <a:r>
              <a:rPr i="1" lang="en-GB" sz="2000">
                <a:latin typeface="Times New Roman"/>
                <a:ea typeface="Times New Roman"/>
                <a:cs typeface="Times New Roman"/>
                <a:sym typeface="Times New Roman"/>
              </a:rPr>
              <a:t>x</a:t>
            </a:r>
            <a:r>
              <a:rPr lang="en-GB" sz="1800"/>
              <a:t>, which is opposite the given angle. I know the length of the hypotenuse so I will use sine.</a:t>
            </a:r>
            <a:endParaRPr sz="1800"/>
          </a:p>
        </p:txBody>
      </p:sp>
      <p:sp>
        <p:nvSpPr>
          <p:cNvPr id="829" name="Google Shape;829;p69"/>
          <p:cNvSpPr txBox="1"/>
          <p:nvPr>
            <p:ph idx="1" type="body"/>
          </p:nvPr>
        </p:nvSpPr>
        <p:spPr>
          <a:xfrm>
            <a:off x="4399074" y="2409050"/>
            <a:ext cx="36327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15 × sin(53.1°) = 12.0 cm </a:t>
            </a:r>
            <a:endParaRPr sz="2000">
              <a:latin typeface="Times New Roman"/>
              <a:ea typeface="Times New Roman"/>
              <a:cs typeface="Times New Roman"/>
              <a:sym typeface="Times New Roman"/>
            </a:endParaRPr>
          </a:p>
        </p:txBody>
      </p:sp>
      <p:sp>
        <p:nvSpPr>
          <p:cNvPr id="830" name="Google Shape;830;p69"/>
          <p:cNvSpPr txBox="1"/>
          <p:nvPr>
            <p:ph idx="1" type="body"/>
          </p:nvPr>
        </p:nvSpPr>
        <p:spPr>
          <a:xfrm>
            <a:off x="4399074" y="2745957"/>
            <a:ext cx="36327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Perimeter</a:t>
            </a:r>
            <a:r>
              <a:rPr lang="en-GB" sz="2000">
                <a:latin typeface="Times New Roman"/>
                <a:ea typeface="Times New Roman"/>
                <a:cs typeface="Times New Roman"/>
                <a:sym typeface="Times New Roman"/>
              </a:rPr>
              <a:t> = 15 + 9 + 12 = 36 cm</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pic>
        <p:nvPicPr>
          <p:cNvPr id="835" name="Google Shape;835;p70"/>
          <p:cNvPicPr preferRelativeResize="0"/>
          <p:nvPr/>
        </p:nvPicPr>
        <p:blipFill rotWithShape="1">
          <a:blip r:embed="rId3">
            <a:alphaModFix/>
          </a:blip>
          <a:srcRect b="4760" l="40550" r="0" t="13015"/>
          <a:stretch/>
        </p:blipFill>
        <p:spPr>
          <a:xfrm>
            <a:off x="3817250" y="1049650"/>
            <a:ext cx="4028923" cy="2475350"/>
          </a:xfrm>
          <a:prstGeom prst="rect">
            <a:avLst/>
          </a:prstGeom>
          <a:noFill/>
          <a:ln>
            <a:noFill/>
          </a:ln>
        </p:spPr>
      </p:pic>
      <p:grpSp>
        <p:nvGrpSpPr>
          <p:cNvPr id="836" name="Google Shape;836;p70"/>
          <p:cNvGrpSpPr/>
          <p:nvPr/>
        </p:nvGrpSpPr>
        <p:grpSpPr>
          <a:xfrm>
            <a:off x="776327" y="1305193"/>
            <a:ext cx="1785140" cy="1840966"/>
            <a:chOff x="-2098225" y="1379675"/>
            <a:chExt cx="1133566" cy="1840966"/>
          </a:xfrm>
        </p:grpSpPr>
        <p:sp>
          <p:nvSpPr>
            <p:cNvPr id="837" name="Google Shape;837;p7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38" name="Google Shape;838;p70"/>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839" name="Google Shape;839;p70"/>
            <p:cNvCxnSpPr/>
            <p:nvPr/>
          </p:nvCxnSpPr>
          <p:spPr>
            <a:xfrm rot="10800000">
              <a:off x="-2022025" y="3220641"/>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840" name="Google Shape;840;p70"/>
            <p:cNvCxnSpPr/>
            <p:nvPr/>
          </p:nvCxnSpPr>
          <p:spPr>
            <a:xfrm rot="10800000">
              <a:off x="-96465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841" name="Google Shape;841;p70"/>
          <p:cNvSpPr txBox="1"/>
          <p:nvPr>
            <p:ph idx="1" type="body"/>
          </p:nvPr>
        </p:nvSpPr>
        <p:spPr>
          <a:xfrm>
            <a:off x="324000" y="759300"/>
            <a:ext cx="82377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Alex and Aisha are discussing how they would find the perimeter of this triangle.</a:t>
            </a:r>
            <a:endParaRPr sz="1800"/>
          </a:p>
        </p:txBody>
      </p:sp>
      <p:sp>
        <p:nvSpPr>
          <p:cNvPr id="842" name="Google Shape;842;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sp>
        <p:nvSpPr>
          <p:cNvPr id="843" name="Google Shape;843;p70"/>
          <p:cNvSpPr/>
          <p:nvPr/>
        </p:nvSpPr>
        <p:spPr>
          <a:xfrm>
            <a:off x="2173475" y="2835675"/>
            <a:ext cx="236100" cy="213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4" name="Google Shape;844;p70"/>
          <p:cNvSpPr/>
          <p:nvPr/>
        </p:nvSpPr>
        <p:spPr>
          <a:xfrm>
            <a:off x="429600" y="2571750"/>
            <a:ext cx="950400" cy="950400"/>
          </a:xfrm>
          <a:prstGeom prst="arc">
            <a:avLst>
              <a:gd fmla="val 18736236"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5" name="Google Shape;845;p70"/>
          <p:cNvSpPr txBox="1"/>
          <p:nvPr>
            <p:ph idx="1" type="body"/>
          </p:nvPr>
        </p:nvSpPr>
        <p:spPr>
          <a:xfrm>
            <a:off x="861657" y="1851250"/>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15 cm</a:t>
            </a:r>
            <a:endParaRPr sz="1800"/>
          </a:p>
        </p:txBody>
      </p:sp>
      <p:sp>
        <p:nvSpPr>
          <p:cNvPr id="846" name="Google Shape;846;p70"/>
          <p:cNvSpPr txBox="1"/>
          <p:nvPr>
            <p:ph idx="1" type="body"/>
          </p:nvPr>
        </p:nvSpPr>
        <p:spPr>
          <a:xfrm>
            <a:off x="1395057" y="3165914"/>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 cm</a:t>
            </a:r>
            <a:endParaRPr sz="1800"/>
          </a:p>
        </p:txBody>
      </p:sp>
      <p:sp>
        <p:nvSpPr>
          <p:cNvPr id="847" name="Google Shape;847;p70"/>
          <p:cNvSpPr txBox="1"/>
          <p:nvPr>
            <p:ph idx="1" type="body"/>
          </p:nvPr>
        </p:nvSpPr>
        <p:spPr>
          <a:xfrm>
            <a:off x="2645508" y="2073429"/>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848" name="Google Shape;848;p70"/>
          <p:cNvSpPr txBox="1"/>
          <p:nvPr/>
        </p:nvSpPr>
        <p:spPr>
          <a:xfrm>
            <a:off x="1368675" y="2671925"/>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53.1</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pic>
        <p:nvPicPr>
          <p:cNvPr id="849" name="Google Shape;849;p70"/>
          <p:cNvPicPr preferRelativeResize="0"/>
          <p:nvPr/>
        </p:nvPicPr>
        <p:blipFill>
          <a:blip r:embed="rId4">
            <a:alphaModFix/>
          </a:blip>
          <a:stretch>
            <a:fillRect/>
          </a:stretch>
        </p:blipFill>
        <p:spPr>
          <a:xfrm>
            <a:off x="3382725" y="2859618"/>
            <a:ext cx="623346" cy="1177024"/>
          </a:xfrm>
          <a:prstGeom prst="rect">
            <a:avLst/>
          </a:prstGeom>
          <a:noFill/>
          <a:ln>
            <a:noFill/>
          </a:ln>
        </p:spPr>
      </p:pic>
      <p:sp>
        <p:nvSpPr>
          <p:cNvPr id="850" name="Google Shape;850;p70"/>
          <p:cNvSpPr txBox="1"/>
          <p:nvPr/>
        </p:nvSpPr>
        <p:spPr>
          <a:xfrm>
            <a:off x="3312100" y="40366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851" name="Google Shape;851;p70"/>
          <p:cNvPicPr preferRelativeResize="0"/>
          <p:nvPr/>
        </p:nvPicPr>
        <p:blipFill>
          <a:blip r:embed="rId5">
            <a:alphaModFix/>
          </a:blip>
          <a:stretch>
            <a:fillRect/>
          </a:stretch>
        </p:blipFill>
        <p:spPr>
          <a:xfrm>
            <a:off x="7905334" y="3097888"/>
            <a:ext cx="777007" cy="896096"/>
          </a:xfrm>
          <a:prstGeom prst="rect">
            <a:avLst/>
          </a:prstGeom>
          <a:noFill/>
          <a:ln>
            <a:noFill/>
          </a:ln>
        </p:spPr>
      </p:pic>
      <p:sp>
        <p:nvSpPr>
          <p:cNvPr id="852" name="Google Shape;852;p70"/>
          <p:cNvSpPr txBox="1"/>
          <p:nvPr/>
        </p:nvSpPr>
        <p:spPr>
          <a:xfrm>
            <a:off x="7797050" y="40366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sp>
        <p:nvSpPr>
          <p:cNvPr id="853" name="Google Shape;853;p70"/>
          <p:cNvSpPr txBox="1"/>
          <p:nvPr>
            <p:ph idx="1" type="body"/>
          </p:nvPr>
        </p:nvSpPr>
        <p:spPr>
          <a:xfrm>
            <a:off x="4115375" y="1189850"/>
            <a:ext cx="37308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 would use Pythagoras’ theorem to calculate the length of </a:t>
            </a:r>
            <a:r>
              <a:rPr i="1" lang="en-GB" sz="2000">
                <a:latin typeface="Times New Roman"/>
                <a:ea typeface="Times New Roman"/>
                <a:cs typeface="Times New Roman"/>
                <a:sym typeface="Times New Roman"/>
              </a:rPr>
              <a:t>x</a:t>
            </a:r>
            <a:r>
              <a:rPr lang="en-GB" sz="1800"/>
              <a:t>.</a:t>
            </a:r>
            <a:endParaRPr sz="1800"/>
          </a:p>
        </p:txBody>
      </p:sp>
      <p:sp>
        <p:nvSpPr>
          <p:cNvPr id="854" name="Google Shape;854;p70"/>
          <p:cNvSpPr txBox="1"/>
          <p:nvPr>
            <p:ph idx="1" type="body"/>
          </p:nvPr>
        </p:nvSpPr>
        <p:spPr>
          <a:xfrm>
            <a:off x="4178349" y="2392925"/>
            <a:ext cx="33984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12 cm </a:t>
            </a:r>
            <a:endParaRPr sz="2000">
              <a:latin typeface="Times New Roman"/>
              <a:ea typeface="Times New Roman"/>
              <a:cs typeface="Times New Roman"/>
              <a:sym typeface="Times New Roman"/>
            </a:endParaRPr>
          </a:p>
        </p:txBody>
      </p:sp>
      <p:sp>
        <p:nvSpPr>
          <p:cNvPr id="855" name="Google Shape;855;p70"/>
          <p:cNvSpPr txBox="1"/>
          <p:nvPr>
            <p:ph idx="1" type="body"/>
          </p:nvPr>
        </p:nvSpPr>
        <p:spPr>
          <a:xfrm>
            <a:off x="4115375" y="2778725"/>
            <a:ext cx="35169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Perimeter </a:t>
            </a:r>
            <a:r>
              <a:rPr lang="en-GB" sz="2000">
                <a:latin typeface="Times New Roman"/>
                <a:ea typeface="Times New Roman"/>
                <a:cs typeface="Times New Roman"/>
                <a:sym typeface="Times New Roman"/>
              </a:rPr>
              <a:t>= 15 + 9 + 12 = 36 cm</a:t>
            </a:r>
            <a:r>
              <a:rPr lang="en-GB" sz="1800"/>
              <a:t> </a:t>
            </a:r>
            <a:endParaRPr sz="1800"/>
          </a:p>
        </p:txBody>
      </p:sp>
      <p:sp>
        <p:nvSpPr>
          <p:cNvPr id="856" name="Google Shape;856;p70"/>
          <p:cNvSpPr txBox="1"/>
          <p:nvPr>
            <p:ph idx="1" type="body"/>
          </p:nvPr>
        </p:nvSpPr>
        <p:spPr>
          <a:xfrm>
            <a:off x="4178349" y="1789750"/>
            <a:ext cx="33984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15</a:t>
            </a:r>
            <a:r>
              <a:rPr baseline="30000" lang="en-GB" sz="2000">
                <a:latin typeface="Times New Roman"/>
                <a:ea typeface="Times New Roman"/>
                <a:cs typeface="Times New Roman"/>
                <a:sym typeface="Times New Roman"/>
              </a:rPr>
              <a:t>2</a:t>
            </a:r>
            <a:r>
              <a:rPr lang="en-GB" sz="2000">
                <a:latin typeface="Times New Roman"/>
                <a:ea typeface="Times New Roman"/>
                <a:cs typeface="Times New Roman"/>
                <a:sym typeface="Times New Roman"/>
              </a:rPr>
              <a:t> = 9</a:t>
            </a:r>
            <a:r>
              <a:rPr baseline="30000" lang="en-GB" sz="2000">
                <a:latin typeface="Times New Roman"/>
                <a:ea typeface="Times New Roman"/>
                <a:cs typeface="Times New Roman"/>
                <a:sym typeface="Times New Roman"/>
              </a:rPr>
              <a:t>2 </a:t>
            </a:r>
            <a:r>
              <a:rPr lang="en-GB" sz="2000">
                <a:latin typeface="Times New Roman"/>
                <a:ea typeface="Times New Roman"/>
                <a:cs typeface="Times New Roman"/>
                <a:sym typeface="Times New Roman"/>
              </a:rPr>
              <a:t>+ </a:t>
            </a:r>
            <a:r>
              <a:rPr i="1" lang="en-GB" sz="2000">
                <a:latin typeface="Times New Roman"/>
                <a:ea typeface="Times New Roman"/>
                <a:cs typeface="Times New Roman"/>
                <a:sym typeface="Times New Roman"/>
              </a:rPr>
              <a:t>x</a:t>
            </a:r>
            <a:r>
              <a:rPr baseline="30000" lang="en-GB" sz="2000">
                <a:latin typeface="Times New Roman"/>
                <a:ea typeface="Times New Roman"/>
                <a:cs typeface="Times New Roman"/>
                <a:sym typeface="Times New Roman"/>
              </a:rPr>
              <a:t>2</a:t>
            </a:r>
            <a:endParaRPr baseline="30000" sz="2000">
              <a:latin typeface="Times New Roman"/>
              <a:ea typeface="Times New Roman"/>
              <a:cs typeface="Times New Roman"/>
              <a:sym typeface="Times New Roman"/>
            </a:endParaRPr>
          </a:p>
        </p:txBody>
      </p:sp>
      <p:sp>
        <p:nvSpPr>
          <p:cNvPr id="857" name="Google Shape;857;p70"/>
          <p:cNvSpPr txBox="1"/>
          <p:nvPr>
            <p:ph idx="1" type="body"/>
          </p:nvPr>
        </p:nvSpPr>
        <p:spPr>
          <a:xfrm>
            <a:off x="4178349" y="2094550"/>
            <a:ext cx="33984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baseline="30000" lang="en-GB" sz="2000">
                <a:latin typeface="Times New Roman"/>
                <a:ea typeface="Times New Roman"/>
                <a:cs typeface="Times New Roman"/>
                <a:sym typeface="Times New Roman"/>
              </a:rPr>
              <a:t>2</a:t>
            </a:r>
            <a:r>
              <a:rPr lang="en-GB" sz="2000">
                <a:latin typeface="Times New Roman"/>
                <a:ea typeface="Times New Roman"/>
                <a:cs typeface="Times New Roman"/>
                <a:sym typeface="Times New Roman"/>
              </a:rPr>
              <a:t> = 15</a:t>
            </a:r>
            <a:r>
              <a:rPr baseline="30000" lang="en-GB" sz="2000">
                <a:latin typeface="Times New Roman"/>
                <a:ea typeface="Times New Roman"/>
                <a:cs typeface="Times New Roman"/>
                <a:sym typeface="Times New Roman"/>
              </a:rPr>
              <a:t>2</a:t>
            </a:r>
            <a:r>
              <a:rPr lang="en-GB" sz="2000">
                <a:latin typeface="Times New Roman"/>
                <a:ea typeface="Times New Roman"/>
                <a:cs typeface="Times New Roman"/>
                <a:sym typeface="Times New Roman"/>
              </a:rPr>
              <a:t> - 9</a:t>
            </a:r>
            <a:r>
              <a:rPr baseline="30000" lang="en-GB" sz="2000">
                <a:latin typeface="Times New Roman"/>
                <a:ea typeface="Times New Roman"/>
                <a:cs typeface="Times New Roman"/>
                <a:sym typeface="Times New Roman"/>
              </a:rPr>
              <a:t>2</a:t>
            </a:r>
            <a:r>
              <a:rPr lang="en-GB" sz="2000">
                <a:latin typeface="Times New Roman"/>
                <a:ea typeface="Times New Roman"/>
                <a:cs typeface="Times New Roman"/>
                <a:sym typeface="Times New Roman"/>
              </a:rPr>
              <a:t> = 144</a:t>
            </a:r>
            <a:r>
              <a:rPr baseline="30000" lang="en-GB" sz="2000">
                <a:latin typeface="Times New Roman"/>
                <a:ea typeface="Times New Roman"/>
                <a:cs typeface="Times New Roman"/>
                <a:sym typeface="Times New Roman"/>
              </a:rPr>
              <a:t> </a:t>
            </a:r>
            <a:endParaRPr baseline="30000"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71"/>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sp>
        <p:nvSpPr>
          <p:cNvPr id="863" name="Google Shape;863;p71"/>
          <p:cNvSpPr txBox="1"/>
          <p:nvPr>
            <p:ph type="title"/>
          </p:nvPr>
        </p:nvSpPr>
        <p:spPr>
          <a:xfrm>
            <a:off x="324000" y="748763"/>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With the given information, </a:t>
            </a:r>
            <a:r>
              <a:rPr lang="en-GB"/>
              <a:t>you</a:t>
            </a:r>
            <a:r>
              <a:rPr lang="en-GB"/>
              <a:t> could…</a:t>
            </a:r>
            <a:endParaRPr/>
          </a:p>
        </p:txBody>
      </p:sp>
      <p:sp>
        <p:nvSpPr>
          <p:cNvPr id="864" name="Google Shape;864;p71"/>
          <p:cNvSpPr txBox="1"/>
          <p:nvPr>
            <p:ph idx="1" type="subTitle"/>
          </p:nvPr>
        </p:nvSpPr>
        <p:spPr>
          <a:xfrm>
            <a:off x="1034425" y="1837775"/>
            <a:ext cx="50697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…use trigonometry to calculate the other two edge lengths</a:t>
            </a:r>
            <a:endParaRPr/>
          </a:p>
        </p:txBody>
      </p:sp>
      <p:sp>
        <p:nvSpPr>
          <p:cNvPr id="865" name="Google Shape;865;p71"/>
          <p:cNvSpPr txBox="1"/>
          <p:nvPr>
            <p:ph idx="3" type="subTitle"/>
          </p:nvPr>
        </p:nvSpPr>
        <p:spPr>
          <a:xfrm>
            <a:off x="1034425" y="2794250"/>
            <a:ext cx="51138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…use Pythagoras’ Theorem to work out the other two edge lengths</a:t>
            </a:r>
            <a:endParaRPr/>
          </a:p>
        </p:txBody>
      </p:sp>
      <p:sp>
        <p:nvSpPr>
          <p:cNvPr id="866" name="Google Shape;866;p71"/>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…work out the third angle of the triangle</a:t>
            </a:r>
            <a:endParaRPr/>
          </a:p>
        </p:txBody>
      </p:sp>
      <p:sp>
        <p:nvSpPr>
          <p:cNvPr id="867" name="Google Shape;867;p71"/>
          <p:cNvSpPr/>
          <p:nvPr/>
        </p:nvSpPr>
        <p:spPr>
          <a:xfrm>
            <a:off x="7812275" y="2530875"/>
            <a:ext cx="236100" cy="213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8" name="Google Shape;868;p71"/>
          <p:cNvSpPr/>
          <p:nvPr/>
        </p:nvSpPr>
        <p:spPr>
          <a:xfrm>
            <a:off x="6068400" y="2266950"/>
            <a:ext cx="950400" cy="950400"/>
          </a:xfrm>
          <a:prstGeom prst="arc">
            <a:avLst>
              <a:gd fmla="val 18736236"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9" name="Google Shape;869;p71"/>
          <p:cNvSpPr txBox="1"/>
          <p:nvPr>
            <p:ph idx="4294967295" type="body"/>
          </p:nvPr>
        </p:nvSpPr>
        <p:spPr>
          <a:xfrm>
            <a:off x="6500457" y="1546450"/>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16 cm</a:t>
            </a:r>
            <a:endParaRPr sz="1800"/>
          </a:p>
        </p:txBody>
      </p:sp>
      <p:grpSp>
        <p:nvGrpSpPr>
          <p:cNvPr id="870" name="Google Shape;870;p71"/>
          <p:cNvGrpSpPr/>
          <p:nvPr/>
        </p:nvGrpSpPr>
        <p:grpSpPr>
          <a:xfrm>
            <a:off x="6415127" y="1000393"/>
            <a:ext cx="1633225" cy="1744500"/>
            <a:chOff x="-2098225" y="1379675"/>
            <a:chExt cx="1037100" cy="1744500"/>
          </a:xfrm>
        </p:grpSpPr>
        <p:sp>
          <p:nvSpPr>
            <p:cNvPr id="871" name="Google Shape;871;p7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72" name="Google Shape;872;p71"/>
            <p:cNvCxnSpPr/>
            <p:nvPr/>
          </p:nvCxnSpPr>
          <p:spPr>
            <a:xfrm flipH="1">
              <a:off x="-2098225" y="1379675"/>
              <a:ext cx="96090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873" name="Google Shape;873;p71"/>
          <p:cNvSpPr txBox="1"/>
          <p:nvPr/>
        </p:nvSpPr>
        <p:spPr>
          <a:xfrm>
            <a:off x="7007475" y="2367125"/>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50</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pic>
        <p:nvPicPr>
          <p:cNvPr id="874" name="Google Shape;874;p71"/>
          <p:cNvPicPr preferRelativeResize="0"/>
          <p:nvPr/>
        </p:nvPicPr>
        <p:blipFill>
          <a:blip r:embed="rId3">
            <a:alphaModFix/>
          </a:blip>
          <a:stretch>
            <a:fillRect/>
          </a:stretch>
        </p:blipFill>
        <p:spPr>
          <a:xfrm>
            <a:off x="4428008" y="2200275"/>
            <a:ext cx="396000" cy="419100"/>
          </a:xfrm>
          <a:prstGeom prst="rect">
            <a:avLst/>
          </a:prstGeom>
          <a:noFill/>
          <a:ln>
            <a:noFill/>
          </a:ln>
        </p:spPr>
      </p:pic>
      <p:pic>
        <p:nvPicPr>
          <p:cNvPr id="875" name="Google Shape;875;p71"/>
          <p:cNvPicPr preferRelativeResize="0"/>
          <p:nvPr/>
        </p:nvPicPr>
        <p:blipFill>
          <a:blip r:embed="rId3">
            <a:alphaModFix/>
          </a:blip>
          <a:stretch>
            <a:fillRect/>
          </a:stretch>
        </p:blipFill>
        <p:spPr>
          <a:xfrm>
            <a:off x="6622808" y="372395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cxnSp>
        <p:nvCxnSpPr>
          <p:cNvPr id="880" name="Google Shape;880;p72"/>
          <p:cNvCxnSpPr/>
          <p:nvPr/>
        </p:nvCxnSpPr>
        <p:spPr>
          <a:xfrm>
            <a:off x="2296850" y="2571750"/>
            <a:ext cx="1187400" cy="0"/>
          </a:xfrm>
          <a:prstGeom prst="straightConnector1">
            <a:avLst/>
          </a:prstGeom>
          <a:noFill/>
          <a:ln cap="flat" cmpd="sng" w="38100">
            <a:solidFill>
              <a:schemeClr val="dk2"/>
            </a:solidFill>
            <a:prstDash val="dash"/>
            <a:round/>
            <a:headEnd len="med" w="med" type="none"/>
            <a:tailEnd len="med" w="med" type="none"/>
          </a:ln>
        </p:spPr>
      </p:cxnSp>
      <p:sp>
        <p:nvSpPr>
          <p:cNvPr id="881" name="Google Shape;881;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sp>
        <p:nvSpPr>
          <p:cNvPr id="882" name="Google Shape;882;p72"/>
          <p:cNvSpPr/>
          <p:nvPr/>
        </p:nvSpPr>
        <p:spPr>
          <a:xfrm>
            <a:off x="893125" y="1374550"/>
            <a:ext cx="2587364" cy="1197189"/>
          </a:xfrm>
          <a:custGeom>
            <a:rect b="b" l="l" r="r" t="t"/>
            <a:pathLst>
              <a:path extrusionOk="0" h="35391" w="76487">
                <a:moveTo>
                  <a:pt x="0" y="35291"/>
                </a:moveTo>
                <a:lnTo>
                  <a:pt x="48300" y="35391"/>
                </a:lnTo>
                <a:lnTo>
                  <a:pt x="76487" y="0"/>
                </a:lnTo>
                <a:close/>
              </a:path>
            </a:pathLst>
          </a:custGeom>
          <a:noFill/>
          <a:ln cap="flat" cmpd="sng" w="38100">
            <a:solidFill>
              <a:schemeClr val="dk1"/>
            </a:solidFill>
            <a:prstDash val="solid"/>
            <a:round/>
            <a:headEnd len="med" w="med" type="none"/>
            <a:tailEnd len="med" w="med" type="none"/>
          </a:ln>
        </p:spPr>
      </p:sp>
      <p:cxnSp>
        <p:nvCxnSpPr>
          <p:cNvPr id="883" name="Google Shape;883;p72"/>
          <p:cNvCxnSpPr/>
          <p:nvPr/>
        </p:nvCxnSpPr>
        <p:spPr>
          <a:xfrm>
            <a:off x="881000" y="2713350"/>
            <a:ext cx="1660500" cy="6300"/>
          </a:xfrm>
          <a:prstGeom prst="straightConnector1">
            <a:avLst/>
          </a:prstGeom>
          <a:noFill/>
          <a:ln cap="flat" cmpd="sng" w="38100">
            <a:solidFill>
              <a:schemeClr val="dk1"/>
            </a:solidFill>
            <a:prstDash val="solid"/>
            <a:round/>
            <a:headEnd len="med" w="med" type="triangle"/>
            <a:tailEnd len="med" w="med" type="triangle"/>
          </a:ln>
        </p:spPr>
      </p:cxnSp>
      <p:cxnSp>
        <p:nvCxnSpPr>
          <p:cNvPr id="884" name="Google Shape;884;p72"/>
          <p:cNvCxnSpPr/>
          <p:nvPr/>
        </p:nvCxnSpPr>
        <p:spPr>
          <a:xfrm flipH="1" rot="10800000">
            <a:off x="801714" y="1233257"/>
            <a:ext cx="2628000" cy="1239900"/>
          </a:xfrm>
          <a:prstGeom prst="straightConnector1">
            <a:avLst/>
          </a:prstGeom>
          <a:noFill/>
          <a:ln cap="flat" cmpd="sng" w="38100">
            <a:solidFill>
              <a:schemeClr val="dk1"/>
            </a:solidFill>
            <a:prstDash val="solid"/>
            <a:round/>
            <a:headEnd len="med" w="med" type="triangle"/>
            <a:tailEnd len="med" w="med" type="triangle"/>
          </a:ln>
        </p:spPr>
      </p:cxnSp>
      <p:sp>
        <p:nvSpPr>
          <p:cNvPr id="885" name="Google Shape;885;p72"/>
          <p:cNvSpPr/>
          <p:nvPr/>
        </p:nvSpPr>
        <p:spPr>
          <a:xfrm>
            <a:off x="115143" y="1774050"/>
            <a:ext cx="1595400" cy="1595400"/>
          </a:xfrm>
          <a:prstGeom prst="arc">
            <a:avLst>
              <a:gd fmla="val 2007985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6" name="Google Shape;886;p72"/>
          <p:cNvSpPr txBox="1"/>
          <p:nvPr/>
        </p:nvSpPr>
        <p:spPr>
          <a:xfrm>
            <a:off x="1749675" y="2214725"/>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35</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887" name="Google Shape;887;p72"/>
          <p:cNvSpPr txBox="1"/>
          <p:nvPr>
            <p:ph idx="1" type="body"/>
          </p:nvPr>
        </p:nvSpPr>
        <p:spPr>
          <a:xfrm>
            <a:off x="1471257" y="272802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 cm</a:t>
            </a:r>
            <a:endParaRPr sz="1800"/>
          </a:p>
        </p:txBody>
      </p:sp>
      <p:sp>
        <p:nvSpPr>
          <p:cNvPr id="888" name="Google Shape;888;p72"/>
          <p:cNvSpPr txBox="1"/>
          <p:nvPr>
            <p:ph idx="1" type="body"/>
          </p:nvPr>
        </p:nvSpPr>
        <p:spPr>
          <a:xfrm>
            <a:off x="1514257" y="1516026"/>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16</a:t>
            </a:r>
            <a:r>
              <a:rPr lang="en-GB" sz="1800"/>
              <a:t> cm</a:t>
            </a:r>
            <a:endParaRPr sz="1800"/>
          </a:p>
        </p:txBody>
      </p:sp>
      <p:sp>
        <p:nvSpPr>
          <p:cNvPr id="889" name="Google Shape;889;p72"/>
          <p:cNvSpPr txBox="1"/>
          <p:nvPr>
            <p:ph idx="1" type="body"/>
          </p:nvPr>
        </p:nvSpPr>
        <p:spPr>
          <a:xfrm>
            <a:off x="324000" y="759300"/>
            <a:ext cx="82377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 calculate the perimeter of this triangle, we need to know the </a:t>
            </a:r>
            <a:r>
              <a:rPr lang="en-GB" sz="1800"/>
              <a:t>length</a:t>
            </a:r>
            <a:r>
              <a:rPr lang="en-GB" sz="1800"/>
              <a:t> of the third edge. </a:t>
            </a:r>
            <a:endParaRPr sz="1800"/>
          </a:p>
        </p:txBody>
      </p:sp>
      <p:sp>
        <p:nvSpPr>
          <p:cNvPr id="890" name="Google Shape;890;p72"/>
          <p:cNvSpPr txBox="1"/>
          <p:nvPr>
            <p:ph idx="1" type="body"/>
          </p:nvPr>
        </p:nvSpPr>
        <p:spPr>
          <a:xfrm>
            <a:off x="4320000" y="1216500"/>
            <a:ext cx="44703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Pythagoras’ theorem and the trigonometric functions require right-angled triangles. </a:t>
            </a:r>
            <a:endParaRPr sz="1800"/>
          </a:p>
        </p:txBody>
      </p:sp>
      <p:sp>
        <p:nvSpPr>
          <p:cNvPr id="891" name="Google Shape;891;p72"/>
          <p:cNvSpPr txBox="1"/>
          <p:nvPr>
            <p:ph idx="1" type="body"/>
          </p:nvPr>
        </p:nvSpPr>
        <p:spPr>
          <a:xfrm>
            <a:off x="4320000" y="2283300"/>
            <a:ext cx="44703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Where can a right-angled triangle be created?</a:t>
            </a:r>
            <a:endParaRPr sz="1800"/>
          </a:p>
        </p:txBody>
      </p:sp>
      <p:cxnSp>
        <p:nvCxnSpPr>
          <p:cNvPr id="892" name="Google Shape;892;p72"/>
          <p:cNvCxnSpPr/>
          <p:nvPr/>
        </p:nvCxnSpPr>
        <p:spPr>
          <a:xfrm rot="5400000">
            <a:off x="2816100" y="2035650"/>
            <a:ext cx="1325700" cy="0"/>
          </a:xfrm>
          <a:prstGeom prst="straightConnector1">
            <a:avLst/>
          </a:prstGeom>
          <a:noFill/>
          <a:ln cap="flat" cmpd="sng" w="38100">
            <a:solidFill>
              <a:schemeClr val="dk2"/>
            </a:solidFill>
            <a:prstDash val="dash"/>
            <a:round/>
            <a:headEnd len="med" w="med" type="none"/>
            <a:tailEnd len="med" w="med" type="none"/>
          </a:ln>
        </p:spPr>
      </p:cxnSp>
      <p:sp>
        <p:nvSpPr>
          <p:cNvPr id="893" name="Google Shape;893;p72"/>
          <p:cNvSpPr/>
          <p:nvPr/>
        </p:nvSpPr>
        <p:spPr>
          <a:xfrm>
            <a:off x="3337350" y="2430150"/>
            <a:ext cx="141600" cy="1416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4" name="Google Shape;894;p72"/>
          <p:cNvSpPr txBox="1"/>
          <p:nvPr>
            <p:ph idx="1" type="body"/>
          </p:nvPr>
        </p:nvSpPr>
        <p:spPr>
          <a:xfrm>
            <a:off x="4320000" y="2933250"/>
            <a:ext cx="44703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Extending the base edge and dropping a perpendicular line.</a:t>
            </a:r>
            <a:endParaRPr sz="2000">
              <a:latin typeface="Kalam"/>
              <a:ea typeface="Kalam"/>
              <a:cs typeface="Kalam"/>
              <a:sym typeface="Kalam"/>
            </a:endParaRPr>
          </a:p>
        </p:txBody>
      </p:sp>
      <p:sp>
        <p:nvSpPr>
          <p:cNvPr id="895" name="Google Shape;895;p72"/>
          <p:cNvSpPr/>
          <p:nvPr/>
        </p:nvSpPr>
        <p:spPr>
          <a:xfrm flipH="1">
            <a:off x="902475" y="3241025"/>
            <a:ext cx="2628000" cy="1197300"/>
          </a:xfrm>
          <a:prstGeom prst="rtTriangl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6" name="Google Shape;896;p72"/>
          <p:cNvSpPr/>
          <p:nvPr/>
        </p:nvSpPr>
        <p:spPr>
          <a:xfrm>
            <a:off x="115143" y="3659743"/>
            <a:ext cx="1595400" cy="1595400"/>
          </a:xfrm>
          <a:prstGeom prst="arc">
            <a:avLst>
              <a:gd fmla="val 2007985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7" name="Google Shape;897;p72"/>
          <p:cNvSpPr txBox="1"/>
          <p:nvPr/>
        </p:nvSpPr>
        <p:spPr>
          <a:xfrm>
            <a:off x="1749675" y="4100418"/>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35</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898" name="Google Shape;898;p72"/>
          <p:cNvCxnSpPr/>
          <p:nvPr/>
        </p:nvCxnSpPr>
        <p:spPr>
          <a:xfrm flipH="1" rot="10800000">
            <a:off x="859636" y="3074928"/>
            <a:ext cx="2628000" cy="1239900"/>
          </a:xfrm>
          <a:prstGeom prst="straightConnector1">
            <a:avLst/>
          </a:prstGeom>
          <a:noFill/>
          <a:ln cap="flat" cmpd="sng" w="38100">
            <a:solidFill>
              <a:schemeClr val="dk1"/>
            </a:solidFill>
            <a:prstDash val="solid"/>
            <a:round/>
            <a:headEnd len="med" w="med" type="triangle"/>
            <a:tailEnd len="med" w="med" type="triangle"/>
          </a:ln>
        </p:spPr>
      </p:cxnSp>
      <p:sp>
        <p:nvSpPr>
          <p:cNvPr id="899" name="Google Shape;899;p72"/>
          <p:cNvSpPr txBox="1"/>
          <p:nvPr>
            <p:ph idx="1" type="body"/>
          </p:nvPr>
        </p:nvSpPr>
        <p:spPr>
          <a:xfrm>
            <a:off x="1572180" y="335769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16 cm</a:t>
            </a:r>
            <a:endParaRPr sz="1800"/>
          </a:p>
        </p:txBody>
      </p:sp>
      <p:sp>
        <p:nvSpPr>
          <p:cNvPr id="900" name="Google Shape;900;p72"/>
          <p:cNvSpPr/>
          <p:nvPr/>
        </p:nvSpPr>
        <p:spPr>
          <a:xfrm>
            <a:off x="3389382" y="4296057"/>
            <a:ext cx="141600" cy="1416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01" name="Google Shape;901;p72"/>
          <p:cNvCxnSpPr/>
          <p:nvPr/>
        </p:nvCxnSpPr>
        <p:spPr>
          <a:xfrm>
            <a:off x="902475" y="4594350"/>
            <a:ext cx="2615400" cy="0"/>
          </a:xfrm>
          <a:prstGeom prst="straightConnector1">
            <a:avLst/>
          </a:prstGeom>
          <a:noFill/>
          <a:ln cap="flat" cmpd="sng" w="38100">
            <a:solidFill>
              <a:schemeClr val="dk1"/>
            </a:solidFill>
            <a:prstDash val="solid"/>
            <a:round/>
            <a:headEnd len="med" w="med" type="triangle"/>
            <a:tailEnd len="med" w="med" type="triangle"/>
          </a:ln>
        </p:spPr>
      </p:cxnSp>
      <p:cxnSp>
        <p:nvCxnSpPr>
          <p:cNvPr id="902" name="Google Shape;902;p72"/>
          <p:cNvCxnSpPr/>
          <p:nvPr/>
        </p:nvCxnSpPr>
        <p:spPr>
          <a:xfrm>
            <a:off x="3694300" y="3240000"/>
            <a:ext cx="0" cy="1201500"/>
          </a:xfrm>
          <a:prstGeom prst="straightConnector1">
            <a:avLst/>
          </a:prstGeom>
          <a:noFill/>
          <a:ln cap="flat" cmpd="sng" w="38100">
            <a:solidFill>
              <a:schemeClr val="dk1"/>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cxnSp>
        <p:nvCxnSpPr>
          <p:cNvPr id="907" name="Google Shape;907;p73"/>
          <p:cNvCxnSpPr/>
          <p:nvPr/>
        </p:nvCxnSpPr>
        <p:spPr>
          <a:xfrm>
            <a:off x="2296850" y="2571750"/>
            <a:ext cx="1187400" cy="0"/>
          </a:xfrm>
          <a:prstGeom prst="straightConnector1">
            <a:avLst/>
          </a:prstGeom>
          <a:noFill/>
          <a:ln cap="flat" cmpd="sng" w="38100">
            <a:solidFill>
              <a:schemeClr val="dk2"/>
            </a:solidFill>
            <a:prstDash val="dash"/>
            <a:round/>
            <a:headEnd len="med" w="med" type="none"/>
            <a:tailEnd len="med" w="med" type="none"/>
          </a:ln>
        </p:spPr>
      </p:cxnSp>
      <p:sp>
        <p:nvSpPr>
          <p:cNvPr id="908" name="Google Shape;908;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sp>
        <p:nvSpPr>
          <p:cNvPr id="909" name="Google Shape;909;p73"/>
          <p:cNvSpPr/>
          <p:nvPr/>
        </p:nvSpPr>
        <p:spPr>
          <a:xfrm>
            <a:off x="893125" y="1374550"/>
            <a:ext cx="2587364" cy="1197189"/>
          </a:xfrm>
          <a:custGeom>
            <a:rect b="b" l="l" r="r" t="t"/>
            <a:pathLst>
              <a:path extrusionOk="0" h="35391" w="76487">
                <a:moveTo>
                  <a:pt x="0" y="35291"/>
                </a:moveTo>
                <a:lnTo>
                  <a:pt x="48300" y="35391"/>
                </a:lnTo>
                <a:lnTo>
                  <a:pt x="76487" y="0"/>
                </a:lnTo>
                <a:close/>
              </a:path>
            </a:pathLst>
          </a:custGeom>
          <a:noFill/>
          <a:ln cap="flat" cmpd="sng" w="38100">
            <a:solidFill>
              <a:schemeClr val="dk1"/>
            </a:solidFill>
            <a:prstDash val="solid"/>
            <a:round/>
            <a:headEnd len="med" w="med" type="none"/>
            <a:tailEnd len="med" w="med" type="none"/>
          </a:ln>
        </p:spPr>
      </p:sp>
      <p:cxnSp>
        <p:nvCxnSpPr>
          <p:cNvPr id="910" name="Google Shape;910;p73"/>
          <p:cNvCxnSpPr/>
          <p:nvPr/>
        </p:nvCxnSpPr>
        <p:spPr>
          <a:xfrm>
            <a:off x="881000" y="2713350"/>
            <a:ext cx="1660500" cy="6300"/>
          </a:xfrm>
          <a:prstGeom prst="straightConnector1">
            <a:avLst/>
          </a:prstGeom>
          <a:noFill/>
          <a:ln cap="flat" cmpd="sng" w="38100">
            <a:solidFill>
              <a:schemeClr val="dk1"/>
            </a:solidFill>
            <a:prstDash val="solid"/>
            <a:round/>
            <a:headEnd len="med" w="med" type="triangle"/>
            <a:tailEnd len="med" w="med" type="triangle"/>
          </a:ln>
        </p:spPr>
      </p:cxnSp>
      <p:cxnSp>
        <p:nvCxnSpPr>
          <p:cNvPr id="911" name="Google Shape;911;p73"/>
          <p:cNvCxnSpPr/>
          <p:nvPr/>
        </p:nvCxnSpPr>
        <p:spPr>
          <a:xfrm flipH="1" rot="10800000">
            <a:off x="801714" y="1233257"/>
            <a:ext cx="2628000" cy="1239900"/>
          </a:xfrm>
          <a:prstGeom prst="straightConnector1">
            <a:avLst/>
          </a:prstGeom>
          <a:noFill/>
          <a:ln cap="flat" cmpd="sng" w="38100">
            <a:solidFill>
              <a:schemeClr val="dk1"/>
            </a:solidFill>
            <a:prstDash val="solid"/>
            <a:round/>
            <a:headEnd len="med" w="med" type="triangle"/>
            <a:tailEnd len="med" w="med" type="triangle"/>
          </a:ln>
        </p:spPr>
      </p:cxnSp>
      <p:sp>
        <p:nvSpPr>
          <p:cNvPr id="912" name="Google Shape;912;p73"/>
          <p:cNvSpPr/>
          <p:nvPr/>
        </p:nvSpPr>
        <p:spPr>
          <a:xfrm>
            <a:off x="115143" y="1774050"/>
            <a:ext cx="1595400" cy="1595400"/>
          </a:xfrm>
          <a:prstGeom prst="arc">
            <a:avLst>
              <a:gd fmla="val 2007985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3" name="Google Shape;913;p73"/>
          <p:cNvSpPr txBox="1"/>
          <p:nvPr/>
        </p:nvSpPr>
        <p:spPr>
          <a:xfrm>
            <a:off x="1749675" y="2214725"/>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35</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914" name="Google Shape;914;p73"/>
          <p:cNvSpPr txBox="1"/>
          <p:nvPr>
            <p:ph idx="1" type="body"/>
          </p:nvPr>
        </p:nvSpPr>
        <p:spPr>
          <a:xfrm>
            <a:off x="1471257" y="272802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 cm</a:t>
            </a:r>
            <a:endParaRPr sz="1800"/>
          </a:p>
        </p:txBody>
      </p:sp>
      <p:sp>
        <p:nvSpPr>
          <p:cNvPr id="915" name="Google Shape;915;p73"/>
          <p:cNvSpPr txBox="1"/>
          <p:nvPr>
            <p:ph idx="1" type="body"/>
          </p:nvPr>
        </p:nvSpPr>
        <p:spPr>
          <a:xfrm>
            <a:off x="1514257" y="1516026"/>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16 cm</a:t>
            </a:r>
            <a:endParaRPr sz="1800"/>
          </a:p>
        </p:txBody>
      </p:sp>
      <p:sp>
        <p:nvSpPr>
          <p:cNvPr id="916" name="Google Shape;916;p73"/>
          <p:cNvSpPr txBox="1"/>
          <p:nvPr>
            <p:ph idx="1" type="body"/>
          </p:nvPr>
        </p:nvSpPr>
        <p:spPr>
          <a:xfrm>
            <a:off x="324000" y="759300"/>
            <a:ext cx="82377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 calculate the perimeter of this triangle, we need to know the length of the third edge. </a:t>
            </a:r>
            <a:endParaRPr sz="1800"/>
          </a:p>
        </p:txBody>
      </p:sp>
      <p:sp>
        <p:nvSpPr>
          <p:cNvPr id="917" name="Google Shape;917;p73"/>
          <p:cNvSpPr txBox="1"/>
          <p:nvPr>
            <p:ph idx="1" type="body"/>
          </p:nvPr>
        </p:nvSpPr>
        <p:spPr>
          <a:xfrm>
            <a:off x="4320000" y="1216500"/>
            <a:ext cx="44703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Pythagoras’ theorem and the trigonometric functions require right-angled triangles. </a:t>
            </a:r>
            <a:endParaRPr sz="1800"/>
          </a:p>
        </p:txBody>
      </p:sp>
      <p:sp>
        <p:nvSpPr>
          <p:cNvPr id="918" name="Google Shape;918;p73"/>
          <p:cNvSpPr txBox="1"/>
          <p:nvPr>
            <p:ph idx="1" type="body"/>
          </p:nvPr>
        </p:nvSpPr>
        <p:spPr>
          <a:xfrm>
            <a:off x="4320000" y="2283300"/>
            <a:ext cx="44703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Now the sine function can be used to calculate the opposite, the vertical height.</a:t>
            </a:r>
            <a:endParaRPr sz="1800"/>
          </a:p>
        </p:txBody>
      </p:sp>
      <p:cxnSp>
        <p:nvCxnSpPr>
          <p:cNvPr id="919" name="Google Shape;919;p73"/>
          <p:cNvCxnSpPr/>
          <p:nvPr/>
        </p:nvCxnSpPr>
        <p:spPr>
          <a:xfrm rot="5400000">
            <a:off x="2816100" y="2035650"/>
            <a:ext cx="1325700" cy="0"/>
          </a:xfrm>
          <a:prstGeom prst="straightConnector1">
            <a:avLst/>
          </a:prstGeom>
          <a:noFill/>
          <a:ln cap="flat" cmpd="sng" w="38100">
            <a:solidFill>
              <a:schemeClr val="dk2"/>
            </a:solidFill>
            <a:prstDash val="dash"/>
            <a:round/>
            <a:headEnd len="med" w="med" type="none"/>
            <a:tailEnd len="med" w="med" type="none"/>
          </a:ln>
        </p:spPr>
      </p:cxnSp>
      <p:sp>
        <p:nvSpPr>
          <p:cNvPr id="920" name="Google Shape;920;p73"/>
          <p:cNvSpPr/>
          <p:nvPr/>
        </p:nvSpPr>
        <p:spPr>
          <a:xfrm>
            <a:off x="3337350" y="2430150"/>
            <a:ext cx="141600" cy="1416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1" name="Google Shape;921;p73"/>
          <p:cNvSpPr/>
          <p:nvPr/>
        </p:nvSpPr>
        <p:spPr>
          <a:xfrm flipH="1">
            <a:off x="902475" y="3241025"/>
            <a:ext cx="2628000" cy="1197300"/>
          </a:xfrm>
          <a:prstGeom prst="rtTriangl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2" name="Google Shape;922;p73"/>
          <p:cNvSpPr/>
          <p:nvPr/>
        </p:nvSpPr>
        <p:spPr>
          <a:xfrm>
            <a:off x="115143" y="3659743"/>
            <a:ext cx="1595400" cy="1595400"/>
          </a:xfrm>
          <a:prstGeom prst="arc">
            <a:avLst>
              <a:gd fmla="val 2007985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3" name="Google Shape;923;p73"/>
          <p:cNvSpPr txBox="1"/>
          <p:nvPr/>
        </p:nvSpPr>
        <p:spPr>
          <a:xfrm>
            <a:off x="1749675" y="4100418"/>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35</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924" name="Google Shape;924;p73"/>
          <p:cNvCxnSpPr/>
          <p:nvPr/>
        </p:nvCxnSpPr>
        <p:spPr>
          <a:xfrm flipH="1" rot="10800000">
            <a:off x="859636" y="3074928"/>
            <a:ext cx="2628000" cy="1239900"/>
          </a:xfrm>
          <a:prstGeom prst="straightConnector1">
            <a:avLst/>
          </a:prstGeom>
          <a:noFill/>
          <a:ln cap="flat" cmpd="sng" w="38100">
            <a:solidFill>
              <a:schemeClr val="dk1"/>
            </a:solidFill>
            <a:prstDash val="solid"/>
            <a:round/>
            <a:headEnd len="med" w="med" type="triangle"/>
            <a:tailEnd len="med" w="med" type="triangle"/>
          </a:ln>
        </p:spPr>
      </p:cxnSp>
      <p:sp>
        <p:nvSpPr>
          <p:cNvPr id="925" name="Google Shape;925;p73"/>
          <p:cNvSpPr txBox="1"/>
          <p:nvPr>
            <p:ph idx="1" type="body"/>
          </p:nvPr>
        </p:nvSpPr>
        <p:spPr>
          <a:xfrm>
            <a:off x="1572180" y="335769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16 cm</a:t>
            </a:r>
            <a:endParaRPr sz="1800"/>
          </a:p>
        </p:txBody>
      </p:sp>
      <p:sp>
        <p:nvSpPr>
          <p:cNvPr id="926" name="Google Shape;926;p73"/>
          <p:cNvSpPr/>
          <p:nvPr/>
        </p:nvSpPr>
        <p:spPr>
          <a:xfrm>
            <a:off x="3389382" y="4296057"/>
            <a:ext cx="141600" cy="1416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27" name="Google Shape;927;p73"/>
          <p:cNvCxnSpPr/>
          <p:nvPr/>
        </p:nvCxnSpPr>
        <p:spPr>
          <a:xfrm>
            <a:off x="3694300" y="3240000"/>
            <a:ext cx="0" cy="1201500"/>
          </a:xfrm>
          <a:prstGeom prst="straightConnector1">
            <a:avLst/>
          </a:prstGeom>
          <a:noFill/>
          <a:ln cap="flat" cmpd="sng" w="38100">
            <a:solidFill>
              <a:schemeClr val="dk1"/>
            </a:solidFill>
            <a:prstDash val="solid"/>
            <a:round/>
            <a:headEnd len="med" w="med" type="triangle"/>
            <a:tailEnd len="med" w="med" type="triangle"/>
          </a:ln>
        </p:spPr>
      </p:cxnSp>
      <p:sp>
        <p:nvSpPr>
          <p:cNvPr id="928" name="Google Shape;928;p73"/>
          <p:cNvSpPr txBox="1"/>
          <p:nvPr>
            <p:ph idx="1" type="body"/>
          </p:nvPr>
        </p:nvSpPr>
        <p:spPr>
          <a:xfrm>
            <a:off x="3781980" y="366249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h</a:t>
            </a:r>
            <a:r>
              <a:rPr lang="en-GB" sz="1800"/>
              <a:t> cm</a:t>
            </a:r>
            <a:endParaRPr sz="1800"/>
          </a:p>
        </p:txBody>
      </p:sp>
      <p:sp>
        <p:nvSpPr>
          <p:cNvPr id="929" name="Google Shape;929;p73"/>
          <p:cNvSpPr txBox="1"/>
          <p:nvPr>
            <p:ph idx="1" type="body"/>
          </p:nvPr>
        </p:nvSpPr>
        <p:spPr>
          <a:xfrm>
            <a:off x="4924953" y="3357700"/>
            <a:ext cx="40806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h</a:t>
            </a:r>
            <a:r>
              <a:rPr lang="en-GB" sz="2000">
                <a:latin typeface="Times New Roman"/>
                <a:ea typeface="Times New Roman"/>
                <a:cs typeface="Times New Roman"/>
                <a:sym typeface="Times New Roman"/>
              </a:rPr>
              <a:t> = 16 × sin(35°) = 9.177… </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cxnSp>
        <p:nvCxnSpPr>
          <p:cNvPr id="934" name="Google Shape;934;p74"/>
          <p:cNvCxnSpPr/>
          <p:nvPr/>
        </p:nvCxnSpPr>
        <p:spPr>
          <a:xfrm>
            <a:off x="2296850" y="2571750"/>
            <a:ext cx="1187400" cy="0"/>
          </a:xfrm>
          <a:prstGeom prst="straightConnector1">
            <a:avLst/>
          </a:prstGeom>
          <a:noFill/>
          <a:ln cap="flat" cmpd="sng" w="38100">
            <a:solidFill>
              <a:schemeClr val="dk2"/>
            </a:solidFill>
            <a:prstDash val="dash"/>
            <a:round/>
            <a:headEnd len="med" w="med" type="none"/>
            <a:tailEnd len="med" w="med" type="none"/>
          </a:ln>
        </p:spPr>
      </p:cxnSp>
      <p:sp>
        <p:nvSpPr>
          <p:cNvPr id="935" name="Google Shape;935;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sp>
        <p:nvSpPr>
          <p:cNvPr id="936" name="Google Shape;936;p74"/>
          <p:cNvSpPr/>
          <p:nvPr/>
        </p:nvSpPr>
        <p:spPr>
          <a:xfrm>
            <a:off x="893125" y="1374550"/>
            <a:ext cx="2587364" cy="1197189"/>
          </a:xfrm>
          <a:custGeom>
            <a:rect b="b" l="l" r="r" t="t"/>
            <a:pathLst>
              <a:path extrusionOk="0" h="35391" w="76487">
                <a:moveTo>
                  <a:pt x="0" y="35291"/>
                </a:moveTo>
                <a:lnTo>
                  <a:pt x="48300" y="35391"/>
                </a:lnTo>
                <a:lnTo>
                  <a:pt x="76487" y="0"/>
                </a:lnTo>
                <a:close/>
              </a:path>
            </a:pathLst>
          </a:custGeom>
          <a:noFill/>
          <a:ln cap="flat" cmpd="sng" w="38100">
            <a:solidFill>
              <a:schemeClr val="dk1"/>
            </a:solidFill>
            <a:prstDash val="solid"/>
            <a:round/>
            <a:headEnd len="med" w="med" type="none"/>
            <a:tailEnd len="med" w="med" type="none"/>
          </a:ln>
        </p:spPr>
      </p:sp>
      <p:cxnSp>
        <p:nvCxnSpPr>
          <p:cNvPr id="937" name="Google Shape;937;p74"/>
          <p:cNvCxnSpPr/>
          <p:nvPr/>
        </p:nvCxnSpPr>
        <p:spPr>
          <a:xfrm>
            <a:off x="881000" y="2713350"/>
            <a:ext cx="1660500" cy="6300"/>
          </a:xfrm>
          <a:prstGeom prst="straightConnector1">
            <a:avLst/>
          </a:prstGeom>
          <a:noFill/>
          <a:ln cap="flat" cmpd="sng" w="38100">
            <a:solidFill>
              <a:schemeClr val="dk1"/>
            </a:solidFill>
            <a:prstDash val="solid"/>
            <a:round/>
            <a:headEnd len="med" w="med" type="triangle"/>
            <a:tailEnd len="med" w="med" type="triangle"/>
          </a:ln>
        </p:spPr>
      </p:cxnSp>
      <p:cxnSp>
        <p:nvCxnSpPr>
          <p:cNvPr id="938" name="Google Shape;938;p74"/>
          <p:cNvCxnSpPr/>
          <p:nvPr/>
        </p:nvCxnSpPr>
        <p:spPr>
          <a:xfrm flipH="1" rot="10800000">
            <a:off x="801714" y="1233257"/>
            <a:ext cx="2628000" cy="1239900"/>
          </a:xfrm>
          <a:prstGeom prst="straightConnector1">
            <a:avLst/>
          </a:prstGeom>
          <a:noFill/>
          <a:ln cap="flat" cmpd="sng" w="38100">
            <a:solidFill>
              <a:schemeClr val="dk1"/>
            </a:solidFill>
            <a:prstDash val="solid"/>
            <a:round/>
            <a:headEnd len="med" w="med" type="triangle"/>
            <a:tailEnd len="med" w="med" type="triangle"/>
          </a:ln>
        </p:spPr>
      </p:cxnSp>
      <p:sp>
        <p:nvSpPr>
          <p:cNvPr id="939" name="Google Shape;939;p74"/>
          <p:cNvSpPr/>
          <p:nvPr/>
        </p:nvSpPr>
        <p:spPr>
          <a:xfrm>
            <a:off x="115143" y="1774050"/>
            <a:ext cx="1595400" cy="1595400"/>
          </a:xfrm>
          <a:prstGeom prst="arc">
            <a:avLst>
              <a:gd fmla="val 2007985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0" name="Google Shape;940;p74"/>
          <p:cNvSpPr txBox="1"/>
          <p:nvPr/>
        </p:nvSpPr>
        <p:spPr>
          <a:xfrm>
            <a:off x="1749675" y="2214725"/>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35</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941" name="Google Shape;941;p74"/>
          <p:cNvSpPr txBox="1"/>
          <p:nvPr>
            <p:ph idx="1" type="body"/>
          </p:nvPr>
        </p:nvSpPr>
        <p:spPr>
          <a:xfrm>
            <a:off x="1471257" y="272802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 cm</a:t>
            </a:r>
            <a:endParaRPr sz="1800"/>
          </a:p>
        </p:txBody>
      </p:sp>
      <p:sp>
        <p:nvSpPr>
          <p:cNvPr id="942" name="Google Shape;942;p74"/>
          <p:cNvSpPr txBox="1"/>
          <p:nvPr>
            <p:ph idx="1" type="body"/>
          </p:nvPr>
        </p:nvSpPr>
        <p:spPr>
          <a:xfrm>
            <a:off x="1514257" y="1516026"/>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16 cm</a:t>
            </a:r>
            <a:endParaRPr sz="1800"/>
          </a:p>
        </p:txBody>
      </p:sp>
      <p:sp>
        <p:nvSpPr>
          <p:cNvPr id="943" name="Google Shape;943;p74"/>
          <p:cNvSpPr txBox="1"/>
          <p:nvPr>
            <p:ph idx="1" type="body"/>
          </p:nvPr>
        </p:nvSpPr>
        <p:spPr>
          <a:xfrm>
            <a:off x="324000" y="759300"/>
            <a:ext cx="82377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 calculate the perimeter of this triangle, we need to know the length of the third edge. </a:t>
            </a:r>
            <a:endParaRPr sz="1800"/>
          </a:p>
        </p:txBody>
      </p:sp>
      <p:sp>
        <p:nvSpPr>
          <p:cNvPr id="944" name="Google Shape;944;p74"/>
          <p:cNvSpPr txBox="1"/>
          <p:nvPr>
            <p:ph idx="1" type="body"/>
          </p:nvPr>
        </p:nvSpPr>
        <p:spPr>
          <a:xfrm>
            <a:off x="4320000" y="1216500"/>
            <a:ext cx="44703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Pythagoras’ theorem and the trigonometric functions require right-angled triangles. </a:t>
            </a:r>
            <a:endParaRPr sz="1800"/>
          </a:p>
        </p:txBody>
      </p:sp>
      <p:sp>
        <p:nvSpPr>
          <p:cNvPr id="945" name="Google Shape;945;p74"/>
          <p:cNvSpPr txBox="1"/>
          <p:nvPr>
            <p:ph idx="1" type="body"/>
          </p:nvPr>
        </p:nvSpPr>
        <p:spPr>
          <a:xfrm>
            <a:off x="4320000" y="2283300"/>
            <a:ext cx="44703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Pythagoras’ theorem, the cosine function or the tangent function can be used to calculate the length of </a:t>
            </a:r>
            <a:r>
              <a:rPr i="1" lang="en-GB" sz="2000">
                <a:latin typeface="Times New Roman"/>
                <a:ea typeface="Times New Roman"/>
                <a:cs typeface="Times New Roman"/>
                <a:sym typeface="Times New Roman"/>
              </a:rPr>
              <a:t>x</a:t>
            </a:r>
            <a:r>
              <a:rPr lang="en-GB" sz="1800"/>
              <a:t>.</a:t>
            </a:r>
            <a:endParaRPr sz="1800"/>
          </a:p>
        </p:txBody>
      </p:sp>
      <p:cxnSp>
        <p:nvCxnSpPr>
          <p:cNvPr id="946" name="Google Shape;946;p74"/>
          <p:cNvCxnSpPr/>
          <p:nvPr/>
        </p:nvCxnSpPr>
        <p:spPr>
          <a:xfrm rot="5400000">
            <a:off x="2816100" y="2035650"/>
            <a:ext cx="1325700" cy="0"/>
          </a:xfrm>
          <a:prstGeom prst="straightConnector1">
            <a:avLst/>
          </a:prstGeom>
          <a:noFill/>
          <a:ln cap="flat" cmpd="sng" w="38100">
            <a:solidFill>
              <a:schemeClr val="dk2"/>
            </a:solidFill>
            <a:prstDash val="dash"/>
            <a:round/>
            <a:headEnd len="med" w="med" type="none"/>
            <a:tailEnd len="med" w="med" type="none"/>
          </a:ln>
        </p:spPr>
      </p:cxnSp>
      <p:sp>
        <p:nvSpPr>
          <p:cNvPr id="947" name="Google Shape;947;p74"/>
          <p:cNvSpPr/>
          <p:nvPr/>
        </p:nvSpPr>
        <p:spPr>
          <a:xfrm>
            <a:off x="3337350" y="2430150"/>
            <a:ext cx="141600" cy="1416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8" name="Google Shape;948;p74"/>
          <p:cNvSpPr/>
          <p:nvPr/>
        </p:nvSpPr>
        <p:spPr>
          <a:xfrm flipH="1">
            <a:off x="902475" y="3241025"/>
            <a:ext cx="2628000" cy="1197300"/>
          </a:xfrm>
          <a:prstGeom prst="rtTriangl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9" name="Google Shape;949;p74"/>
          <p:cNvSpPr/>
          <p:nvPr/>
        </p:nvSpPr>
        <p:spPr>
          <a:xfrm>
            <a:off x="115143" y="3659743"/>
            <a:ext cx="1595400" cy="1595400"/>
          </a:xfrm>
          <a:prstGeom prst="arc">
            <a:avLst>
              <a:gd fmla="val 2007985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0" name="Google Shape;950;p74"/>
          <p:cNvSpPr txBox="1"/>
          <p:nvPr/>
        </p:nvSpPr>
        <p:spPr>
          <a:xfrm>
            <a:off x="1749675" y="4100418"/>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35</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951" name="Google Shape;951;p74"/>
          <p:cNvCxnSpPr/>
          <p:nvPr/>
        </p:nvCxnSpPr>
        <p:spPr>
          <a:xfrm flipH="1" rot="10800000">
            <a:off x="859636" y="3074928"/>
            <a:ext cx="2628000" cy="1239900"/>
          </a:xfrm>
          <a:prstGeom prst="straightConnector1">
            <a:avLst/>
          </a:prstGeom>
          <a:noFill/>
          <a:ln cap="flat" cmpd="sng" w="38100">
            <a:solidFill>
              <a:schemeClr val="dk1"/>
            </a:solidFill>
            <a:prstDash val="solid"/>
            <a:round/>
            <a:headEnd len="med" w="med" type="triangle"/>
            <a:tailEnd len="med" w="med" type="triangle"/>
          </a:ln>
        </p:spPr>
      </p:cxnSp>
      <p:sp>
        <p:nvSpPr>
          <p:cNvPr id="952" name="Google Shape;952;p74"/>
          <p:cNvSpPr txBox="1"/>
          <p:nvPr>
            <p:ph idx="1" type="body"/>
          </p:nvPr>
        </p:nvSpPr>
        <p:spPr>
          <a:xfrm>
            <a:off x="1572180" y="335769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16 cm</a:t>
            </a:r>
            <a:endParaRPr sz="1800"/>
          </a:p>
        </p:txBody>
      </p:sp>
      <p:sp>
        <p:nvSpPr>
          <p:cNvPr id="953" name="Google Shape;953;p74"/>
          <p:cNvSpPr/>
          <p:nvPr/>
        </p:nvSpPr>
        <p:spPr>
          <a:xfrm>
            <a:off x="3389382" y="4296057"/>
            <a:ext cx="141600" cy="1416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54" name="Google Shape;954;p74"/>
          <p:cNvCxnSpPr/>
          <p:nvPr/>
        </p:nvCxnSpPr>
        <p:spPr>
          <a:xfrm>
            <a:off x="902475" y="4594350"/>
            <a:ext cx="2615400" cy="0"/>
          </a:xfrm>
          <a:prstGeom prst="straightConnector1">
            <a:avLst/>
          </a:prstGeom>
          <a:noFill/>
          <a:ln cap="flat" cmpd="sng" w="38100">
            <a:solidFill>
              <a:schemeClr val="dk1"/>
            </a:solidFill>
            <a:prstDash val="solid"/>
            <a:round/>
            <a:headEnd len="med" w="med" type="triangle"/>
            <a:tailEnd len="med" w="med" type="triangle"/>
          </a:ln>
        </p:spPr>
      </p:cxnSp>
      <p:cxnSp>
        <p:nvCxnSpPr>
          <p:cNvPr id="955" name="Google Shape;955;p74"/>
          <p:cNvCxnSpPr/>
          <p:nvPr/>
        </p:nvCxnSpPr>
        <p:spPr>
          <a:xfrm>
            <a:off x="3694300" y="3240000"/>
            <a:ext cx="0" cy="1201500"/>
          </a:xfrm>
          <a:prstGeom prst="straightConnector1">
            <a:avLst/>
          </a:prstGeom>
          <a:noFill/>
          <a:ln cap="flat" cmpd="sng" w="38100">
            <a:solidFill>
              <a:schemeClr val="dk1"/>
            </a:solidFill>
            <a:prstDash val="solid"/>
            <a:round/>
            <a:headEnd len="med" w="med" type="triangle"/>
            <a:tailEnd len="med" w="med" type="triangle"/>
          </a:ln>
        </p:spPr>
      </p:cxnSp>
      <p:sp>
        <p:nvSpPr>
          <p:cNvPr id="956" name="Google Shape;956;p74"/>
          <p:cNvSpPr txBox="1"/>
          <p:nvPr>
            <p:ph idx="1" type="body"/>
          </p:nvPr>
        </p:nvSpPr>
        <p:spPr>
          <a:xfrm>
            <a:off x="3781980" y="366249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9.17…</a:t>
            </a:r>
            <a:r>
              <a:rPr lang="en-GB" sz="1800"/>
              <a:t> cm</a:t>
            </a:r>
            <a:endParaRPr sz="1800"/>
          </a:p>
        </p:txBody>
      </p:sp>
      <p:sp>
        <p:nvSpPr>
          <p:cNvPr id="957" name="Google Shape;957;p74"/>
          <p:cNvSpPr txBox="1"/>
          <p:nvPr>
            <p:ph idx="1" type="body"/>
          </p:nvPr>
        </p:nvSpPr>
        <p:spPr>
          <a:xfrm>
            <a:off x="2029380" y="457689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cxnSp>
        <p:nvCxnSpPr>
          <p:cNvPr id="958" name="Google Shape;958;p74"/>
          <p:cNvCxnSpPr/>
          <p:nvPr/>
        </p:nvCxnSpPr>
        <p:spPr>
          <a:xfrm>
            <a:off x="3623744" y="1370278"/>
            <a:ext cx="0" cy="1201500"/>
          </a:xfrm>
          <a:prstGeom prst="straightConnector1">
            <a:avLst/>
          </a:prstGeom>
          <a:noFill/>
          <a:ln cap="flat" cmpd="sng" w="38100">
            <a:solidFill>
              <a:schemeClr val="dk1"/>
            </a:solidFill>
            <a:prstDash val="solid"/>
            <a:round/>
            <a:headEnd len="med" w="med" type="triangle"/>
            <a:tailEnd len="med" w="med" type="triangle"/>
          </a:ln>
        </p:spPr>
      </p:cxnSp>
      <p:sp>
        <p:nvSpPr>
          <p:cNvPr id="959" name="Google Shape;959;p74"/>
          <p:cNvSpPr txBox="1"/>
          <p:nvPr>
            <p:ph idx="1" type="body"/>
          </p:nvPr>
        </p:nvSpPr>
        <p:spPr>
          <a:xfrm>
            <a:off x="3711424" y="1792776"/>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9.17… cm</a:t>
            </a:r>
            <a:endParaRPr sz="1800"/>
          </a:p>
        </p:txBody>
      </p:sp>
      <p:sp>
        <p:nvSpPr>
          <p:cNvPr id="960" name="Google Shape;960;p74"/>
          <p:cNvSpPr txBox="1"/>
          <p:nvPr>
            <p:ph idx="1" type="body"/>
          </p:nvPr>
        </p:nvSpPr>
        <p:spPr>
          <a:xfrm>
            <a:off x="4924950" y="3586300"/>
            <a:ext cx="40806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16 × cos(35°) = 13.10… </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cxnSp>
        <p:nvCxnSpPr>
          <p:cNvPr id="965" name="Google Shape;965;p75"/>
          <p:cNvCxnSpPr/>
          <p:nvPr/>
        </p:nvCxnSpPr>
        <p:spPr>
          <a:xfrm>
            <a:off x="2296850" y="2571750"/>
            <a:ext cx="1187400" cy="0"/>
          </a:xfrm>
          <a:prstGeom prst="straightConnector1">
            <a:avLst/>
          </a:prstGeom>
          <a:noFill/>
          <a:ln cap="flat" cmpd="sng" w="38100">
            <a:solidFill>
              <a:schemeClr val="dk2"/>
            </a:solidFill>
            <a:prstDash val="dash"/>
            <a:round/>
            <a:headEnd len="med" w="med" type="none"/>
            <a:tailEnd len="med" w="med" type="none"/>
          </a:ln>
        </p:spPr>
      </p:cxnSp>
      <p:sp>
        <p:nvSpPr>
          <p:cNvPr id="966" name="Google Shape;966;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sp>
        <p:nvSpPr>
          <p:cNvPr id="967" name="Google Shape;967;p75"/>
          <p:cNvSpPr/>
          <p:nvPr/>
        </p:nvSpPr>
        <p:spPr>
          <a:xfrm>
            <a:off x="893125" y="1374550"/>
            <a:ext cx="2587364" cy="1197189"/>
          </a:xfrm>
          <a:custGeom>
            <a:rect b="b" l="l" r="r" t="t"/>
            <a:pathLst>
              <a:path extrusionOk="0" h="35391" w="76487">
                <a:moveTo>
                  <a:pt x="0" y="35291"/>
                </a:moveTo>
                <a:lnTo>
                  <a:pt x="48300" y="35391"/>
                </a:lnTo>
                <a:lnTo>
                  <a:pt x="76487" y="0"/>
                </a:lnTo>
                <a:close/>
              </a:path>
            </a:pathLst>
          </a:custGeom>
          <a:noFill/>
          <a:ln cap="flat" cmpd="sng" w="38100">
            <a:solidFill>
              <a:schemeClr val="dk1"/>
            </a:solidFill>
            <a:prstDash val="solid"/>
            <a:round/>
            <a:headEnd len="med" w="med" type="none"/>
            <a:tailEnd len="med" w="med" type="none"/>
          </a:ln>
        </p:spPr>
      </p:sp>
      <p:cxnSp>
        <p:nvCxnSpPr>
          <p:cNvPr id="968" name="Google Shape;968;p75"/>
          <p:cNvCxnSpPr/>
          <p:nvPr/>
        </p:nvCxnSpPr>
        <p:spPr>
          <a:xfrm>
            <a:off x="881000" y="2713350"/>
            <a:ext cx="1660500" cy="6300"/>
          </a:xfrm>
          <a:prstGeom prst="straightConnector1">
            <a:avLst/>
          </a:prstGeom>
          <a:noFill/>
          <a:ln cap="flat" cmpd="sng" w="38100">
            <a:solidFill>
              <a:schemeClr val="dk1"/>
            </a:solidFill>
            <a:prstDash val="solid"/>
            <a:round/>
            <a:headEnd len="med" w="med" type="triangle"/>
            <a:tailEnd len="med" w="med" type="triangle"/>
          </a:ln>
        </p:spPr>
      </p:cxnSp>
      <p:cxnSp>
        <p:nvCxnSpPr>
          <p:cNvPr id="969" name="Google Shape;969;p75"/>
          <p:cNvCxnSpPr/>
          <p:nvPr/>
        </p:nvCxnSpPr>
        <p:spPr>
          <a:xfrm flipH="1" rot="10800000">
            <a:off x="801714" y="1233257"/>
            <a:ext cx="2628000" cy="1239900"/>
          </a:xfrm>
          <a:prstGeom prst="straightConnector1">
            <a:avLst/>
          </a:prstGeom>
          <a:noFill/>
          <a:ln cap="flat" cmpd="sng" w="38100">
            <a:solidFill>
              <a:schemeClr val="dk1"/>
            </a:solidFill>
            <a:prstDash val="solid"/>
            <a:round/>
            <a:headEnd len="med" w="med" type="triangle"/>
            <a:tailEnd len="med" w="med" type="triangle"/>
          </a:ln>
        </p:spPr>
      </p:cxnSp>
      <p:sp>
        <p:nvSpPr>
          <p:cNvPr id="970" name="Google Shape;970;p75"/>
          <p:cNvSpPr/>
          <p:nvPr/>
        </p:nvSpPr>
        <p:spPr>
          <a:xfrm>
            <a:off x="115143" y="1774050"/>
            <a:ext cx="1595400" cy="1595400"/>
          </a:xfrm>
          <a:prstGeom prst="arc">
            <a:avLst>
              <a:gd fmla="val 2007985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1" name="Google Shape;971;p75"/>
          <p:cNvSpPr txBox="1"/>
          <p:nvPr/>
        </p:nvSpPr>
        <p:spPr>
          <a:xfrm>
            <a:off x="1749675" y="2214725"/>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35</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972" name="Google Shape;972;p75"/>
          <p:cNvSpPr txBox="1"/>
          <p:nvPr>
            <p:ph idx="1" type="body"/>
          </p:nvPr>
        </p:nvSpPr>
        <p:spPr>
          <a:xfrm>
            <a:off x="1471257" y="272802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 cm</a:t>
            </a:r>
            <a:endParaRPr sz="1800"/>
          </a:p>
        </p:txBody>
      </p:sp>
      <p:sp>
        <p:nvSpPr>
          <p:cNvPr id="973" name="Google Shape;973;p75"/>
          <p:cNvSpPr txBox="1"/>
          <p:nvPr>
            <p:ph idx="1" type="body"/>
          </p:nvPr>
        </p:nvSpPr>
        <p:spPr>
          <a:xfrm>
            <a:off x="1514257" y="1516026"/>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16 cm</a:t>
            </a:r>
            <a:endParaRPr sz="1800"/>
          </a:p>
        </p:txBody>
      </p:sp>
      <p:sp>
        <p:nvSpPr>
          <p:cNvPr id="974" name="Google Shape;974;p75"/>
          <p:cNvSpPr txBox="1"/>
          <p:nvPr>
            <p:ph idx="1" type="body"/>
          </p:nvPr>
        </p:nvSpPr>
        <p:spPr>
          <a:xfrm>
            <a:off x="324000" y="759300"/>
            <a:ext cx="82377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 calculate the perimeter of this triangle, we need to know the length of the third edge. </a:t>
            </a:r>
            <a:endParaRPr sz="1800"/>
          </a:p>
        </p:txBody>
      </p:sp>
      <p:sp>
        <p:nvSpPr>
          <p:cNvPr id="975" name="Google Shape;975;p75"/>
          <p:cNvSpPr txBox="1"/>
          <p:nvPr>
            <p:ph idx="1" type="body"/>
          </p:nvPr>
        </p:nvSpPr>
        <p:spPr>
          <a:xfrm>
            <a:off x="4320000" y="1216500"/>
            <a:ext cx="44703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Pythagoras’ theorem and the trigonometric functions require right-angled triangles. </a:t>
            </a:r>
            <a:endParaRPr sz="1800"/>
          </a:p>
        </p:txBody>
      </p:sp>
      <p:sp>
        <p:nvSpPr>
          <p:cNvPr id="976" name="Google Shape;976;p75"/>
          <p:cNvSpPr txBox="1"/>
          <p:nvPr>
            <p:ph idx="1" type="body"/>
          </p:nvPr>
        </p:nvSpPr>
        <p:spPr>
          <a:xfrm>
            <a:off x="4320000" y="2283300"/>
            <a:ext cx="44703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Then Pythagoras’ theorem can be used to calculate the length of the third edge.</a:t>
            </a:r>
            <a:endParaRPr sz="1800"/>
          </a:p>
        </p:txBody>
      </p:sp>
      <p:cxnSp>
        <p:nvCxnSpPr>
          <p:cNvPr id="977" name="Google Shape;977;p75"/>
          <p:cNvCxnSpPr/>
          <p:nvPr/>
        </p:nvCxnSpPr>
        <p:spPr>
          <a:xfrm rot="5400000">
            <a:off x="2816100" y="2035650"/>
            <a:ext cx="1325700" cy="0"/>
          </a:xfrm>
          <a:prstGeom prst="straightConnector1">
            <a:avLst/>
          </a:prstGeom>
          <a:noFill/>
          <a:ln cap="flat" cmpd="sng" w="38100">
            <a:solidFill>
              <a:schemeClr val="dk2"/>
            </a:solidFill>
            <a:prstDash val="dash"/>
            <a:round/>
            <a:headEnd len="med" w="med" type="none"/>
            <a:tailEnd len="med" w="med" type="none"/>
          </a:ln>
        </p:spPr>
      </p:cxnSp>
      <p:sp>
        <p:nvSpPr>
          <p:cNvPr id="978" name="Google Shape;978;p75"/>
          <p:cNvSpPr/>
          <p:nvPr/>
        </p:nvSpPr>
        <p:spPr>
          <a:xfrm>
            <a:off x="3337350" y="2430150"/>
            <a:ext cx="141600" cy="1416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9" name="Google Shape;979;p75"/>
          <p:cNvSpPr/>
          <p:nvPr/>
        </p:nvSpPr>
        <p:spPr>
          <a:xfrm flipH="1">
            <a:off x="902475" y="3241025"/>
            <a:ext cx="2628000" cy="1197300"/>
          </a:xfrm>
          <a:prstGeom prst="rtTriangl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0" name="Google Shape;980;p75"/>
          <p:cNvSpPr/>
          <p:nvPr/>
        </p:nvSpPr>
        <p:spPr>
          <a:xfrm>
            <a:off x="115143" y="3659743"/>
            <a:ext cx="1595400" cy="1595400"/>
          </a:xfrm>
          <a:prstGeom prst="arc">
            <a:avLst>
              <a:gd fmla="val 2007985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1" name="Google Shape;981;p75"/>
          <p:cNvSpPr txBox="1"/>
          <p:nvPr/>
        </p:nvSpPr>
        <p:spPr>
          <a:xfrm>
            <a:off x="1749675" y="4100418"/>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35</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982" name="Google Shape;982;p75"/>
          <p:cNvCxnSpPr/>
          <p:nvPr/>
        </p:nvCxnSpPr>
        <p:spPr>
          <a:xfrm flipH="1" rot="10800000">
            <a:off x="859636" y="3074928"/>
            <a:ext cx="2628000" cy="1239900"/>
          </a:xfrm>
          <a:prstGeom prst="straightConnector1">
            <a:avLst/>
          </a:prstGeom>
          <a:noFill/>
          <a:ln cap="flat" cmpd="sng" w="38100">
            <a:solidFill>
              <a:schemeClr val="dk1"/>
            </a:solidFill>
            <a:prstDash val="solid"/>
            <a:round/>
            <a:headEnd len="med" w="med" type="triangle"/>
            <a:tailEnd len="med" w="med" type="triangle"/>
          </a:ln>
        </p:spPr>
      </p:cxnSp>
      <p:sp>
        <p:nvSpPr>
          <p:cNvPr id="983" name="Google Shape;983;p75"/>
          <p:cNvSpPr txBox="1"/>
          <p:nvPr>
            <p:ph idx="1" type="body"/>
          </p:nvPr>
        </p:nvSpPr>
        <p:spPr>
          <a:xfrm>
            <a:off x="1572180" y="335769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16 cm</a:t>
            </a:r>
            <a:endParaRPr sz="1800"/>
          </a:p>
        </p:txBody>
      </p:sp>
      <p:sp>
        <p:nvSpPr>
          <p:cNvPr id="984" name="Google Shape;984;p75"/>
          <p:cNvSpPr/>
          <p:nvPr/>
        </p:nvSpPr>
        <p:spPr>
          <a:xfrm>
            <a:off x="3389382" y="4296057"/>
            <a:ext cx="141600" cy="1416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85" name="Google Shape;985;p75"/>
          <p:cNvCxnSpPr/>
          <p:nvPr/>
        </p:nvCxnSpPr>
        <p:spPr>
          <a:xfrm>
            <a:off x="902475" y="4594350"/>
            <a:ext cx="2615400" cy="0"/>
          </a:xfrm>
          <a:prstGeom prst="straightConnector1">
            <a:avLst/>
          </a:prstGeom>
          <a:noFill/>
          <a:ln cap="flat" cmpd="sng" w="38100">
            <a:solidFill>
              <a:schemeClr val="dk1"/>
            </a:solidFill>
            <a:prstDash val="solid"/>
            <a:round/>
            <a:headEnd len="med" w="med" type="triangle"/>
            <a:tailEnd len="med" w="med" type="triangle"/>
          </a:ln>
        </p:spPr>
      </p:cxnSp>
      <p:cxnSp>
        <p:nvCxnSpPr>
          <p:cNvPr id="986" name="Google Shape;986;p75"/>
          <p:cNvCxnSpPr/>
          <p:nvPr/>
        </p:nvCxnSpPr>
        <p:spPr>
          <a:xfrm>
            <a:off x="3694300" y="3240000"/>
            <a:ext cx="0" cy="1201500"/>
          </a:xfrm>
          <a:prstGeom prst="straightConnector1">
            <a:avLst/>
          </a:prstGeom>
          <a:noFill/>
          <a:ln cap="flat" cmpd="sng" w="38100">
            <a:solidFill>
              <a:schemeClr val="dk1"/>
            </a:solidFill>
            <a:prstDash val="solid"/>
            <a:round/>
            <a:headEnd len="med" w="med" type="triangle"/>
            <a:tailEnd len="med" w="med" type="triangle"/>
          </a:ln>
        </p:spPr>
      </p:cxnSp>
      <p:sp>
        <p:nvSpPr>
          <p:cNvPr id="987" name="Google Shape;987;p75"/>
          <p:cNvSpPr txBox="1"/>
          <p:nvPr>
            <p:ph idx="1" type="body"/>
          </p:nvPr>
        </p:nvSpPr>
        <p:spPr>
          <a:xfrm>
            <a:off x="3781980" y="366249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9.17… cm</a:t>
            </a:r>
            <a:endParaRPr sz="1800"/>
          </a:p>
        </p:txBody>
      </p:sp>
      <p:sp>
        <p:nvSpPr>
          <p:cNvPr id="988" name="Google Shape;988;p75"/>
          <p:cNvSpPr txBox="1"/>
          <p:nvPr>
            <p:ph idx="1" type="body"/>
          </p:nvPr>
        </p:nvSpPr>
        <p:spPr>
          <a:xfrm>
            <a:off x="1648375" y="4576900"/>
            <a:ext cx="11874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13.10…</a:t>
            </a:r>
            <a:r>
              <a:rPr lang="en-GB" sz="1800"/>
              <a:t> cm</a:t>
            </a:r>
            <a:endParaRPr sz="1800"/>
          </a:p>
        </p:txBody>
      </p:sp>
      <p:sp>
        <p:nvSpPr>
          <p:cNvPr id="989" name="Google Shape;989;p75"/>
          <p:cNvSpPr txBox="1"/>
          <p:nvPr>
            <p:ph idx="1" type="body"/>
          </p:nvPr>
        </p:nvSpPr>
        <p:spPr>
          <a:xfrm>
            <a:off x="5670800" y="3094200"/>
            <a:ext cx="2628000" cy="37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baseline="30000" i="1" lang="en-GB" sz="2000">
                <a:latin typeface="Times New Roman"/>
                <a:ea typeface="Times New Roman"/>
                <a:cs typeface="Times New Roman"/>
                <a:sym typeface="Times New Roman"/>
              </a:rPr>
              <a:t>2</a:t>
            </a:r>
            <a:r>
              <a:rPr lang="en-GB" sz="2000">
                <a:latin typeface="Times New Roman"/>
                <a:ea typeface="Times New Roman"/>
                <a:cs typeface="Times New Roman"/>
                <a:sym typeface="Times New Roman"/>
              </a:rPr>
              <a:t>  = 4.10…</a:t>
            </a:r>
            <a:r>
              <a:rPr baseline="30000" lang="en-GB" sz="2000">
                <a:latin typeface="Times New Roman"/>
                <a:ea typeface="Times New Roman"/>
                <a:cs typeface="Times New Roman"/>
                <a:sym typeface="Times New Roman"/>
              </a:rPr>
              <a:t>2</a:t>
            </a:r>
            <a:r>
              <a:rPr lang="en-GB" sz="2000">
                <a:latin typeface="Times New Roman"/>
                <a:ea typeface="Times New Roman"/>
                <a:cs typeface="Times New Roman"/>
                <a:sym typeface="Times New Roman"/>
              </a:rPr>
              <a:t> + 9.17…</a:t>
            </a:r>
            <a:r>
              <a:rPr baseline="30000" lang="en-GB" sz="2000">
                <a:latin typeface="Times New Roman"/>
                <a:ea typeface="Times New Roman"/>
                <a:cs typeface="Times New Roman"/>
                <a:sym typeface="Times New Roman"/>
              </a:rPr>
              <a:t>2</a:t>
            </a:r>
            <a:endParaRPr baseline="30000" sz="1800"/>
          </a:p>
        </p:txBody>
      </p:sp>
      <p:sp>
        <p:nvSpPr>
          <p:cNvPr id="990" name="Google Shape;990;p75"/>
          <p:cNvSpPr txBox="1"/>
          <p:nvPr>
            <p:ph idx="1" type="body"/>
          </p:nvPr>
        </p:nvSpPr>
        <p:spPr>
          <a:xfrm>
            <a:off x="5670797" y="3475200"/>
            <a:ext cx="1711500" cy="37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baseline="30000" i="1" lang="en-GB" sz="2000">
                <a:latin typeface="Times New Roman"/>
                <a:ea typeface="Times New Roman"/>
                <a:cs typeface="Times New Roman"/>
                <a:sym typeface="Times New Roman"/>
              </a:rPr>
              <a:t>2</a:t>
            </a:r>
            <a:r>
              <a:rPr lang="en-GB" sz="2000">
                <a:latin typeface="Times New Roman"/>
                <a:ea typeface="Times New Roman"/>
                <a:cs typeface="Times New Roman"/>
                <a:sym typeface="Times New Roman"/>
              </a:rPr>
              <a:t>  = 101.084…</a:t>
            </a:r>
            <a:endParaRPr baseline="30000" sz="1800"/>
          </a:p>
        </p:txBody>
      </p:sp>
      <p:sp>
        <p:nvSpPr>
          <p:cNvPr id="991" name="Google Shape;991;p75"/>
          <p:cNvSpPr txBox="1"/>
          <p:nvPr>
            <p:ph idx="1" type="body"/>
          </p:nvPr>
        </p:nvSpPr>
        <p:spPr>
          <a:xfrm>
            <a:off x="5809675" y="3833758"/>
            <a:ext cx="1711500" cy="37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lang="en-GB" sz="2000">
                <a:latin typeface="Times New Roman"/>
                <a:ea typeface="Times New Roman"/>
                <a:cs typeface="Times New Roman"/>
                <a:sym typeface="Times New Roman"/>
              </a:rPr>
              <a:t> = 10.05…</a:t>
            </a:r>
            <a:endParaRPr baseline="30000" sz="1800"/>
          </a:p>
        </p:txBody>
      </p:sp>
      <p:cxnSp>
        <p:nvCxnSpPr>
          <p:cNvPr id="992" name="Google Shape;992;p75"/>
          <p:cNvCxnSpPr/>
          <p:nvPr/>
        </p:nvCxnSpPr>
        <p:spPr>
          <a:xfrm>
            <a:off x="3623744" y="1370278"/>
            <a:ext cx="0" cy="1201500"/>
          </a:xfrm>
          <a:prstGeom prst="straightConnector1">
            <a:avLst/>
          </a:prstGeom>
          <a:noFill/>
          <a:ln cap="flat" cmpd="sng" w="38100">
            <a:solidFill>
              <a:schemeClr val="dk1"/>
            </a:solidFill>
            <a:prstDash val="solid"/>
            <a:round/>
            <a:headEnd len="med" w="med" type="triangle"/>
            <a:tailEnd len="med" w="med" type="triangle"/>
          </a:ln>
        </p:spPr>
      </p:cxnSp>
      <p:sp>
        <p:nvSpPr>
          <p:cNvPr id="993" name="Google Shape;993;p75"/>
          <p:cNvSpPr txBox="1"/>
          <p:nvPr>
            <p:ph idx="1" type="body"/>
          </p:nvPr>
        </p:nvSpPr>
        <p:spPr>
          <a:xfrm>
            <a:off x="3711424" y="1792776"/>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9.17… cm</a:t>
            </a:r>
            <a:endParaRPr sz="1800"/>
          </a:p>
        </p:txBody>
      </p:sp>
      <p:cxnSp>
        <p:nvCxnSpPr>
          <p:cNvPr id="994" name="Google Shape;994;p75"/>
          <p:cNvCxnSpPr/>
          <p:nvPr/>
        </p:nvCxnSpPr>
        <p:spPr>
          <a:xfrm>
            <a:off x="2541507" y="2715535"/>
            <a:ext cx="914700" cy="0"/>
          </a:xfrm>
          <a:prstGeom prst="straightConnector1">
            <a:avLst/>
          </a:prstGeom>
          <a:noFill/>
          <a:ln cap="flat" cmpd="sng" w="38100">
            <a:solidFill>
              <a:schemeClr val="dk1"/>
            </a:solidFill>
            <a:prstDash val="solid"/>
            <a:round/>
            <a:headEnd len="med" w="med" type="triangle"/>
            <a:tailEnd len="med" w="med" type="triangle"/>
          </a:ln>
        </p:spPr>
      </p:cxnSp>
      <p:sp>
        <p:nvSpPr>
          <p:cNvPr id="995" name="Google Shape;995;p75"/>
          <p:cNvSpPr txBox="1"/>
          <p:nvPr>
            <p:ph idx="1" type="body"/>
          </p:nvPr>
        </p:nvSpPr>
        <p:spPr>
          <a:xfrm>
            <a:off x="2647802" y="2764983"/>
            <a:ext cx="10617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4.10…</a:t>
            </a:r>
            <a:r>
              <a:rPr lang="en-GB" sz="1800"/>
              <a:t> cm</a:t>
            </a:r>
            <a:endParaRPr sz="1800"/>
          </a:p>
        </p:txBody>
      </p:sp>
      <p:cxnSp>
        <p:nvCxnSpPr>
          <p:cNvPr id="996" name="Google Shape;996;p75"/>
          <p:cNvCxnSpPr/>
          <p:nvPr/>
        </p:nvCxnSpPr>
        <p:spPr>
          <a:xfrm flipH="1" rot="10800000">
            <a:off x="2654100" y="1398688"/>
            <a:ext cx="940200" cy="1192500"/>
          </a:xfrm>
          <a:prstGeom prst="straightConnector1">
            <a:avLst/>
          </a:prstGeom>
          <a:noFill/>
          <a:ln cap="flat" cmpd="sng" w="38100">
            <a:solidFill>
              <a:schemeClr val="dk1"/>
            </a:solidFill>
            <a:prstDash val="solid"/>
            <a:round/>
            <a:headEnd len="med" w="med" type="triangle"/>
            <a:tailEnd len="med" w="med" type="triangle"/>
          </a:ln>
        </p:spPr>
      </p:cxnSp>
      <p:sp>
        <p:nvSpPr>
          <p:cNvPr id="997" name="Google Shape;997;p75"/>
          <p:cNvSpPr txBox="1"/>
          <p:nvPr>
            <p:ph idx="1" type="body"/>
          </p:nvPr>
        </p:nvSpPr>
        <p:spPr>
          <a:xfrm>
            <a:off x="2372977" y="1874142"/>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i="1" lang="en-GB" sz="2000">
                <a:latin typeface="Times New Roman"/>
                <a:ea typeface="Times New Roman"/>
                <a:cs typeface="Times New Roman"/>
                <a:sym typeface="Times New Roman"/>
              </a:rPr>
              <a:t> </a:t>
            </a:r>
            <a:r>
              <a:rPr lang="en-GB" sz="1800"/>
              <a:t>cm</a:t>
            </a:r>
            <a:endParaRPr sz="1800"/>
          </a:p>
        </p:txBody>
      </p:sp>
      <p:sp>
        <p:nvSpPr>
          <p:cNvPr id="998" name="Google Shape;998;p75"/>
          <p:cNvSpPr txBox="1"/>
          <p:nvPr>
            <p:ph idx="1" type="body"/>
          </p:nvPr>
        </p:nvSpPr>
        <p:spPr>
          <a:xfrm>
            <a:off x="440675" y="3795000"/>
            <a:ext cx="5453100" cy="37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Perimeter</a:t>
            </a:r>
            <a:r>
              <a:rPr lang="en-GB" sz="2000">
                <a:latin typeface="Times New Roman"/>
                <a:ea typeface="Times New Roman"/>
                <a:cs typeface="Times New Roman"/>
                <a:sym typeface="Times New Roman"/>
              </a:rPr>
              <a:t> = 10.05 + 16 + 9 = 35.05 cm (2 d.p.)</a:t>
            </a:r>
            <a:endParaRPr baseline="30000"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7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7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8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76"/>
          <p:cNvSpPr/>
          <p:nvPr/>
        </p:nvSpPr>
        <p:spPr>
          <a:xfrm>
            <a:off x="7553955" y="3397180"/>
            <a:ext cx="111000" cy="1110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4" name="Google Shape;1004;p76"/>
          <p:cNvSpPr/>
          <p:nvPr/>
        </p:nvSpPr>
        <p:spPr>
          <a:xfrm>
            <a:off x="6387595" y="2581986"/>
            <a:ext cx="2030539" cy="939543"/>
          </a:xfrm>
          <a:custGeom>
            <a:rect b="b" l="l" r="r" t="t"/>
            <a:pathLst>
              <a:path extrusionOk="0" h="35391" w="76487">
                <a:moveTo>
                  <a:pt x="0" y="35291"/>
                </a:moveTo>
                <a:lnTo>
                  <a:pt x="48300" y="35391"/>
                </a:lnTo>
                <a:lnTo>
                  <a:pt x="76487" y="0"/>
                </a:lnTo>
                <a:close/>
              </a:path>
            </a:pathLst>
          </a:custGeom>
          <a:noFill/>
          <a:ln cap="flat" cmpd="sng" w="38100">
            <a:solidFill>
              <a:schemeClr val="dk1"/>
            </a:solidFill>
            <a:prstDash val="solid"/>
            <a:round/>
            <a:headEnd len="med" w="med" type="none"/>
            <a:tailEnd len="med" w="med" type="none"/>
          </a:ln>
        </p:spPr>
      </p:sp>
      <p:sp>
        <p:nvSpPr>
          <p:cNvPr id="1005" name="Google Shape;1005;p76"/>
          <p:cNvSpPr/>
          <p:nvPr/>
        </p:nvSpPr>
        <p:spPr>
          <a:xfrm rot="-1585609">
            <a:off x="4461620" y="3059099"/>
            <a:ext cx="111222" cy="111222"/>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6" name="Google Shape;1006;p76"/>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sp>
        <p:nvSpPr>
          <p:cNvPr id="1007" name="Google Shape;1007;p76"/>
          <p:cNvSpPr txBox="1"/>
          <p:nvPr>
            <p:ph type="title"/>
          </p:nvPr>
        </p:nvSpPr>
        <p:spPr>
          <a:xfrm>
            <a:off x="324000" y="748775"/>
            <a:ext cx="84960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Which additional lines are most useful to calculate the </a:t>
            </a:r>
            <a:r>
              <a:rPr lang="en-GB"/>
              <a:t>length</a:t>
            </a:r>
            <a:r>
              <a:rPr lang="en-GB"/>
              <a:t> of the third edge of the triangle?</a:t>
            </a:r>
            <a:endParaRPr/>
          </a:p>
        </p:txBody>
      </p:sp>
      <p:cxnSp>
        <p:nvCxnSpPr>
          <p:cNvPr id="1008" name="Google Shape;1008;p76"/>
          <p:cNvCxnSpPr/>
          <p:nvPr/>
        </p:nvCxnSpPr>
        <p:spPr>
          <a:xfrm>
            <a:off x="1752171" y="3521527"/>
            <a:ext cx="931800" cy="0"/>
          </a:xfrm>
          <a:prstGeom prst="straightConnector1">
            <a:avLst/>
          </a:prstGeom>
          <a:noFill/>
          <a:ln cap="flat" cmpd="sng" w="38100">
            <a:solidFill>
              <a:schemeClr val="dk2"/>
            </a:solidFill>
            <a:prstDash val="dash"/>
            <a:round/>
            <a:headEnd len="med" w="med" type="none"/>
            <a:tailEnd len="med" w="med" type="none"/>
          </a:ln>
        </p:spPr>
      </p:cxnSp>
      <p:sp>
        <p:nvSpPr>
          <p:cNvPr id="1009" name="Google Shape;1009;p76"/>
          <p:cNvSpPr/>
          <p:nvPr/>
        </p:nvSpPr>
        <p:spPr>
          <a:xfrm>
            <a:off x="650548" y="2581986"/>
            <a:ext cx="2030539" cy="939543"/>
          </a:xfrm>
          <a:custGeom>
            <a:rect b="b" l="l" r="r" t="t"/>
            <a:pathLst>
              <a:path extrusionOk="0" h="35391" w="76487">
                <a:moveTo>
                  <a:pt x="0" y="35291"/>
                </a:moveTo>
                <a:lnTo>
                  <a:pt x="48300" y="35391"/>
                </a:lnTo>
                <a:lnTo>
                  <a:pt x="76487" y="0"/>
                </a:lnTo>
                <a:close/>
              </a:path>
            </a:pathLst>
          </a:custGeom>
          <a:noFill/>
          <a:ln cap="flat" cmpd="sng" w="38100">
            <a:solidFill>
              <a:schemeClr val="dk1"/>
            </a:solidFill>
            <a:prstDash val="solid"/>
            <a:round/>
            <a:headEnd len="med" w="med" type="none"/>
            <a:tailEnd len="med" w="med" type="none"/>
          </a:ln>
        </p:spPr>
      </p:sp>
      <p:cxnSp>
        <p:nvCxnSpPr>
          <p:cNvPr id="1010" name="Google Shape;1010;p76"/>
          <p:cNvCxnSpPr/>
          <p:nvPr/>
        </p:nvCxnSpPr>
        <p:spPr>
          <a:xfrm rot="5400000">
            <a:off x="2159666" y="3100813"/>
            <a:ext cx="1040400" cy="0"/>
          </a:xfrm>
          <a:prstGeom prst="straightConnector1">
            <a:avLst/>
          </a:prstGeom>
          <a:noFill/>
          <a:ln cap="flat" cmpd="sng" w="38100">
            <a:solidFill>
              <a:schemeClr val="dk2"/>
            </a:solidFill>
            <a:prstDash val="dash"/>
            <a:round/>
            <a:headEnd len="med" w="med" type="none"/>
            <a:tailEnd len="med" w="med" type="none"/>
          </a:ln>
        </p:spPr>
      </p:cxnSp>
      <p:sp>
        <p:nvSpPr>
          <p:cNvPr id="1011" name="Google Shape;1011;p76"/>
          <p:cNvSpPr/>
          <p:nvPr/>
        </p:nvSpPr>
        <p:spPr>
          <a:xfrm>
            <a:off x="2568740" y="3410402"/>
            <a:ext cx="111000" cy="1110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12" name="Google Shape;1012;p76"/>
          <p:cNvCxnSpPr/>
          <p:nvPr/>
        </p:nvCxnSpPr>
        <p:spPr>
          <a:xfrm flipH="1" rot="10800000">
            <a:off x="599574" y="2452681"/>
            <a:ext cx="2062500" cy="973200"/>
          </a:xfrm>
          <a:prstGeom prst="straightConnector1">
            <a:avLst/>
          </a:prstGeom>
          <a:noFill/>
          <a:ln cap="flat" cmpd="sng" w="38100">
            <a:solidFill>
              <a:schemeClr val="dk1"/>
            </a:solidFill>
            <a:prstDash val="solid"/>
            <a:round/>
            <a:headEnd len="med" w="med" type="triangle"/>
            <a:tailEnd len="med" w="med" type="triangle"/>
          </a:ln>
        </p:spPr>
      </p:cxnSp>
      <p:sp>
        <p:nvSpPr>
          <p:cNvPr id="1013" name="Google Shape;1013;p76"/>
          <p:cNvSpPr txBox="1"/>
          <p:nvPr>
            <p:ph idx="4294967295" type="body"/>
          </p:nvPr>
        </p:nvSpPr>
        <p:spPr>
          <a:xfrm>
            <a:off x="1192110" y="2640703"/>
            <a:ext cx="562800" cy="168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a:t>
            </a:r>
            <a:r>
              <a:rPr lang="en-GB" sz="1800"/>
              <a:t> cm</a:t>
            </a:r>
            <a:endParaRPr sz="1800"/>
          </a:p>
        </p:txBody>
      </p:sp>
      <p:cxnSp>
        <p:nvCxnSpPr>
          <p:cNvPr id="1014" name="Google Shape;1014;p76"/>
          <p:cNvCxnSpPr/>
          <p:nvPr/>
        </p:nvCxnSpPr>
        <p:spPr>
          <a:xfrm flipH="1" rot="10800000">
            <a:off x="2055791" y="2600782"/>
            <a:ext cx="738000" cy="936000"/>
          </a:xfrm>
          <a:prstGeom prst="straightConnector1">
            <a:avLst/>
          </a:prstGeom>
          <a:noFill/>
          <a:ln cap="flat" cmpd="sng" w="38100">
            <a:solidFill>
              <a:schemeClr val="dk1"/>
            </a:solidFill>
            <a:prstDash val="solid"/>
            <a:round/>
            <a:headEnd len="med" w="med" type="triangle"/>
            <a:tailEnd len="med" w="med" type="triangle"/>
          </a:ln>
        </p:spPr>
      </p:cxnSp>
      <p:sp>
        <p:nvSpPr>
          <p:cNvPr id="1015" name="Google Shape;1015;p76"/>
          <p:cNvSpPr txBox="1"/>
          <p:nvPr>
            <p:ph idx="4294967295" type="body"/>
          </p:nvPr>
        </p:nvSpPr>
        <p:spPr>
          <a:xfrm>
            <a:off x="2474382" y="3033544"/>
            <a:ext cx="562800" cy="168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a:t>
            </a:r>
            <a:r>
              <a:rPr lang="en-GB" sz="1800"/>
              <a:t> cm</a:t>
            </a:r>
            <a:endParaRPr sz="1800"/>
          </a:p>
        </p:txBody>
      </p:sp>
      <p:sp>
        <p:nvSpPr>
          <p:cNvPr id="1016" name="Google Shape;1016;p76"/>
          <p:cNvSpPr txBox="1"/>
          <p:nvPr/>
        </p:nvSpPr>
        <p:spPr>
          <a:xfrm>
            <a:off x="1893077" y="2947950"/>
            <a:ext cx="612000" cy="251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21</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017" name="Google Shape;1017;p76"/>
          <p:cNvSpPr/>
          <p:nvPr/>
        </p:nvSpPr>
        <p:spPr>
          <a:xfrm>
            <a:off x="3516173" y="2581986"/>
            <a:ext cx="2030539" cy="939543"/>
          </a:xfrm>
          <a:custGeom>
            <a:rect b="b" l="l" r="r" t="t"/>
            <a:pathLst>
              <a:path extrusionOk="0" h="35391" w="76487">
                <a:moveTo>
                  <a:pt x="0" y="35291"/>
                </a:moveTo>
                <a:lnTo>
                  <a:pt x="48300" y="35391"/>
                </a:lnTo>
                <a:lnTo>
                  <a:pt x="76487" y="0"/>
                </a:lnTo>
                <a:close/>
              </a:path>
            </a:pathLst>
          </a:custGeom>
          <a:noFill/>
          <a:ln cap="flat" cmpd="sng" w="38100">
            <a:solidFill>
              <a:schemeClr val="dk1"/>
            </a:solidFill>
            <a:prstDash val="solid"/>
            <a:round/>
            <a:headEnd len="med" w="med" type="none"/>
            <a:tailEnd len="med" w="med" type="none"/>
          </a:ln>
        </p:spPr>
      </p:sp>
      <p:cxnSp>
        <p:nvCxnSpPr>
          <p:cNvPr id="1018" name="Google Shape;1018;p76"/>
          <p:cNvCxnSpPr/>
          <p:nvPr/>
        </p:nvCxnSpPr>
        <p:spPr>
          <a:xfrm flipH="1" rot="10800000">
            <a:off x="3465200" y="2452681"/>
            <a:ext cx="2062500" cy="973200"/>
          </a:xfrm>
          <a:prstGeom prst="straightConnector1">
            <a:avLst/>
          </a:prstGeom>
          <a:noFill/>
          <a:ln cap="flat" cmpd="sng" w="38100">
            <a:solidFill>
              <a:schemeClr val="dk1"/>
            </a:solidFill>
            <a:prstDash val="solid"/>
            <a:round/>
            <a:headEnd len="med" w="med" type="triangle"/>
            <a:tailEnd len="med" w="med" type="triangle"/>
          </a:ln>
        </p:spPr>
      </p:cxnSp>
      <p:sp>
        <p:nvSpPr>
          <p:cNvPr id="1019" name="Google Shape;1019;p76"/>
          <p:cNvSpPr txBox="1"/>
          <p:nvPr>
            <p:ph idx="4294967295" type="body"/>
          </p:nvPr>
        </p:nvSpPr>
        <p:spPr>
          <a:xfrm>
            <a:off x="4084194" y="2658342"/>
            <a:ext cx="562800" cy="168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 cm</a:t>
            </a:r>
            <a:endParaRPr sz="1800"/>
          </a:p>
        </p:txBody>
      </p:sp>
      <p:cxnSp>
        <p:nvCxnSpPr>
          <p:cNvPr id="1020" name="Google Shape;1020;p76"/>
          <p:cNvCxnSpPr/>
          <p:nvPr/>
        </p:nvCxnSpPr>
        <p:spPr>
          <a:xfrm flipH="1" rot="10800000">
            <a:off x="4921416" y="2600782"/>
            <a:ext cx="738000" cy="936000"/>
          </a:xfrm>
          <a:prstGeom prst="straightConnector1">
            <a:avLst/>
          </a:prstGeom>
          <a:noFill/>
          <a:ln cap="flat" cmpd="sng" w="38100">
            <a:solidFill>
              <a:schemeClr val="dk1"/>
            </a:solidFill>
            <a:prstDash val="solid"/>
            <a:round/>
            <a:headEnd len="med" w="med" type="triangle"/>
            <a:tailEnd len="med" w="med" type="triangle"/>
          </a:ln>
        </p:spPr>
      </p:cxnSp>
      <p:sp>
        <p:nvSpPr>
          <p:cNvPr id="1021" name="Google Shape;1021;p76"/>
          <p:cNvSpPr txBox="1"/>
          <p:nvPr>
            <p:ph idx="4294967295" type="body"/>
          </p:nvPr>
        </p:nvSpPr>
        <p:spPr>
          <a:xfrm>
            <a:off x="5340007" y="3033544"/>
            <a:ext cx="562800" cy="168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 cm</a:t>
            </a:r>
            <a:endParaRPr sz="1800"/>
          </a:p>
        </p:txBody>
      </p:sp>
      <p:sp>
        <p:nvSpPr>
          <p:cNvPr id="1022" name="Google Shape;1022;p76"/>
          <p:cNvSpPr/>
          <p:nvPr/>
        </p:nvSpPr>
        <p:spPr>
          <a:xfrm>
            <a:off x="4938846" y="1983348"/>
            <a:ext cx="1251900" cy="1251900"/>
          </a:xfrm>
          <a:prstGeom prst="arc">
            <a:avLst>
              <a:gd fmla="val 7881710" name="adj1"/>
              <a:gd fmla="val 9392137"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3" name="Google Shape;1023;p76"/>
          <p:cNvSpPr txBox="1"/>
          <p:nvPr/>
        </p:nvSpPr>
        <p:spPr>
          <a:xfrm>
            <a:off x="4758702" y="2947950"/>
            <a:ext cx="612000" cy="251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21</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1024" name="Google Shape;1024;p76"/>
          <p:cNvCxnSpPr/>
          <p:nvPr/>
        </p:nvCxnSpPr>
        <p:spPr>
          <a:xfrm rot="10800000">
            <a:off x="4542797" y="3047740"/>
            <a:ext cx="256500" cy="475200"/>
          </a:xfrm>
          <a:prstGeom prst="straightConnector1">
            <a:avLst/>
          </a:prstGeom>
          <a:noFill/>
          <a:ln cap="flat" cmpd="sng" w="38100">
            <a:solidFill>
              <a:schemeClr val="dk2"/>
            </a:solidFill>
            <a:prstDash val="dash"/>
            <a:round/>
            <a:headEnd len="med" w="med" type="none"/>
            <a:tailEnd len="med" w="med" type="none"/>
          </a:ln>
        </p:spPr>
      </p:cxnSp>
      <p:cxnSp>
        <p:nvCxnSpPr>
          <p:cNvPr id="1025" name="Google Shape;1025;p76"/>
          <p:cNvCxnSpPr/>
          <p:nvPr/>
        </p:nvCxnSpPr>
        <p:spPr>
          <a:xfrm flipH="1" rot="10800000">
            <a:off x="6336621" y="2452681"/>
            <a:ext cx="2062500" cy="973200"/>
          </a:xfrm>
          <a:prstGeom prst="straightConnector1">
            <a:avLst/>
          </a:prstGeom>
          <a:noFill/>
          <a:ln cap="flat" cmpd="sng" w="38100">
            <a:solidFill>
              <a:schemeClr val="dk1"/>
            </a:solidFill>
            <a:prstDash val="solid"/>
            <a:round/>
            <a:headEnd len="med" w="med" type="triangle"/>
            <a:tailEnd len="med" w="med" type="triangle"/>
          </a:ln>
        </p:spPr>
      </p:cxnSp>
      <p:sp>
        <p:nvSpPr>
          <p:cNvPr id="1026" name="Google Shape;1026;p76"/>
          <p:cNvSpPr txBox="1"/>
          <p:nvPr>
            <p:ph idx="4294967295" type="body"/>
          </p:nvPr>
        </p:nvSpPr>
        <p:spPr>
          <a:xfrm>
            <a:off x="6955615" y="2658342"/>
            <a:ext cx="562800" cy="168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 cm</a:t>
            </a:r>
            <a:endParaRPr sz="1800"/>
          </a:p>
        </p:txBody>
      </p:sp>
      <p:cxnSp>
        <p:nvCxnSpPr>
          <p:cNvPr id="1027" name="Google Shape;1027;p76"/>
          <p:cNvCxnSpPr/>
          <p:nvPr/>
        </p:nvCxnSpPr>
        <p:spPr>
          <a:xfrm flipH="1" rot="10800000">
            <a:off x="7792838" y="2600782"/>
            <a:ext cx="738000" cy="936000"/>
          </a:xfrm>
          <a:prstGeom prst="straightConnector1">
            <a:avLst/>
          </a:prstGeom>
          <a:noFill/>
          <a:ln cap="flat" cmpd="sng" w="38100">
            <a:solidFill>
              <a:schemeClr val="dk1"/>
            </a:solidFill>
            <a:prstDash val="solid"/>
            <a:round/>
            <a:headEnd len="med" w="med" type="triangle"/>
            <a:tailEnd len="med" w="med" type="triangle"/>
          </a:ln>
        </p:spPr>
      </p:cxnSp>
      <p:sp>
        <p:nvSpPr>
          <p:cNvPr id="1028" name="Google Shape;1028;p76"/>
          <p:cNvSpPr txBox="1"/>
          <p:nvPr>
            <p:ph idx="4294967295" type="body"/>
          </p:nvPr>
        </p:nvSpPr>
        <p:spPr>
          <a:xfrm>
            <a:off x="8211429" y="3033544"/>
            <a:ext cx="562800" cy="168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 cm</a:t>
            </a:r>
            <a:endParaRPr sz="1800"/>
          </a:p>
        </p:txBody>
      </p:sp>
      <p:sp>
        <p:nvSpPr>
          <p:cNvPr id="1029" name="Google Shape;1029;p76"/>
          <p:cNvSpPr/>
          <p:nvPr/>
        </p:nvSpPr>
        <p:spPr>
          <a:xfrm>
            <a:off x="7810268" y="1983348"/>
            <a:ext cx="1251900" cy="1251900"/>
          </a:xfrm>
          <a:prstGeom prst="arc">
            <a:avLst>
              <a:gd fmla="val 7881710" name="adj1"/>
              <a:gd fmla="val 9392137"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30" name="Google Shape;1030;p76"/>
          <p:cNvCxnSpPr/>
          <p:nvPr/>
        </p:nvCxnSpPr>
        <p:spPr>
          <a:xfrm rot="10800000">
            <a:off x="7670719" y="2916340"/>
            <a:ext cx="0" cy="606600"/>
          </a:xfrm>
          <a:prstGeom prst="straightConnector1">
            <a:avLst/>
          </a:prstGeom>
          <a:noFill/>
          <a:ln cap="flat" cmpd="sng" w="38100">
            <a:solidFill>
              <a:schemeClr val="dk2"/>
            </a:solidFill>
            <a:prstDash val="dash"/>
            <a:round/>
            <a:headEnd len="med" w="med" type="none"/>
            <a:tailEnd len="med" w="med" type="none"/>
          </a:ln>
        </p:spPr>
      </p:cxnSp>
      <p:sp>
        <p:nvSpPr>
          <p:cNvPr id="1031" name="Google Shape;1031;p76"/>
          <p:cNvSpPr txBox="1"/>
          <p:nvPr/>
        </p:nvSpPr>
        <p:spPr>
          <a:xfrm>
            <a:off x="7630124" y="2947950"/>
            <a:ext cx="612000" cy="251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21</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032" name="Google Shape;1032;p76"/>
          <p:cNvSpPr/>
          <p:nvPr/>
        </p:nvSpPr>
        <p:spPr>
          <a:xfrm>
            <a:off x="2092988" y="1956890"/>
            <a:ext cx="1251900" cy="1251900"/>
          </a:xfrm>
          <a:prstGeom prst="arc">
            <a:avLst>
              <a:gd fmla="val 7881710" name="adj1"/>
              <a:gd fmla="val 9392137"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033" name="Google Shape;1033;p76"/>
          <p:cNvPicPr preferRelativeResize="0"/>
          <p:nvPr/>
        </p:nvPicPr>
        <p:blipFill>
          <a:blip r:embed="rId3">
            <a:alphaModFix/>
          </a:blip>
          <a:stretch>
            <a:fillRect/>
          </a:stretch>
        </p:blipFill>
        <p:spPr>
          <a:xfrm>
            <a:off x="5131708" y="385835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77"/>
          <p:cNvSpPr txBox="1"/>
          <p:nvPr>
            <p:ph idx="1" type="body"/>
          </p:nvPr>
        </p:nvSpPr>
        <p:spPr>
          <a:xfrm>
            <a:off x="324000" y="759300"/>
            <a:ext cx="8237700" cy="48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This diagram contains three triangles, can you find them?</a:t>
            </a:r>
            <a:endParaRPr sz="1800"/>
          </a:p>
        </p:txBody>
      </p:sp>
      <p:sp>
        <p:nvSpPr>
          <p:cNvPr id="1039" name="Google Shape;1039;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grpSp>
        <p:nvGrpSpPr>
          <p:cNvPr id="1040" name="Google Shape;1040;p77"/>
          <p:cNvGrpSpPr/>
          <p:nvPr/>
        </p:nvGrpSpPr>
        <p:grpSpPr>
          <a:xfrm>
            <a:off x="445206" y="1486425"/>
            <a:ext cx="2497968" cy="1921969"/>
            <a:chOff x="-2048113" y="1348705"/>
            <a:chExt cx="986988" cy="1890213"/>
          </a:xfrm>
        </p:grpSpPr>
        <p:sp>
          <p:nvSpPr>
            <p:cNvPr id="1041" name="Google Shape;1041;p77"/>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42" name="Google Shape;1042;p77"/>
            <p:cNvCxnSpPr/>
            <p:nvPr/>
          </p:nvCxnSpPr>
          <p:spPr>
            <a:xfrm flipH="1">
              <a:off x="-2048113" y="134870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043" name="Google Shape;1043;p77"/>
            <p:cNvCxnSpPr/>
            <p:nvPr/>
          </p:nvCxnSpPr>
          <p:spPr>
            <a:xfrm rot="10800000">
              <a:off x="-2025104" y="3238918"/>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044" name="Google Shape;1044;p77"/>
          <p:cNvSpPr/>
          <p:nvPr/>
        </p:nvSpPr>
        <p:spPr>
          <a:xfrm>
            <a:off x="2744733" y="3089333"/>
            <a:ext cx="198300" cy="1983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5" name="Google Shape;1045;p77"/>
          <p:cNvSpPr txBox="1"/>
          <p:nvPr>
            <p:ph idx="1" type="body"/>
          </p:nvPr>
        </p:nvSpPr>
        <p:spPr>
          <a:xfrm>
            <a:off x="1392973" y="341300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a:t>
            </a:r>
            <a:r>
              <a:rPr lang="en-GB" sz="1800"/>
              <a:t> cm</a:t>
            </a:r>
            <a:endParaRPr sz="1800"/>
          </a:p>
        </p:txBody>
      </p:sp>
      <p:sp>
        <p:nvSpPr>
          <p:cNvPr id="1046" name="Google Shape;1046;p77"/>
          <p:cNvSpPr txBox="1"/>
          <p:nvPr>
            <p:ph idx="1" type="body"/>
          </p:nvPr>
        </p:nvSpPr>
        <p:spPr>
          <a:xfrm>
            <a:off x="1371192" y="296201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31</a:t>
            </a:r>
            <a:r>
              <a:rPr lang="en-GB" sz="1800"/>
              <a:t>°</a:t>
            </a:r>
            <a:endParaRPr sz="1800"/>
          </a:p>
        </p:txBody>
      </p:sp>
      <p:cxnSp>
        <p:nvCxnSpPr>
          <p:cNvPr id="1047" name="Google Shape;1047;p77"/>
          <p:cNvCxnSpPr>
            <a:stCxn id="1041" idx="0"/>
          </p:cNvCxnSpPr>
          <p:nvPr/>
        </p:nvCxnSpPr>
        <p:spPr>
          <a:xfrm flipH="1" rot="10800000">
            <a:off x="511233" y="2236623"/>
            <a:ext cx="2433600" cy="1055100"/>
          </a:xfrm>
          <a:prstGeom prst="straightConnector1">
            <a:avLst/>
          </a:prstGeom>
          <a:noFill/>
          <a:ln cap="flat" cmpd="sng" w="28575">
            <a:solidFill>
              <a:schemeClr val="dk1"/>
            </a:solidFill>
            <a:prstDash val="solid"/>
            <a:round/>
            <a:headEnd len="med" w="med" type="none"/>
            <a:tailEnd len="med" w="med" type="none"/>
          </a:ln>
        </p:spPr>
      </p:cxnSp>
      <p:sp>
        <p:nvSpPr>
          <p:cNvPr id="1048" name="Google Shape;1048;p77"/>
          <p:cNvSpPr txBox="1"/>
          <p:nvPr>
            <p:ph idx="1" type="body"/>
          </p:nvPr>
        </p:nvSpPr>
        <p:spPr>
          <a:xfrm>
            <a:off x="2546701" y="1961757"/>
            <a:ext cx="4167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65</a:t>
            </a:r>
            <a:r>
              <a:rPr lang="en-GB" sz="1800"/>
              <a:t>°</a:t>
            </a:r>
            <a:endParaRPr sz="1800"/>
          </a:p>
        </p:txBody>
      </p:sp>
      <p:sp>
        <p:nvSpPr>
          <p:cNvPr id="1049" name="Google Shape;1049;p77"/>
          <p:cNvSpPr/>
          <p:nvPr/>
        </p:nvSpPr>
        <p:spPr>
          <a:xfrm>
            <a:off x="-88353" y="2500983"/>
            <a:ext cx="1431900" cy="1434900"/>
          </a:xfrm>
          <a:prstGeom prst="arc">
            <a:avLst>
              <a:gd fmla="val 20282147" name="adj1"/>
              <a:gd fmla="val 39899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0" name="Google Shape;1050;p77"/>
          <p:cNvSpPr/>
          <p:nvPr/>
        </p:nvSpPr>
        <p:spPr>
          <a:xfrm>
            <a:off x="2554243" y="1187076"/>
            <a:ext cx="755100" cy="756600"/>
          </a:xfrm>
          <a:prstGeom prst="arc">
            <a:avLst>
              <a:gd fmla="val 5344763" name="adj1"/>
              <a:gd fmla="val 8398834"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51" name="Google Shape;1051;p77"/>
          <p:cNvCxnSpPr/>
          <p:nvPr/>
        </p:nvCxnSpPr>
        <p:spPr>
          <a:xfrm>
            <a:off x="3048318" y="1579375"/>
            <a:ext cx="0" cy="638100"/>
          </a:xfrm>
          <a:prstGeom prst="straightConnector1">
            <a:avLst/>
          </a:prstGeom>
          <a:noFill/>
          <a:ln cap="flat" cmpd="sng" w="28575">
            <a:solidFill>
              <a:srgbClr val="845AD9"/>
            </a:solidFill>
            <a:prstDash val="solid"/>
            <a:round/>
            <a:headEnd len="med" w="med" type="triangle"/>
            <a:tailEnd len="med" w="med" type="triangle"/>
          </a:ln>
        </p:spPr>
      </p:cxnSp>
      <p:sp>
        <p:nvSpPr>
          <p:cNvPr id="1052" name="Google Shape;1052;p77"/>
          <p:cNvSpPr txBox="1"/>
          <p:nvPr>
            <p:ph idx="1" type="body"/>
          </p:nvPr>
        </p:nvSpPr>
        <p:spPr>
          <a:xfrm>
            <a:off x="1021357" y="204140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14</a:t>
            </a:r>
            <a:r>
              <a:rPr lang="en-GB" sz="1800"/>
              <a:t> cm</a:t>
            </a:r>
            <a:endParaRPr sz="1800"/>
          </a:p>
        </p:txBody>
      </p:sp>
      <p:sp>
        <p:nvSpPr>
          <p:cNvPr id="1053" name="Google Shape;1053;p77"/>
          <p:cNvSpPr/>
          <p:nvPr/>
        </p:nvSpPr>
        <p:spPr>
          <a:xfrm rot="-5400000">
            <a:off x="867608" y="1225873"/>
            <a:ext cx="1696200" cy="2431800"/>
          </a:xfrm>
          <a:prstGeom prst="rtTriangle">
            <a:avLst/>
          </a:prstGeom>
          <a:solidFill>
            <a:srgbClr val="F3EEFB"/>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4" name="Google Shape;1054;p77"/>
          <p:cNvSpPr/>
          <p:nvPr/>
        </p:nvSpPr>
        <p:spPr>
          <a:xfrm rot="-5400000">
            <a:off x="1200713" y="1548275"/>
            <a:ext cx="1041900" cy="2431800"/>
          </a:xfrm>
          <a:prstGeom prst="rtTriangle">
            <a:avLst/>
          </a:prstGeom>
          <a:solidFill>
            <a:srgbClr val="F3EEFB"/>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5" name="Google Shape;1055;p77"/>
          <p:cNvSpPr/>
          <p:nvPr/>
        </p:nvSpPr>
        <p:spPr>
          <a:xfrm>
            <a:off x="505311" y="1598682"/>
            <a:ext cx="2432725" cy="1686200"/>
          </a:xfrm>
          <a:custGeom>
            <a:rect b="b" l="l" r="r" t="t"/>
            <a:pathLst>
              <a:path extrusionOk="0" h="67448" w="97309">
                <a:moveTo>
                  <a:pt x="97052" y="0"/>
                </a:moveTo>
                <a:lnTo>
                  <a:pt x="97309" y="25744"/>
                </a:lnTo>
                <a:lnTo>
                  <a:pt x="0" y="67448"/>
                </a:lnTo>
                <a:close/>
              </a:path>
            </a:pathLst>
          </a:custGeom>
          <a:solidFill>
            <a:srgbClr val="F3EEFB"/>
          </a:solidFill>
          <a:ln cap="flat" cmpd="sng" w="28575">
            <a:solidFill>
              <a:schemeClr val="dk1"/>
            </a:solidFill>
            <a:prstDash val="solid"/>
            <a:round/>
            <a:headEnd len="med" w="med" type="none"/>
            <a:tailEnd len="med" w="med" type="none"/>
          </a:ln>
        </p:spPr>
      </p:sp>
      <p:sp>
        <p:nvSpPr>
          <p:cNvPr id="1056" name="Google Shape;1056;p77"/>
          <p:cNvSpPr/>
          <p:nvPr/>
        </p:nvSpPr>
        <p:spPr>
          <a:xfrm rot="-5400000">
            <a:off x="874044" y="1225873"/>
            <a:ext cx="1696200" cy="2431800"/>
          </a:xfrm>
          <a:prstGeom prst="rtTriangle">
            <a:avLst/>
          </a:prstGeom>
          <a:solidFill>
            <a:srgbClr val="F3EEFB"/>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7" name="Google Shape;1057;p77"/>
          <p:cNvSpPr txBox="1"/>
          <p:nvPr>
            <p:ph idx="1" type="body"/>
          </p:nvPr>
        </p:nvSpPr>
        <p:spPr>
          <a:xfrm>
            <a:off x="3981600" y="1292700"/>
            <a:ext cx="4838400" cy="48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Focussing on this triangle, we can calculate the length of the third edge by using </a:t>
            </a:r>
            <a:r>
              <a:rPr lang="en-GB" sz="1800">
                <a:solidFill>
                  <a:schemeClr val="accent4"/>
                </a:solidFill>
              </a:rPr>
              <a:t>Pythagoras’ theorem</a:t>
            </a:r>
            <a:r>
              <a:rPr lang="en-GB" sz="1800"/>
              <a:t>.</a:t>
            </a:r>
            <a:endParaRPr sz="1800"/>
          </a:p>
        </p:txBody>
      </p:sp>
      <p:sp>
        <p:nvSpPr>
          <p:cNvPr id="1058" name="Google Shape;1058;p77"/>
          <p:cNvSpPr/>
          <p:nvPr/>
        </p:nvSpPr>
        <p:spPr>
          <a:xfrm>
            <a:off x="2760311" y="3104911"/>
            <a:ext cx="180000" cy="180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9" name="Google Shape;1059;p77"/>
          <p:cNvSpPr txBox="1"/>
          <p:nvPr>
            <p:ph idx="1" type="body"/>
          </p:nvPr>
        </p:nvSpPr>
        <p:spPr>
          <a:xfrm>
            <a:off x="4482245" y="2464800"/>
            <a:ext cx="36906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14</a:t>
            </a:r>
            <a:r>
              <a:rPr baseline="30000" lang="en-GB" sz="2000">
                <a:latin typeface="Times New Roman"/>
                <a:ea typeface="Times New Roman"/>
                <a:cs typeface="Times New Roman"/>
                <a:sym typeface="Times New Roman"/>
              </a:rPr>
              <a:t>2 </a:t>
            </a:r>
            <a:r>
              <a:rPr lang="en-GB" sz="2000">
                <a:latin typeface="Times New Roman"/>
                <a:ea typeface="Times New Roman"/>
                <a:cs typeface="Times New Roman"/>
                <a:sym typeface="Times New Roman"/>
              </a:rPr>
              <a:t>= 9</a:t>
            </a:r>
            <a:r>
              <a:rPr baseline="30000" lang="en-GB" sz="2000">
                <a:latin typeface="Times New Roman"/>
                <a:ea typeface="Times New Roman"/>
                <a:cs typeface="Times New Roman"/>
                <a:sym typeface="Times New Roman"/>
              </a:rPr>
              <a:t>2 </a:t>
            </a:r>
            <a:r>
              <a:rPr lang="en-GB" sz="2000">
                <a:latin typeface="Times New Roman"/>
                <a:ea typeface="Times New Roman"/>
                <a:cs typeface="Times New Roman"/>
                <a:sym typeface="Times New Roman"/>
              </a:rPr>
              <a:t>+ </a:t>
            </a:r>
            <a:r>
              <a:rPr i="1" lang="en-GB" sz="2000">
                <a:latin typeface="Times New Roman"/>
                <a:ea typeface="Times New Roman"/>
                <a:cs typeface="Times New Roman"/>
                <a:sym typeface="Times New Roman"/>
              </a:rPr>
              <a:t>a</a:t>
            </a:r>
            <a:r>
              <a:rPr baseline="30000" lang="en-GB" sz="2000">
                <a:latin typeface="Times New Roman"/>
                <a:ea typeface="Times New Roman"/>
                <a:cs typeface="Times New Roman"/>
                <a:sym typeface="Times New Roman"/>
              </a:rPr>
              <a:t>2</a:t>
            </a:r>
            <a:endParaRPr baseline="30000" sz="2000">
              <a:latin typeface="Times New Roman"/>
              <a:ea typeface="Times New Roman"/>
              <a:cs typeface="Times New Roman"/>
              <a:sym typeface="Times New Roman"/>
            </a:endParaRPr>
          </a:p>
        </p:txBody>
      </p:sp>
      <p:sp>
        <p:nvSpPr>
          <p:cNvPr id="1060" name="Google Shape;1060;p77"/>
          <p:cNvSpPr txBox="1"/>
          <p:nvPr>
            <p:ph idx="1" type="body"/>
          </p:nvPr>
        </p:nvSpPr>
        <p:spPr>
          <a:xfrm>
            <a:off x="4555495" y="2811053"/>
            <a:ext cx="36906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 </a:t>
            </a:r>
            <a:r>
              <a:rPr i="1" lang="en-GB" sz="2000">
                <a:latin typeface="Times New Roman"/>
                <a:ea typeface="Times New Roman"/>
                <a:cs typeface="Times New Roman"/>
                <a:sym typeface="Times New Roman"/>
              </a:rPr>
              <a:t>a</a:t>
            </a:r>
            <a:r>
              <a:rPr baseline="30000" lang="en-GB" sz="2000">
                <a:latin typeface="Times New Roman"/>
                <a:ea typeface="Times New Roman"/>
                <a:cs typeface="Times New Roman"/>
                <a:sym typeface="Times New Roman"/>
              </a:rPr>
              <a:t>2</a:t>
            </a:r>
            <a:r>
              <a:rPr baseline="30000"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14</a:t>
            </a:r>
            <a:r>
              <a:rPr baseline="30000" lang="en-GB" sz="2000">
                <a:latin typeface="Times New Roman"/>
                <a:ea typeface="Times New Roman"/>
                <a:cs typeface="Times New Roman"/>
                <a:sym typeface="Times New Roman"/>
              </a:rPr>
              <a:t>2</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- 9</a:t>
            </a:r>
            <a:r>
              <a:rPr baseline="30000" lang="en-GB" sz="2000">
                <a:latin typeface="Times New Roman"/>
                <a:ea typeface="Times New Roman"/>
                <a:cs typeface="Times New Roman"/>
                <a:sym typeface="Times New Roman"/>
              </a:rPr>
              <a:t>2</a:t>
            </a:r>
            <a:endParaRPr baseline="30000" sz="2000">
              <a:latin typeface="Times New Roman"/>
              <a:ea typeface="Times New Roman"/>
              <a:cs typeface="Times New Roman"/>
              <a:sym typeface="Times New Roman"/>
            </a:endParaRPr>
          </a:p>
        </p:txBody>
      </p:sp>
      <p:sp>
        <p:nvSpPr>
          <p:cNvPr id="1061" name="Google Shape;1061;p77"/>
          <p:cNvSpPr txBox="1"/>
          <p:nvPr>
            <p:ph idx="1" type="body"/>
          </p:nvPr>
        </p:nvSpPr>
        <p:spPr>
          <a:xfrm>
            <a:off x="4555495" y="3128725"/>
            <a:ext cx="36906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 </a:t>
            </a:r>
            <a:r>
              <a:rPr i="1" lang="en-GB" sz="2000">
                <a:latin typeface="Times New Roman"/>
                <a:ea typeface="Times New Roman"/>
                <a:cs typeface="Times New Roman"/>
                <a:sym typeface="Times New Roman"/>
              </a:rPr>
              <a:t>a</a:t>
            </a:r>
            <a:r>
              <a:rPr baseline="30000" lang="en-GB" sz="2000">
                <a:latin typeface="Times New Roman"/>
                <a:ea typeface="Times New Roman"/>
                <a:cs typeface="Times New Roman"/>
                <a:sym typeface="Times New Roman"/>
              </a:rPr>
              <a:t>2 </a:t>
            </a:r>
            <a:r>
              <a:rPr lang="en-GB" sz="2000">
                <a:latin typeface="Times New Roman"/>
                <a:ea typeface="Times New Roman"/>
                <a:cs typeface="Times New Roman"/>
                <a:sym typeface="Times New Roman"/>
              </a:rPr>
              <a:t>= 196 - 81 = 115</a:t>
            </a:r>
            <a:endParaRPr baseline="30000" sz="2000">
              <a:latin typeface="Times New Roman"/>
              <a:ea typeface="Times New Roman"/>
              <a:cs typeface="Times New Roman"/>
              <a:sym typeface="Times New Roman"/>
            </a:endParaRPr>
          </a:p>
        </p:txBody>
      </p:sp>
      <p:sp>
        <p:nvSpPr>
          <p:cNvPr id="1062" name="Google Shape;1062;p77"/>
          <p:cNvSpPr txBox="1"/>
          <p:nvPr>
            <p:ph idx="1" type="body"/>
          </p:nvPr>
        </p:nvSpPr>
        <p:spPr>
          <a:xfrm>
            <a:off x="4632724" y="3471110"/>
            <a:ext cx="36906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 </a:t>
            </a:r>
            <a:r>
              <a:rPr i="1" lang="en-GB" sz="2000">
                <a:latin typeface="Times New Roman"/>
                <a:ea typeface="Times New Roman"/>
                <a:cs typeface="Times New Roman"/>
                <a:sym typeface="Times New Roman"/>
              </a:rPr>
              <a:t>a</a:t>
            </a:r>
            <a:r>
              <a:rPr baseline="30000"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10.72… </a:t>
            </a:r>
            <a:endParaRPr baseline="30000" sz="2000">
              <a:latin typeface="Times New Roman"/>
              <a:ea typeface="Times New Roman"/>
              <a:cs typeface="Times New Roman"/>
              <a:sym typeface="Times New Roman"/>
            </a:endParaRPr>
          </a:p>
        </p:txBody>
      </p:sp>
      <p:sp>
        <p:nvSpPr>
          <p:cNvPr id="1063" name="Google Shape;1063;p77"/>
          <p:cNvSpPr txBox="1"/>
          <p:nvPr>
            <p:ph idx="1" type="body"/>
          </p:nvPr>
        </p:nvSpPr>
        <p:spPr>
          <a:xfrm>
            <a:off x="3165050" y="1778600"/>
            <a:ext cx="571200" cy="3039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1064" name="Google Shape;1064;p77"/>
          <p:cNvSpPr/>
          <p:nvPr/>
        </p:nvSpPr>
        <p:spPr>
          <a:xfrm>
            <a:off x="2980600" y="1560975"/>
            <a:ext cx="778200" cy="699000"/>
          </a:xfrm>
          <a:prstGeom prst="rect">
            <a:avLst/>
          </a:prstGeom>
          <a:solidFill>
            <a:srgbClr val="FFFFFF">
              <a:alpha val="635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65" name="Google Shape;1065;p77"/>
          <p:cNvCxnSpPr/>
          <p:nvPr/>
        </p:nvCxnSpPr>
        <p:spPr>
          <a:xfrm>
            <a:off x="3309343" y="1579375"/>
            <a:ext cx="0" cy="1726200"/>
          </a:xfrm>
          <a:prstGeom prst="straightConnector1">
            <a:avLst/>
          </a:prstGeom>
          <a:noFill/>
          <a:ln cap="flat" cmpd="sng" w="28575">
            <a:solidFill>
              <a:srgbClr val="845AD9"/>
            </a:solidFill>
            <a:prstDash val="solid"/>
            <a:round/>
            <a:headEnd len="med" w="med" type="triangle"/>
            <a:tailEnd len="med" w="med" type="triangle"/>
          </a:ln>
        </p:spPr>
      </p:cxnSp>
      <p:sp>
        <p:nvSpPr>
          <p:cNvPr id="1066" name="Google Shape;1066;p77"/>
          <p:cNvSpPr txBox="1"/>
          <p:nvPr>
            <p:ph idx="1" type="body"/>
          </p:nvPr>
        </p:nvSpPr>
        <p:spPr>
          <a:xfrm>
            <a:off x="3367907" y="2273385"/>
            <a:ext cx="571200" cy="3039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a</a:t>
            </a:r>
            <a:r>
              <a:rPr lang="en-GB" sz="1800"/>
              <a:t> cm</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5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5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5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78"/>
          <p:cNvSpPr txBox="1"/>
          <p:nvPr>
            <p:ph idx="1" type="body"/>
          </p:nvPr>
        </p:nvSpPr>
        <p:spPr>
          <a:xfrm>
            <a:off x="324000" y="759300"/>
            <a:ext cx="8237700" cy="48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This diagram contains three triangles, can you find them?</a:t>
            </a:r>
            <a:endParaRPr sz="1800"/>
          </a:p>
        </p:txBody>
      </p:sp>
      <p:sp>
        <p:nvSpPr>
          <p:cNvPr id="1072" name="Google Shape;1072;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grpSp>
        <p:nvGrpSpPr>
          <p:cNvPr id="1073" name="Google Shape;1073;p78"/>
          <p:cNvGrpSpPr/>
          <p:nvPr/>
        </p:nvGrpSpPr>
        <p:grpSpPr>
          <a:xfrm>
            <a:off x="445206" y="1486425"/>
            <a:ext cx="2497968" cy="1921969"/>
            <a:chOff x="-2048113" y="1348705"/>
            <a:chExt cx="986988" cy="1890213"/>
          </a:xfrm>
        </p:grpSpPr>
        <p:sp>
          <p:nvSpPr>
            <p:cNvPr id="1074" name="Google Shape;1074;p7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75" name="Google Shape;1075;p78"/>
            <p:cNvCxnSpPr/>
            <p:nvPr/>
          </p:nvCxnSpPr>
          <p:spPr>
            <a:xfrm flipH="1">
              <a:off x="-2048113" y="134870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076" name="Google Shape;1076;p78"/>
            <p:cNvCxnSpPr/>
            <p:nvPr/>
          </p:nvCxnSpPr>
          <p:spPr>
            <a:xfrm rot="10800000">
              <a:off x="-2025104" y="3238918"/>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077" name="Google Shape;1077;p78"/>
          <p:cNvSpPr/>
          <p:nvPr/>
        </p:nvSpPr>
        <p:spPr>
          <a:xfrm rot="-5400000">
            <a:off x="1207063" y="1548275"/>
            <a:ext cx="1041900" cy="2431800"/>
          </a:xfrm>
          <a:prstGeom prst="rtTriangle">
            <a:avLst/>
          </a:prstGeom>
          <a:solidFill>
            <a:srgbClr val="F3EEFB"/>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8" name="Google Shape;1078;p78"/>
          <p:cNvSpPr/>
          <p:nvPr/>
        </p:nvSpPr>
        <p:spPr>
          <a:xfrm>
            <a:off x="2744733" y="3089333"/>
            <a:ext cx="198300" cy="1983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9" name="Google Shape;1079;p78"/>
          <p:cNvSpPr txBox="1"/>
          <p:nvPr>
            <p:ph idx="1" type="body"/>
          </p:nvPr>
        </p:nvSpPr>
        <p:spPr>
          <a:xfrm>
            <a:off x="1392973" y="341300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 cm</a:t>
            </a:r>
            <a:endParaRPr sz="1800"/>
          </a:p>
        </p:txBody>
      </p:sp>
      <p:sp>
        <p:nvSpPr>
          <p:cNvPr id="1080" name="Google Shape;1080;p78"/>
          <p:cNvSpPr txBox="1"/>
          <p:nvPr>
            <p:ph idx="1" type="body"/>
          </p:nvPr>
        </p:nvSpPr>
        <p:spPr>
          <a:xfrm>
            <a:off x="1371192" y="296201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31°</a:t>
            </a:r>
            <a:endParaRPr sz="1800"/>
          </a:p>
        </p:txBody>
      </p:sp>
      <p:cxnSp>
        <p:nvCxnSpPr>
          <p:cNvPr id="1081" name="Google Shape;1081;p78"/>
          <p:cNvCxnSpPr>
            <a:stCxn id="1074" idx="0"/>
          </p:cNvCxnSpPr>
          <p:nvPr/>
        </p:nvCxnSpPr>
        <p:spPr>
          <a:xfrm flipH="1" rot="10800000">
            <a:off x="511233" y="2236623"/>
            <a:ext cx="2433600" cy="1055100"/>
          </a:xfrm>
          <a:prstGeom prst="straightConnector1">
            <a:avLst/>
          </a:prstGeom>
          <a:noFill/>
          <a:ln cap="flat" cmpd="sng" w="28575">
            <a:solidFill>
              <a:schemeClr val="dk1"/>
            </a:solidFill>
            <a:prstDash val="solid"/>
            <a:round/>
            <a:headEnd len="med" w="med" type="none"/>
            <a:tailEnd len="med" w="med" type="none"/>
          </a:ln>
        </p:spPr>
      </p:cxnSp>
      <p:sp>
        <p:nvSpPr>
          <p:cNvPr id="1082" name="Google Shape;1082;p78"/>
          <p:cNvSpPr txBox="1"/>
          <p:nvPr>
            <p:ph idx="1" type="body"/>
          </p:nvPr>
        </p:nvSpPr>
        <p:spPr>
          <a:xfrm>
            <a:off x="2546701" y="1961757"/>
            <a:ext cx="4167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65°</a:t>
            </a:r>
            <a:endParaRPr sz="1800"/>
          </a:p>
        </p:txBody>
      </p:sp>
      <p:sp>
        <p:nvSpPr>
          <p:cNvPr id="1083" name="Google Shape;1083;p78"/>
          <p:cNvSpPr/>
          <p:nvPr/>
        </p:nvSpPr>
        <p:spPr>
          <a:xfrm>
            <a:off x="-88353" y="2500983"/>
            <a:ext cx="1431900" cy="1434900"/>
          </a:xfrm>
          <a:prstGeom prst="arc">
            <a:avLst>
              <a:gd fmla="val 20282147" name="adj1"/>
              <a:gd fmla="val 398992"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4" name="Google Shape;1084;p78"/>
          <p:cNvSpPr/>
          <p:nvPr/>
        </p:nvSpPr>
        <p:spPr>
          <a:xfrm>
            <a:off x="2554243" y="1187076"/>
            <a:ext cx="755100" cy="756600"/>
          </a:xfrm>
          <a:prstGeom prst="arc">
            <a:avLst>
              <a:gd fmla="val 5344763" name="adj1"/>
              <a:gd fmla="val 8398834"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85" name="Google Shape;1085;p78"/>
          <p:cNvCxnSpPr/>
          <p:nvPr/>
        </p:nvCxnSpPr>
        <p:spPr>
          <a:xfrm>
            <a:off x="3048318" y="1579375"/>
            <a:ext cx="0" cy="638100"/>
          </a:xfrm>
          <a:prstGeom prst="straightConnector1">
            <a:avLst/>
          </a:prstGeom>
          <a:noFill/>
          <a:ln cap="flat" cmpd="sng" w="28575">
            <a:solidFill>
              <a:srgbClr val="845AD9"/>
            </a:solidFill>
            <a:prstDash val="solid"/>
            <a:round/>
            <a:headEnd len="med" w="med" type="triangle"/>
            <a:tailEnd len="med" w="med" type="triangle"/>
          </a:ln>
        </p:spPr>
      </p:cxnSp>
      <p:sp>
        <p:nvSpPr>
          <p:cNvPr id="1086" name="Google Shape;1086;p78"/>
          <p:cNvSpPr txBox="1"/>
          <p:nvPr>
            <p:ph idx="1" type="body"/>
          </p:nvPr>
        </p:nvSpPr>
        <p:spPr>
          <a:xfrm>
            <a:off x="1021357" y="204140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14 cm</a:t>
            </a:r>
            <a:endParaRPr sz="1800"/>
          </a:p>
        </p:txBody>
      </p:sp>
      <p:sp>
        <p:nvSpPr>
          <p:cNvPr id="1087" name="Google Shape;1087;p78"/>
          <p:cNvSpPr txBox="1"/>
          <p:nvPr>
            <p:ph idx="1" type="body"/>
          </p:nvPr>
        </p:nvSpPr>
        <p:spPr>
          <a:xfrm>
            <a:off x="4572000" y="1292700"/>
            <a:ext cx="4248000" cy="48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Now using this right-angled </a:t>
            </a:r>
            <a:r>
              <a:rPr lang="en-GB" sz="1800"/>
              <a:t>triangle, the </a:t>
            </a:r>
            <a:r>
              <a:rPr lang="en-GB" sz="1800">
                <a:solidFill>
                  <a:schemeClr val="accent4"/>
                </a:solidFill>
              </a:rPr>
              <a:t>tangent function</a:t>
            </a:r>
            <a:r>
              <a:rPr lang="en-GB" sz="1800"/>
              <a:t> can be used to calculate the length of the opposite.</a:t>
            </a:r>
            <a:endParaRPr sz="1800"/>
          </a:p>
        </p:txBody>
      </p:sp>
      <p:cxnSp>
        <p:nvCxnSpPr>
          <p:cNvPr id="1088" name="Google Shape;1088;p78"/>
          <p:cNvCxnSpPr/>
          <p:nvPr/>
        </p:nvCxnSpPr>
        <p:spPr>
          <a:xfrm>
            <a:off x="4147543" y="1579375"/>
            <a:ext cx="0" cy="1726200"/>
          </a:xfrm>
          <a:prstGeom prst="straightConnector1">
            <a:avLst/>
          </a:prstGeom>
          <a:noFill/>
          <a:ln cap="flat" cmpd="sng" w="28575">
            <a:solidFill>
              <a:srgbClr val="845AD9"/>
            </a:solidFill>
            <a:prstDash val="solid"/>
            <a:round/>
            <a:headEnd len="med" w="med" type="triangle"/>
            <a:tailEnd len="med" w="med" type="triangle"/>
          </a:ln>
        </p:spPr>
      </p:cxnSp>
      <p:sp>
        <p:nvSpPr>
          <p:cNvPr id="1089" name="Google Shape;1089;p78"/>
          <p:cNvSpPr txBox="1"/>
          <p:nvPr>
            <p:ph idx="1" type="body"/>
          </p:nvPr>
        </p:nvSpPr>
        <p:spPr>
          <a:xfrm>
            <a:off x="3354050" y="2188075"/>
            <a:ext cx="1242600" cy="303900"/>
          </a:xfrm>
          <a:prstGeom prst="rect">
            <a:avLst/>
          </a:prstGeom>
          <a:solidFill>
            <a:srgbClr val="FFFFFF"/>
          </a:solidFill>
        </p:spPr>
        <p:txBody>
          <a:bodyPr anchorCtr="0" anchor="t" bIns="0" lIns="0" spcFirstLastPara="1" rIns="0" wrap="square" tIns="0">
            <a:noAutofit/>
          </a:bodyPr>
          <a:lstStyle/>
          <a:p>
            <a:pPr indent="0" lvl="0" marL="0" rtl="0" algn="l">
              <a:spcBef>
                <a:spcPts val="0"/>
              </a:spcBef>
              <a:spcAft>
                <a:spcPts val="1000"/>
              </a:spcAft>
              <a:buNone/>
            </a:pPr>
            <a:r>
              <a:rPr lang="en-GB" sz="1800"/>
              <a:t>10.72…</a:t>
            </a:r>
            <a:r>
              <a:rPr lang="en-GB" sz="1800"/>
              <a:t> cm</a:t>
            </a:r>
            <a:endParaRPr sz="1800"/>
          </a:p>
        </p:txBody>
      </p:sp>
      <p:sp>
        <p:nvSpPr>
          <p:cNvPr id="1090" name="Google Shape;1090;p78"/>
          <p:cNvSpPr txBox="1"/>
          <p:nvPr>
            <p:ph idx="1" type="body"/>
          </p:nvPr>
        </p:nvSpPr>
        <p:spPr>
          <a:xfrm>
            <a:off x="3165050" y="1778600"/>
            <a:ext cx="571200" cy="3039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cxnSp>
        <p:nvCxnSpPr>
          <p:cNvPr id="1091" name="Google Shape;1091;p78"/>
          <p:cNvCxnSpPr/>
          <p:nvPr/>
        </p:nvCxnSpPr>
        <p:spPr>
          <a:xfrm>
            <a:off x="3048318" y="2239432"/>
            <a:ext cx="0" cy="1040400"/>
          </a:xfrm>
          <a:prstGeom prst="straightConnector1">
            <a:avLst/>
          </a:prstGeom>
          <a:noFill/>
          <a:ln cap="flat" cmpd="sng" w="28575">
            <a:solidFill>
              <a:srgbClr val="845AD9"/>
            </a:solidFill>
            <a:prstDash val="solid"/>
            <a:round/>
            <a:headEnd len="med" w="med" type="triangle"/>
            <a:tailEnd len="med" w="med" type="triangle"/>
          </a:ln>
        </p:spPr>
      </p:cxnSp>
      <p:sp>
        <p:nvSpPr>
          <p:cNvPr id="1092" name="Google Shape;1092;p78"/>
          <p:cNvSpPr txBox="1"/>
          <p:nvPr>
            <p:ph idx="1" type="body"/>
          </p:nvPr>
        </p:nvSpPr>
        <p:spPr>
          <a:xfrm>
            <a:off x="3158614" y="2578185"/>
            <a:ext cx="571200" cy="3039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b</a:t>
            </a:r>
            <a:r>
              <a:rPr lang="en-GB" sz="1800"/>
              <a:t> cm</a:t>
            </a:r>
            <a:endParaRPr sz="1800"/>
          </a:p>
        </p:txBody>
      </p:sp>
      <p:sp>
        <p:nvSpPr>
          <p:cNvPr id="1093" name="Google Shape;1093;p78"/>
          <p:cNvSpPr txBox="1"/>
          <p:nvPr>
            <p:ph idx="1" type="body"/>
          </p:nvPr>
        </p:nvSpPr>
        <p:spPr>
          <a:xfrm>
            <a:off x="4924953" y="2518470"/>
            <a:ext cx="40806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b</a:t>
            </a:r>
            <a:r>
              <a:rPr lang="en-GB" sz="2000">
                <a:latin typeface="Times New Roman"/>
                <a:ea typeface="Times New Roman"/>
                <a:cs typeface="Times New Roman"/>
                <a:sym typeface="Times New Roman"/>
              </a:rPr>
              <a:t> = 9 × tan(31°) = 5.41 cm</a:t>
            </a:r>
            <a:endParaRPr sz="2000">
              <a:latin typeface="Times New Roman"/>
              <a:ea typeface="Times New Roman"/>
              <a:cs typeface="Times New Roman"/>
              <a:sym typeface="Times New Roman"/>
            </a:endParaRPr>
          </a:p>
        </p:txBody>
      </p:sp>
      <p:sp>
        <p:nvSpPr>
          <p:cNvPr id="1094" name="Google Shape;1094;p78"/>
          <p:cNvSpPr txBox="1"/>
          <p:nvPr>
            <p:ph idx="1" type="body"/>
          </p:nvPr>
        </p:nvSpPr>
        <p:spPr>
          <a:xfrm>
            <a:off x="4572000" y="3121500"/>
            <a:ext cx="4248000" cy="48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Which allows </a:t>
            </a:r>
            <a:r>
              <a:rPr i="1" lang="en-GB" sz="2000">
                <a:latin typeface="Times New Roman"/>
                <a:ea typeface="Times New Roman"/>
                <a:cs typeface="Times New Roman"/>
                <a:sym typeface="Times New Roman"/>
              </a:rPr>
              <a:t>x</a:t>
            </a:r>
            <a:r>
              <a:rPr lang="en-GB" sz="1800"/>
              <a:t> to be calculated.</a:t>
            </a:r>
            <a:endParaRPr sz="1800"/>
          </a:p>
        </p:txBody>
      </p:sp>
      <p:sp>
        <p:nvSpPr>
          <p:cNvPr id="1095" name="Google Shape;1095;p78"/>
          <p:cNvSpPr txBox="1"/>
          <p:nvPr>
            <p:ph idx="1" type="body"/>
          </p:nvPr>
        </p:nvSpPr>
        <p:spPr>
          <a:xfrm>
            <a:off x="4924953" y="3661470"/>
            <a:ext cx="4080600" cy="21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10.72… - 5.40… </a:t>
            </a:r>
            <a:endParaRPr sz="2000">
              <a:latin typeface="Times New Roman"/>
              <a:ea typeface="Times New Roman"/>
              <a:cs typeface="Times New Roman"/>
              <a:sym typeface="Times New Roman"/>
            </a:endParaRPr>
          </a:p>
          <a:p>
            <a:pPr indent="0" lvl="0" marL="0" rtl="0" algn="l">
              <a:spcBef>
                <a:spcPts val="1000"/>
              </a:spcBef>
              <a:spcAft>
                <a:spcPts val="1000"/>
              </a:spcAft>
              <a:buNone/>
            </a:pPr>
            <a:r>
              <a:rPr lang="en-GB" sz="2000">
                <a:latin typeface="Times New Roman"/>
                <a:ea typeface="Times New Roman"/>
                <a:cs typeface="Times New Roman"/>
                <a:sym typeface="Times New Roman"/>
              </a:rPr>
              <a:t>   = 5.316 (3 d.p.)</a:t>
            </a:r>
            <a:endParaRPr sz="2000">
              <a:latin typeface="Times New Roman"/>
              <a:ea typeface="Times New Roman"/>
              <a:cs typeface="Times New Roman"/>
              <a:sym typeface="Times New Roman"/>
            </a:endParaRPr>
          </a:p>
        </p:txBody>
      </p:sp>
      <p:sp>
        <p:nvSpPr>
          <p:cNvPr id="1096" name="Google Shape;1096;p78"/>
          <p:cNvSpPr txBox="1"/>
          <p:nvPr>
            <p:ph idx="1" type="body"/>
          </p:nvPr>
        </p:nvSpPr>
        <p:spPr>
          <a:xfrm>
            <a:off x="3061750" y="2621500"/>
            <a:ext cx="1023000" cy="2139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lang="en-GB" sz="1800"/>
              <a:t>5.40…</a:t>
            </a:r>
            <a:r>
              <a:rPr lang="en-GB" sz="1100"/>
              <a:t> </a:t>
            </a:r>
            <a:r>
              <a:rPr lang="en-GB" sz="1800"/>
              <a:t>cm</a:t>
            </a:r>
            <a:endParaRPr sz="1800"/>
          </a:p>
        </p:txBody>
      </p:sp>
      <p:sp>
        <p:nvSpPr>
          <p:cNvPr id="1097" name="Google Shape;1097;p78"/>
          <p:cNvSpPr/>
          <p:nvPr/>
        </p:nvSpPr>
        <p:spPr>
          <a:xfrm>
            <a:off x="6596025" y="2494525"/>
            <a:ext cx="1100400" cy="340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9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7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400">
                <a:latin typeface="Times New Roman"/>
                <a:ea typeface="Times New Roman"/>
                <a:cs typeface="Times New Roman"/>
                <a:sym typeface="Times New Roman"/>
              </a:rPr>
              <a:t>a</a:t>
            </a:r>
            <a:r>
              <a:rPr baseline="30000" lang="en-GB" sz="2400">
                <a:latin typeface="Times New Roman"/>
                <a:ea typeface="Times New Roman"/>
                <a:cs typeface="Times New Roman"/>
                <a:sym typeface="Times New Roman"/>
              </a:rPr>
              <a:t>2</a:t>
            </a:r>
            <a:r>
              <a:rPr lang="en-GB" sz="2400">
                <a:latin typeface="Times New Roman"/>
                <a:ea typeface="Times New Roman"/>
                <a:cs typeface="Times New Roman"/>
                <a:sym typeface="Times New Roman"/>
              </a:rPr>
              <a:t> = 18</a:t>
            </a:r>
            <a:r>
              <a:rPr baseline="30000" lang="en-GB" sz="2400">
                <a:latin typeface="Times New Roman"/>
                <a:ea typeface="Times New Roman"/>
                <a:cs typeface="Times New Roman"/>
                <a:sym typeface="Times New Roman"/>
              </a:rPr>
              <a:t>2 </a:t>
            </a:r>
            <a:r>
              <a:rPr lang="en-GB" sz="2400">
                <a:latin typeface="Times New Roman"/>
                <a:ea typeface="Times New Roman"/>
                <a:cs typeface="Times New Roman"/>
                <a:sym typeface="Times New Roman"/>
              </a:rPr>
              <a:t>- 14</a:t>
            </a:r>
            <a:r>
              <a:rPr baseline="30000" lang="en-GB" sz="2400">
                <a:latin typeface="Times New Roman"/>
                <a:ea typeface="Times New Roman"/>
                <a:cs typeface="Times New Roman"/>
                <a:sym typeface="Times New Roman"/>
              </a:rPr>
              <a:t>2</a:t>
            </a:r>
            <a:endParaRPr baseline="30000" sz="2400">
              <a:latin typeface="Times New Roman"/>
              <a:ea typeface="Times New Roman"/>
              <a:cs typeface="Times New Roman"/>
              <a:sym typeface="Times New Roman"/>
            </a:endParaRPr>
          </a:p>
        </p:txBody>
      </p:sp>
      <p:sp>
        <p:nvSpPr>
          <p:cNvPr id="1103" name="Google Shape;1103;p79"/>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sp>
        <p:nvSpPr>
          <p:cNvPr id="1104" name="Google Shape;1104;p79"/>
          <p:cNvSpPr txBox="1"/>
          <p:nvPr>
            <p:ph type="title"/>
          </p:nvPr>
        </p:nvSpPr>
        <p:spPr>
          <a:xfrm>
            <a:off x="324000" y="809988"/>
            <a:ext cx="8179200" cy="489600"/>
          </a:xfrm>
          <a:prstGeom prst="rect">
            <a:avLst/>
          </a:prstGeom>
        </p:spPr>
        <p:txBody>
          <a:bodyPr anchorCtr="0" anchor="t" bIns="0" lIns="0" spcFirstLastPara="1" rIns="0" wrap="square" tIns="0">
            <a:noAutofit/>
          </a:bodyPr>
          <a:lstStyle/>
          <a:p>
            <a:pPr indent="0" lvl="0" marL="0" rtl="0" algn="l">
              <a:lnSpc>
                <a:spcPct val="130000"/>
              </a:lnSpc>
              <a:spcBef>
                <a:spcPts val="0"/>
              </a:spcBef>
              <a:spcAft>
                <a:spcPts val="0"/>
              </a:spcAft>
              <a:buClr>
                <a:schemeClr val="dk1"/>
              </a:buClr>
              <a:buSzPts val="1100"/>
              <a:buFont typeface="Arial"/>
              <a:buNone/>
            </a:pPr>
            <a:r>
              <a:rPr lang="en-GB"/>
              <a:t>Which of these calculations are valid to find </a:t>
            </a:r>
            <a:r>
              <a:rPr i="1" lang="en-GB" sz="2400">
                <a:latin typeface="Times New Roman"/>
                <a:ea typeface="Times New Roman"/>
                <a:cs typeface="Times New Roman"/>
                <a:sym typeface="Times New Roman"/>
              </a:rPr>
              <a:t>a</a:t>
            </a:r>
            <a:r>
              <a:rPr lang="en-GB"/>
              <a:t>?</a:t>
            </a:r>
            <a:endParaRPr/>
          </a:p>
          <a:p>
            <a:pPr indent="0" lvl="0" marL="0" rtl="0" algn="l">
              <a:spcBef>
                <a:spcPts val="1000"/>
              </a:spcBef>
              <a:spcAft>
                <a:spcPts val="0"/>
              </a:spcAft>
              <a:buNone/>
            </a:pPr>
            <a:r>
              <a:t/>
            </a:r>
            <a:endParaRPr/>
          </a:p>
        </p:txBody>
      </p:sp>
      <p:sp>
        <p:nvSpPr>
          <p:cNvPr id="1105" name="Google Shape;1105;p79"/>
          <p:cNvSpPr txBox="1"/>
          <p:nvPr>
            <p:ph idx="3" type="subTitle"/>
          </p:nvPr>
        </p:nvSpPr>
        <p:spPr>
          <a:xfrm>
            <a:off x="1034425" y="2489450"/>
            <a:ext cx="24981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400">
                <a:latin typeface="Times New Roman"/>
                <a:ea typeface="Times New Roman"/>
                <a:cs typeface="Times New Roman"/>
                <a:sym typeface="Times New Roman"/>
              </a:rPr>
              <a:t>a</a:t>
            </a:r>
            <a:r>
              <a:rPr lang="en-GB" sz="2400">
                <a:latin typeface="Times New Roman"/>
                <a:ea typeface="Times New Roman"/>
                <a:cs typeface="Times New Roman"/>
                <a:sym typeface="Times New Roman"/>
              </a:rPr>
              <a:t> = 18 × cos(65</a:t>
            </a:r>
            <a:r>
              <a:rPr lang="en-GB" sz="2400">
                <a:latin typeface="Times New Roman"/>
                <a:ea typeface="Times New Roman"/>
                <a:cs typeface="Times New Roman"/>
                <a:sym typeface="Times New Roman"/>
              </a:rPr>
              <a:t>°</a:t>
            </a:r>
            <a:r>
              <a:rPr lang="en-GB"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p:txBody>
      </p:sp>
      <p:sp>
        <p:nvSpPr>
          <p:cNvPr id="1106" name="Google Shape;1106;p7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i="1" lang="en-GB" sz="2400">
                <a:latin typeface="Times New Roman"/>
                <a:ea typeface="Times New Roman"/>
                <a:cs typeface="Times New Roman"/>
                <a:sym typeface="Times New Roman"/>
              </a:rPr>
              <a:t>a</a:t>
            </a:r>
            <a:r>
              <a:rPr lang="en-GB" sz="2400">
                <a:latin typeface="Times New Roman"/>
                <a:ea typeface="Times New Roman"/>
                <a:cs typeface="Times New Roman"/>
                <a:sym typeface="Times New Roman"/>
              </a:rPr>
              <a:t> = 18 × sin(25°)</a:t>
            </a:r>
            <a:endParaRPr/>
          </a:p>
        </p:txBody>
      </p:sp>
      <p:sp>
        <p:nvSpPr>
          <p:cNvPr id="1107" name="Google Shape;1107;p7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i="1" lang="en-GB" sz="2400">
                <a:latin typeface="Times New Roman"/>
                <a:ea typeface="Times New Roman"/>
                <a:cs typeface="Times New Roman"/>
                <a:sym typeface="Times New Roman"/>
              </a:rPr>
              <a:t>a</a:t>
            </a:r>
            <a:r>
              <a:rPr lang="en-GB" sz="2400">
                <a:latin typeface="Times New Roman"/>
                <a:ea typeface="Times New Roman"/>
                <a:cs typeface="Times New Roman"/>
                <a:sym typeface="Times New Roman"/>
              </a:rPr>
              <a:t> = 14 ÷ tan(65°)</a:t>
            </a:r>
            <a:endParaRPr/>
          </a:p>
        </p:txBody>
      </p:sp>
      <p:grpSp>
        <p:nvGrpSpPr>
          <p:cNvPr id="1108" name="Google Shape;1108;p79"/>
          <p:cNvGrpSpPr/>
          <p:nvPr/>
        </p:nvGrpSpPr>
        <p:grpSpPr>
          <a:xfrm>
            <a:off x="5398206" y="1334025"/>
            <a:ext cx="2497968" cy="1921969"/>
            <a:chOff x="-2048113" y="1348705"/>
            <a:chExt cx="986988" cy="1890213"/>
          </a:xfrm>
        </p:grpSpPr>
        <p:sp>
          <p:nvSpPr>
            <p:cNvPr id="1109" name="Google Shape;1109;p7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10" name="Google Shape;1110;p79"/>
            <p:cNvCxnSpPr/>
            <p:nvPr/>
          </p:nvCxnSpPr>
          <p:spPr>
            <a:xfrm flipH="1">
              <a:off x="-2048113" y="134870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111" name="Google Shape;1111;p79"/>
            <p:cNvCxnSpPr/>
            <p:nvPr/>
          </p:nvCxnSpPr>
          <p:spPr>
            <a:xfrm rot="10800000">
              <a:off x="-2025104" y="3238918"/>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112" name="Google Shape;1112;p79"/>
          <p:cNvSpPr txBox="1"/>
          <p:nvPr>
            <p:ph idx="4294967295" type="body"/>
          </p:nvPr>
        </p:nvSpPr>
        <p:spPr>
          <a:xfrm>
            <a:off x="5974357" y="188900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18 cm</a:t>
            </a:r>
            <a:endParaRPr sz="1800"/>
          </a:p>
        </p:txBody>
      </p:sp>
      <p:cxnSp>
        <p:nvCxnSpPr>
          <p:cNvPr id="1113" name="Google Shape;1113;p79"/>
          <p:cNvCxnSpPr/>
          <p:nvPr/>
        </p:nvCxnSpPr>
        <p:spPr>
          <a:xfrm>
            <a:off x="8014436" y="1426975"/>
            <a:ext cx="0" cy="1726200"/>
          </a:xfrm>
          <a:prstGeom prst="straightConnector1">
            <a:avLst/>
          </a:prstGeom>
          <a:noFill/>
          <a:ln cap="flat" cmpd="sng" w="28575">
            <a:solidFill>
              <a:srgbClr val="845AD9"/>
            </a:solidFill>
            <a:prstDash val="solid"/>
            <a:round/>
            <a:headEnd len="med" w="med" type="triangle"/>
            <a:tailEnd len="med" w="med" type="triangle"/>
          </a:ln>
        </p:spPr>
      </p:cxnSp>
      <p:sp>
        <p:nvSpPr>
          <p:cNvPr id="1114" name="Google Shape;1114;p79"/>
          <p:cNvSpPr txBox="1"/>
          <p:nvPr>
            <p:ph idx="4294967295" type="body"/>
          </p:nvPr>
        </p:nvSpPr>
        <p:spPr>
          <a:xfrm>
            <a:off x="8072999" y="2120985"/>
            <a:ext cx="571200" cy="303900"/>
          </a:xfrm>
          <a:prstGeom prst="rect">
            <a:avLst/>
          </a:prstGeom>
          <a:noFill/>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a</a:t>
            </a:r>
            <a:r>
              <a:rPr lang="en-GB" sz="1800"/>
              <a:t> cm</a:t>
            </a:r>
            <a:endParaRPr sz="1800"/>
          </a:p>
        </p:txBody>
      </p:sp>
      <p:sp>
        <p:nvSpPr>
          <p:cNvPr id="1115" name="Google Shape;1115;p79"/>
          <p:cNvSpPr txBox="1"/>
          <p:nvPr>
            <p:ph idx="4294967295" type="body"/>
          </p:nvPr>
        </p:nvSpPr>
        <p:spPr>
          <a:xfrm>
            <a:off x="7499701" y="1809357"/>
            <a:ext cx="4167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65°</a:t>
            </a:r>
            <a:endParaRPr sz="1800"/>
          </a:p>
        </p:txBody>
      </p:sp>
      <p:sp>
        <p:nvSpPr>
          <p:cNvPr id="1116" name="Google Shape;1116;p79"/>
          <p:cNvSpPr/>
          <p:nvPr/>
        </p:nvSpPr>
        <p:spPr>
          <a:xfrm>
            <a:off x="7507243" y="1034676"/>
            <a:ext cx="755100" cy="756600"/>
          </a:xfrm>
          <a:prstGeom prst="arc">
            <a:avLst>
              <a:gd fmla="val 5344763" name="adj1"/>
              <a:gd fmla="val 8398834"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7" name="Google Shape;1117;p79"/>
          <p:cNvSpPr/>
          <p:nvPr/>
        </p:nvSpPr>
        <p:spPr>
          <a:xfrm>
            <a:off x="7697733" y="2936933"/>
            <a:ext cx="198300" cy="1983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8" name="Google Shape;1118;p79"/>
          <p:cNvSpPr txBox="1"/>
          <p:nvPr>
            <p:ph idx="4294967295" type="body"/>
          </p:nvPr>
        </p:nvSpPr>
        <p:spPr>
          <a:xfrm>
            <a:off x="6507757" y="326060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14</a:t>
            </a:r>
            <a:r>
              <a:rPr lang="en-GB" sz="1800"/>
              <a:t> cm</a:t>
            </a:r>
            <a:endParaRPr sz="1800"/>
          </a:p>
        </p:txBody>
      </p:sp>
      <p:pic>
        <p:nvPicPr>
          <p:cNvPr id="1119" name="Google Shape;1119;p79"/>
          <p:cNvPicPr preferRelativeResize="0"/>
          <p:nvPr/>
        </p:nvPicPr>
        <p:blipFill>
          <a:blip r:embed="rId3">
            <a:alphaModFix/>
          </a:blip>
          <a:stretch>
            <a:fillRect/>
          </a:stretch>
        </p:blipFill>
        <p:spPr>
          <a:xfrm>
            <a:off x="3003033" y="1684975"/>
            <a:ext cx="396000" cy="419100"/>
          </a:xfrm>
          <a:prstGeom prst="rect">
            <a:avLst/>
          </a:prstGeom>
          <a:noFill/>
          <a:ln>
            <a:noFill/>
          </a:ln>
        </p:spPr>
      </p:pic>
      <p:pic>
        <p:nvPicPr>
          <p:cNvPr id="1120" name="Google Shape;1120;p79"/>
          <p:cNvPicPr preferRelativeResize="0"/>
          <p:nvPr/>
        </p:nvPicPr>
        <p:blipFill>
          <a:blip r:embed="rId3">
            <a:alphaModFix/>
          </a:blip>
          <a:stretch>
            <a:fillRect/>
          </a:stretch>
        </p:blipFill>
        <p:spPr>
          <a:xfrm>
            <a:off x="3532533" y="2450325"/>
            <a:ext cx="396000" cy="419100"/>
          </a:xfrm>
          <a:prstGeom prst="rect">
            <a:avLst/>
          </a:prstGeom>
          <a:noFill/>
          <a:ln>
            <a:noFill/>
          </a:ln>
        </p:spPr>
      </p:pic>
      <p:pic>
        <p:nvPicPr>
          <p:cNvPr id="1121" name="Google Shape;1121;p79"/>
          <p:cNvPicPr preferRelativeResize="0"/>
          <p:nvPr/>
        </p:nvPicPr>
        <p:blipFill>
          <a:blip r:embed="rId3">
            <a:alphaModFix/>
          </a:blip>
          <a:stretch>
            <a:fillRect/>
          </a:stretch>
        </p:blipFill>
        <p:spPr>
          <a:xfrm>
            <a:off x="3532533" y="3286638"/>
            <a:ext cx="396000" cy="419100"/>
          </a:xfrm>
          <a:prstGeom prst="rect">
            <a:avLst/>
          </a:prstGeom>
          <a:noFill/>
          <a:ln>
            <a:noFill/>
          </a:ln>
        </p:spPr>
      </p:pic>
      <p:pic>
        <p:nvPicPr>
          <p:cNvPr id="1122" name="Google Shape;1122;p79"/>
          <p:cNvPicPr preferRelativeResize="0"/>
          <p:nvPr/>
        </p:nvPicPr>
        <p:blipFill>
          <a:blip r:embed="rId3">
            <a:alphaModFix/>
          </a:blip>
          <a:stretch>
            <a:fillRect/>
          </a:stretch>
        </p:blipFill>
        <p:spPr>
          <a:xfrm>
            <a:off x="3532533" y="4113813"/>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8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Trigonometry or not</a:t>
            </a:r>
            <a:endParaRPr/>
          </a:p>
        </p:txBody>
      </p:sp>
      <p:sp>
        <p:nvSpPr>
          <p:cNvPr id="1128" name="Google Shape;1128;p80"/>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Calculate </a:t>
            </a:r>
            <a:r>
              <a:rPr i="1" lang="en-GB" sz="2000">
                <a:latin typeface="Times New Roman"/>
                <a:ea typeface="Times New Roman"/>
                <a:cs typeface="Times New Roman"/>
                <a:sym typeface="Times New Roman"/>
              </a:rPr>
              <a:t>x </a:t>
            </a:r>
            <a:r>
              <a:rPr lang="en-GB" sz="1800"/>
              <a:t>in each triangle.</a:t>
            </a:r>
            <a:endParaRPr sz="1800"/>
          </a:p>
        </p:txBody>
      </p:sp>
      <p:sp>
        <p:nvSpPr>
          <p:cNvPr id="1129" name="Google Shape;1129;p80"/>
          <p:cNvSpPr txBox="1"/>
          <p:nvPr>
            <p:ph idx="1" type="body"/>
          </p:nvPr>
        </p:nvSpPr>
        <p:spPr>
          <a:xfrm>
            <a:off x="324000" y="1174975"/>
            <a:ext cx="298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r>
              <a:rPr lang="en-GB" sz="1800"/>
              <a:t>) </a:t>
            </a:r>
            <a:endParaRPr sz="1800"/>
          </a:p>
        </p:txBody>
      </p:sp>
      <p:sp>
        <p:nvSpPr>
          <p:cNvPr id="1130" name="Google Shape;1130;p80"/>
          <p:cNvSpPr txBox="1"/>
          <p:nvPr>
            <p:ph idx="1" type="body"/>
          </p:nvPr>
        </p:nvSpPr>
        <p:spPr>
          <a:xfrm>
            <a:off x="3284238" y="1174975"/>
            <a:ext cx="298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r>
              <a:rPr lang="en-GB" sz="1800"/>
              <a:t>) </a:t>
            </a:r>
            <a:endParaRPr sz="1800"/>
          </a:p>
        </p:txBody>
      </p:sp>
      <p:sp>
        <p:nvSpPr>
          <p:cNvPr id="1131" name="Google Shape;1131;p80"/>
          <p:cNvSpPr txBox="1"/>
          <p:nvPr>
            <p:ph idx="1" type="body"/>
          </p:nvPr>
        </p:nvSpPr>
        <p:spPr>
          <a:xfrm>
            <a:off x="6244475" y="1174975"/>
            <a:ext cx="2317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r>
              <a:rPr lang="en-GB" sz="1800"/>
              <a:t>) The </a:t>
            </a:r>
            <a:r>
              <a:rPr lang="en-GB" sz="1800"/>
              <a:t>perimeter is 1.2 m</a:t>
            </a:r>
            <a:r>
              <a:rPr lang="en-GB" sz="1800"/>
              <a:t> </a:t>
            </a:r>
            <a:endParaRPr sz="1800"/>
          </a:p>
        </p:txBody>
      </p:sp>
      <p:grpSp>
        <p:nvGrpSpPr>
          <p:cNvPr id="1132" name="Google Shape;1132;p80"/>
          <p:cNvGrpSpPr/>
          <p:nvPr/>
        </p:nvGrpSpPr>
        <p:grpSpPr>
          <a:xfrm>
            <a:off x="6188235" y="1725599"/>
            <a:ext cx="2006081" cy="1471748"/>
            <a:chOff x="-2055529" y="1311788"/>
            <a:chExt cx="1057000" cy="1977890"/>
          </a:xfrm>
        </p:grpSpPr>
        <p:sp>
          <p:nvSpPr>
            <p:cNvPr id="1133" name="Google Shape;1133;p8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34" name="Google Shape;1134;p80"/>
            <p:cNvCxnSpPr/>
            <p:nvPr/>
          </p:nvCxnSpPr>
          <p:spPr>
            <a:xfrm flipH="1">
              <a:off x="-2055529" y="1311788"/>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135" name="Google Shape;1135;p80"/>
            <p:cNvCxnSpPr/>
            <p:nvPr/>
          </p:nvCxnSpPr>
          <p:spPr>
            <a:xfrm rot="10800000">
              <a:off x="-2025104" y="3289678"/>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136" name="Google Shape;1136;p80"/>
            <p:cNvCxnSpPr/>
            <p:nvPr/>
          </p:nvCxnSpPr>
          <p:spPr>
            <a:xfrm rot="10800000">
              <a:off x="-99852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137" name="Google Shape;1137;p80"/>
          <p:cNvSpPr/>
          <p:nvPr/>
        </p:nvSpPr>
        <p:spPr>
          <a:xfrm>
            <a:off x="7872590" y="2875200"/>
            <a:ext cx="198300" cy="1983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138" name="Google Shape;1138;p80"/>
          <p:cNvGrpSpPr/>
          <p:nvPr/>
        </p:nvGrpSpPr>
        <p:grpSpPr>
          <a:xfrm>
            <a:off x="320835" y="1725599"/>
            <a:ext cx="1887279" cy="1471748"/>
            <a:chOff x="-2055529" y="1311788"/>
            <a:chExt cx="994404" cy="1977890"/>
          </a:xfrm>
        </p:grpSpPr>
        <p:sp>
          <p:nvSpPr>
            <p:cNvPr id="1139" name="Google Shape;1139;p8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40" name="Google Shape;1140;p80"/>
            <p:cNvCxnSpPr/>
            <p:nvPr/>
          </p:nvCxnSpPr>
          <p:spPr>
            <a:xfrm flipH="1">
              <a:off x="-2055529" y="1311788"/>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141" name="Google Shape;1141;p80"/>
            <p:cNvCxnSpPr/>
            <p:nvPr/>
          </p:nvCxnSpPr>
          <p:spPr>
            <a:xfrm rot="10800000">
              <a:off x="-2025104" y="3289678"/>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142" name="Google Shape;1142;p80"/>
          <p:cNvSpPr/>
          <p:nvPr/>
        </p:nvSpPr>
        <p:spPr>
          <a:xfrm>
            <a:off x="2005190" y="2875200"/>
            <a:ext cx="198300" cy="1983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143" name="Google Shape;1143;p80"/>
          <p:cNvGrpSpPr/>
          <p:nvPr/>
        </p:nvGrpSpPr>
        <p:grpSpPr>
          <a:xfrm>
            <a:off x="3273327" y="1725599"/>
            <a:ext cx="2006081" cy="1471748"/>
            <a:chOff x="-2055529" y="1311788"/>
            <a:chExt cx="1057000" cy="1977890"/>
          </a:xfrm>
        </p:grpSpPr>
        <p:sp>
          <p:nvSpPr>
            <p:cNvPr id="1144" name="Google Shape;1144;p8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45" name="Google Shape;1145;p80"/>
            <p:cNvCxnSpPr/>
            <p:nvPr/>
          </p:nvCxnSpPr>
          <p:spPr>
            <a:xfrm flipH="1">
              <a:off x="-2055529" y="1311788"/>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146" name="Google Shape;1146;p80"/>
            <p:cNvCxnSpPr/>
            <p:nvPr/>
          </p:nvCxnSpPr>
          <p:spPr>
            <a:xfrm rot="10800000">
              <a:off x="-2025104" y="3289678"/>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147" name="Google Shape;1147;p80"/>
            <p:cNvCxnSpPr/>
            <p:nvPr/>
          </p:nvCxnSpPr>
          <p:spPr>
            <a:xfrm rot="10800000">
              <a:off x="-99852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148" name="Google Shape;1148;p80"/>
          <p:cNvSpPr/>
          <p:nvPr/>
        </p:nvSpPr>
        <p:spPr>
          <a:xfrm>
            <a:off x="4957682" y="2875200"/>
            <a:ext cx="198300" cy="1983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9" name="Google Shape;1149;p80"/>
          <p:cNvSpPr txBox="1"/>
          <p:nvPr>
            <p:ph idx="4294967295" type="body"/>
          </p:nvPr>
        </p:nvSpPr>
        <p:spPr>
          <a:xfrm>
            <a:off x="701883" y="2124154"/>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1150" name="Google Shape;1150;p80"/>
          <p:cNvSpPr txBox="1"/>
          <p:nvPr>
            <p:ph idx="4294967295" type="body"/>
          </p:nvPr>
        </p:nvSpPr>
        <p:spPr>
          <a:xfrm>
            <a:off x="3602708" y="2124154"/>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1151" name="Google Shape;1151;p80"/>
          <p:cNvSpPr txBox="1"/>
          <p:nvPr>
            <p:ph idx="4294967295" type="body"/>
          </p:nvPr>
        </p:nvSpPr>
        <p:spPr>
          <a:xfrm>
            <a:off x="6542683" y="2124154"/>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1152" name="Google Shape;1152;p80"/>
          <p:cNvSpPr txBox="1"/>
          <p:nvPr>
            <p:ph idx="4294967295" type="body"/>
          </p:nvPr>
        </p:nvSpPr>
        <p:spPr>
          <a:xfrm>
            <a:off x="965232" y="3197350"/>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40 </a:t>
            </a:r>
            <a:r>
              <a:rPr lang="en-GB" sz="1800"/>
              <a:t>cm</a:t>
            </a:r>
            <a:endParaRPr sz="1800"/>
          </a:p>
        </p:txBody>
      </p:sp>
      <p:sp>
        <p:nvSpPr>
          <p:cNvPr id="1153" name="Google Shape;1153;p80"/>
          <p:cNvSpPr txBox="1"/>
          <p:nvPr>
            <p:ph idx="4294967295" type="body"/>
          </p:nvPr>
        </p:nvSpPr>
        <p:spPr>
          <a:xfrm>
            <a:off x="782967" y="2806093"/>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a:t>
            </a:r>
            <a:endParaRPr sz="1800"/>
          </a:p>
        </p:txBody>
      </p:sp>
      <p:sp>
        <p:nvSpPr>
          <p:cNvPr id="1154" name="Google Shape;1154;p80"/>
          <p:cNvSpPr txBox="1"/>
          <p:nvPr>
            <p:ph idx="4294967295" type="body"/>
          </p:nvPr>
        </p:nvSpPr>
        <p:spPr>
          <a:xfrm>
            <a:off x="3988007" y="3197350"/>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40</a:t>
            </a:r>
            <a:r>
              <a:rPr lang="en-GB" sz="1800"/>
              <a:t> cm</a:t>
            </a:r>
            <a:endParaRPr sz="1800"/>
          </a:p>
        </p:txBody>
      </p:sp>
      <p:sp>
        <p:nvSpPr>
          <p:cNvPr id="1155" name="Google Shape;1155;p80"/>
          <p:cNvSpPr txBox="1"/>
          <p:nvPr>
            <p:ph idx="4294967295" type="body"/>
          </p:nvPr>
        </p:nvSpPr>
        <p:spPr>
          <a:xfrm>
            <a:off x="5342865" y="2338050"/>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a:t>
            </a:r>
            <a:r>
              <a:rPr lang="en-GB" sz="1800"/>
              <a:t> cm</a:t>
            </a:r>
            <a:endParaRPr sz="1800"/>
          </a:p>
        </p:txBody>
      </p:sp>
      <p:sp>
        <p:nvSpPr>
          <p:cNvPr id="1156" name="Google Shape;1156;p80"/>
          <p:cNvSpPr txBox="1"/>
          <p:nvPr>
            <p:ph idx="4294967295" type="body"/>
          </p:nvPr>
        </p:nvSpPr>
        <p:spPr>
          <a:xfrm>
            <a:off x="6892608" y="3176250"/>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40</a:t>
            </a:r>
            <a:r>
              <a:rPr lang="en-GB" sz="1800"/>
              <a:t> cm</a:t>
            </a:r>
            <a:endParaRPr sz="1800"/>
          </a:p>
        </p:txBody>
      </p:sp>
      <p:sp>
        <p:nvSpPr>
          <p:cNvPr id="1157" name="Google Shape;1157;p80"/>
          <p:cNvSpPr txBox="1"/>
          <p:nvPr>
            <p:ph idx="4294967295" type="body"/>
          </p:nvPr>
        </p:nvSpPr>
        <p:spPr>
          <a:xfrm>
            <a:off x="8188008" y="2338050"/>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a:t>
            </a:r>
            <a:r>
              <a:rPr lang="en-GB" sz="1800"/>
              <a:t> cm</a:t>
            </a:r>
            <a:endParaRPr sz="1800"/>
          </a:p>
        </p:txBody>
      </p:sp>
      <p:sp>
        <p:nvSpPr>
          <p:cNvPr id="1158" name="Google Shape;1158;p80"/>
          <p:cNvSpPr/>
          <p:nvPr/>
        </p:nvSpPr>
        <p:spPr>
          <a:xfrm>
            <a:off x="76600" y="2746350"/>
            <a:ext cx="669300" cy="669300"/>
          </a:xfrm>
          <a:prstGeom prst="arc">
            <a:avLst>
              <a:gd fmla="val 19311294"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8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sp>
        <p:nvSpPr>
          <p:cNvPr id="1164" name="Google Shape;1164;p81"/>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r>
              <a:rPr lang="en-GB" sz="1800"/>
              <a:t>) Calculate </a:t>
            </a:r>
            <a:r>
              <a:rPr i="1" lang="en-GB" sz="2000">
                <a:latin typeface="Times New Roman"/>
                <a:ea typeface="Times New Roman"/>
                <a:cs typeface="Times New Roman"/>
                <a:sym typeface="Times New Roman"/>
              </a:rPr>
              <a:t>x </a:t>
            </a:r>
            <a:r>
              <a:rPr lang="en-GB" sz="1800"/>
              <a:t>in each triangle, giving your answers to 1 decimal place.</a:t>
            </a:r>
            <a:endParaRPr sz="1800"/>
          </a:p>
        </p:txBody>
      </p:sp>
      <p:sp>
        <p:nvSpPr>
          <p:cNvPr id="1165" name="Google Shape;1165;p81"/>
          <p:cNvSpPr txBox="1"/>
          <p:nvPr>
            <p:ph idx="1" type="body"/>
          </p:nvPr>
        </p:nvSpPr>
        <p:spPr>
          <a:xfrm>
            <a:off x="324000" y="1174975"/>
            <a:ext cx="298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endParaRPr sz="1800"/>
          </a:p>
        </p:txBody>
      </p:sp>
      <p:sp>
        <p:nvSpPr>
          <p:cNvPr id="1166" name="Google Shape;1166;p81"/>
          <p:cNvSpPr txBox="1"/>
          <p:nvPr>
            <p:ph idx="1" type="body"/>
          </p:nvPr>
        </p:nvSpPr>
        <p:spPr>
          <a:xfrm>
            <a:off x="4808238" y="1174975"/>
            <a:ext cx="298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a:t>
            </a:r>
            <a:endParaRPr sz="1800"/>
          </a:p>
        </p:txBody>
      </p:sp>
      <p:grpSp>
        <p:nvGrpSpPr>
          <p:cNvPr id="1167" name="Google Shape;1167;p81"/>
          <p:cNvGrpSpPr/>
          <p:nvPr/>
        </p:nvGrpSpPr>
        <p:grpSpPr>
          <a:xfrm>
            <a:off x="445206" y="1486425"/>
            <a:ext cx="2497968" cy="1921969"/>
            <a:chOff x="-2048113" y="1348705"/>
            <a:chExt cx="986988" cy="1890213"/>
          </a:xfrm>
        </p:grpSpPr>
        <p:sp>
          <p:nvSpPr>
            <p:cNvPr id="1168" name="Google Shape;1168;p8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69" name="Google Shape;1169;p81"/>
            <p:cNvCxnSpPr/>
            <p:nvPr/>
          </p:nvCxnSpPr>
          <p:spPr>
            <a:xfrm flipH="1">
              <a:off x="-2048113" y="134870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170" name="Google Shape;1170;p81"/>
            <p:cNvCxnSpPr/>
            <p:nvPr/>
          </p:nvCxnSpPr>
          <p:spPr>
            <a:xfrm rot="10800000">
              <a:off x="-2025104" y="3238918"/>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171" name="Google Shape;1171;p81"/>
          <p:cNvSpPr/>
          <p:nvPr/>
        </p:nvSpPr>
        <p:spPr>
          <a:xfrm>
            <a:off x="2744733" y="3089333"/>
            <a:ext cx="198300" cy="1983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2" name="Google Shape;1172;p81"/>
          <p:cNvSpPr txBox="1"/>
          <p:nvPr>
            <p:ph idx="4294967295" type="body"/>
          </p:nvPr>
        </p:nvSpPr>
        <p:spPr>
          <a:xfrm>
            <a:off x="3165059" y="1719497"/>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1173" name="Google Shape;1173;p81"/>
          <p:cNvSpPr txBox="1"/>
          <p:nvPr>
            <p:ph idx="4294967295" type="body"/>
          </p:nvPr>
        </p:nvSpPr>
        <p:spPr>
          <a:xfrm>
            <a:off x="1392973" y="341300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24</a:t>
            </a:r>
            <a:r>
              <a:rPr lang="en-GB" sz="1800"/>
              <a:t> cm</a:t>
            </a:r>
            <a:endParaRPr sz="1800"/>
          </a:p>
        </p:txBody>
      </p:sp>
      <p:sp>
        <p:nvSpPr>
          <p:cNvPr id="1174" name="Google Shape;1174;p81"/>
          <p:cNvSpPr txBox="1"/>
          <p:nvPr>
            <p:ph idx="4294967295" type="body"/>
          </p:nvPr>
        </p:nvSpPr>
        <p:spPr>
          <a:xfrm>
            <a:off x="1326142" y="265721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a:t>
            </a:r>
            <a:r>
              <a:rPr lang="en-GB" sz="1800"/>
              <a:t>°</a:t>
            </a:r>
            <a:endParaRPr sz="1800"/>
          </a:p>
        </p:txBody>
      </p:sp>
      <p:cxnSp>
        <p:nvCxnSpPr>
          <p:cNvPr id="1175" name="Google Shape;1175;p81"/>
          <p:cNvCxnSpPr>
            <a:stCxn id="1168" idx="0"/>
          </p:cNvCxnSpPr>
          <p:nvPr/>
        </p:nvCxnSpPr>
        <p:spPr>
          <a:xfrm flipH="1" rot="10800000">
            <a:off x="511233" y="2236623"/>
            <a:ext cx="2433600" cy="1055100"/>
          </a:xfrm>
          <a:prstGeom prst="straightConnector1">
            <a:avLst/>
          </a:prstGeom>
          <a:noFill/>
          <a:ln cap="flat" cmpd="sng" w="28575">
            <a:solidFill>
              <a:schemeClr val="dk1"/>
            </a:solidFill>
            <a:prstDash val="solid"/>
            <a:round/>
            <a:headEnd len="med" w="med" type="none"/>
            <a:tailEnd len="med" w="med" type="none"/>
          </a:ln>
        </p:spPr>
      </p:cxnSp>
      <p:sp>
        <p:nvSpPr>
          <p:cNvPr id="1176" name="Google Shape;1176;p81"/>
          <p:cNvSpPr txBox="1"/>
          <p:nvPr>
            <p:ph idx="4294967295" type="body"/>
          </p:nvPr>
        </p:nvSpPr>
        <p:spPr>
          <a:xfrm>
            <a:off x="2470501" y="2571357"/>
            <a:ext cx="4167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73</a:t>
            </a:r>
            <a:r>
              <a:rPr lang="en-GB" sz="1800"/>
              <a:t>°</a:t>
            </a:r>
            <a:endParaRPr sz="1800"/>
          </a:p>
        </p:txBody>
      </p:sp>
      <p:sp>
        <p:nvSpPr>
          <p:cNvPr id="1177" name="Google Shape;1177;p81"/>
          <p:cNvSpPr/>
          <p:nvPr/>
        </p:nvSpPr>
        <p:spPr>
          <a:xfrm>
            <a:off x="-88353" y="2500983"/>
            <a:ext cx="1431900" cy="1434900"/>
          </a:xfrm>
          <a:prstGeom prst="arc">
            <a:avLst>
              <a:gd fmla="val 19497988" name="adj1"/>
              <a:gd fmla="val 20279067"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8" name="Google Shape;1178;p81"/>
          <p:cNvSpPr/>
          <p:nvPr/>
        </p:nvSpPr>
        <p:spPr>
          <a:xfrm>
            <a:off x="2554243" y="1853568"/>
            <a:ext cx="755100" cy="756600"/>
          </a:xfrm>
          <a:prstGeom prst="arc">
            <a:avLst>
              <a:gd fmla="val 5344763" name="adj1"/>
              <a:gd fmla="val 9287145"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79" name="Google Shape;1179;p81"/>
          <p:cNvCxnSpPr/>
          <p:nvPr/>
        </p:nvCxnSpPr>
        <p:spPr>
          <a:xfrm>
            <a:off x="3048318" y="1579375"/>
            <a:ext cx="0" cy="638100"/>
          </a:xfrm>
          <a:prstGeom prst="straightConnector1">
            <a:avLst/>
          </a:prstGeom>
          <a:noFill/>
          <a:ln cap="flat" cmpd="sng" w="28575">
            <a:solidFill>
              <a:srgbClr val="845AD9"/>
            </a:solidFill>
            <a:prstDash val="solid"/>
            <a:round/>
            <a:headEnd len="med" w="med" type="triangle"/>
            <a:tailEnd len="med" w="med" type="triangle"/>
          </a:ln>
        </p:spPr>
      </p:cxnSp>
      <p:sp>
        <p:nvSpPr>
          <p:cNvPr id="1180" name="Google Shape;1180;p81"/>
          <p:cNvSpPr txBox="1"/>
          <p:nvPr>
            <p:ph idx="4294967295" type="body"/>
          </p:nvPr>
        </p:nvSpPr>
        <p:spPr>
          <a:xfrm>
            <a:off x="1021357" y="204140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28</a:t>
            </a:r>
            <a:r>
              <a:rPr lang="en-GB" sz="1800"/>
              <a:t> cm</a:t>
            </a:r>
            <a:endParaRPr sz="1800"/>
          </a:p>
        </p:txBody>
      </p:sp>
      <p:grpSp>
        <p:nvGrpSpPr>
          <p:cNvPr id="1181" name="Google Shape;1181;p81"/>
          <p:cNvGrpSpPr/>
          <p:nvPr/>
        </p:nvGrpSpPr>
        <p:grpSpPr>
          <a:xfrm>
            <a:off x="5017206" y="1562625"/>
            <a:ext cx="2497968" cy="1921969"/>
            <a:chOff x="-2048113" y="1348705"/>
            <a:chExt cx="986988" cy="1890213"/>
          </a:xfrm>
        </p:grpSpPr>
        <p:sp>
          <p:nvSpPr>
            <p:cNvPr id="1182" name="Google Shape;1182;p8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83" name="Google Shape;1183;p81"/>
            <p:cNvCxnSpPr/>
            <p:nvPr/>
          </p:nvCxnSpPr>
          <p:spPr>
            <a:xfrm flipH="1">
              <a:off x="-2048113" y="134870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184" name="Google Shape;1184;p81"/>
            <p:cNvCxnSpPr/>
            <p:nvPr/>
          </p:nvCxnSpPr>
          <p:spPr>
            <a:xfrm rot="10800000">
              <a:off x="-2025104" y="3238918"/>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185" name="Google Shape;1185;p81"/>
          <p:cNvSpPr/>
          <p:nvPr/>
        </p:nvSpPr>
        <p:spPr>
          <a:xfrm>
            <a:off x="7316733" y="3165533"/>
            <a:ext cx="198300" cy="1983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6" name="Google Shape;1186;p81"/>
          <p:cNvSpPr txBox="1"/>
          <p:nvPr>
            <p:ph idx="4294967295" type="body"/>
          </p:nvPr>
        </p:nvSpPr>
        <p:spPr>
          <a:xfrm>
            <a:off x="5724609" y="2048722"/>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1187" name="Google Shape;1187;p81"/>
          <p:cNvSpPr txBox="1"/>
          <p:nvPr>
            <p:ph idx="4294967295" type="body"/>
          </p:nvPr>
        </p:nvSpPr>
        <p:spPr>
          <a:xfrm>
            <a:off x="5964976" y="3489200"/>
            <a:ext cx="10014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12.8</a:t>
            </a:r>
            <a:r>
              <a:rPr lang="en-GB" sz="1800"/>
              <a:t> cm</a:t>
            </a:r>
            <a:endParaRPr sz="1800"/>
          </a:p>
        </p:txBody>
      </p:sp>
      <p:sp>
        <p:nvSpPr>
          <p:cNvPr id="1188" name="Google Shape;1188;p81"/>
          <p:cNvSpPr txBox="1"/>
          <p:nvPr>
            <p:ph idx="4294967295" type="body"/>
          </p:nvPr>
        </p:nvSpPr>
        <p:spPr>
          <a:xfrm>
            <a:off x="5872456" y="2796776"/>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19</a:t>
            </a:r>
            <a:r>
              <a:rPr lang="en-GB" sz="1800"/>
              <a:t>°</a:t>
            </a:r>
            <a:endParaRPr sz="1800"/>
          </a:p>
        </p:txBody>
      </p:sp>
      <p:cxnSp>
        <p:nvCxnSpPr>
          <p:cNvPr id="1189" name="Google Shape;1189;p81"/>
          <p:cNvCxnSpPr>
            <a:stCxn id="1182" idx="0"/>
          </p:cNvCxnSpPr>
          <p:nvPr/>
        </p:nvCxnSpPr>
        <p:spPr>
          <a:xfrm flipH="1" rot="10800000">
            <a:off x="5083233" y="2591523"/>
            <a:ext cx="2442000" cy="776400"/>
          </a:xfrm>
          <a:prstGeom prst="straightConnector1">
            <a:avLst/>
          </a:prstGeom>
          <a:noFill/>
          <a:ln cap="flat" cmpd="sng" w="28575">
            <a:solidFill>
              <a:schemeClr val="dk1"/>
            </a:solidFill>
            <a:prstDash val="solid"/>
            <a:round/>
            <a:headEnd len="med" w="med" type="none"/>
            <a:tailEnd len="med" w="med" type="none"/>
          </a:ln>
        </p:spPr>
      </p:cxnSp>
      <p:sp>
        <p:nvSpPr>
          <p:cNvPr id="1190" name="Google Shape;1190;p81"/>
          <p:cNvSpPr txBox="1"/>
          <p:nvPr>
            <p:ph idx="4294967295" type="body"/>
          </p:nvPr>
        </p:nvSpPr>
        <p:spPr>
          <a:xfrm>
            <a:off x="6966301" y="2876157"/>
            <a:ext cx="4167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72</a:t>
            </a:r>
            <a:r>
              <a:rPr lang="en-GB" sz="1800"/>
              <a:t>°</a:t>
            </a:r>
            <a:endParaRPr sz="1800"/>
          </a:p>
        </p:txBody>
      </p:sp>
      <p:sp>
        <p:nvSpPr>
          <p:cNvPr id="1191" name="Google Shape;1191;p81"/>
          <p:cNvSpPr/>
          <p:nvPr/>
        </p:nvSpPr>
        <p:spPr>
          <a:xfrm>
            <a:off x="4483647" y="2577183"/>
            <a:ext cx="1431900" cy="1434900"/>
          </a:xfrm>
          <a:prstGeom prst="arc">
            <a:avLst>
              <a:gd fmla="val 19497988" name="adj1"/>
              <a:gd fmla="val 20715158"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2" name="Google Shape;1192;p81"/>
          <p:cNvSpPr/>
          <p:nvPr/>
        </p:nvSpPr>
        <p:spPr>
          <a:xfrm>
            <a:off x="7126243" y="2158368"/>
            <a:ext cx="755100" cy="756600"/>
          </a:xfrm>
          <a:prstGeom prst="arc">
            <a:avLst>
              <a:gd fmla="val 5344763" name="adj1"/>
              <a:gd fmla="val 905218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8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sp>
        <p:nvSpPr>
          <p:cNvPr id="1198" name="Google Shape;1198;p82"/>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r>
              <a:rPr lang="en-GB" sz="1800"/>
              <a:t>) Work out the perimeter of this </a:t>
            </a:r>
            <a:r>
              <a:rPr lang="en-GB" sz="1800"/>
              <a:t>triangle, giving your answer to 1 decimal place.</a:t>
            </a:r>
            <a:endParaRPr sz="1800"/>
          </a:p>
        </p:txBody>
      </p:sp>
      <p:sp>
        <p:nvSpPr>
          <p:cNvPr id="1199" name="Google Shape;1199;p82"/>
          <p:cNvSpPr/>
          <p:nvPr/>
        </p:nvSpPr>
        <p:spPr>
          <a:xfrm rot="-1587471">
            <a:off x="3959115" y="2076306"/>
            <a:ext cx="143422" cy="143422"/>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00" name="Google Shape;1200;p82"/>
          <p:cNvCxnSpPr/>
          <p:nvPr/>
        </p:nvCxnSpPr>
        <p:spPr>
          <a:xfrm flipH="1" rot="10800000">
            <a:off x="2673126" y="1293596"/>
            <a:ext cx="2661900" cy="1256100"/>
          </a:xfrm>
          <a:prstGeom prst="straightConnector1">
            <a:avLst/>
          </a:prstGeom>
          <a:noFill/>
          <a:ln cap="flat" cmpd="sng" w="28575">
            <a:solidFill>
              <a:schemeClr val="dk1"/>
            </a:solidFill>
            <a:prstDash val="solid"/>
            <a:round/>
            <a:headEnd len="med" w="med" type="triangle"/>
            <a:tailEnd len="med" w="med" type="triangle"/>
          </a:ln>
        </p:spPr>
      </p:cxnSp>
      <p:sp>
        <p:nvSpPr>
          <p:cNvPr id="1201" name="Google Shape;1201;p82"/>
          <p:cNvSpPr txBox="1"/>
          <p:nvPr>
            <p:ph idx="4294967295" type="body"/>
          </p:nvPr>
        </p:nvSpPr>
        <p:spPr>
          <a:xfrm>
            <a:off x="3472007" y="1559104"/>
            <a:ext cx="726300" cy="21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24</a:t>
            </a:r>
            <a:r>
              <a:rPr lang="en-GB" sz="1800"/>
              <a:t> cm</a:t>
            </a:r>
            <a:endParaRPr sz="1800"/>
          </a:p>
        </p:txBody>
      </p:sp>
      <p:cxnSp>
        <p:nvCxnSpPr>
          <p:cNvPr id="1202" name="Google Shape;1202;p82"/>
          <p:cNvCxnSpPr/>
          <p:nvPr/>
        </p:nvCxnSpPr>
        <p:spPr>
          <a:xfrm flipH="1" rot="10800000">
            <a:off x="4552538" y="1484725"/>
            <a:ext cx="952500" cy="1208100"/>
          </a:xfrm>
          <a:prstGeom prst="straightConnector1">
            <a:avLst/>
          </a:prstGeom>
          <a:noFill/>
          <a:ln cap="flat" cmpd="sng" w="28575">
            <a:solidFill>
              <a:schemeClr val="dk1"/>
            </a:solidFill>
            <a:prstDash val="solid"/>
            <a:round/>
            <a:headEnd len="med" w="med" type="triangle"/>
            <a:tailEnd len="med" w="med" type="triangle"/>
          </a:ln>
        </p:spPr>
      </p:cxnSp>
      <p:sp>
        <p:nvSpPr>
          <p:cNvPr id="1203" name="Google Shape;1203;p82"/>
          <p:cNvSpPr txBox="1"/>
          <p:nvPr>
            <p:ph idx="4294967295" type="body"/>
          </p:nvPr>
        </p:nvSpPr>
        <p:spPr>
          <a:xfrm>
            <a:off x="5092776" y="2043343"/>
            <a:ext cx="726300" cy="21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5 cm</a:t>
            </a:r>
            <a:endParaRPr sz="1800"/>
          </a:p>
        </p:txBody>
      </p:sp>
      <p:sp>
        <p:nvSpPr>
          <p:cNvPr id="1204" name="Google Shape;1204;p82"/>
          <p:cNvSpPr/>
          <p:nvPr/>
        </p:nvSpPr>
        <p:spPr>
          <a:xfrm>
            <a:off x="4575033" y="687950"/>
            <a:ext cx="1615800" cy="1615800"/>
          </a:xfrm>
          <a:prstGeom prst="arc">
            <a:avLst>
              <a:gd fmla="val 7881710" name="adj1"/>
              <a:gd fmla="val 9392137"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5" name="Google Shape;1205;p82"/>
          <p:cNvSpPr txBox="1"/>
          <p:nvPr/>
        </p:nvSpPr>
        <p:spPr>
          <a:xfrm>
            <a:off x="4342537" y="1932875"/>
            <a:ext cx="789900" cy="324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21</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1206" name="Google Shape;1206;p82"/>
          <p:cNvCxnSpPr/>
          <p:nvPr/>
        </p:nvCxnSpPr>
        <p:spPr>
          <a:xfrm rot="10800000">
            <a:off x="4064029" y="2061761"/>
            <a:ext cx="330900" cy="613200"/>
          </a:xfrm>
          <a:prstGeom prst="straightConnector1">
            <a:avLst/>
          </a:prstGeom>
          <a:noFill/>
          <a:ln cap="flat" cmpd="sng" w="28575">
            <a:solidFill>
              <a:schemeClr val="dk2"/>
            </a:solidFill>
            <a:prstDash val="dash"/>
            <a:round/>
            <a:headEnd len="med" w="med" type="none"/>
            <a:tailEnd len="med" w="med" type="none"/>
          </a:ln>
        </p:spPr>
      </p:cxnSp>
      <p:sp>
        <p:nvSpPr>
          <p:cNvPr id="1207" name="Google Shape;1207;p82"/>
          <p:cNvSpPr/>
          <p:nvPr/>
        </p:nvSpPr>
        <p:spPr>
          <a:xfrm>
            <a:off x="2738913" y="1460558"/>
            <a:ext cx="2620636" cy="1212584"/>
          </a:xfrm>
          <a:custGeom>
            <a:rect b="b" l="l" r="r" t="t"/>
            <a:pathLst>
              <a:path extrusionOk="0" h="35391" w="76487">
                <a:moveTo>
                  <a:pt x="0" y="35291"/>
                </a:moveTo>
                <a:lnTo>
                  <a:pt x="48300" y="35391"/>
                </a:lnTo>
                <a:lnTo>
                  <a:pt x="76487" y="0"/>
                </a:lnTo>
                <a:close/>
              </a:path>
            </a:pathLst>
          </a:custGeom>
          <a:noFill/>
          <a:ln cap="flat" cmpd="sng" w="28575">
            <a:solidFill>
              <a:schemeClr val="dk1"/>
            </a:solidFill>
            <a:prstDash val="solid"/>
            <a:round/>
            <a:headEnd len="med" w="med" type="none"/>
            <a:tailEnd len="med" w="med" type="none"/>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8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sp>
        <p:nvSpPr>
          <p:cNvPr id="1213" name="Google Shape;1213;p8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Calculate </a:t>
            </a:r>
            <a:r>
              <a:rPr i="1" lang="en-GB" sz="2000">
                <a:latin typeface="Times New Roman"/>
                <a:ea typeface="Times New Roman"/>
                <a:cs typeface="Times New Roman"/>
                <a:sym typeface="Times New Roman"/>
              </a:rPr>
              <a:t>x </a:t>
            </a:r>
            <a:r>
              <a:rPr lang="en-GB" sz="1800"/>
              <a:t>in each triangle.</a:t>
            </a:r>
            <a:endParaRPr sz="1800"/>
          </a:p>
        </p:txBody>
      </p:sp>
      <p:sp>
        <p:nvSpPr>
          <p:cNvPr id="1214" name="Google Shape;1214;p83"/>
          <p:cNvSpPr txBox="1"/>
          <p:nvPr>
            <p:ph idx="1" type="body"/>
          </p:nvPr>
        </p:nvSpPr>
        <p:spPr>
          <a:xfrm>
            <a:off x="324000" y="1174975"/>
            <a:ext cx="298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endParaRPr sz="1800"/>
          </a:p>
        </p:txBody>
      </p:sp>
      <p:sp>
        <p:nvSpPr>
          <p:cNvPr id="1215" name="Google Shape;1215;p83"/>
          <p:cNvSpPr txBox="1"/>
          <p:nvPr>
            <p:ph idx="1" type="body"/>
          </p:nvPr>
        </p:nvSpPr>
        <p:spPr>
          <a:xfrm>
            <a:off x="3284238" y="1174975"/>
            <a:ext cx="298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a:t>
            </a:r>
            <a:endParaRPr sz="1800"/>
          </a:p>
        </p:txBody>
      </p:sp>
      <p:sp>
        <p:nvSpPr>
          <p:cNvPr id="1216" name="Google Shape;1216;p83"/>
          <p:cNvSpPr txBox="1"/>
          <p:nvPr>
            <p:ph idx="1" type="body"/>
          </p:nvPr>
        </p:nvSpPr>
        <p:spPr>
          <a:xfrm>
            <a:off x="6244475" y="1174975"/>
            <a:ext cx="2317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 The perimeter is 1.2 m </a:t>
            </a:r>
            <a:endParaRPr sz="1800"/>
          </a:p>
        </p:txBody>
      </p:sp>
      <p:grpSp>
        <p:nvGrpSpPr>
          <p:cNvPr id="1217" name="Google Shape;1217;p83"/>
          <p:cNvGrpSpPr/>
          <p:nvPr/>
        </p:nvGrpSpPr>
        <p:grpSpPr>
          <a:xfrm>
            <a:off x="6188235" y="1725599"/>
            <a:ext cx="2006081" cy="1471748"/>
            <a:chOff x="-2055529" y="1311788"/>
            <a:chExt cx="1057000" cy="1977890"/>
          </a:xfrm>
        </p:grpSpPr>
        <p:sp>
          <p:nvSpPr>
            <p:cNvPr id="1218" name="Google Shape;1218;p8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19" name="Google Shape;1219;p83"/>
            <p:cNvCxnSpPr/>
            <p:nvPr/>
          </p:nvCxnSpPr>
          <p:spPr>
            <a:xfrm flipH="1">
              <a:off x="-2055529" y="1311788"/>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220" name="Google Shape;1220;p83"/>
            <p:cNvCxnSpPr/>
            <p:nvPr/>
          </p:nvCxnSpPr>
          <p:spPr>
            <a:xfrm rot="10800000">
              <a:off x="-2025104" y="3289678"/>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221" name="Google Shape;1221;p83"/>
            <p:cNvCxnSpPr/>
            <p:nvPr/>
          </p:nvCxnSpPr>
          <p:spPr>
            <a:xfrm rot="10800000">
              <a:off x="-99852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222" name="Google Shape;1222;p83"/>
          <p:cNvSpPr/>
          <p:nvPr/>
        </p:nvSpPr>
        <p:spPr>
          <a:xfrm>
            <a:off x="7872590" y="2875200"/>
            <a:ext cx="198300" cy="1983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23" name="Google Shape;1223;p83"/>
          <p:cNvGrpSpPr/>
          <p:nvPr/>
        </p:nvGrpSpPr>
        <p:grpSpPr>
          <a:xfrm>
            <a:off x="320835" y="1725599"/>
            <a:ext cx="1887279" cy="1471748"/>
            <a:chOff x="-2055529" y="1311788"/>
            <a:chExt cx="994404" cy="1977890"/>
          </a:xfrm>
        </p:grpSpPr>
        <p:sp>
          <p:nvSpPr>
            <p:cNvPr id="1224" name="Google Shape;1224;p8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25" name="Google Shape;1225;p83"/>
            <p:cNvCxnSpPr/>
            <p:nvPr/>
          </p:nvCxnSpPr>
          <p:spPr>
            <a:xfrm flipH="1">
              <a:off x="-2055529" y="1311788"/>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226" name="Google Shape;1226;p83"/>
            <p:cNvCxnSpPr/>
            <p:nvPr/>
          </p:nvCxnSpPr>
          <p:spPr>
            <a:xfrm rot="10800000">
              <a:off x="-2025104" y="3289678"/>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227" name="Google Shape;1227;p83"/>
          <p:cNvSpPr/>
          <p:nvPr/>
        </p:nvSpPr>
        <p:spPr>
          <a:xfrm>
            <a:off x="2005190" y="2875200"/>
            <a:ext cx="198300" cy="1983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28" name="Google Shape;1228;p83"/>
          <p:cNvGrpSpPr/>
          <p:nvPr/>
        </p:nvGrpSpPr>
        <p:grpSpPr>
          <a:xfrm>
            <a:off x="3273327" y="1725599"/>
            <a:ext cx="2006081" cy="1471748"/>
            <a:chOff x="-2055529" y="1311788"/>
            <a:chExt cx="1057000" cy="1977890"/>
          </a:xfrm>
        </p:grpSpPr>
        <p:sp>
          <p:nvSpPr>
            <p:cNvPr id="1229" name="Google Shape;1229;p8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30" name="Google Shape;1230;p83"/>
            <p:cNvCxnSpPr/>
            <p:nvPr/>
          </p:nvCxnSpPr>
          <p:spPr>
            <a:xfrm flipH="1">
              <a:off x="-2055529" y="1311788"/>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231" name="Google Shape;1231;p83"/>
            <p:cNvCxnSpPr/>
            <p:nvPr/>
          </p:nvCxnSpPr>
          <p:spPr>
            <a:xfrm rot="10800000">
              <a:off x="-2025104" y="3289678"/>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232" name="Google Shape;1232;p83"/>
            <p:cNvCxnSpPr/>
            <p:nvPr/>
          </p:nvCxnSpPr>
          <p:spPr>
            <a:xfrm rot="10800000">
              <a:off x="-998529"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233" name="Google Shape;1233;p83"/>
          <p:cNvSpPr/>
          <p:nvPr/>
        </p:nvSpPr>
        <p:spPr>
          <a:xfrm>
            <a:off x="4957682" y="2875200"/>
            <a:ext cx="198300" cy="1983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4" name="Google Shape;1234;p83"/>
          <p:cNvSpPr txBox="1"/>
          <p:nvPr>
            <p:ph idx="4294967295" type="body"/>
          </p:nvPr>
        </p:nvSpPr>
        <p:spPr>
          <a:xfrm>
            <a:off x="701883" y="2124154"/>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1235" name="Google Shape;1235;p83"/>
          <p:cNvSpPr txBox="1"/>
          <p:nvPr>
            <p:ph idx="4294967295" type="body"/>
          </p:nvPr>
        </p:nvSpPr>
        <p:spPr>
          <a:xfrm>
            <a:off x="3602708" y="2124154"/>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1236" name="Google Shape;1236;p83"/>
          <p:cNvSpPr txBox="1"/>
          <p:nvPr>
            <p:ph idx="4294967295" type="body"/>
          </p:nvPr>
        </p:nvSpPr>
        <p:spPr>
          <a:xfrm>
            <a:off x="6542683" y="2124154"/>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1237" name="Google Shape;1237;p83"/>
          <p:cNvSpPr txBox="1"/>
          <p:nvPr>
            <p:ph idx="4294967295" type="body"/>
          </p:nvPr>
        </p:nvSpPr>
        <p:spPr>
          <a:xfrm>
            <a:off x="965232" y="3197350"/>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40 cm</a:t>
            </a:r>
            <a:endParaRPr sz="1800"/>
          </a:p>
        </p:txBody>
      </p:sp>
      <p:sp>
        <p:nvSpPr>
          <p:cNvPr id="1238" name="Google Shape;1238;p83"/>
          <p:cNvSpPr txBox="1"/>
          <p:nvPr>
            <p:ph idx="4294967295" type="body"/>
          </p:nvPr>
        </p:nvSpPr>
        <p:spPr>
          <a:xfrm>
            <a:off x="782967" y="2806093"/>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a:t>
            </a:r>
            <a:endParaRPr sz="1800"/>
          </a:p>
        </p:txBody>
      </p:sp>
      <p:sp>
        <p:nvSpPr>
          <p:cNvPr id="1239" name="Google Shape;1239;p83"/>
          <p:cNvSpPr txBox="1"/>
          <p:nvPr>
            <p:ph idx="4294967295" type="body"/>
          </p:nvPr>
        </p:nvSpPr>
        <p:spPr>
          <a:xfrm>
            <a:off x="3988007" y="3197350"/>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40 cm</a:t>
            </a:r>
            <a:endParaRPr sz="1800"/>
          </a:p>
        </p:txBody>
      </p:sp>
      <p:sp>
        <p:nvSpPr>
          <p:cNvPr id="1240" name="Google Shape;1240;p83"/>
          <p:cNvSpPr txBox="1"/>
          <p:nvPr>
            <p:ph idx="4294967295" type="body"/>
          </p:nvPr>
        </p:nvSpPr>
        <p:spPr>
          <a:xfrm>
            <a:off x="5342865" y="2338050"/>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 cm</a:t>
            </a:r>
            <a:endParaRPr sz="1800"/>
          </a:p>
        </p:txBody>
      </p:sp>
      <p:sp>
        <p:nvSpPr>
          <p:cNvPr id="1241" name="Google Shape;1241;p83"/>
          <p:cNvSpPr txBox="1"/>
          <p:nvPr>
            <p:ph idx="4294967295" type="body"/>
          </p:nvPr>
        </p:nvSpPr>
        <p:spPr>
          <a:xfrm>
            <a:off x="6892608" y="3176250"/>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40 cm</a:t>
            </a:r>
            <a:endParaRPr sz="1800"/>
          </a:p>
        </p:txBody>
      </p:sp>
      <p:sp>
        <p:nvSpPr>
          <p:cNvPr id="1242" name="Google Shape;1242;p83"/>
          <p:cNvSpPr txBox="1"/>
          <p:nvPr>
            <p:ph idx="4294967295" type="body"/>
          </p:nvPr>
        </p:nvSpPr>
        <p:spPr>
          <a:xfrm>
            <a:off x="8188008" y="2338050"/>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 cm</a:t>
            </a:r>
            <a:endParaRPr sz="1800"/>
          </a:p>
        </p:txBody>
      </p:sp>
      <p:sp>
        <p:nvSpPr>
          <p:cNvPr id="1243" name="Google Shape;1243;p83"/>
          <p:cNvSpPr/>
          <p:nvPr/>
        </p:nvSpPr>
        <p:spPr>
          <a:xfrm>
            <a:off x="76600" y="2746350"/>
            <a:ext cx="669300" cy="669300"/>
          </a:xfrm>
          <a:prstGeom prst="arc">
            <a:avLst>
              <a:gd fmla="val 19311294"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4" name="Google Shape;1244;p83"/>
          <p:cNvSpPr txBox="1"/>
          <p:nvPr/>
        </p:nvSpPr>
        <p:spPr>
          <a:xfrm>
            <a:off x="971501" y="3883500"/>
            <a:ext cx="9843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000000"/>
                </a:solidFill>
                <a:latin typeface="Times New Roman"/>
                <a:ea typeface="Times New Roman"/>
                <a:cs typeface="Times New Roman"/>
                <a:sym typeface="Times New Roman"/>
              </a:rPr>
              <a:t>cos(</a:t>
            </a:r>
            <a:r>
              <a:rPr lang="en-GB" sz="2000">
                <a:solidFill>
                  <a:srgbClr val="000000"/>
                </a:solidFill>
                <a:latin typeface="Kalam"/>
                <a:ea typeface="Kalam"/>
                <a:cs typeface="Kalam"/>
                <a:sym typeface="Kalam"/>
              </a:rPr>
              <a:t>3</a:t>
            </a:r>
            <a:r>
              <a:rPr lang="en-GB" sz="2000">
                <a:latin typeface="Kalam"/>
                <a:ea typeface="Kalam"/>
                <a:cs typeface="Kalam"/>
                <a:sym typeface="Kalam"/>
              </a:rPr>
              <a:t>0</a:t>
            </a:r>
            <a:r>
              <a:rPr lang="en-GB" sz="1800">
                <a:solidFill>
                  <a:srgbClr val="000000"/>
                </a:solidFill>
                <a:latin typeface="Lexend"/>
                <a:ea typeface="Lexend"/>
                <a:cs typeface="Lexend"/>
                <a:sym typeface="Lexend"/>
              </a:rPr>
              <a:t>°</a:t>
            </a:r>
            <a:r>
              <a:rPr lang="en-GB" sz="2200">
                <a:solidFill>
                  <a:srgbClr val="000000"/>
                </a:solidFill>
                <a:latin typeface="Times New Roman"/>
                <a:ea typeface="Times New Roman"/>
                <a:cs typeface="Times New Roman"/>
                <a:sym typeface="Times New Roman"/>
              </a:rPr>
              <a:t>)</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245" name="Google Shape;1245;p83"/>
          <p:cNvSpPr txBox="1"/>
          <p:nvPr/>
        </p:nvSpPr>
        <p:spPr>
          <a:xfrm>
            <a:off x="609605" y="3729882"/>
            <a:ext cx="4035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200">
                <a:latin typeface="Times New Roman"/>
                <a:ea typeface="Times New Roman"/>
                <a:cs typeface="Times New Roman"/>
                <a:sym typeface="Times New Roman"/>
              </a:rPr>
              <a:t>x</a:t>
            </a:r>
            <a:r>
              <a:rPr i="1" lang="en-GB" sz="2000">
                <a:solidFill>
                  <a:srgbClr val="000000"/>
                </a:solidFill>
                <a:latin typeface="Times New Roman"/>
                <a:ea typeface="Times New Roman"/>
                <a:cs typeface="Times New Roman"/>
                <a:sym typeface="Times New Roman"/>
              </a:rPr>
              <a:t> </a:t>
            </a:r>
            <a:r>
              <a:rPr lang="en-GB" sz="2000">
                <a:solidFill>
                  <a:srgbClr val="000000"/>
                </a:solidFill>
                <a:latin typeface="Kalam"/>
                <a:ea typeface="Kalam"/>
                <a:cs typeface="Kalam"/>
                <a:sym typeface="Kalam"/>
              </a:rPr>
              <a:t>=</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246" name="Google Shape;1246;p83"/>
          <p:cNvSpPr txBox="1"/>
          <p:nvPr/>
        </p:nvSpPr>
        <p:spPr>
          <a:xfrm>
            <a:off x="1278621" y="3605818"/>
            <a:ext cx="2982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40</a:t>
            </a:r>
            <a:r>
              <a:rPr lang="en-GB" sz="2000">
                <a:solidFill>
                  <a:srgbClr val="000000"/>
                </a:solidFill>
                <a:latin typeface="Kalam"/>
                <a:ea typeface="Kalam"/>
                <a:cs typeface="Kalam"/>
                <a:sym typeface="Kalam"/>
              </a:rPr>
              <a:t>  </a:t>
            </a:r>
            <a:endParaRPr sz="2000">
              <a:solidFill>
                <a:srgbClr val="000000"/>
              </a:solidFill>
              <a:latin typeface="Kalam"/>
              <a:ea typeface="Kalam"/>
              <a:cs typeface="Kalam"/>
              <a:sym typeface="Kalam"/>
            </a:endParaRPr>
          </a:p>
        </p:txBody>
      </p:sp>
      <p:cxnSp>
        <p:nvCxnSpPr>
          <p:cNvPr id="1247" name="Google Shape;1247;p83"/>
          <p:cNvCxnSpPr/>
          <p:nvPr/>
        </p:nvCxnSpPr>
        <p:spPr>
          <a:xfrm>
            <a:off x="994702" y="3891536"/>
            <a:ext cx="890400" cy="0"/>
          </a:xfrm>
          <a:prstGeom prst="straightConnector1">
            <a:avLst/>
          </a:prstGeom>
          <a:noFill/>
          <a:ln cap="flat" cmpd="sng" w="19050">
            <a:solidFill>
              <a:srgbClr val="000000"/>
            </a:solidFill>
            <a:prstDash val="solid"/>
            <a:round/>
            <a:headEnd len="med" w="med" type="none"/>
            <a:tailEnd len="med" w="med" type="none"/>
          </a:ln>
        </p:spPr>
      </p:cxnSp>
      <p:sp>
        <p:nvSpPr>
          <p:cNvPr id="1248" name="Google Shape;1248;p83"/>
          <p:cNvSpPr txBox="1"/>
          <p:nvPr/>
        </p:nvSpPr>
        <p:spPr>
          <a:xfrm>
            <a:off x="592450" y="4296900"/>
            <a:ext cx="21486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200">
                <a:latin typeface="Times New Roman"/>
                <a:ea typeface="Times New Roman"/>
                <a:cs typeface="Times New Roman"/>
                <a:sym typeface="Times New Roman"/>
              </a:rPr>
              <a:t>x</a:t>
            </a:r>
            <a:r>
              <a:rPr i="1" lang="en-GB" sz="2000">
                <a:solidFill>
                  <a:srgbClr val="000000"/>
                </a:solidFill>
                <a:latin typeface="Times New Roman"/>
                <a:ea typeface="Times New Roman"/>
                <a:cs typeface="Times New Roman"/>
                <a:sym typeface="Times New Roman"/>
              </a:rPr>
              <a:t> </a:t>
            </a:r>
            <a:r>
              <a:rPr lang="en-GB" sz="2000">
                <a:solidFill>
                  <a:srgbClr val="000000"/>
                </a:solidFill>
                <a:latin typeface="Kalam"/>
                <a:ea typeface="Kalam"/>
                <a:cs typeface="Kalam"/>
                <a:sym typeface="Kalam"/>
              </a:rPr>
              <a:t>=</a:t>
            </a:r>
            <a:r>
              <a:rPr lang="en-GB" sz="1800">
                <a:solidFill>
                  <a:srgbClr val="000000"/>
                </a:solidFill>
                <a:latin typeface="Lexend"/>
                <a:ea typeface="Lexend"/>
                <a:cs typeface="Lexend"/>
                <a:sym typeface="Lexend"/>
              </a:rPr>
              <a:t> </a:t>
            </a:r>
            <a:r>
              <a:rPr lang="en-GB" sz="2000">
                <a:latin typeface="Kalam"/>
                <a:ea typeface="Kalam"/>
                <a:cs typeface="Kalam"/>
                <a:sym typeface="Kalam"/>
              </a:rPr>
              <a:t>46.2</a:t>
            </a:r>
            <a:r>
              <a:rPr lang="en-GB" sz="2000">
                <a:solidFill>
                  <a:srgbClr val="000000"/>
                </a:solidFill>
                <a:latin typeface="Kalam"/>
                <a:ea typeface="Kalam"/>
                <a:cs typeface="Kalam"/>
                <a:sym typeface="Kalam"/>
              </a:rPr>
              <a:t> (1 d.p.)</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249" name="Google Shape;1249;p83"/>
          <p:cNvSpPr txBox="1"/>
          <p:nvPr/>
        </p:nvSpPr>
        <p:spPr>
          <a:xfrm>
            <a:off x="3259457" y="3687300"/>
            <a:ext cx="18873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200">
                <a:latin typeface="Times New Roman"/>
                <a:ea typeface="Times New Roman"/>
                <a:cs typeface="Times New Roman"/>
                <a:sym typeface="Times New Roman"/>
              </a:rPr>
              <a:t>x</a:t>
            </a:r>
            <a:r>
              <a:rPr baseline="30000" lang="en-GB" sz="2000">
                <a:latin typeface="Kalam"/>
                <a:ea typeface="Kalam"/>
                <a:cs typeface="Kalam"/>
                <a:sym typeface="Kalam"/>
              </a:rPr>
              <a:t>2</a:t>
            </a:r>
            <a:r>
              <a:rPr i="1" lang="en-GB" sz="2000">
                <a:solidFill>
                  <a:srgbClr val="000000"/>
                </a:solidFill>
                <a:latin typeface="Times New Roman"/>
                <a:ea typeface="Times New Roman"/>
                <a:cs typeface="Times New Roman"/>
                <a:sym typeface="Times New Roman"/>
              </a:rPr>
              <a:t> </a:t>
            </a:r>
            <a:r>
              <a:rPr lang="en-GB" sz="2000">
                <a:solidFill>
                  <a:srgbClr val="000000"/>
                </a:solidFill>
                <a:latin typeface="Kalam"/>
                <a:ea typeface="Kalam"/>
                <a:cs typeface="Kalam"/>
                <a:sym typeface="Kalam"/>
              </a:rPr>
              <a:t>= </a:t>
            </a:r>
            <a:r>
              <a:rPr lang="en-GB" sz="2000">
                <a:latin typeface="Kalam"/>
                <a:ea typeface="Kalam"/>
                <a:cs typeface="Kalam"/>
                <a:sym typeface="Kalam"/>
              </a:rPr>
              <a:t>40</a:t>
            </a:r>
            <a:r>
              <a:rPr baseline="30000" lang="en-GB" sz="2000">
                <a:latin typeface="Kalam"/>
                <a:ea typeface="Kalam"/>
                <a:cs typeface="Kalam"/>
                <a:sym typeface="Kalam"/>
              </a:rPr>
              <a:t>2</a:t>
            </a:r>
            <a:r>
              <a:rPr lang="en-GB" sz="2000">
                <a:latin typeface="Kalam"/>
                <a:ea typeface="Kalam"/>
                <a:cs typeface="Kalam"/>
                <a:sym typeface="Kalam"/>
              </a:rPr>
              <a:t> + 30</a:t>
            </a:r>
            <a:r>
              <a:rPr baseline="30000" lang="en-GB" sz="2000">
                <a:latin typeface="Kalam"/>
                <a:ea typeface="Kalam"/>
                <a:cs typeface="Kalam"/>
                <a:sym typeface="Kalam"/>
              </a:rPr>
              <a:t>2</a:t>
            </a:r>
            <a:endParaRPr baseline="30000" sz="2000">
              <a:solidFill>
                <a:srgbClr val="000000"/>
              </a:solidFill>
              <a:latin typeface="Kalam"/>
              <a:ea typeface="Kalam"/>
              <a:cs typeface="Kalam"/>
              <a:sym typeface="Kalam"/>
            </a:endParaRPr>
          </a:p>
        </p:txBody>
      </p:sp>
      <p:sp>
        <p:nvSpPr>
          <p:cNvPr id="1250" name="Google Shape;1250;p83"/>
          <p:cNvSpPr txBox="1"/>
          <p:nvPr/>
        </p:nvSpPr>
        <p:spPr>
          <a:xfrm>
            <a:off x="3259457" y="3992100"/>
            <a:ext cx="18873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200">
                <a:latin typeface="Times New Roman"/>
                <a:ea typeface="Times New Roman"/>
                <a:cs typeface="Times New Roman"/>
                <a:sym typeface="Times New Roman"/>
              </a:rPr>
              <a:t>x</a:t>
            </a:r>
            <a:r>
              <a:rPr baseline="30000" lang="en-GB" sz="2000">
                <a:latin typeface="Kalam"/>
                <a:ea typeface="Kalam"/>
                <a:cs typeface="Kalam"/>
                <a:sym typeface="Kalam"/>
              </a:rPr>
              <a:t>2</a:t>
            </a:r>
            <a:r>
              <a:rPr i="1" lang="en-GB" sz="2000">
                <a:solidFill>
                  <a:srgbClr val="000000"/>
                </a:solidFill>
                <a:latin typeface="Times New Roman"/>
                <a:ea typeface="Times New Roman"/>
                <a:cs typeface="Times New Roman"/>
                <a:sym typeface="Times New Roman"/>
              </a:rPr>
              <a:t> </a:t>
            </a:r>
            <a:r>
              <a:rPr lang="en-GB" sz="2000">
                <a:solidFill>
                  <a:srgbClr val="000000"/>
                </a:solidFill>
                <a:latin typeface="Kalam"/>
                <a:ea typeface="Kalam"/>
                <a:cs typeface="Kalam"/>
                <a:sym typeface="Kalam"/>
              </a:rPr>
              <a:t>= </a:t>
            </a:r>
            <a:r>
              <a:rPr lang="en-GB" sz="2000">
                <a:latin typeface="Kalam"/>
                <a:ea typeface="Kalam"/>
                <a:cs typeface="Kalam"/>
                <a:sym typeface="Kalam"/>
              </a:rPr>
              <a:t>2500</a:t>
            </a:r>
            <a:endParaRPr baseline="30000" sz="2000">
              <a:solidFill>
                <a:srgbClr val="000000"/>
              </a:solidFill>
              <a:latin typeface="Kalam"/>
              <a:ea typeface="Kalam"/>
              <a:cs typeface="Kalam"/>
              <a:sym typeface="Kalam"/>
            </a:endParaRPr>
          </a:p>
        </p:txBody>
      </p:sp>
      <p:sp>
        <p:nvSpPr>
          <p:cNvPr id="1251" name="Google Shape;1251;p83"/>
          <p:cNvSpPr txBox="1"/>
          <p:nvPr/>
        </p:nvSpPr>
        <p:spPr>
          <a:xfrm>
            <a:off x="3329221" y="4296900"/>
            <a:ext cx="18873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200">
                <a:latin typeface="Times New Roman"/>
                <a:ea typeface="Times New Roman"/>
                <a:cs typeface="Times New Roman"/>
                <a:sym typeface="Times New Roman"/>
              </a:rPr>
              <a:t>x</a:t>
            </a:r>
            <a:r>
              <a:rPr i="1" lang="en-GB" sz="2200">
                <a:solidFill>
                  <a:srgbClr val="000000"/>
                </a:solidFill>
                <a:latin typeface="Times New Roman"/>
                <a:ea typeface="Times New Roman"/>
                <a:cs typeface="Times New Roman"/>
                <a:sym typeface="Times New Roman"/>
              </a:rPr>
              <a:t> </a:t>
            </a:r>
            <a:r>
              <a:rPr lang="en-GB" sz="2000">
                <a:solidFill>
                  <a:srgbClr val="000000"/>
                </a:solidFill>
                <a:latin typeface="Kalam"/>
                <a:ea typeface="Kalam"/>
                <a:cs typeface="Kalam"/>
                <a:sym typeface="Kalam"/>
              </a:rPr>
              <a:t>= </a:t>
            </a:r>
            <a:r>
              <a:rPr lang="en-GB" sz="2000">
                <a:latin typeface="Kalam"/>
                <a:ea typeface="Kalam"/>
                <a:cs typeface="Kalam"/>
                <a:sym typeface="Kalam"/>
              </a:rPr>
              <a:t>50</a:t>
            </a:r>
            <a:endParaRPr baseline="30000" sz="2000">
              <a:solidFill>
                <a:srgbClr val="000000"/>
              </a:solidFill>
              <a:latin typeface="Kalam"/>
              <a:ea typeface="Kalam"/>
              <a:cs typeface="Kalam"/>
              <a:sym typeface="Kalam"/>
            </a:endParaRPr>
          </a:p>
        </p:txBody>
      </p:sp>
      <p:sp>
        <p:nvSpPr>
          <p:cNvPr id="1252" name="Google Shape;1252;p83"/>
          <p:cNvSpPr txBox="1"/>
          <p:nvPr/>
        </p:nvSpPr>
        <p:spPr>
          <a:xfrm>
            <a:off x="6095224" y="3687300"/>
            <a:ext cx="20871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200">
                <a:latin typeface="Times New Roman"/>
                <a:ea typeface="Times New Roman"/>
                <a:cs typeface="Times New Roman"/>
                <a:sym typeface="Times New Roman"/>
              </a:rPr>
              <a:t>x</a:t>
            </a:r>
            <a:r>
              <a:rPr i="1" lang="en-GB" sz="2000">
                <a:solidFill>
                  <a:srgbClr val="000000"/>
                </a:solidFill>
                <a:latin typeface="Times New Roman"/>
                <a:ea typeface="Times New Roman"/>
                <a:cs typeface="Times New Roman"/>
                <a:sym typeface="Times New Roman"/>
              </a:rPr>
              <a:t> </a:t>
            </a:r>
            <a:r>
              <a:rPr lang="en-GB" sz="2000">
                <a:latin typeface="Kalam"/>
                <a:ea typeface="Kalam"/>
                <a:cs typeface="Kalam"/>
                <a:sym typeface="Kalam"/>
              </a:rPr>
              <a:t>+ 40 + 30 = 120</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253" name="Google Shape;1253;p83"/>
          <p:cNvSpPr txBox="1"/>
          <p:nvPr/>
        </p:nvSpPr>
        <p:spPr>
          <a:xfrm>
            <a:off x="6720487" y="3992100"/>
            <a:ext cx="18873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200">
                <a:latin typeface="Times New Roman"/>
                <a:ea typeface="Times New Roman"/>
                <a:cs typeface="Times New Roman"/>
                <a:sym typeface="Times New Roman"/>
              </a:rPr>
              <a:t>x</a:t>
            </a:r>
            <a:r>
              <a:rPr i="1" lang="en-GB" sz="2200">
                <a:solidFill>
                  <a:srgbClr val="000000"/>
                </a:solidFill>
                <a:latin typeface="Times New Roman"/>
                <a:ea typeface="Times New Roman"/>
                <a:cs typeface="Times New Roman"/>
                <a:sym typeface="Times New Roman"/>
              </a:rPr>
              <a:t> </a:t>
            </a:r>
            <a:r>
              <a:rPr lang="en-GB" sz="2000">
                <a:latin typeface="Kalam"/>
                <a:ea typeface="Kalam"/>
                <a:cs typeface="Kalam"/>
                <a:sym typeface="Kalam"/>
              </a:rPr>
              <a:t>+ 70 = 120</a:t>
            </a:r>
            <a:r>
              <a:rPr lang="en-GB" sz="2000">
                <a:solidFill>
                  <a:srgbClr val="000000"/>
                </a:solidFill>
                <a:latin typeface="Kalam"/>
                <a:ea typeface="Kalam"/>
                <a:cs typeface="Kalam"/>
                <a:sym typeface="Kalam"/>
              </a:rPr>
              <a:t> </a:t>
            </a:r>
            <a:r>
              <a:rPr lang="en-GB" sz="2000">
                <a:solidFill>
                  <a:srgbClr val="000000"/>
                </a:solidFill>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254" name="Google Shape;1254;p83"/>
          <p:cNvSpPr txBox="1"/>
          <p:nvPr/>
        </p:nvSpPr>
        <p:spPr>
          <a:xfrm>
            <a:off x="7318656" y="4284028"/>
            <a:ext cx="18873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200">
                <a:latin typeface="Times New Roman"/>
                <a:ea typeface="Times New Roman"/>
                <a:cs typeface="Times New Roman"/>
                <a:sym typeface="Times New Roman"/>
              </a:rPr>
              <a:t>x</a:t>
            </a:r>
            <a:r>
              <a:rPr i="1" lang="en-GB" sz="2200">
                <a:solidFill>
                  <a:srgbClr val="000000"/>
                </a:solidFill>
                <a:latin typeface="Times New Roman"/>
                <a:ea typeface="Times New Roman"/>
                <a:cs typeface="Times New Roman"/>
                <a:sym typeface="Times New Roman"/>
              </a:rPr>
              <a:t> </a:t>
            </a:r>
            <a:r>
              <a:rPr lang="en-GB" sz="2000">
                <a:solidFill>
                  <a:srgbClr val="000000"/>
                </a:solidFill>
                <a:latin typeface="Kalam"/>
                <a:ea typeface="Kalam"/>
                <a:cs typeface="Kalam"/>
                <a:sym typeface="Kalam"/>
              </a:rPr>
              <a:t>= </a:t>
            </a:r>
            <a:r>
              <a:rPr lang="en-GB" sz="2000">
                <a:latin typeface="Kalam"/>
                <a:ea typeface="Kalam"/>
                <a:cs typeface="Kalam"/>
                <a:sym typeface="Kalam"/>
              </a:rPr>
              <a:t>50 </a:t>
            </a:r>
            <a:endParaRPr baseline="30000" sz="2000">
              <a:solidFill>
                <a:srgbClr val="000000"/>
              </a:solidFill>
              <a:latin typeface="Kalam"/>
              <a:ea typeface="Kalam"/>
              <a:cs typeface="Kalam"/>
              <a:sym typeface="Kala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8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sp>
        <p:nvSpPr>
          <p:cNvPr id="1260" name="Google Shape;1260;p84"/>
          <p:cNvSpPr txBox="1"/>
          <p:nvPr>
            <p:ph idx="1" type="body"/>
          </p:nvPr>
        </p:nvSpPr>
        <p:spPr>
          <a:xfrm>
            <a:off x="324000" y="76695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Calculate </a:t>
            </a:r>
            <a:r>
              <a:rPr i="1" lang="en-GB" sz="2000">
                <a:latin typeface="Times New Roman"/>
                <a:ea typeface="Times New Roman"/>
                <a:cs typeface="Times New Roman"/>
                <a:sym typeface="Times New Roman"/>
              </a:rPr>
              <a:t>x </a:t>
            </a:r>
            <a:r>
              <a:rPr lang="en-GB" sz="1800"/>
              <a:t>in each triangle, giving your answers to 1 decimal place.</a:t>
            </a:r>
            <a:endParaRPr sz="1800"/>
          </a:p>
        </p:txBody>
      </p:sp>
      <p:sp>
        <p:nvSpPr>
          <p:cNvPr id="1261" name="Google Shape;1261;p84"/>
          <p:cNvSpPr txBox="1"/>
          <p:nvPr>
            <p:ph idx="1" type="body"/>
          </p:nvPr>
        </p:nvSpPr>
        <p:spPr>
          <a:xfrm>
            <a:off x="324000" y="1174975"/>
            <a:ext cx="298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a:t>
            </a:r>
            <a:endParaRPr sz="1800"/>
          </a:p>
        </p:txBody>
      </p:sp>
      <p:grpSp>
        <p:nvGrpSpPr>
          <p:cNvPr id="1262" name="Google Shape;1262;p84"/>
          <p:cNvGrpSpPr/>
          <p:nvPr/>
        </p:nvGrpSpPr>
        <p:grpSpPr>
          <a:xfrm>
            <a:off x="445206" y="1486425"/>
            <a:ext cx="2497968" cy="1921969"/>
            <a:chOff x="-2048113" y="1348705"/>
            <a:chExt cx="986988" cy="1890213"/>
          </a:xfrm>
        </p:grpSpPr>
        <p:sp>
          <p:nvSpPr>
            <p:cNvPr id="1263" name="Google Shape;1263;p84"/>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64" name="Google Shape;1264;p84"/>
            <p:cNvCxnSpPr/>
            <p:nvPr/>
          </p:nvCxnSpPr>
          <p:spPr>
            <a:xfrm flipH="1">
              <a:off x="-2048113" y="134870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265" name="Google Shape;1265;p84"/>
            <p:cNvCxnSpPr/>
            <p:nvPr/>
          </p:nvCxnSpPr>
          <p:spPr>
            <a:xfrm rot="10800000">
              <a:off x="-2025104" y="3238918"/>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266" name="Google Shape;1266;p84"/>
          <p:cNvSpPr/>
          <p:nvPr/>
        </p:nvSpPr>
        <p:spPr>
          <a:xfrm>
            <a:off x="2744733" y="3089333"/>
            <a:ext cx="198300" cy="1983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7" name="Google Shape;1267;p84"/>
          <p:cNvSpPr txBox="1"/>
          <p:nvPr>
            <p:ph idx="4294967295" type="body"/>
          </p:nvPr>
        </p:nvSpPr>
        <p:spPr>
          <a:xfrm>
            <a:off x="3158638" y="1719497"/>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1268" name="Google Shape;1268;p84"/>
          <p:cNvSpPr txBox="1"/>
          <p:nvPr>
            <p:ph idx="4294967295" type="body"/>
          </p:nvPr>
        </p:nvSpPr>
        <p:spPr>
          <a:xfrm>
            <a:off x="1392973" y="341300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24 cm</a:t>
            </a:r>
            <a:endParaRPr sz="1800"/>
          </a:p>
        </p:txBody>
      </p:sp>
      <p:sp>
        <p:nvSpPr>
          <p:cNvPr id="1269" name="Google Shape;1269;p84"/>
          <p:cNvSpPr txBox="1"/>
          <p:nvPr>
            <p:ph idx="4294967295" type="body"/>
          </p:nvPr>
        </p:nvSpPr>
        <p:spPr>
          <a:xfrm>
            <a:off x="1326142" y="265721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a:t>
            </a:r>
            <a:endParaRPr sz="1800"/>
          </a:p>
        </p:txBody>
      </p:sp>
      <p:cxnSp>
        <p:nvCxnSpPr>
          <p:cNvPr id="1270" name="Google Shape;1270;p84"/>
          <p:cNvCxnSpPr>
            <a:stCxn id="1263" idx="0"/>
          </p:cNvCxnSpPr>
          <p:nvPr/>
        </p:nvCxnSpPr>
        <p:spPr>
          <a:xfrm flipH="1" rot="10800000">
            <a:off x="511233" y="2236623"/>
            <a:ext cx="2433600" cy="1055100"/>
          </a:xfrm>
          <a:prstGeom prst="straightConnector1">
            <a:avLst/>
          </a:prstGeom>
          <a:noFill/>
          <a:ln cap="flat" cmpd="sng" w="28575">
            <a:solidFill>
              <a:schemeClr val="dk1"/>
            </a:solidFill>
            <a:prstDash val="solid"/>
            <a:round/>
            <a:headEnd len="med" w="med" type="none"/>
            <a:tailEnd len="med" w="med" type="none"/>
          </a:ln>
        </p:spPr>
      </p:cxnSp>
      <p:sp>
        <p:nvSpPr>
          <p:cNvPr id="1271" name="Google Shape;1271;p84"/>
          <p:cNvSpPr txBox="1"/>
          <p:nvPr>
            <p:ph idx="4294967295" type="body"/>
          </p:nvPr>
        </p:nvSpPr>
        <p:spPr>
          <a:xfrm>
            <a:off x="2470501" y="2571357"/>
            <a:ext cx="4167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73°</a:t>
            </a:r>
            <a:endParaRPr sz="1800"/>
          </a:p>
        </p:txBody>
      </p:sp>
      <p:sp>
        <p:nvSpPr>
          <p:cNvPr id="1272" name="Google Shape;1272;p84"/>
          <p:cNvSpPr/>
          <p:nvPr/>
        </p:nvSpPr>
        <p:spPr>
          <a:xfrm>
            <a:off x="-88353" y="2500983"/>
            <a:ext cx="1431900" cy="1434900"/>
          </a:xfrm>
          <a:prstGeom prst="arc">
            <a:avLst>
              <a:gd fmla="val 19497988" name="adj1"/>
              <a:gd fmla="val 20279067"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3" name="Google Shape;1273;p84"/>
          <p:cNvSpPr/>
          <p:nvPr/>
        </p:nvSpPr>
        <p:spPr>
          <a:xfrm>
            <a:off x="2554243" y="1853568"/>
            <a:ext cx="755100" cy="756600"/>
          </a:xfrm>
          <a:prstGeom prst="arc">
            <a:avLst>
              <a:gd fmla="val 5344763" name="adj1"/>
              <a:gd fmla="val 9287145"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74" name="Google Shape;1274;p84"/>
          <p:cNvCxnSpPr/>
          <p:nvPr/>
        </p:nvCxnSpPr>
        <p:spPr>
          <a:xfrm>
            <a:off x="3048318" y="1579375"/>
            <a:ext cx="0" cy="638100"/>
          </a:xfrm>
          <a:prstGeom prst="straightConnector1">
            <a:avLst/>
          </a:prstGeom>
          <a:noFill/>
          <a:ln cap="flat" cmpd="sng" w="28575">
            <a:solidFill>
              <a:srgbClr val="845AD9"/>
            </a:solidFill>
            <a:prstDash val="solid"/>
            <a:round/>
            <a:headEnd len="med" w="med" type="triangle"/>
            <a:tailEnd len="med" w="med" type="triangle"/>
          </a:ln>
        </p:spPr>
      </p:cxnSp>
      <p:sp>
        <p:nvSpPr>
          <p:cNvPr id="1275" name="Google Shape;1275;p84"/>
          <p:cNvSpPr txBox="1"/>
          <p:nvPr>
            <p:ph idx="4294967295" type="body"/>
          </p:nvPr>
        </p:nvSpPr>
        <p:spPr>
          <a:xfrm>
            <a:off x="1021357" y="204140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28 cm</a:t>
            </a:r>
            <a:endParaRPr sz="1800"/>
          </a:p>
        </p:txBody>
      </p:sp>
      <p:cxnSp>
        <p:nvCxnSpPr>
          <p:cNvPr id="1276" name="Google Shape;1276;p84"/>
          <p:cNvCxnSpPr/>
          <p:nvPr/>
        </p:nvCxnSpPr>
        <p:spPr>
          <a:xfrm>
            <a:off x="3048318" y="2252700"/>
            <a:ext cx="0" cy="1051800"/>
          </a:xfrm>
          <a:prstGeom prst="straightConnector1">
            <a:avLst/>
          </a:prstGeom>
          <a:noFill/>
          <a:ln cap="flat" cmpd="sng" w="28575">
            <a:solidFill>
              <a:srgbClr val="845AD9"/>
            </a:solidFill>
            <a:prstDash val="solid"/>
            <a:round/>
            <a:headEnd len="med" w="med" type="triangle"/>
            <a:tailEnd len="med" w="med" type="triangle"/>
          </a:ln>
        </p:spPr>
      </p:cxnSp>
      <p:sp>
        <p:nvSpPr>
          <p:cNvPr id="1277" name="Google Shape;1277;p84"/>
          <p:cNvSpPr txBox="1"/>
          <p:nvPr>
            <p:ph idx="4294967295" type="body"/>
          </p:nvPr>
        </p:nvSpPr>
        <p:spPr>
          <a:xfrm>
            <a:off x="3158638" y="2633897"/>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i="1" lang="en-GB" sz="2000">
                <a:latin typeface="Times New Roman"/>
                <a:ea typeface="Times New Roman"/>
                <a:cs typeface="Times New Roman"/>
                <a:sym typeface="Times New Roman"/>
              </a:rPr>
              <a:t> </a:t>
            </a:r>
            <a:r>
              <a:rPr lang="en-GB" sz="1800"/>
              <a:t>cm</a:t>
            </a:r>
            <a:endParaRPr sz="1800"/>
          </a:p>
        </p:txBody>
      </p:sp>
      <p:sp>
        <p:nvSpPr>
          <p:cNvPr id="1278" name="Google Shape;1278;p84"/>
          <p:cNvSpPr txBox="1"/>
          <p:nvPr/>
        </p:nvSpPr>
        <p:spPr>
          <a:xfrm>
            <a:off x="4552901" y="1673700"/>
            <a:ext cx="9843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Times New Roman"/>
                <a:ea typeface="Times New Roman"/>
                <a:cs typeface="Times New Roman"/>
                <a:sym typeface="Times New Roman"/>
              </a:rPr>
              <a:t>tan</a:t>
            </a:r>
            <a:r>
              <a:rPr lang="en-GB" sz="2200">
                <a:solidFill>
                  <a:srgbClr val="000000"/>
                </a:solidFill>
                <a:latin typeface="Times New Roman"/>
                <a:ea typeface="Times New Roman"/>
                <a:cs typeface="Times New Roman"/>
                <a:sym typeface="Times New Roman"/>
              </a:rPr>
              <a:t>(</a:t>
            </a:r>
            <a:r>
              <a:rPr lang="en-GB" sz="2200">
                <a:latin typeface="Times New Roman"/>
                <a:ea typeface="Times New Roman"/>
                <a:cs typeface="Times New Roman"/>
                <a:sym typeface="Times New Roman"/>
              </a:rPr>
              <a:t>73</a:t>
            </a:r>
            <a:r>
              <a:rPr lang="en-GB" sz="2200">
                <a:solidFill>
                  <a:srgbClr val="000000"/>
                </a:solidFill>
                <a:latin typeface="Times New Roman"/>
                <a:ea typeface="Times New Roman"/>
                <a:cs typeface="Times New Roman"/>
                <a:sym typeface="Times New Roman"/>
              </a:rPr>
              <a:t>°</a:t>
            </a:r>
            <a:r>
              <a:rPr lang="en-GB" sz="2200">
                <a:solidFill>
                  <a:srgbClr val="000000"/>
                </a:solidFill>
                <a:latin typeface="Times New Roman"/>
                <a:ea typeface="Times New Roman"/>
                <a:cs typeface="Times New Roman"/>
                <a:sym typeface="Times New Roman"/>
              </a:rPr>
              <a:t>)</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279" name="Google Shape;1279;p84"/>
          <p:cNvSpPr txBox="1"/>
          <p:nvPr/>
        </p:nvSpPr>
        <p:spPr>
          <a:xfrm>
            <a:off x="4191005" y="1520082"/>
            <a:ext cx="4035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200">
                <a:latin typeface="Times New Roman"/>
                <a:ea typeface="Times New Roman"/>
                <a:cs typeface="Times New Roman"/>
                <a:sym typeface="Times New Roman"/>
              </a:rPr>
              <a:t>y</a:t>
            </a:r>
            <a:r>
              <a:rPr i="1" lang="en-GB" sz="2000">
                <a:solidFill>
                  <a:srgbClr val="000000"/>
                </a:solidFill>
                <a:latin typeface="Times New Roman"/>
                <a:ea typeface="Times New Roman"/>
                <a:cs typeface="Times New Roman"/>
                <a:sym typeface="Times New Roman"/>
              </a:rPr>
              <a:t> </a:t>
            </a:r>
            <a:r>
              <a:rPr lang="en-GB" sz="2000">
                <a:solidFill>
                  <a:srgbClr val="000000"/>
                </a:solidFill>
                <a:latin typeface="Kalam"/>
                <a:ea typeface="Kalam"/>
                <a:cs typeface="Kalam"/>
                <a:sym typeface="Kalam"/>
              </a:rPr>
              <a:t>=</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280" name="Google Shape;1280;p84"/>
          <p:cNvSpPr txBox="1"/>
          <p:nvPr/>
        </p:nvSpPr>
        <p:spPr>
          <a:xfrm>
            <a:off x="4860021" y="1396018"/>
            <a:ext cx="2982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24</a:t>
            </a:r>
            <a:r>
              <a:rPr lang="en-GB" sz="2000">
                <a:solidFill>
                  <a:srgbClr val="000000"/>
                </a:solidFill>
                <a:latin typeface="Kalam"/>
                <a:ea typeface="Kalam"/>
                <a:cs typeface="Kalam"/>
                <a:sym typeface="Kalam"/>
              </a:rPr>
              <a:t>  </a:t>
            </a:r>
            <a:endParaRPr sz="2000">
              <a:solidFill>
                <a:srgbClr val="000000"/>
              </a:solidFill>
              <a:latin typeface="Kalam"/>
              <a:ea typeface="Kalam"/>
              <a:cs typeface="Kalam"/>
              <a:sym typeface="Kalam"/>
            </a:endParaRPr>
          </a:p>
        </p:txBody>
      </p:sp>
      <p:cxnSp>
        <p:nvCxnSpPr>
          <p:cNvPr id="1281" name="Google Shape;1281;p84"/>
          <p:cNvCxnSpPr/>
          <p:nvPr/>
        </p:nvCxnSpPr>
        <p:spPr>
          <a:xfrm>
            <a:off x="4576102" y="1681736"/>
            <a:ext cx="890400" cy="0"/>
          </a:xfrm>
          <a:prstGeom prst="straightConnector1">
            <a:avLst/>
          </a:prstGeom>
          <a:noFill/>
          <a:ln cap="flat" cmpd="sng" w="19050">
            <a:solidFill>
              <a:srgbClr val="000000"/>
            </a:solidFill>
            <a:prstDash val="solid"/>
            <a:round/>
            <a:headEnd len="med" w="med" type="none"/>
            <a:tailEnd len="med" w="med" type="none"/>
          </a:ln>
        </p:spPr>
      </p:cxnSp>
      <p:sp>
        <p:nvSpPr>
          <p:cNvPr id="1282" name="Google Shape;1282;p84"/>
          <p:cNvSpPr txBox="1"/>
          <p:nvPr/>
        </p:nvSpPr>
        <p:spPr>
          <a:xfrm>
            <a:off x="4173850" y="2087100"/>
            <a:ext cx="21486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200">
                <a:latin typeface="Times New Roman"/>
                <a:ea typeface="Times New Roman"/>
                <a:cs typeface="Times New Roman"/>
                <a:sym typeface="Times New Roman"/>
              </a:rPr>
              <a:t>y</a:t>
            </a:r>
            <a:r>
              <a:rPr i="1" lang="en-GB" sz="2000">
                <a:solidFill>
                  <a:srgbClr val="000000"/>
                </a:solidFill>
                <a:latin typeface="Times New Roman"/>
                <a:ea typeface="Times New Roman"/>
                <a:cs typeface="Times New Roman"/>
                <a:sym typeface="Times New Roman"/>
              </a:rPr>
              <a:t> </a:t>
            </a:r>
            <a:r>
              <a:rPr lang="en-GB" sz="2000">
                <a:solidFill>
                  <a:srgbClr val="000000"/>
                </a:solidFill>
                <a:latin typeface="Kalam"/>
                <a:ea typeface="Kalam"/>
                <a:cs typeface="Kalam"/>
                <a:sym typeface="Kalam"/>
              </a:rPr>
              <a:t>=</a:t>
            </a:r>
            <a:r>
              <a:rPr lang="en-GB" sz="1800">
                <a:solidFill>
                  <a:srgbClr val="000000"/>
                </a:solidFill>
                <a:latin typeface="Lexend"/>
                <a:ea typeface="Lexend"/>
                <a:cs typeface="Lexend"/>
                <a:sym typeface="Lexend"/>
              </a:rPr>
              <a:t> </a:t>
            </a:r>
            <a:r>
              <a:rPr lang="en-GB" sz="2000">
                <a:latin typeface="Kalam"/>
                <a:ea typeface="Kalam"/>
                <a:cs typeface="Kalam"/>
                <a:sym typeface="Kalam"/>
              </a:rPr>
              <a:t>7.33…</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283" name="Google Shape;1283;p84"/>
          <p:cNvSpPr txBox="1"/>
          <p:nvPr/>
        </p:nvSpPr>
        <p:spPr>
          <a:xfrm>
            <a:off x="4853659" y="2767625"/>
            <a:ext cx="46458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28</a:t>
            </a:r>
            <a:r>
              <a:rPr baseline="30000" lang="en-GB" sz="2000">
                <a:latin typeface="Kalam"/>
                <a:ea typeface="Kalam"/>
                <a:cs typeface="Kalam"/>
                <a:sym typeface="Kalam"/>
              </a:rPr>
              <a:t>2</a:t>
            </a:r>
            <a:r>
              <a:rPr lang="en-GB" sz="2000">
                <a:latin typeface="Kalam"/>
                <a:ea typeface="Kalam"/>
                <a:cs typeface="Kalam"/>
                <a:sym typeface="Kalam"/>
              </a:rPr>
              <a:t> = 24</a:t>
            </a:r>
            <a:r>
              <a:rPr baseline="30000" lang="en-GB" sz="2000">
                <a:latin typeface="Kalam"/>
                <a:ea typeface="Kalam"/>
                <a:cs typeface="Kalam"/>
                <a:sym typeface="Kalam"/>
              </a:rPr>
              <a:t>2</a:t>
            </a:r>
            <a:r>
              <a:rPr lang="en-GB" sz="2000">
                <a:latin typeface="Kalam"/>
                <a:ea typeface="Kalam"/>
                <a:cs typeface="Kalam"/>
                <a:sym typeface="Kalam"/>
              </a:rPr>
              <a:t> + (</a:t>
            </a:r>
            <a:r>
              <a:rPr i="1" lang="en-GB" sz="2200">
                <a:latin typeface="Times New Roman"/>
                <a:ea typeface="Times New Roman"/>
                <a:cs typeface="Times New Roman"/>
                <a:sym typeface="Times New Roman"/>
              </a:rPr>
              <a:t>x</a:t>
            </a:r>
            <a:r>
              <a:rPr lang="en-GB" sz="2000">
                <a:latin typeface="Kalam"/>
                <a:ea typeface="Kalam"/>
                <a:cs typeface="Kalam"/>
                <a:sym typeface="Kalam"/>
              </a:rPr>
              <a:t> + </a:t>
            </a:r>
            <a:r>
              <a:rPr lang="en-GB" sz="2000">
                <a:latin typeface="Kalam"/>
                <a:ea typeface="Kalam"/>
                <a:cs typeface="Kalam"/>
                <a:sym typeface="Kalam"/>
              </a:rPr>
              <a:t>7.33…</a:t>
            </a:r>
            <a:r>
              <a:rPr lang="en-GB" sz="2000">
                <a:latin typeface="Kalam"/>
                <a:ea typeface="Kalam"/>
                <a:cs typeface="Kalam"/>
                <a:sym typeface="Kalam"/>
              </a:rPr>
              <a:t>)</a:t>
            </a:r>
            <a:r>
              <a:rPr baseline="30000" lang="en-GB" sz="2000">
                <a:latin typeface="Kalam"/>
                <a:ea typeface="Kalam"/>
                <a:cs typeface="Kalam"/>
                <a:sym typeface="Kalam"/>
              </a:rPr>
              <a:t>2</a:t>
            </a:r>
            <a:r>
              <a:rPr lang="en-GB" sz="2000">
                <a:solidFill>
                  <a:srgbClr val="000000"/>
                </a:solidFill>
                <a:latin typeface="Kalam"/>
                <a:ea typeface="Kalam"/>
                <a:cs typeface="Kalam"/>
                <a:sym typeface="Kalam"/>
              </a:rPr>
              <a:t>  </a:t>
            </a:r>
            <a:endParaRPr sz="2000">
              <a:solidFill>
                <a:srgbClr val="000000"/>
              </a:solidFill>
              <a:latin typeface="Kalam"/>
              <a:ea typeface="Kalam"/>
              <a:cs typeface="Kalam"/>
              <a:sym typeface="Kalam"/>
            </a:endParaRPr>
          </a:p>
        </p:txBody>
      </p:sp>
      <p:sp>
        <p:nvSpPr>
          <p:cNvPr id="1284" name="Google Shape;1284;p84"/>
          <p:cNvSpPr txBox="1"/>
          <p:nvPr/>
        </p:nvSpPr>
        <p:spPr>
          <a:xfrm>
            <a:off x="4174280" y="3148625"/>
            <a:ext cx="46458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28</a:t>
            </a:r>
            <a:r>
              <a:rPr baseline="30000" lang="en-GB" sz="2000">
                <a:latin typeface="Kalam"/>
                <a:ea typeface="Kalam"/>
                <a:cs typeface="Kalam"/>
                <a:sym typeface="Kalam"/>
              </a:rPr>
              <a:t>2</a:t>
            </a:r>
            <a:r>
              <a:rPr lang="en-GB" sz="2000">
                <a:latin typeface="Kalam"/>
                <a:ea typeface="Kalam"/>
                <a:cs typeface="Kalam"/>
                <a:sym typeface="Kalam"/>
              </a:rPr>
              <a:t> - 24</a:t>
            </a:r>
            <a:r>
              <a:rPr baseline="30000" lang="en-GB" sz="2000">
                <a:latin typeface="Kalam"/>
                <a:ea typeface="Kalam"/>
                <a:cs typeface="Kalam"/>
                <a:sym typeface="Kalam"/>
              </a:rPr>
              <a:t>2</a:t>
            </a:r>
            <a:r>
              <a:rPr lang="en-GB" sz="2000">
                <a:latin typeface="Kalam"/>
                <a:ea typeface="Kalam"/>
                <a:cs typeface="Kalam"/>
                <a:sym typeface="Kalam"/>
              </a:rPr>
              <a:t> = (</a:t>
            </a:r>
            <a:r>
              <a:rPr i="1" lang="en-GB" sz="2200">
                <a:latin typeface="Times New Roman"/>
                <a:ea typeface="Times New Roman"/>
                <a:cs typeface="Times New Roman"/>
                <a:sym typeface="Times New Roman"/>
              </a:rPr>
              <a:t>x</a:t>
            </a:r>
            <a:r>
              <a:rPr lang="en-GB" sz="2000">
                <a:latin typeface="Kalam"/>
                <a:ea typeface="Kalam"/>
                <a:cs typeface="Kalam"/>
                <a:sym typeface="Kalam"/>
              </a:rPr>
              <a:t> + 7.33…)</a:t>
            </a:r>
            <a:r>
              <a:rPr baseline="30000" lang="en-GB" sz="2000">
                <a:latin typeface="Kalam"/>
                <a:ea typeface="Kalam"/>
                <a:cs typeface="Kalam"/>
                <a:sym typeface="Kalam"/>
              </a:rPr>
              <a:t>2</a:t>
            </a:r>
            <a:r>
              <a:rPr lang="en-GB" sz="2000">
                <a:solidFill>
                  <a:srgbClr val="000000"/>
                </a:solidFill>
                <a:latin typeface="Kalam"/>
                <a:ea typeface="Kalam"/>
                <a:cs typeface="Kalam"/>
                <a:sym typeface="Kalam"/>
              </a:rPr>
              <a:t>  </a:t>
            </a:r>
            <a:endParaRPr sz="2000">
              <a:solidFill>
                <a:srgbClr val="000000"/>
              </a:solidFill>
              <a:latin typeface="Kalam"/>
              <a:ea typeface="Kalam"/>
              <a:cs typeface="Kalam"/>
              <a:sym typeface="Kalam"/>
            </a:endParaRPr>
          </a:p>
        </p:txBody>
      </p:sp>
      <p:sp>
        <p:nvSpPr>
          <p:cNvPr id="1285" name="Google Shape;1285;p84"/>
          <p:cNvSpPr txBox="1"/>
          <p:nvPr/>
        </p:nvSpPr>
        <p:spPr>
          <a:xfrm>
            <a:off x="4829262" y="3529625"/>
            <a:ext cx="46458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208 </a:t>
            </a:r>
            <a:r>
              <a:rPr lang="en-GB" sz="2000">
                <a:latin typeface="Kalam"/>
                <a:ea typeface="Kalam"/>
                <a:cs typeface="Kalam"/>
                <a:sym typeface="Kalam"/>
              </a:rPr>
              <a:t>= (</a:t>
            </a:r>
            <a:r>
              <a:rPr i="1" lang="en-GB" sz="2200">
                <a:latin typeface="Times New Roman"/>
                <a:ea typeface="Times New Roman"/>
                <a:cs typeface="Times New Roman"/>
                <a:sym typeface="Times New Roman"/>
              </a:rPr>
              <a:t>x</a:t>
            </a:r>
            <a:r>
              <a:rPr lang="en-GB" sz="2000">
                <a:latin typeface="Kalam"/>
                <a:ea typeface="Kalam"/>
                <a:cs typeface="Kalam"/>
                <a:sym typeface="Kalam"/>
              </a:rPr>
              <a:t> + 7.33…)</a:t>
            </a:r>
            <a:r>
              <a:rPr baseline="30000" lang="en-GB" sz="2000">
                <a:latin typeface="Kalam"/>
                <a:ea typeface="Kalam"/>
                <a:cs typeface="Kalam"/>
                <a:sym typeface="Kalam"/>
              </a:rPr>
              <a:t>2</a:t>
            </a:r>
            <a:r>
              <a:rPr lang="en-GB" sz="2000">
                <a:solidFill>
                  <a:srgbClr val="000000"/>
                </a:solidFill>
                <a:latin typeface="Kalam"/>
                <a:ea typeface="Kalam"/>
                <a:cs typeface="Kalam"/>
                <a:sym typeface="Kalam"/>
              </a:rPr>
              <a:t>  </a:t>
            </a:r>
            <a:endParaRPr sz="2000">
              <a:solidFill>
                <a:srgbClr val="000000"/>
              </a:solidFill>
              <a:latin typeface="Kalam"/>
              <a:ea typeface="Kalam"/>
              <a:cs typeface="Kalam"/>
              <a:sym typeface="Kalam"/>
            </a:endParaRPr>
          </a:p>
        </p:txBody>
      </p:sp>
      <p:sp>
        <p:nvSpPr>
          <p:cNvPr id="1286" name="Google Shape;1286;p84"/>
          <p:cNvSpPr txBox="1"/>
          <p:nvPr/>
        </p:nvSpPr>
        <p:spPr>
          <a:xfrm>
            <a:off x="4520700" y="3910625"/>
            <a:ext cx="48909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14.42…</a:t>
            </a:r>
            <a:r>
              <a:rPr lang="en-GB" sz="2000">
                <a:latin typeface="Kalam"/>
                <a:ea typeface="Kalam"/>
                <a:cs typeface="Kalam"/>
                <a:sym typeface="Kalam"/>
              </a:rPr>
              <a:t> = </a:t>
            </a:r>
            <a:r>
              <a:rPr i="1" lang="en-GB" sz="2200">
                <a:latin typeface="Times New Roman"/>
                <a:ea typeface="Times New Roman"/>
                <a:cs typeface="Times New Roman"/>
                <a:sym typeface="Times New Roman"/>
              </a:rPr>
              <a:t>x</a:t>
            </a:r>
            <a:r>
              <a:rPr lang="en-GB" sz="2000">
                <a:latin typeface="Kalam"/>
                <a:ea typeface="Kalam"/>
                <a:cs typeface="Kalam"/>
                <a:sym typeface="Kalam"/>
              </a:rPr>
              <a:t> + 7.33…</a:t>
            </a:r>
            <a:r>
              <a:rPr lang="en-GB" sz="2000">
                <a:solidFill>
                  <a:srgbClr val="000000"/>
                </a:solidFill>
                <a:latin typeface="Kalam"/>
                <a:ea typeface="Kalam"/>
                <a:cs typeface="Kalam"/>
                <a:sym typeface="Kalam"/>
              </a:rPr>
              <a:t>  </a:t>
            </a:r>
            <a:endParaRPr sz="2000">
              <a:solidFill>
                <a:srgbClr val="000000"/>
              </a:solidFill>
              <a:latin typeface="Kalam"/>
              <a:ea typeface="Kalam"/>
              <a:cs typeface="Kalam"/>
              <a:sym typeface="Kalam"/>
            </a:endParaRPr>
          </a:p>
        </p:txBody>
      </p:sp>
      <p:sp>
        <p:nvSpPr>
          <p:cNvPr id="1287" name="Google Shape;1287;p84"/>
          <p:cNvSpPr txBox="1"/>
          <p:nvPr/>
        </p:nvSpPr>
        <p:spPr>
          <a:xfrm>
            <a:off x="4798012" y="4291625"/>
            <a:ext cx="46458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7.1</a:t>
            </a:r>
            <a:r>
              <a:rPr lang="en-GB" sz="2000">
                <a:latin typeface="Kalam"/>
                <a:ea typeface="Kalam"/>
                <a:cs typeface="Kalam"/>
                <a:sym typeface="Kalam"/>
              </a:rPr>
              <a:t> = </a:t>
            </a:r>
            <a:r>
              <a:rPr i="1" lang="en-GB" sz="2200">
                <a:latin typeface="Times New Roman"/>
                <a:ea typeface="Times New Roman"/>
                <a:cs typeface="Times New Roman"/>
                <a:sym typeface="Times New Roman"/>
              </a:rPr>
              <a:t>x</a:t>
            </a:r>
            <a:r>
              <a:rPr lang="en-GB" sz="2000">
                <a:latin typeface="Kalam"/>
                <a:ea typeface="Kalam"/>
                <a:cs typeface="Kalam"/>
                <a:sym typeface="Kalam"/>
              </a:rPr>
              <a:t> (1 d.p.)</a:t>
            </a:r>
            <a:r>
              <a:rPr lang="en-GB" sz="2000">
                <a:solidFill>
                  <a:srgbClr val="000000"/>
                </a:solidFill>
                <a:latin typeface="Kalam"/>
                <a:ea typeface="Kalam"/>
                <a:cs typeface="Kalam"/>
                <a:sym typeface="Kalam"/>
              </a:rPr>
              <a:t> </a:t>
            </a:r>
            <a:endParaRPr sz="2000">
              <a:solidFill>
                <a:srgbClr val="000000"/>
              </a:solidFill>
              <a:latin typeface="Kalam"/>
              <a:ea typeface="Kalam"/>
              <a:cs typeface="Kalam"/>
              <a:sym typeface="Kala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8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sp>
        <p:nvSpPr>
          <p:cNvPr id="1293" name="Google Shape;1293;p85"/>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Calculate </a:t>
            </a:r>
            <a:r>
              <a:rPr i="1" lang="en-GB" sz="2000">
                <a:latin typeface="Times New Roman"/>
                <a:ea typeface="Times New Roman"/>
                <a:cs typeface="Times New Roman"/>
                <a:sym typeface="Times New Roman"/>
              </a:rPr>
              <a:t>x </a:t>
            </a:r>
            <a:r>
              <a:rPr lang="en-GB" sz="1800"/>
              <a:t>in each triangle, giving your answers to 1 decimal place.</a:t>
            </a:r>
            <a:endParaRPr sz="1800"/>
          </a:p>
        </p:txBody>
      </p:sp>
      <p:sp>
        <p:nvSpPr>
          <p:cNvPr id="1294" name="Google Shape;1294;p85"/>
          <p:cNvSpPr txBox="1"/>
          <p:nvPr>
            <p:ph idx="1" type="body"/>
          </p:nvPr>
        </p:nvSpPr>
        <p:spPr>
          <a:xfrm>
            <a:off x="312438" y="1174975"/>
            <a:ext cx="298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a:t>
            </a:r>
            <a:endParaRPr sz="1800"/>
          </a:p>
        </p:txBody>
      </p:sp>
      <p:grpSp>
        <p:nvGrpSpPr>
          <p:cNvPr id="1295" name="Google Shape;1295;p85"/>
          <p:cNvGrpSpPr/>
          <p:nvPr/>
        </p:nvGrpSpPr>
        <p:grpSpPr>
          <a:xfrm>
            <a:off x="521406" y="1562625"/>
            <a:ext cx="2497968" cy="1921969"/>
            <a:chOff x="-2048113" y="1348705"/>
            <a:chExt cx="986988" cy="1890213"/>
          </a:xfrm>
        </p:grpSpPr>
        <p:sp>
          <p:nvSpPr>
            <p:cNvPr id="1296" name="Google Shape;1296;p85"/>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97" name="Google Shape;1297;p85"/>
            <p:cNvCxnSpPr/>
            <p:nvPr/>
          </p:nvCxnSpPr>
          <p:spPr>
            <a:xfrm flipH="1">
              <a:off x="-2048113" y="1348705"/>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298" name="Google Shape;1298;p85"/>
            <p:cNvCxnSpPr/>
            <p:nvPr/>
          </p:nvCxnSpPr>
          <p:spPr>
            <a:xfrm rot="10800000">
              <a:off x="-2025104" y="3238918"/>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299" name="Google Shape;1299;p85"/>
          <p:cNvSpPr/>
          <p:nvPr/>
        </p:nvSpPr>
        <p:spPr>
          <a:xfrm>
            <a:off x="2820933" y="3165533"/>
            <a:ext cx="198300" cy="1983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0" name="Google Shape;1300;p85"/>
          <p:cNvSpPr txBox="1"/>
          <p:nvPr>
            <p:ph idx="4294967295" type="body"/>
          </p:nvPr>
        </p:nvSpPr>
        <p:spPr>
          <a:xfrm>
            <a:off x="1228809" y="2048722"/>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cm</a:t>
            </a:r>
            <a:endParaRPr sz="1800"/>
          </a:p>
        </p:txBody>
      </p:sp>
      <p:sp>
        <p:nvSpPr>
          <p:cNvPr id="1301" name="Google Shape;1301;p85"/>
          <p:cNvSpPr txBox="1"/>
          <p:nvPr>
            <p:ph idx="4294967295" type="body"/>
          </p:nvPr>
        </p:nvSpPr>
        <p:spPr>
          <a:xfrm>
            <a:off x="1469176" y="3489200"/>
            <a:ext cx="10014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12.8 cm</a:t>
            </a:r>
            <a:endParaRPr sz="1800"/>
          </a:p>
        </p:txBody>
      </p:sp>
      <p:sp>
        <p:nvSpPr>
          <p:cNvPr id="1302" name="Google Shape;1302;p85"/>
          <p:cNvSpPr txBox="1"/>
          <p:nvPr>
            <p:ph idx="4294967295" type="body"/>
          </p:nvPr>
        </p:nvSpPr>
        <p:spPr>
          <a:xfrm>
            <a:off x="1376656" y="2796776"/>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19°</a:t>
            </a:r>
            <a:endParaRPr sz="1800"/>
          </a:p>
        </p:txBody>
      </p:sp>
      <p:cxnSp>
        <p:nvCxnSpPr>
          <p:cNvPr id="1303" name="Google Shape;1303;p85"/>
          <p:cNvCxnSpPr>
            <a:stCxn id="1296" idx="0"/>
          </p:cNvCxnSpPr>
          <p:nvPr/>
        </p:nvCxnSpPr>
        <p:spPr>
          <a:xfrm flipH="1" rot="10800000">
            <a:off x="587433" y="2591523"/>
            <a:ext cx="2442000" cy="776400"/>
          </a:xfrm>
          <a:prstGeom prst="straightConnector1">
            <a:avLst/>
          </a:prstGeom>
          <a:noFill/>
          <a:ln cap="flat" cmpd="sng" w="28575">
            <a:solidFill>
              <a:schemeClr val="dk1"/>
            </a:solidFill>
            <a:prstDash val="solid"/>
            <a:round/>
            <a:headEnd len="med" w="med" type="none"/>
            <a:tailEnd len="med" w="med" type="none"/>
          </a:ln>
        </p:spPr>
      </p:cxnSp>
      <p:sp>
        <p:nvSpPr>
          <p:cNvPr id="1304" name="Google Shape;1304;p85"/>
          <p:cNvSpPr txBox="1"/>
          <p:nvPr>
            <p:ph idx="4294967295" type="body"/>
          </p:nvPr>
        </p:nvSpPr>
        <p:spPr>
          <a:xfrm>
            <a:off x="2470501" y="2876157"/>
            <a:ext cx="4167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a:t>
            </a:r>
            <a:r>
              <a:rPr lang="en-GB" sz="1800"/>
              <a:t>2°</a:t>
            </a:r>
            <a:endParaRPr sz="1800"/>
          </a:p>
        </p:txBody>
      </p:sp>
      <p:sp>
        <p:nvSpPr>
          <p:cNvPr id="1305" name="Google Shape;1305;p85"/>
          <p:cNvSpPr/>
          <p:nvPr/>
        </p:nvSpPr>
        <p:spPr>
          <a:xfrm>
            <a:off x="-12153" y="2577183"/>
            <a:ext cx="1431900" cy="1434900"/>
          </a:xfrm>
          <a:prstGeom prst="arc">
            <a:avLst>
              <a:gd fmla="val 19497988" name="adj1"/>
              <a:gd fmla="val 20715158"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6" name="Google Shape;1306;p85"/>
          <p:cNvSpPr/>
          <p:nvPr/>
        </p:nvSpPr>
        <p:spPr>
          <a:xfrm>
            <a:off x="2630443" y="2158368"/>
            <a:ext cx="755100" cy="756600"/>
          </a:xfrm>
          <a:prstGeom prst="arc">
            <a:avLst>
              <a:gd fmla="val 5344763" name="adj1"/>
              <a:gd fmla="val 905218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7" name="Google Shape;1307;p85"/>
          <p:cNvSpPr/>
          <p:nvPr/>
        </p:nvSpPr>
        <p:spPr>
          <a:xfrm>
            <a:off x="38364" y="2760323"/>
            <a:ext cx="1210800" cy="1213200"/>
          </a:xfrm>
          <a:prstGeom prst="arc">
            <a:avLst>
              <a:gd fmla="val 20498918" name="adj1"/>
              <a:gd fmla="val 21572557"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8" name="Google Shape;1308;p85"/>
          <p:cNvSpPr txBox="1"/>
          <p:nvPr>
            <p:ph idx="4294967295" type="body"/>
          </p:nvPr>
        </p:nvSpPr>
        <p:spPr>
          <a:xfrm>
            <a:off x="1327501" y="3104757"/>
            <a:ext cx="4167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18</a:t>
            </a:r>
            <a:r>
              <a:rPr lang="en-GB" sz="2000">
                <a:latin typeface="Kalam"/>
                <a:ea typeface="Kalam"/>
                <a:cs typeface="Kalam"/>
                <a:sym typeface="Kalam"/>
              </a:rPr>
              <a:t>°</a:t>
            </a:r>
            <a:endParaRPr sz="2000">
              <a:latin typeface="Kalam"/>
              <a:ea typeface="Kalam"/>
              <a:cs typeface="Kalam"/>
              <a:sym typeface="Kalam"/>
            </a:endParaRPr>
          </a:p>
        </p:txBody>
      </p:sp>
      <p:sp>
        <p:nvSpPr>
          <p:cNvPr id="1309" name="Google Shape;1309;p85"/>
          <p:cNvSpPr txBox="1"/>
          <p:nvPr>
            <p:ph idx="4294967295" type="body"/>
          </p:nvPr>
        </p:nvSpPr>
        <p:spPr>
          <a:xfrm>
            <a:off x="4255859" y="1495672"/>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x</a:t>
            </a:r>
            <a:r>
              <a:rPr lang="en-GB" sz="1800"/>
              <a:t> </a:t>
            </a:r>
            <a:r>
              <a:rPr lang="en-GB" sz="2000">
                <a:latin typeface="Kalam"/>
                <a:ea typeface="Kalam"/>
                <a:cs typeface="Kalam"/>
                <a:sym typeface="Kalam"/>
              </a:rPr>
              <a:t>= </a:t>
            </a:r>
            <a:endParaRPr sz="2000">
              <a:latin typeface="Kalam"/>
              <a:ea typeface="Kalam"/>
              <a:cs typeface="Kalam"/>
              <a:sym typeface="Kalam"/>
            </a:endParaRPr>
          </a:p>
        </p:txBody>
      </p:sp>
      <p:sp>
        <p:nvSpPr>
          <p:cNvPr id="1310" name="Google Shape;1310;p85"/>
          <p:cNvSpPr txBox="1"/>
          <p:nvPr/>
        </p:nvSpPr>
        <p:spPr>
          <a:xfrm>
            <a:off x="4679615" y="1660857"/>
            <a:ext cx="9843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Times New Roman"/>
                <a:ea typeface="Times New Roman"/>
                <a:cs typeface="Times New Roman"/>
                <a:sym typeface="Times New Roman"/>
              </a:rPr>
              <a:t>cos</a:t>
            </a:r>
            <a:r>
              <a:rPr lang="en-GB" sz="2200">
                <a:solidFill>
                  <a:srgbClr val="000000"/>
                </a:solidFill>
                <a:latin typeface="Times New Roman"/>
                <a:ea typeface="Times New Roman"/>
                <a:cs typeface="Times New Roman"/>
                <a:sym typeface="Times New Roman"/>
              </a:rPr>
              <a:t>(</a:t>
            </a:r>
            <a:r>
              <a:rPr lang="en-GB" sz="2000">
                <a:latin typeface="Times New Roman"/>
                <a:ea typeface="Times New Roman"/>
                <a:cs typeface="Times New Roman"/>
                <a:sym typeface="Times New Roman"/>
              </a:rPr>
              <a:t>37</a:t>
            </a:r>
            <a:r>
              <a:rPr lang="en-GB" sz="1800">
                <a:solidFill>
                  <a:srgbClr val="000000"/>
                </a:solidFill>
                <a:latin typeface="Times New Roman"/>
                <a:ea typeface="Times New Roman"/>
                <a:cs typeface="Times New Roman"/>
                <a:sym typeface="Times New Roman"/>
              </a:rPr>
              <a:t>°</a:t>
            </a:r>
            <a:r>
              <a:rPr lang="en-GB" sz="2200">
                <a:solidFill>
                  <a:srgbClr val="000000"/>
                </a:solidFill>
                <a:latin typeface="Times New Roman"/>
                <a:ea typeface="Times New Roman"/>
                <a:cs typeface="Times New Roman"/>
                <a:sym typeface="Times New Roman"/>
              </a:rPr>
              <a:t>)</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311" name="Google Shape;1311;p85"/>
          <p:cNvSpPr txBox="1"/>
          <p:nvPr/>
        </p:nvSpPr>
        <p:spPr>
          <a:xfrm>
            <a:off x="4948198" y="1383175"/>
            <a:ext cx="522300" cy="3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a:t>
            </a:r>
            <a:r>
              <a:rPr lang="en-GB" sz="2000">
                <a:latin typeface="Kalam"/>
                <a:ea typeface="Kalam"/>
                <a:cs typeface="Kalam"/>
                <a:sym typeface="Kalam"/>
              </a:rPr>
              <a:t>2.8</a:t>
            </a:r>
            <a:r>
              <a:rPr lang="en-GB" sz="2000">
                <a:solidFill>
                  <a:srgbClr val="000000"/>
                </a:solidFill>
                <a:latin typeface="Kalam"/>
                <a:ea typeface="Kalam"/>
                <a:cs typeface="Kalam"/>
                <a:sym typeface="Kalam"/>
              </a:rPr>
              <a:t> </a:t>
            </a:r>
            <a:endParaRPr sz="2000">
              <a:solidFill>
                <a:srgbClr val="000000"/>
              </a:solidFill>
              <a:latin typeface="Kalam"/>
              <a:ea typeface="Kalam"/>
              <a:cs typeface="Kalam"/>
              <a:sym typeface="Kalam"/>
            </a:endParaRPr>
          </a:p>
        </p:txBody>
      </p:sp>
      <p:cxnSp>
        <p:nvCxnSpPr>
          <p:cNvPr id="1312" name="Google Shape;1312;p85"/>
          <p:cNvCxnSpPr/>
          <p:nvPr/>
        </p:nvCxnSpPr>
        <p:spPr>
          <a:xfrm>
            <a:off x="4702817" y="1668893"/>
            <a:ext cx="890400" cy="0"/>
          </a:xfrm>
          <a:prstGeom prst="straightConnector1">
            <a:avLst/>
          </a:prstGeom>
          <a:noFill/>
          <a:ln cap="flat" cmpd="sng" w="19050">
            <a:solidFill>
              <a:srgbClr val="000000"/>
            </a:solidFill>
            <a:prstDash val="solid"/>
            <a:round/>
            <a:headEnd len="med" w="med" type="none"/>
            <a:tailEnd len="med" w="med" type="none"/>
          </a:ln>
        </p:spPr>
      </p:cxnSp>
      <p:sp>
        <p:nvSpPr>
          <p:cNvPr id="1313" name="Google Shape;1313;p85"/>
          <p:cNvSpPr txBox="1"/>
          <p:nvPr>
            <p:ph idx="4294967295" type="body"/>
          </p:nvPr>
        </p:nvSpPr>
        <p:spPr>
          <a:xfrm>
            <a:off x="4255838" y="2181475"/>
            <a:ext cx="16962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x</a:t>
            </a:r>
            <a:r>
              <a:rPr lang="en-GB" sz="1800"/>
              <a:t> </a:t>
            </a:r>
            <a:r>
              <a:rPr lang="en-GB" sz="2000">
                <a:latin typeface="Kalam"/>
                <a:ea typeface="Kalam"/>
                <a:cs typeface="Kalam"/>
                <a:sym typeface="Kalam"/>
              </a:rPr>
              <a:t>= 16.0 </a:t>
            </a:r>
            <a:endParaRPr sz="2000">
              <a:latin typeface="Kalam"/>
              <a:ea typeface="Kalam"/>
              <a:cs typeface="Kalam"/>
              <a:sym typeface="Kala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cxnSp>
        <p:nvCxnSpPr>
          <p:cNvPr id="1318" name="Google Shape;1318;p86"/>
          <p:cNvCxnSpPr/>
          <p:nvPr/>
        </p:nvCxnSpPr>
        <p:spPr>
          <a:xfrm flipH="1" rot="10800000">
            <a:off x="2673126" y="1293596"/>
            <a:ext cx="2661900" cy="1256100"/>
          </a:xfrm>
          <a:prstGeom prst="straightConnector1">
            <a:avLst/>
          </a:prstGeom>
          <a:noFill/>
          <a:ln cap="flat" cmpd="sng" w="28575">
            <a:solidFill>
              <a:schemeClr val="dk1"/>
            </a:solidFill>
            <a:prstDash val="solid"/>
            <a:round/>
            <a:headEnd len="med" w="med" type="triangle"/>
            <a:tailEnd len="med" w="med" type="triangle"/>
          </a:ln>
        </p:spPr>
      </p:cxnSp>
      <p:cxnSp>
        <p:nvCxnSpPr>
          <p:cNvPr id="1319" name="Google Shape;1319;p86"/>
          <p:cNvCxnSpPr/>
          <p:nvPr/>
        </p:nvCxnSpPr>
        <p:spPr>
          <a:xfrm flipH="1" rot="10800000">
            <a:off x="4552538" y="1484725"/>
            <a:ext cx="952500" cy="1208100"/>
          </a:xfrm>
          <a:prstGeom prst="straightConnector1">
            <a:avLst/>
          </a:prstGeom>
          <a:noFill/>
          <a:ln cap="flat" cmpd="sng" w="28575">
            <a:solidFill>
              <a:schemeClr val="dk1"/>
            </a:solidFill>
            <a:prstDash val="solid"/>
            <a:round/>
            <a:headEnd len="med" w="med" type="triangle"/>
            <a:tailEnd len="med" w="med" type="triangle"/>
          </a:ln>
        </p:spPr>
      </p:cxnSp>
      <p:cxnSp>
        <p:nvCxnSpPr>
          <p:cNvPr id="1320" name="Google Shape;1320;p86"/>
          <p:cNvCxnSpPr/>
          <p:nvPr/>
        </p:nvCxnSpPr>
        <p:spPr>
          <a:xfrm>
            <a:off x="2735600" y="2776454"/>
            <a:ext cx="1633500" cy="0"/>
          </a:xfrm>
          <a:prstGeom prst="straightConnector1">
            <a:avLst/>
          </a:prstGeom>
          <a:noFill/>
          <a:ln cap="flat" cmpd="sng" w="28575">
            <a:solidFill>
              <a:schemeClr val="dk1"/>
            </a:solidFill>
            <a:prstDash val="solid"/>
            <a:round/>
            <a:headEnd len="med" w="med" type="triangle"/>
            <a:tailEnd len="med" w="med" type="triangle"/>
          </a:ln>
        </p:spPr>
      </p:cxnSp>
      <p:sp>
        <p:nvSpPr>
          <p:cNvPr id="1321" name="Google Shape;1321;p8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sp>
        <p:nvSpPr>
          <p:cNvPr id="1322" name="Google Shape;1322;p86"/>
          <p:cNvSpPr txBox="1"/>
          <p:nvPr>
            <p:ph idx="1" type="body"/>
          </p:nvPr>
        </p:nvSpPr>
        <p:spPr>
          <a:xfrm>
            <a:off x="324000" y="759300"/>
            <a:ext cx="8237700" cy="701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r>
              <a:rPr lang="en-GB" sz="1800"/>
              <a:t>) Work out the perimeter of this triangle, giving your answer to 1 decimal place.</a:t>
            </a:r>
            <a:endParaRPr sz="1800"/>
          </a:p>
        </p:txBody>
      </p:sp>
      <p:sp>
        <p:nvSpPr>
          <p:cNvPr id="1323" name="Google Shape;1323;p86"/>
          <p:cNvSpPr/>
          <p:nvPr/>
        </p:nvSpPr>
        <p:spPr>
          <a:xfrm rot="-1587471">
            <a:off x="3959115" y="2076306"/>
            <a:ext cx="143422" cy="143422"/>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4" name="Google Shape;1324;p86"/>
          <p:cNvSpPr txBox="1"/>
          <p:nvPr>
            <p:ph idx="4294967295" type="body"/>
          </p:nvPr>
        </p:nvSpPr>
        <p:spPr>
          <a:xfrm>
            <a:off x="3472007" y="1559104"/>
            <a:ext cx="726300" cy="21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24 cm</a:t>
            </a:r>
            <a:endParaRPr sz="1800"/>
          </a:p>
        </p:txBody>
      </p:sp>
      <p:sp>
        <p:nvSpPr>
          <p:cNvPr id="1325" name="Google Shape;1325;p86"/>
          <p:cNvSpPr txBox="1"/>
          <p:nvPr>
            <p:ph idx="4294967295" type="body"/>
          </p:nvPr>
        </p:nvSpPr>
        <p:spPr>
          <a:xfrm>
            <a:off x="5092776" y="2043343"/>
            <a:ext cx="726300" cy="21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15 cm</a:t>
            </a:r>
            <a:endParaRPr sz="1800"/>
          </a:p>
        </p:txBody>
      </p:sp>
      <p:sp>
        <p:nvSpPr>
          <p:cNvPr id="1326" name="Google Shape;1326;p86"/>
          <p:cNvSpPr/>
          <p:nvPr/>
        </p:nvSpPr>
        <p:spPr>
          <a:xfrm>
            <a:off x="4575033" y="687950"/>
            <a:ext cx="1615800" cy="1615800"/>
          </a:xfrm>
          <a:prstGeom prst="arc">
            <a:avLst>
              <a:gd fmla="val 7881710" name="adj1"/>
              <a:gd fmla="val 9444574"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7" name="Google Shape;1327;p86"/>
          <p:cNvSpPr txBox="1"/>
          <p:nvPr/>
        </p:nvSpPr>
        <p:spPr>
          <a:xfrm>
            <a:off x="4342537" y="1932875"/>
            <a:ext cx="789900" cy="324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21</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1328" name="Google Shape;1328;p86"/>
          <p:cNvCxnSpPr/>
          <p:nvPr/>
        </p:nvCxnSpPr>
        <p:spPr>
          <a:xfrm rot="10800000">
            <a:off x="4064029" y="2061761"/>
            <a:ext cx="330900" cy="613200"/>
          </a:xfrm>
          <a:prstGeom prst="straightConnector1">
            <a:avLst/>
          </a:prstGeom>
          <a:noFill/>
          <a:ln cap="flat" cmpd="sng" w="28575">
            <a:solidFill>
              <a:schemeClr val="dk2"/>
            </a:solidFill>
            <a:prstDash val="dash"/>
            <a:round/>
            <a:headEnd len="med" w="med" type="none"/>
            <a:tailEnd len="med" w="med" type="none"/>
          </a:ln>
        </p:spPr>
      </p:cxnSp>
      <p:sp>
        <p:nvSpPr>
          <p:cNvPr id="1329" name="Google Shape;1329;p86"/>
          <p:cNvSpPr/>
          <p:nvPr/>
        </p:nvSpPr>
        <p:spPr>
          <a:xfrm flipH="1" rot="10800000">
            <a:off x="1063100" y="3383200"/>
            <a:ext cx="1525800" cy="6132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0" name="Google Shape;1330;p86"/>
          <p:cNvSpPr/>
          <p:nvPr/>
        </p:nvSpPr>
        <p:spPr>
          <a:xfrm>
            <a:off x="1063100" y="3383200"/>
            <a:ext cx="132300" cy="1323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1" name="Google Shape;1331;p86"/>
          <p:cNvSpPr/>
          <p:nvPr/>
        </p:nvSpPr>
        <p:spPr>
          <a:xfrm>
            <a:off x="2038701" y="2818124"/>
            <a:ext cx="1110900" cy="1110900"/>
          </a:xfrm>
          <a:prstGeom prst="arc">
            <a:avLst>
              <a:gd fmla="val 9450635" name="adj1"/>
              <a:gd fmla="val 10676378"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2" name="Google Shape;1332;p86"/>
          <p:cNvSpPr txBox="1"/>
          <p:nvPr/>
        </p:nvSpPr>
        <p:spPr>
          <a:xfrm>
            <a:off x="1675537" y="3380675"/>
            <a:ext cx="789900" cy="324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21</a:t>
            </a: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cxnSp>
        <p:nvCxnSpPr>
          <p:cNvPr id="1333" name="Google Shape;1333;p86"/>
          <p:cNvCxnSpPr/>
          <p:nvPr/>
        </p:nvCxnSpPr>
        <p:spPr>
          <a:xfrm flipH="1" rot="10800000">
            <a:off x="1094500" y="3503947"/>
            <a:ext cx="1533600" cy="617400"/>
          </a:xfrm>
          <a:prstGeom prst="straightConnector1">
            <a:avLst/>
          </a:prstGeom>
          <a:noFill/>
          <a:ln cap="flat" cmpd="sng" w="28575">
            <a:solidFill>
              <a:schemeClr val="dk1"/>
            </a:solidFill>
            <a:prstDash val="solid"/>
            <a:round/>
            <a:headEnd len="med" w="med" type="triangle"/>
            <a:tailEnd len="med" w="med" type="triangle"/>
          </a:ln>
        </p:spPr>
      </p:cxnSp>
      <p:sp>
        <p:nvSpPr>
          <p:cNvPr id="1334" name="Google Shape;1334;p86"/>
          <p:cNvSpPr txBox="1"/>
          <p:nvPr>
            <p:ph idx="4294967295" type="body"/>
          </p:nvPr>
        </p:nvSpPr>
        <p:spPr>
          <a:xfrm>
            <a:off x="1707326" y="3904443"/>
            <a:ext cx="726300" cy="21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15 cm</a:t>
            </a:r>
            <a:endParaRPr sz="2000">
              <a:latin typeface="Kalam"/>
              <a:ea typeface="Kalam"/>
              <a:cs typeface="Kalam"/>
              <a:sym typeface="Kalam"/>
            </a:endParaRPr>
          </a:p>
        </p:txBody>
      </p:sp>
      <p:sp>
        <p:nvSpPr>
          <p:cNvPr id="1335" name="Google Shape;1335;p86"/>
          <p:cNvSpPr txBox="1"/>
          <p:nvPr>
            <p:ph idx="4294967295" type="body"/>
          </p:nvPr>
        </p:nvSpPr>
        <p:spPr>
          <a:xfrm>
            <a:off x="1462851" y="2970217"/>
            <a:ext cx="726300" cy="21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a</a:t>
            </a:r>
            <a:r>
              <a:rPr lang="en-GB" sz="2000">
                <a:latin typeface="Kalam"/>
                <a:ea typeface="Kalam"/>
                <a:cs typeface="Kalam"/>
                <a:sym typeface="Kalam"/>
              </a:rPr>
              <a:t> cm</a:t>
            </a:r>
            <a:endParaRPr sz="2000">
              <a:latin typeface="Kalam"/>
              <a:ea typeface="Kalam"/>
              <a:cs typeface="Kalam"/>
              <a:sym typeface="Kalam"/>
            </a:endParaRPr>
          </a:p>
        </p:txBody>
      </p:sp>
      <p:sp>
        <p:nvSpPr>
          <p:cNvPr id="1336" name="Google Shape;1336;p86"/>
          <p:cNvSpPr txBox="1"/>
          <p:nvPr>
            <p:ph idx="4294967295" type="body"/>
          </p:nvPr>
        </p:nvSpPr>
        <p:spPr>
          <a:xfrm>
            <a:off x="301080" y="3505143"/>
            <a:ext cx="726300" cy="21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b</a:t>
            </a:r>
            <a:r>
              <a:rPr lang="en-GB" sz="2000">
                <a:latin typeface="Kalam"/>
                <a:ea typeface="Kalam"/>
                <a:cs typeface="Kalam"/>
                <a:sym typeface="Kalam"/>
              </a:rPr>
              <a:t> cm</a:t>
            </a:r>
            <a:endParaRPr sz="2000">
              <a:latin typeface="Kalam"/>
              <a:ea typeface="Kalam"/>
              <a:cs typeface="Kalam"/>
              <a:sym typeface="Kalam"/>
            </a:endParaRPr>
          </a:p>
        </p:txBody>
      </p:sp>
      <p:cxnSp>
        <p:nvCxnSpPr>
          <p:cNvPr id="1337" name="Google Shape;1337;p86"/>
          <p:cNvCxnSpPr/>
          <p:nvPr/>
        </p:nvCxnSpPr>
        <p:spPr>
          <a:xfrm>
            <a:off x="1059200" y="3271239"/>
            <a:ext cx="1541400" cy="0"/>
          </a:xfrm>
          <a:prstGeom prst="straightConnector1">
            <a:avLst/>
          </a:prstGeom>
          <a:noFill/>
          <a:ln cap="flat" cmpd="sng" w="28575">
            <a:solidFill>
              <a:schemeClr val="dk1"/>
            </a:solidFill>
            <a:prstDash val="solid"/>
            <a:round/>
            <a:headEnd len="med" w="med" type="triangle"/>
            <a:tailEnd len="med" w="med" type="triangle"/>
          </a:ln>
        </p:spPr>
      </p:cxnSp>
      <p:cxnSp>
        <p:nvCxnSpPr>
          <p:cNvPr id="1338" name="Google Shape;1338;p86"/>
          <p:cNvCxnSpPr/>
          <p:nvPr/>
        </p:nvCxnSpPr>
        <p:spPr>
          <a:xfrm>
            <a:off x="939700" y="3383189"/>
            <a:ext cx="0" cy="628800"/>
          </a:xfrm>
          <a:prstGeom prst="straightConnector1">
            <a:avLst/>
          </a:prstGeom>
          <a:noFill/>
          <a:ln cap="flat" cmpd="sng" w="28575">
            <a:solidFill>
              <a:schemeClr val="dk1"/>
            </a:solidFill>
            <a:prstDash val="solid"/>
            <a:round/>
            <a:headEnd len="med" w="med" type="triangle"/>
            <a:tailEnd len="med" w="med" type="triangle"/>
          </a:ln>
        </p:spPr>
      </p:cxnSp>
      <p:sp>
        <p:nvSpPr>
          <p:cNvPr id="1339" name="Google Shape;1339;p86"/>
          <p:cNvSpPr txBox="1"/>
          <p:nvPr>
            <p:ph idx="4294967295" type="body"/>
          </p:nvPr>
        </p:nvSpPr>
        <p:spPr>
          <a:xfrm>
            <a:off x="3063050" y="3198825"/>
            <a:ext cx="1673100" cy="21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a</a:t>
            </a:r>
            <a:r>
              <a:rPr lang="en-GB" sz="2000">
                <a:latin typeface="Kalam"/>
                <a:ea typeface="Kalam"/>
                <a:cs typeface="Kalam"/>
                <a:sym typeface="Kalam"/>
              </a:rPr>
              <a:t> </a:t>
            </a:r>
            <a:r>
              <a:rPr lang="en-GB" sz="2000">
                <a:latin typeface="Times New Roman"/>
                <a:ea typeface="Times New Roman"/>
                <a:cs typeface="Times New Roman"/>
                <a:sym typeface="Times New Roman"/>
              </a:rPr>
              <a:t>= 15cos(21°)</a:t>
            </a:r>
            <a:endParaRPr sz="2000">
              <a:latin typeface="Times New Roman"/>
              <a:ea typeface="Times New Roman"/>
              <a:cs typeface="Times New Roman"/>
              <a:sym typeface="Times New Roman"/>
            </a:endParaRPr>
          </a:p>
        </p:txBody>
      </p:sp>
      <p:sp>
        <p:nvSpPr>
          <p:cNvPr id="1340" name="Google Shape;1340;p86"/>
          <p:cNvSpPr txBox="1"/>
          <p:nvPr>
            <p:ph idx="4294967295" type="body"/>
          </p:nvPr>
        </p:nvSpPr>
        <p:spPr>
          <a:xfrm>
            <a:off x="3304522" y="3510061"/>
            <a:ext cx="1673100" cy="21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 14.00… </a:t>
            </a:r>
            <a:endParaRPr sz="2000">
              <a:latin typeface="Times New Roman"/>
              <a:ea typeface="Times New Roman"/>
              <a:cs typeface="Times New Roman"/>
              <a:sym typeface="Times New Roman"/>
            </a:endParaRPr>
          </a:p>
        </p:txBody>
      </p:sp>
      <p:sp>
        <p:nvSpPr>
          <p:cNvPr id="1341" name="Google Shape;1341;p86"/>
          <p:cNvSpPr txBox="1"/>
          <p:nvPr>
            <p:ph idx="4294967295" type="body"/>
          </p:nvPr>
        </p:nvSpPr>
        <p:spPr>
          <a:xfrm>
            <a:off x="3063050" y="3884625"/>
            <a:ext cx="1673100" cy="21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b</a:t>
            </a:r>
            <a:r>
              <a:rPr lang="en-GB" sz="2000">
                <a:latin typeface="Kalam"/>
                <a:ea typeface="Kalam"/>
                <a:cs typeface="Kalam"/>
                <a:sym typeface="Kalam"/>
              </a:rPr>
              <a:t> </a:t>
            </a:r>
            <a:r>
              <a:rPr lang="en-GB" sz="2000">
                <a:latin typeface="Times New Roman"/>
                <a:ea typeface="Times New Roman"/>
                <a:cs typeface="Times New Roman"/>
                <a:sym typeface="Times New Roman"/>
              </a:rPr>
              <a:t>= 15sin(21°)</a:t>
            </a:r>
            <a:endParaRPr sz="2000">
              <a:latin typeface="Times New Roman"/>
              <a:ea typeface="Times New Roman"/>
              <a:cs typeface="Times New Roman"/>
              <a:sym typeface="Times New Roman"/>
            </a:endParaRPr>
          </a:p>
        </p:txBody>
      </p:sp>
      <p:sp>
        <p:nvSpPr>
          <p:cNvPr id="1342" name="Google Shape;1342;p86"/>
          <p:cNvSpPr txBox="1"/>
          <p:nvPr>
            <p:ph idx="4294967295" type="body"/>
          </p:nvPr>
        </p:nvSpPr>
        <p:spPr>
          <a:xfrm>
            <a:off x="3304522" y="4195861"/>
            <a:ext cx="1673100" cy="21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 5.37…</a:t>
            </a:r>
            <a:endParaRPr sz="2000">
              <a:latin typeface="Times New Roman"/>
              <a:ea typeface="Times New Roman"/>
              <a:cs typeface="Times New Roman"/>
              <a:sym typeface="Times New Roman"/>
            </a:endParaRPr>
          </a:p>
        </p:txBody>
      </p:sp>
      <p:sp>
        <p:nvSpPr>
          <p:cNvPr id="1343" name="Google Shape;1343;p86"/>
          <p:cNvSpPr txBox="1"/>
          <p:nvPr>
            <p:ph idx="4294967295" type="body"/>
          </p:nvPr>
        </p:nvSpPr>
        <p:spPr>
          <a:xfrm>
            <a:off x="3203609" y="2703002"/>
            <a:ext cx="726300" cy="21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x</a:t>
            </a:r>
            <a:r>
              <a:rPr lang="en-GB" sz="2000">
                <a:latin typeface="Kalam"/>
                <a:ea typeface="Kalam"/>
                <a:cs typeface="Kalam"/>
                <a:sym typeface="Kalam"/>
              </a:rPr>
              <a:t> cm</a:t>
            </a:r>
            <a:endParaRPr sz="2000">
              <a:latin typeface="Kalam"/>
              <a:ea typeface="Kalam"/>
              <a:cs typeface="Kalam"/>
              <a:sym typeface="Kalam"/>
            </a:endParaRPr>
          </a:p>
        </p:txBody>
      </p:sp>
      <p:sp>
        <p:nvSpPr>
          <p:cNvPr id="1344" name="Google Shape;1344;p86"/>
          <p:cNvSpPr txBox="1"/>
          <p:nvPr>
            <p:ph idx="4294967295" type="body"/>
          </p:nvPr>
        </p:nvSpPr>
        <p:spPr>
          <a:xfrm>
            <a:off x="5718172" y="3160200"/>
            <a:ext cx="2937300" cy="21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baseline="30000" lang="en-GB" sz="2000">
                <a:latin typeface="Times New Roman"/>
                <a:ea typeface="Times New Roman"/>
                <a:cs typeface="Times New Roman"/>
                <a:sym typeface="Times New Roman"/>
              </a:rPr>
              <a:t>2</a:t>
            </a:r>
            <a:r>
              <a:rPr lang="en-GB" sz="2000">
                <a:latin typeface="Times New Roman"/>
                <a:ea typeface="Times New Roman"/>
                <a:cs typeface="Times New Roman"/>
                <a:sym typeface="Times New Roman"/>
              </a:rPr>
              <a:t> = </a:t>
            </a:r>
            <a:r>
              <a:rPr i="1" lang="en-GB" sz="2000">
                <a:latin typeface="Times New Roman"/>
                <a:ea typeface="Times New Roman"/>
                <a:cs typeface="Times New Roman"/>
                <a:sym typeface="Times New Roman"/>
              </a:rPr>
              <a:t>b</a:t>
            </a:r>
            <a:r>
              <a:rPr baseline="30000" lang="en-GB" sz="2000">
                <a:latin typeface="Times New Roman"/>
                <a:ea typeface="Times New Roman"/>
                <a:cs typeface="Times New Roman"/>
                <a:sym typeface="Times New Roman"/>
              </a:rPr>
              <a:t>2</a:t>
            </a:r>
            <a:r>
              <a:rPr lang="en-GB" sz="2000">
                <a:latin typeface="Times New Roman"/>
                <a:ea typeface="Times New Roman"/>
                <a:cs typeface="Times New Roman"/>
                <a:sym typeface="Times New Roman"/>
              </a:rPr>
              <a:t> + (24 - </a:t>
            </a:r>
            <a:r>
              <a:rPr i="1" lang="en-GB" sz="2000">
                <a:latin typeface="Times New Roman"/>
                <a:ea typeface="Times New Roman"/>
                <a:cs typeface="Times New Roman"/>
                <a:sym typeface="Times New Roman"/>
              </a:rPr>
              <a:t>a</a:t>
            </a:r>
            <a:r>
              <a:rPr lang="en-GB" sz="2000">
                <a:latin typeface="Times New Roman"/>
                <a:ea typeface="Times New Roman"/>
                <a:cs typeface="Times New Roman"/>
                <a:sym typeface="Times New Roman"/>
              </a:rPr>
              <a:t>)</a:t>
            </a:r>
            <a:r>
              <a:rPr baseline="30000" lang="en-GB" sz="2000">
                <a:latin typeface="Times New Roman"/>
                <a:ea typeface="Times New Roman"/>
                <a:cs typeface="Times New Roman"/>
                <a:sym typeface="Times New Roman"/>
              </a:rPr>
              <a:t>2</a:t>
            </a:r>
            <a:r>
              <a:rPr lang="en-GB" sz="2000">
                <a:latin typeface="Kalam"/>
                <a:ea typeface="Kalam"/>
                <a:cs typeface="Kalam"/>
                <a:sym typeface="Kalam"/>
              </a:rPr>
              <a:t> </a:t>
            </a:r>
            <a:endParaRPr sz="2000">
              <a:latin typeface="Kalam"/>
              <a:ea typeface="Kalam"/>
              <a:cs typeface="Kalam"/>
              <a:sym typeface="Kalam"/>
            </a:endParaRPr>
          </a:p>
        </p:txBody>
      </p:sp>
      <p:sp>
        <p:nvSpPr>
          <p:cNvPr id="1345" name="Google Shape;1345;p86"/>
          <p:cNvSpPr txBox="1"/>
          <p:nvPr>
            <p:ph idx="4294967295" type="body"/>
          </p:nvPr>
        </p:nvSpPr>
        <p:spPr>
          <a:xfrm>
            <a:off x="5718172" y="3541200"/>
            <a:ext cx="2937300" cy="21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baseline="30000" lang="en-GB" sz="2000">
                <a:latin typeface="Times New Roman"/>
                <a:ea typeface="Times New Roman"/>
                <a:cs typeface="Times New Roman"/>
                <a:sym typeface="Times New Roman"/>
              </a:rPr>
              <a:t>2</a:t>
            </a:r>
            <a:r>
              <a:rPr lang="en-GB" sz="2000">
                <a:latin typeface="Times New Roman"/>
                <a:ea typeface="Times New Roman"/>
                <a:cs typeface="Times New Roman"/>
                <a:sym typeface="Times New Roman"/>
              </a:rPr>
              <a:t> = 5.37…</a:t>
            </a:r>
            <a:r>
              <a:rPr baseline="30000" lang="en-GB" sz="2000">
                <a:latin typeface="Times New Roman"/>
                <a:ea typeface="Times New Roman"/>
                <a:cs typeface="Times New Roman"/>
                <a:sym typeface="Times New Roman"/>
              </a:rPr>
              <a:t>2</a:t>
            </a:r>
            <a:r>
              <a:rPr lang="en-GB" sz="2000">
                <a:latin typeface="Times New Roman"/>
                <a:ea typeface="Times New Roman"/>
                <a:cs typeface="Times New Roman"/>
                <a:sym typeface="Times New Roman"/>
              </a:rPr>
              <a:t> + 10</a:t>
            </a:r>
            <a:r>
              <a:rPr baseline="30000" lang="en-GB" sz="2000">
                <a:latin typeface="Times New Roman"/>
                <a:ea typeface="Times New Roman"/>
                <a:cs typeface="Times New Roman"/>
                <a:sym typeface="Times New Roman"/>
              </a:rPr>
              <a:t>2</a:t>
            </a:r>
            <a:r>
              <a:rPr lang="en-GB" sz="2000">
                <a:latin typeface="Kalam"/>
                <a:ea typeface="Kalam"/>
                <a:cs typeface="Kalam"/>
                <a:sym typeface="Kalam"/>
              </a:rPr>
              <a:t> </a:t>
            </a:r>
            <a:endParaRPr sz="2000">
              <a:latin typeface="Kalam"/>
              <a:ea typeface="Kalam"/>
              <a:cs typeface="Kalam"/>
              <a:sym typeface="Kalam"/>
            </a:endParaRPr>
          </a:p>
        </p:txBody>
      </p:sp>
      <p:sp>
        <p:nvSpPr>
          <p:cNvPr id="1346" name="Google Shape;1346;p86"/>
          <p:cNvSpPr txBox="1"/>
          <p:nvPr>
            <p:ph idx="4294967295" type="body"/>
          </p:nvPr>
        </p:nvSpPr>
        <p:spPr>
          <a:xfrm>
            <a:off x="5718172" y="3922200"/>
            <a:ext cx="2937300" cy="21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baseline="30000" lang="en-GB" sz="2000">
                <a:latin typeface="Times New Roman"/>
                <a:ea typeface="Times New Roman"/>
                <a:cs typeface="Times New Roman"/>
                <a:sym typeface="Times New Roman"/>
              </a:rPr>
              <a:t>2</a:t>
            </a:r>
            <a:r>
              <a:rPr lang="en-GB" sz="2000">
                <a:latin typeface="Times New Roman"/>
                <a:ea typeface="Times New Roman"/>
                <a:cs typeface="Times New Roman"/>
                <a:sym typeface="Times New Roman"/>
              </a:rPr>
              <a:t> = 128.822…</a:t>
            </a:r>
            <a:endParaRPr sz="2000">
              <a:latin typeface="Kalam"/>
              <a:ea typeface="Kalam"/>
              <a:cs typeface="Kalam"/>
              <a:sym typeface="Kalam"/>
            </a:endParaRPr>
          </a:p>
        </p:txBody>
      </p:sp>
      <p:sp>
        <p:nvSpPr>
          <p:cNvPr id="1347" name="Google Shape;1347;p86"/>
          <p:cNvSpPr txBox="1"/>
          <p:nvPr>
            <p:ph idx="4294967295" type="body"/>
          </p:nvPr>
        </p:nvSpPr>
        <p:spPr>
          <a:xfrm>
            <a:off x="5794372" y="4303200"/>
            <a:ext cx="2937300" cy="21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11.3499… </a:t>
            </a:r>
            <a:endParaRPr sz="2000">
              <a:latin typeface="Kalam"/>
              <a:ea typeface="Kalam"/>
              <a:cs typeface="Kalam"/>
              <a:sym typeface="Kalam"/>
            </a:endParaRPr>
          </a:p>
        </p:txBody>
      </p:sp>
      <p:sp>
        <p:nvSpPr>
          <p:cNvPr id="1348" name="Google Shape;1348;p86"/>
          <p:cNvSpPr txBox="1"/>
          <p:nvPr>
            <p:ph idx="4294967295" type="body"/>
          </p:nvPr>
        </p:nvSpPr>
        <p:spPr>
          <a:xfrm>
            <a:off x="5927075" y="1661400"/>
            <a:ext cx="4298400" cy="37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Perimeter </a:t>
            </a:r>
            <a:endParaRPr sz="2000">
              <a:latin typeface="Kalam"/>
              <a:ea typeface="Kalam"/>
              <a:cs typeface="Kalam"/>
              <a:sym typeface="Kalam"/>
            </a:endParaRPr>
          </a:p>
          <a:p>
            <a:pPr indent="0" lvl="0" marL="0" rtl="0" algn="l">
              <a:spcBef>
                <a:spcPts val="1000"/>
              </a:spcBef>
              <a:spcAft>
                <a:spcPts val="1000"/>
              </a:spcAft>
              <a:buNone/>
            </a:pPr>
            <a:r>
              <a:rPr lang="en-GB" sz="2000">
                <a:latin typeface="Times New Roman"/>
                <a:ea typeface="Times New Roman"/>
                <a:cs typeface="Times New Roman"/>
                <a:sym typeface="Times New Roman"/>
              </a:rPr>
              <a:t>= 11.3 + 15 + 24 = 50.3 cm</a:t>
            </a:r>
            <a:endParaRPr baseline="30000" sz="1800"/>
          </a:p>
        </p:txBody>
      </p:sp>
      <p:sp>
        <p:nvSpPr>
          <p:cNvPr id="1349" name="Google Shape;1349;p86"/>
          <p:cNvSpPr/>
          <p:nvPr/>
        </p:nvSpPr>
        <p:spPr>
          <a:xfrm>
            <a:off x="2738913" y="1460558"/>
            <a:ext cx="2620636" cy="1212584"/>
          </a:xfrm>
          <a:custGeom>
            <a:rect b="b" l="l" r="r" t="t"/>
            <a:pathLst>
              <a:path extrusionOk="0" h="35391" w="76487">
                <a:moveTo>
                  <a:pt x="0" y="35291"/>
                </a:moveTo>
                <a:lnTo>
                  <a:pt x="48300" y="35391"/>
                </a:lnTo>
                <a:lnTo>
                  <a:pt x="76487" y="0"/>
                </a:lnTo>
                <a:close/>
              </a:path>
            </a:pathLst>
          </a:custGeom>
          <a:noFill/>
          <a:ln cap="flat" cmpd="sng" w="28575">
            <a:solidFill>
              <a:schemeClr val="dk1"/>
            </a:solidFill>
            <a:prstDash val="solid"/>
            <a:round/>
            <a:headEnd len="med" w="med" type="none"/>
            <a:tailEnd len="med" w="med" type="none"/>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8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Trigonometry or not</a:t>
            </a:r>
            <a:endParaRPr/>
          </a:p>
        </p:txBody>
      </p:sp>
      <p:sp>
        <p:nvSpPr>
          <p:cNvPr id="1355" name="Google Shape;1355;p8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1356" name="Google Shape;1356;p8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Choosing an appropriate method for finding lengths of a triangle</a:t>
            </a:r>
            <a:endParaRPr/>
          </a:p>
        </p:txBody>
      </p:sp>
      <p:pic>
        <p:nvPicPr>
          <p:cNvPr id="1357" name="Google Shape;1357;p87"/>
          <p:cNvPicPr preferRelativeResize="0"/>
          <p:nvPr/>
        </p:nvPicPr>
        <p:blipFill>
          <a:blip r:embed="rId3">
            <a:alphaModFix/>
          </a:blip>
          <a:stretch>
            <a:fillRect/>
          </a:stretch>
        </p:blipFill>
        <p:spPr>
          <a:xfrm>
            <a:off x="418395" y="2994445"/>
            <a:ext cx="450575" cy="446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88"/>
          <p:cNvSpPr txBox="1"/>
          <p:nvPr>
            <p:ph idx="1" type="body"/>
          </p:nvPr>
        </p:nvSpPr>
        <p:spPr>
          <a:xfrm>
            <a:off x="324000" y="759300"/>
            <a:ext cx="8237700" cy="101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ramp needs to be built outside a shop for wheelchair access. The incline of the ramp cannot exceed 4.8°. The bottom of the doorway is 34 cm high. How far away from the shop will the start of the ramp </a:t>
            </a:r>
            <a:r>
              <a:rPr lang="en-GB" sz="1800"/>
              <a:t>need to be?</a:t>
            </a:r>
            <a:endParaRPr sz="1800"/>
          </a:p>
        </p:txBody>
      </p:sp>
      <p:sp>
        <p:nvSpPr>
          <p:cNvPr id="1363" name="Google Shape;1363;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Practical uses of trigonometry</a:t>
            </a:r>
            <a:endParaRPr/>
          </a:p>
        </p:txBody>
      </p:sp>
      <p:pic>
        <p:nvPicPr>
          <p:cNvPr id="1364" name="Google Shape;1364;p88"/>
          <p:cNvPicPr preferRelativeResize="0"/>
          <p:nvPr/>
        </p:nvPicPr>
        <p:blipFill>
          <a:blip r:embed="rId3">
            <a:alphaModFix/>
          </a:blip>
          <a:stretch>
            <a:fillRect/>
          </a:stretch>
        </p:blipFill>
        <p:spPr>
          <a:xfrm>
            <a:off x="703563" y="1835725"/>
            <a:ext cx="2843125" cy="2434626"/>
          </a:xfrm>
          <a:prstGeom prst="rect">
            <a:avLst/>
          </a:prstGeom>
          <a:noFill/>
          <a:ln>
            <a:noFill/>
          </a:ln>
        </p:spPr>
      </p:pic>
      <p:sp>
        <p:nvSpPr>
          <p:cNvPr id="1365" name="Google Shape;1365;p88"/>
          <p:cNvSpPr txBox="1"/>
          <p:nvPr>
            <p:ph idx="1" type="body"/>
          </p:nvPr>
        </p:nvSpPr>
        <p:spPr>
          <a:xfrm>
            <a:off x="316908" y="3397304"/>
            <a:ext cx="7755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34</a:t>
            </a:r>
            <a:r>
              <a:rPr lang="en-GB" sz="1800"/>
              <a:t> cm</a:t>
            </a:r>
            <a:endParaRPr sz="1800"/>
          </a:p>
        </p:txBody>
      </p:sp>
      <p:cxnSp>
        <p:nvCxnSpPr>
          <p:cNvPr id="1366" name="Google Shape;1366;p88"/>
          <p:cNvCxnSpPr/>
          <p:nvPr/>
        </p:nvCxnSpPr>
        <p:spPr>
          <a:xfrm>
            <a:off x="1054775" y="3421300"/>
            <a:ext cx="6600" cy="225300"/>
          </a:xfrm>
          <a:prstGeom prst="straightConnector1">
            <a:avLst/>
          </a:prstGeom>
          <a:noFill/>
          <a:ln cap="flat" cmpd="sng" w="9525">
            <a:solidFill>
              <a:schemeClr val="dk1"/>
            </a:solidFill>
            <a:prstDash val="solid"/>
            <a:round/>
            <a:headEnd len="med" w="med" type="triangle"/>
            <a:tailEnd len="med" w="med" type="triangle"/>
          </a:ln>
        </p:spPr>
      </p:cxnSp>
      <p:sp>
        <p:nvSpPr>
          <p:cNvPr id="1367" name="Google Shape;1367;p88"/>
          <p:cNvSpPr/>
          <p:nvPr/>
        </p:nvSpPr>
        <p:spPr>
          <a:xfrm>
            <a:off x="1837200" y="3491825"/>
            <a:ext cx="1394700" cy="1394700"/>
          </a:xfrm>
          <a:prstGeom prst="arc">
            <a:avLst>
              <a:gd fmla="val 12160038" name="adj1"/>
              <a:gd fmla="val 12602416"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8" name="Google Shape;1368;p88"/>
          <p:cNvSpPr txBox="1"/>
          <p:nvPr>
            <p:ph idx="1" type="body"/>
          </p:nvPr>
        </p:nvSpPr>
        <p:spPr>
          <a:xfrm>
            <a:off x="2053803" y="3570725"/>
            <a:ext cx="489900" cy="322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4.8°</a:t>
            </a:r>
            <a:endParaRPr sz="1800"/>
          </a:p>
        </p:txBody>
      </p:sp>
      <p:cxnSp>
        <p:nvCxnSpPr>
          <p:cNvPr id="1369" name="Google Shape;1369;p88"/>
          <p:cNvCxnSpPr/>
          <p:nvPr/>
        </p:nvCxnSpPr>
        <p:spPr>
          <a:xfrm flipH="1" rot="10800000">
            <a:off x="1981050" y="3785468"/>
            <a:ext cx="25800" cy="115800"/>
          </a:xfrm>
          <a:prstGeom prst="straightConnector1">
            <a:avLst/>
          </a:prstGeom>
          <a:noFill/>
          <a:ln cap="flat" cmpd="sng" w="38100">
            <a:solidFill>
              <a:schemeClr val="dk1"/>
            </a:solidFill>
            <a:prstDash val="solid"/>
            <a:round/>
            <a:headEnd len="med" w="med" type="none"/>
            <a:tailEnd len="med" w="med" type="none"/>
          </a:ln>
        </p:spPr>
      </p:cxnSp>
      <p:sp>
        <p:nvSpPr>
          <p:cNvPr id="1370" name="Google Shape;1370;p88"/>
          <p:cNvSpPr txBox="1"/>
          <p:nvPr>
            <p:ph idx="1" type="body"/>
          </p:nvPr>
        </p:nvSpPr>
        <p:spPr>
          <a:xfrm>
            <a:off x="1274801" y="3879472"/>
            <a:ext cx="7755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d</a:t>
            </a:r>
            <a:r>
              <a:rPr lang="en-GB" sz="1800"/>
              <a:t> cm</a:t>
            </a:r>
            <a:endParaRPr sz="1800"/>
          </a:p>
        </p:txBody>
      </p:sp>
      <p:cxnSp>
        <p:nvCxnSpPr>
          <p:cNvPr id="1371" name="Google Shape;1371;p88"/>
          <p:cNvCxnSpPr/>
          <p:nvPr/>
        </p:nvCxnSpPr>
        <p:spPr>
          <a:xfrm>
            <a:off x="1117053" y="3699529"/>
            <a:ext cx="1437300" cy="552000"/>
          </a:xfrm>
          <a:prstGeom prst="straightConnector1">
            <a:avLst/>
          </a:prstGeom>
          <a:noFill/>
          <a:ln cap="flat" cmpd="sng" w="9525">
            <a:solidFill>
              <a:schemeClr val="dk1"/>
            </a:solidFill>
            <a:prstDash val="solid"/>
            <a:round/>
            <a:headEnd len="med" w="med" type="triangle"/>
            <a:tailEnd len="med" w="med" type="triangle"/>
          </a:ln>
        </p:spPr>
      </p:cxnSp>
      <p:sp>
        <p:nvSpPr>
          <p:cNvPr id="1372" name="Google Shape;1372;p88"/>
          <p:cNvSpPr txBox="1"/>
          <p:nvPr>
            <p:ph idx="1" type="body"/>
          </p:nvPr>
        </p:nvSpPr>
        <p:spPr>
          <a:xfrm>
            <a:off x="3631225" y="1864200"/>
            <a:ext cx="5188800" cy="101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Assuming the wall of the shop is perpendicular to the ground. The tangent function can be used to determine the adjacent </a:t>
            </a:r>
            <a:r>
              <a:rPr lang="en-GB" sz="1800"/>
              <a:t>length</a:t>
            </a:r>
            <a:r>
              <a:rPr lang="en-GB" sz="1800"/>
              <a:t>.</a:t>
            </a:r>
            <a:endParaRPr sz="1800"/>
          </a:p>
        </p:txBody>
      </p:sp>
      <p:sp>
        <p:nvSpPr>
          <p:cNvPr id="1373" name="Google Shape;1373;p88"/>
          <p:cNvSpPr txBox="1"/>
          <p:nvPr>
            <p:ph idx="1" type="body"/>
          </p:nvPr>
        </p:nvSpPr>
        <p:spPr>
          <a:xfrm>
            <a:off x="4729551" y="3078747"/>
            <a:ext cx="7755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d</a:t>
            </a:r>
            <a:r>
              <a:rPr lang="en-GB" sz="1800"/>
              <a:t> </a:t>
            </a:r>
            <a:r>
              <a:rPr lang="en-GB"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1374" name="Google Shape;1374;p88"/>
          <p:cNvSpPr txBox="1"/>
          <p:nvPr>
            <p:ph idx="1" type="body"/>
          </p:nvPr>
        </p:nvSpPr>
        <p:spPr>
          <a:xfrm>
            <a:off x="5459104" y="2942242"/>
            <a:ext cx="7755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34</a:t>
            </a:r>
            <a:endParaRPr sz="2000">
              <a:latin typeface="Times New Roman"/>
              <a:ea typeface="Times New Roman"/>
              <a:cs typeface="Times New Roman"/>
              <a:sym typeface="Times New Roman"/>
            </a:endParaRPr>
          </a:p>
        </p:txBody>
      </p:sp>
      <p:sp>
        <p:nvSpPr>
          <p:cNvPr id="1375" name="Google Shape;1375;p88"/>
          <p:cNvSpPr txBox="1"/>
          <p:nvPr>
            <p:ph idx="1" type="body"/>
          </p:nvPr>
        </p:nvSpPr>
        <p:spPr>
          <a:xfrm>
            <a:off x="5122800" y="3227550"/>
            <a:ext cx="11340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tan(4.8°)</a:t>
            </a:r>
            <a:endParaRPr sz="2000">
              <a:latin typeface="Times New Roman"/>
              <a:ea typeface="Times New Roman"/>
              <a:cs typeface="Times New Roman"/>
              <a:sym typeface="Times New Roman"/>
            </a:endParaRPr>
          </a:p>
        </p:txBody>
      </p:sp>
      <p:cxnSp>
        <p:nvCxnSpPr>
          <p:cNvPr id="1376" name="Google Shape;1376;p88"/>
          <p:cNvCxnSpPr/>
          <p:nvPr/>
        </p:nvCxnSpPr>
        <p:spPr>
          <a:xfrm>
            <a:off x="5122800" y="3240000"/>
            <a:ext cx="916800" cy="0"/>
          </a:xfrm>
          <a:prstGeom prst="straightConnector1">
            <a:avLst/>
          </a:prstGeom>
          <a:noFill/>
          <a:ln cap="flat" cmpd="sng" w="19050">
            <a:solidFill>
              <a:schemeClr val="dk1"/>
            </a:solidFill>
            <a:prstDash val="solid"/>
            <a:round/>
            <a:headEnd len="med" w="med" type="none"/>
            <a:tailEnd len="med" w="med" type="none"/>
          </a:ln>
        </p:spPr>
      </p:cxnSp>
      <p:sp>
        <p:nvSpPr>
          <p:cNvPr id="1377" name="Google Shape;1377;p88"/>
          <p:cNvSpPr txBox="1"/>
          <p:nvPr>
            <p:ph idx="1" type="body"/>
          </p:nvPr>
        </p:nvSpPr>
        <p:spPr>
          <a:xfrm>
            <a:off x="6101148" y="3078750"/>
            <a:ext cx="24162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 404.9 </a:t>
            </a:r>
            <a:endParaRPr sz="2000">
              <a:latin typeface="Times New Roman"/>
              <a:ea typeface="Times New Roman"/>
              <a:cs typeface="Times New Roman"/>
              <a:sym typeface="Times New Roman"/>
            </a:endParaRPr>
          </a:p>
        </p:txBody>
      </p:sp>
      <p:sp>
        <p:nvSpPr>
          <p:cNvPr id="1378" name="Google Shape;1378;p88"/>
          <p:cNvSpPr txBox="1"/>
          <p:nvPr>
            <p:ph idx="1" type="body"/>
          </p:nvPr>
        </p:nvSpPr>
        <p:spPr>
          <a:xfrm>
            <a:off x="3707425" y="3769200"/>
            <a:ext cx="5188800" cy="101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start of the ramp is approximately 4.05 metres away from the shop.</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pic>
        <p:nvPicPr>
          <p:cNvPr id="1383" name="Google Shape;1383;p89"/>
          <p:cNvPicPr preferRelativeResize="0"/>
          <p:nvPr/>
        </p:nvPicPr>
        <p:blipFill>
          <a:blip r:embed="rId3">
            <a:alphaModFix/>
          </a:blip>
          <a:stretch>
            <a:fillRect/>
          </a:stretch>
        </p:blipFill>
        <p:spPr>
          <a:xfrm>
            <a:off x="699411" y="1834951"/>
            <a:ext cx="2843126" cy="2432859"/>
          </a:xfrm>
          <a:prstGeom prst="rect">
            <a:avLst/>
          </a:prstGeom>
          <a:noFill/>
          <a:ln>
            <a:noFill/>
          </a:ln>
        </p:spPr>
      </p:pic>
      <p:sp>
        <p:nvSpPr>
          <p:cNvPr id="1384" name="Google Shape;1384;p8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ramp needs to be built outside a different shop for wheelchair access. The incline of the ramp still cannot exceed 4.8°. The bottom of this doorway is 30 cm high. How long is the ramp?</a:t>
            </a:r>
            <a:endParaRPr sz="1800"/>
          </a:p>
        </p:txBody>
      </p:sp>
      <p:sp>
        <p:nvSpPr>
          <p:cNvPr id="1385" name="Google Shape;1385;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1386" name="Google Shape;1386;p89"/>
          <p:cNvSpPr txBox="1"/>
          <p:nvPr>
            <p:ph idx="1" type="body"/>
          </p:nvPr>
        </p:nvSpPr>
        <p:spPr>
          <a:xfrm>
            <a:off x="316908" y="3397304"/>
            <a:ext cx="7755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 cm</a:t>
            </a:r>
            <a:endParaRPr sz="1800"/>
          </a:p>
        </p:txBody>
      </p:sp>
      <p:cxnSp>
        <p:nvCxnSpPr>
          <p:cNvPr id="1387" name="Google Shape;1387;p89"/>
          <p:cNvCxnSpPr/>
          <p:nvPr/>
        </p:nvCxnSpPr>
        <p:spPr>
          <a:xfrm>
            <a:off x="1054775" y="3421300"/>
            <a:ext cx="6600" cy="225300"/>
          </a:xfrm>
          <a:prstGeom prst="straightConnector1">
            <a:avLst/>
          </a:prstGeom>
          <a:noFill/>
          <a:ln cap="flat" cmpd="sng" w="9525">
            <a:solidFill>
              <a:schemeClr val="dk1"/>
            </a:solidFill>
            <a:prstDash val="solid"/>
            <a:round/>
            <a:headEnd len="med" w="med" type="triangle"/>
            <a:tailEnd len="med" w="med" type="triangle"/>
          </a:ln>
        </p:spPr>
      </p:cxnSp>
      <p:sp>
        <p:nvSpPr>
          <p:cNvPr id="1388" name="Google Shape;1388;p89"/>
          <p:cNvSpPr/>
          <p:nvPr/>
        </p:nvSpPr>
        <p:spPr>
          <a:xfrm>
            <a:off x="1837200" y="3491825"/>
            <a:ext cx="1394700" cy="1394700"/>
          </a:xfrm>
          <a:prstGeom prst="arc">
            <a:avLst>
              <a:gd fmla="val 12160038" name="adj1"/>
              <a:gd fmla="val 12602416"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9" name="Google Shape;1389;p89"/>
          <p:cNvSpPr txBox="1"/>
          <p:nvPr>
            <p:ph idx="1" type="body"/>
          </p:nvPr>
        </p:nvSpPr>
        <p:spPr>
          <a:xfrm>
            <a:off x="2053803" y="3570725"/>
            <a:ext cx="4899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4.8°</a:t>
            </a:r>
            <a:endParaRPr sz="1800"/>
          </a:p>
        </p:txBody>
      </p:sp>
      <p:cxnSp>
        <p:nvCxnSpPr>
          <p:cNvPr id="1390" name="Google Shape;1390;p89"/>
          <p:cNvCxnSpPr/>
          <p:nvPr/>
        </p:nvCxnSpPr>
        <p:spPr>
          <a:xfrm flipH="1" rot="10800000">
            <a:off x="1981050" y="3785468"/>
            <a:ext cx="25800" cy="115800"/>
          </a:xfrm>
          <a:prstGeom prst="straightConnector1">
            <a:avLst/>
          </a:prstGeom>
          <a:noFill/>
          <a:ln cap="flat" cmpd="sng" w="38100">
            <a:solidFill>
              <a:schemeClr val="dk1"/>
            </a:solidFill>
            <a:prstDash val="solid"/>
            <a:round/>
            <a:headEnd len="med" w="med" type="none"/>
            <a:tailEnd len="med" w="med" type="none"/>
          </a:ln>
        </p:spPr>
      </p:cxnSp>
      <p:sp>
        <p:nvSpPr>
          <p:cNvPr id="1391" name="Google Shape;1391;p89"/>
          <p:cNvSpPr txBox="1"/>
          <p:nvPr>
            <p:ph idx="1" type="body"/>
          </p:nvPr>
        </p:nvSpPr>
        <p:spPr>
          <a:xfrm>
            <a:off x="2632765" y="3291918"/>
            <a:ext cx="7755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d</a:t>
            </a:r>
            <a:r>
              <a:rPr lang="en-GB" sz="1800"/>
              <a:t> cm</a:t>
            </a:r>
            <a:endParaRPr sz="1800"/>
          </a:p>
        </p:txBody>
      </p:sp>
      <p:cxnSp>
        <p:nvCxnSpPr>
          <p:cNvPr id="1392" name="Google Shape;1392;p89"/>
          <p:cNvCxnSpPr/>
          <p:nvPr/>
        </p:nvCxnSpPr>
        <p:spPr>
          <a:xfrm>
            <a:off x="2103825" y="3260375"/>
            <a:ext cx="1383600" cy="740100"/>
          </a:xfrm>
          <a:prstGeom prst="straightConnector1">
            <a:avLst/>
          </a:prstGeom>
          <a:noFill/>
          <a:ln cap="flat" cmpd="sng" w="9525">
            <a:solidFill>
              <a:schemeClr val="dk1"/>
            </a:solidFill>
            <a:prstDash val="solid"/>
            <a:round/>
            <a:headEnd len="med" w="med" type="triangle"/>
            <a:tailEnd len="med" w="med" type="triangle"/>
          </a:ln>
        </p:spPr>
      </p:cxnSp>
      <p:sp>
        <p:nvSpPr>
          <p:cNvPr id="1393" name="Google Shape;1393;p89"/>
          <p:cNvSpPr txBox="1"/>
          <p:nvPr>
            <p:ph idx="1" type="body"/>
          </p:nvPr>
        </p:nvSpPr>
        <p:spPr>
          <a:xfrm>
            <a:off x="4729551" y="3078747"/>
            <a:ext cx="7755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d</a:t>
            </a:r>
            <a:r>
              <a:rPr lang="en-GB" sz="1800"/>
              <a:t> </a:t>
            </a:r>
            <a:r>
              <a:rPr lang="en-GB"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1394" name="Google Shape;1394;p89"/>
          <p:cNvSpPr txBox="1"/>
          <p:nvPr>
            <p:ph idx="1" type="body"/>
          </p:nvPr>
        </p:nvSpPr>
        <p:spPr>
          <a:xfrm>
            <a:off x="5459104" y="2942242"/>
            <a:ext cx="7755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30</a:t>
            </a:r>
            <a:endParaRPr sz="2000">
              <a:latin typeface="Times New Roman"/>
              <a:ea typeface="Times New Roman"/>
              <a:cs typeface="Times New Roman"/>
              <a:sym typeface="Times New Roman"/>
            </a:endParaRPr>
          </a:p>
        </p:txBody>
      </p:sp>
      <p:sp>
        <p:nvSpPr>
          <p:cNvPr id="1395" name="Google Shape;1395;p89"/>
          <p:cNvSpPr txBox="1"/>
          <p:nvPr>
            <p:ph idx="1" type="body"/>
          </p:nvPr>
        </p:nvSpPr>
        <p:spPr>
          <a:xfrm>
            <a:off x="5122800" y="3227550"/>
            <a:ext cx="11340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(4.8°)</a:t>
            </a:r>
            <a:endParaRPr sz="2000">
              <a:latin typeface="Times New Roman"/>
              <a:ea typeface="Times New Roman"/>
              <a:cs typeface="Times New Roman"/>
              <a:sym typeface="Times New Roman"/>
            </a:endParaRPr>
          </a:p>
        </p:txBody>
      </p:sp>
      <p:cxnSp>
        <p:nvCxnSpPr>
          <p:cNvPr id="1396" name="Google Shape;1396;p89"/>
          <p:cNvCxnSpPr/>
          <p:nvPr/>
        </p:nvCxnSpPr>
        <p:spPr>
          <a:xfrm>
            <a:off x="5122800" y="3240000"/>
            <a:ext cx="916800" cy="0"/>
          </a:xfrm>
          <a:prstGeom prst="straightConnector1">
            <a:avLst/>
          </a:prstGeom>
          <a:noFill/>
          <a:ln cap="flat" cmpd="sng" w="19050">
            <a:solidFill>
              <a:schemeClr val="dk1"/>
            </a:solidFill>
            <a:prstDash val="solid"/>
            <a:round/>
            <a:headEnd len="med" w="med" type="none"/>
            <a:tailEnd len="med" w="med" type="none"/>
          </a:ln>
        </p:spPr>
      </p:cxnSp>
      <p:sp>
        <p:nvSpPr>
          <p:cNvPr id="1397" name="Google Shape;1397;p89"/>
          <p:cNvSpPr txBox="1"/>
          <p:nvPr>
            <p:ph idx="1" type="body"/>
          </p:nvPr>
        </p:nvSpPr>
        <p:spPr>
          <a:xfrm>
            <a:off x="6101148" y="3078750"/>
            <a:ext cx="24162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 358.51… </a:t>
            </a:r>
            <a:endParaRPr sz="2000">
              <a:latin typeface="Times New Roman"/>
              <a:ea typeface="Times New Roman"/>
              <a:cs typeface="Times New Roman"/>
              <a:sym typeface="Times New Roman"/>
            </a:endParaRPr>
          </a:p>
        </p:txBody>
      </p:sp>
      <p:sp>
        <p:nvSpPr>
          <p:cNvPr id="1398" name="Google Shape;1398;p89"/>
          <p:cNvSpPr txBox="1"/>
          <p:nvPr/>
        </p:nvSpPr>
        <p:spPr>
          <a:xfrm>
            <a:off x="4475550" y="3854950"/>
            <a:ext cx="3562500" cy="18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The ramp is 3.59 metres long.  </a:t>
            </a:r>
            <a:endParaRPr sz="2000">
              <a:solidFill>
                <a:srgbClr val="000000"/>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1404" name="Google Shape;1404;p90"/>
          <p:cNvSpPr txBox="1"/>
          <p:nvPr>
            <p:ph idx="1" type="body"/>
          </p:nvPr>
        </p:nvSpPr>
        <p:spPr>
          <a:xfrm>
            <a:off x="324000" y="759300"/>
            <a:ext cx="85227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Alex and Sam are estimating the height of the traffic lights.</a:t>
            </a:r>
            <a:endParaRPr sz="1800"/>
          </a:p>
        </p:txBody>
      </p:sp>
      <p:sp>
        <p:nvSpPr>
          <p:cNvPr id="1405" name="Google Shape;1405;p90"/>
          <p:cNvSpPr txBox="1"/>
          <p:nvPr>
            <p:ph idx="1" type="body"/>
          </p:nvPr>
        </p:nvSpPr>
        <p:spPr>
          <a:xfrm>
            <a:off x="324000" y="1140300"/>
            <a:ext cx="85227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How could they do this by using trigonometry?</a:t>
            </a:r>
            <a:endParaRPr sz="1800"/>
          </a:p>
        </p:txBody>
      </p:sp>
      <p:pic>
        <p:nvPicPr>
          <p:cNvPr id="1406" name="Google Shape;1406;p90"/>
          <p:cNvPicPr preferRelativeResize="0"/>
          <p:nvPr/>
        </p:nvPicPr>
        <p:blipFill>
          <a:blip r:embed="rId3">
            <a:alphaModFix/>
          </a:blip>
          <a:stretch>
            <a:fillRect/>
          </a:stretch>
        </p:blipFill>
        <p:spPr>
          <a:xfrm>
            <a:off x="4895286" y="2777625"/>
            <a:ext cx="329226" cy="1214868"/>
          </a:xfrm>
          <a:prstGeom prst="rect">
            <a:avLst/>
          </a:prstGeom>
          <a:noFill/>
          <a:ln>
            <a:noFill/>
          </a:ln>
        </p:spPr>
      </p:pic>
      <p:grpSp>
        <p:nvGrpSpPr>
          <p:cNvPr id="1407" name="Google Shape;1407;p90"/>
          <p:cNvGrpSpPr/>
          <p:nvPr/>
        </p:nvGrpSpPr>
        <p:grpSpPr>
          <a:xfrm>
            <a:off x="1193214" y="2228661"/>
            <a:ext cx="52484" cy="2035493"/>
            <a:chOff x="1755325" y="2376800"/>
            <a:chExt cx="50104" cy="1655411"/>
          </a:xfrm>
        </p:grpSpPr>
        <p:cxnSp>
          <p:nvCxnSpPr>
            <p:cNvPr id="1408" name="Google Shape;1408;p90"/>
            <p:cNvCxnSpPr/>
            <p:nvPr/>
          </p:nvCxnSpPr>
          <p:spPr>
            <a:xfrm>
              <a:off x="1755325" y="2376800"/>
              <a:ext cx="0" cy="1648800"/>
            </a:xfrm>
            <a:prstGeom prst="straightConnector1">
              <a:avLst/>
            </a:prstGeom>
            <a:noFill/>
            <a:ln cap="flat" cmpd="sng" w="9525">
              <a:solidFill>
                <a:schemeClr val="dk1"/>
              </a:solidFill>
              <a:prstDash val="solid"/>
              <a:round/>
              <a:headEnd len="med" w="med" type="none"/>
              <a:tailEnd len="med" w="med" type="none"/>
            </a:ln>
          </p:spPr>
        </p:cxnSp>
        <p:cxnSp>
          <p:nvCxnSpPr>
            <p:cNvPr id="1409" name="Google Shape;1409;p90"/>
            <p:cNvCxnSpPr/>
            <p:nvPr/>
          </p:nvCxnSpPr>
          <p:spPr>
            <a:xfrm>
              <a:off x="1805429" y="2383411"/>
              <a:ext cx="0" cy="1648800"/>
            </a:xfrm>
            <a:prstGeom prst="straightConnector1">
              <a:avLst/>
            </a:prstGeom>
            <a:noFill/>
            <a:ln cap="flat" cmpd="sng" w="9525">
              <a:solidFill>
                <a:schemeClr val="dk1"/>
              </a:solidFill>
              <a:prstDash val="solid"/>
              <a:round/>
              <a:headEnd len="med" w="med" type="none"/>
              <a:tailEnd len="med" w="med" type="none"/>
            </a:ln>
          </p:spPr>
        </p:cxnSp>
      </p:grpSp>
      <p:grpSp>
        <p:nvGrpSpPr>
          <p:cNvPr id="1410" name="Google Shape;1410;p90"/>
          <p:cNvGrpSpPr/>
          <p:nvPr/>
        </p:nvGrpSpPr>
        <p:grpSpPr>
          <a:xfrm flipH="1">
            <a:off x="4953096" y="1225584"/>
            <a:ext cx="3886328" cy="1707725"/>
            <a:chOff x="2365305" y="653875"/>
            <a:chExt cx="3036431" cy="921799"/>
          </a:xfrm>
        </p:grpSpPr>
        <p:pic>
          <p:nvPicPr>
            <p:cNvPr id="1411" name="Google Shape;1411;p90"/>
            <p:cNvPicPr preferRelativeResize="0"/>
            <p:nvPr/>
          </p:nvPicPr>
          <p:blipFill rotWithShape="1">
            <a:blip r:embed="rId4">
              <a:alphaModFix/>
            </a:blip>
            <a:srcRect b="0" l="16814" r="69081" t="89131"/>
            <a:stretch/>
          </p:blipFill>
          <p:spPr>
            <a:xfrm>
              <a:off x="4509760" y="1248449"/>
              <a:ext cx="891976" cy="327225"/>
            </a:xfrm>
            <a:prstGeom prst="rect">
              <a:avLst/>
            </a:prstGeom>
            <a:noFill/>
            <a:ln>
              <a:noFill/>
            </a:ln>
          </p:spPr>
        </p:pic>
        <p:pic>
          <p:nvPicPr>
            <p:cNvPr id="1412" name="Google Shape;1412;p90"/>
            <p:cNvPicPr preferRelativeResize="0"/>
            <p:nvPr/>
          </p:nvPicPr>
          <p:blipFill rotWithShape="1">
            <a:blip r:embed="rId4">
              <a:alphaModFix/>
            </a:blip>
            <a:srcRect b="0" l="0" r="84914" t="89131"/>
            <a:stretch/>
          </p:blipFill>
          <p:spPr>
            <a:xfrm>
              <a:off x="2365305" y="1248301"/>
              <a:ext cx="954025" cy="327225"/>
            </a:xfrm>
            <a:prstGeom prst="rect">
              <a:avLst/>
            </a:prstGeom>
            <a:noFill/>
            <a:ln>
              <a:noFill/>
            </a:ln>
          </p:spPr>
        </p:pic>
        <p:pic>
          <p:nvPicPr>
            <p:cNvPr id="1413" name="Google Shape;1413;p90"/>
            <p:cNvPicPr preferRelativeResize="0"/>
            <p:nvPr/>
          </p:nvPicPr>
          <p:blipFill rotWithShape="1">
            <a:blip r:embed="rId4">
              <a:alphaModFix/>
            </a:blip>
            <a:srcRect b="0" l="13594" r="78772" t="89131"/>
            <a:stretch/>
          </p:blipFill>
          <p:spPr>
            <a:xfrm>
              <a:off x="2582450" y="1246199"/>
              <a:ext cx="1937725" cy="327225"/>
            </a:xfrm>
            <a:prstGeom prst="rect">
              <a:avLst/>
            </a:prstGeom>
            <a:noFill/>
            <a:ln>
              <a:noFill/>
            </a:ln>
          </p:spPr>
        </p:pic>
        <p:pic>
          <p:nvPicPr>
            <p:cNvPr id="1414" name="Google Shape;1414;p90"/>
            <p:cNvPicPr preferRelativeResize="0"/>
            <p:nvPr/>
          </p:nvPicPr>
          <p:blipFill rotWithShape="1">
            <a:blip r:embed="rId4">
              <a:alphaModFix/>
            </a:blip>
            <a:srcRect b="24818" l="13594" r="78772" t="56280"/>
            <a:stretch/>
          </p:blipFill>
          <p:spPr>
            <a:xfrm>
              <a:off x="2582450" y="653875"/>
              <a:ext cx="1937725" cy="569025"/>
            </a:xfrm>
            <a:prstGeom prst="rect">
              <a:avLst/>
            </a:prstGeom>
            <a:noFill/>
            <a:ln>
              <a:noFill/>
            </a:ln>
          </p:spPr>
        </p:pic>
        <p:pic>
          <p:nvPicPr>
            <p:cNvPr id="1415" name="Google Shape;1415;p90"/>
            <p:cNvPicPr preferRelativeResize="0"/>
            <p:nvPr/>
          </p:nvPicPr>
          <p:blipFill rotWithShape="1">
            <a:blip r:embed="rId4">
              <a:alphaModFix/>
            </a:blip>
            <a:srcRect b="23662" l="16814" r="69081" t="56280"/>
            <a:stretch/>
          </p:blipFill>
          <p:spPr>
            <a:xfrm>
              <a:off x="4508025" y="656125"/>
              <a:ext cx="891976" cy="603825"/>
            </a:xfrm>
            <a:prstGeom prst="rect">
              <a:avLst/>
            </a:prstGeom>
            <a:noFill/>
            <a:ln>
              <a:noFill/>
            </a:ln>
          </p:spPr>
        </p:pic>
        <p:pic>
          <p:nvPicPr>
            <p:cNvPr id="1416" name="Google Shape;1416;p90"/>
            <p:cNvPicPr preferRelativeResize="0"/>
            <p:nvPr/>
          </p:nvPicPr>
          <p:blipFill rotWithShape="1">
            <a:blip r:embed="rId4">
              <a:alphaModFix/>
            </a:blip>
            <a:srcRect b="23662" l="0" r="84914" t="56280"/>
            <a:stretch/>
          </p:blipFill>
          <p:spPr>
            <a:xfrm>
              <a:off x="2368775" y="655976"/>
              <a:ext cx="954025" cy="603825"/>
            </a:xfrm>
            <a:prstGeom prst="rect">
              <a:avLst/>
            </a:prstGeom>
            <a:noFill/>
            <a:ln>
              <a:noFill/>
            </a:ln>
          </p:spPr>
        </p:pic>
      </p:grpSp>
      <p:sp>
        <p:nvSpPr>
          <p:cNvPr id="1417" name="Google Shape;1417;p90"/>
          <p:cNvSpPr txBox="1"/>
          <p:nvPr>
            <p:ph idx="1" type="body"/>
          </p:nvPr>
        </p:nvSpPr>
        <p:spPr>
          <a:xfrm>
            <a:off x="5184475" y="1518438"/>
            <a:ext cx="3522900" cy="84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500"/>
              <a:t>If we know Alex’s height and measure the angle to the top of the traffic lights from his eyeline, we can use trigonometry.</a:t>
            </a:r>
            <a:endParaRPr sz="1500"/>
          </a:p>
        </p:txBody>
      </p:sp>
      <p:cxnSp>
        <p:nvCxnSpPr>
          <p:cNvPr id="1418" name="Google Shape;1418;p90"/>
          <p:cNvCxnSpPr/>
          <p:nvPr/>
        </p:nvCxnSpPr>
        <p:spPr>
          <a:xfrm>
            <a:off x="1198300" y="4406163"/>
            <a:ext cx="2107200" cy="3600"/>
          </a:xfrm>
          <a:prstGeom prst="straightConnector1">
            <a:avLst/>
          </a:prstGeom>
          <a:noFill/>
          <a:ln cap="flat" cmpd="sng" w="28575">
            <a:solidFill>
              <a:schemeClr val="accent5"/>
            </a:solidFill>
            <a:prstDash val="solid"/>
            <a:round/>
            <a:headEnd len="med" w="med" type="triangle"/>
            <a:tailEnd len="med" w="med" type="triangle"/>
          </a:ln>
        </p:spPr>
      </p:cxnSp>
      <p:cxnSp>
        <p:nvCxnSpPr>
          <p:cNvPr id="1419" name="Google Shape;1419;p90"/>
          <p:cNvCxnSpPr/>
          <p:nvPr/>
        </p:nvCxnSpPr>
        <p:spPr>
          <a:xfrm flipH="1" rot="10800000">
            <a:off x="969763" y="1710266"/>
            <a:ext cx="26100" cy="2543400"/>
          </a:xfrm>
          <a:prstGeom prst="straightConnector1">
            <a:avLst/>
          </a:prstGeom>
          <a:noFill/>
          <a:ln cap="flat" cmpd="sng" w="28575">
            <a:solidFill>
              <a:schemeClr val="accent5"/>
            </a:solidFill>
            <a:prstDash val="solid"/>
            <a:round/>
            <a:headEnd len="med" w="med" type="triangle"/>
            <a:tailEnd len="med" w="med" type="triangle"/>
          </a:ln>
        </p:spPr>
      </p:cxnSp>
      <p:cxnSp>
        <p:nvCxnSpPr>
          <p:cNvPr id="1420" name="Google Shape;1420;p90"/>
          <p:cNvCxnSpPr/>
          <p:nvPr/>
        </p:nvCxnSpPr>
        <p:spPr>
          <a:xfrm rot="10800000">
            <a:off x="3530663" y="3046625"/>
            <a:ext cx="0" cy="1200600"/>
          </a:xfrm>
          <a:prstGeom prst="straightConnector1">
            <a:avLst/>
          </a:prstGeom>
          <a:noFill/>
          <a:ln cap="flat" cmpd="sng" w="28575">
            <a:solidFill>
              <a:schemeClr val="accent5"/>
            </a:solidFill>
            <a:prstDash val="solid"/>
            <a:round/>
            <a:headEnd len="med" w="med" type="triangle"/>
            <a:tailEnd len="med" w="med" type="triangle"/>
          </a:ln>
        </p:spPr>
      </p:cxnSp>
      <p:sp>
        <p:nvSpPr>
          <p:cNvPr id="1421" name="Google Shape;1421;p90"/>
          <p:cNvSpPr txBox="1"/>
          <p:nvPr>
            <p:ph idx="1" type="body"/>
          </p:nvPr>
        </p:nvSpPr>
        <p:spPr>
          <a:xfrm>
            <a:off x="561075" y="2816575"/>
            <a:ext cx="5613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h</a:t>
            </a:r>
            <a:r>
              <a:rPr lang="en-GB" sz="1600"/>
              <a:t> m</a:t>
            </a:r>
            <a:endParaRPr sz="1600"/>
          </a:p>
        </p:txBody>
      </p:sp>
      <p:sp>
        <p:nvSpPr>
          <p:cNvPr id="1422" name="Google Shape;1422;p90"/>
          <p:cNvSpPr txBox="1"/>
          <p:nvPr>
            <p:ph idx="1" type="body"/>
          </p:nvPr>
        </p:nvSpPr>
        <p:spPr>
          <a:xfrm>
            <a:off x="2131725" y="4386350"/>
            <a:ext cx="4077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 m</a:t>
            </a:r>
            <a:endParaRPr sz="1600"/>
          </a:p>
        </p:txBody>
      </p:sp>
      <p:sp>
        <p:nvSpPr>
          <p:cNvPr id="1423" name="Google Shape;1423;p90"/>
          <p:cNvSpPr txBox="1"/>
          <p:nvPr>
            <p:ph idx="1" type="body"/>
          </p:nvPr>
        </p:nvSpPr>
        <p:spPr>
          <a:xfrm>
            <a:off x="3628350" y="3485675"/>
            <a:ext cx="7755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156 cm</a:t>
            </a:r>
            <a:endParaRPr sz="1600"/>
          </a:p>
        </p:txBody>
      </p:sp>
      <p:cxnSp>
        <p:nvCxnSpPr>
          <p:cNvPr id="1424" name="Google Shape;1424;p90"/>
          <p:cNvCxnSpPr/>
          <p:nvPr/>
        </p:nvCxnSpPr>
        <p:spPr>
          <a:xfrm>
            <a:off x="1189686" y="4256250"/>
            <a:ext cx="3025200" cy="0"/>
          </a:xfrm>
          <a:prstGeom prst="straightConnector1">
            <a:avLst/>
          </a:prstGeom>
          <a:noFill/>
          <a:ln cap="flat" cmpd="sng" w="19050">
            <a:solidFill>
              <a:schemeClr val="dk2"/>
            </a:solidFill>
            <a:prstDash val="solid"/>
            <a:round/>
            <a:headEnd len="med" w="med" type="none"/>
            <a:tailEnd len="med" w="med" type="none"/>
          </a:ln>
        </p:spPr>
      </p:cxnSp>
      <p:cxnSp>
        <p:nvCxnSpPr>
          <p:cNvPr id="1425" name="Google Shape;1425;p90"/>
          <p:cNvCxnSpPr/>
          <p:nvPr/>
        </p:nvCxnSpPr>
        <p:spPr>
          <a:xfrm rot="10800000">
            <a:off x="1269000" y="3162625"/>
            <a:ext cx="1878600" cy="0"/>
          </a:xfrm>
          <a:prstGeom prst="straightConnector1">
            <a:avLst/>
          </a:prstGeom>
          <a:noFill/>
          <a:ln cap="flat" cmpd="sng" w="19050">
            <a:solidFill>
              <a:schemeClr val="dk2"/>
            </a:solidFill>
            <a:prstDash val="dot"/>
            <a:round/>
            <a:headEnd len="med" w="med" type="none"/>
            <a:tailEnd len="med" w="med" type="none"/>
          </a:ln>
        </p:spPr>
      </p:cxnSp>
      <p:cxnSp>
        <p:nvCxnSpPr>
          <p:cNvPr id="1426" name="Google Shape;1426;p90"/>
          <p:cNvCxnSpPr>
            <a:stCxn id="1427" idx="0"/>
          </p:cNvCxnSpPr>
          <p:nvPr/>
        </p:nvCxnSpPr>
        <p:spPr>
          <a:xfrm>
            <a:off x="1224463" y="1710266"/>
            <a:ext cx="1932000" cy="1434600"/>
          </a:xfrm>
          <a:prstGeom prst="straightConnector1">
            <a:avLst/>
          </a:prstGeom>
          <a:noFill/>
          <a:ln cap="flat" cmpd="sng" w="19050">
            <a:solidFill>
              <a:schemeClr val="dk2"/>
            </a:solidFill>
            <a:prstDash val="solid"/>
            <a:round/>
            <a:headEnd len="med" w="med" type="none"/>
            <a:tailEnd len="med" w="med" type="none"/>
          </a:ln>
        </p:spPr>
      </p:cxnSp>
      <p:sp>
        <p:nvSpPr>
          <p:cNvPr id="1428" name="Google Shape;1428;p90"/>
          <p:cNvSpPr/>
          <p:nvPr/>
        </p:nvSpPr>
        <p:spPr>
          <a:xfrm>
            <a:off x="2609625" y="2555125"/>
            <a:ext cx="1215000" cy="1215000"/>
          </a:xfrm>
          <a:prstGeom prst="arc">
            <a:avLst>
              <a:gd fmla="val 10800000" name="adj1"/>
              <a:gd fmla="val 12860489"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29" name="Google Shape;1429;p90"/>
          <p:cNvSpPr txBox="1"/>
          <p:nvPr>
            <p:ph idx="1" type="body"/>
          </p:nvPr>
        </p:nvSpPr>
        <p:spPr>
          <a:xfrm>
            <a:off x="5815650" y="3032075"/>
            <a:ext cx="27102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tool called a </a:t>
            </a:r>
            <a:r>
              <a:rPr lang="en-GB" sz="1800">
                <a:solidFill>
                  <a:schemeClr val="accent5"/>
                </a:solidFill>
              </a:rPr>
              <a:t>clinometer</a:t>
            </a:r>
            <a:r>
              <a:rPr lang="en-GB" sz="1800"/>
              <a:t> can measure the angle.</a:t>
            </a:r>
            <a:endParaRPr sz="1800"/>
          </a:p>
        </p:txBody>
      </p:sp>
      <p:sp>
        <p:nvSpPr>
          <p:cNvPr id="1430" name="Google Shape;1430;p90"/>
          <p:cNvSpPr txBox="1"/>
          <p:nvPr>
            <p:ph idx="1" type="body"/>
          </p:nvPr>
        </p:nvSpPr>
        <p:spPr>
          <a:xfrm>
            <a:off x="2161042" y="278791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52</a:t>
            </a:r>
            <a:r>
              <a:rPr lang="en-GB" sz="1800"/>
              <a:t>°</a:t>
            </a:r>
            <a:endParaRPr sz="1800"/>
          </a:p>
        </p:txBody>
      </p:sp>
      <p:pic>
        <p:nvPicPr>
          <p:cNvPr id="1427" name="Google Shape;1427;p90"/>
          <p:cNvPicPr preferRelativeResize="0"/>
          <p:nvPr/>
        </p:nvPicPr>
        <p:blipFill rotWithShape="1">
          <a:blip r:embed="rId5">
            <a:alphaModFix/>
          </a:blip>
          <a:srcRect b="13599" l="0" r="0" t="0"/>
          <a:stretch/>
        </p:blipFill>
        <p:spPr>
          <a:xfrm>
            <a:off x="1069538" y="1710266"/>
            <a:ext cx="309850" cy="613501"/>
          </a:xfrm>
          <a:prstGeom prst="rect">
            <a:avLst/>
          </a:prstGeom>
          <a:noFill/>
          <a:ln>
            <a:noFill/>
          </a:ln>
        </p:spPr>
      </p:pic>
      <p:pic>
        <p:nvPicPr>
          <p:cNvPr id="1431" name="Google Shape;1431;p90"/>
          <p:cNvPicPr preferRelativeResize="0"/>
          <p:nvPr/>
        </p:nvPicPr>
        <p:blipFill>
          <a:blip r:embed="rId6">
            <a:alphaModFix/>
          </a:blip>
          <a:stretch>
            <a:fillRect/>
          </a:stretch>
        </p:blipFill>
        <p:spPr>
          <a:xfrm flipH="1">
            <a:off x="3122304" y="3039508"/>
            <a:ext cx="357701" cy="12148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5" name="Shape 1435"/>
        <p:cNvGrpSpPr/>
        <p:nvPr/>
      </p:nvGrpSpPr>
      <p:grpSpPr>
        <a:xfrm>
          <a:off x="0" y="0"/>
          <a:ext cx="0" cy="0"/>
          <a:chOff x="0" y="0"/>
          <a:chExt cx="0" cy="0"/>
        </a:xfrm>
      </p:grpSpPr>
      <p:sp>
        <p:nvSpPr>
          <p:cNvPr id="1436" name="Google Shape;1436;p91"/>
          <p:cNvSpPr/>
          <p:nvPr/>
        </p:nvSpPr>
        <p:spPr>
          <a:xfrm>
            <a:off x="1248050" y="2972825"/>
            <a:ext cx="191100" cy="191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7" name="Google Shape;1437;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1438" name="Google Shape;1438;p91"/>
          <p:cNvSpPr txBox="1"/>
          <p:nvPr>
            <p:ph idx="1" type="body"/>
          </p:nvPr>
        </p:nvSpPr>
        <p:spPr>
          <a:xfrm>
            <a:off x="324000" y="759300"/>
            <a:ext cx="85227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Alex and Sam are estimating the height of the traffic lights.</a:t>
            </a:r>
            <a:endParaRPr sz="1800"/>
          </a:p>
        </p:txBody>
      </p:sp>
      <p:sp>
        <p:nvSpPr>
          <p:cNvPr id="1439" name="Google Shape;1439;p91"/>
          <p:cNvSpPr txBox="1"/>
          <p:nvPr>
            <p:ph idx="1" type="body"/>
          </p:nvPr>
        </p:nvSpPr>
        <p:spPr>
          <a:xfrm>
            <a:off x="324000" y="1140300"/>
            <a:ext cx="85227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How could they do this by using trigonometry?</a:t>
            </a:r>
            <a:endParaRPr sz="1800"/>
          </a:p>
        </p:txBody>
      </p:sp>
      <p:pic>
        <p:nvPicPr>
          <p:cNvPr id="1440" name="Google Shape;1440;p91"/>
          <p:cNvPicPr preferRelativeResize="0"/>
          <p:nvPr/>
        </p:nvPicPr>
        <p:blipFill rotWithShape="1">
          <a:blip r:embed="rId3">
            <a:alphaModFix/>
          </a:blip>
          <a:srcRect b="13599" l="0" r="0" t="0"/>
          <a:stretch/>
        </p:blipFill>
        <p:spPr>
          <a:xfrm>
            <a:off x="1069538" y="1710266"/>
            <a:ext cx="309850" cy="613501"/>
          </a:xfrm>
          <a:prstGeom prst="rect">
            <a:avLst/>
          </a:prstGeom>
          <a:noFill/>
          <a:ln>
            <a:noFill/>
          </a:ln>
        </p:spPr>
      </p:pic>
      <p:pic>
        <p:nvPicPr>
          <p:cNvPr id="1441" name="Google Shape;1441;p91"/>
          <p:cNvPicPr preferRelativeResize="0"/>
          <p:nvPr/>
        </p:nvPicPr>
        <p:blipFill>
          <a:blip r:embed="rId4">
            <a:alphaModFix/>
          </a:blip>
          <a:stretch>
            <a:fillRect/>
          </a:stretch>
        </p:blipFill>
        <p:spPr>
          <a:xfrm flipH="1">
            <a:off x="3122304" y="3039508"/>
            <a:ext cx="357701" cy="1214874"/>
          </a:xfrm>
          <a:prstGeom prst="rect">
            <a:avLst/>
          </a:prstGeom>
          <a:noFill/>
          <a:ln>
            <a:noFill/>
          </a:ln>
        </p:spPr>
      </p:pic>
      <p:grpSp>
        <p:nvGrpSpPr>
          <p:cNvPr id="1442" name="Google Shape;1442;p91"/>
          <p:cNvGrpSpPr/>
          <p:nvPr/>
        </p:nvGrpSpPr>
        <p:grpSpPr>
          <a:xfrm>
            <a:off x="1193214" y="2228661"/>
            <a:ext cx="52484" cy="2035493"/>
            <a:chOff x="1755325" y="2376800"/>
            <a:chExt cx="50104" cy="1655411"/>
          </a:xfrm>
        </p:grpSpPr>
        <p:cxnSp>
          <p:nvCxnSpPr>
            <p:cNvPr id="1443" name="Google Shape;1443;p91"/>
            <p:cNvCxnSpPr/>
            <p:nvPr/>
          </p:nvCxnSpPr>
          <p:spPr>
            <a:xfrm>
              <a:off x="1755325" y="2376800"/>
              <a:ext cx="0" cy="1648800"/>
            </a:xfrm>
            <a:prstGeom prst="straightConnector1">
              <a:avLst/>
            </a:prstGeom>
            <a:noFill/>
            <a:ln cap="flat" cmpd="sng" w="9525">
              <a:solidFill>
                <a:schemeClr val="dk1"/>
              </a:solidFill>
              <a:prstDash val="solid"/>
              <a:round/>
              <a:headEnd len="med" w="med" type="none"/>
              <a:tailEnd len="med" w="med" type="none"/>
            </a:ln>
          </p:spPr>
        </p:cxnSp>
        <p:cxnSp>
          <p:nvCxnSpPr>
            <p:cNvPr id="1444" name="Google Shape;1444;p91"/>
            <p:cNvCxnSpPr/>
            <p:nvPr/>
          </p:nvCxnSpPr>
          <p:spPr>
            <a:xfrm>
              <a:off x="1805429" y="2383411"/>
              <a:ext cx="0" cy="1648800"/>
            </a:xfrm>
            <a:prstGeom prst="straightConnector1">
              <a:avLst/>
            </a:prstGeom>
            <a:noFill/>
            <a:ln cap="flat" cmpd="sng" w="9525">
              <a:solidFill>
                <a:schemeClr val="dk1"/>
              </a:solidFill>
              <a:prstDash val="solid"/>
              <a:round/>
              <a:headEnd len="med" w="med" type="none"/>
              <a:tailEnd len="med" w="med" type="none"/>
            </a:ln>
          </p:spPr>
        </p:cxnSp>
      </p:grpSp>
      <p:cxnSp>
        <p:nvCxnSpPr>
          <p:cNvPr id="1445" name="Google Shape;1445;p91"/>
          <p:cNvCxnSpPr/>
          <p:nvPr/>
        </p:nvCxnSpPr>
        <p:spPr>
          <a:xfrm>
            <a:off x="1198300" y="4406163"/>
            <a:ext cx="2107200" cy="3600"/>
          </a:xfrm>
          <a:prstGeom prst="straightConnector1">
            <a:avLst/>
          </a:prstGeom>
          <a:noFill/>
          <a:ln cap="flat" cmpd="sng" w="28575">
            <a:solidFill>
              <a:schemeClr val="accent5"/>
            </a:solidFill>
            <a:prstDash val="solid"/>
            <a:round/>
            <a:headEnd len="med" w="med" type="triangle"/>
            <a:tailEnd len="med" w="med" type="triangle"/>
          </a:ln>
        </p:spPr>
      </p:cxnSp>
      <p:cxnSp>
        <p:nvCxnSpPr>
          <p:cNvPr id="1446" name="Google Shape;1446;p91"/>
          <p:cNvCxnSpPr/>
          <p:nvPr/>
        </p:nvCxnSpPr>
        <p:spPr>
          <a:xfrm flipH="1" rot="10800000">
            <a:off x="969763" y="1710266"/>
            <a:ext cx="26100" cy="2543400"/>
          </a:xfrm>
          <a:prstGeom prst="straightConnector1">
            <a:avLst/>
          </a:prstGeom>
          <a:noFill/>
          <a:ln cap="flat" cmpd="sng" w="28575">
            <a:solidFill>
              <a:schemeClr val="accent5"/>
            </a:solidFill>
            <a:prstDash val="solid"/>
            <a:round/>
            <a:headEnd len="med" w="med" type="triangle"/>
            <a:tailEnd len="med" w="med" type="triangle"/>
          </a:ln>
        </p:spPr>
      </p:cxnSp>
      <p:cxnSp>
        <p:nvCxnSpPr>
          <p:cNvPr id="1447" name="Google Shape;1447;p91"/>
          <p:cNvCxnSpPr/>
          <p:nvPr/>
        </p:nvCxnSpPr>
        <p:spPr>
          <a:xfrm rot="10800000">
            <a:off x="3530663" y="3046625"/>
            <a:ext cx="0" cy="1200600"/>
          </a:xfrm>
          <a:prstGeom prst="straightConnector1">
            <a:avLst/>
          </a:prstGeom>
          <a:noFill/>
          <a:ln cap="flat" cmpd="sng" w="28575">
            <a:solidFill>
              <a:schemeClr val="accent5"/>
            </a:solidFill>
            <a:prstDash val="solid"/>
            <a:round/>
            <a:headEnd len="med" w="med" type="triangle"/>
            <a:tailEnd len="med" w="med" type="triangle"/>
          </a:ln>
        </p:spPr>
      </p:cxnSp>
      <p:sp>
        <p:nvSpPr>
          <p:cNvPr id="1448" name="Google Shape;1448;p91"/>
          <p:cNvSpPr txBox="1"/>
          <p:nvPr>
            <p:ph idx="1" type="body"/>
          </p:nvPr>
        </p:nvSpPr>
        <p:spPr>
          <a:xfrm>
            <a:off x="2131725" y="4386350"/>
            <a:ext cx="4077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 m</a:t>
            </a:r>
            <a:endParaRPr sz="1600"/>
          </a:p>
        </p:txBody>
      </p:sp>
      <p:sp>
        <p:nvSpPr>
          <p:cNvPr id="1449" name="Google Shape;1449;p91"/>
          <p:cNvSpPr txBox="1"/>
          <p:nvPr>
            <p:ph idx="1" type="body"/>
          </p:nvPr>
        </p:nvSpPr>
        <p:spPr>
          <a:xfrm>
            <a:off x="3628350" y="3485675"/>
            <a:ext cx="7755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156 cm</a:t>
            </a:r>
            <a:endParaRPr sz="1600"/>
          </a:p>
        </p:txBody>
      </p:sp>
      <p:cxnSp>
        <p:nvCxnSpPr>
          <p:cNvPr id="1450" name="Google Shape;1450;p91"/>
          <p:cNvCxnSpPr/>
          <p:nvPr/>
        </p:nvCxnSpPr>
        <p:spPr>
          <a:xfrm>
            <a:off x="1189686" y="4256250"/>
            <a:ext cx="3025200" cy="0"/>
          </a:xfrm>
          <a:prstGeom prst="straightConnector1">
            <a:avLst/>
          </a:prstGeom>
          <a:noFill/>
          <a:ln cap="flat" cmpd="sng" w="19050">
            <a:solidFill>
              <a:schemeClr val="dk2"/>
            </a:solidFill>
            <a:prstDash val="solid"/>
            <a:round/>
            <a:headEnd len="med" w="med" type="none"/>
            <a:tailEnd len="med" w="med" type="none"/>
          </a:ln>
        </p:spPr>
      </p:cxnSp>
      <p:cxnSp>
        <p:nvCxnSpPr>
          <p:cNvPr id="1451" name="Google Shape;1451;p91"/>
          <p:cNvCxnSpPr/>
          <p:nvPr/>
        </p:nvCxnSpPr>
        <p:spPr>
          <a:xfrm rot="10800000">
            <a:off x="1269000" y="3162625"/>
            <a:ext cx="1878600" cy="0"/>
          </a:xfrm>
          <a:prstGeom prst="straightConnector1">
            <a:avLst/>
          </a:prstGeom>
          <a:noFill/>
          <a:ln cap="flat" cmpd="sng" w="19050">
            <a:solidFill>
              <a:schemeClr val="dk2"/>
            </a:solidFill>
            <a:prstDash val="dot"/>
            <a:round/>
            <a:headEnd len="med" w="med" type="none"/>
            <a:tailEnd len="med" w="med" type="none"/>
          </a:ln>
        </p:spPr>
      </p:cxnSp>
      <p:cxnSp>
        <p:nvCxnSpPr>
          <p:cNvPr id="1452" name="Google Shape;1452;p91"/>
          <p:cNvCxnSpPr>
            <a:stCxn id="1440" idx="0"/>
          </p:cNvCxnSpPr>
          <p:nvPr/>
        </p:nvCxnSpPr>
        <p:spPr>
          <a:xfrm>
            <a:off x="1224463" y="1710266"/>
            <a:ext cx="1932000" cy="1434600"/>
          </a:xfrm>
          <a:prstGeom prst="straightConnector1">
            <a:avLst/>
          </a:prstGeom>
          <a:noFill/>
          <a:ln cap="flat" cmpd="sng" w="19050">
            <a:solidFill>
              <a:schemeClr val="dk2"/>
            </a:solidFill>
            <a:prstDash val="solid"/>
            <a:round/>
            <a:headEnd len="med" w="med" type="none"/>
            <a:tailEnd len="med" w="med" type="none"/>
          </a:ln>
        </p:spPr>
      </p:cxnSp>
      <p:sp>
        <p:nvSpPr>
          <p:cNvPr id="1453" name="Google Shape;1453;p91"/>
          <p:cNvSpPr/>
          <p:nvPr/>
        </p:nvSpPr>
        <p:spPr>
          <a:xfrm>
            <a:off x="2609625" y="2555125"/>
            <a:ext cx="1215000" cy="1215000"/>
          </a:xfrm>
          <a:prstGeom prst="arc">
            <a:avLst>
              <a:gd fmla="val 10800000" name="adj1"/>
              <a:gd fmla="val 12860489"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4" name="Google Shape;1454;p91"/>
          <p:cNvSpPr txBox="1"/>
          <p:nvPr>
            <p:ph idx="1" type="body"/>
          </p:nvPr>
        </p:nvSpPr>
        <p:spPr>
          <a:xfrm>
            <a:off x="2161042" y="278791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52°</a:t>
            </a:r>
            <a:endParaRPr sz="1800"/>
          </a:p>
        </p:txBody>
      </p:sp>
      <p:cxnSp>
        <p:nvCxnSpPr>
          <p:cNvPr id="1455" name="Google Shape;1455;p91"/>
          <p:cNvCxnSpPr/>
          <p:nvPr/>
        </p:nvCxnSpPr>
        <p:spPr>
          <a:xfrm>
            <a:off x="1198300" y="3226992"/>
            <a:ext cx="2107200" cy="3600"/>
          </a:xfrm>
          <a:prstGeom prst="straightConnector1">
            <a:avLst/>
          </a:prstGeom>
          <a:noFill/>
          <a:ln cap="flat" cmpd="sng" w="28575">
            <a:solidFill>
              <a:schemeClr val="accent5"/>
            </a:solidFill>
            <a:prstDash val="solid"/>
            <a:round/>
            <a:headEnd len="med" w="med" type="triangle"/>
            <a:tailEnd len="med" w="med" type="triangle"/>
          </a:ln>
        </p:spPr>
      </p:cxnSp>
      <p:sp>
        <p:nvSpPr>
          <p:cNvPr id="1456" name="Google Shape;1456;p91"/>
          <p:cNvSpPr txBox="1"/>
          <p:nvPr>
            <p:ph idx="1" type="body"/>
          </p:nvPr>
        </p:nvSpPr>
        <p:spPr>
          <a:xfrm>
            <a:off x="2131725" y="3243350"/>
            <a:ext cx="4077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 m</a:t>
            </a:r>
            <a:endParaRPr sz="1600"/>
          </a:p>
        </p:txBody>
      </p:sp>
      <p:cxnSp>
        <p:nvCxnSpPr>
          <p:cNvPr id="1457" name="Google Shape;1457;p91"/>
          <p:cNvCxnSpPr/>
          <p:nvPr/>
        </p:nvCxnSpPr>
        <p:spPr>
          <a:xfrm rot="10800000">
            <a:off x="1122175" y="1728525"/>
            <a:ext cx="0" cy="1473900"/>
          </a:xfrm>
          <a:prstGeom prst="straightConnector1">
            <a:avLst/>
          </a:prstGeom>
          <a:noFill/>
          <a:ln cap="flat" cmpd="sng" w="28575">
            <a:solidFill>
              <a:schemeClr val="accent5"/>
            </a:solidFill>
            <a:prstDash val="solid"/>
            <a:round/>
            <a:headEnd len="med" w="med" type="triangle"/>
            <a:tailEnd len="med" w="med" type="triangle"/>
          </a:ln>
        </p:spPr>
      </p:cxnSp>
      <p:sp>
        <p:nvSpPr>
          <p:cNvPr id="1458" name="Google Shape;1458;p91"/>
          <p:cNvSpPr txBox="1"/>
          <p:nvPr>
            <p:ph idx="1" type="body"/>
          </p:nvPr>
        </p:nvSpPr>
        <p:spPr>
          <a:xfrm>
            <a:off x="1293525" y="2405150"/>
            <a:ext cx="4077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x</a:t>
            </a:r>
            <a:r>
              <a:rPr lang="en-GB" sz="1600"/>
              <a:t> m</a:t>
            </a:r>
            <a:endParaRPr sz="1600"/>
          </a:p>
        </p:txBody>
      </p:sp>
      <p:sp>
        <p:nvSpPr>
          <p:cNvPr id="1459" name="Google Shape;1459;p91"/>
          <p:cNvSpPr txBox="1"/>
          <p:nvPr>
            <p:ph idx="1" type="body"/>
          </p:nvPr>
        </p:nvSpPr>
        <p:spPr>
          <a:xfrm>
            <a:off x="5103525" y="2024150"/>
            <a:ext cx="32184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x</a:t>
            </a:r>
            <a:r>
              <a:rPr lang="en-GB">
                <a:latin typeface="Times New Roman"/>
                <a:ea typeface="Times New Roman"/>
                <a:cs typeface="Times New Roman"/>
                <a:sym typeface="Times New Roman"/>
              </a:rPr>
              <a:t> = 3 × tan(52°) </a:t>
            </a:r>
            <a:r>
              <a:rPr lang="en-GB">
                <a:latin typeface="Times New Roman"/>
                <a:ea typeface="Times New Roman"/>
                <a:cs typeface="Times New Roman"/>
                <a:sym typeface="Times New Roman"/>
              </a:rPr>
              <a:t>= 3.839… </a:t>
            </a:r>
            <a:endParaRPr>
              <a:latin typeface="Times New Roman"/>
              <a:ea typeface="Times New Roman"/>
              <a:cs typeface="Times New Roman"/>
              <a:sym typeface="Times New Roman"/>
            </a:endParaRPr>
          </a:p>
        </p:txBody>
      </p:sp>
      <p:sp>
        <p:nvSpPr>
          <p:cNvPr id="1460" name="Google Shape;1460;p91"/>
          <p:cNvSpPr txBox="1"/>
          <p:nvPr>
            <p:ph idx="1" type="body"/>
          </p:nvPr>
        </p:nvSpPr>
        <p:spPr>
          <a:xfrm>
            <a:off x="5103525" y="2481350"/>
            <a:ext cx="2838000" cy="239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GB">
                <a:latin typeface="Times New Roman"/>
                <a:ea typeface="Times New Roman"/>
                <a:cs typeface="Times New Roman"/>
                <a:sym typeface="Times New Roman"/>
              </a:rPr>
              <a:t>h</a:t>
            </a:r>
            <a:r>
              <a:rPr lang="en-GB">
                <a:latin typeface="Times New Roman"/>
                <a:ea typeface="Times New Roman"/>
                <a:cs typeface="Times New Roman"/>
                <a:sym typeface="Times New Roman"/>
              </a:rPr>
              <a:t> = 3.83… + 1.56 </a:t>
            </a:r>
            <a:endParaRPr>
              <a:latin typeface="Times New Roman"/>
              <a:ea typeface="Times New Roman"/>
              <a:cs typeface="Times New Roman"/>
              <a:sym typeface="Times New Roman"/>
            </a:endParaRPr>
          </a:p>
          <a:p>
            <a:pPr indent="0" lvl="0" marL="0" rtl="0" algn="l">
              <a:spcBef>
                <a:spcPts val="1000"/>
              </a:spcBef>
              <a:spcAft>
                <a:spcPts val="1000"/>
              </a:spcAft>
              <a:buNone/>
            </a:pPr>
            <a:r>
              <a:rPr lang="en-GB">
                <a:latin typeface="Times New Roman"/>
                <a:ea typeface="Times New Roman"/>
                <a:cs typeface="Times New Roman"/>
                <a:sym typeface="Times New Roman"/>
              </a:rPr>
              <a:t>   = 5.4 (1 d.p.) </a:t>
            </a:r>
            <a:endParaRPr>
              <a:latin typeface="Times New Roman"/>
              <a:ea typeface="Times New Roman"/>
              <a:cs typeface="Times New Roman"/>
              <a:sym typeface="Times New Roman"/>
            </a:endParaRPr>
          </a:p>
        </p:txBody>
      </p:sp>
      <p:sp>
        <p:nvSpPr>
          <p:cNvPr id="1461" name="Google Shape;1461;p91"/>
          <p:cNvSpPr txBox="1"/>
          <p:nvPr>
            <p:ph idx="1" type="body"/>
          </p:nvPr>
        </p:nvSpPr>
        <p:spPr>
          <a:xfrm>
            <a:off x="561075" y="2816575"/>
            <a:ext cx="5613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h</a:t>
            </a:r>
            <a:r>
              <a:rPr lang="en-GB" sz="1600"/>
              <a:t> m</a:t>
            </a:r>
            <a:endParaRPr sz="16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sp>
        <p:nvSpPr>
          <p:cNvPr id="1466" name="Google Shape;1466;p92"/>
          <p:cNvSpPr txBox="1"/>
          <p:nvPr>
            <p:ph idx="1" type="body"/>
          </p:nvPr>
        </p:nvSpPr>
        <p:spPr>
          <a:xfrm>
            <a:off x="324000" y="759300"/>
            <a:ext cx="8237700" cy="45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Fill the </a:t>
            </a:r>
            <a:r>
              <a:rPr lang="en-GB"/>
              <a:t>blanks to estimate the height of this traffic light.</a:t>
            </a:r>
            <a:endParaRPr/>
          </a:p>
        </p:txBody>
      </p:sp>
      <p:sp>
        <p:nvSpPr>
          <p:cNvPr id="1467" name="Google Shape;1467;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1468" name="Google Shape;1468;p92"/>
          <p:cNvSpPr/>
          <p:nvPr/>
        </p:nvSpPr>
        <p:spPr>
          <a:xfrm>
            <a:off x="1248050" y="2972825"/>
            <a:ext cx="191100" cy="191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469" name="Google Shape;1469;p92"/>
          <p:cNvPicPr preferRelativeResize="0"/>
          <p:nvPr/>
        </p:nvPicPr>
        <p:blipFill rotWithShape="1">
          <a:blip r:embed="rId3">
            <a:alphaModFix/>
          </a:blip>
          <a:srcRect b="13599" l="0" r="0" t="0"/>
          <a:stretch/>
        </p:blipFill>
        <p:spPr>
          <a:xfrm>
            <a:off x="1069538" y="1710266"/>
            <a:ext cx="309850" cy="613501"/>
          </a:xfrm>
          <a:prstGeom prst="rect">
            <a:avLst/>
          </a:prstGeom>
          <a:noFill/>
          <a:ln>
            <a:noFill/>
          </a:ln>
        </p:spPr>
      </p:pic>
      <p:grpSp>
        <p:nvGrpSpPr>
          <p:cNvPr id="1470" name="Google Shape;1470;p92"/>
          <p:cNvGrpSpPr/>
          <p:nvPr/>
        </p:nvGrpSpPr>
        <p:grpSpPr>
          <a:xfrm>
            <a:off x="1193214" y="2228661"/>
            <a:ext cx="52484" cy="2035493"/>
            <a:chOff x="1755325" y="2376800"/>
            <a:chExt cx="50104" cy="1655411"/>
          </a:xfrm>
        </p:grpSpPr>
        <p:cxnSp>
          <p:nvCxnSpPr>
            <p:cNvPr id="1471" name="Google Shape;1471;p92"/>
            <p:cNvCxnSpPr/>
            <p:nvPr/>
          </p:nvCxnSpPr>
          <p:spPr>
            <a:xfrm>
              <a:off x="1755325" y="2376800"/>
              <a:ext cx="0" cy="1648800"/>
            </a:xfrm>
            <a:prstGeom prst="straightConnector1">
              <a:avLst/>
            </a:prstGeom>
            <a:noFill/>
            <a:ln cap="flat" cmpd="sng" w="9525">
              <a:solidFill>
                <a:schemeClr val="dk1"/>
              </a:solidFill>
              <a:prstDash val="solid"/>
              <a:round/>
              <a:headEnd len="med" w="med" type="none"/>
              <a:tailEnd len="med" w="med" type="none"/>
            </a:ln>
          </p:spPr>
        </p:cxnSp>
        <p:cxnSp>
          <p:nvCxnSpPr>
            <p:cNvPr id="1472" name="Google Shape;1472;p92"/>
            <p:cNvCxnSpPr/>
            <p:nvPr/>
          </p:nvCxnSpPr>
          <p:spPr>
            <a:xfrm>
              <a:off x="1805429" y="2383411"/>
              <a:ext cx="0" cy="1648800"/>
            </a:xfrm>
            <a:prstGeom prst="straightConnector1">
              <a:avLst/>
            </a:prstGeom>
            <a:noFill/>
            <a:ln cap="flat" cmpd="sng" w="9525">
              <a:solidFill>
                <a:schemeClr val="dk1"/>
              </a:solidFill>
              <a:prstDash val="solid"/>
              <a:round/>
              <a:headEnd len="med" w="med" type="none"/>
              <a:tailEnd len="med" w="med" type="none"/>
            </a:ln>
          </p:spPr>
        </p:cxnSp>
      </p:grpSp>
      <p:cxnSp>
        <p:nvCxnSpPr>
          <p:cNvPr id="1473" name="Google Shape;1473;p92"/>
          <p:cNvCxnSpPr/>
          <p:nvPr/>
        </p:nvCxnSpPr>
        <p:spPr>
          <a:xfrm>
            <a:off x="1198300" y="4406163"/>
            <a:ext cx="2107200" cy="3600"/>
          </a:xfrm>
          <a:prstGeom prst="straightConnector1">
            <a:avLst/>
          </a:prstGeom>
          <a:noFill/>
          <a:ln cap="flat" cmpd="sng" w="28575">
            <a:solidFill>
              <a:schemeClr val="accent5"/>
            </a:solidFill>
            <a:prstDash val="solid"/>
            <a:round/>
            <a:headEnd len="med" w="med" type="triangle"/>
            <a:tailEnd len="med" w="med" type="triangle"/>
          </a:ln>
        </p:spPr>
      </p:cxnSp>
      <p:cxnSp>
        <p:nvCxnSpPr>
          <p:cNvPr id="1474" name="Google Shape;1474;p92"/>
          <p:cNvCxnSpPr/>
          <p:nvPr/>
        </p:nvCxnSpPr>
        <p:spPr>
          <a:xfrm flipH="1" rot="10800000">
            <a:off x="969763" y="1710266"/>
            <a:ext cx="26100" cy="2543400"/>
          </a:xfrm>
          <a:prstGeom prst="straightConnector1">
            <a:avLst/>
          </a:prstGeom>
          <a:noFill/>
          <a:ln cap="flat" cmpd="sng" w="28575">
            <a:solidFill>
              <a:schemeClr val="accent5"/>
            </a:solidFill>
            <a:prstDash val="solid"/>
            <a:round/>
            <a:headEnd len="med" w="med" type="triangle"/>
            <a:tailEnd len="med" w="med" type="triangle"/>
          </a:ln>
        </p:spPr>
      </p:cxnSp>
      <p:cxnSp>
        <p:nvCxnSpPr>
          <p:cNvPr id="1475" name="Google Shape;1475;p92"/>
          <p:cNvCxnSpPr/>
          <p:nvPr/>
        </p:nvCxnSpPr>
        <p:spPr>
          <a:xfrm rot="10800000">
            <a:off x="3530663" y="3046625"/>
            <a:ext cx="0" cy="1200600"/>
          </a:xfrm>
          <a:prstGeom prst="straightConnector1">
            <a:avLst/>
          </a:prstGeom>
          <a:noFill/>
          <a:ln cap="flat" cmpd="sng" w="28575">
            <a:solidFill>
              <a:schemeClr val="accent5"/>
            </a:solidFill>
            <a:prstDash val="solid"/>
            <a:round/>
            <a:headEnd len="med" w="med" type="triangle"/>
            <a:tailEnd len="med" w="med" type="triangle"/>
          </a:ln>
        </p:spPr>
      </p:cxnSp>
      <p:sp>
        <p:nvSpPr>
          <p:cNvPr id="1476" name="Google Shape;1476;p92"/>
          <p:cNvSpPr txBox="1"/>
          <p:nvPr>
            <p:ph idx="1" type="body"/>
          </p:nvPr>
        </p:nvSpPr>
        <p:spPr>
          <a:xfrm>
            <a:off x="2131725" y="4386350"/>
            <a:ext cx="4077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a:t>
            </a:r>
            <a:r>
              <a:rPr lang="en-GB" sz="1600"/>
              <a:t> m</a:t>
            </a:r>
            <a:endParaRPr sz="1600"/>
          </a:p>
        </p:txBody>
      </p:sp>
      <p:sp>
        <p:nvSpPr>
          <p:cNvPr id="1477" name="Google Shape;1477;p92"/>
          <p:cNvSpPr txBox="1"/>
          <p:nvPr>
            <p:ph idx="1" type="body"/>
          </p:nvPr>
        </p:nvSpPr>
        <p:spPr>
          <a:xfrm>
            <a:off x="3628350" y="3485675"/>
            <a:ext cx="7755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156 cm</a:t>
            </a:r>
            <a:endParaRPr sz="1600"/>
          </a:p>
        </p:txBody>
      </p:sp>
      <p:cxnSp>
        <p:nvCxnSpPr>
          <p:cNvPr id="1478" name="Google Shape;1478;p92"/>
          <p:cNvCxnSpPr/>
          <p:nvPr/>
        </p:nvCxnSpPr>
        <p:spPr>
          <a:xfrm>
            <a:off x="1189686" y="4256250"/>
            <a:ext cx="3025200" cy="0"/>
          </a:xfrm>
          <a:prstGeom prst="straightConnector1">
            <a:avLst/>
          </a:prstGeom>
          <a:noFill/>
          <a:ln cap="flat" cmpd="sng" w="19050">
            <a:solidFill>
              <a:schemeClr val="dk2"/>
            </a:solidFill>
            <a:prstDash val="solid"/>
            <a:round/>
            <a:headEnd len="med" w="med" type="none"/>
            <a:tailEnd len="med" w="med" type="none"/>
          </a:ln>
        </p:spPr>
      </p:cxnSp>
      <p:cxnSp>
        <p:nvCxnSpPr>
          <p:cNvPr id="1479" name="Google Shape;1479;p92"/>
          <p:cNvCxnSpPr/>
          <p:nvPr/>
        </p:nvCxnSpPr>
        <p:spPr>
          <a:xfrm rot="10800000">
            <a:off x="1269000" y="3162625"/>
            <a:ext cx="1878600" cy="0"/>
          </a:xfrm>
          <a:prstGeom prst="straightConnector1">
            <a:avLst/>
          </a:prstGeom>
          <a:noFill/>
          <a:ln cap="flat" cmpd="sng" w="19050">
            <a:solidFill>
              <a:schemeClr val="dk2"/>
            </a:solidFill>
            <a:prstDash val="dot"/>
            <a:round/>
            <a:headEnd len="med" w="med" type="none"/>
            <a:tailEnd len="med" w="med" type="none"/>
          </a:ln>
        </p:spPr>
      </p:cxnSp>
      <p:cxnSp>
        <p:nvCxnSpPr>
          <p:cNvPr id="1480" name="Google Shape;1480;p92"/>
          <p:cNvCxnSpPr>
            <a:stCxn id="1469" idx="0"/>
          </p:cNvCxnSpPr>
          <p:nvPr/>
        </p:nvCxnSpPr>
        <p:spPr>
          <a:xfrm>
            <a:off x="1224463" y="1710266"/>
            <a:ext cx="1932000" cy="1434600"/>
          </a:xfrm>
          <a:prstGeom prst="straightConnector1">
            <a:avLst/>
          </a:prstGeom>
          <a:noFill/>
          <a:ln cap="flat" cmpd="sng" w="19050">
            <a:solidFill>
              <a:schemeClr val="dk2"/>
            </a:solidFill>
            <a:prstDash val="solid"/>
            <a:round/>
            <a:headEnd len="med" w="med" type="none"/>
            <a:tailEnd len="med" w="med" type="none"/>
          </a:ln>
        </p:spPr>
      </p:cxnSp>
      <p:sp>
        <p:nvSpPr>
          <p:cNvPr id="1481" name="Google Shape;1481;p92"/>
          <p:cNvSpPr/>
          <p:nvPr/>
        </p:nvSpPr>
        <p:spPr>
          <a:xfrm>
            <a:off x="2609625" y="2555125"/>
            <a:ext cx="1215000" cy="1215000"/>
          </a:xfrm>
          <a:prstGeom prst="arc">
            <a:avLst>
              <a:gd fmla="val 10800000" name="adj1"/>
              <a:gd fmla="val 12860489"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82" name="Google Shape;1482;p92"/>
          <p:cNvSpPr txBox="1"/>
          <p:nvPr>
            <p:ph idx="1" type="body"/>
          </p:nvPr>
        </p:nvSpPr>
        <p:spPr>
          <a:xfrm>
            <a:off x="2161042" y="278791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52°</a:t>
            </a:r>
            <a:endParaRPr sz="1800"/>
          </a:p>
        </p:txBody>
      </p:sp>
      <p:cxnSp>
        <p:nvCxnSpPr>
          <p:cNvPr id="1483" name="Google Shape;1483;p92"/>
          <p:cNvCxnSpPr/>
          <p:nvPr/>
        </p:nvCxnSpPr>
        <p:spPr>
          <a:xfrm>
            <a:off x="1198300" y="3226992"/>
            <a:ext cx="2107200" cy="3600"/>
          </a:xfrm>
          <a:prstGeom prst="straightConnector1">
            <a:avLst/>
          </a:prstGeom>
          <a:noFill/>
          <a:ln cap="flat" cmpd="sng" w="28575">
            <a:solidFill>
              <a:schemeClr val="accent5"/>
            </a:solidFill>
            <a:prstDash val="solid"/>
            <a:round/>
            <a:headEnd len="med" w="med" type="triangle"/>
            <a:tailEnd len="med" w="med" type="triangle"/>
          </a:ln>
        </p:spPr>
      </p:cxnSp>
      <p:sp>
        <p:nvSpPr>
          <p:cNvPr id="1484" name="Google Shape;1484;p92"/>
          <p:cNvSpPr txBox="1"/>
          <p:nvPr>
            <p:ph idx="1" type="body"/>
          </p:nvPr>
        </p:nvSpPr>
        <p:spPr>
          <a:xfrm>
            <a:off x="2131725" y="3243350"/>
            <a:ext cx="4077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a:t>
            </a:r>
            <a:r>
              <a:rPr lang="en-GB" sz="1600"/>
              <a:t> m</a:t>
            </a:r>
            <a:endParaRPr sz="1600"/>
          </a:p>
        </p:txBody>
      </p:sp>
      <p:cxnSp>
        <p:nvCxnSpPr>
          <p:cNvPr id="1485" name="Google Shape;1485;p92"/>
          <p:cNvCxnSpPr/>
          <p:nvPr/>
        </p:nvCxnSpPr>
        <p:spPr>
          <a:xfrm rot="10800000">
            <a:off x="1122175" y="1728525"/>
            <a:ext cx="0" cy="1473900"/>
          </a:xfrm>
          <a:prstGeom prst="straightConnector1">
            <a:avLst/>
          </a:prstGeom>
          <a:noFill/>
          <a:ln cap="flat" cmpd="sng" w="28575">
            <a:solidFill>
              <a:schemeClr val="accent5"/>
            </a:solidFill>
            <a:prstDash val="solid"/>
            <a:round/>
            <a:headEnd len="med" w="med" type="triangle"/>
            <a:tailEnd len="med" w="med" type="triangle"/>
          </a:ln>
        </p:spPr>
      </p:cxnSp>
      <p:sp>
        <p:nvSpPr>
          <p:cNvPr id="1486" name="Google Shape;1486;p92"/>
          <p:cNvSpPr txBox="1"/>
          <p:nvPr>
            <p:ph idx="1" type="body"/>
          </p:nvPr>
        </p:nvSpPr>
        <p:spPr>
          <a:xfrm>
            <a:off x="1293525" y="2405150"/>
            <a:ext cx="4077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x</a:t>
            </a:r>
            <a:r>
              <a:rPr lang="en-GB" sz="1600"/>
              <a:t> m</a:t>
            </a:r>
            <a:endParaRPr sz="1600"/>
          </a:p>
        </p:txBody>
      </p:sp>
      <p:sp>
        <p:nvSpPr>
          <p:cNvPr id="1487" name="Google Shape;1487;p92"/>
          <p:cNvSpPr txBox="1"/>
          <p:nvPr>
            <p:ph idx="1" type="body"/>
          </p:nvPr>
        </p:nvSpPr>
        <p:spPr>
          <a:xfrm>
            <a:off x="5103525" y="2024150"/>
            <a:ext cx="33270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 tan(52°) =             m</a:t>
            </a:r>
            <a:endParaRPr sz="2000">
              <a:latin typeface="Times New Roman"/>
              <a:ea typeface="Times New Roman"/>
              <a:cs typeface="Times New Roman"/>
              <a:sym typeface="Times New Roman"/>
            </a:endParaRPr>
          </a:p>
        </p:txBody>
      </p:sp>
      <p:sp>
        <p:nvSpPr>
          <p:cNvPr id="1488" name="Google Shape;1488;p92"/>
          <p:cNvSpPr txBox="1"/>
          <p:nvPr>
            <p:ph idx="1" type="body"/>
          </p:nvPr>
        </p:nvSpPr>
        <p:spPr>
          <a:xfrm>
            <a:off x="5103525" y="2481350"/>
            <a:ext cx="2838000" cy="239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GB" sz="2000">
                <a:latin typeface="Times New Roman"/>
                <a:ea typeface="Times New Roman"/>
                <a:cs typeface="Times New Roman"/>
                <a:sym typeface="Times New Roman"/>
              </a:rPr>
              <a:t>h</a:t>
            </a:r>
            <a:r>
              <a:rPr lang="en-GB" sz="2000">
                <a:latin typeface="Times New Roman"/>
                <a:ea typeface="Times New Roman"/>
                <a:cs typeface="Times New Roman"/>
                <a:sym typeface="Times New Roman"/>
              </a:rPr>
              <a:t> = 2.55… + 1.56 </a:t>
            </a:r>
            <a:endParaRPr sz="2000">
              <a:latin typeface="Times New Roman"/>
              <a:ea typeface="Times New Roman"/>
              <a:cs typeface="Times New Roman"/>
              <a:sym typeface="Times New Roman"/>
            </a:endParaRPr>
          </a:p>
          <a:p>
            <a:pPr indent="0" lvl="0" marL="0" rtl="0" algn="l">
              <a:spcBef>
                <a:spcPts val="1000"/>
              </a:spcBef>
              <a:spcAft>
                <a:spcPts val="1000"/>
              </a:spcAft>
              <a:buNone/>
            </a:pPr>
            <a:r>
              <a:rPr lang="en-GB" sz="2000">
                <a:latin typeface="Times New Roman"/>
                <a:ea typeface="Times New Roman"/>
                <a:cs typeface="Times New Roman"/>
                <a:sym typeface="Times New Roman"/>
              </a:rPr>
              <a:t>   =            m</a:t>
            </a:r>
            <a:endParaRPr sz="2000">
              <a:latin typeface="Times New Roman"/>
              <a:ea typeface="Times New Roman"/>
              <a:cs typeface="Times New Roman"/>
              <a:sym typeface="Times New Roman"/>
            </a:endParaRPr>
          </a:p>
        </p:txBody>
      </p:sp>
      <p:sp>
        <p:nvSpPr>
          <p:cNvPr id="1489" name="Google Shape;1489;p92"/>
          <p:cNvSpPr txBox="1"/>
          <p:nvPr>
            <p:ph idx="1" type="body"/>
          </p:nvPr>
        </p:nvSpPr>
        <p:spPr>
          <a:xfrm>
            <a:off x="561075" y="2816575"/>
            <a:ext cx="5613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h</a:t>
            </a:r>
            <a:r>
              <a:rPr lang="en-GB" sz="1600"/>
              <a:t> m</a:t>
            </a:r>
            <a:endParaRPr sz="1600"/>
          </a:p>
        </p:txBody>
      </p:sp>
      <p:cxnSp>
        <p:nvCxnSpPr>
          <p:cNvPr id="1490" name="Google Shape;1490;p92"/>
          <p:cNvCxnSpPr/>
          <p:nvPr/>
        </p:nvCxnSpPr>
        <p:spPr>
          <a:xfrm>
            <a:off x="5484750" y="2263250"/>
            <a:ext cx="441000" cy="0"/>
          </a:xfrm>
          <a:prstGeom prst="straightConnector1">
            <a:avLst/>
          </a:prstGeom>
          <a:noFill/>
          <a:ln cap="flat" cmpd="sng" w="38100">
            <a:solidFill>
              <a:schemeClr val="dk1"/>
            </a:solidFill>
            <a:prstDash val="solid"/>
            <a:round/>
            <a:headEnd len="med" w="med" type="none"/>
            <a:tailEnd len="med" w="med" type="none"/>
          </a:ln>
        </p:spPr>
      </p:cxnSp>
      <p:cxnSp>
        <p:nvCxnSpPr>
          <p:cNvPr id="1491" name="Google Shape;1491;p92"/>
          <p:cNvCxnSpPr/>
          <p:nvPr/>
        </p:nvCxnSpPr>
        <p:spPr>
          <a:xfrm>
            <a:off x="7295200" y="2270858"/>
            <a:ext cx="615000" cy="0"/>
          </a:xfrm>
          <a:prstGeom prst="straightConnector1">
            <a:avLst/>
          </a:prstGeom>
          <a:noFill/>
          <a:ln cap="flat" cmpd="sng" w="38100">
            <a:solidFill>
              <a:schemeClr val="dk1"/>
            </a:solidFill>
            <a:prstDash val="solid"/>
            <a:round/>
            <a:headEnd len="med" w="med" type="none"/>
            <a:tailEnd len="med" w="med" type="none"/>
          </a:ln>
        </p:spPr>
      </p:cxnSp>
      <p:cxnSp>
        <p:nvCxnSpPr>
          <p:cNvPr id="1492" name="Google Shape;1492;p92"/>
          <p:cNvCxnSpPr/>
          <p:nvPr/>
        </p:nvCxnSpPr>
        <p:spPr>
          <a:xfrm>
            <a:off x="5515131" y="3246408"/>
            <a:ext cx="615000" cy="0"/>
          </a:xfrm>
          <a:prstGeom prst="straightConnector1">
            <a:avLst/>
          </a:prstGeom>
          <a:noFill/>
          <a:ln cap="flat" cmpd="sng" w="38100">
            <a:solidFill>
              <a:schemeClr val="dk1"/>
            </a:solidFill>
            <a:prstDash val="solid"/>
            <a:round/>
            <a:headEnd len="med" w="med" type="none"/>
            <a:tailEnd len="med" w="med" type="none"/>
          </a:ln>
        </p:spPr>
      </p:cxnSp>
      <p:sp>
        <p:nvSpPr>
          <p:cNvPr id="1493" name="Google Shape;1493;p92"/>
          <p:cNvSpPr txBox="1"/>
          <p:nvPr>
            <p:ph idx="1" type="body"/>
          </p:nvPr>
        </p:nvSpPr>
        <p:spPr>
          <a:xfrm>
            <a:off x="5609700" y="2040450"/>
            <a:ext cx="1911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2</a:t>
            </a:r>
            <a:endParaRPr sz="2000">
              <a:latin typeface="Kalam"/>
              <a:ea typeface="Kalam"/>
              <a:cs typeface="Kalam"/>
              <a:sym typeface="Kalam"/>
            </a:endParaRPr>
          </a:p>
        </p:txBody>
      </p:sp>
      <p:sp>
        <p:nvSpPr>
          <p:cNvPr id="1494" name="Google Shape;1494;p92"/>
          <p:cNvSpPr txBox="1"/>
          <p:nvPr>
            <p:ph idx="1" type="body"/>
          </p:nvPr>
        </p:nvSpPr>
        <p:spPr>
          <a:xfrm>
            <a:off x="7362300" y="2040450"/>
            <a:ext cx="6633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2.55…</a:t>
            </a:r>
            <a:endParaRPr sz="2000">
              <a:latin typeface="Kalam"/>
              <a:ea typeface="Kalam"/>
              <a:cs typeface="Kalam"/>
              <a:sym typeface="Kalam"/>
            </a:endParaRPr>
          </a:p>
        </p:txBody>
      </p:sp>
      <p:sp>
        <p:nvSpPr>
          <p:cNvPr id="1495" name="Google Shape;1495;p92"/>
          <p:cNvSpPr txBox="1"/>
          <p:nvPr>
            <p:ph idx="1" type="body"/>
          </p:nvPr>
        </p:nvSpPr>
        <p:spPr>
          <a:xfrm>
            <a:off x="5643011" y="2969375"/>
            <a:ext cx="8604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4.12</a:t>
            </a:r>
            <a:endParaRPr sz="2000">
              <a:latin typeface="Kalam"/>
              <a:ea typeface="Kalam"/>
              <a:cs typeface="Kalam"/>
              <a:sym typeface="Kalam"/>
            </a:endParaRPr>
          </a:p>
        </p:txBody>
      </p:sp>
      <p:pic>
        <p:nvPicPr>
          <p:cNvPr id="1496" name="Google Shape;1496;p92"/>
          <p:cNvPicPr preferRelativeResize="0"/>
          <p:nvPr/>
        </p:nvPicPr>
        <p:blipFill>
          <a:blip r:embed="rId4">
            <a:alphaModFix/>
          </a:blip>
          <a:stretch>
            <a:fillRect/>
          </a:stretch>
        </p:blipFill>
        <p:spPr>
          <a:xfrm flipH="1">
            <a:off x="3122304" y="3039508"/>
            <a:ext cx="357701" cy="12148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49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49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49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93"/>
          <p:cNvSpPr/>
          <p:nvPr/>
        </p:nvSpPr>
        <p:spPr>
          <a:xfrm>
            <a:off x="401164" y="1307772"/>
            <a:ext cx="1428900" cy="1428900"/>
          </a:xfrm>
          <a:prstGeom prst="pie">
            <a:avLst>
              <a:gd fmla="val 12145" name="adj1"/>
              <a:gd fmla="val 1392233" name="adj2"/>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2" name="Google Shape;1502;p93"/>
          <p:cNvSpPr/>
          <p:nvPr/>
        </p:nvSpPr>
        <p:spPr>
          <a:xfrm>
            <a:off x="629771" y="1536374"/>
            <a:ext cx="955200" cy="955200"/>
          </a:xfrm>
          <a:prstGeom prst="pie">
            <a:avLst>
              <a:gd fmla="val 1300062" name="adj1"/>
              <a:gd fmla="val 2181417" name="adj2"/>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3" name="Google Shape;1503;p93"/>
          <p:cNvSpPr txBox="1"/>
          <p:nvPr>
            <p:ph idx="1" type="body"/>
          </p:nvPr>
        </p:nvSpPr>
        <p:spPr>
          <a:xfrm>
            <a:off x="324000" y="759300"/>
            <a:ext cx="8237700" cy="11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Sofia is standing on top of a cliff, 60 m above sea-level. She can see two buoys straight in front of her. The angles of depression of these buoys are 47º and 32º respectively. Sofia wants to estimate how far apart the two buoys are from each other.</a:t>
            </a:r>
            <a:endParaRPr sz="1800"/>
          </a:p>
        </p:txBody>
      </p:sp>
      <p:sp>
        <p:nvSpPr>
          <p:cNvPr id="1504" name="Google Shape;1504;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1505" name="Google Shape;1505;p93"/>
          <p:cNvSpPr/>
          <p:nvPr/>
        </p:nvSpPr>
        <p:spPr>
          <a:xfrm>
            <a:off x="1050400" y="4164750"/>
            <a:ext cx="6468766" cy="245059"/>
          </a:xfrm>
          <a:custGeom>
            <a:rect b="b" l="l" r="r" t="t"/>
            <a:pathLst>
              <a:path extrusionOk="0" h="11418" w="251654">
                <a:moveTo>
                  <a:pt x="251654" y="6684"/>
                </a:moveTo>
                <a:cubicBezTo>
                  <a:pt x="247489" y="6393"/>
                  <a:pt x="236204" y="4456"/>
                  <a:pt x="226663" y="4940"/>
                </a:cubicBezTo>
                <a:cubicBezTo>
                  <a:pt x="217122" y="5424"/>
                  <a:pt x="202641" y="9348"/>
                  <a:pt x="194407" y="9590"/>
                </a:cubicBezTo>
                <a:cubicBezTo>
                  <a:pt x="186174" y="9832"/>
                  <a:pt x="185253" y="6248"/>
                  <a:pt x="177262" y="6393"/>
                </a:cubicBezTo>
                <a:cubicBezTo>
                  <a:pt x="169271" y="6538"/>
                  <a:pt x="154693" y="10365"/>
                  <a:pt x="146459" y="10462"/>
                </a:cubicBezTo>
                <a:cubicBezTo>
                  <a:pt x="138226" y="10559"/>
                  <a:pt x="135562" y="6830"/>
                  <a:pt x="127861" y="6975"/>
                </a:cubicBezTo>
                <a:cubicBezTo>
                  <a:pt x="120160" y="7120"/>
                  <a:pt x="110813" y="11672"/>
                  <a:pt x="100255" y="11333"/>
                </a:cubicBezTo>
                <a:cubicBezTo>
                  <a:pt x="89697" y="10994"/>
                  <a:pt x="77395" y="5182"/>
                  <a:pt x="64512" y="4940"/>
                </a:cubicBezTo>
                <a:cubicBezTo>
                  <a:pt x="51629" y="4698"/>
                  <a:pt x="32886" y="9977"/>
                  <a:pt x="22957" y="9880"/>
                </a:cubicBezTo>
                <a:cubicBezTo>
                  <a:pt x="13028" y="9783"/>
                  <a:pt x="8766" y="6006"/>
                  <a:pt x="4940" y="4359"/>
                </a:cubicBezTo>
                <a:cubicBezTo>
                  <a:pt x="1114" y="2712"/>
                  <a:pt x="823" y="727"/>
                  <a:pt x="0" y="0"/>
                </a:cubicBezTo>
              </a:path>
            </a:pathLst>
          </a:custGeom>
          <a:noFill/>
          <a:ln cap="flat" cmpd="sng" w="28575">
            <a:solidFill>
              <a:srgbClr val="000000"/>
            </a:solidFill>
            <a:prstDash val="solid"/>
            <a:round/>
            <a:headEnd len="med" w="med" type="none"/>
            <a:tailEnd len="med" w="med" type="none"/>
          </a:ln>
        </p:spPr>
      </p:sp>
      <p:sp>
        <p:nvSpPr>
          <p:cNvPr id="1506" name="Google Shape;1506;p93"/>
          <p:cNvSpPr/>
          <p:nvPr/>
        </p:nvSpPr>
        <p:spPr>
          <a:xfrm>
            <a:off x="551500" y="2650375"/>
            <a:ext cx="498900" cy="2151300"/>
          </a:xfrm>
          <a:prstGeom prst="rect">
            <a:avLst/>
          </a:prstGeom>
          <a:solidFill>
            <a:srgbClr val="988672"/>
          </a:solidFill>
          <a:ln cap="flat" cmpd="sng" w="9525">
            <a:solidFill>
              <a:srgbClr val="9886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07" name="Google Shape;1507;p93"/>
          <p:cNvCxnSpPr/>
          <p:nvPr/>
        </p:nvCxnSpPr>
        <p:spPr>
          <a:xfrm>
            <a:off x="1106530" y="2019489"/>
            <a:ext cx="2580600" cy="0"/>
          </a:xfrm>
          <a:prstGeom prst="straightConnector1">
            <a:avLst/>
          </a:prstGeom>
          <a:noFill/>
          <a:ln cap="flat" cmpd="sng" w="28575">
            <a:solidFill>
              <a:srgbClr val="595959"/>
            </a:solidFill>
            <a:prstDash val="dot"/>
            <a:round/>
            <a:headEnd len="med" w="med" type="none"/>
            <a:tailEnd len="med" w="med" type="none"/>
          </a:ln>
        </p:spPr>
      </p:cxnSp>
      <p:cxnSp>
        <p:nvCxnSpPr>
          <p:cNvPr id="1508" name="Google Shape;1508;p93"/>
          <p:cNvCxnSpPr/>
          <p:nvPr/>
        </p:nvCxnSpPr>
        <p:spPr>
          <a:xfrm>
            <a:off x="1106530" y="4249227"/>
            <a:ext cx="5456700" cy="0"/>
          </a:xfrm>
          <a:prstGeom prst="straightConnector1">
            <a:avLst/>
          </a:prstGeom>
          <a:noFill/>
          <a:ln cap="flat" cmpd="sng" w="28575">
            <a:solidFill>
              <a:srgbClr val="595959"/>
            </a:solidFill>
            <a:prstDash val="solid"/>
            <a:round/>
            <a:headEnd len="med" w="med" type="triangle"/>
            <a:tailEnd len="med" w="med" type="triangle"/>
          </a:ln>
        </p:spPr>
      </p:cxnSp>
      <p:cxnSp>
        <p:nvCxnSpPr>
          <p:cNvPr id="1509" name="Google Shape;1509;p93"/>
          <p:cNvCxnSpPr/>
          <p:nvPr/>
        </p:nvCxnSpPr>
        <p:spPr>
          <a:xfrm>
            <a:off x="1146844" y="2007020"/>
            <a:ext cx="0" cy="2274900"/>
          </a:xfrm>
          <a:prstGeom prst="straightConnector1">
            <a:avLst/>
          </a:prstGeom>
          <a:noFill/>
          <a:ln cap="flat" cmpd="sng" w="28575">
            <a:solidFill>
              <a:srgbClr val="595959"/>
            </a:solidFill>
            <a:prstDash val="solid"/>
            <a:round/>
            <a:headEnd len="med" w="med" type="triangle"/>
            <a:tailEnd len="med" w="med" type="triangle"/>
          </a:ln>
        </p:spPr>
      </p:cxnSp>
      <p:grpSp>
        <p:nvGrpSpPr>
          <p:cNvPr id="1510" name="Google Shape;1510;p93"/>
          <p:cNvGrpSpPr/>
          <p:nvPr/>
        </p:nvGrpSpPr>
        <p:grpSpPr>
          <a:xfrm>
            <a:off x="6421550" y="4031110"/>
            <a:ext cx="295851" cy="363916"/>
            <a:chOff x="6421550" y="4031110"/>
            <a:chExt cx="295851" cy="363916"/>
          </a:xfrm>
        </p:grpSpPr>
        <p:sp>
          <p:nvSpPr>
            <p:cNvPr id="1511" name="Google Shape;1511;p93"/>
            <p:cNvSpPr/>
            <p:nvPr/>
          </p:nvSpPr>
          <p:spPr>
            <a:xfrm rot="6188593">
              <a:off x="6450221" y="4127847"/>
              <a:ext cx="242759" cy="242759"/>
            </a:xfrm>
            <a:prstGeom prst="chord">
              <a:avLst>
                <a:gd fmla="val 2700000" name="adj1"/>
                <a:gd fmla="val 16200000" name="adj2"/>
              </a:avLst>
            </a:prstGeom>
            <a:solidFill>
              <a:srgbClr val="CC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2" name="Google Shape;1512;p93"/>
            <p:cNvSpPr/>
            <p:nvPr/>
          </p:nvSpPr>
          <p:spPr>
            <a:xfrm flipH="1" rot="10800000">
              <a:off x="6421550" y="4122793"/>
              <a:ext cx="291600" cy="136500"/>
            </a:xfrm>
            <a:prstGeom prst="arc">
              <a:avLst>
                <a:gd fmla="val 12210667" name="adj1"/>
                <a:gd fmla="val 20383269" name="adj2"/>
              </a:avLst>
            </a:prstGeom>
            <a:noFill/>
            <a:ln cap="flat" cmpd="sng" w="1905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3" name="Google Shape;1513;p93"/>
            <p:cNvSpPr/>
            <p:nvPr/>
          </p:nvSpPr>
          <p:spPr>
            <a:xfrm rot="-205273">
              <a:off x="6528019" y="4032673"/>
              <a:ext cx="55299" cy="92875"/>
            </a:xfrm>
            <a:prstGeom prst="rect">
              <a:avLst/>
            </a:prstGeom>
            <a:solidFill>
              <a:srgbClr val="CC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514" name="Google Shape;1514;p93"/>
          <p:cNvCxnSpPr>
            <a:endCxn id="1515" idx="1"/>
          </p:cNvCxnSpPr>
          <p:nvPr/>
        </p:nvCxnSpPr>
        <p:spPr>
          <a:xfrm>
            <a:off x="1106450" y="2019390"/>
            <a:ext cx="3022500" cy="2219700"/>
          </a:xfrm>
          <a:prstGeom prst="straightConnector1">
            <a:avLst/>
          </a:prstGeom>
          <a:noFill/>
          <a:ln cap="flat" cmpd="sng" w="38100">
            <a:solidFill>
              <a:srgbClr val="7E5CD2"/>
            </a:solidFill>
            <a:prstDash val="dash"/>
            <a:round/>
            <a:headEnd len="med" w="med" type="none"/>
            <a:tailEnd len="med" w="med" type="none"/>
          </a:ln>
        </p:spPr>
      </p:cxnSp>
      <p:grpSp>
        <p:nvGrpSpPr>
          <p:cNvPr id="1516" name="Google Shape;1516;p93"/>
          <p:cNvGrpSpPr/>
          <p:nvPr/>
        </p:nvGrpSpPr>
        <p:grpSpPr>
          <a:xfrm>
            <a:off x="3983150" y="4079157"/>
            <a:ext cx="295851" cy="363916"/>
            <a:chOff x="6421550" y="4031110"/>
            <a:chExt cx="295851" cy="363916"/>
          </a:xfrm>
        </p:grpSpPr>
        <p:sp>
          <p:nvSpPr>
            <p:cNvPr id="1517" name="Google Shape;1517;p93"/>
            <p:cNvSpPr/>
            <p:nvPr/>
          </p:nvSpPr>
          <p:spPr>
            <a:xfrm rot="6188593">
              <a:off x="6450221" y="4127847"/>
              <a:ext cx="242759" cy="242759"/>
            </a:xfrm>
            <a:prstGeom prst="chord">
              <a:avLst>
                <a:gd fmla="val 2700000" name="adj1"/>
                <a:gd fmla="val 16200000" name="adj2"/>
              </a:avLst>
            </a:prstGeom>
            <a:solidFill>
              <a:srgbClr val="CC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5" name="Google Shape;1515;p93"/>
            <p:cNvSpPr/>
            <p:nvPr/>
          </p:nvSpPr>
          <p:spPr>
            <a:xfrm flipH="1" rot="10800000">
              <a:off x="6421550" y="4122793"/>
              <a:ext cx="291600" cy="136500"/>
            </a:xfrm>
            <a:prstGeom prst="arc">
              <a:avLst>
                <a:gd fmla="val 12210667" name="adj1"/>
                <a:gd fmla="val 20383269" name="adj2"/>
              </a:avLst>
            </a:prstGeom>
            <a:noFill/>
            <a:ln cap="flat" cmpd="sng" w="1905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8" name="Google Shape;1518;p93"/>
            <p:cNvSpPr/>
            <p:nvPr/>
          </p:nvSpPr>
          <p:spPr>
            <a:xfrm rot="-205273">
              <a:off x="6528019" y="4032673"/>
              <a:ext cx="55299" cy="92875"/>
            </a:xfrm>
            <a:prstGeom prst="rect">
              <a:avLst/>
            </a:prstGeom>
            <a:solidFill>
              <a:srgbClr val="CC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519" name="Google Shape;1519;p93"/>
          <p:cNvCxnSpPr/>
          <p:nvPr/>
        </p:nvCxnSpPr>
        <p:spPr>
          <a:xfrm>
            <a:off x="4115425" y="4496075"/>
            <a:ext cx="2471400" cy="0"/>
          </a:xfrm>
          <a:prstGeom prst="straightConnector1">
            <a:avLst/>
          </a:prstGeom>
          <a:noFill/>
          <a:ln cap="flat" cmpd="sng" w="28575">
            <a:solidFill>
              <a:schemeClr val="dk1"/>
            </a:solidFill>
            <a:prstDash val="solid"/>
            <a:round/>
            <a:headEnd len="med" w="med" type="triangle"/>
            <a:tailEnd len="med" w="med" type="triangle"/>
          </a:ln>
        </p:spPr>
      </p:cxnSp>
      <p:sp>
        <p:nvSpPr>
          <p:cNvPr id="1520" name="Google Shape;1520;p93"/>
          <p:cNvSpPr txBox="1"/>
          <p:nvPr>
            <p:ph idx="1" type="body"/>
          </p:nvPr>
        </p:nvSpPr>
        <p:spPr>
          <a:xfrm>
            <a:off x="5133075" y="4492975"/>
            <a:ext cx="5613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d</a:t>
            </a:r>
            <a:r>
              <a:rPr lang="en-GB" sz="1800"/>
              <a:t> m</a:t>
            </a:r>
            <a:endParaRPr sz="1800"/>
          </a:p>
        </p:txBody>
      </p:sp>
      <p:cxnSp>
        <p:nvCxnSpPr>
          <p:cNvPr id="1521" name="Google Shape;1521;p93"/>
          <p:cNvCxnSpPr/>
          <p:nvPr/>
        </p:nvCxnSpPr>
        <p:spPr>
          <a:xfrm>
            <a:off x="1106530" y="2019489"/>
            <a:ext cx="5446200" cy="2211600"/>
          </a:xfrm>
          <a:prstGeom prst="straightConnector1">
            <a:avLst/>
          </a:prstGeom>
          <a:noFill/>
          <a:ln cap="flat" cmpd="sng" w="38100">
            <a:solidFill>
              <a:srgbClr val="7E5CD2"/>
            </a:solidFill>
            <a:prstDash val="dash"/>
            <a:round/>
            <a:headEnd len="med" w="med" type="none"/>
            <a:tailEnd len="med" w="med" type="none"/>
          </a:ln>
        </p:spPr>
      </p:cxnSp>
      <p:sp>
        <p:nvSpPr>
          <p:cNvPr id="1522" name="Google Shape;1522;p93"/>
          <p:cNvSpPr txBox="1"/>
          <p:nvPr>
            <p:ph idx="1" type="body"/>
          </p:nvPr>
        </p:nvSpPr>
        <p:spPr>
          <a:xfrm>
            <a:off x="1906699" y="208281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32</a:t>
            </a:r>
            <a:r>
              <a:rPr lang="en-GB" sz="1800"/>
              <a:t>°</a:t>
            </a:r>
            <a:endParaRPr sz="1800"/>
          </a:p>
        </p:txBody>
      </p:sp>
      <p:sp>
        <p:nvSpPr>
          <p:cNvPr id="1523" name="Google Shape;1523;p93"/>
          <p:cNvSpPr txBox="1"/>
          <p:nvPr>
            <p:ph idx="1" type="body"/>
          </p:nvPr>
        </p:nvSpPr>
        <p:spPr>
          <a:xfrm>
            <a:off x="1258484" y="231141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15</a:t>
            </a:r>
            <a:r>
              <a:rPr lang="en-GB" sz="1800"/>
              <a:t>°</a:t>
            </a:r>
            <a:endParaRPr sz="1800"/>
          </a:p>
        </p:txBody>
      </p:sp>
      <p:sp>
        <p:nvSpPr>
          <p:cNvPr id="1524" name="Google Shape;1524;p93"/>
          <p:cNvSpPr txBox="1"/>
          <p:nvPr>
            <p:ph idx="1" type="body"/>
          </p:nvPr>
        </p:nvSpPr>
        <p:spPr>
          <a:xfrm>
            <a:off x="1165171" y="3024925"/>
            <a:ext cx="13932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(60 + 1.35)</a:t>
            </a:r>
            <a:r>
              <a:rPr lang="en-GB" sz="1800"/>
              <a:t> m</a:t>
            </a:r>
            <a:endParaRPr sz="1800"/>
          </a:p>
        </p:txBody>
      </p:sp>
      <p:cxnSp>
        <p:nvCxnSpPr>
          <p:cNvPr id="1525" name="Google Shape;1525;p93"/>
          <p:cNvCxnSpPr>
            <a:stCxn id="1524" idx="3"/>
          </p:cNvCxnSpPr>
          <p:nvPr/>
        </p:nvCxnSpPr>
        <p:spPr>
          <a:xfrm flipH="1" rot="10800000">
            <a:off x="2558371" y="2410975"/>
            <a:ext cx="2001600" cy="733500"/>
          </a:xfrm>
          <a:prstGeom prst="straightConnector1">
            <a:avLst/>
          </a:prstGeom>
          <a:noFill/>
          <a:ln cap="flat" cmpd="sng" w="38100">
            <a:solidFill>
              <a:schemeClr val="dk1"/>
            </a:solidFill>
            <a:prstDash val="solid"/>
            <a:round/>
            <a:headEnd len="med" w="med" type="none"/>
            <a:tailEnd len="med" w="med" type="none"/>
          </a:ln>
        </p:spPr>
      </p:cxnSp>
      <p:sp>
        <p:nvSpPr>
          <p:cNvPr id="1526" name="Google Shape;1526;p93"/>
          <p:cNvSpPr txBox="1"/>
          <p:nvPr>
            <p:ph idx="1" type="body"/>
          </p:nvPr>
        </p:nvSpPr>
        <p:spPr>
          <a:xfrm>
            <a:off x="4544900" y="2262925"/>
            <a:ext cx="36642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What does the 1.35 m represent?</a:t>
            </a:r>
            <a:endParaRPr sz="1800"/>
          </a:p>
        </p:txBody>
      </p:sp>
      <p:sp>
        <p:nvSpPr>
          <p:cNvPr id="1527" name="Google Shape;1527;p93"/>
          <p:cNvSpPr txBox="1"/>
          <p:nvPr>
            <p:ph idx="1" type="body"/>
          </p:nvPr>
        </p:nvSpPr>
        <p:spPr>
          <a:xfrm>
            <a:off x="4544900" y="2567725"/>
            <a:ext cx="36642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height of Sofia to her </a:t>
            </a:r>
            <a:r>
              <a:rPr lang="en-GB" sz="2000">
                <a:latin typeface="Kalam"/>
                <a:ea typeface="Kalam"/>
                <a:cs typeface="Kalam"/>
                <a:sym typeface="Kalam"/>
              </a:rPr>
              <a:t>eyeline</a:t>
            </a:r>
            <a:r>
              <a:rPr lang="en-GB" sz="2000">
                <a:latin typeface="Kalam"/>
                <a:ea typeface="Kalam"/>
                <a:cs typeface="Kalam"/>
                <a:sym typeface="Kalam"/>
              </a:rPr>
              <a:t>.</a:t>
            </a:r>
            <a:endParaRPr sz="2000">
              <a:latin typeface="Kalam"/>
              <a:ea typeface="Kalam"/>
              <a:cs typeface="Kalam"/>
              <a:sym typeface="Kalam"/>
            </a:endParaRPr>
          </a:p>
        </p:txBody>
      </p:sp>
      <p:pic>
        <p:nvPicPr>
          <p:cNvPr id="1528" name="Google Shape;1528;p93"/>
          <p:cNvPicPr preferRelativeResize="0"/>
          <p:nvPr/>
        </p:nvPicPr>
        <p:blipFill>
          <a:blip r:embed="rId3">
            <a:alphaModFix/>
          </a:blip>
          <a:stretch>
            <a:fillRect/>
          </a:stretch>
        </p:blipFill>
        <p:spPr>
          <a:xfrm>
            <a:off x="887499" y="1938025"/>
            <a:ext cx="197225" cy="7123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2" name="Shape 1532"/>
        <p:cNvGrpSpPr/>
        <p:nvPr/>
      </p:nvGrpSpPr>
      <p:grpSpPr>
        <a:xfrm>
          <a:off x="0" y="0"/>
          <a:ext cx="0" cy="0"/>
          <a:chOff x="0" y="0"/>
          <a:chExt cx="0" cy="0"/>
        </a:xfrm>
      </p:grpSpPr>
      <p:sp>
        <p:nvSpPr>
          <p:cNvPr id="1533" name="Google Shape;1533;p94"/>
          <p:cNvSpPr txBox="1"/>
          <p:nvPr>
            <p:ph idx="1" type="body"/>
          </p:nvPr>
        </p:nvSpPr>
        <p:spPr>
          <a:xfrm>
            <a:off x="324000" y="759300"/>
            <a:ext cx="8237700" cy="11787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Sofia is standing on top of a cliff, 60 m above sea-level. She can see two buoys straight in front of her. The angles of depression of these buoys are 47º and 32º respectively. Sofia wants to estimate how far apart the two buoys are from each other.</a:t>
            </a:r>
            <a:endParaRPr sz="1800"/>
          </a:p>
        </p:txBody>
      </p:sp>
      <p:sp>
        <p:nvSpPr>
          <p:cNvPr id="1534" name="Google Shape;1534;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1535" name="Google Shape;1535;p94"/>
          <p:cNvSpPr/>
          <p:nvPr/>
        </p:nvSpPr>
        <p:spPr>
          <a:xfrm>
            <a:off x="1050400" y="4164750"/>
            <a:ext cx="6468766" cy="245059"/>
          </a:xfrm>
          <a:custGeom>
            <a:rect b="b" l="l" r="r" t="t"/>
            <a:pathLst>
              <a:path extrusionOk="0" h="11418" w="251654">
                <a:moveTo>
                  <a:pt x="251654" y="6684"/>
                </a:moveTo>
                <a:cubicBezTo>
                  <a:pt x="247489" y="6393"/>
                  <a:pt x="236204" y="4456"/>
                  <a:pt x="226663" y="4940"/>
                </a:cubicBezTo>
                <a:cubicBezTo>
                  <a:pt x="217122" y="5424"/>
                  <a:pt x="202641" y="9348"/>
                  <a:pt x="194407" y="9590"/>
                </a:cubicBezTo>
                <a:cubicBezTo>
                  <a:pt x="186174" y="9832"/>
                  <a:pt x="185253" y="6248"/>
                  <a:pt x="177262" y="6393"/>
                </a:cubicBezTo>
                <a:cubicBezTo>
                  <a:pt x="169271" y="6538"/>
                  <a:pt x="154693" y="10365"/>
                  <a:pt x="146459" y="10462"/>
                </a:cubicBezTo>
                <a:cubicBezTo>
                  <a:pt x="138226" y="10559"/>
                  <a:pt x="135562" y="6830"/>
                  <a:pt x="127861" y="6975"/>
                </a:cubicBezTo>
                <a:cubicBezTo>
                  <a:pt x="120160" y="7120"/>
                  <a:pt x="110813" y="11672"/>
                  <a:pt x="100255" y="11333"/>
                </a:cubicBezTo>
                <a:cubicBezTo>
                  <a:pt x="89697" y="10994"/>
                  <a:pt x="77395" y="5182"/>
                  <a:pt x="64512" y="4940"/>
                </a:cubicBezTo>
                <a:cubicBezTo>
                  <a:pt x="51629" y="4698"/>
                  <a:pt x="32886" y="9977"/>
                  <a:pt x="22957" y="9880"/>
                </a:cubicBezTo>
                <a:cubicBezTo>
                  <a:pt x="13028" y="9783"/>
                  <a:pt x="8766" y="6006"/>
                  <a:pt x="4940" y="4359"/>
                </a:cubicBezTo>
                <a:cubicBezTo>
                  <a:pt x="1114" y="2712"/>
                  <a:pt x="823" y="727"/>
                  <a:pt x="0" y="0"/>
                </a:cubicBezTo>
              </a:path>
            </a:pathLst>
          </a:custGeom>
          <a:noFill/>
          <a:ln cap="flat" cmpd="sng" w="28575">
            <a:solidFill>
              <a:srgbClr val="000000"/>
            </a:solidFill>
            <a:prstDash val="solid"/>
            <a:round/>
            <a:headEnd len="med" w="med" type="none"/>
            <a:tailEnd len="med" w="med" type="none"/>
          </a:ln>
        </p:spPr>
      </p:sp>
      <p:sp>
        <p:nvSpPr>
          <p:cNvPr id="1536" name="Google Shape;1536;p94"/>
          <p:cNvSpPr/>
          <p:nvPr/>
        </p:nvSpPr>
        <p:spPr>
          <a:xfrm>
            <a:off x="551500" y="2650375"/>
            <a:ext cx="498900" cy="2151300"/>
          </a:xfrm>
          <a:prstGeom prst="rect">
            <a:avLst/>
          </a:prstGeom>
          <a:solidFill>
            <a:srgbClr val="988672"/>
          </a:solidFill>
          <a:ln cap="flat" cmpd="sng" w="9525">
            <a:solidFill>
              <a:srgbClr val="9886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37" name="Google Shape;1537;p94"/>
          <p:cNvCxnSpPr/>
          <p:nvPr/>
        </p:nvCxnSpPr>
        <p:spPr>
          <a:xfrm>
            <a:off x="1106530" y="4249227"/>
            <a:ext cx="5456700" cy="0"/>
          </a:xfrm>
          <a:prstGeom prst="straightConnector1">
            <a:avLst/>
          </a:prstGeom>
          <a:noFill/>
          <a:ln cap="flat" cmpd="sng" w="28575">
            <a:solidFill>
              <a:srgbClr val="595959"/>
            </a:solidFill>
            <a:prstDash val="solid"/>
            <a:round/>
            <a:headEnd len="med" w="med" type="triangle"/>
            <a:tailEnd len="med" w="med" type="triangle"/>
          </a:ln>
        </p:spPr>
      </p:cxnSp>
      <p:cxnSp>
        <p:nvCxnSpPr>
          <p:cNvPr id="1538" name="Google Shape;1538;p94"/>
          <p:cNvCxnSpPr/>
          <p:nvPr/>
        </p:nvCxnSpPr>
        <p:spPr>
          <a:xfrm>
            <a:off x="1146844" y="2007020"/>
            <a:ext cx="0" cy="2274900"/>
          </a:xfrm>
          <a:prstGeom prst="straightConnector1">
            <a:avLst/>
          </a:prstGeom>
          <a:noFill/>
          <a:ln cap="flat" cmpd="sng" w="28575">
            <a:solidFill>
              <a:srgbClr val="595959"/>
            </a:solidFill>
            <a:prstDash val="solid"/>
            <a:round/>
            <a:headEnd len="med" w="med" type="triangle"/>
            <a:tailEnd len="med" w="med" type="triangle"/>
          </a:ln>
        </p:spPr>
      </p:cxnSp>
      <p:grpSp>
        <p:nvGrpSpPr>
          <p:cNvPr id="1539" name="Google Shape;1539;p94"/>
          <p:cNvGrpSpPr/>
          <p:nvPr/>
        </p:nvGrpSpPr>
        <p:grpSpPr>
          <a:xfrm>
            <a:off x="6421550" y="4031110"/>
            <a:ext cx="295851" cy="363916"/>
            <a:chOff x="6421550" y="4031110"/>
            <a:chExt cx="295851" cy="363916"/>
          </a:xfrm>
        </p:grpSpPr>
        <p:sp>
          <p:nvSpPr>
            <p:cNvPr id="1540" name="Google Shape;1540;p94"/>
            <p:cNvSpPr/>
            <p:nvPr/>
          </p:nvSpPr>
          <p:spPr>
            <a:xfrm rot="6188593">
              <a:off x="6450221" y="4127847"/>
              <a:ext cx="242759" cy="242759"/>
            </a:xfrm>
            <a:prstGeom prst="chord">
              <a:avLst>
                <a:gd fmla="val 2700000" name="adj1"/>
                <a:gd fmla="val 16200000" name="adj2"/>
              </a:avLst>
            </a:prstGeom>
            <a:solidFill>
              <a:srgbClr val="CC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1" name="Google Shape;1541;p94"/>
            <p:cNvSpPr/>
            <p:nvPr/>
          </p:nvSpPr>
          <p:spPr>
            <a:xfrm flipH="1" rot="10800000">
              <a:off x="6421550" y="4122793"/>
              <a:ext cx="291600" cy="136500"/>
            </a:xfrm>
            <a:prstGeom prst="arc">
              <a:avLst>
                <a:gd fmla="val 12210667" name="adj1"/>
                <a:gd fmla="val 20383269" name="adj2"/>
              </a:avLst>
            </a:prstGeom>
            <a:noFill/>
            <a:ln cap="flat" cmpd="sng" w="1905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2" name="Google Shape;1542;p94"/>
            <p:cNvSpPr/>
            <p:nvPr/>
          </p:nvSpPr>
          <p:spPr>
            <a:xfrm rot="-205273">
              <a:off x="6528019" y="4032673"/>
              <a:ext cx="55299" cy="92875"/>
            </a:xfrm>
            <a:prstGeom prst="rect">
              <a:avLst/>
            </a:prstGeom>
            <a:solidFill>
              <a:srgbClr val="CC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543" name="Google Shape;1543;p94"/>
          <p:cNvGrpSpPr/>
          <p:nvPr/>
        </p:nvGrpSpPr>
        <p:grpSpPr>
          <a:xfrm>
            <a:off x="3983150" y="4079157"/>
            <a:ext cx="295851" cy="363916"/>
            <a:chOff x="6421550" y="4031110"/>
            <a:chExt cx="295851" cy="363916"/>
          </a:xfrm>
        </p:grpSpPr>
        <p:sp>
          <p:nvSpPr>
            <p:cNvPr id="1544" name="Google Shape;1544;p94"/>
            <p:cNvSpPr/>
            <p:nvPr/>
          </p:nvSpPr>
          <p:spPr>
            <a:xfrm rot="6188593">
              <a:off x="6450221" y="4127847"/>
              <a:ext cx="242759" cy="242759"/>
            </a:xfrm>
            <a:prstGeom prst="chord">
              <a:avLst>
                <a:gd fmla="val 2700000" name="adj1"/>
                <a:gd fmla="val 16200000" name="adj2"/>
              </a:avLst>
            </a:prstGeom>
            <a:solidFill>
              <a:srgbClr val="CC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5" name="Google Shape;1545;p94"/>
            <p:cNvSpPr/>
            <p:nvPr/>
          </p:nvSpPr>
          <p:spPr>
            <a:xfrm flipH="1" rot="10800000">
              <a:off x="6421550" y="4122793"/>
              <a:ext cx="291600" cy="136500"/>
            </a:xfrm>
            <a:prstGeom prst="arc">
              <a:avLst>
                <a:gd fmla="val 12210667" name="adj1"/>
                <a:gd fmla="val 20383269" name="adj2"/>
              </a:avLst>
            </a:prstGeom>
            <a:noFill/>
            <a:ln cap="flat" cmpd="sng" w="1905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6" name="Google Shape;1546;p94"/>
            <p:cNvSpPr/>
            <p:nvPr/>
          </p:nvSpPr>
          <p:spPr>
            <a:xfrm rot="-205273">
              <a:off x="6528019" y="4032673"/>
              <a:ext cx="55299" cy="92875"/>
            </a:xfrm>
            <a:prstGeom prst="rect">
              <a:avLst/>
            </a:prstGeom>
            <a:solidFill>
              <a:srgbClr val="CC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547" name="Google Shape;1547;p94"/>
          <p:cNvPicPr preferRelativeResize="0"/>
          <p:nvPr/>
        </p:nvPicPr>
        <p:blipFill>
          <a:blip r:embed="rId3">
            <a:alphaModFix/>
          </a:blip>
          <a:stretch>
            <a:fillRect/>
          </a:stretch>
        </p:blipFill>
        <p:spPr>
          <a:xfrm>
            <a:off x="887499" y="1938025"/>
            <a:ext cx="197225" cy="712351"/>
          </a:xfrm>
          <a:prstGeom prst="rect">
            <a:avLst/>
          </a:prstGeom>
          <a:noFill/>
          <a:ln>
            <a:noFill/>
          </a:ln>
        </p:spPr>
      </p:pic>
      <p:cxnSp>
        <p:nvCxnSpPr>
          <p:cNvPr id="1548" name="Google Shape;1548;p94"/>
          <p:cNvCxnSpPr/>
          <p:nvPr/>
        </p:nvCxnSpPr>
        <p:spPr>
          <a:xfrm>
            <a:off x="4115425" y="4496075"/>
            <a:ext cx="2471400" cy="0"/>
          </a:xfrm>
          <a:prstGeom prst="straightConnector1">
            <a:avLst/>
          </a:prstGeom>
          <a:noFill/>
          <a:ln cap="flat" cmpd="sng" w="28575">
            <a:solidFill>
              <a:schemeClr val="dk1"/>
            </a:solidFill>
            <a:prstDash val="solid"/>
            <a:round/>
            <a:headEnd len="med" w="med" type="triangle"/>
            <a:tailEnd len="med" w="med" type="triangle"/>
          </a:ln>
        </p:spPr>
      </p:cxnSp>
      <p:sp>
        <p:nvSpPr>
          <p:cNvPr id="1549" name="Google Shape;1549;p94"/>
          <p:cNvSpPr txBox="1"/>
          <p:nvPr>
            <p:ph idx="1" type="body"/>
          </p:nvPr>
        </p:nvSpPr>
        <p:spPr>
          <a:xfrm>
            <a:off x="5133075" y="4492975"/>
            <a:ext cx="5613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d</a:t>
            </a:r>
            <a:r>
              <a:rPr lang="en-GB" sz="1800"/>
              <a:t> m</a:t>
            </a:r>
            <a:endParaRPr sz="1800"/>
          </a:p>
        </p:txBody>
      </p:sp>
      <p:sp>
        <p:nvSpPr>
          <p:cNvPr id="1550" name="Google Shape;1550;p94"/>
          <p:cNvSpPr txBox="1"/>
          <p:nvPr>
            <p:ph idx="1" type="body"/>
          </p:nvPr>
        </p:nvSpPr>
        <p:spPr>
          <a:xfrm>
            <a:off x="1906699" y="208281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32°</a:t>
            </a:r>
            <a:endParaRPr sz="1800"/>
          </a:p>
        </p:txBody>
      </p:sp>
      <p:sp>
        <p:nvSpPr>
          <p:cNvPr id="1551" name="Google Shape;1551;p94"/>
          <p:cNvSpPr txBox="1"/>
          <p:nvPr>
            <p:ph idx="1" type="body"/>
          </p:nvPr>
        </p:nvSpPr>
        <p:spPr>
          <a:xfrm>
            <a:off x="1868084" y="238761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15°</a:t>
            </a:r>
            <a:endParaRPr sz="1800"/>
          </a:p>
        </p:txBody>
      </p:sp>
      <p:sp>
        <p:nvSpPr>
          <p:cNvPr id="1552" name="Google Shape;1552;p94"/>
          <p:cNvSpPr txBox="1"/>
          <p:nvPr>
            <p:ph idx="1" type="body"/>
          </p:nvPr>
        </p:nvSpPr>
        <p:spPr>
          <a:xfrm>
            <a:off x="4544900" y="2262925"/>
            <a:ext cx="36642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simplified version of this diagram will be useful here.</a:t>
            </a:r>
            <a:endParaRPr sz="1800"/>
          </a:p>
        </p:txBody>
      </p:sp>
      <p:sp>
        <p:nvSpPr>
          <p:cNvPr id="1553" name="Google Shape;1553;p94"/>
          <p:cNvSpPr txBox="1"/>
          <p:nvPr>
            <p:ph idx="1" type="body"/>
          </p:nvPr>
        </p:nvSpPr>
        <p:spPr>
          <a:xfrm>
            <a:off x="1165171" y="3024925"/>
            <a:ext cx="13932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(60 + 1.35) m</a:t>
            </a:r>
            <a:endParaRPr sz="1800"/>
          </a:p>
        </p:txBody>
      </p:sp>
      <p:sp>
        <p:nvSpPr>
          <p:cNvPr id="1554" name="Google Shape;1554;p94"/>
          <p:cNvSpPr/>
          <p:nvPr/>
        </p:nvSpPr>
        <p:spPr>
          <a:xfrm>
            <a:off x="401164" y="1307772"/>
            <a:ext cx="1428900" cy="1428900"/>
          </a:xfrm>
          <a:prstGeom prst="pie">
            <a:avLst>
              <a:gd fmla="val 12145" name="adj1"/>
              <a:gd fmla="val 1392233" name="adj2"/>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5" name="Google Shape;1555;p94"/>
          <p:cNvSpPr/>
          <p:nvPr/>
        </p:nvSpPr>
        <p:spPr>
          <a:xfrm>
            <a:off x="629771" y="1536374"/>
            <a:ext cx="955200" cy="955200"/>
          </a:xfrm>
          <a:prstGeom prst="pie">
            <a:avLst>
              <a:gd fmla="val 1300062" name="adj1"/>
              <a:gd fmla="val 2181417" name="adj2"/>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56" name="Google Shape;1556;p94"/>
          <p:cNvCxnSpPr/>
          <p:nvPr/>
        </p:nvCxnSpPr>
        <p:spPr>
          <a:xfrm>
            <a:off x="1106530" y="2019489"/>
            <a:ext cx="5446200" cy="2211600"/>
          </a:xfrm>
          <a:prstGeom prst="straightConnector1">
            <a:avLst/>
          </a:prstGeom>
          <a:noFill/>
          <a:ln cap="flat" cmpd="sng" w="38100">
            <a:solidFill>
              <a:srgbClr val="7E5CD2"/>
            </a:solidFill>
            <a:prstDash val="dash"/>
            <a:round/>
            <a:headEnd len="med" w="med" type="none"/>
            <a:tailEnd len="med" w="med" type="none"/>
          </a:ln>
        </p:spPr>
      </p:cxnSp>
      <p:cxnSp>
        <p:nvCxnSpPr>
          <p:cNvPr id="1557" name="Google Shape;1557;p94"/>
          <p:cNvCxnSpPr>
            <a:endCxn id="1545" idx="1"/>
          </p:cNvCxnSpPr>
          <p:nvPr/>
        </p:nvCxnSpPr>
        <p:spPr>
          <a:xfrm>
            <a:off x="1106450" y="2019390"/>
            <a:ext cx="3022500" cy="2219700"/>
          </a:xfrm>
          <a:prstGeom prst="straightConnector1">
            <a:avLst/>
          </a:prstGeom>
          <a:noFill/>
          <a:ln cap="flat" cmpd="sng" w="38100">
            <a:solidFill>
              <a:srgbClr val="7E5CD2"/>
            </a:solidFill>
            <a:prstDash val="dash"/>
            <a:round/>
            <a:headEnd len="med" w="med" type="none"/>
            <a:tailEnd len="med" w="med" type="none"/>
          </a:ln>
        </p:spPr>
      </p:cxnSp>
      <p:cxnSp>
        <p:nvCxnSpPr>
          <p:cNvPr id="1558" name="Google Shape;1558;p94"/>
          <p:cNvCxnSpPr/>
          <p:nvPr/>
        </p:nvCxnSpPr>
        <p:spPr>
          <a:xfrm>
            <a:off x="1106530" y="2019489"/>
            <a:ext cx="2580600" cy="0"/>
          </a:xfrm>
          <a:prstGeom prst="straightConnector1">
            <a:avLst/>
          </a:prstGeom>
          <a:noFill/>
          <a:ln cap="flat" cmpd="sng" w="28575">
            <a:solidFill>
              <a:srgbClr val="595959"/>
            </a:solidFill>
            <a:prstDash val="dot"/>
            <a:round/>
            <a:headEnd len="med" w="med" type="none"/>
            <a:tailEnd len="med" w="med"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2" name="Shape 1562"/>
        <p:cNvGrpSpPr/>
        <p:nvPr/>
      </p:nvGrpSpPr>
      <p:grpSpPr>
        <a:xfrm>
          <a:off x="0" y="0"/>
          <a:ext cx="0" cy="0"/>
          <a:chOff x="0" y="0"/>
          <a:chExt cx="0" cy="0"/>
        </a:xfrm>
      </p:grpSpPr>
      <p:sp>
        <p:nvSpPr>
          <p:cNvPr id="1563" name="Google Shape;1563;p95"/>
          <p:cNvSpPr/>
          <p:nvPr/>
        </p:nvSpPr>
        <p:spPr>
          <a:xfrm>
            <a:off x="401164" y="1301499"/>
            <a:ext cx="1428900" cy="1428900"/>
          </a:xfrm>
          <a:prstGeom prst="pie">
            <a:avLst>
              <a:gd fmla="val 2170970" name="adj1"/>
              <a:gd fmla="val 5338963"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4" name="Google Shape;1564;p95"/>
          <p:cNvSpPr/>
          <p:nvPr/>
        </p:nvSpPr>
        <p:spPr>
          <a:xfrm>
            <a:off x="1132000" y="2024725"/>
            <a:ext cx="5456700" cy="22197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5" name="Google Shape;1565;p95"/>
          <p:cNvSpPr/>
          <p:nvPr/>
        </p:nvSpPr>
        <p:spPr>
          <a:xfrm>
            <a:off x="553573" y="1460175"/>
            <a:ext cx="1178700" cy="1178700"/>
          </a:xfrm>
          <a:prstGeom prst="pie">
            <a:avLst>
              <a:gd fmla="val 1317865" name="adj1"/>
              <a:gd fmla="val 2136563" name="adj2"/>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6" name="Google Shape;1566;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Practical uses of trigonometry</a:t>
            </a:r>
            <a:endParaRPr/>
          </a:p>
        </p:txBody>
      </p:sp>
      <p:cxnSp>
        <p:nvCxnSpPr>
          <p:cNvPr id="1567" name="Google Shape;1567;p95"/>
          <p:cNvCxnSpPr/>
          <p:nvPr/>
        </p:nvCxnSpPr>
        <p:spPr>
          <a:xfrm>
            <a:off x="1106530" y="4364041"/>
            <a:ext cx="5456700" cy="0"/>
          </a:xfrm>
          <a:prstGeom prst="straightConnector1">
            <a:avLst/>
          </a:prstGeom>
          <a:noFill/>
          <a:ln cap="flat" cmpd="sng" w="28575">
            <a:solidFill>
              <a:schemeClr val="dk1"/>
            </a:solidFill>
            <a:prstDash val="solid"/>
            <a:round/>
            <a:headEnd len="med" w="med" type="triangle"/>
            <a:tailEnd len="med" w="med" type="triangle"/>
          </a:ln>
        </p:spPr>
      </p:cxnSp>
      <p:cxnSp>
        <p:nvCxnSpPr>
          <p:cNvPr id="1568" name="Google Shape;1568;p95"/>
          <p:cNvCxnSpPr/>
          <p:nvPr/>
        </p:nvCxnSpPr>
        <p:spPr>
          <a:xfrm>
            <a:off x="994444" y="2007020"/>
            <a:ext cx="0" cy="2274900"/>
          </a:xfrm>
          <a:prstGeom prst="straightConnector1">
            <a:avLst/>
          </a:prstGeom>
          <a:noFill/>
          <a:ln cap="flat" cmpd="sng" w="28575">
            <a:solidFill>
              <a:schemeClr val="dk1"/>
            </a:solidFill>
            <a:prstDash val="solid"/>
            <a:round/>
            <a:headEnd len="med" w="med" type="triangle"/>
            <a:tailEnd len="med" w="med" type="triangle"/>
          </a:ln>
        </p:spPr>
      </p:cxnSp>
      <p:cxnSp>
        <p:nvCxnSpPr>
          <p:cNvPr id="1569" name="Google Shape;1569;p95"/>
          <p:cNvCxnSpPr/>
          <p:nvPr/>
        </p:nvCxnSpPr>
        <p:spPr>
          <a:xfrm>
            <a:off x="4115425" y="4496075"/>
            <a:ext cx="2471400" cy="0"/>
          </a:xfrm>
          <a:prstGeom prst="straightConnector1">
            <a:avLst/>
          </a:prstGeom>
          <a:noFill/>
          <a:ln cap="flat" cmpd="sng" w="28575">
            <a:solidFill>
              <a:schemeClr val="dk1"/>
            </a:solidFill>
            <a:prstDash val="solid"/>
            <a:round/>
            <a:headEnd len="med" w="med" type="triangle"/>
            <a:tailEnd len="med" w="med" type="triangle"/>
          </a:ln>
        </p:spPr>
      </p:cxnSp>
      <p:sp>
        <p:nvSpPr>
          <p:cNvPr id="1570" name="Google Shape;1570;p95"/>
          <p:cNvSpPr txBox="1"/>
          <p:nvPr>
            <p:ph idx="1" type="body"/>
          </p:nvPr>
        </p:nvSpPr>
        <p:spPr>
          <a:xfrm>
            <a:off x="5133075" y="4492975"/>
            <a:ext cx="5613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d</a:t>
            </a:r>
            <a:r>
              <a:rPr lang="en-GB" sz="1800"/>
              <a:t> m</a:t>
            </a:r>
            <a:endParaRPr sz="1800"/>
          </a:p>
        </p:txBody>
      </p:sp>
      <p:sp>
        <p:nvSpPr>
          <p:cNvPr id="1571" name="Google Shape;1571;p95"/>
          <p:cNvSpPr txBox="1"/>
          <p:nvPr>
            <p:ph idx="1" type="body"/>
          </p:nvPr>
        </p:nvSpPr>
        <p:spPr>
          <a:xfrm>
            <a:off x="1868084" y="238761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15°</a:t>
            </a:r>
            <a:endParaRPr sz="1800"/>
          </a:p>
        </p:txBody>
      </p:sp>
      <p:sp>
        <p:nvSpPr>
          <p:cNvPr id="1572" name="Google Shape;1572;p95"/>
          <p:cNvSpPr/>
          <p:nvPr/>
        </p:nvSpPr>
        <p:spPr>
          <a:xfrm>
            <a:off x="1132000" y="2019500"/>
            <a:ext cx="2983500" cy="22197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73" name="Google Shape;1573;p95"/>
          <p:cNvSpPr txBox="1"/>
          <p:nvPr>
            <p:ph idx="1" type="body"/>
          </p:nvPr>
        </p:nvSpPr>
        <p:spPr>
          <a:xfrm>
            <a:off x="353900" y="3024925"/>
            <a:ext cx="7563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61.35 m</a:t>
            </a:r>
            <a:endParaRPr sz="1800"/>
          </a:p>
        </p:txBody>
      </p:sp>
      <p:sp>
        <p:nvSpPr>
          <p:cNvPr id="1574" name="Google Shape;1574;p95"/>
          <p:cNvSpPr txBox="1"/>
          <p:nvPr>
            <p:ph idx="1" type="body"/>
          </p:nvPr>
        </p:nvSpPr>
        <p:spPr>
          <a:xfrm>
            <a:off x="1415524" y="2655817"/>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43</a:t>
            </a:r>
            <a:r>
              <a:rPr lang="en-GB" sz="1800"/>
              <a:t>°</a:t>
            </a:r>
            <a:endParaRPr sz="1800"/>
          </a:p>
        </p:txBody>
      </p:sp>
      <p:grpSp>
        <p:nvGrpSpPr>
          <p:cNvPr id="1575" name="Google Shape;1575;p95"/>
          <p:cNvGrpSpPr/>
          <p:nvPr/>
        </p:nvGrpSpPr>
        <p:grpSpPr>
          <a:xfrm>
            <a:off x="6513257" y="4182025"/>
            <a:ext cx="99900" cy="99900"/>
            <a:chOff x="2567200" y="1078675"/>
            <a:chExt cx="99900" cy="99900"/>
          </a:xfrm>
        </p:grpSpPr>
        <p:cxnSp>
          <p:nvCxnSpPr>
            <p:cNvPr id="1576" name="Google Shape;1576;p95"/>
            <p:cNvCxnSpPr/>
            <p:nvPr/>
          </p:nvCxnSpPr>
          <p:spPr>
            <a:xfrm>
              <a:off x="2567200" y="1078675"/>
              <a:ext cx="99900" cy="99900"/>
            </a:xfrm>
            <a:prstGeom prst="straightConnector1">
              <a:avLst/>
            </a:prstGeom>
            <a:noFill/>
            <a:ln cap="flat" cmpd="sng" w="38100">
              <a:solidFill>
                <a:schemeClr val="accent6"/>
              </a:solidFill>
              <a:prstDash val="solid"/>
              <a:round/>
              <a:headEnd len="med" w="med" type="none"/>
              <a:tailEnd len="med" w="med" type="none"/>
            </a:ln>
          </p:spPr>
        </p:cxnSp>
        <p:cxnSp>
          <p:nvCxnSpPr>
            <p:cNvPr id="1577" name="Google Shape;1577;p95"/>
            <p:cNvCxnSpPr/>
            <p:nvPr/>
          </p:nvCxnSpPr>
          <p:spPr>
            <a:xfrm rot="5400000">
              <a:off x="2567200" y="1078675"/>
              <a:ext cx="99900" cy="99900"/>
            </a:xfrm>
            <a:prstGeom prst="straightConnector1">
              <a:avLst/>
            </a:prstGeom>
            <a:noFill/>
            <a:ln cap="flat" cmpd="sng" w="38100">
              <a:solidFill>
                <a:schemeClr val="accent6"/>
              </a:solidFill>
              <a:prstDash val="solid"/>
              <a:round/>
              <a:headEnd len="med" w="med" type="none"/>
              <a:tailEnd len="med" w="med" type="none"/>
            </a:ln>
          </p:spPr>
        </p:cxnSp>
      </p:grpSp>
      <p:grpSp>
        <p:nvGrpSpPr>
          <p:cNvPr id="1578" name="Google Shape;1578;p95"/>
          <p:cNvGrpSpPr/>
          <p:nvPr/>
        </p:nvGrpSpPr>
        <p:grpSpPr>
          <a:xfrm>
            <a:off x="4056850" y="4182025"/>
            <a:ext cx="99900" cy="99900"/>
            <a:chOff x="2567200" y="1078675"/>
            <a:chExt cx="99900" cy="99900"/>
          </a:xfrm>
        </p:grpSpPr>
        <p:cxnSp>
          <p:nvCxnSpPr>
            <p:cNvPr id="1579" name="Google Shape;1579;p95"/>
            <p:cNvCxnSpPr/>
            <p:nvPr/>
          </p:nvCxnSpPr>
          <p:spPr>
            <a:xfrm>
              <a:off x="2567200" y="1078675"/>
              <a:ext cx="99900" cy="99900"/>
            </a:xfrm>
            <a:prstGeom prst="straightConnector1">
              <a:avLst/>
            </a:prstGeom>
            <a:noFill/>
            <a:ln cap="flat" cmpd="sng" w="38100">
              <a:solidFill>
                <a:schemeClr val="accent6"/>
              </a:solidFill>
              <a:prstDash val="solid"/>
              <a:round/>
              <a:headEnd len="med" w="med" type="none"/>
              <a:tailEnd len="med" w="med" type="none"/>
            </a:ln>
          </p:spPr>
        </p:cxnSp>
        <p:cxnSp>
          <p:nvCxnSpPr>
            <p:cNvPr id="1580" name="Google Shape;1580;p95"/>
            <p:cNvCxnSpPr/>
            <p:nvPr/>
          </p:nvCxnSpPr>
          <p:spPr>
            <a:xfrm rot="5400000">
              <a:off x="2567200" y="1078675"/>
              <a:ext cx="99900" cy="99900"/>
            </a:xfrm>
            <a:prstGeom prst="straightConnector1">
              <a:avLst/>
            </a:prstGeom>
            <a:noFill/>
            <a:ln cap="flat" cmpd="sng" w="38100">
              <a:solidFill>
                <a:schemeClr val="accent6"/>
              </a:solidFill>
              <a:prstDash val="solid"/>
              <a:round/>
              <a:headEnd len="med" w="med" type="none"/>
              <a:tailEnd len="med" w="med" type="none"/>
            </a:ln>
          </p:spPr>
        </p:cxnSp>
      </p:grpSp>
      <p:sp>
        <p:nvSpPr>
          <p:cNvPr id="1581" name="Google Shape;1581;p95"/>
          <p:cNvSpPr txBox="1"/>
          <p:nvPr>
            <p:ph idx="1" type="body"/>
          </p:nvPr>
        </p:nvSpPr>
        <p:spPr>
          <a:xfrm>
            <a:off x="3609075" y="4292528"/>
            <a:ext cx="5613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 m</a:t>
            </a:r>
            <a:endParaRPr sz="1800"/>
          </a:p>
        </p:txBody>
      </p:sp>
      <p:cxnSp>
        <p:nvCxnSpPr>
          <p:cNvPr id="1582" name="Google Shape;1582;p95"/>
          <p:cNvCxnSpPr/>
          <p:nvPr/>
        </p:nvCxnSpPr>
        <p:spPr>
          <a:xfrm>
            <a:off x="1106530" y="4582141"/>
            <a:ext cx="3001800" cy="0"/>
          </a:xfrm>
          <a:prstGeom prst="straightConnector1">
            <a:avLst/>
          </a:prstGeom>
          <a:noFill/>
          <a:ln cap="flat" cmpd="sng" w="28575">
            <a:solidFill>
              <a:schemeClr val="dk1"/>
            </a:solidFill>
            <a:prstDash val="solid"/>
            <a:round/>
            <a:headEnd len="med" w="med" type="triangle"/>
            <a:tailEnd len="med" w="med" type="triangle"/>
          </a:ln>
        </p:spPr>
      </p:cxnSp>
      <p:sp>
        <p:nvSpPr>
          <p:cNvPr id="1583" name="Google Shape;1583;p95"/>
          <p:cNvSpPr txBox="1"/>
          <p:nvPr>
            <p:ph idx="1" type="body"/>
          </p:nvPr>
        </p:nvSpPr>
        <p:spPr>
          <a:xfrm>
            <a:off x="2542275" y="4521128"/>
            <a:ext cx="5613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lang="en-GB" sz="1800"/>
              <a:t> m</a:t>
            </a:r>
            <a:endParaRPr sz="1800"/>
          </a:p>
        </p:txBody>
      </p:sp>
      <p:sp>
        <p:nvSpPr>
          <p:cNvPr id="1584" name="Google Shape;1584;p95"/>
          <p:cNvSpPr/>
          <p:nvPr/>
        </p:nvSpPr>
        <p:spPr>
          <a:xfrm>
            <a:off x="1130796" y="4056437"/>
            <a:ext cx="185100" cy="1851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85" name="Google Shape;1585;p95"/>
          <p:cNvSpPr txBox="1"/>
          <p:nvPr>
            <p:ph idx="1" type="body"/>
          </p:nvPr>
        </p:nvSpPr>
        <p:spPr>
          <a:xfrm>
            <a:off x="324000" y="759300"/>
            <a:ext cx="8237700" cy="11787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Sofia is standing on top of a cliff, 60 m above sea-level. She can see two buoys straight in front of her. The angles of depression of these buoys are 47º and 32º respectively. Sofia wants to estimate how far apart the two buoys are from each other.</a:t>
            </a:r>
            <a:endParaRPr sz="1800"/>
          </a:p>
        </p:txBody>
      </p:sp>
      <p:sp>
        <p:nvSpPr>
          <p:cNvPr id="1586" name="Google Shape;1586;p95"/>
          <p:cNvSpPr txBox="1"/>
          <p:nvPr>
            <p:ph idx="1" type="body"/>
          </p:nvPr>
        </p:nvSpPr>
        <p:spPr>
          <a:xfrm>
            <a:off x="4748983" y="2481350"/>
            <a:ext cx="33342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lang="en-GB" sz="2000">
                <a:latin typeface="Times New Roman"/>
                <a:ea typeface="Times New Roman"/>
                <a:cs typeface="Times New Roman"/>
                <a:sym typeface="Times New Roman"/>
              </a:rPr>
              <a:t> = 61.35 × tan(43°) = 57.21 </a:t>
            </a:r>
            <a:endParaRPr sz="2000">
              <a:latin typeface="Times New Roman"/>
              <a:ea typeface="Times New Roman"/>
              <a:cs typeface="Times New Roman"/>
              <a:sym typeface="Times New Roman"/>
            </a:endParaRPr>
          </a:p>
        </p:txBody>
      </p:sp>
      <p:sp>
        <p:nvSpPr>
          <p:cNvPr id="1587" name="Google Shape;1587;p95"/>
          <p:cNvSpPr txBox="1"/>
          <p:nvPr>
            <p:ph idx="1" type="body"/>
          </p:nvPr>
        </p:nvSpPr>
        <p:spPr>
          <a:xfrm>
            <a:off x="4742625" y="2040450"/>
            <a:ext cx="44484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61.35 × tan((43 + 15)°) = 98.18 </a:t>
            </a:r>
            <a:endParaRPr sz="2000">
              <a:latin typeface="Times New Roman"/>
              <a:ea typeface="Times New Roman"/>
              <a:cs typeface="Times New Roman"/>
              <a:sym typeface="Times New Roman"/>
            </a:endParaRPr>
          </a:p>
        </p:txBody>
      </p:sp>
      <p:sp>
        <p:nvSpPr>
          <p:cNvPr id="1588" name="Google Shape;1588;p95"/>
          <p:cNvSpPr/>
          <p:nvPr/>
        </p:nvSpPr>
        <p:spPr>
          <a:xfrm>
            <a:off x="401164" y="1307772"/>
            <a:ext cx="1428900" cy="1428900"/>
          </a:xfrm>
          <a:prstGeom prst="pie">
            <a:avLst>
              <a:gd fmla="val 1317865" name="adj1"/>
              <a:gd fmla="val 5338963" name="adj2"/>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89" name="Google Shape;1589;p95"/>
          <p:cNvSpPr txBox="1"/>
          <p:nvPr>
            <p:ph idx="1" type="body"/>
          </p:nvPr>
        </p:nvSpPr>
        <p:spPr>
          <a:xfrm>
            <a:off x="1570434" y="259306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58</a:t>
            </a:r>
            <a:r>
              <a:rPr lang="en-GB" sz="1800"/>
              <a:t>°</a:t>
            </a:r>
            <a:endParaRPr sz="1800"/>
          </a:p>
        </p:txBody>
      </p:sp>
      <p:sp>
        <p:nvSpPr>
          <p:cNvPr id="1590" name="Google Shape;1590;p95"/>
          <p:cNvSpPr txBox="1"/>
          <p:nvPr>
            <p:ph idx="1" type="body"/>
          </p:nvPr>
        </p:nvSpPr>
        <p:spPr>
          <a:xfrm>
            <a:off x="3167408" y="4315061"/>
            <a:ext cx="10734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98.18 m</a:t>
            </a:r>
            <a:endParaRPr sz="1800"/>
          </a:p>
        </p:txBody>
      </p:sp>
      <p:sp>
        <p:nvSpPr>
          <p:cNvPr id="1591" name="Google Shape;1591;p95"/>
          <p:cNvSpPr/>
          <p:nvPr/>
        </p:nvSpPr>
        <p:spPr>
          <a:xfrm>
            <a:off x="401164" y="1307772"/>
            <a:ext cx="1428900" cy="1428900"/>
          </a:xfrm>
          <a:prstGeom prst="pie">
            <a:avLst>
              <a:gd fmla="val 2170970" name="adj1"/>
              <a:gd fmla="val 5338963"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92" name="Google Shape;1592;p95"/>
          <p:cNvSpPr txBox="1"/>
          <p:nvPr>
            <p:ph idx="1" type="body"/>
          </p:nvPr>
        </p:nvSpPr>
        <p:spPr>
          <a:xfrm>
            <a:off x="2132825" y="4551056"/>
            <a:ext cx="10734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57.21</a:t>
            </a:r>
            <a:r>
              <a:rPr lang="en-GB" sz="1800"/>
              <a:t> m</a:t>
            </a:r>
            <a:endParaRPr sz="1800"/>
          </a:p>
        </p:txBody>
      </p:sp>
      <p:sp>
        <p:nvSpPr>
          <p:cNvPr id="1593" name="Google Shape;1593;p95"/>
          <p:cNvSpPr/>
          <p:nvPr/>
        </p:nvSpPr>
        <p:spPr>
          <a:xfrm>
            <a:off x="7536525" y="2016100"/>
            <a:ext cx="1101300" cy="367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94" name="Google Shape;1594;p95"/>
          <p:cNvSpPr/>
          <p:nvPr/>
        </p:nvSpPr>
        <p:spPr>
          <a:xfrm>
            <a:off x="6855933" y="2477325"/>
            <a:ext cx="1101300" cy="367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7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57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57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6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58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57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58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8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9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9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6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56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56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58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59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57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58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8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9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9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8" name="Shape 1598"/>
        <p:cNvGrpSpPr/>
        <p:nvPr/>
      </p:nvGrpSpPr>
      <p:grpSpPr>
        <a:xfrm>
          <a:off x="0" y="0"/>
          <a:ext cx="0" cy="0"/>
          <a:chOff x="0" y="0"/>
          <a:chExt cx="0" cy="0"/>
        </a:xfrm>
      </p:grpSpPr>
      <p:sp>
        <p:nvSpPr>
          <p:cNvPr id="1599" name="Google Shape;1599;p96"/>
          <p:cNvSpPr txBox="1"/>
          <p:nvPr>
            <p:ph idx="1" type="body"/>
          </p:nvPr>
        </p:nvSpPr>
        <p:spPr>
          <a:xfrm>
            <a:off x="3167408" y="4315061"/>
            <a:ext cx="10734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98.18 m</a:t>
            </a:r>
            <a:endParaRPr sz="1800"/>
          </a:p>
        </p:txBody>
      </p:sp>
      <p:sp>
        <p:nvSpPr>
          <p:cNvPr id="1600" name="Google Shape;1600;p96"/>
          <p:cNvSpPr txBox="1"/>
          <p:nvPr>
            <p:ph idx="1" type="body"/>
          </p:nvPr>
        </p:nvSpPr>
        <p:spPr>
          <a:xfrm>
            <a:off x="2132825" y="4551056"/>
            <a:ext cx="10734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57.21 m</a:t>
            </a:r>
            <a:endParaRPr sz="1800"/>
          </a:p>
        </p:txBody>
      </p:sp>
      <p:sp>
        <p:nvSpPr>
          <p:cNvPr id="1601" name="Google Shape;1601;p96"/>
          <p:cNvSpPr/>
          <p:nvPr/>
        </p:nvSpPr>
        <p:spPr>
          <a:xfrm>
            <a:off x="1132000" y="2024725"/>
            <a:ext cx="5456700" cy="22197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2" name="Google Shape;1602;p96"/>
          <p:cNvSpPr/>
          <p:nvPr/>
        </p:nvSpPr>
        <p:spPr>
          <a:xfrm>
            <a:off x="401164" y="1307772"/>
            <a:ext cx="1428900" cy="1428900"/>
          </a:xfrm>
          <a:prstGeom prst="pie">
            <a:avLst>
              <a:gd fmla="val 2136563" name="adj1"/>
              <a:gd fmla="val 5338963" name="adj2"/>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3" name="Google Shape;1603;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Practical uses of trigonometry</a:t>
            </a:r>
            <a:endParaRPr/>
          </a:p>
        </p:txBody>
      </p:sp>
      <p:cxnSp>
        <p:nvCxnSpPr>
          <p:cNvPr id="1604" name="Google Shape;1604;p96"/>
          <p:cNvCxnSpPr/>
          <p:nvPr/>
        </p:nvCxnSpPr>
        <p:spPr>
          <a:xfrm>
            <a:off x="1106530" y="4364041"/>
            <a:ext cx="5456700" cy="0"/>
          </a:xfrm>
          <a:prstGeom prst="straightConnector1">
            <a:avLst/>
          </a:prstGeom>
          <a:noFill/>
          <a:ln cap="flat" cmpd="sng" w="28575">
            <a:solidFill>
              <a:schemeClr val="dk1"/>
            </a:solidFill>
            <a:prstDash val="solid"/>
            <a:round/>
            <a:headEnd len="med" w="med" type="triangle"/>
            <a:tailEnd len="med" w="med" type="triangle"/>
          </a:ln>
        </p:spPr>
      </p:cxnSp>
      <p:cxnSp>
        <p:nvCxnSpPr>
          <p:cNvPr id="1605" name="Google Shape;1605;p96"/>
          <p:cNvCxnSpPr/>
          <p:nvPr/>
        </p:nvCxnSpPr>
        <p:spPr>
          <a:xfrm>
            <a:off x="994444" y="2007020"/>
            <a:ext cx="0" cy="2274900"/>
          </a:xfrm>
          <a:prstGeom prst="straightConnector1">
            <a:avLst/>
          </a:prstGeom>
          <a:noFill/>
          <a:ln cap="flat" cmpd="sng" w="28575">
            <a:solidFill>
              <a:schemeClr val="dk1"/>
            </a:solidFill>
            <a:prstDash val="solid"/>
            <a:round/>
            <a:headEnd len="med" w="med" type="triangle"/>
            <a:tailEnd len="med" w="med" type="triangle"/>
          </a:ln>
        </p:spPr>
      </p:cxnSp>
      <p:cxnSp>
        <p:nvCxnSpPr>
          <p:cNvPr id="1606" name="Google Shape;1606;p96"/>
          <p:cNvCxnSpPr/>
          <p:nvPr/>
        </p:nvCxnSpPr>
        <p:spPr>
          <a:xfrm>
            <a:off x="4115425" y="4496075"/>
            <a:ext cx="2471400" cy="0"/>
          </a:xfrm>
          <a:prstGeom prst="straightConnector1">
            <a:avLst/>
          </a:prstGeom>
          <a:noFill/>
          <a:ln cap="flat" cmpd="sng" w="28575">
            <a:solidFill>
              <a:schemeClr val="dk1"/>
            </a:solidFill>
            <a:prstDash val="solid"/>
            <a:round/>
            <a:headEnd len="med" w="med" type="triangle"/>
            <a:tailEnd len="med" w="med" type="triangle"/>
          </a:ln>
        </p:spPr>
      </p:cxnSp>
      <p:sp>
        <p:nvSpPr>
          <p:cNvPr id="1607" name="Google Shape;1607;p96"/>
          <p:cNvSpPr txBox="1"/>
          <p:nvPr>
            <p:ph idx="1" type="body"/>
          </p:nvPr>
        </p:nvSpPr>
        <p:spPr>
          <a:xfrm>
            <a:off x="5133075" y="4492975"/>
            <a:ext cx="5613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d</a:t>
            </a:r>
            <a:r>
              <a:rPr lang="en-GB" sz="1800"/>
              <a:t> m</a:t>
            </a:r>
            <a:endParaRPr sz="1800"/>
          </a:p>
        </p:txBody>
      </p:sp>
      <p:sp>
        <p:nvSpPr>
          <p:cNvPr id="1608" name="Google Shape;1608;p96"/>
          <p:cNvSpPr txBox="1"/>
          <p:nvPr>
            <p:ph idx="1" type="body"/>
          </p:nvPr>
        </p:nvSpPr>
        <p:spPr>
          <a:xfrm>
            <a:off x="1868084" y="238761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15°</a:t>
            </a:r>
            <a:endParaRPr sz="1800"/>
          </a:p>
        </p:txBody>
      </p:sp>
      <p:sp>
        <p:nvSpPr>
          <p:cNvPr id="1609" name="Google Shape;1609;p96"/>
          <p:cNvSpPr/>
          <p:nvPr/>
        </p:nvSpPr>
        <p:spPr>
          <a:xfrm>
            <a:off x="1132000" y="2019500"/>
            <a:ext cx="2983500" cy="22197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0" name="Google Shape;1610;p96"/>
          <p:cNvSpPr txBox="1"/>
          <p:nvPr>
            <p:ph idx="1" type="body"/>
          </p:nvPr>
        </p:nvSpPr>
        <p:spPr>
          <a:xfrm>
            <a:off x="353900" y="3024925"/>
            <a:ext cx="7563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61.35 m</a:t>
            </a:r>
            <a:endParaRPr sz="1800"/>
          </a:p>
        </p:txBody>
      </p:sp>
      <p:sp>
        <p:nvSpPr>
          <p:cNvPr id="1611" name="Google Shape;1611;p96"/>
          <p:cNvSpPr txBox="1"/>
          <p:nvPr>
            <p:ph idx="1" type="body"/>
          </p:nvPr>
        </p:nvSpPr>
        <p:spPr>
          <a:xfrm>
            <a:off x="1415524" y="2655817"/>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43°</a:t>
            </a:r>
            <a:endParaRPr sz="1800"/>
          </a:p>
        </p:txBody>
      </p:sp>
      <p:grpSp>
        <p:nvGrpSpPr>
          <p:cNvPr id="1612" name="Google Shape;1612;p96"/>
          <p:cNvGrpSpPr/>
          <p:nvPr/>
        </p:nvGrpSpPr>
        <p:grpSpPr>
          <a:xfrm>
            <a:off x="6513257" y="4182025"/>
            <a:ext cx="99900" cy="99900"/>
            <a:chOff x="2567200" y="1078675"/>
            <a:chExt cx="99900" cy="99900"/>
          </a:xfrm>
        </p:grpSpPr>
        <p:cxnSp>
          <p:nvCxnSpPr>
            <p:cNvPr id="1613" name="Google Shape;1613;p96"/>
            <p:cNvCxnSpPr/>
            <p:nvPr/>
          </p:nvCxnSpPr>
          <p:spPr>
            <a:xfrm>
              <a:off x="2567200" y="1078675"/>
              <a:ext cx="99900" cy="99900"/>
            </a:xfrm>
            <a:prstGeom prst="straightConnector1">
              <a:avLst/>
            </a:prstGeom>
            <a:noFill/>
            <a:ln cap="flat" cmpd="sng" w="38100">
              <a:solidFill>
                <a:schemeClr val="accent6"/>
              </a:solidFill>
              <a:prstDash val="solid"/>
              <a:round/>
              <a:headEnd len="med" w="med" type="none"/>
              <a:tailEnd len="med" w="med" type="none"/>
            </a:ln>
          </p:spPr>
        </p:cxnSp>
        <p:cxnSp>
          <p:nvCxnSpPr>
            <p:cNvPr id="1614" name="Google Shape;1614;p96"/>
            <p:cNvCxnSpPr/>
            <p:nvPr/>
          </p:nvCxnSpPr>
          <p:spPr>
            <a:xfrm rot="5400000">
              <a:off x="2567200" y="1078675"/>
              <a:ext cx="99900" cy="99900"/>
            </a:xfrm>
            <a:prstGeom prst="straightConnector1">
              <a:avLst/>
            </a:prstGeom>
            <a:noFill/>
            <a:ln cap="flat" cmpd="sng" w="38100">
              <a:solidFill>
                <a:schemeClr val="accent6"/>
              </a:solidFill>
              <a:prstDash val="solid"/>
              <a:round/>
              <a:headEnd len="med" w="med" type="none"/>
              <a:tailEnd len="med" w="med" type="none"/>
            </a:ln>
          </p:spPr>
        </p:cxnSp>
      </p:grpSp>
      <p:grpSp>
        <p:nvGrpSpPr>
          <p:cNvPr id="1615" name="Google Shape;1615;p96"/>
          <p:cNvGrpSpPr/>
          <p:nvPr/>
        </p:nvGrpSpPr>
        <p:grpSpPr>
          <a:xfrm>
            <a:off x="4056850" y="4182025"/>
            <a:ext cx="99900" cy="99900"/>
            <a:chOff x="2567200" y="1078675"/>
            <a:chExt cx="99900" cy="99900"/>
          </a:xfrm>
        </p:grpSpPr>
        <p:cxnSp>
          <p:nvCxnSpPr>
            <p:cNvPr id="1616" name="Google Shape;1616;p96"/>
            <p:cNvCxnSpPr/>
            <p:nvPr/>
          </p:nvCxnSpPr>
          <p:spPr>
            <a:xfrm>
              <a:off x="2567200" y="1078675"/>
              <a:ext cx="99900" cy="99900"/>
            </a:xfrm>
            <a:prstGeom prst="straightConnector1">
              <a:avLst/>
            </a:prstGeom>
            <a:noFill/>
            <a:ln cap="flat" cmpd="sng" w="38100">
              <a:solidFill>
                <a:schemeClr val="accent6"/>
              </a:solidFill>
              <a:prstDash val="solid"/>
              <a:round/>
              <a:headEnd len="med" w="med" type="none"/>
              <a:tailEnd len="med" w="med" type="none"/>
            </a:ln>
          </p:spPr>
        </p:cxnSp>
        <p:cxnSp>
          <p:nvCxnSpPr>
            <p:cNvPr id="1617" name="Google Shape;1617;p96"/>
            <p:cNvCxnSpPr/>
            <p:nvPr/>
          </p:nvCxnSpPr>
          <p:spPr>
            <a:xfrm rot="5400000">
              <a:off x="2567200" y="1078675"/>
              <a:ext cx="99900" cy="99900"/>
            </a:xfrm>
            <a:prstGeom prst="straightConnector1">
              <a:avLst/>
            </a:prstGeom>
            <a:noFill/>
            <a:ln cap="flat" cmpd="sng" w="38100">
              <a:solidFill>
                <a:schemeClr val="accent6"/>
              </a:solidFill>
              <a:prstDash val="solid"/>
              <a:round/>
              <a:headEnd len="med" w="med" type="none"/>
              <a:tailEnd len="med" w="med" type="none"/>
            </a:ln>
          </p:spPr>
        </p:cxnSp>
      </p:grpSp>
      <p:cxnSp>
        <p:nvCxnSpPr>
          <p:cNvPr id="1618" name="Google Shape;1618;p96"/>
          <p:cNvCxnSpPr/>
          <p:nvPr/>
        </p:nvCxnSpPr>
        <p:spPr>
          <a:xfrm>
            <a:off x="1106530" y="4582141"/>
            <a:ext cx="3001800" cy="0"/>
          </a:xfrm>
          <a:prstGeom prst="straightConnector1">
            <a:avLst/>
          </a:prstGeom>
          <a:noFill/>
          <a:ln cap="flat" cmpd="sng" w="28575">
            <a:solidFill>
              <a:schemeClr val="dk1"/>
            </a:solidFill>
            <a:prstDash val="solid"/>
            <a:round/>
            <a:headEnd len="med" w="med" type="triangle"/>
            <a:tailEnd len="med" w="med" type="triangle"/>
          </a:ln>
        </p:spPr>
      </p:cxnSp>
      <p:sp>
        <p:nvSpPr>
          <p:cNvPr id="1619" name="Google Shape;1619;p96"/>
          <p:cNvSpPr/>
          <p:nvPr/>
        </p:nvSpPr>
        <p:spPr>
          <a:xfrm>
            <a:off x="1130796" y="4056437"/>
            <a:ext cx="185100" cy="1851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20" name="Google Shape;1620;p96"/>
          <p:cNvSpPr txBox="1"/>
          <p:nvPr>
            <p:ph idx="1" type="body"/>
          </p:nvPr>
        </p:nvSpPr>
        <p:spPr>
          <a:xfrm>
            <a:off x="324000" y="759300"/>
            <a:ext cx="8237700" cy="11787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Sofia is standing on top of a cliff, 60 m above sea-level. She can see two buoys straight in front of her. The angles of depression of these buoys are 47º and 32º respectively. Sofia wants to estimate how far apart the two buoys are from each other.</a:t>
            </a:r>
            <a:endParaRPr sz="1800"/>
          </a:p>
        </p:txBody>
      </p:sp>
      <p:sp>
        <p:nvSpPr>
          <p:cNvPr id="1621" name="Google Shape;1621;p96"/>
          <p:cNvSpPr txBox="1"/>
          <p:nvPr>
            <p:ph idx="1" type="body"/>
          </p:nvPr>
        </p:nvSpPr>
        <p:spPr>
          <a:xfrm>
            <a:off x="4748983" y="2481350"/>
            <a:ext cx="33342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a:t>
            </a:r>
            <a:r>
              <a:rPr lang="en-GB" sz="2000">
                <a:latin typeface="Times New Roman"/>
                <a:ea typeface="Times New Roman"/>
                <a:cs typeface="Times New Roman"/>
                <a:sym typeface="Times New Roman"/>
              </a:rPr>
              <a:t> = 61.35 × tan(43°) = 57.21 </a:t>
            </a:r>
            <a:endParaRPr sz="2000">
              <a:latin typeface="Times New Roman"/>
              <a:ea typeface="Times New Roman"/>
              <a:cs typeface="Times New Roman"/>
              <a:sym typeface="Times New Roman"/>
            </a:endParaRPr>
          </a:p>
        </p:txBody>
      </p:sp>
      <p:sp>
        <p:nvSpPr>
          <p:cNvPr id="1622" name="Google Shape;1622;p96"/>
          <p:cNvSpPr txBox="1"/>
          <p:nvPr>
            <p:ph idx="1" type="body"/>
          </p:nvPr>
        </p:nvSpPr>
        <p:spPr>
          <a:xfrm>
            <a:off x="4742625" y="2040450"/>
            <a:ext cx="44484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61.35 × tan((43 + 15)°) = 98.18 </a:t>
            </a:r>
            <a:endParaRPr sz="2000">
              <a:latin typeface="Times New Roman"/>
              <a:ea typeface="Times New Roman"/>
              <a:cs typeface="Times New Roman"/>
              <a:sym typeface="Times New Roman"/>
            </a:endParaRPr>
          </a:p>
        </p:txBody>
      </p:sp>
      <p:sp>
        <p:nvSpPr>
          <p:cNvPr id="1623" name="Google Shape;1623;p96"/>
          <p:cNvSpPr txBox="1"/>
          <p:nvPr>
            <p:ph idx="1" type="body"/>
          </p:nvPr>
        </p:nvSpPr>
        <p:spPr>
          <a:xfrm>
            <a:off x="4722525" y="2938550"/>
            <a:ext cx="4448400" cy="23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d</a:t>
            </a:r>
            <a:r>
              <a:rPr lang="en-GB" sz="2000">
                <a:latin typeface="Times New Roman"/>
                <a:ea typeface="Times New Roman"/>
                <a:cs typeface="Times New Roman"/>
                <a:sym typeface="Times New Roman"/>
              </a:rPr>
              <a:t> = </a:t>
            </a: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a:t>
            </a:r>
            <a:r>
              <a:rPr i="1" lang="en-GB" sz="2000">
                <a:latin typeface="Times New Roman"/>
                <a:ea typeface="Times New Roman"/>
                <a:cs typeface="Times New Roman"/>
                <a:sym typeface="Times New Roman"/>
              </a:rPr>
              <a:t>y</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98.18 - 57.21 = 40.97 </a:t>
            </a:r>
            <a:endParaRPr sz="2000">
              <a:latin typeface="Times New Roman"/>
              <a:ea typeface="Times New Roman"/>
              <a:cs typeface="Times New Roman"/>
              <a:sym typeface="Times New Roman"/>
            </a:endParaRPr>
          </a:p>
        </p:txBody>
      </p:sp>
      <p:sp>
        <p:nvSpPr>
          <p:cNvPr id="1624" name="Google Shape;1624;p96"/>
          <p:cNvSpPr/>
          <p:nvPr/>
        </p:nvSpPr>
        <p:spPr>
          <a:xfrm>
            <a:off x="7247158" y="2922250"/>
            <a:ext cx="1101300" cy="367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25" name="Google Shape;1625;p96"/>
          <p:cNvSpPr txBox="1"/>
          <p:nvPr>
            <p:ph idx="1" type="body"/>
          </p:nvPr>
        </p:nvSpPr>
        <p:spPr>
          <a:xfrm>
            <a:off x="4682356" y="4519644"/>
            <a:ext cx="10734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40.97</a:t>
            </a:r>
            <a:r>
              <a:rPr lang="en-GB" sz="1800"/>
              <a:t> m</a:t>
            </a:r>
            <a:endParaRPr sz="1800"/>
          </a:p>
        </p:txBody>
      </p:sp>
      <p:sp>
        <p:nvSpPr>
          <p:cNvPr id="1626" name="Google Shape;1626;p96"/>
          <p:cNvSpPr txBox="1"/>
          <p:nvPr/>
        </p:nvSpPr>
        <p:spPr>
          <a:xfrm>
            <a:off x="5525550" y="3448050"/>
            <a:ext cx="3562500" cy="18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The buoys are 40.97 m apart.  </a:t>
            </a:r>
            <a:endParaRPr sz="1800">
              <a:solidFill>
                <a:srgbClr val="000000"/>
              </a:solidFill>
              <a:latin typeface="Lexend"/>
              <a:ea typeface="Lexend"/>
              <a:cs typeface="Lexend"/>
              <a:sym typeface="Lexend"/>
            </a:endParaRPr>
          </a:p>
        </p:txBody>
      </p:sp>
      <p:sp>
        <p:nvSpPr>
          <p:cNvPr id="1627" name="Google Shape;1627;p96"/>
          <p:cNvSpPr/>
          <p:nvPr/>
        </p:nvSpPr>
        <p:spPr>
          <a:xfrm>
            <a:off x="553573" y="1444635"/>
            <a:ext cx="1178700" cy="1178700"/>
          </a:xfrm>
          <a:prstGeom prst="pie">
            <a:avLst>
              <a:gd fmla="val 1317865" name="adj1"/>
              <a:gd fmla="val 2136563" name="adj2"/>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2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62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0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1" name="Shape 1631"/>
        <p:cNvGrpSpPr/>
        <p:nvPr/>
      </p:nvGrpSpPr>
      <p:grpSpPr>
        <a:xfrm>
          <a:off x="0" y="0"/>
          <a:ext cx="0" cy="0"/>
          <a:chOff x="0" y="0"/>
          <a:chExt cx="0" cy="0"/>
        </a:xfrm>
      </p:grpSpPr>
      <p:sp>
        <p:nvSpPr>
          <p:cNvPr id="1632" name="Google Shape;1632;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1633" name="Google Shape;1633;p97"/>
          <p:cNvSpPr/>
          <p:nvPr/>
        </p:nvSpPr>
        <p:spPr>
          <a:xfrm>
            <a:off x="114623" y="222659"/>
            <a:ext cx="1899000" cy="1899000"/>
          </a:xfrm>
          <a:prstGeom prst="pie">
            <a:avLst>
              <a:gd fmla="val 1521025" name="adj1"/>
              <a:gd fmla="val 2332359" name="adj2"/>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34" name="Google Shape;1634;p97"/>
          <p:cNvSpPr/>
          <p:nvPr/>
        </p:nvSpPr>
        <p:spPr>
          <a:xfrm>
            <a:off x="1050400" y="3631350"/>
            <a:ext cx="6468766" cy="245059"/>
          </a:xfrm>
          <a:custGeom>
            <a:rect b="b" l="l" r="r" t="t"/>
            <a:pathLst>
              <a:path extrusionOk="0" h="11418" w="251654">
                <a:moveTo>
                  <a:pt x="251654" y="6684"/>
                </a:moveTo>
                <a:cubicBezTo>
                  <a:pt x="247489" y="6393"/>
                  <a:pt x="236204" y="4456"/>
                  <a:pt x="226663" y="4940"/>
                </a:cubicBezTo>
                <a:cubicBezTo>
                  <a:pt x="217122" y="5424"/>
                  <a:pt x="202641" y="9348"/>
                  <a:pt x="194407" y="9590"/>
                </a:cubicBezTo>
                <a:cubicBezTo>
                  <a:pt x="186174" y="9832"/>
                  <a:pt x="185253" y="6248"/>
                  <a:pt x="177262" y="6393"/>
                </a:cubicBezTo>
                <a:cubicBezTo>
                  <a:pt x="169271" y="6538"/>
                  <a:pt x="154693" y="10365"/>
                  <a:pt x="146459" y="10462"/>
                </a:cubicBezTo>
                <a:cubicBezTo>
                  <a:pt x="138226" y="10559"/>
                  <a:pt x="135562" y="6830"/>
                  <a:pt x="127861" y="6975"/>
                </a:cubicBezTo>
                <a:cubicBezTo>
                  <a:pt x="120160" y="7120"/>
                  <a:pt x="110813" y="11672"/>
                  <a:pt x="100255" y="11333"/>
                </a:cubicBezTo>
                <a:cubicBezTo>
                  <a:pt x="89697" y="10994"/>
                  <a:pt x="77395" y="5182"/>
                  <a:pt x="64512" y="4940"/>
                </a:cubicBezTo>
                <a:cubicBezTo>
                  <a:pt x="51629" y="4698"/>
                  <a:pt x="32886" y="9977"/>
                  <a:pt x="22957" y="9880"/>
                </a:cubicBezTo>
                <a:cubicBezTo>
                  <a:pt x="13028" y="9783"/>
                  <a:pt x="8766" y="6006"/>
                  <a:pt x="4940" y="4359"/>
                </a:cubicBezTo>
                <a:cubicBezTo>
                  <a:pt x="1114" y="2712"/>
                  <a:pt x="823" y="727"/>
                  <a:pt x="0" y="0"/>
                </a:cubicBezTo>
              </a:path>
            </a:pathLst>
          </a:custGeom>
          <a:noFill/>
          <a:ln cap="flat" cmpd="sng" w="28575">
            <a:solidFill>
              <a:srgbClr val="000000"/>
            </a:solidFill>
            <a:prstDash val="solid"/>
            <a:round/>
            <a:headEnd len="med" w="med" type="none"/>
            <a:tailEnd len="med" w="med" type="none"/>
          </a:ln>
        </p:spPr>
      </p:sp>
      <p:sp>
        <p:nvSpPr>
          <p:cNvPr id="1635" name="Google Shape;1635;p97"/>
          <p:cNvSpPr/>
          <p:nvPr/>
        </p:nvSpPr>
        <p:spPr>
          <a:xfrm>
            <a:off x="551500" y="2116975"/>
            <a:ext cx="498900" cy="2151300"/>
          </a:xfrm>
          <a:prstGeom prst="rect">
            <a:avLst/>
          </a:prstGeom>
          <a:solidFill>
            <a:srgbClr val="988672"/>
          </a:solidFill>
          <a:ln cap="flat" cmpd="sng" w="9525">
            <a:solidFill>
              <a:srgbClr val="9886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36" name="Google Shape;1636;p97"/>
          <p:cNvCxnSpPr/>
          <p:nvPr/>
        </p:nvCxnSpPr>
        <p:spPr>
          <a:xfrm>
            <a:off x="1106530" y="3715827"/>
            <a:ext cx="5456700" cy="0"/>
          </a:xfrm>
          <a:prstGeom prst="straightConnector1">
            <a:avLst/>
          </a:prstGeom>
          <a:noFill/>
          <a:ln cap="flat" cmpd="sng" w="28575">
            <a:solidFill>
              <a:srgbClr val="595959"/>
            </a:solidFill>
            <a:prstDash val="solid"/>
            <a:round/>
            <a:headEnd len="med" w="med" type="triangle"/>
            <a:tailEnd len="med" w="med" type="triangle"/>
          </a:ln>
        </p:spPr>
      </p:cxnSp>
      <p:cxnSp>
        <p:nvCxnSpPr>
          <p:cNvPr id="1637" name="Google Shape;1637;p97"/>
          <p:cNvCxnSpPr/>
          <p:nvPr/>
        </p:nvCxnSpPr>
        <p:spPr>
          <a:xfrm>
            <a:off x="1146850" y="1205375"/>
            <a:ext cx="0" cy="2543100"/>
          </a:xfrm>
          <a:prstGeom prst="straightConnector1">
            <a:avLst/>
          </a:prstGeom>
          <a:noFill/>
          <a:ln cap="flat" cmpd="sng" w="28575">
            <a:solidFill>
              <a:srgbClr val="595959"/>
            </a:solidFill>
            <a:prstDash val="solid"/>
            <a:round/>
            <a:headEnd len="med" w="med" type="triangle"/>
            <a:tailEnd len="med" w="med" type="triangle"/>
          </a:ln>
        </p:spPr>
      </p:cxnSp>
      <p:grpSp>
        <p:nvGrpSpPr>
          <p:cNvPr id="1638" name="Google Shape;1638;p97"/>
          <p:cNvGrpSpPr/>
          <p:nvPr/>
        </p:nvGrpSpPr>
        <p:grpSpPr>
          <a:xfrm>
            <a:off x="6497750" y="3497710"/>
            <a:ext cx="295851" cy="363916"/>
            <a:chOff x="6421550" y="4031110"/>
            <a:chExt cx="295851" cy="363916"/>
          </a:xfrm>
        </p:grpSpPr>
        <p:sp>
          <p:nvSpPr>
            <p:cNvPr id="1639" name="Google Shape;1639;p97"/>
            <p:cNvSpPr/>
            <p:nvPr/>
          </p:nvSpPr>
          <p:spPr>
            <a:xfrm rot="6188593">
              <a:off x="6450221" y="4127847"/>
              <a:ext cx="242759" cy="242759"/>
            </a:xfrm>
            <a:prstGeom prst="chord">
              <a:avLst>
                <a:gd fmla="val 2700000" name="adj1"/>
                <a:gd fmla="val 16200000" name="adj2"/>
              </a:avLst>
            </a:prstGeom>
            <a:solidFill>
              <a:srgbClr val="CC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0" name="Google Shape;1640;p97"/>
            <p:cNvSpPr/>
            <p:nvPr/>
          </p:nvSpPr>
          <p:spPr>
            <a:xfrm flipH="1" rot="10800000">
              <a:off x="6421550" y="4122793"/>
              <a:ext cx="291600" cy="136500"/>
            </a:xfrm>
            <a:prstGeom prst="arc">
              <a:avLst>
                <a:gd fmla="val 12210667" name="adj1"/>
                <a:gd fmla="val 20383269" name="adj2"/>
              </a:avLst>
            </a:prstGeom>
            <a:noFill/>
            <a:ln cap="flat" cmpd="sng" w="1905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1" name="Google Shape;1641;p97"/>
            <p:cNvSpPr/>
            <p:nvPr/>
          </p:nvSpPr>
          <p:spPr>
            <a:xfrm rot="-205273">
              <a:off x="6528019" y="4032673"/>
              <a:ext cx="55299" cy="92875"/>
            </a:xfrm>
            <a:prstGeom prst="rect">
              <a:avLst/>
            </a:prstGeom>
            <a:solidFill>
              <a:srgbClr val="CC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642" name="Google Shape;1642;p97"/>
          <p:cNvCxnSpPr>
            <a:endCxn id="1643" idx="1"/>
          </p:cNvCxnSpPr>
          <p:nvPr/>
        </p:nvCxnSpPr>
        <p:spPr>
          <a:xfrm>
            <a:off x="1049450" y="1168590"/>
            <a:ext cx="3079500" cy="2537100"/>
          </a:xfrm>
          <a:prstGeom prst="straightConnector1">
            <a:avLst/>
          </a:prstGeom>
          <a:noFill/>
          <a:ln cap="flat" cmpd="sng" w="38100">
            <a:solidFill>
              <a:srgbClr val="7E5CD2"/>
            </a:solidFill>
            <a:prstDash val="dash"/>
            <a:round/>
            <a:headEnd len="med" w="med" type="none"/>
            <a:tailEnd len="med" w="med" type="none"/>
          </a:ln>
        </p:spPr>
      </p:cxnSp>
      <p:grpSp>
        <p:nvGrpSpPr>
          <p:cNvPr id="1644" name="Google Shape;1644;p97"/>
          <p:cNvGrpSpPr/>
          <p:nvPr/>
        </p:nvGrpSpPr>
        <p:grpSpPr>
          <a:xfrm>
            <a:off x="3983150" y="3545757"/>
            <a:ext cx="295851" cy="363916"/>
            <a:chOff x="6421550" y="4031110"/>
            <a:chExt cx="295851" cy="363916"/>
          </a:xfrm>
        </p:grpSpPr>
        <p:sp>
          <p:nvSpPr>
            <p:cNvPr id="1645" name="Google Shape;1645;p97"/>
            <p:cNvSpPr/>
            <p:nvPr/>
          </p:nvSpPr>
          <p:spPr>
            <a:xfrm rot="6188593">
              <a:off x="6450221" y="4127847"/>
              <a:ext cx="242759" cy="242759"/>
            </a:xfrm>
            <a:prstGeom prst="chord">
              <a:avLst>
                <a:gd fmla="val 2700000" name="adj1"/>
                <a:gd fmla="val 16200000" name="adj2"/>
              </a:avLst>
            </a:prstGeom>
            <a:solidFill>
              <a:srgbClr val="CC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3" name="Google Shape;1643;p97"/>
            <p:cNvSpPr/>
            <p:nvPr/>
          </p:nvSpPr>
          <p:spPr>
            <a:xfrm flipH="1" rot="10800000">
              <a:off x="6421550" y="4122793"/>
              <a:ext cx="291600" cy="136500"/>
            </a:xfrm>
            <a:prstGeom prst="arc">
              <a:avLst>
                <a:gd fmla="val 12210667" name="adj1"/>
                <a:gd fmla="val 20383269" name="adj2"/>
              </a:avLst>
            </a:prstGeom>
            <a:noFill/>
            <a:ln cap="flat" cmpd="sng" w="1905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6" name="Google Shape;1646;p97"/>
            <p:cNvSpPr/>
            <p:nvPr/>
          </p:nvSpPr>
          <p:spPr>
            <a:xfrm rot="-205273">
              <a:off x="6528019" y="4032673"/>
              <a:ext cx="55299" cy="92875"/>
            </a:xfrm>
            <a:prstGeom prst="rect">
              <a:avLst/>
            </a:prstGeom>
            <a:solidFill>
              <a:srgbClr val="CC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647" name="Google Shape;1647;p97"/>
          <p:cNvSpPr txBox="1"/>
          <p:nvPr>
            <p:ph idx="1" type="body"/>
          </p:nvPr>
        </p:nvSpPr>
        <p:spPr>
          <a:xfrm>
            <a:off x="1680269" y="1176627"/>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32°</a:t>
            </a:r>
            <a:endParaRPr sz="1800"/>
          </a:p>
        </p:txBody>
      </p:sp>
      <p:sp>
        <p:nvSpPr>
          <p:cNvPr id="1648" name="Google Shape;1648;p97"/>
          <p:cNvSpPr txBox="1"/>
          <p:nvPr>
            <p:ph idx="1" type="body"/>
          </p:nvPr>
        </p:nvSpPr>
        <p:spPr>
          <a:xfrm>
            <a:off x="2003859" y="166162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a:t>
            </a:r>
            <a:r>
              <a:rPr lang="en-GB" sz="1800"/>
              <a:t>°</a:t>
            </a:r>
            <a:endParaRPr sz="1800"/>
          </a:p>
        </p:txBody>
      </p:sp>
      <p:pic>
        <p:nvPicPr>
          <p:cNvPr id="1649" name="Google Shape;1649;p97"/>
          <p:cNvPicPr preferRelativeResize="0"/>
          <p:nvPr/>
        </p:nvPicPr>
        <p:blipFill>
          <a:blip r:embed="rId3">
            <a:alphaModFix/>
          </a:blip>
          <a:stretch>
            <a:fillRect/>
          </a:stretch>
        </p:blipFill>
        <p:spPr>
          <a:xfrm>
            <a:off x="754546" y="1025198"/>
            <a:ext cx="295850" cy="1091768"/>
          </a:xfrm>
          <a:prstGeom prst="rect">
            <a:avLst/>
          </a:prstGeom>
          <a:noFill/>
          <a:ln>
            <a:noFill/>
          </a:ln>
        </p:spPr>
      </p:pic>
      <p:sp>
        <p:nvSpPr>
          <p:cNvPr id="1650" name="Google Shape;1650;p97"/>
          <p:cNvSpPr txBox="1"/>
          <p:nvPr/>
        </p:nvSpPr>
        <p:spPr>
          <a:xfrm>
            <a:off x="3883925" y="762000"/>
            <a:ext cx="4936200" cy="123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Sam is stood on top of a cliff, 60 m above sea-level. They can see two buoys straight in front of them. The angles of depression of these buoys are 46º and 32</a:t>
            </a:r>
            <a:r>
              <a:rPr lang="en-GB" sz="1800">
                <a:solidFill>
                  <a:schemeClr val="dk1"/>
                </a:solidFill>
                <a:latin typeface="Lexend"/>
                <a:ea typeface="Lexend"/>
                <a:cs typeface="Lexend"/>
                <a:sym typeface="Lexend"/>
              </a:rPr>
              <a:t>º </a:t>
            </a:r>
            <a:r>
              <a:rPr lang="en-GB" sz="1800">
                <a:solidFill>
                  <a:schemeClr val="dk1"/>
                </a:solidFill>
                <a:latin typeface="Lexend"/>
                <a:ea typeface="Lexend"/>
                <a:cs typeface="Lexend"/>
                <a:sym typeface="Lexend"/>
              </a:rPr>
              <a:t>respectively. </a:t>
            </a:r>
            <a:endParaRPr/>
          </a:p>
        </p:txBody>
      </p:sp>
      <p:sp>
        <p:nvSpPr>
          <p:cNvPr id="1651" name="Google Shape;1651;p97"/>
          <p:cNvSpPr txBox="1"/>
          <p:nvPr/>
        </p:nvSpPr>
        <p:spPr>
          <a:xfrm>
            <a:off x="1684800" y="4174875"/>
            <a:ext cx="47046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What is the size of </a:t>
            </a:r>
            <a:r>
              <a:rPr i="1" lang="en-GB" sz="2000">
                <a:solidFill>
                  <a:schemeClr val="dk1"/>
                </a:solidFill>
                <a:latin typeface="Times New Roman"/>
                <a:ea typeface="Times New Roman"/>
                <a:cs typeface="Times New Roman"/>
                <a:sym typeface="Times New Roman"/>
              </a:rPr>
              <a:t>x</a:t>
            </a:r>
            <a:r>
              <a:rPr lang="en-GB" sz="2000">
                <a:solidFill>
                  <a:schemeClr val="dk1"/>
                </a:solidFill>
                <a:latin typeface="Lexend"/>
                <a:ea typeface="Lexend"/>
                <a:cs typeface="Lexend"/>
                <a:sym typeface="Lexend"/>
              </a:rPr>
              <a:t>?</a:t>
            </a:r>
            <a:endParaRPr sz="1600">
              <a:latin typeface="Lexend"/>
              <a:ea typeface="Lexend"/>
              <a:cs typeface="Lexend"/>
              <a:sym typeface="Lexend"/>
            </a:endParaRPr>
          </a:p>
        </p:txBody>
      </p:sp>
      <p:sp>
        <p:nvSpPr>
          <p:cNvPr id="1652" name="Google Shape;1652;p97"/>
          <p:cNvSpPr txBox="1"/>
          <p:nvPr/>
        </p:nvSpPr>
        <p:spPr>
          <a:xfrm>
            <a:off x="4489575" y="4174875"/>
            <a:ext cx="19695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Kalam"/>
                <a:ea typeface="Kalam"/>
                <a:cs typeface="Kalam"/>
                <a:sym typeface="Kalam"/>
              </a:rPr>
              <a:t>46 - 32 = 14</a:t>
            </a:r>
            <a:endParaRPr sz="1600">
              <a:latin typeface="Kalam"/>
              <a:ea typeface="Kalam"/>
              <a:cs typeface="Kalam"/>
              <a:sym typeface="Kalam"/>
            </a:endParaRPr>
          </a:p>
        </p:txBody>
      </p:sp>
      <p:sp>
        <p:nvSpPr>
          <p:cNvPr id="1653" name="Google Shape;1653;p97"/>
          <p:cNvSpPr txBox="1"/>
          <p:nvPr>
            <p:ph idx="1" type="body"/>
          </p:nvPr>
        </p:nvSpPr>
        <p:spPr>
          <a:xfrm>
            <a:off x="1903474" y="1668187"/>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14</a:t>
            </a:r>
            <a:r>
              <a:rPr lang="en-GB" sz="1800"/>
              <a:t>°</a:t>
            </a:r>
            <a:endParaRPr sz="1800"/>
          </a:p>
        </p:txBody>
      </p:sp>
      <p:sp>
        <p:nvSpPr>
          <p:cNvPr id="1654" name="Google Shape;1654;p97"/>
          <p:cNvSpPr/>
          <p:nvPr/>
        </p:nvSpPr>
        <p:spPr>
          <a:xfrm>
            <a:off x="570326" y="679854"/>
            <a:ext cx="993300" cy="993300"/>
          </a:xfrm>
          <a:prstGeom prst="pie">
            <a:avLst>
              <a:gd fmla="val 12145" name="adj1"/>
              <a:gd fmla="val 1481365" name="adj2"/>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55" name="Google Shape;1655;p97"/>
          <p:cNvCxnSpPr/>
          <p:nvPr/>
        </p:nvCxnSpPr>
        <p:spPr>
          <a:xfrm>
            <a:off x="1066136" y="1176070"/>
            <a:ext cx="2580600" cy="0"/>
          </a:xfrm>
          <a:prstGeom prst="straightConnector1">
            <a:avLst/>
          </a:prstGeom>
          <a:noFill/>
          <a:ln cap="flat" cmpd="sng" w="28575">
            <a:solidFill>
              <a:srgbClr val="595959"/>
            </a:solidFill>
            <a:prstDash val="dot"/>
            <a:round/>
            <a:headEnd len="med" w="med" type="none"/>
            <a:tailEnd len="med" w="med" type="none"/>
          </a:ln>
        </p:spPr>
      </p:cxnSp>
      <p:cxnSp>
        <p:nvCxnSpPr>
          <p:cNvPr id="1656" name="Google Shape;1656;p97"/>
          <p:cNvCxnSpPr/>
          <p:nvPr/>
        </p:nvCxnSpPr>
        <p:spPr>
          <a:xfrm>
            <a:off x="1076500" y="1188925"/>
            <a:ext cx="5476200" cy="2508900"/>
          </a:xfrm>
          <a:prstGeom prst="straightConnector1">
            <a:avLst/>
          </a:prstGeom>
          <a:noFill/>
          <a:ln cap="flat" cmpd="sng" w="38100">
            <a:solidFill>
              <a:srgbClr val="7E5CD2"/>
            </a:solidFill>
            <a:prstDash val="dash"/>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4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0" name="Shape 1660"/>
        <p:cNvGrpSpPr/>
        <p:nvPr/>
      </p:nvGrpSpPr>
      <p:grpSpPr>
        <a:xfrm>
          <a:off x="0" y="0"/>
          <a:ext cx="0" cy="0"/>
          <a:chOff x="0" y="0"/>
          <a:chExt cx="0" cy="0"/>
        </a:xfrm>
      </p:grpSpPr>
      <p:sp>
        <p:nvSpPr>
          <p:cNvPr id="1661" name="Google Shape;1661;p98"/>
          <p:cNvSpPr/>
          <p:nvPr/>
        </p:nvSpPr>
        <p:spPr>
          <a:xfrm>
            <a:off x="265526" y="375054"/>
            <a:ext cx="993300" cy="993300"/>
          </a:xfrm>
          <a:prstGeom prst="pie">
            <a:avLst>
              <a:gd fmla="val 12145" name="adj1"/>
              <a:gd fmla="val 1481365" name="adj2"/>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62" name="Google Shape;1662;p98"/>
          <p:cNvSpPr/>
          <p:nvPr/>
        </p:nvSpPr>
        <p:spPr>
          <a:xfrm>
            <a:off x="-190177" y="-82141"/>
            <a:ext cx="1899000" cy="1899000"/>
          </a:xfrm>
          <a:prstGeom prst="pie">
            <a:avLst>
              <a:gd fmla="val 1521025" name="adj1"/>
              <a:gd fmla="val 2332359" name="adj2"/>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63" name="Google Shape;1663;p98"/>
          <p:cNvSpPr/>
          <p:nvPr/>
        </p:nvSpPr>
        <p:spPr>
          <a:xfrm>
            <a:off x="6295525" y="3192800"/>
            <a:ext cx="2524500" cy="1038900"/>
          </a:xfrm>
          <a:prstGeom prst="rect">
            <a:avLst/>
          </a:prstGeom>
          <a:solidFill>
            <a:schemeClr val="lt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64" name="Google Shape;1664;p98"/>
          <p:cNvSpPr/>
          <p:nvPr/>
        </p:nvSpPr>
        <p:spPr>
          <a:xfrm>
            <a:off x="3407275" y="3192800"/>
            <a:ext cx="2524500" cy="1038900"/>
          </a:xfrm>
          <a:prstGeom prst="rect">
            <a:avLst/>
          </a:prstGeom>
          <a:solidFill>
            <a:schemeClr val="lt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65" name="Google Shape;1665;p98"/>
          <p:cNvSpPr/>
          <p:nvPr/>
        </p:nvSpPr>
        <p:spPr>
          <a:xfrm>
            <a:off x="401975" y="3192800"/>
            <a:ext cx="2524500" cy="1038900"/>
          </a:xfrm>
          <a:prstGeom prst="rect">
            <a:avLst/>
          </a:prstGeom>
          <a:solidFill>
            <a:schemeClr val="lt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66" name="Google Shape;1666;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1667" name="Google Shape;1667;p98"/>
          <p:cNvSpPr/>
          <p:nvPr/>
        </p:nvSpPr>
        <p:spPr>
          <a:xfrm>
            <a:off x="761219" y="2577226"/>
            <a:ext cx="4469375" cy="169329"/>
          </a:xfrm>
          <a:custGeom>
            <a:rect b="b" l="l" r="r" t="t"/>
            <a:pathLst>
              <a:path extrusionOk="0" h="11418" w="251654">
                <a:moveTo>
                  <a:pt x="251654" y="6684"/>
                </a:moveTo>
                <a:cubicBezTo>
                  <a:pt x="247489" y="6393"/>
                  <a:pt x="236204" y="4456"/>
                  <a:pt x="226663" y="4940"/>
                </a:cubicBezTo>
                <a:cubicBezTo>
                  <a:pt x="217122" y="5424"/>
                  <a:pt x="202641" y="9348"/>
                  <a:pt x="194407" y="9590"/>
                </a:cubicBezTo>
                <a:cubicBezTo>
                  <a:pt x="186174" y="9832"/>
                  <a:pt x="185253" y="6248"/>
                  <a:pt x="177262" y="6393"/>
                </a:cubicBezTo>
                <a:cubicBezTo>
                  <a:pt x="169271" y="6538"/>
                  <a:pt x="154693" y="10365"/>
                  <a:pt x="146459" y="10462"/>
                </a:cubicBezTo>
                <a:cubicBezTo>
                  <a:pt x="138226" y="10559"/>
                  <a:pt x="135562" y="6830"/>
                  <a:pt x="127861" y="6975"/>
                </a:cubicBezTo>
                <a:cubicBezTo>
                  <a:pt x="120160" y="7120"/>
                  <a:pt x="110813" y="11672"/>
                  <a:pt x="100255" y="11333"/>
                </a:cubicBezTo>
                <a:cubicBezTo>
                  <a:pt x="89697" y="10994"/>
                  <a:pt x="77395" y="5182"/>
                  <a:pt x="64512" y="4940"/>
                </a:cubicBezTo>
                <a:cubicBezTo>
                  <a:pt x="51629" y="4698"/>
                  <a:pt x="32886" y="9977"/>
                  <a:pt x="22957" y="9880"/>
                </a:cubicBezTo>
                <a:cubicBezTo>
                  <a:pt x="13028" y="9783"/>
                  <a:pt x="8766" y="6006"/>
                  <a:pt x="4940" y="4359"/>
                </a:cubicBezTo>
                <a:cubicBezTo>
                  <a:pt x="1114" y="2712"/>
                  <a:pt x="823" y="727"/>
                  <a:pt x="0" y="0"/>
                </a:cubicBezTo>
              </a:path>
            </a:pathLst>
          </a:custGeom>
          <a:noFill/>
          <a:ln cap="flat" cmpd="sng" w="28575">
            <a:solidFill>
              <a:srgbClr val="000000"/>
            </a:solidFill>
            <a:prstDash val="solid"/>
            <a:round/>
            <a:headEnd len="med" w="med" type="none"/>
            <a:tailEnd len="med" w="med" type="none"/>
          </a:ln>
        </p:spPr>
      </p:sp>
      <p:sp>
        <p:nvSpPr>
          <p:cNvPr id="1668" name="Google Shape;1668;p98"/>
          <p:cNvSpPr/>
          <p:nvPr/>
        </p:nvSpPr>
        <p:spPr>
          <a:xfrm>
            <a:off x="416494" y="1530834"/>
            <a:ext cx="344700" cy="1486500"/>
          </a:xfrm>
          <a:prstGeom prst="rect">
            <a:avLst/>
          </a:prstGeom>
          <a:solidFill>
            <a:srgbClr val="988672"/>
          </a:solidFill>
          <a:ln cap="flat" cmpd="sng" w="9525">
            <a:solidFill>
              <a:srgbClr val="98867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69" name="Google Shape;1669;p98"/>
          <p:cNvCxnSpPr/>
          <p:nvPr/>
        </p:nvCxnSpPr>
        <p:spPr>
          <a:xfrm>
            <a:off x="772091" y="880694"/>
            <a:ext cx="1783200" cy="0"/>
          </a:xfrm>
          <a:prstGeom prst="straightConnector1">
            <a:avLst/>
          </a:prstGeom>
          <a:noFill/>
          <a:ln cap="flat" cmpd="sng" w="28575">
            <a:solidFill>
              <a:srgbClr val="595959"/>
            </a:solidFill>
            <a:prstDash val="dot"/>
            <a:round/>
            <a:headEnd len="med" w="med" type="none"/>
            <a:tailEnd len="med" w="med" type="none"/>
          </a:ln>
        </p:spPr>
      </p:cxnSp>
      <p:cxnSp>
        <p:nvCxnSpPr>
          <p:cNvPr id="1670" name="Google Shape;1670;p98"/>
          <p:cNvCxnSpPr/>
          <p:nvPr/>
        </p:nvCxnSpPr>
        <p:spPr>
          <a:xfrm>
            <a:off x="800002" y="2635597"/>
            <a:ext cx="3770400" cy="0"/>
          </a:xfrm>
          <a:prstGeom prst="straightConnector1">
            <a:avLst/>
          </a:prstGeom>
          <a:noFill/>
          <a:ln cap="flat" cmpd="sng" w="28575">
            <a:solidFill>
              <a:srgbClr val="595959"/>
            </a:solidFill>
            <a:prstDash val="solid"/>
            <a:round/>
            <a:headEnd len="med" w="med" type="triangle"/>
            <a:tailEnd len="med" w="med" type="triangle"/>
          </a:ln>
        </p:spPr>
      </p:cxnSp>
      <p:cxnSp>
        <p:nvCxnSpPr>
          <p:cNvPr id="1671" name="Google Shape;1671;p98"/>
          <p:cNvCxnSpPr/>
          <p:nvPr/>
        </p:nvCxnSpPr>
        <p:spPr>
          <a:xfrm>
            <a:off x="827850" y="895000"/>
            <a:ext cx="0" cy="1763400"/>
          </a:xfrm>
          <a:prstGeom prst="straightConnector1">
            <a:avLst/>
          </a:prstGeom>
          <a:noFill/>
          <a:ln cap="flat" cmpd="sng" w="28575">
            <a:solidFill>
              <a:srgbClr val="595959"/>
            </a:solidFill>
            <a:prstDash val="solid"/>
            <a:round/>
            <a:headEnd len="med" w="med" type="triangle"/>
            <a:tailEnd len="med" w="med" type="triangle"/>
          </a:ln>
        </p:spPr>
      </p:cxnSp>
      <p:grpSp>
        <p:nvGrpSpPr>
          <p:cNvPr id="1672" name="Google Shape;1672;p98"/>
          <p:cNvGrpSpPr/>
          <p:nvPr/>
        </p:nvGrpSpPr>
        <p:grpSpPr>
          <a:xfrm>
            <a:off x="4472715" y="2484994"/>
            <a:ext cx="204433" cy="251466"/>
            <a:chOff x="6421550" y="4031110"/>
            <a:chExt cx="295851" cy="363916"/>
          </a:xfrm>
        </p:grpSpPr>
        <p:sp>
          <p:nvSpPr>
            <p:cNvPr id="1673" name="Google Shape;1673;p98"/>
            <p:cNvSpPr/>
            <p:nvPr/>
          </p:nvSpPr>
          <p:spPr>
            <a:xfrm rot="6188593">
              <a:off x="6450221" y="4127847"/>
              <a:ext cx="242759" cy="242759"/>
            </a:xfrm>
            <a:prstGeom prst="chord">
              <a:avLst>
                <a:gd fmla="val 2700000" name="adj1"/>
                <a:gd fmla="val 16200000" name="adj2"/>
              </a:avLst>
            </a:prstGeom>
            <a:solidFill>
              <a:srgbClr val="CC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74" name="Google Shape;1674;p98"/>
            <p:cNvSpPr/>
            <p:nvPr/>
          </p:nvSpPr>
          <p:spPr>
            <a:xfrm flipH="1" rot="10800000">
              <a:off x="6421550" y="4122793"/>
              <a:ext cx="291600" cy="136500"/>
            </a:xfrm>
            <a:prstGeom prst="arc">
              <a:avLst>
                <a:gd fmla="val 12210667" name="adj1"/>
                <a:gd fmla="val 20383269" name="adj2"/>
              </a:avLst>
            </a:prstGeom>
            <a:noFill/>
            <a:ln cap="flat" cmpd="sng" w="1905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75" name="Google Shape;1675;p98"/>
            <p:cNvSpPr/>
            <p:nvPr/>
          </p:nvSpPr>
          <p:spPr>
            <a:xfrm rot="-205273">
              <a:off x="6528019" y="4032673"/>
              <a:ext cx="55299" cy="92875"/>
            </a:xfrm>
            <a:prstGeom prst="rect">
              <a:avLst/>
            </a:prstGeom>
            <a:solidFill>
              <a:srgbClr val="CC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676" name="Google Shape;1676;p98"/>
          <p:cNvCxnSpPr>
            <a:endCxn id="1677" idx="1"/>
          </p:cNvCxnSpPr>
          <p:nvPr/>
        </p:nvCxnSpPr>
        <p:spPr>
          <a:xfrm>
            <a:off x="760702" y="875807"/>
            <a:ext cx="2127900" cy="1752900"/>
          </a:xfrm>
          <a:prstGeom prst="straightConnector1">
            <a:avLst/>
          </a:prstGeom>
          <a:noFill/>
          <a:ln cap="flat" cmpd="sng" w="38100">
            <a:solidFill>
              <a:srgbClr val="7E5CD2"/>
            </a:solidFill>
            <a:prstDash val="dash"/>
            <a:round/>
            <a:headEnd len="med" w="med" type="none"/>
            <a:tailEnd len="med" w="med" type="none"/>
          </a:ln>
        </p:spPr>
      </p:cxnSp>
      <p:grpSp>
        <p:nvGrpSpPr>
          <p:cNvPr id="1678" name="Google Shape;1678;p98"/>
          <p:cNvGrpSpPr/>
          <p:nvPr/>
        </p:nvGrpSpPr>
        <p:grpSpPr>
          <a:xfrm>
            <a:off x="2787854" y="2518193"/>
            <a:ext cx="204433" cy="251466"/>
            <a:chOff x="6421550" y="4031110"/>
            <a:chExt cx="295851" cy="363916"/>
          </a:xfrm>
        </p:grpSpPr>
        <p:sp>
          <p:nvSpPr>
            <p:cNvPr id="1679" name="Google Shape;1679;p98"/>
            <p:cNvSpPr/>
            <p:nvPr/>
          </p:nvSpPr>
          <p:spPr>
            <a:xfrm rot="6188593">
              <a:off x="6450221" y="4127847"/>
              <a:ext cx="242759" cy="242759"/>
            </a:xfrm>
            <a:prstGeom prst="chord">
              <a:avLst>
                <a:gd fmla="val 2700000" name="adj1"/>
                <a:gd fmla="val 16200000" name="adj2"/>
              </a:avLst>
            </a:prstGeom>
            <a:solidFill>
              <a:srgbClr val="CC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77" name="Google Shape;1677;p98"/>
            <p:cNvSpPr/>
            <p:nvPr/>
          </p:nvSpPr>
          <p:spPr>
            <a:xfrm flipH="1" rot="10800000">
              <a:off x="6421550" y="4122793"/>
              <a:ext cx="291600" cy="136500"/>
            </a:xfrm>
            <a:prstGeom prst="arc">
              <a:avLst>
                <a:gd fmla="val 12210667" name="adj1"/>
                <a:gd fmla="val 20383269" name="adj2"/>
              </a:avLst>
            </a:prstGeom>
            <a:noFill/>
            <a:ln cap="flat" cmpd="sng" w="19050">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0" name="Google Shape;1680;p98"/>
            <p:cNvSpPr/>
            <p:nvPr/>
          </p:nvSpPr>
          <p:spPr>
            <a:xfrm rot="-205273">
              <a:off x="6528019" y="4032673"/>
              <a:ext cx="55299" cy="92875"/>
            </a:xfrm>
            <a:prstGeom prst="rect">
              <a:avLst/>
            </a:prstGeom>
            <a:solidFill>
              <a:srgbClr val="CC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681" name="Google Shape;1681;p98"/>
          <p:cNvCxnSpPr/>
          <p:nvPr/>
        </p:nvCxnSpPr>
        <p:spPr>
          <a:xfrm>
            <a:off x="2879058" y="2806162"/>
            <a:ext cx="1707600" cy="0"/>
          </a:xfrm>
          <a:prstGeom prst="straightConnector1">
            <a:avLst/>
          </a:prstGeom>
          <a:noFill/>
          <a:ln cap="flat" cmpd="sng" w="28575">
            <a:solidFill>
              <a:schemeClr val="dk1"/>
            </a:solidFill>
            <a:prstDash val="solid"/>
            <a:round/>
            <a:headEnd len="med" w="med" type="triangle"/>
            <a:tailEnd len="med" w="med" type="triangle"/>
          </a:ln>
        </p:spPr>
      </p:cxnSp>
      <p:sp>
        <p:nvSpPr>
          <p:cNvPr id="1682" name="Google Shape;1682;p98"/>
          <p:cNvSpPr txBox="1"/>
          <p:nvPr>
            <p:ph idx="1" type="body"/>
          </p:nvPr>
        </p:nvSpPr>
        <p:spPr>
          <a:xfrm>
            <a:off x="3582226" y="2804025"/>
            <a:ext cx="533100" cy="25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d</a:t>
            </a:r>
            <a:r>
              <a:rPr lang="en-GB" sz="1800"/>
              <a:t> m</a:t>
            </a:r>
            <a:endParaRPr sz="1800"/>
          </a:p>
        </p:txBody>
      </p:sp>
      <p:sp>
        <p:nvSpPr>
          <p:cNvPr id="1683" name="Google Shape;1683;p98"/>
          <p:cNvSpPr txBox="1"/>
          <p:nvPr>
            <p:ph idx="1" type="body"/>
          </p:nvPr>
        </p:nvSpPr>
        <p:spPr>
          <a:xfrm>
            <a:off x="1451345" y="954741"/>
            <a:ext cx="495600" cy="147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32°</a:t>
            </a:r>
            <a:endParaRPr sz="1800"/>
          </a:p>
        </p:txBody>
      </p:sp>
      <p:sp>
        <p:nvSpPr>
          <p:cNvPr id="1684" name="Google Shape;1684;p98"/>
          <p:cNvSpPr txBox="1"/>
          <p:nvPr>
            <p:ph idx="1" type="body"/>
          </p:nvPr>
        </p:nvSpPr>
        <p:spPr>
          <a:xfrm>
            <a:off x="1665849" y="1387587"/>
            <a:ext cx="495600" cy="147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14</a:t>
            </a:r>
            <a:r>
              <a:rPr lang="en-GB" sz="1800"/>
              <a:t>°</a:t>
            </a:r>
            <a:endParaRPr sz="1800"/>
          </a:p>
        </p:txBody>
      </p:sp>
      <p:pic>
        <p:nvPicPr>
          <p:cNvPr id="1685" name="Google Shape;1685;p98"/>
          <p:cNvPicPr preferRelativeResize="0"/>
          <p:nvPr/>
        </p:nvPicPr>
        <p:blipFill>
          <a:blip r:embed="rId3">
            <a:alphaModFix/>
          </a:blip>
          <a:stretch>
            <a:fillRect/>
          </a:stretch>
        </p:blipFill>
        <p:spPr>
          <a:xfrm>
            <a:off x="556792" y="776446"/>
            <a:ext cx="204423" cy="754386"/>
          </a:xfrm>
          <a:prstGeom prst="rect">
            <a:avLst/>
          </a:prstGeom>
          <a:noFill/>
          <a:ln>
            <a:noFill/>
          </a:ln>
        </p:spPr>
      </p:pic>
      <p:sp>
        <p:nvSpPr>
          <p:cNvPr id="1686" name="Google Shape;1686;p98"/>
          <p:cNvSpPr txBox="1"/>
          <p:nvPr/>
        </p:nvSpPr>
        <p:spPr>
          <a:xfrm>
            <a:off x="4115425" y="762000"/>
            <a:ext cx="4704600" cy="1396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1800">
                <a:solidFill>
                  <a:schemeClr val="dk1"/>
                </a:solidFill>
                <a:latin typeface="Lexend"/>
                <a:ea typeface="Lexend"/>
                <a:cs typeface="Lexend"/>
                <a:sym typeface="Lexend"/>
              </a:rPr>
              <a:t>They want to calculate the distance, </a:t>
            </a:r>
            <a:r>
              <a:rPr i="1" lang="en-GB" sz="2000">
                <a:solidFill>
                  <a:schemeClr val="dk1"/>
                </a:solidFill>
                <a:latin typeface="Times New Roman"/>
                <a:ea typeface="Times New Roman"/>
                <a:cs typeface="Times New Roman"/>
                <a:sym typeface="Times New Roman"/>
              </a:rPr>
              <a:t>d</a:t>
            </a:r>
            <a:r>
              <a:rPr lang="en-GB" sz="1800">
                <a:solidFill>
                  <a:schemeClr val="dk1"/>
                </a:solidFill>
                <a:latin typeface="Lexend"/>
                <a:ea typeface="Lexend"/>
                <a:cs typeface="Lexend"/>
                <a:sym typeface="Lexend"/>
              </a:rPr>
              <a:t> m, between the two buoys.</a:t>
            </a:r>
            <a:endParaRPr sz="18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1800">
                <a:solidFill>
                  <a:schemeClr val="dk1"/>
                </a:solidFill>
                <a:latin typeface="Lexend"/>
                <a:ea typeface="Lexend"/>
                <a:cs typeface="Lexend"/>
                <a:sym typeface="Lexend"/>
              </a:rPr>
              <a:t>Which pair of triangles will they use in their calculations?</a:t>
            </a:r>
            <a:endParaRPr sz="1800">
              <a:solidFill>
                <a:schemeClr val="dk1"/>
              </a:solidFill>
              <a:latin typeface="Lexend"/>
              <a:ea typeface="Lexend"/>
              <a:cs typeface="Lexend"/>
              <a:sym typeface="Lexend"/>
            </a:endParaRPr>
          </a:p>
        </p:txBody>
      </p:sp>
      <p:sp>
        <p:nvSpPr>
          <p:cNvPr id="1687" name="Google Shape;1687;p98"/>
          <p:cNvSpPr/>
          <p:nvPr/>
        </p:nvSpPr>
        <p:spPr>
          <a:xfrm>
            <a:off x="545175" y="3330200"/>
            <a:ext cx="796800" cy="796800"/>
          </a:xfrm>
          <a:prstGeom prst="rtTriangl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8" name="Google Shape;1688;p98"/>
          <p:cNvSpPr/>
          <p:nvPr/>
        </p:nvSpPr>
        <p:spPr>
          <a:xfrm>
            <a:off x="1475650" y="3330200"/>
            <a:ext cx="1359300" cy="796800"/>
          </a:xfrm>
          <a:prstGeom prst="rtTriangl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9" name="Google Shape;1689;p98"/>
          <p:cNvSpPr/>
          <p:nvPr/>
        </p:nvSpPr>
        <p:spPr>
          <a:xfrm>
            <a:off x="1475650" y="3979400"/>
            <a:ext cx="147600" cy="147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0" name="Google Shape;1690;p98"/>
          <p:cNvSpPr/>
          <p:nvPr/>
        </p:nvSpPr>
        <p:spPr>
          <a:xfrm>
            <a:off x="545175" y="3979400"/>
            <a:ext cx="147600" cy="147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1" name="Google Shape;1691;p98"/>
          <p:cNvSpPr/>
          <p:nvPr/>
        </p:nvSpPr>
        <p:spPr>
          <a:xfrm>
            <a:off x="1137650" y="3008189"/>
            <a:ext cx="660000" cy="660000"/>
          </a:xfrm>
          <a:prstGeom prst="arc">
            <a:avLst>
              <a:gd fmla="val 1641755" name="adj1"/>
              <a:gd fmla="val 5334187"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2" name="Google Shape;1692;p98"/>
          <p:cNvSpPr/>
          <p:nvPr/>
        </p:nvSpPr>
        <p:spPr>
          <a:xfrm>
            <a:off x="216175" y="3008200"/>
            <a:ext cx="660000" cy="660000"/>
          </a:xfrm>
          <a:prstGeom prst="arc">
            <a:avLst>
              <a:gd fmla="val 2582132" name="adj1"/>
              <a:gd fmla="val 5398505"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3" name="Google Shape;1693;p98"/>
          <p:cNvSpPr txBox="1"/>
          <p:nvPr>
            <p:ph idx="1" type="body"/>
          </p:nvPr>
        </p:nvSpPr>
        <p:spPr>
          <a:xfrm>
            <a:off x="574593" y="3670483"/>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14</a:t>
            </a:r>
            <a:r>
              <a:rPr lang="en-GB" sz="1800"/>
              <a:t>°</a:t>
            </a:r>
            <a:endParaRPr sz="1800"/>
          </a:p>
        </p:txBody>
      </p:sp>
      <p:sp>
        <p:nvSpPr>
          <p:cNvPr id="1694" name="Google Shape;1694;p98"/>
          <p:cNvSpPr txBox="1"/>
          <p:nvPr>
            <p:ph idx="1" type="body"/>
          </p:nvPr>
        </p:nvSpPr>
        <p:spPr>
          <a:xfrm>
            <a:off x="1542107" y="365986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32</a:t>
            </a:r>
            <a:r>
              <a:rPr lang="en-GB" sz="1800"/>
              <a:t>°</a:t>
            </a:r>
            <a:endParaRPr sz="1800"/>
          </a:p>
        </p:txBody>
      </p:sp>
      <p:sp>
        <p:nvSpPr>
          <p:cNvPr id="1695" name="Google Shape;1695;p98"/>
          <p:cNvSpPr/>
          <p:nvPr/>
        </p:nvSpPr>
        <p:spPr>
          <a:xfrm>
            <a:off x="3516975" y="3330200"/>
            <a:ext cx="796800" cy="796800"/>
          </a:xfrm>
          <a:prstGeom prst="rtTriangl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6" name="Google Shape;1696;p98"/>
          <p:cNvSpPr/>
          <p:nvPr/>
        </p:nvSpPr>
        <p:spPr>
          <a:xfrm>
            <a:off x="4447450" y="3330200"/>
            <a:ext cx="1359300" cy="796800"/>
          </a:xfrm>
          <a:prstGeom prst="rtTriangl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7" name="Google Shape;1697;p98"/>
          <p:cNvSpPr/>
          <p:nvPr/>
        </p:nvSpPr>
        <p:spPr>
          <a:xfrm>
            <a:off x="4447450" y="3979400"/>
            <a:ext cx="147600" cy="147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8" name="Google Shape;1698;p98"/>
          <p:cNvSpPr/>
          <p:nvPr/>
        </p:nvSpPr>
        <p:spPr>
          <a:xfrm>
            <a:off x="3516975" y="3979400"/>
            <a:ext cx="147600" cy="147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9" name="Google Shape;1699;p98"/>
          <p:cNvSpPr/>
          <p:nvPr/>
        </p:nvSpPr>
        <p:spPr>
          <a:xfrm>
            <a:off x="4109450" y="3008189"/>
            <a:ext cx="660000" cy="660000"/>
          </a:xfrm>
          <a:prstGeom prst="arc">
            <a:avLst>
              <a:gd fmla="val 1641755" name="adj1"/>
              <a:gd fmla="val 5334187"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0" name="Google Shape;1700;p98"/>
          <p:cNvSpPr/>
          <p:nvPr/>
        </p:nvSpPr>
        <p:spPr>
          <a:xfrm>
            <a:off x="3187975" y="3008200"/>
            <a:ext cx="660000" cy="660000"/>
          </a:xfrm>
          <a:prstGeom prst="arc">
            <a:avLst>
              <a:gd fmla="val 2582132" name="adj1"/>
              <a:gd fmla="val 5398505"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1" name="Google Shape;1701;p98"/>
          <p:cNvSpPr txBox="1"/>
          <p:nvPr>
            <p:ph idx="1" type="body"/>
          </p:nvPr>
        </p:nvSpPr>
        <p:spPr>
          <a:xfrm>
            <a:off x="3546393" y="3670483"/>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31</a:t>
            </a:r>
            <a:r>
              <a:rPr lang="en-GB" sz="1800"/>
              <a:t>°</a:t>
            </a:r>
            <a:endParaRPr sz="1800"/>
          </a:p>
        </p:txBody>
      </p:sp>
      <p:sp>
        <p:nvSpPr>
          <p:cNvPr id="1702" name="Google Shape;1702;p98"/>
          <p:cNvSpPr txBox="1"/>
          <p:nvPr>
            <p:ph idx="1" type="body"/>
          </p:nvPr>
        </p:nvSpPr>
        <p:spPr>
          <a:xfrm>
            <a:off x="4513907" y="365986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46</a:t>
            </a:r>
            <a:r>
              <a:rPr lang="en-GB" sz="1800"/>
              <a:t>°</a:t>
            </a:r>
            <a:endParaRPr sz="1800"/>
          </a:p>
        </p:txBody>
      </p:sp>
      <p:sp>
        <p:nvSpPr>
          <p:cNvPr id="1703" name="Google Shape;1703;p98"/>
          <p:cNvSpPr/>
          <p:nvPr/>
        </p:nvSpPr>
        <p:spPr>
          <a:xfrm>
            <a:off x="6412575" y="3330200"/>
            <a:ext cx="796800" cy="796800"/>
          </a:xfrm>
          <a:prstGeom prst="rtTriangl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4" name="Google Shape;1704;p98"/>
          <p:cNvSpPr/>
          <p:nvPr/>
        </p:nvSpPr>
        <p:spPr>
          <a:xfrm>
            <a:off x="7343050" y="3330200"/>
            <a:ext cx="1359300" cy="796800"/>
          </a:xfrm>
          <a:prstGeom prst="rtTriangl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5" name="Google Shape;1705;p98"/>
          <p:cNvSpPr/>
          <p:nvPr/>
        </p:nvSpPr>
        <p:spPr>
          <a:xfrm>
            <a:off x="7343050" y="3979400"/>
            <a:ext cx="147600" cy="147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6" name="Google Shape;1706;p98"/>
          <p:cNvSpPr/>
          <p:nvPr/>
        </p:nvSpPr>
        <p:spPr>
          <a:xfrm>
            <a:off x="6412575" y="3979400"/>
            <a:ext cx="147600" cy="147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7" name="Google Shape;1707;p98"/>
          <p:cNvSpPr/>
          <p:nvPr/>
        </p:nvSpPr>
        <p:spPr>
          <a:xfrm>
            <a:off x="7005050" y="3008189"/>
            <a:ext cx="660000" cy="660000"/>
          </a:xfrm>
          <a:prstGeom prst="arc">
            <a:avLst>
              <a:gd fmla="val 1641755" name="adj1"/>
              <a:gd fmla="val 5334187"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8" name="Google Shape;1708;p98"/>
          <p:cNvSpPr/>
          <p:nvPr/>
        </p:nvSpPr>
        <p:spPr>
          <a:xfrm>
            <a:off x="6083575" y="3008200"/>
            <a:ext cx="660000" cy="660000"/>
          </a:xfrm>
          <a:prstGeom prst="arc">
            <a:avLst>
              <a:gd fmla="val 2582132" name="adj1"/>
              <a:gd fmla="val 5398505"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9" name="Google Shape;1709;p98"/>
          <p:cNvSpPr txBox="1"/>
          <p:nvPr>
            <p:ph idx="1" type="body"/>
          </p:nvPr>
        </p:nvSpPr>
        <p:spPr>
          <a:xfrm>
            <a:off x="6441993" y="3670483"/>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44</a:t>
            </a:r>
            <a:r>
              <a:rPr lang="en-GB" sz="1800"/>
              <a:t>°</a:t>
            </a:r>
            <a:endParaRPr sz="1800"/>
          </a:p>
        </p:txBody>
      </p:sp>
      <p:sp>
        <p:nvSpPr>
          <p:cNvPr id="1710" name="Google Shape;1710;p98"/>
          <p:cNvSpPr txBox="1"/>
          <p:nvPr>
            <p:ph idx="1" type="body"/>
          </p:nvPr>
        </p:nvSpPr>
        <p:spPr>
          <a:xfrm>
            <a:off x="7409507" y="3659861"/>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58</a:t>
            </a:r>
            <a:r>
              <a:rPr lang="en-GB" sz="1800"/>
              <a:t>°</a:t>
            </a:r>
            <a:endParaRPr sz="1800"/>
          </a:p>
        </p:txBody>
      </p:sp>
      <p:grpSp>
        <p:nvGrpSpPr>
          <p:cNvPr id="1711" name="Google Shape;1711;p98"/>
          <p:cNvGrpSpPr/>
          <p:nvPr/>
        </p:nvGrpSpPr>
        <p:grpSpPr>
          <a:xfrm>
            <a:off x="1291891" y="4320000"/>
            <a:ext cx="457200" cy="457200"/>
            <a:chOff x="1020916" y="1442088"/>
            <a:chExt cx="457200" cy="457200"/>
          </a:xfrm>
        </p:grpSpPr>
        <p:pic>
          <p:nvPicPr>
            <p:cNvPr id="1712" name="Google Shape;1712;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713" name="Google Shape;1713;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714" name="Google Shape;1714;p98"/>
          <p:cNvGrpSpPr/>
          <p:nvPr/>
        </p:nvGrpSpPr>
        <p:grpSpPr>
          <a:xfrm>
            <a:off x="4292641" y="4325529"/>
            <a:ext cx="457200" cy="457200"/>
            <a:chOff x="1020916" y="1442088"/>
            <a:chExt cx="457200" cy="457200"/>
          </a:xfrm>
        </p:grpSpPr>
        <p:pic>
          <p:nvPicPr>
            <p:cNvPr id="1715" name="Google Shape;1715;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716" name="Google Shape;1716;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717" name="Google Shape;1717;p98"/>
          <p:cNvGrpSpPr/>
          <p:nvPr/>
        </p:nvGrpSpPr>
        <p:grpSpPr>
          <a:xfrm>
            <a:off x="7258841" y="4314907"/>
            <a:ext cx="457200" cy="457200"/>
            <a:chOff x="1020916" y="1442088"/>
            <a:chExt cx="457200" cy="457200"/>
          </a:xfrm>
        </p:grpSpPr>
        <p:pic>
          <p:nvPicPr>
            <p:cNvPr id="1718" name="Google Shape;1718;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719" name="Google Shape;1719;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pic>
        <p:nvPicPr>
          <p:cNvPr id="1720" name="Google Shape;1720;p98"/>
          <p:cNvPicPr preferRelativeResize="0"/>
          <p:nvPr/>
        </p:nvPicPr>
        <p:blipFill>
          <a:blip r:embed="rId5">
            <a:alphaModFix/>
          </a:blip>
          <a:stretch>
            <a:fillRect/>
          </a:stretch>
        </p:blipFill>
        <p:spPr>
          <a:xfrm>
            <a:off x="7992133" y="4333950"/>
            <a:ext cx="396000" cy="419100"/>
          </a:xfrm>
          <a:prstGeom prst="rect">
            <a:avLst/>
          </a:prstGeom>
          <a:noFill/>
          <a:ln>
            <a:noFill/>
          </a:ln>
        </p:spPr>
      </p:pic>
      <p:cxnSp>
        <p:nvCxnSpPr>
          <p:cNvPr id="1721" name="Google Shape;1721;p98"/>
          <p:cNvCxnSpPr/>
          <p:nvPr/>
        </p:nvCxnSpPr>
        <p:spPr>
          <a:xfrm>
            <a:off x="779253" y="889577"/>
            <a:ext cx="3783900" cy="1733400"/>
          </a:xfrm>
          <a:prstGeom prst="straightConnector1">
            <a:avLst/>
          </a:prstGeom>
          <a:noFill/>
          <a:ln cap="flat" cmpd="sng" w="38100">
            <a:solidFill>
              <a:srgbClr val="7E5CD2"/>
            </a:solidFill>
            <a:prstDash val="dash"/>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5" name="Shape 1725"/>
        <p:cNvGrpSpPr/>
        <p:nvPr/>
      </p:nvGrpSpPr>
      <p:grpSpPr>
        <a:xfrm>
          <a:off x="0" y="0"/>
          <a:ext cx="0" cy="0"/>
          <a:chOff x="0" y="0"/>
          <a:chExt cx="0" cy="0"/>
        </a:xfrm>
      </p:grpSpPr>
      <p:sp>
        <p:nvSpPr>
          <p:cNvPr id="1726" name="Google Shape;1726;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1727" name="Google Shape;1727;p99"/>
          <p:cNvSpPr/>
          <p:nvPr/>
        </p:nvSpPr>
        <p:spPr>
          <a:xfrm>
            <a:off x="898632" y="1361462"/>
            <a:ext cx="1310400" cy="1257300"/>
          </a:xfrm>
          <a:prstGeom prst="rtTriangl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28" name="Google Shape;1728;p99"/>
          <p:cNvSpPr/>
          <p:nvPr/>
        </p:nvSpPr>
        <p:spPr>
          <a:xfrm>
            <a:off x="3495576" y="1361462"/>
            <a:ext cx="2235300" cy="1257300"/>
          </a:xfrm>
          <a:prstGeom prst="rtTriangl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29" name="Google Shape;1729;p99"/>
          <p:cNvSpPr/>
          <p:nvPr/>
        </p:nvSpPr>
        <p:spPr>
          <a:xfrm>
            <a:off x="3495576" y="2385807"/>
            <a:ext cx="2427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30" name="Google Shape;1730;p99"/>
          <p:cNvSpPr/>
          <p:nvPr/>
        </p:nvSpPr>
        <p:spPr>
          <a:xfrm>
            <a:off x="898632" y="2385807"/>
            <a:ext cx="2427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31" name="Google Shape;1731;p99"/>
          <p:cNvSpPr/>
          <p:nvPr/>
        </p:nvSpPr>
        <p:spPr>
          <a:xfrm>
            <a:off x="2939743" y="853375"/>
            <a:ext cx="1085400" cy="1041300"/>
          </a:xfrm>
          <a:prstGeom prst="arc">
            <a:avLst>
              <a:gd fmla="val 1641755" name="adj1"/>
              <a:gd fmla="val 5334187"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32" name="Google Shape;1732;p99"/>
          <p:cNvSpPr/>
          <p:nvPr/>
        </p:nvSpPr>
        <p:spPr>
          <a:xfrm>
            <a:off x="357600" y="853393"/>
            <a:ext cx="1085400" cy="1041300"/>
          </a:xfrm>
          <a:prstGeom prst="arc">
            <a:avLst>
              <a:gd fmla="val 2582132" name="adj1"/>
              <a:gd fmla="val 5398505"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33" name="Google Shape;1733;p99"/>
          <p:cNvSpPr txBox="1"/>
          <p:nvPr>
            <p:ph idx="1" type="body"/>
          </p:nvPr>
        </p:nvSpPr>
        <p:spPr>
          <a:xfrm>
            <a:off x="947010" y="1898381"/>
            <a:ext cx="1179600" cy="33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44°</a:t>
            </a:r>
            <a:endParaRPr sz="1800"/>
          </a:p>
        </p:txBody>
      </p:sp>
      <p:sp>
        <p:nvSpPr>
          <p:cNvPr id="1734" name="Google Shape;1734;p99"/>
          <p:cNvSpPr txBox="1"/>
          <p:nvPr>
            <p:ph idx="1" type="body"/>
          </p:nvPr>
        </p:nvSpPr>
        <p:spPr>
          <a:xfrm>
            <a:off x="3604862" y="1881620"/>
            <a:ext cx="1179600" cy="33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58°</a:t>
            </a:r>
            <a:endParaRPr sz="1800"/>
          </a:p>
        </p:txBody>
      </p:sp>
      <p:sp>
        <p:nvSpPr>
          <p:cNvPr id="1735" name="Google Shape;1735;p99"/>
          <p:cNvSpPr txBox="1"/>
          <p:nvPr/>
        </p:nvSpPr>
        <p:spPr>
          <a:xfrm>
            <a:off x="324000" y="762000"/>
            <a:ext cx="84960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The cliff is 60 m high and it is 1.63 m to Sam’s eye line. </a:t>
            </a:r>
            <a:endParaRPr sz="1800">
              <a:solidFill>
                <a:schemeClr val="dk1"/>
              </a:solidFill>
              <a:latin typeface="Lexend"/>
              <a:ea typeface="Lexend"/>
              <a:cs typeface="Lexend"/>
              <a:sym typeface="Lexend"/>
            </a:endParaRPr>
          </a:p>
        </p:txBody>
      </p:sp>
      <p:cxnSp>
        <p:nvCxnSpPr>
          <p:cNvPr id="1736" name="Google Shape;1736;p99"/>
          <p:cNvCxnSpPr/>
          <p:nvPr/>
        </p:nvCxnSpPr>
        <p:spPr>
          <a:xfrm>
            <a:off x="888575" y="2789968"/>
            <a:ext cx="1328400" cy="0"/>
          </a:xfrm>
          <a:prstGeom prst="straightConnector1">
            <a:avLst/>
          </a:prstGeom>
          <a:noFill/>
          <a:ln cap="flat" cmpd="sng" w="28575">
            <a:solidFill>
              <a:schemeClr val="dk1"/>
            </a:solidFill>
            <a:prstDash val="solid"/>
            <a:round/>
            <a:headEnd len="med" w="med" type="triangle"/>
            <a:tailEnd len="med" w="med" type="triangle"/>
          </a:ln>
        </p:spPr>
      </p:cxnSp>
      <p:sp>
        <p:nvSpPr>
          <p:cNvPr id="1737" name="Google Shape;1737;p99"/>
          <p:cNvSpPr txBox="1"/>
          <p:nvPr/>
        </p:nvSpPr>
        <p:spPr>
          <a:xfrm>
            <a:off x="933600" y="2895600"/>
            <a:ext cx="1709700" cy="626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distance to first buoy, </a:t>
            </a:r>
            <a:r>
              <a:rPr i="1" lang="en-GB" sz="20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m</a:t>
            </a:r>
            <a:endParaRPr sz="1800">
              <a:solidFill>
                <a:schemeClr val="dk1"/>
              </a:solidFill>
              <a:latin typeface="Lexend"/>
              <a:ea typeface="Lexend"/>
              <a:cs typeface="Lexend"/>
              <a:sym typeface="Lexend"/>
            </a:endParaRPr>
          </a:p>
        </p:txBody>
      </p:sp>
      <p:sp>
        <p:nvSpPr>
          <p:cNvPr id="1738" name="Google Shape;1738;p99"/>
          <p:cNvSpPr txBox="1"/>
          <p:nvPr/>
        </p:nvSpPr>
        <p:spPr>
          <a:xfrm>
            <a:off x="324000" y="3597025"/>
            <a:ext cx="84960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Complete the calculation to find the horizontal distance to the nearest buoy.</a:t>
            </a:r>
            <a:endParaRPr sz="1800">
              <a:solidFill>
                <a:schemeClr val="dk1"/>
              </a:solidFill>
              <a:latin typeface="Lexend"/>
              <a:ea typeface="Lexend"/>
              <a:cs typeface="Lexend"/>
              <a:sym typeface="Lexend"/>
            </a:endParaRPr>
          </a:p>
        </p:txBody>
      </p:sp>
      <p:sp>
        <p:nvSpPr>
          <p:cNvPr id="1739" name="Google Shape;1739;p99"/>
          <p:cNvSpPr txBox="1"/>
          <p:nvPr/>
        </p:nvSpPr>
        <p:spPr>
          <a:xfrm>
            <a:off x="2339400" y="3965200"/>
            <a:ext cx="43644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i="1" lang="en-GB" sz="2000">
                <a:solidFill>
                  <a:schemeClr val="dk1"/>
                </a:solidFill>
                <a:latin typeface="Times New Roman"/>
                <a:ea typeface="Times New Roman"/>
                <a:cs typeface="Times New Roman"/>
                <a:sym typeface="Times New Roman"/>
              </a:rPr>
              <a:t>x</a:t>
            </a:r>
            <a:r>
              <a:rPr lang="en-GB" sz="2000">
                <a:solidFill>
                  <a:schemeClr val="dk1"/>
                </a:solidFill>
                <a:latin typeface="Times New Roman"/>
                <a:ea typeface="Times New Roman"/>
                <a:cs typeface="Times New Roman"/>
                <a:sym typeface="Times New Roman"/>
              </a:rPr>
              <a:t> = 61.63 × tan(44°) = 59.52 m (2dp)</a:t>
            </a:r>
            <a:endParaRPr sz="2000">
              <a:solidFill>
                <a:schemeClr val="dk1"/>
              </a:solidFill>
              <a:latin typeface="Times New Roman"/>
              <a:ea typeface="Times New Roman"/>
              <a:cs typeface="Times New Roman"/>
              <a:sym typeface="Times New Roman"/>
            </a:endParaRPr>
          </a:p>
        </p:txBody>
      </p:sp>
      <p:sp>
        <p:nvSpPr>
          <p:cNvPr id="1740" name="Google Shape;1740;p99"/>
          <p:cNvSpPr/>
          <p:nvPr/>
        </p:nvSpPr>
        <p:spPr>
          <a:xfrm>
            <a:off x="3558075" y="4005650"/>
            <a:ext cx="313200" cy="277200"/>
          </a:xfrm>
          <a:prstGeom prst="rect">
            <a:avLst/>
          </a:prstGeom>
          <a:solidFill>
            <a:srgbClr val="E6F2F2"/>
          </a:solidFill>
          <a:ln cap="flat" cmpd="sng" w="9525">
            <a:solidFill>
              <a:srgbClr val="E6F2F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41" name="Google Shape;1741;p99"/>
          <p:cNvCxnSpPr/>
          <p:nvPr/>
        </p:nvCxnSpPr>
        <p:spPr>
          <a:xfrm>
            <a:off x="3481875" y="4263825"/>
            <a:ext cx="413700" cy="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74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74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5" name="Shape 1745"/>
        <p:cNvGrpSpPr/>
        <p:nvPr/>
      </p:nvGrpSpPr>
      <p:grpSpPr>
        <a:xfrm>
          <a:off x="0" y="0"/>
          <a:ext cx="0" cy="0"/>
          <a:chOff x="0" y="0"/>
          <a:chExt cx="0" cy="0"/>
        </a:xfrm>
      </p:grpSpPr>
      <p:sp>
        <p:nvSpPr>
          <p:cNvPr id="1746" name="Google Shape;1746;p10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1747" name="Google Shape;1747;p100"/>
          <p:cNvSpPr/>
          <p:nvPr/>
        </p:nvSpPr>
        <p:spPr>
          <a:xfrm>
            <a:off x="898632" y="1361462"/>
            <a:ext cx="1310400" cy="1257300"/>
          </a:xfrm>
          <a:prstGeom prst="rtTriangl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8" name="Google Shape;1748;p100"/>
          <p:cNvSpPr/>
          <p:nvPr/>
        </p:nvSpPr>
        <p:spPr>
          <a:xfrm>
            <a:off x="3495576" y="1361462"/>
            <a:ext cx="2235300" cy="1257300"/>
          </a:xfrm>
          <a:prstGeom prst="rtTriangl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9" name="Google Shape;1749;p100"/>
          <p:cNvSpPr/>
          <p:nvPr/>
        </p:nvSpPr>
        <p:spPr>
          <a:xfrm>
            <a:off x="3495576" y="2385807"/>
            <a:ext cx="2427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0" name="Google Shape;1750;p100"/>
          <p:cNvSpPr/>
          <p:nvPr/>
        </p:nvSpPr>
        <p:spPr>
          <a:xfrm>
            <a:off x="898632" y="2385807"/>
            <a:ext cx="242700" cy="232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1" name="Google Shape;1751;p100"/>
          <p:cNvSpPr/>
          <p:nvPr/>
        </p:nvSpPr>
        <p:spPr>
          <a:xfrm>
            <a:off x="2939743" y="853375"/>
            <a:ext cx="1085400" cy="1041300"/>
          </a:xfrm>
          <a:prstGeom prst="arc">
            <a:avLst>
              <a:gd fmla="val 1641755" name="adj1"/>
              <a:gd fmla="val 5334187"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2" name="Google Shape;1752;p100"/>
          <p:cNvSpPr/>
          <p:nvPr/>
        </p:nvSpPr>
        <p:spPr>
          <a:xfrm>
            <a:off x="357600" y="853393"/>
            <a:ext cx="1085400" cy="1041300"/>
          </a:xfrm>
          <a:prstGeom prst="arc">
            <a:avLst>
              <a:gd fmla="val 2582132" name="adj1"/>
              <a:gd fmla="val 5398505"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3" name="Google Shape;1753;p100"/>
          <p:cNvSpPr txBox="1"/>
          <p:nvPr>
            <p:ph idx="1" type="body"/>
          </p:nvPr>
        </p:nvSpPr>
        <p:spPr>
          <a:xfrm>
            <a:off x="947010" y="1898381"/>
            <a:ext cx="1179600" cy="33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44°</a:t>
            </a:r>
            <a:endParaRPr sz="1800"/>
          </a:p>
        </p:txBody>
      </p:sp>
      <p:sp>
        <p:nvSpPr>
          <p:cNvPr id="1754" name="Google Shape;1754;p100"/>
          <p:cNvSpPr txBox="1"/>
          <p:nvPr>
            <p:ph idx="1" type="body"/>
          </p:nvPr>
        </p:nvSpPr>
        <p:spPr>
          <a:xfrm>
            <a:off x="3604862" y="1881620"/>
            <a:ext cx="1179600" cy="33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58°</a:t>
            </a:r>
            <a:endParaRPr sz="1800"/>
          </a:p>
        </p:txBody>
      </p:sp>
      <p:sp>
        <p:nvSpPr>
          <p:cNvPr id="1755" name="Google Shape;1755;p100"/>
          <p:cNvSpPr txBox="1"/>
          <p:nvPr/>
        </p:nvSpPr>
        <p:spPr>
          <a:xfrm>
            <a:off x="324000" y="762000"/>
            <a:ext cx="8496000" cy="59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The distance to the first buoy is 59.515.. m and the distance to the second buoy is 98.628… m.</a:t>
            </a:r>
            <a:endParaRPr sz="1800">
              <a:solidFill>
                <a:schemeClr val="dk1"/>
              </a:solidFill>
              <a:latin typeface="Lexend"/>
              <a:ea typeface="Lexend"/>
              <a:cs typeface="Lexend"/>
              <a:sym typeface="Lexend"/>
            </a:endParaRPr>
          </a:p>
        </p:txBody>
      </p:sp>
      <p:cxnSp>
        <p:nvCxnSpPr>
          <p:cNvPr id="1756" name="Google Shape;1756;p100"/>
          <p:cNvCxnSpPr/>
          <p:nvPr/>
        </p:nvCxnSpPr>
        <p:spPr>
          <a:xfrm>
            <a:off x="888575" y="2789968"/>
            <a:ext cx="1328400" cy="0"/>
          </a:xfrm>
          <a:prstGeom prst="straightConnector1">
            <a:avLst/>
          </a:prstGeom>
          <a:noFill/>
          <a:ln cap="flat" cmpd="sng" w="28575">
            <a:solidFill>
              <a:schemeClr val="dk1"/>
            </a:solidFill>
            <a:prstDash val="solid"/>
            <a:round/>
            <a:headEnd len="med" w="med" type="triangle"/>
            <a:tailEnd len="med" w="med" type="triangle"/>
          </a:ln>
        </p:spPr>
      </p:cxnSp>
      <p:sp>
        <p:nvSpPr>
          <p:cNvPr id="1757" name="Google Shape;1757;p100"/>
          <p:cNvSpPr txBox="1"/>
          <p:nvPr/>
        </p:nvSpPr>
        <p:spPr>
          <a:xfrm>
            <a:off x="1046396" y="2895600"/>
            <a:ext cx="17097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59.515… m</a:t>
            </a:r>
            <a:endParaRPr sz="1800">
              <a:solidFill>
                <a:schemeClr val="dk1"/>
              </a:solidFill>
              <a:latin typeface="Lexend"/>
              <a:ea typeface="Lexend"/>
              <a:cs typeface="Lexend"/>
              <a:sym typeface="Lexend"/>
            </a:endParaRPr>
          </a:p>
        </p:txBody>
      </p:sp>
      <p:sp>
        <p:nvSpPr>
          <p:cNvPr id="1758" name="Google Shape;1758;p100"/>
          <p:cNvSpPr txBox="1"/>
          <p:nvPr/>
        </p:nvSpPr>
        <p:spPr>
          <a:xfrm>
            <a:off x="324000" y="3444625"/>
            <a:ext cx="84960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What is the distance between the two buoys, to the nearest metre?</a:t>
            </a:r>
            <a:endParaRPr sz="1800">
              <a:solidFill>
                <a:schemeClr val="dk1"/>
              </a:solidFill>
              <a:latin typeface="Lexend"/>
              <a:ea typeface="Lexend"/>
              <a:cs typeface="Lexend"/>
              <a:sym typeface="Lexend"/>
            </a:endParaRPr>
          </a:p>
        </p:txBody>
      </p:sp>
      <p:sp>
        <p:nvSpPr>
          <p:cNvPr id="1759" name="Google Shape;1759;p100"/>
          <p:cNvSpPr txBox="1"/>
          <p:nvPr/>
        </p:nvSpPr>
        <p:spPr>
          <a:xfrm>
            <a:off x="2339400" y="3965200"/>
            <a:ext cx="43644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i="1" lang="en-GB" sz="2000">
                <a:solidFill>
                  <a:schemeClr val="dk1"/>
                </a:solidFill>
                <a:latin typeface="Times New Roman"/>
                <a:ea typeface="Times New Roman"/>
                <a:cs typeface="Times New Roman"/>
                <a:sym typeface="Times New Roman"/>
              </a:rPr>
              <a:t>d</a:t>
            </a:r>
            <a:r>
              <a:rPr lang="en-GB" sz="2000">
                <a:solidFill>
                  <a:schemeClr val="dk1"/>
                </a:solidFill>
                <a:latin typeface="Times New Roman"/>
                <a:ea typeface="Times New Roman"/>
                <a:cs typeface="Times New Roman"/>
                <a:sym typeface="Times New Roman"/>
              </a:rPr>
              <a:t> = </a:t>
            </a:r>
            <a:r>
              <a:rPr lang="en-GB" sz="2000">
                <a:solidFill>
                  <a:schemeClr val="dk1"/>
                </a:solidFill>
                <a:latin typeface="Kalam"/>
                <a:ea typeface="Kalam"/>
                <a:cs typeface="Kalam"/>
                <a:sym typeface="Kalam"/>
              </a:rPr>
              <a:t>98.628… - 59.515… = 39 m </a:t>
            </a:r>
            <a:endParaRPr sz="2000">
              <a:solidFill>
                <a:schemeClr val="dk1"/>
              </a:solidFill>
              <a:latin typeface="Kalam"/>
              <a:ea typeface="Kalam"/>
              <a:cs typeface="Kalam"/>
              <a:sym typeface="Kalam"/>
            </a:endParaRPr>
          </a:p>
        </p:txBody>
      </p:sp>
      <p:cxnSp>
        <p:nvCxnSpPr>
          <p:cNvPr id="1760" name="Google Shape;1760;p100"/>
          <p:cNvCxnSpPr/>
          <p:nvPr/>
        </p:nvCxnSpPr>
        <p:spPr>
          <a:xfrm>
            <a:off x="3479375" y="2789968"/>
            <a:ext cx="2247000" cy="0"/>
          </a:xfrm>
          <a:prstGeom prst="straightConnector1">
            <a:avLst/>
          </a:prstGeom>
          <a:noFill/>
          <a:ln cap="flat" cmpd="sng" w="28575">
            <a:solidFill>
              <a:schemeClr val="dk1"/>
            </a:solidFill>
            <a:prstDash val="solid"/>
            <a:round/>
            <a:headEnd len="med" w="med" type="triangle"/>
            <a:tailEnd len="med" w="med" type="triangle"/>
          </a:ln>
        </p:spPr>
      </p:cxnSp>
      <p:sp>
        <p:nvSpPr>
          <p:cNvPr id="1761" name="Google Shape;1761;p100"/>
          <p:cNvSpPr txBox="1"/>
          <p:nvPr/>
        </p:nvSpPr>
        <p:spPr>
          <a:xfrm>
            <a:off x="4043262" y="2858001"/>
            <a:ext cx="17097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98.628… m</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5" name="Shape 1765"/>
        <p:cNvGrpSpPr/>
        <p:nvPr/>
      </p:nvGrpSpPr>
      <p:grpSpPr>
        <a:xfrm>
          <a:off x="0" y="0"/>
          <a:ext cx="0" cy="0"/>
          <a:chOff x="0" y="0"/>
          <a:chExt cx="0" cy="0"/>
        </a:xfrm>
      </p:grpSpPr>
      <p:sp>
        <p:nvSpPr>
          <p:cNvPr id="1766" name="Google Shape;1766;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1767" name="Google Shape;1767;p101"/>
          <p:cNvSpPr txBox="1"/>
          <p:nvPr>
            <p:ph idx="1" type="body"/>
          </p:nvPr>
        </p:nvSpPr>
        <p:spPr>
          <a:xfrm>
            <a:off x="324000" y="759300"/>
            <a:ext cx="8237700" cy="137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A ramp is being built outside a house. </a:t>
            </a:r>
            <a:br>
              <a:rPr lang="en-GB" sz="1800"/>
            </a:br>
            <a:r>
              <a:rPr lang="en-GB" sz="1800"/>
              <a:t>The bottom of the door is 42 cm off the floor. </a:t>
            </a:r>
            <a:br>
              <a:rPr lang="en-GB" sz="1800"/>
            </a:br>
            <a:r>
              <a:rPr lang="en-GB" sz="1800"/>
              <a:t>The angle between the ramp and the ground should not exceed 4.8°</a:t>
            </a:r>
            <a:br>
              <a:rPr lang="en-GB" sz="1800"/>
            </a:br>
            <a:r>
              <a:rPr lang="en-GB" sz="1800"/>
              <a:t>What is the minimum slope length of the ramp?</a:t>
            </a:r>
            <a:endParaRPr sz="1800"/>
          </a:p>
        </p:txBody>
      </p:sp>
      <p:sp>
        <p:nvSpPr>
          <p:cNvPr id="1768" name="Google Shape;1768;p101"/>
          <p:cNvSpPr txBox="1"/>
          <p:nvPr>
            <p:ph idx="1" type="body"/>
          </p:nvPr>
        </p:nvSpPr>
        <p:spPr>
          <a:xfrm>
            <a:off x="324000" y="2740500"/>
            <a:ext cx="8237700" cy="137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r>
              <a:rPr lang="en-GB" sz="1800"/>
              <a:t>) </a:t>
            </a:r>
            <a:r>
              <a:rPr lang="en-GB" sz="1800"/>
              <a:t>A man standing on a river-bank notes a particular tree on the opposite bank. </a:t>
            </a:r>
            <a:br>
              <a:rPr lang="en-GB" sz="1800"/>
            </a:br>
            <a:r>
              <a:rPr lang="en-GB" sz="1800"/>
              <a:t>He then walks 60 metres along the river-bank in a straight line. </a:t>
            </a:r>
            <a:br>
              <a:rPr lang="en-GB" sz="1800"/>
            </a:br>
            <a:r>
              <a:rPr lang="en-GB" sz="1800"/>
              <a:t>On looking back he can see that the angle between the line of his path and a line to the tree is 32º. </a:t>
            </a:r>
            <a:br>
              <a:rPr lang="en-GB" sz="1800"/>
            </a:br>
            <a:r>
              <a:rPr lang="en-GB" sz="1800"/>
              <a:t>How wide is the river?</a:t>
            </a:r>
            <a:endParaRPr sz="16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2" name="Shape 1772"/>
        <p:cNvGrpSpPr/>
        <p:nvPr/>
      </p:nvGrpSpPr>
      <p:grpSpPr>
        <a:xfrm>
          <a:off x="0" y="0"/>
          <a:ext cx="0" cy="0"/>
          <a:chOff x="0" y="0"/>
          <a:chExt cx="0" cy="0"/>
        </a:xfrm>
      </p:grpSpPr>
      <p:sp>
        <p:nvSpPr>
          <p:cNvPr id="1773" name="Google Shape;1773;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1774" name="Google Shape;1774;p102"/>
          <p:cNvSpPr txBox="1"/>
          <p:nvPr>
            <p:ph idx="1" type="body"/>
          </p:nvPr>
        </p:nvSpPr>
        <p:spPr>
          <a:xfrm>
            <a:off x="324000" y="734125"/>
            <a:ext cx="8237700" cy="137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r>
              <a:rPr lang="en-GB" sz="1800"/>
              <a:t>) A 7 metre pole is secured by support wires. The wires are pegged in a straight line. The outer wires make an angle of 31° with the floor and the inner wires make an angle twice the size. How far apart are the wires?</a:t>
            </a:r>
            <a:endParaRPr sz="1800"/>
          </a:p>
        </p:txBody>
      </p:sp>
      <p:cxnSp>
        <p:nvCxnSpPr>
          <p:cNvPr id="1775" name="Google Shape;1775;p102"/>
          <p:cNvCxnSpPr/>
          <p:nvPr/>
        </p:nvCxnSpPr>
        <p:spPr>
          <a:xfrm flipH="1">
            <a:off x="2371943" y="1835809"/>
            <a:ext cx="494700" cy="1355100"/>
          </a:xfrm>
          <a:prstGeom prst="straightConnector1">
            <a:avLst/>
          </a:prstGeom>
          <a:noFill/>
          <a:ln cap="flat" cmpd="sng" w="38100">
            <a:solidFill>
              <a:srgbClr val="808080"/>
            </a:solidFill>
            <a:prstDash val="solid"/>
            <a:round/>
            <a:headEnd len="med" w="med" type="none"/>
            <a:tailEnd len="med" w="med" type="none"/>
          </a:ln>
        </p:spPr>
      </p:cxnSp>
      <p:cxnSp>
        <p:nvCxnSpPr>
          <p:cNvPr id="1776" name="Google Shape;1776;p102"/>
          <p:cNvCxnSpPr/>
          <p:nvPr/>
        </p:nvCxnSpPr>
        <p:spPr>
          <a:xfrm>
            <a:off x="2919424" y="1831423"/>
            <a:ext cx="481200" cy="1357500"/>
          </a:xfrm>
          <a:prstGeom prst="straightConnector1">
            <a:avLst/>
          </a:prstGeom>
          <a:noFill/>
          <a:ln cap="flat" cmpd="sng" w="38100">
            <a:solidFill>
              <a:srgbClr val="808080"/>
            </a:solidFill>
            <a:prstDash val="solid"/>
            <a:round/>
            <a:headEnd len="med" w="med" type="none"/>
            <a:tailEnd len="med" w="med" type="none"/>
          </a:ln>
        </p:spPr>
      </p:cxnSp>
      <p:cxnSp>
        <p:nvCxnSpPr>
          <p:cNvPr id="1777" name="Google Shape;1777;p102"/>
          <p:cNvCxnSpPr/>
          <p:nvPr/>
        </p:nvCxnSpPr>
        <p:spPr>
          <a:xfrm flipH="1">
            <a:off x="647174" y="1840453"/>
            <a:ext cx="2217000" cy="1358400"/>
          </a:xfrm>
          <a:prstGeom prst="straightConnector1">
            <a:avLst/>
          </a:prstGeom>
          <a:noFill/>
          <a:ln cap="flat" cmpd="sng" w="38100">
            <a:solidFill>
              <a:srgbClr val="808080"/>
            </a:solidFill>
            <a:prstDash val="solid"/>
            <a:round/>
            <a:headEnd len="med" w="med" type="none"/>
            <a:tailEnd len="med" w="med" type="none"/>
          </a:ln>
        </p:spPr>
      </p:cxnSp>
      <p:sp>
        <p:nvSpPr>
          <p:cNvPr id="1778" name="Google Shape;1778;p102"/>
          <p:cNvSpPr/>
          <p:nvPr/>
        </p:nvSpPr>
        <p:spPr>
          <a:xfrm>
            <a:off x="593986" y="3210008"/>
            <a:ext cx="4566900" cy="188400"/>
          </a:xfrm>
          <a:prstGeom prst="rect">
            <a:avLst/>
          </a:prstGeom>
          <a:solidFill>
            <a:srgbClr val="BEF2BD"/>
          </a:solidFill>
          <a:ln cap="flat" cmpd="sng" w="9525">
            <a:solidFill>
              <a:srgbClr val="BEF2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79" name="Google Shape;1779;p102"/>
          <p:cNvCxnSpPr/>
          <p:nvPr/>
        </p:nvCxnSpPr>
        <p:spPr>
          <a:xfrm>
            <a:off x="582675" y="3205363"/>
            <a:ext cx="4587600" cy="0"/>
          </a:xfrm>
          <a:prstGeom prst="straightConnector1">
            <a:avLst/>
          </a:prstGeom>
          <a:noFill/>
          <a:ln cap="flat" cmpd="sng" w="38100">
            <a:solidFill>
              <a:srgbClr val="000000"/>
            </a:solidFill>
            <a:prstDash val="solid"/>
            <a:round/>
            <a:headEnd len="med" w="med" type="none"/>
            <a:tailEnd len="med" w="med" type="none"/>
          </a:ln>
        </p:spPr>
      </p:cxnSp>
      <p:cxnSp>
        <p:nvCxnSpPr>
          <p:cNvPr id="1780" name="Google Shape;1780;p102"/>
          <p:cNvCxnSpPr/>
          <p:nvPr/>
        </p:nvCxnSpPr>
        <p:spPr>
          <a:xfrm rot="10800000">
            <a:off x="2865797" y="1822963"/>
            <a:ext cx="0" cy="1375200"/>
          </a:xfrm>
          <a:prstGeom prst="straightConnector1">
            <a:avLst/>
          </a:prstGeom>
          <a:noFill/>
          <a:ln cap="flat" cmpd="sng" w="28575">
            <a:solidFill>
              <a:srgbClr val="000000"/>
            </a:solidFill>
            <a:prstDash val="solid"/>
            <a:round/>
            <a:headEnd len="med" w="med" type="none"/>
            <a:tailEnd len="med" w="med" type="none"/>
          </a:ln>
        </p:spPr>
      </p:cxnSp>
      <p:cxnSp>
        <p:nvCxnSpPr>
          <p:cNvPr id="1781" name="Google Shape;1781;p102"/>
          <p:cNvCxnSpPr/>
          <p:nvPr/>
        </p:nvCxnSpPr>
        <p:spPr>
          <a:xfrm rot="10800000">
            <a:off x="2914706" y="1819247"/>
            <a:ext cx="0" cy="1375200"/>
          </a:xfrm>
          <a:prstGeom prst="straightConnector1">
            <a:avLst/>
          </a:prstGeom>
          <a:noFill/>
          <a:ln cap="flat" cmpd="sng" w="28575">
            <a:solidFill>
              <a:srgbClr val="000000"/>
            </a:solidFill>
            <a:prstDash val="solid"/>
            <a:round/>
            <a:headEnd len="med" w="med" type="none"/>
            <a:tailEnd len="med" w="med" type="none"/>
          </a:ln>
        </p:spPr>
      </p:cxnSp>
      <p:sp>
        <p:nvSpPr>
          <p:cNvPr id="1782" name="Google Shape;1782;p102"/>
          <p:cNvSpPr/>
          <p:nvPr/>
        </p:nvSpPr>
        <p:spPr>
          <a:xfrm>
            <a:off x="2840516" y="1732525"/>
            <a:ext cx="96900" cy="969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3" name="Google Shape;1783;p102"/>
          <p:cNvSpPr txBox="1"/>
          <p:nvPr/>
        </p:nvSpPr>
        <p:spPr>
          <a:xfrm>
            <a:off x="3029800" y="2385975"/>
            <a:ext cx="411900" cy="18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a:t>
            </a:r>
            <a:r>
              <a:rPr lang="en-GB" sz="1800">
                <a:latin typeface="Lexend"/>
                <a:ea typeface="Lexend"/>
                <a:cs typeface="Lexend"/>
                <a:sym typeface="Lexend"/>
              </a:rPr>
              <a:t> m</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cxnSp>
        <p:nvCxnSpPr>
          <p:cNvPr id="1784" name="Google Shape;1784;p102"/>
          <p:cNvCxnSpPr/>
          <p:nvPr/>
        </p:nvCxnSpPr>
        <p:spPr>
          <a:xfrm>
            <a:off x="2912432" y="1840453"/>
            <a:ext cx="2217000" cy="1358400"/>
          </a:xfrm>
          <a:prstGeom prst="straightConnector1">
            <a:avLst/>
          </a:prstGeom>
          <a:noFill/>
          <a:ln cap="flat" cmpd="sng" w="38100">
            <a:solidFill>
              <a:srgbClr val="808080"/>
            </a:solidFill>
            <a:prstDash val="solid"/>
            <a:round/>
            <a:headEnd len="med" w="med" type="none"/>
            <a:tailEnd len="med" w="med" type="none"/>
          </a:ln>
        </p:spPr>
      </p:cxnSp>
      <p:cxnSp>
        <p:nvCxnSpPr>
          <p:cNvPr id="1785" name="Google Shape;1785;p102"/>
          <p:cNvCxnSpPr/>
          <p:nvPr/>
        </p:nvCxnSpPr>
        <p:spPr>
          <a:xfrm>
            <a:off x="2986005" y="1854439"/>
            <a:ext cx="0" cy="1334100"/>
          </a:xfrm>
          <a:prstGeom prst="straightConnector1">
            <a:avLst/>
          </a:prstGeom>
          <a:noFill/>
          <a:ln cap="flat" cmpd="sng" w="28575">
            <a:solidFill>
              <a:srgbClr val="000000"/>
            </a:solidFill>
            <a:prstDash val="solid"/>
            <a:round/>
            <a:headEnd len="med" w="med" type="triangle"/>
            <a:tailEnd len="med" w="med" type="triangle"/>
          </a:ln>
        </p:spPr>
      </p:cxnSp>
      <p:cxnSp>
        <p:nvCxnSpPr>
          <p:cNvPr id="1786" name="Google Shape;1786;p102"/>
          <p:cNvCxnSpPr/>
          <p:nvPr/>
        </p:nvCxnSpPr>
        <p:spPr>
          <a:xfrm>
            <a:off x="647180" y="3303289"/>
            <a:ext cx="1718400" cy="0"/>
          </a:xfrm>
          <a:prstGeom prst="straightConnector1">
            <a:avLst/>
          </a:prstGeom>
          <a:noFill/>
          <a:ln cap="flat" cmpd="sng" w="28575">
            <a:solidFill>
              <a:srgbClr val="000000"/>
            </a:solidFill>
            <a:prstDash val="solid"/>
            <a:round/>
            <a:headEnd len="med" w="med" type="triangle"/>
            <a:tailEnd len="med" w="med" type="triangle"/>
          </a:ln>
        </p:spPr>
      </p:cxnSp>
      <p:sp>
        <p:nvSpPr>
          <p:cNvPr id="1787" name="Google Shape;1787;p102"/>
          <p:cNvSpPr txBox="1"/>
          <p:nvPr>
            <p:ph idx="4294967295" type="body"/>
          </p:nvPr>
        </p:nvSpPr>
        <p:spPr>
          <a:xfrm>
            <a:off x="1261003" y="3266458"/>
            <a:ext cx="5613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d</a:t>
            </a:r>
            <a:r>
              <a:rPr lang="en-GB" sz="1800"/>
              <a:t> m</a:t>
            </a:r>
            <a:endParaRPr sz="1800"/>
          </a:p>
        </p:txBody>
      </p:sp>
      <p:sp>
        <p:nvSpPr>
          <p:cNvPr id="1788" name="Google Shape;1788;p102"/>
          <p:cNvSpPr/>
          <p:nvPr/>
        </p:nvSpPr>
        <p:spPr>
          <a:xfrm>
            <a:off x="168297" y="2718325"/>
            <a:ext cx="974100" cy="974100"/>
          </a:xfrm>
          <a:prstGeom prst="arc">
            <a:avLst>
              <a:gd fmla="val 19737478" name="adj1"/>
              <a:gd fmla="val 0" name="adj2"/>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9" name="Google Shape;1789;p102"/>
          <p:cNvSpPr txBox="1"/>
          <p:nvPr>
            <p:ph idx="4294967295" type="body"/>
          </p:nvPr>
        </p:nvSpPr>
        <p:spPr>
          <a:xfrm>
            <a:off x="1186924" y="2884417"/>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31</a:t>
            </a:r>
            <a:r>
              <a:rPr lang="en-GB" sz="1800"/>
              <a:t>°</a:t>
            </a:r>
            <a:endParaRPr sz="18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3" name="Shape 1793"/>
        <p:cNvGrpSpPr/>
        <p:nvPr/>
      </p:nvGrpSpPr>
      <p:grpSpPr>
        <a:xfrm>
          <a:off x="0" y="0"/>
          <a:ext cx="0" cy="0"/>
          <a:chOff x="0" y="0"/>
          <a:chExt cx="0" cy="0"/>
        </a:xfrm>
      </p:grpSpPr>
      <p:sp>
        <p:nvSpPr>
          <p:cNvPr id="1794" name="Google Shape;1794;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1795" name="Google Shape;1795;p10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A ramp is being built outside a house. </a:t>
            </a:r>
            <a:br>
              <a:rPr lang="en-GB" sz="1800"/>
            </a:br>
            <a:r>
              <a:rPr lang="en-GB" sz="1800"/>
              <a:t>The bottom of the door is 42 cm off the floor. </a:t>
            </a:r>
            <a:br>
              <a:rPr lang="en-GB" sz="1800"/>
            </a:br>
            <a:r>
              <a:rPr lang="en-GB" sz="1800"/>
              <a:t>The angle between the ramp and the ground should not exceed 4.8</a:t>
            </a:r>
            <a:r>
              <a:rPr lang="en-GB" sz="1800"/>
              <a:t>°</a:t>
            </a:r>
            <a:br>
              <a:rPr lang="en-GB" sz="1800"/>
            </a:br>
            <a:r>
              <a:rPr lang="en-GB" sz="1800"/>
              <a:t>What is the </a:t>
            </a:r>
            <a:r>
              <a:rPr lang="en-GB" sz="1800"/>
              <a:t>minimum </a:t>
            </a:r>
            <a:r>
              <a:rPr lang="en-GB" sz="1800"/>
              <a:t>slope length of the ramp?</a:t>
            </a:r>
            <a:endParaRPr sz="1800"/>
          </a:p>
        </p:txBody>
      </p:sp>
      <p:sp>
        <p:nvSpPr>
          <p:cNvPr id="1796" name="Google Shape;1796;p103"/>
          <p:cNvSpPr/>
          <p:nvPr/>
        </p:nvSpPr>
        <p:spPr>
          <a:xfrm>
            <a:off x="1245800" y="2291250"/>
            <a:ext cx="6892800" cy="8175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7" name="Google Shape;1797;p103"/>
          <p:cNvSpPr/>
          <p:nvPr/>
        </p:nvSpPr>
        <p:spPr>
          <a:xfrm>
            <a:off x="1245800" y="2967150"/>
            <a:ext cx="141600" cy="141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98" name="Google Shape;1798;p103"/>
          <p:cNvCxnSpPr/>
          <p:nvPr/>
        </p:nvCxnSpPr>
        <p:spPr>
          <a:xfrm>
            <a:off x="1097750" y="2287925"/>
            <a:ext cx="0" cy="836700"/>
          </a:xfrm>
          <a:prstGeom prst="straightConnector1">
            <a:avLst/>
          </a:prstGeom>
          <a:noFill/>
          <a:ln cap="flat" cmpd="sng" w="28575">
            <a:solidFill>
              <a:schemeClr val="accent5"/>
            </a:solidFill>
            <a:prstDash val="solid"/>
            <a:round/>
            <a:headEnd len="med" w="med" type="triangle"/>
            <a:tailEnd len="med" w="med" type="triangle"/>
          </a:ln>
        </p:spPr>
      </p:cxnSp>
      <p:sp>
        <p:nvSpPr>
          <p:cNvPr id="1799" name="Google Shape;1799;p103"/>
          <p:cNvSpPr txBox="1"/>
          <p:nvPr>
            <p:ph idx="4294967295" type="body"/>
          </p:nvPr>
        </p:nvSpPr>
        <p:spPr>
          <a:xfrm>
            <a:off x="337483" y="2592889"/>
            <a:ext cx="9426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42</a:t>
            </a:r>
            <a:r>
              <a:rPr lang="en-GB" sz="2000">
                <a:latin typeface="Kalam"/>
                <a:ea typeface="Kalam"/>
                <a:cs typeface="Kalam"/>
                <a:sym typeface="Kalam"/>
              </a:rPr>
              <a:t> cm</a:t>
            </a:r>
            <a:endParaRPr sz="2000">
              <a:latin typeface="Kalam"/>
              <a:ea typeface="Kalam"/>
              <a:cs typeface="Kalam"/>
              <a:sym typeface="Kalam"/>
            </a:endParaRPr>
          </a:p>
        </p:txBody>
      </p:sp>
      <p:sp>
        <p:nvSpPr>
          <p:cNvPr id="1800" name="Google Shape;1800;p103"/>
          <p:cNvSpPr/>
          <p:nvPr/>
        </p:nvSpPr>
        <p:spPr>
          <a:xfrm>
            <a:off x="6069869" y="1301681"/>
            <a:ext cx="3629700" cy="3629700"/>
          </a:xfrm>
          <a:prstGeom prst="arc">
            <a:avLst>
              <a:gd fmla="val 10813020" name="adj1"/>
              <a:gd fmla="val 1127788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01" name="Google Shape;1801;p103"/>
          <p:cNvSpPr txBox="1"/>
          <p:nvPr>
            <p:ph idx="4294967295" type="body"/>
          </p:nvPr>
        </p:nvSpPr>
        <p:spPr>
          <a:xfrm>
            <a:off x="5519075" y="2821500"/>
            <a:ext cx="574800" cy="30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4.8°</a:t>
            </a:r>
            <a:endParaRPr sz="2000">
              <a:latin typeface="Kalam"/>
              <a:ea typeface="Kalam"/>
              <a:cs typeface="Kalam"/>
              <a:sym typeface="Kalam"/>
            </a:endParaRPr>
          </a:p>
        </p:txBody>
      </p:sp>
      <p:cxnSp>
        <p:nvCxnSpPr>
          <p:cNvPr id="1802" name="Google Shape;1802;p103"/>
          <p:cNvCxnSpPr/>
          <p:nvPr/>
        </p:nvCxnSpPr>
        <p:spPr>
          <a:xfrm>
            <a:off x="1280075" y="2160000"/>
            <a:ext cx="6878100" cy="817500"/>
          </a:xfrm>
          <a:prstGeom prst="straightConnector1">
            <a:avLst/>
          </a:prstGeom>
          <a:noFill/>
          <a:ln cap="flat" cmpd="sng" w="28575">
            <a:solidFill>
              <a:schemeClr val="accent5"/>
            </a:solidFill>
            <a:prstDash val="solid"/>
            <a:round/>
            <a:headEnd len="med" w="med" type="triangle"/>
            <a:tailEnd len="med" w="med" type="triangle"/>
          </a:ln>
        </p:spPr>
      </p:cxnSp>
      <p:sp>
        <p:nvSpPr>
          <p:cNvPr id="1803" name="Google Shape;1803;p103"/>
          <p:cNvSpPr txBox="1"/>
          <p:nvPr>
            <p:ph idx="4294967295" type="body"/>
          </p:nvPr>
        </p:nvSpPr>
        <p:spPr>
          <a:xfrm>
            <a:off x="4528475" y="2226350"/>
            <a:ext cx="727800" cy="30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m</a:t>
            </a:r>
            <a:r>
              <a:rPr lang="en-GB" sz="2000">
                <a:latin typeface="Kalam"/>
                <a:ea typeface="Kalam"/>
                <a:cs typeface="Kalam"/>
                <a:sym typeface="Kalam"/>
              </a:rPr>
              <a:t> cm</a:t>
            </a:r>
            <a:endParaRPr sz="2000">
              <a:latin typeface="Kalam"/>
              <a:ea typeface="Kalam"/>
              <a:cs typeface="Kalam"/>
              <a:sym typeface="Kalam"/>
            </a:endParaRPr>
          </a:p>
        </p:txBody>
      </p:sp>
      <p:sp>
        <p:nvSpPr>
          <p:cNvPr id="1804" name="Google Shape;1804;p103"/>
          <p:cNvSpPr txBox="1"/>
          <p:nvPr>
            <p:ph idx="4294967295" type="body"/>
          </p:nvPr>
        </p:nvSpPr>
        <p:spPr>
          <a:xfrm>
            <a:off x="3669450" y="3628500"/>
            <a:ext cx="4529100" cy="30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m</a:t>
            </a:r>
            <a:r>
              <a:rPr lang="en-GB" sz="2000">
                <a:latin typeface="Kalam"/>
                <a:ea typeface="Kalam"/>
                <a:cs typeface="Kalam"/>
                <a:sym typeface="Kalam"/>
              </a:rPr>
              <a:t> =            = 501.9 </a:t>
            </a:r>
            <a:endParaRPr sz="2000">
              <a:latin typeface="Kalam"/>
              <a:ea typeface="Kalam"/>
              <a:cs typeface="Kalam"/>
              <a:sym typeface="Kalam"/>
            </a:endParaRPr>
          </a:p>
        </p:txBody>
      </p:sp>
      <p:sp>
        <p:nvSpPr>
          <p:cNvPr id="1805" name="Google Shape;1805;p103"/>
          <p:cNvSpPr txBox="1"/>
          <p:nvPr>
            <p:ph idx="4294967295" type="body"/>
          </p:nvPr>
        </p:nvSpPr>
        <p:spPr>
          <a:xfrm>
            <a:off x="4279050" y="3780900"/>
            <a:ext cx="977100" cy="30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Times New Roman"/>
                <a:ea typeface="Times New Roman"/>
                <a:cs typeface="Times New Roman"/>
                <a:sym typeface="Times New Roman"/>
              </a:rPr>
              <a:t>sin(4.8°)</a:t>
            </a:r>
            <a:endParaRPr sz="2000">
              <a:latin typeface="Kalam"/>
              <a:ea typeface="Kalam"/>
              <a:cs typeface="Kalam"/>
              <a:sym typeface="Kalam"/>
            </a:endParaRPr>
          </a:p>
        </p:txBody>
      </p:sp>
      <p:cxnSp>
        <p:nvCxnSpPr>
          <p:cNvPr id="1806" name="Google Shape;1806;p103"/>
          <p:cNvCxnSpPr/>
          <p:nvPr/>
        </p:nvCxnSpPr>
        <p:spPr>
          <a:xfrm>
            <a:off x="4247225" y="3780900"/>
            <a:ext cx="943800" cy="0"/>
          </a:xfrm>
          <a:prstGeom prst="straightConnector1">
            <a:avLst/>
          </a:prstGeom>
          <a:noFill/>
          <a:ln cap="flat" cmpd="sng" w="19050">
            <a:solidFill>
              <a:schemeClr val="dk1"/>
            </a:solidFill>
            <a:prstDash val="solid"/>
            <a:round/>
            <a:headEnd len="med" w="med" type="none"/>
            <a:tailEnd len="med" w="med" type="none"/>
          </a:ln>
        </p:spPr>
      </p:cxnSp>
      <p:sp>
        <p:nvSpPr>
          <p:cNvPr id="1807" name="Google Shape;1807;p103"/>
          <p:cNvSpPr txBox="1"/>
          <p:nvPr>
            <p:ph idx="4294967295" type="body"/>
          </p:nvPr>
        </p:nvSpPr>
        <p:spPr>
          <a:xfrm>
            <a:off x="4546816" y="3486725"/>
            <a:ext cx="3390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42</a:t>
            </a:r>
            <a:endParaRPr sz="2000">
              <a:latin typeface="Kalam"/>
              <a:ea typeface="Kalam"/>
              <a:cs typeface="Kalam"/>
              <a:sym typeface="Kalam"/>
            </a:endParaRPr>
          </a:p>
        </p:txBody>
      </p:sp>
      <p:sp>
        <p:nvSpPr>
          <p:cNvPr id="1808" name="Google Shape;1808;p103"/>
          <p:cNvSpPr txBox="1"/>
          <p:nvPr/>
        </p:nvSpPr>
        <p:spPr>
          <a:xfrm>
            <a:off x="698350" y="4427200"/>
            <a:ext cx="6794100" cy="18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Kalam"/>
                <a:ea typeface="Kalam"/>
                <a:cs typeface="Kalam"/>
                <a:sym typeface="Kalam"/>
              </a:rPr>
              <a:t>The slope is a minimum of 501.9 cm or 5.02 m long.</a:t>
            </a:r>
            <a:endParaRPr sz="2000">
              <a:solidFill>
                <a:srgbClr val="000000"/>
              </a:solidFill>
              <a:latin typeface="Kalam"/>
              <a:ea typeface="Kalam"/>
              <a:cs typeface="Kalam"/>
              <a:sym typeface="Kala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2" name="Shape 1812"/>
        <p:cNvGrpSpPr/>
        <p:nvPr/>
      </p:nvGrpSpPr>
      <p:grpSpPr>
        <a:xfrm>
          <a:off x="0" y="0"/>
          <a:ext cx="0" cy="0"/>
          <a:chOff x="0" y="0"/>
          <a:chExt cx="0" cy="0"/>
        </a:xfrm>
      </p:grpSpPr>
      <p:sp>
        <p:nvSpPr>
          <p:cNvPr id="1813" name="Google Shape;1813;p10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1814" name="Google Shape;1814;p104"/>
          <p:cNvSpPr txBox="1"/>
          <p:nvPr>
            <p:ph idx="1" type="body"/>
          </p:nvPr>
        </p:nvSpPr>
        <p:spPr>
          <a:xfrm>
            <a:off x="324000" y="835500"/>
            <a:ext cx="8237700" cy="137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A man standing on a river-bank notes a particular tree on the opposite bank. </a:t>
            </a:r>
            <a:br>
              <a:rPr lang="en-GB" sz="1800"/>
            </a:br>
            <a:r>
              <a:rPr lang="en-GB" sz="1800"/>
              <a:t>He then walks 60 metres along the river-bank in a straight line. </a:t>
            </a:r>
            <a:br>
              <a:rPr lang="en-GB" sz="1800"/>
            </a:br>
            <a:r>
              <a:rPr lang="en-GB" sz="1800"/>
              <a:t>On looking back he can see that the angle between the line of his path and a line to the tree is 32º. </a:t>
            </a:r>
            <a:br>
              <a:rPr lang="en-GB" sz="1800"/>
            </a:br>
            <a:r>
              <a:rPr lang="en-GB" sz="1800"/>
              <a:t>How wide is the river?</a:t>
            </a:r>
            <a:endParaRPr sz="1600"/>
          </a:p>
        </p:txBody>
      </p:sp>
      <p:sp>
        <p:nvSpPr>
          <p:cNvPr id="1815" name="Google Shape;1815;p104"/>
          <p:cNvSpPr/>
          <p:nvPr/>
        </p:nvSpPr>
        <p:spPr>
          <a:xfrm>
            <a:off x="1632625" y="3025875"/>
            <a:ext cx="2407800" cy="11289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6" name="Google Shape;1816;p104"/>
          <p:cNvSpPr/>
          <p:nvPr/>
        </p:nvSpPr>
        <p:spPr>
          <a:xfrm>
            <a:off x="3390300" y="3581450"/>
            <a:ext cx="1181700" cy="1181700"/>
          </a:xfrm>
          <a:prstGeom prst="arc">
            <a:avLst>
              <a:gd fmla="val 10992532" name="adj1"/>
              <a:gd fmla="val 12582991"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7" name="Google Shape;1817;p104"/>
          <p:cNvSpPr txBox="1"/>
          <p:nvPr>
            <p:ph idx="4294967295" type="body"/>
          </p:nvPr>
        </p:nvSpPr>
        <p:spPr>
          <a:xfrm>
            <a:off x="2979083" y="3834136"/>
            <a:ext cx="574800" cy="30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32</a:t>
            </a:r>
            <a:r>
              <a:rPr lang="en-GB" sz="2000">
                <a:latin typeface="Kalam"/>
                <a:ea typeface="Kalam"/>
                <a:cs typeface="Kalam"/>
                <a:sym typeface="Kalam"/>
              </a:rPr>
              <a:t>°</a:t>
            </a:r>
            <a:endParaRPr sz="2000">
              <a:latin typeface="Kalam"/>
              <a:ea typeface="Kalam"/>
              <a:cs typeface="Kalam"/>
              <a:sym typeface="Kalam"/>
            </a:endParaRPr>
          </a:p>
        </p:txBody>
      </p:sp>
      <p:sp>
        <p:nvSpPr>
          <p:cNvPr id="1818" name="Google Shape;1818;p104"/>
          <p:cNvSpPr/>
          <p:nvPr/>
        </p:nvSpPr>
        <p:spPr>
          <a:xfrm>
            <a:off x="1633236" y="3949743"/>
            <a:ext cx="206400" cy="2064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819" name="Google Shape;1819;p104"/>
          <p:cNvCxnSpPr/>
          <p:nvPr/>
        </p:nvCxnSpPr>
        <p:spPr>
          <a:xfrm rot="10800000">
            <a:off x="1632625" y="4275825"/>
            <a:ext cx="2414100" cy="0"/>
          </a:xfrm>
          <a:prstGeom prst="straightConnector1">
            <a:avLst/>
          </a:prstGeom>
          <a:noFill/>
          <a:ln cap="flat" cmpd="sng" w="28575">
            <a:solidFill>
              <a:schemeClr val="accent5"/>
            </a:solidFill>
            <a:prstDash val="solid"/>
            <a:round/>
            <a:headEnd len="med" w="med" type="triangle"/>
            <a:tailEnd len="med" w="med" type="triangle"/>
          </a:ln>
        </p:spPr>
      </p:cxnSp>
      <p:sp>
        <p:nvSpPr>
          <p:cNvPr id="1820" name="Google Shape;1820;p104"/>
          <p:cNvSpPr txBox="1"/>
          <p:nvPr>
            <p:ph idx="4294967295" type="body"/>
          </p:nvPr>
        </p:nvSpPr>
        <p:spPr>
          <a:xfrm>
            <a:off x="2517633" y="4313389"/>
            <a:ext cx="9426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60</a:t>
            </a:r>
            <a:r>
              <a:rPr lang="en-GB" sz="2000">
                <a:latin typeface="Kalam"/>
                <a:ea typeface="Kalam"/>
                <a:cs typeface="Kalam"/>
                <a:sym typeface="Kalam"/>
              </a:rPr>
              <a:t> m</a:t>
            </a:r>
            <a:endParaRPr sz="2000">
              <a:latin typeface="Kalam"/>
              <a:ea typeface="Kalam"/>
              <a:cs typeface="Kalam"/>
              <a:sym typeface="Kalam"/>
            </a:endParaRPr>
          </a:p>
        </p:txBody>
      </p:sp>
      <p:cxnSp>
        <p:nvCxnSpPr>
          <p:cNvPr id="1821" name="Google Shape;1821;p104"/>
          <p:cNvCxnSpPr/>
          <p:nvPr/>
        </p:nvCxnSpPr>
        <p:spPr>
          <a:xfrm rot="10800000">
            <a:off x="1473225" y="3025950"/>
            <a:ext cx="0" cy="1137600"/>
          </a:xfrm>
          <a:prstGeom prst="straightConnector1">
            <a:avLst/>
          </a:prstGeom>
          <a:noFill/>
          <a:ln cap="flat" cmpd="sng" w="28575">
            <a:solidFill>
              <a:schemeClr val="accent5"/>
            </a:solidFill>
            <a:prstDash val="solid"/>
            <a:round/>
            <a:headEnd len="med" w="med" type="triangle"/>
            <a:tailEnd len="med" w="med" type="triangle"/>
          </a:ln>
        </p:spPr>
      </p:cxnSp>
      <p:sp>
        <p:nvSpPr>
          <p:cNvPr id="1822" name="Google Shape;1822;p104"/>
          <p:cNvSpPr txBox="1"/>
          <p:nvPr>
            <p:ph idx="4294967295" type="body"/>
          </p:nvPr>
        </p:nvSpPr>
        <p:spPr>
          <a:xfrm>
            <a:off x="980275" y="3470400"/>
            <a:ext cx="727800" cy="30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r</a:t>
            </a:r>
            <a:r>
              <a:rPr lang="en-GB" sz="2000">
                <a:latin typeface="Kalam"/>
                <a:ea typeface="Kalam"/>
                <a:cs typeface="Kalam"/>
                <a:sym typeface="Kalam"/>
              </a:rPr>
              <a:t> m</a:t>
            </a:r>
            <a:endParaRPr sz="2000">
              <a:latin typeface="Kalam"/>
              <a:ea typeface="Kalam"/>
              <a:cs typeface="Kalam"/>
              <a:sym typeface="Kalam"/>
            </a:endParaRPr>
          </a:p>
        </p:txBody>
      </p:sp>
      <p:sp>
        <p:nvSpPr>
          <p:cNvPr id="1823" name="Google Shape;1823;p104"/>
          <p:cNvSpPr txBox="1"/>
          <p:nvPr>
            <p:ph idx="4294967295" type="body"/>
          </p:nvPr>
        </p:nvSpPr>
        <p:spPr>
          <a:xfrm>
            <a:off x="4637875" y="3318000"/>
            <a:ext cx="2764800" cy="30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r</a:t>
            </a:r>
            <a:r>
              <a:rPr lang="en-GB" sz="2000">
                <a:latin typeface="Kalam"/>
                <a:ea typeface="Kalam"/>
                <a:cs typeface="Kalam"/>
                <a:sym typeface="Kalam"/>
              </a:rPr>
              <a:t> = 60 × </a:t>
            </a:r>
            <a:r>
              <a:rPr lang="en-GB">
                <a:latin typeface="Times New Roman"/>
                <a:ea typeface="Times New Roman"/>
                <a:cs typeface="Times New Roman"/>
                <a:sym typeface="Times New Roman"/>
              </a:rPr>
              <a:t>tan</a:t>
            </a:r>
            <a:r>
              <a:rPr lang="en-GB">
                <a:latin typeface="Times New Roman"/>
                <a:ea typeface="Times New Roman"/>
                <a:cs typeface="Times New Roman"/>
                <a:sym typeface="Times New Roman"/>
              </a:rPr>
              <a:t>(</a:t>
            </a:r>
            <a:r>
              <a:rPr lang="en-GB">
                <a:latin typeface="Times New Roman"/>
                <a:ea typeface="Times New Roman"/>
                <a:cs typeface="Times New Roman"/>
                <a:sym typeface="Times New Roman"/>
              </a:rPr>
              <a:t>32°</a:t>
            </a: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1824" name="Google Shape;1824;p104"/>
          <p:cNvSpPr txBox="1"/>
          <p:nvPr>
            <p:ph idx="4294967295" type="body"/>
          </p:nvPr>
        </p:nvSpPr>
        <p:spPr>
          <a:xfrm>
            <a:off x="4637875" y="3699000"/>
            <a:ext cx="2764800" cy="30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r</a:t>
            </a:r>
            <a:r>
              <a:rPr lang="en-GB" sz="2000">
                <a:latin typeface="Kalam"/>
                <a:ea typeface="Kalam"/>
                <a:cs typeface="Kalam"/>
                <a:sym typeface="Kalam"/>
              </a:rPr>
              <a:t> = 37.5 </a:t>
            </a:r>
            <a:endParaRPr>
              <a:latin typeface="Times New Roman"/>
              <a:ea typeface="Times New Roman"/>
              <a:cs typeface="Times New Roman"/>
              <a:sym typeface="Times New Roman"/>
            </a:endParaRPr>
          </a:p>
        </p:txBody>
      </p:sp>
      <p:sp>
        <p:nvSpPr>
          <p:cNvPr id="1825" name="Google Shape;1825;p104"/>
          <p:cNvSpPr txBox="1"/>
          <p:nvPr/>
        </p:nvSpPr>
        <p:spPr>
          <a:xfrm>
            <a:off x="4660750" y="4198600"/>
            <a:ext cx="3562500" cy="18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Kalam"/>
                <a:ea typeface="Kalam"/>
                <a:cs typeface="Kalam"/>
                <a:sym typeface="Kalam"/>
              </a:rPr>
              <a:t>The river is 37.5 metres wide.</a:t>
            </a:r>
            <a:endParaRPr sz="2000">
              <a:solidFill>
                <a:srgbClr val="000000"/>
              </a:solidFill>
              <a:latin typeface="Kalam"/>
              <a:ea typeface="Kalam"/>
              <a:cs typeface="Kalam"/>
              <a:sym typeface="Kalam"/>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9" name="Shape 1829"/>
        <p:cNvGrpSpPr/>
        <p:nvPr/>
      </p:nvGrpSpPr>
      <p:grpSpPr>
        <a:xfrm>
          <a:off x="0" y="0"/>
          <a:ext cx="0" cy="0"/>
          <a:chOff x="0" y="0"/>
          <a:chExt cx="0" cy="0"/>
        </a:xfrm>
      </p:grpSpPr>
      <p:sp>
        <p:nvSpPr>
          <p:cNvPr id="1830" name="Google Shape;1830;p10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Practical uses of trigonometry</a:t>
            </a:r>
            <a:endParaRPr/>
          </a:p>
        </p:txBody>
      </p:sp>
      <p:sp>
        <p:nvSpPr>
          <p:cNvPr id="1831" name="Google Shape;1831;p10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 A 7 metre pole is secured by support wires. The wires are pegged in a straight line. The outer wires make an angle of 31° with the floor and the inner wires make an angle twice the size. How far apart are the wires?</a:t>
            </a:r>
            <a:endParaRPr sz="1800"/>
          </a:p>
        </p:txBody>
      </p:sp>
      <p:cxnSp>
        <p:nvCxnSpPr>
          <p:cNvPr id="1832" name="Google Shape;1832;p105"/>
          <p:cNvCxnSpPr/>
          <p:nvPr/>
        </p:nvCxnSpPr>
        <p:spPr>
          <a:xfrm flipH="1">
            <a:off x="2371943" y="1835809"/>
            <a:ext cx="494700" cy="1355100"/>
          </a:xfrm>
          <a:prstGeom prst="straightConnector1">
            <a:avLst/>
          </a:prstGeom>
          <a:noFill/>
          <a:ln cap="flat" cmpd="sng" w="38100">
            <a:solidFill>
              <a:srgbClr val="808080"/>
            </a:solidFill>
            <a:prstDash val="solid"/>
            <a:round/>
            <a:headEnd len="med" w="med" type="none"/>
            <a:tailEnd len="med" w="med" type="none"/>
          </a:ln>
        </p:spPr>
      </p:cxnSp>
      <p:cxnSp>
        <p:nvCxnSpPr>
          <p:cNvPr id="1833" name="Google Shape;1833;p105"/>
          <p:cNvCxnSpPr/>
          <p:nvPr/>
        </p:nvCxnSpPr>
        <p:spPr>
          <a:xfrm>
            <a:off x="2919424" y="1831423"/>
            <a:ext cx="481200" cy="1357500"/>
          </a:xfrm>
          <a:prstGeom prst="straightConnector1">
            <a:avLst/>
          </a:prstGeom>
          <a:noFill/>
          <a:ln cap="flat" cmpd="sng" w="38100">
            <a:solidFill>
              <a:srgbClr val="808080"/>
            </a:solidFill>
            <a:prstDash val="solid"/>
            <a:round/>
            <a:headEnd len="med" w="med" type="none"/>
            <a:tailEnd len="med" w="med" type="none"/>
          </a:ln>
        </p:spPr>
      </p:cxnSp>
      <p:cxnSp>
        <p:nvCxnSpPr>
          <p:cNvPr id="1834" name="Google Shape;1834;p105"/>
          <p:cNvCxnSpPr/>
          <p:nvPr/>
        </p:nvCxnSpPr>
        <p:spPr>
          <a:xfrm flipH="1">
            <a:off x="647174" y="1840453"/>
            <a:ext cx="2217000" cy="1358400"/>
          </a:xfrm>
          <a:prstGeom prst="straightConnector1">
            <a:avLst/>
          </a:prstGeom>
          <a:noFill/>
          <a:ln cap="flat" cmpd="sng" w="38100">
            <a:solidFill>
              <a:srgbClr val="808080"/>
            </a:solidFill>
            <a:prstDash val="solid"/>
            <a:round/>
            <a:headEnd len="med" w="med" type="none"/>
            <a:tailEnd len="med" w="med" type="none"/>
          </a:ln>
        </p:spPr>
      </p:cxnSp>
      <p:sp>
        <p:nvSpPr>
          <p:cNvPr id="1835" name="Google Shape;1835;p105"/>
          <p:cNvSpPr/>
          <p:nvPr/>
        </p:nvSpPr>
        <p:spPr>
          <a:xfrm>
            <a:off x="593986" y="3210008"/>
            <a:ext cx="4566900" cy="188400"/>
          </a:xfrm>
          <a:prstGeom prst="rect">
            <a:avLst/>
          </a:prstGeom>
          <a:solidFill>
            <a:srgbClr val="BEF2BD"/>
          </a:solidFill>
          <a:ln cap="flat" cmpd="sng" w="9525">
            <a:solidFill>
              <a:srgbClr val="BEF2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836" name="Google Shape;1836;p105"/>
          <p:cNvCxnSpPr/>
          <p:nvPr/>
        </p:nvCxnSpPr>
        <p:spPr>
          <a:xfrm>
            <a:off x="582675" y="3205363"/>
            <a:ext cx="4587600" cy="0"/>
          </a:xfrm>
          <a:prstGeom prst="straightConnector1">
            <a:avLst/>
          </a:prstGeom>
          <a:noFill/>
          <a:ln cap="flat" cmpd="sng" w="38100">
            <a:solidFill>
              <a:srgbClr val="000000"/>
            </a:solidFill>
            <a:prstDash val="solid"/>
            <a:round/>
            <a:headEnd len="med" w="med" type="none"/>
            <a:tailEnd len="med" w="med" type="none"/>
          </a:ln>
        </p:spPr>
      </p:cxnSp>
      <p:cxnSp>
        <p:nvCxnSpPr>
          <p:cNvPr id="1837" name="Google Shape;1837;p105"/>
          <p:cNvCxnSpPr/>
          <p:nvPr/>
        </p:nvCxnSpPr>
        <p:spPr>
          <a:xfrm rot="10800000">
            <a:off x="2865797" y="1822963"/>
            <a:ext cx="0" cy="1375200"/>
          </a:xfrm>
          <a:prstGeom prst="straightConnector1">
            <a:avLst/>
          </a:prstGeom>
          <a:noFill/>
          <a:ln cap="flat" cmpd="sng" w="28575">
            <a:solidFill>
              <a:srgbClr val="000000"/>
            </a:solidFill>
            <a:prstDash val="solid"/>
            <a:round/>
            <a:headEnd len="med" w="med" type="none"/>
            <a:tailEnd len="med" w="med" type="none"/>
          </a:ln>
        </p:spPr>
      </p:cxnSp>
      <p:cxnSp>
        <p:nvCxnSpPr>
          <p:cNvPr id="1838" name="Google Shape;1838;p105"/>
          <p:cNvCxnSpPr/>
          <p:nvPr/>
        </p:nvCxnSpPr>
        <p:spPr>
          <a:xfrm rot="10800000">
            <a:off x="2914706" y="1819247"/>
            <a:ext cx="0" cy="1375200"/>
          </a:xfrm>
          <a:prstGeom prst="straightConnector1">
            <a:avLst/>
          </a:prstGeom>
          <a:noFill/>
          <a:ln cap="flat" cmpd="sng" w="28575">
            <a:solidFill>
              <a:srgbClr val="000000"/>
            </a:solidFill>
            <a:prstDash val="solid"/>
            <a:round/>
            <a:headEnd len="med" w="med" type="none"/>
            <a:tailEnd len="med" w="med" type="none"/>
          </a:ln>
        </p:spPr>
      </p:cxnSp>
      <p:sp>
        <p:nvSpPr>
          <p:cNvPr id="1839" name="Google Shape;1839;p105"/>
          <p:cNvSpPr/>
          <p:nvPr/>
        </p:nvSpPr>
        <p:spPr>
          <a:xfrm>
            <a:off x="2840516" y="1732525"/>
            <a:ext cx="96900" cy="969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0" name="Google Shape;1840;p105"/>
          <p:cNvSpPr txBox="1"/>
          <p:nvPr/>
        </p:nvSpPr>
        <p:spPr>
          <a:xfrm>
            <a:off x="3029800" y="2385975"/>
            <a:ext cx="411900" cy="18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 m</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cxnSp>
        <p:nvCxnSpPr>
          <p:cNvPr id="1841" name="Google Shape;1841;p105"/>
          <p:cNvCxnSpPr/>
          <p:nvPr/>
        </p:nvCxnSpPr>
        <p:spPr>
          <a:xfrm>
            <a:off x="2912432" y="1840453"/>
            <a:ext cx="2217000" cy="1358400"/>
          </a:xfrm>
          <a:prstGeom prst="straightConnector1">
            <a:avLst/>
          </a:prstGeom>
          <a:noFill/>
          <a:ln cap="flat" cmpd="sng" w="38100">
            <a:solidFill>
              <a:srgbClr val="808080"/>
            </a:solidFill>
            <a:prstDash val="solid"/>
            <a:round/>
            <a:headEnd len="med" w="med" type="none"/>
            <a:tailEnd len="med" w="med" type="none"/>
          </a:ln>
        </p:spPr>
      </p:cxnSp>
      <p:cxnSp>
        <p:nvCxnSpPr>
          <p:cNvPr id="1842" name="Google Shape;1842;p105"/>
          <p:cNvCxnSpPr/>
          <p:nvPr/>
        </p:nvCxnSpPr>
        <p:spPr>
          <a:xfrm>
            <a:off x="2986005" y="1854439"/>
            <a:ext cx="0" cy="1334100"/>
          </a:xfrm>
          <a:prstGeom prst="straightConnector1">
            <a:avLst/>
          </a:prstGeom>
          <a:noFill/>
          <a:ln cap="flat" cmpd="sng" w="28575">
            <a:solidFill>
              <a:srgbClr val="000000"/>
            </a:solidFill>
            <a:prstDash val="solid"/>
            <a:round/>
            <a:headEnd len="med" w="med" type="triangle"/>
            <a:tailEnd len="med" w="med" type="triangle"/>
          </a:ln>
        </p:spPr>
      </p:cxnSp>
      <p:cxnSp>
        <p:nvCxnSpPr>
          <p:cNvPr id="1843" name="Google Shape;1843;p105"/>
          <p:cNvCxnSpPr/>
          <p:nvPr/>
        </p:nvCxnSpPr>
        <p:spPr>
          <a:xfrm>
            <a:off x="647180" y="3303289"/>
            <a:ext cx="1718400" cy="0"/>
          </a:xfrm>
          <a:prstGeom prst="straightConnector1">
            <a:avLst/>
          </a:prstGeom>
          <a:noFill/>
          <a:ln cap="flat" cmpd="sng" w="28575">
            <a:solidFill>
              <a:srgbClr val="000000"/>
            </a:solidFill>
            <a:prstDash val="solid"/>
            <a:round/>
            <a:headEnd len="med" w="med" type="triangle"/>
            <a:tailEnd len="med" w="med" type="triangle"/>
          </a:ln>
        </p:spPr>
      </p:cxnSp>
      <p:sp>
        <p:nvSpPr>
          <p:cNvPr id="1844" name="Google Shape;1844;p105"/>
          <p:cNvSpPr txBox="1"/>
          <p:nvPr>
            <p:ph idx="4294967295" type="body"/>
          </p:nvPr>
        </p:nvSpPr>
        <p:spPr>
          <a:xfrm>
            <a:off x="1261003" y="3266458"/>
            <a:ext cx="561300" cy="36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d</a:t>
            </a:r>
            <a:r>
              <a:rPr lang="en-GB" sz="1800"/>
              <a:t> m</a:t>
            </a:r>
            <a:endParaRPr sz="1800"/>
          </a:p>
        </p:txBody>
      </p:sp>
      <p:sp>
        <p:nvSpPr>
          <p:cNvPr id="1845" name="Google Shape;1845;p105"/>
          <p:cNvSpPr/>
          <p:nvPr/>
        </p:nvSpPr>
        <p:spPr>
          <a:xfrm>
            <a:off x="168297" y="2718325"/>
            <a:ext cx="974100" cy="974100"/>
          </a:xfrm>
          <a:prstGeom prst="arc">
            <a:avLst>
              <a:gd fmla="val 19737478" name="adj1"/>
              <a:gd fmla="val 0" name="adj2"/>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6" name="Google Shape;1846;p105"/>
          <p:cNvSpPr txBox="1"/>
          <p:nvPr>
            <p:ph idx="4294967295" type="body"/>
          </p:nvPr>
        </p:nvSpPr>
        <p:spPr>
          <a:xfrm>
            <a:off x="1186924" y="2884417"/>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31°</a:t>
            </a:r>
            <a:endParaRPr sz="1800"/>
          </a:p>
        </p:txBody>
      </p:sp>
      <p:sp>
        <p:nvSpPr>
          <p:cNvPr id="1847" name="Google Shape;1847;p105"/>
          <p:cNvSpPr/>
          <p:nvPr/>
        </p:nvSpPr>
        <p:spPr>
          <a:xfrm flipH="1">
            <a:off x="5938500" y="1665600"/>
            <a:ext cx="2217000" cy="1355100"/>
          </a:xfrm>
          <a:prstGeom prst="rtTriangl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8" name="Google Shape;1848;p105"/>
          <p:cNvSpPr txBox="1"/>
          <p:nvPr/>
        </p:nvSpPr>
        <p:spPr>
          <a:xfrm>
            <a:off x="8314046" y="2175025"/>
            <a:ext cx="622200" cy="18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7 m</a:t>
            </a:r>
            <a:r>
              <a:rPr lang="en-GB" sz="2000">
                <a:solidFill>
                  <a:srgbClr val="000000"/>
                </a:solidFill>
                <a:latin typeface="Kalam"/>
                <a:ea typeface="Kalam"/>
                <a:cs typeface="Kalam"/>
                <a:sym typeface="Kalam"/>
              </a:rPr>
              <a:t> </a:t>
            </a:r>
            <a:endParaRPr sz="2000">
              <a:solidFill>
                <a:srgbClr val="000000"/>
              </a:solidFill>
              <a:latin typeface="Kalam"/>
              <a:ea typeface="Kalam"/>
              <a:cs typeface="Kalam"/>
              <a:sym typeface="Kalam"/>
            </a:endParaRPr>
          </a:p>
        </p:txBody>
      </p:sp>
      <p:cxnSp>
        <p:nvCxnSpPr>
          <p:cNvPr id="1849" name="Google Shape;1849;p105"/>
          <p:cNvCxnSpPr/>
          <p:nvPr/>
        </p:nvCxnSpPr>
        <p:spPr>
          <a:xfrm>
            <a:off x="8270264" y="1643478"/>
            <a:ext cx="0" cy="1334100"/>
          </a:xfrm>
          <a:prstGeom prst="straightConnector1">
            <a:avLst/>
          </a:prstGeom>
          <a:noFill/>
          <a:ln cap="flat" cmpd="sng" w="28575">
            <a:solidFill>
              <a:srgbClr val="000000"/>
            </a:solidFill>
            <a:prstDash val="solid"/>
            <a:round/>
            <a:headEnd len="med" w="med" type="triangle"/>
            <a:tailEnd len="med" w="med" type="triangle"/>
          </a:ln>
        </p:spPr>
      </p:cxnSp>
      <p:sp>
        <p:nvSpPr>
          <p:cNvPr id="1850" name="Google Shape;1850;p105"/>
          <p:cNvSpPr/>
          <p:nvPr/>
        </p:nvSpPr>
        <p:spPr>
          <a:xfrm>
            <a:off x="5426097" y="2548286"/>
            <a:ext cx="974100" cy="974100"/>
          </a:xfrm>
          <a:prstGeom prst="arc">
            <a:avLst>
              <a:gd fmla="val 19737478" name="adj1"/>
              <a:gd fmla="val 0" name="adj2"/>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1" name="Google Shape;1851;p105"/>
          <p:cNvSpPr txBox="1"/>
          <p:nvPr>
            <p:ph idx="4294967295" type="body"/>
          </p:nvPr>
        </p:nvSpPr>
        <p:spPr>
          <a:xfrm>
            <a:off x="6444724" y="2714378"/>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31°</a:t>
            </a:r>
            <a:endParaRPr sz="2000">
              <a:latin typeface="Kalam"/>
              <a:ea typeface="Kalam"/>
              <a:cs typeface="Kalam"/>
              <a:sym typeface="Kalam"/>
            </a:endParaRPr>
          </a:p>
        </p:txBody>
      </p:sp>
      <p:sp>
        <p:nvSpPr>
          <p:cNvPr id="1852" name="Google Shape;1852;p105"/>
          <p:cNvSpPr/>
          <p:nvPr/>
        </p:nvSpPr>
        <p:spPr>
          <a:xfrm>
            <a:off x="7962408" y="2832384"/>
            <a:ext cx="188400" cy="1884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3" name="Google Shape;1853;p105"/>
          <p:cNvSpPr txBox="1"/>
          <p:nvPr/>
        </p:nvSpPr>
        <p:spPr>
          <a:xfrm>
            <a:off x="6409054" y="3165625"/>
            <a:ext cx="188400" cy="18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7 </a:t>
            </a:r>
            <a:endParaRPr sz="2000">
              <a:solidFill>
                <a:srgbClr val="000000"/>
              </a:solidFill>
              <a:latin typeface="Kalam"/>
              <a:ea typeface="Kalam"/>
              <a:cs typeface="Kalam"/>
              <a:sym typeface="Kalam"/>
            </a:endParaRPr>
          </a:p>
        </p:txBody>
      </p:sp>
      <p:sp>
        <p:nvSpPr>
          <p:cNvPr id="1854" name="Google Shape;1854;p105"/>
          <p:cNvSpPr txBox="1"/>
          <p:nvPr/>
        </p:nvSpPr>
        <p:spPr>
          <a:xfrm>
            <a:off x="6054483" y="3411864"/>
            <a:ext cx="974100" cy="367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Times New Roman"/>
                <a:ea typeface="Times New Roman"/>
                <a:cs typeface="Times New Roman"/>
                <a:sym typeface="Times New Roman"/>
              </a:rPr>
              <a:t>tan(31°)</a:t>
            </a:r>
            <a:endParaRPr sz="2200">
              <a:solidFill>
                <a:srgbClr val="000000"/>
              </a:solidFill>
              <a:latin typeface="Times New Roman"/>
              <a:ea typeface="Times New Roman"/>
              <a:cs typeface="Times New Roman"/>
              <a:sym typeface="Times New Roman"/>
            </a:endParaRPr>
          </a:p>
        </p:txBody>
      </p:sp>
      <p:cxnSp>
        <p:nvCxnSpPr>
          <p:cNvPr id="1855" name="Google Shape;1855;p105"/>
          <p:cNvCxnSpPr/>
          <p:nvPr/>
        </p:nvCxnSpPr>
        <p:spPr>
          <a:xfrm>
            <a:off x="6017975" y="3442475"/>
            <a:ext cx="999600" cy="0"/>
          </a:xfrm>
          <a:prstGeom prst="straightConnector1">
            <a:avLst/>
          </a:prstGeom>
          <a:noFill/>
          <a:ln cap="flat" cmpd="sng" w="19050">
            <a:solidFill>
              <a:schemeClr val="dk1"/>
            </a:solidFill>
            <a:prstDash val="solid"/>
            <a:round/>
            <a:headEnd len="med" w="med" type="none"/>
            <a:tailEnd len="med" w="med" type="none"/>
          </a:ln>
        </p:spPr>
      </p:cxnSp>
      <p:sp>
        <p:nvSpPr>
          <p:cNvPr id="1856" name="Google Shape;1856;p105"/>
          <p:cNvSpPr txBox="1"/>
          <p:nvPr/>
        </p:nvSpPr>
        <p:spPr>
          <a:xfrm>
            <a:off x="7094850" y="3318025"/>
            <a:ext cx="1155600" cy="18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 11.65 m</a:t>
            </a:r>
            <a:r>
              <a:rPr lang="en-GB" sz="2000">
                <a:latin typeface="Kalam"/>
                <a:ea typeface="Kalam"/>
                <a:cs typeface="Kalam"/>
                <a:sym typeface="Kalam"/>
              </a:rPr>
              <a:t> </a:t>
            </a:r>
            <a:endParaRPr sz="2000">
              <a:solidFill>
                <a:srgbClr val="000000"/>
              </a:solidFill>
              <a:latin typeface="Kalam"/>
              <a:ea typeface="Kalam"/>
              <a:cs typeface="Kalam"/>
              <a:sym typeface="Kalam"/>
            </a:endParaRPr>
          </a:p>
        </p:txBody>
      </p:sp>
      <p:cxnSp>
        <p:nvCxnSpPr>
          <p:cNvPr id="1857" name="Google Shape;1857;p105"/>
          <p:cNvCxnSpPr/>
          <p:nvPr/>
        </p:nvCxnSpPr>
        <p:spPr>
          <a:xfrm>
            <a:off x="5938505" y="3150039"/>
            <a:ext cx="2205900" cy="0"/>
          </a:xfrm>
          <a:prstGeom prst="straightConnector1">
            <a:avLst/>
          </a:prstGeom>
          <a:noFill/>
          <a:ln cap="flat" cmpd="sng" w="28575">
            <a:solidFill>
              <a:srgbClr val="000000"/>
            </a:solidFill>
            <a:prstDash val="solid"/>
            <a:round/>
            <a:headEnd len="med" w="med" type="triangle"/>
            <a:tailEnd len="med" w="med" type="triangle"/>
          </a:ln>
        </p:spPr>
      </p:cxnSp>
      <p:sp>
        <p:nvSpPr>
          <p:cNvPr id="1858" name="Google Shape;1858;p105"/>
          <p:cNvSpPr/>
          <p:nvPr/>
        </p:nvSpPr>
        <p:spPr>
          <a:xfrm flipH="1">
            <a:off x="5007150" y="3211500"/>
            <a:ext cx="481200" cy="1313700"/>
          </a:xfrm>
          <a:prstGeom prst="rtTriangl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9" name="Google Shape;1859;p105"/>
          <p:cNvSpPr/>
          <p:nvPr/>
        </p:nvSpPr>
        <p:spPr>
          <a:xfrm>
            <a:off x="5339378" y="4376370"/>
            <a:ext cx="147900" cy="1479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0" name="Google Shape;1860;p105"/>
          <p:cNvSpPr/>
          <p:nvPr/>
        </p:nvSpPr>
        <p:spPr>
          <a:xfrm>
            <a:off x="4752640" y="4280788"/>
            <a:ext cx="481200" cy="481200"/>
          </a:xfrm>
          <a:prstGeom prst="arc">
            <a:avLst>
              <a:gd fmla="val 17685625" name="adj1"/>
              <a:gd fmla="val 0" name="adj2"/>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1" name="Google Shape;1861;p105"/>
          <p:cNvSpPr txBox="1"/>
          <p:nvPr>
            <p:ph idx="4294967295" type="body"/>
          </p:nvPr>
        </p:nvSpPr>
        <p:spPr>
          <a:xfrm>
            <a:off x="4663202" y="4237945"/>
            <a:ext cx="717300" cy="21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62</a:t>
            </a:r>
            <a:r>
              <a:rPr lang="en-GB" sz="2000">
                <a:latin typeface="Kalam"/>
                <a:ea typeface="Kalam"/>
                <a:cs typeface="Kalam"/>
                <a:sym typeface="Kalam"/>
              </a:rPr>
              <a:t>°</a:t>
            </a:r>
            <a:endParaRPr sz="2000">
              <a:latin typeface="Kalam"/>
              <a:ea typeface="Kalam"/>
              <a:cs typeface="Kalam"/>
              <a:sym typeface="Kalam"/>
            </a:endParaRPr>
          </a:p>
        </p:txBody>
      </p:sp>
      <p:cxnSp>
        <p:nvCxnSpPr>
          <p:cNvPr id="1862" name="Google Shape;1862;p105"/>
          <p:cNvCxnSpPr/>
          <p:nvPr/>
        </p:nvCxnSpPr>
        <p:spPr>
          <a:xfrm>
            <a:off x="4977300" y="4419425"/>
            <a:ext cx="89100" cy="61800"/>
          </a:xfrm>
          <a:prstGeom prst="straightConnector1">
            <a:avLst/>
          </a:prstGeom>
          <a:noFill/>
          <a:ln cap="flat" cmpd="sng" w="38100">
            <a:solidFill>
              <a:schemeClr val="dk1"/>
            </a:solidFill>
            <a:prstDash val="solid"/>
            <a:round/>
            <a:headEnd len="med" w="med" type="none"/>
            <a:tailEnd len="med" w="med" type="none"/>
          </a:ln>
        </p:spPr>
      </p:cxnSp>
      <p:sp>
        <p:nvSpPr>
          <p:cNvPr id="1863" name="Google Shape;1863;p105"/>
          <p:cNvSpPr txBox="1"/>
          <p:nvPr/>
        </p:nvSpPr>
        <p:spPr>
          <a:xfrm>
            <a:off x="5637724" y="3743050"/>
            <a:ext cx="481200" cy="18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7 m</a:t>
            </a:r>
            <a:r>
              <a:rPr lang="en-GB" sz="2000">
                <a:solidFill>
                  <a:srgbClr val="000000"/>
                </a:solidFill>
                <a:latin typeface="Kalam"/>
                <a:ea typeface="Kalam"/>
                <a:cs typeface="Kalam"/>
                <a:sym typeface="Kalam"/>
              </a:rPr>
              <a:t> </a:t>
            </a:r>
            <a:endParaRPr sz="2000">
              <a:solidFill>
                <a:srgbClr val="000000"/>
              </a:solidFill>
              <a:latin typeface="Kalam"/>
              <a:ea typeface="Kalam"/>
              <a:cs typeface="Kalam"/>
              <a:sym typeface="Kalam"/>
            </a:endParaRPr>
          </a:p>
        </p:txBody>
      </p:sp>
      <p:cxnSp>
        <p:nvCxnSpPr>
          <p:cNvPr id="1864" name="Google Shape;1864;p105"/>
          <p:cNvCxnSpPr/>
          <p:nvPr/>
        </p:nvCxnSpPr>
        <p:spPr>
          <a:xfrm>
            <a:off x="5593937" y="3211511"/>
            <a:ext cx="0" cy="1334100"/>
          </a:xfrm>
          <a:prstGeom prst="straightConnector1">
            <a:avLst/>
          </a:prstGeom>
          <a:noFill/>
          <a:ln cap="flat" cmpd="sng" w="28575">
            <a:solidFill>
              <a:srgbClr val="000000"/>
            </a:solidFill>
            <a:prstDash val="solid"/>
            <a:round/>
            <a:headEnd len="med" w="med" type="triangle"/>
            <a:tailEnd len="med" w="med" type="triangle"/>
          </a:ln>
        </p:spPr>
      </p:cxnSp>
      <p:cxnSp>
        <p:nvCxnSpPr>
          <p:cNvPr id="1865" name="Google Shape;1865;p105"/>
          <p:cNvCxnSpPr/>
          <p:nvPr/>
        </p:nvCxnSpPr>
        <p:spPr>
          <a:xfrm rot="10800000">
            <a:off x="4993325" y="4628141"/>
            <a:ext cx="508500" cy="0"/>
          </a:xfrm>
          <a:prstGeom prst="straightConnector1">
            <a:avLst/>
          </a:prstGeom>
          <a:noFill/>
          <a:ln cap="flat" cmpd="sng" w="28575">
            <a:solidFill>
              <a:srgbClr val="000000"/>
            </a:solidFill>
            <a:prstDash val="solid"/>
            <a:round/>
            <a:headEnd len="med" w="med" type="triangle"/>
            <a:tailEnd len="med" w="med" type="triangle"/>
          </a:ln>
        </p:spPr>
      </p:cxnSp>
      <p:sp>
        <p:nvSpPr>
          <p:cNvPr id="1866" name="Google Shape;1866;p105"/>
          <p:cNvSpPr txBox="1"/>
          <p:nvPr/>
        </p:nvSpPr>
        <p:spPr>
          <a:xfrm>
            <a:off x="6409054" y="4080025"/>
            <a:ext cx="188400" cy="18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7 </a:t>
            </a:r>
            <a:endParaRPr sz="2000">
              <a:solidFill>
                <a:srgbClr val="000000"/>
              </a:solidFill>
              <a:latin typeface="Kalam"/>
              <a:ea typeface="Kalam"/>
              <a:cs typeface="Kalam"/>
              <a:sym typeface="Kalam"/>
            </a:endParaRPr>
          </a:p>
        </p:txBody>
      </p:sp>
      <p:sp>
        <p:nvSpPr>
          <p:cNvPr id="1867" name="Google Shape;1867;p105"/>
          <p:cNvSpPr txBox="1"/>
          <p:nvPr/>
        </p:nvSpPr>
        <p:spPr>
          <a:xfrm>
            <a:off x="6054483" y="4326264"/>
            <a:ext cx="974100" cy="367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Times New Roman"/>
                <a:ea typeface="Times New Roman"/>
                <a:cs typeface="Times New Roman"/>
                <a:sym typeface="Times New Roman"/>
              </a:rPr>
              <a:t>tan(62°)</a:t>
            </a:r>
            <a:endParaRPr sz="2200">
              <a:solidFill>
                <a:srgbClr val="000000"/>
              </a:solidFill>
              <a:latin typeface="Times New Roman"/>
              <a:ea typeface="Times New Roman"/>
              <a:cs typeface="Times New Roman"/>
              <a:sym typeface="Times New Roman"/>
            </a:endParaRPr>
          </a:p>
        </p:txBody>
      </p:sp>
      <p:cxnSp>
        <p:nvCxnSpPr>
          <p:cNvPr id="1868" name="Google Shape;1868;p105"/>
          <p:cNvCxnSpPr/>
          <p:nvPr/>
        </p:nvCxnSpPr>
        <p:spPr>
          <a:xfrm>
            <a:off x="6017975" y="4356875"/>
            <a:ext cx="999600" cy="0"/>
          </a:xfrm>
          <a:prstGeom prst="straightConnector1">
            <a:avLst/>
          </a:prstGeom>
          <a:noFill/>
          <a:ln cap="flat" cmpd="sng" w="19050">
            <a:solidFill>
              <a:schemeClr val="dk1"/>
            </a:solidFill>
            <a:prstDash val="solid"/>
            <a:round/>
            <a:headEnd len="med" w="med" type="none"/>
            <a:tailEnd len="med" w="med" type="none"/>
          </a:ln>
        </p:spPr>
      </p:cxnSp>
      <p:sp>
        <p:nvSpPr>
          <p:cNvPr id="1869" name="Google Shape;1869;p105"/>
          <p:cNvSpPr txBox="1"/>
          <p:nvPr/>
        </p:nvSpPr>
        <p:spPr>
          <a:xfrm>
            <a:off x="7094850" y="4232425"/>
            <a:ext cx="1155600" cy="18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 3.72 m </a:t>
            </a:r>
            <a:endParaRPr sz="2000">
              <a:solidFill>
                <a:srgbClr val="000000"/>
              </a:solidFill>
              <a:latin typeface="Kalam"/>
              <a:ea typeface="Kalam"/>
              <a:cs typeface="Kalam"/>
              <a:sym typeface="Kalam"/>
            </a:endParaRPr>
          </a:p>
        </p:txBody>
      </p:sp>
      <p:sp>
        <p:nvSpPr>
          <p:cNvPr id="1870" name="Google Shape;1870;p105"/>
          <p:cNvSpPr txBox="1"/>
          <p:nvPr/>
        </p:nvSpPr>
        <p:spPr>
          <a:xfrm>
            <a:off x="761400" y="3922475"/>
            <a:ext cx="2988600" cy="18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200">
                <a:latin typeface="Times New Roman"/>
                <a:ea typeface="Times New Roman"/>
                <a:cs typeface="Times New Roman"/>
                <a:sym typeface="Times New Roman"/>
              </a:rPr>
              <a:t>d</a:t>
            </a:r>
            <a:r>
              <a:rPr lang="en-GB" sz="2000">
                <a:latin typeface="Kalam"/>
                <a:ea typeface="Kalam"/>
                <a:cs typeface="Kalam"/>
                <a:sym typeface="Kalam"/>
              </a:rPr>
              <a:t> </a:t>
            </a:r>
            <a:r>
              <a:rPr lang="en-GB" sz="2000">
                <a:latin typeface="Kalam"/>
                <a:ea typeface="Kalam"/>
                <a:cs typeface="Kalam"/>
                <a:sym typeface="Kalam"/>
              </a:rPr>
              <a:t>= 11.65 - 3.72 = 7.93  </a:t>
            </a:r>
            <a:endParaRPr sz="2000">
              <a:solidFill>
                <a:srgbClr val="000000"/>
              </a:solidFill>
              <a:latin typeface="Kalam"/>
              <a:ea typeface="Kalam"/>
              <a:cs typeface="Kalam"/>
              <a:sym typeface="Kalam"/>
            </a:endParaRPr>
          </a:p>
        </p:txBody>
      </p:sp>
      <p:sp>
        <p:nvSpPr>
          <p:cNvPr id="1871" name="Google Shape;1871;p105"/>
          <p:cNvSpPr txBox="1"/>
          <p:nvPr/>
        </p:nvSpPr>
        <p:spPr>
          <a:xfrm>
            <a:off x="698350" y="4427200"/>
            <a:ext cx="3562500" cy="18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Kalam"/>
                <a:ea typeface="Kalam"/>
                <a:cs typeface="Kalam"/>
                <a:sym typeface="Kalam"/>
              </a:rPr>
              <a:t>The wires are </a:t>
            </a:r>
            <a:r>
              <a:rPr lang="en-GB" sz="2000">
                <a:latin typeface="Kalam"/>
                <a:ea typeface="Kalam"/>
                <a:cs typeface="Kalam"/>
                <a:sym typeface="Kalam"/>
              </a:rPr>
              <a:t>7.93 m apart.  </a:t>
            </a:r>
            <a:endParaRPr sz="2000">
              <a:solidFill>
                <a:srgbClr val="000000"/>
              </a:solidFill>
              <a:latin typeface="Kalam"/>
              <a:ea typeface="Kalam"/>
              <a:cs typeface="Kalam"/>
              <a:sym typeface="Kala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5" name="Shape 1875"/>
        <p:cNvGrpSpPr/>
        <p:nvPr/>
      </p:nvGrpSpPr>
      <p:grpSpPr>
        <a:xfrm>
          <a:off x="0" y="0"/>
          <a:ext cx="0" cy="0"/>
          <a:chOff x="0" y="0"/>
          <a:chExt cx="0" cy="0"/>
        </a:xfrm>
      </p:grpSpPr>
      <p:sp>
        <p:nvSpPr>
          <p:cNvPr id="1876" name="Google Shape;1876;p10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Trigonometry can be used in many practical situations. Often it is used alongside Pythagoras’ theorem.</a:t>
            </a:r>
            <a:endParaRPr/>
          </a:p>
          <a:p>
            <a:pPr indent="0" lvl="0" marL="0" rtl="0" algn="l">
              <a:spcBef>
                <a:spcPts val="1000"/>
              </a:spcBef>
              <a:spcAft>
                <a:spcPts val="0"/>
              </a:spcAft>
              <a:buNone/>
            </a:pPr>
            <a:r>
              <a:rPr lang="en-GB"/>
              <a:t>It is used to calculate or </a:t>
            </a:r>
            <a:r>
              <a:rPr lang="en-GB"/>
              <a:t>estimate the height of large objects, where measuring them is impractical.</a:t>
            </a:r>
            <a:endParaRPr/>
          </a:p>
          <a:p>
            <a:pPr indent="0" lvl="0" marL="0" rtl="0" algn="l">
              <a:spcBef>
                <a:spcPts val="1000"/>
              </a:spcBef>
              <a:spcAft>
                <a:spcPts val="1000"/>
              </a:spcAft>
              <a:buNone/>
            </a:pPr>
            <a:r>
              <a:t/>
            </a:r>
            <a:endParaRPr/>
          </a:p>
        </p:txBody>
      </p:sp>
      <p:sp>
        <p:nvSpPr>
          <p:cNvPr id="1877" name="Google Shape;1877;p106"/>
          <p:cNvSpPr txBox="1"/>
          <p:nvPr>
            <p:ph type="title"/>
          </p:nvPr>
        </p:nvSpPr>
        <p:spPr>
          <a:xfrm>
            <a:off x="1684800" y="43825"/>
            <a:ext cx="57414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Choosing an appropriate method for finding lengths of a triangle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1" name="Shape 1881"/>
        <p:cNvGrpSpPr/>
        <p:nvPr/>
      </p:nvGrpSpPr>
      <p:grpSpPr>
        <a:xfrm>
          <a:off x="0" y="0"/>
          <a:ext cx="0" cy="0"/>
          <a:chOff x="0" y="0"/>
          <a:chExt cx="0" cy="0"/>
        </a:xfrm>
      </p:grpSpPr>
      <p:sp>
        <p:nvSpPr>
          <p:cNvPr id="1882" name="Google Shape;1882;p107"/>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883" name="Google Shape;1883;p107"/>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