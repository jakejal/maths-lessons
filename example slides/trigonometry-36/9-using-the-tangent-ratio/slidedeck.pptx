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36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A7510FF-DB5D-4613-96E9-5DA671240F2A}">
  <a:tblStyle styleId="{2A7510FF-DB5D-4613-96E9-5DA671240F2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BF94F13-6AE9-463D-A666-45AB6FBBDEB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6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b9ae33494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b9ae33494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b9ae33494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b9ae33494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bb1dfd70b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bb1dfd70b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2bb1dfd70b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2bb1dfd70b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2bb1dfd70b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2bb1dfd70b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2bb1dfd70b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3" name="Google Shape;913;g2bb1dfd70b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2bb1dfd70b6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2bb1dfd70b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bb1dfd70b6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2bb1dfd70b6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2bb1dfd70b6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2bb1dfd70b6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2bb1dfd70b6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2bb1dfd70b6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2bb1dfd70b6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2bb1dfd70b6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g2bb1dfd70b6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7" name="Google Shape;1147;g2bb1dfd70b6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2bb1dfd70b6_0_1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7" name="Google Shape;1177;g2bb1dfd70b6_0_1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2bb1dfd70b6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6" name="Google Shape;1226;g2bb1dfd70b6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2bb1dfd70b6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2" name="Google Shape;1272;g2bb1dfd70b6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3" name="Shape 1333"/>
        <p:cNvGrpSpPr/>
        <p:nvPr/>
      </p:nvGrpSpPr>
      <p:grpSpPr>
        <a:xfrm>
          <a:off x="0" y="0"/>
          <a:ext cx="0" cy="0"/>
          <a:chOff x="0" y="0"/>
          <a:chExt cx="0" cy="0"/>
        </a:xfrm>
      </p:grpSpPr>
      <p:sp>
        <p:nvSpPr>
          <p:cNvPr id="1334" name="Google Shape;1334;g2bb1dfd70b6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5" name="Google Shape;1335;g2bb1dfd70b6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g2bb1dfd70b6_0_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7" name="Google Shape;1367;g2bb1dfd70b6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g2bb1dfd70b6_0_1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0" name="Google Shape;1430;g2bb1dfd70b6_0_1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2bb1dfd70b6_0_1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2bb1dfd70b6_0_1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1" name="Shape 1551"/>
        <p:cNvGrpSpPr/>
        <p:nvPr/>
      </p:nvGrpSpPr>
      <p:grpSpPr>
        <a:xfrm>
          <a:off x="0" y="0"/>
          <a:ext cx="0" cy="0"/>
          <a:chOff x="0" y="0"/>
          <a:chExt cx="0" cy="0"/>
        </a:xfrm>
      </p:grpSpPr>
      <p:sp>
        <p:nvSpPr>
          <p:cNvPr id="1552" name="Google Shape;1552;g2bb1dfd70b6_0_1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3" name="Google Shape;1553;g2bb1dfd70b6_0_1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2b9ae334947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9" name="Google Shape;1589;g2b9ae334947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2b9ae334947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2b9ae334947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g2b9ae334947_0_1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5" name="Google Shape;1625;g2b9ae334947_0_1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2b9ae334947_0_10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4" name="Google Shape;1654;g2b9ae334947_0_1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2" name="Shape 1682"/>
        <p:cNvGrpSpPr/>
        <p:nvPr/>
      </p:nvGrpSpPr>
      <p:grpSpPr>
        <a:xfrm>
          <a:off x="0" y="0"/>
          <a:ext cx="0" cy="0"/>
          <a:chOff x="0" y="0"/>
          <a:chExt cx="0" cy="0"/>
        </a:xfrm>
      </p:grpSpPr>
      <p:sp>
        <p:nvSpPr>
          <p:cNvPr id="1683" name="Google Shape;1683;g2b9ae334947_0_1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4" name="Google Shape;1684;g2b9ae334947_0_1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1" name="Shape 1711"/>
        <p:cNvGrpSpPr/>
        <p:nvPr/>
      </p:nvGrpSpPr>
      <p:grpSpPr>
        <a:xfrm>
          <a:off x="0" y="0"/>
          <a:ext cx="0" cy="0"/>
          <a:chOff x="0" y="0"/>
          <a:chExt cx="0" cy="0"/>
        </a:xfrm>
      </p:grpSpPr>
      <p:sp>
        <p:nvSpPr>
          <p:cNvPr id="1712" name="Google Shape;1712;g2b9ae334947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3" name="Google Shape;1713;g2b9ae334947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6" name="Shape 1736"/>
        <p:cNvGrpSpPr/>
        <p:nvPr/>
      </p:nvGrpSpPr>
      <p:grpSpPr>
        <a:xfrm>
          <a:off x="0" y="0"/>
          <a:ext cx="0" cy="0"/>
          <a:chOff x="0" y="0"/>
          <a:chExt cx="0" cy="0"/>
        </a:xfrm>
      </p:grpSpPr>
      <p:sp>
        <p:nvSpPr>
          <p:cNvPr id="1737" name="Google Shape;1737;g2b9ae334947_0_1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8" name="Google Shape;1738;g2b9ae334947_0_1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g2b9ae334947_0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4" name="Google Shape;1754;g2b9ae334947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6" name="Shape 1786"/>
        <p:cNvGrpSpPr/>
        <p:nvPr/>
      </p:nvGrpSpPr>
      <p:grpSpPr>
        <a:xfrm>
          <a:off x="0" y="0"/>
          <a:ext cx="0" cy="0"/>
          <a:chOff x="0" y="0"/>
          <a:chExt cx="0" cy="0"/>
        </a:xfrm>
      </p:grpSpPr>
      <p:sp>
        <p:nvSpPr>
          <p:cNvPr id="1787" name="Google Shape;1787;g2b9ae334947_0_1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8" name="Google Shape;1788;g2b9ae334947_0_1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g2b9ae334947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2" name="Google Shape;1822;g2b9ae334947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7" name="Shape 1857"/>
        <p:cNvGrpSpPr/>
        <p:nvPr/>
      </p:nvGrpSpPr>
      <p:grpSpPr>
        <a:xfrm>
          <a:off x="0" y="0"/>
          <a:ext cx="0" cy="0"/>
          <a:chOff x="0" y="0"/>
          <a:chExt cx="0" cy="0"/>
        </a:xfrm>
      </p:grpSpPr>
      <p:sp>
        <p:nvSpPr>
          <p:cNvPr id="1858" name="Google Shape;1858;g2b9ae334947_0_1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9" name="Google Shape;1859;g2b9ae334947_0_1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g2b9ae334947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2" name="Google Shape;1872;g2b9ae334947_0_1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0" name="Shape 1880"/>
        <p:cNvGrpSpPr/>
        <p:nvPr/>
      </p:nvGrpSpPr>
      <p:grpSpPr>
        <a:xfrm>
          <a:off x="0" y="0"/>
          <a:ext cx="0" cy="0"/>
          <a:chOff x="0" y="0"/>
          <a:chExt cx="0" cy="0"/>
        </a:xfrm>
      </p:grpSpPr>
      <p:sp>
        <p:nvSpPr>
          <p:cNvPr id="1881" name="Google Shape;1881;g2b9ae334947_0_1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2" name="Google Shape;1882;g2b9ae334947_0_1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g2b9ae334947_0_1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2" name="Google Shape;1902;g2b9ae334947_0_1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3" name="Shape 1913"/>
        <p:cNvGrpSpPr/>
        <p:nvPr/>
      </p:nvGrpSpPr>
      <p:grpSpPr>
        <a:xfrm>
          <a:off x="0" y="0"/>
          <a:ext cx="0" cy="0"/>
          <a:chOff x="0" y="0"/>
          <a:chExt cx="0" cy="0"/>
        </a:xfrm>
      </p:grpSpPr>
      <p:sp>
        <p:nvSpPr>
          <p:cNvPr id="1914" name="Google Shape;1914;g2b9ae334947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5" name="Google Shape;1915;g2b9ae334947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0" name="Shape 1960"/>
        <p:cNvGrpSpPr/>
        <p:nvPr/>
      </p:nvGrpSpPr>
      <p:grpSpPr>
        <a:xfrm>
          <a:off x="0" y="0"/>
          <a:ext cx="0" cy="0"/>
          <a:chOff x="0" y="0"/>
          <a:chExt cx="0" cy="0"/>
        </a:xfrm>
      </p:grpSpPr>
      <p:sp>
        <p:nvSpPr>
          <p:cNvPr id="1961" name="Google Shape;1961;g2b9ae334947_0_15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2" name="Google Shape;1962;g2b9ae334947_0_15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9" name="Shape 1989"/>
        <p:cNvGrpSpPr/>
        <p:nvPr/>
      </p:nvGrpSpPr>
      <p:grpSpPr>
        <a:xfrm>
          <a:off x="0" y="0"/>
          <a:ext cx="0" cy="0"/>
          <a:chOff x="0" y="0"/>
          <a:chExt cx="0" cy="0"/>
        </a:xfrm>
      </p:grpSpPr>
      <p:sp>
        <p:nvSpPr>
          <p:cNvPr id="1990" name="Google Shape;1990;g2b9ae334947_0_1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1" name="Google Shape;1991;g2b9ae334947_0_1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5" name="Shape 2035"/>
        <p:cNvGrpSpPr/>
        <p:nvPr/>
      </p:nvGrpSpPr>
      <p:grpSpPr>
        <a:xfrm>
          <a:off x="0" y="0"/>
          <a:ext cx="0" cy="0"/>
          <a:chOff x="0" y="0"/>
          <a:chExt cx="0" cy="0"/>
        </a:xfrm>
      </p:grpSpPr>
      <p:sp>
        <p:nvSpPr>
          <p:cNvPr id="2036" name="Google Shape;2036;g2b9ae334947_0_1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7" name="Google Shape;2037;g2b9ae334947_0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2" name="Shape 2082"/>
        <p:cNvGrpSpPr/>
        <p:nvPr/>
      </p:nvGrpSpPr>
      <p:grpSpPr>
        <a:xfrm>
          <a:off x="0" y="0"/>
          <a:ext cx="0" cy="0"/>
          <a:chOff x="0" y="0"/>
          <a:chExt cx="0" cy="0"/>
        </a:xfrm>
      </p:grpSpPr>
      <p:sp>
        <p:nvSpPr>
          <p:cNvPr id="2083" name="Google Shape;2083;g2b9ae334947_0_1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4" name="Google Shape;2084;g2b9ae334947_0_1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2" name="Shape 2122"/>
        <p:cNvGrpSpPr/>
        <p:nvPr/>
      </p:nvGrpSpPr>
      <p:grpSpPr>
        <a:xfrm>
          <a:off x="0" y="0"/>
          <a:ext cx="0" cy="0"/>
          <a:chOff x="0" y="0"/>
          <a:chExt cx="0" cy="0"/>
        </a:xfrm>
      </p:grpSpPr>
      <p:sp>
        <p:nvSpPr>
          <p:cNvPr id="2123" name="Google Shape;2123;g2ba71c0b9a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4" name="Google Shape;2124;g2ba71c0b9a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0" name="Google Shape;2170;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7" name="Shape 2177"/>
        <p:cNvGrpSpPr/>
        <p:nvPr/>
      </p:nvGrpSpPr>
      <p:grpSpPr>
        <a:xfrm>
          <a:off x="0" y="0"/>
          <a:ext cx="0" cy="0"/>
          <a:chOff x="0" y="0"/>
          <a:chExt cx="0" cy="0"/>
        </a:xfrm>
      </p:grpSpPr>
      <p:sp>
        <p:nvSpPr>
          <p:cNvPr id="2178" name="Google Shape;2178;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9" name="Google Shape;2179;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1.png"/><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2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9.png"/><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14.png"/><Relationship Id="rId4" Type="http://schemas.openxmlformats.org/officeDocument/2006/relationships/image" Target="../media/image24.png"/><Relationship Id="rId5" Type="http://schemas.openxmlformats.org/officeDocument/2006/relationships/image" Target="../media/image18.png"/><Relationship Id="rId6" Type="http://schemas.openxmlformats.org/officeDocument/2006/relationships/image" Target="../media/image17.png"/><Relationship Id="rId7" Type="http://schemas.openxmlformats.org/officeDocument/2006/relationships/image" Target="../media/image1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15.png"/><Relationship Id="rId4" Type="http://schemas.openxmlformats.org/officeDocument/2006/relationships/image" Target="../media/image72.png"/><Relationship Id="rId5" Type="http://schemas.openxmlformats.org/officeDocument/2006/relationships/image" Target="../media/image26.png"/><Relationship Id="rId6" Type="http://schemas.openxmlformats.org/officeDocument/2006/relationships/image" Target="../media/image28.png"/><Relationship Id="rId7" Type="http://schemas.openxmlformats.org/officeDocument/2006/relationships/image" Target="../media/image2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72.png"/><Relationship Id="rId4" Type="http://schemas.openxmlformats.org/officeDocument/2006/relationships/image" Target="../media/image23.png"/><Relationship Id="rId9" Type="http://schemas.openxmlformats.org/officeDocument/2006/relationships/image" Target="../media/image22.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image" Target="../media/image26.png"/><Relationship Id="rId8" Type="http://schemas.openxmlformats.org/officeDocument/2006/relationships/image" Target="../media/image2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72.png"/><Relationship Id="rId4" Type="http://schemas.openxmlformats.org/officeDocument/2006/relationships/image" Target="../media/image32.png"/><Relationship Id="rId11" Type="http://schemas.openxmlformats.org/officeDocument/2006/relationships/image" Target="../media/image22.png"/><Relationship Id="rId10" Type="http://schemas.openxmlformats.org/officeDocument/2006/relationships/image" Target="../media/image36.png"/><Relationship Id="rId9" Type="http://schemas.openxmlformats.org/officeDocument/2006/relationships/image" Target="../media/image28.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34.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742" name="Shape 742"/>
        <p:cNvGrpSpPr/>
        <p:nvPr/>
      </p:nvGrpSpPr>
      <p:grpSpPr>
        <a:xfrm>
          <a:off x="0" y="0"/>
          <a:ext cx="0" cy="0"/>
          <a:chOff x="0" y="0"/>
          <a:chExt cx="0" cy="0"/>
        </a:xfrm>
      </p:grpSpPr>
      <p:sp>
        <p:nvSpPr>
          <p:cNvPr id="743" name="Google Shape;743;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5" name="Google Shape;745;p62"/>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6" name="Google Shape;746;p62"/>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7" name="Google Shape;747;p62"/>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8" name="Google Shape;748;p62"/>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9" name="Google Shape;749;p62"/>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50" name="Google Shape;750;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 Id="rId3" Type="http://schemas.openxmlformats.org/officeDocument/2006/relationships/image" Target="../media/image47.png"/><Relationship Id="rId4" Type="http://schemas.openxmlformats.org/officeDocument/2006/relationships/image" Target="../media/image5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5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54.png"/><Relationship Id="rId4"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 Id="rId3" Type="http://schemas.openxmlformats.org/officeDocument/2006/relationships/image" Target="../media/image57.png"/><Relationship Id="rId4" Type="http://schemas.openxmlformats.org/officeDocument/2006/relationships/image" Target="../media/image43.png"/><Relationship Id="rId5" Type="http://schemas.openxmlformats.org/officeDocument/2006/relationships/image" Target="../media/image60.png"/><Relationship Id="rId6" Type="http://schemas.openxmlformats.org/officeDocument/2006/relationships/image" Target="../media/image58.png"/><Relationship Id="rId7" Type="http://schemas.openxmlformats.org/officeDocument/2006/relationships/image" Target="../media/image5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60.png"/><Relationship Id="rId5" Type="http://schemas.openxmlformats.org/officeDocument/2006/relationships/image" Target="../media/image58.png"/><Relationship Id="rId6" Type="http://schemas.openxmlformats.org/officeDocument/2006/relationships/image" Target="../media/image6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60.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6.xml"/><Relationship Id="rId3" Type="http://schemas.openxmlformats.org/officeDocument/2006/relationships/image" Target="../media/image5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0.xml"/><Relationship Id="rId3" Type="http://schemas.openxmlformats.org/officeDocument/2006/relationships/image" Target="../media/image5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68.png"/><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6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6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6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3.xml"/><Relationship Id="rId3" Type="http://schemas.openxmlformats.org/officeDocument/2006/relationships/image" Target="../media/image6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6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7.xml"/><Relationship Id="rId3" Type="http://schemas.openxmlformats.org/officeDocument/2006/relationships/image" Target="../media/image6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 Id="rId3" Type="http://schemas.openxmlformats.org/officeDocument/2006/relationships/image" Target="../media/image6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 Id="rId3" Type="http://schemas.openxmlformats.org/officeDocument/2006/relationships/image" Target="../media/image6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4.xml"/><Relationship Id="rId3" Type="http://schemas.openxmlformats.org/officeDocument/2006/relationships/image" Target="../media/image5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tangent ratio</a:t>
            </a:r>
            <a:endParaRPr/>
          </a:p>
        </p:txBody>
      </p:sp>
      <p:sp>
        <p:nvSpPr>
          <p:cNvPr id="756" name="Google Shape;756;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0" name="Shape 760"/>
        <p:cNvGrpSpPr/>
        <p:nvPr/>
      </p:nvGrpSpPr>
      <p:grpSpPr>
        <a:xfrm>
          <a:off x="0" y="0"/>
          <a:ext cx="0" cy="0"/>
          <a:chOff x="0" y="0"/>
          <a:chExt cx="0" cy="0"/>
        </a:xfrm>
      </p:grpSpPr>
      <p:sp>
        <p:nvSpPr>
          <p:cNvPr id="761" name="Google Shape;761;p6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the tangent ratio to find the missing side or angle in a right-angled triangle.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6"/>
          <p:cNvSpPr txBox="1"/>
          <p:nvPr>
            <p:ph idx="2" type="subTitle"/>
          </p:nvPr>
        </p:nvSpPr>
        <p:spPr>
          <a:xfrm>
            <a:off x="324000" y="826800"/>
            <a:ext cx="6032400" cy="389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Trigonometric functions are commonly defined as ratios of two sides of a right-angled triangle containing the angle. </a:t>
            </a:r>
            <a:endParaRPr sz="1800"/>
          </a:p>
          <a:p>
            <a:pPr indent="0" lvl="0" marL="0" rtl="0" algn="l">
              <a:spcBef>
                <a:spcPts val="1000"/>
              </a:spcBef>
              <a:spcAft>
                <a:spcPts val="0"/>
              </a:spcAft>
              <a:buClr>
                <a:schemeClr val="dk1"/>
              </a:buClr>
              <a:buSzPts val="1100"/>
              <a:buFont typeface="Arial"/>
              <a:buNone/>
            </a:pPr>
            <a:r>
              <a:rPr lang="en-GB" sz="1800"/>
              <a:t>The tangent of an angle (tan(θ°)) is the y-coordinate of point Q of the triangle which extends from the unit circle. </a:t>
            </a:r>
            <a:endParaRPr sz="1800"/>
          </a:p>
          <a:p>
            <a:pPr indent="0" lvl="0" marL="0" rtl="0" algn="l">
              <a:spcBef>
                <a:spcPts val="1000"/>
              </a:spcBef>
              <a:spcAft>
                <a:spcPts val="1000"/>
              </a:spcAft>
              <a:buNone/>
            </a:pPr>
            <a:r>
              <a:t/>
            </a:r>
            <a:endParaRPr sz="1800"/>
          </a:p>
        </p:txBody>
      </p:sp>
      <p:pic>
        <p:nvPicPr>
          <p:cNvPr descr="p &#10;tan 9 &#10;Sin 9 &#10;9 &#10;cos 9 " id="772" name="Google Shape;772;p66"/>
          <p:cNvPicPr preferRelativeResize="0"/>
          <p:nvPr/>
        </p:nvPicPr>
        <p:blipFill>
          <a:blip r:embed="rId3">
            <a:alphaModFix/>
          </a:blip>
          <a:stretch>
            <a:fillRect/>
          </a:stretch>
        </p:blipFill>
        <p:spPr>
          <a:xfrm>
            <a:off x="6487425" y="859848"/>
            <a:ext cx="1974799" cy="1743225"/>
          </a:xfrm>
          <a:prstGeom prst="rect">
            <a:avLst/>
          </a:prstGeom>
          <a:noFill/>
          <a:ln>
            <a:noFill/>
          </a:ln>
        </p:spPr>
      </p:pic>
      <p:sp>
        <p:nvSpPr>
          <p:cNvPr id="773" name="Google Shape;773;p66"/>
          <p:cNvSpPr txBox="1"/>
          <p:nvPr>
            <p:ph idx="2" type="subTitle"/>
          </p:nvPr>
        </p:nvSpPr>
        <p:spPr>
          <a:xfrm>
            <a:off x="324000" y="3036600"/>
            <a:ext cx="59328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adjacent side of a right-angled triangle is the side which is next to both the right angle and the marked angle. </a:t>
            </a:r>
            <a:endParaRPr sz="1800"/>
          </a:p>
        </p:txBody>
      </p:sp>
      <p:sp>
        <p:nvSpPr>
          <p:cNvPr id="774" name="Google Shape;774;p66"/>
          <p:cNvSpPr txBox="1"/>
          <p:nvPr>
            <p:ph idx="2" type="subTitle"/>
          </p:nvPr>
        </p:nvSpPr>
        <p:spPr>
          <a:xfrm>
            <a:off x="324000" y="4027200"/>
            <a:ext cx="59328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opposite side of a right-angled triangle is the side which is opposite the marked angle. </a:t>
            </a:r>
            <a:endParaRPr sz="1800"/>
          </a:p>
        </p:txBody>
      </p:sp>
      <p:pic>
        <p:nvPicPr>
          <p:cNvPr descr="adjacent " id="775" name="Google Shape;775;p66"/>
          <p:cNvPicPr preferRelativeResize="0"/>
          <p:nvPr/>
        </p:nvPicPr>
        <p:blipFill>
          <a:blip r:embed="rId4">
            <a:alphaModFix/>
          </a:blip>
          <a:stretch>
            <a:fillRect/>
          </a:stretch>
        </p:blipFill>
        <p:spPr>
          <a:xfrm>
            <a:off x="6040775" y="3331050"/>
            <a:ext cx="2524124" cy="1085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sp>
        <p:nvSpPr>
          <p:cNvPr id="781" name="Google Shape;781;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sp>
        <p:nvSpPr>
          <p:cNvPr id="782" name="Google Shape;782;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tangent ratio</a:t>
            </a:r>
            <a:endParaRPr/>
          </a:p>
        </p:txBody>
      </p:sp>
      <p:pic>
        <p:nvPicPr>
          <p:cNvPr id="783" name="Google Shape;783;p67"/>
          <p:cNvPicPr preferRelativeResize="0"/>
          <p:nvPr/>
        </p:nvPicPr>
        <p:blipFill>
          <a:blip r:embed="rId3">
            <a:alphaModFix/>
          </a:blip>
          <a:stretch>
            <a:fillRect/>
          </a:stretch>
        </p:blipFill>
        <p:spPr>
          <a:xfrm>
            <a:off x="417380" y="205357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68"/>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12</a:t>
            </a:r>
            <a:endParaRPr sz="1800">
              <a:latin typeface="Lexend"/>
              <a:ea typeface="Lexend"/>
              <a:cs typeface="Lexend"/>
              <a:sym typeface="Lexend"/>
            </a:endParaRPr>
          </a:p>
        </p:txBody>
      </p:sp>
      <p:grpSp>
        <p:nvGrpSpPr>
          <p:cNvPr id="789" name="Google Shape;789;p68"/>
          <p:cNvGrpSpPr/>
          <p:nvPr/>
        </p:nvGrpSpPr>
        <p:grpSpPr>
          <a:xfrm>
            <a:off x="1535344" y="4450175"/>
            <a:ext cx="3892050" cy="290100"/>
            <a:chOff x="1459144" y="2773775"/>
            <a:chExt cx="3892050" cy="290100"/>
          </a:xfrm>
        </p:grpSpPr>
        <p:sp>
          <p:nvSpPr>
            <p:cNvPr id="790" name="Google Shape;790;p68"/>
            <p:cNvSpPr/>
            <p:nvPr/>
          </p:nvSpPr>
          <p:spPr>
            <a:xfrm>
              <a:off x="4668394" y="277377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791" name="Google Shape;791;p68"/>
            <p:cNvSpPr/>
            <p:nvPr/>
          </p:nvSpPr>
          <p:spPr>
            <a:xfrm>
              <a:off x="1459144" y="277377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grpSp>
      <p:sp>
        <p:nvSpPr>
          <p:cNvPr id="792" name="Google Shape;792;p68"/>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793" name="Google Shape;793;p68"/>
          <p:cNvSpPr txBox="1"/>
          <p:nvPr/>
        </p:nvSpPr>
        <p:spPr>
          <a:xfrm>
            <a:off x="70798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a:solidFill>
                  <a:schemeClr val="dk1"/>
                </a:solidFill>
                <a:latin typeface="Lexend"/>
                <a:ea typeface="Lexend"/>
                <a:cs typeface="Lexend"/>
                <a:sym typeface="Lexend"/>
              </a:rPr>
              <a:t>0.67 × </a:t>
            </a:r>
            <a:r>
              <a:rPr lang="en-GB">
                <a:latin typeface="Lexend"/>
                <a:ea typeface="Lexend"/>
                <a:cs typeface="Lexend"/>
                <a:sym typeface="Lexend"/>
              </a:rPr>
              <a:t>12</a:t>
            </a:r>
            <a:endParaRPr>
              <a:latin typeface="Lexend"/>
              <a:ea typeface="Lexend"/>
              <a:cs typeface="Lexend"/>
              <a:sym typeface="Lexend"/>
            </a:endParaRPr>
          </a:p>
        </p:txBody>
      </p:sp>
      <p:sp>
        <p:nvSpPr>
          <p:cNvPr id="794" name="Google Shape;794;p68"/>
          <p:cNvSpPr txBox="1"/>
          <p:nvPr/>
        </p:nvSpPr>
        <p:spPr>
          <a:xfrm>
            <a:off x="70798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0.67</a:t>
            </a:r>
            <a:endParaRPr sz="1800">
              <a:latin typeface="Lexend"/>
              <a:ea typeface="Lexend"/>
              <a:cs typeface="Lexend"/>
              <a:sym typeface="Lexend"/>
            </a:endParaRPr>
          </a:p>
        </p:txBody>
      </p:sp>
      <p:sp>
        <p:nvSpPr>
          <p:cNvPr id="795" name="Google Shape;795;p68"/>
          <p:cNvSpPr txBox="1"/>
          <p:nvPr/>
        </p:nvSpPr>
        <p:spPr>
          <a:xfrm>
            <a:off x="70798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8.04</a:t>
            </a:r>
            <a:endParaRPr sz="1800">
              <a:latin typeface="Lexend"/>
              <a:ea typeface="Lexend"/>
              <a:cs typeface="Lexend"/>
              <a:sym typeface="Lexend"/>
            </a:endParaRPr>
          </a:p>
        </p:txBody>
      </p:sp>
      <p:sp>
        <p:nvSpPr>
          <p:cNvPr id="796" name="Google Shape;796;p68"/>
          <p:cNvSpPr/>
          <p:nvPr/>
        </p:nvSpPr>
        <p:spPr>
          <a:xfrm>
            <a:off x="576950" y="3429766"/>
            <a:ext cx="586500" cy="554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797" name="Google Shape;797;p68"/>
          <p:cNvSpPr txBox="1"/>
          <p:nvPr/>
        </p:nvSpPr>
        <p:spPr>
          <a:xfrm>
            <a:off x="4727424" y="4463788"/>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12 cm</a:t>
            </a:r>
            <a:endParaRPr sz="1800">
              <a:latin typeface="Lexend"/>
              <a:ea typeface="Lexend"/>
              <a:cs typeface="Lexend"/>
              <a:sym typeface="Lexend"/>
            </a:endParaRPr>
          </a:p>
        </p:txBody>
      </p:sp>
      <p:sp>
        <p:nvSpPr>
          <p:cNvPr id="798" name="Google Shape;798;p68"/>
          <p:cNvSpPr txBox="1"/>
          <p:nvPr/>
        </p:nvSpPr>
        <p:spPr>
          <a:xfrm>
            <a:off x="324000" y="763000"/>
            <a:ext cx="8496000" cy="1200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know that these two triangles are similar, as two of the angles in one triangle are equal to two angles in the other.</a:t>
            </a:r>
            <a:endParaRPr sz="1800">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t/>
            </a:r>
            <a:endParaRPr sz="1000">
              <a:latin typeface="Lexend"/>
              <a:ea typeface="Lexend"/>
              <a:cs typeface="Lexend"/>
              <a:sym typeface="Lexend"/>
            </a:endParaRPr>
          </a:p>
          <a:p>
            <a:pPr indent="0" lvl="0" marL="0" rtl="0" algn="l">
              <a:lnSpc>
                <a:spcPct val="80000"/>
              </a:lnSpc>
              <a:spcBef>
                <a:spcPts val="0"/>
              </a:spcBef>
              <a:spcAft>
                <a:spcPts val="0"/>
              </a:spcAft>
              <a:buClr>
                <a:srgbClr val="000000"/>
              </a:buClr>
              <a:buSzPts val="1100"/>
              <a:buFont typeface="Arial"/>
              <a:buNone/>
            </a:pPr>
            <a:r>
              <a:rPr lang="en-GB" sz="1800">
                <a:latin typeface="Lexend"/>
                <a:ea typeface="Lexend"/>
                <a:cs typeface="Lexend"/>
                <a:sym typeface="Lexend"/>
              </a:rPr>
              <a:t>We can find the length of the side                                                                            </a:t>
            </a:r>
            <a:r>
              <a:rPr lang="en-GB" sz="1800">
                <a:solidFill>
                  <a:schemeClr val="dk1"/>
                </a:solidFill>
                <a:latin typeface="Lexend"/>
                <a:ea typeface="Lexend"/>
                <a:cs typeface="Lexend"/>
                <a:sym typeface="Lexend"/>
              </a:rPr>
              <a:t>labelled</a:t>
            </a:r>
            <a:r>
              <a:rPr lang="en-GB" sz="1800">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by using a ratio table.</a:t>
            </a:r>
            <a:endParaRPr sz="1800">
              <a:latin typeface="Lexend"/>
              <a:ea typeface="Lexend"/>
              <a:cs typeface="Lexend"/>
              <a:sym typeface="Lexend"/>
            </a:endParaRPr>
          </a:p>
        </p:txBody>
      </p:sp>
      <p:sp>
        <p:nvSpPr>
          <p:cNvPr id="799" name="Google Shape;799;p68"/>
          <p:cNvSpPr txBox="1"/>
          <p:nvPr/>
        </p:nvSpPr>
        <p:spPr>
          <a:xfrm>
            <a:off x="1570158" y="4507775"/>
            <a:ext cx="613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sp>
        <p:nvSpPr>
          <p:cNvPr id="800" name="Google Shape;800;p68"/>
          <p:cNvSpPr/>
          <p:nvPr/>
        </p:nvSpPr>
        <p:spPr>
          <a:xfrm>
            <a:off x="5376937" y="36423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1" name="Google Shape;801;p68"/>
          <p:cNvSpPr/>
          <p:nvPr/>
        </p:nvSpPr>
        <p:spPr>
          <a:xfrm>
            <a:off x="4199604" y="24556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2" name="Google Shape;802;p68"/>
          <p:cNvSpPr/>
          <p:nvPr/>
        </p:nvSpPr>
        <p:spPr>
          <a:xfrm>
            <a:off x="1852985" y="3625425"/>
            <a:ext cx="1196400" cy="11964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3" name="Google Shape;803;p68"/>
          <p:cNvSpPr/>
          <p:nvPr/>
        </p:nvSpPr>
        <p:spPr>
          <a:xfrm>
            <a:off x="4199604" y="39083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04" name="Google Shape;804;p68"/>
          <p:cNvCxnSpPr/>
          <p:nvPr/>
        </p:nvCxnSpPr>
        <p:spPr>
          <a:xfrm>
            <a:off x="4207025" y="4373325"/>
            <a:ext cx="1777500" cy="0"/>
          </a:xfrm>
          <a:prstGeom prst="straightConnector1">
            <a:avLst/>
          </a:prstGeom>
          <a:noFill/>
          <a:ln cap="flat" cmpd="sng" w="28575">
            <a:solidFill>
              <a:srgbClr val="845AD9"/>
            </a:solidFill>
            <a:prstDash val="solid"/>
            <a:round/>
            <a:headEnd len="med" w="med" type="triangle"/>
            <a:tailEnd len="med" w="med" type="triangle"/>
          </a:ln>
        </p:spPr>
      </p:cxnSp>
      <p:cxnSp>
        <p:nvCxnSpPr>
          <p:cNvPr id="805" name="Google Shape;805;p68"/>
          <p:cNvCxnSpPr/>
          <p:nvPr/>
        </p:nvCxnSpPr>
        <p:spPr>
          <a:xfrm>
            <a:off x="4056027" y="2455606"/>
            <a:ext cx="0" cy="1802400"/>
          </a:xfrm>
          <a:prstGeom prst="straightConnector1">
            <a:avLst/>
          </a:prstGeom>
          <a:noFill/>
          <a:ln cap="flat" cmpd="sng" w="28575">
            <a:solidFill>
              <a:srgbClr val="845AD9"/>
            </a:solidFill>
            <a:prstDash val="solid"/>
            <a:round/>
            <a:headEnd len="med" w="med" type="triangle"/>
            <a:tailEnd len="med" w="med" type="triangle"/>
          </a:ln>
        </p:spPr>
      </p:cxnSp>
      <p:sp>
        <p:nvSpPr>
          <p:cNvPr id="806" name="Google Shape;806;p68"/>
          <p:cNvSpPr txBox="1"/>
          <p:nvPr/>
        </p:nvSpPr>
        <p:spPr>
          <a:xfrm>
            <a:off x="5370689" y="40060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807" name="Google Shape;807;p68"/>
          <p:cNvSpPr/>
          <p:nvPr/>
        </p:nvSpPr>
        <p:spPr>
          <a:xfrm>
            <a:off x="1297987" y="4007762"/>
            <a:ext cx="222900" cy="222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08" name="Google Shape;808;p68"/>
          <p:cNvCxnSpPr/>
          <p:nvPr/>
        </p:nvCxnSpPr>
        <p:spPr>
          <a:xfrm>
            <a:off x="1285200" y="4359850"/>
            <a:ext cx="1171500" cy="13500"/>
          </a:xfrm>
          <a:prstGeom prst="straightConnector1">
            <a:avLst/>
          </a:prstGeom>
          <a:noFill/>
          <a:ln cap="flat" cmpd="sng" w="28575">
            <a:solidFill>
              <a:srgbClr val="845AD9"/>
            </a:solidFill>
            <a:prstDash val="solid"/>
            <a:round/>
            <a:headEnd len="med" w="med" type="triangle"/>
            <a:tailEnd len="med" w="med" type="triangle"/>
          </a:ln>
        </p:spPr>
      </p:cxnSp>
      <p:cxnSp>
        <p:nvCxnSpPr>
          <p:cNvPr id="809" name="Google Shape;809;p68"/>
          <p:cNvCxnSpPr/>
          <p:nvPr/>
        </p:nvCxnSpPr>
        <p:spPr>
          <a:xfrm>
            <a:off x="1162094" y="3064268"/>
            <a:ext cx="0" cy="1170600"/>
          </a:xfrm>
          <a:prstGeom prst="straightConnector1">
            <a:avLst/>
          </a:prstGeom>
          <a:noFill/>
          <a:ln cap="flat" cmpd="sng" w="28575">
            <a:solidFill>
              <a:srgbClr val="845AD9"/>
            </a:solidFill>
            <a:prstDash val="solid"/>
            <a:round/>
            <a:headEnd len="med" w="med" type="triangle"/>
            <a:tailEnd len="med" w="med" type="triangle"/>
          </a:ln>
        </p:spPr>
      </p:cxnSp>
      <p:sp>
        <p:nvSpPr>
          <p:cNvPr id="810" name="Google Shape;810;p68"/>
          <p:cNvSpPr txBox="1"/>
          <p:nvPr/>
        </p:nvSpPr>
        <p:spPr>
          <a:xfrm>
            <a:off x="1851746" y="4014988"/>
            <a:ext cx="457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grpSp>
        <p:nvGrpSpPr>
          <p:cNvPr id="811" name="Google Shape;811;p68"/>
          <p:cNvGrpSpPr/>
          <p:nvPr/>
        </p:nvGrpSpPr>
        <p:grpSpPr>
          <a:xfrm>
            <a:off x="2328700" y="4368784"/>
            <a:ext cx="2295725" cy="277200"/>
            <a:chOff x="4732456" y="2513300"/>
            <a:chExt cx="2295725" cy="277200"/>
          </a:xfrm>
        </p:grpSpPr>
        <p:sp>
          <p:nvSpPr>
            <p:cNvPr id="812" name="Google Shape;812;p68"/>
            <p:cNvSpPr/>
            <p:nvPr/>
          </p:nvSpPr>
          <p:spPr>
            <a:xfrm>
              <a:off x="4732456" y="2760216"/>
              <a:ext cx="2295725" cy="26925"/>
            </a:xfrm>
            <a:custGeom>
              <a:rect b="b" l="l" r="r" t="t"/>
              <a:pathLst>
                <a:path extrusionOk="0" h="1077" w="91829">
                  <a:moveTo>
                    <a:pt x="0" y="0"/>
                  </a:moveTo>
                  <a:cubicBezTo>
                    <a:pt x="7495" y="180"/>
                    <a:pt x="29667" y="1077"/>
                    <a:pt x="44972" y="1077"/>
                  </a:cubicBezTo>
                  <a:cubicBezTo>
                    <a:pt x="60277" y="1077"/>
                    <a:pt x="84020" y="180"/>
                    <a:pt x="91829" y="0"/>
                  </a:cubicBezTo>
                </a:path>
              </a:pathLst>
            </a:custGeom>
            <a:noFill/>
            <a:ln cap="flat" cmpd="sng" w="28575">
              <a:solidFill>
                <a:srgbClr val="000000"/>
              </a:solidFill>
              <a:prstDash val="solid"/>
              <a:round/>
              <a:headEnd len="med" w="med" type="none"/>
              <a:tailEnd len="med" w="med" type="triangle"/>
            </a:ln>
          </p:spPr>
        </p:sp>
        <p:sp>
          <p:nvSpPr>
            <p:cNvPr id="813" name="Google Shape;813;p68"/>
            <p:cNvSpPr txBox="1"/>
            <p:nvPr/>
          </p:nvSpPr>
          <p:spPr>
            <a:xfrm>
              <a:off x="5190550" y="2513300"/>
              <a:ext cx="1274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12</a:t>
              </a:r>
              <a:endParaRPr sz="1800">
                <a:latin typeface="Lexend"/>
                <a:ea typeface="Lexend"/>
                <a:cs typeface="Lexend"/>
                <a:sym typeface="Lexend"/>
              </a:endParaRPr>
            </a:p>
          </p:txBody>
        </p:sp>
      </p:grpSp>
      <p:sp>
        <p:nvSpPr>
          <p:cNvPr id="814" name="Google Shape;814;p68"/>
          <p:cNvSpPr txBox="1"/>
          <p:nvPr/>
        </p:nvSpPr>
        <p:spPr>
          <a:xfrm>
            <a:off x="620274" y="3630575"/>
            <a:ext cx="4998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0.67 cm</a:t>
            </a:r>
            <a:endParaRPr sz="1800">
              <a:latin typeface="Lexend"/>
              <a:ea typeface="Lexend"/>
              <a:cs typeface="Lexend"/>
              <a:sym typeface="Lexend"/>
            </a:endParaRPr>
          </a:p>
        </p:txBody>
      </p:sp>
      <p:sp>
        <p:nvSpPr>
          <p:cNvPr id="815" name="Google Shape;815;p68"/>
          <p:cNvSpPr/>
          <p:nvPr/>
        </p:nvSpPr>
        <p:spPr>
          <a:xfrm>
            <a:off x="1297987" y="3064268"/>
            <a:ext cx="1166400" cy="1166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16" name="Google Shape;816;p68"/>
          <p:cNvGrpSpPr/>
          <p:nvPr/>
        </p:nvGrpSpPr>
        <p:grpSpPr>
          <a:xfrm>
            <a:off x="6740300" y="2944400"/>
            <a:ext cx="864600" cy="472229"/>
            <a:chOff x="7045100" y="3173000"/>
            <a:chExt cx="864600" cy="472229"/>
          </a:xfrm>
        </p:grpSpPr>
        <p:sp>
          <p:nvSpPr>
            <p:cNvPr id="817" name="Google Shape;817;p68"/>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18" name="Google Shape;818;p68"/>
            <p:cNvSpPr txBox="1"/>
            <p:nvPr/>
          </p:nvSpPr>
          <p:spPr>
            <a:xfrm>
              <a:off x="7045100" y="3324529"/>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0.67</a:t>
              </a:r>
              <a:endParaRPr sz="1800">
                <a:solidFill>
                  <a:srgbClr val="000000"/>
                </a:solidFill>
                <a:latin typeface="Lexend"/>
                <a:ea typeface="Lexend"/>
                <a:cs typeface="Lexend"/>
                <a:sym typeface="Lexend"/>
              </a:endParaRPr>
            </a:p>
          </p:txBody>
        </p:sp>
      </p:grpSp>
      <p:grpSp>
        <p:nvGrpSpPr>
          <p:cNvPr id="819" name="Google Shape;819;p68"/>
          <p:cNvGrpSpPr/>
          <p:nvPr/>
        </p:nvGrpSpPr>
        <p:grpSpPr>
          <a:xfrm>
            <a:off x="6740300" y="1339929"/>
            <a:ext cx="864600" cy="450596"/>
            <a:chOff x="7045100" y="1568529"/>
            <a:chExt cx="864600" cy="450596"/>
          </a:xfrm>
        </p:grpSpPr>
        <p:sp>
          <p:nvSpPr>
            <p:cNvPr id="820" name="Google Shape;820;p68"/>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21" name="Google Shape;821;p68"/>
            <p:cNvSpPr txBox="1"/>
            <p:nvPr/>
          </p:nvSpPr>
          <p:spPr>
            <a:xfrm>
              <a:off x="7045100" y="1568529"/>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0.67</a:t>
              </a:r>
              <a:endParaRPr sz="1800">
                <a:solidFill>
                  <a:srgbClr val="000000"/>
                </a:solidFill>
                <a:latin typeface="Lexend"/>
                <a:ea typeface="Lexend"/>
                <a:cs typeface="Lexend"/>
                <a:sym typeface="Lexend"/>
              </a:endParaRPr>
            </a:p>
          </p:txBody>
        </p:sp>
      </p:grpSp>
      <p:grpSp>
        <p:nvGrpSpPr>
          <p:cNvPr id="822" name="Google Shape;822;p68"/>
          <p:cNvGrpSpPr/>
          <p:nvPr/>
        </p:nvGrpSpPr>
        <p:grpSpPr>
          <a:xfrm>
            <a:off x="5619501" y="2080125"/>
            <a:ext cx="2895578" cy="582538"/>
            <a:chOff x="5924301" y="2308725"/>
            <a:chExt cx="2895578" cy="582538"/>
          </a:xfrm>
        </p:grpSpPr>
        <p:sp>
          <p:nvSpPr>
            <p:cNvPr id="823" name="Google Shape;823;p68"/>
            <p:cNvSpPr/>
            <p:nvPr/>
          </p:nvSpPr>
          <p:spPr>
            <a:xfrm flipH="1">
              <a:off x="8196620" y="23087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824" name="Google Shape;824;p68"/>
            <p:cNvGrpSpPr/>
            <p:nvPr/>
          </p:nvGrpSpPr>
          <p:grpSpPr>
            <a:xfrm>
              <a:off x="5924301" y="2308738"/>
              <a:ext cx="646319" cy="582525"/>
              <a:chOff x="5924301" y="2308738"/>
              <a:chExt cx="646319" cy="582525"/>
            </a:xfrm>
          </p:grpSpPr>
          <p:sp>
            <p:nvSpPr>
              <p:cNvPr id="825" name="Google Shape;825;p68"/>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826" name="Google Shape;826;p68"/>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12</a:t>
                </a:r>
                <a:endParaRPr sz="1800">
                  <a:solidFill>
                    <a:srgbClr val="000000"/>
                  </a:solidFill>
                  <a:latin typeface="Lexend"/>
                  <a:ea typeface="Lexend"/>
                  <a:cs typeface="Lexend"/>
                  <a:sym typeface="Lexend"/>
                </a:endParaRPr>
              </a:p>
            </p:txBody>
          </p:sp>
        </p:grpSp>
        <p:sp>
          <p:nvSpPr>
            <p:cNvPr id="827" name="Google Shape;827;p68"/>
            <p:cNvSpPr txBox="1"/>
            <p:nvPr/>
          </p:nvSpPr>
          <p:spPr>
            <a:xfrm>
              <a:off x="8379179" y="23682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12</a:t>
              </a:r>
              <a:endParaRPr sz="1800">
                <a:solidFill>
                  <a:srgbClr val="000000"/>
                </a:solidFill>
                <a:latin typeface="Lexend"/>
                <a:ea typeface="Lexend"/>
                <a:cs typeface="Lexend"/>
                <a:sym typeface="Lexend"/>
              </a:endParaRPr>
            </a:p>
          </p:txBody>
        </p:sp>
      </p:grpSp>
      <p:sp>
        <p:nvSpPr>
          <p:cNvPr id="828" name="Google Shape;828;p68"/>
          <p:cNvSpPr txBox="1"/>
          <p:nvPr/>
        </p:nvSpPr>
        <p:spPr>
          <a:xfrm>
            <a:off x="3409019" y="3222150"/>
            <a:ext cx="6828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829" name="Google Shape;829;p68"/>
          <p:cNvSpPr txBox="1"/>
          <p:nvPr/>
        </p:nvSpPr>
        <p:spPr>
          <a:xfrm>
            <a:off x="3137495" y="3193750"/>
            <a:ext cx="8865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8.04 cm</a:t>
            </a:r>
            <a:endParaRPr sz="1800">
              <a:latin typeface="Lexend"/>
              <a:ea typeface="Lexend"/>
              <a:cs typeface="Lexend"/>
              <a:sym typeface="Lexend"/>
            </a:endParaRPr>
          </a:p>
        </p:txBody>
      </p:sp>
      <p:graphicFrame>
        <p:nvGraphicFramePr>
          <p:cNvPr id="830" name="Google Shape;830;p68"/>
          <p:cNvGraphicFramePr/>
          <p:nvPr/>
        </p:nvGraphicFramePr>
        <p:xfrm>
          <a:off x="6351765" y="1882150"/>
          <a:ext cx="3000000" cy="3000000"/>
        </p:xfrm>
        <a:graphic>
          <a:graphicData uri="http://schemas.openxmlformats.org/drawingml/2006/table">
            <a:tbl>
              <a:tblPr>
                <a:noFill/>
                <a:tableStyleId>{2A7510FF-DB5D-4613-96E9-5DA671240F2A}</a:tableStyleId>
              </a:tblPr>
              <a:tblGrid>
                <a:gridCol w="725975"/>
                <a:gridCol w="72812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831" name="Google Shape;831;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78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69"/>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endParaRPr sz="1800">
              <a:latin typeface="Lexend"/>
              <a:ea typeface="Lexend"/>
              <a:cs typeface="Lexend"/>
              <a:sym typeface="Lexend"/>
            </a:endParaRPr>
          </a:p>
        </p:txBody>
      </p:sp>
      <p:sp>
        <p:nvSpPr>
          <p:cNvPr id="837" name="Google Shape;837;p69"/>
          <p:cNvSpPr txBox="1"/>
          <p:nvPr/>
        </p:nvSpPr>
        <p:spPr>
          <a:xfrm>
            <a:off x="7077775" y="23674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i="1" sz="2200">
              <a:solidFill>
                <a:schemeClr val="dk1"/>
              </a:solidFill>
              <a:latin typeface="Times New Roman"/>
              <a:ea typeface="Times New Roman"/>
              <a:cs typeface="Times New Roman"/>
              <a:sym typeface="Times New Roman"/>
            </a:endParaRPr>
          </a:p>
        </p:txBody>
      </p:sp>
      <p:sp>
        <p:nvSpPr>
          <p:cNvPr id="838" name="Google Shape;838;p69"/>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839" name="Google Shape;839;p69"/>
          <p:cNvSpPr txBox="1"/>
          <p:nvPr/>
        </p:nvSpPr>
        <p:spPr>
          <a:xfrm>
            <a:off x="7077475" y="2367425"/>
            <a:ext cx="11967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tan</a:t>
            </a:r>
            <a:r>
              <a:rPr lang="en-GB" sz="1800">
                <a:solidFill>
                  <a:schemeClr val="dk1"/>
                </a:solidFill>
                <a:latin typeface="Times New Roman"/>
                <a:ea typeface="Times New Roman"/>
                <a:cs typeface="Times New Roman"/>
                <a:sym typeface="Times New Roman"/>
              </a:rPr>
              <a:t>(</a:t>
            </a:r>
            <a:r>
              <a:rPr i="1" lang="en-GB" sz="1800">
                <a:solidFill>
                  <a:schemeClr val="dk1"/>
                </a:solidFill>
                <a:latin typeface="Times New Roman"/>
                <a:ea typeface="Times New Roman"/>
                <a:cs typeface="Times New Roman"/>
                <a:sym typeface="Times New Roman"/>
              </a:rPr>
              <a:t>θ</a:t>
            </a:r>
            <a:r>
              <a:rPr lang="en-GB"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840" name="Google Shape;840;p69"/>
          <p:cNvSpPr txBox="1"/>
          <p:nvPr/>
        </p:nvSpPr>
        <p:spPr>
          <a:xfrm>
            <a:off x="7077775" y="18782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tan</a:t>
            </a:r>
            <a:r>
              <a:rPr lang="en-GB" sz="1800">
                <a:solidFill>
                  <a:schemeClr val="dk1"/>
                </a:solidFill>
                <a:latin typeface="Times New Roman"/>
                <a:ea typeface="Times New Roman"/>
                <a:cs typeface="Times New Roman"/>
                <a:sym typeface="Times New Roman"/>
              </a:rPr>
              <a:t>(</a:t>
            </a:r>
            <a:r>
              <a:rPr i="1" lang="en-GB" sz="1800">
                <a:solidFill>
                  <a:schemeClr val="dk1"/>
                </a:solidFill>
                <a:latin typeface="Times New Roman"/>
                <a:ea typeface="Times New Roman"/>
                <a:cs typeface="Times New Roman"/>
                <a:sym typeface="Times New Roman"/>
              </a:rPr>
              <a:t>θ</a:t>
            </a:r>
            <a:r>
              <a:rPr lang="en-GB" sz="1800">
                <a:solidFill>
                  <a:schemeClr val="dk1"/>
                </a:solidFill>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graphicFrame>
        <p:nvGraphicFramePr>
          <p:cNvPr id="841" name="Google Shape;841;p69"/>
          <p:cNvGraphicFramePr/>
          <p:nvPr/>
        </p:nvGraphicFramePr>
        <p:xfrm>
          <a:off x="6351765" y="1882150"/>
          <a:ext cx="3000000" cy="3000000"/>
        </p:xfrm>
        <a:graphic>
          <a:graphicData uri="http://schemas.openxmlformats.org/drawingml/2006/table">
            <a:tbl>
              <a:tblPr>
                <a:noFill/>
                <a:tableStyleId>{2A7510FF-DB5D-4613-96E9-5DA671240F2A}</a:tableStyleId>
              </a:tblPr>
              <a:tblGrid>
                <a:gridCol w="708375"/>
                <a:gridCol w="1257650"/>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grpSp>
        <p:nvGrpSpPr>
          <p:cNvPr id="842" name="Google Shape;842;p69"/>
          <p:cNvGrpSpPr/>
          <p:nvPr/>
        </p:nvGrpSpPr>
        <p:grpSpPr>
          <a:xfrm>
            <a:off x="1535344" y="4477104"/>
            <a:ext cx="3815850" cy="295121"/>
            <a:chOff x="1459144" y="2572104"/>
            <a:chExt cx="3815850" cy="295121"/>
          </a:xfrm>
        </p:grpSpPr>
        <p:sp>
          <p:nvSpPr>
            <p:cNvPr id="843" name="Google Shape;843;p69"/>
            <p:cNvSpPr/>
            <p:nvPr/>
          </p:nvSpPr>
          <p:spPr>
            <a:xfrm>
              <a:off x="4592194" y="257712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44" name="Google Shape;844;p69"/>
            <p:cNvSpPr/>
            <p:nvPr/>
          </p:nvSpPr>
          <p:spPr>
            <a:xfrm>
              <a:off x="1459144" y="2572104"/>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grpSp>
      <p:sp>
        <p:nvSpPr>
          <p:cNvPr id="845" name="Google Shape;845;p69"/>
          <p:cNvSpPr txBox="1"/>
          <p:nvPr/>
        </p:nvSpPr>
        <p:spPr>
          <a:xfrm>
            <a:off x="3360324" y="3374550"/>
            <a:ext cx="6828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sz="1800">
              <a:solidFill>
                <a:schemeClr val="accent4"/>
              </a:solidFill>
              <a:latin typeface="Lexend"/>
              <a:ea typeface="Lexend"/>
              <a:cs typeface="Lexend"/>
              <a:sym typeface="Lexend"/>
            </a:endParaRPr>
          </a:p>
        </p:txBody>
      </p:sp>
      <p:sp>
        <p:nvSpPr>
          <p:cNvPr id="846" name="Google Shape;846;p69"/>
          <p:cNvSpPr txBox="1"/>
          <p:nvPr/>
        </p:nvSpPr>
        <p:spPr>
          <a:xfrm>
            <a:off x="2805676" y="3333350"/>
            <a:ext cx="12492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i="1"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847" name="Google Shape;847;p69"/>
          <p:cNvSpPr txBox="1"/>
          <p:nvPr/>
        </p:nvSpPr>
        <p:spPr>
          <a:xfrm>
            <a:off x="324000" y="763000"/>
            <a:ext cx="8496000" cy="585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also generalise this process to any right-angled triangle that has an angle </a:t>
            </a:r>
            <a:r>
              <a:rPr i="1" lang="en-GB" sz="1800">
                <a:latin typeface="Lexend"/>
                <a:ea typeface="Lexend"/>
                <a:cs typeface="Lexend"/>
                <a:sym typeface="Lexend"/>
              </a:rPr>
              <a:t>θ</a:t>
            </a:r>
            <a:r>
              <a:rPr lang="en-GB" sz="1800">
                <a:latin typeface="Lexend"/>
                <a:ea typeface="Lexend"/>
                <a:cs typeface="Lexend"/>
                <a:sym typeface="Lexend"/>
              </a:rPr>
              <a:t>°, where the side </a:t>
            </a:r>
            <a:r>
              <a:rPr lang="en-GB" sz="1800">
                <a:solidFill>
                  <a:schemeClr val="accent4"/>
                </a:solidFill>
                <a:latin typeface="Lexend"/>
                <a:ea typeface="Lexend"/>
                <a:cs typeface="Lexend"/>
                <a:sym typeface="Lexend"/>
              </a:rPr>
              <a:t>opposite</a:t>
            </a:r>
            <a:r>
              <a:rPr lang="en-GB" sz="1800">
                <a:latin typeface="Lexend"/>
                <a:ea typeface="Lexend"/>
                <a:cs typeface="Lexend"/>
                <a:sym typeface="Lexend"/>
              </a:rPr>
              <a:t>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t>
            </a:r>
            <a:r>
              <a:rPr lang="en-GB" sz="1800">
                <a:latin typeface="Lexend"/>
                <a:ea typeface="Lexend"/>
                <a:cs typeface="Lexend"/>
                <a:sym typeface="Lexend"/>
              </a:rPr>
              <a:t>has length </a:t>
            </a:r>
            <a:r>
              <a:rPr lang="en-GB" sz="2000">
                <a:latin typeface="Times New Roman"/>
                <a:ea typeface="Times New Roman"/>
                <a:cs typeface="Times New Roman"/>
                <a:sym typeface="Times New Roman"/>
              </a:rPr>
              <a:t>tan</a:t>
            </a:r>
            <a:r>
              <a:rPr lang="en-GB" sz="2000">
                <a:latin typeface="Times New Roman"/>
                <a:ea typeface="Times New Roman"/>
                <a:cs typeface="Times New Roman"/>
                <a:sym typeface="Times New Roman"/>
              </a:rPr>
              <a:t>(</a:t>
            </a:r>
            <a:r>
              <a:rPr i="1" lang="en-GB" sz="2000">
                <a:latin typeface="Times New Roman"/>
                <a:ea typeface="Times New Roman"/>
                <a:cs typeface="Times New Roman"/>
                <a:sym typeface="Times New Roman"/>
              </a:rPr>
              <a:t>θ</a:t>
            </a:r>
            <a:r>
              <a:rPr lang="en-GB" sz="2000">
                <a:latin typeface="Times New Roman"/>
                <a:ea typeface="Times New Roman"/>
                <a:cs typeface="Times New Roman"/>
                <a:sym typeface="Times New Roman"/>
              </a:rPr>
              <a:t>°)</a:t>
            </a:r>
            <a:r>
              <a:rPr lang="en-GB" sz="1800">
                <a:latin typeface="Lexend"/>
                <a:ea typeface="Lexend"/>
                <a:cs typeface="Lexend"/>
                <a:sym typeface="Lexend"/>
              </a:rPr>
              <a:t>. </a:t>
            </a:r>
            <a:endParaRPr sz="1800">
              <a:latin typeface="Lexend"/>
              <a:ea typeface="Lexend"/>
              <a:cs typeface="Lexend"/>
              <a:sym typeface="Lexend"/>
            </a:endParaRPr>
          </a:p>
        </p:txBody>
      </p:sp>
      <p:sp>
        <p:nvSpPr>
          <p:cNvPr id="848" name="Google Shape;848;p69"/>
          <p:cNvSpPr/>
          <p:nvPr/>
        </p:nvSpPr>
        <p:spPr>
          <a:xfrm>
            <a:off x="324000" y="3680246"/>
            <a:ext cx="839400" cy="3888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49" name="Google Shape;849;p69"/>
          <p:cNvSpPr txBox="1"/>
          <p:nvPr/>
        </p:nvSpPr>
        <p:spPr>
          <a:xfrm>
            <a:off x="1581108" y="4537213"/>
            <a:ext cx="613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sp>
        <p:nvSpPr>
          <p:cNvPr id="850" name="Google Shape;850;p69"/>
          <p:cNvSpPr/>
          <p:nvPr/>
        </p:nvSpPr>
        <p:spPr>
          <a:xfrm>
            <a:off x="5392476" y="3816611"/>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1" name="Google Shape;851;p69"/>
          <p:cNvSpPr/>
          <p:nvPr/>
        </p:nvSpPr>
        <p:spPr>
          <a:xfrm>
            <a:off x="4199604" y="261577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2" name="Google Shape;852;p69"/>
          <p:cNvSpPr/>
          <p:nvPr/>
        </p:nvSpPr>
        <p:spPr>
          <a:xfrm>
            <a:off x="1852985" y="3777825"/>
            <a:ext cx="1196400" cy="11964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3" name="Google Shape;853;p69"/>
          <p:cNvSpPr/>
          <p:nvPr/>
        </p:nvSpPr>
        <p:spPr>
          <a:xfrm>
            <a:off x="4199604" y="40607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4" name="Google Shape;854;p69"/>
          <p:cNvCxnSpPr/>
          <p:nvPr/>
        </p:nvCxnSpPr>
        <p:spPr>
          <a:xfrm>
            <a:off x="4200300" y="4490226"/>
            <a:ext cx="1811100" cy="6600"/>
          </a:xfrm>
          <a:prstGeom prst="straightConnector1">
            <a:avLst/>
          </a:prstGeom>
          <a:noFill/>
          <a:ln cap="flat" cmpd="sng" w="28575">
            <a:solidFill>
              <a:srgbClr val="845AD9"/>
            </a:solidFill>
            <a:prstDash val="solid"/>
            <a:round/>
            <a:headEnd len="med" w="med" type="triangle"/>
            <a:tailEnd len="med" w="med" type="triangle"/>
          </a:ln>
        </p:spPr>
      </p:cxnSp>
      <p:cxnSp>
        <p:nvCxnSpPr>
          <p:cNvPr id="855" name="Google Shape;855;p69"/>
          <p:cNvCxnSpPr/>
          <p:nvPr/>
        </p:nvCxnSpPr>
        <p:spPr>
          <a:xfrm>
            <a:off x="4056027" y="2608006"/>
            <a:ext cx="0" cy="1802400"/>
          </a:xfrm>
          <a:prstGeom prst="straightConnector1">
            <a:avLst/>
          </a:prstGeom>
          <a:noFill/>
          <a:ln cap="flat" cmpd="sng" w="28575">
            <a:solidFill>
              <a:srgbClr val="845AD9"/>
            </a:solidFill>
            <a:prstDash val="solid"/>
            <a:round/>
            <a:headEnd len="med" w="med" type="triangle"/>
            <a:tailEnd len="med" w="med" type="triangle"/>
          </a:ln>
        </p:spPr>
      </p:cxnSp>
      <p:sp>
        <p:nvSpPr>
          <p:cNvPr id="856" name="Google Shape;856;p69"/>
          <p:cNvSpPr txBox="1"/>
          <p:nvPr/>
        </p:nvSpPr>
        <p:spPr>
          <a:xfrm>
            <a:off x="5370689" y="4156967"/>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57" name="Google Shape;857;p69"/>
          <p:cNvSpPr/>
          <p:nvPr/>
        </p:nvSpPr>
        <p:spPr>
          <a:xfrm>
            <a:off x="1297987" y="4160162"/>
            <a:ext cx="222900" cy="222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58" name="Google Shape;858;p69"/>
          <p:cNvCxnSpPr/>
          <p:nvPr/>
        </p:nvCxnSpPr>
        <p:spPr>
          <a:xfrm>
            <a:off x="1305400" y="4485625"/>
            <a:ext cx="1164600" cy="0"/>
          </a:xfrm>
          <a:prstGeom prst="straightConnector1">
            <a:avLst/>
          </a:prstGeom>
          <a:noFill/>
          <a:ln cap="flat" cmpd="sng" w="28575">
            <a:solidFill>
              <a:srgbClr val="845AD9"/>
            </a:solidFill>
            <a:prstDash val="solid"/>
            <a:round/>
            <a:headEnd len="med" w="med" type="triangle"/>
            <a:tailEnd len="med" w="med" type="triangle"/>
          </a:ln>
        </p:spPr>
      </p:cxnSp>
      <p:cxnSp>
        <p:nvCxnSpPr>
          <p:cNvPr id="859" name="Google Shape;859;p69"/>
          <p:cNvCxnSpPr/>
          <p:nvPr/>
        </p:nvCxnSpPr>
        <p:spPr>
          <a:xfrm>
            <a:off x="1162094" y="3216668"/>
            <a:ext cx="0" cy="1170600"/>
          </a:xfrm>
          <a:prstGeom prst="straightConnector1">
            <a:avLst/>
          </a:prstGeom>
          <a:noFill/>
          <a:ln cap="flat" cmpd="sng" w="28575">
            <a:solidFill>
              <a:srgbClr val="845AD9"/>
            </a:solidFill>
            <a:prstDash val="solid"/>
            <a:round/>
            <a:headEnd len="med" w="med" type="triangle"/>
            <a:tailEnd len="med" w="med" type="triangle"/>
          </a:ln>
        </p:spPr>
      </p:cxnSp>
      <p:sp>
        <p:nvSpPr>
          <p:cNvPr id="860" name="Google Shape;860;p69"/>
          <p:cNvSpPr txBox="1"/>
          <p:nvPr/>
        </p:nvSpPr>
        <p:spPr>
          <a:xfrm>
            <a:off x="1851746" y="4167388"/>
            <a:ext cx="457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861" name="Google Shape;861;p69"/>
          <p:cNvGrpSpPr/>
          <p:nvPr/>
        </p:nvGrpSpPr>
        <p:grpSpPr>
          <a:xfrm>
            <a:off x="2375825" y="4292584"/>
            <a:ext cx="2019700" cy="381591"/>
            <a:chOff x="5617781" y="4189700"/>
            <a:chExt cx="2019700" cy="381591"/>
          </a:xfrm>
        </p:grpSpPr>
        <p:sp>
          <p:nvSpPr>
            <p:cNvPr id="862" name="Google Shape;862;p69"/>
            <p:cNvSpPr/>
            <p:nvPr/>
          </p:nvSpPr>
          <p:spPr>
            <a:xfrm>
              <a:off x="5617781" y="4544316"/>
              <a:ext cx="2019700" cy="26975"/>
            </a:xfrm>
            <a:custGeom>
              <a:rect b="b" l="l" r="r" t="t"/>
              <a:pathLst>
                <a:path extrusionOk="0" h="1079" w="80788">
                  <a:moveTo>
                    <a:pt x="0" y="0"/>
                  </a:moveTo>
                  <a:cubicBezTo>
                    <a:pt x="6867" y="180"/>
                    <a:pt x="27737" y="1032"/>
                    <a:pt x="41202" y="1077"/>
                  </a:cubicBezTo>
                  <a:cubicBezTo>
                    <a:pt x="54667" y="1122"/>
                    <a:pt x="74190" y="405"/>
                    <a:pt x="80788" y="270"/>
                  </a:cubicBezTo>
                </a:path>
              </a:pathLst>
            </a:custGeom>
            <a:noFill/>
            <a:ln cap="flat" cmpd="sng" w="28575">
              <a:solidFill>
                <a:srgbClr val="000000"/>
              </a:solidFill>
              <a:prstDash val="solid"/>
              <a:round/>
              <a:headEnd len="med" w="med" type="none"/>
              <a:tailEnd len="med" w="med" type="triangle"/>
            </a:ln>
          </p:spPr>
        </p:sp>
        <p:sp>
          <p:nvSpPr>
            <p:cNvPr id="863" name="Google Shape;863;p69"/>
            <p:cNvSpPr txBox="1"/>
            <p:nvPr/>
          </p:nvSpPr>
          <p:spPr>
            <a:xfrm>
              <a:off x="6028750" y="4189700"/>
              <a:ext cx="1274100"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grpSp>
      <p:sp>
        <p:nvSpPr>
          <p:cNvPr id="864" name="Google Shape;864;p69"/>
          <p:cNvSpPr txBox="1"/>
          <p:nvPr/>
        </p:nvSpPr>
        <p:spPr>
          <a:xfrm>
            <a:off x="379571" y="3782975"/>
            <a:ext cx="796200" cy="17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grpSp>
        <p:nvGrpSpPr>
          <p:cNvPr id="865" name="Google Shape;865;p69"/>
          <p:cNvGrpSpPr/>
          <p:nvPr/>
        </p:nvGrpSpPr>
        <p:grpSpPr>
          <a:xfrm>
            <a:off x="6690475" y="2944400"/>
            <a:ext cx="964200" cy="472225"/>
            <a:chOff x="6995275" y="3173000"/>
            <a:chExt cx="964200" cy="472225"/>
          </a:xfrm>
        </p:grpSpPr>
        <p:sp>
          <p:nvSpPr>
            <p:cNvPr id="866" name="Google Shape;866;p69"/>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67" name="Google Shape;867;p69"/>
            <p:cNvSpPr txBox="1"/>
            <p:nvPr/>
          </p:nvSpPr>
          <p:spPr>
            <a:xfrm>
              <a:off x="6995275" y="3324525"/>
              <a:ext cx="964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 </a:t>
              </a: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solidFill>
                  <a:srgbClr val="000000"/>
                </a:solidFill>
                <a:latin typeface="Times New Roman"/>
                <a:ea typeface="Times New Roman"/>
                <a:cs typeface="Times New Roman"/>
                <a:sym typeface="Times New Roman"/>
              </a:endParaRPr>
            </a:p>
          </p:txBody>
        </p:sp>
      </p:grpSp>
      <p:grpSp>
        <p:nvGrpSpPr>
          <p:cNvPr id="868" name="Google Shape;868;p69"/>
          <p:cNvGrpSpPr/>
          <p:nvPr/>
        </p:nvGrpSpPr>
        <p:grpSpPr>
          <a:xfrm>
            <a:off x="6705675" y="1339925"/>
            <a:ext cx="933900" cy="450600"/>
            <a:chOff x="7010475" y="1568525"/>
            <a:chExt cx="933900" cy="450600"/>
          </a:xfrm>
        </p:grpSpPr>
        <p:sp>
          <p:nvSpPr>
            <p:cNvPr id="869" name="Google Shape;869;p69"/>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70" name="Google Shape;870;p69"/>
            <p:cNvSpPr txBox="1"/>
            <p:nvPr/>
          </p:nvSpPr>
          <p:spPr>
            <a:xfrm>
              <a:off x="7010475" y="1568525"/>
              <a:ext cx="9339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tan</a:t>
              </a:r>
              <a:r>
                <a:rPr lang="en-GB" sz="1800">
                  <a:solidFill>
                    <a:schemeClr val="dk1"/>
                  </a:solidFill>
                  <a:latin typeface="Times New Roman"/>
                  <a:ea typeface="Times New Roman"/>
                  <a:cs typeface="Times New Roman"/>
                  <a:sym typeface="Times New Roman"/>
                </a:rPr>
                <a:t>(</a:t>
              </a:r>
              <a:r>
                <a:rPr i="1" lang="en-GB" sz="1800">
                  <a:solidFill>
                    <a:schemeClr val="dk1"/>
                  </a:solidFill>
                  <a:latin typeface="Times New Roman"/>
                  <a:ea typeface="Times New Roman"/>
                  <a:cs typeface="Times New Roman"/>
                  <a:sym typeface="Times New Roman"/>
                </a:rPr>
                <a:t>θ</a:t>
              </a:r>
              <a:r>
                <a:rPr lang="en-GB" sz="1800">
                  <a:solidFill>
                    <a:schemeClr val="dk1"/>
                  </a:solidFill>
                  <a:latin typeface="Times New Roman"/>
                  <a:ea typeface="Times New Roman"/>
                  <a:cs typeface="Times New Roman"/>
                  <a:sym typeface="Times New Roman"/>
                </a:rPr>
                <a:t>°)</a:t>
              </a:r>
              <a:endParaRPr sz="1800">
                <a:latin typeface="Times New Roman"/>
                <a:ea typeface="Times New Roman"/>
                <a:cs typeface="Times New Roman"/>
                <a:sym typeface="Times New Roman"/>
              </a:endParaRPr>
            </a:p>
          </p:txBody>
        </p:sp>
      </p:grpSp>
      <p:grpSp>
        <p:nvGrpSpPr>
          <p:cNvPr id="871" name="Google Shape;871;p69"/>
          <p:cNvGrpSpPr/>
          <p:nvPr/>
        </p:nvGrpSpPr>
        <p:grpSpPr>
          <a:xfrm>
            <a:off x="5619501" y="2080125"/>
            <a:ext cx="3483798" cy="582538"/>
            <a:chOff x="5924301" y="2308725"/>
            <a:chExt cx="3483798" cy="582538"/>
          </a:xfrm>
        </p:grpSpPr>
        <p:sp>
          <p:nvSpPr>
            <p:cNvPr id="872" name="Google Shape;872;p69"/>
            <p:cNvSpPr/>
            <p:nvPr/>
          </p:nvSpPr>
          <p:spPr>
            <a:xfrm flipH="1">
              <a:off x="8784840" y="23087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873" name="Google Shape;873;p69"/>
            <p:cNvGrpSpPr/>
            <p:nvPr/>
          </p:nvGrpSpPr>
          <p:grpSpPr>
            <a:xfrm>
              <a:off x="5924301" y="2308738"/>
              <a:ext cx="646319" cy="582525"/>
              <a:chOff x="5924301" y="2308738"/>
              <a:chExt cx="646319" cy="582525"/>
            </a:xfrm>
          </p:grpSpPr>
          <p:sp>
            <p:nvSpPr>
              <p:cNvPr id="874" name="Google Shape;874;p69"/>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875" name="Google Shape;875;p69"/>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a</a:t>
                </a:r>
                <a:endParaRPr sz="1800">
                  <a:solidFill>
                    <a:srgbClr val="000000"/>
                  </a:solidFill>
                  <a:latin typeface="Lexend"/>
                  <a:ea typeface="Lexend"/>
                  <a:cs typeface="Lexend"/>
                  <a:sym typeface="Lexend"/>
                </a:endParaRPr>
              </a:p>
            </p:txBody>
          </p:sp>
        </p:grpSp>
        <p:sp>
          <p:nvSpPr>
            <p:cNvPr id="876" name="Google Shape;876;p69"/>
            <p:cNvSpPr txBox="1"/>
            <p:nvPr/>
          </p:nvSpPr>
          <p:spPr>
            <a:xfrm>
              <a:off x="8967399" y="23682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a:t>
              </a:r>
              <a:endParaRPr sz="1800">
                <a:solidFill>
                  <a:srgbClr val="000000"/>
                </a:solidFill>
                <a:latin typeface="Lexend"/>
                <a:ea typeface="Lexend"/>
                <a:cs typeface="Lexend"/>
                <a:sym typeface="Lexend"/>
              </a:endParaRPr>
            </a:p>
          </p:txBody>
        </p:sp>
      </p:grpSp>
      <p:sp>
        <p:nvSpPr>
          <p:cNvPr id="877" name="Google Shape;877;p69"/>
          <p:cNvSpPr/>
          <p:nvPr/>
        </p:nvSpPr>
        <p:spPr>
          <a:xfrm>
            <a:off x="1297987" y="3216668"/>
            <a:ext cx="1166400" cy="1166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8" name="Google Shape;878;p69"/>
          <p:cNvSpPr txBox="1"/>
          <p:nvPr/>
        </p:nvSpPr>
        <p:spPr>
          <a:xfrm>
            <a:off x="4673131" y="4489812"/>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879" name="Google Shape;879;p69"/>
          <p:cNvSpPr/>
          <p:nvPr/>
        </p:nvSpPr>
        <p:spPr>
          <a:xfrm>
            <a:off x="3405850" y="3280600"/>
            <a:ext cx="650100" cy="3888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80" name="Google Shape;880;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4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7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70"/>
          <p:cNvSpPr txBox="1"/>
          <p:nvPr/>
        </p:nvSpPr>
        <p:spPr>
          <a:xfrm>
            <a:off x="324000" y="4182000"/>
            <a:ext cx="3258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The length of the adjacent</a:t>
            </a:r>
            <a:endParaRPr sz="1800">
              <a:latin typeface="Lexend"/>
              <a:ea typeface="Lexend"/>
              <a:cs typeface="Lexend"/>
              <a:sym typeface="Lexend"/>
            </a:endParaRPr>
          </a:p>
        </p:txBody>
      </p:sp>
      <p:sp>
        <p:nvSpPr>
          <p:cNvPr id="886" name="Google Shape;886;p70"/>
          <p:cNvSpPr txBox="1"/>
          <p:nvPr/>
        </p:nvSpPr>
        <p:spPr>
          <a:xfrm>
            <a:off x="3314213" y="4182000"/>
            <a:ext cx="5554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multiplied by the </a:t>
            </a:r>
            <a:r>
              <a:rPr lang="en-GB" sz="1800">
                <a:solidFill>
                  <a:schemeClr val="accent4"/>
                </a:solidFill>
                <a:latin typeface="Lexend"/>
                <a:ea typeface="Lexend"/>
                <a:cs typeface="Lexend"/>
                <a:sym typeface="Lexend"/>
              </a:rPr>
              <a:t>tangent</a:t>
            </a:r>
            <a:r>
              <a:rPr lang="en-GB" sz="1800">
                <a:solidFill>
                  <a:schemeClr val="accent4"/>
                </a:solidFill>
                <a:latin typeface="Lexend"/>
                <a:ea typeface="Lexend"/>
                <a:cs typeface="Lexend"/>
                <a:sym typeface="Lexend"/>
              </a:rPr>
              <a:t> </a:t>
            </a:r>
            <a:r>
              <a:rPr lang="en-GB" sz="1800">
                <a:latin typeface="Lexend"/>
                <a:ea typeface="Lexend"/>
                <a:cs typeface="Lexend"/>
                <a:sym typeface="Lexend"/>
              </a:rPr>
              <a:t>of an angle of </a:t>
            </a:r>
            <a:r>
              <a:rPr i="1" lang="en-GB" sz="1800">
                <a:latin typeface="Lexend"/>
                <a:ea typeface="Lexend"/>
                <a:cs typeface="Lexend"/>
                <a:sym typeface="Lexend"/>
              </a:rPr>
              <a:t>θ</a:t>
            </a:r>
            <a:r>
              <a:rPr lang="en-GB" sz="1800">
                <a:latin typeface="Lexend"/>
                <a:ea typeface="Lexend"/>
                <a:cs typeface="Lexend"/>
                <a:sym typeface="Lexend"/>
              </a:rPr>
              <a:t>° </a:t>
            </a:r>
            <a:endParaRPr sz="1800">
              <a:latin typeface="Lexend"/>
              <a:ea typeface="Lexend"/>
              <a:cs typeface="Lexend"/>
              <a:sym typeface="Lexend"/>
            </a:endParaRPr>
          </a:p>
        </p:txBody>
      </p:sp>
      <p:sp>
        <p:nvSpPr>
          <p:cNvPr id="887" name="Google Shape;887;p70"/>
          <p:cNvSpPr/>
          <p:nvPr/>
        </p:nvSpPr>
        <p:spPr>
          <a:xfrm>
            <a:off x="2795750" y="3667125"/>
            <a:ext cx="796200" cy="383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88" name="Google Shape;888;p70"/>
          <p:cNvSpPr txBox="1"/>
          <p:nvPr/>
        </p:nvSpPr>
        <p:spPr>
          <a:xfrm>
            <a:off x="900676" y="2680212"/>
            <a:ext cx="12492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i="1"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889" name="Google Shape;889;p70"/>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endParaRPr sz="1800">
              <a:latin typeface="Lexend"/>
              <a:ea typeface="Lexend"/>
              <a:cs typeface="Lexend"/>
              <a:sym typeface="Lexend"/>
            </a:endParaRPr>
          </a:p>
        </p:txBody>
      </p:sp>
      <p:sp>
        <p:nvSpPr>
          <p:cNvPr id="890" name="Google Shape;890;p70"/>
          <p:cNvSpPr txBox="1"/>
          <p:nvPr/>
        </p:nvSpPr>
        <p:spPr>
          <a:xfrm>
            <a:off x="7077775" y="23674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i="1" sz="2200">
              <a:solidFill>
                <a:schemeClr val="dk1"/>
              </a:solidFill>
              <a:latin typeface="Times New Roman"/>
              <a:ea typeface="Times New Roman"/>
              <a:cs typeface="Times New Roman"/>
              <a:sym typeface="Times New Roman"/>
            </a:endParaRPr>
          </a:p>
        </p:txBody>
      </p:sp>
      <p:sp>
        <p:nvSpPr>
          <p:cNvPr id="891" name="Google Shape;891;p70"/>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892" name="Google Shape;892;p70"/>
          <p:cNvSpPr txBox="1"/>
          <p:nvPr/>
        </p:nvSpPr>
        <p:spPr>
          <a:xfrm>
            <a:off x="7077775" y="2367425"/>
            <a:ext cx="11685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i="1"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a:t>
            </a:r>
            <a:r>
              <a:rPr lang="en-GB" sz="2200">
                <a:solidFill>
                  <a:schemeClr val="dk1"/>
                </a:solidFill>
                <a:latin typeface="Times New Roman"/>
                <a:ea typeface="Times New Roman"/>
                <a:cs typeface="Times New Roman"/>
                <a:sym typeface="Times New Roman"/>
              </a:rPr>
              <a:t>n</a:t>
            </a:r>
            <a:r>
              <a:rPr lang="en-GB" sz="1800">
                <a:solidFill>
                  <a:schemeClr val="dk1"/>
                </a:solidFill>
                <a:latin typeface="Times New Roman"/>
                <a:ea typeface="Times New Roman"/>
                <a:cs typeface="Times New Roman"/>
                <a:sym typeface="Times New Roman"/>
              </a:rPr>
              <a:t>(</a:t>
            </a:r>
            <a:r>
              <a:rPr i="1" lang="en-GB" sz="1800">
                <a:solidFill>
                  <a:schemeClr val="dk1"/>
                </a:solidFill>
                <a:latin typeface="Times New Roman"/>
                <a:ea typeface="Times New Roman"/>
                <a:cs typeface="Times New Roman"/>
                <a:sym typeface="Times New Roman"/>
              </a:rPr>
              <a:t>θ</a:t>
            </a:r>
            <a:r>
              <a:rPr lang="en-GB"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
        <p:nvSpPr>
          <p:cNvPr id="893" name="Google Shape;893;p70"/>
          <p:cNvSpPr txBox="1"/>
          <p:nvPr/>
        </p:nvSpPr>
        <p:spPr>
          <a:xfrm>
            <a:off x="7077775" y="18782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894" name="Google Shape;894;p70"/>
          <p:cNvSpPr txBox="1"/>
          <p:nvPr/>
        </p:nvSpPr>
        <p:spPr>
          <a:xfrm>
            <a:off x="324000" y="763000"/>
            <a:ext cx="8496000" cy="585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We can also generalise this process to any right-angled triangle that has an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where the side </a:t>
            </a:r>
            <a:r>
              <a:rPr lang="en-GB" sz="1800">
                <a:solidFill>
                  <a:schemeClr val="accent4"/>
                </a:solidFill>
                <a:latin typeface="Lexend"/>
                <a:ea typeface="Lexend"/>
                <a:cs typeface="Lexend"/>
                <a:sym typeface="Lexend"/>
              </a:rPr>
              <a:t>opposite</a:t>
            </a:r>
            <a:r>
              <a:rPr lang="en-GB" sz="1800">
                <a:solidFill>
                  <a:schemeClr val="dk1"/>
                </a:solidFill>
                <a:latin typeface="Lexend"/>
                <a:ea typeface="Lexend"/>
                <a:cs typeface="Lexend"/>
                <a:sym typeface="Lexend"/>
              </a:rPr>
              <a:t>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has length </a:t>
            </a: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895" name="Google Shape;895;p70"/>
          <p:cNvSpPr/>
          <p:nvPr/>
        </p:nvSpPr>
        <p:spPr>
          <a:xfrm>
            <a:off x="3471937" y="29565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6" name="Google Shape;896;p70"/>
          <p:cNvSpPr/>
          <p:nvPr/>
        </p:nvSpPr>
        <p:spPr>
          <a:xfrm>
            <a:off x="2294604" y="17698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7" name="Google Shape;897;p70"/>
          <p:cNvSpPr/>
          <p:nvPr/>
        </p:nvSpPr>
        <p:spPr>
          <a:xfrm>
            <a:off x="2294604" y="32225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98" name="Google Shape;898;p70"/>
          <p:cNvCxnSpPr/>
          <p:nvPr/>
        </p:nvCxnSpPr>
        <p:spPr>
          <a:xfrm>
            <a:off x="2295050" y="3700100"/>
            <a:ext cx="1797600" cy="0"/>
          </a:xfrm>
          <a:prstGeom prst="straightConnector1">
            <a:avLst/>
          </a:prstGeom>
          <a:noFill/>
          <a:ln cap="flat" cmpd="sng" w="28575">
            <a:solidFill>
              <a:srgbClr val="845AD9"/>
            </a:solidFill>
            <a:prstDash val="solid"/>
            <a:round/>
            <a:headEnd len="med" w="med" type="triangle"/>
            <a:tailEnd len="med" w="med" type="triangle"/>
          </a:ln>
        </p:spPr>
      </p:cxnSp>
      <p:cxnSp>
        <p:nvCxnSpPr>
          <p:cNvPr id="899" name="Google Shape;899;p70"/>
          <p:cNvCxnSpPr/>
          <p:nvPr/>
        </p:nvCxnSpPr>
        <p:spPr>
          <a:xfrm>
            <a:off x="2151027" y="1769806"/>
            <a:ext cx="0" cy="1802400"/>
          </a:xfrm>
          <a:prstGeom prst="straightConnector1">
            <a:avLst/>
          </a:prstGeom>
          <a:noFill/>
          <a:ln cap="flat" cmpd="sng" w="28575">
            <a:solidFill>
              <a:srgbClr val="845AD9"/>
            </a:solidFill>
            <a:prstDash val="solid"/>
            <a:round/>
            <a:headEnd len="med" w="med" type="triangle"/>
            <a:tailEnd len="med" w="med" type="triangle"/>
          </a:ln>
        </p:spPr>
      </p:cxnSp>
      <p:sp>
        <p:nvSpPr>
          <p:cNvPr id="900" name="Google Shape;900;p70"/>
          <p:cNvSpPr txBox="1"/>
          <p:nvPr/>
        </p:nvSpPr>
        <p:spPr>
          <a:xfrm>
            <a:off x="3465689" y="33202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901" name="Google Shape;901;p70"/>
          <p:cNvGrpSpPr/>
          <p:nvPr/>
        </p:nvGrpSpPr>
        <p:grpSpPr>
          <a:xfrm>
            <a:off x="6690475" y="2944400"/>
            <a:ext cx="964200" cy="472225"/>
            <a:chOff x="6995275" y="3173000"/>
            <a:chExt cx="964200" cy="472225"/>
          </a:xfrm>
        </p:grpSpPr>
        <p:sp>
          <p:nvSpPr>
            <p:cNvPr id="902" name="Google Shape;902;p70"/>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03" name="Google Shape;903;p70"/>
            <p:cNvSpPr txBox="1"/>
            <p:nvPr/>
          </p:nvSpPr>
          <p:spPr>
            <a:xfrm>
              <a:off x="6995275" y="3324525"/>
              <a:ext cx="964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 </a:t>
              </a: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solidFill>
                  <a:srgbClr val="000000"/>
                </a:solidFill>
                <a:latin typeface="Times New Roman"/>
                <a:ea typeface="Times New Roman"/>
                <a:cs typeface="Times New Roman"/>
                <a:sym typeface="Times New Roman"/>
              </a:endParaRPr>
            </a:p>
          </p:txBody>
        </p:sp>
      </p:grpSp>
      <p:sp>
        <p:nvSpPr>
          <p:cNvPr id="904" name="Google Shape;904;p70"/>
          <p:cNvSpPr txBox="1"/>
          <p:nvPr/>
        </p:nvSpPr>
        <p:spPr>
          <a:xfrm>
            <a:off x="2840756" y="3714481"/>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graphicFrame>
        <p:nvGraphicFramePr>
          <p:cNvPr id="905" name="Google Shape;905;p70"/>
          <p:cNvGraphicFramePr/>
          <p:nvPr/>
        </p:nvGraphicFramePr>
        <p:xfrm>
          <a:off x="6275565" y="1882150"/>
          <a:ext cx="3000000" cy="3000000"/>
        </p:xfrm>
        <a:graphic>
          <a:graphicData uri="http://schemas.openxmlformats.org/drawingml/2006/table">
            <a:tbl>
              <a:tblPr>
                <a:noFill/>
                <a:tableStyleId>{2A7510FF-DB5D-4613-96E9-5DA671240F2A}</a:tableStyleId>
              </a:tblPr>
              <a:tblGrid>
                <a:gridCol w="777325"/>
                <a:gridCol w="119947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906" name="Google Shape;906;p70"/>
          <p:cNvSpPr txBox="1"/>
          <p:nvPr/>
        </p:nvSpPr>
        <p:spPr>
          <a:xfrm>
            <a:off x="1596625" y="2447675"/>
            <a:ext cx="5424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sz="1800">
              <a:solidFill>
                <a:schemeClr val="accent4"/>
              </a:solidFill>
              <a:latin typeface="Lexend"/>
              <a:ea typeface="Lexend"/>
              <a:cs typeface="Lexend"/>
              <a:sym typeface="Lexend"/>
            </a:endParaRPr>
          </a:p>
        </p:txBody>
      </p:sp>
      <p:sp>
        <p:nvSpPr>
          <p:cNvPr id="907" name="Google Shape;907;p70"/>
          <p:cNvSpPr txBox="1"/>
          <p:nvPr/>
        </p:nvSpPr>
        <p:spPr>
          <a:xfrm>
            <a:off x="324000" y="4459775"/>
            <a:ext cx="5554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equals the length of the side </a:t>
            </a:r>
            <a:r>
              <a:rPr lang="en-GB" sz="1800">
                <a:solidFill>
                  <a:schemeClr val="accent4"/>
                </a:solidFill>
                <a:latin typeface="Lexend"/>
                <a:ea typeface="Lexend"/>
                <a:cs typeface="Lexend"/>
                <a:sym typeface="Lexend"/>
              </a:rPr>
              <a:t>opposite </a:t>
            </a:r>
            <a:r>
              <a:rPr lang="en-GB" sz="1800">
                <a:solidFill>
                  <a:schemeClr val="dk1"/>
                </a:solidFill>
                <a:latin typeface="Lexend"/>
                <a:ea typeface="Lexend"/>
                <a:cs typeface="Lexend"/>
                <a:sym typeface="Lexend"/>
              </a:rPr>
              <a:t>that angle.</a:t>
            </a:r>
            <a:endParaRPr sz="1800">
              <a:latin typeface="Lexend"/>
              <a:ea typeface="Lexend"/>
              <a:cs typeface="Lexend"/>
              <a:sym typeface="Lexend"/>
            </a:endParaRPr>
          </a:p>
        </p:txBody>
      </p:sp>
      <p:sp>
        <p:nvSpPr>
          <p:cNvPr id="908" name="Google Shape;908;p70"/>
          <p:cNvSpPr/>
          <p:nvPr/>
        </p:nvSpPr>
        <p:spPr>
          <a:xfrm>
            <a:off x="3446326" y="3232125"/>
            <a:ext cx="395400" cy="383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909" name="Google Shape;909;p70"/>
          <p:cNvCxnSpPr>
            <a:stCxn id="887" idx="1"/>
            <a:endCxn id="896" idx="1"/>
          </p:cNvCxnSpPr>
          <p:nvPr/>
        </p:nvCxnSpPr>
        <p:spPr>
          <a:xfrm rot="10800000">
            <a:off x="2294750" y="2667975"/>
            <a:ext cx="501000" cy="1190700"/>
          </a:xfrm>
          <a:prstGeom prst="straightConnector1">
            <a:avLst/>
          </a:prstGeom>
          <a:noFill/>
          <a:ln cap="flat" cmpd="sng" w="38100">
            <a:solidFill>
              <a:schemeClr val="accent3"/>
            </a:solidFill>
            <a:prstDash val="solid"/>
            <a:round/>
            <a:headEnd len="med" w="med" type="none"/>
            <a:tailEnd len="med" w="med" type="triangle"/>
          </a:ln>
        </p:spPr>
      </p:cxnSp>
      <p:sp>
        <p:nvSpPr>
          <p:cNvPr id="910" name="Google Shape;910;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15" name="Google Shape;915;p71" title="opp over a equals tangent theta degrees opp over tangent theta degrees equals a a times tangent theta degrees equals opp"/>
          <p:cNvPicPr preferRelativeResize="0"/>
          <p:nvPr/>
        </p:nvPicPr>
        <p:blipFill rotWithShape="1">
          <a:blip r:embed="rId3">
            <a:alphaModFix/>
          </a:blip>
          <a:srcRect b="0" l="0" r="70875" t="0"/>
          <a:stretch/>
        </p:blipFill>
        <p:spPr>
          <a:xfrm>
            <a:off x="835087" y="3898266"/>
            <a:ext cx="1728575" cy="6135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16" name="Google Shape;916;p71" title="opp over a equals tangent theta degrees opp over tangent theta degrees equals a a times tangent theta degrees equals opp"/>
          <p:cNvPicPr preferRelativeResize="0"/>
          <p:nvPr/>
        </p:nvPicPr>
        <p:blipFill rotWithShape="1">
          <a:blip r:embed="rId3">
            <a:alphaModFix/>
          </a:blip>
          <a:srcRect b="0" l="34523" r="40340" t="0"/>
          <a:stretch/>
        </p:blipFill>
        <p:spPr>
          <a:xfrm>
            <a:off x="945731" y="2855220"/>
            <a:ext cx="1491776" cy="6135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17" name="Google Shape;917;p71" title="opp over a equals tangent theta degrees opp over tangent theta degrees equals a a times tangent theta degrees equals opp"/>
          <p:cNvPicPr preferRelativeResize="0"/>
          <p:nvPr/>
        </p:nvPicPr>
        <p:blipFill rotWithShape="1">
          <a:blip r:embed="rId3">
            <a:alphaModFix/>
          </a:blip>
          <a:srcRect b="0" l="65004" r="0" t="0"/>
          <a:stretch/>
        </p:blipFill>
        <p:spPr>
          <a:xfrm>
            <a:off x="832871" y="1954875"/>
            <a:ext cx="2077026" cy="613500"/>
          </a:xfrm>
          <a:prstGeom prst="rect">
            <a:avLst/>
          </a:prstGeom>
          <a:noFill/>
          <a:ln>
            <a:noFill/>
          </a:ln>
        </p:spPr>
      </p:pic>
      <p:grpSp>
        <p:nvGrpSpPr>
          <p:cNvPr id="918" name="Google Shape;918;p71"/>
          <p:cNvGrpSpPr/>
          <p:nvPr/>
        </p:nvGrpSpPr>
        <p:grpSpPr>
          <a:xfrm>
            <a:off x="661075" y="1548064"/>
            <a:ext cx="2385900" cy="3112499"/>
            <a:chOff x="667000" y="1598626"/>
            <a:chExt cx="2385900" cy="3112499"/>
          </a:xfrm>
        </p:grpSpPr>
        <p:sp>
          <p:nvSpPr>
            <p:cNvPr id="919" name="Google Shape;919;p71"/>
            <p:cNvSpPr/>
            <p:nvPr/>
          </p:nvSpPr>
          <p:spPr>
            <a:xfrm>
              <a:off x="667000" y="1939125"/>
              <a:ext cx="2385900" cy="2772000"/>
            </a:xfrm>
            <a:prstGeom prst="rect">
              <a:avLst/>
            </a:prstGeom>
            <a:no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0" name="Google Shape;920;p71"/>
            <p:cNvSpPr txBox="1"/>
            <p:nvPr/>
          </p:nvSpPr>
          <p:spPr>
            <a:xfrm>
              <a:off x="667000" y="1598626"/>
              <a:ext cx="2385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The tangent formula</a:t>
              </a:r>
              <a:endParaRPr sz="1800">
                <a:latin typeface="Lexend"/>
                <a:ea typeface="Lexend"/>
                <a:cs typeface="Lexend"/>
                <a:sym typeface="Lexend"/>
              </a:endParaRPr>
            </a:p>
          </p:txBody>
        </p:sp>
      </p:grpSp>
      <p:grpSp>
        <p:nvGrpSpPr>
          <p:cNvPr id="921" name="Google Shape;921;p71"/>
          <p:cNvGrpSpPr/>
          <p:nvPr/>
        </p:nvGrpSpPr>
        <p:grpSpPr>
          <a:xfrm>
            <a:off x="5619501" y="2080138"/>
            <a:ext cx="646319" cy="582525"/>
            <a:chOff x="5924301" y="2308738"/>
            <a:chExt cx="646319" cy="582525"/>
          </a:xfrm>
        </p:grpSpPr>
        <p:sp>
          <p:nvSpPr>
            <p:cNvPr id="922" name="Google Shape;922;p71"/>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923" name="Google Shape;923;p71"/>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a</a:t>
              </a:r>
              <a:endParaRPr sz="1800">
                <a:solidFill>
                  <a:srgbClr val="000000"/>
                </a:solidFill>
                <a:latin typeface="Lexend"/>
                <a:ea typeface="Lexend"/>
                <a:cs typeface="Lexend"/>
                <a:sym typeface="Lexend"/>
              </a:endParaRPr>
            </a:p>
          </p:txBody>
        </p:sp>
      </p:grpSp>
      <p:grpSp>
        <p:nvGrpSpPr>
          <p:cNvPr id="924" name="Google Shape;924;p71"/>
          <p:cNvGrpSpPr/>
          <p:nvPr/>
        </p:nvGrpSpPr>
        <p:grpSpPr>
          <a:xfrm>
            <a:off x="8251440" y="2080125"/>
            <a:ext cx="623259" cy="582525"/>
            <a:chOff x="8251440" y="2080125"/>
            <a:chExt cx="623259" cy="582525"/>
          </a:xfrm>
        </p:grpSpPr>
        <p:sp>
          <p:nvSpPr>
            <p:cNvPr id="925" name="Google Shape;925;p71"/>
            <p:cNvSpPr/>
            <p:nvPr/>
          </p:nvSpPr>
          <p:spPr>
            <a:xfrm flipH="1">
              <a:off x="8251440" y="20801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926" name="Google Shape;926;p71"/>
            <p:cNvSpPr txBox="1"/>
            <p:nvPr/>
          </p:nvSpPr>
          <p:spPr>
            <a:xfrm>
              <a:off x="8433999" y="21396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a:t>
              </a:r>
              <a:endParaRPr sz="1800">
                <a:solidFill>
                  <a:srgbClr val="000000"/>
                </a:solidFill>
                <a:latin typeface="Lexend"/>
                <a:ea typeface="Lexend"/>
                <a:cs typeface="Lexend"/>
                <a:sym typeface="Lexend"/>
              </a:endParaRPr>
            </a:p>
          </p:txBody>
        </p:sp>
      </p:grpSp>
      <p:sp>
        <p:nvSpPr>
          <p:cNvPr id="927" name="Google Shape;927;p71"/>
          <p:cNvSpPr txBox="1"/>
          <p:nvPr/>
        </p:nvSpPr>
        <p:spPr>
          <a:xfrm>
            <a:off x="7077775" y="23674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opp</a:t>
            </a:r>
            <a:endParaRPr sz="100">
              <a:solidFill>
                <a:schemeClr val="accent4"/>
              </a:solidFill>
              <a:latin typeface="Lexend"/>
              <a:ea typeface="Lexend"/>
              <a:cs typeface="Lexend"/>
              <a:sym typeface="Lexend"/>
            </a:endParaRPr>
          </a:p>
        </p:txBody>
      </p:sp>
      <p:sp>
        <p:nvSpPr>
          <p:cNvPr id="928" name="Google Shape;928;p71"/>
          <p:cNvSpPr/>
          <p:nvPr/>
        </p:nvSpPr>
        <p:spPr>
          <a:xfrm>
            <a:off x="5629045" y="3761558"/>
            <a:ext cx="919200" cy="9192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9" name="Google Shape;929;p71"/>
          <p:cNvSpPr/>
          <p:nvPr/>
        </p:nvSpPr>
        <p:spPr>
          <a:xfrm>
            <a:off x="5078023" y="3205158"/>
            <a:ext cx="1022400" cy="10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0" name="Google Shape;930;p71"/>
          <p:cNvSpPr txBox="1"/>
          <p:nvPr/>
        </p:nvSpPr>
        <p:spPr>
          <a:xfrm>
            <a:off x="3847271" y="3802554"/>
            <a:ext cx="1149000" cy="15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chemeClr val="accent4"/>
                </a:solidFill>
                <a:latin typeface="Lexend"/>
                <a:ea typeface="Lexend"/>
                <a:cs typeface="Lexend"/>
                <a:sym typeface="Lexend"/>
              </a:rPr>
              <a:t>opposite</a:t>
            </a:r>
            <a:endParaRPr sz="1800">
              <a:solidFill>
                <a:schemeClr val="accent4"/>
              </a:solidFill>
              <a:latin typeface="Lexend"/>
              <a:ea typeface="Lexend"/>
              <a:cs typeface="Lexend"/>
              <a:sym typeface="Lexend"/>
            </a:endParaRPr>
          </a:p>
        </p:txBody>
      </p:sp>
      <p:sp>
        <p:nvSpPr>
          <p:cNvPr id="931" name="Google Shape;931;p71"/>
          <p:cNvSpPr txBox="1"/>
          <p:nvPr/>
        </p:nvSpPr>
        <p:spPr>
          <a:xfrm>
            <a:off x="3700600" y="3485600"/>
            <a:ext cx="1295700" cy="1536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i="1"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a:t>
            </a:r>
            <a:r>
              <a:rPr lang="en-GB" sz="2200">
                <a:solidFill>
                  <a:schemeClr val="dk1"/>
                </a:solidFill>
                <a:latin typeface="Times New Roman"/>
                <a:ea typeface="Times New Roman"/>
                <a:cs typeface="Times New Roman"/>
                <a:sym typeface="Times New Roman"/>
              </a:rPr>
              <a:t>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932" name="Google Shape;932;p71"/>
          <p:cNvSpPr txBox="1"/>
          <p:nvPr/>
        </p:nvSpPr>
        <p:spPr>
          <a:xfrm>
            <a:off x="5337776" y="4381511"/>
            <a:ext cx="588600" cy="15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933" name="Google Shape;933;p71"/>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934" name="Google Shape;934;p71"/>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endParaRPr sz="1800">
              <a:latin typeface="Lexend"/>
              <a:ea typeface="Lexend"/>
              <a:cs typeface="Lexend"/>
              <a:sym typeface="Lexend"/>
            </a:endParaRPr>
          </a:p>
        </p:txBody>
      </p:sp>
      <p:sp>
        <p:nvSpPr>
          <p:cNvPr id="935" name="Google Shape;935;p71"/>
          <p:cNvSpPr txBox="1"/>
          <p:nvPr/>
        </p:nvSpPr>
        <p:spPr>
          <a:xfrm>
            <a:off x="7077775" y="1878225"/>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936" name="Google Shape;936;p71"/>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use this ratio table to generate a formula that shows the relationship between the side opposite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t>
            </a:r>
            <a:r>
              <a:rPr lang="en-GB" sz="1800">
                <a:latin typeface="Lexend"/>
                <a:ea typeface="Lexend"/>
                <a:cs typeface="Lexend"/>
                <a:sym typeface="Lexend"/>
              </a:rPr>
              <a:t>and the adjacent, and represent that formula in three ways. </a:t>
            </a:r>
            <a:endParaRPr sz="1800">
              <a:latin typeface="Lexend"/>
              <a:ea typeface="Lexend"/>
              <a:cs typeface="Lexend"/>
              <a:sym typeface="Lexend"/>
            </a:endParaRPr>
          </a:p>
        </p:txBody>
      </p:sp>
      <p:sp>
        <p:nvSpPr>
          <p:cNvPr id="937" name="Google Shape;937;p71"/>
          <p:cNvSpPr/>
          <p:nvPr/>
        </p:nvSpPr>
        <p:spPr>
          <a:xfrm>
            <a:off x="5078023" y="4032124"/>
            <a:ext cx="195300" cy="195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38" name="Google Shape;938;p71"/>
          <p:cNvCxnSpPr/>
          <p:nvPr/>
        </p:nvCxnSpPr>
        <p:spPr>
          <a:xfrm>
            <a:off x="5088975" y="4346400"/>
            <a:ext cx="1016700" cy="0"/>
          </a:xfrm>
          <a:prstGeom prst="straightConnector1">
            <a:avLst/>
          </a:prstGeom>
          <a:noFill/>
          <a:ln cap="flat" cmpd="sng" w="28575">
            <a:solidFill>
              <a:srgbClr val="845AD9"/>
            </a:solidFill>
            <a:prstDash val="solid"/>
            <a:round/>
            <a:headEnd len="med" w="med" type="triangle"/>
            <a:tailEnd len="med" w="med" type="triangle"/>
          </a:ln>
        </p:spPr>
      </p:cxnSp>
      <p:cxnSp>
        <p:nvCxnSpPr>
          <p:cNvPr id="939" name="Google Shape;939;p71"/>
          <p:cNvCxnSpPr/>
          <p:nvPr/>
        </p:nvCxnSpPr>
        <p:spPr>
          <a:xfrm>
            <a:off x="4996294" y="3205158"/>
            <a:ext cx="0" cy="1026000"/>
          </a:xfrm>
          <a:prstGeom prst="straightConnector1">
            <a:avLst/>
          </a:prstGeom>
          <a:noFill/>
          <a:ln cap="flat" cmpd="sng" w="28575">
            <a:solidFill>
              <a:srgbClr val="845AD9"/>
            </a:solidFill>
            <a:prstDash val="solid"/>
            <a:round/>
            <a:headEnd len="med" w="med" type="triangle"/>
            <a:tailEnd len="med" w="med" type="triangle"/>
          </a:ln>
        </p:spPr>
      </p:cxnSp>
      <p:sp>
        <p:nvSpPr>
          <p:cNvPr id="940" name="Google Shape;940;p71"/>
          <p:cNvSpPr txBox="1"/>
          <p:nvPr/>
        </p:nvSpPr>
        <p:spPr>
          <a:xfrm>
            <a:off x="5671668" y="4043761"/>
            <a:ext cx="260400" cy="129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941" name="Google Shape;941;p71"/>
          <p:cNvGrpSpPr/>
          <p:nvPr/>
        </p:nvGrpSpPr>
        <p:grpSpPr>
          <a:xfrm>
            <a:off x="6690475" y="2944400"/>
            <a:ext cx="964200" cy="472225"/>
            <a:chOff x="6995275" y="3173000"/>
            <a:chExt cx="964200" cy="472225"/>
          </a:xfrm>
        </p:grpSpPr>
        <p:sp>
          <p:nvSpPr>
            <p:cNvPr id="942" name="Google Shape;942;p71"/>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43" name="Google Shape;943;p71"/>
            <p:cNvSpPr txBox="1"/>
            <p:nvPr/>
          </p:nvSpPr>
          <p:spPr>
            <a:xfrm>
              <a:off x="6995275" y="3324525"/>
              <a:ext cx="964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solidFill>
                  <a:srgbClr val="000000"/>
                </a:solidFill>
                <a:latin typeface="Times New Roman"/>
                <a:ea typeface="Times New Roman"/>
                <a:cs typeface="Times New Roman"/>
                <a:sym typeface="Times New Roman"/>
              </a:endParaRPr>
            </a:p>
          </p:txBody>
        </p:sp>
      </p:grpSp>
      <p:grpSp>
        <p:nvGrpSpPr>
          <p:cNvPr id="944" name="Google Shape;944;p71"/>
          <p:cNvGrpSpPr/>
          <p:nvPr/>
        </p:nvGrpSpPr>
        <p:grpSpPr>
          <a:xfrm>
            <a:off x="6705675" y="1339925"/>
            <a:ext cx="933900" cy="450600"/>
            <a:chOff x="7010475" y="1568525"/>
            <a:chExt cx="933900" cy="450600"/>
          </a:xfrm>
        </p:grpSpPr>
        <p:sp>
          <p:nvSpPr>
            <p:cNvPr id="945" name="Google Shape;945;p71"/>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46" name="Google Shape;946;p71"/>
            <p:cNvSpPr txBox="1"/>
            <p:nvPr/>
          </p:nvSpPr>
          <p:spPr>
            <a:xfrm>
              <a:off x="7010475" y="1568525"/>
              <a:ext cx="9339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grpSp>
      <p:graphicFrame>
        <p:nvGraphicFramePr>
          <p:cNvPr id="947" name="Google Shape;947;p71"/>
          <p:cNvGraphicFramePr/>
          <p:nvPr/>
        </p:nvGraphicFramePr>
        <p:xfrm>
          <a:off x="6351765" y="1882150"/>
          <a:ext cx="3000000" cy="3000000"/>
        </p:xfrm>
        <a:graphic>
          <a:graphicData uri="http://schemas.openxmlformats.org/drawingml/2006/table">
            <a:tbl>
              <a:tblPr>
                <a:noFill/>
                <a:tableStyleId>{2A7510FF-DB5D-4613-96E9-5DA671240F2A}</a:tableStyleId>
              </a:tblPr>
              <a:tblGrid>
                <a:gridCol w="725975"/>
                <a:gridCol w="112022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l">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948" name="Google Shape;948;p71"/>
          <p:cNvSpPr/>
          <p:nvPr/>
        </p:nvSpPr>
        <p:spPr>
          <a:xfrm>
            <a:off x="1046200" y="2010025"/>
            <a:ext cx="10929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9" name="Google Shape;949;p71"/>
          <p:cNvSpPr/>
          <p:nvPr/>
        </p:nvSpPr>
        <p:spPr>
          <a:xfrm>
            <a:off x="2144500" y="2010025"/>
            <a:ext cx="8406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0" name="Google Shape;950;p71"/>
          <p:cNvSpPr/>
          <p:nvPr/>
        </p:nvSpPr>
        <p:spPr>
          <a:xfrm>
            <a:off x="922800" y="3164200"/>
            <a:ext cx="9339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1" name="Google Shape;951;p71"/>
          <p:cNvSpPr/>
          <p:nvPr/>
        </p:nvSpPr>
        <p:spPr>
          <a:xfrm>
            <a:off x="1923125" y="3055663"/>
            <a:ext cx="8406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2" name="Google Shape;952;p71"/>
          <p:cNvSpPr/>
          <p:nvPr/>
        </p:nvSpPr>
        <p:spPr>
          <a:xfrm>
            <a:off x="1430050" y="3992550"/>
            <a:ext cx="10929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3" name="Google Shape;953;p71"/>
          <p:cNvSpPr/>
          <p:nvPr/>
        </p:nvSpPr>
        <p:spPr>
          <a:xfrm>
            <a:off x="813475" y="4230103"/>
            <a:ext cx="616500" cy="35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4" name="Google Shape;954;p71"/>
          <p:cNvSpPr/>
          <p:nvPr/>
        </p:nvSpPr>
        <p:spPr>
          <a:xfrm>
            <a:off x="6351775" y="2373950"/>
            <a:ext cx="7260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endParaRPr>
              <a:latin typeface="Lexend"/>
              <a:ea typeface="Lexend"/>
              <a:cs typeface="Lexend"/>
              <a:sym typeface="Lexend"/>
            </a:endParaRPr>
          </a:p>
        </p:txBody>
      </p:sp>
      <p:sp>
        <p:nvSpPr>
          <p:cNvPr id="955" name="Google Shape;955;p71"/>
          <p:cNvSpPr/>
          <p:nvPr/>
        </p:nvSpPr>
        <p:spPr>
          <a:xfrm>
            <a:off x="7077775" y="2373950"/>
            <a:ext cx="11202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opp</a:t>
            </a:r>
            <a:endParaRPr>
              <a:solidFill>
                <a:schemeClr val="dk1"/>
              </a:solidFill>
              <a:latin typeface="Lexend"/>
              <a:ea typeface="Lexend"/>
              <a:cs typeface="Lexend"/>
              <a:sym typeface="Lexend"/>
            </a:endParaRPr>
          </a:p>
        </p:txBody>
      </p:sp>
      <p:sp>
        <p:nvSpPr>
          <p:cNvPr id="956" name="Google Shape;956;p71"/>
          <p:cNvSpPr/>
          <p:nvPr/>
        </p:nvSpPr>
        <p:spPr>
          <a:xfrm>
            <a:off x="832875" y="2010025"/>
            <a:ext cx="2892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7" name="Google Shape;957;p71"/>
          <p:cNvSpPr/>
          <p:nvPr/>
        </p:nvSpPr>
        <p:spPr>
          <a:xfrm>
            <a:off x="922800" y="2821875"/>
            <a:ext cx="933900" cy="34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8" name="Google Shape;958;p71"/>
          <p:cNvSpPr/>
          <p:nvPr/>
        </p:nvSpPr>
        <p:spPr>
          <a:xfrm>
            <a:off x="813475" y="3876822"/>
            <a:ext cx="616500" cy="31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9" name="Google Shape;959;p71"/>
          <p:cNvSpPr/>
          <p:nvPr/>
        </p:nvSpPr>
        <p:spPr>
          <a:xfrm>
            <a:off x="7077775" y="1882050"/>
            <a:ext cx="11202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p:txBody>
      </p:sp>
      <p:sp>
        <p:nvSpPr>
          <p:cNvPr id="960" name="Google Shape;960;p71"/>
          <p:cNvSpPr/>
          <p:nvPr/>
        </p:nvSpPr>
        <p:spPr>
          <a:xfrm>
            <a:off x="6566675" y="3094199"/>
            <a:ext cx="1149000" cy="3405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1600">
              <a:latin typeface="Times New Roman"/>
              <a:ea typeface="Times New Roman"/>
              <a:cs typeface="Times New Roman"/>
              <a:sym typeface="Times New Roman"/>
            </a:endParaRPr>
          </a:p>
        </p:txBody>
      </p:sp>
      <p:grpSp>
        <p:nvGrpSpPr>
          <p:cNvPr id="961" name="Google Shape;961;p71"/>
          <p:cNvGrpSpPr/>
          <p:nvPr/>
        </p:nvGrpSpPr>
        <p:grpSpPr>
          <a:xfrm>
            <a:off x="6566675" y="2945087"/>
            <a:ext cx="1149000" cy="490299"/>
            <a:chOff x="3621250" y="2326000"/>
            <a:chExt cx="1149000" cy="490299"/>
          </a:xfrm>
        </p:grpSpPr>
        <p:sp>
          <p:nvSpPr>
            <p:cNvPr id="962" name="Google Shape;962;p71"/>
            <p:cNvSpPr/>
            <p:nvPr/>
          </p:nvSpPr>
          <p:spPr>
            <a:xfrm flipH="1">
              <a:off x="3873000" y="2326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63" name="Google Shape;963;p71"/>
            <p:cNvSpPr/>
            <p:nvPr/>
          </p:nvSpPr>
          <p:spPr>
            <a:xfrm flipH="1">
              <a:off x="3621250" y="2475799"/>
              <a:ext cx="1149000" cy="3405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tan</a:t>
              </a:r>
              <a:r>
                <a:rPr lang="en-GB" sz="1800">
                  <a:solidFill>
                    <a:schemeClr val="dk1"/>
                  </a:solidFill>
                  <a:latin typeface="Times New Roman"/>
                  <a:ea typeface="Times New Roman"/>
                  <a:cs typeface="Times New Roman"/>
                  <a:sym typeface="Times New Roman"/>
                </a:rPr>
                <a:t>(</a:t>
              </a:r>
              <a:r>
                <a:rPr i="1" lang="en-GB" sz="1800">
                  <a:solidFill>
                    <a:schemeClr val="dk1"/>
                  </a:solidFill>
                  <a:latin typeface="Times New Roman"/>
                  <a:ea typeface="Times New Roman"/>
                  <a:cs typeface="Times New Roman"/>
                  <a:sym typeface="Times New Roman"/>
                </a:rPr>
                <a:t>θ</a:t>
              </a:r>
              <a:r>
                <a:rPr lang="en-GB" sz="1800">
                  <a:solidFill>
                    <a:schemeClr val="dk1"/>
                  </a:solidFill>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grpSp>
      <p:grpSp>
        <p:nvGrpSpPr>
          <p:cNvPr id="964" name="Google Shape;964;p71"/>
          <p:cNvGrpSpPr/>
          <p:nvPr/>
        </p:nvGrpSpPr>
        <p:grpSpPr>
          <a:xfrm flipH="1" rot="10800000">
            <a:off x="8236528" y="2022341"/>
            <a:ext cx="567216" cy="582525"/>
            <a:chOff x="9531928" y="2518909"/>
            <a:chExt cx="567216" cy="582525"/>
          </a:xfrm>
        </p:grpSpPr>
        <p:sp>
          <p:nvSpPr>
            <p:cNvPr id="965" name="Google Shape;965;p71"/>
            <p:cNvSpPr/>
            <p:nvPr/>
          </p:nvSpPr>
          <p:spPr>
            <a:xfrm flipH="1">
              <a:off x="9531928" y="2518909"/>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966" name="Google Shape;966;p71"/>
            <p:cNvSpPr/>
            <p:nvPr/>
          </p:nvSpPr>
          <p:spPr>
            <a:xfrm rot="10800000">
              <a:off x="9660844" y="2636982"/>
              <a:ext cx="438300" cy="3405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a</a:t>
              </a:r>
              <a:endParaRPr sz="1800">
                <a:solidFill>
                  <a:schemeClr val="dk1"/>
                </a:solidFill>
                <a:latin typeface="Lexend"/>
                <a:ea typeface="Lexend"/>
                <a:cs typeface="Lexend"/>
                <a:sym typeface="Lexend"/>
              </a:endParaRPr>
            </a:p>
          </p:txBody>
        </p:sp>
      </p:grpSp>
      <p:sp>
        <p:nvSpPr>
          <p:cNvPr id="967" name="Google Shape;967;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5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6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6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2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5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5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6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5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72" name="Google Shape;972;p72" title="opp over a equals tangent theta degrees opp over tangent theta degrees equals a a times tangent theta degrees equals opp"/>
          <p:cNvPicPr preferRelativeResize="0"/>
          <p:nvPr/>
        </p:nvPicPr>
        <p:blipFill rotWithShape="1">
          <a:blip r:embed="rId3">
            <a:alphaModFix/>
          </a:blip>
          <a:srcRect b="0" l="34397" r="48714" t="0"/>
          <a:stretch/>
        </p:blipFill>
        <p:spPr>
          <a:xfrm>
            <a:off x="6797523" y="2601875"/>
            <a:ext cx="1002275" cy="6135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73" name="Google Shape;973;p72" title="opp over a equals tangent theta degrees opp over tangent theta degrees equals a a times tangent theta degrees equals opp"/>
          <p:cNvPicPr preferRelativeResize="0"/>
          <p:nvPr/>
        </p:nvPicPr>
        <p:blipFill rotWithShape="1">
          <a:blip r:embed="rId3">
            <a:alphaModFix/>
          </a:blip>
          <a:srcRect b="0" l="92236" r="0" t="0"/>
          <a:stretch/>
        </p:blipFill>
        <p:spPr>
          <a:xfrm>
            <a:off x="7013957" y="1577575"/>
            <a:ext cx="460775" cy="613500"/>
          </a:xfrm>
          <a:prstGeom prst="rect">
            <a:avLst/>
          </a:prstGeom>
          <a:noFill/>
          <a:ln>
            <a:noFill/>
          </a:ln>
        </p:spPr>
      </p:pic>
      <p:grpSp>
        <p:nvGrpSpPr>
          <p:cNvPr id="974" name="Google Shape;974;p72"/>
          <p:cNvGrpSpPr/>
          <p:nvPr/>
        </p:nvGrpSpPr>
        <p:grpSpPr>
          <a:xfrm>
            <a:off x="1918219" y="2580509"/>
            <a:ext cx="1627799" cy="680787"/>
            <a:chOff x="2058073" y="3928800"/>
            <a:chExt cx="1627799" cy="680787"/>
          </a:xfrm>
        </p:grpSpPr>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75" name="Google Shape;975;p72" title="opp over a equals tangent theta degrees opp over tangent theta degrees equals a a times tangent theta degrees equals opp"/>
            <p:cNvPicPr preferRelativeResize="0"/>
            <p:nvPr/>
          </p:nvPicPr>
          <p:blipFill rotWithShape="1">
            <a:blip r:embed="rId3">
              <a:alphaModFix/>
            </a:blip>
            <a:srcRect b="0" l="72573" r="0" t="0"/>
            <a:stretch/>
          </p:blipFill>
          <p:spPr>
            <a:xfrm>
              <a:off x="2058073" y="3928800"/>
              <a:ext cx="1627799" cy="613500"/>
            </a:xfrm>
            <a:prstGeom prst="rect">
              <a:avLst/>
            </a:prstGeom>
            <a:noFill/>
            <a:ln>
              <a:noFill/>
            </a:ln>
          </p:spPr>
        </p:pic>
        <p:cxnSp>
          <p:nvCxnSpPr>
            <p:cNvPr id="976" name="Google Shape;976;p72"/>
            <p:cNvCxnSpPr/>
            <p:nvPr/>
          </p:nvCxnSpPr>
          <p:spPr>
            <a:xfrm>
              <a:off x="3263075" y="4390653"/>
              <a:ext cx="380400" cy="0"/>
            </a:xfrm>
            <a:prstGeom prst="straightConnector1">
              <a:avLst/>
            </a:prstGeom>
            <a:noFill/>
            <a:ln cap="flat" cmpd="sng" w="19050">
              <a:solidFill>
                <a:schemeClr val="dk1"/>
              </a:solidFill>
              <a:prstDash val="solid"/>
              <a:round/>
              <a:headEnd len="med" w="med" type="none"/>
              <a:tailEnd len="med" w="med" type="none"/>
            </a:ln>
          </p:spPr>
        </p:cxnSp>
        <p:pic>
          <p:nvPicPr>
            <p:cNvPr descr="&lt;math xmlns=&quot;http://www.w3.org/1998/Math/MathML&quot; display=&quot;block&quot; data-is-equatio=&quot;1&quot; data-latex=&quot;\frac{opp}{a}=\tan\left(\theta°\right)\ \ \ \ \ \frac{opp}{\tan\left(\theta°\right)}=a\ \ \ \ \ a\times\tan\left(\theta°\right)=opp&quot;&gt;&lt;mfrac&gt;&lt;mrow&gt;&lt;mi&gt;o&lt;/mi&gt;&lt;mi&gt;p&lt;/mi&gt;&lt;mi&gt;p&lt;/mi&gt;&lt;/mrow&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77" name="Google Shape;977;p72" title="o p p over a equals tangent theta degrees o p p over tangent theta degrees equals a a times tangent theta degrees equals o p p"/>
            <p:cNvPicPr preferRelativeResize="0"/>
            <p:nvPr/>
          </p:nvPicPr>
          <p:blipFill rotWithShape="1">
            <a:blip r:embed="rId4">
              <a:alphaModFix/>
            </a:blip>
            <a:srcRect b="36961" l="64729" r="31665" t="29272"/>
            <a:stretch/>
          </p:blipFill>
          <p:spPr>
            <a:xfrm>
              <a:off x="3348918" y="4412887"/>
              <a:ext cx="208697" cy="196700"/>
            </a:xfrm>
            <a:prstGeom prst="rect">
              <a:avLst/>
            </a:prstGeom>
            <a:noFill/>
            <a:ln>
              <a:noFill/>
            </a:ln>
          </p:spPr>
        </p:pic>
      </p:grpSp>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978" name="Google Shape;978;p72" title="opp over a equals tangent theta degrees opp over tangent theta degrees equals a a times tangent theta degrees equals opp"/>
          <p:cNvPicPr preferRelativeResize="0"/>
          <p:nvPr/>
        </p:nvPicPr>
        <p:blipFill rotWithShape="1">
          <a:blip r:embed="rId3">
            <a:alphaModFix/>
          </a:blip>
          <a:srcRect b="0" l="63586" r="0" t="0"/>
          <a:stretch/>
        </p:blipFill>
        <p:spPr>
          <a:xfrm>
            <a:off x="1421539" y="1577579"/>
            <a:ext cx="2161201" cy="613500"/>
          </a:xfrm>
          <a:prstGeom prst="rect">
            <a:avLst/>
          </a:prstGeom>
          <a:noFill/>
          <a:ln>
            <a:noFill/>
          </a:ln>
        </p:spPr>
      </p:pic>
      <p:sp>
        <p:nvSpPr>
          <p:cNvPr id="979" name="Google Shape;979;p72"/>
          <p:cNvSpPr/>
          <p:nvPr/>
        </p:nvSpPr>
        <p:spPr>
          <a:xfrm>
            <a:off x="1896750" y="2559800"/>
            <a:ext cx="1728600" cy="7500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980" name="Google Shape;980;p72"/>
          <p:cNvSpPr txBox="1"/>
          <p:nvPr/>
        </p:nvSpPr>
        <p:spPr>
          <a:xfrm>
            <a:off x="324000" y="7630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also derive two versions of the formula given one of the others by performing a division.</a:t>
            </a:r>
            <a:endParaRPr sz="1800">
              <a:latin typeface="Lexend"/>
              <a:ea typeface="Lexend"/>
              <a:cs typeface="Lexend"/>
              <a:sym typeface="Lexend"/>
            </a:endParaRPr>
          </a:p>
        </p:txBody>
      </p:sp>
      <p:cxnSp>
        <p:nvCxnSpPr>
          <p:cNvPr id="981" name="Google Shape;981;p72"/>
          <p:cNvCxnSpPr/>
          <p:nvPr/>
        </p:nvCxnSpPr>
        <p:spPr>
          <a:xfrm>
            <a:off x="4572000" y="1164700"/>
            <a:ext cx="0" cy="3939300"/>
          </a:xfrm>
          <a:prstGeom prst="straightConnector1">
            <a:avLst/>
          </a:prstGeom>
          <a:noFill/>
          <a:ln cap="flat" cmpd="sng" w="38100">
            <a:solidFill>
              <a:schemeClr val="accent4"/>
            </a:solidFill>
            <a:prstDash val="solid"/>
            <a:round/>
            <a:headEnd len="med" w="med" type="none"/>
            <a:tailEnd len="med" w="med" type="none"/>
          </a:ln>
        </p:spPr>
      </p:cxnSp>
      <p:sp>
        <p:nvSpPr>
          <p:cNvPr id="982" name="Google Shape;982;p72"/>
          <p:cNvSpPr/>
          <p:nvPr/>
        </p:nvSpPr>
        <p:spPr>
          <a:xfrm>
            <a:off x="6186175" y="2573505"/>
            <a:ext cx="1627800" cy="6579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983" name="Google Shape;983;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pic>
        <p:nvPicPr>
          <p:cNvPr descr="&lt;math xmlns=&quot;http://www.w3.org/1998/Math/MathML&quot; display=&quot;block&quot; data-is-equatio=&quot;1&quot; data-latex=&quot;\frac{opp}{a}=\tan\left(\theta°\right)\ \ \ \ \ \frac{opp}{\tan\left(\theta°\right)}=a\ \ \ \ \ a\times\tan\left(\theta°\right)=opp&quot;&gt;&lt;mfrac&gt;&lt;mrow&gt;&lt;mi&gt;o&lt;/mi&gt;&lt;mi&gt;p&lt;/mi&gt;&lt;mi&gt;p&lt;/mi&gt;&lt;/mrow&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84" name="Google Shape;984;p72" title="o p p over a equals tangent theta degrees o p p over tangent theta degrees equals a a times tangent theta degrees equals o p p"/>
          <p:cNvPicPr preferRelativeResize="0"/>
          <p:nvPr/>
        </p:nvPicPr>
        <p:blipFill rotWithShape="1">
          <a:blip r:embed="rId4">
            <a:alphaModFix/>
          </a:blip>
          <a:srcRect b="36961" l="64729" r="31665" t="29272"/>
          <a:stretch/>
        </p:blipFill>
        <p:spPr>
          <a:xfrm>
            <a:off x="1504343" y="2039437"/>
            <a:ext cx="208697" cy="196700"/>
          </a:xfrm>
          <a:prstGeom prst="rect">
            <a:avLst/>
          </a:prstGeom>
          <a:noFill/>
          <a:ln>
            <a:noFill/>
          </a:ln>
        </p:spPr>
      </p:pic>
      <p:cxnSp>
        <p:nvCxnSpPr>
          <p:cNvPr id="985" name="Google Shape;985;p72"/>
          <p:cNvCxnSpPr/>
          <p:nvPr/>
        </p:nvCxnSpPr>
        <p:spPr>
          <a:xfrm>
            <a:off x="1515860" y="2005767"/>
            <a:ext cx="172200" cy="0"/>
          </a:xfrm>
          <a:prstGeom prst="straightConnector1">
            <a:avLst/>
          </a:prstGeom>
          <a:noFill/>
          <a:ln cap="flat" cmpd="sng" w="19050">
            <a:solidFill>
              <a:schemeClr val="dk1"/>
            </a:solidFill>
            <a:prstDash val="solid"/>
            <a:round/>
            <a:headEnd len="med" w="med" type="none"/>
            <a:tailEnd len="med" w="med" type="none"/>
          </a:ln>
        </p:spPr>
      </p:cxnSp>
      <p:cxnSp>
        <p:nvCxnSpPr>
          <p:cNvPr id="986" name="Google Shape;986;p72"/>
          <p:cNvCxnSpPr/>
          <p:nvPr/>
        </p:nvCxnSpPr>
        <p:spPr>
          <a:xfrm>
            <a:off x="3159950" y="2039428"/>
            <a:ext cx="380400" cy="0"/>
          </a:xfrm>
          <a:prstGeom prst="straightConnector1">
            <a:avLst/>
          </a:prstGeom>
          <a:noFill/>
          <a:ln cap="flat" cmpd="sng" w="19050">
            <a:solidFill>
              <a:schemeClr val="dk1"/>
            </a:solidFill>
            <a:prstDash val="solid"/>
            <a:round/>
            <a:headEnd len="med" w="med" type="none"/>
            <a:tailEnd len="med" w="med" type="none"/>
          </a:ln>
        </p:spPr>
      </p:cxnSp>
      <p:pic>
        <p:nvPicPr>
          <p:cNvPr descr="&lt;math xmlns=&quot;http://www.w3.org/1998/Math/MathML&quot; display=&quot;block&quot; data-is-equatio=&quot;1&quot; data-latex=&quot;\frac{opp}{a}=\tan\left(\theta°\right)\ \ \ \ \ \frac{opp}{\tan\left(\theta°\right)}=a\ \ \ \ \ a\times\tan\left(\theta°\right)=opp&quot;&gt;&lt;mfrac&gt;&lt;mrow&gt;&lt;mi&gt;o&lt;/mi&gt;&lt;mi&gt;p&lt;/mi&gt;&lt;mi&gt;p&lt;/mi&gt;&lt;/mrow&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87" name="Google Shape;987;p72" title="o p p over a equals tangent theta degrees o p p over tangent theta degrees equals a a times tangent theta degrees equals o p p"/>
          <p:cNvPicPr preferRelativeResize="0"/>
          <p:nvPr/>
        </p:nvPicPr>
        <p:blipFill rotWithShape="1">
          <a:blip r:embed="rId4">
            <a:alphaModFix/>
          </a:blip>
          <a:srcRect b="36961" l="64729" r="31665" t="29272"/>
          <a:stretch/>
        </p:blipFill>
        <p:spPr>
          <a:xfrm>
            <a:off x="3245793" y="2061662"/>
            <a:ext cx="208697" cy="196700"/>
          </a:xfrm>
          <a:prstGeom prst="rect">
            <a:avLst/>
          </a:prstGeom>
          <a:noFill/>
          <a:ln>
            <a:noFill/>
          </a:ln>
        </p:spPr>
      </p:pic>
      <p:cxnSp>
        <p:nvCxnSpPr>
          <p:cNvPr id="988" name="Google Shape;988;p72"/>
          <p:cNvCxnSpPr/>
          <p:nvPr/>
        </p:nvCxnSpPr>
        <p:spPr>
          <a:xfrm>
            <a:off x="1517946" y="1781015"/>
            <a:ext cx="168000" cy="191100"/>
          </a:xfrm>
          <a:prstGeom prst="straightConnector1">
            <a:avLst/>
          </a:prstGeom>
          <a:noFill/>
          <a:ln cap="flat" cmpd="sng" w="19050">
            <a:solidFill>
              <a:schemeClr val="dk1"/>
            </a:solidFill>
            <a:prstDash val="solid"/>
            <a:round/>
            <a:headEnd len="med" w="med" type="none"/>
            <a:tailEnd len="med" w="med" type="none"/>
          </a:ln>
        </p:spPr>
      </p:cxnSp>
      <p:cxnSp>
        <p:nvCxnSpPr>
          <p:cNvPr id="989" name="Google Shape;989;p72"/>
          <p:cNvCxnSpPr/>
          <p:nvPr/>
        </p:nvCxnSpPr>
        <p:spPr>
          <a:xfrm>
            <a:off x="1524678" y="2058886"/>
            <a:ext cx="168000" cy="191100"/>
          </a:xfrm>
          <a:prstGeom prst="straightConnector1">
            <a:avLst/>
          </a:prstGeom>
          <a:noFill/>
          <a:ln cap="flat" cmpd="sng" w="19050">
            <a:solidFill>
              <a:schemeClr val="dk1"/>
            </a:solidFill>
            <a:prstDash val="solid"/>
            <a:round/>
            <a:headEnd len="med" w="med" type="none"/>
            <a:tailEnd len="med" w="med" type="none"/>
          </a:ln>
        </p:spPr>
      </p:cxnSp>
      <p:pic>
        <p:nvPicPr>
          <p:cNvPr descr="&lt;math xmlns=&quot;http://www.w3.org/1998/Math/MathML&quot; display=&quot;block&quot; data-is-equatio=&quot;1&quot; data-latex=&quot;\frac{opp}{a}=\tan\left(\theta°\right)\ \ \ \ \ \frac{opp}{\tan\left(\theta°\right)}=a\ \ \ \ \ a\times\tan\left(\theta°\right)=opp&quot;&gt;&lt;mfrac&gt;&lt;mrow&gt;&lt;mi&gt;o&lt;/mi&gt;&lt;mi&gt;p&lt;/mi&gt;&lt;mi&gt;p&lt;/mi&gt;&lt;/mrow&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90" name="Google Shape;990;p72" title="o p p over a equals tangent theta degrees o p p over tangent theta degrees equals a a times tangent theta degrees equals o p p"/>
          <p:cNvPicPr preferRelativeResize="0"/>
          <p:nvPr/>
        </p:nvPicPr>
        <p:blipFill rotWithShape="1">
          <a:blip r:embed="rId4">
            <a:alphaModFix/>
          </a:blip>
          <a:srcRect b="0" l="64116" r="7761" t="3595"/>
          <a:stretch/>
        </p:blipFill>
        <p:spPr>
          <a:xfrm>
            <a:off x="5211449" y="1641275"/>
            <a:ext cx="1627803" cy="561575"/>
          </a:xfrm>
          <a:prstGeom prst="rect">
            <a:avLst/>
          </a:prstGeom>
          <a:noFill/>
          <a:ln>
            <a:noFill/>
          </a:ln>
        </p:spPr>
      </p:pic>
      <p:grpSp>
        <p:nvGrpSpPr>
          <p:cNvPr id="991" name="Google Shape;991;p72"/>
          <p:cNvGrpSpPr/>
          <p:nvPr/>
        </p:nvGrpSpPr>
        <p:grpSpPr>
          <a:xfrm>
            <a:off x="5703636" y="1928688"/>
            <a:ext cx="2060650" cy="582525"/>
            <a:chOff x="5703636" y="1928688"/>
            <a:chExt cx="2060650" cy="582525"/>
          </a:xfrm>
        </p:grpSpPr>
        <p:pic>
          <p:nvPicPr>
            <p:cNvPr descr="&lt;math xmlns=&quot;http://www.w3.org/1998/Math/MathML&quot; display=&quot;block&quot; data-is-equatio=&quot;1&quot; data-latex=&quot;\frac{opp}{a}=\tan\left(\theta°\right)\ \ \ \ \ \frac{opp}{\tan\left(\theta°\right)}=a\ \ \ \ \ a\times\tan\left(\theta°\right)=opp&quot;&gt;&lt;mfrac&gt;&lt;mrow&gt;&lt;mi&gt;o&lt;/mi&gt;&lt;mi&gt;p&lt;/mi&gt;&lt;mi&gt;p&lt;/mi&gt;&lt;/mrow&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92" name="Google Shape;992;p72" title="o p p over a equals tangent theta degrees o p p over tangent theta degrees equals a a times tangent theta degrees equals o p p"/>
            <p:cNvPicPr preferRelativeResize="0"/>
            <p:nvPr/>
          </p:nvPicPr>
          <p:blipFill rotWithShape="1">
            <a:blip r:embed="rId4">
              <a:alphaModFix/>
            </a:blip>
            <a:srcRect b="0" l="14009" r="70137" t="0"/>
            <a:stretch/>
          </p:blipFill>
          <p:spPr>
            <a:xfrm>
              <a:off x="5703636" y="1928688"/>
              <a:ext cx="917650" cy="582525"/>
            </a:xfrm>
            <a:prstGeom prst="rect">
              <a:avLst/>
            </a:prstGeom>
            <a:noFill/>
            <a:ln>
              <a:noFill/>
            </a:ln>
          </p:spPr>
        </p:pic>
        <p:cxnSp>
          <p:nvCxnSpPr>
            <p:cNvPr id="993" name="Google Shape;993;p72"/>
            <p:cNvCxnSpPr/>
            <p:nvPr/>
          </p:nvCxnSpPr>
          <p:spPr>
            <a:xfrm>
              <a:off x="5723835" y="2030706"/>
              <a:ext cx="775200" cy="0"/>
            </a:xfrm>
            <a:prstGeom prst="straightConnector1">
              <a:avLst/>
            </a:prstGeom>
            <a:noFill/>
            <a:ln cap="flat" cmpd="sng" w="19050">
              <a:solidFill>
                <a:schemeClr val="dk1"/>
              </a:solidFill>
              <a:prstDash val="solid"/>
              <a:round/>
              <a:headEnd len="med" w="med" type="none"/>
              <a:tailEnd len="med" w="med" type="none"/>
            </a:ln>
          </p:spPr>
        </p:cxnSp>
        <p:pic>
          <p:nvPicPr>
            <p:cNvPr descr="&lt;math xmlns=&quot;http://www.w3.org/1998/Math/MathML&quot; display=&quot;block&quot; data-is-equatio=&quot;1&quot; data-latex=&quot;\frac{opp}{a}=\tan\left(\theta°\right)\ \ \ \ \ \frac{opp}{\tan\left(\theta°\right)}=a\ \ \ \ \ a\times\tan\left(\theta°\right)=opp&quot;&gt;&lt;mfrac&gt;&lt;mrow&gt;&lt;mi&gt;o&lt;/mi&gt;&lt;mi&gt;p&lt;/mi&gt;&lt;mi&gt;p&lt;/mi&gt;&lt;/mrow&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94" name="Google Shape;994;p72" title="o p p over a equals tangent theta degrees o p p over tangent theta degrees equals a a times tangent theta degrees equals o p p"/>
            <p:cNvPicPr preferRelativeResize="0"/>
            <p:nvPr/>
          </p:nvPicPr>
          <p:blipFill rotWithShape="1">
            <a:blip r:embed="rId4">
              <a:alphaModFix/>
            </a:blip>
            <a:srcRect b="0" l="14009" r="70137" t="0"/>
            <a:stretch/>
          </p:blipFill>
          <p:spPr>
            <a:xfrm>
              <a:off x="6846636" y="1928688"/>
              <a:ext cx="917650" cy="582525"/>
            </a:xfrm>
            <a:prstGeom prst="rect">
              <a:avLst/>
            </a:prstGeom>
            <a:noFill/>
            <a:ln>
              <a:noFill/>
            </a:ln>
          </p:spPr>
        </p:pic>
        <p:cxnSp>
          <p:nvCxnSpPr>
            <p:cNvPr id="995" name="Google Shape;995;p72"/>
            <p:cNvCxnSpPr/>
            <p:nvPr/>
          </p:nvCxnSpPr>
          <p:spPr>
            <a:xfrm>
              <a:off x="6866835" y="2030706"/>
              <a:ext cx="775200" cy="0"/>
            </a:xfrm>
            <a:prstGeom prst="straightConnector1">
              <a:avLst/>
            </a:prstGeom>
            <a:noFill/>
            <a:ln cap="flat" cmpd="sng" w="19050">
              <a:solidFill>
                <a:schemeClr val="dk1"/>
              </a:solidFill>
              <a:prstDash val="solid"/>
              <a:round/>
              <a:headEnd len="med" w="med" type="none"/>
              <a:tailEnd len="med" w="med" type="none"/>
            </a:ln>
          </p:spPr>
        </p:cxnSp>
      </p:grpSp>
      <p:grpSp>
        <p:nvGrpSpPr>
          <p:cNvPr id="996" name="Google Shape;996;p72"/>
          <p:cNvGrpSpPr/>
          <p:nvPr/>
        </p:nvGrpSpPr>
        <p:grpSpPr>
          <a:xfrm>
            <a:off x="5760474" y="1762249"/>
            <a:ext cx="756857" cy="553001"/>
            <a:chOff x="1490986" y="1328856"/>
            <a:chExt cx="168000" cy="553001"/>
          </a:xfrm>
        </p:grpSpPr>
        <p:cxnSp>
          <p:nvCxnSpPr>
            <p:cNvPr id="997" name="Google Shape;997;p72"/>
            <p:cNvCxnSpPr/>
            <p:nvPr/>
          </p:nvCxnSpPr>
          <p:spPr>
            <a:xfrm>
              <a:off x="1490986" y="1328856"/>
              <a:ext cx="168000" cy="191100"/>
            </a:xfrm>
            <a:prstGeom prst="straightConnector1">
              <a:avLst/>
            </a:prstGeom>
            <a:noFill/>
            <a:ln cap="flat" cmpd="sng" w="19050">
              <a:solidFill>
                <a:schemeClr val="dk1"/>
              </a:solidFill>
              <a:prstDash val="solid"/>
              <a:round/>
              <a:headEnd len="med" w="med" type="none"/>
              <a:tailEnd len="med" w="med" type="none"/>
            </a:ln>
          </p:spPr>
        </p:cxnSp>
        <p:cxnSp>
          <p:nvCxnSpPr>
            <p:cNvPr id="998" name="Google Shape;998;p72"/>
            <p:cNvCxnSpPr/>
            <p:nvPr/>
          </p:nvCxnSpPr>
          <p:spPr>
            <a:xfrm>
              <a:off x="1490986" y="1690756"/>
              <a:ext cx="168000" cy="191100"/>
            </a:xfrm>
            <a:prstGeom prst="straightConnector1">
              <a:avLst/>
            </a:prstGeom>
            <a:noFill/>
            <a:ln cap="flat" cmpd="sng" w="19050">
              <a:solidFill>
                <a:schemeClr val="dk1"/>
              </a:solidFill>
              <a:prstDash val="solid"/>
              <a:round/>
              <a:headEnd len="med" w="med" type="none"/>
              <a:tailEnd len="med" w="med" type="none"/>
            </a:ln>
          </p:spPr>
        </p:cxnSp>
      </p:grpSp>
      <p:grpSp>
        <p:nvGrpSpPr>
          <p:cNvPr id="999" name="Google Shape;999;p72"/>
          <p:cNvGrpSpPr/>
          <p:nvPr/>
        </p:nvGrpSpPr>
        <p:grpSpPr>
          <a:xfrm>
            <a:off x="6292385" y="2615472"/>
            <a:ext cx="531773" cy="588645"/>
            <a:chOff x="5239050" y="3364007"/>
            <a:chExt cx="531773" cy="588645"/>
          </a:xfrm>
        </p:grpSpPr>
        <p:pic>
          <p:nvPicPr>
            <p:cNvPr descr="&lt;math xmlns=&quot;http://www.w3.org/1998/Math/MathML&quot; display=&quot;block&quot; data-is-equatio=&quot;1&quot; data-latex=&quot;\frac{opp}{a}=\tan\left(\theta°\right)\ \ \ \ \ \frac{opp}{\tan\left(\theta°\right)}=a\ \ \ \ \ a\times\tan\left(\theta°\right)=opp&quot;&gt;&lt;mfrac&gt;&lt;mrow&gt;&lt;mi&gt;o&lt;/mi&gt;&lt;mi&gt;p&lt;/mi&gt;&lt;mi&gt;p&lt;/mi&gt;&lt;/mrow&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1000" name="Google Shape;1000;p72" title="o p p over a equals tangent theta degrees o p p over tangent theta degrees equals a a times tangent theta degrees equals o p p"/>
            <p:cNvPicPr preferRelativeResize="0"/>
            <p:nvPr/>
          </p:nvPicPr>
          <p:blipFill rotWithShape="1">
            <a:blip r:embed="rId4">
              <a:alphaModFix/>
            </a:blip>
            <a:srcRect b="0" l="55606" r="39624" t="0"/>
            <a:stretch/>
          </p:blipFill>
          <p:spPr>
            <a:xfrm>
              <a:off x="5239050" y="3364007"/>
              <a:ext cx="276023" cy="582525"/>
            </a:xfrm>
            <a:prstGeom prst="rect">
              <a:avLst/>
            </a:prstGeom>
            <a:noFill/>
            <a:ln>
              <a:noFill/>
            </a:ln>
          </p:spPr>
        </p:pic>
        <p:pic>
          <p:nvPicPr>
            <p:cNvPr descr="&lt;math xmlns=&quot;http://www.w3.org/1998/Math/MathML&quot; display=&quot;block&quot; data-is-equatio=&quot;1&quot; data-latex=&quot;\frac{opp}{a}=\tan\left(\theta°\right)\ \ \ \ \ \frac{opp}{\tan\left(\theta°\right)}=a\ \ \ \ \ a\times\tan\left(\theta°\right)=opp&quot;&gt;&lt;mfrac&gt;&lt;mrow&gt;&lt;mi&gt;o&lt;/mi&gt;&lt;mi&gt;p&lt;/mi&gt;&lt;mi&gt;p&lt;/mi&gt;&lt;/mrow&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1001" name="Google Shape;1001;p72" title="o p p over a equals tangent theta degrees o p p over tangent theta degrees equals a a times tangent theta degrees equals o p p"/>
            <p:cNvPicPr preferRelativeResize="0"/>
            <p:nvPr/>
          </p:nvPicPr>
          <p:blipFill rotWithShape="1">
            <a:blip r:embed="rId4">
              <a:alphaModFix/>
            </a:blip>
            <a:srcRect b="0" l="50921" r="44309" t="0"/>
            <a:stretch/>
          </p:blipFill>
          <p:spPr>
            <a:xfrm>
              <a:off x="5494800" y="3370128"/>
              <a:ext cx="276023" cy="58252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73"/>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substitute values in a right-angled triangle into each version of the tangent formula to represent the relationship between the side opposite an angle and the adjacent in different ways.</a:t>
            </a:r>
            <a:endParaRPr sz="1800">
              <a:latin typeface="Lexend"/>
              <a:ea typeface="Lexend"/>
              <a:cs typeface="Lexend"/>
              <a:sym typeface="Lexend"/>
            </a:endParaRPr>
          </a:p>
        </p:txBody>
      </p:sp>
      <p:sp>
        <p:nvSpPr>
          <p:cNvPr id="1007" name="Google Shape;1007;p73"/>
          <p:cNvSpPr/>
          <p:nvPr/>
        </p:nvSpPr>
        <p:spPr>
          <a:xfrm>
            <a:off x="6175249" y="3158886"/>
            <a:ext cx="980700" cy="981000"/>
          </a:xfrm>
          <a:prstGeom prst="arc">
            <a:avLst>
              <a:gd fmla="val 17449468" name="adj1"/>
              <a:gd fmla="val 53074"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8" name="Google Shape;1008;p73"/>
          <p:cNvSpPr/>
          <p:nvPr/>
        </p:nvSpPr>
        <p:spPr>
          <a:xfrm rot="-5400000">
            <a:off x="6158070" y="2490161"/>
            <a:ext cx="1668300" cy="650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09" name="Google Shape;1009;p73"/>
          <p:cNvCxnSpPr/>
          <p:nvPr/>
        </p:nvCxnSpPr>
        <p:spPr>
          <a:xfrm rot="10800000">
            <a:off x="6667125" y="3780000"/>
            <a:ext cx="657000" cy="0"/>
          </a:xfrm>
          <a:prstGeom prst="straightConnector1">
            <a:avLst/>
          </a:prstGeom>
          <a:noFill/>
          <a:ln cap="flat" cmpd="sng" w="28575">
            <a:solidFill>
              <a:srgbClr val="845AD9"/>
            </a:solidFill>
            <a:prstDash val="solid"/>
            <a:round/>
            <a:headEnd len="med" w="med" type="triangle"/>
            <a:tailEnd len="med" w="med" type="triangle"/>
          </a:ln>
        </p:spPr>
      </p:cxnSp>
      <p:cxnSp>
        <p:nvCxnSpPr>
          <p:cNvPr id="1010" name="Google Shape;1010;p73"/>
          <p:cNvCxnSpPr/>
          <p:nvPr/>
        </p:nvCxnSpPr>
        <p:spPr>
          <a:xfrm rot="10800000">
            <a:off x="7427801" y="1981061"/>
            <a:ext cx="0" cy="1668300"/>
          </a:xfrm>
          <a:prstGeom prst="straightConnector1">
            <a:avLst/>
          </a:prstGeom>
          <a:noFill/>
          <a:ln cap="flat" cmpd="sng" w="28575">
            <a:solidFill>
              <a:srgbClr val="845AD9"/>
            </a:solidFill>
            <a:prstDash val="solid"/>
            <a:round/>
            <a:headEnd len="med" w="med" type="triangle"/>
            <a:tailEnd len="med" w="med" type="triangle"/>
          </a:ln>
        </p:spPr>
      </p:cxnSp>
      <p:sp>
        <p:nvSpPr>
          <p:cNvPr id="1011" name="Google Shape;1011;p73"/>
          <p:cNvSpPr txBox="1"/>
          <p:nvPr/>
        </p:nvSpPr>
        <p:spPr>
          <a:xfrm flipH="1">
            <a:off x="6698587" y="3402717"/>
            <a:ext cx="443700" cy="25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67°</a:t>
            </a:r>
            <a:endParaRPr sz="1800">
              <a:latin typeface="Lexend"/>
              <a:ea typeface="Lexend"/>
              <a:cs typeface="Lexend"/>
              <a:sym typeface="Lexend"/>
            </a:endParaRPr>
          </a:p>
        </p:txBody>
      </p:sp>
      <p:sp>
        <p:nvSpPr>
          <p:cNvPr id="1012" name="Google Shape;1012;p73"/>
          <p:cNvSpPr/>
          <p:nvPr/>
        </p:nvSpPr>
        <p:spPr>
          <a:xfrm>
            <a:off x="7229671" y="3561711"/>
            <a:ext cx="87600" cy="876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3" name="Google Shape;1013;p73"/>
          <p:cNvSpPr txBox="1"/>
          <p:nvPr/>
        </p:nvSpPr>
        <p:spPr>
          <a:xfrm flipH="1">
            <a:off x="7506538" y="2700000"/>
            <a:ext cx="738300" cy="25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014" name="Google Shape;1014;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sp>
        <p:nvSpPr>
          <p:cNvPr id="1015" name="Google Shape;1015;p73"/>
          <p:cNvSpPr txBox="1"/>
          <p:nvPr/>
        </p:nvSpPr>
        <p:spPr>
          <a:xfrm flipH="1">
            <a:off x="6737208" y="3807412"/>
            <a:ext cx="624300" cy="25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Lexend"/>
                <a:ea typeface="Lexend"/>
                <a:cs typeface="Lexend"/>
                <a:sym typeface="Lexend"/>
              </a:rPr>
              <a:t> cm</a:t>
            </a:r>
            <a:endParaRPr sz="1800">
              <a:latin typeface="Lexend"/>
              <a:ea typeface="Lexend"/>
              <a:cs typeface="Lexend"/>
              <a:sym typeface="Lexend"/>
            </a:endParaRPr>
          </a:p>
        </p:txBody>
      </p:sp>
      <p:sp>
        <p:nvSpPr>
          <p:cNvPr id="1016" name="Google Shape;1016;p73"/>
          <p:cNvSpPr txBox="1"/>
          <p:nvPr/>
        </p:nvSpPr>
        <p:spPr>
          <a:xfrm>
            <a:off x="3755975" y="2030466"/>
            <a:ext cx="2161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i="1" lang="en-GB" sz="2200">
                <a:solidFill>
                  <a:schemeClr val="accent4"/>
                </a:solidFill>
                <a:latin typeface="Times New Roman"/>
                <a:ea typeface="Times New Roman"/>
                <a:cs typeface="Times New Roman"/>
                <a:sym typeface="Times New Roman"/>
              </a:rPr>
              <a:t>b</a:t>
            </a:r>
            <a:r>
              <a:rPr lang="en-GB" sz="2200">
                <a:solidFill>
                  <a:schemeClr val="accent4"/>
                </a:solidFill>
                <a:latin typeface="Times New Roman"/>
                <a:ea typeface="Times New Roman"/>
                <a:cs typeface="Times New Roman"/>
                <a:sym typeface="Times New Roman"/>
              </a:rPr>
              <a:t> × tan(67°) = 16</a:t>
            </a:r>
            <a:endParaRPr sz="2200">
              <a:solidFill>
                <a:schemeClr val="accent4"/>
              </a:solidFill>
              <a:latin typeface="Times New Roman"/>
              <a:ea typeface="Times New Roman"/>
              <a:cs typeface="Times New Roman"/>
              <a:sym typeface="Times New Roman"/>
            </a:endParaRPr>
          </a:p>
        </p:txBody>
      </p:sp>
      <p:grpSp>
        <p:nvGrpSpPr>
          <p:cNvPr id="1017" name="Google Shape;1017;p73"/>
          <p:cNvGrpSpPr/>
          <p:nvPr/>
        </p:nvGrpSpPr>
        <p:grpSpPr>
          <a:xfrm>
            <a:off x="3789650" y="2776866"/>
            <a:ext cx="1422875" cy="672746"/>
            <a:chOff x="3789650" y="3310266"/>
            <a:chExt cx="1422875" cy="672746"/>
          </a:xfrm>
        </p:grpSpPr>
        <p:sp>
          <p:nvSpPr>
            <p:cNvPr id="1018" name="Google Shape;1018;p73"/>
            <p:cNvSpPr txBox="1"/>
            <p:nvPr/>
          </p:nvSpPr>
          <p:spPr>
            <a:xfrm>
              <a:off x="4087704" y="3310266"/>
              <a:ext cx="377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accent4"/>
                  </a:solidFill>
                  <a:latin typeface="Times New Roman"/>
                  <a:ea typeface="Times New Roman"/>
                  <a:cs typeface="Times New Roman"/>
                  <a:sym typeface="Times New Roman"/>
                </a:rPr>
                <a:t>16</a:t>
              </a:r>
              <a:endParaRPr i="1" sz="2200">
                <a:solidFill>
                  <a:schemeClr val="accent4"/>
                </a:solidFill>
                <a:latin typeface="Times New Roman"/>
                <a:ea typeface="Times New Roman"/>
                <a:cs typeface="Times New Roman"/>
                <a:sym typeface="Times New Roman"/>
              </a:endParaRPr>
            </a:p>
          </p:txBody>
        </p:sp>
        <p:sp>
          <p:nvSpPr>
            <p:cNvPr id="1019" name="Google Shape;1019;p73"/>
            <p:cNvSpPr txBox="1"/>
            <p:nvPr/>
          </p:nvSpPr>
          <p:spPr>
            <a:xfrm>
              <a:off x="3822918" y="3644312"/>
              <a:ext cx="9807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accent4"/>
                  </a:solidFill>
                  <a:latin typeface="Times New Roman"/>
                  <a:ea typeface="Times New Roman"/>
                  <a:cs typeface="Times New Roman"/>
                  <a:sym typeface="Times New Roman"/>
                </a:rPr>
                <a:t>tan(67°) </a:t>
              </a:r>
              <a:endParaRPr i="1" sz="2200">
                <a:solidFill>
                  <a:schemeClr val="accent4"/>
                </a:solidFill>
                <a:latin typeface="Times New Roman"/>
                <a:ea typeface="Times New Roman"/>
                <a:cs typeface="Times New Roman"/>
                <a:sym typeface="Times New Roman"/>
              </a:endParaRPr>
            </a:p>
          </p:txBody>
        </p:sp>
        <p:sp>
          <p:nvSpPr>
            <p:cNvPr id="1020" name="Google Shape;1020;p73"/>
            <p:cNvSpPr txBox="1"/>
            <p:nvPr/>
          </p:nvSpPr>
          <p:spPr>
            <a:xfrm>
              <a:off x="4803625" y="3480025"/>
              <a:ext cx="408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accent4"/>
                  </a:solidFill>
                  <a:latin typeface="Times New Roman"/>
                  <a:ea typeface="Times New Roman"/>
                  <a:cs typeface="Times New Roman"/>
                  <a:sym typeface="Times New Roman"/>
                </a:rPr>
                <a:t>= </a:t>
              </a:r>
              <a:r>
                <a:rPr i="1" lang="en-GB" sz="2200">
                  <a:solidFill>
                    <a:schemeClr val="accent4"/>
                  </a:solidFill>
                  <a:latin typeface="Times New Roman"/>
                  <a:ea typeface="Times New Roman"/>
                  <a:cs typeface="Times New Roman"/>
                  <a:sym typeface="Times New Roman"/>
                </a:rPr>
                <a:t>b</a:t>
              </a:r>
              <a:endParaRPr i="1" sz="2200">
                <a:solidFill>
                  <a:schemeClr val="accent4"/>
                </a:solidFill>
                <a:latin typeface="Times New Roman"/>
                <a:ea typeface="Times New Roman"/>
                <a:cs typeface="Times New Roman"/>
                <a:sym typeface="Times New Roman"/>
              </a:endParaRPr>
            </a:p>
          </p:txBody>
        </p:sp>
        <p:cxnSp>
          <p:nvCxnSpPr>
            <p:cNvPr id="1021" name="Google Shape;1021;p73"/>
            <p:cNvCxnSpPr/>
            <p:nvPr/>
          </p:nvCxnSpPr>
          <p:spPr>
            <a:xfrm>
              <a:off x="3789650" y="3666425"/>
              <a:ext cx="949200" cy="0"/>
            </a:xfrm>
            <a:prstGeom prst="straightConnector1">
              <a:avLst/>
            </a:prstGeom>
            <a:noFill/>
            <a:ln cap="flat" cmpd="sng" w="19050">
              <a:solidFill>
                <a:schemeClr val="accent4"/>
              </a:solidFill>
              <a:prstDash val="solid"/>
              <a:round/>
              <a:headEnd len="med" w="med" type="none"/>
              <a:tailEnd len="med" w="med" type="none"/>
            </a:ln>
          </p:spPr>
        </p:cxnSp>
      </p:grpSp>
      <p:grpSp>
        <p:nvGrpSpPr>
          <p:cNvPr id="1022" name="Google Shape;1022;p73"/>
          <p:cNvGrpSpPr/>
          <p:nvPr/>
        </p:nvGrpSpPr>
        <p:grpSpPr>
          <a:xfrm>
            <a:off x="3776194" y="3767466"/>
            <a:ext cx="1662169" cy="660859"/>
            <a:chOff x="3776194" y="3310266"/>
            <a:chExt cx="1662169" cy="660859"/>
          </a:xfrm>
        </p:grpSpPr>
        <p:sp>
          <p:nvSpPr>
            <p:cNvPr id="1023" name="Google Shape;1023;p73"/>
            <p:cNvSpPr txBox="1"/>
            <p:nvPr/>
          </p:nvSpPr>
          <p:spPr>
            <a:xfrm>
              <a:off x="3809834" y="3310266"/>
              <a:ext cx="377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accent4"/>
                  </a:solidFill>
                  <a:latin typeface="Times New Roman"/>
                  <a:ea typeface="Times New Roman"/>
                  <a:cs typeface="Times New Roman"/>
                  <a:sym typeface="Times New Roman"/>
                </a:rPr>
                <a:t>16</a:t>
              </a:r>
              <a:endParaRPr i="1" sz="2200">
                <a:solidFill>
                  <a:schemeClr val="accent4"/>
                </a:solidFill>
                <a:latin typeface="Times New Roman"/>
                <a:ea typeface="Times New Roman"/>
                <a:cs typeface="Times New Roman"/>
                <a:sym typeface="Times New Roman"/>
              </a:endParaRPr>
            </a:p>
          </p:txBody>
        </p:sp>
        <p:sp>
          <p:nvSpPr>
            <p:cNvPr id="1024" name="Google Shape;1024;p73"/>
            <p:cNvSpPr txBox="1"/>
            <p:nvPr/>
          </p:nvSpPr>
          <p:spPr>
            <a:xfrm>
              <a:off x="4246463" y="3485168"/>
              <a:ext cx="1191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200">
                  <a:solidFill>
                    <a:schemeClr val="accent4"/>
                  </a:solidFill>
                  <a:latin typeface="Times New Roman"/>
                  <a:ea typeface="Times New Roman"/>
                  <a:cs typeface="Times New Roman"/>
                  <a:sym typeface="Times New Roman"/>
                </a:rPr>
                <a:t>= </a:t>
              </a:r>
              <a:r>
                <a:rPr lang="en-GB" sz="2200">
                  <a:solidFill>
                    <a:schemeClr val="accent4"/>
                  </a:solidFill>
                  <a:latin typeface="Times New Roman"/>
                  <a:ea typeface="Times New Roman"/>
                  <a:cs typeface="Times New Roman"/>
                  <a:sym typeface="Times New Roman"/>
                </a:rPr>
                <a:t>tan(67°) </a:t>
              </a:r>
              <a:endParaRPr i="1" sz="2200">
                <a:solidFill>
                  <a:schemeClr val="accent4"/>
                </a:solidFill>
                <a:latin typeface="Times New Roman"/>
                <a:ea typeface="Times New Roman"/>
                <a:cs typeface="Times New Roman"/>
                <a:sym typeface="Times New Roman"/>
              </a:endParaRPr>
            </a:p>
          </p:txBody>
        </p:sp>
        <p:sp>
          <p:nvSpPr>
            <p:cNvPr id="1025" name="Google Shape;1025;p73"/>
            <p:cNvSpPr txBox="1"/>
            <p:nvPr/>
          </p:nvSpPr>
          <p:spPr>
            <a:xfrm>
              <a:off x="3889225" y="3632425"/>
              <a:ext cx="408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i="1" lang="en-GB" sz="2200">
                  <a:solidFill>
                    <a:schemeClr val="accent4"/>
                  </a:solidFill>
                  <a:latin typeface="Times New Roman"/>
                  <a:ea typeface="Times New Roman"/>
                  <a:cs typeface="Times New Roman"/>
                  <a:sym typeface="Times New Roman"/>
                </a:rPr>
                <a:t>b</a:t>
              </a:r>
              <a:endParaRPr i="1" sz="2200">
                <a:solidFill>
                  <a:schemeClr val="accent4"/>
                </a:solidFill>
                <a:latin typeface="Times New Roman"/>
                <a:ea typeface="Times New Roman"/>
                <a:cs typeface="Times New Roman"/>
                <a:sym typeface="Times New Roman"/>
              </a:endParaRPr>
            </a:p>
          </p:txBody>
        </p:sp>
        <p:cxnSp>
          <p:nvCxnSpPr>
            <p:cNvPr id="1026" name="Google Shape;1026;p73"/>
            <p:cNvCxnSpPr/>
            <p:nvPr/>
          </p:nvCxnSpPr>
          <p:spPr>
            <a:xfrm>
              <a:off x="3776194" y="3652622"/>
              <a:ext cx="357900" cy="0"/>
            </a:xfrm>
            <a:prstGeom prst="straightConnector1">
              <a:avLst/>
            </a:prstGeom>
            <a:noFill/>
            <a:ln cap="flat" cmpd="sng" w="19050">
              <a:solidFill>
                <a:schemeClr val="accent4"/>
              </a:solidFill>
              <a:prstDash val="solid"/>
              <a:round/>
              <a:headEnd len="med" w="med" type="none"/>
              <a:tailEnd len="med" w="med" type="none"/>
            </a:ln>
          </p:spPr>
        </p:cxnSp>
      </p:grpSp>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027" name="Google Shape;1027;p73" title="opp over a equals tangent theta degrees opp over tangent theta degrees equals a a times tangent theta degrees equals opp"/>
          <p:cNvPicPr preferRelativeResize="0"/>
          <p:nvPr/>
        </p:nvPicPr>
        <p:blipFill rotWithShape="1">
          <a:blip r:embed="rId3">
            <a:alphaModFix/>
          </a:blip>
          <a:srcRect b="0" l="63586" r="0" t="0"/>
          <a:stretch/>
        </p:blipFill>
        <p:spPr>
          <a:xfrm>
            <a:off x="560566" y="1936389"/>
            <a:ext cx="2161201" cy="6135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028" name="Google Shape;1028;p73" title="opp over a equals tangent theta degrees opp over tangent theta degrees equals a a times tangent theta degrees equals opp"/>
          <p:cNvPicPr preferRelativeResize="0"/>
          <p:nvPr/>
        </p:nvPicPr>
        <p:blipFill rotWithShape="1">
          <a:blip r:embed="rId3">
            <a:alphaModFix/>
          </a:blip>
          <a:srcRect b="0" l="34397" r="40337" t="0"/>
          <a:stretch/>
        </p:blipFill>
        <p:spPr>
          <a:xfrm>
            <a:off x="985849" y="2854296"/>
            <a:ext cx="1499549" cy="6135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029" name="Google Shape;1029;p73" title="opp over a equals tangent theta degrees opp over tangent theta degrees equals a a times tangent theta degrees equals opp"/>
          <p:cNvPicPr preferRelativeResize="0"/>
          <p:nvPr/>
        </p:nvPicPr>
        <p:blipFill rotWithShape="1">
          <a:blip r:embed="rId3">
            <a:alphaModFix/>
          </a:blip>
          <a:srcRect b="0" l="0" r="70875" t="0"/>
          <a:stretch/>
        </p:blipFill>
        <p:spPr>
          <a:xfrm>
            <a:off x="1403775" y="3834361"/>
            <a:ext cx="1728575" cy="61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pic>
        <p:nvPicPr>
          <p:cNvPr descr="&lt;math xmlns=&quot;http://www.w3.org/1998/Math/MathML&quot; display=&quot;block&quot; data-is-equatio=&quot;1&quot; data-latex=&quot;20\times\tan\left(38°\right)=\text{opp}\ \ \ \ \ \ \ \ \tan\left(38°\right)=\frac{\text{opp}}{20}\ \ \ \ \ \ \ \ \ \tan\left(38°\right)=\frac{20}{\text{opp}}&quot;&gt;&lt;mn&gt;20&lt;/mn&gt;&lt;mo&gt;×&lt;/mo&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text&gt;opp&lt;/mtext&gt;&lt;mtext&gt;&lt;/mtext&gt;&lt;mtext&gt;&lt;/mtext&gt;&lt;mtext&gt;&lt;/mtext&gt;&lt;mtext&gt;&lt;/mtext&gt;&lt;mtext&gt;&lt;/mtext&gt;&lt;mtext&gt;&lt;/mtext&gt;&lt;mtext&gt;&lt;/mtext&gt;&lt;mtext&gt;&lt;/mtext&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text&gt;opp&lt;/mtext&gt;&lt;mn&gt;20&lt;/mn&gt;&lt;/mfrac&gt;&lt;mtext&gt;&lt;/mtext&gt;&lt;mtext&gt;&lt;/mtext&gt;&lt;mtext&gt;&lt;/mtext&gt;&lt;mtext&gt;&lt;/mtext&gt;&lt;mtext&gt;&lt;/mtext&gt;&lt;mtext&gt;&lt;/mtext&gt;&lt;mtext&gt;&lt;/mtext&gt;&lt;mtext&gt;&lt;/mtext&gt;&lt;mtext&gt;&lt;/mtext&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n&gt;20&lt;/mn&gt;&lt;mtext&gt;opp&lt;/mtext&gt;&lt;/mfrac&gt;&lt;/math&gt;" id="1034" name="Google Shape;1034;p74" title="20 times tangent 38 degrees equals opp tangent 38 degrees equals opp over 20 tangent 38 degrees equals 20 over opp"/>
          <p:cNvPicPr preferRelativeResize="0"/>
          <p:nvPr/>
        </p:nvPicPr>
        <p:blipFill rotWithShape="1">
          <a:blip r:embed="rId3">
            <a:alphaModFix/>
          </a:blip>
          <a:srcRect b="0" l="75425" r="0" t="0"/>
          <a:stretch/>
        </p:blipFill>
        <p:spPr>
          <a:xfrm>
            <a:off x="1289153" y="4139180"/>
            <a:ext cx="1643573" cy="601500"/>
          </a:xfrm>
          <a:prstGeom prst="rect">
            <a:avLst/>
          </a:prstGeom>
          <a:noFill/>
          <a:ln>
            <a:noFill/>
          </a:ln>
        </p:spPr>
      </p:pic>
      <p:pic>
        <p:nvPicPr>
          <p:cNvPr descr="&lt;math xmlns=&quot;http://www.w3.org/1998/Math/MathML&quot; display=&quot;block&quot; data-is-equatio=&quot;1&quot; data-latex=&quot;20\times\tan\left(38°\right)=\text{opp}\ \ \ \ \ \ \ \ \tan\left(38°\right)=\frac{\text{opp}}{20}\ \ \ \ \ \ \ \ \ \tan\left(38°\right)=\frac{20}{\text{opp}}&quot;&gt;&lt;mn&gt;20&lt;/mn&gt;&lt;mo&gt;×&lt;/mo&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text&gt;opp&lt;/mtext&gt;&lt;mtext&gt;&lt;/mtext&gt;&lt;mtext&gt;&lt;/mtext&gt;&lt;mtext&gt;&lt;/mtext&gt;&lt;mtext&gt;&lt;/mtext&gt;&lt;mtext&gt;&lt;/mtext&gt;&lt;mtext&gt;&lt;/mtext&gt;&lt;mtext&gt;&lt;/mtext&gt;&lt;mtext&gt;&lt;/mtext&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text&gt;opp&lt;/mtext&gt;&lt;mn&gt;20&lt;/mn&gt;&lt;/mfrac&gt;&lt;mtext&gt;&lt;/mtext&gt;&lt;mtext&gt;&lt;/mtext&gt;&lt;mtext&gt;&lt;/mtext&gt;&lt;mtext&gt;&lt;/mtext&gt;&lt;mtext&gt;&lt;/mtext&gt;&lt;mtext&gt;&lt;/mtext&gt;&lt;mtext&gt;&lt;/mtext&gt;&lt;mtext&gt;&lt;/mtext&gt;&lt;mtext&gt;&lt;/mtext&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n&gt;20&lt;/mn&gt;&lt;mtext&gt;opp&lt;/mtext&gt;&lt;/mfrac&gt;&lt;/math&gt;" id="1035" name="Google Shape;1035;p74" title="20 times tangent 38 degrees equals opp tangent 38 degrees equals opp over 20 tangent 38 degrees equals 20 over opp"/>
          <p:cNvPicPr preferRelativeResize="0"/>
          <p:nvPr/>
        </p:nvPicPr>
        <p:blipFill rotWithShape="1">
          <a:blip r:embed="rId3">
            <a:alphaModFix/>
          </a:blip>
          <a:srcRect b="0" l="39832" r="33107" t="0"/>
          <a:stretch/>
        </p:blipFill>
        <p:spPr>
          <a:xfrm>
            <a:off x="1220860" y="3208921"/>
            <a:ext cx="1809798" cy="601475"/>
          </a:xfrm>
          <a:prstGeom prst="rect">
            <a:avLst/>
          </a:prstGeom>
          <a:noFill/>
          <a:ln>
            <a:noFill/>
          </a:ln>
        </p:spPr>
      </p:pic>
      <p:pic>
        <p:nvPicPr>
          <p:cNvPr descr="&lt;math xmlns=&quot;http://www.w3.org/1998/Math/MathML&quot; display=&quot;block&quot; data-is-equatio=&quot;1&quot; data-latex=&quot;20\times\tan\left(38°\right)=\text{opp}\ \ \ \ \ \ \ \ \tan\left(38°\right)=\frac{\text{opp}}{20}\ \ \ \ \ \ \ \ \ \tan\left(38°\right)=\frac{20}{\text{opp}}&quot;&gt;&lt;mn&gt;20&lt;/mn&gt;&lt;mo&gt;×&lt;/mo&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text&gt;opp&lt;/mtext&gt;&lt;mtext&gt;&lt;/mtext&gt;&lt;mtext&gt;&lt;/mtext&gt;&lt;mtext&gt;&lt;/mtext&gt;&lt;mtext&gt;&lt;/mtext&gt;&lt;mtext&gt;&lt;/mtext&gt;&lt;mtext&gt;&lt;/mtext&gt;&lt;mtext&gt;&lt;/mtext&gt;&lt;mtext&gt;&lt;/mtext&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text&gt;opp&lt;/mtext&gt;&lt;mn&gt;20&lt;/mn&gt;&lt;/mfrac&gt;&lt;mtext&gt;&lt;/mtext&gt;&lt;mtext&gt;&lt;/mtext&gt;&lt;mtext&gt;&lt;/mtext&gt;&lt;mtext&gt;&lt;/mtext&gt;&lt;mtext&gt;&lt;/mtext&gt;&lt;mtext&gt;&lt;/mtext&gt;&lt;mtext&gt;&lt;/mtext&gt;&lt;mtext&gt;&lt;/mtext&gt;&lt;mtext&gt;&lt;/mtext&gt;&lt;mi&gt;tan&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n&gt;20&lt;/mn&gt;&lt;mtext&gt;opp&lt;/mtext&gt;&lt;/mfrac&gt;&lt;/math&gt;" id="1036" name="Google Shape;1036;p74" title="20 times tangent 38 degrees equals opp tangent 38 degrees equals opp over 20 tangent 38 degrees equals 20 over opp"/>
          <p:cNvPicPr preferRelativeResize="0"/>
          <p:nvPr/>
        </p:nvPicPr>
        <p:blipFill rotWithShape="1">
          <a:blip r:embed="rId3">
            <a:alphaModFix/>
          </a:blip>
          <a:srcRect b="0" l="0" r="67246" t="0"/>
          <a:stretch/>
        </p:blipFill>
        <p:spPr>
          <a:xfrm>
            <a:off x="875350" y="1551218"/>
            <a:ext cx="2190650" cy="601508"/>
          </a:xfrm>
          <a:prstGeom prst="rect">
            <a:avLst/>
          </a:prstGeom>
          <a:noFill/>
          <a:ln>
            <a:noFill/>
          </a:ln>
        </p:spPr>
      </p:pic>
      <p:sp>
        <p:nvSpPr>
          <p:cNvPr id="1037" name="Google Shape;1037;p74"/>
          <p:cNvSpPr txBox="1"/>
          <p:nvPr/>
        </p:nvSpPr>
        <p:spPr>
          <a:xfrm>
            <a:off x="324000" y="638076"/>
            <a:ext cx="50328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One correct equation showing the relationship between the adjacent and side opposite the 38° angle is:</a:t>
            </a:r>
            <a:endParaRPr sz="1800">
              <a:latin typeface="Lexend"/>
              <a:ea typeface="Lexend"/>
              <a:cs typeface="Lexend"/>
              <a:sym typeface="Lexend"/>
            </a:endParaRPr>
          </a:p>
        </p:txBody>
      </p:sp>
      <p:graphicFrame>
        <p:nvGraphicFramePr>
          <p:cNvPr id="1038" name="Google Shape;1038;p74"/>
          <p:cNvGraphicFramePr/>
          <p:nvPr/>
        </p:nvGraphicFramePr>
        <p:xfrm>
          <a:off x="6275565" y="815350"/>
          <a:ext cx="3000000" cy="3000000"/>
        </p:xfrm>
        <a:graphic>
          <a:graphicData uri="http://schemas.openxmlformats.org/drawingml/2006/table">
            <a:tbl>
              <a:tblPr>
                <a:noFill/>
                <a:tableStyleId>{2A7510FF-DB5D-4613-96E9-5DA671240F2A}</a:tableStyleId>
              </a:tblPr>
              <a:tblGrid>
                <a:gridCol w="725975"/>
                <a:gridCol w="112022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1039" name="Google Shape;1039;p74"/>
          <p:cNvSpPr txBox="1"/>
          <p:nvPr/>
        </p:nvSpPr>
        <p:spPr>
          <a:xfrm>
            <a:off x="6275575" y="1300613"/>
            <a:ext cx="726000" cy="48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20</a:t>
            </a:r>
            <a:endParaRPr sz="1800">
              <a:latin typeface="Lexend"/>
              <a:ea typeface="Lexend"/>
              <a:cs typeface="Lexend"/>
              <a:sym typeface="Lexend"/>
            </a:endParaRPr>
          </a:p>
        </p:txBody>
      </p:sp>
      <p:sp>
        <p:nvSpPr>
          <p:cNvPr id="1040" name="Google Shape;1040;p74"/>
          <p:cNvSpPr txBox="1"/>
          <p:nvPr/>
        </p:nvSpPr>
        <p:spPr>
          <a:xfrm>
            <a:off x="6275575" y="811413"/>
            <a:ext cx="726000" cy="48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1041" name="Google Shape;1041;p74"/>
          <p:cNvSpPr txBox="1"/>
          <p:nvPr/>
        </p:nvSpPr>
        <p:spPr>
          <a:xfrm>
            <a:off x="7001575" y="1300625"/>
            <a:ext cx="1120200" cy="48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opp</a:t>
            </a:r>
            <a:endParaRPr>
              <a:latin typeface="Lexend"/>
              <a:ea typeface="Lexend"/>
              <a:cs typeface="Lexend"/>
              <a:sym typeface="Lexend"/>
            </a:endParaRPr>
          </a:p>
        </p:txBody>
      </p:sp>
      <p:sp>
        <p:nvSpPr>
          <p:cNvPr id="1042" name="Google Shape;1042;p74"/>
          <p:cNvSpPr txBox="1"/>
          <p:nvPr/>
        </p:nvSpPr>
        <p:spPr>
          <a:xfrm>
            <a:off x="7001575" y="811425"/>
            <a:ext cx="1120200" cy="48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043" name="Google Shape;1043;p74"/>
          <p:cNvSpPr/>
          <p:nvPr/>
        </p:nvSpPr>
        <p:spPr>
          <a:xfrm flipH="1">
            <a:off x="5715281" y="35134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4" name="Google Shape;1044;p74"/>
          <p:cNvSpPr/>
          <p:nvPr/>
        </p:nvSpPr>
        <p:spPr>
          <a:xfrm rot="-5400000">
            <a:off x="6583354" y="30404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5" name="Google Shape;1045;p74"/>
          <p:cNvSpPr/>
          <p:nvPr/>
        </p:nvSpPr>
        <p:spPr>
          <a:xfrm>
            <a:off x="7577399" y="40345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46" name="Google Shape;1046;p74"/>
          <p:cNvCxnSpPr/>
          <p:nvPr/>
        </p:nvCxnSpPr>
        <p:spPr>
          <a:xfrm flipH="1">
            <a:off x="6335404" y="3135950"/>
            <a:ext cx="1359900" cy="1016400"/>
          </a:xfrm>
          <a:prstGeom prst="straightConnector1">
            <a:avLst/>
          </a:prstGeom>
          <a:noFill/>
          <a:ln cap="flat" cmpd="sng" w="28575">
            <a:solidFill>
              <a:srgbClr val="845AD9"/>
            </a:solidFill>
            <a:prstDash val="solid"/>
            <a:round/>
            <a:headEnd len="med" w="med" type="triangle"/>
            <a:tailEnd len="med" w="med" type="triangle"/>
          </a:ln>
        </p:spPr>
      </p:cxnSp>
      <p:cxnSp>
        <p:nvCxnSpPr>
          <p:cNvPr id="1047" name="Google Shape;1047;p74"/>
          <p:cNvCxnSpPr/>
          <p:nvPr/>
        </p:nvCxnSpPr>
        <p:spPr>
          <a:xfrm rot="10800000">
            <a:off x="6411604" y="4325016"/>
            <a:ext cx="1359900" cy="0"/>
          </a:xfrm>
          <a:prstGeom prst="straightConnector1">
            <a:avLst/>
          </a:prstGeom>
          <a:noFill/>
          <a:ln cap="flat" cmpd="sng" w="28575">
            <a:solidFill>
              <a:srgbClr val="845AD9"/>
            </a:solidFill>
            <a:prstDash val="solid"/>
            <a:round/>
            <a:headEnd len="med" w="med" type="triangle"/>
            <a:tailEnd len="med" w="med" type="triangle"/>
          </a:ln>
        </p:spPr>
      </p:cxnSp>
      <p:sp>
        <p:nvSpPr>
          <p:cNvPr id="1048" name="Google Shape;1048;p74"/>
          <p:cNvSpPr txBox="1"/>
          <p:nvPr/>
        </p:nvSpPr>
        <p:spPr>
          <a:xfrm>
            <a:off x="6756794" y="4323400"/>
            <a:ext cx="692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20 cm</a:t>
            </a:r>
            <a:endParaRPr sz="1800">
              <a:latin typeface="Lexend"/>
              <a:ea typeface="Lexend"/>
              <a:cs typeface="Lexend"/>
              <a:sym typeface="Lexend"/>
            </a:endParaRPr>
          </a:p>
        </p:txBody>
      </p:sp>
      <p:sp>
        <p:nvSpPr>
          <p:cNvPr id="1049" name="Google Shape;1049;p74"/>
          <p:cNvSpPr txBox="1"/>
          <p:nvPr/>
        </p:nvSpPr>
        <p:spPr>
          <a:xfrm flipH="1">
            <a:off x="6634501" y="39585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38°</a:t>
            </a:r>
            <a:endParaRPr sz="1800">
              <a:latin typeface="Lexend"/>
              <a:ea typeface="Lexend"/>
              <a:cs typeface="Lexend"/>
              <a:sym typeface="Lexend"/>
            </a:endParaRPr>
          </a:p>
        </p:txBody>
      </p:sp>
      <p:cxnSp>
        <p:nvCxnSpPr>
          <p:cNvPr id="1050" name="Google Shape;1050;p74"/>
          <p:cNvCxnSpPr/>
          <p:nvPr/>
        </p:nvCxnSpPr>
        <p:spPr>
          <a:xfrm rot="10800000">
            <a:off x="7867970" y="32121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051" name="Google Shape;1051;p74"/>
          <p:cNvSpPr txBox="1"/>
          <p:nvPr/>
        </p:nvSpPr>
        <p:spPr>
          <a:xfrm>
            <a:off x="7910650" y="3599150"/>
            <a:ext cx="692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opp</a:t>
            </a:r>
            <a:endParaRPr sz="1800">
              <a:latin typeface="Lexend"/>
              <a:ea typeface="Lexend"/>
              <a:cs typeface="Lexend"/>
              <a:sym typeface="Lexend"/>
            </a:endParaRPr>
          </a:p>
        </p:txBody>
      </p:sp>
      <p:grpSp>
        <p:nvGrpSpPr>
          <p:cNvPr id="1052" name="Google Shape;1052;p74"/>
          <p:cNvGrpSpPr/>
          <p:nvPr/>
        </p:nvGrpSpPr>
        <p:grpSpPr>
          <a:xfrm>
            <a:off x="5543301" y="1013325"/>
            <a:ext cx="3255198" cy="582538"/>
            <a:chOff x="5924301" y="2308725"/>
            <a:chExt cx="3255198" cy="582538"/>
          </a:xfrm>
        </p:grpSpPr>
        <p:sp>
          <p:nvSpPr>
            <p:cNvPr id="1053" name="Google Shape;1053;p74"/>
            <p:cNvSpPr/>
            <p:nvPr/>
          </p:nvSpPr>
          <p:spPr>
            <a:xfrm flipH="1">
              <a:off x="8556240" y="23087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1054" name="Google Shape;1054;p74"/>
            <p:cNvGrpSpPr/>
            <p:nvPr/>
          </p:nvGrpSpPr>
          <p:grpSpPr>
            <a:xfrm>
              <a:off x="5924301" y="2308738"/>
              <a:ext cx="646319" cy="582525"/>
              <a:chOff x="5924301" y="2308738"/>
              <a:chExt cx="646319" cy="582525"/>
            </a:xfrm>
          </p:grpSpPr>
          <p:sp>
            <p:nvSpPr>
              <p:cNvPr id="1055" name="Google Shape;1055;p74"/>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1056" name="Google Shape;1056;p74"/>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solidFill>
                      <a:schemeClr val="dk1"/>
                    </a:solidFill>
                    <a:latin typeface="Lexend"/>
                    <a:ea typeface="Lexend"/>
                    <a:cs typeface="Lexend"/>
                    <a:sym typeface="Lexend"/>
                  </a:rPr>
                  <a:t>20</a:t>
                </a:r>
                <a:endParaRPr sz="1800">
                  <a:solidFill>
                    <a:srgbClr val="000000"/>
                  </a:solidFill>
                  <a:latin typeface="Lexend"/>
                  <a:ea typeface="Lexend"/>
                  <a:cs typeface="Lexend"/>
                  <a:sym typeface="Lexend"/>
                </a:endParaRPr>
              </a:p>
            </p:txBody>
          </p:sp>
        </p:grpSp>
        <p:sp>
          <p:nvSpPr>
            <p:cNvPr id="1057" name="Google Shape;1057;p74"/>
            <p:cNvSpPr txBox="1"/>
            <p:nvPr/>
          </p:nvSpPr>
          <p:spPr>
            <a:xfrm>
              <a:off x="8738799" y="23682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solidFill>
                    <a:schemeClr val="dk1"/>
                  </a:solidFill>
                  <a:latin typeface="Lexend"/>
                  <a:ea typeface="Lexend"/>
                  <a:cs typeface="Lexend"/>
                  <a:sym typeface="Lexend"/>
                </a:rPr>
                <a:t>20 </a:t>
              </a:r>
              <a:endParaRPr sz="1800">
                <a:solidFill>
                  <a:srgbClr val="000000"/>
                </a:solidFill>
                <a:latin typeface="Lexend"/>
                <a:ea typeface="Lexend"/>
                <a:cs typeface="Lexend"/>
                <a:sym typeface="Lexend"/>
              </a:endParaRPr>
            </a:p>
          </p:txBody>
        </p:sp>
      </p:grpSp>
      <p:grpSp>
        <p:nvGrpSpPr>
          <p:cNvPr id="1058" name="Google Shape;1058;p74"/>
          <p:cNvGrpSpPr/>
          <p:nvPr/>
        </p:nvGrpSpPr>
        <p:grpSpPr>
          <a:xfrm>
            <a:off x="6573650" y="1877600"/>
            <a:ext cx="1197900" cy="472225"/>
            <a:chOff x="6878450" y="3173000"/>
            <a:chExt cx="1197900" cy="472225"/>
          </a:xfrm>
        </p:grpSpPr>
        <p:sp>
          <p:nvSpPr>
            <p:cNvPr id="1059" name="Google Shape;1059;p74"/>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1060" name="Google Shape;1060;p74"/>
            <p:cNvSpPr txBox="1"/>
            <p:nvPr/>
          </p:nvSpPr>
          <p:spPr>
            <a:xfrm>
              <a:off x="6878450" y="3324525"/>
              <a:ext cx="11979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1800">
                  <a:solidFill>
                    <a:schemeClr val="dk1"/>
                  </a:solidFill>
                  <a:latin typeface="Lexend"/>
                  <a:ea typeface="Lexend"/>
                  <a:cs typeface="Lexend"/>
                  <a:sym typeface="Lexend"/>
                </a:rPr>
                <a:t>× </a:t>
              </a: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(38°)</a:t>
              </a:r>
              <a:endParaRPr sz="2000">
                <a:solidFill>
                  <a:srgbClr val="000000"/>
                </a:solidFill>
                <a:latin typeface="Times New Roman"/>
                <a:ea typeface="Times New Roman"/>
                <a:cs typeface="Times New Roman"/>
                <a:sym typeface="Times New Roman"/>
              </a:endParaRPr>
            </a:p>
          </p:txBody>
        </p:sp>
      </p:grpSp>
      <p:sp>
        <p:nvSpPr>
          <p:cNvPr id="1061" name="Google Shape;1061;p74"/>
          <p:cNvSpPr txBox="1"/>
          <p:nvPr/>
        </p:nvSpPr>
        <p:spPr>
          <a:xfrm>
            <a:off x="324000" y="2253676"/>
            <a:ext cx="50328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Which of these also correctly shows the relationship between the adjacent and opposite side of this triangle?</a:t>
            </a:r>
            <a:endParaRPr sz="1800">
              <a:latin typeface="Lexend"/>
              <a:ea typeface="Lexend"/>
              <a:cs typeface="Lexend"/>
              <a:sym typeface="Lexend"/>
            </a:endParaRPr>
          </a:p>
        </p:txBody>
      </p:sp>
      <p:grpSp>
        <p:nvGrpSpPr>
          <p:cNvPr id="1062" name="Google Shape;1062;p74"/>
          <p:cNvGrpSpPr/>
          <p:nvPr/>
        </p:nvGrpSpPr>
        <p:grpSpPr>
          <a:xfrm>
            <a:off x="903000" y="3380308"/>
            <a:ext cx="243093" cy="243093"/>
            <a:chOff x="1020916" y="1442088"/>
            <a:chExt cx="457200" cy="457200"/>
          </a:xfrm>
        </p:grpSpPr>
        <p:pic>
          <p:nvPicPr>
            <p:cNvPr id="1063" name="Google Shape;1063;p7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64" name="Google Shape;1064;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65" name="Google Shape;1065;p74"/>
          <p:cNvGrpSpPr/>
          <p:nvPr/>
        </p:nvGrpSpPr>
        <p:grpSpPr>
          <a:xfrm>
            <a:off x="903000" y="4311608"/>
            <a:ext cx="243093" cy="243093"/>
            <a:chOff x="1020916" y="1442088"/>
            <a:chExt cx="457200" cy="457200"/>
          </a:xfrm>
        </p:grpSpPr>
        <p:pic>
          <p:nvPicPr>
            <p:cNvPr id="1066" name="Google Shape;1066;p7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67" name="Google Shape;1067;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68" name="Google Shape;1068;p74"/>
          <p:cNvPicPr preferRelativeResize="0"/>
          <p:nvPr/>
        </p:nvPicPr>
        <p:blipFill>
          <a:blip r:embed="rId5">
            <a:alphaModFix/>
          </a:blip>
          <a:stretch>
            <a:fillRect/>
          </a:stretch>
        </p:blipFill>
        <p:spPr>
          <a:xfrm>
            <a:off x="3013596" y="3292300"/>
            <a:ext cx="396000" cy="419100"/>
          </a:xfrm>
          <a:prstGeom prst="rect">
            <a:avLst/>
          </a:prstGeom>
          <a:noFill/>
          <a:ln>
            <a:noFill/>
          </a:ln>
        </p:spPr>
      </p:pic>
      <p:pic>
        <p:nvPicPr>
          <p:cNvPr id="1069" name="Google Shape;1069;p74"/>
          <p:cNvPicPr preferRelativeResize="0"/>
          <p:nvPr/>
        </p:nvPicPr>
        <p:blipFill>
          <a:blip r:embed="rId6">
            <a:alphaModFix/>
          </a:blip>
          <a:stretch>
            <a:fillRect/>
          </a:stretch>
        </p:blipFill>
        <p:spPr>
          <a:xfrm>
            <a:off x="3013600" y="4223267"/>
            <a:ext cx="396000" cy="419760"/>
          </a:xfrm>
          <a:prstGeom prst="rect">
            <a:avLst/>
          </a:prstGeom>
          <a:noFill/>
          <a:ln>
            <a:noFill/>
          </a:ln>
        </p:spPr>
      </p:pic>
      <p:grpSp>
        <p:nvGrpSpPr>
          <p:cNvPr id="1070" name="Google Shape;1070;p74"/>
          <p:cNvGrpSpPr/>
          <p:nvPr/>
        </p:nvGrpSpPr>
        <p:grpSpPr>
          <a:xfrm>
            <a:off x="879231" y="1985975"/>
            <a:ext cx="266871" cy="313325"/>
            <a:chOff x="879231" y="1985975"/>
            <a:chExt cx="266871" cy="313325"/>
          </a:xfrm>
        </p:grpSpPr>
        <p:cxnSp>
          <p:nvCxnSpPr>
            <p:cNvPr id="1071" name="Google Shape;1071;p74"/>
            <p:cNvCxnSpPr/>
            <p:nvPr/>
          </p:nvCxnSpPr>
          <p:spPr>
            <a:xfrm>
              <a:off x="879231" y="1985975"/>
              <a:ext cx="246900" cy="0"/>
            </a:xfrm>
            <a:prstGeom prst="straightConnector1">
              <a:avLst/>
            </a:prstGeom>
            <a:noFill/>
            <a:ln cap="flat" cmpd="sng" w="19050">
              <a:solidFill>
                <a:schemeClr val="dk1"/>
              </a:solidFill>
              <a:prstDash val="solid"/>
              <a:round/>
              <a:headEnd len="med" w="med" type="none"/>
              <a:tailEnd len="med" w="med" type="none"/>
            </a:ln>
          </p:spPr>
        </p:cxnSp>
        <p:pic>
          <p:nvPicPr>
            <p:cNvPr id="1072" name="Google Shape;1072;p74"/>
            <p:cNvPicPr preferRelativeResize="0"/>
            <p:nvPr/>
          </p:nvPicPr>
          <p:blipFill rotWithShape="1">
            <a:blip r:embed="rId7">
              <a:alphaModFix/>
            </a:blip>
            <a:srcRect b="25195" l="0" r="95803" t="25195"/>
            <a:stretch/>
          </p:blipFill>
          <p:spPr>
            <a:xfrm>
              <a:off x="882475" y="2020700"/>
              <a:ext cx="263627" cy="278600"/>
            </a:xfrm>
            <a:prstGeom prst="rect">
              <a:avLst/>
            </a:prstGeom>
            <a:noFill/>
            <a:ln>
              <a:noFill/>
            </a:ln>
          </p:spPr>
        </p:pic>
      </p:grpSp>
      <p:grpSp>
        <p:nvGrpSpPr>
          <p:cNvPr id="1073" name="Google Shape;1073;p74"/>
          <p:cNvGrpSpPr/>
          <p:nvPr/>
        </p:nvGrpSpPr>
        <p:grpSpPr>
          <a:xfrm>
            <a:off x="2634644" y="1985975"/>
            <a:ext cx="343500" cy="313325"/>
            <a:chOff x="845925" y="1985975"/>
            <a:chExt cx="343500" cy="313325"/>
          </a:xfrm>
        </p:grpSpPr>
        <p:cxnSp>
          <p:nvCxnSpPr>
            <p:cNvPr id="1074" name="Google Shape;1074;p74"/>
            <p:cNvCxnSpPr/>
            <p:nvPr/>
          </p:nvCxnSpPr>
          <p:spPr>
            <a:xfrm>
              <a:off x="845925" y="1985975"/>
              <a:ext cx="343500" cy="0"/>
            </a:xfrm>
            <a:prstGeom prst="straightConnector1">
              <a:avLst/>
            </a:prstGeom>
            <a:noFill/>
            <a:ln cap="flat" cmpd="sng" w="19050">
              <a:solidFill>
                <a:schemeClr val="dk1"/>
              </a:solidFill>
              <a:prstDash val="solid"/>
              <a:round/>
              <a:headEnd len="med" w="med" type="none"/>
              <a:tailEnd len="med" w="med" type="none"/>
            </a:ln>
          </p:spPr>
        </p:cxnSp>
        <p:pic>
          <p:nvPicPr>
            <p:cNvPr id="1075" name="Google Shape;1075;p74"/>
            <p:cNvPicPr preferRelativeResize="0"/>
            <p:nvPr/>
          </p:nvPicPr>
          <p:blipFill rotWithShape="1">
            <a:blip r:embed="rId7">
              <a:alphaModFix/>
            </a:blip>
            <a:srcRect b="25195" l="0" r="95803" t="25195"/>
            <a:stretch/>
          </p:blipFill>
          <p:spPr>
            <a:xfrm>
              <a:off x="885862" y="2020700"/>
              <a:ext cx="263627" cy="278600"/>
            </a:xfrm>
            <a:prstGeom prst="rect">
              <a:avLst/>
            </a:prstGeom>
            <a:noFill/>
            <a:ln>
              <a:noFill/>
            </a:ln>
          </p:spPr>
        </p:pic>
      </p:grpSp>
      <p:sp>
        <p:nvSpPr>
          <p:cNvPr id="1076" name="Google Shape;1076;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75"/>
          <p:cNvSpPr txBox="1"/>
          <p:nvPr/>
        </p:nvSpPr>
        <p:spPr>
          <a:xfrm>
            <a:off x="324000" y="7630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Which of these correctly shows the relationship between the adjacent and the side opposite the 82° angle for this triangle (rounded to the nearest integer)?</a:t>
            </a:r>
            <a:endParaRPr sz="1800">
              <a:latin typeface="Lexend"/>
              <a:ea typeface="Lexend"/>
              <a:cs typeface="Lexend"/>
              <a:sym typeface="Lexend"/>
            </a:endParaRPr>
          </a:p>
        </p:txBody>
      </p:sp>
      <p:sp>
        <p:nvSpPr>
          <p:cNvPr id="1082" name="Google Shape;1082;p75"/>
          <p:cNvSpPr/>
          <p:nvPr/>
        </p:nvSpPr>
        <p:spPr>
          <a:xfrm flipH="1">
            <a:off x="6331848" y="3371549"/>
            <a:ext cx="1108500" cy="1108500"/>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3" name="Google Shape;1083;p75"/>
          <p:cNvSpPr/>
          <p:nvPr/>
        </p:nvSpPr>
        <p:spPr>
          <a:xfrm flipH="1">
            <a:off x="7772739" y="3730801"/>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4" name="Google Shape;1084;p75"/>
          <p:cNvSpPr txBox="1"/>
          <p:nvPr/>
        </p:nvSpPr>
        <p:spPr>
          <a:xfrm flipH="1">
            <a:off x="8078397" y="2850788"/>
            <a:ext cx="804900"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70</a:t>
            </a:r>
            <a:r>
              <a:rPr lang="en-GB" sz="1800">
                <a:latin typeface="Lexend"/>
                <a:ea typeface="Lexend"/>
                <a:cs typeface="Lexend"/>
                <a:sym typeface="Lexend"/>
              </a:rPr>
              <a:t> cm</a:t>
            </a:r>
            <a:endParaRPr sz="1800">
              <a:latin typeface="Lexend"/>
              <a:ea typeface="Lexend"/>
              <a:cs typeface="Lexend"/>
              <a:sym typeface="Lexend"/>
            </a:endParaRPr>
          </a:p>
        </p:txBody>
      </p:sp>
      <p:grpSp>
        <p:nvGrpSpPr>
          <p:cNvPr id="1085" name="Google Shape;1085;p75"/>
          <p:cNvGrpSpPr/>
          <p:nvPr/>
        </p:nvGrpSpPr>
        <p:grpSpPr>
          <a:xfrm>
            <a:off x="6805021" y="1834359"/>
            <a:ext cx="1273367" cy="2201921"/>
            <a:chOff x="-2089411" y="1392790"/>
            <a:chExt cx="1126077" cy="1822933"/>
          </a:xfrm>
        </p:grpSpPr>
        <p:sp>
          <p:nvSpPr>
            <p:cNvPr id="1086" name="Google Shape;1086;p7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87" name="Google Shape;1087;p75"/>
            <p:cNvCxnSpPr/>
            <p:nvPr/>
          </p:nvCxnSpPr>
          <p:spPr>
            <a:xfrm flipH="1">
              <a:off x="-2089411" y="1392790"/>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088" name="Google Shape;1088;p75"/>
            <p:cNvCxnSpPr/>
            <p:nvPr/>
          </p:nvCxnSpPr>
          <p:spPr>
            <a:xfrm rot="10800000">
              <a:off x="-2022025" y="3215724"/>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089" name="Google Shape;1089;p75"/>
            <p:cNvCxnSpPr/>
            <p:nvPr/>
          </p:nvCxnSpPr>
          <p:spPr>
            <a:xfrm rot="10800000">
              <a:off x="-963334"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090" name="Google Shape;1090;p75"/>
          <p:cNvSpPr txBox="1"/>
          <p:nvPr/>
        </p:nvSpPr>
        <p:spPr>
          <a:xfrm flipH="1">
            <a:off x="6971481" y="3707075"/>
            <a:ext cx="468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2</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091" name="Google Shape;1091;p75"/>
          <p:cNvSpPr txBox="1"/>
          <p:nvPr/>
        </p:nvSpPr>
        <p:spPr>
          <a:xfrm flipH="1">
            <a:off x="6919610" y="4112254"/>
            <a:ext cx="1098600"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10</a:t>
            </a:r>
            <a:r>
              <a:rPr lang="en-GB" sz="1800">
                <a:latin typeface="Lexend"/>
                <a:ea typeface="Lexend"/>
                <a:cs typeface="Lexend"/>
                <a:sym typeface="Lexend"/>
              </a:rPr>
              <a:t> cm</a:t>
            </a:r>
            <a:endParaRPr sz="1800">
              <a:latin typeface="Lexend"/>
              <a:ea typeface="Lexend"/>
              <a:cs typeface="Lexend"/>
              <a:sym typeface="Lexend"/>
            </a:endParaRPr>
          </a:p>
        </p:txBody>
      </p:sp>
      <p:grpSp>
        <p:nvGrpSpPr>
          <p:cNvPr id="1092" name="Google Shape;1092;p75"/>
          <p:cNvGrpSpPr/>
          <p:nvPr/>
        </p:nvGrpSpPr>
        <p:grpSpPr>
          <a:xfrm>
            <a:off x="538555" y="2157358"/>
            <a:ext cx="243093" cy="243093"/>
            <a:chOff x="1020916" y="1442088"/>
            <a:chExt cx="457200" cy="457200"/>
          </a:xfrm>
        </p:grpSpPr>
        <p:pic>
          <p:nvPicPr>
            <p:cNvPr id="1093" name="Google Shape;1093;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94" name="Google Shape;1094;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95" name="Google Shape;1095;p75"/>
          <p:cNvGrpSpPr/>
          <p:nvPr/>
        </p:nvGrpSpPr>
        <p:grpSpPr>
          <a:xfrm>
            <a:off x="538555" y="3049333"/>
            <a:ext cx="243093" cy="243093"/>
            <a:chOff x="1020916" y="1442088"/>
            <a:chExt cx="457200" cy="457200"/>
          </a:xfrm>
        </p:grpSpPr>
        <p:pic>
          <p:nvPicPr>
            <p:cNvPr id="1096" name="Google Shape;1096;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97" name="Google Shape;1097;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98" name="Google Shape;1098;p75"/>
          <p:cNvGrpSpPr/>
          <p:nvPr/>
        </p:nvGrpSpPr>
        <p:grpSpPr>
          <a:xfrm>
            <a:off x="538555" y="3934908"/>
            <a:ext cx="243093" cy="243093"/>
            <a:chOff x="1020916" y="1442088"/>
            <a:chExt cx="457200" cy="457200"/>
          </a:xfrm>
        </p:grpSpPr>
        <p:pic>
          <p:nvPicPr>
            <p:cNvPr id="1099" name="Google Shape;1099;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00" name="Google Shape;1100;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101" name="Google Shape;1101;p75"/>
          <p:cNvGrpSpPr/>
          <p:nvPr/>
        </p:nvGrpSpPr>
        <p:grpSpPr>
          <a:xfrm>
            <a:off x="3349805" y="2603345"/>
            <a:ext cx="243093" cy="243093"/>
            <a:chOff x="1020916" y="1442088"/>
            <a:chExt cx="457200" cy="457200"/>
          </a:xfrm>
        </p:grpSpPr>
        <p:pic>
          <p:nvPicPr>
            <p:cNvPr id="1102" name="Google Shape;1102;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03" name="Google Shape;1103;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104" name="Google Shape;1104;p75"/>
          <p:cNvGrpSpPr/>
          <p:nvPr/>
        </p:nvGrpSpPr>
        <p:grpSpPr>
          <a:xfrm>
            <a:off x="3349805" y="3495308"/>
            <a:ext cx="243093" cy="243093"/>
            <a:chOff x="1020916" y="1442088"/>
            <a:chExt cx="457200" cy="457200"/>
          </a:xfrm>
        </p:grpSpPr>
        <p:pic>
          <p:nvPicPr>
            <p:cNvPr id="1105" name="Google Shape;1105;p7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06" name="Google Shape;1106;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107" name="Google Shape;1107;p75"/>
          <p:cNvGrpSpPr/>
          <p:nvPr/>
        </p:nvGrpSpPr>
        <p:grpSpPr>
          <a:xfrm>
            <a:off x="2279071" y="2070738"/>
            <a:ext cx="3445229" cy="2164037"/>
            <a:chOff x="2126671" y="1842138"/>
            <a:chExt cx="3445229" cy="2164037"/>
          </a:xfrm>
        </p:grpSpPr>
        <p:pic>
          <p:nvPicPr>
            <p:cNvPr id="1108" name="Google Shape;1108;p75"/>
            <p:cNvPicPr preferRelativeResize="0"/>
            <p:nvPr/>
          </p:nvPicPr>
          <p:blipFill>
            <a:blip r:embed="rId4">
              <a:alphaModFix/>
            </a:blip>
            <a:stretch>
              <a:fillRect/>
            </a:stretch>
          </p:blipFill>
          <p:spPr>
            <a:xfrm>
              <a:off x="2126671" y="1842138"/>
              <a:ext cx="396000" cy="419100"/>
            </a:xfrm>
            <a:prstGeom prst="rect">
              <a:avLst/>
            </a:prstGeom>
            <a:noFill/>
            <a:ln>
              <a:noFill/>
            </a:ln>
          </p:spPr>
        </p:pic>
        <p:pic>
          <p:nvPicPr>
            <p:cNvPr id="1109" name="Google Shape;1109;p75"/>
            <p:cNvPicPr preferRelativeResize="0"/>
            <p:nvPr/>
          </p:nvPicPr>
          <p:blipFill>
            <a:blip r:embed="rId5">
              <a:alphaModFix/>
            </a:blip>
            <a:stretch>
              <a:fillRect/>
            </a:stretch>
          </p:blipFill>
          <p:spPr>
            <a:xfrm>
              <a:off x="2606100" y="2725429"/>
              <a:ext cx="396000" cy="419760"/>
            </a:xfrm>
            <a:prstGeom prst="rect">
              <a:avLst/>
            </a:prstGeom>
            <a:noFill/>
            <a:ln>
              <a:noFill/>
            </a:ln>
          </p:spPr>
        </p:pic>
        <p:pic>
          <p:nvPicPr>
            <p:cNvPr id="1110" name="Google Shape;1110;p75"/>
            <p:cNvPicPr preferRelativeResize="0"/>
            <p:nvPr/>
          </p:nvPicPr>
          <p:blipFill>
            <a:blip r:embed="rId4">
              <a:alphaModFix/>
            </a:blip>
            <a:stretch>
              <a:fillRect/>
            </a:stretch>
          </p:blipFill>
          <p:spPr>
            <a:xfrm>
              <a:off x="2572071" y="3587075"/>
              <a:ext cx="396000" cy="419100"/>
            </a:xfrm>
            <a:prstGeom prst="rect">
              <a:avLst/>
            </a:prstGeom>
            <a:noFill/>
            <a:ln>
              <a:noFill/>
            </a:ln>
          </p:spPr>
        </p:pic>
        <p:pic>
          <p:nvPicPr>
            <p:cNvPr id="1111" name="Google Shape;1111;p75"/>
            <p:cNvPicPr preferRelativeResize="0"/>
            <p:nvPr/>
          </p:nvPicPr>
          <p:blipFill>
            <a:blip r:embed="rId4">
              <a:alphaModFix/>
            </a:blip>
            <a:stretch>
              <a:fillRect/>
            </a:stretch>
          </p:blipFill>
          <p:spPr>
            <a:xfrm>
              <a:off x="4995921" y="2261225"/>
              <a:ext cx="396000" cy="419100"/>
            </a:xfrm>
            <a:prstGeom prst="rect">
              <a:avLst/>
            </a:prstGeom>
            <a:noFill/>
            <a:ln>
              <a:noFill/>
            </a:ln>
          </p:spPr>
        </p:pic>
        <p:pic>
          <p:nvPicPr>
            <p:cNvPr id="1112" name="Google Shape;1112;p75"/>
            <p:cNvPicPr preferRelativeResize="0"/>
            <p:nvPr/>
          </p:nvPicPr>
          <p:blipFill>
            <a:blip r:embed="rId5">
              <a:alphaModFix/>
            </a:blip>
            <a:stretch>
              <a:fillRect/>
            </a:stretch>
          </p:blipFill>
          <p:spPr>
            <a:xfrm>
              <a:off x="5175900" y="3178367"/>
              <a:ext cx="396000" cy="419760"/>
            </a:xfrm>
            <a:prstGeom prst="rect">
              <a:avLst/>
            </a:prstGeom>
            <a:noFill/>
            <a:ln>
              <a:noFill/>
            </a:ln>
          </p:spPr>
        </p:pic>
      </p:grpSp>
      <p:sp>
        <p:nvSpPr>
          <p:cNvPr id="1113" name="Google Shape;1113;p75"/>
          <p:cNvSpPr/>
          <p:nvPr/>
        </p:nvSpPr>
        <p:spPr>
          <a:xfrm>
            <a:off x="859850" y="3890800"/>
            <a:ext cx="18600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14" name="Google Shape;1114;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pic>
        <p:nvPicPr>
          <p:cNvPr descr="&lt;math xmlns=&quot;http://www.w3.org/1998/Math/MathML&quot; display=&quot;block&quot; data-is-equatio=&quot;1&quot; data-latex=&quot;\textcolor{#FFFFF}{\frac{70}{10}=\tan\left(82°\right)\ \ \ \ \ \frac{70}{\tan\left(82°\right)}=10\ \ \ \ \ 10\times\tan\left(82°\right)=70}\ \ \ \ \ \tan\left(82°\times10\right)=70\ \ \ \ \ \tan\left(\frac{82°}{70}\right)=10&quot;&gt;&lt;mstyle mathcolor=&quot;#FFFFF&quot;&gt;&lt;mfrac&gt;&lt;mn&gt;70&lt;/mn&gt;&lt;mn&gt;10&lt;/mn&gt;&lt;/mfrac&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70&lt;/mn&gt;&lt;mrow&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lt;/mn&gt;&lt;mtext&gt;&lt;/mtext&gt;&lt;mtext&gt;&lt;/mtext&gt;&lt;mtext&gt;&lt;/mtext&gt;&lt;mtext&gt;&lt;/mtext&gt;&lt;mtext&gt;&lt;/mtext&gt;&lt;mn&gt;10&lt;/mn&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70&lt;/mn&gt;&lt;/mstyle&gt;&lt;mtext&gt;&lt;/mtext&gt;&lt;mtext&gt;&lt;/mtext&gt;&lt;mtext&gt;&lt;/mtext&gt;&lt;mtext&gt;&lt;/mtext&gt;&lt;mtext&gt;&lt;/mtext&gt;&lt;mi&gt;tan&lt;/mi&gt;&lt;mo data-mjx-texclass=&quot;NONE&quot;&gt;⁡&lt;/mo&gt;&lt;mrow data-mjx-texclass=&quot;INNER&quot;&gt;&lt;mo data-mjx-texclass=&quot;OPEN&quot;&gt;(&lt;/mo&gt;&lt;mn&gt;82&lt;/mn&gt;&lt;mrow data-mjx-texclass=&quot;ORD&quot;&gt;&lt;mo data-mjx-pseudoscript=&quot;true&quot;&gt;°&lt;/mo&gt;&lt;/mrow&gt;&lt;mo&gt;×&lt;/mo&gt;&lt;mn&gt;10&lt;/mn&gt;&lt;mo data-mjx-texclass=&quot;CLOSE&quot;&gt;)&lt;/mo&gt;&lt;/mrow&gt;&lt;mo&gt;=&lt;/mo&gt;&lt;mn&gt;70&lt;/mn&gt;&lt;mtext&gt;&lt;/mtext&gt;&lt;mtext&gt;&lt;/mtext&gt;&lt;mtext&gt;&lt;/mtext&gt;&lt;mtext&gt;&lt;/mtext&gt;&lt;mtext&gt;&lt;/mtext&gt;&lt;mi&gt;tan&lt;/mi&gt;&lt;mo data-mjx-texclass=&quot;NONE&quot;&gt;⁡&lt;/mo&gt;&lt;mrow data-mjx-texclass=&quot;INNER&quot;&gt;&lt;mo data-mjx-texclass=&quot;OPEN&quot;&gt;(&lt;/mo&gt;&lt;mfrac&gt;&lt;mrow&gt;&lt;mn&gt;82&lt;/mn&gt;&lt;mrow data-mjx-texclass=&quot;ORD&quot;&gt;&lt;mo data-mjx-pseudoscript=&quot;true&quot;&gt;°&lt;/mo&gt;&lt;/mrow&gt;&lt;/mrow&gt;&lt;mn&gt;70&lt;/mn&gt;&lt;/mfrac&gt;&lt;mo data-mjx-texclass=&quot;CLOSE&quot;&gt;)&lt;/mo&gt;&lt;/mrow&gt;&lt;mo&gt;=&lt;/mo&gt;&lt;mn&gt;10&lt;/mn&gt;&lt;/math&gt;" id="1115" name="Google Shape;1115;p75" title="70 over 10 equals tangent 82 degrees 70 over tangent 82 degrees equals 10 10 times tangent 82 degrees equals 70 the tangent of open paren 82 degrees times 10 close paren equals 70 the tangent of open paren 82 degrees over 70 close paren equals 10"/>
          <p:cNvPicPr preferRelativeResize="0"/>
          <p:nvPr/>
        </p:nvPicPr>
        <p:blipFill rotWithShape="1">
          <a:blip r:embed="rId6">
            <a:alphaModFix/>
          </a:blip>
          <a:srcRect b="0" l="0" r="84441" t="0"/>
          <a:stretch/>
        </p:blipFill>
        <p:spPr>
          <a:xfrm>
            <a:off x="859850" y="1985200"/>
            <a:ext cx="1444827" cy="587389"/>
          </a:xfrm>
          <a:prstGeom prst="rect">
            <a:avLst/>
          </a:prstGeom>
          <a:noFill/>
          <a:ln>
            <a:noFill/>
          </a:ln>
        </p:spPr>
      </p:pic>
      <p:pic>
        <p:nvPicPr>
          <p:cNvPr descr="&lt;math xmlns=&quot;http://www.w3.org/1998/Math/MathML&quot; display=&quot;block&quot; data-is-equatio=&quot;1&quot; data-latex=&quot;\textcolor{#FFFFF}{\frac{70}{10}=\tan\left(82°\right)\ \ \ \ \ \frac{70}{\tan\left(82°\right)}=10\ \ \ \ \ 10\times\tan\left(82°\right)=70}\ \ \ \ \ \tan\left(82°\times10\right)=70\ \ \ \ \ \tan\left(\frac{82°}{70}\right)=10&quot;&gt;&lt;mstyle mathcolor=&quot;#FFFFF&quot;&gt;&lt;mfrac&gt;&lt;mn&gt;70&lt;/mn&gt;&lt;mn&gt;10&lt;/mn&gt;&lt;/mfrac&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70&lt;/mn&gt;&lt;mrow&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lt;/mn&gt;&lt;mtext&gt;&lt;/mtext&gt;&lt;mtext&gt;&lt;/mtext&gt;&lt;mtext&gt;&lt;/mtext&gt;&lt;mtext&gt;&lt;/mtext&gt;&lt;mtext&gt;&lt;/mtext&gt;&lt;mn&gt;10&lt;/mn&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70&lt;/mn&gt;&lt;/mstyle&gt;&lt;mtext&gt;&lt;/mtext&gt;&lt;mtext&gt;&lt;/mtext&gt;&lt;mtext&gt;&lt;/mtext&gt;&lt;mtext&gt;&lt;/mtext&gt;&lt;mtext&gt;&lt;/mtext&gt;&lt;mi&gt;tan&lt;/mi&gt;&lt;mo data-mjx-texclass=&quot;NONE&quot;&gt;⁡&lt;/mo&gt;&lt;mrow data-mjx-texclass=&quot;INNER&quot;&gt;&lt;mo data-mjx-texclass=&quot;OPEN&quot;&gt;(&lt;/mo&gt;&lt;mn&gt;82&lt;/mn&gt;&lt;mrow data-mjx-texclass=&quot;ORD&quot;&gt;&lt;mo data-mjx-pseudoscript=&quot;true&quot;&gt;°&lt;/mo&gt;&lt;/mrow&gt;&lt;mo&gt;×&lt;/mo&gt;&lt;mn&gt;10&lt;/mn&gt;&lt;mo data-mjx-texclass=&quot;CLOSE&quot;&gt;)&lt;/mo&gt;&lt;/mrow&gt;&lt;mo&gt;=&lt;/mo&gt;&lt;mn&gt;70&lt;/mn&gt;&lt;mtext&gt;&lt;/mtext&gt;&lt;mtext&gt;&lt;/mtext&gt;&lt;mtext&gt;&lt;/mtext&gt;&lt;mtext&gt;&lt;/mtext&gt;&lt;mtext&gt;&lt;/mtext&gt;&lt;mi&gt;tan&lt;/mi&gt;&lt;mo data-mjx-texclass=&quot;NONE&quot;&gt;⁡&lt;/mo&gt;&lt;mrow data-mjx-texclass=&quot;INNER&quot;&gt;&lt;mo data-mjx-texclass=&quot;OPEN&quot;&gt;(&lt;/mo&gt;&lt;mfrac&gt;&lt;mrow&gt;&lt;mn&gt;82&lt;/mn&gt;&lt;mrow data-mjx-texclass=&quot;ORD&quot;&gt;&lt;mo data-mjx-pseudoscript=&quot;true&quot;&gt;°&lt;/mo&gt;&lt;/mrow&gt;&lt;/mrow&gt;&lt;mn&gt;70&lt;/mn&gt;&lt;/mfrac&gt;&lt;mo data-mjx-texclass=&quot;CLOSE&quot;&gt;)&lt;/mo&gt;&lt;/mrow&gt;&lt;mo&gt;=&lt;/mo&gt;&lt;mn&gt;10&lt;/mn&gt;&lt;/math&gt;" id="1116" name="Google Shape;1116;p75" title="70 over 10 equals tangent 82 degrees 70 over tangent 82 degrees equals 10 10 times tangent 82 degrees equals 70 the tangent of open paren 82 degrees times 10 close paren equals 70 the tangent of open paren 82 degrees over 70 close paren equals 10"/>
          <p:cNvPicPr preferRelativeResize="0"/>
          <p:nvPr/>
        </p:nvPicPr>
        <p:blipFill rotWithShape="1">
          <a:blip r:embed="rId6">
            <a:alphaModFix/>
          </a:blip>
          <a:srcRect b="0" l="17209" r="65293" t="0"/>
          <a:stretch/>
        </p:blipFill>
        <p:spPr>
          <a:xfrm>
            <a:off x="3617625" y="2431200"/>
            <a:ext cx="1624805" cy="587400"/>
          </a:xfrm>
          <a:prstGeom prst="rect">
            <a:avLst/>
          </a:prstGeom>
          <a:noFill/>
          <a:ln>
            <a:noFill/>
          </a:ln>
        </p:spPr>
      </p:pic>
      <p:pic>
        <p:nvPicPr>
          <p:cNvPr descr="&lt;math xmlns=&quot;http://www.w3.org/1998/Math/MathML&quot; display=&quot;block&quot; data-is-equatio=&quot;1&quot; data-latex=&quot;\textcolor{#FFFFF}{\frac{70}{10}=\tan\left(82°\right)\ \ \ \ \ \frac{70}{\tan\left(82°\right)}=10\ \ \ \ \ 10\times\tan\left(82°\right)=70}\ \ \ \ \ \tan\left(82°\times10\right)=70\ \ \ \ \ \tan\left(\frac{82°}{70}\right)=10&quot;&gt;&lt;mstyle mathcolor=&quot;#FFFFF&quot;&gt;&lt;mfrac&gt;&lt;mn&gt;70&lt;/mn&gt;&lt;mn&gt;10&lt;/mn&gt;&lt;/mfrac&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70&lt;/mn&gt;&lt;mrow&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lt;/mn&gt;&lt;mtext&gt;&lt;/mtext&gt;&lt;mtext&gt;&lt;/mtext&gt;&lt;mtext&gt;&lt;/mtext&gt;&lt;mtext&gt;&lt;/mtext&gt;&lt;mtext&gt;&lt;/mtext&gt;&lt;mn&gt;10&lt;/mn&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70&lt;/mn&gt;&lt;/mstyle&gt;&lt;mtext&gt;&lt;/mtext&gt;&lt;mtext&gt;&lt;/mtext&gt;&lt;mtext&gt;&lt;/mtext&gt;&lt;mtext&gt;&lt;/mtext&gt;&lt;mtext&gt;&lt;/mtext&gt;&lt;mi&gt;tan&lt;/mi&gt;&lt;mo data-mjx-texclass=&quot;NONE&quot;&gt;⁡&lt;/mo&gt;&lt;mrow data-mjx-texclass=&quot;INNER&quot;&gt;&lt;mo data-mjx-texclass=&quot;OPEN&quot;&gt;(&lt;/mo&gt;&lt;mn&gt;82&lt;/mn&gt;&lt;mrow data-mjx-texclass=&quot;ORD&quot;&gt;&lt;mo data-mjx-pseudoscript=&quot;true&quot;&gt;°&lt;/mo&gt;&lt;/mrow&gt;&lt;mo&gt;×&lt;/mo&gt;&lt;mn&gt;10&lt;/mn&gt;&lt;mo data-mjx-texclass=&quot;CLOSE&quot;&gt;)&lt;/mo&gt;&lt;/mrow&gt;&lt;mo&gt;=&lt;/mo&gt;&lt;mn&gt;70&lt;/mn&gt;&lt;mtext&gt;&lt;/mtext&gt;&lt;mtext&gt;&lt;/mtext&gt;&lt;mtext&gt;&lt;/mtext&gt;&lt;mtext&gt;&lt;/mtext&gt;&lt;mtext&gt;&lt;/mtext&gt;&lt;mi&gt;tan&lt;/mi&gt;&lt;mo data-mjx-texclass=&quot;NONE&quot;&gt;⁡&lt;/mo&gt;&lt;mrow data-mjx-texclass=&quot;INNER&quot;&gt;&lt;mo data-mjx-texclass=&quot;OPEN&quot;&gt;(&lt;/mo&gt;&lt;mfrac&gt;&lt;mrow&gt;&lt;mn&gt;82&lt;/mn&gt;&lt;mrow data-mjx-texclass=&quot;ORD&quot;&gt;&lt;mo data-mjx-pseudoscript=&quot;true&quot;&gt;°&lt;/mo&gt;&lt;/mrow&gt;&lt;/mrow&gt;&lt;mn&gt;70&lt;/mn&gt;&lt;/mfrac&gt;&lt;mo data-mjx-texclass=&quot;CLOSE&quot;&gt;)&lt;/mo&gt;&lt;/mrow&gt;&lt;mo&gt;=&lt;/mo&gt;&lt;mn&gt;10&lt;/mn&gt;&lt;/math&gt;" id="1117" name="Google Shape;1117;p75" title="70 over 10 equals tangent 82 degrees 70 over tangent 82 degrees equals 10 10 times tangent 82 degrees equals 70 the tangent of open paren 82 degrees times 10 close paren equals 70 the tangent of open paren 82 degrees over 70 close paren equals 10"/>
          <p:cNvPicPr preferRelativeResize="0"/>
          <p:nvPr/>
        </p:nvPicPr>
        <p:blipFill rotWithShape="1">
          <a:blip r:embed="rId6">
            <a:alphaModFix/>
          </a:blip>
          <a:srcRect b="0" l="35635" r="43031" t="0"/>
          <a:stretch/>
        </p:blipFill>
        <p:spPr>
          <a:xfrm>
            <a:off x="803250" y="3769150"/>
            <a:ext cx="1981024" cy="587400"/>
          </a:xfrm>
          <a:prstGeom prst="rect">
            <a:avLst/>
          </a:prstGeom>
          <a:noFill/>
          <a:ln>
            <a:noFill/>
          </a:ln>
        </p:spPr>
      </p:pic>
      <p:pic>
        <p:nvPicPr>
          <p:cNvPr descr="&lt;math xmlns=&quot;http://www.w3.org/1998/Math/MathML&quot; display=&quot;block&quot; data-is-equatio=&quot;1&quot; data-latex=&quot;\textcolor{#FFFFF}{\frac{70}{10}=\tan\left(82°\right)\ \ \ \ \ \frac{70}{\tan\left(82°\right)}=10\ \ \ \ \ 10\times\tan\left(82°\right)=70}\ \ \ \ \ \tan\left(82°\times10\right)=70\ \ \ \ \ \tan\left(\frac{82°}{70}\right)=10&quot;&gt;&lt;mstyle mathcolor=&quot;#FFFFF&quot;&gt;&lt;mfrac&gt;&lt;mn&gt;70&lt;/mn&gt;&lt;mn&gt;10&lt;/mn&gt;&lt;/mfrac&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70&lt;/mn&gt;&lt;mrow&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lt;/mn&gt;&lt;mtext&gt;&lt;/mtext&gt;&lt;mtext&gt;&lt;/mtext&gt;&lt;mtext&gt;&lt;/mtext&gt;&lt;mtext&gt;&lt;/mtext&gt;&lt;mtext&gt;&lt;/mtext&gt;&lt;mn&gt;10&lt;/mn&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70&lt;/mn&gt;&lt;/mstyle&gt;&lt;mtext&gt;&lt;/mtext&gt;&lt;mtext&gt;&lt;/mtext&gt;&lt;mtext&gt;&lt;/mtext&gt;&lt;mtext&gt;&lt;/mtext&gt;&lt;mtext&gt;&lt;/mtext&gt;&lt;mi&gt;tan&lt;/mi&gt;&lt;mo data-mjx-texclass=&quot;NONE&quot;&gt;⁡&lt;/mo&gt;&lt;mrow data-mjx-texclass=&quot;INNER&quot;&gt;&lt;mo data-mjx-texclass=&quot;OPEN&quot;&gt;(&lt;/mo&gt;&lt;mn&gt;82&lt;/mn&gt;&lt;mrow data-mjx-texclass=&quot;ORD&quot;&gt;&lt;mo data-mjx-pseudoscript=&quot;true&quot;&gt;°&lt;/mo&gt;&lt;/mrow&gt;&lt;mo&gt;×&lt;/mo&gt;&lt;mn&gt;10&lt;/mn&gt;&lt;mo data-mjx-texclass=&quot;CLOSE&quot;&gt;)&lt;/mo&gt;&lt;/mrow&gt;&lt;mo&gt;=&lt;/mo&gt;&lt;mn&gt;70&lt;/mn&gt;&lt;mtext&gt;&lt;/mtext&gt;&lt;mtext&gt;&lt;/mtext&gt;&lt;mtext&gt;&lt;/mtext&gt;&lt;mtext&gt;&lt;/mtext&gt;&lt;mtext&gt;&lt;/mtext&gt;&lt;mi&gt;tan&lt;/mi&gt;&lt;mo data-mjx-texclass=&quot;NONE&quot;&gt;⁡&lt;/mo&gt;&lt;mrow data-mjx-texclass=&quot;INNER&quot;&gt;&lt;mo data-mjx-texclass=&quot;OPEN&quot;&gt;(&lt;/mo&gt;&lt;mfrac&gt;&lt;mrow&gt;&lt;mn&gt;82&lt;/mn&gt;&lt;mrow data-mjx-texclass=&quot;ORD&quot;&gt;&lt;mo data-mjx-pseudoscript=&quot;true&quot;&gt;°&lt;/mo&gt;&lt;/mrow&gt;&lt;/mrow&gt;&lt;mn&gt;70&lt;/mn&gt;&lt;/mfrac&gt;&lt;mo data-mjx-texclass=&quot;CLOSE&quot;&gt;)&lt;/mo&gt;&lt;/mrow&gt;&lt;mo&gt;=&lt;/mo&gt;&lt;mn&gt;10&lt;/mn&gt;&lt;/math&gt;" id="1118" name="Google Shape;1118;p75" title="70 over 10 equals tangent 82 degrees 70 over tangent 82 degrees equals 10 10 times tangent 82 degrees equals 70 the tangent of open paren 82 degrees times 10 close paren equals 70 the tangent of open paren 82 degrees over 70 close paren equals 10"/>
          <p:cNvPicPr preferRelativeResize="0"/>
          <p:nvPr/>
        </p:nvPicPr>
        <p:blipFill rotWithShape="1">
          <a:blip r:embed="rId6">
            <a:alphaModFix/>
          </a:blip>
          <a:srcRect b="0" l="58768" r="19898" t="0"/>
          <a:stretch/>
        </p:blipFill>
        <p:spPr>
          <a:xfrm>
            <a:off x="803253" y="2877175"/>
            <a:ext cx="1981024" cy="587400"/>
          </a:xfrm>
          <a:prstGeom prst="rect">
            <a:avLst/>
          </a:prstGeom>
          <a:noFill/>
          <a:ln>
            <a:noFill/>
          </a:ln>
        </p:spPr>
      </p:pic>
      <p:pic>
        <p:nvPicPr>
          <p:cNvPr descr="&lt;math xmlns=&quot;http://www.w3.org/1998/Math/MathML&quot; display=&quot;block&quot; data-is-equatio=&quot;1&quot; data-latex=&quot;\textcolor{#FFFFF}{\frac{70}{10}=\tan\left(82°\right)\ \ \ \ \ \frac{70}{\tan\left(82°\right)}=10\ \ \ \ \ 10\times\tan\left(82°\right)=70}\ \ \ \ \ \tan\left(82°\times10\right)=70\ \ \ \ \ \tan\left(\frac{82°}{70}\right)=10&quot;&gt;&lt;mstyle mathcolor=&quot;#FFFFF&quot;&gt;&lt;mfrac&gt;&lt;mn&gt;70&lt;/mn&gt;&lt;mn&gt;10&lt;/mn&gt;&lt;/mfrac&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70&lt;/mn&gt;&lt;mrow&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lt;/mn&gt;&lt;mtext&gt;&lt;/mtext&gt;&lt;mtext&gt;&lt;/mtext&gt;&lt;mtext&gt;&lt;/mtext&gt;&lt;mtext&gt;&lt;/mtext&gt;&lt;mtext&gt;&lt;/mtext&gt;&lt;mn&gt;10&lt;/mn&gt;&lt;mo&gt;×&lt;/mo&gt;&lt;mi&gt;tan&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70&lt;/mn&gt;&lt;/mstyle&gt;&lt;mtext&gt;&lt;/mtext&gt;&lt;mtext&gt;&lt;/mtext&gt;&lt;mtext&gt;&lt;/mtext&gt;&lt;mtext&gt;&lt;/mtext&gt;&lt;mtext&gt;&lt;/mtext&gt;&lt;mi&gt;tan&lt;/mi&gt;&lt;mo data-mjx-texclass=&quot;NONE&quot;&gt;⁡&lt;/mo&gt;&lt;mrow data-mjx-texclass=&quot;INNER&quot;&gt;&lt;mo data-mjx-texclass=&quot;OPEN&quot;&gt;(&lt;/mo&gt;&lt;mn&gt;82&lt;/mn&gt;&lt;mrow data-mjx-texclass=&quot;ORD&quot;&gt;&lt;mo data-mjx-pseudoscript=&quot;true&quot;&gt;°&lt;/mo&gt;&lt;/mrow&gt;&lt;mo&gt;×&lt;/mo&gt;&lt;mn&gt;10&lt;/mn&gt;&lt;mo data-mjx-texclass=&quot;CLOSE&quot;&gt;)&lt;/mo&gt;&lt;/mrow&gt;&lt;mo&gt;=&lt;/mo&gt;&lt;mn&gt;70&lt;/mn&gt;&lt;mtext&gt;&lt;/mtext&gt;&lt;mtext&gt;&lt;/mtext&gt;&lt;mtext&gt;&lt;/mtext&gt;&lt;mtext&gt;&lt;/mtext&gt;&lt;mtext&gt;&lt;/mtext&gt;&lt;mi&gt;tan&lt;/mi&gt;&lt;mo data-mjx-texclass=&quot;NONE&quot;&gt;⁡&lt;/mo&gt;&lt;mrow data-mjx-texclass=&quot;INNER&quot;&gt;&lt;mo data-mjx-texclass=&quot;OPEN&quot;&gt;(&lt;/mo&gt;&lt;mfrac&gt;&lt;mrow&gt;&lt;mn&gt;82&lt;/mn&gt;&lt;mrow data-mjx-texclass=&quot;ORD&quot;&gt;&lt;mo data-mjx-pseudoscript=&quot;true&quot;&gt;°&lt;/mo&gt;&lt;/mrow&gt;&lt;/mrow&gt;&lt;mn&gt;70&lt;/mn&gt;&lt;/mfrac&gt;&lt;mo data-mjx-texclass=&quot;CLOSE&quot;&gt;)&lt;/mo&gt;&lt;/mrow&gt;&lt;mo&gt;=&lt;/mo&gt;&lt;mn&gt;10&lt;/mn&gt;&lt;/math&gt;" id="1119" name="Google Shape;1119;p75" title="70 over 10 equals tangent 82 degrees 70 over tangent 82 degrees equals 10 10 times tangent 82 degrees equals 70 the tangent of open paren 82 degrees times 10 close paren equals 70 the tangent of open paren 82 degrees over 70 close paren equals 10"/>
          <p:cNvPicPr preferRelativeResize="0"/>
          <p:nvPr/>
        </p:nvPicPr>
        <p:blipFill rotWithShape="1">
          <a:blip r:embed="rId6">
            <a:alphaModFix/>
          </a:blip>
          <a:srcRect b="0" l="82138" r="-3470" t="0"/>
          <a:stretch/>
        </p:blipFill>
        <p:spPr>
          <a:xfrm>
            <a:off x="3643740" y="3323150"/>
            <a:ext cx="1981024" cy="587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76"/>
          <p:cNvSpPr/>
          <p:nvPr/>
        </p:nvSpPr>
        <p:spPr>
          <a:xfrm>
            <a:off x="786750" y="2002375"/>
            <a:ext cx="2078400" cy="3924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
              <a:solidFill>
                <a:schemeClr val="dk1"/>
              </a:solidFill>
              <a:latin typeface="Lexend"/>
              <a:ea typeface="Lexend"/>
              <a:cs typeface="Lexend"/>
              <a:sym typeface="Lexend"/>
            </a:endParaRPr>
          </a:p>
        </p:txBody>
      </p:sp>
      <p:sp>
        <p:nvSpPr>
          <p:cNvPr id="1125" name="Google Shape;1125;p76"/>
          <p:cNvSpPr txBox="1"/>
          <p:nvPr/>
        </p:nvSpPr>
        <p:spPr>
          <a:xfrm>
            <a:off x="324000" y="686800"/>
            <a:ext cx="84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In each version of the formula, a different part of the triangle is written as the subject.</a:t>
            </a:r>
            <a:endParaRPr sz="1800">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It is helpful to use the version of the formula whose subject matches the part of the triangle you are trying to find the value of.</a:t>
            </a:r>
            <a:endParaRPr sz="1800">
              <a:latin typeface="Lexend"/>
              <a:ea typeface="Lexend"/>
              <a:cs typeface="Lexend"/>
              <a:sym typeface="Lexend"/>
            </a:endParaRPr>
          </a:p>
        </p:txBody>
      </p:sp>
      <p:sp>
        <p:nvSpPr>
          <p:cNvPr id="1126" name="Google Shape;1126;p76"/>
          <p:cNvSpPr/>
          <p:nvPr/>
        </p:nvSpPr>
        <p:spPr>
          <a:xfrm flipH="1">
            <a:off x="7626797" y="1998004"/>
            <a:ext cx="1108800" cy="11091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7" name="Google Shape;1127;p76"/>
          <p:cNvSpPr txBox="1"/>
          <p:nvPr/>
        </p:nvSpPr>
        <p:spPr>
          <a:xfrm>
            <a:off x="7642171" y="2535812"/>
            <a:ext cx="417300" cy="235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55°</a:t>
            </a:r>
            <a:endParaRPr sz="1800">
              <a:latin typeface="Lexend"/>
              <a:ea typeface="Lexend"/>
              <a:cs typeface="Lexend"/>
              <a:sym typeface="Lexend"/>
            </a:endParaRPr>
          </a:p>
        </p:txBody>
      </p:sp>
      <p:sp>
        <p:nvSpPr>
          <p:cNvPr id="1128" name="Google Shape;1128;p76"/>
          <p:cNvSpPr/>
          <p:nvPr/>
        </p:nvSpPr>
        <p:spPr>
          <a:xfrm flipH="1" rot="-2368091">
            <a:off x="7078841" y="3174271"/>
            <a:ext cx="182648" cy="182648"/>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29" name="Google Shape;1129;p76"/>
          <p:cNvGrpSpPr/>
          <p:nvPr/>
        </p:nvGrpSpPr>
        <p:grpSpPr>
          <a:xfrm flipH="1" rot="-2367281">
            <a:off x="6262312" y="2040627"/>
            <a:ext cx="2023270" cy="1968439"/>
            <a:chOff x="-2022025" y="1455875"/>
            <a:chExt cx="1455260" cy="2746876"/>
          </a:xfrm>
        </p:grpSpPr>
        <p:sp>
          <p:nvSpPr>
            <p:cNvPr id="1130" name="Google Shape;1130;p7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31" name="Google Shape;1131;p76"/>
            <p:cNvCxnSpPr/>
            <p:nvPr/>
          </p:nvCxnSpPr>
          <p:spPr>
            <a:xfrm rot="7323561">
              <a:off x="-2058958" y="2840729"/>
              <a:ext cx="1046727" cy="956443"/>
            </a:xfrm>
            <a:prstGeom prst="straightConnector1">
              <a:avLst/>
            </a:prstGeom>
            <a:noFill/>
            <a:ln cap="flat" cmpd="sng" w="28575">
              <a:solidFill>
                <a:srgbClr val="845AD9"/>
              </a:solidFill>
              <a:prstDash val="solid"/>
              <a:round/>
              <a:headEnd len="med" w="med" type="triangle"/>
              <a:tailEnd len="med" w="med" type="triangle"/>
            </a:ln>
          </p:spPr>
        </p:cxnSp>
        <p:cxnSp>
          <p:nvCxnSpPr>
            <p:cNvPr id="1132" name="Google Shape;1132;p76"/>
            <p:cNvCxnSpPr/>
            <p:nvPr/>
          </p:nvCxnSpPr>
          <p:spPr>
            <a:xfrm flipH="1" rot="7322798">
              <a:off x="-1386032" y="1763572"/>
              <a:ext cx="794935" cy="1080253"/>
            </a:xfrm>
            <a:prstGeom prst="straightConnector1">
              <a:avLst/>
            </a:prstGeom>
            <a:noFill/>
            <a:ln cap="flat" cmpd="sng" w="28575">
              <a:solidFill>
                <a:srgbClr val="845AD9"/>
              </a:solidFill>
              <a:prstDash val="solid"/>
              <a:round/>
              <a:headEnd len="med" w="med" type="triangle"/>
              <a:tailEnd len="med" w="med" type="triangle"/>
            </a:ln>
          </p:spPr>
        </p:cxnSp>
      </p:grpSp>
      <p:sp>
        <p:nvSpPr>
          <p:cNvPr id="1133" name="Google Shape;1133;p76"/>
          <p:cNvSpPr txBox="1"/>
          <p:nvPr/>
        </p:nvSpPr>
        <p:spPr>
          <a:xfrm flipH="1">
            <a:off x="7739610" y="3071905"/>
            <a:ext cx="771000" cy="235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85 cm</a:t>
            </a:r>
            <a:endParaRPr sz="1800">
              <a:latin typeface="Lexend"/>
              <a:ea typeface="Lexend"/>
              <a:cs typeface="Lexend"/>
              <a:sym typeface="Lexend"/>
            </a:endParaRPr>
          </a:p>
        </p:txBody>
      </p:sp>
      <p:sp>
        <p:nvSpPr>
          <p:cNvPr id="1134" name="Google Shape;1134;p76"/>
          <p:cNvSpPr txBox="1"/>
          <p:nvPr/>
        </p:nvSpPr>
        <p:spPr>
          <a:xfrm flipH="1">
            <a:off x="5931860" y="3003280"/>
            <a:ext cx="771000" cy="235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p</a:t>
            </a:r>
            <a:r>
              <a:rPr lang="en-GB" sz="1800">
                <a:latin typeface="Lexend"/>
                <a:ea typeface="Lexend"/>
                <a:cs typeface="Lexend"/>
                <a:sym typeface="Lexend"/>
              </a:rPr>
              <a:t> cm</a:t>
            </a:r>
            <a:endParaRPr sz="1800">
              <a:latin typeface="Lexend"/>
              <a:ea typeface="Lexend"/>
              <a:cs typeface="Lexend"/>
              <a:sym typeface="Lexend"/>
            </a:endParaRPr>
          </a:p>
        </p:txBody>
      </p:sp>
      <p:sp>
        <p:nvSpPr>
          <p:cNvPr id="1135" name="Google Shape;1135;p76"/>
          <p:cNvSpPr/>
          <p:nvPr/>
        </p:nvSpPr>
        <p:spPr>
          <a:xfrm>
            <a:off x="5985250" y="3336259"/>
            <a:ext cx="664200" cy="33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opp</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136" name="Google Shape;1136;p76"/>
          <p:cNvSpPr/>
          <p:nvPr/>
        </p:nvSpPr>
        <p:spPr>
          <a:xfrm>
            <a:off x="7879825" y="3351000"/>
            <a:ext cx="577500" cy="33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adj</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137" name="Google Shape;1137;p76"/>
          <p:cNvSpPr txBox="1"/>
          <p:nvPr/>
        </p:nvSpPr>
        <p:spPr>
          <a:xfrm>
            <a:off x="3841625" y="4008600"/>
            <a:ext cx="46734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We want to find the value of </a:t>
            </a:r>
            <a:r>
              <a:rPr i="1" lang="en-GB" sz="2200">
                <a:solidFill>
                  <a:schemeClr val="dk1"/>
                </a:solidFill>
                <a:latin typeface="Times New Roman"/>
                <a:ea typeface="Times New Roman"/>
                <a:cs typeface="Times New Roman"/>
                <a:sym typeface="Times New Roman"/>
              </a:rPr>
              <a:t>p</a:t>
            </a:r>
            <a:r>
              <a:rPr lang="en-GB" sz="1800">
                <a:solidFill>
                  <a:schemeClr val="dk1"/>
                </a:solidFill>
                <a:latin typeface="Lexend"/>
                <a:ea typeface="Lexend"/>
                <a:cs typeface="Lexend"/>
                <a:sym typeface="Lexend"/>
              </a:rPr>
              <a:t>, the length of the side </a:t>
            </a:r>
            <a:r>
              <a:rPr lang="en-GB" sz="1800">
                <a:solidFill>
                  <a:schemeClr val="accent4"/>
                </a:solidFill>
                <a:latin typeface="Lexend"/>
                <a:ea typeface="Lexend"/>
                <a:cs typeface="Lexend"/>
                <a:sym typeface="Lexend"/>
              </a:rPr>
              <a:t>opposite </a:t>
            </a:r>
            <a:r>
              <a:rPr lang="en-GB" sz="1800">
                <a:solidFill>
                  <a:schemeClr val="dk1"/>
                </a:solidFill>
                <a:latin typeface="Lexend"/>
                <a:ea typeface="Lexend"/>
                <a:cs typeface="Lexend"/>
                <a:sym typeface="Lexend"/>
              </a:rPr>
              <a:t>to an angle of 55°.</a:t>
            </a:r>
            <a:endParaRPr sz="1800">
              <a:latin typeface="Lexend"/>
              <a:ea typeface="Lexend"/>
              <a:cs typeface="Lexend"/>
              <a:sym typeface="Lexend"/>
            </a:endParaRPr>
          </a:p>
        </p:txBody>
      </p:sp>
      <p:sp>
        <p:nvSpPr>
          <p:cNvPr id="1138" name="Google Shape;1138;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139" name="Google Shape;1139;p76" title="opp over a equals tangent theta degrees opp over tangent theta degrees equals a a times tangent theta degrees equals opp"/>
          <p:cNvPicPr preferRelativeResize="0"/>
          <p:nvPr/>
        </p:nvPicPr>
        <p:blipFill rotWithShape="1">
          <a:blip r:embed="rId3">
            <a:alphaModFix/>
          </a:blip>
          <a:srcRect b="0" l="0" r="69881" t="0"/>
          <a:stretch/>
        </p:blipFill>
        <p:spPr>
          <a:xfrm>
            <a:off x="1373293" y="2746275"/>
            <a:ext cx="1573401" cy="5400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140" name="Google Shape;1140;p76" title="opp over a equals tangent theta degrees opp over tangent theta degrees equals a a times tangent theta degrees equals opp"/>
          <p:cNvPicPr preferRelativeResize="0"/>
          <p:nvPr/>
        </p:nvPicPr>
        <p:blipFill rotWithShape="1">
          <a:blip r:embed="rId3">
            <a:alphaModFix/>
          </a:blip>
          <a:srcRect b="0" l="34357" r="39868" t="0"/>
          <a:stretch/>
        </p:blipFill>
        <p:spPr>
          <a:xfrm>
            <a:off x="1287428" y="3510000"/>
            <a:ext cx="1346474" cy="5400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141" name="Google Shape;1141;p76" title="opp over a equals tangent theta degrees opp over tangent theta degrees equals a a times tangent theta degrees equals opp"/>
          <p:cNvPicPr preferRelativeResize="0"/>
          <p:nvPr/>
        </p:nvPicPr>
        <p:blipFill rotWithShape="1">
          <a:blip r:embed="rId3">
            <a:alphaModFix/>
          </a:blip>
          <a:srcRect b="0" l="63933" r="-985" t="0"/>
          <a:stretch/>
        </p:blipFill>
        <p:spPr>
          <a:xfrm>
            <a:off x="855467" y="1946779"/>
            <a:ext cx="1935627" cy="540000"/>
          </a:xfrm>
          <a:prstGeom prst="rect">
            <a:avLst/>
          </a:prstGeom>
          <a:noFill/>
          <a:ln>
            <a:noFill/>
          </a:ln>
        </p:spPr>
      </p:pic>
      <p:sp>
        <p:nvSpPr>
          <p:cNvPr id="1142" name="Google Shape;1142;p76"/>
          <p:cNvSpPr/>
          <p:nvPr/>
        </p:nvSpPr>
        <p:spPr>
          <a:xfrm>
            <a:off x="1189900" y="2491150"/>
            <a:ext cx="2362800" cy="2171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3" name="Google Shape;1143;p76"/>
          <p:cNvSpPr txBox="1"/>
          <p:nvPr/>
        </p:nvSpPr>
        <p:spPr>
          <a:xfrm>
            <a:off x="720200" y="2652050"/>
            <a:ext cx="1935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2000">
                <a:latin typeface="Times New Roman"/>
                <a:ea typeface="Times New Roman"/>
                <a:cs typeface="Times New Roman"/>
                <a:sym typeface="Times New Roman"/>
              </a:rPr>
              <a:t>85 × tan(55°) = </a:t>
            </a:r>
            <a:r>
              <a:rPr i="1" lang="en-GB" sz="2000">
                <a:latin typeface="Times New Roman"/>
                <a:ea typeface="Times New Roman"/>
                <a:cs typeface="Times New Roman"/>
                <a:sym typeface="Times New Roman"/>
              </a:rPr>
              <a:t>p</a:t>
            </a:r>
            <a:endParaRPr i="1" sz="2000">
              <a:latin typeface="Times New Roman"/>
              <a:ea typeface="Times New Roman"/>
              <a:cs typeface="Times New Roman"/>
              <a:sym typeface="Times New Roman"/>
            </a:endParaRPr>
          </a:p>
        </p:txBody>
      </p:sp>
      <p:sp>
        <p:nvSpPr>
          <p:cNvPr id="1144" name="Google Shape;1144;p76"/>
          <p:cNvSpPr txBox="1"/>
          <p:nvPr/>
        </p:nvSpPr>
        <p:spPr>
          <a:xfrm>
            <a:off x="1949341" y="3111700"/>
            <a:ext cx="2409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i="1" lang="en-GB" sz="2000">
                <a:solidFill>
                  <a:schemeClr val="dk1"/>
                </a:solidFill>
                <a:latin typeface="Times New Roman"/>
                <a:ea typeface="Times New Roman"/>
                <a:cs typeface="Times New Roman"/>
                <a:sym typeface="Times New Roman"/>
              </a:rPr>
              <a:t>p</a:t>
            </a:r>
            <a:r>
              <a:rPr lang="en-GB" sz="2000">
                <a:solidFill>
                  <a:schemeClr val="dk1"/>
                </a:solidFill>
                <a:latin typeface="Times New Roman"/>
                <a:ea typeface="Times New Roman"/>
                <a:cs typeface="Times New Roman"/>
                <a:sym typeface="Times New Roman"/>
              </a:rPr>
              <a:t> = 121.39 (2 d.p.)</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77"/>
          <p:cNvSpPr/>
          <p:nvPr/>
        </p:nvSpPr>
        <p:spPr>
          <a:xfrm flipH="1" rot="-9493624">
            <a:off x="5514816" y="2838396"/>
            <a:ext cx="2354357" cy="972338"/>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0" name="Google Shape;1150;p77"/>
          <p:cNvSpPr/>
          <p:nvPr/>
        </p:nvSpPr>
        <p:spPr>
          <a:xfrm flipH="1">
            <a:off x="6896428" y="2283051"/>
            <a:ext cx="2067600" cy="2074500"/>
          </a:xfrm>
          <a:prstGeom prst="arc">
            <a:avLst>
              <a:gd fmla="val 20215124" name="adj1"/>
              <a:gd fmla="val 0" name="adj2"/>
            </a:avLst>
          </a:prstGeom>
          <a:no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51" name="Google Shape;1151;p77"/>
          <p:cNvCxnSpPr/>
          <p:nvPr/>
        </p:nvCxnSpPr>
        <p:spPr>
          <a:xfrm rot="6706115">
            <a:off x="5004953" y="2845035"/>
            <a:ext cx="972338" cy="0"/>
          </a:xfrm>
          <a:prstGeom prst="straightConnector1">
            <a:avLst/>
          </a:prstGeom>
          <a:noFill/>
          <a:ln cap="flat" cmpd="sng" w="28575">
            <a:solidFill>
              <a:schemeClr val="accent4"/>
            </a:solidFill>
            <a:prstDash val="solid"/>
            <a:round/>
            <a:headEnd len="med" w="med" type="triangle"/>
            <a:tailEnd len="med" w="med" type="triangle"/>
          </a:ln>
        </p:spPr>
      </p:cxnSp>
      <p:cxnSp>
        <p:nvCxnSpPr>
          <p:cNvPr id="1152" name="Google Shape;1152;p77"/>
          <p:cNvCxnSpPr/>
          <p:nvPr/>
        </p:nvCxnSpPr>
        <p:spPr>
          <a:xfrm>
            <a:off x="5808891" y="2300250"/>
            <a:ext cx="2212500" cy="873600"/>
          </a:xfrm>
          <a:prstGeom prst="straightConnector1">
            <a:avLst/>
          </a:prstGeom>
          <a:noFill/>
          <a:ln cap="flat" cmpd="sng" w="28575">
            <a:solidFill>
              <a:schemeClr val="accent4"/>
            </a:solidFill>
            <a:prstDash val="solid"/>
            <a:round/>
            <a:headEnd len="med" w="med" type="triangle"/>
            <a:tailEnd len="med" w="med" type="triangle"/>
          </a:ln>
        </p:spPr>
      </p:cxnSp>
      <p:sp>
        <p:nvSpPr>
          <p:cNvPr id="1153" name="Google Shape;1153;p77"/>
          <p:cNvSpPr/>
          <p:nvPr/>
        </p:nvSpPr>
        <p:spPr>
          <a:xfrm flipH="1" rot="6710224">
            <a:off x="5738685" y="2464992"/>
            <a:ext cx="179047" cy="17999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4" name="Google Shape;1154;p77"/>
          <p:cNvSpPr txBox="1"/>
          <p:nvPr/>
        </p:nvSpPr>
        <p:spPr>
          <a:xfrm>
            <a:off x="4731362" y="2589971"/>
            <a:ext cx="9078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solidFill>
                  <a:schemeClr val="dk1"/>
                </a:solidFill>
                <a:latin typeface="Lexend"/>
                <a:ea typeface="Lexend"/>
                <a:cs typeface="Lexend"/>
                <a:sym typeface="Lexend"/>
              </a:rPr>
              <a:t>34</a:t>
            </a:r>
            <a:r>
              <a:rPr lang="en-GB" sz="1800">
                <a:solidFill>
                  <a:srgbClr val="000000"/>
                </a:solidFill>
                <a:latin typeface="Lexend"/>
                <a:ea typeface="Lexend"/>
                <a:cs typeface="Lexend"/>
                <a:sym typeface="Lexend"/>
              </a:rPr>
              <a:t> m</a:t>
            </a:r>
            <a:endParaRPr sz="1800">
              <a:solidFill>
                <a:srgbClr val="000000"/>
              </a:solidFill>
              <a:latin typeface="Lexend"/>
              <a:ea typeface="Lexend"/>
              <a:cs typeface="Lexend"/>
              <a:sym typeface="Lexend"/>
            </a:endParaRPr>
          </a:p>
        </p:txBody>
      </p:sp>
      <p:sp>
        <p:nvSpPr>
          <p:cNvPr id="1155" name="Google Shape;1155;p77"/>
          <p:cNvSpPr txBox="1"/>
          <p:nvPr/>
        </p:nvSpPr>
        <p:spPr>
          <a:xfrm flipH="1">
            <a:off x="6971000" y="3032850"/>
            <a:ext cx="402900" cy="2430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156" name="Google Shape;1156;p77"/>
          <p:cNvSpPr txBox="1"/>
          <p:nvPr/>
        </p:nvSpPr>
        <p:spPr>
          <a:xfrm>
            <a:off x="6606661" y="2301099"/>
            <a:ext cx="8646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i="1" lang="en-GB" sz="2200">
                <a:solidFill>
                  <a:schemeClr val="dk1"/>
                </a:solidFill>
                <a:latin typeface="Times New Roman"/>
                <a:ea typeface="Times New Roman"/>
                <a:cs typeface="Times New Roman"/>
                <a:sym typeface="Times New Roman"/>
              </a:rPr>
              <a:t>q</a:t>
            </a:r>
            <a:r>
              <a:rPr lang="en-GB" sz="1800">
                <a:solidFill>
                  <a:srgbClr val="000000"/>
                </a:solidFill>
                <a:latin typeface="Lexend"/>
                <a:ea typeface="Lexend"/>
                <a:cs typeface="Lexend"/>
                <a:sym typeface="Lexend"/>
              </a:rPr>
              <a:t> m</a:t>
            </a:r>
            <a:endParaRPr sz="1800">
              <a:solidFill>
                <a:srgbClr val="000000"/>
              </a:solidFill>
              <a:latin typeface="Lexend"/>
              <a:ea typeface="Lexend"/>
              <a:cs typeface="Lexend"/>
              <a:sym typeface="Lexend"/>
            </a:endParaRPr>
          </a:p>
        </p:txBody>
      </p:sp>
      <p:grpSp>
        <p:nvGrpSpPr>
          <p:cNvPr id="1157" name="Google Shape;1157;p77"/>
          <p:cNvGrpSpPr/>
          <p:nvPr/>
        </p:nvGrpSpPr>
        <p:grpSpPr>
          <a:xfrm>
            <a:off x="462355" y="2081158"/>
            <a:ext cx="243093" cy="243093"/>
            <a:chOff x="1020916" y="1442088"/>
            <a:chExt cx="457200" cy="457200"/>
          </a:xfrm>
        </p:grpSpPr>
        <p:pic>
          <p:nvPicPr>
            <p:cNvPr id="1158" name="Google Shape;1158;p7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59" name="Google Shape;1159;p7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60" name="Google Shape;1160;p77"/>
          <p:cNvGrpSpPr/>
          <p:nvPr/>
        </p:nvGrpSpPr>
        <p:grpSpPr>
          <a:xfrm>
            <a:off x="462355" y="2973133"/>
            <a:ext cx="243093" cy="243093"/>
            <a:chOff x="1020916" y="1442088"/>
            <a:chExt cx="457200" cy="457200"/>
          </a:xfrm>
        </p:grpSpPr>
        <p:pic>
          <p:nvPicPr>
            <p:cNvPr id="1161" name="Google Shape;1161;p7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62" name="Google Shape;1162;p7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163" name="Google Shape;1163;p77"/>
          <p:cNvPicPr preferRelativeResize="0"/>
          <p:nvPr/>
        </p:nvPicPr>
        <p:blipFill>
          <a:blip r:embed="rId4">
            <a:alphaModFix/>
          </a:blip>
          <a:stretch>
            <a:fillRect/>
          </a:stretch>
        </p:blipFill>
        <p:spPr>
          <a:xfrm>
            <a:off x="2198583" y="2885125"/>
            <a:ext cx="396000" cy="419100"/>
          </a:xfrm>
          <a:prstGeom prst="rect">
            <a:avLst/>
          </a:prstGeom>
          <a:noFill/>
          <a:ln>
            <a:noFill/>
          </a:ln>
        </p:spPr>
      </p:pic>
      <p:grpSp>
        <p:nvGrpSpPr>
          <p:cNvPr id="1164" name="Google Shape;1164;p77"/>
          <p:cNvGrpSpPr/>
          <p:nvPr/>
        </p:nvGrpSpPr>
        <p:grpSpPr>
          <a:xfrm>
            <a:off x="462355" y="3858708"/>
            <a:ext cx="243093" cy="243093"/>
            <a:chOff x="1020916" y="1442088"/>
            <a:chExt cx="457200" cy="457200"/>
          </a:xfrm>
        </p:grpSpPr>
        <p:pic>
          <p:nvPicPr>
            <p:cNvPr id="1165" name="Google Shape;1165;p7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166" name="Google Shape;1166;p7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167" name="Google Shape;1167;p77"/>
          <p:cNvSpPr txBox="1"/>
          <p:nvPr/>
        </p:nvSpPr>
        <p:spPr>
          <a:xfrm>
            <a:off x="324000" y="763000"/>
            <a:ext cx="84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equations helps find the value of </a:t>
            </a:r>
            <a:r>
              <a:rPr i="1" lang="en-GB" sz="2200">
                <a:latin typeface="Times New Roman"/>
                <a:ea typeface="Times New Roman"/>
                <a:cs typeface="Times New Roman"/>
                <a:sym typeface="Times New Roman"/>
              </a:rPr>
              <a:t>q</a:t>
            </a:r>
            <a:r>
              <a:rPr lang="en-GB" sz="1800">
                <a:latin typeface="Lexend"/>
                <a:ea typeface="Lexend"/>
                <a:cs typeface="Lexend"/>
                <a:sym typeface="Lexend"/>
              </a:rPr>
              <a:t> most efficiently?</a:t>
            </a:r>
            <a:endParaRPr sz="1800">
              <a:latin typeface="Lexend"/>
              <a:ea typeface="Lexend"/>
              <a:cs typeface="Lexend"/>
              <a:sym typeface="Lexend"/>
            </a:endParaRPr>
          </a:p>
        </p:txBody>
      </p:sp>
      <p:sp>
        <p:nvSpPr>
          <p:cNvPr id="1168" name="Google Shape;1168;p77"/>
          <p:cNvSpPr txBox="1"/>
          <p:nvPr/>
        </p:nvSpPr>
        <p:spPr>
          <a:xfrm>
            <a:off x="2781425" y="2882625"/>
            <a:ext cx="1866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i="1" lang="en-GB" sz="2200">
                <a:solidFill>
                  <a:schemeClr val="dk1"/>
                </a:solidFill>
                <a:latin typeface="Times New Roman"/>
                <a:ea typeface="Times New Roman"/>
                <a:cs typeface="Times New Roman"/>
                <a:sym typeface="Times New Roman"/>
              </a:rPr>
              <a:t>q</a:t>
            </a:r>
            <a:r>
              <a:rPr lang="en-GB" sz="1800">
                <a:latin typeface="Lexend"/>
                <a:ea typeface="Lexend"/>
                <a:cs typeface="Lexend"/>
                <a:sym typeface="Lexend"/>
              </a:rPr>
              <a:t> </a:t>
            </a:r>
            <a:r>
              <a:rPr lang="en-GB" sz="2000">
                <a:latin typeface="Kalam"/>
                <a:ea typeface="Kalam"/>
                <a:cs typeface="Kalam"/>
                <a:sym typeface="Kalam"/>
              </a:rPr>
              <a:t>= 48.56</a:t>
            </a:r>
            <a:endParaRPr sz="2000">
              <a:latin typeface="Kalam"/>
              <a:ea typeface="Kalam"/>
              <a:cs typeface="Kalam"/>
              <a:sym typeface="Kalam"/>
            </a:endParaRPr>
          </a:p>
        </p:txBody>
      </p:sp>
      <p:sp>
        <p:nvSpPr>
          <p:cNvPr id="1169" name="Google Shape;1169;p77"/>
          <p:cNvSpPr txBox="1"/>
          <p:nvPr/>
        </p:nvSpPr>
        <p:spPr>
          <a:xfrm>
            <a:off x="324000" y="1204225"/>
            <a:ext cx="84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Hence, find the length of the side labelled </a:t>
            </a:r>
            <a:r>
              <a:rPr i="1" lang="en-GB" sz="2200">
                <a:solidFill>
                  <a:schemeClr val="dk1"/>
                </a:solidFill>
                <a:latin typeface="Times New Roman"/>
                <a:ea typeface="Times New Roman"/>
                <a:cs typeface="Times New Roman"/>
                <a:sym typeface="Times New Roman"/>
              </a:rPr>
              <a:t>q</a:t>
            </a:r>
            <a:r>
              <a:rPr lang="en-GB" sz="1800">
                <a:latin typeface="Lexend"/>
                <a:ea typeface="Lexend"/>
                <a:cs typeface="Lexend"/>
                <a:sym typeface="Lexend"/>
              </a:rPr>
              <a:t> (2 d.p.)</a:t>
            </a:r>
            <a:endParaRPr sz="1800">
              <a:latin typeface="Lexend"/>
              <a:ea typeface="Lexend"/>
              <a:cs typeface="Lexend"/>
              <a:sym typeface="Lexend"/>
            </a:endParaRPr>
          </a:p>
        </p:txBody>
      </p:sp>
      <p:sp>
        <p:nvSpPr>
          <p:cNvPr id="1170" name="Google Shape;1170;p77"/>
          <p:cNvSpPr txBox="1"/>
          <p:nvPr/>
        </p:nvSpPr>
        <p:spPr>
          <a:xfrm>
            <a:off x="6118688" y="2112953"/>
            <a:ext cx="18669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48.56</a:t>
            </a:r>
            <a:r>
              <a:rPr lang="en-GB" sz="2000">
                <a:latin typeface="Kalam"/>
                <a:ea typeface="Kalam"/>
                <a:cs typeface="Kalam"/>
                <a:sym typeface="Kalam"/>
              </a:rPr>
              <a:t> m</a:t>
            </a:r>
            <a:endParaRPr sz="2000">
              <a:latin typeface="Kalam"/>
              <a:ea typeface="Kalam"/>
              <a:cs typeface="Kalam"/>
              <a:sym typeface="Kalam"/>
            </a:endParaRPr>
          </a:p>
        </p:txBody>
      </p:sp>
      <p:sp>
        <p:nvSpPr>
          <p:cNvPr id="1171" name="Google Shape;1171;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pic>
        <p:nvPicPr>
          <p:cNvPr descr="&lt;math xmlns=&quot;http://www.w3.org/1998/Math/MathML&quot; display=&quot;block&quot; data-is-equatio=&quot;1&quot; data-latex=&quot;\begin{array}{l}q\times\tan\left(35^{\circ}\right)=34\end{array}&quot;&gt;&lt;mtable columnalign=&quot;left&quot; columnspacing=&quot;1em&quot; rowspacing=&quot;4pt&quot;&gt;&lt;mtr&gt;&lt;mtd&gt;&lt;mi&gt;q&lt;/mi&gt;&lt;mo&gt;×&lt;/mo&gt;&lt;mi&gt;tan&lt;/mi&gt;&lt;mo data-mjx-texclass=&quot;NONE&quot;&gt;⁡&lt;/mo&gt;&lt;mrow data-mjx-texclass=&quot;INNER&quot;&gt;&lt;mo data-mjx-texclass=&quot;OPEN&quot;&gt;(&lt;/mo&gt;&lt;msup&gt;&lt;mn&gt;35&lt;/mn&gt;&lt;mrow data-mjx-texclass=&quot;ORD&quot;&gt;&lt;mo&gt;∘&lt;/mo&gt;&lt;/mrow&gt;&lt;/msup&gt;&lt;mo data-mjx-texclass=&quot;CLOSE&quot;&gt;)&lt;/mo&gt;&lt;/mrow&gt;&lt;mo&gt;=&lt;/mo&gt;&lt;mn&gt;34&lt;/mn&gt;&lt;/mtd&gt;&lt;/mtr&gt;&lt;/mtable&gt;&lt;/math&gt;" id="1172" name="Google Shape;1172;p77" title="1 lines Line 1: q times the tangent of open paren 35 degrees close paren equals 34"/>
          <p:cNvPicPr preferRelativeResize="0"/>
          <p:nvPr/>
        </p:nvPicPr>
        <p:blipFill>
          <a:blip r:embed="rId5">
            <a:alphaModFix/>
          </a:blip>
          <a:stretch>
            <a:fillRect/>
          </a:stretch>
        </p:blipFill>
        <p:spPr>
          <a:xfrm>
            <a:off x="818500" y="3870825"/>
            <a:ext cx="1732601" cy="218848"/>
          </a:xfrm>
          <a:prstGeom prst="rect">
            <a:avLst/>
          </a:prstGeom>
          <a:noFill/>
          <a:ln>
            <a:noFill/>
          </a:ln>
        </p:spPr>
      </p:pic>
      <p:pic>
        <p:nvPicPr>
          <p:cNvPr descr="&lt;math xmlns=&quot;http://www.w3.org/1998/Math/MathML&quot; display=&quot;block&quot; data-is-equatio=&quot;1&quot; data-latex=&quot;\begin{array}{l}\frac{34}{\tan\left(35^{\circ}\right)}=q\end{array}&quot;&gt;&lt;mtable columnalign=&quot;left&quot; columnspacing=&quot;1em&quot; rowspacing=&quot;4pt&quot;&gt;&lt;mtr&gt;&lt;mtd&gt;&lt;mfrac&gt;&lt;mn&gt;34&lt;/mn&gt;&lt;mrow&gt;&lt;mi&gt;tan&lt;/mi&gt;&lt;mo data-mjx-texclass=&quot;NONE&quot;&gt;⁡&lt;/mo&gt;&lt;mrow data-mjx-texclass=&quot;INNER&quot;&gt;&lt;mo data-mjx-texclass=&quot;OPEN&quot;&gt;(&lt;/mo&gt;&lt;msup&gt;&lt;mn&gt;35&lt;/mn&gt;&lt;mrow data-mjx-texclass=&quot;ORD&quot;&gt;&lt;mo&gt;∘&lt;/mo&gt;&lt;/mrow&gt;&lt;/msup&gt;&lt;mo data-mjx-texclass=&quot;CLOSE&quot;&gt;)&lt;/mo&gt;&lt;/mrow&gt;&lt;/mrow&gt;&lt;/mfrac&gt;&lt;mo&gt;=&lt;/mo&gt;&lt;mi&gt;q&lt;/mi&gt;&lt;/mtd&gt;&lt;/mtr&gt;&lt;/mtable&gt;&lt;/math&gt;" id="1173" name="Google Shape;1173;p77" title="1 lines Line 1: the fraction with numerator 34 and denominator the tangent of open paren 35 degrees close paren equals q"/>
          <p:cNvPicPr preferRelativeResize="0"/>
          <p:nvPr/>
        </p:nvPicPr>
        <p:blipFill>
          <a:blip r:embed="rId6">
            <a:alphaModFix/>
          </a:blip>
          <a:stretch>
            <a:fillRect/>
          </a:stretch>
        </p:blipFill>
        <p:spPr>
          <a:xfrm>
            <a:off x="750523" y="2845425"/>
            <a:ext cx="1403002" cy="492098"/>
          </a:xfrm>
          <a:prstGeom prst="rect">
            <a:avLst/>
          </a:prstGeom>
          <a:noFill/>
          <a:ln>
            <a:noFill/>
          </a:ln>
        </p:spPr>
      </p:pic>
      <p:pic>
        <p:nvPicPr>
          <p:cNvPr descr="&lt;math xmlns=&quot;http://www.w3.org/1998/Math/MathML&quot; display=&quot;block&quot; data-is-equatio=&quot;1&quot; data-latex=&quot;\tan\left(35^{\circ}\right)=\frac{34}{q}&quot;&gt;&lt;mi&gt;tan&lt;/mi&gt;&lt;mo data-mjx-texclass=&quot;NONE&quot;&gt;⁡&lt;/mo&gt;&lt;mrow data-mjx-texclass=&quot;INNER&quot;&gt;&lt;mo data-mjx-texclass=&quot;OPEN&quot;&gt;(&lt;/mo&gt;&lt;msup&gt;&lt;mn&gt;35&lt;/mn&gt;&lt;mrow data-mjx-texclass=&quot;ORD&quot;&gt;&lt;mo&gt;∘&lt;/mo&gt;&lt;/mrow&gt;&lt;/msup&gt;&lt;mo data-mjx-texclass=&quot;CLOSE&quot;&gt;)&lt;/mo&gt;&lt;/mrow&gt;&lt;mo&gt;=&lt;/mo&gt;&lt;mfrac&gt;&lt;mn&gt;34&lt;/mn&gt;&lt;mi&gt;q&lt;/mi&gt;&lt;/mfrac&gt;&lt;/math&gt;" id="1174" name="Google Shape;1174;p77" title="the tangent of open paren 35 degrees close paren equals 34 over q"/>
          <p:cNvPicPr preferRelativeResize="0"/>
          <p:nvPr/>
        </p:nvPicPr>
        <p:blipFill>
          <a:blip r:embed="rId7">
            <a:alphaModFix/>
          </a:blip>
          <a:stretch>
            <a:fillRect/>
          </a:stretch>
        </p:blipFill>
        <p:spPr>
          <a:xfrm>
            <a:off x="790750" y="1928638"/>
            <a:ext cx="1407834" cy="54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78"/>
          <p:cNvSpPr/>
          <p:nvPr/>
        </p:nvSpPr>
        <p:spPr>
          <a:xfrm>
            <a:off x="6555275" y="2563400"/>
            <a:ext cx="1178400" cy="11787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0" name="Google Shape;1180;p78"/>
          <p:cNvSpPr txBox="1"/>
          <p:nvPr/>
        </p:nvSpPr>
        <p:spPr>
          <a:xfrm>
            <a:off x="604099" y="3926425"/>
            <a:ext cx="11118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tan</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181" name="Google Shape;1181;p78"/>
          <p:cNvSpPr/>
          <p:nvPr/>
        </p:nvSpPr>
        <p:spPr>
          <a:xfrm>
            <a:off x="1005950" y="39401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82" name="Google Shape;1182;p78"/>
          <p:cNvSpPr txBox="1"/>
          <p:nvPr/>
        </p:nvSpPr>
        <p:spPr>
          <a:xfrm>
            <a:off x="324000" y="610600"/>
            <a:ext cx="84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Substitute the labelled sides and angle in each triangle into these two versions of the tangent formula.</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For each triangle, choose the most appropriate version of the tangent formula to find the length of its missing side.</a:t>
            </a:r>
            <a:endParaRPr sz="1800">
              <a:latin typeface="Lexend"/>
              <a:ea typeface="Lexend"/>
              <a:cs typeface="Lexend"/>
              <a:sym typeface="Lexend"/>
            </a:endParaRPr>
          </a:p>
        </p:txBody>
      </p:sp>
      <p:cxnSp>
        <p:nvCxnSpPr>
          <p:cNvPr id="1183" name="Google Shape;1183;p78"/>
          <p:cNvCxnSpPr>
            <a:stCxn id="1182" idx="2"/>
          </p:cNvCxnSpPr>
          <p:nvPr/>
        </p:nvCxnSpPr>
        <p:spPr>
          <a:xfrm>
            <a:off x="4572000" y="1718800"/>
            <a:ext cx="0" cy="3108300"/>
          </a:xfrm>
          <a:prstGeom prst="straightConnector1">
            <a:avLst/>
          </a:prstGeom>
          <a:noFill/>
          <a:ln cap="flat" cmpd="sng" w="38100">
            <a:solidFill>
              <a:schemeClr val="accent4"/>
            </a:solidFill>
            <a:prstDash val="solid"/>
            <a:round/>
            <a:headEnd len="med" w="med" type="none"/>
            <a:tailEnd len="med" w="med" type="none"/>
          </a:ln>
        </p:spPr>
      </p:cxnSp>
      <p:sp>
        <p:nvSpPr>
          <p:cNvPr id="1184" name="Google Shape;1184;p78"/>
          <p:cNvSpPr/>
          <p:nvPr/>
        </p:nvSpPr>
        <p:spPr>
          <a:xfrm>
            <a:off x="453075" y="22545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85" name="Google Shape;1185;p78"/>
          <p:cNvSpPr txBox="1"/>
          <p:nvPr/>
        </p:nvSpPr>
        <p:spPr>
          <a:xfrm>
            <a:off x="680299" y="22584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tan</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186" name="Google Shape;1186;p78"/>
          <p:cNvSpPr/>
          <p:nvPr/>
        </p:nvSpPr>
        <p:spPr>
          <a:xfrm>
            <a:off x="1684800"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87" name="Google Shape;1187;p78"/>
          <p:cNvSpPr/>
          <p:nvPr/>
        </p:nvSpPr>
        <p:spPr>
          <a:xfrm>
            <a:off x="2662467"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88" name="Google Shape;1188;p78"/>
          <p:cNvSpPr txBox="1"/>
          <p:nvPr/>
        </p:nvSpPr>
        <p:spPr>
          <a:xfrm>
            <a:off x="1777831" y="37509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189" name="Google Shape;1189;p78"/>
          <p:cNvCxnSpPr/>
          <p:nvPr/>
        </p:nvCxnSpPr>
        <p:spPr>
          <a:xfrm>
            <a:off x="619725" y="3926428"/>
            <a:ext cx="1055700" cy="0"/>
          </a:xfrm>
          <a:prstGeom prst="straightConnector1">
            <a:avLst/>
          </a:prstGeom>
          <a:noFill/>
          <a:ln cap="flat" cmpd="sng" w="19050">
            <a:solidFill>
              <a:schemeClr val="dk1"/>
            </a:solidFill>
            <a:prstDash val="solid"/>
            <a:round/>
            <a:headEnd len="med" w="med" type="none"/>
            <a:tailEnd len="med" w="med" type="none"/>
          </a:ln>
        </p:spPr>
      </p:cxnSp>
      <p:sp>
        <p:nvSpPr>
          <p:cNvPr id="1190" name="Google Shape;1190;p78"/>
          <p:cNvSpPr/>
          <p:nvPr/>
        </p:nvSpPr>
        <p:spPr>
          <a:xfrm>
            <a:off x="632150" y="35651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91" name="Google Shape;1191;p78"/>
          <p:cNvSpPr/>
          <p:nvPr/>
        </p:nvSpPr>
        <p:spPr>
          <a:xfrm>
            <a:off x="1958120" y="37464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92" name="Google Shape;1192;p78"/>
          <p:cNvSpPr/>
          <p:nvPr/>
        </p:nvSpPr>
        <p:spPr>
          <a:xfrm>
            <a:off x="5389770" y="39401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93" name="Google Shape;1193;p78"/>
          <p:cNvSpPr txBox="1"/>
          <p:nvPr/>
        </p:nvSpPr>
        <p:spPr>
          <a:xfrm>
            <a:off x="4987919" y="3926425"/>
            <a:ext cx="11118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tan</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194" name="Google Shape;1194;p78"/>
          <p:cNvSpPr/>
          <p:nvPr/>
        </p:nvSpPr>
        <p:spPr>
          <a:xfrm>
            <a:off x="4836895" y="22545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95" name="Google Shape;1195;p78"/>
          <p:cNvSpPr txBox="1"/>
          <p:nvPr/>
        </p:nvSpPr>
        <p:spPr>
          <a:xfrm>
            <a:off x="5064118" y="22584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tan</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196" name="Google Shape;1196;p78"/>
          <p:cNvSpPr/>
          <p:nvPr/>
        </p:nvSpPr>
        <p:spPr>
          <a:xfrm>
            <a:off x="6068620"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97" name="Google Shape;1197;p78"/>
          <p:cNvSpPr/>
          <p:nvPr/>
        </p:nvSpPr>
        <p:spPr>
          <a:xfrm>
            <a:off x="7046287"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98" name="Google Shape;1198;p78"/>
          <p:cNvSpPr txBox="1"/>
          <p:nvPr/>
        </p:nvSpPr>
        <p:spPr>
          <a:xfrm>
            <a:off x="6161650" y="37509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199" name="Google Shape;1199;p78"/>
          <p:cNvCxnSpPr/>
          <p:nvPr/>
        </p:nvCxnSpPr>
        <p:spPr>
          <a:xfrm>
            <a:off x="5003545" y="3926428"/>
            <a:ext cx="1055700" cy="0"/>
          </a:xfrm>
          <a:prstGeom prst="straightConnector1">
            <a:avLst/>
          </a:prstGeom>
          <a:noFill/>
          <a:ln cap="flat" cmpd="sng" w="19050">
            <a:solidFill>
              <a:schemeClr val="dk1"/>
            </a:solidFill>
            <a:prstDash val="solid"/>
            <a:round/>
            <a:headEnd len="med" w="med" type="none"/>
            <a:tailEnd len="med" w="med" type="none"/>
          </a:ln>
        </p:spPr>
      </p:cxnSp>
      <p:sp>
        <p:nvSpPr>
          <p:cNvPr id="1200" name="Google Shape;1200;p78"/>
          <p:cNvSpPr/>
          <p:nvPr/>
        </p:nvSpPr>
        <p:spPr>
          <a:xfrm>
            <a:off x="5015970" y="35651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01" name="Google Shape;1201;p78"/>
          <p:cNvSpPr/>
          <p:nvPr/>
        </p:nvSpPr>
        <p:spPr>
          <a:xfrm>
            <a:off x="6341939" y="37464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02" name="Google Shape;1202;p78"/>
          <p:cNvSpPr/>
          <p:nvPr/>
        </p:nvSpPr>
        <p:spPr>
          <a:xfrm rot="2367420">
            <a:off x="7907425" y="3668520"/>
            <a:ext cx="151534" cy="15153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3" name="Google Shape;1203;p78"/>
          <p:cNvSpPr txBox="1"/>
          <p:nvPr/>
        </p:nvSpPr>
        <p:spPr>
          <a:xfrm>
            <a:off x="6984166" y="3602683"/>
            <a:ext cx="639600" cy="1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2 cm</a:t>
            </a:r>
            <a:endParaRPr sz="1800">
              <a:latin typeface="Lexend"/>
              <a:ea typeface="Lexend"/>
              <a:cs typeface="Lexend"/>
              <a:sym typeface="Lexend"/>
            </a:endParaRPr>
          </a:p>
        </p:txBody>
      </p:sp>
      <p:sp>
        <p:nvSpPr>
          <p:cNvPr id="1204" name="Google Shape;1204;p78"/>
          <p:cNvSpPr txBox="1"/>
          <p:nvPr/>
        </p:nvSpPr>
        <p:spPr>
          <a:xfrm flipH="1">
            <a:off x="7293405" y="3149550"/>
            <a:ext cx="4557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205" name="Google Shape;1205;p78"/>
          <p:cNvSpPr txBox="1"/>
          <p:nvPr/>
        </p:nvSpPr>
        <p:spPr>
          <a:xfrm>
            <a:off x="8252362" y="3636321"/>
            <a:ext cx="6396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206" name="Google Shape;1206;p78"/>
          <p:cNvSpPr/>
          <p:nvPr/>
        </p:nvSpPr>
        <p:spPr>
          <a:xfrm flipH="1">
            <a:off x="2709933" y="4066835"/>
            <a:ext cx="913200" cy="913200"/>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7" name="Google Shape;1207;p78"/>
          <p:cNvSpPr/>
          <p:nvPr/>
        </p:nvSpPr>
        <p:spPr>
          <a:xfrm flipH="1">
            <a:off x="3897003" y="4362821"/>
            <a:ext cx="159900" cy="15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8" name="Google Shape;1208;p78"/>
          <p:cNvSpPr txBox="1"/>
          <p:nvPr/>
        </p:nvSpPr>
        <p:spPr>
          <a:xfrm flipH="1">
            <a:off x="3278864" y="4629053"/>
            <a:ext cx="6630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grpSp>
        <p:nvGrpSpPr>
          <p:cNvPr id="1209" name="Google Shape;1209;p78"/>
          <p:cNvGrpSpPr/>
          <p:nvPr/>
        </p:nvGrpSpPr>
        <p:grpSpPr>
          <a:xfrm>
            <a:off x="3162383" y="2858375"/>
            <a:ext cx="984817" cy="1756176"/>
            <a:chOff x="-2022025" y="1451078"/>
            <a:chExt cx="1057011" cy="1764646"/>
          </a:xfrm>
        </p:grpSpPr>
        <p:sp>
          <p:nvSpPr>
            <p:cNvPr id="1210" name="Google Shape;1210;p7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1" name="Google Shape;1211;p78"/>
            <p:cNvCxnSpPr/>
            <p:nvPr/>
          </p:nvCxnSpPr>
          <p:spPr>
            <a:xfrm>
              <a:off x="-965014" y="1451078"/>
              <a:ext cx="0" cy="1681800"/>
            </a:xfrm>
            <a:prstGeom prst="straightConnector1">
              <a:avLst/>
            </a:prstGeom>
            <a:noFill/>
            <a:ln cap="flat" cmpd="sng" w="28575">
              <a:solidFill>
                <a:srgbClr val="845AD9"/>
              </a:solidFill>
              <a:prstDash val="solid"/>
              <a:round/>
              <a:headEnd len="med" w="med" type="triangle"/>
              <a:tailEnd len="med" w="med" type="triangle"/>
            </a:ln>
          </p:spPr>
        </p:cxnSp>
        <p:cxnSp>
          <p:nvCxnSpPr>
            <p:cNvPr id="1212" name="Google Shape;1212;p78"/>
            <p:cNvCxnSpPr/>
            <p:nvPr/>
          </p:nvCxnSpPr>
          <p:spPr>
            <a:xfrm rot="10800000">
              <a:off x="-2022025" y="3215724"/>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213" name="Google Shape;1213;p78"/>
          <p:cNvSpPr txBox="1"/>
          <p:nvPr/>
        </p:nvSpPr>
        <p:spPr>
          <a:xfrm flipH="1">
            <a:off x="3236918" y="4343274"/>
            <a:ext cx="3855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1</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214" name="Google Shape;1214;p78"/>
          <p:cNvSpPr txBox="1"/>
          <p:nvPr/>
        </p:nvSpPr>
        <p:spPr>
          <a:xfrm flipH="1" rot="5400654">
            <a:off x="3505025" y="3631499"/>
            <a:ext cx="15768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119</a:t>
            </a:r>
            <a:r>
              <a:rPr lang="en-GB" sz="1800">
                <a:latin typeface="Lexend"/>
                <a:ea typeface="Lexend"/>
                <a:cs typeface="Lexend"/>
                <a:sym typeface="Lexend"/>
              </a:rPr>
              <a:t> cm</a:t>
            </a:r>
            <a:endParaRPr sz="1800">
              <a:latin typeface="Lexend"/>
              <a:ea typeface="Lexend"/>
              <a:cs typeface="Lexend"/>
              <a:sym typeface="Lexend"/>
            </a:endParaRPr>
          </a:p>
        </p:txBody>
      </p:sp>
      <p:grpSp>
        <p:nvGrpSpPr>
          <p:cNvPr id="1215" name="Google Shape;1215;p78"/>
          <p:cNvGrpSpPr/>
          <p:nvPr/>
        </p:nvGrpSpPr>
        <p:grpSpPr>
          <a:xfrm rot="2367305">
            <a:off x="7030645" y="2718425"/>
            <a:ext cx="1698050" cy="1663977"/>
            <a:chOff x="-2039087" y="1455875"/>
            <a:chExt cx="1472322" cy="2799316"/>
          </a:xfrm>
        </p:grpSpPr>
        <p:sp>
          <p:nvSpPr>
            <p:cNvPr id="1216" name="Google Shape;1216;p7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7" name="Google Shape;1217;p78"/>
            <p:cNvCxnSpPr/>
            <p:nvPr/>
          </p:nvCxnSpPr>
          <p:spPr>
            <a:xfrm rot="7323329">
              <a:off x="-2097501" y="2821515"/>
              <a:ext cx="1090929" cy="1011552"/>
            </a:xfrm>
            <a:prstGeom prst="straightConnector1">
              <a:avLst/>
            </a:prstGeom>
            <a:noFill/>
            <a:ln cap="flat" cmpd="sng" w="28575">
              <a:solidFill>
                <a:srgbClr val="845AD9"/>
              </a:solidFill>
              <a:prstDash val="solid"/>
              <a:round/>
              <a:headEnd len="med" w="med" type="triangle"/>
              <a:tailEnd len="med" w="med" type="triangle"/>
            </a:ln>
          </p:spPr>
        </p:cxnSp>
        <p:cxnSp>
          <p:nvCxnSpPr>
            <p:cNvPr id="1218" name="Google Shape;1218;p78"/>
            <p:cNvCxnSpPr/>
            <p:nvPr/>
          </p:nvCxnSpPr>
          <p:spPr>
            <a:xfrm flipH="1" rot="7322798">
              <a:off x="-1386032" y="1763572"/>
              <a:ext cx="794935" cy="1080253"/>
            </a:xfrm>
            <a:prstGeom prst="straightConnector1">
              <a:avLst/>
            </a:prstGeom>
            <a:noFill/>
            <a:ln cap="flat" cmpd="sng" w="28575">
              <a:solidFill>
                <a:srgbClr val="845AD9"/>
              </a:solidFill>
              <a:prstDash val="solid"/>
              <a:round/>
              <a:headEnd len="med" w="med" type="triangle"/>
              <a:tailEnd len="med" w="med" type="triangle"/>
            </a:ln>
          </p:spPr>
        </p:cxnSp>
      </p:grpSp>
      <p:sp>
        <p:nvSpPr>
          <p:cNvPr id="1219" name="Google Shape;1219;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tangent formula</a:t>
            </a:r>
            <a:endParaRPr/>
          </a:p>
        </p:txBody>
      </p:sp>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220" name="Google Shape;1220;p78" title="opp over a equals tangent theta degrees opp over tangent theta degrees equals a a times tangent theta degrees equals opp"/>
          <p:cNvPicPr preferRelativeResize="0"/>
          <p:nvPr/>
        </p:nvPicPr>
        <p:blipFill rotWithShape="1">
          <a:blip r:embed="rId3">
            <a:alphaModFix/>
          </a:blip>
          <a:srcRect b="0" l="63933" r="-985" t="0"/>
          <a:stretch/>
        </p:blipFill>
        <p:spPr>
          <a:xfrm>
            <a:off x="855475" y="1772800"/>
            <a:ext cx="2012960" cy="561575"/>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221" name="Google Shape;1221;p78" title="opp over a equals tangent theta degrees opp over tangent theta degrees equals a a times tangent theta degrees equals opp"/>
          <p:cNvPicPr preferRelativeResize="0"/>
          <p:nvPr/>
        </p:nvPicPr>
        <p:blipFill rotWithShape="1">
          <a:blip r:embed="rId3">
            <a:alphaModFix/>
          </a:blip>
          <a:srcRect b="0" l="63933" r="-985" t="0"/>
          <a:stretch/>
        </p:blipFill>
        <p:spPr>
          <a:xfrm>
            <a:off x="5195400" y="1762837"/>
            <a:ext cx="2012960" cy="561575"/>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222" name="Google Shape;1222;p78" title="opp over a equals tangent theta degrees opp over tangent theta degrees equals a a times tangent theta degrees equals opp"/>
          <p:cNvPicPr preferRelativeResize="0"/>
          <p:nvPr/>
        </p:nvPicPr>
        <p:blipFill rotWithShape="1">
          <a:blip r:embed="rId3">
            <a:alphaModFix/>
          </a:blip>
          <a:srcRect b="0" l="33741" r="39497" t="0"/>
          <a:stretch/>
        </p:blipFill>
        <p:spPr>
          <a:xfrm>
            <a:off x="1079700" y="2876750"/>
            <a:ext cx="1453825" cy="561575"/>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223" name="Google Shape;1223;p78" title="opp over a equals tangent theta degrees opp over tangent theta degrees equals a a times tangent theta degrees equals opp"/>
          <p:cNvPicPr preferRelativeResize="0"/>
          <p:nvPr/>
        </p:nvPicPr>
        <p:blipFill rotWithShape="1">
          <a:blip r:embed="rId3">
            <a:alphaModFix/>
          </a:blip>
          <a:srcRect b="0" l="33741" r="39497" t="0"/>
          <a:stretch/>
        </p:blipFill>
        <p:spPr>
          <a:xfrm>
            <a:off x="5325350" y="2876750"/>
            <a:ext cx="1453825" cy="561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79"/>
          <p:cNvSpPr/>
          <p:nvPr/>
        </p:nvSpPr>
        <p:spPr>
          <a:xfrm flipH="1">
            <a:off x="3459574" y="1468475"/>
            <a:ext cx="1013100" cy="1013700"/>
          </a:xfrm>
          <a:prstGeom prst="arc">
            <a:avLst>
              <a:gd fmla="val 5344843" name="adj1"/>
              <a:gd fmla="val 8988316"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29" name="Google Shape;1229;p79"/>
          <p:cNvGrpSpPr/>
          <p:nvPr/>
        </p:nvGrpSpPr>
        <p:grpSpPr>
          <a:xfrm rot="5400000">
            <a:off x="4198928" y="1620997"/>
            <a:ext cx="1080944" cy="1770300"/>
            <a:chOff x="-2024050" y="1455875"/>
            <a:chExt cx="1080944" cy="1770300"/>
          </a:xfrm>
        </p:grpSpPr>
        <p:sp>
          <p:nvSpPr>
            <p:cNvPr id="1230" name="Google Shape;1230;p7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31" name="Google Shape;1231;p79"/>
            <p:cNvCxnSpPr/>
            <p:nvPr/>
          </p:nvCxnSpPr>
          <p:spPr>
            <a:xfrm rot="10800000">
              <a:off x="-1539550" y="2741675"/>
              <a:ext cx="0" cy="969000"/>
            </a:xfrm>
            <a:prstGeom prst="straightConnector1">
              <a:avLst/>
            </a:prstGeom>
            <a:noFill/>
            <a:ln cap="flat" cmpd="sng" w="28575">
              <a:solidFill>
                <a:srgbClr val="845AD9"/>
              </a:solidFill>
              <a:prstDash val="solid"/>
              <a:round/>
              <a:headEnd len="med" w="med" type="triangle"/>
              <a:tailEnd len="med" w="med" type="triangle"/>
            </a:ln>
          </p:spPr>
        </p:cxnSp>
        <p:cxnSp>
          <p:nvCxnSpPr>
            <p:cNvPr id="1232" name="Google Shape;1232;p79"/>
            <p:cNvCxnSpPr/>
            <p:nvPr/>
          </p:nvCxnSpPr>
          <p:spPr>
            <a:xfrm rot="-5400000">
              <a:off x="-1777257" y="2290025"/>
              <a:ext cx="1668300" cy="0"/>
            </a:xfrm>
            <a:prstGeom prst="straightConnector1">
              <a:avLst/>
            </a:prstGeom>
            <a:noFill/>
            <a:ln cap="flat" cmpd="sng" w="28575">
              <a:solidFill>
                <a:srgbClr val="845AD9"/>
              </a:solidFill>
              <a:prstDash val="solid"/>
              <a:round/>
              <a:headEnd len="med" w="med" type="triangle"/>
              <a:tailEnd len="med" w="med" type="triangle"/>
            </a:ln>
          </p:spPr>
        </p:cxnSp>
      </p:grpSp>
      <p:sp>
        <p:nvSpPr>
          <p:cNvPr id="1233" name="Google Shape;1233;p79"/>
          <p:cNvSpPr/>
          <p:nvPr/>
        </p:nvSpPr>
        <p:spPr>
          <a:xfrm flipH="1">
            <a:off x="2058075" y="2215650"/>
            <a:ext cx="1406100" cy="14067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4" name="Google Shape;1234;p79"/>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 Match the triangle to the equation showing the relationship between its adjacent and the opposite side.</a:t>
            </a:r>
            <a:endParaRPr sz="1800">
              <a:latin typeface="Lexend"/>
              <a:ea typeface="Lexend"/>
              <a:cs typeface="Lexend"/>
              <a:sym typeface="Lexend"/>
            </a:endParaRPr>
          </a:p>
        </p:txBody>
      </p:sp>
      <p:sp>
        <p:nvSpPr>
          <p:cNvPr id="1235" name="Google Shape;1235;p79"/>
          <p:cNvSpPr/>
          <p:nvPr/>
        </p:nvSpPr>
        <p:spPr>
          <a:xfrm rot="5400000">
            <a:off x="111930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36" name="Google Shape;1236;p79"/>
          <p:cNvGrpSpPr/>
          <p:nvPr/>
        </p:nvGrpSpPr>
        <p:grpSpPr>
          <a:xfrm rot="5400000">
            <a:off x="1362291" y="1606691"/>
            <a:ext cx="1069500" cy="1791518"/>
            <a:chOff x="-2022025" y="1450675"/>
            <a:chExt cx="1069500" cy="1791518"/>
          </a:xfrm>
        </p:grpSpPr>
        <p:sp>
          <p:nvSpPr>
            <p:cNvPr id="1237" name="Google Shape;1237;p7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38" name="Google Shape;1238;p79"/>
            <p:cNvCxnSpPr/>
            <p:nvPr/>
          </p:nvCxnSpPr>
          <p:spPr>
            <a:xfrm rot="5400000">
              <a:off x="-1792825" y="2290975"/>
              <a:ext cx="1680600" cy="0"/>
            </a:xfrm>
            <a:prstGeom prst="straightConnector1">
              <a:avLst/>
            </a:prstGeom>
            <a:noFill/>
            <a:ln cap="flat" cmpd="sng" w="28575">
              <a:solidFill>
                <a:srgbClr val="845AD9"/>
              </a:solidFill>
              <a:prstDash val="solid"/>
              <a:round/>
              <a:headEnd len="med" w="med" type="triangle"/>
              <a:tailEnd len="med" w="med" type="triangle"/>
            </a:ln>
          </p:spPr>
        </p:cxnSp>
        <p:cxnSp>
          <p:nvCxnSpPr>
            <p:cNvPr id="1239" name="Google Shape;1239;p79"/>
            <p:cNvCxnSpPr/>
            <p:nvPr/>
          </p:nvCxnSpPr>
          <p:spPr>
            <a:xfrm>
              <a:off x="-1541575" y="2761743"/>
              <a:ext cx="0" cy="960900"/>
            </a:xfrm>
            <a:prstGeom prst="straightConnector1">
              <a:avLst/>
            </a:prstGeom>
            <a:noFill/>
            <a:ln cap="flat" cmpd="sng" w="28575">
              <a:solidFill>
                <a:srgbClr val="845AD9"/>
              </a:solidFill>
              <a:prstDash val="solid"/>
              <a:round/>
              <a:headEnd len="med" w="med" type="triangle"/>
              <a:tailEnd len="med" w="med" type="triangle"/>
            </a:ln>
          </p:spPr>
        </p:cxnSp>
      </p:grpSp>
      <p:sp>
        <p:nvSpPr>
          <p:cNvPr id="1240" name="Google Shape;1240;p79"/>
          <p:cNvSpPr txBox="1"/>
          <p:nvPr/>
        </p:nvSpPr>
        <p:spPr>
          <a:xfrm>
            <a:off x="2033600" y="2677525"/>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r>
              <a:rPr lang="en-GB" sz="1800">
                <a:latin typeface="Lexend"/>
                <a:ea typeface="Lexend"/>
                <a:cs typeface="Lexend"/>
                <a:sym typeface="Lexend"/>
              </a:rPr>
              <a:t>°</a:t>
            </a:r>
            <a:endParaRPr sz="1800">
              <a:latin typeface="Lexend"/>
              <a:ea typeface="Lexend"/>
              <a:cs typeface="Lexend"/>
              <a:sym typeface="Lexend"/>
            </a:endParaRPr>
          </a:p>
        </p:txBody>
      </p:sp>
      <p:sp>
        <p:nvSpPr>
          <p:cNvPr id="1241" name="Google Shape;1241;p79"/>
          <p:cNvSpPr txBox="1"/>
          <p:nvPr/>
        </p:nvSpPr>
        <p:spPr>
          <a:xfrm>
            <a:off x="344558" y="233045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242" name="Google Shape;1242;p79"/>
          <p:cNvSpPr txBox="1"/>
          <p:nvPr/>
        </p:nvSpPr>
        <p:spPr>
          <a:xfrm>
            <a:off x="1701390" y="30463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a:t>
            </a:r>
            <a:r>
              <a:rPr lang="en-GB" sz="1800">
                <a:latin typeface="Lexend"/>
                <a:ea typeface="Lexend"/>
                <a:cs typeface="Lexend"/>
                <a:sym typeface="Lexend"/>
              </a:rPr>
              <a:t> cm</a:t>
            </a:r>
            <a:endParaRPr sz="1800">
              <a:latin typeface="Lexend"/>
              <a:ea typeface="Lexend"/>
              <a:cs typeface="Lexend"/>
              <a:sym typeface="Lexend"/>
            </a:endParaRPr>
          </a:p>
        </p:txBody>
      </p:sp>
      <p:sp>
        <p:nvSpPr>
          <p:cNvPr id="1243" name="Google Shape;1243;p79"/>
          <p:cNvSpPr/>
          <p:nvPr/>
        </p:nvSpPr>
        <p:spPr>
          <a:xfrm rot="5400000">
            <a:off x="395625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4" name="Google Shape;1244;p79"/>
          <p:cNvSpPr txBox="1"/>
          <p:nvPr/>
        </p:nvSpPr>
        <p:spPr>
          <a:xfrm>
            <a:off x="4430795" y="3046625"/>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245" name="Google Shape;1245;p79"/>
          <p:cNvSpPr txBox="1"/>
          <p:nvPr/>
        </p:nvSpPr>
        <p:spPr>
          <a:xfrm>
            <a:off x="3154940" y="22945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r>
              <a:rPr lang="en-GB" sz="1800">
                <a:latin typeface="Lexend"/>
                <a:ea typeface="Lexend"/>
                <a:cs typeface="Lexend"/>
                <a:sym typeface="Lexend"/>
              </a:rPr>
              <a:t> cm</a:t>
            </a:r>
            <a:endParaRPr sz="1800">
              <a:latin typeface="Lexend"/>
              <a:ea typeface="Lexend"/>
              <a:cs typeface="Lexend"/>
              <a:sym typeface="Lexend"/>
            </a:endParaRPr>
          </a:p>
        </p:txBody>
      </p:sp>
      <p:sp>
        <p:nvSpPr>
          <p:cNvPr id="1246" name="Google Shape;1246;p79"/>
          <p:cNvSpPr txBox="1"/>
          <p:nvPr/>
        </p:nvSpPr>
        <p:spPr>
          <a:xfrm>
            <a:off x="3918056" y="2136244"/>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p:txBody>
      </p:sp>
      <p:sp>
        <p:nvSpPr>
          <p:cNvPr id="1247" name="Google Shape;1247;p79"/>
          <p:cNvSpPr/>
          <p:nvPr/>
        </p:nvSpPr>
        <p:spPr>
          <a:xfrm flipH="1" rot="-5400000">
            <a:off x="7169724" y="553024"/>
            <a:ext cx="1877400" cy="18783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8" name="Google Shape;1248;p79"/>
          <p:cNvSpPr/>
          <p:nvPr/>
        </p:nvSpPr>
        <p:spPr>
          <a:xfrm>
            <a:off x="7923941" y="2939967"/>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49" name="Google Shape;1249;p79"/>
          <p:cNvSpPr txBox="1"/>
          <p:nvPr/>
        </p:nvSpPr>
        <p:spPr>
          <a:xfrm>
            <a:off x="7681221" y="2084783"/>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250" name="Google Shape;1250;p79"/>
          <p:cNvSpPr txBox="1"/>
          <p:nvPr/>
        </p:nvSpPr>
        <p:spPr>
          <a:xfrm>
            <a:off x="8229917" y="2205887"/>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cm</a:t>
            </a:r>
            <a:endParaRPr sz="1800">
              <a:latin typeface="Lexend"/>
              <a:ea typeface="Lexend"/>
              <a:cs typeface="Lexend"/>
              <a:sym typeface="Lexend"/>
            </a:endParaRPr>
          </a:p>
        </p:txBody>
      </p:sp>
      <p:sp>
        <p:nvSpPr>
          <p:cNvPr id="1251" name="Google Shape;1251;p79"/>
          <p:cNvSpPr txBox="1"/>
          <p:nvPr/>
        </p:nvSpPr>
        <p:spPr>
          <a:xfrm>
            <a:off x="7319791" y="325848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a:t>
            </a:r>
            <a:r>
              <a:rPr lang="en-GB" sz="1800">
                <a:latin typeface="Lexend"/>
                <a:ea typeface="Lexend"/>
                <a:cs typeface="Lexend"/>
                <a:sym typeface="Lexend"/>
              </a:rPr>
              <a:t> cm</a:t>
            </a:r>
            <a:endParaRPr sz="1800">
              <a:latin typeface="Lexend"/>
              <a:ea typeface="Lexend"/>
              <a:cs typeface="Lexend"/>
              <a:sym typeface="Lexend"/>
            </a:endParaRPr>
          </a:p>
        </p:txBody>
      </p:sp>
      <p:grpSp>
        <p:nvGrpSpPr>
          <p:cNvPr id="1252" name="Google Shape;1252;p79"/>
          <p:cNvGrpSpPr/>
          <p:nvPr/>
        </p:nvGrpSpPr>
        <p:grpSpPr>
          <a:xfrm>
            <a:off x="7157141" y="1465766"/>
            <a:ext cx="1078918" cy="1786318"/>
            <a:chOff x="-2022025" y="1455875"/>
            <a:chExt cx="1078918" cy="1786318"/>
          </a:xfrm>
        </p:grpSpPr>
        <p:sp>
          <p:nvSpPr>
            <p:cNvPr id="1253" name="Google Shape;1253;p7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54" name="Google Shape;1254;p79"/>
            <p:cNvCxnSpPr/>
            <p:nvPr/>
          </p:nvCxnSpPr>
          <p:spPr>
            <a:xfrm>
              <a:off x="-1541575" y="2761743"/>
              <a:ext cx="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255" name="Google Shape;1255;p79"/>
            <p:cNvCxnSpPr/>
            <p:nvPr/>
          </p:nvCxnSpPr>
          <p:spPr>
            <a:xfrm rot="-5400000">
              <a:off x="-1777257" y="2290025"/>
              <a:ext cx="1668300" cy="0"/>
            </a:xfrm>
            <a:prstGeom prst="straightConnector1">
              <a:avLst/>
            </a:prstGeom>
            <a:noFill/>
            <a:ln cap="flat" cmpd="sng" w="28575">
              <a:solidFill>
                <a:srgbClr val="845AD9"/>
              </a:solidFill>
              <a:prstDash val="solid"/>
              <a:round/>
              <a:headEnd len="med" w="med" type="triangle"/>
              <a:tailEnd len="med" w="med" type="triangle"/>
            </a:ln>
          </p:spPr>
        </p:cxnSp>
      </p:grpSp>
      <p:grpSp>
        <p:nvGrpSpPr>
          <p:cNvPr id="1256" name="Google Shape;1256;p79"/>
          <p:cNvGrpSpPr/>
          <p:nvPr/>
        </p:nvGrpSpPr>
        <p:grpSpPr>
          <a:xfrm>
            <a:off x="6358500" y="3934925"/>
            <a:ext cx="2461500" cy="419400"/>
            <a:chOff x="3369600" y="3706325"/>
            <a:chExt cx="2461500" cy="419400"/>
          </a:xfrm>
        </p:grpSpPr>
        <p:sp>
          <p:nvSpPr>
            <p:cNvPr id="1257" name="Google Shape;1257;p79"/>
            <p:cNvSpPr/>
            <p:nvPr/>
          </p:nvSpPr>
          <p:spPr>
            <a:xfrm>
              <a:off x="33696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32 × tan(50°) = </a:t>
              </a: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p:txBody>
        </p:sp>
        <p:sp>
          <p:nvSpPr>
            <p:cNvPr id="1258" name="Google Shape;1258;p79"/>
            <p:cNvSpPr/>
            <p:nvPr/>
          </p:nvSpPr>
          <p:spPr>
            <a:xfrm>
              <a:off x="33696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f</a:t>
              </a:r>
              <a:endParaRPr sz="2000">
                <a:solidFill>
                  <a:schemeClr val="lt1"/>
                </a:solidFill>
                <a:latin typeface="Lexend"/>
                <a:ea typeface="Lexend"/>
                <a:cs typeface="Lexend"/>
                <a:sym typeface="Lexend"/>
              </a:endParaRPr>
            </a:p>
          </p:txBody>
        </p:sp>
      </p:grpSp>
      <p:grpSp>
        <p:nvGrpSpPr>
          <p:cNvPr id="1259" name="Google Shape;1259;p79"/>
          <p:cNvGrpSpPr/>
          <p:nvPr/>
        </p:nvGrpSpPr>
        <p:grpSpPr>
          <a:xfrm>
            <a:off x="324000" y="3934925"/>
            <a:ext cx="2461500" cy="419400"/>
            <a:chOff x="6358500" y="3706325"/>
            <a:chExt cx="2461500" cy="419400"/>
          </a:xfrm>
        </p:grpSpPr>
        <p:sp>
          <p:nvSpPr>
            <p:cNvPr id="1260" name="Google Shape;1260;p79"/>
            <p:cNvSpPr/>
            <p:nvPr/>
          </p:nvSpPr>
          <p:spPr>
            <a:xfrm>
              <a:off x="63585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tan(32°) = </a:t>
              </a:r>
              <a:r>
                <a:rPr lang="en-GB" sz="2000">
                  <a:solidFill>
                    <a:schemeClr val="dk1"/>
                  </a:solidFill>
                  <a:latin typeface="Times New Roman"/>
                  <a:ea typeface="Times New Roman"/>
                  <a:cs typeface="Times New Roman"/>
                  <a:sym typeface="Times New Roman"/>
                </a:rPr>
                <a:t>50</a:t>
              </a:r>
              <a:endParaRPr i="1" sz="2000">
                <a:latin typeface="Times New Roman"/>
                <a:ea typeface="Times New Roman"/>
                <a:cs typeface="Times New Roman"/>
                <a:sym typeface="Times New Roman"/>
              </a:endParaRPr>
            </a:p>
          </p:txBody>
        </p:sp>
        <p:sp>
          <p:nvSpPr>
            <p:cNvPr id="1261" name="Google Shape;1261;p79"/>
            <p:cNvSpPr/>
            <p:nvPr/>
          </p:nvSpPr>
          <p:spPr>
            <a:xfrm>
              <a:off x="63585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d</a:t>
              </a:r>
              <a:endParaRPr sz="2000">
                <a:solidFill>
                  <a:schemeClr val="lt1"/>
                </a:solidFill>
                <a:latin typeface="Lexend"/>
                <a:ea typeface="Lexend"/>
                <a:cs typeface="Lexend"/>
                <a:sym typeface="Lexend"/>
              </a:endParaRPr>
            </a:p>
          </p:txBody>
        </p:sp>
      </p:grpSp>
      <p:grpSp>
        <p:nvGrpSpPr>
          <p:cNvPr id="1262" name="Google Shape;1262;p79"/>
          <p:cNvGrpSpPr/>
          <p:nvPr/>
        </p:nvGrpSpPr>
        <p:grpSpPr>
          <a:xfrm>
            <a:off x="3341250" y="3934925"/>
            <a:ext cx="2461500" cy="419400"/>
            <a:chOff x="324000" y="3706325"/>
            <a:chExt cx="2461500" cy="419400"/>
          </a:xfrm>
        </p:grpSpPr>
        <p:sp>
          <p:nvSpPr>
            <p:cNvPr id="1263" name="Google Shape;1263;p79"/>
            <p:cNvSpPr/>
            <p:nvPr/>
          </p:nvSpPr>
          <p:spPr>
            <a:xfrm>
              <a:off x="3240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50 × tan(32°) = </a:t>
              </a: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p:txBody>
        </p:sp>
        <p:sp>
          <p:nvSpPr>
            <p:cNvPr id="1264" name="Google Shape;1264;p79"/>
            <p:cNvSpPr/>
            <p:nvPr/>
          </p:nvSpPr>
          <p:spPr>
            <a:xfrm>
              <a:off x="3240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e</a:t>
              </a:r>
              <a:endParaRPr sz="2000">
                <a:solidFill>
                  <a:schemeClr val="lt1"/>
                </a:solidFill>
                <a:latin typeface="Lexend"/>
                <a:ea typeface="Lexend"/>
                <a:cs typeface="Lexend"/>
                <a:sym typeface="Lexend"/>
              </a:endParaRPr>
            </a:p>
          </p:txBody>
        </p:sp>
      </p:grpSp>
      <p:sp>
        <p:nvSpPr>
          <p:cNvPr id="1265" name="Google Shape;1265;p79"/>
          <p:cNvSpPr txBox="1"/>
          <p:nvPr/>
        </p:nvSpPr>
        <p:spPr>
          <a:xfrm>
            <a:off x="4969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266" name="Google Shape;1266;p79"/>
          <p:cNvSpPr txBox="1"/>
          <p:nvPr/>
        </p:nvSpPr>
        <p:spPr>
          <a:xfrm>
            <a:off x="31491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267" name="Google Shape;1267;p79"/>
          <p:cNvSpPr txBox="1"/>
          <p:nvPr/>
        </p:nvSpPr>
        <p:spPr>
          <a:xfrm>
            <a:off x="6715750" y="1780300"/>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268" name="Google Shape;1268;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tangent formula</a:t>
            </a:r>
            <a:endParaRPr/>
          </a:p>
        </p:txBody>
      </p:sp>
      <p:sp>
        <p:nvSpPr>
          <p:cNvPr id="1269" name="Google Shape;1269;p79"/>
          <p:cNvSpPr txBox="1"/>
          <p:nvPr/>
        </p:nvSpPr>
        <p:spPr>
          <a:xfrm>
            <a:off x="324000" y="1192913"/>
            <a:ext cx="7233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Use the equation to find the length of the missing side labelled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on each triangle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80"/>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 By using the tangent formula, find the length of the missing side labelled with a letter for each of these triangles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275" name="Google Shape;1275;p80"/>
          <p:cNvSpPr/>
          <p:nvPr/>
        </p:nvSpPr>
        <p:spPr>
          <a:xfrm flipH="1">
            <a:off x="-20267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6" name="Google Shape;1276;p80"/>
          <p:cNvSpPr/>
          <p:nvPr/>
        </p:nvSpPr>
        <p:spPr>
          <a:xfrm rot="-5400000">
            <a:off x="665399"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77" name="Google Shape;1277;p80"/>
          <p:cNvCxnSpPr/>
          <p:nvPr/>
        </p:nvCxnSpPr>
        <p:spPr>
          <a:xfrm>
            <a:off x="5988039" y="1137525"/>
            <a:ext cx="0" cy="3682800"/>
          </a:xfrm>
          <a:prstGeom prst="straightConnector1">
            <a:avLst/>
          </a:prstGeom>
          <a:noFill/>
          <a:ln cap="flat" cmpd="sng" w="38100">
            <a:solidFill>
              <a:schemeClr val="accent4"/>
            </a:solidFill>
            <a:prstDash val="solid"/>
            <a:round/>
            <a:headEnd len="med" w="med" type="none"/>
            <a:tailEnd len="med" w="med" type="none"/>
          </a:ln>
        </p:spPr>
      </p:cxnSp>
      <p:cxnSp>
        <p:nvCxnSpPr>
          <p:cNvPr id="1278" name="Google Shape;1278;p80"/>
          <p:cNvCxnSpPr/>
          <p:nvPr/>
        </p:nvCxnSpPr>
        <p:spPr>
          <a:xfrm>
            <a:off x="4572075" y="-1269043"/>
            <a:ext cx="0" cy="8496000"/>
          </a:xfrm>
          <a:prstGeom prst="straightConnector1">
            <a:avLst/>
          </a:prstGeom>
          <a:noFill/>
          <a:ln cap="flat" cmpd="sng" w="38100">
            <a:solidFill>
              <a:schemeClr val="accent4"/>
            </a:solidFill>
            <a:prstDash val="solid"/>
            <a:round/>
            <a:headEnd len="med" w="med" type="none"/>
            <a:tailEnd len="med" w="med" type="none"/>
          </a:ln>
        </p:spPr>
      </p:cxnSp>
      <p:cxnSp>
        <p:nvCxnSpPr>
          <p:cNvPr id="1279" name="Google Shape;1279;p80"/>
          <p:cNvCxnSpPr/>
          <p:nvPr/>
        </p:nvCxnSpPr>
        <p:spPr>
          <a:xfrm>
            <a:off x="3156072" y="1137525"/>
            <a:ext cx="0" cy="3682800"/>
          </a:xfrm>
          <a:prstGeom prst="straightConnector1">
            <a:avLst/>
          </a:prstGeom>
          <a:noFill/>
          <a:ln cap="flat" cmpd="sng" w="38100">
            <a:solidFill>
              <a:schemeClr val="accent4"/>
            </a:solidFill>
            <a:prstDash val="solid"/>
            <a:round/>
            <a:headEnd len="med" w="med" type="none"/>
            <a:tailEnd len="med" w="med" type="none"/>
          </a:ln>
        </p:spPr>
      </p:cxnSp>
      <p:sp>
        <p:nvSpPr>
          <p:cNvPr id="1280" name="Google Shape;1280;p80"/>
          <p:cNvSpPr/>
          <p:nvPr/>
        </p:nvSpPr>
        <p:spPr>
          <a:xfrm>
            <a:off x="1659443"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81" name="Google Shape;1281;p80"/>
          <p:cNvCxnSpPr/>
          <p:nvPr/>
        </p:nvCxnSpPr>
        <p:spPr>
          <a:xfrm rot="10800000">
            <a:off x="494675" y="2545798"/>
            <a:ext cx="1351800" cy="0"/>
          </a:xfrm>
          <a:prstGeom prst="straightConnector1">
            <a:avLst/>
          </a:prstGeom>
          <a:noFill/>
          <a:ln cap="flat" cmpd="sng" w="28575">
            <a:solidFill>
              <a:srgbClr val="845AD9"/>
            </a:solidFill>
            <a:prstDash val="solid"/>
            <a:round/>
            <a:headEnd len="med" w="med" type="triangle"/>
            <a:tailEnd len="med" w="med" type="triangle"/>
          </a:ln>
        </p:spPr>
      </p:cxnSp>
      <p:sp>
        <p:nvSpPr>
          <p:cNvPr id="1282" name="Google Shape;1282;p80"/>
          <p:cNvSpPr txBox="1"/>
          <p:nvPr/>
        </p:nvSpPr>
        <p:spPr>
          <a:xfrm>
            <a:off x="829317" y="2581761"/>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cxnSp>
        <p:nvCxnSpPr>
          <p:cNvPr id="1283" name="Google Shape;1283;p80"/>
          <p:cNvCxnSpPr/>
          <p:nvPr/>
        </p:nvCxnSpPr>
        <p:spPr>
          <a:xfrm rot="10800000">
            <a:off x="1950014"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284" name="Google Shape;1284;p80"/>
          <p:cNvSpPr/>
          <p:nvPr/>
        </p:nvSpPr>
        <p:spPr>
          <a:xfrm flipH="1">
            <a:off x="2690019"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5" name="Google Shape;1285;p80"/>
          <p:cNvSpPr/>
          <p:nvPr/>
        </p:nvSpPr>
        <p:spPr>
          <a:xfrm rot="-5400000">
            <a:off x="3558092"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6" name="Google Shape;1286;p80"/>
          <p:cNvSpPr/>
          <p:nvPr/>
        </p:nvSpPr>
        <p:spPr>
          <a:xfrm>
            <a:off x="4552136"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87" name="Google Shape;1287;p80"/>
          <p:cNvCxnSpPr/>
          <p:nvPr/>
        </p:nvCxnSpPr>
        <p:spPr>
          <a:xfrm rot="10800000">
            <a:off x="3386225" y="2579350"/>
            <a:ext cx="1358700" cy="0"/>
          </a:xfrm>
          <a:prstGeom prst="straightConnector1">
            <a:avLst/>
          </a:prstGeom>
          <a:noFill/>
          <a:ln cap="flat" cmpd="sng" w="28575">
            <a:solidFill>
              <a:srgbClr val="845AD9"/>
            </a:solidFill>
            <a:prstDash val="solid"/>
            <a:round/>
            <a:headEnd len="med" w="med" type="triangle"/>
            <a:tailEnd len="med" w="med" type="triangle"/>
          </a:ln>
        </p:spPr>
      </p:cxnSp>
      <p:sp>
        <p:nvSpPr>
          <p:cNvPr id="1288" name="Google Shape;1288;p80"/>
          <p:cNvSpPr txBox="1"/>
          <p:nvPr/>
        </p:nvSpPr>
        <p:spPr>
          <a:xfrm flipH="1">
            <a:off x="3609239"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cxnSp>
        <p:nvCxnSpPr>
          <p:cNvPr id="1289" name="Google Shape;1289;p80"/>
          <p:cNvCxnSpPr/>
          <p:nvPr/>
        </p:nvCxnSpPr>
        <p:spPr>
          <a:xfrm rot="10800000">
            <a:off x="4842708"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290" name="Google Shape;1290;p80"/>
          <p:cNvSpPr/>
          <p:nvPr/>
        </p:nvSpPr>
        <p:spPr>
          <a:xfrm flipH="1">
            <a:off x="-154406" y="351467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1" name="Google Shape;1291;p80"/>
          <p:cNvSpPr/>
          <p:nvPr/>
        </p:nvSpPr>
        <p:spPr>
          <a:xfrm rot="-5400000">
            <a:off x="713667" y="304165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2" name="Google Shape;1292;p80"/>
          <p:cNvSpPr/>
          <p:nvPr/>
        </p:nvSpPr>
        <p:spPr>
          <a:xfrm>
            <a:off x="1707711" y="4035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3" name="Google Shape;1293;p80"/>
          <p:cNvSpPr txBox="1"/>
          <p:nvPr/>
        </p:nvSpPr>
        <p:spPr>
          <a:xfrm>
            <a:off x="2063350" y="36004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14.9 cm</a:t>
            </a:r>
            <a:endParaRPr sz="1800">
              <a:latin typeface="Lexend"/>
              <a:ea typeface="Lexend"/>
              <a:cs typeface="Lexend"/>
              <a:sym typeface="Lexend"/>
            </a:endParaRPr>
          </a:p>
        </p:txBody>
      </p:sp>
      <p:cxnSp>
        <p:nvCxnSpPr>
          <p:cNvPr id="1294" name="Google Shape;1294;p80"/>
          <p:cNvCxnSpPr/>
          <p:nvPr/>
        </p:nvCxnSpPr>
        <p:spPr>
          <a:xfrm rot="10800000">
            <a:off x="1998283" y="321341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295" name="Google Shape;1295;p80"/>
          <p:cNvSpPr/>
          <p:nvPr/>
        </p:nvSpPr>
        <p:spPr>
          <a:xfrm>
            <a:off x="7535000" y="3080425"/>
            <a:ext cx="2291100" cy="2291100"/>
          </a:xfrm>
          <a:prstGeom prst="arc">
            <a:avLst>
              <a:gd fmla="val 10771373"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6" name="Google Shape;1296;p80"/>
          <p:cNvSpPr/>
          <p:nvPr/>
        </p:nvSpPr>
        <p:spPr>
          <a:xfrm flipH="1">
            <a:off x="6721708" y="4035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97" name="Google Shape;1297;p80"/>
          <p:cNvCxnSpPr/>
          <p:nvPr/>
        </p:nvCxnSpPr>
        <p:spPr>
          <a:xfrm rot="10800000">
            <a:off x="6618513" y="3493900"/>
            <a:ext cx="0" cy="744000"/>
          </a:xfrm>
          <a:prstGeom prst="straightConnector1">
            <a:avLst/>
          </a:prstGeom>
          <a:noFill/>
          <a:ln cap="flat" cmpd="sng" w="28575">
            <a:solidFill>
              <a:srgbClr val="845AD9"/>
            </a:solidFill>
            <a:prstDash val="solid"/>
            <a:round/>
            <a:headEnd len="med" w="med" type="triangle"/>
            <a:tailEnd len="med" w="med" type="triangle"/>
          </a:ln>
        </p:spPr>
      </p:cxnSp>
      <p:sp>
        <p:nvSpPr>
          <p:cNvPr id="1298" name="Google Shape;1298;p80"/>
          <p:cNvSpPr txBox="1"/>
          <p:nvPr/>
        </p:nvSpPr>
        <p:spPr>
          <a:xfrm>
            <a:off x="6008524" y="3744700"/>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 cm</a:t>
            </a:r>
            <a:endParaRPr sz="1800">
              <a:latin typeface="Lexend"/>
              <a:ea typeface="Lexend"/>
              <a:cs typeface="Lexend"/>
              <a:sym typeface="Lexend"/>
            </a:endParaRPr>
          </a:p>
        </p:txBody>
      </p:sp>
      <p:sp>
        <p:nvSpPr>
          <p:cNvPr id="1299" name="Google Shape;1299;p80"/>
          <p:cNvSpPr/>
          <p:nvPr/>
        </p:nvSpPr>
        <p:spPr>
          <a:xfrm flipH="1">
            <a:off x="572339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0" name="Google Shape;1300;p80"/>
          <p:cNvSpPr/>
          <p:nvPr/>
        </p:nvSpPr>
        <p:spPr>
          <a:xfrm rot="-5400000">
            <a:off x="6591467"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1" name="Google Shape;1301;p80"/>
          <p:cNvSpPr/>
          <p:nvPr/>
        </p:nvSpPr>
        <p:spPr>
          <a:xfrm>
            <a:off x="7585511"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2" name="Google Shape;1302;p80"/>
          <p:cNvSpPr txBox="1"/>
          <p:nvPr/>
        </p:nvSpPr>
        <p:spPr>
          <a:xfrm flipH="1">
            <a:off x="6642614"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cxnSp>
        <p:nvCxnSpPr>
          <p:cNvPr id="1303" name="Google Shape;1303;p80"/>
          <p:cNvCxnSpPr/>
          <p:nvPr/>
        </p:nvCxnSpPr>
        <p:spPr>
          <a:xfrm rot="10800000">
            <a:off x="7876083"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304" name="Google Shape;1304;p80"/>
          <p:cNvSpPr txBox="1"/>
          <p:nvPr/>
        </p:nvSpPr>
        <p:spPr>
          <a:xfrm flipH="1">
            <a:off x="764814" y="395980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305" name="Google Shape;1305;p80"/>
          <p:cNvSpPr/>
          <p:nvPr/>
        </p:nvSpPr>
        <p:spPr>
          <a:xfrm>
            <a:off x="4688561" y="3967012"/>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06" name="Google Shape;1306;p80"/>
          <p:cNvCxnSpPr/>
          <p:nvPr/>
        </p:nvCxnSpPr>
        <p:spPr>
          <a:xfrm rot="10800000">
            <a:off x="3522767" y="4257503"/>
            <a:ext cx="1359900" cy="0"/>
          </a:xfrm>
          <a:prstGeom prst="straightConnector1">
            <a:avLst/>
          </a:prstGeom>
          <a:noFill/>
          <a:ln cap="flat" cmpd="sng" w="28575">
            <a:solidFill>
              <a:srgbClr val="845AD9"/>
            </a:solidFill>
            <a:prstDash val="solid"/>
            <a:round/>
            <a:headEnd len="med" w="med" type="triangle"/>
            <a:tailEnd len="med" w="med" type="triangle"/>
          </a:ln>
        </p:spPr>
      </p:cxnSp>
      <p:sp>
        <p:nvSpPr>
          <p:cNvPr id="1307" name="Google Shape;1307;p80"/>
          <p:cNvSpPr txBox="1"/>
          <p:nvPr/>
        </p:nvSpPr>
        <p:spPr>
          <a:xfrm>
            <a:off x="3749874" y="4303937"/>
            <a:ext cx="905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14.9 cm</a:t>
            </a:r>
            <a:endParaRPr sz="1800">
              <a:latin typeface="Lexend"/>
              <a:ea typeface="Lexend"/>
              <a:cs typeface="Lexend"/>
              <a:sym typeface="Lexend"/>
            </a:endParaRPr>
          </a:p>
        </p:txBody>
      </p:sp>
      <p:sp>
        <p:nvSpPr>
          <p:cNvPr id="1308" name="Google Shape;1308;p80"/>
          <p:cNvSpPr txBox="1"/>
          <p:nvPr/>
        </p:nvSpPr>
        <p:spPr>
          <a:xfrm flipH="1">
            <a:off x="716545"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sp>
        <p:nvSpPr>
          <p:cNvPr id="1309" name="Google Shape;1309;p80"/>
          <p:cNvSpPr txBox="1"/>
          <p:nvPr/>
        </p:nvSpPr>
        <p:spPr>
          <a:xfrm>
            <a:off x="3657556" y="2577516"/>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 cm</a:t>
            </a:r>
            <a:endParaRPr sz="1800">
              <a:latin typeface="Lexend"/>
              <a:ea typeface="Lexend"/>
              <a:cs typeface="Lexend"/>
              <a:sym typeface="Lexend"/>
            </a:endParaRPr>
          </a:p>
        </p:txBody>
      </p:sp>
      <p:sp>
        <p:nvSpPr>
          <p:cNvPr id="1310" name="Google Shape;1310;p80"/>
          <p:cNvSpPr/>
          <p:nvPr/>
        </p:nvSpPr>
        <p:spPr>
          <a:xfrm flipH="1">
            <a:off x="4296675" y="2577512"/>
            <a:ext cx="1155900" cy="1155900"/>
          </a:xfrm>
          <a:prstGeom prst="arc">
            <a:avLst>
              <a:gd fmla="val 2216544" name="adj1"/>
              <a:gd fmla="val 54150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1" name="Google Shape;1311;p80"/>
          <p:cNvSpPr txBox="1"/>
          <p:nvPr/>
        </p:nvSpPr>
        <p:spPr>
          <a:xfrm flipH="1">
            <a:off x="4418026" y="3384998"/>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41°</a:t>
            </a:r>
            <a:endParaRPr sz="1800">
              <a:latin typeface="Lexend"/>
              <a:ea typeface="Lexend"/>
              <a:cs typeface="Lexend"/>
              <a:sym typeface="Lexend"/>
            </a:endParaRPr>
          </a:p>
        </p:txBody>
      </p:sp>
      <p:sp>
        <p:nvSpPr>
          <p:cNvPr id="1312" name="Google Shape;1312;p80"/>
          <p:cNvSpPr txBox="1"/>
          <p:nvPr/>
        </p:nvSpPr>
        <p:spPr>
          <a:xfrm>
            <a:off x="7489725" y="3979075"/>
            <a:ext cx="7398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a:t>
            </a:r>
            <a:endParaRPr sz="1800">
              <a:latin typeface="Lexend"/>
              <a:ea typeface="Lexend"/>
              <a:cs typeface="Lexend"/>
              <a:sym typeface="Lexend"/>
            </a:endParaRPr>
          </a:p>
        </p:txBody>
      </p:sp>
      <p:sp>
        <p:nvSpPr>
          <p:cNvPr id="1313" name="Google Shape;1313;p80"/>
          <p:cNvSpPr/>
          <p:nvPr/>
        </p:nvSpPr>
        <p:spPr>
          <a:xfrm flipH="1" rot="5400000">
            <a:off x="7349307" y="2866300"/>
            <a:ext cx="735900" cy="1991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4" name="Google Shape;1314;p80"/>
          <p:cNvSpPr txBox="1"/>
          <p:nvPr/>
        </p:nvSpPr>
        <p:spPr>
          <a:xfrm>
            <a:off x="1972000"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315" name="Google Shape;1315;p80"/>
          <p:cNvSpPr txBox="1"/>
          <p:nvPr/>
        </p:nvSpPr>
        <p:spPr>
          <a:xfrm>
            <a:off x="4870205"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316" name="Google Shape;1316;p80"/>
          <p:cNvSpPr txBox="1"/>
          <p:nvPr/>
        </p:nvSpPr>
        <p:spPr>
          <a:xfrm>
            <a:off x="7908055"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a:t>
            </a:r>
            <a:endParaRPr sz="1800">
              <a:latin typeface="Lexend"/>
              <a:ea typeface="Lexend"/>
              <a:cs typeface="Lexend"/>
              <a:sym typeface="Lexend"/>
            </a:endParaRPr>
          </a:p>
        </p:txBody>
      </p:sp>
      <p:sp>
        <p:nvSpPr>
          <p:cNvPr id="1317" name="Google Shape;1317;p80"/>
          <p:cNvSpPr txBox="1"/>
          <p:nvPr/>
        </p:nvSpPr>
        <p:spPr>
          <a:xfrm>
            <a:off x="966720" y="4374600"/>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
        <p:nvSpPr>
          <p:cNvPr id="1318" name="Google Shape;1318;p80"/>
          <p:cNvSpPr txBox="1"/>
          <p:nvPr/>
        </p:nvSpPr>
        <p:spPr>
          <a:xfrm>
            <a:off x="5059449" y="3489792"/>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e</a:t>
            </a:r>
            <a:r>
              <a:rPr lang="en-GB" sz="1800">
                <a:latin typeface="Lexend"/>
                <a:ea typeface="Lexend"/>
                <a:cs typeface="Lexend"/>
                <a:sym typeface="Lexend"/>
              </a:rPr>
              <a:t> cm</a:t>
            </a:r>
            <a:endParaRPr sz="1800">
              <a:latin typeface="Lexend"/>
              <a:ea typeface="Lexend"/>
              <a:cs typeface="Lexend"/>
              <a:sym typeface="Lexend"/>
            </a:endParaRPr>
          </a:p>
        </p:txBody>
      </p:sp>
      <p:sp>
        <p:nvSpPr>
          <p:cNvPr id="1319" name="Google Shape;1319;p80"/>
          <p:cNvSpPr txBox="1"/>
          <p:nvPr/>
        </p:nvSpPr>
        <p:spPr>
          <a:xfrm>
            <a:off x="7496790" y="4382246"/>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f</a:t>
            </a:r>
            <a:r>
              <a:rPr lang="en-GB" sz="1800">
                <a:latin typeface="Lexend"/>
                <a:ea typeface="Lexend"/>
                <a:cs typeface="Lexend"/>
                <a:sym typeface="Lexend"/>
              </a:rPr>
              <a:t> cm</a:t>
            </a:r>
            <a:endParaRPr sz="1800">
              <a:latin typeface="Lexend"/>
              <a:ea typeface="Lexend"/>
              <a:cs typeface="Lexend"/>
              <a:sym typeface="Lexend"/>
            </a:endParaRPr>
          </a:p>
        </p:txBody>
      </p:sp>
      <p:sp>
        <p:nvSpPr>
          <p:cNvPr id="1320" name="Google Shape;1320;p80"/>
          <p:cNvSpPr txBox="1"/>
          <p:nvPr/>
        </p:nvSpPr>
        <p:spPr>
          <a:xfrm>
            <a:off x="3139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321" name="Google Shape;1321;p80"/>
          <p:cNvSpPr txBox="1"/>
          <p:nvPr/>
        </p:nvSpPr>
        <p:spPr>
          <a:xfrm>
            <a:off x="32066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322" name="Google Shape;1322;p80"/>
          <p:cNvSpPr txBox="1"/>
          <p:nvPr/>
        </p:nvSpPr>
        <p:spPr>
          <a:xfrm>
            <a:off x="60993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323" name="Google Shape;1323;p80"/>
          <p:cNvSpPr txBox="1"/>
          <p:nvPr/>
        </p:nvSpPr>
        <p:spPr>
          <a:xfrm>
            <a:off x="3139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a:t>
            </a:r>
            <a:endParaRPr sz="1800">
              <a:latin typeface="Lexend"/>
              <a:ea typeface="Lexend"/>
              <a:cs typeface="Lexend"/>
              <a:sym typeface="Lexend"/>
            </a:endParaRPr>
          </a:p>
        </p:txBody>
      </p:sp>
      <p:sp>
        <p:nvSpPr>
          <p:cNvPr id="1324" name="Google Shape;1324;p80"/>
          <p:cNvSpPr txBox="1"/>
          <p:nvPr/>
        </p:nvSpPr>
        <p:spPr>
          <a:xfrm>
            <a:off x="32066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p:txBody>
      </p:sp>
      <p:sp>
        <p:nvSpPr>
          <p:cNvPr id="1325" name="Google Shape;1325;p80"/>
          <p:cNvSpPr txBox="1"/>
          <p:nvPr/>
        </p:nvSpPr>
        <p:spPr>
          <a:xfrm>
            <a:off x="60993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a:t>
            </a:r>
            <a:endParaRPr sz="1800">
              <a:latin typeface="Lexend"/>
              <a:ea typeface="Lexend"/>
              <a:cs typeface="Lexend"/>
              <a:sym typeface="Lexend"/>
            </a:endParaRPr>
          </a:p>
        </p:txBody>
      </p:sp>
      <p:sp>
        <p:nvSpPr>
          <p:cNvPr id="1326" name="Google Shape;1326;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tangent formula</a:t>
            </a:r>
            <a:endParaRPr/>
          </a:p>
        </p:txBody>
      </p:sp>
      <p:cxnSp>
        <p:nvCxnSpPr>
          <p:cNvPr id="1327" name="Google Shape;1327;p80"/>
          <p:cNvCxnSpPr/>
          <p:nvPr/>
        </p:nvCxnSpPr>
        <p:spPr>
          <a:xfrm rot="10800000">
            <a:off x="6434225" y="2579350"/>
            <a:ext cx="1358700" cy="0"/>
          </a:xfrm>
          <a:prstGeom prst="straightConnector1">
            <a:avLst/>
          </a:prstGeom>
          <a:noFill/>
          <a:ln cap="flat" cmpd="sng" w="28575">
            <a:solidFill>
              <a:srgbClr val="845AD9"/>
            </a:solidFill>
            <a:prstDash val="solid"/>
            <a:round/>
            <a:headEnd len="med" w="med" type="triangle"/>
            <a:tailEnd len="med" w="med" type="triangle"/>
          </a:ln>
        </p:spPr>
      </p:cxnSp>
      <p:sp>
        <p:nvSpPr>
          <p:cNvPr id="1328" name="Google Shape;1328;p80"/>
          <p:cNvSpPr txBox="1"/>
          <p:nvPr/>
        </p:nvSpPr>
        <p:spPr>
          <a:xfrm>
            <a:off x="6705556" y="2577516"/>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 cm</a:t>
            </a:r>
            <a:endParaRPr sz="1800">
              <a:latin typeface="Lexend"/>
              <a:ea typeface="Lexend"/>
              <a:cs typeface="Lexend"/>
              <a:sym typeface="Lexend"/>
            </a:endParaRPr>
          </a:p>
        </p:txBody>
      </p:sp>
      <p:cxnSp>
        <p:nvCxnSpPr>
          <p:cNvPr id="1329" name="Google Shape;1329;p80"/>
          <p:cNvCxnSpPr/>
          <p:nvPr/>
        </p:nvCxnSpPr>
        <p:spPr>
          <a:xfrm rot="10800000">
            <a:off x="570875" y="4374598"/>
            <a:ext cx="1351800" cy="0"/>
          </a:xfrm>
          <a:prstGeom prst="straightConnector1">
            <a:avLst/>
          </a:prstGeom>
          <a:noFill/>
          <a:ln cap="flat" cmpd="sng" w="28575">
            <a:solidFill>
              <a:srgbClr val="845AD9"/>
            </a:solidFill>
            <a:prstDash val="solid"/>
            <a:round/>
            <a:headEnd len="med" w="med" type="triangle"/>
            <a:tailEnd len="med" w="med" type="triangle"/>
          </a:ln>
        </p:spPr>
      </p:cxnSp>
      <p:cxnSp>
        <p:nvCxnSpPr>
          <p:cNvPr id="1330" name="Google Shape;1330;p80"/>
          <p:cNvCxnSpPr/>
          <p:nvPr/>
        </p:nvCxnSpPr>
        <p:spPr>
          <a:xfrm rot="10800000">
            <a:off x="4997933" y="3144636"/>
            <a:ext cx="0" cy="1016400"/>
          </a:xfrm>
          <a:prstGeom prst="straightConnector1">
            <a:avLst/>
          </a:prstGeom>
          <a:noFill/>
          <a:ln cap="flat" cmpd="sng" w="28575">
            <a:solidFill>
              <a:srgbClr val="845AD9"/>
            </a:solidFill>
            <a:prstDash val="solid"/>
            <a:round/>
            <a:headEnd len="med" w="med" type="triangle"/>
            <a:tailEnd len="med" w="med" type="triangle"/>
          </a:ln>
        </p:spPr>
      </p:cxnSp>
      <p:cxnSp>
        <p:nvCxnSpPr>
          <p:cNvPr id="1331" name="Google Shape;1331;p80"/>
          <p:cNvCxnSpPr/>
          <p:nvPr/>
        </p:nvCxnSpPr>
        <p:spPr>
          <a:xfrm rot="10800000">
            <a:off x="6723179" y="4354175"/>
            <a:ext cx="1991100" cy="0"/>
          </a:xfrm>
          <a:prstGeom prst="straightConnector1">
            <a:avLst/>
          </a:prstGeom>
          <a:noFill/>
          <a:ln cap="flat" cmpd="sng" w="28575">
            <a:solidFill>
              <a:srgbClr val="845AD9"/>
            </a:solidFill>
            <a:prstDash val="solid"/>
            <a:round/>
            <a:headEnd len="med" w="med" type="triangle"/>
            <a:tailEnd len="med" w="med" type="triangle"/>
          </a:ln>
        </p:spPr>
      </p:cxnSp>
      <p:sp>
        <p:nvSpPr>
          <p:cNvPr id="1332" name="Google Shape;1332;p80"/>
          <p:cNvSpPr/>
          <p:nvPr/>
        </p:nvSpPr>
        <p:spPr>
          <a:xfrm rot="-5400000">
            <a:off x="3694517" y="2972887"/>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6" name="Shape 1336"/>
        <p:cNvGrpSpPr/>
        <p:nvPr/>
      </p:nvGrpSpPr>
      <p:grpSpPr>
        <a:xfrm>
          <a:off x="0" y="0"/>
          <a:ext cx="0" cy="0"/>
          <a:chOff x="0" y="0"/>
          <a:chExt cx="0" cy="0"/>
        </a:xfrm>
      </p:grpSpPr>
      <p:sp>
        <p:nvSpPr>
          <p:cNvPr id="1337" name="Google Shape;1337;p81"/>
          <p:cNvSpPr/>
          <p:nvPr/>
        </p:nvSpPr>
        <p:spPr>
          <a:xfrm rot="-5400000">
            <a:off x="2109817" y="-30445"/>
            <a:ext cx="2439000" cy="55017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8" name="Google Shape;1338;p81"/>
          <p:cNvSpPr/>
          <p:nvPr/>
        </p:nvSpPr>
        <p:spPr>
          <a:xfrm rot="-5400000">
            <a:off x="1894876" y="525899"/>
            <a:ext cx="2097600" cy="4730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9" name="Google Shape;1339;p81"/>
          <p:cNvSpPr/>
          <p:nvPr/>
        </p:nvSpPr>
        <p:spPr>
          <a:xfrm rot="-5400000">
            <a:off x="1609277" y="1266599"/>
            <a:ext cx="1642500" cy="3704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0" name="Google Shape;1340;p81"/>
          <p:cNvSpPr txBox="1"/>
          <p:nvPr/>
        </p:nvSpPr>
        <p:spPr>
          <a:xfrm>
            <a:off x="324000" y="6106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 Find the lengths of the distances </a:t>
            </a:r>
            <a:r>
              <a:rPr i="1" lang="en-GB" sz="2200">
                <a:latin typeface="Times New Roman"/>
                <a:ea typeface="Times New Roman"/>
                <a:cs typeface="Times New Roman"/>
                <a:sym typeface="Times New Roman"/>
              </a:rPr>
              <a:t>a</a:t>
            </a:r>
            <a:r>
              <a:rPr lang="en-GB" sz="1800">
                <a:latin typeface="Lexend"/>
                <a:ea typeface="Lexend"/>
                <a:cs typeface="Lexend"/>
                <a:sym typeface="Lexend"/>
              </a:rPr>
              <a:t>, </a:t>
            </a:r>
            <a:r>
              <a:rPr i="1" lang="en-GB" sz="2200">
                <a:latin typeface="Times New Roman"/>
                <a:ea typeface="Times New Roman"/>
                <a:cs typeface="Times New Roman"/>
                <a:sym typeface="Times New Roman"/>
              </a:rPr>
              <a:t>b</a:t>
            </a:r>
            <a:r>
              <a:rPr lang="en-GB" sz="1800">
                <a:latin typeface="Lexend"/>
                <a:ea typeface="Lexend"/>
                <a:cs typeface="Lexend"/>
                <a:sym typeface="Lexend"/>
              </a:rPr>
              <a:t>, </a:t>
            </a:r>
            <a:r>
              <a:rPr i="1" lang="en-GB" sz="2200">
                <a:latin typeface="Times New Roman"/>
                <a:ea typeface="Times New Roman"/>
                <a:cs typeface="Times New Roman"/>
                <a:sym typeface="Times New Roman"/>
              </a:rPr>
              <a:t>c</a:t>
            </a:r>
            <a:r>
              <a:rPr lang="en-GB" sz="1800">
                <a:latin typeface="Lexend"/>
                <a:ea typeface="Lexend"/>
                <a:cs typeface="Lexend"/>
                <a:sym typeface="Lexend"/>
              </a:rPr>
              <a:t>, and </a:t>
            </a:r>
            <a:r>
              <a:rPr i="1" lang="en-GB" sz="2200">
                <a:latin typeface="Times New Roman"/>
                <a:ea typeface="Times New Roman"/>
                <a:cs typeface="Times New Roman"/>
                <a:sym typeface="Times New Roman"/>
              </a:rPr>
              <a:t>d</a:t>
            </a:r>
            <a:r>
              <a:rPr lang="en-GB" sz="1800">
                <a:latin typeface="Lexend"/>
                <a:ea typeface="Lexend"/>
                <a:cs typeface="Lexend"/>
                <a:sym typeface="Lexend"/>
              </a:rPr>
              <a:t> (rounded to the nearest integer).</a:t>
            </a:r>
            <a:endParaRPr sz="1800">
              <a:latin typeface="Lexend"/>
              <a:ea typeface="Lexend"/>
              <a:cs typeface="Lexend"/>
              <a:sym typeface="Lexend"/>
            </a:endParaRPr>
          </a:p>
        </p:txBody>
      </p:sp>
      <p:sp>
        <p:nvSpPr>
          <p:cNvPr id="1341" name="Google Shape;1341;p81"/>
          <p:cNvSpPr/>
          <p:nvPr/>
        </p:nvSpPr>
        <p:spPr>
          <a:xfrm flipH="1">
            <a:off x="-434632" y="2904770"/>
            <a:ext cx="2071800" cy="2071800"/>
          </a:xfrm>
          <a:prstGeom prst="arc">
            <a:avLst>
              <a:gd fmla="val 10771373" name="adj1"/>
              <a:gd fmla="val 1227390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2" name="Google Shape;1342;p81"/>
          <p:cNvSpPr/>
          <p:nvPr/>
        </p:nvSpPr>
        <p:spPr>
          <a:xfrm rot="-5400000">
            <a:off x="1364028" y="1903048"/>
            <a:ext cx="1251300" cy="28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3" name="Google Shape;1343;p81"/>
          <p:cNvSpPr/>
          <p:nvPr/>
        </p:nvSpPr>
        <p:spPr>
          <a:xfrm>
            <a:off x="3170484" y="3709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4" name="Google Shape;1344;p81"/>
          <p:cNvSpPr txBox="1"/>
          <p:nvPr/>
        </p:nvSpPr>
        <p:spPr>
          <a:xfrm>
            <a:off x="1684800" y="4152001"/>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50 cm</a:t>
            </a:r>
            <a:endParaRPr sz="1800">
              <a:latin typeface="Lexend"/>
              <a:ea typeface="Lexend"/>
              <a:cs typeface="Lexend"/>
              <a:sym typeface="Lexend"/>
            </a:endParaRPr>
          </a:p>
        </p:txBody>
      </p:sp>
      <p:cxnSp>
        <p:nvCxnSpPr>
          <p:cNvPr id="1345" name="Google Shape;1345;p81"/>
          <p:cNvCxnSpPr/>
          <p:nvPr/>
        </p:nvCxnSpPr>
        <p:spPr>
          <a:xfrm rot="10800000">
            <a:off x="3483825" y="2673250"/>
            <a:ext cx="0" cy="1249500"/>
          </a:xfrm>
          <a:prstGeom prst="straightConnector1">
            <a:avLst/>
          </a:prstGeom>
          <a:noFill/>
          <a:ln cap="flat" cmpd="sng" w="28575">
            <a:solidFill>
              <a:srgbClr val="845AD9"/>
            </a:solidFill>
            <a:prstDash val="solid"/>
            <a:round/>
            <a:headEnd len="med" w="med" type="triangle"/>
            <a:tailEnd len="med" w="med" type="triangle"/>
          </a:ln>
        </p:spPr>
      </p:cxnSp>
      <p:sp>
        <p:nvSpPr>
          <p:cNvPr id="1346" name="Google Shape;1346;p81"/>
          <p:cNvSpPr txBox="1"/>
          <p:nvPr/>
        </p:nvSpPr>
        <p:spPr>
          <a:xfrm flipH="1">
            <a:off x="1030040" y="3650237"/>
            <a:ext cx="629700" cy="314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27°</a:t>
            </a:r>
            <a:endParaRPr sz="1800">
              <a:latin typeface="Lexend"/>
              <a:ea typeface="Lexend"/>
              <a:cs typeface="Lexend"/>
              <a:sym typeface="Lexend"/>
            </a:endParaRPr>
          </a:p>
        </p:txBody>
      </p:sp>
      <p:sp>
        <p:nvSpPr>
          <p:cNvPr id="1347" name="Google Shape;1347;p81"/>
          <p:cNvSpPr txBox="1"/>
          <p:nvPr/>
        </p:nvSpPr>
        <p:spPr>
          <a:xfrm>
            <a:off x="3504383" y="3151995"/>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348" name="Google Shape;1348;p81"/>
          <p:cNvSpPr/>
          <p:nvPr/>
        </p:nvSpPr>
        <p:spPr>
          <a:xfrm>
            <a:off x="4052165" y="3709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9" name="Google Shape;1349;p81"/>
          <p:cNvSpPr/>
          <p:nvPr/>
        </p:nvSpPr>
        <p:spPr>
          <a:xfrm>
            <a:off x="5078474" y="3709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0" name="Google Shape;1350;p81"/>
          <p:cNvSpPr/>
          <p:nvPr/>
        </p:nvSpPr>
        <p:spPr>
          <a:xfrm>
            <a:off x="5849461" y="3709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51" name="Google Shape;1351;p81"/>
          <p:cNvCxnSpPr/>
          <p:nvPr/>
        </p:nvCxnSpPr>
        <p:spPr>
          <a:xfrm rot="10800000">
            <a:off x="545650" y="4129800"/>
            <a:ext cx="2837100" cy="0"/>
          </a:xfrm>
          <a:prstGeom prst="straightConnector1">
            <a:avLst/>
          </a:prstGeom>
          <a:noFill/>
          <a:ln cap="flat" cmpd="sng" w="28575">
            <a:solidFill>
              <a:srgbClr val="845AD9"/>
            </a:solidFill>
            <a:prstDash val="solid"/>
            <a:round/>
            <a:headEnd len="med" w="med" type="triangle"/>
            <a:tailEnd len="med" w="med" type="triangle"/>
          </a:ln>
        </p:spPr>
      </p:cxnSp>
      <p:sp>
        <p:nvSpPr>
          <p:cNvPr id="1352" name="Google Shape;1352;p81"/>
          <p:cNvSpPr txBox="1"/>
          <p:nvPr/>
        </p:nvSpPr>
        <p:spPr>
          <a:xfrm>
            <a:off x="3560975" y="4129801"/>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353" name="Google Shape;1353;p81"/>
          <p:cNvCxnSpPr/>
          <p:nvPr/>
        </p:nvCxnSpPr>
        <p:spPr>
          <a:xfrm rot="10800000">
            <a:off x="4369325" y="2278150"/>
            <a:ext cx="0" cy="1644600"/>
          </a:xfrm>
          <a:prstGeom prst="straightConnector1">
            <a:avLst/>
          </a:prstGeom>
          <a:noFill/>
          <a:ln cap="flat" cmpd="sng" w="28575">
            <a:solidFill>
              <a:srgbClr val="845AD9"/>
            </a:solidFill>
            <a:prstDash val="solid"/>
            <a:round/>
            <a:headEnd len="med" w="med" type="triangle"/>
            <a:tailEnd len="med" w="med" type="triangle"/>
          </a:ln>
        </p:spPr>
      </p:cxnSp>
      <p:sp>
        <p:nvSpPr>
          <p:cNvPr id="1354" name="Google Shape;1354;p81"/>
          <p:cNvSpPr txBox="1"/>
          <p:nvPr/>
        </p:nvSpPr>
        <p:spPr>
          <a:xfrm>
            <a:off x="4403635" y="2908324"/>
            <a:ext cx="632700" cy="34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39.5 cm</a:t>
            </a:r>
            <a:endParaRPr sz="1800">
              <a:latin typeface="Lexend"/>
              <a:ea typeface="Lexend"/>
              <a:cs typeface="Lexend"/>
              <a:sym typeface="Lexend"/>
            </a:endParaRPr>
          </a:p>
        </p:txBody>
      </p:sp>
      <p:sp>
        <p:nvSpPr>
          <p:cNvPr id="1355" name="Google Shape;1355;p81"/>
          <p:cNvSpPr txBox="1"/>
          <p:nvPr/>
        </p:nvSpPr>
        <p:spPr>
          <a:xfrm>
            <a:off x="4474495" y="4129801"/>
            <a:ext cx="6990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cxnSp>
        <p:nvCxnSpPr>
          <p:cNvPr id="1356" name="Google Shape;1356;p81"/>
          <p:cNvCxnSpPr/>
          <p:nvPr/>
        </p:nvCxnSpPr>
        <p:spPr>
          <a:xfrm rot="10800000">
            <a:off x="5393650" y="1821850"/>
            <a:ext cx="0" cy="2100900"/>
          </a:xfrm>
          <a:prstGeom prst="straightConnector1">
            <a:avLst/>
          </a:prstGeom>
          <a:noFill/>
          <a:ln cap="flat" cmpd="sng" w="28575">
            <a:solidFill>
              <a:srgbClr val="845AD9"/>
            </a:solidFill>
            <a:prstDash val="solid"/>
            <a:round/>
            <a:headEnd len="med" w="med" type="triangle"/>
            <a:tailEnd len="med" w="med" type="triangle"/>
          </a:ln>
        </p:spPr>
      </p:cxnSp>
      <p:sp>
        <p:nvSpPr>
          <p:cNvPr id="1357" name="Google Shape;1357;p81"/>
          <p:cNvSpPr txBox="1"/>
          <p:nvPr/>
        </p:nvSpPr>
        <p:spPr>
          <a:xfrm>
            <a:off x="5414207" y="2626794"/>
            <a:ext cx="632700" cy="44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358" name="Google Shape;1358;p81"/>
          <p:cNvCxnSpPr/>
          <p:nvPr/>
        </p:nvCxnSpPr>
        <p:spPr>
          <a:xfrm rot="10800000">
            <a:off x="6166625" y="1483750"/>
            <a:ext cx="0" cy="2439000"/>
          </a:xfrm>
          <a:prstGeom prst="straightConnector1">
            <a:avLst/>
          </a:prstGeom>
          <a:noFill/>
          <a:ln cap="flat" cmpd="sng" w="28575">
            <a:solidFill>
              <a:srgbClr val="845AD9"/>
            </a:solidFill>
            <a:prstDash val="solid"/>
            <a:round/>
            <a:headEnd len="med" w="med" type="triangle"/>
            <a:tailEnd len="med" w="med" type="triangle"/>
          </a:ln>
        </p:spPr>
      </p:cxnSp>
      <p:sp>
        <p:nvSpPr>
          <p:cNvPr id="1359" name="Google Shape;1359;p81"/>
          <p:cNvSpPr txBox="1"/>
          <p:nvPr/>
        </p:nvSpPr>
        <p:spPr>
          <a:xfrm>
            <a:off x="6187173" y="2418225"/>
            <a:ext cx="881700" cy="516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64 cm</a:t>
            </a:r>
            <a:endParaRPr sz="1800">
              <a:latin typeface="Lexend"/>
              <a:ea typeface="Lexend"/>
              <a:cs typeface="Lexend"/>
              <a:sym typeface="Lexend"/>
            </a:endParaRPr>
          </a:p>
        </p:txBody>
      </p:sp>
      <p:sp>
        <p:nvSpPr>
          <p:cNvPr id="1360" name="Google Shape;1360;p81"/>
          <p:cNvSpPr txBox="1"/>
          <p:nvPr/>
        </p:nvSpPr>
        <p:spPr>
          <a:xfrm>
            <a:off x="5414202" y="4129801"/>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
        <p:nvSpPr>
          <p:cNvPr id="1361" name="Google Shape;1361;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tangent formula</a:t>
            </a:r>
            <a:endParaRPr/>
          </a:p>
        </p:txBody>
      </p:sp>
      <p:cxnSp>
        <p:nvCxnSpPr>
          <p:cNvPr id="1362" name="Google Shape;1362;p81"/>
          <p:cNvCxnSpPr/>
          <p:nvPr/>
        </p:nvCxnSpPr>
        <p:spPr>
          <a:xfrm rot="10800000">
            <a:off x="3377100" y="4129800"/>
            <a:ext cx="896700" cy="0"/>
          </a:xfrm>
          <a:prstGeom prst="straightConnector1">
            <a:avLst/>
          </a:prstGeom>
          <a:noFill/>
          <a:ln cap="flat" cmpd="sng" w="28575">
            <a:solidFill>
              <a:srgbClr val="845AD9"/>
            </a:solidFill>
            <a:prstDash val="solid"/>
            <a:round/>
            <a:headEnd len="med" w="med" type="triangle"/>
            <a:tailEnd len="med" w="med" type="triangle"/>
          </a:ln>
        </p:spPr>
      </p:cxnSp>
      <p:cxnSp>
        <p:nvCxnSpPr>
          <p:cNvPr id="1363" name="Google Shape;1363;p81"/>
          <p:cNvCxnSpPr/>
          <p:nvPr/>
        </p:nvCxnSpPr>
        <p:spPr>
          <a:xfrm rot="10800000">
            <a:off x="4260000" y="4129800"/>
            <a:ext cx="1038000" cy="0"/>
          </a:xfrm>
          <a:prstGeom prst="straightConnector1">
            <a:avLst/>
          </a:prstGeom>
          <a:noFill/>
          <a:ln cap="flat" cmpd="sng" w="28575">
            <a:solidFill>
              <a:srgbClr val="845AD9"/>
            </a:solidFill>
            <a:prstDash val="solid"/>
            <a:round/>
            <a:headEnd len="med" w="med" type="triangle"/>
            <a:tailEnd len="med" w="med" type="triangle"/>
          </a:ln>
        </p:spPr>
      </p:cxnSp>
      <p:cxnSp>
        <p:nvCxnSpPr>
          <p:cNvPr id="1364" name="Google Shape;1364;p81"/>
          <p:cNvCxnSpPr/>
          <p:nvPr/>
        </p:nvCxnSpPr>
        <p:spPr>
          <a:xfrm rot="10800000">
            <a:off x="5255275" y="4129800"/>
            <a:ext cx="821100" cy="0"/>
          </a:xfrm>
          <a:prstGeom prst="straightConnector1">
            <a:avLst/>
          </a:prstGeom>
          <a:noFill/>
          <a:ln cap="flat" cmpd="sng" w="28575">
            <a:solidFill>
              <a:srgbClr val="845AD9"/>
            </a:solidFill>
            <a:prstDash val="solid"/>
            <a:round/>
            <a:headEnd len="med" w="med" type="triangl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82"/>
          <p:cNvSpPr/>
          <p:nvPr/>
        </p:nvSpPr>
        <p:spPr>
          <a:xfrm>
            <a:off x="6555275" y="2563400"/>
            <a:ext cx="1178400" cy="11787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0" name="Google Shape;1370;p82"/>
          <p:cNvSpPr txBox="1"/>
          <p:nvPr/>
        </p:nvSpPr>
        <p:spPr>
          <a:xfrm>
            <a:off x="604099" y="3926425"/>
            <a:ext cx="11118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ta</a:t>
            </a:r>
            <a:r>
              <a:rPr lang="en-GB" sz="2200">
                <a:solidFill>
                  <a:schemeClr val="dk1"/>
                </a:solidFill>
                <a:latin typeface="Times New Roman"/>
                <a:ea typeface="Times New Roman"/>
                <a:cs typeface="Times New Roman"/>
                <a:sym typeface="Times New Roman"/>
              </a:rPr>
              <a:t>n</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371" name="Google Shape;1371;p82"/>
          <p:cNvSpPr/>
          <p:nvPr/>
        </p:nvSpPr>
        <p:spPr>
          <a:xfrm>
            <a:off x="1005950" y="39401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72" name="Google Shape;1372;p82"/>
          <p:cNvSpPr txBox="1"/>
          <p:nvPr/>
        </p:nvSpPr>
        <p:spPr>
          <a:xfrm>
            <a:off x="324000" y="610600"/>
            <a:ext cx="84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Substitute the labelled sides and angle in each triangle into these two versions of the tangent formula.</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For each triangle, choose the most appropriate version of the tangent formula to find the length of its missing side.</a:t>
            </a:r>
            <a:endParaRPr sz="1800">
              <a:latin typeface="Lexend"/>
              <a:ea typeface="Lexend"/>
              <a:cs typeface="Lexend"/>
              <a:sym typeface="Lexend"/>
            </a:endParaRPr>
          </a:p>
        </p:txBody>
      </p:sp>
      <p:cxnSp>
        <p:nvCxnSpPr>
          <p:cNvPr id="1373" name="Google Shape;1373;p82"/>
          <p:cNvCxnSpPr>
            <a:stCxn id="1372" idx="2"/>
          </p:cNvCxnSpPr>
          <p:nvPr/>
        </p:nvCxnSpPr>
        <p:spPr>
          <a:xfrm>
            <a:off x="4572000" y="1718800"/>
            <a:ext cx="0" cy="3108300"/>
          </a:xfrm>
          <a:prstGeom prst="straightConnector1">
            <a:avLst/>
          </a:prstGeom>
          <a:noFill/>
          <a:ln cap="flat" cmpd="sng" w="38100">
            <a:solidFill>
              <a:schemeClr val="accent4"/>
            </a:solidFill>
            <a:prstDash val="solid"/>
            <a:round/>
            <a:headEnd len="med" w="med" type="none"/>
            <a:tailEnd len="med" w="med" type="none"/>
          </a:ln>
        </p:spPr>
      </p:cxnSp>
      <p:sp>
        <p:nvSpPr>
          <p:cNvPr id="1374" name="Google Shape;1374;p82"/>
          <p:cNvSpPr/>
          <p:nvPr/>
        </p:nvSpPr>
        <p:spPr>
          <a:xfrm>
            <a:off x="453075" y="22545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75" name="Google Shape;1375;p82"/>
          <p:cNvSpPr txBox="1"/>
          <p:nvPr/>
        </p:nvSpPr>
        <p:spPr>
          <a:xfrm>
            <a:off x="680299" y="22584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a:t>
            </a:r>
            <a:r>
              <a:rPr lang="en-GB" sz="2200">
                <a:solidFill>
                  <a:schemeClr val="dk1"/>
                </a:solidFill>
                <a:latin typeface="Times New Roman"/>
                <a:ea typeface="Times New Roman"/>
                <a:cs typeface="Times New Roman"/>
                <a:sym typeface="Times New Roman"/>
              </a:rPr>
              <a:t>n</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376" name="Google Shape;1376;p82"/>
          <p:cNvSpPr/>
          <p:nvPr/>
        </p:nvSpPr>
        <p:spPr>
          <a:xfrm>
            <a:off x="1684800"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77" name="Google Shape;1377;p82"/>
          <p:cNvSpPr/>
          <p:nvPr/>
        </p:nvSpPr>
        <p:spPr>
          <a:xfrm>
            <a:off x="2662467"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78" name="Google Shape;1378;p82"/>
          <p:cNvSpPr txBox="1"/>
          <p:nvPr/>
        </p:nvSpPr>
        <p:spPr>
          <a:xfrm>
            <a:off x="1777831" y="37509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379" name="Google Shape;1379;p82"/>
          <p:cNvCxnSpPr/>
          <p:nvPr/>
        </p:nvCxnSpPr>
        <p:spPr>
          <a:xfrm>
            <a:off x="619725" y="3926428"/>
            <a:ext cx="1055700" cy="0"/>
          </a:xfrm>
          <a:prstGeom prst="straightConnector1">
            <a:avLst/>
          </a:prstGeom>
          <a:noFill/>
          <a:ln cap="flat" cmpd="sng" w="19050">
            <a:solidFill>
              <a:schemeClr val="dk1"/>
            </a:solidFill>
            <a:prstDash val="solid"/>
            <a:round/>
            <a:headEnd len="med" w="med" type="none"/>
            <a:tailEnd len="med" w="med" type="none"/>
          </a:ln>
        </p:spPr>
      </p:cxnSp>
      <p:sp>
        <p:nvSpPr>
          <p:cNvPr id="1380" name="Google Shape;1380;p82"/>
          <p:cNvSpPr/>
          <p:nvPr/>
        </p:nvSpPr>
        <p:spPr>
          <a:xfrm>
            <a:off x="632150" y="35651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81" name="Google Shape;1381;p82"/>
          <p:cNvSpPr/>
          <p:nvPr/>
        </p:nvSpPr>
        <p:spPr>
          <a:xfrm>
            <a:off x="1958120" y="37464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82" name="Google Shape;1382;p82"/>
          <p:cNvSpPr/>
          <p:nvPr/>
        </p:nvSpPr>
        <p:spPr>
          <a:xfrm>
            <a:off x="5389770" y="39401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83" name="Google Shape;1383;p82"/>
          <p:cNvSpPr txBox="1"/>
          <p:nvPr/>
        </p:nvSpPr>
        <p:spPr>
          <a:xfrm>
            <a:off x="4987919" y="3926425"/>
            <a:ext cx="11118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ta</a:t>
            </a:r>
            <a:r>
              <a:rPr lang="en-GB" sz="2200">
                <a:solidFill>
                  <a:schemeClr val="dk1"/>
                </a:solidFill>
                <a:latin typeface="Times New Roman"/>
                <a:ea typeface="Times New Roman"/>
                <a:cs typeface="Times New Roman"/>
                <a:sym typeface="Times New Roman"/>
              </a:rPr>
              <a:t>n</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384" name="Google Shape;1384;p82"/>
          <p:cNvSpPr/>
          <p:nvPr/>
        </p:nvSpPr>
        <p:spPr>
          <a:xfrm>
            <a:off x="4836895" y="22545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85" name="Google Shape;1385;p82"/>
          <p:cNvSpPr txBox="1"/>
          <p:nvPr/>
        </p:nvSpPr>
        <p:spPr>
          <a:xfrm>
            <a:off x="5064118" y="22584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ta</a:t>
            </a:r>
            <a:r>
              <a:rPr lang="en-GB" sz="2200">
                <a:solidFill>
                  <a:schemeClr val="dk1"/>
                </a:solidFill>
                <a:latin typeface="Times New Roman"/>
                <a:ea typeface="Times New Roman"/>
                <a:cs typeface="Times New Roman"/>
                <a:sym typeface="Times New Roman"/>
              </a:rPr>
              <a:t>n</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386" name="Google Shape;1386;p82"/>
          <p:cNvSpPr/>
          <p:nvPr/>
        </p:nvSpPr>
        <p:spPr>
          <a:xfrm>
            <a:off x="6068620"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87" name="Google Shape;1387;p82"/>
          <p:cNvSpPr/>
          <p:nvPr/>
        </p:nvSpPr>
        <p:spPr>
          <a:xfrm>
            <a:off x="7046287" y="22545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88" name="Google Shape;1388;p82"/>
          <p:cNvSpPr txBox="1"/>
          <p:nvPr/>
        </p:nvSpPr>
        <p:spPr>
          <a:xfrm>
            <a:off x="6161650" y="37509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389" name="Google Shape;1389;p82"/>
          <p:cNvCxnSpPr/>
          <p:nvPr/>
        </p:nvCxnSpPr>
        <p:spPr>
          <a:xfrm>
            <a:off x="5003545" y="3926428"/>
            <a:ext cx="1055700" cy="0"/>
          </a:xfrm>
          <a:prstGeom prst="straightConnector1">
            <a:avLst/>
          </a:prstGeom>
          <a:noFill/>
          <a:ln cap="flat" cmpd="sng" w="19050">
            <a:solidFill>
              <a:schemeClr val="dk1"/>
            </a:solidFill>
            <a:prstDash val="solid"/>
            <a:round/>
            <a:headEnd len="med" w="med" type="none"/>
            <a:tailEnd len="med" w="med" type="none"/>
          </a:ln>
        </p:spPr>
      </p:cxnSp>
      <p:sp>
        <p:nvSpPr>
          <p:cNvPr id="1390" name="Google Shape;1390;p82"/>
          <p:cNvSpPr/>
          <p:nvPr/>
        </p:nvSpPr>
        <p:spPr>
          <a:xfrm>
            <a:off x="5015970" y="35651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91" name="Google Shape;1391;p82"/>
          <p:cNvSpPr/>
          <p:nvPr/>
        </p:nvSpPr>
        <p:spPr>
          <a:xfrm>
            <a:off x="6341939" y="37464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392" name="Google Shape;1392;p82"/>
          <p:cNvSpPr/>
          <p:nvPr/>
        </p:nvSpPr>
        <p:spPr>
          <a:xfrm rot="2367420">
            <a:off x="7907425" y="3668520"/>
            <a:ext cx="151534" cy="15153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3" name="Google Shape;1393;p82"/>
          <p:cNvSpPr txBox="1"/>
          <p:nvPr/>
        </p:nvSpPr>
        <p:spPr>
          <a:xfrm>
            <a:off x="6984166" y="3602683"/>
            <a:ext cx="639600" cy="1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2 cm</a:t>
            </a:r>
            <a:endParaRPr sz="1800">
              <a:latin typeface="Lexend"/>
              <a:ea typeface="Lexend"/>
              <a:cs typeface="Lexend"/>
              <a:sym typeface="Lexend"/>
            </a:endParaRPr>
          </a:p>
        </p:txBody>
      </p:sp>
      <p:sp>
        <p:nvSpPr>
          <p:cNvPr id="1394" name="Google Shape;1394;p82"/>
          <p:cNvSpPr txBox="1"/>
          <p:nvPr/>
        </p:nvSpPr>
        <p:spPr>
          <a:xfrm flipH="1">
            <a:off x="7293405" y="3149550"/>
            <a:ext cx="4557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395" name="Google Shape;1395;p82"/>
          <p:cNvSpPr txBox="1"/>
          <p:nvPr/>
        </p:nvSpPr>
        <p:spPr>
          <a:xfrm>
            <a:off x="8252362" y="3636321"/>
            <a:ext cx="6396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396" name="Google Shape;1396;p82"/>
          <p:cNvSpPr/>
          <p:nvPr/>
        </p:nvSpPr>
        <p:spPr>
          <a:xfrm flipH="1">
            <a:off x="2709933" y="4066835"/>
            <a:ext cx="913200" cy="913200"/>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7" name="Google Shape;1397;p82"/>
          <p:cNvSpPr/>
          <p:nvPr/>
        </p:nvSpPr>
        <p:spPr>
          <a:xfrm flipH="1">
            <a:off x="3897003" y="4362821"/>
            <a:ext cx="159900" cy="15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8" name="Google Shape;1398;p82"/>
          <p:cNvSpPr txBox="1"/>
          <p:nvPr/>
        </p:nvSpPr>
        <p:spPr>
          <a:xfrm flipH="1">
            <a:off x="3278864" y="4629053"/>
            <a:ext cx="6630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grpSp>
        <p:nvGrpSpPr>
          <p:cNvPr id="1399" name="Google Shape;1399;p82"/>
          <p:cNvGrpSpPr/>
          <p:nvPr/>
        </p:nvGrpSpPr>
        <p:grpSpPr>
          <a:xfrm>
            <a:off x="3162383" y="2858375"/>
            <a:ext cx="984817" cy="1756176"/>
            <a:chOff x="-2022025" y="1451078"/>
            <a:chExt cx="1057011" cy="1764646"/>
          </a:xfrm>
        </p:grpSpPr>
        <p:sp>
          <p:nvSpPr>
            <p:cNvPr id="1400" name="Google Shape;1400;p8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01" name="Google Shape;1401;p82"/>
            <p:cNvCxnSpPr/>
            <p:nvPr/>
          </p:nvCxnSpPr>
          <p:spPr>
            <a:xfrm>
              <a:off x="-965014" y="1451078"/>
              <a:ext cx="0" cy="1681800"/>
            </a:xfrm>
            <a:prstGeom prst="straightConnector1">
              <a:avLst/>
            </a:prstGeom>
            <a:noFill/>
            <a:ln cap="flat" cmpd="sng" w="28575">
              <a:solidFill>
                <a:srgbClr val="845AD9"/>
              </a:solidFill>
              <a:prstDash val="solid"/>
              <a:round/>
              <a:headEnd len="med" w="med" type="triangle"/>
              <a:tailEnd len="med" w="med" type="triangle"/>
            </a:ln>
          </p:spPr>
        </p:cxnSp>
        <p:cxnSp>
          <p:nvCxnSpPr>
            <p:cNvPr id="1402" name="Google Shape;1402;p82"/>
            <p:cNvCxnSpPr/>
            <p:nvPr/>
          </p:nvCxnSpPr>
          <p:spPr>
            <a:xfrm rot="10800000">
              <a:off x="-2022025" y="3215724"/>
              <a:ext cx="960900" cy="0"/>
            </a:xfrm>
            <a:prstGeom prst="straightConnector1">
              <a:avLst/>
            </a:prstGeom>
            <a:noFill/>
            <a:ln cap="flat" cmpd="sng" w="28575">
              <a:solidFill>
                <a:srgbClr val="845AD9"/>
              </a:solidFill>
              <a:prstDash val="solid"/>
              <a:round/>
              <a:headEnd len="med" w="med" type="triangle"/>
              <a:tailEnd len="med" w="med" type="triangle"/>
            </a:ln>
          </p:spPr>
        </p:cxnSp>
      </p:grpSp>
      <p:sp>
        <p:nvSpPr>
          <p:cNvPr id="1403" name="Google Shape;1403;p82"/>
          <p:cNvSpPr txBox="1"/>
          <p:nvPr/>
        </p:nvSpPr>
        <p:spPr>
          <a:xfrm flipH="1">
            <a:off x="3236918" y="4343274"/>
            <a:ext cx="3855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1</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404" name="Google Shape;1404;p82"/>
          <p:cNvSpPr txBox="1"/>
          <p:nvPr/>
        </p:nvSpPr>
        <p:spPr>
          <a:xfrm flipH="1" rot="5400654">
            <a:off x="3505025" y="3631499"/>
            <a:ext cx="15768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119</a:t>
            </a:r>
            <a:r>
              <a:rPr lang="en-GB" sz="1800">
                <a:latin typeface="Lexend"/>
                <a:ea typeface="Lexend"/>
                <a:cs typeface="Lexend"/>
                <a:sym typeface="Lexend"/>
              </a:rPr>
              <a:t> cm</a:t>
            </a:r>
            <a:endParaRPr sz="1800">
              <a:latin typeface="Lexend"/>
              <a:ea typeface="Lexend"/>
              <a:cs typeface="Lexend"/>
              <a:sym typeface="Lexend"/>
            </a:endParaRPr>
          </a:p>
        </p:txBody>
      </p:sp>
      <p:sp>
        <p:nvSpPr>
          <p:cNvPr id="1405" name="Google Shape;1405;p82"/>
          <p:cNvSpPr txBox="1"/>
          <p:nvPr/>
        </p:nvSpPr>
        <p:spPr>
          <a:xfrm flipH="1">
            <a:off x="2662800"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119</a:t>
            </a:r>
            <a:endParaRPr sz="1800">
              <a:latin typeface="Lexend"/>
              <a:ea typeface="Lexend"/>
              <a:cs typeface="Lexend"/>
              <a:sym typeface="Lexend"/>
            </a:endParaRPr>
          </a:p>
        </p:txBody>
      </p:sp>
      <p:grpSp>
        <p:nvGrpSpPr>
          <p:cNvPr id="1406" name="Google Shape;1406;p82"/>
          <p:cNvGrpSpPr/>
          <p:nvPr/>
        </p:nvGrpSpPr>
        <p:grpSpPr>
          <a:xfrm rot="2367305">
            <a:off x="7030645" y="2718425"/>
            <a:ext cx="1698050" cy="1663977"/>
            <a:chOff x="-2039087" y="1455875"/>
            <a:chExt cx="1472322" cy="2799316"/>
          </a:xfrm>
        </p:grpSpPr>
        <p:sp>
          <p:nvSpPr>
            <p:cNvPr id="1407" name="Google Shape;1407;p8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08" name="Google Shape;1408;p82"/>
            <p:cNvCxnSpPr/>
            <p:nvPr/>
          </p:nvCxnSpPr>
          <p:spPr>
            <a:xfrm rot="7323329">
              <a:off x="-2097501" y="2821515"/>
              <a:ext cx="1090929" cy="1011552"/>
            </a:xfrm>
            <a:prstGeom prst="straightConnector1">
              <a:avLst/>
            </a:prstGeom>
            <a:noFill/>
            <a:ln cap="flat" cmpd="sng" w="28575">
              <a:solidFill>
                <a:srgbClr val="845AD9"/>
              </a:solidFill>
              <a:prstDash val="solid"/>
              <a:round/>
              <a:headEnd len="med" w="med" type="triangle"/>
              <a:tailEnd len="med" w="med" type="triangle"/>
            </a:ln>
          </p:spPr>
        </p:cxnSp>
        <p:cxnSp>
          <p:nvCxnSpPr>
            <p:cNvPr id="1409" name="Google Shape;1409;p82"/>
            <p:cNvCxnSpPr/>
            <p:nvPr/>
          </p:nvCxnSpPr>
          <p:spPr>
            <a:xfrm flipH="1" rot="7322798">
              <a:off x="-1386032" y="1763572"/>
              <a:ext cx="794935" cy="1080253"/>
            </a:xfrm>
            <a:prstGeom prst="straightConnector1">
              <a:avLst/>
            </a:prstGeom>
            <a:noFill/>
            <a:ln cap="flat" cmpd="sng" w="28575">
              <a:solidFill>
                <a:srgbClr val="845AD9"/>
              </a:solidFill>
              <a:prstDash val="solid"/>
              <a:round/>
              <a:headEnd len="med" w="med" type="triangle"/>
              <a:tailEnd len="med" w="med" type="triangle"/>
            </a:ln>
          </p:spPr>
        </p:cxnSp>
      </p:grpSp>
      <p:sp>
        <p:nvSpPr>
          <p:cNvPr id="1410" name="Google Shape;1410;p82"/>
          <p:cNvSpPr txBox="1"/>
          <p:nvPr/>
        </p:nvSpPr>
        <p:spPr>
          <a:xfrm flipH="1">
            <a:off x="1694550"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81°</a:t>
            </a:r>
            <a:endParaRPr sz="2000">
              <a:latin typeface="Kalam"/>
              <a:ea typeface="Kalam"/>
              <a:cs typeface="Kalam"/>
              <a:sym typeface="Kalam"/>
            </a:endParaRPr>
          </a:p>
        </p:txBody>
      </p:sp>
      <p:sp>
        <p:nvSpPr>
          <p:cNvPr id="1411" name="Google Shape;1411;p82"/>
          <p:cNvSpPr txBox="1"/>
          <p:nvPr/>
        </p:nvSpPr>
        <p:spPr>
          <a:xfrm flipH="1">
            <a:off x="439925" y="2307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a</a:t>
            </a:r>
            <a:endParaRPr sz="2000">
              <a:latin typeface="Kalam"/>
              <a:ea typeface="Kalam"/>
              <a:cs typeface="Kalam"/>
              <a:sym typeface="Kalam"/>
            </a:endParaRPr>
          </a:p>
        </p:txBody>
      </p:sp>
      <p:sp>
        <p:nvSpPr>
          <p:cNvPr id="1412" name="Google Shape;1412;p82"/>
          <p:cNvSpPr txBox="1"/>
          <p:nvPr/>
        </p:nvSpPr>
        <p:spPr>
          <a:xfrm flipH="1">
            <a:off x="629100" y="3565125"/>
            <a:ext cx="10557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119</a:t>
            </a:r>
            <a:endParaRPr sz="2000">
              <a:latin typeface="Kalam"/>
              <a:ea typeface="Kalam"/>
              <a:cs typeface="Kalam"/>
              <a:sym typeface="Kalam"/>
            </a:endParaRPr>
          </a:p>
        </p:txBody>
      </p:sp>
      <p:sp>
        <p:nvSpPr>
          <p:cNvPr id="1413" name="Google Shape;1413;p82"/>
          <p:cNvSpPr txBox="1"/>
          <p:nvPr/>
        </p:nvSpPr>
        <p:spPr>
          <a:xfrm flipH="1">
            <a:off x="1015700" y="400767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81°</a:t>
            </a:r>
            <a:endParaRPr sz="2000">
              <a:latin typeface="Kalam"/>
              <a:ea typeface="Kalam"/>
              <a:cs typeface="Kalam"/>
              <a:sym typeface="Kalam"/>
            </a:endParaRPr>
          </a:p>
        </p:txBody>
      </p:sp>
      <p:sp>
        <p:nvSpPr>
          <p:cNvPr id="1414" name="Google Shape;1414;p82"/>
          <p:cNvSpPr txBox="1"/>
          <p:nvPr/>
        </p:nvSpPr>
        <p:spPr>
          <a:xfrm flipH="1">
            <a:off x="1959600" y="3746425"/>
            <a:ext cx="5754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a</a:t>
            </a:r>
            <a:endParaRPr sz="2000">
              <a:latin typeface="Kalam"/>
              <a:ea typeface="Kalam"/>
              <a:cs typeface="Kalam"/>
              <a:sym typeface="Kalam"/>
            </a:endParaRPr>
          </a:p>
        </p:txBody>
      </p:sp>
      <p:sp>
        <p:nvSpPr>
          <p:cNvPr id="1415" name="Google Shape;1415;p82"/>
          <p:cNvSpPr txBox="1"/>
          <p:nvPr/>
        </p:nvSpPr>
        <p:spPr>
          <a:xfrm flipH="1">
            <a:off x="4836713"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2</a:t>
            </a:r>
            <a:endParaRPr sz="1800">
              <a:latin typeface="Lexend"/>
              <a:ea typeface="Lexend"/>
              <a:cs typeface="Lexend"/>
              <a:sym typeface="Lexend"/>
            </a:endParaRPr>
          </a:p>
        </p:txBody>
      </p:sp>
      <p:sp>
        <p:nvSpPr>
          <p:cNvPr id="1416" name="Google Shape;1416;p82"/>
          <p:cNvSpPr txBox="1"/>
          <p:nvPr/>
        </p:nvSpPr>
        <p:spPr>
          <a:xfrm flipH="1">
            <a:off x="7055938"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b</a:t>
            </a:r>
            <a:endParaRPr sz="2000">
              <a:latin typeface="Kalam"/>
              <a:ea typeface="Kalam"/>
              <a:cs typeface="Kalam"/>
              <a:sym typeface="Kalam"/>
            </a:endParaRPr>
          </a:p>
        </p:txBody>
      </p:sp>
      <p:sp>
        <p:nvSpPr>
          <p:cNvPr id="1417" name="Google Shape;1417;p82"/>
          <p:cNvSpPr txBox="1"/>
          <p:nvPr/>
        </p:nvSpPr>
        <p:spPr>
          <a:xfrm flipH="1">
            <a:off x="5012813" y="3565125"/>
            <a:ext cx="10557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b</a:t>
            </a:r>
            <a:endParaRPr sz="2000">
              <a:latin typeface="Kalam"/>
              <a:ea typeface="Kalam"/>
              <a:cs typeface="Kalam"/>
              <a:sym typeface="Kalam"/>
            </a:endParaRPr>
          </a:p>
        </p:txBody>
      </p:sp>
      <p:sp>
        <p:nvSpPr>
          <p:cNvPr id="1418" name="Google Shape;1418;p82"/>
          <p:cNvSpPr txBox="1"/>
          <p:nvPr/>
        </p:nvSpPr>
        <p:spPr>
          <a:xfrm flipH="1">
            <a:off x="5399413" y="400767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49°</a:t>
            </a:r>
            <a:endParaRPr sz="2000">
              <a:latin typeface="Kalam"/>
              <a:ea typeface="Kalam"/>
              <a:cs typeface="Kalam"/>
              <a:sym typeface="Kalam"/>
            </a:endParaRPr>
          </a:p>
        </p:txBody>
      </p:sp>
      <p:sp>
        <p:nvSpPr>
          <p:cNvPr id="1419" name="Google Shape;1419;p82"/>
          <p:cNvSpPr txBox="1"/>
          <p:nvPr/>
        </p:nvSpPr>
        <p:spPr>
          <a:xfrm flipH="1">
            <a:off x="6343313" y="3746425"/>
            <a:ext cx="5754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2</a:t>
            </a:r>
            <a:endParaRPr sz="2000">
              <a:latin typeface="Kalam"/>
              <a:ea typeface="Kalam"/>
              <a:cs typeface="Kalam"/>
              <a:sym typeface="Kalam"/>
            </a:endParaRPr>
          </a:p>
        </p:txBody>
      </p:sp>
      <p:sp>
        <p:nvSpPr>
          <p:cNvPr id="1420" name="Google Shape;1420;p82"/>
          <p:cNvSpPr txBox="1"/>
          <p:nvPr/>
        </p:nvSpPr>
        <p:spPr>
          <a:xfrm flipH="1">
            <a:off x="753500" y="4522725"/>
            <a:ext cx="21138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a cm = 18.85 cm</a:t>
            </a:r>
            <a:endParaRPr sz="2000">
              <a:latin typeface="Kalam"/>
              <a:ea typeface="Kalam"/>
              <a:cs typeface="Kalam"/>
              <a:sym typeface="Kalam"/>
            </a:endParaRPr>
          </a:p>
        </p:txBody>
      </p:sp>
      <p:sp>
        <p:nvSpPr>
          <p:cNvPr id="1421" name="Google Shape;1421;p82"/>
          <p:cNvSpPr txBox="1"/>
          <p:nvPr/>
        </p:nvSpPr>
        <p:spPr>
          <a:xfrm flipH="1">
            <a:off x="6078263" y="23222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49°</a:t>
            </a:r>
            <a:endParaRPr sz="2000">
              <a:latin typeface="Kalam"/>
              <a:ea typeface="Kalam"/>
              <a:cs typeface="Kalam"/>
              <a:sym typeface="Kalam"/>
            </a:endParaRPr>
          </a:p>
        </p:txBody>
      </p:sp>
      <p:sp>
        <p:nvSpPr>
          <p:cNvPr id="1422" name="Google Shape;1422;p82"/>
          <p:cNvSpPr txBox="1"/>
          <p:nvPr/>
        </p:nvSpPr>
        <p:spPr>
          <a:xfrm flipH="1">
            <a:off x="5635300" y="4522725"/>
            <a:ext cx="21138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b cm = 2.30 cm</a:t>
            </a:r>
            <a:endParaRPr sz="2000">
              <a:latin typeface="Kalam"/>
              <a:ea typeface="Kalam"/>
              <a:cs typeface="Kalam"/>
              <a:sym typeface="Kalam"/>
            </a:endParaRPr>
          </a:p>
        </p:txBody>
      </p:sp>
      <p:sp>
        <p:nvSpPr>
          <p:cNvPr id="1423" name="Google Shape;1423;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tangent formula</a:t>
            </a:r>
            <a:endParaRPr/>
          </a:p>
        </p:txBody>
      </p:sp>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424" name="Google Shape;1424;p82" title="opp over a equals tangent theta degrees opp over tangent theta degrees equals a a times tangent theta degrees equals opp"/>
          <p:cNvPicPr preferRelativeResize="0"/>
          <p:nvPr/>
        </p:nvPicPr>
        <p:blipFill rotWithShape="1">
          <a:blip r:embed="rId3">
            <a:alphaModFix/>
          </a:blip>
          <a:srcRect b="0" l="63933" r="-985" t="0"/>
          <a:stretch/>
        </p:blipFill>
        <p:spPr>
          <a:xfrm>
            <a:off x="855475" y="1772800"/>
            <a:ext cx="2012960" cy="561575"/>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425" name="Google Shape;1425;p82" title="opp over a equals tangent theta degrees opp over tangent theta degrees equals a a times tangent theta degrees equals opp"/>
          <p:cNvPicPr preferRelativeResize="0"/>
          <p:nvPr/>
        </p:nvPicPr>
        <p:blipFill rotWithShape="1">
          <a:blip r:embed="rId3">
            <a:alphaModFix/>
          </a:blip>
          <a:srcRect b="0" l="63933" r="-985" t="0"/>
          <a:stretch/>
        </p:blipFill>
        <p:spPr>
          <a:xfrm>
            <a:off x="5195400" y="1762837"/>
            <a:ext cx="2012960" cy="561575"/>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426" name="Google Shape;1426;p82" title="opp over a equals tangent theta degrees opp over tangent theta degrees equals a a times tangent theta degrees equals opp"/>
          <p:cNvPicPr preferRelativeResize="0"/>
          <p:nvPr/>
        </p:nvPicPr>
        <p:blipFill rotWithShape="1">
          <a:blip r:embed="rId3">
            <a:alphaModFix/>
          </a:blip>
          <a:srcRect b="0" l="33741" r="39497" t="0"/>
          <a:stretch/>
        </p:blipFill>
        <p:spPr>
          <a:xfrm>
            <a:off x="1079700" y="2876750"/>
            <a:ext cx="1453825" cy="561575"/>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1427" name="Google Shape;1427;p82" title="opp over a equals tangent theta degrees opp over tangent theta degrees equals a a times tangent theta degrees equals opp"/>
          <p:cNvPicPr preferRelativeResize="0"/>
          <p:nvPr/>
        </p:nvPicPr>
        <p:blipFill rotWithShape="1">
          <a:blip r:embed="rId3">
            <a:alphaModFix/>
          </a:blip>
          <a:srcRect b="0" l="33741" r="39497" t="0"/>
          <a:stretch/>
        </p:blipFill>
        <p:spPr>
          <a:xfrm>
            <a:off x="5325350" y="2876750"/>
            <a:ext cx="1453825" cy="561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sp>
        <p:nvSpPr>
          <p:cNvPr id="1432" name="Google Shape;1432;p83"/>
          <p:cNvSpPr/>
          <p:nvPr/>
        </p:nvSpPr>
        <p:spPr>
          <a:xfrm flipH="1">
            <a:off x="3459574" y="1468475"/>
            <a:ext cx="1013100" cy="1013700"/>
          </a:xfrm>
          <a:prstGeom prst="arc">
            <a:avLst>
              <a:gd fmla="val 5344843" name="adj1"/>
              <a:gd fmla="val 8988316"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33" name="Google Shape;1433;p83"/>
          <p:cNvGrpSpPr/>
          <p:nvPr/>
        </p:nvGrpSpPr>
        <p:grpSpPr>
          <a:xfrm rot="5400000">
            <a:off x="4198928" y="1620997"/>
            <a:ext cx="1080944" cy="1770300"/>
            <a:chOff x="-2024050" y="1455875"/>
            <a:chExt cx="1080944" cy="1770300"/>
          </a:xfrm>
        </p:grpSpPr>
        <p:sp>
          <p:nvSpPr>
            <p:cNvPr id="1434" name="Google Shape;1434;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35" name="Google Shape;1435;p83"/>
            <p:cNvCxnSpPr/>
            <p:nvPr/>
          </p:nvCxnSpPr>
          <p:spPr>
            <a:xfrm rot="10800000">
              <a:off x="-1539550" y="2741675"/>
              <a:ext cx="0" cy="969000"/>
            </a:xfrm>
            <a:prstGeom prst="straightConnector1">
              <a:avLst/>
            </a:prstGeom>
            <a:noFill/>
            <a:ln cap="flat" cmpd="sng" w="28575">
              <a:solidFill>
                <a:srgbClr val="845AD9"/>
              </a:solidFill>
              <a:prstDash val="solid"/>
              <a:round/>
              <a:headEnd len="med" w="med" type="triangle"/>
              <a:tailEnd len="med" w="med" type="triangle"/>
            </a:ln>
          </p:spPr>
        </p:cxnSp>
        <p:cxnSp>
          <p:nvCxnSpPr>
            <p:cNvPr id="1436" name="Google Shape;1436;p83"/>
            <p:cNvCxnSpPr/>
            <p:nvPr/>
          </p:nvCxnSpPr>
          <p:spPr>
            <a:xfrm rot="-5400000">
              <a:off x="-1777257" y="2290025"/>
              <a:ext cx="1668300" cy="0"/>
            </a:xfrm>
            <a:prstGeom prst="straightConnector1">
              <a:avLst/>
            </a:prstGeom>
            <a:noFill/>
            <a:ln cap="flat" cmpd="sng" w="28575">
              <a:solidFill>
                <a:srgbClr val="845AD9"/>
              </a:solidFill>
              <a:prstDash val="solid"/>
              <a:round/>
              <a:headEnd len="med" w="med" type="triangle"/>
              <a:tailEnd len="med" w="med" type="triangle"/>
            </a:ln>
          </p:spPr>
        </p:cxnSp>
      </p:grpSp>
      <p:sp>
        <p:nvSpPr>
          <p:cNvPr id="1437" name="Google Shape;1437;p83"/>
          <p:cNvSpPr/>
          <p:nvPr/>
        </p:nvSpPr>
        <p:spPr>
          <a:xfrm flipH="1">
            <a:off x="2058075" y="2215650"/>
            <a:ext cx="1406100" cy="14067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8" name="Google Shape;1438;p83"/>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 Match the triangle to the equation showing the relationship between its adjacent and the opposite side.</a:t>
            </a:r>
            <a:endParaRPr sz="1800">
              <a:latin typeface="Lexend"/>
              <a:ea typeface="Lexend"/>
              <a:cs typeface="Lexend"/>
              <a:sym typeface="Lexend"/>
            </a:endParaRPr>
          </a:p>
        </p:txBody>
      </p:sp>
      <p:sp>
        <p:nvSpPr>
          <p:cNvPr id="1439" name="Google Shape;1439;p83"/>
          <p:cNvSpPr/>
          <p:nvPr/>
        </p:nvSpPr>
        <p:spPr>
          <a:xfrm rot="5400000">
            <a:off x="111930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40" name="Google Shape;1440;p83"/>
          <p:cNvGrpSpPr/>
          <p:nvPr/>
        </p:nvGrpSpPr>
        <p:grpSpPr>
          <a:xfrm rot="5400000">
            <a:off x="1362291" y="1606691"/>
            <a:ext cx="1069500" cy="1791518"/>
            <a:chOff x="-2022025" y="1450675"/>
            <a:chExt cx="1069500" cy="1791518"/>
          </a:xfrm>
        </p:grpSpPr>
        <p:sp>
          <p:nvSpPr>
            <p:cNvPr id="1441" name="Google Shape;1441;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42" name="Google Shape;1442;p83"/>
            <p:cNvCxnSpPr/>
            <p:nvPr/>
          </p:nvCxnSpPr>
          <p:spPr>
            <a:xfrm rot="5400000">
              <a:off x="-1792825" y="2290975"/>
              <a:ext cx="1680600" cy="0"/>
            </a:xfrm>
            <a:prstGeom prst="straightConnector1">
              <a:avLst/>
            </a:prstGeom>
            <a:noFill/>
            <a:ln cap="flat" cmpd="sng" w="28575">
              <a:solidFill>
                <a:srgbClr val="845AD9"/>
              </a:solidFill>
              <a:prstDash val="solid"/>
              <a:round/>
              <a:headEnd len="med" w="med" type="triangle"/>
              <a:tailEnd len="med" w="med" type="triangle"/>
            </a:ln>
          </p:spPr>
        </p:cxnSp>
        <p:cxnSp>
          <p:nvCxnSpPr>
            <p:cNvPr id="1443" name="Google Shape;1443;p83"/>
            <p:cNvCxnSpPr/>
            <p:nvPr/>
          </p:nvCxnSpPr>
          <p:spPr>
            <a:xfrm>
              <a:off x="-1541575" y="2761743"/>
              <a:ext cx="0" cy="960900"/>
            </a:xfrm>
            <a:prstGeom prst="straightConnector1">
              <a:avLst/>
            </a:prstGeom>
            <a:noFill/>
            <a:ln cap="flat" cmpd="sng" w="28575">
              <a:solidFill>
                <a:srgbClr val="845AD9"/>
              </a:solidFill>
              <a:prstDash val="solid"/>
              <a:round/>
              <a:headEnd len="med" w="med" type="triangle"/>
              <a:tailEnd len="med" w="med" type="triangle"/>
            </a:ln>
          </p:spPr>
        </p:cxnSp>
      </p:grpSp>
      <p:sp>
        <p:nvSpPr>
          <p:cNvPr id="1444" name="Google Shape;1444;p83"/>
          <p:cNvSpPr txBox="1"/>
          <p:nvPr/>
        </p:nvSpPr>
        <p:spPr>
          <a:xfrm>
            <a:off x="2033600" y="2677525"/>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445" name="Google Shape;1445;p83"/>
          <p:cNvSpPr txBox="1"/>
          <p:nvPr/>
        </p:nvSpPr>
        <p:spPr>
          <a:xfrm>
            <a:off x="344558" y="233045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446" name="Google Shape;1446;p83"/>
          <p:cNvSpPr txBox="1"/>
          <p:nvPr/>
        </p:nvSpPr>
        <p:spPr>
          <a:xfrm>
            <a:off x="1701390" y="30463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 cm</a:t>
            </a:r>
            <a:endParaRPr sz="1800">
              <a:latin typeface="Lexend"/>
              <a:ea typeface="Lexend"/>
              <a:cs typeface="Lexend"/>
              <a:sym typeface="Lexend"/>
            </a:endParaRPr>
          </a:p>
        </p:txBody>
      </p:sp>
      <p:sp>
        <p:nvSpPr>
          <p:cNvPr id="1447" name="Google Shape;1447;p83"/>
          <p:cNvSpPr/>
          <p:nvPr/>
        </p:nvSpPr>
        <p:spPr>
          <a:xfrm rot="5400000">
            <a:off x="395625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8" name="Google Shape;1448;p83"/>
          <p:cNvSpPr txBox="1"/>
          <p:nvPr/>
        </p:nvSpPr>
        <p:spPr>
          <a:xfrm>
            <a:off x="4430795" y="3046625"/>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449" name="Google Shape;1449;p83"/>
          <p:cNvSpPr txBox="1"/>
          <p:nvPr/>
        </p:nvSpPr>
        <p:spPr>
          <a:xfrm>
            <a:off x="3154940" y="22945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 cm</a:t>
            </a:r>
            <a:endParaRPr sz="1800">
              <a:latin typeface="Lexend"/>
              <a:ea typeface="Lexend"/>
              <a:cs typeface="Lexend"/>
              <a:sym typeface="Lexend"/>
            </a:endParaRPr>
          </a:p>
        </p:txBody>
      </p:sp>
      <p:sp>
        <p:nvSpPr>
          <p:cNvPr id="1450" name="Google Shape;1450;p83"/>
          <p:cNvSpPr txBox="1"/>
          <p:nvPr/>
        </p:nvSpPr>
        <p:spPr>
          <a:xfrm>
            <a:off x="3918056" y="2136244"/>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a:t>
            </a:r>
            <a:endParaRPr sz="1800">
              <a:latin typeface="Lexend"/>
              <a:ea typeface="Lexend"/>
              <a:cs typeface="Lexend"/>
              <a:sym typeface="Lexend"/>
            </a:endParaRPr>
          </a:p>
        </p:txBody>
      </p:sp>
      <p:sp>
        <p:nvSpPr>
          <p:cNvPr id="1451" name="Google Shape;1451;p83"/>
          <p:cNvSpPr/>
          <p:nvPr/>
        </p:nvSpPr>
        <p:spPr>
          <a:xfrm flipH="1" rot="-5400000">
            <a:off x="7169724" y="553024"/>
            <a:ext cx="1877400" cy="18783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2" name="Google Shape;1452;p83"/>
          <p:cNvSpPr/>
          <p:nvPr/>
        </p:nvSpPr>
        <p:spPr>
          <a:xfrm>
            <a:off x="7923941" y="2939967"/>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3" name="Google Shape;1453;p83"/>
          <p:cNvSpPr txBox="1"/>
          <p:nvPr/>
        </p:nvSpPr>
        <p:spPr>
          <a:xfrm>
            <a:off x="7681221" y="2084783"/>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454" name="Google Shape;1454;p83"/>
          <p:cNvSpPr txBox="1"/>
          <p:nvPr/>
        </p:nvSpPr>
        <p:spPr>
          <a:xfrm>
            <a:off x="8229917" y="2205887"/>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cm</a:t>
            </a:r>
            <a:endParaRPr sz="1800">
              <a:latin typeface="Lexend"/>
              <a:ea typeface="Lexend"/>
              <a:cs typeface="Lexend"/>
              <a:sym typeface="Lexend"/>
            </a:endParaRPr>
          </a:p>
        </p:txBody>
      </p:sp>
      <p:sp>
        <p:nvSpPr>
          <p:cNvPr id="1455" name="Google Shape;1455;p83"/>
          <p:cNvSpPr txBox="1"/>
          <p:nvPr/>
        </p:nvSpPr>
        <p:spPr>
          <a:xfrm>
            <a:off x="7319791" y="325848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50 cm</a:t>
            </a:r>
            <a:endParaRPr sz="1800">
              <a:latin typeface="Lexend"/>
              <a:ea typeface="Lexend"/>
              <a:cs typeface="Lexend"/>
              <a:sym typeface="Lexend"/>
            </a:endParaRPr>
          </a:p>
        </p:txBody>
      </p:sp>
      <p:grpSp>
        <p:nvGrpSpPr>
          <p:cNvPr id="1456" name="Google Shape;1456;p83"/>
          <p:cNvGrpSpPr/>
          <p:nvPr/>
        </p:nvGrpSpPr>
        <p:grpSpPr>
          <a:xfrm>
            <a:off x="7157141" y="1465766"/>
            <a:ext cx="1078918" cy="1786318"/>
            <a:chOff x="-2022025" y="1455875"/>
            <a:chExt cx="1078918" cy="1786318"/>
          </a:xfrm>
        </p:grpSpPr>
        <p:sp>
          <p:nvSpPr>
            <p:cNvPr id="1457" name="Google Shape;1457;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58" name="Google Shape;1458;p83"/>
            <p:cNvCxnSpPr/>
            <p:nvPr/>
          </p:nvCxnSpPr>
          <p:spPr>
            <a:xfrm>
              <a:off x="-1541575" y="2761743"/>
              <a:ext cx="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459" name="Google Shape;1459;p83"/>
            <p:cNvCxnSpPr/>
            <p:nvPr/>
          </p:nvCxnSpPr>
          <p:spPr>
            <a:xfrm rot="-5400000">
              <a:off x="-1777257" y="2290025"/>
              <a:ext cx="1668300" cy="0"/>
            </a:xfrm>
            <a:prstGeom prst="straightConnector1">
              <a:avLst/>
            </a:prstGeom>
            <a:noFill/>
            <a:ln cap="flat" cmpd="sng" w="28575">
              <a:solidFill>
                <a:srgbClr val="845AD9"/>
              </a:solidFill>
              <a:prstDash val="solid"/>
              <a:round/>
              <a:headEnd len="med" w="med" type="triangle"/>
              <a:tailEnd len="med" w="med" type="triangle"/>
            </a:ln>
          </p:spPr>
        </p:cxnSp>
      </p:grpSp>
      <p:sp>
        <p:nvSpPr>
          <p:cNvPr id="1460" name="Google Shape;1460;p83"/>
          <p:cNvSpPr txBox="1"/>
          <p:nvPr/>
        </p:nvSpPr>
        <p:spPr>
          <a:xfrm>
            <a:off x="4969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461" name="Google Shape;1461;p83"/>
          <p:cNvSpPr txBox="1"/>
          <p:nvPr/>
        </p:nvSpPr>
        <p:spPr>
          <a:xfrm>
            <a:off x="31491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462" name="Google Shape;1462;p83"/>
          <p:cNvSpPr txBox="1"/>
          <p:nvPr/>
        </p:nvSpPr>
        <p:spPr>
          <a:xfrm>
            <a:off x="6715750" y="1780300"/>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463" name="Google Shape;1463;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tangent formula</a:t>
            </a:r>
            <a:endParaRPr/>
          </a:p>
        </p:txBody>
      </p:sp>
      <p:sp>
        <p:nvSpPr>
          <p:cNvPr id="1464" name="Google Shape;1464;p83"/>
          <p:cNvSpPr txBox="1"/>
          <p:nvPr/>
        </p:nvSpPr>
        <p:spPr>
          <a:xfrm>
            <a:off x="324000" y="1192913"/>
            <a:ext cx="7233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Use the equation to find the length of the missing side labelled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on each triangle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465" name="Google Shape;1465;p83"/>
          <p:cNvSpPr txBox="1"/>
          <p:nvPr/>
        </p:nvSpPr>
        <p:spPr>
          <a:xfrm>
            <a:off x="6358502" y="3996234"/>
            <a:ext cx="20796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80.02</a:t>
            </a:r>
            <a:endParaRPr sz="2000">
              <a:latin typeface="Kalam"/>
              <a:ea typeface="Kalam"/>
              <a:cs typeface="Kalam"/>
              <a:sym typeface="Kalam"/>
            </a:endParaRPr>
          </a:p>
        </p:txBody>
      </p:sp>
      <p:grpSp>
        <p:nvGrpSpPr>
          <p:cNvPr id="1466" name="Google Shape;1466;p83"/>
          <p:cNvGrpSpPr/>
          <p:nvPr/>
        </p:nvGrpSpPr>
        <p:grpSpPr>
          <a:xfrm>
            <a:off x="3538750" y="3432950"/>
            <a:ext cx="2461500" cy="419400"/>
            <a:chOff x="3369600" y="3706325"/>
            <a:chExt cx="2461500" cy="419400"/>
          </a:xfrm>
        </p:grpSpPr>
        <p:sp>
          <p:nvSpPr>
            <p:cNvPr id="1467" name="Google Shape;1467;p83"/>
            <p:cNvSpPr/>
            <p:nvPr/>
          </p:nvSpPr>
          <p:spPr>
            <a:xfrm>
              <a:off x="33696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32 × tan(50°) = </a:t>
              </a: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p:txBody>
        </p:sp>
        <p:sp>
          <p:nvSpPr>
            <p:cNvPr id="1468" name="Google Shape;1468;p83"/>
            <p:cNvSpPr/>
            <p:nvPr/>
          </p:nvSpPr>
          <p:spPr>
            <a:xfrm>
              <a:off x="33696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f</a:t>
              </a:r>
              <a:endParaRPr sz="2000">
                <a:solidFill>
                  <a:schemeClr val="lt1"/>
                </a:solidFill>
                <a:latin typeface="Lexend"/>
                <a:ea typeface="Lexend"/>
                <a:cs typeface="Lexend"/>
                <a:sym typeface="Lexend"/>
              </a:endParaRPr>
            </a:p>
          </p:txBody>
        </p:sp>
      </p:grpSp>
      <p:grpSp>
        <p:nvGrpSpPr>
          <p:cNvPr id="1469" name="Google Shape;1469;p83"/>
          <p:cNvGrpSpPr/>
          <p:nvPr/>
        </p:nvGrpSpPr>
        <p:grpSpPr>
          <a:xfrm>
            <a:off x="6358500" y="3546150"/>
            <a:ext cx="2461500" cy="419400"/>
            <a:chOff x="6358500" y="3706325"/>
            <a:chExt cx="2461500" cy="419400"/>
          </a:xfrm>
        </p:grpSpPr>
        <p:sp>
          <p:nvSpPr>
            <p:cNvPr id="1470" name="Google Shape;1470;p83"/>
            <p:cNvSpPr/>
            <p:nvPr/>
          </p:nvSpPr>
          <p:spPr>
            <a:xfrm>
              <a:off x="63585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2000">
                  <a:latin typeface="Times New Roman"/>
                  <a:ea typeface="Times New Roman"/>
                  <a:cs typeface="Times New Roman"/>
                  <a:sym typeface="Times New Roman"/>
                </a:rPr>
                <a:t> × tan(32°) = </a:t>
              </a:r>
              <a:r>
                <a:rPr lang="en-GB" sz="2000">
                  <a:solidFill>
                    <a:schemeClr val="dk1"/>
                  </a:solidFill>
                  <a:latin typeface="Times New Roman"/>
                  <a:ea typeface="Times New Roman"/>
                  <a:cs typeface="Times New Roman"/>
                  <a:sym typeface="Times New Roman"/>
                </a:rPr>
                <a:t>50</a:t>
              </a:r>
              <a:endParaRPr i="1" sz="2000">
                <a:latin typeface="Times New Roman"/>
                <a:ea typeface="Times New Roman"/>
                <a:cs typeface="Times New Roman"/>
                <a:sym typeface="Times New Roman"/>
              </a:endParaRPr>
            </a:p>
          </p:txBody>
        </p:sp>
        <p:sp>
          <p:nvSpPr>
            <p:cNvPr id="1471" name="Google Shape;1471;p83"/>
            <p:cNvSpPr/>
            <p:nvPr/>
          </p:nvSpPr>
          <p:spPr>
            <a:xfrm>
              <a:off x="63585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d</a:t>
              </a:r>
              <a:endParaRPr sz="2000">
                <a:solidFill>
                  <a:schemeClr val="lt1"/>
                </a:solidFill>
                <a:latin typeface="Lexend"/>
                <a:ea typeface="Lexend"/>
                <a:cs typeface="Lexend"/>
                <a:sym typeface="Lexend"/>
              </a:endParaRPr>
            </a:p>
          </p:txBody>
        </p:sp>
      </p:grpSp>
      <p:grpSp>
        <p:nvGrpSpPr>
          <p:cNvPr id="1472" name="Google Shape;1472;p83"/>
          <p:cNvGrpSpPr/>
          <p:nvPr/>
        </p:nvGrpSpPr>
        <p:grpSpPr>
          <a:xfrm>
            <a:off x="324000" y="3421075"/>
            <a:ext cx="2461500" cy="419400"/>
            <a:chOff x="324000" y="3706325"/>
            <a:chExt cx="2461500" cy="419400"/>
          </a:xfrm>
        </p:grpSpPr>
        <p:sp>
          <p:nvSpPr>
            <p:cNvPr id="1473" name="Google Shape;1473;p83"/>
            <p:cNvSpPr/>
            <p:nvPr/>
          </p:nvSpPr>
          <p:spPr>
            <a:xfrm>
              <a:off x="3240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50 × tan(32°) = </a:t>
              </a:r>
              <a:r>
                <a:rPr i="1" lang="en-GB" sz="2000">
                  <a:latin typeface="Times New Roman"/>
                  <a:ea typeface="Times New Roman"/>
                  <a:cs typeface="Times New Roman"/>
                  <a:sym typeface="Times New Roman"/>
                </a:rPr>
                <a:t>x</a:t>
              </a:r>
              <a:endParaRPr i="1" sz="2000">
                <a:latin typeface="Times New Roman"/>
                <a:ea typeface="Times New Roman"/>
                <a:cs typeface="Times New Roman"/>
                <a:sym typeface="Times New Roman"/>
              </a:endParaRPr>
            </a:p>
          </p:txBody>
        </p:sp>
        <p:sp>
          <p:nvSpPr>
            <p:cNvPr id="1474" name="Google Shape;1474;p83"/>
            <p:cNvSpPr/>
            <p:nvPr/>
          </p:nvSpPr>
          <p:spPr>
            <a:xfrm>
              <a:off x="3240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chemeClr val="lt1"/>
                  </a:solidFill>
                  <a:latin typeface="Lexend"/>
                  <a:ea typeface="Lexend"/>
                  <a:cs typeface="Lexend"/>
                  <a:sym typeface="Lexend"/>
                </a:rPr>
                <a:t>e</a:t>
              </a:r>
              <a:endParaRPr sz="2000">
                <a:solidFill>
                  <a:schemeClr val="lt1"/>
                </a:solidFill>
                <a:latin typeface="Lexend"/>
                <a:ea typeface="Lexend"/>
                <a:cs typeface="Lexend"/>
                <a:sym typeface="Lexend"/>
              </a:endParaRPr>
            </a:p>
          </p:txBody>
        </p:sp>
      </p:grpSp>
      <p:sp>
        <p:nvSpPr>
          <p:cNvPr id="1475" name="Google Shape;1475;p83"/>
          <p:cNvSpPr txBox="1"/>
          <p:nvPr/>
        </p:nvSpPr>
        <p:spPr>
          <a:xfrm>
            <a:off x="324025" y="4306300"/>
            <a:ext cx="28734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 side opposite 32° has a length of 31.24 cm</a:t>
            </a:r>
            <a:endParaRPr sz="2000">
              <a:latin typeface="Kalam"/>
              <a:ea typeface="Kalam"/>
              <a:cs typeface="Kalam"/>
              <a:sym typeface="Kalam"/>
            </a:endParaRPr>
          </a:p>
        </p:txBody>
      </p:sp>
      <p:sp>
        <p:nvSpPr>
          <p:cNvPr id="1476" name="Google Shape;1476;p83"/>
          <p:cNvSpPr txBox="1"/>
          <p:nvPr/>
        </p:nvSpPr>
        <p:spPr>
          <a:xfrm>
            <a:off x="324023" y="3879950"/>
            <a:ext cx="2461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31.24</a:t>
            </a:r>
            <a:endParaRPr sz="2000">
              <a:latin typeface="Kalam"/>
              <a:ea typeface="Kalam"/>
              <a:cs typeface="Kalam"/>
              <a:sym typeface="Kalam"/>
            </a:endParaRPr>
          </a:p>
        </p:txBody>
      </p:sp>
      <p:sp>
        <p:nvSpPr>
          <p:cNvPr id="1477" name="Google Shape;1477;p83"/>
          <p:cNvSpPr txBox="1"/>
          <p:nvPr/>
        </p:nvSpPr>
        <p:spPr>
          <a:xfrm>
            <a:off x="3394687" y="4360320"/>
            <a:ext cx="28734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 side opposite 50° has a length of </a:t>
            </a:r>
            <a:r>
              <a:rPr lang="en-GB" sz="2000">
                <a:solidFill>
                  <a:schemeClr val="dk1"/>
                </a:solidFill>
                <a:latin typeface="Kalam"/>
                <a:ea typeface="Kalam"/>
                <a:cs typeface="Kalam"/>
                <a:sym typeface="Kalam"/>
              </a:rPr>
              <a:t>38.14</a:t>
            </a:r>
            <a:r>
              <a:rPr lang="en-GB" sz="2000">
                <a:latin typeface="Kalam"/>
                <a:ea typeface="Kalam"/>
                <a:cs typeface="Kalam"/>
                <a:sym typeface="Kalam"/>
              </a:rPr>
              <a:t> cm</a:t>
            </a:r>
            <a:endParaRPr sz="2000">
              <a:latin typeface="Kalam"/>
              <a:ea typeface="Kalam"/>
              <a:cs typeface="Kalam"/>
              <a:sym typeface="Kalam"/>
            </a:endParaRPr>
          </a:p>
        </p:txBody>
      </p:sp>
      <p:sp>
        <p:nvSpPr>
          <p:cNvPr id="1478" name="Google Shape;1478;p83"/>
          <p:cNvSpPr txBox="1"/>
          <p:nvPr/>
        </p:nvSpPr>
        <p:spPr>
          <a:xfrm>
            <a:off x="3394685" y="3933970"/>
            <a:ext cx="2461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38.14</a:t>
            </a:r>
            <a:endParaRPr sz="2000">
              <a:latin typeface="Kalam"/>
              <a:ea typeface="Kalam"/>
              <a:cs typeface="Kalam"/>
              <a:sym typeface="Kalam"/>
            </a:endParaRPr>
          </a:p>
        </p:txBody>
      </p:sp>
      <p:sp>
        <p:nvSpPr>
          <p:cNvPr id="1479" name="Google Shape;1479;p83"/>
          <p:cNvSpPr txBox="1"/>
          <p:nvPr/>
        </p:nvSpPr>
        <p:spPr>
          <a:xfrm>
            <a:off x="6358504" y="4422584"/>
            <a:ext cx="24276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The adjacent has a length of </a:t>
            </a:r>
            <a:r>
              <a:rPr lang="en-GB" sz="2000">
                <a:solidFill>
                  <a:schemeClr val="dk1"/>
                </a:solidFill>
                <a:latin typeface="Kalam"/>
                <a:ea typeface="Kalam"/>
                <a:cs typeface="Kalam"/>
                <a:sym typeface="Kalam"/>
              </a:rPr>
              <a:t>80.02</a:t>
            </a:r>
            <a:r>
              <a:rPr lang="en-GB" sz="2000">
                <a:latin typeface="Kalam"/>
                <a:ea typeface="Kalam"/>
                <a:cs typeface="Kalam"/>
                <a:sym typeface="Kalam"/>
              </a:rPr>
              <a:t> cm</a:t>
            </a:r>
            <a:endParaRPr sz="2000">
              <a:latin typeface="Kalam"/>
              <a:ea typeface="Kalam"/>
              <a:cs typeface="Kalam"/>
              <a:sym typeface="Kala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84"/>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 By using the tangent formula, find the length of the missing side labelled with a letter for each of these triangles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485" name="Google Shape;1485;p84"/>
          <p:cNvSpPr/>
          <p:nvPr/>
        </p:nvSpPr>
        <p:spPr>
          <a:xfrm flipH="1">
            <a:off x="-20267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6" name="Google Shape;1486;p84"/>
          <p:cNvSpPr/>
          <p:nvPr/>
        </p:nvSpPr>
        <p:spPr>
          <a:xfrm rot="-5400000">
            <a:off x="665399"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87" name="Google Shape;1487;p84"/>
          <p:cNvCxnSpPr/>
          <p:nvPr/>
        </p:nvCxnSpPr>
        <p:spPr>
          <a:xfrm>
            <a:off x="5988039" y="1137525"/>
            <a:ext cx="0" cy="3682800"/>
          </a:xfrm>
          <a:prstGeom prst="straightConnector1">
            <a:avLst/>
          </a:prstGeom>
          <a:noFill/>
          <a:ln cap="flat" cmpd="sng" w="38100">
            <a:solidFill>
              <a:schemeClr val="accent4"/>
            </a:solidFill>
            <a:prstDash val="solid"/>
            <a:round/>
            <a:headEnd len="med" w="med" type="none"/>
            <a:tailEnd len="med" w="med" type="none"/>
          </a:ln>
        </p:spPr>
      </p:cxnSp>
      <p:cxnSp>
        <p:nvCxnSpPr>
          <p:cNvPr id="1488" name="Google Shape;1488;p84"/>
          <p:cNvCxnSpPr/>
          <p:nvPr/>
        </p:nvCxnSpPr>
        <p:spPr>
          <a:xfrm>
            <a:off x="4572075" y="-1269043"/>
            <a:ext cx="0" cy="8496000"/>
          </a:xfrm>
          <a:prstGeom prst="straightConnector1">
            <a:avLst/>
          </a:prstGeom>
          <a:noFill/>
          <a:ln cap="flat" cmpd="sng" w="38100">
            <a:solidFill>
              <a:schemeClr val="accent4"/>
            </a:solidFill>
            <a:prstDash val="solid"/>
            <a:round/>
            <a:headEnd len="med" w="med" type="none"/>
            <a:tailEnd len="med" w="med" type="none"/>
          </a:ln>
        </p:spPr>
      </p:cxnSp>
      <p:cxnSp>
        <p:nvCxnSpPr>
          <p:cNvPr id="1489" name="Google Shape;1489;p84"/>
          <p:cNvCxnSpPr/>
          <p:nvPr/>
        </p:nvCxnSpPr>
        <p:spPr>
          <a:xfrm>
            <a:off x="3156072" y="1137525"/>
            <a:ext cx="0" cy="3682800"/>
          </a:xfrm>
          <a:prstGeom prst="straightConnector1">
            <a:avLst/>
          </a:prstGeom>
          <a:noFill/>
          <a:ln cap="flat" cmpd="sng" w="38100">
            <a:solidFill>
              <a:schemeClr val="accent4"/>
            </a:solidFill>
            <a:prstDash val="solid"/>
            <a:round/>
            <a:headEnd len="med" w="med" type="none"/>
            <a:tailEnd len="med" w="med" type="none"/>
          </a:ln>
        </p:spPr>
      </p:cxnSp>
      <p:sp>
        <p:nvSpPr>
          <p:cNvPr id="1490" name="Google Shape;1490;p84"/>
          <p:cNvSpPr/>
          <p:nvPr/>
        </p:nvSpPr>
        <p:spPr>
          <a:xfrm>
            <a:off x="1659443"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91" name="Google Shape;1491;p84"/>
          <p:cNvCxnSpPr/>
          <p:nvPr/>
        </p:nvCxnSpPr>
        <p:spPr>
          <a:xfrm rot="10800000">
            <a:off x="494675" y="2545798"/>
            <a:ext cx="1351800" cy="0"/>
          </a:xfrm>
          <a:prstGeom prst="straightConnector1">
            <a:avLst/>
          </a:prstGeom>
          <a:noFill/>
          <a:ln cap="flat" cmpd="sng" w="28575">
            <a:solidFill>
              <a:srgbClr val="845AD9"/>
            </a:solidFill>
            <a:prstDash val="solid"/>
            <a:round/>
            <a:headEnd len="med" w="med" type="triangle"/>
            <a:tailEnd len="med" w="med" type="triangle"/>
          </a:ln>
        </p:spPr>
      </p:cxnSp>
      <p:sp>
        <p:nvSpPr>
          <p:cNvPr id="1492" name="Google Shape;1492;p84"/>
          <p:cNvSpPr txBox="1"/>
          <p:nvPr/>
        </p:nvSpPr>
        <p:spPr>
          <a:xfrm>
            <a:off x="829317" y="2581761"/>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cxnSp>
        <p:nvCxnSpPr>
          <p:cNvPr id="1493" name="Google Shape;1493;p84"/>
          <p:cNvCxnSpPr/>
          <p:nvPr/>
        </p:nvCxnSpPr>
        <p:spPr>
          <a:xfrm rot="10800000">
            <a:off x="1950014"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494" name="Google Shape;1494;p84"/>
          <p:cNvSpPr/>
          <p:nvPr/>
        </p:nvSpPr>
        <p:spPr>
          <a:xfrm flipH="1">
            <a:off x="2690019"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5" name="Google Shape;1495;p84"/>
          <p:cNvSpPr/>
          <p:nvPr/>
        </p:nvSpPr>
        <p:spPr>
          <a:xfrm rot="-5400000">
            <a:off x="3558092"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6" name="Google Shape;1496;p84"/>
          <p:cNvSpPr/>
          <p:nvPr/>
        </p:nvSpPr>
        <p:spPr>
          <a:xfrm>
            <a:off x="4552136"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97" name="Google Shape;1497;p84"/>
          <p:cNvCxnSpPr/>
          <p:nvPr/>
        </p:nvCxnSpPr>
        <p:spPr>
          <a:xfrm rot="10800000">
            <a:off x="3386225" y="2579350"/>
            <a:ext cx="1358700" cy="0"/>
          </a:xfrm>
          <a:prstGeom prst="straightConnector1">
            <a:avLst/>
          </a:prstGeom>
          <a:noFill/>
          <a:ln cap="flat" cmpd="sng" w="28575">
            <a:solidFill>
              <a:srgbClr val="845AD9"/>
            </a:solidFill>
            <a:prstDash val="solid"/>
            <a:round/>
            <a:headEnd len="med" w="med" type="triangle"/>
            <a:tailEnd len="med" w="med" type="triangle"/>
          </a:ln>
        </p:spPr>
      </p:cxnSp>
      <p:sp>
        <p:nvSpPr>
          <p:cNvPr id="1498" name="Google Shape;1498;p84"/>
          <p:cNvSpPr txBox="1"/>
          <p:nvPr/>
        </p:nvSpPr>
        <p:spPr>
          <a:xfrm flipH="1">
            <a:off x="3609239"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cxnSp>
        <p:nvCxnSpPr>
          <p:cNvPr id="1499" name="Google Shape;1499;p84"/>
          <p:cNvCxnSpPr/>
          <p:nvPr/>
        </p:nvCxnSpPr>
        <p:spPr>
          <a:xfrm rot="10800000">
            <a:off x="4842708"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500" name="Google Shape;1500;p84"/>
          <p:cNvSpPr/>
          <p:nvPr/>
        </p:nvSpPr>
        <p:spPr>
          <a:xfrm flipH="1">
            <a:off x="-154406" y="351467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1" name="Google Shape;1501;p84"/>
          <p:cNvSpPr/>
          <p:nvPr/>
        </p:nvSpPr>
        <p:spPr>
          <a:xfrm rot="-5400000">
            <a:off x="713667" y="304165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2" name="Google Shape;1502;p84"/>
          <p:cNvSpPr/>
          <p:nvPr/>
        </p:nvSpPr>
        <p:spPr>
          <a:xfrm>
            <a:off x="1707711" y="4035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3" name="Google Shape;1503;p84"/>
          <p:cNvSpPr txBox="1"/>
          <p:nvPr/>
        </p:nvSpPr>
        <p:spPr>
          <a:xfrm>
            <a:off x="2063350" y="36004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14.9 cm</a:t>
            </a:r>
            <a:endParaRPr sz="1800">
              <a:latin typeface="Lexend"/>
              <a:ea typeface="Lexend"/>
              <a:cs typeface="Lexend"/>
              <a:sym typeface="Lexend"/>
            </a:endParaRPr>
          </a:p>
        </p:txBody>
      </p:sp>
      <p:cxnSp>
        <p:nvCxnSpPr>
          <p:cNvPr id="1504" name="Google Shape;1504;p84"/>
          <p:cNvCxnSpPr/>
          <p:nvPr/>
        </p:nvCxnSpPr>
        <p:spPr>
          <a:xfrm rot="10800000">
            <a:off x="1998283" y="321341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505" name="Google Shape;1505;p84"/>
          <p:cNvSpPr/>
          <p:nvPr/>
        </p:nvSpPr>
        <p:spPr>
          <a:xfrm>
            <a:off x="7535000" y="3080425"/>
            <a:ext cx="2291100" cy="2291100"/>
          </a:xfrm>
          <a:prstGeom prst="arc">
            <a:avLst>
              <a:gd fmla="val 10771373"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6" name="Google Shape;1506;p84"/>
          <p:cNvSpPr/>
          <p:nvPr/>
        </p:nvSpPr>
        <p:spPr>
          <a:xfrm flipH="1">
            <a:off x="6721708" y="40357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07" name="Google Shape;1507;p84"/>
          <p:cNvCxnSpPr/>
          <p:nvPr/>
        </p:nvCxnSpPr>
        <p:spPr>
          <a:xfrm rot="10800000">
            <a:off x="6618513" y="3493900"/>
            <a:ext cx="0" cy="744000"/>
          </a:xfrm>
          <a:prstGeom prst="straightConnector1">
            <a:avLst/>
          </a:prstGeom>
          <a:noFill/>
          <a:ln cap="flat" cmpd="sng" w="28575">
            <a:solidFill>
              <a:srgbClr val="845AD9"/>
            </a:solidFill>
            <a:prstDash val="solid"/>
            <a:round/>
            <a:headEnd len="med" w="med" type="triangle"/>
            <a:tailEnd len="med" w="med" type="triangle"/>
          </a:ln>
        </p:spPr>
      </p:cxnSp>
      <p:sp>
        <p:nvSpPr>
          <p:cNvPr id="1508" name="Google Shape;1508;p84"/>
          <p:cNvSpPr txBox="1"/>
          <p:nvPr/>
        </p:nvSpPr>
        <p:spPr>
          <a:xfrm>
            <a:off x="6008524" y="3744700"/>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 cm</a:t>
            </a:r>
            <a:endParaRPr sz="1800">
              <a:latin typeface="Lexend"/>
              <a:ea typeface="Lexend"/>
              <a:cs typeface="Lexend"/>
              <a:sym typeface="Lexend"/>
            </a:endParaRPr>
          </a:p>
        </p:txBody>
      </p:sp>
      <p:sp>
        <p:nvSpPr>
          <p:cNvPr id="1509" name="Google Shape;1509;p84"/>
          <p:cNvSpPr/>
          <p:nvPr/>
        </p:nvSpPr>
        <p:spPr>
          <a:xfrm flipH="1">
            <a:off x="572339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0" name="Google Shape;1510;p84"/>
          <p:cNvSpPr/>
          <p:nvPr/>
        </p:nvSpPr>
        <p:spPr>
          <a:xfrm rot="-5400000">
            <a:off x="6591467"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1" name="Google Shape;1511;p84"/>
          <p:cNvSpPr/>
          <p:nvPr/>
        </p:nvSpPr>
        <p:spPr>
          <a:xfrm>
            <a:off x="7585511"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2" name="Google Shape;1512;p84"/>
          <p:cNvSpPr txBox="1"/>
          <p:nvPr/>
        </p:nvSpPr>
        <p:spPr>
          <a:xfrm flipH="1">
            <a:off x="6642614"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cxnSp>
        <p:nvCxnSpPr>
          <p:cNvPr id="1513" name="Google Shape;1513;p84"/>
          <p:cNvCxnSpPr/>
          <p:nvPr/>
        </p:nvCxnSpPr>
        <p:spPr>
          <a:xfrm rot="10800000">
            <a:off x="7876083"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514" name="Google Shape;1514;p84"/>
          <p:cNvSpPr txBox="1"/>
          <p:nvPr/>
        </p:nvSpPr>
        <p:spPr>
          <a:xfrm flipH="1">
            <a:off x="764814" y="395980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515" name="Google Shape;1515;p84"/>
          <p:cNvSpPr/>
          <p:nvPr/>
        </p:nvSpPr>
        <p:spPr>
          <a:xfrm flipH="1">
            <a:off x="2826444" y="3445912"/>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6" name="Google Shape;1516;p84"/>
          <p:cNvSpPr/>
          <p:nvPr/>
        </p:nvSpPr>
        <p:spPr>
          <a:xfrm>
            <a:off x="4688561" y="3967012"/>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17" name="Google Shape;1517;p84"/>
          <p:cNvCxnSpPr/>
          <p:nvPr/>
        </p:nvCxnSpPr>
        <p:spPr>
          <a:xfrm rot="10800000">
            <a:off x="3522767" y="4257503"/>
            <a:ext cx="1359900" cy="0"/>
          </a:xfrm>
          <a:prstGeom prst="straightConnector1">
            <a:avLst/>
          </a:prstGeom>
          <a:noFill/>
          <a:ln cap="flat" cmpd="sng" w="28575">
            <a:solidFill>
              <a:srgbClr val="845AD9"/>
            </a:solidFill>
            <a:prstDash val="solid"/>
            <a:round/>
            <a:headEnd len="med" w="med" type="triangle"/>
            <a:tailEnd len="med" w="med" type="triangle"/>
          </a:ln>
        </p:spPr>
      </p:cxnSp>
      <p:sp>
        <p:nvSpPr>
          <p:cNvPr id="1518" name="Google Shape;1518;p84"/>
          <p:cNvSpPr txBox="1"/>
          <p:nvPr/>
        </p:nvSpPr>
        <p:spPr>
          <a:xfrm>
            <a:off x="3749874" y="4303937"/>
            <a:ext cx="905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14.9 cm</a:t>
            </a:r>
            <a:endParaRPr sz="1800">
              <a:latin typeface="Lexend"/>
              <a:ea typeface="Lexend"/>
              <a:cs typeface="Lexend"/>
              <a:sym typeface="Lexend"/>
            </a:endParaRPr>
          </a:p>
        </p:txBody>
      </p:sp>
      <p:sp>
        <p:nvSpPr>
          <p:cNvPr id="1519" name="Google Shape;1519;p84"/>
          <p:cNvSpPr txBox="1"/>
          <p:nvPr/>
        </p:nvSpPr>
        <p:spPr>
          <a:xfrm flipH="1">
            <a:off x="3745664" y="3891042"/>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49°</a:t>
            </a:r>
            <a:endParaRPr sz="1800">
              <a:latin typeface="Lexend"/>
              <a:ea typeface="Lexend"/>
              <a:cs typeface="Lexend"/>
              <a:sym typeface="Lexend"/>
            </a:endParaRPr>
          </a:p>
        </p:txBody>
      </p:sp>
      <p:sp>
        <p:nvSpPr>
          <p:cNvPr id="1520" name="Google Shape;1520;p84"/>
          <p:cNvSpPr txBox="1"/>
          <p:nvPr/>
        </p:nvSpPr>
        <p:spPr>
          <a:xfrm flipH="1">
            <a:off x="716545"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a:t>
            </a:r>
            <a:endParaRPr sz="1800">
              <a:latin typeface="Lexend"/>
              <a:ea typeface="Lexend"/>
              <a:cs typeface="Lexend"/>
              <a:sym typeface="Lexend"/>
            </a:endParaRPr>
          </a:p>
        </p:txBody>
      </p:sp>
      <p:sp>
        <p:nvSpPr>
          <p:cNvPr id="1521" name="Google Shape;1521;p84"/>
          <p:cNvSpPr txBox="1"/>
          <p:nvPr/>
        </p:nvSpPr>
        <p:spPr>
          <a:xfrm>
            <a:off x="3657556" y="2577516"/>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 cm</a:t>
            </a:r>
            <a:endParaRPr sz="1800">
              <a:latin typeface="Lexend"/>
              <a:ea typeface="Lexend"/>
              <a:cs typeface="Lexend"/>
              <a:sym typeface="Lexend"/>
            </a:endParaRPr>
          </a:p>
        </p:txBody>
      </p:sp>
      <p:sp>
        <p:nvSpPr>
          <p:cNvPr id="1522" name="Google Shape;1522;p84"/>
          <p:cNvSpPr/>
          <p:nvPr/>
        </p:nvSpPr>
        <p:spPr>
          <a:xfrm flipH="1">
            <a:off x="4296675" y="2577512"/>
            <a:ext cx="1155900" cy="1155900"/>
          </a:xfrm>
          <a:prstGeom prst="arc">
            <a:avLst>
              <a:gd fmla="val 2216544" name="adj1"/>
              <a:gd fmla="val 54150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3" name="Google Shape;1523;p84"/>
          <p:cNvSpPr txBox="1"/>
          <p:nvPr/>
        </p:nvSpPr>
        <p:spPr>
          <a:xfrm flipH="1">
            <a:off x="4418026" y="3384998"/>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41°</a:t>
            </a:r>
            <a:endParaRPr sz="1800">
              <a:latin typeface="Lexend"/>
              <a:ea typeface="Lexend"/>
              <a:cs typeface="Lexend"/>
              <a:sym typeface="Lexend"/>
            </a:endParaRPr>
          </a:p>
        </p:txBody>
      </p:sp>
      <p:sp>
        <p:nvSpPr>
          <p:cNvPr id="1524" name="Google Shape;1524;p84"/>
          <p:cNvSpPr txBox="1"/>
          <p:nvPr/>
        </p:nvSpPr>
        <p:spPr>
          <a:xfrm>
            <a:off x="7489725" y="3979075"/>
            <a:ext cx="7398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a:t>
            </a:r>
            <a:endParaRPr sz="1800">
              <a:latin typeface="Lexend"/>
              <a:ea typeface="Lexend"/>
              <a:cs typeface="Lexend"/>
              <a:sym typeface="Lexend"/>
            </a:endParaRPr>
          </a:p>
        </p:txBody>
      </p:sp>
      <p:sp>
        <p:nvSpPr>
          <p:cNvPr id="1525" name="Google Shape;1525;p84"/>
          <p:cNvSpPr/>
          <p:nvPr/>
        </p:nvSpPr>
        <p:spPr>
          <a:xfrm flipH="1" rot="5400000">
            <a:off x="7349307" y="2866300"/>
            <a:ext cx="735900" cy="1991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6" name="Google Shape;1526;p84"/>
          <p:cNvSpPr txBox="1"/>
          <p:nvPr/>
        </p:nvSpPr>
        <p:spPr>
          <a:xfrm>
            <a:off x="1972000"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527" name="Google Shape;1527;p84"/>
          <p:cNvSpPr txBox="1"/>
          <p:nvPr/>
        </p:nvSpPr>
        <p:spPr>
          <a:xfrm>
            <a:off x="4870205"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528" name="Google Shape;1528;p84"/>
          <p:cNvSpPr txBox="1"/>
          <p:nvPr/>
        </p:nvSpPr>
        <p:spPr>
          <a:xfrm>
            <a:off x="7908055" y="1786450"/>
            <a:ext cx="905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a:t>
            </a:r>
            <a:endParaRPr sz="1800">
              <a:latin typeface="Lexend"/>
              <a:ea typeface="Lexend"/>
              <a:cs typeface="Lexend"/>
              <a:sym typeface="Lexend"/>
            </a:endParaRPr>
          </a:p>
        </p:txBody>
      </p:sp>
      <p:sp>
        <p:nvSpPr>
          <p:cNvPr id="1529" name="Google Shape;1529;p84"/>
          <p:cNvSpPr txBox="1"/>
          <p:nvPr/>
        </p:nvSpPr>
        <p:spPr>
          <a:xfrm>
            <a:off x="966720" y="4374600"/>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
        <p:nvSpPr>
          <p:cNvPr id="1530" name="Google Shape;1530;p84"/>
          <p:cNvSpPr txBox="1"/>
          <p:nvPr/>
        </p:nvSpPr>
        <p:spPr>
          <a:xfrm>
            <a:off x="5059449" y="3489792"/>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e</a:t>
            </a:r>
            <a:r>
              <a:rPr lang="en-GB" sz="1800">
                <a:latin typeface="Lexend"/>
                <a:ea typeface="Lexend"/>
                <a:cs typeface="Lexend"/>
                <a:sym typeface="Lexend"/>
              </a:rPr>
              <a:t> cm</a:t>
            </a:r>
            <a:endParaRPr sz="1800">
              <a:latin typeface="Lexend"/>
              <a:ea typeface="Lexend"/>
              <a:cs typeface="Lexend"/>
              <a:sym typeface="Lexend"/>
            </a:endParaRPr>
          </a:p>
        </p:txBody>
      </p:sp>
      <p:sp>
        <p:nvSpPr>
          <p:cNvPr id="1531" name="Google Shape;1531;p84"/>
          <p:cNvSpPr txBox="1"/>
          <p:nvPr/>
        </p:nvSpPr>
        <p:spPr>
          <a:xfrm>
            <a:off x="7496790" y="4382246"/>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f</a:t>
            </a:r>
            <a:r>
              <a:rPr lang="en-GB" sz="1800">
                <a:latin typeface="Lexend"/>
                <a:ea typeface="Lexend"/>
                <a:cs typeface="Lexend"/>
                <a:sym typeface="Lexend"/>
              </a:rPr>
              <a:t> cm</a:t>
            </a:r>
            <a:endParaRPr sz="1800">
              <a:latin typeface="Lexend"/>
              <a:ea typeface="Lexend"/>
              <a:cs typeface="Lexend"/>
              <a:sym typeface="Lexend"/>
            </a:endParaRPr>
          </a:p>
        </p:txBody>
      </p:sp>
      <p:sp>
        <p:nvSpPr>
          <p:cNvPr id="1532" name="Google Shape;1532;p84"/>
          <p:cNvSpPr/>
          <p:nvPr/>
        </p:nvSpPr>
        <p:spPr>
          <a:xfrm rot="-5400000">
            <a:off x="3694517" y="2972887"/>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3" name="Google Shape;1533;p84"/>
          <p:cNvSpPr txBox="1"/>
          <p:nvPr/>
        </p:nvSpPr>
        <p:spPr>
          <a:xfrm>
            <a:off x="3139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534" name="Google Shape;1534;p84"/>
          <p:cNvSpPr txBox="1"/>
          <p:nvPr/>
        </p:nvSpPr>
        <p:spPr>
          <a:xfrm>
            <a:off x="32066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535" name="Google Shape;1535;p84"/>
          <p:cNvSpPr txBox="1"/>
          <p:nvPr/>
        </p:nvSpPr>
        <p:spPr>
          <a:xfrm>
            <a:off x="60993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536" name="Google Shape;1536;p84"/>
          <p:cNvSpPr txBox="1"/>
          <p:nvPr/>
        </p:nvSpPr>
        <p:spPr>
          <a:xfrm>
            <a:off x="3139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a:t>
            </a:r>
            <a:endParaRPr sz="1800">
              <a:latin typeface="Lexend"/>
              <a:ea typeface="Lexend"/>
              <a:cs typeface="Lexend"/>
              <a:sym typeface="Lexend"/>
            </a:endParaRPr>
          </a:p>
        </p:txBody>
      </p:sp>
      <p:sp>
        <p:nvSpPr>
          <p:cNvPr id="1537" name="Google Shape;1537;p84"/>
          <p:cNvSpPr txBox="1"/>
          <p:nvPr/>
        </p:nvSpPr>
        <p:spPr>
          <a:xfrm>
            <a:off x="32066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p:txBody>
      </p:sp>
      <p:sp>
        <p:nvSpPr>
          <p:cNvPr id="1538" name="Google Shape;1538;p84"/>
          <p:cNvSpPr txBox="1"/>
          <p:nvPr/>
        </p:nvSpPr>
        <p:spPr>
          <a:xfrm>
            <a:off x="60993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a:t>
            </a:r>
            <a:endParaRPr sz="1800">
              <a:latin typeface="Lexend"/>
              <a:ea typeface="Lexend"/>
              <a:cs typeface="Lexend"/>
              <a:sym typeface="Lexend"/>
            </a:endParaRPr>
          </a:p>
        </p:txBody>
      </p:sp>
      <p:sp>
        <p:nvSpPr>
          <p:cNvPr id="1539" name="Google Shape;1539;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tangent formula</a:t>
            </a:r>
            <a:endParaRPr/>
          </a:p>
        </p:txBody>
      </p:sp>
      <p:cxnSp>
        <p:nvCxnSpPr>
          <p:cNvPr id="1540" name="Google Shape;1540;p84"/>
          <p:cNvCxnSpPr/>
          <p:nvPr/>
        </p:nvCxnSpPr>
        <p:spPr>
          <a:xfrm rot="10800000">
            <a:off x="6434225" y="2579350"/>
            <a:ext cx="1358700" cy="0"/>
          </a:xfrm>
          <a:prstGeom prst="straightConnector1">
            <a:avLst/>
          </a:prstGeom>
          <a:noFill/>
          <a:ln cap="flat" cmpd="sng" w="28575">
            <a:solidFill>
              <a:srgbClr val="845AD9"/>
            </a:solidFill>
            <a:prstDash val="solid"/>
            <a:round/>
            <a:headEnd len="med" w="med" type="triangle"/>
            <a:tailEnd len="med" w="med" type="triangle"/>
          </a:ln>
        </p:spPr>
      </p:cxnSp>
      <p:sp>
        <p:nvSpPr>
          <p:cNvPr id="1541" name="Google Shape;1541;p84"/>
          <p:cNvSpPr txBox="1"/>
          <p:nvPr/>
        </p:nvSpPr>
        <p:spPr>
          <a:xfrm>
            <a:off x="6705556" y="2577516"/>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14.9 cm</a:t>
            </a:r>
            <a:endParaRPr sz="1800">
              <a:latin typeface="Lexend"/>
              <a:ea typeface="Lexend"/>
              <a:cs typeface="Lexend"/>
              <a:sym typeface="Lexend"/>
            </a:endParaRPr>
          </a:p>
        </p:txBody>
      </p:sp>
      <p:cxnSp>
        <p:nvCxnSpPr>
          <p:cNvPr id="1542" name="Google Shape;1542;p84"/>
          <p:cNvCxnSpPr/>
          <p:nvPr/>
        </p:nvCxnSpPr>
        <p:spPr>
          <a:xfrm rot="10800000">
            <a:off x="570875" y="4374598"/>
            <a:ext cx="1351800" cy="0"/>
          </a:xfrm>
          <a:prstGeom prst="straightConnector1">
            <a:avLst/>
          </a:prstGeom>
          <a:noFill/>
          <a:ln cap="flat" cmpd="sng" w="28575">
            <a:solidFill>
              <a:srgbClr val="845AD9"/>
            </a:solidFill>
            <a:prstDash val="solid"/>
            <a:round/>
            <a:headEnd len="med" w="med" type="triangle"/>
            <a:tailEnd len="med" w="med" type="triangle"/>
          </a:ln>
        </p:spPr>
      </p:cxnSp>
      <p:cxnSp>
        <p:nvCxnSpPr>
          <p:cNvPr id="1543" name="Google Shape;1543;p84"/>
          <p:cNvCxnSpPr/>
          <p:nvPr/>
        </p:nvCxnSpPr>
        <p:spPr>
          <a:xfrm rot="10800000">
            <a:off x="4997933" y="3144636"/>
            <a:ext cx="0" cy="1016400"/>
          </a:xfrm>
          <a:prstGeom prst="straightConnector1">
            <a:avLst/>
          </a:prstGeom>
          <a:noFill/>
          <a:ln cap="flat" cmpd="sng" w="28575">
            <a:solidFill>
              <a:srgbClr val="845AD9"/>
            </a:solidFill>
            <a:prstDash val="solid"/>
            <a:round/>
            <a:headEnd len="med" w="med" type="triangle"/>
            <a:tailEnd len="med" w="med" type="triangle"/>
          </a:ln>
        </p:spPr>
      </p:cxnSp>
      <p:cxnSp>
        <p:nvCxnSpPr>
          <p:cNvPr id="1544" name="Google Shape;1544;p84"/>
          <p:cNvCxnSpPr/>
          <p:nvPr/>
        </p:nvCxnSpPr>
        <p:spPr>
          <a:xfrm rot="10800000">
            <a:off x="6723179" y="4354175"/>
            <a:ext cx="1991100" cy="0"/>
          </a:xfrm>
          <a:prstGeom prst="straightConnector1">
            <a:avLst/>
          </a:prstGeom>
          <a:noFill/>
          <a:ln cap="flat" cmpd="sng" w="28575">
            <a:solidFill>
              <a:srgbClr val="845AD9"/>
            </a:solidFill>
            <a:prstDash val="solid"/>
            <a:round/>
            <a:headEnd len="med" w="med" type="triangle"/>
            <a:tailEnd len="med" w="med" type="triangle"/>
          </a:ln>
        </p:spPr>
      </p:cxnSp>
      <p:sp>
        <p:nvSpPr>
          <p:cNvPr id="1545" name="Google Shape;1545;p84"/>
          <p:cNvSpPr txBox="1"/>
          <p:nvPr/>
        </p:nvSpPr>
        <p:spPr>
          <a:xfrm>
            <a:off x="4832175" y="4524425"/>
            <a:ext cx="11559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e = 17.14</a:t>
            </a:r>
            <a:endParaRPr sz="2000">
              <a:latin typeface="Kalam"/>
              <a:ea typeface="Kalam"/>
              <a:cs typeface="Kalam"/>
              <a:sym typeface="Kalam"/>
            </a:endParaRPr>
          </a:p>
        </p:txBody>
      </p:sp>
      <p:sp>
        <p:nvSpPr>
          <p:cNvPr id="1546" name="Google Shape;1546;p84"/>
          <p:cNvSpPr txBox="1"/>
          <p:nvPr/>
        </p:nvSpPr>
        <p:spPr>
          <a:xfrm>
            <a:off x="7560550" y="2625300"/>
            <a:ext cx="12594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c = 17.14</a:t>
            </a:r>
            <a:endParaRPr sz="2000">
              <a:latin typeface="Kalam"/>
              <a:ea typeface="Kalam"/>
              <a:cs typeface="Kalam"/>
              <a:sym typeface="Kalam"/>
            </a:endParaRPr>
          </a:p>
        </p:txBody>
      </p:sp>
      <p:sp>
        <p:nvSpPr>
          <p:cNvPr id="1547" name="Google Shape;1547;p84"/>
          <p:cNvSpPr txBox="1"/>
          <p:nvPr/>
        </p:nvSpPr>
        <p:spPr>
          <a:xfrm>
            <a:off x="2000175" y="4524425"/>
            <a:ext cx="11559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d = 12.95</a:t>
            </a:r>
            <a:endParaRPr sz="2000">
              <a:latin typeface="Kalam"/>
              <a:ea typeface="Kalam"/>
              <a:cs typeface="Kalam"/>
              <a:sym typeface="Kalam"/>
            </a:endParaRPr>
          </a:p>
        </p:txBody>
      </p:sp>
      <p:sp>
        <p:nvSpPr>
          <p:cNvPr id="1548" name="Google Shape;1548;p84"/>
          <p:cNvSpPr txBox="1"/>
          <p:nvPr/>
        </p:nvSpPr>
        <p:spPr>
          <a:xfrm>
            <a:off x="4755825" y="2625300"/>
            <a:ext cx="11559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b = 12.07</a:t>
            </a:r>
            <a:endParaRPr sz="2000">
              <a:latin typeface="Kalam"/>
              <a:ea typeface="Kalam"/>
              <a:cs typeface="Kalam"/>
              <a:sym typeface="Kalam"/>
            </a:endParaRPr>
          </a:p>
        </p:txBody>
      </p:sp>
      <p:sp>
        <p:nvSpPr>
          <p:cNvPr id="1549" name="Google Shape;1549;p84"/>
          <p:cNvSpPr txBox="1"/>
          <p:nvPr/>
        </p:nvSpPr>
        <p:spPr>
          <a:xfrm>
            <a:off x="2000175" y="2625300"/>
            <a:ext cx="11559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a = 0.81</a:t>
            </a:r>
            <a:endParaRPr sz="2000">
              <a:latin typeface="Kalam"/>
              <a:ea typeface="Kalam"/>
              <a:cs typeface="Kalam"/>
              <a:sym typeface="Kalam"/>
            </a:endParaRPr>
          </a:p>
        </p:txBody>
      </p:sp>
      <p:sp>
        <p:nvSpPr>
          <p:cNvPr id="1550" name="Google Shape;1550;p84"/>
          <p:cNvSpPr txBox="1"/>
          <p:nvPr/>
        </p:nvSpPr>
        <p:spPr>
          <a:xfrm>
            <a:off x="6064250" y="4524425"/>
            <a:ext cx="11559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f = 184.16</a:t>
            </a:r>
            <a:endParaRPr sz="2000">
              <a:latin typeface="Kalam"/>
              <a:ea typeface="Kalam"/>
              <a:cs typeface="Kalam"/>
              <a:sym typeface="Kala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4" name="Shape 1554"/>
        <p:cNvGrpSpPr/>
        <p:nvPr/>
      </p:nvGrpSpPr>
      <p:grpSpPr>
        <a:xfrm>
          <a:off x="0" y="0"/>
          <a:ext cx="0" cy="0"/>
          <a:chOff x="0" y="0"/>
          <a:chExt cx="0" cy="0"/>
        </a:xfrm>
      </p:grpSpPr>
      <p:sp>
        <p:nvSpPr>
          <p:cNvPr id="1555" name="Google Shape;1555;p85"/>
          <p:cNvSpPr/>
          <p:nvPr/>
        </p:nvSpPr>
        <p:spPr>
          <a:xfrm rot="-5400000">
            <a:off x="2109817" y="-30445"/>
            <a:ext cx="2439000" cy="55017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6" name="Google Shape;1556;p85"/>
          <p:cNvSpPr/>
          <p:nvPr/>
        </p:nvSpPr>
        <p:spPr>
          <a:xfrm rot="-5400000">
            <a:off x="1894876" y="525899"/>
            <a:ext cx="2097600" cy="4730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7" name="Google Shape;1557;p85"/>
          <p:cNvSpPr/>
          <p:nvPr/>
        </p:nvSpPr>
        <p:spPr>
          <a:xfrm rot="-5400000">
            <a:off x="1609277" y="1266599"/>
            <a:ext cx="1642500" cy="3704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8" name="Google Shape;1558;p85"/>
          <p:cNvSpPr txBox="1"/>
          <p:nvPr/>
        </p:nvSpPr>
        <p:spPr>
          <a:xfrm>
            <a:off x="324000" y="6106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 Find the lengths of the distances </a:t>
            </a:r>
            <a:r>
              <a:rPr i="1" lang="en-GB" sz="2200">
                <a:latin typeface="Times New Roman"/>
                <a:ea typeface="Times New Roman"/>
                <a:cs typeface="Times New Roman"/>
                <a:sym typeface="Times New Roman"/>
              </a:rPr>
              <a:t>a</a:t>
            </a:r>
            <a:r>
              <a:rPr lang="en-GB" sz="1800">
                <a:latin typeface="Lexend"/>
                <a:ea typeface="Lexend"/>
                <a:cs typeface="Lexend"/>
                <a:sym typeface="Lexend"/>
              </a:rPr>
              <a:t>, </a:t>
            </a:r>
            <a:r>
              <a:rPr i="1" lang="en-GB" sz="2200">
                <a:latin typeface="Times New Roman"/>
                <a:ea typeface="Times New Roman"/>
                <a:cs typeface="Times New Roman"/>
                <a:sym typeface="Times New Roman"/>
              </a:rPr>
              <a:t>b</a:t>
            </a:r>
            <a:r>
              <a:rPr lang="en-GB" sz="1800">
                <a:latin typeface="Lexend"/>
                <a:ea typeface="Lexend"/>
                <a:cs typeface="Lexend"/>
                <a:sym typeface="Lexend"/>
              </a:rPr>
              <a:t>, </a:t>
            </a:r>
            <a:r>
              <a:rPr i="1" lang="en-GB" sz="2200">
                <a:latin typeface="Times New Roman"/>
                <a:ea typeface="Times New Roman"/>
                <a:cs typeface="Times New Roman"/>
                <a:sym typeface="Times New Roman"/>
              </a:rPr>
              <a:t>c</a:t>
            </a:r>
            <a:r>
              <a:rPr lang="en-GB" sz="1800">
                <a:latin typeface="Lexend"/>
                <a:ea typeface="Lexend"/>
                <a:cs typeface="Lexend"/>
                <a:sym typeface="Lexend"/>
              </a:rPr>
              <a:t>, and </a:t>
            </a:r>
            <a:r>
              <a:rPr i="1" lang="en-GB" sz="2200">
                <a:latin typeface="Times New Roman"/>
                <a:ea typeface="Times New Roman"/>
                <a:cs typeface="Times New Roman"/>
                <a:sym typeface="Times New Roman"/>
              </a:rPr>
              <a:t>d</a:t>
            </a:r>
            <a:r>
              <a:rPr lang="en-GB" sz="1800">
                <a:latin typeface="Lexend"/>
                <a:ea typeface="Lexend"/>
                <a:cs typeface="Lexend"/>
                <a:sym typeface="Lexend"/>
              </a:rPr>
              <a:t> (rounded to the nearest integer).</a:t>
            </a:r>
            <a:endParaRPr sz="1800">
              <a:latin typeface="Lexend"/>
              <a:ea typeface="Lexend"/>
              <a:cs typeface="Lexend"/>
              <a:sym typeface="Lexend"/>
            </a:endParaRPr>
          </a:p>
        </p:txBody>
      </p:sp>
      <p:sp>
        <p:nvSpPr>
          <p:cNvPr id="1559" name="Google Shape;1559;p85"/>
          <p:cNvSpPr/>
          <p:nvPr/>
        </p:nvSpPr>
        <p:spPr>
          <a:xfrm flipH="1">
            <a:off x="-434632" y="2904770"/>
            <a:ext cx="2071800" cy="2071800"/>
          </a:xfrm>
          <a:prstGeom prst="arc">
            <a:avLst>
              <a:gd fmla="val 10771373" name="adj1"/>
              <a:gd fmla="val 1227390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0" name="Google Shape;1560;p85"/>
          <p:cNvSpPr/>
          <p:nvPr/>
        </p:nvSpPr>
        <p:spPr>
          <a:xfrm rot="-5400000">
            <a:off x="1364028" y="1903048"/>
            <a:ext cx="1251300" cy="28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1" name="Google Shape;1561;p85"/>
          <p:cNvSpPr/>
          <p:nvPr/>
        </p:nvSpPr>
        <p:spPr>
          <a:xfrm>
            <a:off x="3170484" y="3709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2" name="Google Shape;1562;p85"/>
          <p:cNvSpPr txBox="1"/>
          <p:nvPr/>
        </p:nvSpPr>
        <p:spPr>
          <a:xfrm>
            <a:off x="1684800" y="4152001"/>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50 cm</a:t>
            </a:r>
            <a:endParaRPr sz="1800">
              <a:latin typeface="Lexend"/>
              <a:ea typeface="Lexend"/>
              <a:cs typeface="Lexend"/>
              <a:sym typeface="Lexend"/>
            </a:endParaRPr>
          </a:p>
        </p:txBody>
      </p:sp>
      <p:cxnSp>
        <p:nvCxnSpPr>
          <p:cNvPr id="1563" name="Google Shape;1563;p85"/>
          <p:cNvCxnSpPr/>
          <p:nvPr/>
        </p:nvCxnSpPr>
        <p:spPr>
          <a:xfrm rot="10800000">
            <a:off x="3483825" y="2673250"/>
            <a:ext cx="0" cy="1249500"/>
          </a:xfrm>
          <a:prstGeom prst="straightConnector1">
            <a:avLst/>
          </a:prstGeom>
          <a:noFill/>
          <a:ln cap="flat" cmpd="sng" w="28575">
            <a:solidFill>
              <a:srgbClr val="845AD9"/>
            </a:solidFill>
            <a:prstDash val="solid"/>
            <a:round/>
            <a:headEnd len="med" w="med" type="triangle"/>
            <a:tailEnd len="med" w="med" type="triangle"/>
          </a:ln>
        </p:spPr>
      </p:cxnSp>
      <p:sp>
        <p:nvSpPr>
          <p:cNvPr id="1564" name="Google Shape;1564;p85"/>
          <p:cNvSpPr txBox="1"/>
          <p:nvPr/>
        </p:nvSpPr>
        <p:spPr>
          <a:xfrm flipH="1">
            <a:off x="1030040" y="3650237"/>
            <a:ext cx="629700" cy="314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27°</a:t>
            </a:r>
            <a:endParaRPr sz="1800">
              <a:latin typeface="Lexend"/>
              <a:ea typeface="Lexend"/>
              <a:cs typeface="Lexend"/>
              <a:sym typeface="Lexend"/>
            </a:endParaRPr>
          </a:p>
        </p:txBody>
      </p:sp>
      <p:sp>
        <p:nvSpPr>
          <p:cNvPr id="1565" name="Google Shape;1565;p85"/>
          <p:cNvSpPr txBox="1"/>
          <p:nvPr/>
        </p:nvSpPr>
        <p:spPr>
          <a:xfrm>
            <a:off x="3504383" y="3151995"/>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566" name="Google Shape;1566;p85"/>
          <p:cNvSpPr/>
          <p:nvPr/>
        </p:nvSpPr>
        <p:spPr>
          <a:xfrm>
            <a:off x="4052165" y="3709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7" name="Google Shape;1567;p85"/>
          <p:cNvSpPr/>
          <p:nvPr/>
        </p:nvSpPr>
        <p:spPr>
          <a:xfrm>
            <a:off x="5078474" y="3709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8" name="Google Shape;1568;p85"/>
          <p:cNvSpPr/>
          <p:nvPr/>
        </p:nvSpPr>
        <p:spPr>
          <a:xfrm>
            <a:off x="5849461" y="37094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69" name="Google Shape;1569;p85"/>
          <p:cNvCxnSpPr/>
          <p:nvPr/>
        </p:nvCxnSpPr>
        <p:spPr>
          <a:xfrm rot="10800000">
            <a:off x="545650" y="4129800"/>
            <a:ext cx="2837100" cy="0"/>
          </a:xfrm>
          <a:prstGeom prst="straightConnector1">
            <a:avLst/>
          </a:prstGeom>
          <a:noFill/>
          <a:ln cap="flat" cmpd="sng" w="28575">
            <a:solidFill>
              <a:srgbClr val="845AD9"/>
            </a:solidFill>
            <a:prstDash val="solid"/>
            <a:round/>
            <a:headEnd len="med" w="med" type="triangle"/>
            <a:tailEnd len="med" w="med" type="triangle"/>
          </a:ln>
        </p:spPr>
      </p:cxnSp>
      <p:sp>
        <p:nvSpPr>
          <p:cNvPr id="1570" name="Google Shape;1570;p85"/>
          <p:cNvSpPr txBox="1"/>
          <p:nvPr/>
        </p:nvSpPr>
        <p:spPr>
          <a:xfrm>
            <a:off x="3560975" y="4129801"/>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571" name="Google Shape;1571;p85"/>
          <p:cNvCxnSpPr/>
          <p:nvPr/>
        </p:nvCxnSpPr>
        <p:spPr>
          <a:xfrm rot="10800000">
            <a:off x="4369325" y="2278150"/>
            <a:ext cx="0" cy="1644600"/>
          </a:xfrm>
          <a:prstGeom prst="straightConnector1">
            <a:avLst/>
          </a:prstGeom>
          <a:noFill/>
          <a:ln cap="flat" cmpd="sng" w="28575">
            <a:solidFill>
              <a:srgbClr val="845AD9"/>
            </a:solidFill>
            <a:prstDash val="solid"/>
            <a:round/>
            <a:headEnd len="med" w="med" type="triangle"/>
            <a:tailEnd len="med" w="med" type="triangle"/>
          </a:ln>
        </p:spPr>
      </p:cxnSp>
      <p:sp>
        <p:nvSpPr>
          <p:cNvPr id="1572" name="Google Shape;1572;p85"/>
          <p:cNvSpPr txBox="1"/>
          <p:nvPr/>
        </p:nvSpPr>
        <p:spPr>
          <a:xfrm>
            <a:off x="4403635" y="2908324"/>
            <a:ext cx="632700" cy="348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39.5 cm</a:t>
            </a:r>
            <a:endParaRPr sz="1800">
              <a:latin typeface="Lexend"/>
              <a:ea typeface="Lexend"/>
              <a:cs typeface="Lexend"/>
              <a:sym typeface="Lexend"/>
            </a:endParaRPr>
          </a:p>
        </p:txBody>
      </p:sp>
      <p:sp>
        <p:nvSpPr>
          <p:cNvPr id="1573" name="Google Shape;1573;p85"/>
          <p:cNvSpPr txBox="1"/>
          <p:nvPr/>
        </p:nvSpPr>
        <p:spPr>
          <a:xfrm>
            <a:off x="4474495" y="4129801"/>
            <a:ext cx="6990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10 cm</a:t>
            </a:r>
            <a:endParaRPr sz="1800">
              <a:latin typeface="Lexend"/>
              <a:ea typeface="Lexend"/>
              <a:cs typeface="Lexend"/>
              <a:sym typeface="Lexend"/>
            </a:endParaRPr>
          </a:p>
        </p:txBody>
      </p:sp>
      <p:cxnSp>
        <p:nvCxnSpPr>
          <p:cNvPr id="1574" name="Google Shape;1574;p85"/>
          <p:cNvCxnSpPr/>
          <p:nvPr/>
        </p:nvCxnSpPr>
        <p:spPr>
          <a:xfrm rot="10800000">
            <a:off x="5393650" y="1821850"/>
            <a:ext cx="0" cy="2100900"/>
          </a:xfrm>
          <a:prstGeom prst="straightConnector1">
            <a:avLst/>
          </a:prstGeom>
          <a:noFill/>
          <a:ln cap="flat" cmpd="sng" w="28575">
            <a:solidFill>
              <a:srgbClr val="845AD9"/>
            </a:solidFill>
            <a:prstDash val="solid"/>
            <a:round/>
            <a:headEnd len="med" w="med" type="triangle"/>
            <a:tailEnd len="med" w="med" type="triangle"/>
          </a:ln>
        </p:spPr>
      </p:cxnSp>
      <p:sp>
        <p:nvSpPr>
          <p:cNvPr id="1575" name="Google Shape;1575;p85"/>
          <p:cNvSpPr txBox="1"/>
          <p:nvPr/>
        </p:nvSpPr>
        <p:spPr>
          <a:xfrm>
            <a:off x="5414207" y="2626794"/>
            <a:ext cx="632700" cy="444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576" name="Google Shape;1576;p85"/>
          <p:cNvCxnSpPr/>
          <p:nvPr/>
        </p:nvCxnSpPr>
        <p:spPr>
          <a:xfrm rot="10800000">
            <a:off x="6166625" y="1483750"/>
            <a:ext cx="0" cy="2439000"/>
          </a:xfrm>
          <a:prstGeom prst="straightConnector1">
            <a:avLst/>
          </a:prstGeom>
          <a:noFill/>
          <a:ln cap="flat" cmpd="sng" w="28575">
            <a:solidFill>
              <a:srgbClr val="845AD9"/>
            </a:solidFill>
            <a:prstDash val="solid"/>
            <a:round/>
            <a:headEnd len="med" w="med" type="triangle"/>
            <a:tailEnd len="med" w="med" type="triangle"/>
          </a:ln>
        </p:spPr>
      </p:cxnSp>
      <p:sp>
        <p:nvSpPr>
          <p:cNvPr id="1577" name="Google Shape;1577;p85"/>
          <p:cNvSpPr txBox="1"/>
          <p:nvPr/>
        </p:nvSpPr>
        <p:spPr>
          <a:xfrm>
            <a:off x="6187173" y="2418225"/>
            <a:ext cx="881700" cy="516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64 cm</a:t>
            </a:r>
            <a:endParaRPr sz="1800">
              <a:latin typeface="Lexend"/>
              <a:ea typeface="Lexend"/>
              <a:cs typeface="Lexend"/>
              <a:sym typeface="Lexend"/>
            </a:endParaRPr>
          </a:p>
        </p:txBody>
      </p:sp>
      <p:sp>
        <p:nvSpPr>
          <p:cNvPr id="1578" name="Google Shape;1578;p85"/>
          <p:cNvSpPr txBox="1"/>
          <p:nvPr/>
        </p:nvSpPr>
        <p:spPr>
          <a:xfrm>
            <a:off x="5414202" y="4129801"/>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
        <p:nvSpPr>
          <p:cNvPr id="1579" name="Google Shape;1579;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tangent formula</a:t>
            </a:r>
            <a:endParaRPr/>
          </a:p>
        </p:txBody>
      </p:sp>
      <p:cxnSp>
        <p:nvCxnSpPr>
          <p:cNvPr id="1580" name="Google Shape;1580;p85"/>
          <p:cNvCxnSpPr/>
          <p:nvPr/>
        </p:nvCxnSpPr>
        <p:spPr>
          <a:xfrm rot="10800000">
            <a:off x="3377100" y="4129800"/>
            <a:ext cx="896700" cy="0"/>
          </a:xfrm>
          <a:prstGeom prst="straightConnector1">
            <a:avLst/>
          </a:prstGeom>
          <a:noFill/>
          <a:ln cap="flat" cmpd="sng" w="28575">
            <a:solidFill>
              <a:srgbClr val="845AD9"/>
            </a:solidFill>
            <a:prstDash val="solid"/>
            <a:round/>
            <a:headEnd len="med" w="med" type="triangle"/>
            <a:tailEnd len="med" w="med" type="triangle"/>
          </a:ln>
        </p:spPr>
      </p:cxnSp>
      <p:cxnSp>
        <p:nvCxnSpPr>
          <p:cNvPr id="1581" name="Google Shape;1581;p85"/>
          <p:cNvCxnSpPr/>
          <p:nvPr/>
        </p:nvCxnSpPr>
        <p:spPr>
          <a:xfrm rot="10800000">
            <a:off x="4260000" y="4129800"/>
            <a:ext cx="1038000" cy="0"/>
          </a:xfrm>
          <a:prstGeom prst="straightConnector1">
            <a:avLst/>
          </a:prstGeom>
          <a:noFill/>
          <a:ln cap="flat" cmpd="sng" w="28575">
            <a:solidFill>
              <a:srgbClr val="845AD9"/>
            </a:solidFill>
            <a:prstDash val="solid"/>
            <a:round/>
            <a:headEnd len="med" w="med" type="triangle"/>
            <a:tailEnd len="med" w="med" type="triangle"/>
          </a:ln>
        </p:spPr>
      </p:cxnSp>
      <p:cxnSp>
        <p:nvCxnSpPr>
          <p:cNvPr id="1582" name="Google Shape;1582;p85"/>
          <p:cNvCxnSpPr/>
          <p:nvPr/>
        </p:nvCxnSpPr>
        <p:spPr>
          <a:xfrm rot="10800000">
            <a:off x="5255275" y="4129800"/>
            <a:ext cx="821100" cy="0"/>
          </a:xfrm>
          <a:prstGeom prst="straightConnector1">
            <a:avLst/>
          </a:prstGeom>
          <a:noFill/>
          <a:ln cap="flat" cmpd="sng" w="28575">
            <a:solidFill>
              <a:srgbClr val="845AD9"/>
            </a:solidFill>
            <a:prstDash val="solid"/>
            <a:round/>
            <a:headEnd len="med" w="med" type="triangle"/>
            <a:tailEnd len="med" w="med" type="triangle"/>
          </a:ln>
        </p:spPr>
      </p:cxnSp>
      <p:sp>
        <p:nvSpPr>
          <p:cNvPr id="1583" name="Google Shape;1583;p85"/>
          <p:cNvSpPr txBox="1"/>
          <p:nvPr/>
        </p:nvSpPr>
        <p:spPr>
          <a:xfrm>
            <a:off x="3444250" y="4389600"/>
            <a:ext cx="881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28 cm</a:t>
            </a:r>
            <a:endParaRPr sz="2000">
              <a:latin typeface="Kalam"/>
              <a:ea typeface="Kalam"/>
              <a:cs typeface="Kalam"/>
              <a:sym typeface="Kalam"/>
            </a:endParaRPr>
          </a:p>
        </p:txBody>
      </p:sp>
      <p:sp>
        <p:nvSpPr>
          <p:cNvPr id="1584" name="Google Shape;1584;p85"/>
          <p:cNvSpPr txBox="1"/>
          <p:nvPr/>
        </p:nvSpPr>
        <p:spPr>
          <a:xfrm>
            <a:off x="3369275" y="2920500"/>
            <a:ext cx="881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25</a:t>
            </a:r>
            <a:r>
              <a:rPr lang="en-GB" sz="2000">
                <a:latin typeface="Kalam"/>
                <a:ea typeface="Kalam"/>
                <a:cs typeface="Kalam"/>
                <a:sym typeface="Kalam"/>
              </a:rPr>
              <a:t> cm</a:t>
            </a:r>
            <a:endParaRPr sz="2000">
              <a:latin typeface="Kalam"/>
              <a:ea typeface="Kalam"/>
              <a:cs typeface="Kalam"/>
              <a:sym typeface="Kalam"/>
            </a:endParaRPr>
          </a:p>
        </p:txBody>
      </p:sp>
      <p:sp>
        <p:nvSpPr>
          <p:cNvPr id="1585" name="Google Shape;1585;p85"/>
          <p:cNvSpPr txBox="1"/>
          <p:nvPr/>
        </p:nvSpPr>
        <p:spPr>
          <a:xfrm>
            <a:off x="5089650" y="4461250"/>
            <a:ext cx="1194000" cy="246300"/>
          </a:xfrm>
          <a:prstGeom prst="rect">
            <a:avLst/>
          </a:prstGeom>
          <a:noFill/>
          <a:ln>
            <a:noFill/>
          </a:ln>
        </p:spPr>
        <p:txBody>
          <a:bodyPr anchorCtr="0" anchor="t" bIns="0" lIns="0" spcFirstLastPara="1" rIns="0" wrap="square" tIns="0">
            <a:spAutoFit/>
          </a:bodyPr>
          <a:lstStyle/>
          <a:p>
            <a:pPr indent="0" lvl="0" marL="0" rtl="0" algn="ctr">
              <a:lnSpc>
                <a:spcPct val="80000"/>
              </a:lnSpc>
              <a:spcBef>
                <a:spcPts val="0"/>
              </a:spcBef>
              <a:spcAft>
                <a:spcPts val="0"/>
              </a:spcAft>
              <a:buNone/>
            </a:pPr>
            <a:r>
              <a:rPr lang="en-GB" sz="2000">
                <a:latin typeface="Kalam"/>
                <a:ea typeface="Kalam"/>
                <a:cs typeface="Kalam"/>
                <a:sym typeface="Kalam"/>
              </a:rPr>
              <a:t>38</a:t>
            </a:r>
            <a:r>
              <a:rPr lang="en-GB" sz="2000">
                <a:latin typeface="Kalam"/>
                <a:ea typeface="Kalam"/>
                <a:cs typeface="Kalam"/>
                <a:sym typeface="Kalam"/>
              </a:rPr>
              <a:t> cm</a:t>
            </a:r>
            <a:endParaRPr sz="2000">
              <a:latin typeface="Kalam"/>
              <a:ea typeface="Kalam"/>
              <a:cs typeface="Kalam"/>
              <a:sym typeface="Kalam"/>
            </a:endParaRPr>
          </a:p>
        </p:txBody>
      </p:sp>
      <p:sp>
        <p:nvSpPr>
          <p:cNvPr id="1586" name="Google Shape;1586;p85"/>
          <p:cNvSpPr txBox="1"/>
          <p:nvPr/>
        </p:nvSpPr>
        <p:spPr>
          <a:xfrm>
            <a:off x="5251525" y="2445400"/>
            <a:ext cx="881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45 cm</a:t>
            </a:r>
            <a:endParaRPr sz="2000">
              <a:latin typeface="Kalam"/>
              <a:ea typeface="Kalam"/>
              <a:cs typeface="Kalam"/>
              <a:sym typeface="Kala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86"/>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tangent formula</a:t>
            </a:r>
            <a:endParaRPr/>
          </a:p>
        </p:txBody>
      </p:sp>
      <p:sp>
        <p:nvSpPr>
          <p:cNvPr id="1592" name="Google Shape;1592;p86"/>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sp>
        <p:nvSpPr>
          <p:cNvPr id="1593" name="Google Shape;1593;p86"/>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tangent ratio</a:t>
            </a:r>
            <a:endParaRPr/>
          </a:p>
        </p:txBody>
      </p:sp>
      <p:pic>
        <p:nvPicPr>
          <p:cNvPr id="1594" name="Google Shape;1594;p86"/>
          <p:cNvPicPr preferRelativeResize="0"/>
          <p:nvPr/>
        </p:nvPicPr>
        <p:blipFill>
          <a:blip r:embed="rId3">
            <a:alphaModFix/>
          </a:blip>
          <a:stretch>
            <a:fillRect/>
          </a:stretch>
        </p:blipFill>
        <p:spPr>
          <a:xfrm>
            <a:off x="417385" y="3002060"/>
            <a:ext cx="450575" cy="446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87"/>
          <p:cNvSpPr txBox="1"/>
          <p:nvPr>
            <p:ph idx="1" type="body"/>
          </p:nvPr>
        </p:nvSpPr>
        <p:spPr>
          <a:xfrm>
            <a:off x="3159475" y="2588100"/>
            <a:ext cx="55545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What is the size of angle </a:t>
            </a:r>
            <a:r>
              <a:rPr lang="en-GB" sz="1800"/>
              <a:t>𝜃° given the ratio between the opposite and adjacent is</a:t>
            </a:r>
            <a:r>
              <a:rPr lang="en-GB" sz="1800"/>
              <a:t> 0.7 : 1?</a:t>
            </a:r>
            <a:endParaRPr sz="1800"/>
          </a:p>
        </p:txBody>
      </p:sp>
      <p:sp>
        <p:nvSpPr>
          <p:cNvPr id="1600" name="Google Shape;1600;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graphicFrame>
        <p:nvGraphicFramePr>
          <p:cNvPr id="1601" name="Google Shape;1601;p87"/>
          <p:cNvGraphicFramePr/>
          <p:nvPr/>
        </p:nvGraphicFramePr>
        <p:xfrm>
          <a:off x="400200" y="606900"/>
          <a:ext cx="3000000" cy="3000000"/>
        </p:xfrm>
        <a:graphic>
          <a:graphicData uri="http://schemas.openxmlformats.org/drawingml/2006/table">
            <a:tbl>
              <a:tblPr>
                <a:noFill/>
                <a:tableStyleId>{2BF94F13-6AE9-463D-A666-45AB6FBBDEB5}</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angle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cosine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tangent</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pSp>
        <p:nvGrpSpPr>
          <p:cNvPr id="1602" name="Google Shape;1602;p87"/>
          <p:cNvGrpSpPr/>
          <p:nvPr/>
        </p:nvGrpSpPr>
        <p:grpSpPr>
          <a:xfrm>
            <a:off x="3369542" y="892658"/>
            <a:ext cx="1458106" cy="1110455"/>
            <a:chOff x="-2098225" y="1379675"/>
            <a:chExt cx="1133566" cy="1976601"/>
          </a:xfrm>
        </p:grpSpPr>
        <p:sp>
          <p:nvSpPr>
            <p:cNvPr id="1603" name="Google Shape;1603;p87"/>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04" name="Google Shape;1604;p87"/>
            <p:cNvCxnSpPr/>
            <p:nvPr/>
          </p:nvCxnSpPr>
          <p:spPr>
            <a:xfrm rot="10800000">
              <a:off x="-2022025" y="3356276"/>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605" name="Google Shape;1605;p87"/>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606" name="Google Shape;1606;p87"/>
            <p:cNvCxnSpPr/>
            <p:nvPr/>
          </p:nvCxnSpPr>
          <p:spPr>
            <a:xfrm flipH="1">
              <a:off x="-2098225" y="1379675"/>
              <a:ext cx="960900" cy="1668300"/>
            </a:xfrm>
            <a:prstGeom prst="straightConnector1">
              <a:avLst/>
            </a:prstGeom>
            <a:noFill/>
            <a:ln cap="flat" cmpd="sng" w="28575">
              <a:solidFill>
                <a:schemeClr val="lt1"/>
              </a:solidFill>
              <a:prstDash val="solid"/>
              <a:round/>
              <a:headEnd len="med" w="med" type="triangle"/>
              <a:tailEnd len="med" w="med" type="triangle"/>
            </a:ln>
          </p:spPr>
        </p:cxnSp>
      </p:grpSp>
      <p:sp>
        <p:nvSpPr>
          <p:cNvPr id="1607" name="Google Shape;1607;p87"/>
          <p:cNvSpPr/>
          <p:nvPr/>
        </p:nvSpPr>
        <p:spPr>
          <a:xfrm>
            <a:off x="4586719" y="1746933"/>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8" name="Google Shape;1608;p87"/>
          <p:cNvSpPr/>
          <p:nvPr/>
        </p:nvSpPr>
        <p:spPr>
          <a:xfrm>
            <a:off x="3100875" y="1528918"/>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9" name="Google Shape;1609;p87"/>
          <p:cNvSpPr txBox="1"/>
          <p:nvPr>
            <p:ph idx="1" type="body"/>
          </p:nvPr>
        </p:nvSpPr>
        <p:spPr>
          <a:xfrm>
            <a:off x="4929125" y="1128425"/>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0.7</a:t>
            </a:r>
            <a:r>
              <a:rPr lang="en-GB" sz="1800"/>
              <a:t>  units</a:t>
            </a:r>
            <a:endParaRPr sz="1800"/>
          </a:p>
        </p:txBody>
      </p:sp>
      <p:sp>
        <p:nvSpPr>
          <p:cNvPr id="1610" name="Google Shape;1610;p87"/>
          <p:cNvSpPr txBox="1"/>
          <p:nvPr>
            <p:ph idx="1" type="body"/>
          </p:nvPr>
        </p:nvSpPr>
        <p:spPr>
          <a:xfrm>
            <a:off x="3677112" y="2055053"/>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unit</a:t>
            </a:r>
            <a:endParaRPr sz="1800"/>
          </a:p>
        </p:txBody>
      </p:sp>
      <p:sp>
        <p:nvSpPr>
          <p:cNvPr id="1611" name="Google Shape;1611;p87"/>
          <p:cNvSpPr txBox="1"/>
          <p:nvPr>
            <p:ph idx="1" type="body"/>
          </p:nvPr>
        </p:nvSpPr>
        <p:spPr>
          <a:xfrm>
            <a:off x="3859659" y="1581509"/>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612" name="Google Shape;1612;p87"/>
          <p:cNvSpPr txBox="1"/>
          <p:nvPr>
            <p:ph idx="1" type="body"/>
          </p:nvPr>
        </p:nvSpPr>
        <p:spPr>
          <a:xfrm>
            <a:off x="7010926" y="684941"/>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opp </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613" name="Google Shape;1613;p87"/>
          <p:cNvSpPr txBox="1"/>
          <p:nvPr>
            <p:ph idx="1" type="body"/>
          </p:nvPr>
        </p:nvSpPr>
        <p:spPr>
          <a:xfrm>
            <a:off x="7018798" y="1065650"/>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adj</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cxnSp>
        <p:nvCxnSpPr>
          <p:cNvPr id="1614" name="Google Shape;1614;p87"/>
          <p:cNvCxnSpPr/>
          <p:nvPr/>
        </p:nvCxnSpPr>
        <p:spPr>
          <a:xfrm>
            <a:off x="6952225" y="1023525"/>
            <a:ext cx="519600" cy="0"/>
          </a:xfrm>
          <a:prstGeom prst="straightConnector1">
            <a:avLst/>
          </a:prstGeom>
          <a:noFill/>
          <a:ln cap="flat" cmpd="sng" w="28575">
            <a:solidFill>
              <a:schemeClr val="dk1"/>
            </a:solidFill>
            <a:prstDash val="solid"/>
            <a:round/>
            <a:headEnd len="med" w="med" type="none"/>
            <a:tailEnd len="med" w="med" type="none"/>
          </a:ln>
        </p:spPr>
      </p:cxnSp>
      <p:sp>
        <p:nvSpPr>
          <p:cNvPr id="1615" name="Google Shape;1615;p87"/>
          <p:cNvSpPr txBox="1"/>
          <p:nvPr>
            <p:ph idx="1" type="body"/>
          </p:nvPr>
        </p:nvSpPr>
        <p:spPr>
          <a:xfrm>
            <a:off x="7050285" y="1523141"/>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0.7</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616" name="Google Shape;1616;p87"/>
          <p:cNvSpPr txBox="1"/>
          <p:nvPr>
            <p:ph idx="1" type="body"/>
          </p:nvPr>
        </p:nvSpPr>
        <p:spPr>
          <a:xfrm>
            <a:off x="7150101" y="1903850"/>
            <a:ext cx="5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p:txBody>
      </p:sp>
      <p:cxnSp>
        <p:nvCxnSpPr>
          <p:cNvPr id="1617" name="Google Shape;1617;p87"/>
          <p:cNvCxnSpPr/>
          <p:nvPr/>
        </p:nvCxnSpPr>
        <p:spPr>
          <a:xfrm>
            <a:off x="6952225" y="1861725"/>
            <a:ext cx="519600" cy="0"/>
          </a:xfrm>
          <a:prstGeom prst="straightConnector1">
            <a:avLst/>
          </a:prstGeom>
          <a:noFill/>
          <a:ln cap="flat" cmpd="sng" w="28575">
            <a:solidFill>
              <a:schemeClr val="dk1"/>
            </a:solidFill>
            <a:prstDash val="solid"/>
            <a:round/>
            <a:headEnd len="med" w="med" type="none"/>
            <a:tailEnd len="med" w="med" type="none"/>
          </a:ln>
        </p:spPr>
      </p:cxnSp>
      <p:sp>
        <p:nvSpPr>
          <p:cNvPr id="1618" name="Google Shape;1618;p87"/>
          <p:cNvSpPr/>
          <p:nvPr/>
        </p:nvSpPr>
        <p:spPr>
          <a:xfrm>
            <a:off x="2246850" y="2283300"/>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9" name="Google Shape;1619;p87"/>
          <p:cNvSpPr/>
          <p:nvPr/>
        </p:nvSpPr>
        <p:spPr>
          <a:xfrm>
            <a:off x="400200" y="2283300"/>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0" name="Google Shape;1620;p87"/>
          <p:cNvSpPr txBox="1"/>
          <p:nvPr>
            <p:ph idx="1" type="body"/>
          </p:nvPr>
        </p:nvSpPr>
        <p:spPr>
          <a:xfrm>
            <a:off x="5308950" y="3425925"/>
            <a:ext cx="930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𝜃</a:t>
            </a:r>
            <a:r>
              <a:rPr lang="en-GB" sz="1800"/>
              <a:t>°</a:t>
            </a:r>
            <a:r>
              <a:rPr lang="en-GB" sz="1800"/>
              <a:t> </a:t>
            </a:r>
            <a:r>
              <a:rPr lang="en-GB" sz="2000">
                <a:latin typeface="Times New Roman"/>
                <a:ea typeface="Times New Roman"/>
                <a:cs typeface="Times New Roman"/>
                <a:sym typeface="Times New Roman"/>
              </a:rPr>
              <a:t>= 35</a:t>
            </a:r>
            <a:r>
              <a:rPr lang="en-GB" sz="1800"/>
              <a:t>°</a:t>
            </a:r>
            <a:endParaRPr sz="1800"/>
          </a:p>
        </p:txBody>
      </p:sp>
      <p:sp>
        <p:nvSpPr>
          <p:cNvPr id="1621" name="Google Shape;1621;p87"/>
          <p:cNvSpPr txBox="1"/>
          <p:nvPr>
            <p:ph idx="1" type="body"/>
          </p:nvPr>
        </p:nvSpPr>
        <p:spPr>
          <a:xfrm>
            <a:off x="5890875" y="863175"/>
            <a:ext cx="10614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a:t>
            </a:r>
            <a:r>
              <a:rPr lang="en-GB" sz="2000">
                <a:latin typeface="Times New Roman"/>
                <a:ea typeface="Times New Roman"/>
                <a:cs typeface="Times New Roman"/>
                <a:sym typeface="Times New Roman"/>
              </a:rPr>
              <a:t>(𝜃</a:t>
            </a:r>
            <a:r>
              <a:rPr lang="en-GB" sz="1800">
                <a:latin typeface="Times New Roman"/>
                <a:ea typeface="Times New Roman"/>
                <a:cs typeface="Times New Roman"/>
                <a:sym typeface="Times New Roman"/>
              </a:rPr>
              <a:t>°</a:t>
            </a:r>
            <a:r>
              <a:rPr lang="en-GB" sz="2000">
                <a:latin typeface="Times New Roman"/>
                <a:ea typeface="Times New Roman"/>
                <a:cs typeface="Times New Roman"/>
                <a:sym typeface="Times New Roman"/>
              </a:rPr>
              <a:t>)</a:t>
            </a:r>
            <a:r>
              <a:rPr lang="en-GB" sz="1800">
                <a:latin typeface="Times New Roman"/>
                <a:ea typeface="Times New Roman"/>
                <a:cs typeface="Times New Roman"/>
                <a:sym typeface="Times New Roman"/>
              </a:rPr>
              <a:t> = </a:t>
            </a:r>
            <a:endParaRPr sz="1800">
              <a:latin typeface="Times New Roman"/>
              <a:ea typeface="Times New Roman"/>
              <a:cs typeface="Times New Roman"/>
              <a:sym typeface="Times New Roman"/>
            </a:endParaRPr>
          </a:p>
          <a:p>
            <a:pPr indent="0" lvl="0" marL="0" rtl="0" algn="l">
              <a:spcBef>
                <a:spcPts val="1000"/>
              </a:spcBef>
              <a:spcAft>
                <a:spcPts val="1000"/>
              </a:spcAft>
              <a:buNone/>
            </a:pPr>
            <a:r>
              <a:t/>
            </a:r>
            <a:endParaRPr sz="1800"/>
          </a:p>
        </p:txBody>
      </p:sp>
      <p:sp>
        <p:nvSpPr>
          <p:cNvPr id="1622" name="Google Shape;1622;p87"/>
          <p:cNvSpPr txBox="1"/>
          <p:nvPr>
            <p:ph idx="1" type="body"/>
          </p:nvPr>
        </p:nvSpPr>
        <p:spPr>
          <a:xfrm>
            <a:off x="5890875" y="1701375"/>
            <a:ext cx="10614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a:t>
            </a:r>
            <a:r>
              <a:rPr lang="en-GB" sz="2000">
                <a:latin typeface="Times New Roman"/>
                <a:ea typeface="Times New Roman"/>
                <a:cs typeface="Times New Roman"/>
                <a:sym typeface="Times New Roman"/>
              </a:rPr>
              <a:t>(𝜃</a:t>
            </a:r>
            <a:r>
              <a:rPr lang="en-GB" sz="1800">
                <a:latin typeface="Times New Roman"/>
                <a:ea typeface="Times New Roman"/>
                <a:cs typeface="Times New Roman"/>
                <a:sym typeface="Times New Roman"/>
              </a:rPr>
              <a:t>°</a:t>
            </a:r>
            <a:r>
              <a:rPr lang="en-GB" sz="2000">
                <a:latin typeface="Times New Roman"/>
                <a:ea typeface="Times New Roman"/>
                <a:cs typeface="Times New Roman"/>
                <a:sym typeface="Times New Roman"/>
              </a:rPr>
              <a:t>)</a:t>
            </a:r>
            <a:r>
              <a:rPr lang="en-GB" sz="1800">
                <a:latin typeface="Times New Roman"/>
                <a:ea typeface="Times New Roman"/>
                <a:cs typeface="Times New Roman"/>
                <a:sym typeface="Times New Roman"/>
              </a:rPr>
              <a:t> =</a:t>
            </a:r>
            <a:r>
              <a:rPr lang="en-GB" sz="1800"/>
              <a:t> </a:t>
            </a:r>
            <a:endParaRPr sz="1800"/>
          </a:p>
          <a:p>
            <a:pPr indent="0" lvl="0" marL="0" rtl="0" algn="l">
              <a:spcBef>
                <a:spcPts val="1000"/>
              </a:spcBef>
              <a:spcAft>
                <a:spcPts val="1000"/>
              </a:spcAft>
              <a:buNone/>
            </a:pPr>
            <a: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88"/>
          <p:cNvSpPr txBox="1"/>
          <p:nvPr>
            <p:ph idx="1" type="body"/>
          </p:nvPr>
        </p:nvSpPr>
        <p:spPr>
          <a:xfrm>
            <a:off x="3159475" y="2849700"/>
            <a:ext cx="50496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angle would give a value of 0.364 for </a:t>
            </a:r>
            <a:r>
              <a:rPr lang="en-GB">
                <a:latin typeface="Times New Roman"/>
                <a:ea typeface="Times New Roman"/>
                <a:cs typeface="Times New Roman"/>
                <a:sym typeface="Times New Roman"/>
              </a:rPr>
              <a:t>tan (𝜃</a:t>
            </a:r>
            <a:r>
              <a:rPr lang="en-GB" sz="2000">
                <a:latin typeface="Times New Roman"/>
                <a:ea typeface="Times New Roman"/>
                <a:cs typeface="Times New Roman"/>
                <a:sym typeface="Times New Roman"/>
              </a:rPr>
              <a:t>°</a:t>
            </a:r>
            <a:r>
              <a:rPr lang="en-GB">
                <a:latin typeface="Times New Roman"/>
                <a:ea typeface="Times New Roman"/>
                <a:cs typeface="Times New Roman"/>
                <a:sym typeface="Times New Roman"/>
              </a:rPr>
              <a:t>)</a:t>
            </a:r>
            <a:r>
              <a:rPr lang="en-GB" sz="1800"/>
              <a:t>?</a:t>
            </a:r>
            <a:endParaRPr sz="1800"/>
          </a:p>
        </p:txBody>
      </p:sp>
      <p:sp>
        <p:nvSpPr>
          <p:cNvPr id="1628" name="Google Shape;1628;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graphicFrame>
        <p:nvGraphicFramePr>
          <p:cNvPr id="1629" name="Google Shape;1629;p88"/>
          <p:cNvGraphicFramePr/>
          <p:nvPr/>
        </p:nvGraphicFramePr>
        <p:xfrm>
          <a:off x="400200" y="606900"/>
          <a:ext cx="3000000" cy="3000000"/>
        </p:xfrm>
        <a:graphic>
          <a:graphicData uri="http://schemas.openxmlformats.org/drawingml/2006/table">
            <a:tbl>
              <a:tblPr>
                <a:noFill/>
                <a:tableStyleId>{2BF94F13-6AE9-463D-A666-45AB6FBBDEB5}</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angle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cosine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tangent</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pSp>
        <p:nvGrpSpPr>
          <p:cNvPr id="1630" name="Google Shape;1630;p88"/>
          <p:cNvGrpSpPr/>
          <p:nvPr/>
        </p:nvGrpSpPr>
        <p:grpSpPr>
          <a:xfrm>
            <a:off x="3369542" y="892658"/>
            <a:ext cx="1458106" cy="1110455"/>
            <a:chOff x="-2098225" y="1379675"/>
            <a:chExt cx="1133566" cy="1976601"/>
          </a:xfrm>
        </p:grpSpPr>
        <p:sp>
          <p:nvSpPr>
            <p:cNvPr id="1631" name="Google Shape;1631;p8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32" name="Google Shape;1632;p88"/>
            <p:cNvCxnSpPr/>
            <p:nvPr/>
          </p:nvCxnSpPr>
          <p:spPr>
            <a:xfrm rot="10800000">
              <a:off x="-2022025" y="3356276"/>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633" name="Google Shape;1633;p88"/>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634" name="Google Shape;1634;p88"/>
            <p:cNvCxnSpPr/>
            <p:nvPr/>
          </p:nvCxnSpPr>
          <p:spPr>
            <a:xfrm flipH="1">
              <a:off x="-2098225" y="1379675"/>
              <a:ext cx="960900" cy="1668300"/>
            </a:xfrm>
            <a:prstGeom prst="straightConnector1">
              <a:avLst/>
            </a:prstGeom>
            <a:noFill/>
            <a:ln cap="flat" cmpd="sng" w="28575">
              <a:solidFill>
                <a:schemeClr val="lt1"/>
              </a:solidFill>
              <a:prstDash val="solid"/>
              <a:round/>
              <a:headEnd len="med" w="med" type="triangle"/>
              <a:tailEnd len="med" w="med" type="triangle"/>
            </a:ln>
          </p:spPr>
        </p:cxnSp>
      </p:grpSp>
      <p:sp>
        <p:nvSpPr>
          <p:cNvPr id="1635" name="Google Shape;1635;p88"/>
          <p:cNvSpPr/>
          <p:nvPr/>
        </p:nvSpPr>
        <p:spPr>
          <a:xfrm>
            <a:off x="4586719" y="1746933"/>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6" name="Google Shape;1636;p88"/>
          <p:cNvSpPr/>
          <p:nvPr/>
        </p:nvSpPr>
        <p:spPr>
          <a:xfrm>
            <a:off x="3100875" y="1528918"/>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7" name="Google Shape;1637;p88"/>
          <p:cNvSpPr txBox="1"/>
          <p:nvPr>
            <p:ph idx="1" type="body"/>
          </p:nvPr>
        </p:nvSpPr>
        <p:spPr>
          <a:xfrm>
            <a:off x="4929125" y="1128425"/>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2.184</a:t>
            </a:r>
            <a:r>
              <a:rPr lang="en-GB" sz="1800"/>
              <a:t>  units</a:t>
            </a:r>
            <a:endParaRPr sz="1800"/>
          </a:p>
        </p:txBody>
      </p:sp>
      <p:sp>
        <p:nvSpPr>
          <p:cNvPr id="1638" name="Google Shape;1638;p88"/>
          <p:cNvSpPr txBox="1"/>
          <p:nvPr>
            <p:ph idx="1" type="body"/>
          </p:nvPr>
        </p:nvSpPr>
        <p:spPr>
          <a:xfrm>
            <a:off x="3677112" y="2055053"/>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r>
              <a:rPr lang="en-GB" sz="1800"/>
              <a:t> units</a:t>
            </a:r>
            <a:endParaRPr sz="1800"/>
          </a:p>
        </p:txBody>
      </p:sp>
      <p:sp>
        <p:nvSpPr>
          <p:cNvPr id="1639" name="Google Shape;1639;p88"/>
          <p:cNvSpPr txBox="1"/>
          <p:nvPr>
            <p:ph idx="1" type="body"/>
          </p:nvPr>
        </p:nvSpPr>
        <p:spPr>
          <a:xfrm>
            <a:off x="3859659" y="1581509"/>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640" name="Google Shape;1640;p88"/>
          <p:cNvSpPr txBox="1"/>
          <p:nvPr>
            <p:ph idx="1" type="body"/>
          </p:nvPr>
        </p:nvSpPr>
        <p:spPr>
          <a:xfrm>
            <a:off x="7010926" y="684941"/>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opp </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641" name="Google Shape;1641;p88"/>
          <p:cNvSpPr txBox="1"/>
          <p:nvPr>
            <p:ph idx="1" type="body"/>
          </p:nvPr>
        </p:nvSpPr>
        <p:spPr>
          <a:xfrm>
            <a:off x="7018798" y="1065650"/>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adj</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cxnSp>
        <p:nvCxnSpPr>
          <p:cNvPr id="1642" name="Google Shape;1642;p88"/>
          <p:cNvCxnSpPr/>
          <p:nvPr/>
        </p:nvCxnSpPr>
        <p:spPr>
          <a:xfrm>
            <a:off x="6952225" y="1023525"/>
            <a:ext cx="519600" cy="0"/>
          </a:xfrm>
          <a:prstGeom prst="straightConnector1">
            <a:avLst/>
          </a:prstGeom>
          <a:noFill/>
          <a:ln cap="flat" cmpd="sng" w="28575">
            <a:solidFill>
              <a:schemeClr val="dk1"/>
            </a:solidFill>
            <a:prstDash val="solid"/>
            <a:round/>
            <a:headEnd len="med" w="med" type="none"/>
            <a:tailEnd len="med" w="med" type="none"/>
          </a:ln>
        </p:spPr>
      </p:cxnSp>
      <p:sp>
        <p:nvSpPr>
          <p:cNvPr id="1643" name="Google Shape;1643;p88"/>
          <p:cNvSpPr txBox="1"/>
          <p:nvPr>
            <p:ph idx="1" type="body"/>
          </p:nvPr>
        </p:nvSpPr>
        <p:spPr>
          <a:xfrm>
            <a:off x="6942586" y="1523150"/>
            <a:ext cx="6156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2.184</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644" name="Google Shape;1644;p88"/>
          <p:cNvSpPr txBox="1"/>
          <p:nvPr>
            <p:ph idx="1" type="body"/>
          </p:nvPr>
        </p:nvSpPr>
        <p:spPr>
          <a:xfrm>
            <a:off x="7150101" y="1903850"/>
            <a:ext cx="5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p:txBody>
      </p:sp>
      <p:cxnSp>
        <p:nvCxnSpPr>
          <p:cNvPr id="1645" name="Google Shape;1645;p88"/>
          <p:cNvCxnSpPr/>
          <p:nvPr/>
        </p:nvCxnSpPr>
        <p:spPr>
          <a:xfrm>
            <a:off x="6952225" y="1861725"/>
            <a:ext cx="519600" cy="0"/>
          </a:xfrm>
          <a:prstGeom prst="straightConnector1">
            <a:avLst/>
          </a:prstGeom>
          <a:noFill/>
          <a:ln cap="flat" cmpd="sng" w="28575">
            <a:solidFill>
              <a:schemeClr val="dk1"/>
            </a:solidFill>
            <a:prstDash val="solid"/>
            <a:round/>
            <a:headEnd len="med" w="med" type="none"/>
            <a:tailEnd len="med" w="med" type="none"/>
          </a:ln>
        </p:spPr>
      </p:cxnSp>
      <p:sp>
        <p:nvSpPr>
          <p:cNvPr id="1646" name="Google Shape;1646;p88"/>
          <p:cNvSpPr/>
          <p:nvPr/>
        </p:nvSpPr>
        <p:spPr>
          <a:xfrm>
            <a:off x="2246850" y="1657956"/>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1647" name="Google Shape;1647;p88"/>
          <p:cNvSpPr/>
          <p:nvPr/>
        </p:nvSpPr>
        <p:spPr>
          <a:xfrm>
            <a:off x="400200" y="1651322"/>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8" name="Google Shape;1648;p88"/>
          <p:cNvSpPr txBox="1"/>
          <p:nvPr>
            <p:ph idx="1" type="body"/>
          </p:nvPr>
        </p:nvSpPr>
        <p:spPr>
          <a:xfrm>
            <a:off x="6105136" y="3619651"/>
            <a:ext cx="990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𝜃</a:t>
            </a:r>
            <a:r>
              <a:rPr lang="en-GB" sz="1800">
                <a:latin typeface="Times New Roman"/>
                <a:ea typeface="Times New Roman"/>
                <a:cs typeface="Times New Roman"/>
                <a:sym typeface="Times New Roman"/>
              </a:rPr>
              <a:t>°</a:t>
            </a:r>
            <a:r>
              <a:rPr lang="en-GB" sz="18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 20°</a:t>
            </a:r>
            <a:endParaRPr sz="2000">
              <a:latin typeface="Times New Roman"/>
              <a:ea typeface="Times New Roman"/>
              <a:cs typeface="Times New Roman"/>
              <a:sym typeface="Times New Roman"/>
            </a:endParaRPr>
          </a:p>
        </p:txBody>
      </p:sp>
      <p:sp>
        <p:nvSpPr>
          <p:cNvPr id="1649" name="Google Shape;1649;p88"/>
          <p:cNvSpPr txBox="1"/>
          <p:nvPr>
            <p:ph idx="1" type="body"/>
          </p:nvPr>
        </p:nvSpPr>
        <p:spPr>
          <a:xfrm>
            <a:off x="5774399" y="2376768"/>
            <a:ext cx="17823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(𝜃</a:t>
            </a:r>
            <a:r>
              <a:rPr lang="en-GB" sz="1800">
                <a:latin typeface="Times New Roman"/>
                <a:ea typeface="Times New Roman"/>
                <a:cs typeface="Times New Roman"/>
                <a:sym typeface="Times New Roman"/>
              </a:rPr>
              <a:t>°</a:t>
            </a:r>
            <a:r>
              <a:rPr lang="en-GB" sz="2000">
                <a:latin typeface="Times New Roman"/>
                <a:ea typeface="Times New Roman"/>
                <a:cs typeface="Times New Roman"/>
                <a:sym typeface="Times New Roman"/>
              </a:rPr>
              <a:t>)</a:t>
            </a:r>
            <a:r>
              <a:rPr lang="en-GB" sz="1800">
                <a:latin typeface="Times New Roman"/>
                <a:ea typeface="Times New Roman"/>
                <a:cs typeface="Times New Roman"/>
                <a:sym typeface="Times New Roman"/>
              </a:rPr>
              <a:t> = 0.364 </a:t>
            </a:r>
            <a:endParaRPr sz="1800">
              <a:latin typeface="Times New Roman"/>
              <a:ea typeface="Times New Roman"/>
              <a:cs typeface="Times New Roman"/>
              <a:sym typeface="Times New Roman"/>
            </a:endParaRPr>
          </a:p>
          <a:p>
            <a:pPr indent="0" lvl="0" marL="0" rtl="0" algn="l">
              <a:spcBef>
                <a:spcPts val="1000"/>
              </a:spcBef>
              <a:spcAft>
                <a:spcPts val="1000"/>
              </a:spcAft>
              <a:buNone/>
            </a:pPr>
            <a:r>
              <a:t/>
            </a:r>
            <a:endParaRPr sz="1800">
              <a:latin typeface="Times New Roman"/>
              <a:ea typeface="Times New Roman"/>
              <a:cs typeface="Times New Roman"/>
              <a:sym typeface="Times New Roman"/>
            </a:endParaRPr>
          </a:p>
        </p:txBody>
      </p:sp>
      <p:sp>
        <p:nvSpPr>
          <p:cNvPr id="1650" name="Google Shape;1650;p88"/>
          <p:cNvSpPr txBox="1"/>
          <p:nvPr>
            <p:ph idx="1" type="body"/>
          </p:nvPr>
        </p:nvSpPr>
        <p:spPr>
          <a:xfrm>
            <a:off x="5758339" y="863175"/>
            <a:ext cx="1115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latin typeface="Times New Roman"/>
                <a:ea typeface="Times New Roman"/>
                <a:cs typeface="Times New Roman"/>
                <a:sym typeface="Times New Roman"/>
              </a:rPr>
              <a:t> =</a:t>
            </a:r>
            <a:r>
              <a:rPr lang="en-GB" sz="1800"/>
              <a:t> </a:t>
            </a:r>
            <a:endParaRPr sz="1800"/>
          </a:p>
          <a:p>
            <a:pPr indent="0" lvl="0" marL="0" rtl="0" algn="l">
              <a:spcBef>
                <a:spcPts val="1000"/>
              </a:spcBef>
              <a:spcAft>
                <a:spcPts val="1000"/>
              </a:spcAft>
              <a:buNone/>
            </a:pPr>
            <a:r>
              <a:t/>
            </a:r>
            <a:endParaRPr sz="1800"/>
          </a:p>
        </p:txBody>
      </p:sp>
      <p:sp>
        <p:nvSpPr>
          <p:cNvPr id="1651" name="Google Shape;1651;p88"/>
          <p:cNvSpPr txBox="1"/>
          <p:nvPr>
            <p:ph idx="1" type="body"/>
          </p:nvPr>
        </p:nvSpPr>
        <p:spPr>
          <a:xfrm>
            <a:off x="5758339" y="1701371"/>
            <a:ext cx="1115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t> </a:t>
            </a:r>
            <a:r>
              <a:rPr lang="en-GB" sz="1800">
                <a:latin typeface="Times New Roman"/>
                <a:ea typeface="Times New Roman"/>
                <a:cs typeface="Times New Roman"/>
                <a:sym typeface="Times New Roman"/>
              </a:rPr>
              <a:t>=</a:t>
            </a:r>
            <a:r>
              <a:rPr lang="en-GB" sz="1800"/>
              <a:t> </a:t>
            </a:r>
            <a:endParaRPr sz="1800"/>
          </a:p>
          <a:p>
            <a:pPr indent="0" lvl="0" marL="0" rtl="0" algn="l">
              <a:spcBef>
                <a:spcPts val="1000"/>
              </a:spcBef>
              <a:spcAft>
                <a:spcPts val="1000"/>
              </a:spcAft>
              <a:buNone/>
            </a:pPr>
            <a: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sp>
        <p:nvSpPr>
          <p:cNvPr id="1656" name="Google Shape;1656;p89"/>
          <p:cNvSpPr txBox="1"/>
          <p:nvPr>
            <p:ph idx="1" type="body"/>
          </p:nvPr>
        </p:nvSpPr>
        <p:spPr>
          <a:xfrm>
            <a:off x="3369550" y="2892900"/>
            <a:ext cx="5192100" cy="613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Which angle would give a value of 0.466 for </a:t>
            </a:r>
            <a:r>
              <a:rPr lang="en-GB">
                <a:latin typeface="Times New Roman"/>
                <a:ea typeface="Times New Roman"/>
                <a:cs typeface="Times New Roman"/>
                <a:sym typeface="Times New Roman"/>
              </a:rPr>
              <a:t>tan (𝜃</a:t>
            </a:r>
            <a:r>
              <a:rPr lang="en-GB" sz="2000">
                <a:latin typeface="Times New Roman"/>
                <a:ea typeface="Times New Roman"/>
                <a:cs typeface="Times New Roman"/>
                <a:sym typeface="Times New Roman"/>
              </a:rPr>
              <a:t>°</a:t>
            </a:r>
            <a:r>
              <a:rPr lang="en-GB">
                <a:latin typeface="Times New Roman"/>
                <a:ea typeface="Times New Roman"/>
                <a:cs typeface="Times New Roman"/>
                <a:sym typeface="Times New Roman"/>
              </a:rPr>
              <a:t>)</a:t>
            </a:r>
            <a:r>
              <a:rPr lang="en-GB" sz="1800"/>
              <a:t>?</a:t>
            </a:r>
            <a:endParaRPr sz="1800"/>
          </a:p>
        </p:txBody>
      </p:sp>
      <p:sp>
        <p:nvSpPr>
          <p:cNvPr id="1657" name="Google Shape;1657;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graphicFrame>
        <p:nvGraphicFramePr>
          <p:cNvPr id="1658" name="Google Shape;1658;p89"/>
          <p:cNvGraphicFramePr/>
          <p:nvPr/>
        </p:nvGraphicFramePr>
        <p:xfrm>
          <a:off x="400200" y="606900"/>
          <a:ext cx="3000000" cy="3000000"/>
        </p:xfrm>
        <a:graphic>
          <a:graphicData uri="http://schemas.openxmlformats.org/drawingml/2006/table">
            <a:tbl>
              <a:tblPr>
                <a:noFill/>
                <a:tableStyleId>{2BF94F13-6AE9-463D-A666-45AB6FBBDEB5}</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angle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cosine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tangent</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pSp>
        <p:nvGrpSpPr>
          <p:cNvPr id="1659" name="Google Shape;1659;p89"/>
          <p:cNvGrpSpPr/>
          <p:nvPr/>
        </p:nvGrpSpPr>
        <p:grpSpPr>
          <a:xfrm>
            <a:off x="3369542" y="892658"/>
            <a:ext cx="1458106" cy="1110455"/>
            <a:chOff x="-2098225" y="1379675"/>
            <a:chExt cx="1133566" cy="1976601"/>
          </a:xfrm>
        </p:grpSpPr>
        <p:sp>
          <p:nvSpPr>
            <p:cNvPr id="1660" name="Google Shape;1660;p8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61" name="Google Shape;1661;p89"/>
            <p:cNvCxnSpPr/>
            <p:nvPr/>
          </p:nvCxnSpPr>
          <p:spPr>
            <a:xfrm rot="10800000">
              <a:off x="-2022025" y="3356276"/>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662" name="Google Shape;1662;p89"/>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663" name="Google Shape;1663;p89"/>
            <p:cNvCxnSpPr/>
            <p:nvPr/>
          </p:nvCxnSpPr>
          <p:spPr>
            <a:xfrm flipH="1">
              <a:off x="-2098225" y="1379675"/>
              <a:ext cx="960900" cy="1668300"/>
            </a:xfrm>
            <a:prstGeom prst="straightConnector1">
              <a:avLst/>
            </a:prstGeom>
            <a:noFill/>
            <a:ln cap="flat" cmpd="sng" w="28575">
              <a:solidFill>
                <a:srgbClr val="E6F2F2"/>
              </a:solidFill>
              <a:prstDash val="solid"/>
              <a:round/>
              <a:headEnd len="med" w="med" type="triangle"/>
              <a:tailEnd len="med" w="med" type="triangle"/>
            </a:ln>
          </p:spPr>
        </p:cxnSp>
      </p:grpSp>
      <p:sp>
        <p:nvSpPr>
          <p:cNvPr id="1664" name="Google Shape;1664;p89"/>
          <p:cNvSpPr/>
          <p:nvPr/>
        </p:nvSpPr>
        <p:spPr>
          <a:xfrm>
            <a:off x="4586719" y="1746933"/>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5" name="Google Shape;1665;p89"/>
          <p:cNvSpPr/>
          <p:nvPr/>
        </p:nvSpPr>
        <p:spPr>
          <a:xfrm>
            <a:off x="3100875" y="1528918"/>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66" name="Google Shape;1666;p89"/>
          <p:cNvSpPr txBox="1"/>
          <p:nvPr>
            <p:ph idx="1" type="body"/>
          </p:nvPr>
        </p:nvSpPr>
        <p:spPr>
          <a:xfrm>
            <a:off x="4929125" y="1128425"/>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2.563  units</a:t>
            </a:r>
            <a:endParaRPr sz="1800"/>
          </a:p>
        </p:txBody>
      </p:sp>
      <p:sp>
        <p:nvSpPr>
          <p:cNvPr id="1667" name="Google Shape;1667;p89"/>
          <p:cNvSpPr txBox="1"/>
          <p:nvPr>
            <p:ph idx="1" type="body"/>
          </p:nvPr>
        </p:nvSpPr>
        <p:spPr>
          <a:xfrm>
            <a:off x="3677099" y="2055050"/>
            <a:ext cx="975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5.5</a:t>
            </a:r>
            <a:r>
              <a:rPr lang="en-GB" sz="1800"/>
              <a:t> units</a:t>
            </a:r>
            <a:endParaRPr sz="1800"/>
          </a:p>
        </p:txBody>
      </p:sp>
      <p:sp>
        <p:nvSpPr>
          <p:cNvPr id="1668" name="Google Shape;1668;p89"/>
          <p:cNvSpPr txBox="1"/>
          <p:nvPr>
            <p:ph idx="1" type="body"/>
          </p:nvPr>
        </p:nvSpPr>
        <p:spPr>
          <a:xfrm>
            <a:off x="3859659" y="1581509"/>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669" name="Google Shape;1669;p89"/>
          <p:cNvSpPr txBox="1"/>
          <p:nvPr>
            <p:ph idx="1" type="body"/>
          </p:nvPr>
        </p:nvSpPr>
        <p:spPr>
          <a:xfrm>
            <a:off x="5774399" y="863175"/>
            <a:ext cx="10989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a:t>
            </a:r>
            <a:r>
              <a:rPr lang="en-GB" sz="2000">
                <a:latin typeface="Times New Roman"/>
                <a:ea typeface="Times New Roman"/>
                <a:cs typeface="Times New Roman"/>
                <a:sym typeface="Times New Roman"/>
              </a:rPr>
              <a:t> (𝜃</a:t>
            </a:r>
            <a:r>
              <a:rPr lang="en-GB" sz="1800"/>
              <a:t>°</a:t>
            </a:r>
            <a:r>
              <a:rPr lang="en-GB" sz="2000">
                <a:latin typeface="Times New Roman"/>
                <a:ea typeface="Times New Roman"/>
                <a:cs typeface="Times New Roman"/>
                <a:sym typeface="Times New Roman"/>
              </a:rPr>
              <a:t>)</a:t>
            </a:r>
            <a:r>
              <a:rPr lang="en-GB" sz="1800"/>
              <a:t> = </a:t>
            </a:r>
            <a:endParaRPr sz="1800"/>
          </a:p>
          <a:p>
            <a:pPr indent="0" lvl="0" marL="0" rtl="0" algn="l">
              <a:spcBef>
                <a:spcPts val="1000"/>
              </a:spcBef>
              <a:spcAft>
                <a:spcPts val="1000"/>
              </a:spcAft>
              <a:buNone/>
            </a:pPr>
            <a:r>
              <a:t/>
            </a:r>
            <a:endParaRPr sz="1800"/>
          </a:p>
        </p:txBody>
      </p:sp>
      <p:sp>
        <p:nvSpPr>
          <p:cNvPr id="1670" name="Google Shape;1670;p89"/>
          <p:cNvSpPr txBox="1"/>
          <p:nvPr>
            <p:ph idx="1" type="body"/>
          </p:nvPr>
        </p:nvSpPr>
        <p:spPr>
          <a:xfrm>
            <a:off x="7010926" y="684941"/>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opp </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671" name="Google Shape;1671;p89"/>
          <p:cNvSpPr txBox="1"/>
          <p:nvPr>
            <p:ph idx="1" type="body"/>
          </p:nvPr>
        </p:nvSpPr>
        <p:spPr>
          <a:xfrm>
            <a:off x="7018798" y="1065650"/>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adj</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cxnSp>
        <p:nvCxnSpPr>
          <p:cNvPr id="1672" name="Google Shape;1672;p89"/>
          <p:cNvCxnSpPr/>
          <p:nvPr/>
        </p:nvCxnSpPr>
        <p:spPr>
          <a:xfrm>
            <a:off x="6952225" y="1023525"/>
            <a:ext cx="519600" cy="0"/>
          </a:xfrm>
          <a:prstGeom prst="straightConnector1">
            <a:avLst/>
          </a:prstGeom>
          <a:noFill/>
          <a:ln cap="flat" cmpd="sng" w="28575">
            <a:solidFill>
              <a:schemeClr val="dk1"/>
            </a:solidFill>
            <a:prstDash val="solid"/>
            <a:round/>
            <a:headEnd len="med" w="med" type="none"/>
            <a:tailEnd len="med" w="med" type="none"/>
          </a:ln>
        </p:spPr>
      </p:cxnSp>
      <p:sp>
        <p:nvSpPr>
          <p:cNvPr id="1673" name="Google Shape;1673;p89"/>
          <p:cNvSpPr txBox="1"/>
          <p:nvPr>
            <p:ph idx="1" type="body"/>
          </p:nvPr>
        </p:nvSpPr>
        <p:spPr>
          <a:xfrm>
            <a:off x="6942586" y="1523150"/>
            <a:ext cx="6156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2.563</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674" name="Google Shape;1674;p89"/>
          <p:cNvSpPr txBox="1"/>
          <p:nvPr>
            <p:ph idx="1" type="body"/>
          </p:nvPr>
        </p:nvSpPr>
        <p:spPr>
          <a:xfrm>
            <a:off x="7073901" y="1903850"/>
            <a:ext cx="53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5.5</a:t>
            </a:r>
            <a:endParaRPr sz="2000">
              <a:latin typeface="Times New Roman"/>
              <a:ea typeface="Times New Roman"/>
              <a:cs typeface="Times New Roman"/>
              <a:sym typeface="Times New Roman"/>
            </a:endParaRPr>
          </a:p>
        </p:txBody>
      </p:sp>
      <p:cxnSp>
        <p:nvCxnSpPr>
          <p:cNvPr id="1675" name="Google Shape;1675;p89"/>
          <p:cNvCxnSpPr/>
          <p:nvPr/>
        </p:nvCxnSpPr>
        <p:spPr>
          <a:xfrm>
            <a:off x="6952225" y="1861725"/>
            <a:ext cx="519600" cy="0"/>
          </a:xfrm>
          <a:prstGeom prst="straightConnector1">
            <a:avLst/>
          </a:prstGeom>
          <a:noFill/>
          <a:ln cap="flat" cmpd="sng" w="28575">
            <a:solidFill>
              <a:schemeClr val="dk1"/>
            </a:solidFill>
            <a:prstDash val="solid"/>
            <a:round/>
            <a:headEnd len="med" w="med" type="none"/>
            <a:tailEnd len="med" w="med" type="none"/>
          </a:ln>
        </p:spPr>
      </p:cxnSp>
      <p:sp>
        <p:nvSpPr>
          <p:cNvPr id="1676" name="Google Shape;1676;p89"/>
          <p:cNvSpPr/>
          <p:nvPr/>
        </p:nvSpPr>
        <p:spPr>
          <a:xfrm>
            <a:off x="2246850" y="1855069"/>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1677" name="Google Shape;1677;p89"/>
          <p:cNvSpPr/>
          <p:nvPr/>
        </p:nvSpPr>
        <p:spPr>
          <a:xfrm>
            <a:off x="400200" y="1856306"/>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8" name="Google Shape;1678;p89"/>
          <p:cNvSpPr txBox="1"/>
          <p:nvPr>
            <p:ph idx="1" type="body"/>
          </p:nvPr>
        </p:nvSpPr>
        <p:spPr>
          <a:xfrm>
            <a:off x="6413673" y="3377776"/>
            <a:ext cx="975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𝜃</a:t>
            </a:r>
            <a:r>
              <a:rPr lang="en-GB" sz="1800"/>
              <a:t>°</a:t>
            </a:r>
            <a:r>
              <a:rPr lang="en-GB" sz="1800"/>
              <a:t> = </a:t>
            </a:r>
            <a:r>
              <a:rPr lang="en-GB" sz="1800">
                <a:solidFill>
                  <a:srgbClr val="E6F2F2"/>
                </a:solidFill>
              </a:rPr>
              <a:t>25°</a:t>
            </a:r>
            <a:endParaRPr sz="1800">
              <a:solidFill>
                <a:srgbClr val="E6F2F2"/>
              </a:solidFill>
            </a:endParaRPr>
          </a:p>
        </p:txBody>
      </p:sp>
      <p:sp>
        <p:nvSpPr>
          <p:cNvPr id="1679" name="Google Shape;1679;p89"/>
          <p:cNvSpPr txBox="1"/>
          <p:nvPr>
            <p:ph idx="1" type="body"/>
          </p:nvPr>
        </p:nvSpPr>
        <p:spPr>
          <a:xfrm>
            <a:off x="5811890" y="2387168"/>
            <a:ext cx="17556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t> </a:t>
            </a:r>
            <a:r>
              <a:rPr lang="en-GB" sz="2000">
                <a:latin typeface="Times New Roman"/>
                <a:ea typeface="Times New Roman"/>
                <a:cs typeface="Times New Roman"/>
                <a:sym typeface="Times New Roman"/>
              </a:rPr>
              <a:t>= 0.466</a:t>
            </a:r>
            <a:r>
              <a:rPr lang="en-GB" sz="1800"/>
              <a:t> </a:t>
            </a:r>
            <a:endParaRPr sz="1800"/>
          </a:p>
          <a:p>
            <a:pPr indent="0" lvl="0" marL="0" rtl="0" algn="l">
              <a:spcBef>
                <a:spcPts val="1000"/>
              </a:spcBef>
              <a:spcAft>
                <a:spcPts val="1000"/>
              </a:spcAft>
              <a:buNone/>
            </a:pPr>
            <a:r>
              <a:t/>
            </a:r>
            <a:endParaRPr sz="1800"/>
          </a:p>
        </p:txBody>
      </p:sp>
      <p:sp>
        <p:nvSpPr>
          <p:cNvPr id="1680" name="Google Shape;1680;p89"/>
          <p:cNvSpPr txBox="1"/>
          <p:nvPr>
            <p:ph idx="1" type="body"/>
          </p:nvPr>
        </p:nvSpPr>
        <p:spPr>
          <a:xfrm>
            <a:off x="6930597" y="3392110"/>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25°</a:t>
            </a:r>
            <a:endParaRPr sz="2000">
              <a:latin typeface="Kalam"/>
              <a:ea typeface="Kalam"/>
              <a:cs typeface="Kalam"/>
              <a:sym typeface="Kalam"/>
            </a:endParaRPr>
          </a:p>
        </p:txBody>
      </p:sp>
      <p:sp>
        <p:nvSpPr>
          <p:cNvPr id="1681" name="Google Shape;1681;p89"/>
          <p:cNvSpPr txBox="1"/>
          <p:nvPr>
            <p:ph idx="1" type="body"/>
          </p:nvPr>
        </p:nvSpPr>
        <p:spPr>
          <a:xfrm>
            <a:off x="5784736" y="1688810"/>
            <a:ext cx="1098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t> =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5" name="Shape 1685"/>
        <p:cNvGrpSpPr/>
        <p:nvPr/>
      </p:nvGrpSpPr>
      <p:grpSpPr>
        <a:xfrm>
          <a:off x="0" y="0"/>
          <a:ext cx="0" cy="0"/>
          <a:chOff x="0" y="0"/>
          <a:chExt cx="0" cy="0"/>
        </a:xfrm>
      </p:grpSpPr>
      <p:sp>
        <p:nvSpPr>
          <p:cNvPr id="1686" name="Google Shape;1686;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graphicFrame>
        <p:nvGraphicFramePr>
          <p:cNvPr id="1687" name="Google Shape;1687;p90"/>
          <p:cNvGraphicFramePr/>
          <p:nvPr/>
        </p:nvGraphicFramePr>
        <p:xfrm>
          <a:off x="400200" y="606900"/>
          <a:ext cx="3000000" cy="3000000"/>
        </p:xfrm>
        <a:graphic>
          <a:graphicData uri="http://schemas.openxmlformats.org/drawingml/2006/table">
            <a:tbl>
              <a:tblPr>
                <a:noFill/>
                <a:tableStyleId>{2BF94F13-6AE9-463D-A666-45AB6FBBDEB5}</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angle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cosine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tangent</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pSp>
        <p:nvGrpSpPr>
          <p:cNvPr id="1688" name="Google Shape;1688;p90"/>
          <p:cNvGrpSpPr/>
          <p:nvPr/>
        </p:nvGrpSpPr>
        <p:grpSpPr>
          <a:xfrm>
            <a:off x="3631138" y="761982"/>
            <a:ext cx="991568" cy="1887528"/>
            <a:chOff x="-2098225" y="1379675"/>
            <a:chExt cx="1161222" cy="1862570"/>
          </a:xfrm>
        </p:grpSpPr>
        <p:sp>
          <p:nvSpPr>
            <p:cNvPr id="1689" name="Google Shape;1689;p9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90" name="Google Shape;1690;p90"/>
            <p:cNvCxnSpPr/>
            <p:nvPr/>
          </p:nvCxnSpPr>
          <p:spPr>
            <a:xfrm rot="10800000">
              <a:off x="-2022025" y="324224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691" name="Google Shape;1691;p90"/>
            <p:cNvCxnSpPr/>
            <p:nvPr/>
          </p:nvCxnSpPr>
          <p:spPr>
            <a:xfrm rot="10800000">
              <a:off x="-937003"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692" name="Google Shape;1692;p90"/>
            <p:cNvCxnSpPr/>
            <p:nvPr/>
          </p:nvCxnSpPr>
          <p:spPr>
            <a:xfrm flipH="1">
              <a:off x="-2098225" y="1379675"/>
              <a:ext cx="960900" cy="1668300"/>
            </a:xfrm>
            <a:prstGeom prst="straightConnector1">
              <a:avLst/>
            </a:prstGeom>
            <a:noFill/>
            <a:ln cap="flat" cmpd="sng" w="28575">
              <a:solidFill>
                <a:schemeClr val="lt1"/>
              </a:solidFill>
              <a:prstDash val="solid"/>
              <a:round/>
              <a:headEnd len="med" w="med" type="triangle"/>
              <a:tailEnd len="med" w="med" type="triangle"/>
            </a:ln>
          </p:spPr>
        </p:cxnSp>
      </p:grpSp>
      <p:sp>
        <p:nvSpPr>
          <p:cNvPr id="1693" name="Google Shape;1693;p90"/>
          <p:cNvSpPr/>
          <p:nvPr/>
        </p:nvSpPr>
        <p:spPr>
          <a:xfrm>
            <a:off x="4397726" y="2406482"/>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4" name="Google Shape;1694;p90"/>
          <p:cNvSpPr/>
          <p:nvPr/>
        </p:nvSpPr>
        <p:spPr>
          <a:xfrm>
            <a:off x="3393260" y="2220252"/>
            <a:ext cx="615600" cy="615600"/>
          </a:xfrm>
          <a:prstGeom prst="arc">
            <a:avLst>
              <a:gd fmla="val 17804757"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5" name="Google Shape;1695;p90"/>
          <p:cNvSpPr txBox="1"/>
          <p:nvPr>
            <p:ph idx="1" type="body"/>
          </p:nvPr>
        </p:nvSpPr>
        <p:spPr>
          <a:xfrm>
            <a:off x="4716475" y="1523150"/>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22.392units</a:t>
            </a:r>
            <a:endParaRPr sz="1800"/>
          </a:p>
        </p:txBody>
      </p:sp>
      <p:sp>
        <p:nvSpPr>
          <p:cNvPr id="1696" name="Google Shape;1696;p90"/>
          <p:cNvSpPr txBox="1"/>
          <p:nvPr>
            <p:ph idx="1" type="body"/>
          </p:nvPr>
        </p:nvSpPr>
        <p:spPr>
          <a:xfrm>
            <a:off x="3793184" y="2727562"/>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units</a:t>
            </a:r>
            <a:endParaRPr sz="1800"/>
          </a:p>
        </p:txBody>
      </p:sp>
      <p:sp>
        <p:nvSpPr>
          <p:cNvPr id="1697" name="Google Shape;1697;p90"/>
          <p:cNvSpPr txBox="1"/>
          <p:nvPr>
            <p:ph idx="1" type="body"/>
          </p:nvPr>
        </p:nvSpPr>
        <p:spPr>
          <a:xfrm>
            <a:off x="3983381" y="2104250"/>
            <a:ext cx="287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698" name="Google Shape;1698;p90"/>
          <p:cNvSpPr txBox="1"/>
          <p:nvPr>
            <p:ph idx="1" type="body"/>
          </p:nvPr>
        </p:nvSpPr>
        <p:spPr>
          <a:xfrm>
            <a:off x="5829875" y="863175"/>
            <a:ext cx="10686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a:t>
            </a:r>
            <a:r>
              <a:rPr lang="en-GB" sz="2000"/>
              <a:t>𝜃</a:t>
            </a:r>
            <a:r>
              <a:rPr lang="en-GB" sz="1800"/>
              <a:t>°</a:t>
            </a:r>
            <a:r>
              <a:rPr lang="en-GB" sz="2000">
                <a:latin typeface="Times New Roman"/>
                <a:ea typeface="Times New Roman"/>
                <a:cs typeface="Times New Roman"/>
                <a:sym typeface="Times New Roman"/>
              </a:rPr>
              <a:t>)</a:t>
            </a:r>
            <a:r>
              <a:rPr lang="en-GB" sz="1800"/>
              <a:t> = </a:t>
            </a:r>
            <a:endParaRPr sz="1800"/>
          </a:p>
          <a:p>
            <a:pPr indent="0" lvl="0" marL="0" rtl="0" algn="l">
              <a:spcBef>
                <a:spcPts val="1000"/>
              </a:spcBef>
              <a:spcAft>
                <a:spcPts val="1000"/>
              </a:spcAft>
              <a:buNone/>
            </a:pPr>
            <a:r>
              <a:t/>
            </a:r>
            <a:endParaRPr sz="1800"/>
          </a:p>
        </p:txBody>
      </p:sp>
      <p:sp>
        <p:nvSpPr>
          <p:cNvPr id="1699" name="Google Shape;1699;p90"/>
          <p:cNvSpPr txBox="1"/>
          <p:nvPr>
            <p:ph idx="1" type="body"/>
          </p:nvPr>
        </p:nvSpPr>
        <p:spPr>
          <a:xfrm>
            <a:off x="7010926" y="684941"/>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opp </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700" name="Google Shape;1700;p90"/>
          <p:cNvSpPr txBox="1"/>
          <p:nvPr>
            <p:ph idx="1" type="body"/>
          </p:nvPr>
        </p:nvSpPr>
        <p:spPr>
          <a:xfrm>
            <a:off x="7018798" y="1065650"/>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adj</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cxnSp>
        <p:nvCxnSpPr>
          <p:cNvPr id="1701" name="Google Shape;1701;p90"/>
          <p:cNvCxnSpPr/>
          <p:nvPr/>
        </p:nvCxnSpPr>
        <p:spPr>
          <a:xfrm>
            <a:off x="6952225" y="1023525"/>
            <a:ext cx="519600" cy="0"/>
          </a:xfrm>
          <a:prstGeom prst="straightConnector1">
            <a:avLst/>
          </a:prstGeom>
          <a:noFill/>
          <a:ln cap="flat" cmpd="sng" w="28575">
            <a:solidFill>
              <a:schemeClr val="dk1"/>
            </a:solidFill>
            <a:prstDash val="solid"/>
            <a:round/>
            <a:headEnd len="med" w="med" type="none"/>
            <a:tailEnd len="med" w="med" type="none"/>
          </a:ln>
        </p:spPr>
      </p:cxnSp>
      <p:sp>
        <p:nvSpPr>
          <p:cNvPr id="1702" name="Google Shape;1702;p90"/>
          <p:cNvSpPr txBox="1"/>
          <p:nvPr>
            <p:ph idx="1" type="body"/>
          </p:nvPr>
        </p:nvSpPr>
        <p:spPr>
          <a:xfrm>
            <a:off x="6942573" y="1523150"/>
            <a:ext cx="7011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22.392</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703" name="Google Shape;1703;p90"/>
          <p:cNvSpPr txBox="1"/>
          <p:nvPr>
            <p:ph idx="1" type="body"/>
          </p:nvPr>
        </p:nvSpPr>
        <p:spPr>
          <a:xfrm>
            <a:off x="7226301" y="1903850"/>
            <a:ext cx="170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6</a:t>
            </a:r>
            <a:endParaRPr sz="2000">
              <a:latin typeface="Times New Roman"/>
              <a:ea typeface="Times New Roman"/>
              <a:cs typeface="Times New Roman"/>
              <a:sym typeface="Times New Roman"/>
            </a:endParaRPr>
          </a:p>
        </p:txBody>
      </p:sp>
      <p:cxnSp>
        <p:nvCxnSpPr>
          <p:cNvPr id="1704" name="Google Shape;1704;p90"/>
          <p:cNvCxnSpPr/>
          <p:nvPr/>
        </p:nvCxnSpPr>
        <p:spPr>
          <a:xfrm>
            <a:off x="6952225" y="1861725"/>
            <a:ext cx="683400" cy="0"/>
          </a:xfrm>
          <a:prstGeom prst="straightConnector1">
            <a:avLst/>
          </a:prstGeom>
          <a:noFill/>
          <a:ln cap="flat" cmpd="sng" w="28575">
            <a:solidFill>
              <a:schemeClr val="dk1"/>
            </a:solidFill>
            <a:prstDash val="solid"/>
            <a:round/>
            <a:headEnd len="med" w="med" type="none"/>
            <a:tailEnd len="med" w="med" type="none"/>
          </a:ln>
        </p:spPr>
      </p:cxnSp>
      <p:sp>
        <p:nvSpPr>
          <p:cNvPr id="1705" name="Google Shape;1705;p90"/>
          <p:cNvSpPr/>
          <p:nvPr/>
        </p:nvSpPr>
        <p:spPr>
          <a:xfrm>
            <a:off x="2246800" y="3956712"/>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1706" name="Google Shape;1706;p90"/>
          <p:cNvSpPr/>
          <p:nvPr/>
        </p:nvSpPr>
        <p:spPr>
          <a:xfrm>
            <a:off x="400200" y="3964569"/>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7" name="Google Shape;1707;p90"/>
          <p:cNvSpPr txBox="1"/>
          <p:nvPr>
            <p:ph idx="1" type="body"/>
          </p:nvPr>
        </p:nvSpPr>
        <p:spPr>
          <a:xfrm>
            <a:off x="6459415" y="3606375"/>
            <a:ext cx="931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𝜃</a:t>
            </a:r>
            <a:r>
              <a:rPr lang="en-GB" sz="1800"/>
              <a:t>°</a:t>
            </a:r>
            <a:r>
              <a:rPr lang="en-GB" sz="1800"/>
              <a:t> </a:t>
            </a:r>
            <a:r>
              <a:rPr lang="en-GB" sz="2000">
                <a:latin typeface="Times New Roman"/>
                <a:ea typeface="Times New Roman"/>
                <a:cs typeface="Times New Roman"/>
                <a:sym typeface="Times New Roman"/>
              </a:rPr>
              <a:t>= 75°</a:t>
            </a:r>
            <a:endParaRPr sz="2000">
              <a:latin typeface="Times New Roman"/>
              <a:ea typeface="Times New Roman"/>
              <a:cs typeface="Times New Roman"/>
              <a:sym typeface="Times New Roman"/>
            </a:endParaRPr>
          </a:p>
        </p:txBody>
      </p:sp>
      <p:sp>
        <p:nvSpPr>
          <p:cNvPr id="1708" name="Google Shape;1708;p90"/>
          <p:cNvSpPr txBox="1"/>
          <p:nvPr>
            <p:ph idx="1" type="body"/>
          </p:nvPr>
        </p:nvSpPr>
        <p:spPr>
          <a:xfrm>
            <a:off x="5738101" y="2387175"/>
            <a:ext cx="20250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a:t>
            </a:r>
            <a:r>
              <a:rPr lang="en-GB" sz="2000"/>
              <a:t>𝜃</a:t>
            </a:r>
            <a:r>
              <a:rPr lang="en-GB" sz="1800"/>
              <a:t>°</a:t>
            </a:r>
            <a:r>
              <a:rPr lang="en-GB" sz="2000">
                <a:latin typeface="Times New Roman"/>
                <a:ea typeface="Times New Roman"/>
                <a:cs typeface="Times New Roman"/>
                <a:sym typeface="Times New Roman"/>
              </a:rPr>
              <a:t>)</a:t>
            </a:r>
            <a:r>
              <a:rPr lang="en-GB" sz="1800"/>
              <a:t> </a:t>
            </a:r>
            <a:r>
              <a:rPr lang="en-GB" sz="1800"/>
              <a:t> </a:t>
            </a:r>
            <a:r>
              <a:rPr lang="en-GB" sz="2000">
                <a:latin typeface="Times New Roman"/>
                <a:ea typeface="Times New Roman"/>
                <a:cs typeface="Times New Roman"/>
                <a:sym typeface="Times New Roman"/>
              </a:rPr>
              <a:t>= 3.732</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1800"/>
          </a:p>
        </p:txBody>
      </p:sp>
      <p:sp>
        <p:nvSpPr>
          <p:cNvPr id="1709" name="Google Shape;1709;p90"/>
          <p:cNvSpPr txBox="1"/>
          <p:nvPr>
            <p:ph idx="1" type="body"/>
          </p:nvPr>
        </p:nvSpPr>
        <p:spPr>
          <a:xfrm>
            <a:off x="5829875" y="1625172"/>
            <a:ext cx="10686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a:t>
            </a:r>
            <a:r>
              <a:rPr lang="en-GB" sz="2000"/>
              <a:t>𝜃</a:t>
            </a:r>
            <a:r>
              <a:rPr lang="en-GB" sz="1800"/>
              <a:t>°</a:t>
            </a:r>
            <a:r>
              <a:rPr lang="en-GB" sz="2000">
                <a:latin typeface="Times New Roman"/>
                <a:ea typeface="Times New Roman"/>
                <a:cs typeface="Times New Roman"/>
                <a:sym typeface="Times New Roman"/>
              </a:rPr>
              <a:t>)</a:t>
            </a:r>
            <a:r>
              <a:rPr lang="en-GB" sz="2000"/>
              <a:t> </a:t>
            </a:r>
            <a:r>
              <a:rPr lang="en-GB" sz="1800"/>
              <a:t>= </a:t>
            </a:r>
            <a:endParaRPr sz="1800"/>
          </a:p>
          <a:p>
            <a:pPr indent="0" lvl="0" marL="0" rtl="0" algn="l">
              <a:spcBef>
                <a:spcPts val="1000"/>
              </a:spcBef>
              <a:spcAft>
                <a:spcPts val="1000"/>
              </a:spcAft>
              <a:buNone/>
            </a:pPr>
            <a:r>
              <a:t/>
            </a:r>
            <a:endParaRPr sz="1800"/>
          </a:p>
        </p:txBody>
      </p:sp>
      <p:sp>
        <p:nvSpPr>
          <p:cNvPr id="1710" name="Google Shape;1710;p90"/>
          <p:cNvSpPr txBox="1"/>
          <p:nvPr>
            <p:ph idx="1" type="body"/>
          </p:nvPr>
        </p:nvSpPr>
        <p:spPr>
          <a:xfrm>
            <a:off x="3037925" y="3121500"/>
            <a:ext cx="57822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angle would give a value of 3.732 for </a:t>
            </a:r>
            <a:r>
              <a:rPr lang="en-GB">
                <a:latin typeface="Times New Roman"/>
                <a:ea typeface="Times New Roman"/>
                <a:cs typeface="Times New Roman"/>
                <a:sym typeface="Times New Roman"/>
              </a:rPr>
              <a:t>tan(𝜃</a:t>
            </a:r>
            <a:r>
              <a:rPr lang="en-GB" sz="2000">
                <a:latin typeface="Times New Roman"/>
                <a:ea typeface="Times New Roman"/>
                <a:cs typeface="Times New Roman"/>
                <a:sym typeface="Times New Roman"/>
              </a:rPr>
              <a:t>°</a:t>
            </a:r>
            <a:r>
              <a:rPr lang="en-GB">
                <a:latin typeface="Times New Roman"/>
                <a:ea typeface="Times New Roman"/>
                <a:cs typeface="Times New Roman"/>
                <a:sym typeface="Times New Roman"/>
              </a:rPr>
              <a:t>)</a:t>
            </a:r>
            <a:r>
              <a:rPr lang="en-GB" sz="1800"/>
              <a:t>?</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4" name="Shape 1714"/>
        <p:cNvGrpSpPr/>
        <p:nvPr/>
      </p:nvGrpSpPr>
      <p:grpSpPr>
        <a:xfrm>
          <a:off x="0" y="0"/>
          <a:ext cx="0" cy="0"/>
          <a:chOff x="0" y="0"/>
          <a:chExt cx="0" cy="0"/>
        </a:xfrm>
      </p:grpSpPr>
      <p:sp>
        <p:nvSpPr>
          <p:cNvPr id="1715" name="Google Shape;1715;p91"/>
          <p:cNvSpPr txBox="1"/>
          <p:nvPr>
            <p:ph idx="1" type="body"/>
          </p:nvPr>
        </p:nvSpPr>
        <p:spPr>
          <a:xfrm>
            <a:off x="3037925" y="3121500"/>
            <a:ext cx="5782200" cy="271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Which angle would give a value of 3.732 for </a:t>
            </a:r>
            <a:r>
              <a:rPr lang="en-GB">
                <a:latin typeface="Times New Roman"/>
                <a:ea typeface="Times New Roman"/>
                <a:cs typeface="Times New Roman"/>
                <a:sym typeface="Times New Roman"/>
              </a:rPr>
              <a:t>tan(𝜃</a:t>
            </a:r>
            <a:r>
              <a:rPr lang="en-GB" sz="2000">
                <a:latin typeface="Times New Roman"/>
                <a:ea typeface="Times New Roman"/>
                <a:cs typeface="Times New Roman"/>
                <a:sym typeface="Times New Roman"/>
              </a:rPr>
              <a:t>°</a:t>
            </a:r>
            <a:r>
              <a:rPr lang="en-GB">
                <a:latin typeface="Times New Roman"/>
                <a:ea typeface="Times New Roman"/>
                <a:cs typeface="Times New Roman"/>
                <a:sym typeface="Times New Roman"/>
              </a:rPr>
              <a:t>)</a:t>
            </a:r>
            <a:r>
              <a:rPr lang="en-GB" sz="1800"/>
              <a:t>?</a:t>
            </a:r>
            <a:endParaRPr sz="1800"/>
          </a:p>
        </p:txBody>
      </p:sp>
      <p:sp>
        <p:nvSpPr>
          <p:cNvPr id="1716" name="Google Shape;1716;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graphicFrame>
        <p:nvGraphicFramePr>
          <p:cNvPr id="1717" name="Google Shape;1717;p91"/>
          <p:cNvGraphicFramePr/>
          <p:nvPr/>
        </p:nvGraphicFramePr>
        <p:xfrm>
          <a:off x="400200" y="606900"/>
          <a:ext cx="3000000" cy="3000000"/>
        </p:xfrm>
        <a:graphic>
          <a:graphicData uri="http://schemas.openxmlformats.org/drawingml/2006/table">
            <a:tbl>
              <a:tblPr>
                <a:noFill/>
                <a:tableStyleId>{2BF94F13-6AE9-463D-A666-45AB6FBBDEB5}</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angle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cosine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tangent</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pSp>
        <p:nvGrpSpPr>
          <p:cNvPr id="1718" name="Google Shape;1718;p91"/>
          <p:cNvGrpSpPr/>
          <p:nvPr/>
        </p:nvGrpSpPr>
        <p:grpSpPr>
          <a:xfrm>
            <a:off x="3631138" y="761982"/>
            <a:ext cx="991568" cy="1887528"/>
            <a:chOff x="-2098225" y="1379675"/>
            <a:chExt cx="1161222" cy="1862570"/>
          </a:xfrm>
        </p:grpSpPr>
        <p:sp>
          <p:nvSpPr>
            <p:cNvPr id="1719" name="Google Shape;1719;p9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20" name="Google Shape;1720;p91"/>
            <p:cNvCxnSpPr/>
            <p:nvPr/>
          </p:nvCxnSpPr>
          <p:spPr>
            <a:xfrm rot="10800000">
              <a:off x="-2022025" y="3242245"/>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721" name="Google Shape;1721;p91"/>
            <p:cNvCxnSpPr/>
            <p:nvPr/>
          </p:nvCxnSpPr>
          <p:spPr>
            <a:xfrm rot="10800000">
              <a:off x="-937003"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722" name="Google Shape;1722;p91"/>
            <p:cNvCxnSpPr/>
            <p:nvPr/>
          </p:nvCxnSpPr>
          <p:spPr>
            <a:xfrm flipH="1">
              <a:off x="-2098225" y="1379675"/>
              <a:ext cx="960900" cy="1668300"/>
            </a:xfrm>
            <a:prstGeom prst="straightConnector1">
              <a:avLst/>
            </a:prstGeom>
            <a:noFill/>
            <a:ln cap="flat" cmpd="sng" w="28575">
              <a:solidFill>
                <a:schemeClr val="lt1"/>
              </a:solidFill>
              <a:prstDash val="solid"/>
              <a:round/>
              <a:headEnd len="med" w="med" type="triangle"/>
              <a:tailEnd len="med" w="med" type="triangle"/>
            </a:ln>
          </p:spPr>
        </p:cxnSp>
      </p:grpSp>
      <p:sp>
        <p:nvSpPr>
          <p:cNvPr id="1723" name="Google Shape;1723;p91"/>
          <p:cNvSpPr/>
          <p:nvPr/>
        </p:nvSpPr>
        <p:spPr>
          <a:xfrm>
            <a:off x="4396734" y="2406989"/>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4" name="Google Shape;1724;p91"/>
          <p:cNvSpPr/>
          <p:nvPr/>
        </p:nvSpPr>
        <p:spPr>
          <a:xfrm>
            <a:off x="3393260" y="2220252"/>
            <a:ext cx="615600" cy="615600"/>
          </a:xfrm>
          <a:prstGeom prst="arc">
            <a:avLst>
              <a:gd fmla="val 17804757"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5" name="Google Shape;1725;p91"/>
          <p:cNvSpPr txBox="1"/>
          <p:nvPr>
            <p:ph idx="1" type="body"/>
          </p:nvPr>
        </p:nvSpPr>
        <p:spPr>
          <a:xfrm>
            <a:off x="4716475" y="1523150"/>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22.392units</a:t>
            </a:r>
            <a:endParaRPr sz="1800"/>
          </a:p>
        </p:txBody>
      </p:sp>
      <p:sp>
        <p:nvSpPr>
          <p:cNvPr id="1726" name="Google Shape;1726;p91"/>
          <p:cNvSpPr txBox="1"/>
          <p:nvPr>
            <p:ph idx="1" type="body"/>
          </p:nvPr>
        </p:nvSpPr>
        <p:spPr>
          <a:xfrm>
            <a:off x="3793184" y="2727562"/>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units</a:t>
            </a:r>
            <a:endParaRPr sz="1800"/>
          </a:p>
        </p:txBody>
      </p:sp>
      <p:sp>
        <p:nvSpPr>
          <p:cNvPr id="1727" name="Google Shape;1727;p91"/>
          <p:cNvSpPr txBox="1"/>
          <p:nvPr>
            <p:ph idx="1" type="body"/>
          </p:nvPr>
        </p:nvSpPr>
        <p:spPr>
          <a:xfrm>
            <a:off x="3983381" y="2104250"/>
            <a:ext cx="2871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728" name="Google Shape;1728;p91"/>
          <p:cNvSpPr/>
          <p:nvPr/>
        </p:nvSpPr>
        <p:spPr>
          <a:xfrm>
            <a:off x="2246800" y="3956712"/>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exend"/>
              <a:ea typeface="Lexend"/>
              <a:cs typeface="Lexend"/>
              <a:sym typeface="Lexend"/>
            </a:endParaRPr>
          </a:p>
        </p:txBody>
      </p:sp>
      <p:sp>
        <p:nvSpPr>
          <p:cNvPr id="1729" name="Google Shape;1729;p91"/>
          <p:cNvSpPr/>
          <p:nvPr/>
        </p:nvSpPr>
        <p:spPr>
          <a:xfrm>
            <a:off x="400200" y="3964569"/>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0" name="Google Shape;1730;p91"/>
          <p:cNvSpPr txBox="1"/>
          <p:nvPr>
            <p:ph idx="1" type="body"/>
          </p:nvPr>
        </p:nvSpPr>
        <p:spPr>
          <a:xfrm>
            <a:off x="6417876" y="3606375"/>
            <a:ext cx="991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 = 75°</a:t>
            </a:r>
            <a:endParaRPr sz="1800"/>
          </a:p>
        </p:txBody>
      </p:sp>
      <p:sp>
        <p:nvSpPr>
          <p:cNvPr id="1731" name="Google Shape;1731;p91"/>
          <p:cNvSpPr txBox="1"/>
          <p:nvPr/>
        </p:nvSpPr>
        <p:spPr>
          <a:xfrm>
            <a:off x="7934700" y="273113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1732" name="Google Shape;1732;p91"/>
          <p:cNvPicPr preferRelativeResize="0"/>
          <p:nvPr/>
        </p:nvPicPr>
        <p:blipFill>
          <a:blip r:embed="rId3">
            <a:alphaModFix/>
          </a:blip>
          <a:stretch>
            <a:fillRect/>
          </a:stretch>
        </p:blipFill>
        <p:spPr>
          <a:xfrm flipH="1">
            <a:off x="8090636" y="1543806"/>
            <a:ext cx="623346" cy="1177024"/>
          </a:xfrm>
          <a:prstGeom prst="rect">
            <a:avLst/>
          </a:prstGeom>
          <a:noFill/>
          <a:ln>
            <a:noFill/>
          </a:ln>
        </p:spPr>
      </p:pic>
      <p:pic>
        <p:nvPicPr>
          <p:cNvPr id="1733" name="Google Shape;1733;p91"/>
          <p:cNvPicPr preferRelativeResize="0"/>
          <p:nvPr/>
        </p:nvPicPr>
        <p:blipFill rotWithShape="1">
          <a:blip r:embed="rId4">
            <a:alphaModFix/>
          </a:blip>
          <a:srcRect b="0" l="0" r="70143" t="56280"/>
          <a:stretch/>
        </p:blipFill>
        <p:spPr>
          <a:xfrm>
            <a:off x="5903925" y="716725"/>
            <a:ext cx="2092175" cy="1334999"/>
          </a:xfrm>
          <a:prstGeom prst="rect">
            <a:avLst/>
          </a:prstGeom>
          <a:noFill/>
          <a:ln>
            <a:noFill/>
          </a:ln>
        </p:spPr>
      </p:pic>
      <p:sp>
        <p:nvSpPr>
          <p:cNvPr id="1734" name="Google Shape;1734;p91"/>
          <p:cNvSpPr txBox="1"/>
          <p:nvPr>
            <p:ph idx="1" type="body"/>
          </p:nvPr>
        </p:nvSpPr>
        <p:spPr>
          <a:xfrm>
            <a:off x="6004584" y="896281"/>
            <a:ext cx="19590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How do we find angles that are not in that table?</a:t>
            </a:r>
            <a:endParaRPr sz="1800"/>
          </a:p>
        </p:txBody>
      </p:sp>
      <p:sp>
        <p:nvSpPr>
          <p:cNvPr id="1735" name="Google Shape;1735;p91"/>
          <p:cNvSpPr txBox="1"/>
          <p:nvPr>
            <p:ph idx="1" type="body"/>
          </p:nvPr>
        </p:nvSpPr>
        <p:spPr>
          <a:xfrm>
            <a:off x="3159475" y="4035900"/>
            <a:ext cx="55545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can use the unit circle to find more angles.</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9" name="Shape 1739"/>
        <p:cNvGrpSpPr/>
        <p:nvPr/>
      </p:nvGrpSpPr>
      <p:grpSpPr>
        <a:xfrm>
          <a:off x="0" y="0"/>
          <a:ext cx="0" cy="0"/>
          <a:chOff x="0" y="0"/>
          <a:chExt cx="0" cy="0"/>
        </a:xfrm>
      </p:grpSpPr>
      <p:sp>
        <p:nvSpPr>
          <p:cNvPr id="1740" name="Google Shape;1740;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graphicFrame>
        <p:nvGraphicFramePr>
          <p:cNvPr id="1741" name="Google Shape;1741;p92"/>
          <p:cNvGraphicFramePr/>
          <p:nvPr/>
        </p:nvGraphicFramePr>
        <p:xfrm>
          <a:off x="400200" y="606900"/>
          <a:ext cx="3000000" cy="3000000"/>
        </p:xfrm>
        <a:graphic>
          <a:graphicData uri="http://schemas.openxmlformats.org/drawingml/2006/table">
            <a:tbl>
              <a:tblPr>
                <a:noFill/>
                <a:tableStyleId>{2BF94F13-6AE9-463D-A666-45AB6FBBDEB5}</a:tableStyleId>
              </a:tblPr>
              <a:tblGrid>
                <a:gridCol w="615550"/>
                <a:gridCol w="615550"/>
                <a:gridCol w="615550"/>
                <a:gridCol w="615550"/>
              </a:tblGrid>
              <a:tr h="200525">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angle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cosine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tangent</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0525">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pic>
        <p:nvPicPr>
          <p:cNvPr id="1742" name="Google Shape;1742;p92"/>
          <p:cNvPicPr preferRelativeResize="0"/>
          <p:nvPr/>
        </p:nvPicPr>
        <p:blipFill>
          <a:blip r:embed="rId3">
            <a:alphaModFix/>
          </a:blip>
          <a:stretch>
            <a:fillRect/>
          </a:stretch>
        </p:blipFill>
        <p:spPr>
          <a:xfrm>
            <a:off x="3283025" y="939100"/>
            <a:ext cx="3991200" cy="3818101"/>
          </a:xfrm>
          <a:prstGeom prst="rect">
            <a:avLst/>
          </a:prstGeom>
          <a:noFill/>
          <a:ln>
            <a:noFill/>
          </a:ln>
        </p:spPr>
      </p:pic>
      <p:cxnSp>
        <p:nvCxnSpPr>
          <p:cNvPr id="1743" name="Google Shape;1743;p92"/>
          <p:cNvCxnSpPr/>
          <p:nvPr/>
        </p:nvCxnSpPr>
        <p:spPr>
          <a:xfrm>
            <a:off x="7021725" y="1054825"/>
            <a:ext cx="0" cy="3444900"/>
          </a:xfrm>
          <a:prstGeom prst="straightConnector1">
            <a:avLst/>
          </a:prstGeom>
          <a:noFill/>
          <a:ln cap="flat" cmpd="sng" w="19050">
            <a:solidFill>
              <a:schemeClr val="dk1"/>
            </a:solidFill>
            <a:prstDash val="solid"/>
            <a:round/>
            <a:headEnd len="med" w="med" type="none"/>
            <a:tailEnd len="med" w="med" type="none"/>
          </a:ln>
        </p:spPr>
      </p:cxnSp>
      <p:sp>
        <p:nvSpPr>
          <p:cNvPr id="1744" name="Google Shape;1744;p92"/>
          <p:cNvSpPr/>
          <p:nvPr/>
        </p:nvSpPr>
        <p:spPr>
          <a:xfrm>
            <a:off x="400200" y="2067441"/>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45" name="Google Shape;1745;p92"/>
          <p:cNvCxnSpPr/>
          <p:nvPr/>
        </p:nvCxnSpPr>
        <p:spPr>
          <a:xfrm flipH="1">
            <a:off x="3671325" y="2559075"/>
            <a:ext cx="3354300" cy="1940400"/>
          </a:xfrm>
          <a:prstGeom prst="straightConnector1">
            <a:avLst/>
          </a:prstGeom>
          <a:noFill/>
          <a:ln cap="flat" cmpd="sng" w="19050">
            <a:solidFill>
              <a:schemeClr val="accent5"/>
            </a:solidFill>
            <a:prstDash val="solid"/>
            <a:round/>
            <a:headEnd len="med" w="med" type="none"/>
            <a:tailEnd len="med" w="med" type="none"/>
          </a:ln>
        </p:spPr>
      </p:cxnSp>
      <p:sp>
        <p:nvSpPr>
          <p:cNvPr id="1746" name="Google Shape;1746;p92"/>
          <p:cNvSpPr/>
          <p:nvPr/>
        </p:nvSpPr>
        <p:spPr>
          <a:xfrm>
            <a:off x="2342206" y="3868548"/>
            <a:ext cx="1851000" cy="1573800"/>
          </a:xfrm>
          <a:prstGeom prst="arc">
            <a:avLst>
              <a:gd fmla="val 20031197" name="adj1"/>
              <a:gd fmla="val 21057366" name="adj2"/>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7" name="Google Shape;1747;p92"/>
          <p:cNvSpPr txBox="1"/>
          <p:nvPr>
            <p:ph idx="1" type="body"/>
          </p:nvPr>
        </p:nvSpPr>
        <p:spPr>
          <a:xfrm>
            <a:off x="4193200" y="4171650"/>
            <a:ext cx="417900" cy="29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30</a:t>
            </a:r>
            <a:r>
              <a:rPr lang="en-GB" sz="1800"/>
              <a:t>°</a:t>
            </a:r>
            <a:endParaRPr sz="1800"/>
          </a:p>
        </p:txBody>
      </p:sp>
      <p:cxnSp>
        <p:nvCxnSpPr>
          <p:cNvPr id="1748" name="Google Shape;1748;p92"/>
          <p:cNvCxnSpPr/>
          <p:nvPr/>
        </p:nvCxnSpPr>
        <p:spPr>
          <a:xfrm rot="10800000">
            <a:off x="3524751" y="2567814"/>
            <a:ext cx="3492300" cy="0"/>
          </a:xfrm>
          <a:prstGeom prst="straightConnector1">
            <a:avLst/>
          </a:prstGeom>
          <a:noFill/>
          <a:ln cap="flat" cmpd="sng" w="19050">
            <a:solidFill>
              <a:schemeClr val="accent3"/>
            </a:solidFill>
            <a:prstDash val="dash"/>
            <a:round/>
            <a:headEnd len="med" w="med" type="none"/>
            <a:tailEnd len="med" w="med" type="none"/>
          </a:ln>
        </p:spPr>
      </p:cxnSp>
      <p:cxnSp>
        <p:nvCxnSpPr>
          <p:cNvPr id="1749" name="Google Shape;1749;p92"/>
          <p:cNvCxnSpPr/>
          <p:nvPr/>
        </p:nvCxnSpPr>
        <p:spPr>
          <a:xfrm rot="10800000">
            <a:off x="7021725" y="2564850"/>
            <a:ext cx="0" cy="1883700"/>
          </a:xfrm>
          <a:prstGeom prst="straightConnector1">
            <a:avLst/>
          </a:prstGeom>
          <a:noFill/>
          <a:ln cap="flat" cmpd="sng" w="19050">
            <a:solidFill>
              <a:schemeClr val="accent3"/>
            </a:solidFill>
            <a:prstDash val="dash"/>
            <a:round/>
            <a:headEnd len="med" w="med" type="none"/>
            <a:tailEnd len="med" w="med" type="none"/>
          </a:ln>
        </p:spPr>
      </p:cxnSp>
      <p:sp>
        <p:nvSpPr>
          <p:cNvPr id="1750" name="Google Shape;1750;p92"/>
          <p:cNvSpPr/>
          <p:nvPr/>
        </p:nvSpPr>
        <p:spPr>
          <a:xfrm>
            <a:off x="2246850" y="2067441"/>
            <a:ext cx="615600" cy="196800"/>
          </a:xfrm>
          <a:prstGeom prst="roundRect">
            <a:avLst>
              <a:gd fmla="val 16667" name="adj"/>
            </a:avLst>
          </a:prstGeom>
          <a:noFill/>
          <a:ln cap="flat" cmpd="sng" w="285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51" name="Google Shape;1751;p92"/>
          <p:cNvCxnSpPr>
            <a:stCxn id="1750" idx="3"/>
          </p:cNvCxnSpPr>
          <p:nvPr/>
        </p:nvCxnSpPr>
        <p:spPr>
          <a:xfrm>
            <a:off x="2862450" y="2165841"/>
            <a:ext cx="586200" cy="395700"/>
          </a:xfrm>
          <a:prstGeom prst="straightConnector1">
            <a:avLst/>
          </a:prstGeom>
          <a:noFill/>
          <a:ln cap="flat" cmpd="sng" w="28575">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5" name="Shape 1755"/>
        <p:cNvGrpSpPr/>
        <p:nvPr/>
      </p:nvGrpSpPr>
      <p:grpSpPr>
        <a:xfrm>
          <a:off x="0" y="0"/>
          <a:ext cx="0" cy="0"/>
          <a:chOff x="0" y="0"/>
          <a:chExt cx="0" cy="0"/>
        </a:xfrm>
      </p:grpSpPr>
      <p:sp>
        <p:nvSpPr>
          <p:cNvPr id="1756" name="Google Shape;1756;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pic>
        <p:nvPicPr>
          <p:cNvPr id="1757" name="Google Shape;1757;p93"/>
          <p:cNvPicPr preferRelativeResize="0"/>
          <p:nvPr/>
        </p:nvPicPr>
        <p:blipFill>
          <a:blip r:embed="rId3">
            <a:alphaModFix/>
          </a:blip>
          <a:stretch>
            <a:fillRect/>
          </a:stretch>
        </p:blipFill>
        <p:spPr>
          <a:xfrm>
            <a:off x="3283025" y="939100"/>
            <a:ext cx="3991200" cy="3818101"/>
          </a:xfrm>
          <a:prstGeom prst="rect">
            <a:avLst/>
          </a:prstGeom>
          <a:noFill/>
          <a:ln>
            <a:noFill/>
          </a:ln>
        </p:spPr>
      </p:pic>
      <p:cxnSp>
        <p:nvCxnSpPr>
          <p:cNvPr id="1758" name="Google Shape;1758;p93"/>
          <p:cNvCxnSpPr/>
          <p:nvPr/>
        </p:nvCxnSpPr>
        <p:spPr>
          <a:xfrm>
            <a:off x="7021725" y="1054825"/>
            <a:ext cx="0" cy="3444900"/>
          </a:xfrm>
          <a:prstGeom prst="straightConnector1">
            <a:avLst/>
          </a:prstGeom>
          <a:noFill/>
          <a:ln cap="flat" cmpd="sng" w="19050">
            <a:solidFill>
              <a:schemeClr val="dk1"/>
            </a:solidFill>
            <a:prstDash val="solid"/>
            <a:round/>
            <a:headEnd len="med" w="med" type="none"/>
            <a:tailEnd len="med" w="med" type="none"/>
          </a:ln>
        </p:spPr>
      </p:cxnSp>
      <p:cxnSp>
        <p:nvCxnSpPr>
          <p:cNvPr id="1759" name="Google Shape;1759;p93"/>
          <p:cNvCxnSpPr/>
          <p:nvPr/>
        </p:nvCxnSpPr>
        <p:spPr>
          <a:xfrm flipH="1">
            <a:off x="3663875" y="3103650"/>
            <a:ext cx="3367500" cy="1395600"/>
          </a:xfrm>
          <a:prstGeom prst="straightConnector1">
            <a:avLst/>
          </a:prstGeom>
          <a:noFill/>
          <a:ln cap="flat" cmpd="sng" w="19050">
            <a:solidFill>
              <a:schemeClr val="accent5"/>
            </a:solidFill>
            <a:prstDash val="solid"/>
            <a:round/>
            <a:headEnd len="med" w="med" type="none"/>
            <a:tailEnd len="med" w="med" type="none"/>
          </a:ln>
        </p:spPr>
      </p:cxnSp>
      <p:sp>
        <p:nvSpPr>
          <p:cNvPr id="1760" name="Google Shape;1760;p93"/>
          <p:cNvSpPr txBox="1"/>
          <p:nvPr>
            <p:ph idx="1" type="body"/>
          </p:nvPr>
        </p:nvSpPr>
        <p:spPr>
          <a:xfrm>
            <a:off x="7149725" y="2612475"/>
            <a:ext cx="1641900" cy="29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approximately</a:t>
            </a:r>
            <a:r>
              <a:rPr lang="en-GB" sz="1800"/>
              <a:t> 22.5</a:t>
            </a:r>
            <a:r>
              <a:rPr lang="en-GB" sz="1800"/>
              <a:t>°</a:t>
            </a:r>
            <a:endParaRPr sz="1800"/>
          </a:p>
        </p:txBody>
      </p:sp>
      <p:cxnSp>
        <p:nvCxnSpPr>
          <p:cNvPr id="1761" name="Google Shape;1761;p93"/>
          <p:cNvCxnSpPr/>
          <p:nvPr/>
        </p:nvCxnSpPr>
        <p:spPr>
          <a:xfrm rot="10800000">
            <a:off x="3524751" y="3104228"/>
            <a:ext cx="3492300" cy="0"/>
          </a:xfrm>
          <a:prstGeom prst="straightConnector1">
            <a:avLst/>
          </a:prstGeom>
          <a:noFill/>
          <a:ln cap="flat" cmpd="sng" w="19050">
            <a:solidFill>
              <a:schemeClr val="accent3"/>
            </a:solidFill>
            <a:prstDash val="dash"/>
            <a:round/>
            <a:headEnd len="med" w="med" type="none"/>
            <a:tailEnd len="med" w="med" type="none"/>
          </a:ln>
        </p:spPr>
      </p:cxnSp>
      <p:cxnSp>
        <p:nvCxnSpPr>
          <p:cNvPr id="1762" name="Google Shape;1762;p93"/>
          <p:cNvCxnSpPr/>
          <p:nvPr/>
        </p:nvCxnSpPr>
        <p:spPr>
          <a:xfrm rot="10800000">
            <a:off x="7021725" y="3101550"/>
            <a:ext cx="0" cy="1347000"/>
          </a:xfrm>
          <a:prstGeom prst="straightConnector1">
            <a:avLst/>
          </a:prstGeom>
          <a:noFill/>
          <a:ln cap="flat" cmpd="sng" w="19050">
            <a:solidFill>
              <a:schemeClr val="accent3"/>
            </a:solidFill>
            <a:prstDash val="dash"/>
            <a:round/>
            <a:headEnd len="med" w="med" type="none"/>
            <a:tailEnd len="med" w="med" type="none"/>
          </a:ln>
        </p:spPr>
      </p:cxnSp>
      <p:sp>
        <p:nvSpPr>
          <p:cNvPr id="1763" name="Google Shape;1763;p93"/>
          <p:cNvSpPr txBox="1"/>
          <p:nvPr>
            <p:ph idx="1" type="body"/>
          </p:nvPr>
        </p:nvSpPr>
        <p:spPr>
          <a:xfrm>
            <a:off x="1453827" y="2768175"/>
            <a:ext cx="10788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t> </a:t>
            </a:r>
            <a:r>
              <a:rPr lang="en-GB" sz="1800">
                <a:latin typeface="Times New Roman"/>
                <a:ea typeface="Times New Roman"/>
                <a:cs typeface="Times New Roman"/>
                <a:sym typeface="Times New Roman"/>
              </a:rPr>
              <a:t>=</a:t>
            </a:r>
            <a:r>
              <a:rPr lang="en-GB" sz="1800"/>
              <a:t> </a:t>
            </a:r>
            <a:endParaRPr sz="1800"/>
          </a:p>
          <a:p>
            <a:pPr indent="0" lvl="0" marL="0" rtl="0" algn="l">
              <a:spcBef>
                <a:spcPts val="1000"/>
              </a:spcBef>
              <a:spcAft>
                <a:spcPts val="1000"/>
              </a:spcAft>
              <a:buNone/>
            </a:pPr>
            <a:r>
              <a:t/>
            </a:r>
            <a:endParaRPr sz="1800"/>
          </a:p>
        </p:txBody>
      </p:sp>
      <p:sp>
        <p:nvSpPr>
          <p:cNvPr id="1764" name="Google Shape;1764;p93"/>
          <p:cNvSpPr txBox="1"/>
          <p:nvPr>
            <p:ph idx="1" type="body"/>
          </p:nvPr>
        </p:nvSpPr>
        <p:spPr>
          <a:xfrm>
            <a:off x="2591326" y="2589941"/>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opp </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765" name="Google Shape;1765;p93"/>
          <p:cNvSpPr txBox="1"/>
          <p:nvPr>
            <p:ph idx="1" type="body"/>
          </p:nvPr>
        </p:nvSpPr>
        <p:spPr>
          <a:xfrm>
            <a:off x="2599198" y="2970650"/>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adj</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cxnSp>
        <p:nvCxnSpPr>
          <p:cNvPr id="1766" name="Google Shape;1766;p93"/>
          <p:cNvCxnSpPr/>
          <p:nvPr/>
        </p:nvCxnSpPr>
        <p:spPr>
          <a:xfrm>
            <a:off x="2532625" y="2928525"/>
            <a:ext cx="519600" cy="0"/>
          </a:xfrm>
          <a:prstGeom prst="straightConnector1">
            <a:avLst/>
          </a:prstGeom>
          <a:noFill/>
          <a:ln cap="flat" cmpd="sng" w="28575">
            <a:solidFill>
              <a:schemeClr val="dk1"/>
            </a:solidFill>
            <a:prstDash val="solid"/>
            <a:round/>
            <a:headEnd len="med" w="med" type="none"/>
            <a:tailEnd len="med" w="med" type="none"/>
          </a:ln>
        </p:spPr>
      </p:cxnSp>
      <p:sp>
        <p:nvSpPr>
          <p:cNvPr id="1767" name="Google Shape;1767;p93"/>
          <p:cNvSpPr txBox="1"/>
          <p:nvPr>
            <p:ph idx="1" type="body"/>
          </p:nvPr>
        </p:nvSpPr>
        <p:spPr>
          <a:xfrm>
            <a:off x="2544439" y="3428150"/>
            <a:ext cx="3795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0.5</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768" name="Google Shape;1768;p93"/>
          <p:cNvSpPr txBox="1"/>
          <p:nvPr>
            <p:ph idx="1" type="body"/>
          </p:nvPr>
        </p:nvSpPr>
        <p:spPr>
          <a:xfrm>
            <a:off x="2558775" y="3808850"/>
            <a:ext cx="378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1.2</a:t>
            </a:r>
            <a:endParaRPr sz="2000">
              <a:latin typeface="Times New Roman"/>
              <a:ea typeface="Times New Roman"/>
              <a:cs typeface="Times New Roman"/>
              <a:sym typeface="Times New Roman"/>
            </a:endParaRPr>
          </a:p>
        </p:txBody>
      </p:sp>
      <p:cxnSp>
        <p:nvCxnSpPr>
          <p:cNvPr id="1769" name="Google Shape;1769;p93"/>
          <p:cNvCxnSpPr/>
          <p:nvPr/>
        </p:nvCxnSpPr>
        <p:spPr>
          <a:xfrm>
            <a:off x="2532625" y="3766725"/>
            <a:ext cx="379500" cy="0"/>
          </a:xfrm>
          <a:prstGeom prst="straightConnector1">
            <a:avLst/>
          </a:prstGeom>
          <a:noFill/>
          <a:ln cap="flat" cmpd="sng" w="28575">
            <a:solidFill>
              <a:schemeClr val="dk1"/>
            </a:solidFill>
            <a:prstDash val="solid"/>
            <a:round/>
            <a:headEnd len="med" w="med" type="none"/>
            <a:tailEnd len="med" w="med" type="none"/>
          </a:ln>
        </p:spPr>
      </p:cxnSp>
      <p:sp>
        <p:nvSpPr>
          <p:cNvPr id="1770" name="Google Shape;1770;p93"/>
          <p:cNvSpPr txBox="1"/>
          <p:nvPr>
            <p:ph idx="1" type="body"/>
          </p:nvPr>
        </p:nvSpPr>
        <p:spPr>
          <a:xfrm>
            <a:off x="1439425" y="4292175"/>
            <a:ext cx="17769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t> </a:t>
            </a:r>
            <a:r>
              <a:rPr lang="en-GB" sz="1800">
                <a:latin typeface="Times New Roman"/>
                <a:ea typeface="Times New Roman"/>
                <a:cs typeface="Times New Roman"/>
                <a:sym typeface="Times New Roman"/>
              </a:rPr>
              <a:t>=</a:t>
            </a:r>
            <a:r>
              <a:rPr lang="en-GB" sz="1800"/>
              <a:t> </a:t>
            </a:r>
            <a:r>
              <a:rPr lang="en-GB" sz="2000">
                <a:latin typeface="Times New Roman"/>
                <a:ea typeface="Times New Roman"/>
                <a:cs typeface="Times New Roman"/>
                <a:sym typeface="Times New Roman"/>
              </a:rPr>
              <a:t>0.417</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1800"/>
          </a:p>
        </p:txBody>
      </p:sp>
      <p:grpSp>
        <p:nvGrpSpPr>
          <p:cNvPr id="1771" name="Google Shape;1771;p93"/>
          <p:cNvGrpSpPr/>
          <p:nvPr/>
        </p:nvGrpSpPr>
        <p:grpSpPr>
          <a:xfrm>
            <a:off x="397742" y="892658"/>
            <a:ext cx="1458106" cy="1110455"/>
            <a:chOff x="-2098225" y="1379675"/>
            <a:chExt cx="1133566" cy="1976601"/>
          </a:xfrm>
        </p:grpSpPr>
        <p:sp>
          <p:nvSpPr>
            <p:cNvPr id="1772" name="Google Shape;1772;p9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73" name="Google Shape;1773;p93"/>
            <p:cNvCxnSpPr/>
            <p:nvPr/>
          </p:nvCxnSpPr>
          <p:spPr>
            <a:xfrm rot="10800000">
              <a:off x="-2022025" y="3356276"/>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774" name="Google Shape;1774;p93"/>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775" name="Google Shape;1775;p93"/>
            <p:cNvCxnSpPr/>
            <p:nvPr/>
          </p:nvCxnSpPr>
          <p:spPr>
            <a:xfrm flipH="1">
              <a:off x="-2098225" y="1379675"/>
              <a:ext cx="960900" cy="1668300"/>
            </a:xfrm>
            <a:prstGeom prst="straightConnector1">
              <a:avLst/>
            </a:prstGeom>
            <a:noFill/>
            <a:ln cap="flat" cmpd="sng" w="28575">
              <a:solidFill>
                <a:schemeClr val="lt1"/>
              </a:solidFill>
              <a:prstDash val="solid"/>
              <a:round/>
              <a:headEnd len="med" w="med" type="triangle"/>
              <a:tailEnd len="med" w="med" type="triangle"/>
            </a:ln>
          </p:spPr>
        </p:cxnSp>
      </p:grpSp>
      <p:sp>
        <p:nvSpPr>
          <p:cNvPr id="1776" name="Google Shape;1776;p93"/>
          <p:cNvSpPr/>
          <p:nvPr/>
        </p:nvSpPr>
        <p:spPr>
          <a:xfrm>
            <a:off x="1614919" y="1746933"/>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7" name="Google Shape;1777;p93"/>
          <p:cNvSpPr/>
          <p:nvPr/>
        </p:nvSpPr>
        <p:spPr>
          <a:xfrm>
            <a:off x="129075" y="1528918"/>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8" name="Google Shape;1778;p93"/>
          <p:cNvSpPr txBox="1"/>
          <p:nvPr>
            <p:ph idx="1" type="body"/>
          </p:nvPr>
        </p:nvSpPr>
        <p:spPr>
          <a:xfrm>
            <a:off x="1957325" y="1128425"/>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0.5  unit</a:t>
            </a:r>
            <a:endParaRPr sz="1800"/>
          </a:p>
        </p:txBody>
      </p:sp>
      <p:sp>
        <p:nvSpPr>
          <p:cNvPr id="1779" name="Google Shape;1779;p93"/>
          <p:cNvSpPr txBox="1"/>
          <p:nvPr>
            <p:ph idx="1" type="body"/>
          </p:nvPr>
        </p:nvSpPr>
        <p:spPr>
          <a:xfrm>
            <a:off x="705312" y="2055053"/>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unit</a:t>
            </a:r>
            <a:endParaRPr sz="1800"/>
          </a:p>
        </p:txBody>
      </p:sp>
      <p:sp>
        <p:nvSpPr>
          <p:cNvPr id="1780" name="Google Shape;1780;p93"/>
          <p:cNvSpPr txBox="1"/>
          <p:nvPr>
            <p:ph idx="1" type="body"/>
          </p:nvPr>
        </p:nvSpPr>
        <p:spPr>
          <a:xfrm>
            <a:off x="887859" y="1581509"/>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cxnSp>
        <p:nvCxnSpPr>
          <p:cNvPr id="1781" name="Google Shape;1781;p93"/>
          <p:cNvCxnSpPr/>
          <p:nvPr/>
        </p:nvCxnSpPr>
        <p:spPr>
          <a:xfrm flipH="1" rot="10800000">
            <a:off x="3135750" y="3125150"/>
            <a:ext cx="278400" cy="1107600"/>
          </a:xfrm>
          <a:prstGeom prst="straightConnector1">
            <a:avLst/>
          </a:prstGeom>
          <a:noFill/>
          <a:ln cap="flat" cmpd="sng" w="28575">
            <a:solidFill>
              <a:schemeClr val="dk1"/>
            </a:solidFill>
            <a:prstDash val="solid"/>
            <a:round/>
            <a:headEnd len="med" w="med" type="none"/>
            <a:tailEnd len="med" w="med" type="triangle"/>
          </a:ln>
        </p:spPr>
      </p:cxnSp>
      <p:sp>
        <p:nvSpPr>
          <p:cNvPr id="1782" name="Google Shape;1782;p93"/>
          <p:cNvSpPr/>
          <p:nvPr/>
        </p:nvSpPr>
        <p:spPr>
          <a:xfrm>
            <a:off x="3558075" y="4148151"/>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83" name="Google Shape;1783;p93"/>
          <p:cNvSpPr txBox="1"/>
          <p:nvPr>
            <p:ph idx="1" type="body"/>
          </p:nvPr>
        </p:nvSpPr>
        <p:spPr>
          <a:xfrm>
            <a:off x="4316859" y="4200742"/>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cxnSp>
        <p:nvCxnSpPr>
          <p:cNvPr id="1784" name="Google Shape;1784;p93"/>
          <p:cNvCxnSpPr/>
          <p:nvPr/>
        </p:nvCxnSpPr>
        <p:spPr>
          <a:xfrm flipH="1">
            <a:off x="6779600" y="2921475"/>
            <a:ext cx="314400" cy="263100"/>
          </a:xfrm>
          <a:prstGeom prst="straightConnector1">
            <a:avLst/>
          </a:prstGeom>
          <a:noFill/>
          <a:ln cap="flat" cmpd="sng" w="28575">
            <a:solidFill>
              <a:schemeClr val="dk1"/>
            </a:solidFill>
            <a:prstDash val="solid"/>
            <a:round/>
            <a:headEnd len="med" w="med" type="none"/>
            <a:tailEnd len="med" w="med" type="triangle"/>
          </a:ln>
        </p:spPr>
      </p:cxnSp>
      <p:sp>
        <p:nvSpPr>
          <p:cNvPr id="1785" name="Google Shape;1785;p93"/>
          <p:cNvSpPr txBox="1"/>
          <p:nvPr>
            <p:ph idx="1" type="body"/>
          </p:nvPr>
        </p:nvSpPr>
        <p:spPr>
          <a:xfrm>
            <a:off x="1453827" y="3606375"/>
            <a:ext cx="1078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t> </a:t>
            </a:r>
            <a:r>
              <a:rPr lang="en-GB" sz="1800">
                <a:latin typeface="Times New Roman"/>
                <a:ea typeface="Times New Roman"/>
                <a:cs typeface="Times New Roman"/>
                <a:sym typeface="Times New Roman"/>
              </a:rPr>
              <a:t>=</a:t>
            </a:r>
            <a:r>
              <a:rPr lang="en-GB" sz="1800"/>
              <a:t>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9" name="Shape 1789"/>
        <p:cNvGrpSpPr/>
        <p:nvPr/>
      </p:nvGrpSpPr>
      <p:grpSpPr>
        <a:xfrm>
          <a:off x="0" y="0"/>
          <a:ext cx="0" cy="0"/>
          <a:chOff x="0" y="0"/>
          <a:chExt cx="0" cy="0"/>
        </a:xfrm>
      </p:grpSpPr>
      <p:sp>
        <p:nvSpPr>
          <p:cNvPr id="1790" name="Google Shape;1790;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pic>
        <p:nvPicPr>
          <p:cNvPr id="1791" name="Google Shape;1791;p94"/>
          <p:cNvPicPr preferRelativeResize="0"/>
          <p:nvPr/>
        </p:nvPicPr>
        <p:blipFill>
          <a:blip r:embed="rId3">
            <a:alphaModFix/>
          </a:blip>
          <a:stretch>
            <a:fillRect/>
          </a:stretch>
        </p:blipFill>
        <p:spPr>
          <a:xfrm>
            <a:off x="3283025" y="939100"/>
            <a:ext cx="3991200" cy="3818101"/>
          </a:xfrm>
          <a:prstGeom prst="rect">
            <a:avLst/>
          </a:prstGeom>
          <a:noFill/>
          <a:ln>
            <a:noFill/>
          </a:ln>
        </p:spPr>
      </p:pic>
      <p:cxnSp>
        <p:nvCxnSpPr>
          <p:cNvPr id="1792" name="Google Shape;1792;p94"/>
          <p:cNvCxnSpPr/>
          <p:nvPr/>
        </p:nvCxnSpPr>
        <p:spPr>
          <a:xfrm>
            <a:off x="7021725" y="1054825"/>
            <a:ext cx="0" cy="3444900"/>
          </a:xfrm>
          <a:prstGeom prst="straightConnector1">
            <a:avLst/>
          </a:prstGeom>
          <a:noFill/>
          <a:ln cap="flat" cmpd="sng" w="19050">
            <a:solidFill>
              <a:schemeClr val="dk1"/>
            </a:solidFill>
            <a:prstDash val="solid"/>
            <a:round/>
            <a:headEnd len="med" w="med" type="none"/>
            <a:tailEnd len="med" w="med" type="none"/>
          </a:ln>
        </p:spPr>
      </p:cxnSp>
      <p:cxnSp>
        <p:nvCxnSpPr>
          <p:cNvPr id="1793" name="Google Shape;1793;p94"/>
          <p:cNvCxnSpPr/>
          <p:nvPr/>
        </p:nvCxnSpPr>
        <p:spPr>
          <a:xfrm flipH="1">
            <a:off x="3664000" y="2108250"/>
            <a:ext cx="3358200" cy="2391000"/>
          </a:xfrm>
          <a:prstGeom prst="straightConnector1">
            <a:avLst/>
          </a:prstGeom>
          <a:noFill/>
          <a:ln cap="flat" cmpd="sng" w="19050">
            <a:solidFill>
              <a:schemeClr val="accent5"/>
            </a:solidFill>
            <a:prstDash val="solid"/>
            <a:round/>
            <a:headEnd len="med" w="med" type="none"/>
            <a:tailEnd len="med" w="med" type="none"/>
          </a:ln>
        </p:spPr>
      </p:cxnSp>
      <p:sp>
        <p:nvSpPr>
          <p:cNvPr id="1794" name="Google Shape;1794;p94"/>
          <p:cNvSpPr txBox="1"/>
          <p:nvPr>
            <p:ph idx="1" type="body"/>
          </p:nvPr>
        </p:nvSpPr>
        <p:spPr>
          <a:xfrm>
            <a:off x="7149725" y="2612475"/>
            <a:ext cx="1641900" cy="29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approximately 35.5°</a:t>
            </a:r>
            <a:endParaRPr sz="1800"/>
          </a:p>
        </p:txBody>
      </p:sp>
      <p:cxnSp>
        <p:nvCxnSpPr>
          <p:cNvPr id="1795" name="Google Shape;1795;p94"/>
          <p:cNvCxnSpPr/>
          <p:nvPr/>
        </p:nvCxnSpPr>
        <p:spPr>
          <a:xfrm rot="10800000">
            <a:off x="3524751" y="2106904"/>
            <a:ext cx="3492300" cy="0"/>
          </a:xfrm>
          <a:prstGeom prst="straightConnector1">
            <a:avLst/>
          </a:prstGeom>
          <a:noFill/>
          <a:ln cap="flat" cmpd="sng" w="19050">
            <a:solidFill>
              <a:schemeClr val="accent3"/>
            </a:solidFill>
            <a:prstDash val="dash"/>
            <a:round/>
            <a:headEnd len="med" w="med" type="none"/>
            <a:tailEnd len="med" w="med" type="none"/>
          </a:ln>
        </p:spPr>
      </p:cxnSp>
      <p:cxnSp>
        <p:nvCxnSpPr>
          <p:cNvPr id="1796" name="Google Shape;1796;p94"/>
          <p:cNvCxnSpPr/>
          <p:nvPr/>
        </p:nvCxnSpPr>
        <p:spPr>
          <a:xfrm rot="10800000">
            <a:off x="7021725" y="2104350"/>
            <a:ext cx="0" cy="2344200"/>
          </a:xfrm>
          <a:prstGeom prst="straightConnector1">
            <a:avLst/>
          </a:prstGeom>
          <a:noFill/>
          <a:ln cap="flat" cmpd="sng" w="19050">
            <a:solidFill>
              <a:schemeClr val="accent3"/>
            </a:solidFill>
            <a:prstDash val="dash"/>
            <a:round/>
            <a:headEnd len="med" w="med" type="none"/>
            <a:tailEnd len="med" w="med" type="none"/>
          </a:ln>
        </p:spPr>
      </p:cxnSp>
      <p:sp>
        <p:nvSpPr>
          <p:cNvPr id="1797" name="Google Shape;1797;p94"/>
          <p:cNvSpPr txBox="1"/>
          <p:nvPr>
            <p:ph idx="1" type="body"/>
          </p:nvPr>
        </p:nvSpPr>
        <p:spPr>
          <a:xfrm>
            <a:off x="1277125" y="2768175"/>
            <a:ext cx="10818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a:t>
            </a: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798" name="Google Shape;1798;p94"/>
          <p:cNvSpPr txBox="1"/>
          <p:nvPr>
            <p:ph idx="1" type="body"/>
          </p:nvPr>
        </p:nvSpPr>
        <p:spPr>
          <a:xfrm>
            <a:off x="2591326" y="2589941"/>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opp </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799" name="Google Shape;1799;p94"/>
          <p:cNvSpPr txBox="1"/>
          <p:nvPr>
            <p:ph idx="1" type="body"/>
          </p:nvPr>
        </p:nvSpPr>
        <p:spPr>
          <a:xfrm>
            <a:off x="2599198" y="2970650"/>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adj</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cxnSp>
        <p:nvCxnSpPr>
          <p:cNvPr id="1800" name="Google Shape;1800;p94"/>
          <p:cNvCxnSpPr/>
          <p:nvPr/>
        </p:nvCxnSpPr>
        <p:spPr>
          <a:xfrm>
            <a:off x="2532625" y="2928525"/>
            <a:ext cx="519600" cy="0"/>
          </a:xfrm>
          <a:prstGeom prst="straightConnector1">
            <a:avLst/>
          </a:prstGeom>
          <a:noFill/>
          <a:ln cap="flat" cmpd="sng" w="28575">
            <a:solidFill>
              <a:schemeClr val="dk1"/>
            </a:solidFill>
            <a:prstDash val="solid"/>
            <a:round/>
            <a:headEnd len="med" w="med" type="none"/>
            <a:tailEnd len="med" w="med" type="none"/>
          </a:ln>
        </p:spPr>
      </p:cxnSp>
      <p:sp>
        <p:nvSpPr>
          <p:cNvPr id="1801" name="Google Shape;1801;p94"/>
          <p:cNvSpPr txBox="1"/>
          <p:nvPr>
            <p:ph idx="1" type="body"/>
          </p:nvPr>
        </p:nvSpPr>
        <p:spPr>
          <a:xfrm>
            <a:off x="1277125" y="3606382"/>
            <a:ext cx="10818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a:t>
            </a: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802" name="Google Shape;1802;p94"/>
          <p:cNvSpPr txBox="1"/>
          <p:nvPr>
            <p:ph idx="1" type="body"/>
          </p:nvPr>
        </p:nvSpPr>
        <p:spPr>
          <a:xfrm>
            <a:off x="2647082" y="3428150"/>
            <a:ext cx="3795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1</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sp>
        <p:nvSpPr>
          <p:cNvPr id="1803" name="Google Shape;1803;p94"/>
          <p:cNvSpPr txBox="1"/>
          <p:nvPr>
            <p:ph idx="1" type="body"/>
          </p:nvPr>
        </p:nvSpPr>
        <p:spPr>
          <a:xfrm>
            <a:off x="2558775" y="3808850"/>
            <a:ext cx="378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1.4</a:t>
            </a:r>
            <a:endParaRPr sz="2000">
              <a:latin typeface="Times New Roman"/>
              <a:ea typeface="Times New Roman"/>
              <a:cs typeface="Times New Roman"/>
              <a:sym typeface="Times New Roman"/>
            </a:endParaRPr>
          </a:p>
        </p:txBody>
      </p:sp>
      <p:cxnSp>
        <p:nvCxnSpPr>
          <p:cNvPr id="1804" name="Google Shape;1804;p94"/>
          <p:cNvCxnSpPr/>
          <p:nvPr/>
        </p:nvCxnSpPr>
        <p:spPr>
          <a:xfrm>
            <a:off x="2532625" y="3766725"/>
            <a:ext cx="379500" cy="0"/>
          </a:xfrm>
          <a:prstGeom prst="straightConnector1">
            <a:avLst/>
          </a:prstGeom>
          <a:noFill/>
          <a:ln cap="flat" cmpd="sng" w="28575">
            <a:solidFill>
              <a:schemeClr val="dk1"/>
            </a:solidFill>
            <a:prstDash val="solid"/>
            <a:round/>
            <a:headEnd len="med" w="med" type="none"/>
            <a:tailEnd len="med" w="med" type="none"/>
          </a:ln>
        </p:spPr>
      </p:cxnSp>
      <p:sp>
        <p:nvSpPr>
          <p:cNvPr id="1805" name="Google Shape;1805;p94"/>
          <p:cNvSpPr txBox="1"/>
          <p:nvPr>
            <p:ph idx="1" type="body"/>
          </p:nvPr>
        </p:nvSpPr>
        <p:spPr>
          <a:xfrm>
            <a:off x="1277139" y="4292175"/>
            <a:ext cx="1946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a:t>
            </a:r>
            <a:r>
              <a:rPr lang="en-GB" sz="2000">
                <a:latin typeface="Times New Roman"/>
                <a:ea typeface="Times New Roman"/>
                <a:cs typeface="Times New Roman"/>
                <a:sym typeface="Times New Roman"/>
              </a:rPr>
              <a:t>(𝜃°)</a:t>
            </a:r>
            <a:r>
              <a:rPr lang="en-GB" sz="2000">
                <a:latin typeface="Times New Roman"/>
                <a:ea typeface="Times New Roman"/>
                <a:cs typeface="Times New Roman"/>
                <a:sym typeface="Times New Roman"/>
              </a:rPr>
              <a:t> = 0.714</a:t>
            </a:r>
            <a:endParaRPr sz="2000">
              <a:latin typeface="Times New Roman"/>
              <a:ea typeface="Times New Roman"/>
              <a:cs typeface="Times New Roman"/>
              <a:sym typeface="Times New Roman"/>
            </a:endParaRPr>
          </a:p>
          <a:p>
            <a:pPr indent="0" lvl="0" marL="0" rtl="0" algn="l">
              <a:spcBef>
                <a:spcPts val="1000"/>
              </a:spcBef>
              <a:spcAft>
                <a:spcPts val="1000"/>
              </a:spcAft>
              <a:buNone/>
            </a:pPr>
            <a:r>
              <a:t/>
            </a:r>
            <a:endParaRPr sz="2000">
              <a:latin typeface="Times New Roman"/>
              <a:ea typeface="Times New Roman"/>
              <a:cs typeface="Times New Roman"/>
              <a:sym typeface="Times New Roman"/>
            </a:endParaRPr>
          </a:p>
        </p:txBody>
      </p:sp>
      <p:grpSp>
        <p:nvGrpSpPr>
          <p:cNvPr id="1806" name="Google Shape;1806;p94"/>
          <p:cNvGrpSpPr/>
          <p:nvPr/>
        </p:nvGrpSpPr>
        <p:grpSpPr>
          <a:xfrm>
            <a:off x="397742" y="892658"/>
            <a:ext cx="1458106" cy="1110455"/>
            <a:chOff x="-2098225" y="1379675"/>
            <a:chExt cx="1133566" cy="1976601"/>
          </a:xfrm>
        </p:grpSpPr>
        <p:sp>
          <p:nvSpPr>
            <p:cNvPr id="1807" name="Google Shape;1807;p9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08" name="Google Shape;1808;p94"/>
            <p:cNvCxnSpPr/>
            <p:nvPr/>
          </p:nvCxnSpPr>
          <p:spPr>
            <a:xfrm rot="10800000">
              <a:off x="-2022025" y="3356276"/>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809" name="Google Shape;1809;p94"/>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810" name="Google Shape;1810;p94"/>
            <p:cNvCxnSpPr/>
            <p:nvPr/>
          </p:nvCxnSpPr>
          <p:spPr>
            <a:xfrm flipH="1">
              <a:off x="-2098225" y="1379675"/>
              <a:ext cx="960900" cy="1668300"/>
            </a:xfrm>
            <a:prstGeom prst="straightConnector1">
              <a:avLst/>
            </a:prstGeom>
            <a:noFill/>
            <a:ln cap="flat" cmpd="sng" w="28575">
              <a:solidFill>
                <a:schemeClr val="lt1"/>
              </a:solidFill>
              <a:prstDash val="solid"/>
              <a:round/>
              <a:headEnd len="med" w="med" type="triangle"/>
              <a:tailEnd len="med" w="med" type="triangle"/>
            </a:ln>
          </p:spPr>
        </p:cxnSp>
      </p:grpSp>
      <p:sp>
        <p:nvSpPr>
          <p:cNvPr id="1811" name="Google Shape;1811;p94"/>
          <p:cNvSpPr/>
          <p:nvPr/>
        </p:nvSpPr>
        <p:spPr>
          <a:xfrm>
            <a:off x="1614919" y="1746933"/>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2" name="Google Shape;1812;p94"/>
          <p:cNvSpPr/>
          <p:nvPr/>
        </p:nvSpPr>
        <p:spPr>
          <a:xfrm>
            <a:off x="129075" y="1528918"/>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3" name="Google Shape;1813;p94"/>
          <p:cNvSpPr txBox="1"/>
          <p:nvPr>
            <p:ph idx="1" type="body"/>
          </p:nvPr>
        </p:nvSpPr>
        <p:spPr>
          <a:xfrm>
            <a:off x="1957325" y="1213724"/>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 unit</a:t>
            </a:r>
            <a:endParaRPr sz="1800"/>
          </a:p>
        </p:txBody>
      </p:sp>
      <p:sp>
        <p:nvSpPr>
          <p:cNvPr id="1814" name="Google Shape;1814;p94"/>
          <p:cNvSpPr txBox="1"/>
          <p:nvPr>
            <p:ph idx="1" type="body"/>
          </p:nvPr>
        </p:nvSpPr>
        <p:spPr>
          <a:xfrm>
            <a:off x="705298" y="2055050"/>
            <a:ext cx="979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1.4</a:t>
            </a:r>
            <a:r>
              <a:rPr lang="en-GB" sz="1800"/>
              <a:t> units</a:t>
            </a:r>
            <a:endParaRPr sz="1800"/>
          </a:p>
        </p:txBody>
      </p:sp>
      <p:sp>
        <p:nvSpPr>
          <p:cNvPr id="1815" name="Google Shape;1815;p94"/>
          <p:cNvSpPr txBox="1"/>
          <p:nvPr>
            <p:ph idx="1" type="body"/>
          </p:nvPr>
        </p:nvSpPr>
        <p:spPr>
          <a:xfrm>
            <a:off x="887859" y="1581509"/>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cxnSp>
        <p:nvCxnSpPr>
          <p:cNvPr id="1816" name="Google Shape;1816;p94"/>
          <p:cNvCxnSpPr/>
          <p:nvPr/>
        </p:nvCxnSpPr>
        <p:spPr>
          <a:xfrm flipH="1" rot="10800000">
            <a:off x="3135750" y="2132450"/>
            <a:ext cx="326100" cy="2100300"/>
          </a:xfrm>
          <a:prstGeom prst="straightConnector1">
            <a:avLst/>
          </a:prstGeom>
          <a:noFill/>
          <a:ln cap="flat" cmpd="sng" w="28575">
            <a:solidFill>
              <a:schemeClr val="dk1"/>
            </a:solidFill>
            <a:prstDash val="solid"/>
            <a:round/>
            <a:headEnd len="med" w="med" type="none"/>
            <a:tailEnd len="med" w="med" type="triangle"/>
          </a:ln>
        </p:spPr>
      </p:cxnSp>
      <p:sp>
        <p:nvSpPr>
          <p:cNvPr id="1817" name="Google Shape;1817;p94"/>
          <p:cNvSpPr/>
          <p:nvPr/>
        </p:nvSpPr>
        <p:spPr>
          <a:xfrm>
            <a:off x="3558075" y="4148151"/>
            <a:ext cx="706200" cy="706200"/>
          </a:xfrm>
          <a:prstGeom prst="arc">
            <a:avLst>
              <a:gd fmla="val 1808081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8" name="Google Shape;1818;p94"/>
          <p:cNvSpPr txBox="1"/>
          <p:nvPr>
            <p:ph idx="1" type="body"/>
          </p:nvPr>
        </p:nvSpPr>
        <p:spPr>
          <a:xfrm>
            <a:off x="4284984" y="4129542"/>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cxnSp>
        <p:nvCxnSpPr>
          <p:cNvPr id="1819" name="Google Shape;1819;p94"/>
          <p:cNvCxnSpPr/>
          <p:nvPr/>
        </p:nvCxnSpPr>
        <p:spPr>
          <a:xfrm rot="10800000">
            <a:off x="6428250" y="2554600"/>
            <a:ext cx="821100" cy="83700"/>
          </a:xfrm>
          <a:prstGeom prst="straightConnector1">
            <a:avLst/>
          </a:prstGeom>
          <a:noFill/>
          <a:ln cap="flat" cmpd="sng" w="28575">
            <a:solidFill>
              <a:schemeClr val="dk1"/>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3" name="Shape 1823"/>
        <p:cNvGrpSpPr/>
        <p:nvPr/>
      </p:nvGrpSpPr>
      <p:grpSpPr>
        <a:xfrm>
          <a:off x="0" y="0"/>
          <a:ext cx="0" cy="0"/>
          <a:chOff x="0" y="0"/>
          <a:chExt cx="0" cy="0"/>
        </a:xfrm>
      </p:grpSpPr>
      <p:sp>
        <p:nvSpPr>
          <p:cNvPr id="1824" name="Google Shape;1824;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pic>
        <p:nvPicPr>
          <p:cNvPr id="1825" name="Google Shape;1825;p95"/>
          <p:cNvPicPr preferRelativeResize="0"/>
          <p:nvPr/>
        </p:nvPicPr>
        <p:blipFill>
          <a:blip r:embed="rId3">
            <a:alphaModFix/>
          </a:blip>
          <a:stretch>
            <a:fillRect/>
          </a:stretch>
        </p:blipFill>
        <p:spPr>
          <a:xfrm>
            <a:off x="3283025" y="939100"/>
            <a:ext cx="3991200" cy="3818101"/>
          </a:xfrm>
          <a:prstGeom prst="rect">
            <a:avLst/>
          </a:prstGeom>
          <a:noFill/>
          <a:ln>
            <a:noFill/>
          </a:ln>
        </p:spPr>
      </p:pic>
      <p:cxnSp>
        <p:nvCxnSpPr>
          <p:cNvPr id="1826" name="Google Shape;1826;p95"/>
          <p:cNvCxnSpPr/>
          <p:nvPr/>
        </p:nvCxnSpPr>
        <p:spPr>
          <a:xfrm>
            <a:off x="7021725" y="1054825"/>
            <a:ext cx="0" cy="3444900"/>
          </a:xfrm>
          <a:prstGeom prst="straightConnector1">
            <a:avLst/>
          </a:prstGeom>
          <a:noFill/>
          <a:ln cap="flat" cmpd="sng" w="19050">
            <a:solidFill>
              <a:schemeClr val="dk1"/>
            </a:solidFill>
            <a:prstDash val="solid"/>
            <a:round/>
            <a:headEnd len="med" w="med" type="none"/>
            <a:tailEnd len="med" w="med" type="none"/>
          </a:ln>
        </p:spPr>
      </p:cxnSp>
      <p:sp>
        <p:nvSpPr>
          <p:cNvPr id="1827" name="Google Shape;1827;p95"/>
          <p:cNvSpPr txBox="1"/>
          <p:nvPr>
            <p:ph idx="1" type="body"/>
          </p:nvPr>
        </p:nvSpPr>
        <p:spPr>
          <a:xfrm>
            <a:off x="7149725" y="2612475"/>
            <a:ext cx="1641900" cy="29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approximately</a:t>
            </a:r>
            <a:endParaRPr sz="1800"/>
          </a:p>
        </p:txBody>
      </p:sp>
      <p:cxnSp>
        <p:nvCxnSpPr>
          <p:cNvPr id="1828" name="Google Shape;1828;p95"/>
          <p:cNvCxnSpPr/>
          <p:nvPr/>
        </p:nvCxnSpPr>
        <p:spPr>
          <a:xfrm rot="10800000">
            <a:off x="3524751" y="1710785"/>
            <a:ext cx="3492300" cy="0"/>
          </a:xfrm>
          <a:prstGeom prst="straightConnector1">
            <a:avLst/>
          </a:prstGeom>
          <a:noFill/>
          <a:ln cap="flat" cmpd="sng" w="19050">
            <a:solidFill>
              <a:schemeClr val="accent3"/>
            </a:solidFill>
            <a:prstDash val="dash"/>
            <a:round/>
            <a:headEnd len="med" w="med" type="none"/>
            <a:tailEnd len="med" w="med" type="none"/>
          </a:ln>
        </p:spPr>
      </p:cxnSp>
      <p:cxnSp>
        <p:nvCxnSpPr>
          <p:cNvPr id="1829" name="Google Shape;1829;p95"/>
          <p:cNvCxnSpPr/>
          <p:nvPr/>
        </p:nvCxnSpPr>
        <p:spPr>
          <a:xfrm rot="10800000">
            <a:off x="7021725" y="1708050"/>
            <a:ext cx="0" cy="2740500"/>
          </a:xfrm>
          <a:prstGeom prst="straightConnector1">
            <a:avLst/>
          </a:prstGeom>
          <a:noFill/>
          <a:ln cap="flat" cmpd="sng" w="19050">
            <a:solidFill>
              <a:schemeClr val="accent3"/>
            </a:solidFill>
            <a:prstDash val="dash"/>
            <a:round/>
            <a:headEnd len="med" w="med" type="none"/>
            <a:tailEnd len="med" w="med" type="none"/>
          </a:ln>
        </p:spPr>
      </p:cxnSp>
      <p:sp>
        <p:nvSpPr>
          <p:cNvPr id="1830" name="Google Shape;1830;p95"/>
          <p:cNvSpPr txBox="1"/>
          <p:nvPr>
            <p:ph idx="1" type="body"/>
          </p:nvPr>
        </p:nvSpPr>
        <p:spPr>
          <a:xfrm>
            <a:off x="1489051" y="2768175"/>
            <a:ext cx="1043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a:t>
            </a:r>
            <a:r>
              <a:rPr lang="en-GB" sz="1800"/>
              <a:t> </a:t>
            </a:r>
            <a:r>
              <a:rPr lang="en-GB" sz="2000">
                <a:latin typeface="Times New Roman"/>
                <a:ea typeface="Times New Roman"/>
                <a:cs typeface="Times New Roman"/>
                <a:sym typeface="Times New Roman"/>
              </a:rPr>
              <a:t>(𝜃</a:t>
            </a:r>
            <a:r>
              <a:rPr lang="en-GB" sz="1800"/>
              <a:t>°</a:t>
            </a:r>
            <a:r>
              <a:rPr lang="en-GB" sz="2000">
                <a:latin typeface="Times New Roman"/>
                <a:ea typeface="Times New Roman"/>
                <a:cs typeface="Times New Roman"/>
                <a:sym typeface="Times New Roman"/>
              </a:rPr>
              <a:t>) </a:t>
            </a:r>
            <a:r>
              <a:rPr lang="en-GB" sz="1800"/>
              <a:t>= </a:t>
            </a:r>
            <a:endParaRPr sz="1800"/>
          </a:p>
          <a:p>
            <a:pPr indent="0" lvl="0" marL="0" rtl="0" algn="l">
              <a:spcBef>
                <a:spcPts val="1000"/>
              </a:spcBef>
              <a:spcAft>
                <a:spcPts val="1000"/>
              </a:spcAft>
              <a:buNone/>
            </a:pPr>
            <a:r>
              <a:t/>
            </a:r>
            <a:endParaRPr sz="1800"/>
          </a:p>
        </p:txBody>
      </p:sp>
      <p:sp>
        <p:nvSpPr>
          <p:cNvPr id="1831" name="Google Shape;1831;p95"/>
          <p:cNvSpPr txBox="1"/>
          <p:nvPr>
            <p:ph idx="1" type="body"/>
          </p:nvPr>
        </p:nvSpPr>
        <p:spPr>
          <a:xfrm>
            <a:off x="2591326" y="2589941"/>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opp </a:t>
            </a:r>
            <a:endParaRPr sz="1800">
              <a:latin typeface="Times New Roman"/>
              <a:ea typeface="Times New Roman"/>
              <a:cs typeface="Times New Roman"/>
              <a:sym typeface="Times New Roman"/>
            </a:endParaRPr>
          </a:p>
          <a:p>
            <a:pPr indent="0" lvl="0" marL="0" rtl="0" algn="l">
              <a:spcBef>
                <a:spcPts val="1000"/>
              </a:spcBef>
              <a:spcAft>
                <a:spcPts val="1000"/>
              </a:spcAft>
              <a:buNone/>
            </a:pPr>
            <a:r>
              <a:t/>
            </a:r>
            <a:endParaRPr sz="1800">
              <a:latin typeface="Times New Roman"/>
              <a:ea typeface="Times New Roman"/>
              <a:cs typeface="Times New Roman"/>
              <a:sym typeface="Times New Roman"/>
            </a:endParaRPr>
          </a:p>
        </p:txBody>
      </p:sp>
      <p:sp>
        <p:nvSpPr>
          <p:cNvPr id="1832" name="Google Shape;1832;p95"/>
          <p:cNvSpPr txBox="1"/>
          <p:nvPr>
            <p:ph idx="1" type="body"/>
          </p:nvPr>
        </p:nvSpPr>
        <p:spPr>
          <a:xfrm>
            <a:off x="2599198" y="2970650"/>
            <a:ext cx="53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adj</a:t>
            </a:r>
            <a:endParaRPr sz="1800">
              <a:latin typeface="Times New Roman"/>
              <a:ea typeface="Times New Roman"/>
              <a:cs typeface="Times New Roman"/>
              <a:sym typeface="Times New Roman"/>
            </a:endParaRPr>
          </a:p>
          <a:p>
            <a:pPr indent="0" lvl="0" marL="0" rtl="0" algn="l">
              <a:spcBef>
                <a:spcPts val="1000"/>
              </a:spcBef>
              <a:spcAft>
                <a:spcPts val="1000"/>
              </a:spcAft>
              <a:buNone/>
            </a:pPr>
            <a:r>
              <a:t/>
            </a:r>
            <a:endParaRPr sz="1800">
              <a:latin typeface="Times New Roman"/>
              <a:ea typeface="Times New Roman"/>
              <a:cs typeface="Times New Roman"/>
              <a:sym typeface="Times New Roman"/>
            </a:endParaRPr>
          </a:p>
        </p:txBody>
      </p:sp>
      <p:cxnSp>
        <p:nvCxnSpPr>
          <p:cNvPr id="1833" name="Google Shape;1833;p95"/>
          <p:cNvCxnSpPr/>
          <p:nvPr/>
        </p:nvCxnSpPr>
        <p:spPr>
          <a:xfrm>
            <a:off x="2532625" y="2928525"/>
            <a:ext cx="519600" cy="0"/>
          </a:xfrm>
          <a:prstGeom prst="straightConnector1">
            <a:avLst/>
          </a:prstGeom>
          <a:noFill/>
          <a:ln cap="flat" cmpd="sng" w="28575">
            <a:solidFill>
              <a:schemeClr val="dk1"/>
            </a:solidFill>
            <a:prstDash val="solid"/>
            <a:round/>
            <a:headEnd len="med" w="med" type="none"/>
            <a:tailEnd len="med" w="med" type="none"/>
          </a:ln>
        </p:spPr>
      </p:cxnSp>
      <p:sp>
        <p:nvSpPr>
          <p:cNvPr id="1834" name="Google Shape;1834;p95"/>
          <p:cNvSpPr txBox="1"/>
          <p:nvPr>
            <p:ph idx="1" type="body"/>
          </p:nvPr>
        </p:nvSpPr>
        <p:spPr>
          <a:xfrm>
            <a:off x="1456927" y="3606375"/>
            <a:ext cx="10758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a:t>
            </a:r>
            <a:r>
              <a:rPr lang="en-GB" sz="1800"/>
              <a:t> </a:t>
            </a:r>
            <a:r>
              <a:rPr lang="en-GB" sz="2000">
                <a:latin typeface="Times New Roman"/>
                <a:ea typeface="Times New Roman"/>
                <a:cs typeface="Times New Roman"/>
                <a:sym typeface="Times New Roman"/>
              </a:rPr>
              <a:t>(𝜃</a:t>
            </a:r>
            <a:r>
              <a:rPr lang="en-GB" sz="1800"/>
              <a:t>°</a:t>
            </a:r>
            <a:r>
              <a:rPr lang="en-GB" sz="2000">
                <a:latin typeface="Times New Roman"/>
                <a:ea typeface="Times New Roman"/>
                <a:cs typeface="Times New Roman"/>
                <a:sym typeface="Times New Roman"/>
              </a:rPr>
              <a:t>)</a:t>
            </a:r>
            <a:r>
              <a:rPr lang="en-GB" sz="1800"/>
              <a:t> = </a:t>
            </a:r>
            <a:endParaRPr sz="1800"/>
          </a:p>
          <a:p>
            <a:pPr indent="0" lvl="0" marL="0" rtl="0" algn="l">
              <a:spcBef>
                <a:spcPts val="1000"/>
              </a:spcBef>
              <a:spcAft>
                <a:spcPts val="1000"/>
              </a:spcAft>
              <a:buNone/>
            </a:pPr>
            <a:r>
              <a:t/>
            </a:r>
            <a:endParaRPr sz="1800"/>
          </a:p>
        </p:txBody>
      </p:sp>
      <p:sp>
        <p:nvSpPr>
          <p:cNvPr id="1835" name="Google Shape;1835;p95"/>
          <p:cNvSpPr txBox="1"/>
          <p:nvPr>
            <p:ph idx="1" type="body"/>
          </p:nvPr>
        </p:nvSpPr>
        <p:spPr>
          <a:xfrm>
            <a:off x="2570882" y="3428150"/>
            <a:ext cx="3795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latin typeface="Times New Roman"/>
                <a:ea typeface="Times New Roman"/>
                <a:cs typeface="Times New Roman"/>
                <a:sym typeface="Times New Roman"/>
              </a:rPr>
              <a:t>1.5</a:t>
            </a:r>
            <a:endParaRPr sz="1800">
              <a:latin typeface="Times New Roman"/>
              <a:ea typeface="Times New Roman"/>
              <a:cs typeface="Times New Roman"/>
              <a:sym typeface="Times New Roman"/>
            </a:endParaRPr>
          </a:p>
          <a:p>
            <a:pPr indent="0" lvl="0" marL="0" rtl="0" algn="l">
              <a:spcBef>
                <a:spcPts val="1000"/>
              </a:spcBef>
              <a:spcAft>
                <a:spcPts val="1000"/>
              </a:spcAft>
              <a:buNone/>
            </a:pPr>
            <a:r>
              <a:t/>
            </a:r>
            <a:endParaRPr sz="1800">
              <a:latin typeface="Times New Roman"/>
              <a:ea typeface="Times New Roman"/>
              <a:cs typeface="Times New Roman"/>
              <a:sym typeface="Times New Roman"/>
            </a:endParaRPr>
          </a:p>
        </p:txBody>
      </p:sp>
      <p:sp>
        <p:nvSpPr>
          <p:cNvPr id="1836" name="Google Shape;1836;p95"/>
          <p:cNvSpPr txBox="1"/>
          <p:nvPr>
            <p:ph idx="1" type="body"/>
          </p:nvPr>
        </p:nvSpPr>
        <p:spPr>
          <a:xfrm>
            <a:off x="2558775" y="3808850"/>
            <a:ext cx="378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Times New Roman"/>
                <a:ea typeface="Times New Roman"/>
                <a:cs typeface="Times New Roman"/>
                <a:sym typeface="Times New Roman"/>
              </a:rPr>
              <a:t>1.8</a:t>
            </a:r>
            <a:endParaRPr sz="1800">
              <a:latin typeface="Times New Roman"/>
              <a:ea typeface="Times New Roman"/>
              <a:cs typeface="Times New Roman"/>
              <a:sym typeface="Times New Roman"/>
            </a:endParaRPr>
          </a:p>
        </p:txBody>
      </p:sp>
      <p:cxnSp>
        <p:nvCxnSpPr>
          <p:cNvPr id="1837" name="Google Shape;1837;p95"/>
          <p:cNvCxnSpPr/>
          <p:nvPr/>
        </p:nvCxnSpPr>
        <p:spPr>
          <a:xfrm>
            <a:off x="2532625" y="3766725"/>
            <a:ext cx="379500" cy="0"/>
          </a:xfrm>
          <a:prstGeom prst="straightConnector1">
            <a:avLst/>
          </a:prstGeom>
          <a:noFill/>
          <a:ln cap="flat" cmpd="sng" w="28575">
            <a:solidFill>
              <a:schemeClr val="dk1"/>
            </a:solidFill>
            <a:prstDash val="solid"/>
            <a:round/>
            <a:headEnd len="med" w="med" type="none"/>
            <a:tailEnd len="med" w="med" type="none"/>
          </a:ln>
        </p:spPr>
      </p:cxnSp>
      <p:sp>
        <p:nvSpPr>
          <p:cNvPr id="1838" name="Google Shape;1838;p95"/>
          <p:cNvSpPr txBox="1"/>
          <p:nvPr>
            <p:ph idx="1" type="body"/>
          </p:nvPr>
        </p:nvSpPr>
        <p:spPr>
          <a:xfrm>
            <a:off x="1456924" y="4292175"/>
            <a:ext cx="17673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a:t>
            </a:r>
            <a:r>
              <a:rPr lang="en-GB" sz="1800">
                <a:latin typeface="Times New Roman"/>
                <a:ea typeface="Times New Roman"/>
                <a:cs typeface="Times New Roman"/>
                <a:sym typeface="Times New Roman"/>
              </a:rPr>
              <a:t> </a:t>
            </a:r>
            <a:r>
              <a:rPr lang="en-GB" sz="2000">
                <a:latin typeface="Times New Roman"/>
                <a:ea typeface="Times New Roman"/>
                <a:cs typeface="Times New Roman"/>
                <a:sym typeface="Times New Roman"/>
              </a:rPr>
              <a:t>(𝜃</a:t>
            </a:r>
            <a:r>
              <a:rPr lang="en-GB" sz="1800">
                <a:latin typeface="Times New Roman"/>
                <a:ea typeface="Times New Roman"/>
                <a:cs typeface="Times New Roman"/>
                <a:sym typeface="Times New Roman"/>
              </a:rPr>
              <a:t>°</a:t>
            </a:r>
            <a:r>
              <a:rPr lang="en-GB" sz="2000">
                <a:latin typeface="Times New Roman"/>
                <a:ea typeface="Times New Roman"/>
                <a:cs typeface="Times New Roman"/>
                <a:sym typeface="Times New Roman"/>
              </a:rPr>
              <a:t>)</a:t>
            </a:r>
            <a:r>
              <a:rPr lang="en-GB" sz="1800">
                <a:latin typeface="Times New Roman"/>
                <a:ea typeface="Times New Roman"/>
                <a:cs typeface="Times New Roman"/>
                <a:sym typeface="Times New Roman"/>
              </a:rPr>
              <a:t> = 0.833</a:t>
            </a:r>
            <a:endParaRPr sz="1800">
              <a:latin typeface="Times New Roman"/>
              <a:ea typeface="Times New Roman"/>
              <a:cs typeface="Times New Roman"/>
              <a:sym typeface="Times New Roman"/>
            </a:endParaRPr>
          </a:p>
          <a:p>
            <a:pPr indent="0" lvl="0" marL="0" rtl="0" algn="l">
              <a:spcBef>
                <a:spcPts val="1000"/>
              </a:spcBef>
              <a:spcAft>
                <a:spcPts val="1000"/>
              </a:spcAft>
              <a:buNone/>
            </a:pPr>
            <a:r>
              <a:t/>
            </a:r>
            <a:endParaRPr sz="1800">
              <a:latin typeface="Times New Roman"/>
              <a:ea typeface="Times New Roman"/>
              <a:cs typeface="Times New Roman"/>
              <a:sym typeface="Times New Roman"/>
            </a:endParaRPr>
          </a:p>
        </p:txBody>
      </p:sp>
      <p:grpSp>
        <p:nvGrpSpPr>
          <p:cNvPr id="1839" name="Google Shape;1839;p95"/>
          <p:cNvGrpSpPr/>
          <p:nvPr/>
        </p:nvGrpSpPr>
        <p:grpSpPr>
          <a:xfrm>
            <a:off x="397742" y="892658"/>
            <a:ext cx="1458106" cy="1110455"/>
            <a:chOff x="-2098225" y="1379675"/>
            <a:chExt cx="1133566" cy="1976601"/>
          </a:xfrm>
        </p:grpSpPr>
        <p:sp>
          <p:nvSpPr>
            <p:cNvPr id="1840" name="Google Shape;1840;p9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841" name="Google Shape;1841;p95"/>
            <p:cNvCxnSpPr/>
            <p:nvPr/>
          </p:nvCxnSpPr>
          <p:spPr>
            <a:xfrm rot="10800000">
              <a:off x="-2022025" y="3356276"/>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842" name="Google Shape;1842;p95"/>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843" name="Google Shape;1843;p95"/>
            <p:cNvCxnSpPr/>
            <p:nvPr/>
          </p:nvCxnSpPr>
          <p:spPr>
            <a:xfrm flipH="1">
              <a:off x="-2098225" y="1379675"/>
              <a:ext cx="960900" cy="1668300"/>
            </a:xfrm>
            <a:prstGeom prst="straightConnector1">
              <a:avLst/>
            </a:prstGeom>
            <a:noFill/>
            <a:ln cap="flat" cmpd="sng" w="28575">
              <a:solidFill>
                <a:srgbClr val="E6F2F2"/>
              </a:solidFill>
              <a:prstDash val="solid"/>
              <a:round/>
              <a:headEnd len="med" w="med" type="triangle"/>
              <a:tailEnd len="med" w="med" type="triangle"/>
            </a:ln>
          </p:spPr>
        </p:cxnSp>
      </p:grpSp>
      <p:sp>
        <p:nvSpPr>
          <p:cNvPr id="1844" name="Google Shape;1844;p95"/>
          <p:cNvSpPr/>
          <p:nvPr/>
        </p:nvSpPr>
        <p:spPr>
          <a:xfrm>
            <a:off x="1614919" y="1746933"/>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5" name="Google Shape;1845;p95"/>
          <p:cNvSpPr/>
          <p:nvPr/>
        </p:nvSpPr>
        <p:spPr>
          <a:xfrm>
            <a:off x="129075" y="1528918"/>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46" name="Google Shape;1846;p95"/>
          <p:cNvSpPr txBox="1"/>
          <p:nvPr>
            <p:ph idx="1" type="body"/>
          </p:nvPr>
        </p:nvSpPr>
        <p:spPr>
          <a:xfrm>
            <a:off x="1957325" y="1213725"/>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1.5 unit</a:t>
            </a:r>
            <a:endParaRPr sz="1800"/>
          </a:p>
        </p:txBody>
      </p:sp>
      <p:sp>
        <p:nvSpPr>
          <p:cNvPr id="1847" name="Google Shape;1847;p95"/>
          <p:cNvSpPr txBox="1"/>
          <p:nvPr>
            <p:ph idx="1" type="body"/>
          </p:nvPr>
        </p:nvSpPr>
        <p:spPr>
          <a:xfrm>
            <a:off x="705312" y="2055053"/>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1.8 unit</a:t>
            </a:r>
            <a:endParaRPr sz="1800"/>
          </a:p>
        </p:txBody>
      </p:sp>
      <p:sp>
        <p:nvSpPr>
          <p:cNvPr id="1848" name="Google Shape;1848;p95"/>
          <p:cNvSpPr txBox="1"/>
          <p:nvPr>
            <p:ph idx="1" type="body"/>
          </p:nvPr>
        </p:nvSpPr>
        <p:spPr>
          <a:xfrm>
            <a:off x="887859" y="1581509"/>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cxnSp>
        <p:nvCxnSpPr>
          <p:cNvPr id="1849" name="Google Shape;1849;p95"/>
          <p:cNvCxnSpPr/>
          <p:nvPr/>
        </p:nvCxnSpPr>
        <p:spPr>
          <a:xfrm flipH="1" rot="10800000">
            <a:off x="3135750" y="1719950"/>
            <a:ext cx="292200" cy="2512800"/>
          </a:xfrm>
          <a:prstGeom prst="straightConnector1">
            <a:avLst/>
          </a:prstGeom>
          <a:noFill/>
          <a:ln cap="flat" cmpd="sng" w="28575">
            <a:solidFill>
              <a:schemeClr val="dk1"/>
            </a:solidFill>
            <a:prstDash val="solid"/>
            <a:round/>
            <a:headEnd len="med" w="med" type="none"/>
            <a:tailEnd len="med" w="med" type="triangle"/>
          </a:ln>
        </p:spPr>
      </p:cxnSp>
      <p:sp>
        <p:nvSpPr>
          <p:cNvPr id="1850" name="Google Shape;1850;p95"/>
          <p:cNvSpPr/>
          <p:nvPr/>
        </p:nvSpPr>
        <p:spPr>
          <a:xfrm>
            <a:off x="3558075" y="4148151"/>
            <a:ext cx="706200" cy="706200"/>
          </a:xfrm>
          <a:prstGeom prst="arc">
            <a:avLst>
              <a:gd fmla="val 17646754"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51" name="Google Shape;1851;p95"/>
          <p:cNvSpPr txBox="1"/>
          <p:nvPr>
            <p:ph idx="1" type="body"/>
          </p:nvPr>
        </p:nvSpPr>
        <p:spPr>
          <a:xfrm>
            <a:off x="4284984" y="4129542"/>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cxnSp>
        <p:nvCxnSpPr>
          <p:cNvPr id="1852" name="Google Shape;1852;p95"/>
          <p:cNvCxnSpPr/>
          <p:nvPr/>
        </p:nvCxnSpPr>
        <p:spPr>
          <a:xfrm rot="10800000">
            <a:off x="6312150" y="2374300"/>
            <a:ext cx="937200" cy="264000"/>
          </a:xfrm>
          <a:prstGeom prst="straightConnector1">
            <a:avLst/>
          </a:prstGeom>
          <a:noFill/>
          <a:ln cap="flat" cmpd="sng" w="28575">
            <a:solidFill>
              <a:schemeClr val="dk1"/>
            </a:solidFill>
            <a:prstDash val="solid"/>
            <a:round/>
            <a:headEnd len="med" w="med" type="none"/>
            <a:tailEnd len="med" w="med" type="triangle"/>
          </a:ln>
        </p:spPr>
      </p:cxnSp>
      <p:cxnSp>
        <p:nvCxnSpPr>
          <p:cNvPr id="1853" name="Google Shape;1853;p95"/>
          <p:cNvCxnSpPr/>
          <p:nvPr/>
        </p:nvCxnSpPr>
        <p:spPr>
          <a:xfrm flipH="1">
            <a:off x="3664025" y="1710925"/>
            <a:ext cx="3358800" cy="2788200"/>
          </a:xfrm>
          <a:prstGeom prst="straightConnector1">
            <a:avLst/>
          </a:prstGeom>
          <a:noFill/>
          <a:ln cap="flat" cmpd="sng" w="19050">
            <a:solidFill>
              <a:schemeClr val="accent5"/>
            </a:solidFill>
            <a:prstDash val="solid"/>
            <a:round/>
            <a:headEnd len="med" w="med" type="none"/>
            <a:tailEnd len="med" w="med" type="none"/>
          </a:ln>
        </p:spPr>
      </p:cxnSp>
      <p:cxnSp>
        <p:nvCxnSpPr>
          <p:cNvPr id="1854" name="Google Shape;1854;p95"/>
          <p:cNvCxnSpPr/>
          <p:nvPr/>
        </p:nvCxnSpPr>
        <p:spPr>
          <a:xfrm>
            <a:off x="7710875" y="3180450"/>
            <a:ext cx="519600" cy="0"/>
          </a:xfrm>
          <a:prstGeom prst="straightConnector1">
            <a:avLst/>
          </a:prstGeom>
          <a:noFill/>
          <a:ln cap="flat" cmpd="sng" w="28575">
            <a:solidFill>
              <a:schemeClr val="dk1"/>
            </a:solidFill>
            <a:prstDash val="solid"/>
            <a:round/>
            <a:headEnd len="med" w="med" type="none"/>
            <a:tailEnd len="med" w="med" type="none"/>
          </a:ln>
        </p:spPr>
      </p:cxnSp>
      <p:sp>
        <p:nvSpPr>
          <p:cNvPr id="1855" name="Google Shape;1855;p95"/>
          <p:cNvSpPr txBox="1"/>
          <p:nvPr>
            <p:ph idx="1" type="body"/>
          </p:nvPr>
        </p:nvSpPr>
        <p:spPr>
          <a:xfrm>
            <a:off x="8209207" y="2917950"/>
            <a:ext cx="18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t>
            </a:r>
            <a:endParaRPr sz="1800"/>
          </a:p>
        </p:txBody>
      </p:sp>
      <p:sp>
        <p:nvSpPr>
          <p:cNvPr id="1856" name="Google Shape;1856;p95"/>
          <p:cNvSpPr txBox="1"/>
          <p:nvPr>
            <p:ph idx="1" type="body"/>
          </p:nvPr>
        </p:nvSpPr>
        <p:spPr>
          <a:xfrm>
            <a:off x="7704850" y="2909175"/>
            <a:ext cx="62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39.8</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5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0" name="Shape 1860"/>
        <p:cNvGrpSpPr/>
        <p:nvPr/>
      </p:nvGrpSpPr>
      <p:grpSpPr>
        <a:xfrm>
          <a:off x="0" y="0"/>
          <a:ext cx="0" cy="0"/>
          <a:chOff x="0" y="0"/>
          <a:chExt cx="0" cy="0"/>
        </a:xfrm>
      </p:grpSpPr>
      <p:pic>
        <p:nvPicPr>
          <p:cNvPr id="1861" name="Google Shape;1861;p96"/>
          <p:cNvPicPr preferRelativeResize="0"/>
          <p:nvPr/>
        </p:nvPicPr>
        <p:blipFill rotWithShape="1">
          <a:blip r:embed="rId3">
            <a:alphaModFix/>
          </a:blip>
          <a:srcRect b="43690" l="0" r="57905" t="0"/>
          <a:stretch/>
        </p:blipFill>
        <p:spPr>
          <a:xfrm flipH="1" rot="10800000">
            <a:off x="4612100" y="2154950"/>
            <a:ext cx="2973425" cy="1592375"/>
          </a:xfrm>
          <a:prstGeom prst="rect">
            <a:avLst/>
          </a:prstGeom>
          <a:noFill/>
          <a:ln>
            <a:noFill/>
          </a:ln>
        </p:spPr>
      </p:pic>
      <p:sp>
        <p:nvSpPr>
          <p:cNvPr id="1862" name="Google Shape;1862;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pic>
        <p:nvPicPr>
          <p:cNvPr id="1863" name="Google Shape;1863;p96"/>
          <p:cNvPicPr preferRelativeResize="0"/>
          <p:nvPr/>
        </p:nvPicPr>
        <p:blipFill>
          <a:blip r:embed="rId4">
            <a:alphaModFix/>
          </a:blip>
          <a:stretch>
            <a:fillRect/>
          </a:stretch>
        </p:blipFill>
        <p:spPr>
          <a:xfrm>
            <a:off x="463625" y="939100"/>
            <a:ext cx="3991200" cy="3818101"/>
          </a:xfrm>
          <a:prstGeom prst="rect">
            <a:avLst/>
          </a:prstGeom>
          <a:noFill/>
          <a:ln>
            <a:noFill/>
          </a:ln>
        </p:spPr>
      </p:pic>
      <p:cxnSp>
        <p:nvCxnSpPr>
          <p:cNvPr id="1864" name="Google Shape;1864;p96"/>
          <p:cNvCxnSpPr/>
          <p:nvPr/>
        </p:nvCxnSpPr>
        <p:spPr>
          <a:xfrm>
            <a:off x="4202325" y="1054825"/>
            <a:ext cx="0" cy="3444900"/>
          </a:xfrm>
          <a:prstGeom prst="straightConnector1">
            <a:avLst/>
          </a:prstGeom>
          <a:noFill/>
          <a:ln cap="flat" cmpd="sng" w="19050">
            <a:solidFill>
              <a:schemeClr val="dk1"/>
            </a:solidFill>
            <a:prstDash val="solid"/>
            <a:round/>
            <a:headEnd len="med" w="med" type="none"/>
            <a:tailEnd len="med" w="med" type="none"/>
          </a:ln>
        </p:spPr>
      </p:cxnSp>
      <p:sp>
        <p:nvSpPr>
          <p:cNvPr id="1865" name="Google Shape;1865;p96"/>
          <p:cNvSpPr txBox="1"/>
          <p:nvPr/>
        </p:nvSpPr>
        <p:spPr>
          <a:xfrm>
            <a:off x="7401300" y="273113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 </a:t>
            </a:r>
            <a:endParaRPr sz="1800">
              <a:latin typeface="Lexend"/>
              <a:ea typeface="Lexend"/>
              <a:cs typeface="Lexend"/>
              <a:sym typeface="Lexend"/>
            </a:endParaRPr>
          </a:p>
        </p:txBody>
      </p:sp>
      <p:pic>
        <p:nvPicPr>
          <p:cNvPr id="1866" name="Google Shape;1866;p96"/>
          <p:cNvPicPr preferRelativeResize="0"/>
          <p:nvPr/>
        </p:nvPicPr>
        <p:blipFill>
          <a:blip r:embed="rId5">
            <a:alphaModFix/>
          </a:blip>
          <a:stretch>
            <a:fillRect/>
          </a:stretch>
        </p:blipFill>
        <p:spPr>
          <a:xfrm flipH="1">
            <a:off x="7557236" y="1543806"/>
            <a:ext cx="623346" cy="1177024"/>
          </a:xfrm>
          <a:prstGeom prst="rect">
            <a:avLst/>
          </a:prstGeom>
          <a:noFill/>
          <a:ln>
            <a:noFill/>
          </a:ln>
        </p:spPr>
      </p:pic>
      <p:pic>
        <p:nvPicPr>
          <p:cNvPr id="1867" name="Google Shape;1867;p96"/>
          <p:cNvPicPr preferRelativeResize="0"/>
          <p:nvPr/>
        </p:nvPicPr>
        <p:blipFill rotWithShape="1">
          <a:blip r:embed="rId3">
            <a:alphaModFix/>
          </a:blip>
          <a:srcRect b="0" l="0" r="70143" t="56280"/>
          <a:stretch/>
        </p:blipFill>
        <p:spPr>
          <a:xfrm>
            <a:off x="5397125" y="716725"/>
            <a:ext cx="2076349" cy="1334999"/>
          </a:xfrm>
          <a:prstGeom prst="rect">
            <a:avLst/>
          </a:prstGeom>
          <a:noFill/>
          <a:ln>
            <a:noFill/>
          </a:ln>
        </p:spPr>
      </p:pic>
      <p:sp>
        <p:nvSpPr>
          <p:cNvPr id="1868" name="Google Shape;1868;p96"/>
          <p:cNvSpPr txBox="1"/>
          <p:nvPr>
            <p:ph idx="1" type="body"/>
          </p:nvPr>
        </p:nvSpPr>
        <p:spPr>
          <a:xfrm>
            <a:off x="5482058" y="896281"/>
            <a:ext cx="19590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Okay, but this method isn’t very accurate.</a:t>
            </a:r>
            <a:endParaRPr sz="1800"/>
          </a:p>
        </p:txBody>
      </p:sp>
      <p:sp>
        <p:nvSpPr>
          <p:cNvPr id="1869" name="Google Shape;1869;p96"/>
          <p:cNvSpPr txBox="1"/>
          <p:nvPr>
            <p:ph idx="1" type="body"/>
          </p:nvPr>
        </p:nvSpPr>
        <p:spPr>
          <a:xfrm>
            <a:off x="4735418" y="2476375"/>
            <a:ext cx="26331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must be another way, that doesn’t rely on a table or a </a:t>
            </a:r>
            <a:r>
              <a:rPr lang="en-GB" sz="1800"/>
              <a:t>graph</a:t>
            </a:r>
            <a:r>
              <a:rPr lang="en-GB" sz="1800"/>
              <a:t> and is more accurate.</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3" name="Shape 1873"/>
        <p:cNvGrpSpPr/>
        <p:nvPr/>
      </p:nvGrpSpPr>
      <p:grpSpPr>
        <a:xfrm>
          <a:off x="0" y="0"/>
          <a:ext cx="0" cy="0"/>
          <a:chOff x="0" y="0"/>
          <a:chExt cx="0" cy="0"/>
        </a:xfrm>
      </p:grpSpPr>
      <p:sp>
        <p:nvSpPr>
          <p:cNvPr id="1874" name="Google Shape;1874;p97"/>
          <p:cNvSpPr txBox="1"/>
          <p:nvPr>
            <p:ph type="title"/>
          </p:nvPr>
        </p:nvSpPr>
        <p:spPr>
          <a:xfrm>
            <a:off x="324000" y="0"/>
            <a:ext cx="29349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sp>
        <p:nvSpPr>
          <p:cNvPr id="1875" name="Google Shape;1875;p97"/>
          <p:cNvSpPr txBox="1"/>
          <p:nvPr>
            <p:ph idx="1" type="body"/>
          </p:nvPr>
        </p:nvSpPr>
        <p:spPr>
          <a:xfrm>
            <a:off x="324000" y="779570"/>
            <a:ext cx="8496000" cy="271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The tangent </a:t>
            </a:r>
            <a:r>
              <a:rPr lang="en-GB" sz="1800">
                <a:solidFill>
                  <a:schemeClr val="accent5"/>
                </a:solidFill>
              </a:rPr>
              <a:t>function, </a:t>
            </a: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solidFill>
                  <a:schemeClr val="accent5"/>
                </a:solidFill>
              </a:rPr>
              <a:t> </a:t>
            </a:r>
            <a:r>
              <a:rPr lang="en-GB" sz="1800"/>
              <a:t>returns the ratio                     for a given value of </a:t>
            </a:r>
            <a:r>
              <a:rPr lang="en-GB" sz="2000">
                <a:latin typeface="Times New Roman"/>
                <a:ea typeface="Times New Roman"/>
                <a:cs typeface="Times New Roman"/>
                <a:sym typeface="Times New Roman"/>
              </a:rPr>
              <a:t>𝜃</a:t>
            </a:r>
            <a:r>
              <a:rPr lang="en-GB" sz="1800"/>
              <a:t>°</a:t>
            </a:r>
            <a:r>
              <a:rPr lang="en-GB" sz="2000">
                <a:latin typeface="Times New Roman"/>
                <a:ea typeface="Times New Roman"/>
                <a:cs typeface="Times New Roman"/>
                <a:sym typeface="Times New Roman"/>
              </a:rPr>
              <a:t>.</a:t>
            </a:r>
            <a:r>
              <a:rPr lang="en-GB" sz="1800"/>
              <a:t> </a:t>
            </a:r>
            <a:endParaRPr sz="1800"/>
          </a:p>
        </p:txBody>
      </p:sp>
      <p:sp>
        <p:nvSpPr>
          <p:cNvPr id="1876" name="Google Shape;1876;p97"/>
          <p:cNvSpPr txBox="1"/>
          <p:nvPr>
            <p:ph idx="1" type="body"/>
          </p:nvPr>
        </p:nvSpPr>
        <p:spPr>
          <a:xfrm>
            <a:off x="5636987" y="702009"/>
            <a:ext cx="1288200" cy="271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opposite</a:t>
            </a:r>
            <a:endParaRPr sz="1800"/>
          </a:p>
        </p:txBody>
      </p:sp>
      <p:sp>
        <p:nvSpPr>
          <p:cNvPr id="1877" name="Google Shape;1877;p97"/>
          <p:cNvSpPr txBox="1"/>
          <p:nvPr>
            <p:ph idx="1" type="body"/>
          </p:nvPr>
        </p:nvSpPr>
        <p:spPr>
          <a:xfrm>
            <a:off x="5636987" y="942807"/>
            <a:ext cx="1288200" cy="2718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1800"/>
              <a:t>adjacent</a:t>
            </a:r>
            <a:endParaRPr sz="1800"/>
          </a:p>
        </p:txBody>
      </p:sp>
      <p:cxnSp>
        <p:nvCxnSpPr>
          <p:cNvPr id="1878" name="Google Shape;1878;p97"/>
          <p:cNvCxnSpPr/>
          <p:nvPr/>
        </p:nvCxnSpPr>
        <p:spPr>
          <a:xfrm>
            <a:off x="5623339" y="960166"/>
            <a:ext cx="1029000" cy="0"/>
          </a:xfrm>
          <a:prstGeom prst="straightConnector1">
            <a:avLst/>
          </a:prstGeom>
          <a:noFill/>
          <a:ln cap="flat" cmpd="sng" w="19050">
            <a:solidFill>
              <a:schemeClr val="dk1"/>
            </a:solidFill>
            <a:prstDash val="solid"/>
            <a:round/>
            <a:headEnd len="med" w="med" type="none"/>
            <a:tailEnd len="med" w="med" type="none"/>
          </a:ln>
        </p:spPr>
      </p:cxnSp>
      <p:sp>
        <p:nvSpPr>
          <p:cNvPr id="1879" name="Google Shape;1879;p97"/>
          <p:cNvSpPr txBox="1"/>
          <p:nvPr>
            <p:ph idx="1" type="body"/>
          </p:nvPr>
        </p:nvSpPr>
        <p:spPr>
          <a:xfrm>
            <a:off x="324000" y="1820316"/>
            <a:ext cx="8496000" cy="27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If you can find the ratio from the angle it is possible to use the inverse to find the angle from a given ratio. Your calculator means you can do this quickly and accurately.</a:t>
            </a:r>
            <a:endParaRPr sz="1800"/>
          </a:p>
          <a:p>
            <a:pPr indent="0" lvl="0" marL="0" rtl="0" algn="l">
              <a:spcBef>
                <a:spcPts val="1000"/>
              </a:spcBef>
              <a:spcAft>
                <a:spcPts val="1000"/>
              </a:spcAft>
              <a:buNone/>
            </a:pPr>
            <a:r>
              <a:rPr lang="en-GB" sz="1800"/>
              <a:t> </a:t>
            </a:r>
            <a:endParaRPr sz="1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3" name="Shape 1883"/>
        <p:cNvGrpSpPr/>
        <p:nvPr/>
      </p:nvGrpSpPr>
      <p:grpSpPr>
        <a:xfrm>
          <a:off x="0" y="0"/>
          <a:ext cx="0" cy="0"/>
          <a:chOff x="0" y="0"/>
          <a:chExt cx="0" cy="0"/>
        </a:xfrm>
      </p:grpSpPr>
      <p:sp>
        <p:nvSpPr>
          <p:cNvPr id="1884" name="Google Shape;1884;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sp>
        <p:nvSpPr>
          <p:cNvPr id="1885" name="Google Shape;1885;p98"/>
          <p:cNvSpPr txBox="1"/>
          <p:nvPr>
            <p:ph idx="1" type="body"/>
          </p:nvPr>
        </p:nvSpPr>
        <p:spPr>
          <a:xfrm>
            <a:off x="324000" y="820500"/>
            <a:ext cx="84960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the tangent function is like an operation to find the ratio from the angle then the inverse of the tangent function finds the angle from the ratio. </a:t>
            </a:r>
            <a:endParaRPr sz="1800"/>
          </a:p>
        </p:txBody>
      </p:sp>
      <p:sp>
        <p:nvSpPr>
          <p:cNvPr id="1886" name="Google Shape;1886;p98"/>
          <p:cNvSpPr txBox="1"/>
          <p:nvPr>
            <p:ph idx="1" type="body"/>
          </p:nvPr>
        </p:nvSpPr>
        <p:spPr>
          <a:xfrm>
            <a:off x="3279687" y="1688975"/>
            <a:ext cx="16563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tan (𝜃</a:t>
            </a:r>
            <a:r>
              <a:rPr lang="en-GB" sz="1800"/>
              <a:t>°</a:t>
            </a:r>
            <a:r>
              <a:rPr lang="en-GB" sz="2000">
                <a:latin typeface="Times New Roman"/>
                <a:ea typeface="Times New Roman"/>
                <a:cs typeface="Times New Roman"/>
                <a:sym typeface="Times New Roman"/>
              </a:rPr>
              <a:t>)</a:t>
            </a:r>
            <a:r>
              <a:rPr lang="en-GB" sz="1800"/>
              <a:t> = 0.714</a:t>
            </a:r>
            <a:endParaRPr sz="1800"/>
          </a:p>
          <a:p>
            <a:pPr indent="0" lvl="0" marL="0" rtl="0" algn="l">
              <a:spcBef>
                <a:spcPts val="1000"/>
              </a:spcBef>
              <a:spcAft>
                <a:spcPts val="1000"/>
              </a:spcAft>
              <a:buNone/>
            </a:pPr>
            <a:r>
              <a:t/>
            </a:r>
            <a:endParaRPr sz="1800"/>
          </a:p>
        </p:txBody>
      </p:sp>
      <p:sp>
        <p:nvSpPr>
          <p:cNvPr id="1887" name="Google Shape;1887;p98"/>
          <p:cNvSpPr txBox="1"/>
          <p:nvPr>
            <p:ph idx="1" type="body"/>
          </p:nvPr>
        </p:nvSpPr>
        <p:spPr>
          <a:xfrm>
            <a:off x="3816366" y="2484550"/>
            <a:ext cx="42552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𝜃</a:t>
            </a:r>
            <a:r>
              <a:rPr lang="en-GB" sz="1800"/>
              <a:t>°</a:t>
            </a:r>
            <a:r>
              <a:rPr lang="en-GB" sz="2000">
                <a:latin typeface="Times New Roman"/>
                <a:ea typeface="Times New Roman"/>
                <a:cs typeface="Times New Roman"/>
                <a:sym typeface="Times New Roman"/>
              </a:rPr>
              <a:t> </a:t>
            </a:r>
            <a:r>
              <a:rPr lang="en-GB" sz="1800"/>
              <a:t>= inverse tangent function (0.714)</a:t>
            </a:r>
            <a:endParaRPr sz="1800"/>
          </a:p>
          <a:p>
            <a:pPr indent="0" lvl="0" marL="0" rtl="0" algn="l">
              <a:spcBef>
                <a:spcPts val="1000"/>
              </a:spcBef>
              <a:spcAft>
                <a:spcPts val="1000"/>
              </a:spcAft>
              <a:buNone/>
            </a:pPr>
            <a:r>
              <a:t/>
            </a:r>
            <a:endParaRPr sz="1800"/>
          </a:p>
        </p:txBody>
      </p:sp>
      <p:sp>
        <p:nvSpPr>
          <p:cNvPr id="1888" name="Google Shape;1888;p98"/>
          <p:cNvSpPr/>
          <p:nvPr/>
        </p:nvSpPr>
        <p:spPr>
          <a:xfrm>
            <a:off x="2986175" y="1932550"/>
            <a:ext cx="125175" cy="406253"/>
          </a:xfrm>
          <a:custGeom>
            <a:rect b="b" l="l" r="r" t="t"/>
            <a:pathLst>
              <a:path extrusionOk="0" h="13957" w="5007">
                <a:moveTo>
                  <a:pt x="3499" y="0"/>
                </a:moveTo>
                <a:cubicBezTo>
                  <a:pt x="1709" y="1789"/>
                  <a:pt x="-312" y="4294"/>
                  <a:pt x="104" y="6790"/>
                </a:cubicBezTo>
                <a:cubicBezTo>
                  <a:pt x="580" y="9645"/>
                  <a:pt x="3715" y="11367"/>
                  <a:pt x="5008" y="13957"/>
                </a:cubicBezTo>
              </a:path>
            </a:pathLst>
          </a:custGeom>
          <a:noFill/>
          <a:ln cap="flat" cmpd="sng" w="28575">
            <a:solidFill>
              <a:schemeClr val="dk1"/>
            </a:solidFill>
            <a:prstDash val="solid"/>
            <a:round/>
            <a:headEnd len="med" w="med" type="none"/>
            <a:tailEnd len="med" w="med" type="triangle"/>
          </a:ln>
        </p:spPr>
      </p:sp>
      <p:sp>
        <p:nvSpPr>
          <p:cNvPr id="1889" name="Google Shape;1889;p98"/>
          <p:cNvSpPr/>
          <p:nvPr/>
        </p:nvSpPr>
        <p:spPr>
          <a:xfrm flipH="1">
            <a:off x="5035250" y="1932550"/>
            <a:ext cx="125175" cy="406253"/>
          </a:xfrm>
          <a:custGeom>
            <a:rect b="b" l="l" r="r" t="t"/>
            <a:pathLst>
              <a:path extrusionOk="0" h="13957" w="5007">
                <a:moveTo>
                  <a:pt x="3499" y="0"/>
                </a:moveTo>
                <a:cubicBezTo>
                  <a:pt x="1709" y="1789"/>
                  <a:pt x="-312" y="4294"/>
                  <a:pt x="104" y="6790"/>
                </a:cubicBezTo>
                <a:cubicBezTo>
                  <a:pt x="580" y="9645"/>
                  <a:pt x="3715" y="11367"/>
                  <a:pt x="5008" y="13957"/>
                </a:cubicBezTo>
              </a:path>
            </a:pathLst>
          </a:custGeom>
          <a:noFill/>
          <a:ln cap="flat" cmpd="sng" w="28575">
            <a:solidFill>
              <a:schemeClr val="dk1"/>
            </a:solidFill>
            <a:prstDash val="solid"/>
            <a:round/>
            <a:headEnd len="med" w="med" type="none"/>
            <a:tailEnd len="med" w="med" type="triangle"/>
          </a:ln>
        </p:spPr>
      </p:sp>
      <p:sp>
        <p:nvSpPr>
          <p:cNvPr id="1890" name="Google Shape;1890;p98"/>
          <p:cNvSpPr txBox="1"/>
          <p:nvPr>
            <p:ph idx="1" type="body"/>
          </p:nvPr>
        </p:nvSpPr>
        <p:spPr>
          <a:xfrm>
            <a:off x="1089800" y="1767075"/>
            <a:ext cx="1925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5"/>
                </a:solidFill>
              </a:rPr>
              <a:t>inverse</a:t>
            </a:r>
            <a:r>
              <a:rPr lang="en-GB" sz="1800">
                <a:solidFill>
                  <a:schemeClr val="accent5"/>
                </a:solidFill>
              </a:rPr>
              <a:t> tangent function</a:t>
            </a:r>
            <a:endParaRPr sz="1800">
              <a:solidFill>
                <a:schemeClr val="accent5"/>
              </a:solidFill>
            </a:endParaRPr>
          </a:p>
        </p:txBody>
      </p:sp>
      <p:sp>
        <p:nvSpPr>
          <p:cNvPr id="1891" name="Google Shape;1891;p98"/>
          <p:cNvSpPr txBox="1"/>
          <p:nvPr>
            <p:ph idx="1" type="body"/>
          </p:nvPr>
        </p:nvSpPr>
        <p:spPr>
          <a:xfrm>
            <a:off x="5345327" y="1767075"/>
            <a:ext cx="1860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5"/>
                </a:solidFill>
              </a:rPr>
              <a:t>inverse</a:t>
            </a:r>
            <a:r>
              <a:rPr lang="en-GB" sz="1800">
                <a:solidFill>
                  <a:schemeClr val="accent5"/>
                </a:solidFill>
              </a:rPr>
              <a:t> tangent function</a:t>
            </a:r>
            <a:endParaRPr sz="1800">
              <a:solidFill>
                <a:schemeClr val="accent5"/>
              </a:solidFill>
            </a:endParaRPr>
          </a:p>
        </p:txBody>
      </p:sp>
      <p:sp>
        <p:nvSpPr>
          <p:cNvPr id="1892" name="Google Shape;1892;p98"/>
          <p:cNvSpPr txBox="1"/>
          <p:nvPr>
            <p:ph idx="1" type="body"/>
          </p:nvPr>
        </p:nvSpPr>
        <p:spPr>
          <a:xfrm>
            <a:off x="3816370" y="2864792"/>
            <a:ext cx="18018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𝜃</a:t>
            </a:r>
            <a:r>
              <a:rPr lang="en-GB" sz="1800"/>
              <a:t>°</a:t>
            </a:r>
            <a:r>
              <a:rPr lang="en-GB" sz="2000">
                <a:latin typeface="Times New Roman"/>
                <a:ea typeface="Times New Roman"/>
                <a:cs typeface="Times New Roman"/>
                <a:sym typeface="Times New Roman"/>
              </a:rPr>
              <a:t> </a:t>
            </a:r>
            <a:r>
              <a:rPr lang="en-GB" sz="1800"/>
              <a:t>= </a:t>
            </a:r>
            <a:r>
              <a:rPr lang="en-GB" sz="2000">
                <a:latin typeface="Times New Roman"/>
                <a:ea typeface="Times New Roman"/>
                <a:cs typeface="Times New Roman"/>
                <a:sym typeface="Times New Roman"/>
              </a:rPr>
              <a:t>tan</a:t>
            </a:r>
            <a:r>
              <a:rPr baseline="30000" lang="en-GB" sz="1800"/>
              <a:t>-1</a:t>
            </a:r>
            <a:r>
              <a:rPr lang="en-GB" sz="1800"/>
              <a:t> (0.714)</a:t>
            </a:r>
            <a:endParaRPr sz="1800"/>
          </a:p>
          <a:p>
            <a:pPr indent="0" lvl="0" marL="0" rtl="0" algn="l">
              <a:spcBef>
                <a:spcPts val="1000"/>
              </a:spcBef>
              <a:spcAft>
                <a:spcPts val="1000"/>
              </a:spcAft>
              <a:buNone/>
            </a:pPr>
            <a:r>
              <a:t/>
            </a:r>
            <a:endParaRPr sz="1800"/>
          </a:p>
        </p:txBody>
      </p:sp>
      <p:sp>
        <p:nvSpPr>
          <p:cNvPr id="1893" name="Google Shape;1893;p98"/>
          <p:cNvSpPr txBox="1"/>
          <p:nvPr>
            <p:ph idx="1" type="body"/>
          </p:nvPr>
        </p:nvSpPr>
        <p:spPr>
          <a:xfrm>
            <a:off x="3816376" y="3293700"/>
            <a:ext cx="21129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𝜃</a:t>
            </a:r>
            <a:r>
              <a:rPr lang="en-GB" sz="1800"/>
              <a:t>°</a:t>
            </a:r>
            <a:r>
              <a:rPr lang="en-GB" sz="2000">
                <a:latin typeface="Times New Roman"/>
                <a:ea typeface="Times New Roman"/>
                <a:cs typeface="Times New Roman"/>
                <a:sym typeface="Times New Roman"/>
              </a:rPr>
              <a:t> </a:t>
            </a:r>
            <a:r>
              <a:rPr lang="en-GB" sz="1800"/>
              <a:t>= 35.52683659°</a:t>
            </a:r>
            <a:endParaRPr sz="1800"/>
          </a:p>
          <a:p>
            <a:pPr indent="0" lvl="0" marL="0" rtl="0" algn="l">
              <a:spcBef>
                <a:spcPts val="1000"/>
              </a:spcBef>
              <a:spcAft>
                <a:spcPts val="1000"/>
              </a:spcAft>
              <a:buNone/>
            </a:pPr>
            <a:r>
              <a:t/>
            </a:r>
            <a:endParaRPr sz="1800"/>
          </a:p>
        </p:txBody>
      </p:sp>
      <p:sp>
        <p:nvSpPr>
          <p:cNvPr id="1894" name="Google Shape;1894;p98"/>
          <p:cNvSpPr txBox="1"/>
          <p:nvPr>
            <p:ph idx="1" type="body"/>
          </p:nvPr>
        </p:nvSpPr>
        <p:spPr>
          <a:xfrm>
            <a:off x="3816376" y="3674700"/>
            <a:ext cx="2112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Times New Roman"/>
                <a:ea typeface="Times New Roman"/>
                <a:cs typeface="Times New Roman"/>
                <a:sym typeface="Times New Roman"/>
              </a:rPr>
              <a:t>𝜃</a:t>
            </a:r>
            <a:r>
              <a:rPr lang="en-GB" sz="1800"/>
              <a:t>°</a:t>
            </a:r>
            <a:r>
              <a:rPr lang="en-GB" sz="2000">
                <a:latin typeface="Times New Roman"/>
                <a:ea typeface="Times New Roman"/>
                <a:cs typeface="Times New Roman"/>
                <a:sym typeface="Times New Roman"/>
              </a:rPr>
              <a:t> </a:t>
            </a:r>
            <a:r>
              <a:rPr lang="en-GB" sz="1800"/>
              <a:t>= 35.5° (1 dp)</a:t>
            </a:r>
            <a:endParaRPr sz="1800"/>
          </a:p>
        </p:txBody>
      </p:sp>
      <p:cxnSp>
        <p:nvCxnSpPr>
          <p:cNvPr id="1895" name="Google Shape;1895;p98"/>
          <p:cNvCxnSpPr/>
          <p:nvPr/>
        </p:nvCxnSpPr>
        <p:spPr>
          <a:xfrm>
            <a:off x="1628875" y="2433125"/>
            <a:ext cx="377100" cy="716700"/>
          </a:xfrm>
          <a:prstGeom prst="straightConnector1">
            <a:avLst/>
          </a:prstGeom>
          <a:noFill/>
          <a:ln cap="flat" cmpd="sng" w="38100">
            <a:solidFill>
              <a:schemeClr val="dk1"/>
            </a:solidFill>
            <a:prstDash val="solid"/>
            <a:round/>
            <a:headEnd len="med" w="med" type="triangle"/>
            <a:tailEnd len="med" w="med" type="none"/>
          </a:ln>
        </p:spPr>
      </p:cxnSp>
      <p:sp>
        <p:nvSpPr>
          <p:cNvPr id="1896" name="Google Shape;1896;p98"/>
          <p:cNvSpPr txBox="1"/>
          <p:nvPr>
            <p:ph idx="1" type="body"/>
          </p:nvPr>
        </p:nvSpPr>
        <p:spPr>
          <a:xfrm>
            <a:off x="1009800" y="3182700"/>
            <a:ext cx="2410800" cy="271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Programmed on your scientific calculator</a:t>
            </a:r>
            <a:endParaRPr sz="1800"/>
          </a:p>
        </p:txBody>
      </p:sp>
      <p:pic>
        <p:nvPicPr>
          <p:cNvPr id="1897" name="Google Shape;1897;p98"/>
          <p:cNvPicPr preferRelativeResize="0"/>
          <p:nvPr/>
        </p:nvPicPr>
        <p:blipFill>
          <a:blip r:embed="rId3">
            <a:alphaModFix/>
          </a:blip>
          <a:stretch>
            <a:fillRect/>
          </a:stretch>
        </p:blipFill>
        <p:spPr>
          <a:xfrm>
            <a:off x="1455850" y="3898563"/>
            <a:ext cx="1847850" cy="695325"/>
          </a:xfrm>
          <a:prstGeom prst="rect">
            <a:avLst/>
          </a:prstGeom>
          <a:noFill/>
          <a:ln>
            <a:noFill/>
          </a:ln>
        </p:spPr>
      </p:pic>
      <p:sp>
        <p:nvSpPr>
          <p:cNvPr id="1898" name="Google Shape;1898;p98"/>
          <p:cNvSpPr txBox="1"/>
          <p:nvPr>
            <p:ph idx="1" type="body"/>
          </p:nvPr>
        </p:nvSpPr>
        <p:spPr>
          <a:xfrm>
            <a:off x="6179099" y="3293700"/>
            <a:ext cx="2560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a:t>
            </a:r>
            <a:r>
              <a:rPr lang="en-GB" sz="1800">
                <a:solidFill>
                  <a:schemeClr val="accent5"/>
                </a:solidFill>
              </a:rPr>
              <a:t> </a:t>
            </a:r>
            <a:r>
              <a:rPr lang="en-GB" sz="1800">
                <a:solidFill>
                  <a:schemeClr val="accent5"/>
                </a:solidFill>
              </a:rPr>
              <a:t>inverse tangent function </a:t>
            </a:r>
            <a:r>
              <a:rPr lang="en-GB" sz="1800"/>
              <a:t>is called</a:t>
            </a:r>
            <a:r>
              <a:rPr lang="en-GB" sz="1800">
                <a:solidFill>
                  <a:schemeClr val="accent5"/>
                </a:solidFill>
              </a:rPr>
              <a:t> arctangent.</a:t>
            </a:r>
            <a:endParaRPr sz="1800">
              <a:solidFill>
                <a:schemeClr val="accent5"/>
              </a:solidFill>
            </a:endParaRPr>
          </a:p>
        </p:txBody>
      </p:sp>
      <p:sp>
        <p:nvSpPr>
          <p:cNvPr id="1899" name="Google Shape;1899;p98"/>
          <p:cNvSpPr txBox="1"/>
          <p:nvPr>
            <p:ph idx="1" type="body"/>
          </p:nvPr>
        </p:nvSpPr>
        <p:spPr>
          <a:xfrm>
            <a:off x="5568970" y="2864792"/>
            <a:ext cx="18018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 </a:t>
            </a:r>
            <a:r>
              <a:rPr lang="en-GB" sz="2000">
                <a:latin typeface="Times New Roman"/>
                <a:ea typeface="Times New Roman"/>
                <a:cs typeface="Times New Roman"/>
                <a:sym typeface="Times New Roman"/>
              </a:rPr>
              <a:t>arc</a:t>
            </a:r>
            <a:r>
              <a:rPr lang="en-GB" sz="2000">
                <a:latin typeface="Times New Roman"/>
                <a:ea typeface="Times New Roman"/>
                <a:cs typeface="Times New Roman"/>
                <a:sym typeface="Times New Roman"/>
              </a:rPr>
              <a:t>tan</a:t>
            </a:r>
            <a:r>
              <a:rPr lang="en-GB" sz="1800"/>
              <a:t>(0.714)</a:t>
            </a:r>
            <a:endParaRPr sz="1800"/>
          </a:p>
          <a:p>
            <a:pPr indent="0" lvl="0" marL="0" rtl="0" algn="l">
              <a:spcBef>
                <a:spcPts val="1000"/>
              </a:spcBef>
              <a:spcAft>
                <a:spcPts val="1000"/>
              </a:spcAft>
              <a:buNone/>
            </a:pPr>
            <a:r>
              <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sp>
        <p:nvSpPr>
          <p:cNvPr id="1904" name="Google Shape;1904;p99"/>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angle</a:t>
            </a:r>
            <a:endParaRPr/>
          </a:p>
        </p:txBody>
      </p:sp>
      <p:sp>
        <p:nvSpPr>
          <p:cNvPr id="1905" name="Google Shape;1905;p99"/>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of the following are equivalent to </a:t>
            </a:r>
            <a:r>
              <a:rPr lang="en-GB" sz="2400">
                <a:latin typeface="Times New Roman"/>
                <a:ea typeface="Times New Roman"/>
                <a:cs typeface="Times New Roman"/>
                <a:sym typeface="Times New Roman"/>
              </a:rPr>
              <a:t>𝜃</a:t>
            </a:r>
            <a:r>
              <a:rPr lang="en-GB"/>
              <a:t>°</a:t>
            </a:r>
            <a:r>
              <a:rPr lang="en-GB" sz="2000">
                <a:latin typeface="Times New Roman"/>
                <a:ea typeface="Times New Roman"/>
                <a:cs typeface="Times New Roman"/>
                <a:sym typeface="Times New Roman"/>
              </a:rPr>
              <a:t> </a:t>
            </a:r>
            <a:r>
              <a:rPr lang="en-GB" sz="1800"/>
              <a:t>= </a:t>
            </a:r>
            <a:r>
              <a:rPr lang="en-GB" sz="2400">
                <a:latin typeface="Times New Roman"/>
                <a:ea typeface="Times New Roman"/>
                <a:cs typeface="Times New Roman"/>
                <a:sym typeface="Times New Roman"/>
              </a:rPr>
              <a:t>tan</a:t>
            </a:r>
            <a:r>
              <a:rPr baseline="30000" lang="en-GB" sz="2400"/>
              <a:t>-1</a:t>
            </a:r>
            <a:r>
              <a:rPr lang="en-GB" sz="1800"/>
              <a:t> </a:t>
            </a:r>
            <a:r>
              <a:rPr lang="en-GB"/>
              <a:t>(0.382)</a:t>
            </a:r>
            <a:r>
              <a:rPr lang="en-GB"/>
              <a:t> ?</a:t>
            </a:r>
            <a:endParaRPr/>
          </a:p>
        </p:txBody>
      </p:sp>
      <p:sp>
        <p:nvSpPr>
          <p:cNvPr id="1906" name="Google Shape;1906;p9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2400">
                <a:latin typeface="Times New Roman"/>
                <a:ea typeface="Times New Roman"/>
                <a:cs typeface="Times New Roman"/>
                <a:sym typeface="Times New Roman"/>
              </a:rPr>
              <a:t>𝜃</a:t>
            </a:r>
            <a:r>
              <a:rPr lang="en-GB"/>
              <a:t>°</a:t>
            </a:r>
            <a:r>
              <a:rPr lang="en-GB" sz="2000">
                <a:latin typeface="Times New Roman"/>
                <a:ea typeface="Times New Roman"/>
                <a:cs typeface="Times New Roman"/>
                <a:sym typeface="Times New Roman"/>
              </a:rPr>
              <a:t> </a:t>
            </a:r>
            <a:r>
              <a:rPr lang="en-GB"/>
              <a:t>= 20.9°</a:t>
            </a:r>
            <a:endParaRPr sz="2600"/>
          </a:p>
        </p:txBody>
      </p:sp>
      <p:sp>
        <p:nvSpPr>
          <p:cNvPr id="1907" name="Google Shape;1907;p9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400">
                <a:latin typeface="Times New Roman"/>
                <a:ea typeface="Times New Roman"/>
                <a:cs typeface="Times New Roman"/>
                <a:sym typeface="Times New Roman"/>
              </a:rPr>
              <a:t>𝜃</a:t>
            </a:r>
            <a:r>
              <a:rPr lang="en-GB"/>
              <a:t>°</a:t>
            </a:r>
            <a:r>
              <a:rPr lang="en-GB" sz="2000">
                <a:latin typeface="Times New Roman"/>
                <a:ea typeface="Times New Roman"/>
                <a:cs typeface="Times New Roman"/>
                <a:sym typeface="Times New Roman"/>
              </a:rPr>
              <a:t> </a:t>
            </a:r>
            <a:r>
              <a:rPr lang="en-GB"/>
              <a:t>= </a:t>
            </a:r>
            <a:r>
              <a:rPr lang="en-GB" sz="2400">
                <a:latin typeface="Times New Roman"/>
                <a:ea typeface="Times New Roman"/>
                <a:cs typeface="Times New Roman"/>
                <a:sym typeface="Times New Roman"/>
              </a:rPr>
              <a:t>arctan</a:t>
            </a:r>
            <a:r>
              <a:rPr lang="en-GB"/>
              <a:t>(0.382)</a:t>
            </a:r>
            <a:endParaRPr/>
          </a:p>
        </p:txBody>
      </p:sp>
      <p:sp>
        <p:nvSpPr>
          <p:cNvPr id="1908" name="Google Shape;1908;p9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400">
                <a:latin typeface="Times New Roman"/>
                <a:ea typeface="Times New Roman"/>
                <a:cs typeface="Times New Roman"/>
                <a:sym typeface="Times New Roman"/>
              </a:rPr>
              <a:t>tan(</a:t>
            </a:r>
            <a:r>
              <a:rPr lang="en-GB" sz="2400">
                <a:latin typeface="Times New Roman"/>
                <a:ea typeface="Times New Roman"/>
                <a:cs typeface="Times New Roman"/>
                <a:sym typeface="Times New Roman"/>
              </a:rPr>
              <a:t>𝜃</a:t>
            </a:r>
            <a:r>
              <a:rPr lang="en-GB"/>
              <a:t>°</a:t>
            </a:r>
            <a:r>
              <a:rPr lang="en-GB" sz="2400">
                <a:latin typeface="Times New Roman"/>
                <a:ea typeface="Times New Roman"/>
                <a:cs typeface="Times New Roman"/>
                <a:sym typeface="Times New Roman"/>
              </a:rPr>
              <a:t>)</a:t>
            </a:r>
            <a:r>
              <a:rPr lang="en-GB" sz="2000">
                <a:latin typeface="Times New Roman"/>
                <a:ea typeface="Times New Roman"/>
                <a:cs typeface="Times New Roman"/>
                <a:sym typeface="Times New Roman"/>
              </a:rPr>
              <a:t> </a:t>
            </a:r>
            <a:r>
              <a:rPr lang="en-GB"/>
              <a:t>= 0.382</a:t>
            </a:r>
            <a:endParaRPr/>
          </a:p>
        </p:txBody>
      </p:sp>
      <p:sp>
        <p:nvSpPr>
          <p:cNvPr id="1909" name="Google Shape;1909;p9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𝜃° = </a:t>
            </a:r>
            <a:r>
              <a:rPr lang="en-GB" sz="2400">
                <a:latin typeface="Times New Roman"/>
                <a:ea typeface="Times New Roman"/>
                <a:cs typeface="Times New Roman"/>
                <a:sym typeface="Times New Roman"/>
              </a:rPr>
              <a:t>tan</a:t>
            </a:r>
            <a:r>
              <a:rPr lang="en-GB"/>
              <a:t>(0.382)</a:t>
            </a:r>
            <a:endParaRPr/>
          </a:p>
        </p:txBody>
      </p:sp>
      <p:pic>
        <p:nvPicPr>
          <p:cNvPr id="1910" name="Google Shape;1910;p99"/>
          <p:cNvPicPr preferRelativeResize="0"/>
          <p:nvPr/>
        </p:nvPicPr>
        <p:blipFill>
          <a:blip r:embed="rId3">
            <a:alphaModFix/>
          </a:blip>
          <a:stretch>
            <a:fillRect/>
          </a:stretch>
        </p:blipFill>
        <p:spPr>
          <a:xfrm>
            <a:off x="2361533" y="1620000"/>
            <a:ext cx="396000" cy="419100"/>
          </a:xfrm>
          <a:prstGeom prst="rect">
            <a:avLst/>
          </a:prstGeom>
          <a:noFill/>
          <a:ln>
            <a:noFill/>
          </a:ln>
        </p:spPr>
      </p:pic>
      <p:pic>
        <p:nvPicPr>
          <p:cNvPr id="1911" name="Google Shape;1911;p99"/>
          <p:cNvPicPr preferRelativeResize="0"/>
          <p:nvPr/>
        </p:nvPicPr>
        <p:blipFill>
          <a:blip r:embed="rId3">
            <a:alphaModFix/>
          </a:blip>
          <a:stretch>
            <a:fillRect/>
          </a:stretch>
        </p:blipFill>
        <p:spPr>
          <a:xfrm>
            <a:off x="3369608" y="2450325"/>
            <a:ext cx="396000" cy="419100"/>
          </a:xfrm>
          <a:prstGeom prst="rect">
            <a:avLst/>
          </a:prstGeom>
          <a:noFill/>
          <a:ln>
            <a:noFill/>
          </a:ln>
        </p:spPr>
      </p:pic>
      <p:pic>
        <p:nvPicPr>
          <p:cNvPr id="1912" name="Google Shape;1912;p99"/>
          <p:cNvPicPr preferRelativeResize="0"/>
          <p:nvPr/>
        </p:nvPicPr>
        <p:blipFill>
          <a:blip r:embed="rId3">
            <a:alphaModFix/>
          </a:blip>
          <a:stretch>
            <a:fillRect/>
          </a:stretch>
        </p:blipFill>
        <p:spPr>
          <a:xfrm>
            <a:off x="3019508" y="3305488"/>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6" name="Shape 1916"/>
        <p:cNvGrpSpPr/>
        <p:nvPr/>
      </p:nvGrpSpPr>
      <p:grpSpPr>
        <a:xfrm>
          <a:off x="0" y="0"/>
          <a:ext cx="0" cy="0"/>
          <a:chOff x="0" y="0"/>
          <a:chExt cx="0" cy="0"/>
        </a:xfrm>
      </p:grpSpPr>
      <p:sp>
        <p:nvSpPr>
          <p:cNvPr id="1917" name="Google Shape;1917;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the angle</a:t>
            </a:r>
            <a:endParaRPr/>
          </a:p>
        </p:txBody>
      </p:sp>
      <p:sp>
        <p:nvSpPr>
          <p:cNvPr id="1918" name="Google Shape;1918;p100"/>
          <p:cNvSpPr txBox="1"/>
          <p:nvPr>
            <p:ph idx="1" type="body"/>
          </p:nvPr>
        </p:nvSpPr>
        <p:spPr>
          <a:xfrm>
            <a:off x="324000" y="759300"/>
            <a:ext cx="5450400" cy="80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Use the table of values to work out the missing angle in each triangle.</a:t>
            </a:r>
            <a:endParaRPr sz="1800"/>
          </a:p>
        </p:txBody>
      </p:sp>
      <p:graphicFrame>
        <p:nvGraphicFramePr>
          <p:cNvPr id="1919" name="Google Shape;1919;p100"/>
          <p:cNvGraphicFramePr/>
          <p:nvPr/>
        </p:nvGraphicFramePr>
        <p:xfrm>
          <a:off x="5962800" y="625761"/>
          <a:ext cx="3000000" cy="3000000"/>
        </p:xfrm>
        <a:graphic>
          <a:graphicData uri="http://schemas.openxmlformats.org/drawingml/2006/table">
            <a:tbl>
              <a:tblPr>
                <a:noFill/>
                <a:tableStyleId>{2BF94F13-6AE9-463D-A666-45AB6FBBDEB5}</a:tableStyleId>
              </a:tblPr>
              <a:tblGrid>
                <a:gridCol w="615550"/>
                <a:gridCol w="615550"/>
                <a:gridCol w="615550"/>
                <a:gridCol w="615550"/>
              </a:tblGrid>
              <a:tr h="201300">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angle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cosine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tangent</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pSp>
        <p:nvGrpSpPr>
          <p:cNvPr id="1920" name="Google Shape;1920;p100"/>
          <p:cNvGrpSpPr/>
          <p:nvPr/>
        </p:nvGrpSpPr>
        <p:grpSpPr>
          <a:xfrm>
            <a:off x="571958" y="1545067"/>
            <a:ext cx="1360090" cy="1067646"/>
            <a:chOff x="-2022025" y="1455875"/>
            <a:chExt cx="1057366" cy="1900401"/>
          </a:xfrm>
        </p:grpSpPr>
        <p:sp>
          <p:nvSpPr>
            <p:cNvPr id="1921" name="Google Shape;1921;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22" name="Google Shape;1922;p100"/>
            <p:cNvCxnSpPr/>
            <p:nvPr/>
          </p:nvCxnSpPr>
          <p:spPr>
            <a:xfrm rot="10800000">
              <a:off x="-2022025" y="3356276"/>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923" name="Google Shape;1923;p100"/>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24" name="Google Shape;1924;p100"/>
          <p:cNvSpPr/>
          <p:nvPr/>
        </p:nvSpPr>
        <p:spPr>
          <a:xfrm>
            <a:off x="1691119" y="2356533"/>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5" name="Google Shape;1925;p100"/>
          <p:cNvSpPr/>
          <p:nvPr/>
        </p:nvSpPr>
        <p:spPr>
          <a:xfrm>
            <a:off x="205275" y="2138518"/>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6" name="Google Shape;1926;p100"/>
          <p:cNvSpPr txBox="1"/>
          <p:nvPr>
            <p:ph idx="4294967295" type="body"/>
          </p:nvPr>
        </p:nvSpPr>
        <p:spPr>
          <a:xfrm>
            <a:off x="1979869" y="1879153"/>
            <a:ext cx="931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8.39</a:t>
            </a:r>
            <a:r>
              <a:rPr lang="en-GB" sz="1800"/>
              <a:t> cm</a:t>
            </a:r>
            <a:endParaRPr sz="1800"/>
          </a:p>
        </p:txBody>
      </p:sp>
      <p:sp>
        <p:nvSpPr>
          <p:cNvPr id="1927" name="Google Shape;1927;p100"/>
          <p:cNvSpPr txBox="1"/>
          <p:nvPr>
            <p:ph idx="4294967295" type="body"/>
          </p:nvPr>
        </p:nvSpPr>
        <p:spPr>
          <a:xfrm>
            <a:off x="781512" y="2664653"/>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cm</a:t>
            </a:r>
            <a:endParaRPr sz="1800"/>
          </a:p>
        </p:txBody>
      </p:sp>
      <p:sp>
        <p:nvSpPr>
          <p:cNvPr id="1928" name="Google Shape;1928;p100"/>
          <p:cNvSpPr txBox="1"/>
          <p:nvPr>
            <p:ph idx="4294967295" type="body"/>
          </p:nvPr>
        </p:nvSpPr>
        <p:spPr>
          <a:xfrm>
            <a:off x="964059" y="2191109"/>
            <a:ext cx="78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grpSp>
        <p:nvGrpSpPr>
          <p:cNvPr id="1929" name="Google Shape;1929;p100"/>
          <p:cNvGrpSpPr/>
          <p:nvPr/>
        </p:nvGrpSpPr>
        <p:grpSpPr>
          <a:xfrm>
            <a:off x="3503652" y="1442458"/>
            <a:ext cx="1247798" cy="1712778"/>
            <a:chOff x="-2022025" y="1455875"/>
            <a:chExt cx="1057366" cy="1768668"/>
          </a:xfrm>
        </p:grpSpPr>
        <p:sp>
          <p:nvSpPr>
            <p:cNvPr id="1930" name="Google Shape;1930;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31" name="Google Shape;1931;p100"/>
            <p:cNvCxnSpPr/>
            <p:nvPr/>
          </p:nvCxnSpPr>
          <p:spPr>
            <a:xfrm rot="10800000">
              <a:off x="-2022025" y="3224543"/>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932" name="Google Shape;1932;p100"/>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33" name="Google Shape;1933;p100"/>
          <p:cNvSpPr/>
          <p:nvPr/>
        </p:nvSpPr>
        <p:spPr>
          <a:xfrm>
            <a:off x="4426421" y="2849320"/>
            <a:ext cx="208800" cy="207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4" name="Google Shape;1934;p100"/>
          <p:cNvSpPr txBox="1"/>
          <p:nvPr>
            <p:ph idx="4294967295" type="body"/>
          </p:nvPr>
        </p:nvSpPr>
        <p:spPr>
          <a:xfrm>
            <a:off x="4824000" y="1999650"/>
            <a:ext cx="1003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21.65 cm</a:t>
            </a:r>
            <a:endParaRPr sz="1800"/>
          </a:p>
        </p:txBody>
      </p:sp>
      <p:sp>
        <p:nvSpPr>
          <p:cNvPr id="1935" name="Google Shape;1935;p100"/>
          <p:cNvSpPr txBox="1"/>
          <p:nvPr>
            <p:ph idx="4294967295" type="body"/>
          </p:nvPr>
        </p:nvSpPr>
        <p:spPr>
          <a:xfrm>
            <a:off x="3753312" y="3198053"/>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12.5 cm</a:t>
            </a:r>
            <a:endParaRPr sz="1800"/>
          </a:p>
        </p:txBody>
      </p:sp>
      <p:sp>
        <p:nvSpPr>
          <p:cNvPr id="1936" name="Google Shape;1936;p100"/>
          <p:cNvSpPr txBox="1"/>
          <p:nvPr>
            <p:ph idx="4294967295" type="body"/>
          </p:nvPr>
        </p:nvSpPr>
        <p:spPr>
          <a:xfrm>
            <a:off x="3829900" y="2708625"/>
            <a:ext cx="276600" cy="29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937" name="Google Shape;1937;p100"/>
          <p:cNvSpPr/>
          <p:nvPr/>
        </p:nvSpPr>
        <p:spPr>
          <a:xfrm>
            <a:off x="3191338" y="2750500"/>
            <a:ext cx="599400" cy="599400"/>
          </a:xfrm>
          <a:prstGeom prst="arc">
            <a:avLst>
              <a:gd fmla="val 18479915"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38" name="Google Shape;1938;p100"/>
          <p:cNvGrpSpPr/>
          <p:nvPr/>
        </p:nvGrpSpPr>
        <p:grpSpPr>
          <a:xfrm flipH="1" rot="-5400000">
            <a:off x="396902" y="3310841"/>
            <a:ext cx="1246423" cy="1303437"/>
            <a:chOff x="-2022025" y="1455875"/>
            <a:chExt cx="1057366" cy="1821715"/>
          </a:xfrm>
        </p:grpSpPr>
        <p:sp>
          <p:nvSpPr>
            <p:cNvPr id="1939" name="Google Shape;1939;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40" name="Google Shape;1940;p100"/>
            <p:cNvCxnSpPr/>
            <p:nvPr/>
          </p:nvCxnSpPr>
          <p:spPr>
            <a:xfrm rot="10800000">
              <a:off x="-2022025" y="3277590"/>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941" name="Google Shape;1941;p100"/>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42" name="Google Shape;1942;p100"/>
          <p:cNvSpPr/>
          <p:nvPr/>
        </p:nvSpPr>
        <p:spPr>
          <a:xfrm flipH="1" rot="-5400000">
            <a:off x="1352125" y="4262860"/>
            <a:ext cx="208800" cy="207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43" name="Google Shape;1943;p100"/>
          <p:cNvSpPr txBox="1"/>
          <p:nvPr>
            <p:ph idx="4294967295" type="body"/>
          </p:nvPr>
        </p:nvSpPr>
        <p:spPr>
          <a:xfrm flipH="1">
            <a:off x="1282861" y="3604058"/>
            <a:ext cx="276600" cy="291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944" name="Google Shape;1944;p100"/>
          <p:cNvSpPr/>
          <p:nvPr/>
        </p:nvSpPr>
        <p:spPr>
          <a:xfrm flipH="1" rot="-5400000">
            <a:off x="1264588" y="3026125"/>
            <a:ext cx="599400" cy="601200"/>
          </a:xfrm>
          <a:prstGeom prst="arc">
            <a:avLst>
              <a:gd fmla="val 1882379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45" name="Google Shape;1945;p100"/>
          <p:cNvGrpSpPr/>
          <p:nvPr/>
        </p:nvGrpSpPr>
        <p:grpSpPr>
          <a:xfrm flipH="1" rot="6706381">
            <a:off x="3927836" y="3338374"/>
            <a:ext cx="1069821" cy="2470418"/>
            <a:chOff x="-2022025" y="1455875"/>
            <a:chExt cx="1057366" cy="1750474"/>
          </a:xfrm>
        </p:grpSpPr>
        <p:sp>
          <p:nvSpPr>
            <p:cNvPr id="1946" name="Google Shape;1946;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47" name="Google Shape;1947;p100"/>
            <p:cNvCxnSpPr/>
            <p:nvPr/>
          </p:nvCxnSpPr>
          <p:spPr>
            <a:xfrm rot="10800000">
              <a:off x="-2022025" y="3206349"/>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948" name="Google Shape;1948;p100"/>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49" name="Google Shape;1949;p100"/>
          <p:cNvSpPr/>
          <p:nvPr/>
        </p:nvSpPr>
        <p:spPr>
          <a:xfrm flipH="1" rot="6710224">
            <a:off x="3545135" y="3780742"/>
            <a:ext cx="179047" cy="17999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50" name="Google Shape;1950;p100"/>
          <p:cNvSpPr txBox="1"/>
          <p:nvPr>
            <p:ph idx="4294967295" type="body"/>
          </p:nvPr>
        </p:nvSpPr>
        <p:spPr>
          <a:xfrm flipH="1">
            <a:off x="4953006" y="4357288"/>
            <a:ext cx="402900" cy="24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951" name="Google Shape;1951;p100"/>
          <p:cNvSpPr/>
          <p:nvPr/>
        </p:nvSpPr>
        <p:spPr>
          <a:xfrm flipH="1">
            <a:off x="5206360" y="4103806"/>
            <a:ext cx="1060800" cy="1064400"/>
          </a:xfrm>
          <a:prstGeom prst="arc">
            <a:avLst>
              <a:gd fmla="val 20101096"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52" name="Google Shape;1952;p100"/>
          <p:cNvSpPr txBox="1"/>
          <p:nvPr>
            <p:ph idx="4294967295" type="body"/>
          </p:nvPr>
        </p:nvSpPr>
        <p:spPr>
          <a:xfrm>
            <a:off x="1735950" y="3719450"/>
            <a:ext cx="653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 mm</a:t>
            </a:r>
            <a:endParaRPr sz="1800"/>
          </a:p>
        </p:txBody>
      </p:sp>
      <p:sp>
        <p:nvSpPr>
          <p:cNvPr id="1953" name="Google Shape;1953;p100"/>
          <p:cNvSpPr txBox="1"/>
          <p:nvPr>
            <p:ph idx="4294967295" type="body"/>
          </p:nvPr>
        </p:nvSpPr>
        <p:spPr>
          <a:xfrm>
            <a:off x="638025" y="4585725"/>
            <a:ext cx="706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 mm</a:t>
            </a:r>
            <a:endParaRPr sz="1800"/>
          </a:p>
        </p:txBody>
      </p:sp>
      <p:sp>
        <p:nvSpPr>
          <p:cNvPr id="1954" name="Google Shape;1954;p100"/>
          <p:cNvSpPr txBox="1"/>
          <p:nvPr>
            <p:ph idx="4294967295" type="body"/>
          </p:nvPr>
        </p:nvSpPr>
        <p:spPr>
          <a:xfrm>
            <a:off x="2508111" y="4001706"/>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7.28 </a:t>
            </a:r>
            <a:r>
              <a:rPr lang="en-GB" sz="1800"/>
              <a:t>m</a:t>
            </a:r>
            <a:endParaRPr sz="1800"/>
          </a:p>
        </p:txBody>
      </p:sp>
      <p:sp>
        <p:nvSpPr>
          <p:cNvPr id="1955" name="Google Shape;1955;p100"/>
          <p:cNvSpPr txBox="1"/>
          <p:nvPr>
            <p:ph idx="4294967295" type="body"/>
          </p:nvPr>
        </p:nvSpPr>
        <p:spPr>
          <a:xfrm>
            <a:off x="4699432" y="3802071"/>
            <a:ext cx="90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r>
              <a:rPr lang="en-GB" sz="1800"/>
              <a:t> m</a:t>
            </a:r>
            <a:endParaRPr sz="1800"/>
          </a:p>
        </p:txBody>
      </p:sp>
      <p:sp>
        <p:nvSpPr>
          <p:cNvPr id="1956" name="Google Shape;1956;p100"/>
          <p:cNvSpPr txBox="1"/>
          <p:nvPr>
            <p:ph idx="4294967295" type="body"/>
          </p:nvPr>
        </p:nvSpPr>
        <p:spPr>
          <a:xfrm>
            <a:off x="357683" y="1509467"/>
            <a:ext cx="303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957" name="Google Shape;1957;p100"/>
          <p:cNvSpPr txBox="1"/>
          <p:nvPr>
            <p:ph idx="4294967295" type="body"/>
          </p:nvPr>
        </p:nvSpPr>
        <p:spPr>
          <a:xfrm>
            <a:off x="2872283" y="1509467"/>
            <a:ext cx="303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a:t>
            </a:r>
            <a:endParaRPr sz="1800"/>
          </a:p>
        </p:txBody>
      </p:sp>
      <p:sp>
        <p:nvSpPr>
          <p:cNvPr id="1958" name="Google Shape;1958;p100"/>
          <p:cNvSpPr txBox="1"/>
          <p:nvPr>
            <p:ph idx="4294967295" type="body"/>
          </p:nvPr>
        </p:nvSpPr>
        <p:spPr>
          <a:xfrm>
            <a:off x="357683" y="3305717"/>
            <a:ext cx="303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a:t>
            </a:r>
            <a:endParaRPr sz="1800"/>
          </a:p>
        </p:txBody>
      </p:sp>
      <p:sp>
        <p:nvSpPr>
          <p:cNvPr id="1959" name="Google Shape;1959;p100"/>
          <p:cNvSpPr txBox="1"/>
          <p:nvPr>
            <p:ph idx="4294967295" type="body"/>
          </p:nvPr>
        </p:nvSpPr>
        <p:spPr>
          <a:xfrm>
            <a:off x="2829908" y="3305717"/>
            <a:ext cx="303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3" name="Shape 1963"/>
        <p:cNvGrpSpPr/>
        <p:nvPr/>
      </p:nvGrpSpPr>
      <p:grpSpPr>
        <a:xfrm>
          <a:off x="0" y="0"/>
          <a:ext cx="0" cy="0"/>
          <a:chOff x="0" y="0"/>
          <a:chExt cx="0" cy="0"/>
        </a:xfrm>
      </p:grpSpPr>
      <p:sp>
        <p:nvSpPr>
          <p:cNvPr id="1964" name="Google Shape;1964;p101"/>
          <p:cNvSpPr txBox="1"/>
          <p:nvPr>
            <p:ph idx="1" type="body"/>
          </p:nvPr>
        </p:nvSpPr>
        <p:spPr>
          <a:xfrm>
            <a:off x="324000" y="759300"/>
            <a:ext cx="8237700" cy="69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By drawing the appropriate lines on to the graph, estimate the angle in each triangle.</a:t>
            </a:r>
            <a:endParaRPr sz="1800"/>
          </a:p>
        </p:txBody>
      </p:sp>
      <p:sp>
        <p:nvSpPr>
          <p:cNvPr id="1965" name="Google Shape;1965;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the angle</a:t>
            </a:r>
            <a:endParaRPr/>
          </a:p>
        </p:txBody>
      </p:sp>
      <p:pic>
        <p:nvPicPr>
          <p:cNvPr id="1966" name="Google Shape;1966;p101"/>
          <p:cNvPicPr preferRelativeResize="0"/>
          <p:nvPr/>
        </p:nvPicPr>
        <p:blipFill>
          <a:blip r:embed="rId3">
            <a:alphaModFix/>
          </a:blip>
          <a:stretch>
            <a:fillRect/>
          </a:stretch>
        </p:blipFill>
        <p:spPr>
          <a:xfrm>
            <a:off x="463625" y="1458600"/>
            <a:ext cx="3448147" cy="3298601"/>
          </a:xfrm>
          <a:prstGeom prst="rect">
            <a:avLst/>
          </a:prstGeom>
          <a:noFill/>
          <a:ln>
            <a:noFill/>
          </a:ln>
        </p:spPr>
      </p:pic>
      <p:cxnSp>
        <p:nvCxnSpPr>
          <p:cNvPr id="1967" name="Google Shape;1967;p101"/>
          <p:cNvCxnSpPr/>
          <p:nvPr/>
        </p:nvCxnSpPr>
        <p:spPr>
          <a:xfrm>
            <a:off x="3693625" y="1463975"/>
            <a:ext cx="0" cy="3070800"/>
          </a:xfrm>
          <a:prstGeom prst="straightConnector1">
            <a:avLst/>
          </a:prstGeom>
          <a:noFill/>
          <a:ln cap="flat" cmpd="sng" w="19050">
            <a:solidFill>
              <a:schemeClr val="dk1"/>
            </a:solidFill>
            <a:prstDash val="solid"/>
            <a:round/>
            <a:headEnd len="med" w="med" type="none"/>
            <a:tailEnd len="med" w="med" type="none"/>
          </a:ln>
        </p:spPr>
      </p:cxnSp>
      <p:grpSp>
        <p:nvGrpSpPr>
          <p:cNvPr id="1968" name="Google Shape;1968;p101"/>
          <p:cNvGrpSpPr/>
          <p:nvPr/>
        </p:nvGrpSpPr>
        <p:grpSpPr>
          <a:xfrm>
            <a:off x="4671742" y="1426051"/>
            <a:ext cx="1870206" cy="1094967"/>
            <a:chOff x="-2098225" y="1379675"/>
            <a:chExt cx="1110573" cy="1949033"/>
          </a:xfrm>
        </p:grpSpPr>
        <p:sp>
          <p:nvSpPr>
            <p:cNvPr id="1969" name="Google Shape;1969;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70" name="Google Shape;1970;p101"/>
            <p:cNvCxnSpPr/>
            <p:nvPr/>
          </p:nvCxnSpPr>
          <p:spPr>
            <a:xfrm rot="10800000">
              <a:off x="-2022025" y="3328708"/>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971" name="Google Shape;1971;p101"/>
            <p:cNvCxnSpPr/>
            <p:nvPr/>
          </p:nvCxnSpPr>
          <p:spPr>
            <a:xfrm rot="10800000">
              <a:off x="-987652" y="1455875"/>
              <a:ext cx="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72" name="Google Shape;1972;p101"/>
            <p:cNvCxnSpPr/>
            <p:nvPr/>
          </p:nvCxnSpPr>
          <p:spPr>
            <a:xfrm flipH="1">
              <a:off x="-2098225" y="1379675"/>
              <a:ext cx="960900" cy="1668300"/>
            </a:xfrm>
            <a:prstGeom prst="straightConnector1">
              <a:avLst/>
            </a:prstGeom>
            <a:noFill/>
            <a:ln cap="flat" cmpd="sng" w="28575">
              <a:solidFill>
                <a:schemeClr val="lt1"/>
              </a:solidFill>
              <a:prstDash val="solid"/>
              <a:round/>
              <a:headEnd len="med" w="med" type="triangle"/>
              <a:tailEnd len="med" w="med" type="triangle"/>
            </a:ln>
          </p:spPr>
        </p:cxnSp>
      </p:grpSp>
      <p:sp>
        <p:nvSpPr>
          <p:cNvPr id="1973" name="Google Shape;1973;p101"/>
          <p:cNvSpPr/>
          <p:nvPr/>
        </p:nvSpPr>
        <p:spPr>
          <a:xfrm>
            <a:off x="6259905" y="224518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74" name="Google Shape;1974;p101"/>
          <p:cNvSpPr/>
          <p:nvPr/>
        </p:nvSpPr>
        <p:spPr>
          <a:xfrm>
            <a:off x="4396994" y="1983622"/>
            <a:ext cx="836400" cy="837300"/>
          </a:xfrm>
          <a:prstGeom prst="arc">
            <a:avLst>
              <a:gd fmla="val 1967821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75" name="Google Shape;1975;p101"/>
          <p:cNvSpPr txBox="1"/>
          <p:nvPr>
            <p:ph idx="4294967295" type="body"/>
          </p:nvPr>
        </p:nvSpPr>
        <p:spPr>
          <a:xfrm>
            <a:off x="6643301" y="1802948"/>
            <a:ext cx="1219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cm</a:t>
            </a:r>
            <a:endParaRPr sz="1800"/>
          </a:p>
        </p:txBody>
      </p:sp>
      <p:sp>
        <p:nvSpPr>
          <p:cNvPr id="1976" name="Google Shape;1976;p101"/>
          <p:cNvSpPr txBox="1"/>
          <p:nvPr>
            <p:ph idx="4294967295" type="body"/>
          </p:nvPr>
        </p:nvSpPr>
        <p:spPr>
          <a:xfrm>
            <a:off x="5303061" y="2588450"/>
            <a:ext cx="113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cm</a:t>
            </a:r>
            <a:endParaRPr sz="1800"/>
          </a:p>
        </p:txBody>
      </p:sp>
      <p:sp>
        <p:nvSpPr>
          <p:cNvPr id="1977" name="Google Shape;1977;p101"/>
          <p:cNvSpPr txBox="1"/>
          <p:nvPr>
            <p:ph idx="4294967295" type="body"/>
          </p:nvPr>
        </p:nvSpPr>
        <p:spPr>
          <a:xfrm>
            <a:off x="5313446" y="2114900"/>
            <a:ext cx="307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978" name="Google Shape;1978;p101"/>
          <p:cNvSpPr txBox="1"/>
          <p:nvPr>
            <p:ph idx="4294967295" type="body"/>
          </p:nvPr>
        </p:nvSpPr>
        <p:spPr>
          <a:xfrm>
            <a:off x="4519601" y="14332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grpSp>
        <p:nvGrpSpPr>
          <p:cNvPr id="1979" name="Google Shape;1979;p101"/>
          <p:cNvGrpSpPr/>
          <p:nvPr/>
        </p:nvGrpSpPr>
        <p:grpSpPr>
          <a:xfrm>
            <a:off x="4800071" y="3161636"/>
            <a:ext cx="1743124" cy="1397751"/>
            <a:chOff x="-2022025" y="1455875"/>
            <a:chExt cx="1035109" cy="1802155"/>
          </a:xfrm>
        </p:grpSpPr>
        <p:sp>
          <p:nvSpPr>
            <p:cNvPr id="1980" name="Google Shape;1980;p101"/>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81" name="Google Shape;1981;p101"/>
            <p:cNvCxnSpPr/>
            <p:nvPr/>
          </p:nvCxnSpPr>
          <p:spPr>
            <a:xfrm rot="10800000">
              <a:off x="-2022025" y="3258030"/>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982" name="Google Shape;1982;p101"/>
            <p:cNvCxnSpPr/>
            <p:nvPr/>
          </p:nvCxnSpPr>
          <p:spPr>
            <a:xfrm rot="10800000">
              <a:off x="-986916"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83" name="Google Shape;1983;p101"/>
          <p:cNvSpPr/>
          <p:nvPr/>
        </p:nvSpPr>
        <p:spPr>
          <a:xfrm>
            <a:off x="6259905" y="429659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84" name="Google Shape;1984;p101"/>
          <p:cNvSpPr/>
          <p:nvPr/>
        </p:nvSpPr>
        <p:spPr>
          <a:xfrm>
            <a:off x="6075139" y="2792376"/>
            <a:ext cx="698400" cy="699300"/>
          </a:xfrm>
          <a:prstGeom prst="arc">
            <a:avLst>
              <a:gd fmla="val 5399257" name="adj1"/>
              <a:gd fmla="val 841447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85" name="Google Shape;1985;p101"/>
          <p:cNvSpPr txBox="1"/>
          <p:nvPr>
            <p:ph idx="4294967295" type="body"/>
          </p:nvPr>
        </p:nvSpPr>
        <p:spPr>
          <a:xfrm>
            <a:off x="6643301" y="3707948"/>
            <a:ext cx="1219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80 mm</a:t>
            </a:r>
            <a:endParaRPr sz="1800"/>
          </a:p>
        </p:txBody>
      </p:sp>
      <p:sp>
        <p:nvSpPr>
          <p:cNvPr id="1986" name="Google Shape;1986;p101"/>
          <p:cNvSpPr txBox="1"/>
          <p:nvPr>
            <p:ph idx="4294967295" type="body"/>
          </p:nvPr>
        </p:nvSpPr>
        <p:spPr>
          <a:xfrm>
            <a:off x="5303061" y="4569650"/>
            <a:ext cx="113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81.6</a:t>
            </a:r>
            <a:r>
              <a:rPr lang="en-GB" sz="1800"/>
              <a:t> mm</a:t>
            </a:r>
            <a:endParaRPr sz="1800"/>
          </a:p>
        </p:txBody>
      </p:sp>
      <p:sp>
        <p:nvSpPr>
          <p:cNvPr id="1987" name="Google Shape;1987;p101"/>
          <p:cNvSpPr txBox="1"/>
          <p:nvPr>
            <p:ph idx="4294967295" type="body"/>
          </p:nvPr>
        </p:nvSpPr>
        <p:spPr>
          <a:xfrm>
            <a:off x="6075446" y="3486500"/>
            <a:ext cx="307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1988" name="Google Shape;1988;p101"/>
          <p:cNvSpPr txBox="1"/>
          <p:nvPr>
            <p:ph idx="4294967295" type="body"/>
          </p:nvPr>
        </p:nvSpPr>
        <p:spPr>
          <a:xfrm>
            <a:off x="4519601" y="31096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2" name="Shape 1992"/>
        <p:cNvGrpSpPr/>
        <p:nvPr/>
      </p:nvGrpSpPr>
      <p:grpSpPr>
        <a:xfrm>
          <a:off x="0" y="0"/>
          <a:ext cx="0" cy="0"/>
          <a:chOff x="0" y="0"/>
          <a:chExt cx="0" cy="0"/>
        </a:xfrm>
      </p:grpSpPr>
      <p:sp>
        <p:nvSpPr>
          <p:cNvPr id="1993" name="Google Shape;1993;p102"/>
          <p:cNvSpPr txBox="1"/>
          <p:nvPr>
            <p:ph idx="1" type="body"/>
          </p:nvPr>
        </p:nvSpPr>
        <p:spPr>
          <a:xfrm>
            <a:off x="324000" y="759300"/>
            <a:ext cx="8237700" cy="69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Use your calculator to work out the missing angle in each triangle, giving your answer to 1 decimal place.</a:t>
            </a:r>
            <a:endParaRPr sz="1800"/>
          </a:p>
        </p:txBody>
      </p:sp>
      <p:sp>
        <p:nvSpPr>
          <p:cNvPr id="1994" name="Google Shape;1994;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the angle</a:t>
            </a:r>
            <a:endParaRPr/>
          </a:p>
        </p:txBody>
      </p:sp>
      <p:grpSp>
        <p:nvGrpSpPr>
          <p:cNvPr id="1995" name="Google Shape;1995;p102"/>
          <p:cNvGrpSpPr/>
          <p:nvPr/>
        </p:nvGrpSpPr>
        <p:grpSpPr>
          <a:xfrm>
            <a:off x="685263" y="1468860"/>
            <a:ext cx="1741885" cy="1052158"/>
            <a:chOff x="-2022025" y="1455875"/>
            <a:chExt cx="1034373" cy="1872833"/>
          </a:xfrm>
        </p:grpSpPr>
        <p:sp>
          <p:nvSpPr>
            <p:cNvPr id="1996" name="Google Shape;1996;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97" name="Google Shape;1997;p102"/>
            <p:cNvCxnSpPr/>
            <p:nvPr/>
          </p:nvCxnSpPr>
          <p:spPr>
            <a:xfrm rot="10800000">
              <a:off x="-2022025" y="3328708"/>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1998" name="Google Shape;1998;p102"/>
            <p:cNvCxnSpPr/>
            <p:nvPr/>
          </p:nvCxnSpPr>
          <p:spPr>
            <a:xfrm rot="10800000">
              <a:off x="-987652"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1999" name="Google Shape;1999;p102"/>
          <p:cNvSpPr/>
          <p:nvPr/>
        </p:nvSpPr>
        <p:spPr>
          <a:xfrm>
            <a:off x="2145105" y="224518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0" name="Google Shape;2000;p102"/>
          <p:cNvSpPr/>
          <p:nvPr/>
        </p:nvSpPr>
        <p:spPr>
          <a:xfrm>
            <a:off x="282194" y="1983622"/>
            <a:ext cx="836400" cy="837300"/>
          </a:xfrm>
          <a:prstGeom prst="arc">
            <a:avLst>
              <a:gd fmla="val 1967821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01" name="Google Shape;2001;p102"/>
          <p:cNvSpPr txBox="1"/>
          <p:nvPr>
            <p:ph idx="4294967295" type="body"/>
          </p:nvPr>
        </p:nvSpPr>
        <p:spPr>
          <a:xfrm>
            <a:off x="2528501" y="1802948"/>
            <a:ext cx="1219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cm</a:t>
            </a:r>
            <a:endParaRPr sz="1800"/>
          </a:p>
        </p:txBody>
      </p:sp>
      <p:sp>
        <p:nvSpPr>
          <p:cNvPr id="2002" name="Google Shape;2002;p102"/>
          <p:cNvSpPr txBox="1"/>
          <p:nvPr>
            <p:ph idx="4294967295" type="body"/>
          </p:nvPr>
        </p:nvSpPr>
        <p:spPr>
          <a:xfrm>
            <a:off x="1188261" y="2588450"/>
            <a:ext cx="113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cm</a:t>
            </a:r>
            <a:endParaRPr sz="1800"/>
          </a:p>
        </p:txBody>
      </p:sp>
      <p:sp>
        <p:nvSpPr>
          <p:cNvPr id="2003" name="Google Shape;2003;p102"/>
          <p:cNvSpPr txBox="1"/>
          <p:nvPr>
            <p:ph idx="4294967295" type="body"/>
          </p:nvPr>
        </p:nvSpPr>
        <p:spPr>
          <a:xfrm>
            <a:off x="1198646" y="2114900"/>
            <a:ext cx="307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2004" name="Google Shape;2004;p102"/>
          <p:cNvSpPr txBox="1"/>
          <p:nvPr>
            <p:ph idx="4294967295" type="body"/>
          </p:nvPr>
        </p:nvSpPr>
        <p:spPr>
          <a:xfrm>
            <a:off x="404801" y="14332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grpSp>
        <p:nvGrpSpPr>
          <p:cNvPr id="2005" name="Google Shape;2005;p102"/>
          <p:cNvGrpSpPr/>
          <p:nvPr/>
        </p:nvGrpSpPr>
        <p:grpSpPr>
          <a:xfrm>
            <a:off x="685271" y="3161636"/>
            <a:ext cx="1743124" cy="1397751"/>
            <a:chOff x="-2022025" y="1455875"/>
            <a:chExt cx="1035109" cy="1802155"/>
          </a:xfrm>
        </p:grpSpPr>
        <p:sp>
          <p:nvSpPr>
            <p:cNvPr id="2006" name="Google Shape;2006;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07" name="Google Shape;2007;p102"/>
            <p:cNvCxnSpPr/>
            <p:nvPr/>
          </p:nvCxnSpPr>
          <p:spPr>
            <a:xfrm rot="10800000">
              <a:off x="-2022025" y="3258030"/>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08" name="Google Shape;2008;p102"/>
            <p:cNvCxnSpPr/>
            <p:nvPr/>
          </p:nvCxnSpPr>
          <p:spPr>
            <a:xfrm rot="10800000">
              <a:off x="-986916"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09" name="Google Shape;2009;p102"/>
          <p:cNvSpPr/>
          <p:nvPr/>
        </p:nvSpPr>
        <p:spPr>
          <a:xfrm>
            <a:off x="2145105" y="429659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0" name="Google Shape;2010;p102"/>
          <p:cNvSpPr/>
          <p:nvPr/>
        </p:nvSpPr>
        <p:spPr>
          <a:xfrm>
            <a:off x="1960339" y="2792376"/>
            <a:ext cx="698400" cy="699300"/>
          </a:xfrm>
          <a:prstGeom prst="arc">
            <a:avLst>
              <a:gd fmla="val 5399257" name="adj1"/>
              <a:gd fmla="val 841447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1" name="Google Shape;2011;p102"/>
          <p:cNvSpPr txBox="1"/>
          <p:nvPr>
            <p:ph idx="4294967295" type="body"/>
          </p:nvPr>
        </p:nvSpPr>
        <p:spPr>
          <a:xfrm>
            <a:off x="2528501" y="3707948"/>
            <a:ext cx="1219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80 mm</a:t>
            </a:r>
            <a:endParaRPr sz="1800"/>
          </a:p>
        </p:txBody>
      </p:sp>
      <p:sp>
        <p:nvSpPr>
          <p:cNvPr id="2012" name="Google Shape;2012;p102"/>
          <p:cNvSpPr txBox="1"/>
          <p:nvPr>
            <p:ph idx="4294967295" type="body"/>
          </p:nvPr>
        </p:nvSpPr>
        <p:spPr>
          <a:xfrm>
            <a:off x="1188261" y="4569650"/>
            <a:ext cx="113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81.6 mm</a:t>
            </a:r>
            <a:endParaRPr sz="1800"/>
          </a:p>
        </p:txBody>
      </p:sp>
      <p:sp>
        <p:nvSpPr>
          <p:cNvPr id="2013" name="Google Shape;2013;p102"/>
          <p:cNvSpPr txBox="1"/>
          <p:nvPr>
            <p:ph idx="4294967295" type="body"/>
          </p:nvPr>
        </p:nvSpPr>
        <p:spPr>
          <a:xfrm>
            <a:off x="1960646" y="3486500"/>
            <a:ext cx="307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2014" name="Google Shape;2014;p102"/>
          <p:cNvSpPr txBox="1"/>
          <p:nvPr>
            <p:ph idx="4294967295" type="body"/>
          </p:nvPr>
        </p:nvSpPr>
        <p:spPr>
          <a:xfrm>
            <a:off x="404801" y="31096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a:t>
            </a:r>
            <a:endParaRPr sz="1800"/>
          </a:p>
        </p:txBody>
      </p:sp>
      <p:grpSp>
        <p:nvGrpSpPr>
          <p:cNvPr id="2015" name="Google Shape;2015;p102"/>
          <p:cNvGrpSpPr/>
          <p:nvPr/>
        </p:nvGrpSpPr>
        <p:grpSpPr>
          <a:xfrm flipH="1">
            <a:off x="4727189" y="1390092"/>
            <a:ext cx="2646448" cy="1057681"/>
            <a:chOff x="-2022025" y="1455875"/>
            <a:chExt cx="1006139" cy="1836889"/>
          </a:xfrm>
        </p:grpSpPr>
        <p:sp>
          <p:nvSpPr>
            <p:cNvPr id="2016" name="Google Shape;2016;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17" name="Google Shape;2017;p102"/>
            <p:cNvCxnSpPr/>
            <p:nvPr/>
          </p:nvCxnSpPr>
          <p:spPr>
            <a:xfrm rot="10800000">
              <a:off x="-2022025" y="3292764"/>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18" name="Google Shape;2018;p102"/>
            <p:cNvCxnSpPr/>
            <p:nvPr/>
          </p:nvCxnSpPr>
          <p:spPr>
            <a:xfrm rot="10800000">
              <a:off x="-1015886"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19" name="Google Shape;2019;p102"/>
          <p:cNvSpPr/>
          <p:nvPr/>
        </p:nvSpPr>
        <p:spPr>
          <a:xfrm flipH="1">
            <a:off x="4844467" y="219354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20" name="Google Shape;2020;p102"/>
          <p:cNvSpPr/>
          <p:nvPr/>
        </p:nvSpPr>
        <p:spPr>
          <a:xfrm flipH="1">
            <a:off x="4482127" y="1008575"/>
            <a:ext cx="736200" cy="736200"/>
          </a:xfrm>
          <a:prstGeom prst="arc">
            <a:avLst>
              <a:gd fmla="val 5399257" name="adj1"/>
              <a:gd fmla="val 934344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21" name="Google Shape;2021;p102"/>
          <p:cNvSpPr txBox="1"/>
          <p:nvPr>
            <p:ph idx="4294967295" type="body"/>
          </p:nvPr>
        </p:nvSpPr>
        <p:spPr>
          <a:xfrm flipH="1">
            <a:off x="4075422" y="1767547"/>
            <a:ext cx="7863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 </a:t>
            </a:r>
            <a:r>
              <a:rPr lang="en-GB" sz="1800"/>
              <a:t>m</a:t>
            </a:r>
            <a:endParaRPr sz="1800"/>
          </a:p>
        </p:txBody>
      </p:sp>
      <p:sp>
        <p:nvSpPr>
          <p:cNvPr id="2022" name="Google Shape;2022;p102"/>
          <p:cNvSpPr txBox="1"/>
          <p:nvPr>
            <p:ph idx="4294967295" type="body"/>
          </p:nvPr>
        </p:nvSpPr>
        <p:spPr>
          <a:xfrm flipH="1">
            <a:off x="5777713" y="2470279"/>
            <a:ext cx="9996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8.9</a:t>
            </a:r>
            <a:r>
              <a:rPr lang="en-GB" sz="1800"/>
              <a:t> m</a:t>
            </a:r>
            <a:endParaRPr sz="1800"/>
          </a:p>
        </p:txBody>
      </p:sp>
      <p:sp>
        <p:nvSpPr>
          <p:cNvPr id="2023" name="Google Shape;2023;p102"/>
          <p:cNvSpPr txBox="1"/>
          <p:nvPr>
            <p:ph idx="4294967295" type="body"/>
          </p:nvPr>
        </p:nvSpPr>
        <p:spPr>
          <a:xfrm flipH="1">
            <a:off x="5036978" y="1643805"/>
            <a:ext cx="4800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2024" name="Google Shape;2024;p102"/>
          <p:cNvSpPr txBox="1"/>
          <p:nvPr>
            <p:ph idx="4294967295" type="body"/>
          </p:nvPr>
        </p:nvSpPr>
        <p:spPr>
          <a:xfrm>
            <a:off x="3677626" y="14332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grpSp>
        <p:nvGrpSpPr>
          <p:cNvPr id="2025" name="Google Shape;2025;p102"/>
          <p:cNvGrpSpPr/>
          <p:nvPr/>
        </p:nvGrpSpPr>
        <p:grpSpPr>
          <a:xfrm flipH="1" rot="9437116">
            <a:off x="4650674" y="3675492"/>
            <a:ext cx="3070973" cy="1365944"/>
            <a:chOff x="-2022025" y="1455875"/>
            <a:chExt cx="1006139" cy="1836889"/>
          </a:xfrm>
        </p:grpSpPr>
        <p:sp>
          <p:nvSpPr>
            <p:cNvPr id="2026" name="Google Shape;2026;p102"/>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27" name="Google Shape;2027;p102"/>
            <p:cNvCxnSpPr/>
            <p:nvPr/>
          </p:nvCxnSpPr>
          <p:spPr>
            <a:xfrm rot="10800000">
              <a:off x="-2022025" y="3292764"/>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28" name="Google Shape;2028;p102"/>
            <p:cNvCxnSpPr/>
            <p:nvPr/>
          </p:nvCxnSpPr>
          <p:spPr>
            <a:xfrm rot="10800000">
              <a:off x="-1015886"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29" name="Google Shape;2029;p102"/>
          <p:cNvSpPr/>
          <p:nvPr/>
        </p:nvSpPr>
        <p:spPr>
          <a:xfrm flipH="1" rot="9426164">
            <a:off x="7135899" y="3332951"/>
            <a:ext cx="157294" cy="15824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0" name="Google Shape;2030;p102"/>
          <p:cNvSpPr/>
          <p:nvPr/>
        </p:nvSpPr>
        <p:spPr>
          <a:xfrm flipH="1" rot="-4629416">
            <a:off x="4783379" y="4091025"/>
            <a:ext cx="569549" cy="569549"/>
          </a:xfrm>
          <a:prstGeom prst="arc">
            <a:avLst>
              <a:gd fmla="val 5399257" name="adj1"/>
              <a:gd fmla="val 934344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1" name="Google Shape;2031;p102"/>
          <p:cNvSpPr txBox="1"/>
          <p:nvPr>
            <p:ph idx="4294967295" type="body"/>
          </p:nvPr>
        </p:nvSpPr>
        <p:spPr>
          <a:xfrm flipH="1">
            <a:off x="7683797" y="3527897"/>
            <a:ext cx="7863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59 cm</a:t>
            </a:r>
            <a:endParaRPr sz="1800"/>
          </a:p>
        </p:txBody>
      </p:sp>
      <p:sp>
        <p:nvSpPr>
          <p:cNvPr id="2032" name="Google Shape;2032;p102"/>
          <p:cNvSpPr txBox="1"/>
          <p:nvPr>
            <p:ph idx="4294967295" type="body"/>
          </p:nvPr>
        </p:nvSpPr>
        <p:spPr>
          <a:xfrm flipH="1">
            <a:off x="5266188" y="3339229"/>
            <a:ext cx="9996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121 cm</a:t>
            </a:r>
            <a:endParaRPr sz="1800"/>
          </a:p>
        </p:txBody>
      </p:sp>
      <p:sp>
        <p:nvSpPr>
          <p:cNvPr id="2033" name="Google Shape;2033;p102"/>
          <p:cNvSpPr txBox="1"/>
          <p:nvPr>
            <p:ph idx="4294967295" type="body"/>
          </p:nvPr>
        </p:nvSpPr>
        <p:spPr>
          <a:xfrm flipH="1">
            <a:off x="5409103" y="4132105"/>
            <a:ext cx="4800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𝜃°</a:t>
            </a:r>
            <a:endParaRPr sz="1800"/>
          </a:p>
        </p:txBody>
      </p:sp>
      <p:sp>
        <p:nvSpPr>
          <p:cNvPr id="2034" name="Google Shape;2034;p102"/>
          <p:cNvSpPr txBox="1"/>
          <p:nvPr>
            <p:ph idx="4294967295" type="body"/>
          </p:nvPr>
        </p:nvSpPr>
        <p:spPr>
          <a:xfrm>
            <a:off x="3648401" y="31096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a:t>
            </a:r>
            <a:endParaRPr sz="18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8" name="Shape 2038"/>
        <p:cNvGrpSpPr/>
        <p:nvPr/>
      </p:nvGrpSpPr>
      <p:grpSpPr>
        <a:xfrm>
          <a:off x="0" y="0"/>
          <a:ext cx="0" cy="0"/>
          <a:chOff x="0" y="0"/>
          <a:chExt cx="0" cy="0"/>
        </a:xfrm>
      </p:grpSpPr>
      <p:sp>
        <p:nvSpPr>
          <p:cNvPr id="2039" name="Google Shape;2039;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the angle</a:t>
            </a:r>
            <a:endParaRPr/>
          </a:p>
        </p:txBody>
      </p:sp>
      <p:sp>
        <p:nvSpPr>
          <p:cNvPr id="2040" name="Google Shape;2040;p103"/>
          <p:cNvSpPr txBox="1"/>
          <p:nvPr>
            <p:ph idx="1" type="body"/>
          </p:nvPr>
        </p:nvSpPr>
        <p:spPr>
          <a:xfrm>
            <a:off x="324000" y="759300"/>
            <a:ext cx="5450400" cy="599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Use the table of values to work out the missing angle in each triangle.</a:t>
            </a:r>
            <a:endParaRPr sz="1800"/>
          </a:p>
        </p:txBody>
      </p:sp>
      <p:graphicFrame>
        <p:nvGraphicFramePr>
          <p:cNvPr id="2041" name="Google Shape;2041;p103"/>
          <p:cNvGraphicFramePr/>
          <p:nvPr/>
        </p:nvGraphicFramePr>
        <p:xfrm>
          <a:off x="5962800" y="625761"/>
          <a:ext cx="3000000" cy="3000000"/>
        </p:xfrm>
        <a:graphic>
          <a:graphicData uri="http://schemas.openxmlformats.org/drawingml/2006/table">
            <a:tbl>
              <a:tblPr>
                <a:noFill/>
                <a:tableStyleId>{2BF94F13-6AE9-463D-A666-45AB6FBBDEB5}</a:tableStyleId>
              </a:tblPr>
              <a:tblGrid>
                <a:gridCol w="615550"/>
                <a:gridCol w="615550"/>
                <a:gridCol w="615550"/>
                <a:gridCol w="615550"/>
              </a:tblGrid>
              <a:tr h="201300">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angle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cosine</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c>
                  <a:txBody>
                    <a:bodyPr/>
                    <a:lstStyle/>
                    <a:p>
                      <a:pPr indent="0" lvl="0" marL="0" rtl="0" algn="ctr">
                        <a:lnSpc>
                          <a:spcPct val="115000"/>
                        </a:lnSpc>
                        <a:spcBef>
                          <a:spcPts val="0"/>
                        </a:spcBef>
                        <a:spcAft>
                          <a:spcPts val="0"/>
                        </a:spcAft>
                        <a:buNone/>
                      </a:pPr>
                      <a:r>
                        <a:rPr lang="en-GB" sz="1200">
                          <a:solidFill>
                            <a:schemeClr val="dk1"/>
                          </a:solidFill>
                          <a:latin typeface="Lexend"/>
                          <a:ea typeface="Lexend"/>
                          <a:cs typeface="Lexend"/>
                          <a:sym typeface="Lexend"/>
                        </a:rPr>
                        <a:t>tangent</a:t>
                      </a:r>
                      <a:endParaRPr sz="1200">
                        <a:solidFill>
                          <a:schemeClr val="dk1"/>
                        </a:solidFill>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6F2F2"/>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0.268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0.364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0.839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0.707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0.766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0.643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1.192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0.819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1.428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0.866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65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0.906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0.423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2.145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0.342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2.747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75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0.966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0.259</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3.732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0.174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5.671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85</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0.996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0.087</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11.43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01300">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90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grpSp>
        <p:nvGrpSpPr>
          <p:cNvPr id="2042" name="Google Shape;2042;p103"/>
          <p:cNvGrpSpPr/>
          <p:nvPr/>
        </p:nvGrpSpPr>
        <p:grpSpPr>
          <a:xfrm>
            <a:off x="571958" y="1545067"/>
            <a:ext cx="1360090" cy="1067646"/>
            <a:chOff x="-2022025" y="1455875"/>
            <a:chExt cx="1057366" cy="1900401"/>
          </a:xfrm>
        </p:grpSpPr>
        <p:sp>
          <p:nvSpPr>
            <p:cNvPr id="2043" name="Google Shape;2043;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44" name="Google Shape;2044;p103"/>
            <p:cNvCxnSpPr/>
            <p:nvPr/>
          </p:nvCxnSpPr>
          <p:spPr>
            <a:xfrm rot="10800000">
              <a:off x="-2022025" y="3356276"/>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45" name="Google Shape;2045;p103"/>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46" name="Google Shape;2046;p103"/>
          <p:cNvSpPr/>
          <p:nvPr/>
        </p:nvSpPr>
        <p:spPr>
          <a:xfrm>
            <a:off x="1691119" y="2356533"/>
            <a:ext cx="120300" cy="120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47" name="Google Shape;2047;p103"/>
          <p:cNvSpPr/>
          <p:nvPr/>
        </p:nvSpPr>
        <p:spPr>
          <a:xfrm>
            <a:off x="205275" y="2138518"/>
            <a:ext cx="706200" cy="706200"/>
          </a:xfrm>
          <a:prstGeom prst="arc">
            <a:avLst>
              <a:gd fmla="val 19350541"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48" name="Google Shape;2048;p103"/>
          <p:cNvSpPr txBox="1"/>
          <p:nvPr>
            <p:ph idx="4294967295" type="body"/>
          </p:nvPr>
        </p:nvSpPr>
        <p:spPr>
          <a:xfrm>
            <a:off x="1979869" y="1879153"/>
            <a:ext cx="931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8.39 cm</a:t>
            </a:r>
            <a:endParaRPr sz="1800"/>
          </a:p>
        </p:txBody>
      </p:sp>
      <p:sp>
        <p:nvSpPr>
          <p:cNvPr id="2049" name="Google Shape;2049;p103"/>
          <p:cNvSpPr txBox="1"/>
          <p:nvPr>
            <p:ph idx="4294967295" type="body"/>
          </p:nvPr>
        </p:nvSpPr>
        <p:spPr>
          <a:xfrm>
            <a:off x="781512" y="2664653"/>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cm</a:t>
            </a:r>
            <a:endParaRPr sz="1800"/>
          </a:p>
        </p:txBody>
      </p:sp>
      <p:sp>
        <p:nvSpPr>
          <p:cNvPr id="2050" name="Google Shape;2050;p103"/>
          <p:cNvSpPr txBox="1"/>
          <p:nvPr>
            <p:ph idx="4294967295" type="body"/>
          </p:nvPr>
        </p:nvSpPr>
        <p:spPr>
          <a:xfrm>
            <a:off x="966512" y="2179808"/>
            <a:ext cx="402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40</a:t>
            </a:r>
            <a:r>
              <a:rPr lang="en-GB" sz="1800">
                <a:latin typeface="Kalam"/>
                <a:ea typeface="Kalam"/>
                <a:cs typeface="Kalam"/>
                <a:sym typeface="Kalam"/>
              </a:rPr>
              <a:t>°</a:t>
            </a:r>
            <a:endParaRPr sz="1800">
              <a:latin typeface="Kalam"/>
              <a:ea typeface="Kalam"/>
              <a:cs typeface="Kalam"/>
              <a:sym typeface="Kalam"/>
            </a:endParaRPr>
          </a:p>
        </p:txBody>
      </p:sp>
      <p:sp>
        <p:nvSpPr>
          <p:cNvPr id="2051" name="Google Shape;2051;p103"/>
          <p:cNvSpPr/>
          <p:nvPr/>
        </p:nvSpPr>
        <p:spPr>
          <a:xfrm>
            <a:off x="4426421" y="2849320"/>
            <a:ext cx="208800" cy="207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52" name="Google Shape;2052;p103"/>
          <p:cNvSpPr txBox="1"/>
          <p:nvPr>
            <p:ph idx="4294967295" type="body"/>
          </p:nvPr>
        </p:nvSpPr>
        <p:spPr>
          <a:xfrm>
            <a:off x="4824000" y="1999650"/>
            <a:ext cx="1003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21.65 cm</a:t>
            </a:r>
            <a:endParaRPr sz="1800"/>
          </a:p>
        </p:txBody>
      </p:sp>
      <p:sp>
        <p:nvSpPr>
          <p:cNvPr id="2053" name="Google Shape;2053;p103"/>
          <p:cNvSpPr txBox="1"/>
          <p:nvPr>
            <p:ph idx="4294967295" type="body"/>
          </p:nvPr>
        </p:nvSpPr>
        <p:spPr>
          <a:xfrm>
            <a:off x="3753312" y="3198053"/>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12.5 cm</a:t>
            </a:r>
            <a:endParaRPr sz="1800"/>
          </a:p>
        </p:txBody>
      </p:sp>
      <p:sp>
        <p:nvSpPr>
          <p:cNvPr id="2054" name="Google Shape;2054;p103"/>
          <p:cNvSpPr/>
          <p:nvPr/>
        </p:nvSpPr>
        <p:spPr>
          <a:xfrm>
            <a:off x="3191338" y="2750500"/>
            <a:ext cx="599400" cy="599400"/>
          </a:xfrm>
          <a:prstGeom prst="arc">
            <a:avLst>
              <a:gd fmla="val 18479915"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55" name="Google Shape;2055;p103"/>
          <p:cNvGrpSpPr/>
          <p:nvPr/>
        </p:nvGrpSpPr>
        <p:grpSpPr>
          <a:xfrm flipH="1" rot="-5400000">
            <a:off x="396902" y="3310841"/>
            <a:ext cx="1246423" cy="1303437"/>
            <a:chOff x="-2022025" y="1455875"/>
            <a:chExt cx="1057366" cy="1821715"/>
          </a:xfrm>
        </p:grpSpPr>
        <p:sp>
          <p:nvSpPr>
            <p:cNvPr id="2056" name="Google Shape;2056;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57" name="Google Shape;2057;p103"/>
            <p:cNvCxnSpPr/>
            <p:nvPr/>
          </p:nvCxnSpPr>
          <p:spPr>
            <a:xfrm rot="10800000">
              <a:off x="-2022025" y="3277590"/>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58" name="Google Shape;2058;p103"/>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59" name="Google Shape;2059;p103"/>
          <p:cNvSpPr/>
          <p:nvPr/>
        </p:nvSpPr>
        <p:spPr>
          <a:xfrm flipH="1" rot="-5400000">
            <a:off x="1352125" y="4262860"/>
            <a:ext cx="208800" cy="207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0" name="Google Shape;2060;p103"/>
          <p:cNvSpPr/>
          <p:nvPr/>
        </p:nvSpPr>
        <p:spPr>
          <a:xfrm flipH="1" rot="-5400000">
            <a:off x="1264588" y="3026125"/>
            <a:ext cx="599400" cy="601200"/>
          </a:xfrm>
          <a:prstGeom prst="arc">
            <a:avLst>
              <a:gd fmla="val 1882379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61" name="Google Shape;2061;p103"/>
          <p:cNvGrpSpPr/>
          <p:nvPr/>
        </p:nvGrpSpPr>
        <p:grpSpPr>
          <a:xfrm flipH="1" rot="6706381">
            <a:off x="3927836" y="3338374"/>
            <a:ext cx="1069821" cy="2470418"/>
            <a:chOff x="-2022025" y="1455875"/>
            <a:chExt cx="1057366" cy="1750474"/>
          </a:xfrm>
        </p:grpSpPr>
        <p:sp>
          <p:nvSpPr>
            <p:cNvPr id="2062" name="Google Shape;2062;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63" name="Google Shape;2063;p103"/>
            <p:cNvCxnSpPr/>
            <p:nvPr/>
          </p:nvCxnSpPr>
          <p:spPr>
            <a:xfrm rot="10800000">
              <a:off x="-2022025" y="3206349"/>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64" name="Google Shape;2064;p103"/>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65" name="Google Shape;2065;p103"/>
          <p:cNvSpPr/>
          <p:nvPr/>
        </p:nvSpPr>
        <p:spPr>
          <a:xfrm flipH="1" rot="6710224">
            <a:off x="3545135" y="3780742"/>
            <a:ext cx="179047" cy="17999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6" name="Google Shape;2066;p103"/>
          <p:cNvSpPr/>
          <p:nvPr/>
        </p:nvSpPr>
        <p:spPr>
          <a:xfrm flipH="1">
            <a:off x="5206360" y="4103806"/>
            <a:ext cx="1060800" cy="1064400"/>
          </a:xfrm>
          <a:prstGeom prst="arc">
            <a:avLst>
              <a:gd fmla="val 20101096"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7" name="Google Shape;2067;p103"/>
          <p:cNvSpPr txBox="1"/>
          <p:nvPr>
            <p:ph idx="4294967295" type="body"/>
          </p:nvPr>
        </p:nvSpPr>
        <p:spPr>
          <a:xfrm>
            <a:off x="1735950" y="3719450"/>
            <a:ext cx="653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 mm</a:t>
            </a:r>
            <a:endParaRPr sz="1800"/>
          </a:p>
        </p:txBody>
      </p:sp>
      <p:sp>
        <p:nvSpPr>
          <p:cNvPr id="2068" name="Google Shape;2068;p103"/>
          <p:cNvSpPr txBox="1"/>
          <p:nvPr>
            <p:ph idx="4294967295" type="body"/>
          </p:nvPr>
        </p:nvSpPr>
        <p:spPr>
          <a:xfrm>
            <a:off x="638025" y="4585725"/>
            <a:ext cx="706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 mm</a:t>
            </a:r>
            <a:endParaRPr sz="1800"/>
          </a:p>
        </p:txBody>
      </p:sp>
      <p:sp>
        <p:nvSpPr>
          <p:cNvPr id="2069" name="Google Shape;2069;p103"/>
          <p:cNvSpPr txBox="1"/>
          <p:nvPr>
            <p:ph idx="4294967295" type="body"/>
          </p:nvPr>
        </p:nvSpPr>
        <p:spPr>
          <a:xfrm>
            <a:off x="2508111" y="4001706"/>
            <a:ext cx="864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7.28 m</a:t>
            </a:r>
            <a:endParaRPr sz="1800"/>
          </a:p>
        </p:txBody>
      </p:sp>
      <p:sp>
        <p:nvSpPr>
          <p:cNvPr id="2070" name="Google Shape;2070;p103"/>
          <p:cNvSpPr txBox="1"/>
          <p:nvPr>
            <p:ph idx="4294967295" type="body"/>
          </p:nvPr>
        </p:nvSpPr>
        <p:spPr>
          <a:xfrm>
            <a:off x="357683" y="1509467"/>
            <a:ext cx="303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2071" name="Google Shape;2071;p103"/>
          <p:cNvSpPr txBox="1"/>
          <p:nvPr>
            <p:ph idx="4294967295" type="body"/>
          </p:nvPr>
        </p:nvSpPr>
        <p:spPr>
          <a:xfrm>
            <a:off x="2872283" y="1509467"/>
            <a:ext cx="303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sp>
        <p:nvSpPr>
          <p:cNvPr id="2072" name="Google Shape;2072;p103"/>
          <p:cNvSpPr txBox="1"/>
          <p:nvPr>
            <p:ph idx="4294967295" type="body"/>
          </p:nvPr>
        </p:nvSpPr>
        <p:spPr>
          <a:xfrm>
            <a:off x="357683" y="3305717"/>
            <a:ext cx="303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endParaRPr sz="1800"/>
          </a:p>
        </p:txBody>
      </p:sp>
      <p:sp>
        <p:nvSpPr>
          <p:cNvPr id="2073" name="Google Shape;2073;p103"/>
          <p:cNvSpPr txBox="1"/>
          <p:nvPr>
            <p:ph idx="4294967295" type="body"/>
          </p:nvPr>
        </p:nvSpPr>
        <p:spPr>
          <a:xfrm>
            <a:off x="2829908" y="3305717"/>
            <a:ext cx="303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endParaRPr sz="1800"/>
          </a:p>
        </p:txBody>
      </p:sp>
      <p:sp>
        <p:nvSpPr>
          <p:cNvPr id="2074" name="Google Shape;2074;p103"/>
          <p:cNvSpPr txBox="1"/>
          <p:nvPr>
            <p:ph idx="4294967295" type="body"/>
          </p:nvPr>
        </p:nvSpPr>
        <p:spPr>
          <a:xfrm>
            <a:off x="3790762" y="2664658"/>
            <a:ext cx="402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a:t>
            </a:r>
            <a:r>
              <a:rPr lang="en-GB" sz="2000">
                <a:latin typeface="Kalam"/>
                <a:ea typeface="Kalam"/>
                <a:cs typeface="Kalam"/>
                <a:sym typeface="Kalam"/>
              </a:rPr>
              <a:t>0</a:t>
            </a:r>
            <a:r>
              <a:rPr lang="en-GB" sz="1800">
                <a:latin typeface="Kalam"/>
                <a:ea typeface="Kalam"/>
                <a:cs typeface="Kalam"/>
                <a:sym typeface="Kalam"/>
              </a:rPr>
              <a:t>°</a:t>
            </a:r>
            <a:endParaRPr sz="1800">
              <a:latin typeface="Kalam"/>
              <a:ea typeface="Kalam"/>
              <a:cs typeface="Kalam"/>
              <a:sym typeface="Kalam"/>
            </a:endParaRPr>
          </a:p>
        </p:txBody>
      </p:sp>
      <p:sp>
        <p:nvSpPr>
          <p:cNvPr id="2075" name="Google Shape;2075;p103"/>
          <p:cNvSpPr txBox="1"/>
          <p:nvPr>
            <p:ph idx="4294967295" type="body"/>
          </p:nvPr>
        </p:nvSpPr>
        <p:spPr>
          <a:xfrm>
            <a:off x="1167012" y="3625196"/>
            <a:ext cx="402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45</a:t>
            </a:r>
            <a:r>
              <a:rPr lang="en-GB" sz="1800">
                <a:latin typeface="Kalam"/>
                <a:ea typeface="Kalam"/>
                <a:cs typeface="Kalam"/>
                <a:sym typeface="Kalam"/>
              </a:rPr>
              <a:t>°</a:t>
            </a:r>
            <a:endParaRPr sz="1800">
              <a:latin typeface="Kalam"/>
              <a:ea typeface="Kalam"/>
              <a:cs typeface="Kalam"/>
              <a:sym typeface="Kalam"/>
            </a:endParaRPr>
          </a:p>
        </p:txBody>
      </p:sp>
      <p:sp>
        <p:nvSpPr>
          <p:cNvPr id="2076" name="Google Shape;2076;p103"/>
          <p:cNvSpPr txBox="1"/>
          <p:nvPr>
            <p:ph idx="4294967295" type="body"/>
          </p:nvPr>
        </p:nvSpPr>
        <p:spPr>
          <a:xfrm>
            <a:off x="4769579" y="4334279"/>
            <a:ext cx="402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20</a:t>
            </a:r>
            <a:r>
              <a:rPr lang="en-GB" sz="1800">
                <a:latin typeface="Kalam"/>
                <a:ea typeface="Kalam"/>
                <a:cs typeface="Kalam"/>
                <a:sym typeface="Kalam"/>
              </a:rPr>
              <a:t>°</a:t>
            </a:r>
            <a:endParaRPr sz="1800">
              <a:latin typeface="Kalam"/>
              <a:ea typeface="Kalam"/>
              <a:cs typeface="Kalam"/>
              <a:sym typeface="Kalam"/>
            </a:endParaRPr>
          </a:p>
        </p:txBody>
      </p:sp>
      <p:grpSp>
        <p:nvGrpSpPr>
          <p:cNvPr id="2077" name="Google Shape;2077;p103"/>
          <p:cNvGrpSpPr/>
          <p:nvPr/>
        </p:nvGrpSpPr>
        <p:grpSpPr>
          <a:xfrm>
            <a:off x="3503652" y="1442458"/>
            <a:ext cx="1247798" cy="1712778"/>
            <a:chOff x="-2022025" y="1455875"/>
            <a:chExt cx="1057366" cy="1768668"/>
          </a:xfrm>
        </p:grpSpPr>
        <p:sp>
          <p:nvSpPr>
            <p:cNvPr id="2078" name="Google Shape;2078;p10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79" name="Google Shape;2079;p103"/>
            <p:cNvCxnSpPr/>
            <p:nvPr/>
          </p:nvCxnSpPr>
          <p:spPr>
            <a:xfrm rot="10800000">
              <a:off x="-2022025" y="3224543"/>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80" name="Google Shape;2080;p103"/>
            <p:cNvCxnSpPr/>
            <p:nvPr/>
          </p:nvCxnSpPr>
          <p:spPr>
            <a:xfrm rot="10800000">
              <a:off x="-964659"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81" name="Google Shape;2081;p103"/>
          <p:cNvSpPr txBox="1"/>
          <p:nvPr>
            <p:ph idx="4294967295" type="body"/>
          </p:nvPr>
        </p:nvSpPr>
        <p:spPr>
          <a:xfrm>
            <a:off x="4699432" y="3802071"/>
            <a:ext cx="90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 m</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5" name="Shape 2085"/>
        <p:cNvGrpSpPr/>
        <p:nvPr/>
      </p:nvGrpSpPr>
      <p:grpSpPr>
        <a:xfrm>
          <a:off x="0" y="0"/>
          <a:ext cx="0" cy="0"/>
          <a:chOff x="0" y="0"/>
          <a:chExt cx="0" cy="0"/>
        </a:xfrm>
      </p:grpSpPr>
      <p:sp>
        <p:nvSpPr>
          <p:cNvPr id="2086" name="Google Shape;2086;p104"/>
          <p:cNvSpPr txBox="1"/>
          <p:nvPr>
            <p:ph idx="1" type="body"/>
          </p:nvPr>
        </p:nvSpPr>
        <p:spPr>
          <a:xfrm>
            <a:off x="324000" y="759300"/>
            <a:ext cx="8237700" cy="59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By drawing the appropriate lines on to the graph, estimate the angle in each triangle.</a:t>
            </a:r>
            <a:endParaRPr sz="1800"/>
          </a:p>
        </p:txBody>
      </p:sp>
      <p:sp>
        <p:nvSpPr>
          <p:cNvPr id="2087" name="Google Shape;2087;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the angle</a:t>
            </a:r>
            <a:endParaRPr/>
          </a:p>
        </p:txBody>
      </p:sp>
      <p:pic>
        <p:nvPicPr>
          <p:cNvPr id="2088" name="Google Shape;2088;p104"/>
          <p:cNvPicPr preferRelativeResize="0"/>
          <p:nvPr/>
        </p:nvPicPr>
        <p:blipFill>
          <a:blip r:embed="rId3">
            <a:alphaModFix/>
          </a:blip>
          <a:stretch>
            <a:fillRect/>
          </a:stretch>
        </p:blipFill>
        <p:spPr>
          <a:xfrm>
            <a:off x="463625" y="1458600"/>
            <a:ext cx="3448147" cy="3298601"/>
          </a:xfrm>
          <a:prstGeom prst="rect">
            <a:avLst/>
          </a:prstGeom>
          <a:noFill/>
          <a:ln>
            <a:noFill/>
          </a:ln>
        </p:spPr>
      </p:pic>
      <p:cxnSp>
        <p:nvCxnSpPr>
          <p:cNvPr id="2089" name="Google Shape;2089;p104"/>
          <p:cNvCxnSpPr/>
          <p:nvPr/>
        </p:nvCxnSpPr>
        <p:spPr>
          <a:xfrm>
            <a:off x="3693625" y="1463975"/>
            <a:ext cx="0" cy="3070800"/>
          </a:xfrm>
          <a:prstGeom prst="straightConnector1">
            <a:avLst/>
          </a:prstGeom>
          <a:noFill/>
          <a:ln cap="flat" cmpd="sng" w="19050">
            <a:solidFill>
              <a:schemeClr val="dk1"/>
            </a:solidFill>
            <a:prstDash val="solid"/>
            <a:round/>
            <a:headEnd len="med" w="med" type="none"/>
            <a:tailEnd len="med" w="med" type="none"/>
          </a:ln>
        </p:spPr>
      </p:cxnSp>
      <p:grpSp>
        <p:nvGrpSpPr>
          <p:cNvPr id="2090" name="Google Shape;2090;p104"/>
          <p:cNvGrpSpPr/>
          <p:nvPr/>
        </p:nvGrpSpPr>
        <p:grpSpPr>
          <a:xfrm>
            <a:off x="4800063" y="1468860"/>
            <a:ext cx="1741885" cy="1052158"/>
            <a:chOff x="-2022025" y="1455875"/>
            <a:chExt cx="1034373" cy="1872833"/>
          </a:xfrm>
        </p:grpSpPr>
        <p:sp>
          <p:nvSpPr>
            <p:cNvPr id="2091" name="Google Shape;2091;p10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92" name="Google Shape;2092;p104"/>
            <p:cNvCxnSpPr/>
            <p:nvPr/>
          </p:nvCxnSpPr>
          <p:spPr>
            <a:xfrm rot="10800000">
              <a:off x="-2022025" y="3328708"/>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093" name="Google Shape;2093;p104"/>
            <p:cNvCxnSpPr/>
            <p:nvPr/>
          </p:nvCxnSpPr>
          <p:spPr>
            <a:xfrm rot="10800000">
              <a:off x="-987652"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94" name="Google Shape;2094;p104"/>
          <p:cNvSpPr/>
          <p:nvPr/>
        </p:nvSpPr>
        <p:spPr>
          <a:xfrm>
            <a:off x="6259905" y="224518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5" name="Google Shape;2095;p104"/>
          <p:cNvSpPr/>
          <p:nvPr/>
        </p:nvSpPr>
        <p:spPr>
          <a:xfrm>
            <a:off x="4396994" y="1983622"/>
            <a:ext cx="836400" cy="837300"/>
          </a:xfrm>
          <a:prstGeom prst="arc">
            <a:avLst>
              <a:gd fmla="val 1967821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6" name="Google Shape;2096;p104"/>
          <p:cNvSpPr txBox="1"/>
          <p:nvPr>
            <p:ph idx="4294967295" type="body"/>
          </p:nvPr>
        </p:nvSpPr>
        <p:spPr>
          <a:xfrm>
            <a:off x="6604582" y="1802948"/>
            <a:ext cx="1219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cm</a:t>
            </a:r>
            <a:endParaRPr sz="1800"/>
          </a:p>
        </p:txBody>
      </p:sp>
      <p:sp>
        <p:nvSpPr>
          <p:cNvPr id="2097" name="Google Shape;2097;p104"/>
          <p:cNvSpPr txBox="1"/>
          <p:nvPr>
            <p:ph idx="4294967295" type="body"/>
          </p:nvPr>
        </p:nvSpPr>
        <p:spPr>
          <a:xfrm>
            <a:off x="5303061" y="2541987"/>
            <a:ext cx="113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cm</a:t>
            </a:r>
            <a:endParaRPr sz="1800"/>
          </a:p>
        </p:txBody>
      </p:sp>
      <p:sp>
        <p:nvSpPr>
          <p:cNvPr id="2098" name="Google Shape;2098;p104"/>
          <p:cNvSpPr txBox="1"/>
          <p:nvPr>
            <p:ph idx="4294967295" type="body"/>
          </p:nvPr>
        </p:nvSpPr>
        <p:spPr>
          <a:xfrm>
            <a:off x="5274730" y="2099412"/>
            <a:ext cx="62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38.7</a:t>
            </a:r>
            <a:r>
              <a:rPr lang="en-GB" sz="2000">
                <a:latin typeface="Kalam"/>
                <a:ea typeface="Kalam"/>
                <a:cs typeface="Kalam"/>
                <a:sym typeface="Kalam"/>
              </a:rPr>
              <a:t>°</a:t>
            </a:r>
            <a:endParaRPr sz="2000">
              <a:latin typeface="Kalam"/>
              <a:ea typeface="Kalam"/>
              <a:cs typeface="Kalam"/>
              <a:sym typeface="Kalam"/>
            </a:endParaRPr>
          </a:p>
        </p:txBody>
      </p:sp>
      <p:sp>
        <p:nvSpPr>
          <p:cNvPr id="2099" name="Google Shape;2099;p104"/>
          <p:cNvSpPr txBox="1"/>
          <p:nvPr>
            <p:ph idx="4294967295" type="body"/>
          </p:nvPr>
        </p:nvSpPr>
        <p:spPr>
          <a:xfrm>
            <a:off x="4519601" y="14332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grpSp>
        <p:nvGrpSpPr>
          <p:cNvPr id="2100" name="Google Shape;2100;p104"/>
          <p:cNvGrpSpPr/>
          <p:nvPr/>
        </p:nvGrpSpPr>
        <p:grpSpPr>
          <a:xfrm>
            <a:off x="4800071" y="3161636"/>
            <a:ext cx="1743124" cy="1397751"/>
            <a:chOff x="-2022025" y="1455875"/>
            <a:chExt cx="1035109" cy="1802155"/>
          </a:xfrm>
        </p:grpSpPr>
        <p:sp>
          <p:nvSpPr>
            <p:cNvPr id="2101" name="Google Shape;2101;p10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02" name="Google Shape;2102;p104"/>
            <p:cNvCxnSpPr/>
            <p:nvPr/>
          </p:nvCxnSpPr>
          <p:spPr>
            <a:xfrm rot="10800000">
              <a:off x="-2022025" y="3258030"/>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103" name="Google Shape;2103;p104"/>
            <p:cNvCxnSpPr/>
            <p:nvPr/>
          </p:nvCxnSpPr>
          <p:spPr>
            <a:xfrm rot="10800000">
              <a:off x="-986916"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04" name="Google Shape;2104;p104"/>
          <p:cNvSpPr/>
          <p:nvPr/>
        </p:nvSpPr>
        <p:spPr>
          <a:xfrm>
            <a:off x="6259905" y="429659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5" name="Google Shape;2105;p104"/>
          <p:cNvSpPr/>
          <p:nvPr/>
        </p:nvSpPr>
        <p:spPr>
          <a:xfrm>
            <a:off x="6075139" y="2792376"/>
            <a:ext cx="698400" cy="699300"/>
          </a:xfrm>
          <a:prstGeom prst="arc">
            <a:avLst>
              <a:gd fmla="val 5399257" name="adj1"/>
              <a:gd fmla="val 841447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06" name="Google Shape;2106;p104"/>
          <p:cNvSpPr txBox="1"/>
          <p:nvPr>
            <p:ph idx="4294967295" type="body"/>
          </p:nvPr>
        </p:nvSpPr>
        <p:spPr>
          <a:xfrm>
            <a:off x="6589094" y="3692461"/>
            <a:ext cx="1219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80 mm</a:t>
            </a:r>
            <a:endParaRPr sz="1800"/>
          </a:p>
        </p:txBody>
      </p:sp>
      <p:sp>
        <p:nvSpPr>
          <p:cNvPr id="2107" name="Google Shape;2107;p104"/>
          <p:cNvSpPr txBox="1"/>
          <p:nvPr>
            <p:ph idx="4294967295" type="body"/>
          </p:nvPr>
        </p:nvSpPr>
        <p:spPr>
          <a:xfrm>
            <a:off x="5250093" y="4554163"/>
            <a:ext cx="113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81.</a:t>
            </a:r>
            <a:r>
              <a:rPr lang="en-GB" sz="1800"/>
              <a:t>6 mm</a:t>
            </a:r>
            <a:endParaRPr sz="1800"/>
          </a:p>
        </p:txBody>
      </p:sp>
      <p:sp>
        <p:nvSpPr>
          <p:cNvPr id="2108" name="Google Shape;2108;p104"/>
          <p:cNvSpPr txBox="1"/>
          <p:nvPr>
            <p:ph idx="4294967295" type="body"/>
          </p:nvPr>
        </p:nvSpPr>
        <p:spPr>
          <a:xfrm>
            <a:off x="4519601" y="31096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sp>
        <p:nvSpPr>
          <p:cNvPr id="2109" name="Google Shape;2109;p104"/>
          <p:cNvSpPr txBox="1"/>
          <p:nvPr>
            <p:ph idx="4294967295" type="body"/>
          </p:nvPr>
        </p:nvSpPr>
        <p:spPr>
          <a:xfrm>
            <a:off x="5817113" y="3561461"/>
            <a:ext cx="625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45.6</a:t>
            </a:r>
            <a:r>
              <a:rPr lang="en-GB" sz="2000">
                <a:latin typeface="Kalam"/>
                <a:ea typeface="Kalam"/>
                <a:cs typeface="Kalam"/>
                <a:sym typeface="Kalam"/>
              </a:rPr>
              <a:t>°</a:t>
            </a:r>
            <a:endParaRPr sz="2000">
              <a:latin typeface="Kalam"/>
              <a:ea typeface="Kalam"/>
              <a:cs typeface="Kalam"/>
              <a:sym typeface="Kalam"/>
            </a:endParaRPr>
          </a:p>
        </p:txBody>
      </p:sp>
      <p:cxnSp>
        <p:nvCxnSpPr>
          <p:cNvPr id="2110" name="Google Shape;2110;p104"/>
          <p:cNvCxnSpPr/>
          <p:nvPr/>
        </p:nvCxnSpPr>
        <p:spPr>
          <a:xfrm>
            <a:off x="789000" y="2214670"/>
            <a:ext cx="2908500" cy="0"/>
          </a:xfrm>
          <a:prstGeom prst="straightConnector1">
            <a:avLst/>
          </a:prstGeom>
          <a:noFill/>
          <a:ln cap="flat" cmpd="sng" w="28575">
            <a:solidFill>
              <a:schemeClr val="accent3"/>
            </a:solidFill>
            <a:prstDash val="dash"/>
            <a:round/>
            <a:headEnd len="med" w="med" type="none"/>
            <a:tailEnd len="med" w="med" type="none"/>
          </a:ln>
        </p:spPr>
      </p:cxnSp>
      <p:cxnSp>
        <p:nvCxnSpPr>
          <p:cNvPr id="2111" name="Google Shape;2111;p104"/>
          <p:cNvCxnSpPr/>
          <p:nvPr/>
        </p:nvCxnSpPr>
        <p:spPr>
          <a:xfrm>
            <a:off x="3695600" y="1522075"/>
            <a:ext cx="0" cy="3020700"/>
          </a:xfrm>
          <a:prstGeom prst="straightConnector1">
            <a:avLst/>
          </a:prstGeom>
          <a:noFill/>
          <a:ln cap="flat" cmpd="sng" w="28575">
            <a:solidFill>
              <a:schemeClr val="accent3"/>
            </a:solidFill>
            <a:prstDash val="dash"/>
            <a:round/>
            <a:headEnd len="med" w="med" type="none"/>
            <a:tailEnd len="med" w="med" type="none"/>
          </a:ln>
        </p:spPr>
      </p:cxnSp>
      <p:sp>
        <p:nvSpPr>
          <p:cNvPr id="2112" name="Google Shape;2112;p104"/>
          <p:cNvSpPr/>
          <p:nvPr/>
        </p:nvSpPr>
        <p:spPr>
          <a:xfrm>
            <a:off x="424297" y="4164857"/>
            <a:ext cx="743100" cy="743100"/>
          </a:xfrm>
          <a:prstGeom prst="arc">
            <a:avLst>
              <a:gd fmla="val 19267950"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13" name="Google Shape;2113;p104"/>
          <p:cNvCxnSpPr/>
          <p:nvPr/>
        </p:nvCxnSpPr>
        <p:spPr>
          <a:xfrm flipH="1" rot="10800000">
            <a:off x="796050" y="2218650"/>
            <a:ext cx="2898600" cy="2319600"/>
          </a:xfrm>
          <a:prstGeom prst="straightConnector1">
            <a:avLst/>
          </a:prstGeom>
          <a:noFill/>
          <a:ln cap="flat" cmpd="sng" w="28575">
            <a:solidFill>
              <a:schemeClr val="accent5"/>
            </a:solidFill>
            <a:prstDash val="solid"/>
            <a:round/>
            <a:headEnd len="med" w="med" type="none"/>
            <a:tailEnd len="med" w="med" type="none"/>
          </a:ln>
        </p:spPr>
      </p:cxnSp>
      <p:sp>
        <p:nvSpPr>
          <p:cNvPr id="2114" name="Google Shape;2114;p104"/>
          <p:cNvSpPr txBox="1"/>
          <p:nvPr>
            <p:ph idx="4294967295" type="body"/>
          </p:nvPr>
        </p:nvSpPr>
        <p:spPr>
          <a:xfrm>
            <a:off x="3198604" y="2597856"/>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a:t>
            </a:r>
            <a:endParaRPr sz="2000">
              <a:latin typeface="Kalam"/>
              <a:ea typeface="Kalam"/>
              <a:cs typeface="Kalam"/>
              <a:sym typeface="Kalam"/>
            </a:endParaRPr>
          </a:p>
        </p:txBody>
      </p:sp>
      <p:cxnSp>
        <p:nvCxnSpPr>
          <p:cNvPr id="2115" name="Google Shape;2115;p104"/>
          <p:cNvCxnSpPr/>
          <p:nvPr/>
        </p:nvCxnSpPr>
        <p:spPr>
          <a:xfrm>
            <a:off x="787100" y="1578521"/>
            <a:ext cx="2908500" cy="0"/>
          </a:xfrm>
          <a:prstGeom prst="straightConnector1">
            <a:avLst/>
          </a:prstGeom>
          <a:noFill/>
          <a:ln cap="flat" cmpd="sng" w="28575">
            <a:solidFill>
              <a:schemeClr val="accent3"/>
            </a:solidFill>
            <a:prstDash val="dash"/>
            <a:round/>
            <a:headEnd len="med" w="med" type="none"/>
            <a:tailEnd len="med" w="med" type="none"/>
          </a:ln>
        </p:spPr>
      </p:cxnSp>
      <p:sp>
        <p:nvSpPr>
          <p:cNvPr id="2116" name="Google Shape;2116;p104"/>
          <p:cNvSpPr/>
          <p:nvPr/>
        </p:nvSpPr>
        <p:spPr>
          <a:xfrm>
            <a:off x="375033" y="4120816"/>
            <a:ext cx="836400" cy="836400"/>
          </a:xfrm>
          <a:prstGeom prst="arc">
            <a:avLst>
              <a:gd fmla="val 18835919"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17" name="Google Shape;2117;p104"/>
          <p:cNvCxnSpPr/>
          <p:nvPr/>
        </p:nvCxnSpPr>
        <p:spPr>
          <a:xfrm flipH="1" rot="10800000">
            <a:off x="797492" y="1582121"/>
            <a:ext cx="2898300" cy="2953800"/>
          </a:xfrm>
          <a:prstGeom prst="straightConnector1">
            <a:avLst/>
          </a:prstGeom>
          <a:noFill/>
          <a:ln cap="flat" cmpd="sng" w="28575">
            <a:solidFill>
              <a:schemeClr val="accent5"/>
            </a:solidFill>
            <a:prstDash val="solid"/>
            <a:round/>
            <a:headEnd len="med" w="med" type="none"/>
            <a:tailEnd len="med" w="med" type="none"/>
          </a:ln>
        </p:spPr>
      </p:cxnSp>
      <p:sp>
        <p:nvSpPr>
          <p:cNvPr id="2118" name="Google Shape;2118;p104"/>
          <p:cNvSpPr txBox="1"/>
          <p:nvPr>
            <p:ph idx="4294967295" type="body"/>
          </p:nvPr>
        </p:nvSpPr>
        <p:spPr>
          <a:xfrm>
            <a:off x="2455990" y="233970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a:t>
            </a:r>
            <a:r>
              <a:rPr lang="en-GB" sz="2000">
                <a:latin typeface="Kalam"/>
                <a:ea typeface="Kalam"/>
                <a:cs typeface="Kalam"/>
                <a:sym typeface="Kalam"/>
              </a:rPr>
              <a:t>)</a:t>
            </a:r>
            <a:endParaRPr sz="2000">
              <a:latin typeface="Kalam"/>
              <a:ea typeface="Kalam"/>
              <a:cs typeface="Kalam"/>
              <a:sym typeface="Kalam"/>
            </a:endParaRPr>
          </a:p>
        </p:txBody>
      </p:sp>
      <p:sp>
        <p:nvSpPr>
          <p:cNvPr id="2119" name="Google Shape;2119;p104"/>
          <p:cNvSpPr/>
          <p:nvPr/>
        </p:nvSpPr>
        <p:spPr>
          <a:xfrm>
            <a:off x="2796200" y="2442575"/>
            <a:ext cx="57600" cy="57600"/>
          </a:xfrm>
          <a:prstGeom prst="ellipse">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0" name="Google Shape;2120;p104"/>
          <p:cNvSpPr/>
          <p:nvPr/>
        </p:nvSpPr>
        <p:spPr>
          <a:xfrm>
            <a:off x="3028906" y="2699914"/>
            <a:ext cx="57600" cy="57600"/>
          </a:xfrm>
          <a:prstGeom prst="ellipse">
            <a:avLst/>
          </a:prstGeom>
          <a:solidFill>
            <a:schemeClr val="accent5"/>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1" name="Google Shape;2121;p104"/>
          <p:cNvSpPr txBox="1"/>
          <p:nvPr/>
        </p:nvSpPr>
        <p:spPr>
          <a:xfrm>
            <a:off x="7299125" y="2458950"/>
            <a:ext cx="1521000" cy="598500"/>
          </a:xfrm>
          <a:prstGeom prst="rect">
            <a:avLst/>
          </a:prstGeom>
          <a:noFill/>
          <a:ln>
            <a:noFill/>
          </a:ln>
        </p:spPr>
        <p:txBody>
          <a:bodyPr anchorCtr="0" anchor="t" bIns="0" lIns="0" spcFirstLastPara="1" rIns="0" wrap="square" tIns="91425">
            <a:no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Approximate answers acceptable.</a:t>
            </a:r>
            <a:endParaRPr sz="2000">
              <a:solidFill>
                <a:schemeClr val="dk1"/>
              </a:solidFill>
              <a:latin typeface="Kalam"/>
              <a:ea typeface="Kalam"/>
              <a:cs typeface="Kalam"/>
              <a:sym typeface="Kala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5" name="Shape 2125"/>
        <p:cNvGrpSpPr/>
        <p:nvPr/>
      </p:nvGrpSpPr>
      <p:grpSpPr>
        <a:xfrm>
          <a:off x="0" y="0"/>
          <a:ext cx="0" cy="0"/>
          <a:chOff x="0" y="0"/>
          <a:chExt cx="0" cy="0"/>
        </a:xfrm>
      </p:grpSpPr>
      <p:sp>
        <p:nvSpPr>
          <p:cNvPr id="2126" name="Google Shape;2126;p10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Use your calculator to work out the missing angle in each triangle, giving your answer to 1 decimal place.</a:t>
            </a:r>
            <a:endParaRPr sz="1800"/>
          </a:p>
        </p:txBody>
      </p:sp>
      <p:sp>
        <p:nvSpPr>
          <p:cNvPr id="2127" name="Google Shape;2127;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the angle</a:t>
            </a:r>
            <a:endParaRPr/>
          </a:p>
        </p:txBody>
      </p:sp>
      <p:grpSp>
        <p:nvGrpSpPr>
          <p:cNvPr id="2128" name="Google Shape;2128;p105"/>
          <p:cNvGrpSpPr/>
          <p:nvPr/>
        </p:nvGrpSpPr>
        <p:grpSpPr>
          <a:xfrm>
            <a:off x="685263" y="1468860"/>
            <a:ext cx="1741885" cy="1052158"/>
            <a:chOff x="-2022025" y="1455875"/>
            <a:chExt cx="1034373" cy="1872833"/>
          </a:xfrm>
        </p:grpSpPr>
        <p:sp>
          <p:nvSpPr>
            <p:cNvPr id="2129" name="Google Shape;2129;p10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30" name="Google Shape;2130;p105"/>
            <p:cNvCxnSpPr/>
            <p:nvPr/>
          </p:nvCxnSpPr>
          <p:spPr>
            <a:xfrm rot="10800000">
              <a:off x="-2022025" y="3328708"/>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131" name="Google Shape;2131;p105"/>
            <p:cNvCxnSpPr/>
            <p:nvPr/>
          </p:nvCxnSpPr>
          <p:spPr>
            <a:xfrm rot="10800000">
              <a:off x="-987652"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32" name="Google Shape;2132;p105"/>
          <p:cNvSpPr/>
          <p:nvPr/>
        </p:nvSpPr>
        <p:spPr>
          <a:xfrm>
            <a:off x="2145105" y="224518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3" name="Google Shape;2133;p105"/>
          <p:cNvSpPr/>
          <p:nvPr/>
        </p:nvSpPr>
        <p:spPr>
          <a:xfrm>
            <a:off x="282194" y="1983622"/>
            <a:ext cx="836400" cy="837300"/>
          </a:xfrm>
          <a:prstGeom prst="arc">
            <a:avLst>
              <a:gd fmla="val 1967821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4" name="Google Shape;2134;p105"/>
          <p:cNvSpPr txBox="1"/>
          <p:nvPr>
            <p:ph idx="4294967295" type="body"/>
          </p:nvPr>
        </p:nvSpPr>
        <p:spPr>
          <a:xfrm>
            <a:off x="2528501" y="1802948"/>
            <a:ext cx="1219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 cm</a:t>
            </a:r>
            <a:endParaRPr sz="1800"/>
          </a:p>
        </p:txBody>
      </p:sp>
      <p:sp>
        <p:nvSpPr>
          <p:cNvPr id="2135" name="Google Shape;2135;p105"/>
          <p:cNvSpPr txBox="1"/>
          <p:nvPr>
            <p:ph idx="4294967295" type="body"/>
          </p:nvPr>
        </p:nvSpPr>
        <p:spPr>
          <a:xfrm>
            <a:off x="1188261" y="2588450"/>
            <a:ext cx="113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cm</a:t>
            </a:r>
            <a:endParaRPr sz="1800"/>
          </a:p>
        </p:txBody>
      </p:sp>
      <p:sp>
        <p:nvSpPr>
          <p:cNvPr id="2136" name="Google Shape;2136;p105"/>
          <p:cNvSpPr txBox="1"/>
          <p:nvPr>
            <p:ph idx="4294967295" type="body"/>
          </p:nvPr>
        </p:nvSpPr>
        <p:spPr>
          <a:xfrm>
            <a:off x="1149590" y="2102139"/>
            <a:ext cx="736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38.7</a:t>
            </a:r>
            <a:r>
              <a:rPr lang="en-GB" sz="2000">
                <a:latin typeface="Kalam"/>
                <a:ea typeface="Kalam"/>
                <a:cs typeface="Kalam"/>
                <a:sym typeface="Kalam"/>
              </a:rPr>
              <a:t>°</a:t>
            </a:r>
            <a:endParaRPr sz="2000">
              <a:latin typeface="Kalam"/>
              <a:ea typeface="Kalam"/>
              <a:cs typeface="Kalam"/>
              <a:sym typeface="Kalam"/>
            </a:endParaRPr>
          </a:p>
        </p:txBody>
      </p:sp>
      <p:sp>
        <p:nvSpPr>
          <p:cNvPr id="2137" name="Google Shape;2137;p105"/>
          <p:cNvSpPr txBox="1"/>
          <p:nvPr>
            <p:ph idx="4294967295" type="body"/>
          </p:nvPr>
        </p:nvSpPr>
        <p:spPr>
          <a:xfrm>
            <a:off x="404801" y="14332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grpSp>
        <p:nvGrpSpPr>
          <p:cNvPr id="2138" name="Google Shape;2138;p105"/>
          <p:cNvGrpSpPr/>
          <p:nvPr/>
        </p:nvGrpSpPr>
        <p:grpSpPr>
          <a:xfrm>
            <a:off x="685271" y="3161636"/>
            <a:ext cx="1743124" cy="1397751"/>
            <a:chOff x="-2022025" y="1455875"/>
            <a:chExt cx="1035109" cy="1802155"/>
          </a:xfrm>
        </p:grpSpPr>
        <p:sp>
          <p:nvSpPr>
            <p:cNvPr id="2139" name="Google Shape;2139;p10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40" name="Google Shape;2140;p105"/>
            <p:cNvCxnSpPr/>
            <p:nvPr/>
          </p:nvCxnSpPr>
          <p:spPr>
            <a:xfrm rot="10800000">
              <a:off x="-2022025" y="3258030"/>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141" name="Google Shape;2141;p105"/>
            <p:cNvCxnSpPr/>
            <p:nvPr/>
          </p:nvCxnSpPr>
          <p:spPr>
            <a:xfrm rot="10800000">
              <a:off x="-986916"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42" name="Google Shape;2142;p105"/>
          <p:cNvSpPr/>
          <p:nvPr/>
        </p:nvSpPr>
        <p:spPr>
          <a:xfrm>
            <a:off x="2145105" y="429659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3" name="Google Shape;2143;p105"/>
          <p:cNvSpPr/>
          <p:nvPr/>
        </p:nvSpPr>
        <p:spPr>
          <a:xfrm>
            <a:off x="1960339" y="2792376"/>
            <a:ext cx="698400" cy="699300"/>
          </a:xfrm>
          <a:prstGeom prst="arc">
            <a:avLst>
              <a:gd fmla="val 5399257" name="adj1"/>
              <a:gd fmla="val 841447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4" name="Google Shape;2144;p105"/>
          <p:cNvSpPr txBox="1"/>
          <p:nvPr>
            <p:ph idx="4294967295" type="body"/>
          </p:nvPr>
        </p:nvSpPr>
        <p:spPr>
          <a:xfrm>
            <a:off x="2528501" y="3707948"/>
            <a:ext cx="1219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80 mm</a:t>
            </a:r>
            <a:endParaRPr sz="1800"/>
          </a:p>
        </p:txBody>
      </p:sp>
      <p:sp>
        <p:nvSpPr>
          <p:cNvPr id="2145" name="Google Shape;2145;p105"/>
          <p:cNvSpPr txBox="1"/>
          <p:nvPr>
            <p:ph idx="4294967295" type="body"/>
          </p:nvPr>
        </p:nvSpPr>
        <p:spPr>
          <a:xfrm>
            <a:off x="1188261" y="4569650"/>
            <a:ext cx="11319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81.6 mm</a:t>
            </a:r>
            <a:endParaRPr sz="1800"/>
          </a:p>
        </p:txBody>
      </p:sp>
      <p:sp>
        <p:nvSpPr>
          <p:cNvPr id="2146" name="Google Shape;2146;p105"/>
          <p:cNvSpPr txBox="1"/>
          <p:nvPr>
            <p:ph idx="4294967295" type="body"/>
          </p:nvPr>
        </p:nvSpPr>
        <p:spPr>
          <a:xfrm>
            <a:off x="404801" y="31096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endParaRPr sz="1800"/>
          </a:p>
        </p:txBody>
      </p:sp>
      <p:grpSp>
        <p:nvGrpSpPr>
          <p:cNvPr id="2147" name="Google Shape;2147;p105"/>
          <p:cNvGrpSpPr/>
          <p:nvPr/>
        </p:nvGrpSpPr>
        <p:grpSpPr>
          <a:xfrm flipH="1">
            <a:off x="4727189" y="1390092"/>
            <a:ext cx="2646448" cy="1057681"/>
            <a:chOff x="-2022025" y="1455875"/>
            <a:chExt cx="1006139" cy="1836889"/>
          </a:xfrm>
        </p:grpSpPr>
        <p:sp>
          <p:nvSpPr>
            <p:cNvPr id="2148" name="Google Shape;2148;p10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49" name="Google Shape;2149;p105"/>
            <p:cNvCxnSpPr/>
            <p:nvPr/>
          </p:nvCxnSpPr>
          <p:spPr>
            <a:xfrm rot="10800000">
              <a:off x="-2022025" y="3292764"/>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150" name="Google Shape;2150;p105"/>
            <p:cNvCxnSpPr/>
            <p:nvPr/>
          </p:nvCxnSpPr>
          <p:spPr>
            <a:xfrm rot="10800000">
              <a:off x="-1015886"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51" name="Google Shape;2151;p105"/>
          <p:cNvSpPr/>
          <p:nvPr/>
        </p:nvSpPr>
        <p:spPr>
          <a:xfrm flipH="1">
            <a:off x="4844467" y="2193545"/>
            <a:ext cx="157500" cy="158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2" name="Google Shape;2152;p105"/>
          <p:cNvSpPr/>
          <p:nvPr/>
        </p:nvSpPr>
        <p:spPr>
          <a:xfrm flipH="1">
            <a:off x="4482127" y="1008575"/>
            <a:ext cx="736200" cy="736200"/>
          </a:xfrm>
          <a:prstGeom prst="arc">
            <a:avLst>
              <a:gd fmla="val 5399257" name="adj1"/>
              <a:gd fmla="val 934344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3" name="Google Shape;2153;p105"/>
          <p:cNvSpPr txBox="1"/>
          <p:nvPr>
            <p:ph idx="4294967295" type="body"/>
          </p:nvPr>
        </p:nvSpPr>
        <p:spPr>
          <a:xfrm flipH="1">
            <a:off x="4075422" y="1767547"/>
            <a:ext cx="7863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3.2 m</a:t>
            </a:r>
            <a:endParaRPr sz="1800"/>
          </a:p>
        </p:txBody>
      </p:sp>
      <p:sp>
        <p:nvSpPr>
          <p:cNvPr id="2154" name="Google Shape;2154;p105"/>
          <p:cNvSpPr txBox="1"/>
          <p:nvPr>
            <p:ph idx="4294967295" type="body"/>
          </p:nvPr>
        </p:nvSpPr>
        <p:spPr>
          <a:xfrm flipH="1">
            <a:off x="5777713" y="2470279"/>
            <a:ext cx="9996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8.9 m</a:t>
            </a:r>
            <a:endParaRPr sz="1800"/>
          </a:p>
        </p:txBody>
      </p:sp>
      <p:sp>
        <p:nvSpPr>
          <p:cNvPr id="2155" name="Google Shape;2155;p105"/>
          <p:cNvSpPr txBox="1"/>
          <p:nvPr>
            <p:ph idx="4294967295" type="body"/>
          </p:nvPr>
        </p:nvSpPr>
        <p:spPr>
          <a:xfrm>
            <a:off x="3677626" y="14332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grpSp>
        <p:nvGrpSpPr>
          <p:cNvPr id="2156" name="Google Shape;2156;p105"/>
          <p:cNvGrpSpPr/>
          <p:nvPr/>
        </p:nvGrpSpPr>
        <p:grpSpPr>
          <a:xfrm flipH="1" rot="9437116">
            <a:off x="4650674" y="3675492"/>
            <a:ext cx="3070973" cy="1365944"/>
            <a:chOff x="-2022025" y="1455875"/>
            <a:chExt cx="1006139" cy="1836889"/>
          </a:xfrm>
        </p:grpSpPr>
        <p:sp>
          <p:nvSpPr>
            <p:cNvPr id="2157" name="Google Shape;2157;p105"/>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58" name="Google Shape;2158;p105"/>
            <p:cNvCxnSpPr/>
            <p:nvPr/>
          </p:nvCxnSpPr>
          <p:spPr>
            <a:xfrm rot="10800000">
              <a:off x="-2022025" y="3292764"/>
              <a:ext cx="9609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159" name="Google Shape;2159;p105"/>
            <p:cNvCxnSpPr/>
            <p:nvPr/>
          </p:nvCxnSpPr>
          <p:spPr>
            <a:xfrm rot="10800000">
              <a:off x="-1015886" y="1455875"/>
              <a:ext cx="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60" name="Google Shape;2160;p105"/>
          <p:cNvSpPr/>
          <p:nvPr/>
        </p:nvSpPr>
        <p:spPr>
          <a:xfrm flipH="1" rot="9426164">
            <a:off x="7135899" y="3332951"/>
            <a:ext cx="157294" cy="15824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1" name="Google Shape;2161;p105"/>
          <p:cNvSpPr/>
          <p:nvPr/>
        </p:nvSpPr>
        <p:spPr>
          <a:xfrm flipH="1" rot="-4629416">
            <a:off x="4783379" y="4091025"/>
            <a:ext cx="569549" cy="569549"/>
          </a:xfrm>
          <a:prstGeom prst="arc">
            <a:avLst>
              <a:gd fmla="val 5399257" name="adj1"/>
              <a:gd fmla="val 9343444"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2" name="Google Shape;2162;p105"/>
          <p:cNvSpPr txBox="1"/>
          <p:nvPr>
            <p:ph idx="4294967295" type="body"/>
          </p:nvPr>
        </p:nvSpPr>
        <p:spPr>
          <a:xfrm flipH="1">
            <a:off x="7683797" y="3527897"/>
            <a:ext cx="7863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59 cm</a:t>
            </a:r>
            <a:endParaRPr sz="1800"/>
          </a:p>
        </p:txBody>
      </p:sp>
      <p:sp>
        <p:nvSpPr>
          <p:cNvPr id="2163" name="Google Shape;2163;p105"/>
          <p:cNvSpPr txBox="1"/>
          <p:nvPr>
            <p:ph idx="4294967295" type="body"/>
          </p:nvPr>
        </p:nvSpPr>
        <p:spPr>
          <a:xfrm flipH="1">
            <a:off x="5266188" y="3339229"/>
            <a:ext cx="999600" cy="237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121 cm</a:t>
            </a:r>
            <a:endParaRPr sz="1800"/>
          </a:p>
        </p:txBody>
      </p:sp>
      <p:sp>
        <p:nvSpPr>
          <p:cNvPr id="2164" name="Google Shape;2164;p105"/>
          <p:cNvSpPr txBox="1"/>
          <p:nvPr>
            <p:ph idx="4294967295" type="body"/>
          </p:nvPr>
        </p:nvSpPr>
        <p:spPr>
          <a:xfrm>
            <a:off x="3648401" y="3109661"/>
            <a:ext cx="3978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endParaRPr sz="1800"/>
          </a:p>
        </p:txBody>
      </p:sp>
      <p:sp>
        <p:nvSpPr>
          <p:cNvPr id="2165" name="Google Shape;2165;p105"/>
          <p:cNvSpPr txBox="1"/>
          <p:nvPr>
            <p:ph idx="4294967295" type="body"/>
          </p:nvPr>
        </p:nvSpPr>
        <p:spPr>
          <a:xfrm>
            <a:off x="4974990" y="1720477"/>
            <a:ext cx="736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70.2</a:t>
            </a:r>
            <a:r>
              <a:rPr lang="en-GB" sz="2000">
                <a:latin typeface="Kalam"/>
                <a:ea typeface="Kalam"/>
                <a:cs typeface="Kalam"/>
                <a:sym typeface="Kalam"/>
              </a:rPr>
              <a:t>°</a:t>
            </a:r>
            <a:endParaRPr sz="2000">
              <a:latin typeface="Kalam"/>
              <a:ea typeface="Kalam"/>
              <a:cs typeface="Kalam"/>
              <a:sym typeface="Kalam"/>
            </a:endParaRPr>
          </a:p>
        </p:txBody>
      </p:sp>
      <p:sp>
        <p:nvSpPr>
          <p:cNvPr id="2166" name="Google Shape;2166;p105"/>
          <p:cNvSpPr txBox="1"/>
          <p:nvPr>
            <p:ph idx="4294967295" type="body"/>
          </p:nvPr>
        </p:nvSpPr>
        <p:spPr>
          <a:xfrm>
            <a:off x="1697633" y="3581123"/>
            <a:ext cx="736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45.6</a:t>
            </a:r>
            <a:r>
              <a:rPr lang="en-GB" sz="2000">
                <a:latin typeface="Kalam"/>
                <a:ea typeface="Kalam"/>
                <a:cs typeface="Kalam"/>
                <a:sym typeface="Kalam"/>
              </a:rPr>
              <a:t>°</a:t>
            </a:r>
            <a:endParaRPr sz="2000">
              <a:latin typeface="Kalam"/>
              <a:ea typeface="Kalam"/>
              <a:cs typeface="Kalam"/>
              <a:sym typeface="Kalam"/>
            </a:endParaRPr>
          </a:p>
        </p:txBody>
      </p:sp>
      <p:sp>
        <p:nvSpPr>
          <p:cNvPr id="2167" name="Google Shape;2167;p105"/>
          <p:cNvSpPr txBox="1"/>
          <p:nvPr>
            <p:ph idx="4294967295" type="body"/>
          </p:nvPr>
        </p:nvSpPr>
        <p:spPr>
          <a:xfrm>
            <a:off x="5362508" y="4086698"/>
            <a:ext cx="7362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26.0</a:t>
            </a:r>
            <a:r>
              <a:rPr lang="en-GB" sz="2000">
                <a:latin typeface="Kalam"/>
                <a:ea typeface="Kalam"/>
                <a:cs typeface="Kalam"/>
                <a:sym typeface="Kalam"/>
              </a:rPr>
              <a:t>°</a:t>
            </a:r>
            <a:endParaRPr sz="2000">
              <a:latin typeface="Kalam"/>
              <a:ea typeface="Kalam"/>
              <a:cs typeface="Kalam"/>
              <a:sym typeface="Kala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1" name="Shape 2171"/>
        <p:cNvGrpSpPr/>
        <p:nvPr/>
      </p:nvGrpSpPr>
      <p:grpSpPr>
        <a:xfrm>
          <a:off x="0" y="0"/>
          <a:ext cx="0" cy="0"/>
          <a:chOff x="0" y="0"/>
          <a:chExt cx="0" cy="0"/>
        </a:xfrm>
      </p:grpSpPr>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2172" name="Google Shape;2172;p106" title="opp over a equals tangent theta degrees opp over tangent theta degrees equals a a times tangent theta degrees equals opp"/>
          <p:cNvPicPr preferRelativeResize="0"/>
          <p:nvPr/>
        </p:nvPicPr>
        <p:blipFill rotWithShape="1">
          <a:blip r:embed="rId3">
            <a:alphaModFix/>
          </a:blip>
          <a:srcRect b="0" l="34397" r="40337" t="0"/>
          <a:stretch/>
        </p:blipFill>
        <p:spPr>
          <a:xfrm>
            <a:off x="3855859" y="1682955"/>
            <a:ext cx="1499549" cy="6135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2173" name="Google Shape;2173;p106" title="opp over a equals tangent theta degrees opp over tangent theta degrees equals a a times tangent theta degrees equals opp"/>
          <p:cNvPicPr preferRelativeResize="0"/>
          <p:nvPr/>
        </p:nvPicPr>
        <p:blipFill rotWithShape="1">
          <a:blip r:embed="rId3">
            <a:alphaModFix/>
          </a:blip>
          <a:srcRect b="0" l="0" r="70875" t="0"/>
          <a:stretch/>
        </p:blipFill>
        <p:spPr>
          <a:xfrm>
            <a:off x="6272746" y="1703966"/>
            <a:ext cx="1728575" cy="613500"/>
          </a:xfrm>
          <a:prstGeom prst="rect">
            <a:avLst/>
          </a:prstGeom>
          <a:noFill/>
          <a:ln>
            <a:noFill/>
          </a:ln>
        </p:spPr>
      </p:pic>
      <p:pic>
        <p:nvPicPr>
          <p:cNvPr descr="&lt;math xmlns=&quot;http://www.w3.org/1998/Math/MathML&quot; display=&quot;block&quot; data-is-equatio=&quot;1&quot; data-latex=&quot;\frac{\text{opp}}{a}=\tan\left(\theta°\right)\ \ \ \ \ \frac{\text{opp}}{\tan\left(\theta°\right)}=a\ \ \ \ \ a\times\tan\left(\theta°\right)=\text{opp}&quot;&gt;&lt;mfrac&gt;&lt;mtext&gt;opp&lt;/mtext&gt;&lt;mi&gt;a&lt;/mi&gt;&lt;/mfrac&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text&gt;opp&lt;/mtext&gt;&lt;mrow&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a&lt;/mi&gt;&lt;mtext&gt;&lt;/mtext&gt;&lt;mtext&gt;&lt;/mtext&gt;&lt;mtext&gt;&lt;/mtext&gt;&lt;mtext&gt;&lt;/mtext&gt;&lt;mtext&gt;&lt;/mtext&gt;&lt;mi&gt;a&lt;/mi&gt;&lt;mo&gt;×&lt;/mo&gt;&lt;mi&gt;ta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opp&lt;/mtext&gt;&lt;/math&gt;" id="2174" name="Google Shape;2174;p106" title="opp over a equals tangent theta degrees opp over tangent theta degrees equals a a times tangent theta degrees equals opp"/>
          <p:cNvPicPr preferRelativeResize="0"/>
          <p:nvPr/>
        </p:nvPicPr>
        <p:blipFill rotWithShape="1">
          <a:blip r:embed="rId3">
            <a:alphaModFix/>
          </a:blip>
          <a:srcRect b="0" l="63586" r="0" t="0"/>
          <a:stretch/>
        </p:blipFill>
        <p:spPr>
          <a:xfrm>
            <a:off x="740267" y="1716800"/>
            <a:ext cx="2161201" cy="613500"/>
          </a:xfrm>
          <a:prstGeom prst="rect">
            <a:avLst/>
          </a:prstGeom>
          <a:noFill/>
          <a:ln>
            <a:noFill/>
          </a:ln>
        </p:spPr>
      </p:pic>
      <p:sp>
        <p:nvSpPr>
          <p:cNvPr id="2175" name="Google Shape;2175;p106"/>
          <p:cNvSpPr txBox="1"/>
          <p:nvPr>
            <p:ph idx="1" type="body"/>
          </p:nvPr>
        </p:nvSpPr>
        <p:spPr>
          <a:xfrm>
            <a:off x="324000" y="7752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 tangent ratio involves the </a:t>
            </a:r>
            <a:r>
              <a:rPr lang="en-GB" sz="1800"/>
              <a:t>opposite, the adjacent and the angle.</a:t>
            </a:r>
            <a:endParaRPr sz="1800"/>
          </a:p>
          <a:p>
            <a:pPr indent="0" lvl="0" marL="0" rtl="0" algn="l">
              <a:spcBef>
                <a:spcPts val="1000"/>
              </a:spcBef>
              <a:spcAft>
                <a:spcPts val="0"/>
              </a:spcAft>
              <a:buNone/>
            </a:pPr>
            <a:r>
              <a:rPr lang="en-GB" sz="1800"/>
              <a:t>The relationship between these can be expressed in three different ways:</a:t>
            </a:r>
            <a:endParaRPr sz="1800"/>
          </a:p>
          <a:p>
            <a:pPr indent="0" lvl="0" marL="0" rtl="0" algn="l">
              <a:spcBef>
                <a:spcPts val="1000"/>
              </a:spcBef>
              <a:spcAft>
                <a:spcPts val="0"/>
              </a:spcAft>
              <a:buNone/>
            </a:pPr>
            <a:r>
              <a:t/>
            </a:r>
            <a:endParaRPr sz="1800"/>
          </a:p>
          <a:p>
            <a:pPr indent="0" lvl="0" marL="0" rtl="0" algn="l">
              <a:spcBef>
                <a:spcPts val="1000"/>
              </a:spcBef>
              <a:spcAft>
                <a:spcPts val="0"/>
              </a:spcAft>
              <a:buNone/>
            </a:pPr>
            <a:r>
              <a:t/>
            </a:r>
            <a:endParaRPr sz="1800"/>
          </a:p>
          <a:p>
            <a:pPr indent="0" lvl="0" marL="0" rtl="0" algn="l">
              <a:lnSpc>
                <a:spcPct val="100000"/>
              </a:lnSpc>
              <a:spcBef>
                <a:spcPts val="1000"/>
              </a:spcBef>
              <a:spcAft>
                <a:spcPts val="0"/>
              </a:spcAft>
              <a:buClr>
                <a:schemeClr val="dk1"/>
              </a:buClr>
              <a:buSzPts val="1100"/>
              <a:buFont typeface="Arial"/>
              <a:buNone/>
            </a:pPr>
            <a:r>
              <a:rPr lang="en-GB" sz="1800"/>
              <a:t>This tangent formula can be used to find the length of the opposite, the length of the side adjacent to an angle </a:t>
            </a:r>
            <a:r>
              <a:rPr i="1" lang="en-GB" sz="1800"/>
              <a:t>θ</a:t>
            </a:r>
            <a:r>
              <a:rPr lang="en-GB" sz="1800"/>
              <a:t>°, or the size of angle </a:t>
            </a:r>
            <a:r>
              <a:rPr i="1" lang="en-GB" sz="1800"/>
              <a:t>θ</a:t>
            </a:r>
            <a:r>
              <a:rPr lang="en-GB" sz="1800"/>
              <a:t>° itself.</a:t>
            </a:r>
            <a:endParaRPr sz="1800"/>
          </a:p>
          <a:p>
            <a:pPr indent="0" lvl="0" marL="0" rtl="0" algn="l">
              <a:lnSpc>
                <a:spcPct val="100000"/>
              </a:lnSpc>
              <a:spcBef>
                <a:spcPts val="1000"/>
              </a:spcBef>
              <a:spcAft>
                <a:spcPts val="0"/>
              </a:spcAft>
              <a:buClr>
                <a:schemeClr val="dk1"/>
              </a:buClr>
              <a:buSzPts val="1100"/>
              <a:buFont typeface="Arial"/>
              <a:buNone/>
            </a:pPr>
            <a:r>
              <a:rPr lang="en-GB" sz="1800"/>
              <a:t>In order to find the size of an angle, the function inverse to the tangent function must be used: the arctangent function.</a:t>
            </a:r>
            <a:endParaRPr sz="1800"/>
          </a:p>
          <a:p>
            <a:pPr indent="0" lvl="0" marL="0" rtl="0" algn="l">
              <a:lnSpc>
                <a:spcPct val="100000"/>
              </a:lnSpc>
              <a:spcBef>
                <a:spcPts val="1000"/>
              </a:spcBef>
              <a:spcAft>
                <a:spcPts val="1000"/>
              </a:spcAft>
              <a:buClr>
                <a:schemeClr val="dk1"/>
              </a:buClr>
              <a:buSzPts val="1100"/>
              <a:buFont typeface="Arial"/>
              <a:buNone/>
            </a:pPr>
            <a:r>
              <a:rPr lang="en-GB" sz="1800"/>
              <a:t>On a calculator, the arctangent function is usually written as </a:t>
            </a:r>
            <a:r>
              <a:rPr lang="en-GB">
                <a:latin typeface="Times New Roman"/>
                <a:ea typeface="Times New Roman"/>
                <a:cs typeface="Times New Roman"/>
                <a:sym typeface="Times New Roman"/>
              </a:rPr>
              <a:t>tan</a:t>
            </a:r>
            <a:r>
              <a:rPr baseline="30000" lang="en-GB">
                <a:latin typeface="Times New Roman"/>
                <a:ea typeface="Times New Roman"/>
                <a:cs typeface="Times New Roman"/>
                <a:sym typeface="Times New Roman"/>
              </a:rPr>
              <a:t>-1</a:t>
            </a:r>
            <a:r>
              <a:rPr lang="en-GB" sz="1800"/>
              <a:t>.</a:t>
            </a:r>
            <a:endParaRPr sz="1800"/>
          </a:p>
        </p:txBody>
      </p:sp>
      <p:sp>
        <p:nvSpPr>
          <p:cNvPr id="2176" name="Google Shape;2176;p106"/>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tangent ratio</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0" name="Shape 2180"/>
        <p:cNvGrpSpPr/>
        <p:nvPr/>
      </p:nvGrpSpPr>
      <p:grpSpPr>
        <a:xfrm>
          <a:off x="0" y="0"/>
          <a:ext cx="0" cy="0"/>
          <a:chOff x="0" y="0"/>
          <a:chExt cx="0" cy="0"/>
        </a:xfrm>
      </p:grpSpPr>
      <p:sp>
        <p:nvSpPr>
          <p:cNvPr id="2181" name="Google Shape;2181;p107"/>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182" name="Google Shape;2182;p107"/>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