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F4C489-39F0-47F0-8262-0E1B624CB41C}">
  <a:tblStyle styleId="{B0F4C489-39F0-47F0-8262-0E1B624CB41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e0b27ea56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e0b27ea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be0b27ea56_0_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be0b27ea5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tangent ratio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1714909" y="4130251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8250" y="1415650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Formalising the tangent formula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199120" y="3233635"/>
            <a:ext cx="893100" cy="8934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88689" y="4266677"/>
            <a:ext cx="842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93254" y="4277100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1753600"/>
            <a:ext cx="643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Substitute the labelled sides and angle in each triangle into these two versions of the tangent formula.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triangle, choose the most appropriate version of the tangent formula to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>
            <a:stCxn id="166" idx="2"/>
          </p:cNvCxnSpPr>
          <p:nvPr/>
        </p:nvCxnSpPr>
        <p:spPr>
          <a:xfrm>
            <a:off x="3696000" y="2492500"/>
            <a:ext cx="0" cy="235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/>
          <p:nvPr/>
        </p:nvSpPr>
        <p:spPr>
          <a:xfrm>
            <a:off x="574227" y="2999558"/>
            <a:ext cx="421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746441" y="3002476"/>
            <a:ext cx="16575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507758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248738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578267" y="4133665"/>
            <a:ext cx="386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>
            <a:off x="700532" y="4266679"/>
            <a:ext cx="800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/>
          <p:nvPr/>
        </p:nvSpPr>
        <p:spPr>
          <a:xfrm>
            <a:off x="709949" y="3992846"/>
            <a:ext cx="8001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315776" y="4277100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011211" y="4266677"/>
            <a:ext cx="842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896749" y="2999558"/>
            <a:ext cx="421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068963" y="3002476"/>
            <a:ext cx="16575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830281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571260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900789" y="4133665"/>
            <a:ext cx="386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4023054" y="4266679"/>
            <a:ext cx="800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/>
          <p:nvPr/>
        </p:nvSpPr>
        <p:spPr>
          <a:xfrm>
            <a:off x="4032471" y="3992846"/>
            <a:ext cx="8001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037431" y="4130251"/>
            <a:ext cx="436200" cy="234600"/>
          </a:xfrm>
          <a:prstGeom prst="rect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rot="2363049">
            <a:off x="6224007" y="4071208"/>
            <a:ext cx="114891" cy="11489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524179" y="4021311"/>
            <a:ext cx="4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 flipH="1">
            <a:off x="5758630" y="3677880"/>
            <a:ext cx="3453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485352" y="4046806"/>
            <a:ext cx="4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flipH="1">
            <a:off x="2284732" y="4373094"/>
            <a:ext cx="692100" cy="6921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flipH="1">
            <a:off x="3184389" y="4597423"/>
            <a:ext cx="121200" cy="12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flipH="1">
            <a:off x="2715900" y="4799201"/>
            <a:ext cx="5025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flipH="1">
            <a:off x="2684090" y="4582608"/>
            <a:ext cx="2922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flipH="1" rot="5400863">
            <a:off x="2887302" y="4043098"/>
            <a:ext cx="1195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 flipH="1">
            <a:off x="2249110" y="3050847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195" name="Google Shape;195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63933" r="-985" t="0"/>
          <a:stretch/>
        </p:blipFill>
        <p:spPr>
          <a:xfrm>
            <a:off x="879208" y="2634436"/>
            <a:ext cx="1525635" cy="42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196" name="Google Shape;196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63933" r="-985" t="0"/>
          <a:stretch/>
        </p:blipFill>
        <p:spPr>
          <a:xfrm>
            <a:off x="4168463" y="2626885"/>
            <a:ext cx="1525635" cy="42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197" name="Google Shape;197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33741" r="39497" t="0"/>
          <a:stretch/>
        </p:blipFill>
        <p:spPr>
          <a:xfrm>
            <a:off x="1049149" y="3471124"/>
            <a:ext cx="1101862" cy="42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198" name="Google Shape;198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33741" r="39497" t="0"/>
          <a:stretch/>
        </p:blipFill>
        <p:spPr>
          <a:xfrm>
            <a:off x="4266952" y="3471124"/>
            <a:ext cx="1101862" cy="4256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 flipH="1">
            <a:off x="2852459" y="6580838"/>
            <a:ext cx="767700" cy="768300"/>
          </a:xfrm>
          <a:prstGeom prst="arc">
            <a:avLst>
              <a:gd fmla="val 5344843" name="adj1"/>
              <a:gd fmla="val 8988316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flipH="1">
            <a:off x="1790344" y="7147026"/>
            <a:ext cx="1065600" cy="1065900"/>
          </a:xfrm>
          <a:prstGeom prst="arc">
            <a:avLst>
              <a:gd fmla="val 19809554" name="adj1"/>
              <a:gd fmla="val 57629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6400" y="5854563"/>
            <a:ext cx="64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Match the triangle to the equation showing the relationship between its adjacent and the opposite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5400000">
            <a:off x="1079142" y="7540196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771891" y="7497022"/>
            <a:ext cx="371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91978" y="7234018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520150" y="7776525"/>
            <a:ext cx="630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rot="5400000">
            <a:off x="3228909" y="7540196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588424" y="7776716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621614" y="7206820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199883" y="7086854"/>
            <a:ext cx="371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 flipH="1" rot="-5400000">
            <a:off x="5663873" y="5887175"/>
            <a:ext cx="1422600" cy="1423200"/>
          </a:xfrm>
          <a:prstGeom prst="arc">
            <a:avLst>
              <a:gd fmla="val 19809554" name="adj1"/>
              <a:gd fmla="val 57629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235440" y="7695893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051513" y="7047858"/>
            <a:ext cx="371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467301" y="7139628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777623" y="7937250"/>
            <a:ext cx="630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07457" y="6859887"/>
            <a:ext cx="23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617226" y="6859887"/>
            <a:ext cx="23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319904" y="6817130"/>
            <a:ext cx="23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76400" y="6295825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equation to find the length of the missing side labelled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each triangle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0"/>
          <p:cNvGrpSpPr/>
          <p:nvPr/>
        </p:nvGrpSpPr>
        <p:grpSpPr>
          <a:xfrm>
            <a:off x="5122342" y="8298165"/>
            <a:ext cx="1865325" cy="317821"/>
            <a:chOff x="3369600" y="3706325"/>
            <a:chExt cx="2461500" cy="419400"/>
          </a:xfrm>
        </p:grpSpPr>
        <p:sp>
          <p:nvSpPr>
            <p:cNvPr id="220" name="Google Shape;220;p20"/>
            <p:cNvSpPr/>
            <p:nvPr/>
          </p:nvSpPr>
          <p:spPr>
            <a:xfrm>
              <a:off x="3369600" y="3706325"/>
              <a:ext cx="2461500" cy="4194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68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32 × tan(50°) = </a:t>
              </a: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3369600" y="3706325"/>
              <a:ext cx="419400" cy="419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" name="Google Shape;222;p20"/>
          <p:cNvGrpSpPr/>
          <p:nvPr/>
        </p:nvGrpSpPr>
        <p:grpSpPr>
          <a:xfrm>
            <a:off x="553552" y="8307745"/>
            <a:ext cx="1865325" cy="317821"/>
            <a:chOff x="6358500" y="3706325"/>
            <a:chExt cx="2461500" cy="419400"/>
          </a:xfrm>
        </p:grpSpPr>
        <p:sp>
          <p:nvSpPr>
            <p:cNvPr id="223" name="Google Shape;223;p20"/>
            <p:cNvSpPr/>
            <p:nvPr/>
          </p:nvSpPr>
          <p:spPr>
            <a:xfrm>
              <a:off x="6358500" y="3706325"/>
              <a:ext cx="2461500" cy="4194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68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 × tan(32°) = </a:t>
              </a:r>
              <a:r>
                <a:rPr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6358500" y="3706325"/>
              <a:ext cx="419400" cy="419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" name="Google Shape;225;p20"/>
          <p:cNvGrpSpPr/>
          <p:nvPr/>
        </p:nvGrpSpPr>
        <p:grpSpPr>
          <a:xfrm>
            <a:off x="2837958" y="8315266"/>
            <a:ext cx="1865325" cy="317821"/>
            <a:chOff x="324000" y="3706325"/>
            <a:chExt cx="2461500" cy="419400"/>
          </a:xfrm>
        </p:grpSpPr>
        <p:sp>
          <p:nvSpPr>
            <p:cNvPr id="226" name="Google Shape;226;p20"/>
            <p:cNvSpPr/>
            <p:nvPr/>
          </p:nvSpPr>
          <p:spPr>
            <a:xfrm>
              <a:off x="324000" y="3706325"/>
              <a:ext cx="2461500" cy="4194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68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50 × tan(32°) = </a:t>
              </a: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324000" y="3706325"/>
              <a:ext cx="419400" cy="4194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0"/>
          <p:cNvGrpSpPr/>
          <p:nvPr/>
        </p:nvGrpSpPr>
        <p:grpSpPr>
          <a:xfrm>
            <a:off x="2627709" y="3457247"/>
            <a:ext cx="746356" cy="1331072"/>
            <a:chOff x="-2022025" y="1451078"/>
            <a:chExt cx="1057011" cy="1764646"/>
          </a:xfrm>
        </p:grpSpPr>
        <p:sp>
          <p:nvSpPr>
            <p:cNvPr id="229" name="Google Shape;229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0" name="Google Shape;230;p20"/>
            <p:cNvCxnSpPr/>
            <p:nvPr/>
          </p:nvCxnSpPr>
          <p:spPr>
            <a:xfrm>
              <a:off x="-965014" y="1451078"/>
              <a:ext cx="0" cy="168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1" name="Google Shape;231;p20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32" name="Google Shape;232;p20"/>
          <p:cNvGrpSpPr/>
          <p:nvPr/>
        </p:nvGrpSpPr>
        <p:grpSpPr>
          <a:xfrm rot="2367437">
            <a:off x="5559308" y="3351091"/>
            <a:ext cx="1286973" cy="1261253"/>
            <a:chOff x="-2039087" y="1455875"/>
            <a:chExt cx="1472322" cy="2799316"/>
          </a:xfrm>
        </p:grpSpPr>
        <p:sp>
          <p:nvSpPr>
            <p:cNvPr id="233" name="Google Shape;233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4" name="Google Shape;234;p20"/>
            <p:cNvCxnSpPr/>
            <p:nvPr/>
          </p:nvCxnSpPr>
          <p:spPr>
            <a:xfrm rot="7323329">
              <a:off x="-2097501" y="2821515"/>
              <a:ext cx="1090929" cy="101155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5" name="Google Shape;235;p20"/>
            <p:cNvCxnSpPr/>
            <p:nvPr/>
          </p:nvCxnSpPr>
          <p:spPr>
            <a:xfrm flipH="1" rot="7322798">
              <a:off x="-1386032" y="1763572"/>
              <a:ext cx="794935" cy="108025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36" name="Google Shape;236;p20"/>
          <p:cNvGrpSpPr/>
          <p:nvPr/>
        </p:nvGrpSpPr>
        <p:grpSpPr>
          <a:xfrm rot="5400000">
            <a:off x="1263116" y="6685508"/>
            <a:ext cx="810467" cy="1357612"/>
            <a:chOff x="-2022025" y="1450675"/>
            <a:chExt cx="1069500" cy="1791518"/>
          </a:xfrm>
        </p:grpSpPr>
        <p:sp>
          <p:nvSpPr>
            <p:cNvPr id="237" name="Google Shape;237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8" name="Google Shape;238;p20"/>
            <p:cNvCxnSpPr/>
            <p:nvPr/>
          </p:nvCxnSpPr>
          <p:spPr>
            <a:xfrm rot="5400000">
              <a:off x="-1792825" y="2290975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9" name="Google Shape;239;p20"/>
            <p:cNvCxnSpPr/>
            <p:nvPr/>
          </p:nvCxnSpPr>
          <p:spPr>
            <a:xfrm>
              <a:off x="-1541575" y="2761743"/>
              <a:ext cx="0" cy="96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40" name="Google Shape;240;p20"/>
          <p:cNvGrpSpPr/>
          <p:nvPr/>
        </p:nvGrpSpPr>
        <p:grpSpPr>
          <a:xfrm rot="5400000">
            <a:off x="3412647" y="6696348"/>
            <a:ext cx="819139" cy="1341534"/>
            <a:chOff x="-2024050" y="1455875"/>
            <a:chExt cx="1080944" cy="1770300"/>
          </a:xfrm>
        </p:grpSpPr>
        <p:sp>
          <p:nvSpPr>
            <p:cNvPr id="241" name="Google Shape;241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2" name="Google Shape;242;p20"/>
            <p:cNvCxnSpPr/>
            <p:nvPr/>
          </p:nvCxnSpPr>
          <p:spPr>
            <a:xfrm rot="10800000">
              <a:off x="-1539550" y="2741675"/>
              <a:ext cx="0" cy="96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3" name="Google Shape;243;p20"/>
            <p:cNvCxnSpPr/>
            <p:nvPr/>
          </p:nvCxnSpPr>
          <p:spPr>
            <a:xfrm rot="-5400000">
              <a:off x="-1777257" y="2290025"/>
              <a:ext cx="1668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44" name="Google Shape;244;p20"/>
          <p:cNvGrpSpPr/>
          <p:nvPr/>
        </p:nvGrpSpPr>
        <p:grpSpPr>
          <a:xfrm>
            <a:off x="5654327" y="6578825"/>
            <a:ext cx="817604" cy="1353672"/>
            <a:chOff x="-2022025" y="1455875"/>
            <a:chExt cx="1078918" cy="1786318"/>
          </a:xfrm>
        </p:grpSpPr>
        <p:sp>
          <p:nvSpPr>
            <p:cNvPr id="245" name="Google Shape;245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6" name="Google Shape;246;p20"/>
            <p:cNvCxnSpPr/>
            <p:nvPr/>
          </p:nvCxnSpPr>
          <p:spPr>
            <a:xfrm>
              <a:off x="-1541575" y="2761743"/>
              <a:ext cx="0" cy="96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7" name="Google Shape;247;p20"/>
            <p:cNvCxnSpPr/>
            <p:nvPr/>
          </p:nvCxnSpPr>
          <p:spPr>
            <a:xfrm rot="-5400000">
              <a:off x="-1777257" y="2290025"/>
              <a:ext cx="1668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 rot="-5400000">
            <a:off x="2263058" y="4749113"/>
            <a:ext cx="765300" cy="1725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lang="en-GB"/>
              <a:t>the</a:t>
            </a:r>
            <a:r>
              <a:rPr lang="en-GB"/>
              <a:t> tangent ratio</a:t>
            </a:r>
            <a:endParaRPr/>
          </a:p>
        </p:txBody>
      </p:sp>
      <p:grpSp>
        <p:nvGrpSpPr>
          <p:cNvPr id="254" name="Google Shape;254;p21"/>
          <p:cNvGrpSpPr/>
          <p:nvPr/>
        </p:nvGrpSpPr>
        <p:grpSpPr>
          <a:xfrm>
            <a:off x="2838748" y="7353420"/>
            <a:ext cx="909863" cy="1248856"/>
            <a:chOff x="-2022025" y="1455875"/>
            <a:chExt cx="1057366" cy="1768668"/>
          </a:xfrm>
        </p:grpSpPr>
        <p:sp>
          <p:nvSpPr>
            <p:cNvPr id="255" name="Google Shape;255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6" name="Google Shape;256;p21"/>
            <p:cNvCxnSpPr/>
            <p:nvPr/>
          </p:nvCxnSpPr>
          <p:spPr>
            <a:xfrm rot="10800000">
              <a:off x="-2022025" y="3224543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7" name="Google Shape;257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58" name="Google Shape;258;p21"/>
          <p:cNvSpPr txBox="1"/>
          <p:nvPr/>
        </p:nvSpPr>
        <p:spPr>
          <a:xfrm>
            <a:off x="477211" y="991600"/>
            <a:ext cx="60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using the tangent formula, find the length of the missing side labelled with a letter for each of these triangles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 flipH="1">
            <a:off x="102066" y="1775868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>
            <a:off x="4511017" y="1366865"/>
            <a:ext cx="0" cy="262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/>
          <p:nvPr/>
        </p:nvCxnSpPr>
        <p:spPr>
          <a:xfrm>
            <a:off x="3502581" y="-347058"/>
            <a:ext cx="0" cy="605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/>
          <p:nvPr/>
        </p:nvCxnSpPr>
        <p:spPr>
          <a:xfrm>
            <a:off x="2494152" y="1366865"/>
            <a:ext cx="0" cy="262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1"/>
          <p:cNvSpPr/>
          <p:nvPr/>
        </p:nvSpPr>
        <p:spPr>
          <a:xfrm>
            <a:off x="1428285" y="2146985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rot="10800000">
            <a:off x="598785" y="2369806"/>
            <a:ext cx="962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5" name="Google Shape;265;p21"/>
          <p:cNvSpPr txBox="1"/>
          <p:nvPr/>
        </p:nvSpPr>
        <p:spPr>
          <a:xfrm>
            <a:off x="837087" y="2395418"/>
            <a:ext cx="450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 rot="10800000">
            <a:off x="1635223" y="1561273"/>
            <a:ext cx="0" cy="72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7" name="Google Shape;267;p21"/>
          <p:cNvSpPr/>
          <p:nvPr/>
        </p:nvSpPr>
        <p:spPr>
          <a:xfrm flipH="1">
            <a:off x="2162179" y="1775868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3488398" y="2146985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 rot="10800000">
            <a:off x="2658198" y="2393701"/>
            <a:ext cx="967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0" name="Google Shape;270;p21"/>
          <p:cNvSpPr txBox="1"/>
          <p:nvPr/>
        </p:nvSpPr>
        <p:spPr>
          <a:xfrm flipH="1">
            <a:off x="2816926" y="2092880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 rot="10800000">
            <a:off x="3695337" y="1561273"/>
            <a:ext cx="0" cy="72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2" name="Google Shape;272;p21"/>
          <p:cNvSpPr/>
          <p:nvPr/>
        </p:nvSpPr>
        <p:spPr>
          <a:xfrm flipH="1">
            <a:off x="136442" y="3059819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1462660" y="3430936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1715939" y="3120870"/>
            <a:ext cx="609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 rot="10800000">
            <a:off x="1669599" y="2845223"/>
            <a:ext cx="0" cy="72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6" name="Google Shape;276;p21"/>
          <p:cNvSpPr/>
          <p:nvPr/>
        </p:nvSpPr>
        <p:spPr>
          <a:xfrm>
            <a:off x="5612729" y="2750556"/>
            <a:ext cx="1631700" cy="16317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 flipH="1">
            <a:off x="5033454" y="3430936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8" name="Google Shape;278;p21"/>
          <p:cNvCxnSpPr/>
          <p:nvPr/>
        </p:nvCxnSpPr>
        <p:spPr>
          <a:xfrm rot="10800000">
            <a:off x="4960027" y="3045084"/>
            <a:ext cx="0" cy="529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9" name="Google Shape;279;p21"/>
          <p:cNvSpPr txBox="1"/>
          <p:nvPr/>
        </p:nvSpPr>
        <p:spPr>
          <a:xfrm>
            <a:off x="4525605" y="3223638"/>
            <a:ext cx="450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 flipH="1">
            <a:off x="4322483" y="1775868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5648702" y="2146985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 flipH="1">
            <a:off x="4977230" y="2092880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 rot="10800000">
            <a:off x="5855640" y="1561273"/>
            <a:ext cx="0" cy="72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4" name="Google Shape;284;p21"/>
          <p:cNvSpPr txBox="1"/>
          <p:nvPr/>
        </p:nvSpPr>
        <p:spPr>
          <a:xfrm flipH="1">
            <a:off x="791188" y="3376831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3585557" y="3381964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 rot="10800000">
            <a:off x="2755395" y="3588845"/>
            <a:ext cx="96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7" name="Google Shape;287;p21"/>
          <p:cNvSpPr txBox="1"/>
          <p:nvPr/>
        </p:nvSpPr>
        <p:spPr>
          <a:xfrm>
            <a:off x="2917044" y="3621914"/>
            <a:ext cx="645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 flipH="1">
            <a:off x="756813" y="2092880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851298" y="2392395"/>
            <a:ext cx="609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flipH="1">
            <a:off x="3306471" y="2392392"/>
            <a:ext cx="823200" cy="823200"/>
          </a:xfrm>
          <a:prstGeom prst="arc">
            <a:avLst>
              <a:gd fmla="val 2216544" name="adj1"/>
              <a:gd fmla="val 5415087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flipH="1">
            <a:off x="3392927" y="2967466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580485" y="3390555"/>
            <a:ext cx="526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650881" y="1829015"/>
            <a:ext cx="645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3714920" y="1829015"/>
            <a:ext cx="645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5878411" y="1829015"/>
            <a:ext cx="645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934943" y="3672239"/>
            <a:ext cx="399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3849695" y="3042098"/>
            <a:ext cx="399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585517" y="3677684"/>
            <a:ext cx="399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0036" y="1363749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2530154" y="1363749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590272" y="1363749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70036" y="2702573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530154" y="2702573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4590272" y="2702573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5" name="Google Shape;305;p21"/>
          <p:cNvCxnSpPr/>
          <p:nvPr/>
        </p:nvCxnSpPr>
        <p:spPr>
          <a:xfrm rot="10800000">
            <a:off x="4828917" y="2393701"/>
            <a:ext cx="967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6" name="Google Shape;306;p21"/>
          <p:cNvSpPr txBox="1"/>
          <p:nvPr/>
        </p:nvSpPr>
        <p:spPr>
          <a:xfrm>
            <a:off x="5022017" y="2392395"/>
            <a:ext cx="609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 rot="10800000">
            <a:off x="653053" y="3672238"/>
            <a:ext cx="962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8" name="Google Shape;308;p21"/>
          <p:cNvCxnSpPr/>
          <p:nvPr/>
        </p:nvCxnSpPr>
        <p:spPr>
          <a:xfrm rot="10800000">
            <a:off x="3805885" y="2796243"/>
            <a:ext cx="0" cy="72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" name="Google Shape;309;p21"/>
          <p:cNvCxnSpPr/>
          <p:nvPr/>
        </p:nvCxnSpPr>
        <p:spPr>
          <a:xfrm rot="10800000">
            <a:off x="5034486" y="3657693"/>
            <a:ext cx="141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/>
          <p:nvPr/>
        </p:nvSpPr>
        <p:spPr>
          <a:xfrm rot="-5400000">
            <a:off x="2719351" y="3566517"/>
            <a:ext cx="1491600" cy="3364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 rot="-5400000">
            <a:off x="2587807" y="3906863"/>
            <a:ext cx="1282800" cy="2892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59971" y="4192000"/>
            <a:ext cx="663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Find the lengths of the distances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(rounded 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 flipH="1">
            <a:off x="1163021" y="5361659"/>
            <a:ext cx="1267200" cy="1267200"/>
          </a:xfrm>
          <a:prstGeom prst="arc">
            <a:avLst>
              <a:gd fmla="val 10771373" name="adj1"/>
              <a:gd fmla="val 12273905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367952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2459352" y="6124429"/>
            <a:ext cx="5058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6" name="Google Shape;316;p21"/>
          <p:cNvCxnSpPr/>
          <p:nvPr/>
        </p:nvCxnSpPr>
        <p:spPr>
          <a:xfrm rot="10800000">
            <a:off x="3559583" y="5220125"/>
            <a:ext cx="0" cy="76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7" name="Google Shape;317;p21"/>
          <p:cNvSpPr txBox="1"/>
          <p:nvPr/>
        </p:nvSpPr>
        <p:spPr>
          <a:xfrm flipH="1">
            <a:off x="2058826" y="5817565"/>
            <a:ext cx="38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3572155" y="5512854"/>
            <a:ext cx="387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907163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4534823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006336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2" name="Google Shape;322;p21"/>
          <p:cNvCxnSpPr/>
          <p:nvPr/>
        </p:nvCxnSpPr>
        <p:spPr>
          <a:xfrm rot="10800000">
            <a:off x="1762568" y="6110851"/>
            <a:ext cx="173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" name="Google Shape;323;p21"/>
          <p:cNvCxnSpPr/>
          <p:nvPr/>
        </p:nvCxnSpPr>
        <p:spPr>
          <a:xfrm rot="10800000">
            <a:off x="4101129" y="4978625"/>
            <a:ext cx="0" cy="10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" name="Google Shape;324;p21"/>
          <p:cNvSpPr txBox="1"/>
          <p:nvPr/>
        </p:nvSpPr>
        <p:spPr>
          <a:xfrm>
            <a:off x="4122111" y="5363833"/>
            <a:ext cx="387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4143554" y="6171066"/>
            <a:ext cx="502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 rot="10800000">
            <a:off x="4727576" y="4699625"/>
            <a:ext cx="0" cy="128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7" name="Google Shape;327;p21"/>
          <p:cNvSpPr txBox="1"/>
          <p:nvPr/>
        </p:nvSpPr>
        <p:spPr>
          <a:xfrm>
            <a:off x="4740148" y="5191657"/>
            <a:ext cx="387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 rot="10800000">
            <a:off x="5200305" y="4492625"/>
            <a:ext cx="0" cy="149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9" name="Google Shape;329;p21"/>
          <p:cNvSpPr txBox="1"/>
          <p:nvPr/>
        </p:nvSpPr>
        <p:spPr>
          <a:xfrm>
            <a:off x="5212871" y="5064103"/>
            <a:ext cx="539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0" name="Google Shape;330;p21"/>
          <p:cNvCxnSpPr/>
          <p:nvPr/>
        </p:nvCxnSpPr>
        <p:spPr>
          <a:xfrm rot="10800000">
            <a:off x="3494008" y="6110851"/>
            <a:ext cx="548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" name="Google Shape;331;p21"/>
          <p:cNvCxnSpPr/>
          <p:nvPr/>
        </p:nvCxnSpPr>
        <p:spPr>
          <a:xfrm rot="10800000">
            <a:off x="4034279" y="6110851"/>
            <a:ext cx="634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" name="Google Shape;332;p21"/>
          <p:cNvCxnSpPr/>
          <p:nvPr/>
        </p:nvCxnSpPr>
        <p:spPr>
          <a:xfrm rot="10800000">
            <a:off x="4642910" y="6110851"/>
            <a:ext cx="50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" name="Google Shape;333;p21"/>
          <p:cNvCxnSpPr/>
          <p:nvPr/>
        </p:nvCxnSpPr>
        <p:spPr>
          <a:xfrm>
            <a:off x="480225" y="6575250"/>
            <a:ext cx="661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1"/>
          <p:cNvSpPr txBox="1"/>
          <p:nvPr/>
        </p:nvSpPr>
        <p:spPr>
          <a:xfrm>
            <a:off x="488250" y="6673450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the 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520442" y="6931500"/>
            <a:ext cx="39741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table of values to work out the missing angle in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6" name="Google Shape;336;p21"/>
          <p:cNvGraphicFramePr/>
          <p:nvPr/>
        </p:nvGraphicFramePr>
        <p:xfrm>
          <a:off x="4586500" y="6673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{B0F4C489-39F0-47F0-8262-0E1B624CB41C}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37" name="Google Shape;337;p21"/>
          <p:cNvGrpSpPr/>
          <p:nvPr/>
        </p:nvGrpSpPr>
        <p:grpSpPr>
          <a:xfrm>
            <a:off x="701212" y="7428189"/>
            <a:ext cx="991704" cy="778404"/>
            <a:chOff x="-2022025" y="1455875"/>
            <a:chExt cx="1057366" cy="1900401"/>
          </a:xfrm>
        </p:grpSpPr>
        <p:sp>
          <p:nvSpPr>
            <p:cNvPr id="338" name="Google Shape;33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9" name="Google Shape;339;p21"/>
            <p:cNvCxnSpPr/>
            <p:nvPr/>
          </p:nvCxnSpPr>
          <p:spPr>
            <a:xfrm rot="10800000">
              <a:off x="-2022025" y="335627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0" name="Google Shape;340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41" name="Google Shape;341;p21"/>
          <p:cNvSpPr/>
          <p:nvPr/>
        </p:nvSpPr>
        <p:spPr>
          <a:xfrm>
            <a:off x="1517258" y="8019904"/>
            <a:ext cx="87600" cy="87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433875" y="7860941"/>
            <a:ext cx="514800" cy="514800"/>
          </a:xfrm>
          <a:prstGeom prst="arc">
            <a:avLst>
              <a:gd fmla="val 19350541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727796" y="7671828"/>
            <a:ext cx="678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8.39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854031" y="8244566"/>
            <a:ext cx="6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3511666" y="8379213"/>
            <a:ext cx="152100" cy="15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801555" y="7759687"/>
            <a:ext cx="7320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21.65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3020878" y="8633488"/>
            <a:ext cx="6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2611122" y="8307160"/>
            <a:ext cx="437100" cy="437100"/>
          </a:xfrm>
          <a:prstGeom prst="arc">
            <a:avLst>
              <a:gd fmla="val 18479915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9" name="Google Shape;349;p21"/>
          <p:cNvGrpSpPr/>
          <p:nvPr/>
        </p:nvGrpSpPr>
        <p:grpSpPr>
          <a:xfrm flipH="1" rot="-5400000">
            <a:off x="573608" y="8715737"/>
            <a:ext cx="908806" cy="950389"/>
            <a:chOff x="-2022025" y="1455875"/>
            <a:chExt cx="1057366" cy="1821715"/>
          </a:xfrm>
        </p:grpSpPr>
        <p:sp>
          <p:nvSpPr>
            <p:cNvPr id="350" name="Google Shape;350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1" name="Google Shape;351;p21"/>
            <p:cNvCxnSpPr/>
            <p:nvPr/>
          </p:nvCxnSpPr>
          <p:spPr>
            <a:xfrm rot="10800000">
              <a:off x="-2022025" y="327759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2" name="Google Shape;352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53" name="Google Shape;353;p21"/>
          <p:cNvSpPr/>
          <p:nvPr/>
        </p:nvSpPr>
        <p:spPr>
          <a:xfrm flipH="1" rot="-5400000">
            <a:off x="1270182" y="9409783"/>
            <a:ext cx="152100" cy="15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 flipH="1" rot="-5400000">
            <a:off x="1206202" y="8508185"/>
            <a:ext cx="437100" cy="438300"/>
          </a:xfrm>
          <a:prstGeom prst="arc">
            <a:avLst>
              <a:gd fmla="val 1882379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5" name="Google Shape;355;p21"/>
          <p:cNvGrpSpPr/>
          <p:nvPr/>
        </p:nvGrpSpPr>
        <p:grpSpPr>
          <a:xfrm flipH="1" rot="6706181">
            <a:off x="3148217" y="8735821"/>
            <a:ext cx="780032" cy="1801260"/>
            <a:chOff x="-2022025" y="1455875"/>
            <a:chExt cx="1057366" cy="1750474"/>
          </a:xfrm>
        </p:grpSpPr>
        <p:sp>
          <p:nvSpPr>
            <p:cNvPr id="356" name="Google Shape;35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7" name="Google Shape;357;p21"/>
            <p:cNvCxnSpPr/>
            <p:nvPr/>
          </p:nvCxnSpPr>
          <p:spPr>
            <a:xfrm rot="10800000">
              <a:off x="-2022025" y="3206349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8" name="Google Shape;358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59" name="Google Shape;359;p21"/>
          <p:cNvSpPr/>
          <p:nvPr/>
        </p:nvSpPr>
        <p:spPr>
          <a:xfrm flipH="1" rot="6711018">
            <a:off x="2869112" y="9058276"/>
            <a:ext cx="130581" cy="13125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/>
          <p:nvPr/>
        </p:nvSpPr>
        <p:spPr>
          <a:xfrm flipH="1">
            <a:off x="4080456" y="9293908"/>
            <a:ext cx="773400" cy="776100"/>
          </a:xfrm>
          <a:prstGeom prst="arc">
            <a:avLst>
              <a:gd fmla="val 20101096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1549946" y="9013659"/>
            <a:ext cx="476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749409" y="9645293"/>
            <a:ext cx="514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2112956" y="9219462"/>
            <a:ext cx="6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7.28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545001" y="7402275"/>
            <a:ext cx="221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2378487" y="7402275"/>
            <a:ext cx="221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545001" y="8711990"/>
            <a:ext cx="221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2347602" y="8712000"/>
            <a:ext cx="2835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3710728" y="9073901"/>
            <a:ext cx="661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606766" y="6180547"/>
            <a:ext cx="387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740144" y="6180547"/>
            <a:ext cx="387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966525" y="790420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232625" y="894100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859725" y="947440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3082725" y="829390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 rot="-5400000">
            <a:off x="754657" y="272296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/>
          <p:nvPr/>
        </p:nvSpPr>
        <p:spPr>
          <a:xfrm rot="-5400000">
            <a:off x="2877554" y="2673994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/>
          <p:nvPr/>
        </p:nvSpPr>
        <p:spPr>
          <a:xfrm flipH="1" rot="5400000">
            <a:off x="5480437" y="2598015"/>
            <a:ext cx="524100" cy="1418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/>
          <p:nvPr/>
        </p:nvSpPr>
        <p:spPr>
          <a:xfrm rot="-5400000">
            <a:off x="4940698" y="143901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 rot="-5400000">
            <a:off x="2780395" y="143901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 rot="-5400000">
            <a:off x="720281" y="143901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 rot="-5400000">
            <a:off x="2413057" y="4359713"/>
            <a:ext cx="1004700" cy="2265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lang="en-GB"/>
              <a:t>tangent ratio</a:t>
            </a:r>
            <a:endParaRPr/>
          </a:p>
        </p:txBody>
      </p:sp>
      <p:sp>
        <p:nvSpPr>
          <p:cNvPr id="388" name="Google Shape;388;p22"/>
          <p:cNvSpPr txBox="1"/>
          <p:nvPr/>
        </p:nvSpPr>
        <p:spPr>
          <a:xfrm>
            <a:off x="476400" y="683100"/>
            <a:ext cx="6414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By drawing the appropriate lines on to the graph, estimate the angle in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21" y="1227619"/>
            <a:ext cx="2684937" cy="2568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22"/>
          <p:cNvCxnSpPr/>
          <p:nvPr/>
        </p:nvCxnSpPr>
        <p:spPr>
          <a:xfrm>
            <a:off x="3100195" y="1231804"/>
            <a:ext cx="0" cy="23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1" name="Google Shape;391;p22"/>
          <p:cNvGrpSpPr/>
          <p:nvPr/>
        </p:nvGrpSpPr>
        <p:grpSpPr>
          <a:xfrm>
            <a:off x="3961664" y="1235677"/>
            <a:ext cx="1356374" cy="819365"/>
            <a:chOff x="-2022025" y="1455875"/>
            <a:chExt cx="1034373" cy="1872833"/>
          </a:xfrm>
        </p:grpSpPr>
        <p:sp>
          <p:nvSpPr>
            <p:cNvPr id="392" name="Google Shape;392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93" name="Google Shape;393;p22"/>
            <p:cNvCxnSpPr/>
            <p:nvPr/>
          </p:nvCxnSpPr>
          <p:spPr>
            <a:xfrm rot="10800000">
              <a:off x="-2022025" y="332870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94" name="Google Shape;394;p22"/>
            <p:cNvCxnSpPr/>
            <p:nvPr/>
          </p:nvCxnSpPr>
          <p:spPr>
            <a:xfrm rot="10800000">
              <a:off x="-987652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95" name="Google Shape;395;p22"/>
          <p:cNvSpPr/>
          <p:nvPr/>
        </p:nvSpPr>
        <p:spPr>
          <a:xfrm>
            <a:off x="5098457" y="1840103"/>
            <a:ext cx="122700" cy="123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647881" y="1636434"/>
            <a:ext cx="651300" cy="651900"/>
          </a:xfrm>
          <a:prstGeom prst="arc">
            <a:avLst>
              <a:gd fmla="val 1967821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5366843" y="1495750"/>
            <a:ext cx="949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4353400" y="2071211"/>
            <a:ext cx="881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3743351" y="1207888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0" name="Google Shape;400;p22"/>
          <p:cNvGrpSpPr/>
          <p:nvPr/>
        </p:nvGrpSpPr>
        <p:grpSpPr>
          <a:xfrm>
            <a:off x="3961670" y="2553665"/>
            <a:ext cx="1357339" cy="1088321"/>
            <a:chOff x="-2022025" y="1455875"/>
            <a:chExt cx="1035109" cy="1802155"/>
          </a:xfrm>
        </p:grpSpPr>
        <p:sp>
          <p:nvSpPr>
            <p:cNvPr id="401" name="Google Shape;401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2" name="Google Shape;402;p22"/>
            <p:cNvCxnSpPr/>
            <p:nvPr/>
          </p:nvCxnSpPr>
          <p:spPr>
            <a:xfrm rot="10800000">
              <a:off x="-2022025" y="325803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3" name="Google Shape;403;p22"/>
            <p:cNvCxnSpPr/>
            <p:nvPr/>
          </p:nvCxnSpPr>
          <p:spPr>
            <a:xfrm rot="10800000">
              <a:off x="-98691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04" name="Google Shape;404;p22"/>
          <p:cNvSpPr/>
          <p:nvPr/>
        </p:nvSpPr>
        <p:spPr>
          <a:xfrm>
            <a:off x="5098457" y="3437459"/>
            <a:ext cx="122700" cy="123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4954587" y="2266180"/>
            <a:ext cx="543900" cy="544500"/>
          </a:xfrm>
          <a:prstGeom prst="arc">
            <a:avLst>
              <a:gd fmla="val 5399257" name="adj1"/>
              <a:gd fmla="val 841447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5354783" y="2967042"/>
            <a:ext cx="949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4312156" y="3638017"/>
            <a:ext cx="881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81.6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3743351" y="2513238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2714742" y="2114714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468225" y="4711451"/>
            <a:ext cx="6623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your calculator to work out the missing angle in each triangle, giving your answer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1" name="Google Shape;411;p22"/>
          <p:cNvGrpSpPr/>
          <p:nvPr/>
        </p:nvGrpSpPr>
        <p:grpSpPr>
          <a:xfrm>
            <a:off x="758646" y="5281947"/>
            <a:ext cx="1400645" cy="845959"/>
            <a:chOff x="-2022025" y="1455875"/>
            <a:chExt cx="1034373" cy="1872833"/>
          </a:xfrm>
        </p:grpSpPr>
        <p:sp>
          <p:nvSpPr>
            <p:cNvPr id="412" name="Google Shape;412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13" name="Google Shape;413;p22"/>
            <p:cNvCxnSpPr/>
            <p:nvPr/>
          </p:nvCxnSpPr>
          <p:spPr>
            <a:xfrm rot="10800000">
              <a:off x="-2022025" y="332870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4" name="Google Shape;414;p22"/>
            <p:cNvCxnSpPr/>
            <p:nvPr/>
          </p:nvCxnSpPr>
          <p:spPr>
            <a:xfrm rot="10800000">
              <a:off x="-987652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15" name="Google Shape;415;p22"/>
          <p:cNvSpPr/>
          <p:nvPr/>
        </p:nvSpPr>
        <p:spPr>
          <a:xfrm>
            <a:off x="1932532" y="5906228"/>
            <a:ext cx="126600" cy="12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34599" y="5695910"/>
            <a:ext cx="672600" cy="673200"/>
          </a:xfrm>
          <a:prstGeom prst="arc">
            <a:avLst>
              <a:gd fmla="val 1967821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2240813" y="5550632"/>
            <a:ext cx="980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1163151" y="6182242"/>
            <a:ext cx="910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533185" y="5253373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22"/>
          <p:cNvGrpSpPr/>
          <p:nvPr/>
        </p:nvGrpSpPr>
        <p:grpSpPr>
          <a:xfrm>
            <a:off x="758652" y="6414463"/>
            <a:ext cx="1401641" cy="1123824"/>
            <a:chOff x="-2022025" y="1455875"/>
            <a:chExt cx="1035109" cy="1802155"/>
          </a:xfrm>
        </p:grpSpPr>
        <p:sp>
          <p:nvSpPr>
            <p:cNvPr id="421" name="Google Shape;421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22" name="Google Shape;422;p22"/>
            <p:cNvCxnSpPr/>
            <p:nvPr/>
          </p:nvCxnSpPr>
          <p:spPr>
            <a:xfrm rot="10800000">
              <a:off x="-2022025" y="325803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23" name="Google Shape;423;p22"/>
            <p:cNvCxnSpPr/>
            <p:nvPr/>
          </p:nvCxnSpPr>
          <p:spPr>
            <a:xfrm rot="10800000">
              <a:off x="-98691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24" name="Google Shape;424;p22"/>
          <p:cNvSpPr/>
          <p:nvPr/>
        </p:nvSpPr>
        <p:spPr>
          <a:xfrm>
            <a:off x="1932532" y="7327133"/>
            <a:ext cx="126600" cy="12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1783965" y="6117616"/>
            <a:ext cx="561600" cy="562200"/>
          </a:xfrm>
          <a:prstGeom prst="arc">
            <a:avLst>
              <a:gd fmla="val 5399257" name="adj1"/>
              <a:gd fmla="val 841447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2240813" y="6853812"/>
            <a:ext cx="980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1163151" y="7546693"/>
            <a:ext cx="910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81.6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533185" y="6372739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9" name="Google Shape;429;p22"/>
          <p:cNvGrpSpPr/>
          <p:nvPr/>
        </p:nvGrpSpPr>
        <p:grpSpPr>
          <a:xfrm flipH="1">
            <a:off x="4008763" y="5218673"/>
            <a:ext cx="2127984" cy="850480"/>
            <a:chOff x="-2022025" y="1455875"/>
            <a:chExt cx="1006139" cy="1836889"/>
          </a:xfrm>
        </p:grpSpPr>
        <p:sp>
          <p:nvSpPr>
            <p:cNvPr id="430" name="Google Shape;430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1" name="Google Shape;431;p22"/>
            <p:cNvCxnSpPr/>
            <p:nvPr/>
          </p:nvCxnSpPr>
          <p:spPr>
            <a:xfrm rot="10800000">
              <a:off x="-2022025" y="329276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32" name="Google Shape;432;p22"/>
            <p:cNvCxnSpPr/>
            <p:nvPr/>
          </p:nvCxnSpPr>
          <p:spPr>
            <a:xfrm rot="10800000">
              <a:off x="-101588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33" name="Google Shape;433;p22"/>
          <p:cNvSpPr/>
          <p:nvPr/>
        </p:nvSpPr>
        <p:spPr>
          <a:xfrm flipH="1">
            <a:off x="4103082" y="5864705"/>
            <a:ext cx="126600" cy="12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 flipH="1">
            <a:off x="3811754" y="4911890"/>
            <a:ext cx="591900" cy="591900"/>
          </a:xfrm>
          <a:prstGeom prst="arc">
            <a:avLst>
              <a:gd fmla="val 5399257" name="adj1"/>
              <a:gd fmla="val 934344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 flipH="1">
            <a:off x="3484814" y="5522167"/>
            <a:ext cx="632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 flipH="1">
            <a:off x="4853506" y="6087222"/>
            <a:ext cx="803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3164804" y="5253373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2"/>
          <p:cNvSpPr/>
          <p:nvPr/>
        </p:nvSpPr>
        <p:spPr>
          <a:xfrm flipH="1" rot="-6781054">
            <a:off x="4651653" y="6265709"/>
            <a:ext cx="997409" cy="2358165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9" name="Google Shape;439;p22"/>
          <p:cNvCxnSpPr/>
          <p:nvPr/>
        </p:nvCxnSpPr>
        <p:spPr>
          <a:xfrm rot="9437257">
            <a:off x="3736941" y="6892872"/>
            <a:ext cx="235816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0" name="Google Shape;440;p22"/>
          <p:cNvCxnSpPr/>
          <p:nvPr/>
        </p:nvCxnSpPr>
        <p:spPr>
          <a:xfrm>
            <a:off x="6340506" y="6447819"/>
            <a:ext cx="0" cy="99740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1" name="Google Shape;441;p22"/>
          <p:cNvSpPr/>
          <p:nvPr/>
        </p:nvSpPr>
        <p:spPr>
          <a:xfrm flipH="1" rot="9425230">
            <a:off x="5945511" y="6552216"/>
            <a:ext cx="126371" cy="12731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2"/>
          <p:cNvSpPr/>
          <p:nvPr/>
        </p:nvSpPr>
        <p:spPr>
          <a:xfrm flipH="1" rot="-4629947">
            <a:off x="4053978" y="7161799"/>
            <a:ext cx="457838" cy="457838"/>
          </a:xfrm>
          <a:prstGeom prst="arc">
            <a:avLst>
              <a:gd fmla="val 5399257" name="adj1"/>
              <a:gd fmla="val 934344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 flipH="1">
            <a:off x="6386242" y="6709036"/>
            <a:ext cx="632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 flipH="1">
            <a:off x="4442198" y="6557331"/>
            <a:ext cx="803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3141305" y="6372739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5005125" y="279880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4350525" y="176200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1150675" y="5810263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>
            <a:off x="4285300" y="5469213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1816738" y="6694050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4556938" y="7213538"/>
            <a:ext cx="22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