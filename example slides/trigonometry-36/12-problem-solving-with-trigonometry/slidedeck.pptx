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b9cf977c0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b9cf977c0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b9cf977c04_0_7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2b9cf977c04_0_7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2b9cf977c04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2b9cf977c04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2bb2f7fb27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2bb2f7fb27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bb2f7fb273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bb2f7fb273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2bb2f7fb273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2bb2f7fb273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2bb2f7fb273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4" name="Google Shape;914;g2bb2f7fb273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2bb2f7fb273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4" name="Google Shape;964;g2bb2f7fb273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bb2f7fb273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8" name="Google Shape;988;g2bb2f7fb273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2bb2f7fb273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2bb2f7fb273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bb2f7fb273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bb2f7fb273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2bb2f7fb273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7" name="Google Shape;1077;g2bb2f7fb273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g2bb2f7fb27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4" name="Google Shape;1124;g2bb2f7fb27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2bb2f7fb273_0_5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6" name="Google Shape;1186;g2bb2f7fb273_0_5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g2bb2f7fb273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5" name="Google Shape;1215;g2bb2f7fb273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2b9cf977c04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2b9cf977c04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2bbeff60e2a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1" name="Google Shape;1291;g2bbeff60e2a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2bbeff60e2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2bbeff60e2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g2bbeff60e2a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7" name="Google Shape;1317;g2bbeff60e2a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bbeff60e2a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bbeff60e2a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g2bbeff60e2a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0" name="Google Shape;1360;g2bbeff60e2a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g2bbeff60e2a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1" name="Google Shape;1381;g2bbeff60e2a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2bbeff60e2a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2" name="Google Shape;1402;g2bbeff60e2a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2bbeff60e2a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5" name="Google Shape;1425;g2bbeff60e2a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2bbeff60e2a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5" name="Google Shape;1445;g2bbeff60e2a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4" name="Shape 1484"/>
        <p:cNvGrpSpPr/>
        <p:nvPr/>
      </p:nvGrpSpPr>
      <p:grpSpPr>
        <a:xfrm>
          <a:off x="0" y="0"/>
          <a:ext cx="0" cy="0"/>
          <a:chOff x="0" y="0"/>
          <a:chExt cx="0" cy="0"/>
        </a:xfrm>
      </p:grpSpPr>
      <p:sp>
        <p:nvSpPr>
          <p:cNvPr id="1485" name="Google Shape;1485;g2b9cf977c04_0_7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6" name="Google Shape;1486;g2b9cf977c04_0_7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2b9cf977c04_0_7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2b9cf977c04_0_7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2bb2f7fb273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0" name="Google Shape;1520;g2bb2f7fb273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2b9cf977c04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2b9cf977c04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2" name="Shape 1572"/>
        <p:cNvGrpSpPr/>
        <p:nvPr/>
      </p:nvGrpSpPr>
      <p:grpSpPr>
        <a:xfrm>
          <a:off x="0" y="0"/>
          <a:ext cx="0" cy="0"/>
          <a:chOff x="0" y="0"/>
          <a:chExt cx="0" cy="0"/>
        </a:xfrm>
      </p:grpSpPr>
      <p:sp>
        <p:nvSpPr>
          <p:cNvPr id="1573" name="Google Shape;1573;g2bb2f7fb273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4" name="Google Shape;1574;g2bb2f7fb273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g2bb2f7fb273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2" name="Google Shape;1592;g2bb2f7fb273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4" name="Shape 1604"/>
        <p:cNvGrpSpPr/>
        <p:nvPr/>
      </p:nvGrpSpPr>
      <p:grpSpPr>
        <a:xfrm>
          <a:off x="0" y="0"/>
          <a:ext cx="0" cy="0"/>
          <a:chOff x="0" y="0"/>
          <a:chExt cx="0" cy="0"/>
        </a:xfrm>
      </p:grpSpPr>
      <p:sp>
        <p:nvSpPr>
          <p:cNvPr id="1605" name="Google Shape;1605;g2bb2f7fb273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6" name="Google Shape;1606;g2bb2f7fb273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8" name="Shape 1628"/>
        <p:cNvGrpSpPr/>
        <p:nvPr/>
      </p:nvGrpSpPr>
      <p:grpSpPr>
        <a:xfrm>
          <a:off x="0" y="0"/>
          <a:ext cx="0" cy="0"/>
          <a:chOff x="0" y="0"/>
          <a:chExt cx="0" cy="0"/>
        </a:xfrm>
      </p:grpSpPr>
      <p:sp>
        <p:nvSpPr>
          <p:cNvPr id="1629" name="Google Shape;1629;g2bb2f7fb273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0" name="Google Shape;1630;g2bb2f7fb273_0_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4" name="Shape 1664"/>
        <p:cNvGrpSpPr/>
        <p:nvPr/>
      </p:nvGrpSpPr>
      <p:grpSpPr>
        <a:xfrm>
          <a:off x="0" y="0"/>
          <a:ext cx="0" cy="0"/>
          <a:chOff x="0" y="0"/>
          <a:chExt cx="0" cy="0"/>
        </a:xfrm>
      </p:grpSpPr>
      <p:sp>
        <p:nvSpPr>
          <p:cNvPr id="1665" name="Google Shape;1665;g2bb99e472e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6" name="Google Shape;1666;g2bb99e472e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6" name="Shape 1686"/>
        <p:cNvGrpSpPr/>
        <p:nvPr/>
      </p:nvGrpSpPr>
      <p:grpSpPr>
        <a:xfrm>
          <a:off x="0" y="0"/>
          <a:ext cx="0" cy="0"/>
          <a:chOff x="0" y="0"/>
          <a:chExt cx="0" cy="0"/>
        </a:xfrm>
      </p:grpSpPr>
      <p:sp>
        <p:nvSpPr>
          <p:cNvPr id="1687" name="Google Shape;1687;g2b9cf977c04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8" name="Google Shape;1688;g2b9cf977c04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1" name="Shape 1701"/>
        <p:cNvGrpSpPr/>
        <p:nvPr/>
      </p:nvGrpSpPr>
      <p:grpSpPr>
        <a:xfrm>
          <a:off x="0" y="0"/>
          <a:ext cx="0" cy="0"/>
          <a:chOff x="0" y="0"/>
          <a:chExt cx="0" cy="0"/>
        </a:xfrm>
      </p:grpSpPr>
      <p:sp>
        <p:nvSpPr>
          <p:cNvPr id="1702" name="Google Shape;1702;g2bb99e472e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3" name="Google Shape;1703;g2bb99e472e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8" name="Shape 1708"/>
        <p:cNvGrpSpPr/>
        <p:nvPr/>
      </p:nvGrpSpPr>
      <p:grpSpPr>
        <a:xfrm>
          <a:off x="0" y="0"/>
          <a:ext cx="0" cy="0"/>
          <a:chOff x="0" y="0"/>
          <a:chExt cx="0" cy="0"/>
        </a:xfrm>
      </p:grpSpPr>
      <p:sp>
        <p:nvSpPr>
          <p:cNvPr id="1709" name="Google Shape;1709;g2bb2f7fb273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0" name="Google Shape;1710;g2bb2f7fb273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g2bbeff60e2a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8" name="Google Shape;1728;g2bbeff60e2a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6" name="Shape 1746"/>
        <p:cNvGrpSpPr/>
        <p:nvPr/>
      </p:nvGrpSpPr>
      <p:grpSpPr>
        <a:xfrm>
          <a:off x="0" y="0"/>
          <a:ext cx="0" cy="0"/>
          <a:chOff x="0" y="0"/>
          <a:chExt cx="0" cy="0"/>
        </a:xfrm>
      </p:grpSpPr>
      <p:sp>
        <p:nvSpPr>
          <p:cNvPr id="1747" name="Google Shape;1747;g2bbeff60e2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8" name="Google Shape;1748;g2bbeff60e2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2" name="Google Shape;1772;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6" name="Shape 1776"/>
        <p:cNvGrpSpPr/>
        <p:nvPr/>
      </p:nvGrpSpPr>
      <p:grpSpPr>
        <a:xfrm>
          <a:off x="0" y="0"/>
          <a:ext cx="0" cy="0"/>
          <a:chOff x="0" y="0"/>
          <a:chExt cx="0" cy="0"/>
        </a:xfrm>
      </p:grpSpPr>
      <p:sp>
        <p:nvSpPr>
          <p:cNvPr id="1777" name="Google Shape;1777;g2bbeff60e2a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8" name="Google Shape;1778;g2bbeff60e2a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68.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68.png"/><Relationship Id="rId4" Type="http://schemas.openxmlformats.org/officeDocument/2006/relationships/image" Target="../media/image24.png"/><Relationship Id="rId9" Type="http://schemas.openxmlformats.org/officeDocument/2006/relationships/image" Target="../media/image14.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6.png"/><Relationship Id="rId8"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68.png"/><Relationship Id="rId4" Type="http://schemas.openxmlformats.org/officeDocument/2006/relationships/image" Target="../media/image28.png"/><Relationship Id="rId11" Type="http://schemas.openxmlformats.org/officeDocument/2006/relationships/image" Target="../media/image14.png"/><Relationship Id="rId10" Type="http://schemas.openxmlformats.org/officeDocument/2006/relationships/image" Target="../media/image37.png"/><Relationship Id="rId9"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5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5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6" name="Google Shape;746;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8" name="Google Shape;748;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5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5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8.xml"/><Relationship Id="rId3" Type="http://schemas.openxmlformats.org/officeDocument/2006/relationships/image" Target="../media/image55.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1.xml"/><Relationship Id="rId3" Type="http://schemas.openxmlformats.org/officeDocument/2006/relationships/image" Target="../media/image5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5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 Id="rId3" Type="http://schemas.openxmlformats.org/officeDocument/2006/relationships/image" Target="../media/image5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 Id="rId3"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8.xml"/><Relationship Id="rId3" Type="http://schemas.openxmlformats.org/officeDocument/2006/relationships/image" Target="../media/image56.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59.png"/><Relationship Id="rId4" Type="http://schemas.openxmlformats.org/officeDocument/2006/relationships/image" Target="../media/image58.png"/><Relationship Id="rId5"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58.png"/><Relationship Id="rId6"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2.xml"/><Relationship Id="rId3" Type="http://schemas.openxmlformats.org/officeDocument/2006/relationships/image" Target="../media/image61.png"/><Relationship Id="rId4" Type="http://schemas.openxmlformats.org/officeDocument/2006/relationships/image" Target="../media/image43.png"/><Relationship Id="rId5"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58.png"/><Relationship Id="rId4" Type="http://schemas.openxmlformats.org/officeDocument/2006/relationships/image" Target="../media/image57.png"/><Relationship Id="rId5" Type="http://schemas.openxmlformats.org/officeDocument/2006/relationships/image" Target="../media/image6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6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5.xml"/><Relationship Id="rId3" Type="http://schemas.openxmlformats.org/officeDocument/2006/relationships/image" Target="../media/image6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6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7.xml"/><Relationship Id="rId3" Type="http://schemas.openxmlformats.org/officeDocument/2006/relationships/image" Target="../media/image6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 Id="rId3" Type="http://schemas.openxmlformats.org/officeDocument/2006/relationships/image" Target="../media/image66.png"/><Relationship Id="rId4" Type="http://schemas.openxmlformats.org/officeDocument/2006/relationships/image" Target="../media/image65.png"/><Relationship Id="rId5" Type="http://schemas.openxmlformats.org/officeDocument/2006/relationships/image" Target="../media/image6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0.xml"/><Relationship Id="rId3" Type="http://schemas.openxmlformats.org/officeDocument/2006/relationships/image" Target="../media/image66.png"/><Relationship Id="rId4" Type="http://schemas.openxmlformats.org/officeDocument/2006/relationships/image" Target="../media/image65.png"/><Relationship Id="rId5" Type="http://schemas.openxmlformats.org/officeDocument/2006/relationships/image" Target="../media/image6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4.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trigonometry</a:t>
            </a:r>
            <a:endParaRPr/>
          </a:p>
        </p:txBody>
      </p:sp>
      <p:sp>
        <p:nvSpPr>
          <p:cNvPr id="756" name="Google Shape;756;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my knowledge of trigonometry to solve problems.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2" type="subTitle"/>
          </p:nvPr>
        </p:nvSpPr>
        <p:spPr>
          <a:xfrm>
            <a:off x="324000" y="8268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Trigonometric ratios</a:t>
            </a:r>
            <a:endParaRPr sz="1800"/>
          </a:p>
        </p:txBody>
      </p:sp>
      <p:sp>
        <p:nvSpPr>
          <p:cNvPr id="772" name="Google Shape;772;p66"/>
          <p:cNvSpPr txBox="1"/>
          <p:nvPr/>
        </p:nvSpPr>
        <p:spPr>
          <a:xfrm>
            <a:off x="324000" y="826800"/>
            <a:ext cx="8496000" cy="38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2000">
                <a:solidFill>
                  <a:srgbClr val="282828"/>
                </a:solidFill>
                <a:highlight>
                  <a:srgbClr val="FFFFFF"/>
                </a:highlight>
                <a:latin typeface="Lexend"/>
                <a:ea typeface="Lexend"/>
                <a:cs typeface="Lexend"/>
                <a:sym typeface="Lexend"/>
              </a:rPr>
              <a:t>The </a:t>
            </a:r>
            <a:r>
              <a:rPr lang="en-GB" sz="2000">
                <a:solidFill>
                  <a:srgbClr val="282828"/>
                </a:solidFill>
                <a:highlight>
                  <a:srgbClr val="FFFFFF"/>
                </a:highlight>
                <a:latin typeface="Lexend"/>
                <a:ea typeface="Lexend"/>
                <a:cs typeface="Lexend"/>
                <a:sym typeface="Lexend"/>
              </a:rPr>
              <a:t>trigonometric ratios</a:t>
            </a:r>
            <a:r>
              <a:rPr lang="en-GB" sz="2000">
                <a:solidFill>
                  <a:srgbClr val="282828"/>
                </a:solidFill>
                <a:highlight>
                  <a:srgbClr val="FFFFFF"/>
                </a:highlight>
                <a:latin typeface="Lexend"/>
                <a:ea typeface="Lexend"/>
                <a:cs typeface="Lexend"/>
                <a:sym typeface="Lexend"/>
              </a:rPr>
              <a:t> are ratios between each pair of lengths in a right-angled triangle:</a:t>
            </a:r>
            <a:endParaRPr sz="2000">
              <a:solidFill>
                <a:srgbClr val="282828"/>
              </a:solidFill>
              <a:highlight>
                <a:srgbClr val="FFFFFF"/>
              </a:highlight>
              <a:latin typeface="Lexend"/>
              <a:ea typeface="Lexend"/>
              <a:cs typeface="Lexend"/>
              <a:sym typeface="Lexend"/>
            </a:endParaRPr>
          </a:p>
          <a:p>
            <a:pPr indent="0" lvl="0" marL="0" rtl="0" algn="l">
              <a:lnSpc>
                <a:spcPct val="115000"/>
              </a:lnSpc>
              <a:spcBef>
                <a:spcPts val="0"/>
              </a:spcBef>
              <a:spcAft>
                <a:spcPts val="0"/>
              </a:spcAft>
              <a:buNone/>
            </a:pPr>
            <a:r>
              <a:rPr lang="en-GB" sz="2000">
                <a:solidFill>
                  <a:srgbClr val="282828"/>
                </a:solidFill>
                <a:highlight>
                  <a:srgbClr val="FFFFFF"/>
                </a:highlight>
                <a:latin typeface="Lexend"/>
                <a:ea typeface="Lexend"/>
                <a:cs typeface="Lexend"/>
                <a:sym typeface="Lexend"/>
              </a:rPr>
              <a:t>sin(</a:t>
            </a:r>
            <a:r>
              <a:rPr i="1" lang="en-GB" sz="2000">
                <a:solidFill>
                  <a:srgbClr val="282828"/>
                </a:solidFill>
                <a:highlight>
                  <a:srgbClr val="FFFFFF"/>
                </a:highlight>
                <a:latin typeface="Lexend"/>
                <a:ea typeface="Lexend"/>
                <a:cs typeface="Lexend"/>
                <a:sym typeface="Lexend"/>
              </a:rPr>
              <a:t>θ</a:t>
            </a:r>
            <a:r>
              <a:rPr lang="en-GB" sz="2000">
                <a:solidFill>
                  <a:srgbClr val="282828"/>
                </a:solidFill>
                <a:highlight>
                  <a:srgbClr val="FFFFFF"/>
                </a:highlight>
                <a:latin typeface="Lexend"/>
                <a:ea typeface="Lexend"/>
                <a:cs typeface="Lexend"/>
                <a:sym typeface="Lexend"/>
              </a:rPr>
              <a:t>°) =   opposite         cos(</a:t>
            </a:r>
            <a:r>
              <a:rPr i="1" lang="en-GB" sz="2000">
                <a:solidFill>
                  <a:srgbClr val="282828"/>
                </a:solidFill>
                <a:highlight>
                  <a:srgbClr val="FFFFFF"/>
                </a:highlight>
                <a:latin typeface="Lexend"/>
                <a:ea typeface="Lexend"/>
                <a:cs typeface="Lexend"/>
                <a:sym typeface="Lexend"/>
              </a:rPr>
              <a:t>θ</a:t>
            </a:r>
            <a:r>
              <a:rPr lang="en-GB" sz="2000">
                <a:solidFill>
                  <a:srgbClr val="282828"/>
                </a:solidFill>
                <a:highlight>
                  <a:srgbClr val="FFFFFF"/>
                </a:highlight>
                <a:latin typeface="Lexend"/>
                <a:ea typeface="Lexend"/>
                <a:cs typeface="Lexend"/>
                <a:sym typeface="Lexend"/>
              </a:rPr>
              <a:t>°) =   adjacent          tan(</a:t>
            </a:r>
            <a:r>
              <a:rPr i="1" lang="en-GB" sz="2000">
                <a:solidFill>
                  <a:srgbClr val="282828"/>
                </a:solidFill>
                <a:highlight>
                  <a:srgbClr val="FFFFFF"/>
                </a:highlight>
                <a:latin typeface="Lexend"/>
                <a:ea typeface="Lexend"/>
                <a:cs typeface="Lexend"/>
                <a:sym typeface="Lexend"/>
              </a:rPr>
              <a:t>θ</a:t>
            </a:r>
            <a:r>
              <a:rPr lang="en-GB" sz="2000">
                <a:solidFill>
                  <a:srgbClr val="282828"/>
                </a:solidFill>
                <a:highlight>
                  <a:srgbClr val="FFFFFF"/>
                </a:highlight>
                <a:latin typeface="Lexend"/>
                <a:ea typeface="Lexend"/>
                <a:cs typeface="Lexend"/>
                <a:sym typeface="Lexend"/>
              </a:rPr>
              <a:t>°) = opposite</a:t>
            </a:r>
            <a:endParaRPr sz="2000">
              <a:solidFill>
                <a:srgbClr val="282828"/>
              </a:solidFill>
              <a:highlight>
                <a:srgbClr val="FFFFFF"/>
              </a:highlight>
              <a:latin typeface="Lexend"/>
              <a:ea typeface="Lexend"/>
              <a:cs typeface="Lexend"/>
              <a:sym typeface="Lexend"/>
            </a:endParaRPr>
          </a:p>
          <a:p>
            <a:pPr indent="0" lvl="0" marL="0" rtl="0" algn="l">
              <a:lnSpc>
                <a:spcPct val="115000"/>
              </a:lnSpc>
              <a:spcBef>
                <a:spcPts val="0"/>
              </a:spcBef>
              <a:spcAft>
                <a:spcPts val="0"/>
              </a:spcAft>
              <a:buNone/>
            </a:pPr>
            <a:r>
              <a:rPr lang="en-GB" sz="2000">
                <a:solidFill>
                  <a:srgbClr val="282828"/>
                </a:solidFill>
                <a:highlight>
                  <a:srgbClr val="FFFFFF"/>
                </a:highlight>
                <a:latin typeface="Lexend"/>
                <a:ea typeface="Lexend"/>
                <a:cs typeface="Lexend"/>
                <a:sym typeface="Lexend"/>
              </a:rPr>
              <a:t>               hypotenuse                       hypotenuse                      adjacent</a:t>
            </a:r>
            <a:endParaRPr sz="2000">
              <a:solidFill>
                <a:srgbClr val="282828"/>
              </a:solidFill>
              <a:highlight>
                <a:srgbClr val="FFFFFF"/>
              </a:highlight>
              <a:latin typeface="Lexend"/>
              <a:ea typeface="Lexend"/>
              <a:cs typeface="Lexend"/>
              <a:sym typeface="Lexend"/>
            </a:endParaRPr>
          </a:p>
          <a:p>
            <a:pPr indent="0" lvl="0" marL="0" rtl="0" algn="l">
              <a:lnSpc>
                <a:spcPct val="115000"/>
              </a:lnSpc>
              <a:spcBef>
                <a:spcPts val="0"/>
              </a:spcBef>
              <a:spcAft>
                <a:spcPts val="0"/>
              </a:spcAft>
              <a:buNone/>
            </a:pPr>
            <a:r>
              <a:t/>
            </a:r>
            <a:endParaRPr sz="2000">
              <a:solidFill>
                <a:srgbClr val="282828"/>
              </a:solidFill>
              <a:highlight>
                <a:srgbClr val="FFFFFF"/>
              </a:highlight>
              <a:latin typeface="Lexend"/>
              <a:ea typeface="Lexend"/>
              <a:cs typeface="Lexend"/>
              <a:sym typeface="Lexend"/>
            </a:endParaRPr>
          </a:p>
          <a:p>
            <a:pPr indent="0" lvl="0" marL="0" rtl="0" algn="l">
              <a:lnSpc>
                <a:spcPct val="115000"/>
              </a:lnSpc>
              <a:spcBef>
                <a:spcPts val="0"/>
              </a:spcBef>
              <a:spcAft>
                <a:spcPts val="1000"/>
              </a:spcAft>
              <a:buNone/>
            </a:pPr>
            <a:r>
              <a:t/>
            </a:r>
            <a:endParaRPr sz="1800">
              <a:solidFill>
                <a:srgbClr val="282828"/>
              </a:solidFill>
              <a:latin typeface="Lexend"/>
              <a:ea typeface="Lexend"/>
              <a:cs typeface="Lexend"/>
              <a:sym typeface="Lexend"/>
            </a:endParaRPr>
          </a:p>
        </p:txBody>
      </p:sp>
      <p:cxnSp>
        <p:nvCxnSpPr>
          <p:cNvPr id="773" name="Google Shape;773;p66"/>
          <p:cNvCxnSpPr/>
          <p:nvPr/>
        </p:nvCxnSpPr>
        <p:spPr>
          <a:xfrm>
            <a:off x="1405250" y="1860018"/>
            <a:ext cx="1364400" cy="0"/>
          </a:xfrm>
          <a:prstGeom prst="straightConnector1">
            <a:avLst/>
          </a:prstGeom>
          <a:noFill/>
          <a:ln cap="flat" cmpd="sng" w="19050">
            <a:solidFill>
              <a:srgbClr val="000000"/>
            </a:solidFill>
            <a:prstDash val="solid"/>
            <a:round/>
            <a:headEnd len="med" w="med" type="none"/>
            <a:tailEnd len="med" w="med" type="none"/>
          </a:ln>
        </p:spPr>
      </p:cxnSp>
      <p:cxnSp>
        <p:nvCxnSpPr>
          <p:cNvPr id="774" name="Google Shape;774;p66"/>
          <p:cNvCxnSpPr/>
          <p:nvPr/>
        </p:nvCxnSpPr>
        <p:spPr>
          <a:xfrm>
            <a:off x="4495800" y="1860018"/>
            <a:ext cx="1364400" cy="0"/>
          </a:xfrm>
          <a:prstGeom prst="straightConnector1">
            <a:avLst/>
          </a:prstGeom>
          <a:noFill/>
          <a:ln cap="flat" cmpd="sng" w="19050">
            <a:solidFill>
              <a:srgbClr val="000000"/>
            </a:solidFill>
            <a:prstDash val="solid"/>
            <a:round/>
            <a:headEnd len="med" w="med" type="none"/>
            <a:tailEnd len="med" w="med" type="none"/>
          </a:ln>
        </p:spPr>
      </p:cxnSp>
      <p:cxnSp>
        <p:nvCxnSpPr>
          <p:cNvPr id="775" name="Google Shape;775;p66"/>
          <p:cNvCxnSpPr/>
          <p:nvPr/>
        </p:nvCxnSpPr>
        <p:spPr>
          <a:xfrm>
            <a:off x="7490125" y="1860025"/>
            <a:ext cx="1081200" cy="0"/>
          </a:xfrm>
          <a:prstGeom prst="straightConnector1">
            <a:avLst/>
          </a:prstGeom>
          <a:noFill/>
          <a:ln cap="flat" cmpd="sng" w="19050">
            <a:solidFill>
              <a:srgbClr val="000000"/>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781" name="Google Shape;781;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782" name="Google Shape;782;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trigonometry</a:t>
            </a:r>
            <a:endParaRPr/>
          </a:p>
        </p:txBody>
      </p:sp>
      <p:pic>
        <p:nvPicPr>
          <p:cNvPr id="783" name="Google Shape;783;p67"/>
          <p:cNvPicPr preferRelativeResize="0"/>
          <p:nvPr/>
        </p:nvPicPr>
        <p:blipFill>
          <a:blip r:embed="rId3">
            <a:alphaModFix/>
          </a:blip>
          <a:stretch>
            <a:fillRect/>
          </a:stretch>
        </p:blipFill>
        <p:spPr>
          <a:xfrm>
            <a:off x="418385" y="205949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789" name="Google Shape;789;p68"/>
          <p:cNvCxnSpPr/>
          <p:nvPr/>
        </p:nvCxnSpPr>
        <p:spPr>
          <a:xfrm>
            <a:off x="1992050" y="2571750"/>
            <a:ext cx="1187400" cy="0"/>
          </a:xfrm>
          <a:prstGeom prst="straightConnector1">
            <a:avLst/>
          </a:prstGeom>
          <a:noFill/>
          <a:ln cap="flat" cmpd="sng" w="38100">
            <a:solidFill>
              <a:srgbClr val="808080"/>
            </a:solidFill>
            <a:prstDash val="dash"/>
            <a:round/>
            <a:headEnd len="med" w="med" type="none"/>
            <a:tailEnd len="med" w="med" type="none"/>
          </a:ln>
        </p:spPr>
      </p:cxnSp>
      <p:sp>
        <p:nvSpPr>
          <p:cNvPr id="790" name="Google Shape;790;p68"/>
          <p:cNvSpPr/>
          <p:nvPr/>
        </p:nvSpPr>
        <p:spPr>
          <a:xfrm>
            <a:off x="588325" y="1374550"/>
            <a:ext cx="2587364" cy="1197189"/>
          </a:xfrm>
          <a:custGeom>
            <a:rect b="b" l="l" r="r" t="t"/>
            <a:pathLst>
              <a:path extrusionOk="0" h="35391" w="76487">
                <a:moveTo>
                  <a:pt x="0" y="35291"/>
                </a:moveTo>
                <a:lnTo>
                  <a:pt x="48300" y="35391"/>
                </a:lnTo>
                <a:lnTo>
                  <a:pt x="76487" y="0"/>
                </a:lnTo>
                <a:close/>
              </a:path>
            </a:pathLst>
          </a:custGeom>
          <a:noFill/>
          <a:ln cap="flat" cmpd="sng" w="38100">
            <a:solidFill>
              <a:srgbClr val="000000"/>
            </a:solidFill>
            <a:prstDash val="solid"/>
            <a:round/>
            <a:headEnd len="med" w="med" type="none"/>
            <a:tailEnd len="med" w="med" type="none"/>
          </a:ln>
        </p:spPr>
      </p:sp>
      <p:cxnSp>
        <p:nvCxnSpPr>
          <p:cNvPr id="791" name="Google Shape;791;p68"/>
          <p:cNvCxnSpPr/>
          <p:nvPr/>
        </p:nvCxnSpPr>
        <p:spPr>
          <a:xfrm>
            <a:off x="576200" y="2713350"/>
            <a:ext cx="1660500" cy="6300"/>
          </a:xfrm>
          <a:prstGeom prst="straightConnector1">
            <a:avLst/>
          </a:prstGeom>
          <a:noFill/>
          <a:ln cap="flat" cmpd="sng" w="28575">
            <a:solidFill>
              <a:srgbClr val="000000"/>
            </a:solidFill>
            <a:prstDash val="solid"/>
            <a:round/>
            <a:headEnd len="med" w="med" type="triangle"/>
            <a:tailEnd len="med" w="med" type="triangle"/>
          </a:ln>
        </p:spPr>
      </p:cxnSp>
      <p:cxnSp>
        <p:nvCxnSpPr>
          <p:cNvPr id="792" name="Google Shape;792;p68"/>
          <p:cNvCxnSpPr/>
          <p:nvPr/>
        </p:nvCxnSpPr>
        <p:spPr>
          <a:xfrm flipH="1" rot="10800000">
            <a:off x="496914" y="1233257"/>
            <a:ext cx="2628000" cy="1239900"/>
          </a:xfrm>
          <a:prstGeom prst="straightConnector1">
            <a:avLst/>
          </a:prstGeom>
          <a:noFill/>
          <a:ln cap="flat" cmpd="sng" w="28575">
            <a:solidFill>
              <a:srgbClr val="000000"/>
            </a:solidFill>
            <a:prstDash val="solid"/>
            <a:round/>
            <a:headEnd len="med" w="med" type="triangle"/>
            <a:tailEnd len="med" w="med" type="triangle"/>
          </a:ln>
        </p:spPr>
      </p:cxnSp>
      <p:sp>
        <p:nvSpPr>
          <p:cNvPr id="793" name="Google Shape;793;p68"/>
          <p:cNvSpPr/>
          <p:nvPr/>
        </p:nvSpPr>
        <p:spPr>
          <a:xfrm>
            <a:off x="-189657" y="1774050"/>
            <a:ext cx="1595400" cy="1595400"/>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4" name="Google Shape;794;p68"/>
          <p:cNvSpPr txBox="1"/>
          <p:nvPr/>
        </p:nvSpPr>
        <p:spPr>
          <a:xfrm>
            <a:off x="14448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795" name="Google Shape;795;p68"/>
          <p:cNvSpPr txBox="1"/>
          <p:nvPr/>
        </p:nvSpPr>
        <p:spPr>
          <a:xfrm>
            <a:off x="1166457" y="272802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9 cm</a:t>
            </a:r>
            <a:endParaRPr sz="1800">
              <a:solidFill>
                <a:srgbClr val="000000"/>
              </a:solidFill>
              <a:latin typeface="Lexend"/>
              <a:ea typeface="Lexend"/>
              <a:cs typeface="Lexend"/>
              <a:sym typeface="Lexend"/>
            </a:endParaRPr>
          </a:p>
        </p:txBody>
      </p:sp>
      <p:sp>
        <p:nvSpPr>
          <p:cNvPr id="796" name="Google Shape;796;p68"/>
          <p:cNvSpPr txBox="1"/>
          <p:nvPr/>
        </p:nvSpPr>
        <p:spPr>
          <a:xfrm>
            <a:off x="1209457" y="151602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16 cm</a:t>
            </a:r>
            <a:endParaRPr sz="1800">
              <a:solidFill>
                <a:srgbClr val="000000"/>
              </a:solidFill>
              <a:latin typeface="Lexend"/>
              <a:ea typeface="Lexend"/>
              <a:cs typeface="Lexend"/>
              <a:sym typeface="Lexend"/>
            </a:endParaRPr>
          </a:p>
        </p:txBody>
      </p:sp>
      <p:sp>
        <p:nvSpPr>
          <p:cNvPr id="797" name="Google Shape;797;p68"/>
          <p:cNvSpPr txBox="1"/>
          <p:nvPr/>
        </p:nvSpPr>
        <p:spPr>
          <a:xfrm>
            <a:off x="324000" y="759300"/>
            <a:ext cx="82377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To calculate the </a:t>
            </a:r>
            <a:r>
              <a:rPr lang="en-GB" sz="1800">
                <a:latin typeface="Lexend"/>
                <a:ea typeface="Lexend"/>
                <a:cs typeface="Lexend"/>
                <a:sym typeface="Lexend"/>
              </a:rPr>
              <a:t>area</a:t>
            </a:r>
            <a:r>
              <a:rPr lang="en-GB" sz="1800">
                <a:solidFill>
                  <a:srgbClr val="000000"/>
                </a:solidFill>
                <a:latin typeface="Lexend"/>
                <a:ea typeface="Lexend"/>
                <a:cs typeface="Lexend"/>
                <a:sym typeface="Lexend"/>
              </a:rPr>
              <a:t> of this triangle, we need to know the </a:t>
            </a:r>
            <a:r>
              <a:rPr lang="en-GB" sz="1800">
                <a:latin typeface="Lexend"/>
                <a:ea typeface="Lexend"/>
                <a:cs typeface="Lexend"/>
                <a:sym typeface="Lexend"/>
              </a:rPr>
              <a:t>perpendicular height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798" name="Google Shape;798;p68"/>
          <p:cNvSpPr txBox="1"/>
          <p:nvPr/>
        </p:nvSpPr>
        <p:spPr>
          <a:xfrm>
            <a:off x="4320000" y="121650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Pythagoras’ theorem and the trigonometric </a:t>
            </a:r>
            <a:r>
              <a:rPr lang="en-GB" sz="1800">
                <a:latin typeface="Lexend"/>
                <a:ea typeface="Lexend"/>
                <a:cs typeface="Lexend"/>
                <a:sym typeface="Lexend"/>
              </a:rPr>
              <a:t>ratios</a:t>
            </a:r>
            <a:r>
              <a:rPr lang="en-GB" sz="1800">
                <a:solidFill>
                  <a:srgbClr val="000000"/>
                </a:solidFill>
                <a:latin typeface="Lexend"/>
                <a:ea typeface="Lexend"/>
                <a:cs typeface="Lexend"/>
                <a:sym typeface="Lexend"/>
              </a:rPr>
              <a:t> require right-angled triangles. </a:t>
            </a:r>
            <a:endParaRPr sz="1800">
              <a:solidFill>
                <a:srgbClr val="000000"/>
              </a:solidFill>
              <a:latin typeface="Lexend"/>
              <a:ea typeface="Lexend"/>
              <a:cs typeface="Lexend"/>
              <a:sym typeface="Lexend"/>
            </a:endParaRPr>
          </a:p>
        </p:txBody>
      </p:sp>
      <p:sp>
        <p:nvSpPr>
          <p:cNvPr id="799" name="Google Shape;799;p68"/>
          <p:cNvSpPr txBox="1"/>
          <p:nvPr/>
        </p:nvSpPr>
        <p:spPr>
          <a:xfrm>
            <a:off x="4320000" y="228330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Where can a right-angled triangle be created?</a:t>
            </a:r>
            <a:endParaRPr sz="1800">
              <a:solidFill>
                <a:srgbClr val="000000"/>
              </a:solidFill>
              <a:latin typeface="Lexend"/>
              <a:ea typeface="Lexend"/>
              <a:cs typeface="Lexend"/>
              <a:sym typeface="Lexend"/>
            </a:endParaRPr>
          </a:p>
        </p:txBody>
      </p:sp>
      <p:cxnSp>
        <p:nvCxnSpPr>
          <p:cNvPr id="800" name="Google Shape;800;p68"/>
          <p:cNvCxnSpPr/>
          <p:nvPr/>
        </p:nvCxnSpPr>
        <p:spPr>
          <a:xfrm rot="5400000">
            <a:off x="2511300" y="2035650"/>
            <a:ext cx="1325700" cy="0"/>
          </a:xfrm>
          <a:prstGeom prst="straightConnector1">
            <a:avLst/>
          </a:prstGeom>
          <a:noFill/>
          <a:ln cap="flat" cmpd="sng" w="38100">
            <a:solidFill>
              <a:srgbClr val="808080"/>
            </a:solidFill>
            <a:prstDash val="dash"/>
            <a:round/>
            <a:headEnd len="med" w="med" type="none"/>
            <a:tailEnd len="med" w="med" type="none"/>
          </a:ln>
        </p:spPr>
      </p:cxnSp>
      <p:sp>
        <p:nvSpPr>
          <p:cNvPr id="801" name="Google Shape;801;p68"/>
          <p:cNvSpPr/>
          <p:nvPr/>
        </p:nvSpPr>
        <p:spPr>
          <a:xfrm>
            <a:off x="3032550" y="2430150"/>
            <a:ext cx="141600" cy="141600"/>
          </a:xfrm>
          <a:prstGeom prst="rect">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2" name="Google Shape;802;p68"/>
          <p:cNvSpPr txBox="1"/>
          <p:nvPr/>
        </p:nvSpPr>
        <p:spPr>
          <a:xfrm>
            <a:off x="4320000" y="293325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Extending the base edge and dropping a perpendicular line.</a:t>
            </a:r>
            <a:endParaRPr sz="2000">
              <a:solidFill>
                <a:srgbClr val="000000"/>
              </a:solidFill>
              <a:latin typeface="Kalam"/>
              <a:ea typeface="Kalam"/>
              <a:cs typeface="Kalam"/>
              <a:sym typeface="Kalam"/>
            </a:endParaRPr>
          </a:p>
        </p:txBody>
      </p:sp>
      <p:sp>
        <p:nvSpPr>
          <p:cNvPr id="803" name="Google Shape;803;p68"/>
          <p:cNvSpPr/>
          <p:nvPr/>
        </p:nvSpPr>
        <p:spPr>
          <a:xfrm flipH="1">
            <a:off x="597675" y="3241025"/>
            <a:ext cx="2628000" cy="1197300"/>
          </a:xfrm>
          <a:prstGeom prst="rtTriangl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68"/>
          <p:cNvSpPr/>
          <p:nvPr/>
        </p:nvSpPr>
        <p:spPr>
          <a:xfrm>
            <a:off x="-189657" y="3659743"/>
            <a:ext cx="1595400" cy="1595400"/>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5" name="Google Shape;805;p68"/>
          <p:cNvSpPr txBox="1"/>
          <p:nvPr/>
        </p:nvSpPr>
        <p:spPr>
          <a:xfrm>
            <a:off x="1444875" y="4100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806" name="Google Shape;806;p68"/>
          <p:cNvCxnSpPr/>
          <p:nvPr/>
        </p:nvCxnSpPr>
        <p:spPr>
          <a:xfrm flipH="1" rot="10800000">
            <a:off x="554836" y="3074928"/>
            <a:ext cx="2628000" cy="1239900"/>
          </a:xfrm>
          <a:prstGeom prst="straightConnector1">
            <a:avLst/>
          </a:prstGeom>
          <a:noFill/>
          <a:ln cap="flat" cmpd="sng" w="28575">
            <a:solidFill>
              <a:srgbClr val="000000"/>
            </a:solidFill>
            <a:prstDash val="solid"/>
            <a:round/>
            <a:headEnd len="med" w="med" type="triangle"/>
            <a:tailEnd len="med" w="med" type="triangle"/>
          </a:ln>
        </p:spPr>
      </p:cxnSp>
      <p:sp>
        <p:nvSpPr>
          <p:cNvPr id="807" name="Google Shape;807;p68"/>
          <p:cNvSpPr txBox="1"/>
          <p:nvPr/>
        </p:nvSpPr>
        <p:spPr>
          <a:xfrm>
            <a:off x="1267380" y="3357698"/>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16 cm</a:t>
            </a:r>
            <a:endParaRPr sz="1800">
              <a:solidFill>
                <a:srgbClr val="000000"/>
              </a:solidFill>
              <a:latin typeface="Lexend"/>
              <a:ea typeface="Lexend"/>
              <a:cs typeface="Lexend"/>
              <a:sym typeface="Lexend"/>
            </a:endParaRPr>
          </a:p>
        </p:txBody>
      </p:sp>
      <p:sp>
        <p:nvSpPr>
          <p:cNvPr id="808" name="Google Shape;808;p68"/>
          <p:cNvSpPr/>
          <p:nvPr/>
        </p:nvSpPr>
        <p:spPr>
          <a:xfrm>
            <a:off x="3084582" y="4296057"/>
            <a:ext cx="141600" cy="141600"/>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09" name="Google Shape;809;p68"/>
          <p:cNvCxnSpPr/>
          <p:nvPr/>
        </p:nvCxnSpPr>
        <p:spPr>
          <a:xfrm>
            <a:off x="3389500" y="3240000"/>
            <a:ext cx="0" cy="1201500"/>
          </a:xfrm>
          <a:prstGeom prst="straightConnector1">
            <a:avLst/>
          </a:prstGeom>
          <a:noFill/>
          <a:ln cap="flat" cmpd="sng" w="28575">
            <a:solidFill>
              <a:srgbClr val="000000"/>
            </a:solidFill>
            <a:prstDash val="solid"/>
            <a:round/>
            <a:headEnd len="med" w="med" type="triangle"/>
            <a:tailEnd len="med" w="med" type="triangle"/>
          </a:ln>
        </p:spPr>
      </p:cxnSp>
      <p:sp>
        <p:nvSpPr>
          <p:cNvPr id="810" name="Google Shape;810;p68"/>
          <p:cNvSpPr txBox="1"/>
          <p:nvPr/>
        </p:nvSpPr>
        <p:spPr>
          <a:xfrm>
            <a:off x="3432446" y="3627599"/>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11" name="Google Shape;811;p68"/>
          <p:cNvSpPr txBox="1"/>
          <p:nvPr/>
        </p:nvSpPr>
        <p:spPr>
          <a:xfrm>
            <a:off x="4320000" y="3731100"/>
            <a:ext cx="44703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 area would be</a:t>
            </a:r>
            <a:endParaRPr sz="1800">
              <a:solidFill>
                <a:srgbClr val="000000"/>
              </a:solidFill>
              <a:latin typeface="Lexend"/>
              <a:ea typeface="Lexend"/>
              <a:cs typeface="Lexend"/>
              <a:sym typeface="Lexend"/>
            </a:endParaRPr>
          </a:p>
        </p:txBody>
      </p:sp>
      <p:sp>
        <p:nvSpPr>
          <p:cNvPr id="812" name="Google Shape;812;p68"/>
          <p:cNvSpPr txBox="1"/>
          <p:nvPr/>
        </p:nvSpPr>
        <p:spPr>
          <a:xfrm>
            <a:off x="5824425" y="4191475"/>
            <a:ext cx="9516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 9 </a:t>
            </a:r>
            <a:r>
              <a:rPr lang="en-GB" sz="2000">
                <a:solidFill>
                  <a:schemeClr val="dk1"/>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a</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13" name="Google Shape;813;p68" title="one half"/>
          <p:cNvPicPr preferRelativeResize="0"/>
          <p:nvPr/>
        </p:nvPicPr>
        <p:blipFill>
          <a:blip r:embed="rId3">
            <a:alphaModFix/>
          </a:blip>
          <a:stretch>
            <a:fillRect/>
          </a:stretch>
        </p:blipFill>
        <p:spPr>
          <a:xfrm>
            <a:off x="5604341" y="4110844"/>
            <a:ext cx="141600" cy="46426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69"/>
          <p:cNvSpPr/>
          <p:nvPr/>
        </p:nvSpPr>
        <p:spPr>
          <a:xfrm rot="-1535311">
            <a:off x="1811173" y="1979556"/>
            <a:ext cx="141698" cy="141698"/>
          </a:xfrm>
          <a:prstGeom prst="rect">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9" name="Google Shape;819;p69"/>
          <p:cNvSpPr/>
          <p:nvPr/>
        </p:nvSpPr>
        <p:spPr>
          <a:xfrm rot="9235479">
            <a:off x="723814" y="3721836"/>
            <a:ext cx="1412799" cy="687881"/>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0" name="Google Shape;820;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821" name="Google Shape;821;p69"/>
          <p:cNvCxnSpPr/>
          <p:nvPr/>
        </p:nvCxnSpPr>
        <p:spPr>
          <a:xfrm rot="10800000">
            <a:off x="1910500" y="1954875"/>
            <a:ext cx="310500" cy="618600"/>
          </a:xfrm>
          <a:prstGeom prst="straightConnector1">
            <a:avLst/>
          </a:prstGeom>
          <a:noFill/>
          <a:ln cap="flat" cmpd="sng" w="38100">
            <a:solidFill>
              <a:srgbClr val="808080"/>
            </a:solidFill>
            <a:prstDash val="dash"/>
            <a:round/>
            <a:headEnd len="med" w="med" type="none"/>
            <a:tailEnd len="med" w="med" type="none"/>
          </a:ln>
        </p:spPr>
      </p:cxnSp>
      <p:cxnSp>
        <p:nvCxnSpPr>
          <p:cNvPr id="822" name="Google Shape;822;p69"/>
          <p:cNvCxnSpPr/>
          <p:nvPr/>
        </p:nvCxnSpPr>
        <p:spPr>
          <a:xfrm>
            <a:off x="576200" y="2713350"/>
            <a:ext cx="1660500" cy="6300"/>
          </a:xfrm>
          <a:prstGeom prst="straightConnector1">
            <a:avLst/>
          </a:prstGeom>
          <a:noFill/>
          <a:ln cap="flat" cmpd="sng" w="28575">
            <a:solidFill>
              <a:srgbClr val="000000"/>
            </a:solidFill>
            <a:prstDash val="solid"/>
            <a:round/>
            <a:headEnd len="med" w="med" type="triangle"/>
            <a:tailEnd len="med" w="med" type="triangle"/>
          </a:ln>
        </p:spPr>
      </p:cxnSp>
      <p:cxnSp>
        <p:nvCxnSpPr>
          <p:cNvPr id="823" name="Google Shape;823;p69"/>
          <p:cNvCxnSpPr/>
          <p:nvPr/>
        </p:nvCxnSpPr>
        <p:spPr>
          <a:xfrm flipH="1" rot="10800000">
            <a:off x="496914" y="1233257"/>
            <a:ext cx="2628000" cy="1239900"/>
          </a:xfrm>
          <a:prstGeom prst="straightConnector1">
            <a:avLst/>
          </a:prstGeom>
          <a:noFill/>
          <a:ln cap="flat" cmpd="sng" w="28575">
            <a:solidFill>
              <a:srgbClr val="000000"/>
            </a:solidFill>
            <a:prstDash val="solid"/>
            <a:round/>
            <a:headEnd len="med" w="med" type="triangle"/>
            <a:tailEnd len="med" w="med" type="triangle"/>
          </a:ln>
        </p:spPr>
      </p:cxnSp>
      <p:sp>
        <p:nvSpPr>
          <p:cNvPr id="824" name="Google Shape;824;p69"/>
          <p:cNvSpPr/>
          <p:nvPr/>
        </p:nvSpPr>
        <p:spPr>
          <a:xfrm>
            <a:off x="-189657" y="1774050"/>
            <a:ext cx="1595400" cy="1595400"/>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25" name="Google Shape;825;p69"/>
          <p:cNvSpPr txBox="1"/>
          <p:nvPr/>
        </p:nvSpPr>
        <p:spPr>
          <a:xfrm>
            <a:off x="1444875" y="2214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26" name="Google Shape;826;p69"/>
          <p:cNvSpPr txBox="1"/>
          <p:nvPr/>
        </p:nvSpPr>
        <p:spPr>
          <a:xfrm>
            <a:off x="1166457" y="272802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9 cm</a:t>
            </a:r>
            <a:endParaRPr sz="1800">
              <a:solidFill>
                <a:srgbClr val="000000"/>
              </a:solidFill>
              <a:latin typeface="Lexend"/>
              <a:ea typeface="Lexend"/>
              <a:cs typeface="Lexend"/>
              <a:sym typeface="Lexend"/>
            </a:endParaRPr>
          </a:p>
        </p:txBody>
      </p:sp>
      <p:sp>
        <p:nvSpPr>
          <p:cNvPr id="827" name="Google Shape;827;p69"/>
          <p:cNvSpPr txBox="1"/>
          <p:nvPr/>
        </p:nvSpPr>
        <p:spPr>
          <a:xfrm>
            <a:off x="1209457" y="151602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16 cm</a:t>
            </a:r>
            <a:endParaRPr sz="1800">
              <a:solidFill>
                <a:srgbClr val="000000"/>
              </a:solidFill>
              <a:latin typeface="Lexend"/>
              <a:ea typeface="Lexend"/>
              <a:cs typeface="Lexend"/>
              <a:sym typeface="Lexend"/>
            </a:endParaRPr>
          </a:p>
        </p:txBody>
      </p:sp>
      <p:sp>
        <p:nvSpPr>
          <p:cNvPr id="828" name="Google Shape;828;p69"/>
          <p:cNvSpPr txBox="1"/>
          <p:nvPr/>
        </p:nvSpPr>
        <p:spPr>
          <a:xfrm>
            <a:off x="324000" y="759300"/>
            <a:ext cx="82377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To calculate the </a:t>
            </a:r>
            <a:r>
              <a:rPr lang="en-GB" sz="1800">
                <a:latin typeface="Lexend"/>
                <a:ea typeface="Lexend"/>
                <a:cs typeface="Lexend"/>
                <a:sym typeface="Lexend"/>
              </a:rPr>
              <a:t>area</a:t>
            </a:r>
            <a:r>
              <a:rPr lang="en-GB" sz="1800">
                <a:solidFill>
                  <a:srgbClr val="000000"/>
                </a:solidFill>
                <a:latin typeface="Lexend"/>
                <a:ea typeface="Lexend"/>
                <a:cs typeface="Lexend"/>
                <a:sym typeface="Lexend"/>
              </a:rPr>
              <a:t> of this triangle, we need to know the </a:t>
            </a:r>
            <a:r>
              <a:rPr lang="en-GB" sz="1800">
                <a:latin typeface="Lexend"/>
                <a:ea typeface="Lexend"/>
                <a:cs typeface="Lexend"/>
                <a:sym typeface="Lexend"/>
              </a:rPr>
              <a:t>perpendicular height</a:t>
            </a:r>
            <a:r>
              <a:rPr lang="en-GB" sz="1800">
                <a:solidFill>
                  <a:srgbClr val="000000"/>
                </a:solidFill>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829" name="Google Shape;829;p69"/>
          <p:cNvSpPr txBox="1"/>
          <p:nvPr/>
        </p:nvSpPr>
        <p:spPr>
          <a:xfrm>
            <a:off x="4320000" y="121650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Pythagoras’ theorem and the trigonometric </a:t>
            </a:r>
            <a:r>
              <a:rPr lang="en-GB" sz="1800">
                <a:latin typeface="Lexend"/>
                <a:ea typeface="Lexend"/>
                <a:cs typeface="Lexend"/>
                <a:sym typeface="Lexend"/>
              </a:rPr>
              <a:t>ratios</a:t>
            </a:r>
            <a:r>
              <a:rPr lang="en-GB" sz="1800">
                <a:solidFill>
                  <a:srgbClr val="000000"/>
                </a:solidFill>
                <a:latin typeface="Lexend"/>
                <a:ea typeface="Lexend"/>
                <a:cs typeface="Lexend"/>
                <a:sym typeface="Lexend"/>
              </a:rPr>
              <a:t> require right-angled triangles. </a:t>
            </a:r>
            <a:endParaRPr sz="1800">
              <a:solidFill>
                <a:srgbClr val="000000"/>
              </a:solidFill>
              <a:latin typeface="Lexend"/>
              <a:ea typeface="Lexend"/>
              <a:cs typeface="Lexend"/>
              <a:sym typeface="Lexend"/>
            </a:endParaRPr>
          </a:p>
        </p:txBody>
      </p:sp>
      <p:sp>
        <p:nvSpPr>
          <p:cNvPr id="830" name="Google Shape;830;p69"/>
          <p:cNvSpPr txBox="1"/>
          <p:nvPr/>
        </p:nvSpPr>
        <p:spPr>
          <a:xfrm>
            <a:off x="4320000" y="228330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Where</a:t>
            </a:r>
            <a:r>
              <a:rPr lang="en-GB" sz="1800">
                <a:latin typeface="Lexend"/>
                <a:ea typeface="Lexend"/>
                <a:cs typeface="Lexend"/>
                <a:sym typeface="Lexend"/>
              </a:rPr>
              <a:t> else</a:t>
            </a:r>
            <a:r>
              <a:rPr lang="en-GB" sz="1800">
                <a:solidFill>
                  <a:srgbClr val="000000"/>
                </a:solidFill>
                <a:latin typeface="Lexend"/>
                <a:ea typeface="Lexend"/>
                <a:cs typeface="Lexend"/>
                <a:sym typeface="Lexend"/>
              </a:rPr>
              <a:t> can a right-angled triangle be created?</a:t>
            </a:r>
            <a:endParaRPr sz="1800">
              <a:solidFill>
                <a:srgbClr val="000000"/>
              </a:solidFill>
              <a:latin typeface="Lexend"/>
              <a:ea typeface="Lexend"/>
              <a:cs typeface="Lexend"/>
              <a:sym typeface="Lexend"/>
            </a:endParaRPr>
          </a:p>
        </p:txBody>
      </p:sp>
      <p:sp>
        <p:nvSpPr>
          <p:cNvPr id="831" name="Google Shape;831;p69"/>
          <p:cNvSpPr txBox="1"/>
          <p:nvPr/>
        </p:nvSpPr>
        <p:spPr>
          <a:xfrm>
            <a:off x="4320000" y="2933250"/>
            <a:ext cx="44703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Drawing an altitude of the triangle.</a:t>
            </a:r>
            <a:endParaRPr sz="2000">
              <a:solidFill>
                <a:srgbClr val="000000"/>
              </a:solidFill>
              <a:latin typeface="Kalam"/>
              <a:ea typeface="Kalam"/>
              <a:cs typeface="Kalam"/>
              <a:sym typeface="Kalam"/>
            </a:endParaRPr>
          </a:p>
        </p:txBody>
      </p:sp>
      <p:sp>
        <p:nvSpPr>
          <p:cNvPr id="832" name="Google Shape;832;p69"/>
          <p:cNvSpPr/>
          <p:nvPr/>
        </p:nvSpPr>
        <p:spPr>
          <a:xfrm rot="-126739">
            <a:off x="-189398" y="3293695"/>
            <a:ext cx="1595284" cy="1595284"/>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3" name="Google Shape;833;p69"/>
          <p:cNvSpPr txBox="1"/>
          <p:nvPr/>
        </p:nvSpPr>
        <p:spPr>
          <a:xfrm>
            <a:off x="1444875" y="3719418"/>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34" name="Google Shape;834;p69"/>
          <p:cNvSpPr/>
          <p:nvPr/>
        </p:nvSpPr>
        <p:spPr>
          <a:xfrm rot="-1558128">
            <a:off x="1808101" y="3476811"/>
            <a:ext cx="141819" cy="141819"/>
          </a:xfrm>
          <a:prstGeom prst="rect">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5" name="Google Shape;835;p69"/>
          <p:cNvCxnSpPr/>
          <p:nvPr/>
        </p:nvCxnSpPr>
        <p:spPr>
          <a:xfrm>
            <a:off x="621525" y="4196909"/>
            <a:ext cx="1615200" cy="0"/>
          </a:xfrm>
          <a:prstGeom prst="straightConnector1">
            <a:avLst/>
          </a:prstGeom>
          <a:noFill/>
          <a:ln cap="flat" cmpd="sng" w="28575">
            <a:solidFill>
              <a:srgbClr val="000000"/>
            </a:solidFill>
            <a:prstDash val="solid"/>
            <a:round/>
            <a:headEnd len="med" w="med" type="triangle"/>
            <a:tailEnd len="med" w="med" type="triangle"/>
          </a:ln>
        </p:spPr>
      </p:cxnSp>
      <p:sp>
        <p:nvSpPr>
          <p:cNvPr id="836" name="Google Shape;836;p69"/>
          <p:cNvSpPr txBox="1"/>
          <p:nvPr/>
        </p:nvSpPr>
        <p:spPr>
          <a:xfrm>
            <a:off x="1166457" y="4202924"/>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9 cm</a:t>
            </a:r>
            <a:endParaRPr sz="1800">
              <a:solidFill>
                <a:srgbClr val="000000"/>
              </a:solidFill>
              <a:latin typeface="Lexend"/>
              <a:ea typeface="Lexend"/>
              <a:cs typeface="Lexend"/>
              <a:sym typeface="Lexend"/>
            </a:endParaRPr>
          </a:p>
        </p:txBody>
      </p:sp>
      <p:cxnSp>
        <p:nvCxnSpPr>
          <p:cNvPr id="837" name="Google Shape;837;p69"/>
          <p:cNvCxnSpPr/>
          <p:nvPr/>
        </p:nvCxnSpPr>
        <p:spPr>
          <a:xfrm>
            <a:off x="2015375" y="3384725"/>
            <a:ext cx="315300" cy="637200"/>
          </a:xfrm>
          <a:prstGeom prst="straightConnector1">
            <a:avLst/>
          </a:prstGeom>
          <a:noFill/>
          <a:ln cap="flat" cmpd="sng" w="28575">
            <a:solidFill>
              <a:schemeClr val="dk1"/>
            </a:solidFill>
            <a:prstDash val="solid"/>
            <a:round/>
            <a:headEnd len="med" w="med" type="triangle"/>
            <a:tailEnd len="med" w="med" type="triangle"/>
          </a:ln>
        </p:spPr>
      </p:cxnSp>
      <p:sp>
        <p:nvSpPr>
          <p:cNvPr id="838" name="Google Shape;838;p69"/>
          <p:cNvSpPr txBox="1"/>
          <p:nvPr/>
        </p:nvSpPr>
        <p:spPr>
          <a:xfrm>
            <a:off x="2323257" y="3505524"/>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39" name="Google Shape;839;p69"/>
          <p:cNvSpPr txBox="1"/>
          <p:nvPr/>
        </p:nvSpPr>
        <p:spPr>
          <a:xfrm>
            <a:off x="4320000" y="3502500"/>
            <a:ext cx="44703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 area would then be</a:t>
            </a:r>
            <a:endParaRPr sz="1800">
              <a:solidFill>
                <a:srgbClr val="000000"/>
              </a:solidFill>
              <a:latin typeface="Lexend"/>
              <a:ea typeface="Lexend"/>
              <a:cs typeface="Lexend"/>
              <a:sym typeface="Lexend"/>
            </a:endParaRPr>
          </a:p>
        </p:txBody>
      </p:sp>
      <p:sp>
        <p:nvSpPr>
          <p:cNvPr id="840" name="Google Shape;840;p69"/>
          <p:cNvSpPr txBox="1"/>
          <p:nvPr/>
        </p:nvSpPr>
        <p:spPr>
          <a:xfrm>
            <a:off x="5824425" y="3962875"/>
            <a:ext cx="9516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 16 </a:t>
            </a:r>
            <a:r>
              <a:rPr lang="en-GB" sz="2000">
                <a:solidFill>
                  <a:schemeClr val="dk1"/>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b</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41" name="Google Shape;841;p69" title="one half"/>
          <p:cNvPicPr preferRelativeResize="0"/>
          <p:nvPr/>
        </p:nvPicPr>
        <p:blipFill>
          <a:blip r:embed="rId3">
            <a:alphaModFix/>
          </a:blip>
          <a:stretch>
            <a:fillRect/>
          </a:stretch>
        </p:blipFill>
        <p:spPr>
          <a:xfrm>
            <a:off x="5604341" y="3882244"/>
            <a:ext cx="141600" cy="464269"/>
          </a:xfrm>
          <a:prstGeom prst="rect">
            <a:avLst/>
          </a:prstGeom>
          <a:noFill/>
          <a:ln>
            <a:noFill/>
          </a:ln>
        </p:spPr>
      </p:pic>
      <p:sp>
        <p:nvSpPr>
          <p:cNvPr id="842" name="Google Shape;842;p69"/>
          <p:cNvSpPr/>
          <p:nvPr/>
        </p:nvSpPr>
        <p:spPr>
          <a:xfrm>
            <a:off x="588325" y="1374550"/>
            <a:ext cx="2587364" cy="1197189"/>
          </a:xfrm>
          <a:custGeom>
            <a:rect b="b" l="l" r="r" t="t"/>
            <a:pathLst>
              <a:path extrusionOk="0" h="35391" w="76487">
                <a:moveTo>
                  <a:pt x="0" y="35291"/>
                </a:moveTo>
                <a:lnTo>
                  <a:pt x="48300" y="35391"/>
                </a:lnTo>
                <a:lnTo>
                  <a:pt x="76487" y="0"/>
                </a:lnTo>
                <a:close/>
              </a:path>
            </a:pathLst>
          </a:custGeom>
          <a:noFill/>
          <a:ln cap="flat" cmpd="sng" w="38100">
            <a:solidFill>
              <a:srgbClr val="000000"/>
            </a:solidFill>
            <a:prstDash val="solid"/>
            <a:round/>
            <a:headEnd len="med" w="med" type="none"/>
            <a:tailEnd len="med" w="med" type="non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70"/>
          <p:cNvSpPr/>
          <p:nvPr/>
        </p:nvSpPr>
        <p:spPr>
          <a:xfrm rot="-1535311">
            <a:off x="6230773" y="1522356"/>
            <a:ext cx="141698" cy="141698"/>
          </a:xfrm>
          <a:prstGeom prst="rect">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48" name="Google Shape;848;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849" name="Google Shape;849;p70"/>
          <p:cNvCxnSpPr/>
          <p:nvPr/>
        </p:nvCxnSpPr>
        <p:spPr>
          <a:xfrm rot="10800000">
            <a:off x="6330100" y="1497675"/>
            <a:ext cx="310500" cy="618600"/>
          </a:xfrm>
          <a:prstGeom prst="straightConnector1">
            <a:avLst/>
          </a:prstGeom>
          <a:noFill/>
          <a:ln cap="flat" cmpd="sng" w="38100">
            <a:solidFill>
              <a:srgbClr val="808080"/>
            </a:solidFill>
            <a:prstDash val="dash"/>
            <a:round/>
            <a:headEnd len="med" w="med" type="none"/>
            <a:tailEnd len="med" w="med" type="none"/>
          </a:ln>
        </p:spPr>
      </p:cxnSp>
      <p:cxnSp>
        <p:nvCxnSpPr>
          <p:cNvPr id="850" name="Google Shape;850;p70"/>
          <p:cNvCxnSpPr/>
          <p:nvPr/>
        </p:nvCxnSpPr>
        <p:spPr>
          <a:xfrm>
            <a:off x="4995800" y="2256150"/>
            <a:ext cx="1660500" cy="6300"/>
          </a:xfrm>
          <a:prstGeom prst="straightConnector1">
            <a:avLst/>
          </a:prstGeom>
          <a:noFill/>
          <a:ln cap="flat" cmpd="sng" w="28575">
            <a:solidFill>
              <a:srgbClr val="000000"/>
            </a:solidFill>
            <a:prstDash val="solid"/>
            <a:round/>
            <a:headEnd len="med" w="med" type="triangle"/>
            <a:tailEnd len="med" w="med" type="triangle"/>
          </a:ln>
        </p:spPr>
      </p:cxnSp>
      <p:cxnSp>
        <p:nvCxnSpPr>
          <p:cNvPr id="851" name="Google Shape;851;p70"/>
          <p:cNvCxnSpPr/>
          <p:nvPr/>
        </p:nvCxnSpPr>
        <p:spPr>
          <a:xfrm flipH="1" rot="10800000">
            <a:off x="4916514" y="776057"/>
            <a:ext cx="2628000" cy="1239900"/>
          </a:xfrm>
          <a:prstGeom prst="straightConnector1">
            <a:avLst/>
          </a:prstGeom>
          <a:noFill/>
          <a:ln cap="flat" cmpd="sng" w="28575">
            <a:solidFill>
              <a:srgbClr val="000000"/>
            </a:solidFill>
            <a:prstDash val="solid"/>
            <a:round/>
            <a:headEnd len="med" w="med" type="triangle"/>
            <a:tailEnd len="med" w="med" type="triangle"/>
          </a:ln>
        </p:spPr>
      </p:cxnSp>
      <p:sp>
        <p:nvSpPr>
          <p:cNvPr id="852" name="Google Shape;852;p70"/>
          <p:cNvSpPr/>
          <p:nvPr/>
        </p:nvSpPr>
        <p:spPr>
          <a:xfrm>
            <a:off x="4229943" y="1316850"/>
            <a:ext cx="1595400" cy="1595400"/>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3" name="Google Shape;853;p70"/>
          <p:cNvSpPr txBox="1"/>
          <p:nvPr/>
        </p:nvSpPr>
        <p:spPr>
          <a:xfrm>
            <a:off x="5864475" y="17575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54" name="Google Shape;854;p70"/>
          <p:cNvSpPr txBox="1"/>
          <p:nvPr/>
        </p:nvSpPr>
        <p:spPr>
          <a:xfrm>
            <a:off x="5586057" y="227082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9 cm</a:t>
            </a:r>
            <a:endParaRPr sz="1800">
              <a:solidFill>
                <a:srgbClr val="000000"/>
              </a:solidFill>
              <a:latin typeface="Lexend"/>
              <a:ea typeface="Lexend"/>
              <a:cs typeface="Lexend"/>
              <a:sym typeface="Lexend"/>
            </a:endParaRPr>
          </a:p>
        </p:txBody>
      </p:sp>
      <p:sp>
        <p:nvSpPr>
          <p:cNvPr id="855" name="Google Shape;855;p70"/>
          <p:cNvSpPr txBox="1"/>
          <p:nvPr/>
        </p:nvSpPr>
        <p:spPr>
          <a:xfrm>
            <a:off x="5629057" y="105882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16 cm</a:t>
            </a:r>
            <a:endParaRPr sz="1800">
              <a:solidFill>
                <a:srgbClr val="000000"/>
              </a:solidFill>
              <a:latin typeface="Lexend"/>
              <a:ea typeface="Lexend"/>
              <a:cs typeface="Lexend"/>
              <a:sym typeface="Lexend"/>
            </a:endParaRPr>
          </a:p>
        </p:txBody>
      </p:sp>
      <p:sp>
        <p:nvSpPr>
          <p:cNvPr id="856" name="Google Shape;856;p70"/>
          <p:cNvSpPr txBox="1"/>
          <p:nvPr/>
        </p:nvSpPr>
        <p:spPr>
          <a:xfrm>
            <a:off x="453150" y="4572675"/>
            <a:ext cx="82377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 two methods result in the same area.</a:t>
            </a:r>
            <a:endParaRPr sz="1800">
              <a:solidFill>
                <a:srgbClr val="000000"/>
              </a:solidFill>
              <a:latin typeface="Lexend"/>
              <a:ea typeface="Lexend"/>
              <a:cs typeface="Lexend"/>
              <a:sym typeface="Lexend"/>
            </a:endParaRPr>
          </a:p>
        </p:txBody>
      </p:sp>
      <p:cxnSp>
        <p:nvCxnSpPr>
          <p:cNvPr id="857" name="Google Shape;857;p70"/>
          <p:cNvCxnSpPr/>
          <p:nvPr/>
        </p:nvCxnSpPr>
        <p:spPr>
          <a:xfrm>
            <a:off x="6441309" y="1460722"/>
            <a:ext cx="315300" cy="637200"/>
          </a:xfrm>
          <a:prstGeom prst="straightConnector1">
            <a:avLst/>
          </a:prstGeom>
          <a:noFill/>
          <a:ln cap="flat" cmpd="sng" w="28575">
            <a:solidFill>
              <a:schemeClr val="dk1"/>
            </a:solidFill>
            <a:prstDash val="solid"/>
            <a:round/>
            <a:headEnd len="med" w="med" type="triangle"/>
            <a:tailEnd len="med" w="med" type="triangle"/>
          </a:ln>
        </p:spPr>
      </p:cxnSp>
      <p:sp>
        <p:nvSpPr>
          <p:cNvPr id="858" name="Google Shape;858;p70"/>
          <p:cNvSpPr txBox="1"/>
          <p:nvPr/>
        </p:nvSpPr>
        <p:spPr>
          <a:xfrm>
            <a:off x="4865834" y="3200875"/>
            <a:ext cx="29832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 =     </a:t>
            </a:r>
            <a:r>
              <a:rPr lang="en-GB" sz="2000">
                <a:latin typeface="Times New Roman"/>
                <a:ea typeface="Times New Roman"/>
                <a:cs typeface="Times New Roman"/>
                <a:sym typeface="Times New Roman"/>
              </a:rPr>
              <a:t>× 16 </a:t>
            </a:r>
            <a:r>
              <a:rPr lang="en-GB" sz="2000">
                <a:solidFill>
                  <a:schemeClr val="dk1"/>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b</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59" name="Google Shape;859;p70" title="one half"/>
          <p:cNvPicPr preferRelativeResize="0"/>
          <p:nvPr/>
        </p:nvPicPr>
        <p:blipFill>
          <a:blip r:embed="rId3">
            <a:alphaModFix/>
          </a:blip>
          <a:stretch>
            <a:fillRect/>
          </a:stretch>
        </p:blipFill>
        <p:spPr>
          <a:xfrm>
            <a:off x="5651656" y="3114122"/>
            <a:ext cx="141600" cy="464269"/>
          </a:xfrm>
          <a:prstGeom prst="rect">
            <a:avLst/>
          </a:prstGeom>
          <a:noFill/>
          <a:ln>
            <a:noFill/>
          </a:ln>
        </p:spPr>
      </p:pic>
      <p:sp>
        <p:nvSpPr>
          <p:cNvPr id="860" name="Google Shape;860;p70"/>
          <p:cNvSpPr/>
          <p:nvPr/>
        </p:nvSpPr>
        <p:spPr>
          <a:xfrm>
            <a:off x="5007925" y="917350"/>
            <a:ext cx="2587364" cy="1197189"/>
          </a:xfrm>
          <a:custGeom>
            <a:rect b="b" l="l" r="r" t="t"/>
            <a:pathLst>
              <a:path extrusionOk="0" h="35391" w="76487">
                <a:moveTo>
                  <a:pt x="0" y="35291"/>
                </a:moveTo>
                <a:lnTo>
                  <a:pt x="48300" y="35391"/>
                </a:lnTo>
                <a:lnTo>
                  <a:pt x="76487" y="0"/>
                </a:lnTo>
                <a:close/>
              </a:path>
            </a:pathLst>
          </a:custGeom>
          <a:noFill/>
          <a:ln cap="flat" cmpd="sng" w="38100">
            <a:solidFill>
              <a:srgbClr val="000000"/>
            </a:solidFill>
            <a:prstDash val="solid"/>
            <a:round/>
            <a:headEnd len="med" w="med" type="none"/>
            <a:tailEnd len="med" w="med" type="none"/>
          </a:ln>
        </p:spPr>
      </p:sp>
      <p:cxnSp>
        <p:nvCxnSpPr>
          <p:cNvPr id="861" name="Google Shape;861;p70"/>
          <p:cNvCxnSpPr/>
          <p:nvPr/>
        </p:nvCxnSpPr>
        <p:spPr>
          <a:xfrm>
            <a:off x="1992050" y="2190750"/>
            <a:ext cx="1187400" cy="0"/>
          </a:xfrm>
          <a:prstGeom prst="straightConnector1">
            <a:avLst/>
          </a:prstGeom>
          <a:noFill/>
          <a:ln cap="flat" cmpd="sng" w="38100">
            <a:solidFill>
              <a:srgbClr val="808080"/>
            </a:solidFill>
            <a:prstDash val="dash"/>
            <a:round/>
            <a:headEnd len="med" w="med" type="none"/>
            <a:tailEnd len="med" w="med" type="none"/>
          </a:ln>
        </p:spPr>
      </p:cxnSp>
      <p:sp>
        <p:nvSpPr>
          <p:cNvPr id="862" name="Google Shape;862;p70"/>
          <p:cNvSpPr/>
          <p:nvPr/>
        </p:nvSpPr>
        <p:spPr>
          <a:xfrm>
            <a:off x="588325" y="993550"/>
            <a:ext cx="2587364" cy="1197189"/>
          </a:xfrm>
          <a:custGeom>
            <a:rect b="b" l="l" r="r" t="t"/>
            <a:pathLst>
              <a:path extrusionOk="0" h="35391" w="76487">
                <a:moveTo>
                  <a:pt x="0" y="35291"/>
                </a:moveTo>
                <a:lnTo>
                  <a:pt x="48300" y="35391"/>
                </a:lnTo>
                <a:lnTo>
                  <a:pt x="76487" y="0"/>
                </a:lnTo>
                <a:close/>
              </a:path>
            </a:pathLst>
          </a:custGeom>
          <a:noFill/>
          <a:ln cap="flat" cmpd="sng" w="38100">
            <a:solidFill>
              <a:srgbClr val="000000"/>
            </a:solidFill>
            <a:prstDash val="solid"/>
            <a:round/>
            <a:headEnd len="med" w="med" type="none"/>
            <a:tailEnd len="med" w="med" type="none"/>
          </a:ln>
        </p:spPr>
      </p:sp>
      <p:cxnSp>
        <p:nvCxnSpPr>
          <p:cNvPr id="863" name="Google Shape;863;p70"/>
          <p:cNvCxnSpPr/>
          <p:nvPr/>
        </p:nvCxnSpPr>
        <p:spPr>
          <a:xfrm>
            <a:off x="576200" y="2332350"/>
            <a:ext cx="1660500" cy="6300"/>
          </a:xfrm>
          <a:prstGeom prst="straightConnector1">
            <a:avLst/>
          </a:prstGeom>
          <a:noFill/>
          <a:ln cap="flat" cmpd="sng" w="28575">
            <a:solidFill>
              <a:srgbClr val="000000"/>
            </a:solidFill>
            <a:prstDash val="solid"/>
            <a:round/>
            <a:headEnd len="med" w="med" type="triangle"/>
            <a:tailEnd len="med" w="med" type="triangle"/>
          </a:ln>
        </p:spPr>
      </p:cxnSp>
      <p:cxnSp>
        <p:nvCxnSpPr>
          <p:cNvPr id="864" name="Google Shape;864;p70"/>
          <p:cNvCxnSpPr/>
          <p:nvPr/>
        </p:nvCxnSpPr>
        <p:spPr>
          <a:xfrm flipH="1" rot="10800000">
            <a:off x="496914" y="852257"/>
            <a:ext cx="2628000" cy="1239900"/>
          </a:xfrm>
          <a:prstGeom prst="straightConnector1">
            <a:avLst/>
          </a:prstGeom>
          <a:noFill/>
          <a:ln cap="flat" cmpd="sng" w="28575">
            <a:solidFill>
              <a:srgbClr val="000000"/>
            </a:solidFill>
            <a:prstDash val="solid"/>
            <a:round/>
            <a:headEnd len="med" w="med" type="triangle"/>
            <a:tailEnd len="med" w="med" type="triangle"/>
          </a:ln>
        </p:spPr>
      </p:cxnSp>
      <p:sp>
        <p:nvSpPr>
          <p:cNvPr id="865" name="Google Shape;865;p70"/>
          <p:cNvSpPr/>
          <p:nvPr/>
        </p:nvSpPr>
        <p:spPr>
          <a:xfrm>
            <a:off x="-189657" y="1393050"/>
            <a:ext cx="1595400" cy="1595400"/>
          </a:xfrm>
          <a:prstGeom prst="arc">
            <a:avLst>
              <a:gd fmla="val 20079851" name="adj1"/>
              <a:gd fmla="val 0"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66" name="Google Shape;866;p70"/>
          <p:cNvSpPr txBox="1"/>
          <p:nvPr/>
        </p:nvSpPr>
        <p:spPr>
          <a:xfrm>
            <a:off x="1444875" y="183372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35</a:t>
            </a:r>
            <a:r>
              <a:rPr lang="en-GB" sz="1800">
                <a:solidFill>
                  <a:schemeClr val="dk1"/>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67" name="Google Shape;867;p70"/>
          <p:cNvSpPr txBox="1"/>
          <p:nvPr/>
        </p:nvSpPr>
        <p:spPr>
          <a:xfrm>
            <a:off x="1166457" y="234702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9 cm</a:t>
            </a:r>
            <a:endParaRPr sz="1800">
              <a:solidFill>
                <a:srgbClr val="000000"/>
              </a:solidFill>
              <a:latin typeface="Lexend"/>
              <a:ea typeface="Lexend"/>
              <a:cs typeface="Lexend"/>
              <a:sym typeface="Lexend"/>
            </a:endParaRPr>
          </a:p>
        </p:txBody>
      </p:sp>
      <p:sp>
        <p:nvSpPr>
          <p:cNvPr id="868" name="Google Shape;868;p70"/>
          <p:cNvSpPr txBox="1"/>
          <p:nvPr/>
        </p:nvSpPr>
        <p:spPr>
          <a:xfrm>
            <a:off x="1209457" y="113502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16 cm</a:t>
            </a:r>
            <a:endParaRPr sz="1800">
              <a:solidFill>
                <a:srgbClr val="000000"/>
              </a:solidFill>
              <a:latin typeface="Lexend"/>
              <a:ea typeface="Lexend"/>
              <a:cs typeface="Lexend"/>
              <a:sym typeface="Lexend"/>
            </a:endParaRPr>
          </a:p>
        </p:txBody>
      </p:sp>
      <p:cxnSp>
        <p:nvCxnSpPr>
          <p:cNvPr id="869" name="Google Shape;869;p70"/>
          <p:cNvCxnSpPr/>
          <p:nvPr/>
        </p:nvCxnSpPr>
        <p:spPr>
          <a:xfrm rot="5400000">
            <a:off x="2511300" y="1654650"/>
            <a:ext cx="1325700" cy="0"/>
          </a:xfrm>
          <a:prstGeom prst="straightConnector1">
            <a:avLst/>
          </a:prstGeom>
          <a:noFill/>
          <a:ln cap="flat" cmpd="sng" w="38100">
            <a:solidFill>
              <a:srgbClr val="808080"/>
            </a:solidFill>
            <a:prstDash val="dash"/>
            <a:round/>
            <a:headEnd len="med" w="med" type="none"/>
            <a:tailEnd len="med" w="med" type="none"/>
          </a:ln>
        </p:spPr>
      </p:cxnSp>
      <p:sp>
        <p:nvSpPr>
          <p:cNvPr id="870" name="Google Shape;870;p70"/>
          <p:cNvSpPr/>
          <p:nvPr/>
        </p:nvSpPr>
        <p:spPr>
          <a:xfrm>
            <a:off x="3032550" y="2049150"/>
            <a:ext cx="141600" cy="141600"/>
          </a:xfrm>
          <a:prstGeom prst="rect">
            <a:avLst/>
          </a:prstGeom>
          <a:noFill/>
          <a:ln cap="flat" cmpd="sng" w="38100">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71" name="Google Shape;871;p70"/>
          <p:cNvCxnSpPr/>
          <p:nvPr/>
        </p:nvCxnSpPr>
        <p:spPr>
          <a:xfrm>
            <a:off x="3313300" y="992194"/>
            <a:ext cx="0" cy="1201500"/>
          </a:xfrm>
          <a:prstGeom prst="straightConnector1">
            <a:avLst/>
          </a:prstGeom>
          <a:noFill/>
          <a:ln cap="flat" cmpd="sng" w="28575">
            <a:solidFill>
              <a:srgbClr val="000000"/>
            </a:solidFill>
            <a:prstDash val="solid"/>
            <a:round/>
            <a:headEnd len="med" w="med" type="triangle"/>
            <a:tailEnd len="med" w="med" type="triangle"/>
          </a:ln>
        </p:spPr>
      </p:cxnSp>
      <p:sp>
        <p:nvSpPr>
          <p:cNvPr id="872" name="Google Shape;872;p70"/>
          <p:cNvSpPr txBox="1"/>
          <p:nvPr/>
        </p:nvSpPr>
        <p:spPr>
          <a:xfrm>
            <a:off x="3356246" y="1379792"/>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a</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73" name="Google Shape;873;p70"/>
          <p:cNvSpPr txBox="1"/>
          <p:nvPr/>
        </p:nvSpPr>
        <p:spPr>
          <a:xfrm>
            <a:off x="6673000" y="1505327"/>
            <a:ext cx="717300" cy="320700"/>
          </a:xfrm>
          <a:prstGeom prst="rect">
            <a:avLst/>
          </a:prstGeom>
          <a:solidFill>
            <a:schemeClr val="lt1"/>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b</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74" name="Google Shape;874;p70"/>
          <p:cNvSpPr txBox="1"/>
          <p:nvPr/>
        </p:nvSpPr>
        <p:spPr>
          <a:xfrm>
            <a:off x="464725" y="3200875"/>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 =     </a:t>
            </a:r>
            <a:r>
              <a:rPr lang="en-GB" sz="2000">
                <a:latin typeface="Times New Roman"/>
                <a:ea typeface="Times New Roman"/>
                <a:cs typeface="Times New Roman"/>
                <a:sym typeface="Times New Roman"/>
              </a:rPr>
              <a:t>× 9 </a:t>
            </a:r>
            <a:r>
              <a:rPr lang="en-GB" sz="2000">
                <a:solidFill>
                  <a:schemeClr val="dk1"/>
                </a:solidFill>
                <a:latin typeface="Times New Roman"/>
                <a:ea typeface="Times New Roman"/>
                <a:cs typeface="Times New Roman"/>
                <a:sym typeface="Times New Roman"/>
              </a:rPr>
              <a:t>× </a:t>
            </a:r>
            <a:r>
              <a:rPr i="1" lang="en-GB" sz="2000">
                <a:solidFill>
                  <a:schemeClr val="dk1"/>
                </a:solidFill>
                <a:latin typeface="Times New Roman"/>
                <a:ea typeface="Times New Roman"/>
                <a:cs typeface="Times New Roman"/>
                <a:sym typeface="Times New Roman"/>
              </a:rPr>
              <a:t>a</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75" name="Google Shape;875;p70" title="one half"/>
          <p:cNvPicPr preferRelativeResize="0"/>
          <p:nvPr/>
        </p:nvPicPr>
        <p:blipFill>
          <a:blip r:embed="rId3">
            <a:alphaModFix/>
          </a:blip>
          <a:stretch>
            <a:fillRect/>
          </a:stretch>
        </p:blipFill>
        <p:spPr>
          <a:xfrm>
            <a:off x="1260941" y="3120244"/>
            <a:ext cx="141600" cy="464269"/>
          </a:xfrm>
          <a:prstGeom prst="rect">
            <a:avLst/>
          </a:prstGeom>
          <a:noFill/>
          <a:ln>
            <a:noFill/>
          </a:ln>
        </p:spPr>
      </p:pic>
      <p:sp>
        <p:nvSpPr>
          <p:cNvPr id="876" name="Google Shape;876;p70"/>
          <p:cNvSpPr txBox="1"/>
          <p:nvPr/>
        </p:nvSpPr>
        <p:spPr>
          <a:xfrm>
            <a:off x="826722" y="2743675"/>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a</a:t>
            </a:r>
            <a:r>
              <a:rPr i="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 16 × sin(35°)</a:t>
            </a:r>
            <a:endParaRPr sz="2000">
              <a:solidFill>
                <a:srgbClr val="000000"/>
              </a:solidFill>
              <a:latin typeface="Times New Roman"/>
              <a:ea typeface="Times New Roman"/>
              <a:cs typeface="Times New Roman"/>
              <a:sym typeface="Times New Roman"/>
            </a:endParaRPr>
          </a:p>
        </p:txBody>
      </p:sp>
      <p:sp>
        <p:nvSpPr>
          <p:cNvPr id="877" name="Google Shape;877;p70"/>
          <p:cNvSpPr txBox="1"/>
          <p:nvPr/>
        </p:nvSpPr>
        <p:spPr>
          <a:xfrm>
            <a:off x="464725" y="3734275"/>
            <a:ext cx="31932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lt1"/>
                </a:solidFill>
                <a:latin typeface="Times New Roman"/>
                <a:ea typeface="Times New Roman"/>
                <a:cs typeface="Times New Roman"/>
                <a:sym typeface="Times New Roman"/>
              </a:rPr>
              <a:t>Area </a:t>
            </a:r>
            <a:r>
              <a:rPr lang="en-GB" sz="2000">
                <a:latin typeface="Times New Roman"/>
                <a:ea typeface="Times New Roman"/>
                <a:cs typeface="Times New Roman"/>
                <a:sym typeface="Times New Roman"/>
              </a:rPr>
              <a:t>=     × 9 </a:t>
            </a:r>
            <a:r>
              <a:rPr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16 × sin(35°)</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78" name="Google Shape;878;p70" title="one half"/>
          <p:cNvPicPr preferRelativeResize="0"/>
          <p:nvPr/>
        </p:nvPicPr>
        <p:blipFill>
          <a:blip r:embed="rId3">
            <a:alphaModFix/>
          </a:blip>
          <a:stretch>
            <a:fillRect/>
          </a:stretch>
        </p:blipFill>
        <p:spPr>
          <a:xfrm>
            <a:off x="1260941" y="3653644"/>
            <a:ext cx="141600" cy="464269"/>
          </a:xfrm>
          <a:prstGeom prst="rect">
            <a:avLst/>
          </a:prstGeom>
          <a:noFill/>
          <a:ln>
            <a:noFill/>
          </a:ln>
        </p:spPr>
      </p:pic>
      <p:sp>
        <p:nvSpPr>
          <p:cNvPr id="879" name="Google Shape;879;p70"/>
          <p:cNvSpPr txBox="1"/>
          <p:nvPr/>
        </p:nvSpPr>
        <p:spPr>
          <a:xfrm>
            <a:off x="464725" y="4115275"/>
            <a:ext cx="31932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lt1"/>
                </a:solidFill>
                <a:latin typeface="Times New Roman"/>
                <a:ea typeface="Times New Roman"/>
                <a:cs typeface="Times New Roman"/>
                <a:sym typeface="Times New Roman"/>
              </a:rPr>
              <a:t>Area </a:t>
            </a:r>
            <a:r>
              <a:rPr lang="en-GB" sz="2000">
                <a:latin typeface="Times New Roman"/>
                <a:ea typeface="Times New Roman"/>
                <a:cs typeface="Times New Roman"/>
                <a:sym typeface="Times New Roman"/>
              </a:rPr>
              <a:t>= 41.3 cm</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
        <p:nvSpPr>
          <p:cNvPr id="880" name="Google Shape;880;p70"/>
          <p:cNvSpPr txBox="1"/>
          <p:nvPr/>
        </p:nvSpPr>
        <p:spPr>
          <a:xfrm>
            <a:off x="5241409" y="2736350"/>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b</a:t>
            </a:r>
            <a:r>
              <a:rPr i="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 9 × sin(35°)</a:t>
            </a:r>
            <a:endParaRPr sz="2000">
              <a:solidFill>
                <a:srgbClr val="000000"/>
              </a:solidFill>
              <a:latin typeface="Times New Roman"/>
              <a:ea typeface="Times New Roman"/>
              <a:cs typeface="Times New Roman"/>
              <a:sym typeface="Times New Roman"/>
            </a:endParaRPr>
          </a:p>
        </p:txBody>
      </p:sp>
      <p:sp>
        <p:nvSpPr>
          <p:cNvPr id="881" name="Google Shape;881;p70"/>
          <p:cNvSpPr txBox="1"/>
          <p:nvPr/>
        </p:nvSpPr>
        <p:spPr>
          <a:xfrm>
            <a:off x="4865834" y="3734275"/>
            <a:ext cx="29832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lt1"/>
                </a:solidFill>
                <a:latin typeface="Times New Roman"/>
                <a:ea typeface="Times New Roman"/>
                <a:cs typeface="Times New Roman"/>
                <a:sym typeface="Times New Roman"/>
              </a:rPr>
              <a:t>Area</a:t>
            </a:r>
            <a:r>
              <a:rPr lang="en-GB" sz="2000">
                <a:latin typeface="Times New Roman"/>
                <a:ea typeface="Times New Roman"/>
                <a:cs typeface="Times New Roman"/>
                <a:sym typeface="Times New Roman"/>
              </a:rPr>
              <a:t> =     × 16 </a:t>
            </a:r>
            <a:r>
              <a:rPr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9 × sin(35°)</a:t>
            </a:r>
            <a:endParaRPr i="1"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882" name="Google Shape;882;p70" title="one half"/>
          <p:cNvPicPr preferRelativeResize="0"/>
          <p:nvPr/>
        </p:nvPicPr>
        <p:blipFill>
          <a:blip r:embed="rId3">
            <a:alphaModFix/>
          </a:blip>
          <a:stretch>
            <a:fillRect/>
          </a:stretch>
        </p:blipFill>
        <p:spPr>
          <a:xfrm>
            <a:off x="5651656" y="3665172"/>
            <a:ext cx="141600" cy="464269"/>
          </a:xfrm>
          <a:prstGeom prst="rect">
            <a:avLst/>
          </a:prstGeom>
          <a:noFill/>
          <a:ln>
            <a:noFill/>
          </a:ln>
        </p:spPr>
      </p:pic>
      <p:sp>
        <p:nvSpPr>
          <p:cNvPr id="883" name="Google Shape;883;p70"/>
          <p:cNvSpPr txBox="1"/>
          <p:nvPr/>
        </p:nvSpPr>
        <p:spPr>
          <a:xfrm>
            <a:off x="4858988" y="4153469"/>
            <a:ext cx="31932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lt1"/>
                </a:solidFill>
                <a:latin typeface="Times New Roman"/>
                <a:ea typeface="Times New Roman"/>
                <a:cs typeface="Times New Roman"/>
                <a:sym typeface="Times New Roman"/>
              </a:rPr>
              <a:t>Area </a:t>
            </a:r>
            <a:r>
              <a:rPr lang="en-GB" sz="2000">
                <a:latin typeface="Times New Roman"/>
                <a:ea typeface="Times New Roman"/>
                <a:cs typeface="Times New Roman"/>
                <a:sym typeface="Times New Roman"/>
              </a:rPr>
              <a:t>= 41.3 cm</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71"/>
          <p:cNvSpPr txBox="1"/>
          <p:nvPr>
            <p:ph idx="1" type="body"/>
          </p:nvPr>
        </p:nvSpPr>
        <p:spPr>
          <a:xfrm>
            <a:off x="324000" y="687950"/>
            <a:ext cx="8237700" cy="71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Which of the calculations are correct to find the perpendicular height of this triangle?</a:t>
            </a:r>
            <a:endParaRPr sz="2000"/>
          </a:p>
        </p:txBody>
      </p:sp>
      <p:sp>
        <p:nvSpPr>
          <p:cNvPr id="889" name="Google Shape;889;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890" name="Google Shape;890;p71"/>
          <p:cNvSpPr/>
          <p:nvPr/>
        </p:nvSpPr>
        <p:spPr>
          <a:xfrm rot="-1587471">
            <a:off x="4091318" y="2027036"/>
            <a:ext cx="143422" cy="143422"/>
          </a:xfrm>
          <a:prstGeom prst="rect">
            <a:avLst/>
          </a:prstGeom>
          <a:noFill/>
          <a:ln cap="flat" cmpd="sng" w="28575">
            <a:solidFill>
              <a:srgbClr val="80808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91" name="Google Shape;891;p71"/>
          <p:cNvCxnSpPr/>
          <p:nvPr/>
        </p:nvCxnSpPr>
        <p:spPr>
          <a:xfrm flipH="1" rot="10800000">
            <a:off x="2659661" y="1320525"/>
            <a:ext cx="2661900" cy="1256100"/>
          </a:xfrm>
          <a:prstGeom prst="straightConnector1">
            <a:avLst/>
          </a:prstGeom>
          <a:noFill/>
          <a:ln cap="flat" cmpd="sng" w="28575">
            <a:solidFill>
              <a:srgbClr val="000000"/>
            </a:solidFill>
            <a:prstDash val="solid"/>
            <a:round/>
            <a:headEnd len="med" w="med" type="triangle"/>
            <a:tailEnd len="med" w="med" type="triangle"/>
          </a:ln>
        </p:spPr>
      </p:cxnSp>
      <p:sp>
        <p:nvSpPr>
          <p:cNvPr id="892" name="Google Shape;892;p71"/>
          <p:cNvSpPr txBox="1"/>
          <p:nvPr/>
        </p:nvSpPr>
        <p:spPr>
          <a:xfrm>
            <a:off x="3472007" y="1559104"/>
            <a:ext cx="726300" cy="216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solidFill>
                  <a:srgbClr val="000000"/>
                </a:solidFill>
                <a:latin typeface="Lexend"/>
                <a:ea typeface="Lexend"/>
                <a:cs typeface="Lexend"/>
                <a:sym typeface="Lexend"/>
              </a:rPr>
              <a:t>24 cm</a:t>
            </a:r>
            <a:endParaRPr sz="1800">
              <a:solidFill>
                <a:srgbClr val="000000"/>
              </a:solidFill>
              <a:latin typeface="Lexend"/>
              <a:ea typeface="Lexend"/>
              <a:cs typeface="Lexend"/>
              <a:sym typeface="Lexend"/>
            </a:endParaRPr>
          </a:p>
        </p:txBody>
      </p:sp>
      <p:cxnSp>
        <p:nvCxnSpPr>
          <p:cNvPr id="893" name="Google Shape;893;p71"/>
          <p:cNvCxnSpPr/>
          <p:nvPr/>
        </p:nvCxnSpPr>
        <p:spPr>
          <a:xfrm flipH="1" rot="10800000">
            <a:off x="4539073" y="1504922"/>
            <a:ext cx="952500" cy="1208100"/>
          </a:xfrm>
          <a:prstGeom prst="straightConnector1">
            <a:avLst/>
          </a:prstGeom>
          <a:noFill/>
          <a:ln cap="flat" cmpd="sng" w="28575">
            <a:solidFill>
              <a:srgbClr val="000000"/>
            </a:solidFill>
            <a:prstDash val="solid"/>
            <a:round/>
            <a:headEnd len="med" w="med" type="triangle"/>
            <a:tailEnd len="med" w="med" type="triangle"/>
          </a:ln>
        </p:spPr>
      </p:cxnSp>
      <p:sp>
        <p:nvSpPr>
          <p:cNvPr id="894" name="Google Shape;894;p71"/>
          <p:cNvSpPr txBox="1"/>
          <p:nvPr/>
        </p:nvSpPr>
        <p:spPr>
          <a:xfrm>
            <a:off x="5092776" y="2043343"/>
            <a:ext cx="726300" cy="216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lang="en-GB" sz="1800">
                <a:solidFill>
                  <a:srgbClr val="000000"/>
                </a:solidFill>
                <a:latin typeface="Lexend"/>
                <a:ea typeface="Lexend"/>
                <a:cs typeface="Lexend"/>
                <a:sym typeface="Lexend"/>
              </a:rPr>
              <a:t>15 cm</a:t>
            </a:r>
            <a:endParaRPr sz="1800">
              <a:solidFill>
                <a:srgbClr val="000000"/>
              </a:solidFill>
              <a:latin typeface="Lexend"/>
              <a:ea typeface="Lexend"/>
              <a:cs typeface="Lexend"/>
              <a:sym typeface="Lexend"/>
            </a:endParaRPr>
          </a:p>
        </p:txBody>
      </p:sp>
      <p:sp>
        <p:nvSpPr>
          <p:cNvPr id="895" name="Google Shape;895;p71"/>
          <p:cNvSpPr/>
          <p:nvPr/>
        </p:nvSpPr>
        <p:spPr>
          <a:xfrm>
            <a:off x="4575033" y="687950"/>
            <a:ext cx="1615800" cy="1615800"/>
          </a:xfrm>
          <a:prstGeom prst="arc">
            <a:avLst>
              <a:gd fmla="val 7881710" name="adj1"/>
              <a:gd fmla="val 9392137" name="adj2"/>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6" name="Google Shape;896;p71"/>
          <p:cNvSpPr txBox="1"/>
          <p:nvPr/>
        </p:nvSpPr>
        <p:spPr>
          <a:xfrm>
            <a:off x="4342537" y="1932875"/>
            <a:ext cx="789900" cy="3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21</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897" name="Google Shape;897;p71"/>
          <p:cNvCxnSpPr/>
          <p:nvPr/>
        </p:nvCxnSpPr>
        <p:spPr>
          <a:xfrm rot="10800000">
            <a:off x="4064029" y="2061761"/>
            <a:ext cx="330900" cy="613200"/>
          </a:xfrm>
          <a:prstGeom prst="straightConnector1">
            <a:avLst/>
          </a:prstGeom>
          <a:noFill/>
          <a:ln cap="flat" cmpd="sng" w="28575">
            <a:solidFill>
              <a:srgbClr val="808080"/>
            </a:solidFill>
            <a:prstDash val="dash"/>
            <a:round/>
            <a:headEnd len="med" w="med" type="none"/>
            <a:tailEnd len="med" w="med" type="none"/>
          </a:ln>
        </p:spPr>
      </p:cxnSp>
      <p:grpSp>
        <p:nvGrpSpPr>
          <p:cNvPr id="898" name="Google Shape;898;p71"/>
          <p:cNvGrpSpPr/>
          <p:nvPr/>
        </p:nvGrpSpPr>
        <p:grpSpPr>
          <a:xfrm>
            <a:off x="476400" y="3249125"/>
            <a:ext cx="2461500" cy="419400"/>
            <a:chOff x="6358500" y="3706325"/>
            <a:chExt cx="2461500" cy="419400"/>
          </a:xfrm>
        </p:grpSpPr>
        <p:sp>
          <p:nvSpPr>
            <p:cNvPr id="899" name="Google Shape;899;p71"/>
            <p:cNvSpPr/>
            <p:nvPr/>
          </p:nvSpPr>
          <p:spPr>
            <a:xfrm>
              <a:off x="6358500" y="3706325"/>
              <a:ext cx="246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12</a:t>
              </a:r>
              <a:r>
                <a:rPr lang="en-GB" sz="2000">
                  <a:latin typeface="Times New Roman"/>
                  <a:ea typeface="Times New Roman"/>
                  <a:cs typeface="Times New Roman"/>
                  <a:sym typeface="Times New Roman"/>
                </a:rPr>
                <a:t> × tan(21°) = </a:t>
              </a:r>
              <a:r>
                <a:rPr i="1" lang="en-GB" sz="2000">
                  <a:latin typeface="Times New Roman"/>
                  <a:ea typeface="Times New Roman"/>
                  <a:cs typeface="Times New Roman"/>
                  <a:sym typeface="Times New Roman"/>
                </a:rPr>
                <a:t>h</a:t>
              </a:r>
              <a:endParaRPr i="1" sz="2000">
                <a:latin typeface="Times New Roman"/>
                <a:ea typeface="Times New Roman"/>
                <a:cs typeface="Times New Roman"/>
                <a:sym typeface="Times New Roman"/>
              </a:endParaRPr>
            </a:p>
          </p:txBody>
        </p:sp>
        <p:sp>
          <p:nvSpPr>
            <p:cNvPr id="900" name="Google Shape;900;p71"/>
            <p:cNvSpPr/>
            <p:nvPr/>
          </p:nvSpPr>
          <p:spPr>
            <a:xfrm>
              <a:off x="6358500" y="3706325"/>
              <a:ext cx="419400" cy="419400"/>
            </a:xfrm>
            <a:prstGeom prst="ellipse">
              <a:avLst/>
            </a:prstGeom>
            <a:solidFill>
              <a:srgbClr val="845AD9"/>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rgbClr val="FFFFFF"/>
                  </a:solidFill>
                  <a:latin typeface="Lexend"/>
                  <a:ea typeface="Lexend"/>
                  <a:cs typeface="Lexend"/>
                  <a:sym typeface="Lexend"/>
                </a:rPr>
                <a:t>a</a:t>
              </a:r>
              <a:endParaRPr sz="2000">
                <a:solidFill>
                  <a:srgbClr val="FFFFFF"/>
                </a:solidFill>
                <a:latin typeface="Lexend"/>
                <a:ea typeface="Lexend"/>
                <a:cs typeface="Lexend"/>
                <a:sym typeface="Lexend"/>
              </a:endParaRPr>
            </a:p>
          </p:txBody>
        </p:sp>
      </p:grpSp>
      <p:grpSp>
        <p:nvGrpSpPr>
          <p:cNvPr id="901" name="Google Shape;901;p71"/>
          <p:cNvGrpSpPr/>
          <p:nvPr/>
        </p:nvGrpSpPr>
        <p:grpSpPr>
          <a:xfrm>
            <a:off x="3372000" y="3249125"/>
            <a:ext cx="2461500" cy="419400"/>
            <a:chOff x="6358500" y="3706325"/>
            <a:chExt cx="2461500" cy="419400"/>
          </a:xfrm>
        </p:grpSpPr>
        <p:sp>
          <p:nvSpPr>
            <p:cNvPr id="902" name="Google Shape;902;p71"/>
            <p:cNvSpPr/>
            <p:nvPr/>
          </p:nvSpPr>
          <p:spPr>
            <a:xfrm>
              <a:off x="6358500" y="3706325"/>
              <a:ext cx="246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lang="en-GB" sz="2000">
                  <a:latin typeface="Times New Roman"/>
                  <a:ea typeface="Times New Roman"/>
                  <a:cs typeface="Times New Roman"/>
                  <a:sym typeface="Times New Roman"/>
                </a:rPr>
                <a:t>15</a:t>
              </a:r>
              <a:r>
                <a:rPr lang="en-GB" sz="2000">
                  <a:latin typeface="Times New Roman"/>
                  <a:ea typeface="Times New Roman"/>
                  <a:cs typeface="Times New Roman"/>
                  <a:sym typeface="Times New Roman"/>
                </a:rPr>
                <a:t> × sin(21°) = </a:t>
              </a:r>
              <a:r>
                <a:rPr i="1" lang="en-GB" sz="2000">
                  <a:latin typeface="Times New Roman"/>
                  <a:ea typeface="Times New Roman"/>
                  <a:cs typeface="Times New Roman"/>
                  <a:sym typeface="Times New Roman"/>
                </a:rPr>
                <a:t>h</a:t>
              </a:r>
              <a:endParaRPr i="1" sz="2000">
                <a:latin typeface="Times New Roman"/>
                <a:ea typeface="Times New Roman"/>
                <a:cs typeface="Times New Roman"/>
                <a:sym typeface="Times New Roman"/>
              </a:endParaRPr>
            </a:p>
          </p:txBody>
        </p:sp>
        <p:sp>
          <p:nvSpPr>
            <p:cNvPr id="903" name="Google Shape;903;p71"/>
            <p:cNvSpPr/>
            <p:nvPr/>
          </p:nvSpPr>
          <p:spPr>
            <a:xfrm>
              <a:off x="6358500" y="3706325"/>
              <a:ext cx="419400" cy="419400"/>
            </a:xfrm>
            <a:prstGeom prst="ellipse">
              <a:avLst/>
            </a:prstGeom>
            <a:solidFill>
              <a:srgbClr val="845AD9"/>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rgbClr val="FFFFFF"/>
                  </a:solidFill>
                  <a:latin typeface="Lexend"/>
                  <a:ea typeface="Lexend"/>
                  <a:cs typeface="Lexend"/>
                  <a:sym typeface="Lexend"/>
                </a:rPr>
                <a:t>b</a:t>
              </a:r>
              <a:endParaRPr sz="2000">
                <a:solidFill>
                  <a:srgbClr val="FFFFFF"/>
                </a:solidFill>
                <a:latin typeface="Lexend"/>
                <a:ea typeface="Lexend"/>
                <a:cs typeface="Lexend"/>
                <a:sym typeface="Lexend"/>
              </a:endParaRPr>
            </a:p>
          </p:txBody>
        </p:sp>
      </p:grpSp>
      <p:grpSp>
        <p:nvGrpSpPr>
          <p:cNvPr id="904" name="Google Shape;904;p71"/>
          <p:cNvGrpSpPr/>
          <p:nvPr/>
        </p:nvGrpSpPr>
        <p:grpSpPr>
          <a:xfrm>
            <a:off x="6231794" y="3249125"/>
            <a:ext cx="2461500" cy="419400"/>
            <a:chOff x="6358500" y="3706325"/>
            <a:chExt cx="2461500" cy="419400"/>
          </a:xfrm>
        </p:grpSpPr>
        <p:sp>
          <p:nvSpPr>
            <p:cNvPr id="905" name="Google Shape;905;p71"/>
            <p:cNvSpPr/>
            <p:nvPr/>
          </p:nvSpPr>
          <p:spPr>
            <a:xfrm>
              <a:off x="6358500" y="3706325"/>
              <a:ext cx="2461500" cy="419400"/>
            </a:xfrm>
            <a:prstGeom prst="roundRect">
              <a:avLst>
                <a:gd fmla="val 50000" name="adj"/>
              </a:avLst>
            </a:prstGeom>
            <a:noFill/>
            <a:ln cap="flat" cmpd="sng" w="28575">
              <a:solidFill>
                <a:srgbClr val="000000"/>
              </a:solidFill>
              <a:prstDash val="solid"/>
              <a:round/>
              <a:headEnd len="sm" w="sm" type="none"/>
              <a:tailEnd len="sm" w="sm" type="none"/>
            </a:ln>
          </p:spPr>
          <p:txBody>
            <a:bodyPr anchorCtr="0" anchor="ctr" bIns="0" lIns="468000" spcFirstLastPara="1" rIns="0" wrap="square" tIns="0">
              <a:noAutofit/>
            </a:bodyPr>
            <a:lstStyle/>
            <a:p>
              <a:pPr indent="0" lvl="0" marL="0" rtl="0" algn="l">
                <a:spcBef>
                  <a:spcPts val="0"/>
                </a:spcBef>
                <a:spcAft>
                  <a:spcPts val="0"/>
                </a:spcAft>
                <a:buNone/>
              </a:pPr>
              <a:r>
                <a:rPr i="1" lang="en-GB" sz="2000">
                  <a:latin typeface="Times New Roman"/>
                  <a:ea typeface="Times New Roman"/>
                  <a:cs typeface="Times New Roman"/>
                  <a:sym typeface="Times New Roman"/>
                </a:rPr>
                <a:t>h</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+ 12</a:t>
              </a:r>
              <a:r>
                <a:rPr baseline="30000" lang="en-GB" sz="2000">
                  <a:latin typeface="Times New Roman"/>
                  <a:ea typeface="Times New Roman"/>
                  <a:cs typeface="Times New Roman"/>
                  <a:sym typeface="Times New Roman"/>
                </a:rPr>
                <a:t>2</a:t>
              </a:r>
              <a:r>
                <a:rPr lang="en-GB" sz="2000">
                  <a:latin typeface="Times New Roman"/>
                  <a:ea typeface="Times New Roman"/>
                  <a:cs typeface="Times New Roman"/>
                  <a:sym typeface="Times New Roman"/>
                </a:rPr>
                <a:t> = 15</a:t>
              </a:r>
              <a:r>
                <a:rPr baseline="30000" lang="en-GB" sz="2000">
                  <a:latin typeface="Times New Roman"/>
                  <a:ea typeface="Times New Roman"/>
                  <a:cs typeface="Times New Roman"/>
                  <a:sym typeface="Times New Roman"/>
                </a:rPr>
                <a:t>2</a:t>
              </a:r>
              <a:endParaRPr baseline="30000" sz="2000">
                <a:latin typeface="Times New Roman"/>
                <a:ea typeface="Times New Roman"/>
                <a:cs typeface="Times New Roman"/>
                <a:sym typeface="Times New Roman"/>
              </a:endParaRPr>
            </a:p>
          </p:txBody>
        </p:sp>
        <p:sp>
          <p:nvSpPr>
            <p:cNvPr id="906" name="Google Shape;906;p71"/>
            <p:cNvSpPr/>
            <p:nvPr/>
          </p:nvSpPr>
          <p:spPr>
            <a:xfrm>
              <a:off x="6358500" y="3706325"/>
              <a:ext cx="419400" cy="419400"/>
            </a:xfrm>
            <a:prstGeom prst="ellipse">
              <a:avLst/>
            </a:prstGeom>
            <a:solidFill>
              <a:srgbClr val="845AD9"/>
            </a:solidFill>
            <a:ln cap="flat" cmpd="sng" w="2857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sz="2000">
                  <a:solidFill>
                    <a:srgbClr val="FFFFFF"/>
                  </a:solidFill>
                  <a:latin typeface="Lexend"/>
                  <a:ea typeface="Lexend"/>
                  <a:cs typeface="Lexend"/>
                  <a:sym typeface="Lexend"/>
                </a:rPr>
                <a:t>c</a:t>
              </a:r>
              <a:endParaRPr sz="2000">
                <a:solidFill>
                  <a:srgbClr val="FFFFFF"/>
                </a:solidFill>
                <a:latin typeface="Lexend"/>
                <a:ea typeface="Lexend"/>
                <a:cs typeface="Lexend"/>
                <a:sym typeface="Lexend"/>
              </a:endParaRPr>
            </a:p>
          </p:txBody>
        </p:sp>
      </p:grpSp>
      <p:sp>
        <p:nvSpPr>
          <p:cNvPr id="907" name="Google Shape;907;p71"/>
          <p:cNvSpPr txBox="1"/>
          <p:nvPr/>
        </p:nvSpPr>
        <p:spPr>
          <a:xfrm>
            <a:off x="3539601" y="2363711"/>
            <a:ext cx="726300" cy="216900"/>
          </a:xfrm>
          <a:prstGeom prst="rect">
            <a:avLst/>
          </a:prstGeom>
          <a:noFill/>
          <a:ln>
            <a:noFill/>
          </a:ln>
        </p:spPr>
        <p:txBody>
          <a:bodyPr anchorCtr="0" anchor="t" bIns="0" lIns="0" spcFirstLastPara="1" rIns="0" wrap="square" tIns="0">
            <a:noAutofit/>
          </a:bodyPr>
          <a:lstStyle/>
          <a:p>
            <a:pPr indent="0" lvl="0" marL="0" rtl="0" algn="l">
              <a:lnSpc>
                <a:spcPct val="130000"/>
              </a:lnSpc>
              <a:spcBef>
                <a:spcPts val="0"/>
              </a:spcBef>
              <a:spcAft>
                <a:spcPts val="1000"/>
              </a:spcAft>
              <a:buNone/>
            </a:pPr>
            <a:r>
              <a:rPr i="1" lang="en-GB" sz="2000">
                <a:latin typeface="Times New Roman"/>
                <a:ea typeface="Times New Roman"/>
                <a:cs typeface="Times New Roman"/>
                <a:sym typeface="Times New Roman"/>
              </a:rPr>
              <a:t>h</a:t>
            </a:r>
            <a:r>
              <a:rPr lang="en-GB" sz="1800">
                <a:latin typeface="Lexend"/>
                <a:ea typeface="Lexend"/>
                <a:cs typeface="Lexend"/>
                <a:sym typeface="Lexend"/>
              </a:rPr>
              <a:t>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sp>
        <p:nvSpPr>
          <p:cNvPr id="908" name="Google Shape;908;p71"/>
          <p:cNvSpPr/>
          <p:nvPr/>
        </p:nvSpPr>
        <p:spPr>
          <a:xfrm>
            <a:off x="2738913" y="1460558"/>
            <a:ext cx="2620636" cy="1212584"/>
          </a:xfrm>
          <a:custGeom>
            <a:rect b="b" l="l" r="r" t="t"/>
            <a:pathLst>
              <a:path extrusionOk="0" h="35391" w="76487">
                <a:moveTo>
                  <a:pt x="0" y="35291"/>
                </a:moveTo>
                <a:lnTo>
                  <a:pt x="48300" y="35391"/>
                </a:lnTo>
                <a:lnTo>
                  <a:pt x="76487" y="0"/>
                </a:lnTo>
                <a:close/>
              </a:path>
            </a:pathLst>
          </a:custGeom>
          <a:noFill/>
          <a:ln cap="flat" cmpd="sng" w="28575">
            <a:solidFill>
              <a:srgbClr val="000000"/>
            </a:solidFill>
            <a:prstDash val="solid"/>
            <a:round/>
            <a:headEnd len="med" w="med" type="none"/>
            <a:tailEnd len="med" w="med" type="none"/>
          </a:ln>
        </p:spPr>
      </p:sp>
      <p:pic>
        <p:nvPicPr>
          <p:cNvPr id="909" name="Google Shape;909;p71"/>
          <p:cNvPicPr preferRelativeResize="0"/>
          <p:nvPr/>
        </p:nvPicPr>
        <p:blipFill>
          <a:blip r:embed="rId3">
            <a:alphaModFix/>
          </a:blip>
          <a:stretch>
            <a:fillRect/>
          </a:stretch>
        </p:blipFill>
        <p:spPr>
          <a:xfrm>
            <a:off x="5378408" y="3737250"/>
            <a:ext cx="396000" cy="419100"/>
          </a:xfrm>
          <a:prstGeom prst="rect">
            <a:avLst/>
          </a:prstGeom>
          <a:noFill/>
          <a:ln>
            <a:noFill/>
          </a:ln>
        </p:spPr>
      </p:pic>
      <p:sp>
        <p:nvSpPr>
          <p:cNvPr id="910" name="Google Shape;910;p71"/>
          <p:cNvSpPr txBox="1"/>
          <p:nvPr/>
        </p:nvSpPr>
        <p:spPr>
          <a:xfrm>
            <a:off x="453150" y="4341025"/>
            <a:ext cx="5365800" cy="382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You cannot assume this is an isosceles triangle.</a:t>
            </a:r>
            <a:endParaRPr sz="2000">
              <a:solidFill>
                <a:srgbClr val="000000"/>
              </a:solidFill>
              <a:latin typeface="Kalam"/>
              <a:ea typeface="Kalam"/>
              <a:cs typeface="Kalam"/>
              <a:sym typeface="Kalam"/>
            </a:endParaRPr>
          </a:p>
        </p:txBody>
      </p:sp>
      <p:cxnSp>
        <p:nvCxnSpPr>
          <p:cNvPr id="911" name="Google Shape;911;p71"/>
          <p:cNvCxnSpPr/>
          <p:nvPr/>
        </p:nvCxnSpPr>
        <p:spPr>
          <a:xfrm rot="10800000">
            <a:off x="3965050" y="2143125"/>
            <a:ext cx="322800" cy="627900"/>
          </a:xfrm>
          <a:prstGeom prst="straightConnector1">
            <a:avLst/>
          </a:prstGeom>
          <a:noFill/>
          <a:ln cap="flat" cmpd="sng" w="28575">
            <a:solidFill>
              <a:schemeClr val="accent4"/>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cxnSp>
        <p:nvCxnSpPr>
          <p:cNvPr id="916" name="Google Shape;916;p72"/>
          <p:cNvCxnSpPr/>
          <p:nvPr/>
        </p:nvCxnSpPr>
        <p:spPr>
          <a:xfrm>
            <a:off x="1776650" y="1653250"/>
            <a:ext cx="0" cy="1004700"/>
          </a:xfrm>
          <a:prstGeom prst="straightConnector1">
            <a:avLst/>
          </a:prstGeom>
          <a:noFill/>
          <a:ln cap="flat" cmpd="sng" w="28575">
            <a:solidFill>
              <a:schemeClr val="dk2"/>
            </a:solidFill>
            <a:prstDash val="dash"/>
            <a:round/>
            <a:headEnd len="med" w="med" type="none"/>
            <a:tailEnd len="med" w="med" type="none"/>
          </a:ln>
        </p:spPr>
      </p:cxnSp>
      <p:sp>
        <p:nvSpPr>
          <p:cNvPr id="917" name="Google Shape;917;p72"/>
          <p:cNvSpPr/>
          <p:nvPr/>
        </p:nvSpPr>
        <p:spPr>
          <a:xfrm>
            <a:off x="1635481" y="25174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8" name="Google Shape;918;p72"/>
          <p:cNvSpPr txBox="1"/>
          <p:nvPr>
            <p:ph idx="1" type="body"/>
          </p:nvPr>
        </p:nvSpPr>
        <p:spPr>
          <a:xfrm>
            <a:off x="324000" y="759300"/>
            <a:ext cx="8237700" cy="65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area of a parallelogram is calculated by finding the product of the perpendicular height and the base. </a:t>
            </a:r>
            <a:endParaRPr sz="1800"/>
          </a:p>
        </p:txBody>
      </p:sp>
      <p:sp>
        <p:nvSpPr>
          <p:cNvPr id="919" name="Google Shape;919;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920" name="Google Shape;920;p72"/>
          <p:cNvSpPr/>
          <p:nvPr/>
        </p:nvSpPr>
        <p:spPr>
          <a:xfrm>
            <a:off x="1164825" y="1659600"/>
            <a:ext cx="2014200" cy="1000800"/>
          </a:xfrm>
          <a:prstGeom prst="parallelogram">
            <a:avLst>
              <a:gd fmla="val 51754"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21" name="Google Shape;921;p72"/>
          <p:cNvCxnSpPr/>
          <p:nvPr/>
        </p:nvCxnSpPr>
        <p:spPr>
          <a:xfrm>
            <a:off x="1164825" y="2797250"/>
            <a:ext cx="1486200" cy="0"/>
          </a:xfrm>
          <a:prstGeom prst="straightConnector1">
            <a:avLst/>
          </a:prstGeom>
          <a:noFill/>
          <a:ln cap="flat" cmpd="sng" w="28575">
            <a:solidFill>
              <a:schemeClr val="dk1"/>
            </a:solidFill>
            <a:prstDash val="solid"/>
            <a:round/>
            <a:headEnd len="med" w="med" type="triangle"/>
            <a:tailEnd len="med" w="med" type="triangle"/>
          </a:ln>
        </p:spPr>
      </p:cxnSp>
      <p:cxnSp>
        <p:nvCxnSpPr>
          <p:cNvPr id="922" name="Google Shape;922;p72"/>
          <p:cNvCxnSpPr/>
          <p:nvPr/>
        </p:nvCxnSpPr>
        <p:spPr>
          <a:xfrm>
            <a:off x="1896075" y="16849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23" name="Google Shape;923;p72"/>
          <p:cNvSpPr txBox="1"/>
          <p:nvPr/>
        </p:nvSpPr>
        <p:spPr>
          <a:xfrm>
            <a:off x="1678425" y="27909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sp>
        <p:nvSpPr>
          <p:cNvPr id="924" name="Google Shape;924;p72"/>
          <p:cNvSpPr txBox="1"/>
          <p:nvPr/>
        </p:nvSpPr>
        <p:spPr>
          <a:xfrm>
            <a:off x="1932425" y="19947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925" name="Google Shape;925;p72"/>
          <p:cNvSpPr txBox="1"/>
          <p:nvPr/>
        </p:nvSpPr>
        <p:spPr>
          <a:xfrm>
            <a:off x="3981600" y="1746725"/>
            <a:ext cx="29565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Area = 7 </a:t>
            </a:r>
            <a:r>
              <a:rPr lang="en-GB" sz="1800">
                <a:solidFill>
                  <a:schemeClr val="dk1"/>
                </a:solidFill>
                <a:latin typeface="Lexend"/>
                <a:ea typeface="Lexend"/>
                <a:cs typeface="Lexend"/>
                <a:sym typeface="Lexend"/>
              </a:rPr>
              <a:t>× 4.5 = 31.5 cm</a:t>
            </a:r>
            <a:r>
              <a:rPr baseline="30000" lang="en-GB" sz="1800">
                <a:solidFill>
                  <a:schemeClr val="dk1"/>
                </a:solidFill>
                <a:latin typeface="Lexend"/>
                <a:ea typeface="Lexend"/>
                <a:cs typeface="Lexend"/>
                <a:sym typeface="Lexend"/>
              </a:rPr>
              <a:t>2</a:t>
            </a:r>
            <a:endParaRPr baseline="30000" sz="1800">
              <a:solidFill>
                <a:srgbClr val="000000"/>
              </a:solidFill>
              <a:latin typeface="Lexend"/>
              <a:ea typeface="Lexend"/>
              <a:cs typeface="Lexend"/>
              <a:sym typeface="Lexend"/>
            </a:endParaRPr>
          </a:p>
        </p:txBody>
      </p:sp>
      <p:cxnSp>
        <p:nvCxnSpPr>
          <p:cNvPr id="926" name="Google Shape;926;p72"/>
          <p:cNvCxnSpPr/>
          <p:nvPr/>
        </p:nvCxnSpPr>
        <p:spPr>
          <a:xfrm>
            <a:off x="1088625" y="4473650"/>
            <a:ext cx="1413900" cy="0"/>
          </a:xfrm>
          <a:prstGeom prst="straightConnector1">
            <a:avLst/>
          </a:prstGeom>
          <a:noFill/>
          <a:ln cap="flat" cmpd="sng" w="28575">
            <a:solidFill>
              <a:schemeClr val="dk1"/>
            </a:solidFill>
            <a:prstDash val="solid"/>
            <a:round/>
            <a:headEnd len="med" w="med" type="triangle"/>
            <a:tailEnd len="med" w="med" type="triangle"/>
          </a:ln>
        </p:spPr>
      </p:cxnSp>
      <p:sp>
        <p:nvSpPr>
          <p:cNvPr id="927" name="Google Shape;927;p72"/>
          <p:cNvSpPr txBox="1"/>
          <p:nvPr/>
        </p:nvSpPr>
        <p:spPr>
          <a:xfrm>
            <a:off x="1602225" y="44673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nvGrpSpPr>
          <p:cNvPr id="928" name="Google Shape;928;p72"/>
          <p:cNvGrpSpPr/>
          <p:nvPr/>
        </p:nvGrpSpPr>
        <p:grpSpPr>
          <a:xfrm>
            <a:off x="1559281" y="3329650"/>
            <a:ext cx="1043344" cy="1004700"/>
            <a:chOff x="1559281" y="3329650"/>
            <a:chExt cx="1043344" cy="1004700"/>
          </a:xfrm>
        </p:grpSpPr>
        <p:cxnSp>
          <p:nvCxnSpPr>
            <p:cNvPr id="929" name="Google Shape;929;p72"/>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30" name="Google Shape;930;p72"/>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31" name="Google Shape;931;p72"/>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32" name="Google Shape;932;p72"/>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cxnSp>
        <p:nvCxnSpPr>
          <p:cNvPr id="933" name="Google Shape;933;p72"/>
          <p:cNvCxnSpPr/>
          <p:nvPr/>
        </p:nvCxnSpPr>
        <p:spPr>
          <a:xfrm flipH="1">
            <a:off x="951125" y="3317400"/>
            <a:ext cx="616500" cy="1023600"/>
          </a:xfrm>
          <a:prstGeom prst="straightConnector1">
            <a:avLst/>
          </a:prstGeom>
          <a:noFill/>
          <a:ln cap="flat" cmpd="sng" w="28575">
            <a:solidFill>
              <a:schemeClr val="dk1"/>
            </a:solidFill>
            <a:prstDash val="solid"/>
            <a:round/>
            <a:headEnd len="med" w="med" type="triangle"/>
            <a:tailEnd len="med" w="med" type="triangle"/>
          </a:ln>
        </p:spPr>
      </p:cxnSp>
      <p:sp>
        <p:nvSpPr>
          <p:cNvPr id="934" name="Google Shape;934;p72"/>
          <p:cNvSpPr txBox="1"/>
          <p:nvPr/>
        </p:nvSpPr>
        <p:spPr>
          <a:xfrm>
            <a:off x="499325" y="36275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5.1</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935" name="Google Shape;935;p72"/>
          <p:cNvSpPr/>
          <p:nvPr/>
        </p:nvSpPr>
        <p:spPr>
          <a:xfrm>
            <a:off x="781775" y="4035000"/>
            <a:ext cx="613500" cy="613500"/>
          </a:xfrm>
          <a:prstGeom prst="arc">
            <a:avLst>
              <a:gd fmla="val 18149302"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36" name="Google Shape;936;p72"/>
          <p:cNvSpPr txBox="1"/>
          <p:nvPr/>
        </p:nvSpPr>
        <p:spPr>
          <a:xfrm>
            <a:off x="1319496" y="392775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62</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37" name="Google Shape;937;p72"/>
          <p:cNvSpPr txBox="1"/>
          <p:nvPr>
            <p:ph idx="1" type="body"/>
          </p:nvPr>
        </p:nvSpPr>
        <p:spPr>
          <a:xfrm>
            <a:off x="3981600" y="2511900"/>
            <a:ext cx="4838400" cy="65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the area be calculated if we do not know the perpendicular height?</a:t>
            </a:r>
            <a:endParaRPr sz="1800"/>
          </a:p>
        </p:txBody>
      </p:sp>
      <p:sp>
        <p:nvSpPr>
          <p:cNvPr id="938" name="Google Shape;938;p72"/>
          <p:cNvSpPr txBox="1"/>
          <p:nvPr>
            <p:ph idx="1" type="body"/>
          </p:nvPr>
        </p:nvSpPr>
        <p:spPr>
          <a:xfrm>
            <a:off x="3981600" y="3197700"/>
            <a:ext cx="4838400" cy="65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perpendicular height is </a:t>
            </a:r>
            <a:r>
              <a:rPr lang="en-GB" sz="1800"/>
              <a:t>fixed throughout the parallelogram.</a:t>
            </a:r>
            <a:endParaRPr sz="1800"/>
          </a:p>
        </p:txBody>
      </p:sp>
      <p:grpSp>
        <p:nvGrpSpPr>
          <p:cNvPr id="939" name="Google Shape;939;p72"/>
          <p:cNvGrpSpPr/>
          <p:nvPr/>
        </p:nvGrpSpPr>
        <p:grpSpPr>
          <a:xfrm>
            <a:off x="1864081" y="3329650"/>
            <a:ext cx="1043344" cy="1004700"/>
            <a:chOff x="1559281" y="3329650"/>
            <a:chExt cx="1043344" cy="1004700"/>
          </a:xfrm>
        </p:grpSpPr>
        <p:cxnSp>
          <p:nvCxnSpPr>
            <p:cNvPr id="940" name="Google Shape;940;p72"/>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41" name="Google Shape;941;p72"/>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2" name="Google Shape;942;p72"/>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43" name="Google Shape;943;p72"/>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grpSp>
        <p:nvGrpSpPr>
          <p:cNvPr id="944" name="Google Shape;944;p72"/>
          <p:cNvGrpSpPr/>
          <p:nvPr/>
        </p:nvGrpSpPr>
        <p:grpSpPr>
          <a:xfrm>
            <a:off x="2321281" y="3329650"/>
            <a:ext cx="1043344" cy="1004700"/>
            <a:chOff x="1559281" y="3329650"/>
            <a:chExt cx="1043344" cy="1004700"/>
          </a:xfrm>
        </p:grpSpPr>
        <p:cxnSp>
          <p:nvCxnSpPr>
            <p:cNvPr id="945" name="Google Shape;945;p72"/>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46" name="Google Shape;946;p72"/>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47" name="Google Shape;947;p72"/>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48" name="Google Shape;948;p72"/>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grpSp>
        <p:nvGrpSpPr>
          <p:cNvPr id="949" name="Google Shape;949;p72"/>
          <p:cNvGrpSpPr/>
          <p:nvPr/>
        </p:nvGrpSpPr>
        <p:grpSpPr>
          <a:xfrm>
            <a:off x="2968981" y="3329650"/>
            <a:ext cx="1043344" cy="1004700"/>
            <a:chOff x="1559281" y="3329650"/>
            <a:chExt cx="1043344" cy="1004700"/>
          </a:xfrm>
        </p:grpSpPr>
        <p:cxnSp>
          <p:nvCxnSpPr>
            <p:cNvPr id="950" name="Google Shape;950;p72"/>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51" name="Google Shape;951;p72"/>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2" name="Google Shape;952;p72"/>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53" name="Google Shape;953;p72"/>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cxnSp>
        <p:nvCxnSpPr>
          <p:cNvPr id="954" name="Google Shape;954;p72"/>
          <p:cNvCxnSpPr>
            <a:endCxn id="951" idx="2"/>
          </p:cNvCxnSpPr>
          <p:nvPr/>
        </p:nvCxnSpPr>
        <p:spPr>
          <a:xfrm>
            <a:off x="2509831" y="4333998"/>
            <a:ext cx="529200" cy="0"/>
          </a:xfrm>
          <a:prstGeom prst="straightConnector1">
            <a:avLst/>
          </a:prstGeom>
          <a:noFill/>
          <a:ln cap="flat" cmpd="sng" w="28575">
            <a:solidFill>
              <a:schemeClr val="dk2"/>
            </a:solidFill>
            <a:prstDash val="dash"/>
            <a:round/>
            <a:headEnd len="med" w="med" type="none"/>
            <a:tailEnd len="med" w="med" type="none"/>
          </a:ln>
        </p:spPr>
      </p:cxnSp>
      <p:grpSp>
        <p:nvGrpSpPr>
          <p:cNvPr id="955" name="Google Shape;955;p72"/>
          <p:cNvGrpSpPr/>
          <p:nvPr/>
        </p:nvGrpSpPr>
        <p:grpSpPr>
          <a:xfrm>
            <a:off x="2124431" y="3329650"/>
            <a:ext cx="1043344" cy="1004700"/>
            <a:chOff x="1559281" y="3329650"/>
            <a:chExt cx="1043344" cy="1004700"/>
          </a:xfrm>
        </p:grpSpPr>
        <p:cxnSp>
          <p:nvCxnSpPr>
            <p:cNvPr id="956" name="Google Shape;956;p72"/>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57" name="Google Shape;957;p72"/>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58" name="Google Shape;958;p72"/>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59" name="Google Shape;959;p72"/>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sp>
        <p:nvSpPr>
          <p:cNvPr id="960" name="Google Shape;960;p72"/>
          <p:cNvSpPr/>
          <p:nvPr/>
        </p:nvSpPr>
        <p:spPr>
          <a:xfrm>
            <a:off x="1088625" y="3336000"/>
            <a:ext cx="2014200" cy="1000800"/>
          </a:xfrm>
          <a:prstGeom prst="parallelogram">
            <a:avLst>
              <a:gd fmla="val 60002"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1" name="Google Shape;961;p72"/>
          <p:cNvSpPr txBox="1"/>
          <p:nvPr>
            <p:ph idx="1" type="body"/>
          </p:nvPr>
        </p:nvSpPr>
        <p:spPr>
          <a:xfrm>
            <a:off x="3981600" y="3883500"/>
            <a:ext cx="4838400" cy="65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position, creates a right-angled triangle with hypotenuse of 5.1 cm and an angle of 62°.</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3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95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73"/>
          <p:cNvSpPr/>
          <p:nvPr/>
        </p:nvSpPr>
        <p:spPr>
          <a:xfrm>
            <a:off x="1088625" y="897600"/>
            <a:ext cx="2014200" cy="1000800"/>
          </a:xfrm>
          <a:prstGeom prst="parallelogram">
            <a:avLst>
              <a:gd fmla="val 60002"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67" name="Google Shape;967;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968" name="Google Shape;968;p73"/>
          <p:cNvCxnSpPr/>
          <p:nvPr/>
        </p:nvCxnSpPr>
        <p:spPr>
          <a:xfrm>
            <a:off x="1088625" y="2035250"/>
            <a:ext cx="1413900" cy="0"/>
          </a:xfrm>
          <a:prstGeom prst="straightConnector1">
            <a:avLst/>
          </a:prstGeom>
          <a:noFill/>
          <a:ln cap="flat" cmpd="sng" w="28575">
            <a:solidFill>
              <a:schemeClr val="dk1"/>
            </a:solidFill>
            <a:prstDash val="solid"/>
            <a:round/>
            <a:headEnd len="med" w="med" type="triangle"/>
            <a:tailEnd len="med" w="med" type="triangle"/>
          </a:ln>
        </p:spPr>
      </p:cxnSp>
      <p:sp>
        <p:nvSpPr>
          <p:cNvPr id="969" name="Google Shape;969;p73"/>
          <p:cNvSpPr txBox="1"/>
          <p:nvPr/>
        </p:nvSpPr>
        <p:spPr>
          <a:xfrm>
            <a:off x="1602225" y="20289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nvGrpSpPr>
          <p:cNvPr id="970" name="Google Shape;970;p73"/>
          <p:cNvGrpSpPr/>
          <p:nvPr/>
        </p:nvGrpSpPr>
        <p:grpSpPr>
          <a:xfrm>
            <a:off x="1559281" y="891250"/>
            <a:ext cx="1043344" cy="1004700"/>
            <a:chOff x="1559281" y="3329650"/>
            <a:chExt cx="1043344" cy="1004700"/>
          </a:xfrm>
        </p:grpSpPr>
        <p:cxnSp>
          <p:nvCxnSpPr>
            <p:cNvPr id="971" name="Google Shape;971;p73"/>
            <p:cNvCxnSpPr/>
            <p:nvPr/>
          </p:nvCxnSpPr>
          <p:spPr>
            <a:xfrm>
              <a:off x="1700450" y="3329650"/>
              <a:ext cx="0" cy="1004700"/>
            </a:xfrm>
            <a:prstGeom prst="straightConnector1">
              <a:avLst/>
            </a:prstGeom>
            <a:noFill/>
            <a:ln cap="flat" cmpd="sng" w="28575">
              <a:solidFill>
                <a:schemeClr val="dk2"/>
              </a:solidFill>
              <a:prstDash val="dash"/>
              <a:round/>
              <a:headEnd len="med" w="med" type="none"/>
              <a:tailEnd len="med" w="med" type="none"/>
            </a:ln>
          </p:spPr>
        </p:cxnSp>
        <p:sp>
          <p:nvSpPr>
            <p:cNvPr id="972" name="Google Shape;972;p73"/>
            <p:cNvSpPr/>
            <p:nvPr/>
          </p:nvSpPr>
          <p:spPr>
            <a:xfrm>
              <a:off x="1559281" y="4193898"/>
              <a:ext cx="140100" cy="1401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73" name="Google Shape;973;p73"/>
            <p:cNvCxnSpPr/>
            <p:nvPr/>
          </p:nvCxnSpPr>
          <p:spPr>
            <a:xfrm>
              <a:off x="1819875" y="3361350"/>
              <a:ext cx="0" cy="947700"/>
            </a:xfrm>
            <a:prstGeom prst="straightConnector1">
              <a:avLst/>
            </a:prstGeom>
            <a:noFill/>
            <a:ln cap="flat" cmpd="sng" w="28575">
              <a:solidFill>
                <a:schemeClr val="dk1"/>
              </a:solidFill>
              <a:prstDash val="solid"/>
              <a:round/>
              <a:headEnd len="med" w="med" type="triangle"/>
              <a:tailEnd len="med" w="med" type="triangle"/>
            </a:ln>
          </p:spPr>
        </p:cxnSp>
        <p:sp>
          <p:nvSpPr>
            <p:cNvPr id="974" name="Google Shape;974;p73"/>
            <p:cNvSpPr txBox="1"/>
            <p:nvPr/>
          </p:nvSpPr>
          <p:spPr>
            <a:xfrm>
              <a:off x="1856225" y="3671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sp>
        <p:nvSpPr>
          <p:cNvPr id="975" name="Google Shape;975;p73"/>
          <p:cNvSpPr/>
          <p:nvPr/>
        </p:nvSpPr>
        <p:spPr>
          <a:xfrm flipH="1">
            <a:off x="1091625" y="873525"/>
            <a:ext cx="613500" cy="1023600"/>
          </a:xfrm>
          <a:prstGeom prst="rtTriangle">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76" name="Google Shape;976;p73"/>
          <p:cNvCxnSpPr/>
          <p:nvPr/>
        </p:nvCxnSpPr>
        <p:spPr>
          <a:xfrm flipH="1">
            <a:off x="951125" y="879000"/>
            <a:ext cx="616500" cy="1023600"/>
          </a:xfrm>
          <a:prstGeom prst="straightConnector1">
            <a:avLst/>
          </a:prstGeom>
          <a:noFill/>
          <a:ln cap="flat" cmpd="sng" w="28575">
            <a:solidFill>
              <a:schemeClr val="dk1"/>
            </a:solidFill>
            <a:prstDash val="solid"/>
            <a:round/>
            <a:headEnd len="med" w="med" type="triangle"/>
            <a:tailEnd len="med" w="med" type="triangle"/>
          </a:ln>
        </p:spPr>
      </p:cxnSp>
      <p:sp>
        <p:nvSpPr>
          <p:cNvPr id="977" name="Google Shape;977;p73"/>
          <p:cNvSpPr txBox="1"/>
          <p:nvPr/>
        </p:nvSpPr>
        <p:spPr>
          <a:xfrm>
            <a:off x="499325" y="11891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5.1</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978" name="Google Shape;978;p73"/>
          <p:cNvSpPr/>
          <p:nvPr/>
        </p:nvSpPr>
        <p:spPr>
          <a:xfrm>
            <a:off x="781775" y="1596600"/>
            <a:ext cx="613500" cy="613500"/>
          </a:xfrm>
          <a:prstGeom prst="arc">
            <a:avLst>
              <a:gd fmla="val 18149302"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79" name="Google Shape;979;p73"/>
          <p:cNvSpPr txBox="1"/>
          <p:nvPr/>
        </p:nvSpPr>
        <p:spPr>
          <a:xfrm>
            <a:off x="1319496" y="148935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62</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980" name="Google Shape;980;p73"/>
          <p:cNvSpPr/>
          <p:nvPr/>
        </p:nvSpPr>
        <p:spPr>
          <a:xfrm>
            <a:off x="1563904" y="1753250"/>
            <a:ext cx="140100" cy="140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1" name="Google Shape;981;p73"/>
          <p:cNvSpPr txBox="1"/>
          <p:nvPr/>
        </p:nvSpPr>
        <p:spPr>
          <a:xfrm>
            <a:off x="3874722" y="2057875"/>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h</a:t>
            </a:r>
            <a:r>
              <a:rPr i="1" lang="en-GB" sz="20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 5.1 × sin(62°)</a:t>
            </a:r>
            <a:endParaRPr sz="2000">
              <a:solidFill>
                <a:srgbClr val="000000"/>
              </a:solidFill>
              <a:latin typeface="Times New Roman"/>
              <a:ea typeface="Times New Roman"/>
              <a:cs typeface="Times New Roman"/>
              <a:sym typeface="Times New Roman"/>
            </a:endParaRPr>
          </a:p>
        </p:txBody>
      </p:sp>
      <p:sp>
        <p:nvSpPr>
          <p:cNvPr id="982" name="Google Shape;982;p73"/>
          <p:cNvSpPr txBox="1"/>
          <p:nvPr/>
        </p:nvSpPr>
        <p:spPr>
          <a:xfrm>
            <a:off x="3874722" y="2438875"/>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h </a:t>
            </a:r>
            <a:r>
              <a:rPr lang="en-GB" sz="2000">
                <a:solidFill>
                  <a:schemeClr val="dk1"/>
                </a:solidFill>
                <a:latin typeface="Times New Roman"/>
                <a:ea typeface="Times New Roman"/>
                <a:cs typeface="Times New Roman"/>
                <a:sym typeface="Times New Roman"/>
              </a:rPr>
              <a:t>= 4.5… </a:t>
            </a:r>
            <a:endParaRPr sz="2000">
              <a:solidFill>
                <a:srgbClr val="000000"/>
              </a:solidFill>
              <a:latin typeface="Times New Roman"/>
              <a:ea typeface="Times New Roman"/>
              <a:cs typeface="Times New Roman"/>
              <a:sym typeface="Times New Roman"/>
            </a:endParaRPr>
          </a:p>
        </p:txBody>
      </p:sp>
      <p:sp>
        <p:nvSpPr>
          <p:cNvPr id="983" name="Google Shape;983;p73"/>
          <p:cNvSpPr txBox="1"/>
          <p:nvPr/>
        </p:nvSpPr>
        <p:spPr>
          <a:xfrm>
            <a:off x="3829200" y="2965925"/>
            <a:ext cx="41547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 = 7 </a:t>
            </a:r>
            <a:r>
              <a:rPr lang="en-GB" sz="2000">
                <a:solidFill>
                  <a:schemeClr val="dk1"/>
                </a:solidFill>
                <a:latin typeface="Times New Roman"/>
                <a:ea typeface="Times New Roman"/>
                <a:cs typeface="Times New Roman"/>
                <a:sym typeface="Times New Roman"/>
              </a:rPr>
              <a:t>× 4.5… = 31.5 cm</a:t>
            </a:r>
            <a:r>
              <a:rPr baseline="30000" lang="en-GB" sz="2000">
                <a:solidFill>
                  <a:schemeClr val="dk1"/>
                </a:solidFill>
                <a:latin typeface="Times New Roman"/>
                <a:ea typeface="Times New Roman"/>
                <a:cs typeface="Times New Roman"/>
                <a:sym typeface="Times New Roman"/>
              </a:rPr>
              <a:t>2 </a:t>
            </a:r>
            <a:r>
              <a:rPr lang="en-GB" sz="2000">
                <a:solidFill>
                  <a:schemeClr val="dk1"/>
                </a:solidFill>
                <a:latin typeface="Times New Roman"/>
                <a:ea typeface="Times New Roman"/>
                <a:cs typeface="Times New Roman"/>
                <a:sym typeface="Times New Roman"/>
              </a:rPr>
              <a:t>(1 d.p.)</a:t>
            </a:r>
            <a:endParaRPr sz="2000">
              <a:solidFill>
                <a:srgbClr val="000000"/>
              </a:solidFill>
              <a:latin typeface="Times New Roman"/>
              <a:ea typeface="Times New Roman"/>
              <a:cs typeface="Times New Roman"/>
              <a:sym typeface="Times New Roman"/>
            </a:endParaRPr>
          </a:p>
        </p:txBody>
      </p:sp>
      <p:sp>
        <p:nvSpPr>
          <p:cNvPr id="984" name="Google Shape;984;p73"/>
          <p:cNvSpPr/>
          <p:nvPr/>
        </p:nvSpPr>
        <p:spPr>
          <a:xfrm>
            <a:off x="1668525" y="737482"/>
            <a:ext cx="254100" cy="140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5" name="Google Shape;985;p73"/>
          <p:cNvSpPr txBox="1"/>
          <p:nvPr>
            <p:ph idx="1" type="body"/>
          </p:nvPr>
        </p:nvSpPr>
        <p:spPr>
          <a:xfrm>
            <a:off x="3874725" y="860025"/>
            <a:ext cx="4838400" cy="657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Using this right-angled triangle and the sine function, the perpendicular height of the parallelogram can be calculated.</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sp>
        <p:nvSpPr>
          <p:cNvPr id="990" name="Google Shape;990;p74"/>
          <p:cNvSpPr txBox="1"/>
          <p:nvPr>
            <p:ph idx="1" type="body"/>
          </p:nvPr>
        </p:nvSpPr>
        <p:spPr>
          <a:xfrm>
            <a:off x="324000" y="759300"/>
            <a:ext cx="8496000" cy="415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Alternatively the 5.1 cm edge could be the base of the parallelogram. </a:t>
            </a:r>
            <a:endParaRPr sz="2000"/>
          </a:p>
        </p:txBody>
      </p:sp>
      <p:sp>
        <p:nvSpPr>
          <p:cNvPr id="991" name="Google Shape;991;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992" name="Google Shape;992;p74"/>
          <p:cNvSpPr/>
          <p:nvPr/>
        </p:nvSpPr>
        <p:spPr>
          <a:xfrm>
            <a:off x="1088625" y="1583400"/>
            <a:ext cx="2014200" cy="1000800"/>
          </a:xfrm>
          <a:prstGeom prst="parallelogram">
            <a:avLst>
              <a:gd fmla="val 60002"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3" name="Google Shape;993;p74"/>
          <p:cNvCxnSpPr/>
          <p:nvPr/>
        </p:nvCxnSpPr>
        <p:spPr>
          <a:xfrm>
            <a:off x="1088625" y="2721050"/>
            <a:ext cx="1413900" cy="0"/>
          </a:xfrm>
          <a:prstGeom prst="straightConnector1">
            <a:avLst/>
          </a:prstGeom>
          <a:noFill/>
          <a:ln cap="flat" cmpd="sng" w="28575">
            <a:solidFill>
              <a:schemeClr val="dk1"/>
            </a:solidFill>
            <a:prstDash val="solid"/>
            <a:round/>
            <a:headEnd len="med" w="med" type="triangle"/>
            <a:tailEnd len="med" w="med" type="triangle"/>
          </a:ln>
        </p:spPr>
      </p:cxnSp>
      <p:sp>
        <p:nvSpPr>
          <p:cNvPr id="994" name="Google Shape;994;p74"/>
          <p:cNvSpPr txBox="1"/>
          <p:nvPr/>
        </p:nvSpPr>
        <p:spPr>
          <a:xfrm>
            <a:off x="1602225" y="27147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nvGrpSpPr>
          <p:cNvPr id="995" name="Google Shape;995;p74"/>
          <p:cNvGrpSpPr/>
          <p:nvPr/>
        </p:nvGrpSpPr>
        <p:grpSpPr>
          <a:xfrm rot="7253993">
            <a:off x="1472256" y="1535777"/>
            <a:ext cx="1161987" cy="1204407"/>
            <a:chOff x="1174676" y="3104539"/>
            <a:chExt cx="1162076" cy="1204500"/>
          </a:xfrm>
        </p:grpSpPr>
        <p:cxnSp>
          <p:nvCxnSpPr>
            <p:cNvPr id="996" name="Google Shape;996;p74"/>
            <p:cNvCxnSpPr/>
            <p:nvPr/>
          </p:nvCxnSpPr>
          <p:spPr>
            <a:xfrm rot="3545904">
              <a:off x="1288754" y="3405602"/>
              <a:ext cx="1043295" cy="602372"/>
            </a:xfrm>
            <a:prstGeom prst="straightConnector1">
              <a:avLst/>
            </a:prstGeom>
            <a:noFill/>
            <a:ln cap="flat" cmpd="sng" w="28575">
              <a:solidFill>
                <a:schemeClr val="accent4"/>
              </a:solidFill>
              <a:prstDash val="solid"/>
              <a:round/>
              <a:headEnd len="med" w="med" type="triangle"/>
              <a:tailEnd len="med" w="med" type="triangle"/>
            </a:ln>
          </p:spPr>
        </p:cxnSp>
        <p:sp>
          <p:nvSpPr>
            <p:cNvPr id="997" name="Google Shape;997;p74"/>
            <p:cNvSpPr txBox="1"/>
            <p:nvPr/>
          </p:nvSpPr>
          <p:spPr>
            <a:xfrm rot="-7256167">
              <a:off x="1131336" y="3483355"/>
              <a:ext cx="746379" cy="321714"/>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grpSp>
      <p:sp>
        <p:nvSpPr>
          <p:cNvPr id="998" name="Google Shape;998;p74"/>
          <p:cNvSpPr/>
          <p:nvPr/>
        </p:nvSpPr>
        <p:spPr>
          <a:xfrm rot="7250915">
            <a:off x="1431838" y="1984955"/>
            <a:ext cx="716694" cy="1195690"/>
          </a:xfrm>
          <a:prstGeom prst="rtTriangle">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999" name="Google Shape;999;p74"/>
          <p:cNvCxnSpPr/>
          <p:nvPr/>
        </p:nvCxnSpPr>
        <p:spPr>
          <a:xfrm flipH="1">
            <a:off x="951125" y="1564800"/>
            <a:ext cx="616500" cy="1023600"/>
          </a:xfrm>
          <a:prstGeom prst="straightConnector1">
            <a:avLst/>
          </a:prstGeom>
          <a:noFill/>
          <a:ln cap="flat" cmpd="sng" w="28575">
            <a:solidFill>
              <a:schemeClr val="dk1"/>
            </a:solidFill>
            <a:prstDash val="solid"/>
            <a:round/>
            <a:headEnd len="med" w="med" type="triangle"/>
            <a:tailEnd len="med" w="med" type="triangle"/>
          </a:ln>
        </p:spPr>
      </p:cxnSp>
      <p:sp>
        <p:nvSpPr>
          <p:cNvPr id="1000" name="Google Shape;1000;p74"/>
          <p:cNvSpPr txBox="1"/>
          <p:nvPr/>
        </p:nvSpPr>
        <p:spPr>
          <a:xfrm>
            <a:off x="499325" y="187498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5.1</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001" name="Google Shape;1001;p74"/>
          <p:cNvSpPr/>
          <p:nvPr/>
        </p:nvSpPr>
        <p:spPr>
          <a:xfrm>
            <a:off x="781775" y="2282400"/>
            <a:ext cx="613500" cy="613500"/>
          </a:xfrm>
          <a:prstGeom prst="arc">
            <a:avLst>
              <a:gd fmla="val 18149302"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2" name="Google Shape;1002;p74"/>
          <p:cNvSpPr txBox="1"/>
          <p:nvPr/>
        </p:nvSpPr>
        <p:spPr>
          <a:xfrm>
            <a:off x="1319496" y="217515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62</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003" name="Google Shape;1003;p74"/>
          <p:cNvSpPr/>
          <p:nvPr/>
        </p:nvSpPr>
        <p:spPr>
          <a:xfrm rot="7194731">
            <a:off x="1420883" y="1994003"/>
            <a:ext cx="140172" cy="140172"/>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04" name="Google Shape;1004;p74"/>
          <p:cNvSpPr txBox="1"/>
          <p:nvPr>
            <p:ph idx="1" type="body"/>
          </p:nvPr>
        </p:nvSpPr>
        <p:spPr>
          <a:xfrm>
            <a:off x="3836100" y="1445100"/>
            <a:ext cx="4983900" cy="415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Calculate the length of this perpendicular height.</a:t>
            </a:r>
            <a:endParaRPr sz="2000"/>
          </a:p>
        </p:txBody>
      </p:sp>
      <p:sp>
        <p:nvSpPr>
          <p:cNvPr id="1005" name="Google Shape;1005;p74"/>
          <p:cNvSpPr txBox="1"/>
          <p:nvPr/>
        </p:nvSpPr>
        <p:spPr>
          <a:xfrm>
            <a:off x="3874722" y="2515075"/>
            <a:ext cx="21204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h </a:t>
            </a:r>
            <a:r>
              <a:rPr lang="en-GB" sz="2000">
                <a:solidFill>
                  <a:schemeClr val="dk1"/>
                </a:solidFill>
                <a:latin typeface="Times New Roman"/>
                <a:ea typeface="Times New Roman"/>
                <a:cs typeface="Times New Roman"/>
                <a:sym typeface="Times New Roman"/>
              </a:rPr>
              <a:t>= 7 × sin(62°)</a:t>
            </a:r>
            <a:endParaRPr sz="2000">
              <a:solidFill>
                <a:srgbClr val="000000"/>
              </a:solidFill>
              <a:latin typeface="Times New Roman"/>
              <a:ea typeface="Times New Roman"/>
              <a:cs typeface="Times New Roman"/>
              <a:sym typeface="Times New Roman"/>
            </a:endParaRPr>
          </a:p>
        </p:txBody>
      </p:sp>
      <p:sp>
        <p:nvSpPr>
          <p:cNvPr id="1006" name="Google Shape;1006;p74"/>
          <p:cNvSpPr txBox="1"/>
          <p:nvPr/>
        </p:nvSpPr>
        <p:spPr>
          <a:xfrm>
            <a:off x="3874726" y="2896075"/>
            <a:ext cx="28725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solidFill>
                  <a:schemeClr val="dk1"/>
                </a:solidFill>
                <a:latin typeface="Times New Roman"/>
                <a:ea typeface="Times New Roman"/>
                <a:cs typeface="Times New Roman"/>
                <a:sym typeface="Times New Roman"/>
              </a:rPr>
              <a:t>h </a:t>
            </a:r>
            <a:r>
              <a:rPr lang="en-GB" sz="2000">
                <a:solidFill>
                  <a:schemeClr val="dk1"/>
                </a:solidFill>
                <a:latin typeface="Times New Roman"/>
                <a:ea typeface="Times New Roman"/>
                <a:cs typeface="Times New Roman"/>
                <a:sym typeface="Times New Roman"/>
              </a:rPr>
              <a:t>= 6.18… = 6.2 cm (1 d.p.) </a:t>
            </a:r>
            <a:endParaRPr sz="2000">
              <a:solidFill>
                <a:srgbClr val="000000"/>
              </a:solidFill>
              <a:latin typeface="Times New Roman"/>
              <a:ea typeface="Times New Roman"/>
              <a:cs typeface="Times New Roman"/>
              <a:sym typeface="Times New Roman"/>
            </a:endParaRPr>
          </a:p>
        </p:txBody>
      </p:sp>
      <p:sp>
        <p:nvSpPr>
          <p:cNvPr id="1007" name="Google Shape;1007;p74"/>
          <p:cNvSpPr txBox="1"/>
          <p:nvPr/>
        </p:nvSpPr>
        <p:spPr>
          <a:xfrm>
            <a:off x="3829200" y="3651725"/>
            <a:ext cx="4154700" cy="291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The area would be the same.</a:t>
            </a:r>
            <a:br>
              <a:rPr lang="en-GB" sz="2000">
                <a:latin typeface="Kalam"/>
                <a:ea typeface="Kalam"/>
                <a:cs typeface="Kalam"/>
                <a:sym typeface="Kalam"/>
              </a:rPr>
            </a:br>
            <a:r>
              <a:rPr lang="en-GB" sz="2000">
                <a:latin typeface="Times New Roman"/>
                <a:ea typeface="Times New Roman"/>
                <a:cs typeface="Times New Roman"/>
                <a:sym typeface="Times New Roman"/>
              </a:rPr>
              <a:t>Area = 5.1 </a:t>
            </a:r>
            <a:r>
              <a:rPr lang="en-GB" sz="2000">
                <a:solidFill>
                  <a:schemeClr val="dk1"/>
                </a:solidFill>
                <a:latin typeface="Times New Roman"/>
                <a:ea typeface="Times New Roman"/>
                <a:cs typeface="Times New Roman"/>
                <a:sym typeface="Times New Roman"/>
              </a:rPr>
              <a:t>× 6.18… = 31.5 cm</a:t>
            </a:r>
            <a:r>
              <a:rPr baseline="30000" lang="en-GB" sz="2000">
                <a:solidFill>
                  <a:schemeClr val="dk1"/>
                </a:solidFill>
                <a:latin typeface="Times New Roman"/>
                <a:ea typeface="Times New Roman"/>
                <a:cs typeface="Times New Roman"/>
                <a:sym typeface="Times New Roman"/>
              </a:rPr>
              <a:t>2 </a:t>
            </a:r>
            <a:r>
              <a:rPr lang="en-GB" sz="2000">
                <a:solidFill>
                  <a:schemeClr val="dk1"/>
                </a:solidFill>
                <a:latin typeface="Times New Roman"/>
                <a:ea typeface="Times New Roman"/>
                <a:cs typeface="Times New Roman"/>
                <a:sym typeface="Times New Roman"/>
              </a:rPr>
              <a:t>(1 d.p.)</a:t>
            </a:r>
            <a:endParaRPr sz="2000">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75"/>
          <p:cNvSpPr txBox="1"/>
          <p:nvPr>
            <p:ph idx="1" type="body"/>
          </p:nvPr>
        </p:nvSpPr>
        <p:spPr>
          <a:xfrm>
            <a:off x="324000" y="759300"/>
            <a:ext cx="8237700" cy="64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regular octagon has edge lengths of 10 cm. </a:t>
            </a:r>
            <a:br>
              <a:rPr lang="en-GB" sz="1800"/>
            </a:b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rPr lang="en-GB" sz="1800"/>
              <a:t>Is it possible to calculate the area of the octagon?</a:t>
            </a:r>
            <a:endParaRPr sz="1800"/>
          </a:p>
        </p:txBody>
      </p:sp>
      <p:sp>
        <p:nvSpPr>
          <p:cNvPr id="1013" name="Google Shape;1013;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014" name="Google Shape;1014;p75"/>
          <p:cNvSpPr/>
          <p:nvPr/>
        </p:nvSpPr>
        <p:spPr>
          <a:xfrm>
            <a:off x="6327000" y="831300"/>
            <a:ext cx="1577400" cy="1577400"/>
          </a:xfrm>
          <a:prstGeom prst="octagon">
            <a:avLst>
              <a:gd fmla="val 29289"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15" name="Google Shape;1015;p75"/>
          <p:cNvCxnSpPr/>
          <p:nvPr/>
        </p:nvCxnSpPr>
        <p:spPr>
          <a:xfrm>
            <a:off x="8036925" y="1283350"/>
            <a:ext cx="0" cy="658800"/>
          </a:xfrm>
          <a:prstGeom prst="straightConnector1">
            <a:avLst/>
          </a:prstGeom>
          <a:noFill/>
          <a:ln cap="flat" cmpd="sng" w="28575">
            <a:solidFill>
              <a:schemeClr val="dk1"/>
            </a:solidFill>
            <a:prstDash val="solid"/>
            <a:round/>
            <a:headEnd len="med" w="med" type="triangle"/>
            <a:tailEnd len="med" w="med" type="triangle"/>
          </a:ln>
        </p:spPr>
      </p:cxnSp>
      <p:sp>
        <p:nvSpPr>
          <p:cNvPr id="1016" name="Google Shape;1016;p75"/>
          <p:cNvSpPr txBox="1"/>
          <p:nvPr/>
        </p:nvSpPr>
        <p:spPr>
          <a:xfrm>
            <a:off x="8095482" y="145437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76"/>
          <p:cNvSpPr txBox="1"/>
          <p:nvPr>
            <p:ph idx="1" type="body"/>
          </p:nvPr>
        </p:nvSpPr>
        <p:spPr>
          <a:xfrm>
            <a:off x="324000" y="759300"/>
            <a:ext cx="82377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4"/>
                </a:solidFill>
              </a:rPr>
              <a:t>By sectioning it into other polygons.</a:t>
            </a:r>
            <a:endParaRPr sz="1800">
              <a:solidFill>
                <a:schemeClr val="accent4"/>
              </a:solidFill>
            </a:endParaRPr>
          </a:p>
        </p:txBody>
      </p:sp>
      <p:sp>
        <p:nvSpPr>
          <p:cNvPr id="1022" name="Google Shape;1022;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1023" name="Google Shape;1023;p76"/>
          <p:cNvCxnSpPr>
            <a:stCxn id="1024" idx="6"/>
            <a:endCxn id="1024" idx="3"/>
          </p:cNvCxnSpPr>
          <p:nvPr/>
        </p:nvCxnSpPr>
        <p:spPr>
          <a:xfrm>
            <a:off x="1119755" y="1239000"/>
            <a:ext cx="0" cy="1577400"/>
          </a:xfrm>
          <a:prstGeom prst="straightConnector1">
            <a:avLst/>
          </a:prstGeom>
          <a:noFill/>
          <a:ln cap="flat" cmpd="sng" w="28575">
            <a:solidFill>
              <a:schemeClr val="dk2"/>
            </a:solidFill>
            <a:prstDash val="dash"/>
            <a:round/>
            <a:headEnd len="med" w="med" type="none"/>
            <a:tailEnd len="med" w="med" type="none"/>
          </a:ln>
        </p:spPr>
      </p:cxnSp>
      <p:sp>
        <p:nvSpPr>
          <p:cNvPr id="1025" name="Google Shape;1025;p76"/>
          <p:cNvSpPr/>
          <p:nvPr/>
        </p:nvSpPr>
        <p:spPr>
          <a:xfrm>
            <a:off x="951904" y="1068004"/>
            <a:ext cx="335700" cy="335700"/>
          </a:xfrm>
          <a:prstGeom prst="arc">
            <a:avLst>
              <a:gd fmla="val 21598456" name="adj1"/>
              <a:gd fmla="val 8065996" name="adj2"/>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24" name="Google Shape;1024;p76"/>
          <p:cNvSpPr/>
          <p:nvPr/>
        </p:nvSpPr>
        <p:spPr>
          <a:xfrm>
            <a:off x="657750" y="1239000"/>
            <a:ext cx="1577400" cy="1577400"/>
          </a:xfrm>
          <a:prstGeom prst="octagon">
            <a:avLst>
              <a:gd fmla="val 29289"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26" name="Google Shape;1026;p76"/>
          <p:cNvCxnSpPr>
            <a:stCxn id="1024" idx="7"/>
            <a:endCxn id="1024" idx="2"/>
          </p:cNvCxnSpPr>
          <p:nvPr/>
        </p:nvCxnSpPr>
        <p:spPr>
          <a:xfrm>
            <a:off x="1773145" y="1239000"/>
            <a:ext cx="0" cy="1577400"/>
          </a:xfrm>
          <a:prstGeom prst="straightConnector1">
            <a:avLst/>
          </a:prstGeom>
          <a:noFill/>
          <a:ln cap="flat" cmpd="sng" w="28575">
            <a:solidFill>
              <a:schemeClr val="dk2"/>
            </a:solidFill>
            <a:prstDash val="dash"/>
            <a:round/>
            <a:headEnd len="med" w="med" type="none"/>
            <a:tailEnd len="med" w="med" type="none"/>
          </a:ln>
        </p:spPr>
      </p:cxnSp>
      <p:cxnSp>
        <p:nvCxnSpPr>
          <p:cNvPr id="1027" name="Google Shape;1027;p76"/>
          <p:cNvCxnSpPr>
            <a:stCxn id="1024" idx="5"/>
            <a:endCxn id="1024" idx="0"/>
          </p:cNvCxnSpPr>
          <p:nvPr/>
        </p:nvCxnSpPr>
        <p:spPr>
          <a:xfrm>
            <a:off x="657750" y="1701005"/>
            <a:ext cx="1577400" cy="0"/>
          </a:xfrm>
          <a:prstGeom prst="straightConnector1">
            <a:avLst/>
          </a:prstGeom>
          <a:noFill/>
          <a:ln cap="flat" cmpd="sng" w="28575">
            <a:solidFill>
              <a:schemeClr val="dk2"/>
            </a:solidFill>
            <a:prstDash val="dash"/>
            <a:round/>
            <a:headEnd len="med" w="med" type="none"/>
            <a:tailEnd len="med" w="med" type="none"/>
          </a:ln>
        </p:spPr>
      </p:cxnSp>
      <p:cxnSp>
        <p:nvCxnSpPr>
          <p:cNvPr id="1028" name="Google Shape;1028;p76"/>
          <p:cNvCxnSpPr>
            <a:stCxn id="1024" idx="4"/>
            <a:endCxn id="1024" idx="1"/>
          </p:cNvCxnSpPr>
          <p:nvPr/>
        </p:nvCxnSpPr>
        <p:spPr>
          <a:xfrm>
            <a:off x="657750" y="2354395"/>
            <a:ext cx="1577400" cy="0"/>
          </a:xfrm>
          <a:prstGeom prst="straightConnector1">
            <a:avLst/>
          </a:prstGeom>
          <a:noFill/>
          <a:ln cap="flat" cmpd="sng" w="28575">
            <a:solidFill>
              <a:schemeClr val="dk2"/>
            </a:solidFill>
            <a:prstDash val="dash"/>
            <a:round/>
            <a:headEnd len="med" w="med" type="none"/>
            <a:tailEnd len="med" w="med" type="none"/>
          </a:ln>
        </p:spPr>
      </p:cxnSp>
      <p:sp>
        <p:nvSpPr>
          <p:cNvPr id="1029" name="Google Shape;1029;p76"/>
          <p:cNvSpPr/>
          <p:nvPr/>
        </p:nvSpPr>
        <p:spPr>
          <a:xfrm>
            <a:off x="917775" y="14320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30" name="Google Shape;1030;p76"/>
          <p:cNvSpPr/>
          <p:nvPr/>
        </p:nvSpPr>
        <p:spPr>
          <a:xfrm>
            <a:off x="1355972" y="142862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31" name="Google Shape;1031;p76"/>
          <p:cNvSpPr/>
          <p:nvPr/>
        </p:nvSpPr>
        <p:spPr>
          <a:xfrm>
            <a:off x="1364097" y="190740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032" name="Google Shape;1032;p76"/>
          <p:cNvSpPr txBox="1"/>
          <p:nvPr>
            <p:ph idx="1" type="body"/>
          </p:nvPr>
        </p:nvSpPr>
        <p:spPr>
          <a:xfrm>
            <a:off x="3372000" y="11403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three </a:t>
            </a:r>
            <a:r>
              <a:rPr lang="en-GB" sz="1800"/>
              <a:t>different</a:t>
            </a:r>
            <a:r>
              <a:rPr lang="en-GB" sz="1800"/>
              <a:t> polygons in this sectioning.</a:t>
            </a:r>
            <a:endParaRPr sz="1800"/>
          </a:p>
        </p:txBody>
      </p:sp>
      <p:sp>
        <p:nvSpPr>
          <p:cNvPr id="1033" name="Google Shape;1033;p76"/>
          <p:cNvSpPr/>
          <p:nvPr/>
        </p:nvSpPr>
        <p:spPr>
          <a:xfrm>
            <a:off x="3356175" y="18130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34" name="Google Shape;1034;p76"/>
          <p:cNvSpPr/>
          <p:nvPr/>
        </p:nvSpPr>
        <p:spPr>
          <a:xfrm>
            <a:off x="3362742" y="219062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35" name="Google Shape;1035;p76"/>
          <p:cNvSpPr/>
          <p:nvPr/>
        </p:nvSpPr>
        <p:spPr>
          <a:xfrm>
            <a:off x="3358082" y="2548458"/>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036" name="Google Shape;1036;p76"/>
          <p:cNvSpPr txBox="1"/>
          <p:nvPr>
            <p:ph idx="1" type="body"/>
          </p:nvPr>
        </p:nvSpPr>
        <p:spPr>
          <a:xfrm>
            <a:off x="3581925" y="1800275"/>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a:t>
            </a:r>
            <a:r>
              <a:rPr lang="en-GB" sz="1800"/>
              <a:t>ight-angled triangle</a:t>
            </a:r>
            <a:endParaRPr sz="1800"/>
          </a:p>
        </p:txBody>
      </p:sp>
      <p:sp>
        <p:nvSpPr>
          <p:cNvPr id="1037" name="Google Shape;1037;p76"/>
          <p:cNvSpPr txBox="1"/>
          <p:nvPr>
            <p:ph idx="1" type="body"/>
          </p:nvPr>
        </p:nvSpPr>
        <p:spPr>
          <a:xfrm>
            <a:off x="3581925" y="2181275"/>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rectangle</a:t>
            </a:r>
            <a:endParaRPr sz="1800"/>
          </a:p>
        </p:txBody>
      </p:sp>
      <p:sp>
        <p:nvSpPr>
          <p:cNvPr id="1038" name="Google Shape;1038;p76"/>
          <p:cNvSpPr txBox="1"/>
          <p:nvPr>
            <p:ph idx="1" type="body"/>
          </p:nvPr>
        </p:nvSpPr>
        <p:spPr>
          <a:xfrm>
            <a:off x="3581925" y="2524431"/>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square</a:t>
            </a:r>
            <a:endParaRPr sz="1800"/>
          </a:p>
        </p:txBody>
      </p:sp>
      <p:sp>
        <p:nvSpPr>
          <p:cNvPr id="1039" name="Google Shape;1039;p76"/>
          <p:cNvSpPr/>
          <p:nvPr/>
        </p:nvSpPr>
        <p:spPr>
          <a:xfrm>
            <a:off x="1837275" y="1428625"/>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40" name="Google Shape;1040;p76"/>
          <p:cNvSpPr/>
          <p:nvPr/>
        </p:nvSpPr>
        <p:spPr>
          <a:xfrm>
            <a:off x="9177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41" name="Google Shape;1041;p76"/>
          <p:cNvSpPr/>
          <p:nvPr/>
        </p:nvSpPr>
        <p:spPr>
          <a:xfrm>
            <a:off x="18372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42" name="Google Shape;1042;p76"/>
          <p:cNvSpPr/>
          <p:nvPr/>
        </p:nvSpPr>
        <p:spPr>
          <a:xfrm>
            <a:off x="1865897"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43" name="Google Shape;1043;p76"/>
          <p:cNvSpPr/>
          <p:nvPr/>
        </p:nvSpPr>
        <p:spPr>
          <a:xfrm>
            <a:off x="917784"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44" name="Google Shape;1044;p76"/>
          <p:cNvSpPr/>
          <p:nvPr/>
        </p:nvSpPr>
        <p:spPr>
          <a:xfrm>
            <a:off x="1364097" y="238617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45" name="Google Shape;1045;p76"/>
          <p:cNvSpPr/>
          <p:nvPr/>
        </p:nvSpPr>
        <p:spPr>
          <a:xfrm>
            <a:off x="1337475" y="3347200"/>
            <a:ext cx="767100" cy="767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46" name="Google Shape;1046;p76"/>
          <p:cNvSpPr/>
          <p:nvPr/>
        </p:nvSpPr>
        <p:spPr>
          <a:xfrm>
            <a:off x="1466525" y="37387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cxnSp>
        <p:nvCxnSpPr>
          <p:cNvPr id="1047" name="Google Shape;1047;p76"/>
          <p:cNvCxnSpPr/>
          <p:nvPr/>
        </p:nvCxnSpPr>
        <p:spPr>
          <a:xfrm>
            <a:off x="1407100" y="3244875"/>
            <a:ext cx="792600" cy="805500"/>
          </a:xfrm>
          <a:prstGeom prst="straightConnector1">
            <a:avLst/>
          </a:prstGeom>
          <a:noFill/>
          <a:ln cap="flat" cmpd="sng" w="28575">
            <a:solidFill>
              <a:schemeClr val="dk1"/>
            </a:solidFill>
            <a:prstDash val="solid"/>
            <a:round/>
            <a:headEnd len="med" w="med" type="triangle"/>
            <a:tailEnd len="med" w="med" type="triangle"/>
          </a:ln>
        </p:spPr>
      </p:cxnSp>
      <p:sp>
        <p:nvSpPr>
          <p:cNvPr id="1048" name="Google Shape;1048;p76"/>
          <p:cNvSpPr txBox="1"/>
          <p:nvPr/>
        </p:nvSpPr>
        <p:spPr>
          <a:xfrm>
            <a:off x="1867262" y="344948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049" name="Google Shape;1049;p76"/>
          <p:cNvSpPr/>
          <p:nvPr/>
        </p:nvSpPr>
        <p:spPr>
          <a:xfrm>
            <a:off x="3402450" y="3347200"/>
            <a:ext cx="1169700" cy="767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0" name="Google Shape;1050;p76"/>
          <p:cNvSpPr/>
          <p:nvPr/>
        </p:nvSpPr>
        <p:spPr>
          <a:xfrm>
            <a:off x="3904797" y="3610454"/>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cxnSp>
        <p:nvCxnSpPr>
          <p:cNvPr id="1051" name="Google Shape;1051;p76"/>
          <p:cNvCxnSpPr/>
          <p:nvPr/>
        </p:nvCxnSpPr>
        <p:spPr>
          <a:xfrm>
            <a:off x="3402300" y="4239425"/>
            <a:ext cx="1170000" cy="0"/>
          </a:xfrm>
          <a:prstGeom prst="straightConnector1">
            <a:avLst/>
          </a:prstGeom>
          <a:noFill/>
          <a:ln cap="flat" cmpd="sng" w="28575">
            <a:solidFill>
              <a:schemeClr val="dk1"/>
            </a:solidFill>
            <a:prstDash val="solid"/>
            <a:round/>
            <a:headEnd len="med" w="med" type="triangle"/>
            <a:tailEnd len="med" w="med" type="triangle"/>
          </a:ln>
        </p:spPr>
      </p:cxnSp>
      <p:sp>
        <p:nvSpPr>
          <p:cNvPr id="1052" name="Google Shape;1052;p76"/>
          <p:cNvSpPr txBox="1"/>
          <p:nvPr/>
        </p:nvSpPr>
        <p:spPr>
          <a:xfrm>
            <a:off x="3628662" y="427168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053" name="Google Shape;1053;p76"/>
          <p:cNvSpPr/>
          <p:nvPr/>
        </p:nvSpPr>
        <p:spPr>
          <a:xfrm>
            <a:off x="5390050" y="2944600"/>
            <a:ext cx="1169700" cy="11697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4" name="Google Shape;1054;p76"/>
          <p:cNvSpPr/>
          <p:nvPr/>
        </p:nvSpPr>
        <p:spPr>
          <a:xfrm>
            <a:off x="5909629" y="3449487"/>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cxnSp>
        <p:nvCxnSpPr>
          <p:cNvPr id="1055" name="Google Shape;1055;p76"/>
          <p:cNvCxnSpPr/>
          <p:nvPr/>
        </p:nvCxnSpPr>
        <p:spPr>
          <a:xfrm>
            <a:off x="2367675" y="1691050"/>
            <a:ext cx="0" cy="658800"/>
          </a:xfrm>
          <a:prstGeom prst="straightConnector1">
            <a:avLst/>
          </a:prstGeom>
          <a:noFill/>
          <a:ln cap="flat" cmpd="sng" w="28575">
            <a:solidFill>
              <a:schemeClr val="dk1"/>
            </a:solidFill>
            <a:prstDash val="solid"/>
            <a:round/>
            <a:headEnd len="med" w="med" type="triangle"/>
            <a:tailEnd len="med" w="med" type="triangle"/>
          </a:ln>
        </p:spPr>
      </p:cxnSp>
      <p:sp>
        <p:nvSpPr>
          <p:cNvPr id="1056" name="Google Shape;1056;p76"/>
          <p:cNvSpPr txBox="1"/>
          <p:nvPr/>
        </p:nvSpPr>
        <p:spPr>
          <a:xfrm>
            <a:off x="2426232" y="186207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057" name="Google Shape;1057;p76"/>
          <p:cNvCxnSpPr/>
          <p:nvPr/>
        </p:nvCxnSpPr>
        <p:spPr>
          <a:xfrm>
            <a:off x="6674000" y="2944600"/>
            <a:ext cx="0" cy="1163400"/>
          </a:xfrm>
          <a:prstGeom prst="straightConnector1">
            <a:avLst/>
          </a:prstGeom>
          <a:noFill/>
          <a:ln cap="flat" cmpd="sng" w="28575">
            <a:solidFill>
              <a:schemeClr val="dk1"/>
            </a:solidFill>
            <a:prstDash val="solid"/>
            <a:round/>
            <a:headEnd len="med" w="med" type="triangle"/>
            <a:tailEnd len="med" w="med" type="triangle"/>
          </a:ln>
        </p:spPr>
      </p:cxnSp>
      <p:sp>
        <p:nvSpPr>
          <p:cNvPr id="1058" name="Google Shape;1058;p76"/>
          <p:cNvSpPr txBox="1"/>
          <p:nvPr/>
        </p:nvSpPr>
        <p:spPr>
          <a:xfrm>
            <a:off x="6722729" y="341934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059" name="Google Shape;1059;p76"/>
          <p:cNvCxnSpPr/>
          <p:nvPr/>
        </p:nvCxnSpPr>
        <p:spPr>
          <a:xfrm>
            <a:off x="5390050" y="4239425"/>
            <a:ext cx="1170000" cy="0"/>
          </a:xfrm>
          <a:prstGeom prst="straightConnector1">
            <a:avLst/>
          </a:prstGeom>
          <a:noFill/>
          <a:ln cap="flat" cmpd="sng" w="28575">
            <a:solidFill>
              <a:schemeClr val="dk1"/>
            </a:solidFill>
            <a:prstDash val="solid"/>
            <a:round/>
            <a:headEnd len="med" w="med" type="triangle"/>
            <a:tailEnd len="med" w="med" type="triangle"/>
          </a:ln>
        </p:spPr>
      </p:cxnSp>
      <p:sp>
        <p:nvSpPr>
          <p:cNvPr id="1060" name="Google Shape;1060;p76"/>
          <p:cNvSpPr txBox="1"/>
          <p:nvPr/>
        </p:nvSpPr>
        <p:spPr>
          <a:xfrm>
            <a:off x="5633337" y="427168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061" name="Google Shape;1061;p76"/>
          <p:cNvCxnSpPr/>
          <p:nvPr/>
        </p:nvCxnSpPr>
        <p:spPr>
          <a:xfrm>
            <a:off x="1324725" y="4221945"/>
            <a:ext cx="779100" cy="0"/>
          </a:xfrm>
          <a:prstGeom prst="straightConnector1">
            <a:avLst/>
          </a:prstGeom>
          <a:noFill/>
          <a:ln cap="flat" cmpd="sng" w="28575">
            <a:solidFill>
              <a:schemeClr val="dk1"/>
            </a:solidFill>
            <a:prstDash val="solid"/>
            <a:round/>
            <a:headEnd len="med" w="med" type="triangle"/>
            <a:tailEnd len="med" w="med" type="triangle"/>
          </a:ln>
        </p:spPr>
      </p:cxnSp>
      <p:cxnSp>
        <p:nvCxnSpPr>
          <p:cNvPr id="1062" name="Google Shape;1062;p76"/>
          <p:cNvCxnSpPr/>
          <p:nvPr/>
        </p:nvCxnSpPr>
        <p:spPr>
          <a:xfrm rot="-5400000">
            <a:off x="832663" y="3730745"/>
            <a:ext cx="779100" cy="0"/>
          </a:xfrm>
          <a:prstGeom prst="straightConnector1">
            <a:avLst/>
          </a:prstGeom>
          <a:noFill/>
          <a:ln cap="flat" cmpd="sng" w="28575">
            <a:solidFill>
              <a:schemeClr val="dk1"/>
            </a:solidFill>
            <a:prstDash val="solid"/>
            <a:round/>
            <a:headEnd len="med" w="med" type="triangle"/>
            <a:tailEnd len="med" w="med" type="triangle"/>
          </a:ln>
        </p:spPr>
      </p:cxnSp>
      <p:sp>
        <p:nvSpPr>
          <p:cNvPr id="1063" name="Google Shape;1063;p76"/>
          <p:cNvSpPr txBox="1"/>
          <p:nvPr/>
        </p:nvSpPr>
        <p:spPr>
          <a:xfrm>
            <a:off x="1501509" y="4226142"/>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064" name="Google Shape;1064;p76"/>
          <p:cNvSpPr txBox="1"/>
          <p:nvPr/>
        </p:nvSpPr>
        <p:spPr>
          <a:xfrm>
            <a:off x="650524" y="3565913"/>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065" name="Google Shape;1065;p76"/>
          <p:cNvCxnSpPr/>
          <p:nvPr/>
        </p:nvCxnSpPr>
        <p:spPr>
          <a:xfrm rot="-5400000">
            <a:off x="2890063" y="3730745"/>
            <a:ext cx="779100" cy="0"/>
          </a:xfrm>
          <a:prstGeom prst="straightConnector1">
            <a:avLst/>
          </a:prstGeom>
          <a:noFill/>
          <a:ln cap="flat" cmpd="sng" w="28575">
            <a:solidFill>
              <a:schemeClr val="dk1"/>
            </a:solidFill>
            <a:prstDash val="solid"/>
            <a:round/>
            <a:headEnd len="med" w="med" type="triangle"/>
            <a:tailEnd len="med" w="med" type="triangle"/>
          </a:ln>
        </p:spPr>
      </p:cxnSp>
      <p:sp>
        <p:nvSpPr>
          <p:cNvPr id="1066" name="Google Shape;1066;p76"/>
          <p:cNvSpPr txBox="1"/>
          <p:nvPr/>
        </p:nvSpPr>
        <p:spPr>
          <a:xfrm>
            <a:off x="2707924" y="3565913"/>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067" name="Google Shape;1067;p76"/>
          <p:cNvSpPr/>
          <p:nvPr/>
        </p:nvSpPr>
        <p:spPr>
          <a:xfrm>
            <a:off x="1337475" y="4022500"/>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8" name="Google Shape;1068;p76"/>
          <p:cNvSpPr/>
          <p:nvPr/>
        </p:nvSpPr>
        <p:spPr>
          <a:xfrm>
            <a:off x="3402602" y="4019098"/>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9" name="Google Shape;1069;p76"/>
          <p:cNvSpPr/>
          <p:nvPr/>
        </p:nvSpPr>
        <p:spPr>
          <a:xfrm>
            <a:off x="5390052" y="4022498"/>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0" name="Google Shape;1070;p76"/>
          <p:cNvSpPr txBox="1"/>
          <p:nvPr/>
        </p:nvSpPr>
        <p:spPr>
          <a:xfrm>
            <a:off x="650537" y="108001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cxnSp>
        <p:nvCxnSpPr>
          <p:cNvPr id="1071" name="Google Shape;1071;p76"/>
          <p:cNvCxnSpPr>
            <a:stCxn id="1070" idx="2"/>
          </p:cNvCxnSpPr>
          <p:nvPr/>
        </p:nvCxnSpPr>
        <p:spPr>
          <a:xfrm>
            <a:off x="1009187" y="1293911"/>
            <a:ext cx="138900" cy="21300"/>
          </a:xfrm>
          <a:prstGeom prst="straightConnector1">
            <a:avLst/>
          </a:prstGeom>
          <a:noFill/>
          <a:ln cap="flat" cmpd="sng" w="38100">
            <a:solidFill>
              <a:schemeClr val="dk1"/>
            </a:solidFill>
            <a:prstDash val="solid"/>
            <a:round/>
            <a:headEnd len="med" w="med" type="none"/>
            <a:tailEnd len="med" w="med" type="none"/>
          </a:ln>
        </p:spPr>
      </p:cxnSp>
      <p:sp>
        <p:nvSpPr>
          <p:cNvPr id="1072" name="Google Shape;1072;p76"/>
          <p:cNvSpPr/>
          <p:nvPr/>
        </p:nvSpPr>
        <p:spPr>
          <a:xfrm>
            <a:off x="1082475" y="3110950"/>
            <a:ext cx="499500" cy="499500"/>
          </a:xfrm>
          <a:prstGeom prst="arc">
            <a:avLst>
              <a:gd fmla="val 2486961" name="adj1"/>
              <a:gd fmla="val 525548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3" name="Google Shape;1073;p76"/>
          <p:cNvSpPr txBox="1"/>
          <p:nvPr/>
        </p:nvSpPr>
        <p:spPr>
          <a:xfrm>
            <a:off x="967362" y="3084224"/>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a:t>
            </a:r>
            <a:r>
              <a:rPr lang="en-GB" sz="1800">
                <a:latin typeface="Lexend"/>
                <a:ea typeface="Lexend"/>
                <a:cs typeface="Lexend"/>
                <a:sym typeface="Lexend"/>
              </a:rPr>
              <a:t>5°</a:t>
            </a:r>
            <a:endParaRPr sz="1800">
              <a:solidFill>
                <a:srgbClr val="000000"/>
              </a:solidFill>
              <a:latin typeface="Lexend"/>
              <a:ea typeface="Lexend"/>
              <a:cs typeface="Lexend"/>
              <a:sym typeface="Lexend"/>
            </a:endParaRPr>
          </a:p>
        </p:txBody>
      </p:sp>
      <p:cxnSp>
        <p:nvCxnSpPr>
          <p:cNvPr id="1074" name="Google Shape;1074;p76"/>
          <p:cNvCxnSpPr/>
          <p:nvPr/>
        </p:nvCxnSpPr>
        <p:spPr>
          <a:xfrm>
            <a:off x="1277827" y="3279447"/>
            <a:ext cx="131700" cy="23460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77"/>
          <p:cNvSpPr txBox="1"/>
          <p:nvPr>
            <p:ph idx="1" type="body"/>
          </p:nvPr>
        </p:nvSpPr>
        <p:spPr>
          <a:xfrm>
            <a:off x="324000" y="759300"/>
            <a:ext cx="82377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4"/>
                </a:solidFill>
              </a:rPr>
              <a:t>By sectioning it into other polygons.</a:t>
            </a:r>
            <a:endParaRPr sz="1800">
              <a:solidFill>
                <a:schemeClr val="accent4"/>
              </a:solidFill>
            </a:endParaRPr>
          </a:p>
        </p:txBody>
      </p:sp>
      <p:sp>
        <p:nvSpPr>
          <p:cNvPr id="1080" name="Google Shape;1080;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1081" name="Google Shape;1081;p77"/>
          <p:cNvCxnSpPr>
            <a:stCxn id="1082" idx="6"/>
            <a:endCxn id="1082" idx="3"/>
          </p:cNvCxnSpPr>
          <p:nvPr/>
        </p:nvCxnSpPr>
        <p:spPr>
          <a:xfrm>
            <a:off x="1119755" y="1239000"/>
            <a:ext cx="0" cy="1577400"/>
          </a:xfrm>
          <a:prstGeom prst="straightConnector1">
            <a:avLst/>
          </a:prstGeom>
          <a:noFill/>
          <a:ln cap="flat" cmpd="sng" w="28575">
            <a:solidFill>
              <a:schemeClr val="dk2"/>
            </a:solidFill>
            <a:prstDash val="dash"/>
            <a:round/>
            <a:headEnd len="med" w="med" type="none"/>
            <a:tailEnd len="med" w="med" type="none"/>
          </a:ln>
        </p:spPr>
      </p:cxnSp>
      <p:sp>
        <p:nvSpPr>
          <p:cNvPr id="1083" name="Google Shape;1083;p77"/>
          <p:cNvSpPr/>
          <p:nvPr/>
        </p:nvSpPr>
        <p:spPr>
          <a:xfrm>
            <a:off x="951904" y="1068004"/>
            <a:ext cx="335700" cy="335700"/>
          </a:xfrm>
          <a:prstGeom prst="arc">
            <a:avLst>
              <a:gd fmla="val 21598456" name="adj1"/>
              <a:gd fmla="val 8065996" name="adj2"/>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2" name="Google Shape;1082;p77"/>
          <p:cNvSpPr/>
          <p:nvPr/>
        </p:nvSpPr>
        <p:spPr>
          <a:xfrm>
            <a:off x="657750" y="1239000"/>
            <a:ext cx="1577400" cy="1577400"/>
          </a:xfrm>
          <a:prstGeom prst="octagon">
            <a:avLst>
              <a:gd fmla="val 29289"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084" name="Google Shape;1084;p77"/>
          <p:cNvCxnSpPr>
            <a:stCxn id="1082" idx="7"/>
            <a:endCxn id="1082" idx="2"/>
          </p:cNvCxnSpPr>
          <p:nvPr/>
        </p:nvCxnSpPr>
        <p:spPr>
          <a:xfrm>
            <a:off x="1773145" y="1239000"/>
            <a:ext cx="0" cy="1577400"/>
          </a:xfrm>
          <a:prstGeom prst="straightConnector1">
            <a:avLst/>
          </a:prstGeom>
          <a:noFill/>
          <a:ln cap="flat" cmpd="sng" w="28575">
            <a:solidFill>
              <a:schemeClr val="dk2"/>
            </a:solidFill>
            <a:prstDash val="dash"/>
            <a:round/>
            <a:headEnd len="med" w="med" type="none"/>
            <a:tailEnd len="med" w="med" type="none"/>
          </a:ln>
        </p:spPr>
      </p:cxnSp>
      <p:cxnSp>
        <p:nvCxnSpPr>
          <p:cNvPr id="1085" name="Google Shape;1085;p77"/>
          <p:cNvCxnSpPr>
            <a:stCxn id="1082" idx="5"/>
            <a:endCxn id="1082" idx="0"/>
          </p:cNvCxnSpPr>
          <p:nvPr/>
        </p:nvCxnSpPr>
        <p:spPr>
          <a:xfrm>
            <a:off x="657750" y="1701005"/>
            <a:ext cx="1577400" cy="0"/>
          </a:xfrm>
          <a:prstGeom prst="straightConnector1">
            <a:avLst/>
          </a:prstGeom>
          <a:noFill/>
          <a:ln cap="flat" cmpd="sng" w="28575">
            <a:solidFill>
              <a:schemeClr val="dk2"/>
            </a:solidFill>
            <a:prstDash val="dash"/>
            <a:round/>
            <a:headEnd len="med" w="med" type="none"/>
            <a:tailEnd len="med" w="med" type="none"/>
          </a:ln>
        </p:spPr>
      </p:cxnSp>
      <p:cxnSp>
        <p:nvCxnSpPr>
          <p:cNvPr id="1086" name="Google Shape;1086;p77"/>
          <p:cNvCxnSpPr>
            <a:stCxn id="1082" idx="4"/>
            <a:endCxn id="1082" idx="1"/>
          </p:cNvCxnSpPr>
          <p:nvPr/>
        </p:nvCxnSpPr>
        <p:spPr>
          <a:xfrm>
            <a:off x="657750" y="2354395"/>
            <a:ext cx="1577400" cy="0"/>
          </a:xfrm>
          <a:prstGeom prst="straightConnector1">
            <a:avLst/>
          </a:prstGeom>
          <a:noFill/>
          <a:ln cap="flat" cmpd="sng" w="28575">
            <a:solidFill>
              <a:schemeClr val="dk2"/>
            </a:solidFill>
            <a:prstDash val="dash"/>
            <a:round/>
            <a:headEnd len="med" w="med" type="none"/>
            <a:tailEnd len="med" w="med" type="none"/>
          </a:ln>
        </p:spPr>
      </p:cxnSp>
      <p:sp>
        <p:nvSpPr>
          <p:cNvPr id="1087" name="Google Shape;1087;p77"/>
          <p:cNvSpPr/>
          <p:nvPr/>
        </p:nvSpPr>
        <p:spPr>
          <a:xfrm>
            <a:off x="917775" y="14320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88" name="Google Shape;1088;p77"/>
          <p:cNvSpPr/>
          <p:nvPr/>
        </p:nvSpPr>
        <p:spPr>
          <a:xfrm>
            <a:off x="1355972" y="142862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89" name="Google Shape;1089;p77"/>
          <p:cNvSpPr/>
          <p:nvPr/>
        </p:nvSpPr>
        <p:spPr>
          <a:xfrm>
            <a:off x="1364097" y="190740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090" name="Google Shape;1090;p77"/>
          <p:cNvSpPr txBox="1"/>
          <p:nvPr>
            <p:ph idx="1" type="body"/>
          </p:nvPr>
        </p:nvSpPr>
        <p:spPr>
          <a:xfrm>
            <a:off x="3295800" y="11403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three different polygons in this sectioning.</a:t>
            </a:r>
            <a:endParaRPr sz="1800"/>
          </a:p>
        </p:txBody>
      </p:sp>
      <p:sp>
        <p:nvSpPr>
          <p:cNvPr id="1091" name="Google Shape;1091;p77"/>
          <p:cNvSpPr/>
          <p:nvPr/>
        </p:nvSpPr>
        <p:spPr>
          <a:xfrm>
            <a:off x="3279975" y="18130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92" name="Google Shape;1092;p77"/>
          <p:cNvSpPr/>
          <p:nvPr/>
        </p:nvSpPr>
        <p:spPr>
          <a:xfrm>
            <a:off x="3286542" y="219062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093" name="Google Shape;1093;p77"/>
          <p:cNvSpPr/>
          <p:nvPr/>
        </p:nvSpPr>
        <p:spPr>
          <a:xfrm>
            <a:off x="3281882" y="2548458"/>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094" name="Google Shape;1094;p77"/>
          <p:cNvSpPr txBox="1"/>
          <p:nvPr>
            <p:ph idx="1" type="body"/>
          </p:nvPr>
        </p:nvSpPr>
        <p:spPr>
          <a:xfrm>
            <a:off x="3505725" y="1800275"/>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right-angled triangle</a:t>
            </a:r>
            <a:endParaRPr sz="1800"/>
          </a:p>
        </p:txBody>
      </p:sp>
      <p:sp>
        <p:nvSpPr>
          <p:cNvPr id="1095" name="Google Shape;1095;p77"/>
          <p:cNvSpPr txBox="1"/>
          <p:nvPr>
            <p:ph idx="1" type="body"/>
          </p:nvPr>
        </p:nvSpPr>
        <p:spPr>
          <a:xfrm>
            <a:off x="3505725" y="2181275"/>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rectangle</a:t>
            </a:r>
            <a:endParaRPr sz="1800"/>
          </a:p>
        </p:txBody>
      </p:sp>
      <p:sp>
        <p:nvSpPr>
          <p:cNvPr id="1096" name="Google Shape;1096;p77"/>
          <p:cNvSpPr txBox="1"/>
          <p:nvPr>
            <p:ph idx="1" type="body"/>
          </p:nvPr>
        </p:nvSpPr>
        <p:spPr>
          <a:xfrm>
            <a:off x="3505725" y="2524431"/>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square</a:t>
            </a:r>
            <a:endParaRPr sz="1800"/>
          </a:p>
        </p:txBody>
      </p:sp>
      <p:sp>
        <p:nvSpPr>
          <p:cNvPr id="1097" name="Google Shape;1097;p77"/>
          <p:cNvSpPr/>
          <p:nvPr/>
        </p:nvSpPr>
        <p:spPr>
          <a:xfrm>
            <a:off x="1837275" y="1428625"/>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98" name="Google Shape;1098;p77"/>
          <p:cNvSpPr/>
          <p:nvPr/>
        </p:nvSpPr>
        <p:spPr>
          <a:xfrm>
            <a:off x="9177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099" name="Google Shape;1099;p77"/>
          <p:cNvSpPr/>
          <p:nvPr/>
        </p:nvSpPr>
        <p:spPr>
          <a:xfrm>
            <a:off x="18372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00" name="Google Shape;1100;p77"/>
          <p:cNvSpPr/>
          <p:nvPr/>
        </p:nvSpPr>
        <p:spPr>
          <a:xfrm>
            <a:off x="1865897"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01" name="Google Shape;1101;p77"/>
          <p:cNvSpPr/>
          <p:nvPr/>
        </p:nvSpPr>
        <p:spPr>
          <a:xfrm>
            <a:off x="917784"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02" name="Google Shape;1102;p77"/>
          <p:cNvSpPr/>
          <p:nvPr/>
        </p:nvSpPr>
        <p:spPr>
          <a:xfrm>
            <a:off x="1364097" y="238617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03" name="Google Shape;1103;p77"/>
          <p:cNvSpPr/>
          <p:nvPr/>
        </p:nvSpPr>
        <p:spPr>
          <a:xfrm>
            <a:off x="1337475" y="3347200"/>
            <a:ext cx="767100" cy="767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4" name="Google Shape;1104;p77"/>
          <p:cNvSpPr/>
          <p:nvPr/>
        </p:nvSpPr>
        <p:spPr>
          <a:xfrm>
            <a:off x="1466525" y="37387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cxnSp>
        <p:nvCxnSpPr>
          <p:cNvPr id="1105" name="Google Shape;1105;p77"/>
          <p:cNvCxnSpPr/>
          <p:nvPr/>
        </p:nvCxnSpPr>
        <p:spPr>
          <a:xfrm>
            <a:off x="1407100" y="3244875"/>
            <a:ext cx="792600" cy="805500"/>
          </a:xfrm>
          <a:prstGeom prst="straightConnector1">
            <a:avLst/>
          </a:prstGeom>
          <a:noFill/>
          <a:ln cap="flat" cmpd="sng" w="28575">
            <a:solidFill>
              <a:schemeClr val="dk1"/>
            </a:solidFill>
            <a:prstDash val="solid"/>
            <a:round/>
            <a:headEnd len="med" w="med" type="triangle"/>
            <a:tailEnd len="med" w="med" type="triangle"/>
          </a:ln>
        </p:spPr>
      </p:cxnSp>
      <p:sp>
        <p:nvSpPr>
          <p:cNvPr id="1106" name="Google Shape;1106;p77"/>
          <p:cNvSpPr txBox="1"/>
          <p:nvPr/>
        </p:nvSpPr>
        <p:spPr>
          <a:xfrm>
            <a:off x="1867262" y="344948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07" name="Google Shape;1107;p77"/>
          <p:cNvCxnSpPr/>
          <p:nvPr/>
        </p:nvCxnSpPr>
        <p:spPr>
          <a:xfrm>
            <a:off x="2367675" y="1691050"/>
            <a:ext cx="0" cy="658800"/>
          </a:xfrm>
          <a:prstGeom prst="straightConnector1">
            <a:avLst/>
          </a:prstGeom>
          <a:noFill/>
          <a:ln cap="flat" cmpd="sng" w="28575">
            <a:solidFill>
              <a:schemeClr val="dk1"/>
            </a:solidFill>
            <a:prstDash val="solid"/>
            <a:round/>
            <a:headEnd len="med" w="med" type="triangle"/>
            <a:tailEnd len="med" w="med" type="triangle"/>
          </a:ln>
        </p:spPr>
      </p:cxnSp>
      <p:sp>
        <p:nvSpPr>
          <p:cNvPr id="1108" name="Google Shape;1108;p77"/>
          <p:cNvSpPr txBox="1"/>
          <p:nvPr/>
        </p:nvSpPr>
        <p:spPr>
          <a:xfrm>
            <a:off x="2426232" y="186207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09" name="Google Shape;1109;p77"/>
          <p:cNvCxnSpPr/>
          <p:nvPr/>
        </p:nvCxnSpPr>
        <p:spPr>
          <a:xfrm>
            <a:off x="1324725" y="4221945"/>
            <a:ext cx="779100" cy="0"/>
          </a:xfrm>
          <a:prstGeom prst="straightConnector1">
            <a:avLst/>
          </a:prstGeom>
          <a:noFill/>
          <a:ln cap="flat" cmpd="sng" w="28575">
            <a:solidFill>
              <a:schemeClr val="dk1"/>
            </a:solidFill>
            <a:prstDash val="solid"/>
            <a:round/>
            <a:headEnd len="med" w="med" type="triangle"/>
            <a:tailEnd len="med" w="med" type="triangle"/>
          </a:ln>
        </p:spPr>
      </p:cxnSp>
      <p:cxnSp>
        <p:nvCxnSpPr>
          <p:cNvPr id="1110" name="Google Shape;1110;p77"/>
          <p:cNvCxnSpPr/>
          <p:nvPr/>
        </p:nvCxnSpPr>
        <p:spPr>
          <a:xfrm rot="-5400000">
            <a:off x="832663" y="3730745"/>
            <a:ext cx="779100" cy="0"/>
          </a:xfrm>
          <a:prstGeom prst="straightConnector1">
            <a:avLst/>
          </a:prstGeom>
          <a:noFill/>
          <a:ln cap="flat" cmpd="sng" w="28575">
            <a:solidFill>
              <a:schemeClr val="dk1"/>
            </a:solidFill>
            <a:prstDash val="solid"/>
            <a:round/>
            <a:headEnd len="med" w="med" type="triangle"/>
            <a:tailEnd len="med" w="med" type="triangle"/>
          </a:ln>
        </p:spPr>
      </p:cxnSp>
      <p:sp>
        <p:nvSpPr>
          <p:cNvPr id="1111" name="Google Shape;1111;p77"/>
          <p:cNvSpPr txBox="1"/>
          <p:nvPr/>
        </p:nvSpPr>
        <p:spPr>
          <a:xfrm>
            <a:off x="1501509" y="4226142"/>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12" name="Google Shape;1112;p77"/>
          <p:cNvSpPr txBox="1"/>
          <p:nvPr/>
        </p:nvSpPr>
        <p:spPr>
          <a:xfrm>
            <a:off x="650524" y="3565913"/>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13" name="Google Shape;1113;p77"/>
          <p:cNvSpPr/>
          <p:nvPr/>
        </p:nvSpPr>
        <p:spPr>
          <a:xfrm>
            <a:off x="1337475" y="4022500"/>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4" name="Google Shape;1114;p77"/>
          <p:cNvSpPr txBox="1"/>
          <p:nvPr/>
        </p:nvSpPr>
        <p:spPr>
          <a:xfrm>
            <a:off x="650537" y="108001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cxnSp>
        <p:nvCxnSpPr>
          <p:cNvPr id="1115" name="Google Shape;1115;p77"/>
          <p:cNvCxnSpPr>
            <a:stCxn id="1114" idx="2"/>
          </p:cNvCxnSpPr>
          <p:nvPr/>
        </p:nvCxnSpPr>
        <p:spPr>
          <a:xfrm>
            <a:off x="1009187" y="1293911"/>
            <a:ext cx="138900" cy="21300"/>
          </a:xfrm>
          <a:prstGeom prst="straightConnector1">
            <a:avLst/>
          </a:prstGeom>
          <a:noFill/>
          <a:ln cap="flat" cmpd="sng" w="38100">
            <a:solidFill>
              <a:schemeClr val="dk1"/>
            </a:solidFill>
            <a:prstDash val="solid"/>
            <a:round/>
            <a:headEnd len="med" w="med" type="none"/>
            <a:tailEnd len="med" w="med" type="none"/>
          </a:ln>
        </p:spPr>
      </p:cxnSp>
      <p:sp>
        <p:nvSpPr>
          <p:cNvPr id="1116" name="Google Shape;1116;p77"/>
          <p:cNvSpPr/>
          <p:nvPr/>
        </p:nvSpPr>
        <p:spPr>
          <a:xfrm>
            <a:off x="1082475" y="3110950"/>
            <a:ext cx="499500" cy="499500"/>
          </a:xfrm>
          <a:prstGeom prst="arc">
            <a:avLst>
              <a:gd fmla="val 2486961" name="adj1"/>
              <a:gd fmla="val 525548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17" name="Google Shape;1117;p77"/>
          <p:cNvSpPr txBox="1"/>
          <p:nvPr/>
        </p:nvSpPr>
        <p:spPr>
          <a:xfrm>
            <a:off x="967362" y="3084224"/>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cxnSp>
        <p:nvCxnSpPr>
          <p:cNvPr id="1118" name="Google Shape;1118;p77"/>
          <p:cNvCxnSpPr/>
          <p:nvPr/>
        </p:nvCxnSpPr>
        <p:spPr>
          <a:xfrm>
            <a:off x="1277827" y="3279447"/>
            <a:ext cx="131700" cy="234600"/>
          </a:xfrm>
          <a:prstGeom prst="straightConnector1">
            <a:avLst/>
          </a:prstGeom>
          <a:noFill/>
          <a:ln cap="flat" cmpd="sng" w="38100">
            <a:solidFill>
              <a:schemeClr val="dk1"/>
            </a:solidFill>
            <a:prstDash val="solid"/>
            <a:round/>
            <a:headEnd len="med" w="med" type="none"/>
            <a:tailEnd len="med" w="med" type="none"/>
          </a:ln>
        </p:spPr>
      </p:cxnSp>
      <p:sp>
        <p:nvSpPr>
          <p:cNvPr id="1119" name="Google Shape;1119;p77"/>
          <p:cNvSpPr txBox="1"/>
          <p:nvPr/>
        </p:nvSpPr>
        <p:spPr>
          <a:xfrm>
            <a:off x="3295800" y="3142125"/>
            <a:ext cx="35790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a:t>
            </a:r>
            <a:r>
              <a:rPr lang="en-GB" sz="2000">
                <a:latin typeface="Times New Roman"/>
                <a:ea typeface="Times New Roman"/>
                <a:cs typeface="Times New Roman"/>
                <a:sym typeface="Times New Roman"/>
              </a:rPr>
              <a:t>= 10 × cos(45°) = 7.07 (2 d.p.)</a:t>
            </a:r>
            <a:endParaRPr sz="2000">
              <a:solidFill>
                <a:srgbClr val="000000"/>
              </a:solidFill>
              <a:latin typeface="Times New Roman"/>
              <a:ea typeface="Times New Roman"/>
              <a:cs typeface="Times New Roman"/>
              <a:sym typeface="Times New Roman"/>
            </a:endParaRPr>
          </a:p>
        </p:txBody>
      </p:sp>
      <p:sp>
        <p:nvSpPr>
          <p:cNvPr id="1120" name="Google Shape;1120;p77"/>
          <p:cNvSpPr txBox="1"/>
          <p:nvPr>
            <p:ph idx="1" type="body"/>
          </p:nvPr>
        </p:nvSpPr>
        <p:spPr>
          <a:xfrm>
            <a:off x="3279975" y="37091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Is there any other way to calculate the length of </a:t>
            </a:r>
            <a:r>
              <a:rPr i="1" lang="en-GB" sz="2000">
                <a:latin typeface="Times New Roman"/>
                <a:ea typeface="Times New Roman"/>
                <a:cs typeface="Times New Roman"/>
                <a:sym typeface="Times New Roman"/>
              </a:rPr>
              <a:t>x</a:t>
            </a:r>
            <a:r>
              <a:rPr lang="en-GB" sz="1800"/>
              <a:t>?</a:t>
            </a:r>
            <a:endParaRPr sz="1800"/>
          </a:p>
        </p:txBody>
      </p:sp>
      <p:sp>
        <p:nvSpPr>
          <p:cNvPr id="1121" name="Google Shape;1121;p77"/>
          <p:cNvSpPr txBox="1"/>
          <p:nvPr>
            <p:ph idx="1" type="body"/>
          </p:nvPr>
        </p:nvSpPr>
        <p:spPr>
          <a:xfrm>
            <a:off x="3295800" y="43535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Using the sine function or Pythagoras’ theorem.</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78"/>
          <p:cNvSpPr txBox="1"/>
          <p:nvPr>
            <p:ph idx="1" type="body"/>
          </p:nvPr>
        </p:nvSpPr>
        <p:spPr>
          <a:xfrm>
            <a:off x="324000" y="699591"/>
            <a:ext cx="82377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4"/>
                </a:solidFill>
              </a:rPr>
              <a:t>By sectioning it into other polygons.</a:t>
            </a:r>
            <a:endParaRPr sz="1800">
              <a:solidFill>
                <a:schemeClr val="accent4"/>
              </a:solidFill>
            </a:endParaRPr>
          </a:p>
        </p:txBody>
      </p:sp>
      <p:sp>
        <p:nvSpPr>
          <p:cNvPr id="1127" name="Google Shape;1127;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cxnSp>
        <p:nvCxnSpPr>
          <p:cNvPr id="1128" name="Google Shape;1128;p78"/>
          <p:cNvCxnSpPr>
            <a:stCxn id="1129" idx="6"/>
            <a:endCxn id="1129" idx="3"/>
          </p:cNvCxnSpPr>
          <p:nvPr/>
        </p:nvCxnSpPr>
        <p:spPr>
          <a:xfrm>
            <a:off x="1119755" y="1239000"/>
            <a:ext cx="0" cy="1577400"/>
          </a:xfrm>
          <a:prstGeom prst="straightConnector1">
            <a:avLst/>
          </a:prstGeom>
          <a:noFill/>
          <a:ln cap="flat" cmpd="sng" w="28575">
            <a:solidFill>
              <a:schemeClr val="dk2"/>
            </a:solidFill>
            <a:prstDash val="dash"/>
            <a:round/>
            <a:headEnd len="med" w="med" type="none"/>
            <a:tailEnd len="med" w="med" type="none"/>
          </a:ln>
        </p:spPr>
      </p:cxnSp>
      <p:sp>
        <p:nvSpPr>
          <p:cNvPr id="1130" name="Google Shape;1130;p78"/>
          <p:cNvSpPr/>
          <p:nvPr/>
        </p:nvSpPr>
        <p:spPr>
          <a:xfrm>
            <a:off x="951904" y="1068004"/>
            <a:ext cx="335700" cy="335700"/>
          </a:xfrm>
          <a:prstGeom prst="arc">
            <a:avLst>
              <a:gd fmla="val 21598456" name="adj1"/>
              <a:gd fmla="val 8065996" name="adj2"/>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9" name="Google Shape;1129;p78"/>
          <p:cNvSpPr/>
          <p:nvPr/>
        </p:nvSpPr>
        <p:spPr>
          <a:xfrm>
            <a:off x="657750" y="1239000"/>
            <a:ext cx="1577400" cy="1577400"/>
          </a:xfrm>
          <a:prstGeom prst="octagon">
            <a:avLst>
              <a:gd fmla="val 29289"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31" name="Google Shape;1131;p78"/>
          <p:cNvCxnSpPr>
            <a:stCxn id="1129" idx="7"/>
            <a:endCxn id="1129" idx="2"/>
          </p:cNvCxnSpPr>
          <p:nvPr/>
        </p:nvCxnSpPr>
        <p:spPr>
          <a:xfrm>
            <a:off x="1773145" y="1239000"/>
            <a:ext cx="0" cy="1577400"/>
          </a:xfrm>
          <a:prstGeom prst="straightConnector1">
            <a:avLst/>
          </a:prstGeom>
          <a:noFill/>
          <a:ln cap="flat" cmpd="sng" w="28575">
            <a:solidFill>
              <a:schemeClr val="dk2"/>
            </a:solidFill>
            <a:prstDash val="dash"/>
            <a:round/>
            <a:headEnd len="med" w="med" type="none"/>
            <a:tailEnd len="med" w="med" type="none"/>
          </a:ln>
        </p:spPr>
      </p:cxnSp>
      <p:cxnSp>
        <p:nvCxnSpPr>
          <p:cNvPr id="1132" name="Google Shape;1132;p78"/>
          <p:cNvCxnSpPr>
            <a:stCxn id="1129" idx="5"/>
            <a:endCxn id="1129" idx="0"/>
          </p:cNvCxnSpPr>
          <p:nvPr/>
        </p:nvCxnSpPr>
        <p:spPr>
          <a:xfrm>
            <a:off x="657750" y="1701005"/>
            <a:ext cx="1577400" cy="0"/>
          </a:xfrm>
          <a:prstGeom prst="straightConnector1">
            <a:avLst/>
          </a:prstGeom>
          <a:noFill/>
          <a:ln cap="flat" cmpd="sng" w="28575">
            <a:solidFill>
              <a:schemeClr val="dk2"/>
            </a:solidFill>
            <a:prstDash val="dash"/>
            <a:round/>
            <a:headEnd len="med" w="med" type="none"/>
            <a:tailEnd len="med" w="med" type="none"/>
          </a:ln>
        </p:spPr>
      </p:cxnSp>
      <p:cxnSp>
        <p:nvCxnSpPr>
          <p:cNvPr id="1133" name="Google Shape;1133;p78"/>
          <p:cNvCxnSpPr>
            <a:stCxn id="1129" idx="4"/>
            <a:endCxn id="1129" idx="1"/>
          </p:cNvCxnSpPr>
          <p:nvPr/>
        </p:nvCxnSpPr>
        <p:spPr>
          <a:xfrm>
            <a:off x="657750" y="2354395"/>
            <a:ext cx="1577400" cy="0"/>
          </a:xfrm>
          <a:prstGeom prst="straightConnector1">
            <a:avLst/>
          </a:prstGeom>
          <a:noFill/>
          <a:ln cap="flat" cmpd="sng" w="28575">
            <a:solidFill>
              <a:schemeClr val="dk2"/>
            </a:solidFill>
            <a:prstDash val="dash"/>
            <a:round/>
            <a:headEnd len="med" w="med" type="none"/>
            <a:tailEnd len="med" w="med" type="none"/>
          </a:ln>
        </p:spPr>
      </p:cxnSp>
      <p:sp>
        <p:nvSpPr>
          <p:cNvPr id="1134" name="Google Shape;1134;p78"/>
          <p:cNvSpPr/>
          <p:nvPr/>
        </p:nvSpPr>
        <p:spPr>
          <a:xfrm>
            <a:off x="917775" y="143205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35" name="Google Shape;1135;p78"/>
          <p:cNvSpPr/>
          <p:nvPr/>
        </p:nvSpPr>
        <p:spPr>
          <a:xfrm>
            <a:off x="1355972" y="142862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36" name="Google Shape;1136;p78"/>
          <p:cNvSpPr/>
          <p:nvPr/>
        </p:nvSpPr>
        <p:spPr>
          <a:xfrm>
            <a:off x="1364097" y="190740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137" name="Google Shape;1137;p78"/>
          <p:cNvSpPr txBox="1"/>
          <p:nvPr>
            <p:ph idx="1" type="body"/>
          </p:nvPr>
        </p:nvSpPr>
        <p:spPr>
          <a:xfrm>
            <a:off x="2945500" y="1011488"/>
            <a:ext cx="59379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There are three different polygons in this sectioning.</a:t>
            </a:r>
            <a:endParaRPr sz="1800"/>
          </a:p>
        </p:txBody>
      </p:sp>
      <p:sp>
        <p:nvSpPr>
          <p:cNvPr id="1138" name="Google Shape;1138;p78"/>
          <p:cNvSpPr/>
          <p:nvPr/>
        </p:nvSpPr>
        <p:spPr>
          <a:xfrm>
            <a:off x="3356175" y="1685102"/>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39" name="Google Shape;1139;p78"/>
          <p:cNvSpPr/>
          <p:nvPr/>
        </p:nvSpPr>
        <p:spPr>
          <a:xfrm>
            <a:off x="3362742" y="2062681"/>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40" name="Google Shape;1140;p78"/>
          <p:cNvSpPr/>
          <p:nvPr/>
        </p:nvSpPr>
        <p:spPr>
          <a:xfrm>
            <a:off x="3358082" y="242051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sp>
        <p:nvSpPr>
          <p:cNvPr id="1141" name="Google Shape;1141;p78"/>
          <p:cNvSpPr txBox="1"/>
          <p:nvPr>
            <p:ph idx="1" type="body"/>
          </p:nvPr>
        </p:nvSpPr>
        <p:spPr>
          <a:xfrm>
            <a:off x="3581925" y="1672327"/>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right-angled triangle</a:t>
            </a:r>
            <a:endParaRPr sz="1800"/>
          </a:p>
        </p:txBody>
      </p:sp>
      <p:sp>
        <p:nvSpPr>
          <p:cNvPr id="1142" name="Google Shape;1142;p78"/>
          <p:cNvSpPr txBox="1"/>
          <p:nvPr>
            <p:ph idx="1" type="body"/>
          </p:nvPr>
        </p:nvSpPr>
        <p:spPr>
          <a:xfrm>
            <a:off x="3581925" y="2053327"/>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rectangle</a:t>
            </a:r>
            <a:endParaRPr sz="1800"/>
          </a:p>
        </p:txBody>
      </p:sp>
      <p:sp>
        <p:nvSpPr>
          <p:cNvPr id="1143" name="Google Shape;1143;p78"/>
          <p:cNvSpPr txBox="1"/>
          <p:nvPr>
            <p:ph idx="1" type="body"/>
          </p:nvPr>
        </p:nvSpPr>
        <p:spPr>
          <a:xfrm>
            <a:off x="3581925" y="2396483"/>
            <a:ext cx="2327700" cy="2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square</a:t>
            </a:r>
            <a:endParaRPr sz="1800"/>
          </a:p>
        </p:txBody>
      </p:sp>
      <p:sp>
        <p:nvSpPr>
          <p:cNvPr id="1144" name="Google Shape;1144;p78"/>
          <p:cNvSpPr/>
          <p:nvPr/>
        </p:nvSpPr>
        <p:spPr>
          <a:xfrm>
            <a:off x="1837275" y="1428625"/>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45" name="Google Shape;1145;p78"/>
          <p:cNvSpPr/>
          <p:nvPr/>
        </p:nvSpPr>
        <p:spPr>
          <a:xfrm>
            <a:off x="9177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46" name="Google Shape;1146;p78"/>
          <p:cNvSpPr/>
          <p:nvPr/>
        </p:nvSpPr>
        <p:spPr>
          <a:xfrm>
            <a:off x="1837275" y="237606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sp>
        <p:nvSpPr>
          <p:cNvPr id="1147" name="Google Shape;1147;p78"/>
          <p:cNvSpPr/>
          <p:nvPr/>
        </p:nvSpPr>
        <p:spPr>
          <a:xfrm>
            <a:off x="1865897"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48" name="Google Shape;1148;p78"/>
          <p:cNvSpPr/>
          <p:nvPr/>
        </p:nvSpPr>
        <p:spPr>
          <a:xfrm>
            <a:off x="917784" y="1905116"/>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49" name="Google Shape;1149;p78"/>
          <p:cNvSpPr/>
          <p:nvPr/>
        </p:nvSpPr>
        <p:spPr>
          <a:xfrm>
            <a:off x="1364097" y="2386179"/>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sp>
        <p:nvSpPr>
          <p:cNvPr id="1150" name="Google Shape;1150;p78"/>
          <p:cNvSpPr/>
          <p:nvPr/>
        </p:nvSpPr>
        <p:spPr>
          <a:xfrm>
            <a:off x="1337475" y="3151013"/>
            <a:ext cx="767100" cy="767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1" name="Google Shape;1151;p78"/>
          <p:cNvSpPr/>
          <p:nvPr/>
        </p:nvSpPr>
        <p:spPr>
          <a:xfrm>
            <a:off x="1466525" y="3542563"/>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A</a:t>
            </a:r>
            <a:endParaRPr>
              <a:latin typeface="Lexend"/>
              <a:ea typeface="Lexend"/>
              <a:cs typeface="Lexend"/>
              <a:sym typeface="Lexend"/>
            </a:endParaRPr>
          </a:p>
        </p:txBody>
      </p:sp>
      <p:cxnSp>
        <p:nvCxnSpPr>
          <p:cNvPr id="1152" name="Google Shape;1152;p78"/>
          <p:cNvCxnSpPr/>
          <p:nvPr/>
        </p:nvCxnSpPr>
        <p:spPr>
          <a:xfrm>
            <a:off x="1407100" y="3048688"/>
            <a:ext cx="792600" cy="805500"/>
          </a:xfrm>
          <a:prstGeom prst="straightConnector1">
            <a:avLst/>
          </a:prstGeom>
          <a:noFill/>
          <a:ln cap="flat" cmpd="sng" w="28575">
            <a:solidFill>
              <a:schemeClr val="dk1"/>
            </a:solidFill>
            <a:prstDash val="solid"/>
            <a:round/>
            <a:headEnd len="med" w="med" type="triangle"/>
            <a:tailEnd len="med" w="med" type="triangle"/>
          </a:ln>
        </p:spPr>
      </p:cxnSp>
      <p:sp>
        <p:nvSpPr>
          <p:cNvPr id="1153" name="Google Shape;1153;p78"/>
          <p:cNvSpPr txBox="1"/>
          <p:nvPr/>
        </p:nvSpPr>
        <p:spPr>
          <a:xfrm>
            <a:off x="1867262" y="3253300"/>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54" name="Google Shape;1154;p78"/>
          <p:cNvSpPr/>
          <p:nvPr/>
        </p:nvSpPr>
        <p:spPr>
          <a:xfrm>
            <a:off x="3402450" y="3151013"/>
            <a:ext cx="1169700" cy="7671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5" name="Google Shape;1155;p78"/>
          <p:cNvSpPr/>
          <p:nvPr/>
        </p:nvSpPr>
        <p:spPr>
          <a:xfrm>
            <a:off x="3904797" y="3414267"/>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B</a:t>
            </a:r>
            <a:endParaRPr>
              <a:latin typeface="Lexend"/>
              <a:ea typeface="Lexend"/>
              <a:cs typeface="Lexend"/>
              <a:sym typeface="Lexend"/>
            </a:endParaRPr>
          </a:p>
        </p:txBody>
      </p:sp>
      <p:cxnSp>
        <p:nvCxnSpPr>
          <p:cNvPr id="1156" name="Google Shape;1156;p78"/>
          <p:cNvCxnSpPr/>
          <p:nvPr/>
        </p:nvCxnSpPr>
        <p:spPr>
          <a:xfrm>
            <a:off x="3402300" y="4043238"/>
            <a:ext cx="1170000" cy="0"/>
          </a:xfrm>
          <a:prstGeom prst="straightConnector1">
            <a:avLst/>
          </a:prstGeom>
          <a:noFill/>
          <a:ln cap="flat" cmpd="sng" w="28575">
            <a:solidFill>
              <a:schemeClr val="dk1"/>
            </a:solidFill>
            <a:prstDash val="solid"/>
            <a:round/>
            <a:headEnd len="med" w="med" type="triangle"/>
            <a:tailEnd len="med" w="med" type="triangle"/>
          </a:ln>
        </p:spPr>
      </p:cxnSp>
      <p:sp>
        <p:nvSpPr>
          <p:cNvPr id="1157" name="Google Shape;1157;p78"/>
          <p:cNvSpPr txBox="1"/>
          <p:nvPr/>
        </p:nvSpPr>
        <p:spPr>
          <a:xfrm>
            <a:off x="3628662" y="4075500"/>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58" name="Google Shape;1158;p78"/>
          <p:cNvSpPr/>
          <p:nvPr/>
        </p:nvSpPr>
        <p:spPr>
          <a:xfrm>
            <a:off x="5390050" y="2748413"/>
            <a:ext cx="1169700" cy="11697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59" name="Google Shape;1159;p78"/>
          <p:cNvSpPr/>
          <p:nvPr/>
        </p:nvSpPr>
        <p:spPr>
          <a:xfrm>
            <a:off x="5909629" y="3253300"/>
            <a:ext cx="164700" cy="240600"/>
          </a:xfrm>
          <a:prstGeom prst="roundRect">
            <a:avLst>
              <a:gd fmla="val 16667" name="adj"/>
            </a:avLst>
          </a:prstGeom>
          <a:solidFill>
            <a:srgbClr val="F3EEFB"/>
          </a:solidFill>
          <a:ln cap="flat" cmpd="sng" w="9525">
            <a:solidFill>
              <a:schemeClr val="accent4"/>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GB">
                <a:latin typeface="Lexend"/>
                <a:ea typeface="Lexend"/>
                <a:cs typeface="Lexend"/>
                <a:sym typeface="Lexend"/>
              </a:rPr>
              <a:t>C</a:t>
            </a:r>
            <a:endParaRPr>
              <a:latin typeface="Lexend"/>
              <a:ea typeface="Lexend"/>
              <a:cs typeface="Lexend"/>
              <a:sym typeface="Lexend"/>
            </a:endParaRPr>
          </a:p>
        </p:txBody>
      </p:sp>
      <p:cxnSp>
        <p:nvCxnSpPr>
          <p:cNvPr id="1160" name="Google Shape;1160;p78"/>
          <p:cNvCxnSpPr/>
          <p:nvPr/>
        </p:nvCxnSpPr>
        <p:spPr>
          <a:xfrm>
            <a:off x="2367675" y="1691050"/>
            <a:ext cx="0" cy="658800"/>
          </a:xfrm>
          <a:prstGeom prst="straightConnector1">
            <a:avLst/>
          </a:prstGeom>
          <a:noFill/>
          <a:ln cap="flat" cmpd="sng" w="28575">
            <a:solidFill>
              <a:schemeClr val="dk1"/>
            </a:solidFill>
            <a:prstDash val="solid"/>
            <a:round/>
            <a:headEnd len="med" w="med" type="triangle"/>
            <a:tailEnd len="med" w="med" type="triangle"/>
          </a:ln>
        </p:spPr>
      </p:cxnSp>
      <p:sp>
        <p:nvSpPr>
          <p:cNvPr id="1161" name="Google Shape;1161;p78"/>
          <p:cNvSpPr txBox="1"/>
          <p:nvPr/>
        </p:nvSpPr>
        <p:spPr>
          <a:xfrm>
            <a:off x="2426232" y="186207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62" name="Google Shape;1162;p78"/>
          <p:cNvCxnSpPr/>
          <p:nvPr/>
        </p:nvCxnSpPr>
        <p:spPr>
          <a:xfrm>
            <a:off x="6674000" y="2748413"/>
            <a:ext cx="0" cy="1163400"/>
          </a:xfrm>
          <a:prstGeom prst="straightConnector1">
            <a:avLst/>
          </a:prstGeom>
          <a:noFill/>
          <a:ln cap="flat" cmpd="sng" w="28575">
            <a:solidFill>
              <a:schemeClr val="dk1"/>
            </a:solidFill>
            <a:prstDash val="solid"/>
            <a:round/>
            <a:headEnd len="med" w="med" type="triangle"/>
            <a:tailEnd len="med" w="med" type="triangle"/>
          </a:ln>
        </p:spPr>
      </p:cxnSp>
      <p:sp>
        <p:nvSpPr>
          <p:cNvPr id="1163" name="Google Shape;1163;p78"/>
          <p:cNvSpPr txBox="1"/>
          <p:nvPr/>
        </p:nvSpPr>
        <p:spPr>
          <a:xfrm>
            <a:off x="6722729" y="3223160"/>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64" name="Google Shape;1164;p78"/>
          <p:cNvCxnSpPr/>
          <p:nvPr/>
        </p:nvCxnSpPr>
        <p:spPr>
          <a:xfrm>
            <a:off x="5390050" y="4043238"/>
            <a:ext cx="1170000" cy="0"/>
          </a:xfrm>
          <a:prstGeom prst="straightConnector1">
            <a:avLst/>
          </a:prstGeom>
          <a:noFill/>
          <a:ln cap="flat" cmpd="sng" w="28575">
            <a:solidFill>
              <a:schemeClr val="dk1"/>
            </a:solidFill>
            <a:prstDash val="solid"/>
            <a:round/>
            <a:headEnd len="med" w="med" type="triangle"/>
            <a:tailEnd len="med" w="med" type="triangle"/>
          </a:ln>
        </p:spPr>
      </p:cxnSp>
      <p:sp>
        <p:nvSpPr>
          <p:cNvPr id="1165" name="Google Shape;1165;p78"/>
          <p:cNvSpPr txBox="1"/>
          <p:nvPr/>
        </p:nvSpPr>
        <p:spPr>
          <a:xfrm>
            <a:off x="5633337" y="4075500"/>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66" name="Google Shape;1166;p78"/>
          <p:cNvCxnSpPr/>
          <p:nvPr/>
        </p:nvCxnSpPr>
        <p:spPr>
          <a:xfrm>
            <a:off x="1324725" y="4025759"/>
            <a:ext cx="779100" cy="0"/>
          </a:xfrm>
          <a:prstGeom prst="straightConnector1">
            <a:avLst/>
          </a:prstGeom>
          <a:noFill/>
          <a:ln cap="flat" cmpd="sng" w="28575">
            <a:solidFill>
              <a:schemeClr val="dk1"/>
            </a:solidFill>
            <a:prstDash val="solid"/>
            <a:round/>
            <a:headEnd len="med" w="med" type="triangle"/>
            <a:tailEnd len="med" w="med" type="triangle"/>
          </a:ln>
        </p:spPr>
      </p:cxnSp>
      <p:cxnSp>
        <p:nvCxnSpPr>
          <p:cNvPr id="1167" name="Google Shape;1167;p78"/>
          <p:cNvCxnSpPr/>
          <p:nvPr/>
        </p:nvCxnSpPr>
        <p:spPr>
          <a:xfrm rot="-5400000">
            <a:off x="832663" y="3534559"/>
            <a:ext cx="779100" cy="0"/>
          </a:xfrm>
          <a:prstGeom prst="straightConnector1">
            <a:avLst/>
          </a:prstGeom>
          <a:noFill/>
          <a:ln cap="flat" cmpd="sng" w="28575">
            <a:solidFill>
              <a:schemeClr val="dk1"/>
            </a:solidFill>
            <a:prstDash val="solid"/>
            <a:round/>
            <a:headEnd len="med" w="med" type="triangle"/>
            <a:tailEnd len="med" w="med" type="triangle"/>
          </a:ln>
        </p:spPr>
      </p:cxnSp>
      <p:cxnSp>
        <p:nvCxnSpPr>
          <p:cNvPr id="1168" name="Google Shape;1168;p78"/>
          <p:cNvCxnSpPr/>
          <p:nvPr/>
        </p:nvCxnSpPr>
        <p:spPr>
          <a:xfrm rot="-5400000">
            <a:off x="2890063" y="3534559"/>
            <a:ext cx="779100" cy="0"/>
          </a:xfrm>
          <a:prstGeom prst="straightConnector1">
            <a:avLst/>
          </a:prstGeom>
          <a:noFill/>
          <a:ln cap="flat" cmpd="sng" w="28575">
            <a:solidFill>
              <a:schemeClr val="dk1"/>
            </a:solidFill>
            <a:prstDash val="solid"/>
            <a:round/>
            <a:headEnd len="med" w="med" type="triangle"/>
            <a:tailEnd len="med" w="med" type="triangle"/>
          </a:ln>
        </p:spPr>
      </p:cxnSp>
      <p:sp>
        <p:nvSpPr>
          <p:cNvPr id="1169" name="Google Shape;1169;p78"/>
          <p:cNvSpPr/>
          <p:nvPr/>
        </p:nvSpPr>
        <p:spPr>
          <a:xfrm>
            <a:off x="1337475" y="3826313"/>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0" name="Google Shape;1170;p78"/>
          <p:cNvSpPr/>
          <p:nvPr/>
        </p:nvSpPr>
        <p:spPr>
          <a:xfrm>
            <a:off x="3402602" y="3822912"/>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1" name="Google Shape;1171;p78"/>
          <p:cNvSpPr/>
          <p:nvPr/>
        </p:nvSpPr>
        <p:spPr>
          <a:xfrm>
            <a:off x="5390052" y="3826312"/>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2" name="Google Shape;1172;p78"/>
          <p:cNvSpPr txBox="1"/>
          <p:nvPr/>
        </p:nvSpPr>
        <p:spPr>
          <a:xfrm>
            <a:off x="650537" y="108001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cxnSp>
        <p:nvCxnSpPr>
          <p:cNvPr id="1173" name="Google Shape;1173;p78"/>
          <p:cNvCxnSpPr>
            <a:stCxn id="1172" idx="2"/>
          </p:cNvCxnSpPr>
          <p:nvPr/>
        </p:nvCxnSpPr>
        <p:spPr>
          <a:xfrm>
            <a:off x="1009187" y="1293911"/>
            <a:ext cx="138900" cy="21300"/>
          </a:xfrm>
          <a:prstGeom prst="straightConnector1">
            <a:avLst/>
          </a:prstGeom>
          <a:noFill/>
          <a:ln cap="flat" cmpd="sng" w="38100">
            <a:solidFill>
              <a:schemeClr val="dk1"/>
            </a:solidFill>
            <a:prstDash val="solid"/>
            <a:round/>
            <a:headEnd len="med" w="med" type="none"/>
            <a:tailEnd len="med" w="med" type="none"/>
          </a:ln>
        </p:spPr>
      </p:cxnSp>
      <p:sp>
        <p:nvSpPr>
          <p:cNvPr id="1174" name="Google Shape;1174;p78"/>
          <p:cNvSpPr/>
          <p:nvPr/>
        </p:nvSpPr>
        <p:spPr>
          <a:xfrm>
            <a:off x="1082475" y="2914763"/>
            <a:ext cx="499500" cy="499500"/>
          </a:xfrm>
          <a:prstGeom prst="arc">
            <a:avLst>
              <a:gd fmla="val 2486961" name="adj1"/>
              <a:gd fmla="val 525548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75" name="Google Shape;1175;p78"/>
          <p:cNvSpPr txBox="1"/>
          <p:nvPr/>
        </p:nvSpPr>
        <p:spPr>
          <a:xfrm>
            <a:off x="967362" y="2888037"/>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cxnSp>
        <p:nvCxnSpPr>
          <p:cNvPr id="1176" name="Google Shape;1176;p78"/>
          <p:cNvCxnSpPr/>
          <p:nvPr/>
        </p:nvCxnSpPr>
        <p:spPr>
          <a:xfrm>
            <a:off x="1277827" y="3083261"/>
            <a:ext cx="131700" cy="234600"/>
          </a:xfrm>
          <a:prstGeom prst="straightConnector1">
            <a:avLst/>
          </a:prstGeom>
          <a:noFill/>
          <a:ln cap="flat" cmpd="sng" w="38100">
            <a:solidFill>
              <a:schemeClr val="dk1"/>
            </a:solidFill>
            <a:prstDash val="solid"/>
            <a:round/>
            <a:headEnd len="med" w="med" type="none"/>
            <a:tailEnd len="med" w="med" type="none"/>
          </a:ln>
        </p:spPr>
      </p:cxnSp>
      <p:sp>
        <p:nvSpPr>
          <p:cNvPr id="1177" name="Google Shape;1177;p78"/>
          <p:cNvSpPr txBox="1"/>
          <p:nvPr/>
        </p:nvSpPr>
        <p:spPr>
          <a:xfrm>
            <a:off x="607287" y="3293575"/>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7.07…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78" name="Google Shape;1178;p78"/>
          <p:cNvSpPr txBox="1"/>
          <p:nvPr/>
        </p:nvSpPr>
        <p:spPr>
          <a:xfrm>
            <a:off x="1362375" y="4075500"/>
            <a:ext cx="10638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7.07…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79" name="Google Shape;1179;p78"/>
          <p:cNvSpPr txBox="1"/>
          <p:nvPr/>
        </p:nvSpPr>
        <p:spPr>
          <a:xfrm>
            <a:off x="2672706" y="3275225"/>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7.07…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180" name="Google Shape;1180;p78"/>
          <p:cNvSpPr txBox="1"/>
          <p:nvPr/>
        </p:nvSpPr>
        <p:spPr>
          <a:xfrm>
            <a:off x="6047777" y="1671911"/>
            <a:ext cx="15198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area = 25 cm</a:t>
            </a:r>
            <a:r>
              <a:rPr baseline="30000" lang="en-GB" sz="1800">
                <a:latin typeface="Lexend"/>
                <a:ea typeface="Lexend"/>
                <a:cs typeface="Lexend"/>
                <a:sym typeface="Lexend"/>
              </a:rPr>
              <a:t>2</a:t>
            </a:r>
            <a:endParaRPr baseline="30000" sz="1800">
              <a:solidFill>
                <a:srgbClr val="000000"/>
              </a:solidFill>
              <a:latin typeface="Lexend"/>
              <a:ea typeface="Lexend"/>
              <a:cs typeface="Lexend"/>
              <a:sym typeface="Lexend"/>
            </a:endParaRPr>
          </a:p>
        </p:txBody>
      </p:sp>
      <p:sp>
        <p:nvSpPr>
          <p:cNvPr id="1181" name="Google Shape;1181;p78"/>
          <p:cNvSpPr txBox="1"/>
          <p:nvPr/>
        </p:nvSpPr>
        <p:spPr>
          <a:xfrm>
            <a:off x="4770339" y="2053877"/>
            <a:ext cx="2412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a:t>
            </a:r>
            <a:r>
              <a:rPr lang="en-GB" sz="1800">
                <a:latin typeface="Lexend"/>
                <a:ea typeface="Lexend"/>
                <a:cs typeface="Lexend"/>
                <a:sym typeface="Lexend"/>
              </a:rPr>
              <a:t>rea = 70.71… cm</a:t>
            </a:r>
            <a:r>
              <a:rPr baseline="30000" lang="en-GB" sz="1800">
                <a:latin typeface="Lexend"/>
                <a:ea typeface="Lexend"/>
                <a:cs typeface="Lexend"/>
                <a:sym typeface="Lexend"/>
              </a:rPr>
              <a:t>2</a:t>
            </a:r>
            <a:endParaRPr baseline="30000" sz="1800">
              <a:solidFill>
                <a:srgbClr val="000000"/>
              </a:solidFill>
              <a:latin typeface="Lexend"/>
              <a:ea typeface="Lexend"/>
              <a:cs typeface="Lexend"/>
              <a:sym typeface="Lexend"/>
            </a:endParaRPr>
          </a:p>
        </p:txBody>
      </p:sp>
      <p:sp>
        <p:nvSpPr>
          <p:cNvPr id="1182" name="Google Shape;1182;p78"/>
          <p:cNvSpPr txBox="1"/>
          <p:nvPr/>
        </p:nvSpPr>
        <p:spPr>
          <a:xfrm>
            <a:off x="4582795" y="2405567"/>
            <a:ext cx="18027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a:t>
            </a:r>
            <a:r>
              <a:rPr lang="en-GB" sz="1800">
                <a:latin typeface="Lexend"/>
                <a:ea typeface="Lexend"/>
                <a:cs typeface="Lexend"/>
                <a:sym typeface="Lexend"/>
              </a:rPr>
              <a:t>rea = 100 cm</a:t>
            </a:r>
            <a:r>
              <a:rPr baseline="30000" lang="en-GB" sz="1800">
                <a:latin typeface="Lexend"/>
                <a:ea typeface="Lexend"/>
                <a:cs typeface="Lexend"/>
                <a:sym typeface="Lexend"/>
              </a:rPr>
              <a:t>2</a:t>
            </a:r>
            <a:endParaRPr baseline="30000" sz="1800">
              <a:solidFill>
                <a:srgbClr val="000000"/>
              </a:solidFill>
              <a:latin typeface="Lexend"/>
              <a:ea typeface="Lexend"/>
              <a:cs typeface="Lexend"/>
              <a:sym typeface="Lexend"/>
            </a:endParaRPr>
          </a:p>
        </p:txBody>
      </p:sp>
      <p:sp>
        <p:nvSpPr>
          <p:cNvPr id="1183" name="Google Shape;1183;p78"/>
          <p:cNvSpPr txBox="1"/>
          <p:nvPr/>
        </p:nvSpPr>
        <p:spPr>
          <a:xfrm>
            <a:off x="632160" y="4574723"/>
            <a:ext cx="71178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Area of octagon = 4 × 25 + </a:t>
            </a:r>
            <a:r>
              <a:rPr lang="en-GB" sz="1800">
                <a:solidFill>
                  <a:schemeClr val="dk1"/>
                </a:solidFill>
                <a:latin typeface="Lexend"/>
                <a:ea typeface="Lexend"/>
                <a:cs typeface="Lexend"/>
                <a:sym typeface="Lexend"/>
              </a:rPr>
              <a:t>4 × 70.71… + 100 = 482.84</a:t>
            </a:r>
            <a:r>
              <a:rPr lang="en-GB" sz="1800">
                <a:latin typeface="Lexend"/>
                <a:ea typeface="Lexend"/>
                <a:cs typeface="Lexend"/>
                <a:sym typeface="Lexend"/>
              </a:rPr>
              <a:t> cm</a:t>
            </a:r>
            <a:r>
              <a:rPr baseline="30000" lang="en-GB" sz="1800">
                <a:latin typeface="Lexend"/>
                <a:ea typeface="Lexend"/>
                <a:cs typeface="Lexend"/>
                <a:sym typeface="Lexend"/>
              </a:rPr>
              <a:t>2</a:t>
            </a:r>
            <a:r>
              <a:rPr lang="en-GB" sz="1800">
                <a:latin typeface="Lexend"/>
                <a:ea typeface="Lexend"/>
                <a:cs typeface="Lexend"/>
                <a:sym typeface="Lexend"/>
              </a:rPr>
              <a:t> (2 d.p.)</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79"/>
          <p:cNvSpPr/>
          <p:nvPr/>
        </p:nvSpPr>
        <p:spPr>
          <a:xfrm>
            <a:off x="657725" y="1237588"/>
            <a:ext cx="1577400" cy="1577400"/>
          </a:xfrm>
          <a:prstGeom prst="rect">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9" name="Google Shape;1189;p79"/>
          <p:cNvSpPr txBox="1"/>
          <p:nvPr>
            <p:ph idx="1" type="body"/>
          </p:nvPr>
        </p:nvSpPr>
        <p:spPr>
          <a:xfrm>
            <a:off x="324000" y="759300"/>
            <a:ext cx="82377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solidFill>
                  <a:schemeClr val="accent4"/>
                </a:solidFill>
              </a:rPr>
              <a:t>By surrounding it by a square.</a:t>
            </a:r>
            <a:endParaRPr sz="1800">
              <a:solidFill>
                <a:schemeClr val="accent4"/>
              </a:solidFill>
            </a:endParaRPr>
          </a:p>
        </p:txBody>
      </p:sp>
      <p:sp>
        <p:nvSpPr>
          <p:cNvPr id="1190" name="Google Shape;1190;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191" name="Google Shape;1191;p79"/>
          <p:cNvSpPr/>
          <p:nvPr/>
        </p:nvSpPr>
        <p:spPr>
          <a:xfrm>
            <a:off x="657750" y="1239000"/>
            <a:ext cx="1577400" cy="1577400"/>
          </a:xfrm>
          <a:prstGeom prst="octagon">
            <a:avLst>
              <a:gd fmla="val 29289" name="adj"/>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2" name="Google Shape;1192;p79"/>
          <p:cNvSpPr txBox="1"/>
          <p:nvPr>
            <p:ph idx="1" type="body"/>
          </p:nvPr>
        </p:nvSpPr>
        <p:spPr>
          <a:xfrm>
            <a:off x="3372000" y="11403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length of the square is </a:t>
            </a:r>
            <a:r>
              <a:rPr lang="en-GB" sz="2000">
                <a:latin typeface="Times New Roman"/>
                <a:ea typeface="Times New Roman"/>
                <a:cs typeface="Times New Roman"/>
                <a:sym typeface="Times New Roman"/>
              </a:rPr>
              <a:t>(10 + 2</a:t>
            </a:r>
            <a:r>
              <a:rPr i="1" lang="en-GB">
                <a:latin typeface="Times New Roman"/>
                <a:ea typeface="Times New Roman"/>
                <a:cs typeface="Times New Roman"/>
                <a:sym typeface="Times New Roman"/>
              </a:rPr>
              <a:t>x</a:t>
            </a:r>
            <a:r>
              <a:rPr lang="en-GB" sz="2000">
                <a:latin typeface="Times New Roman"/>
                <a:ea typeface="Times New Roman"/>
                <a:cs typeface="Times New Roman"/>
                <a:sym typeface="Times New Roman"/>
              </a:rPr>
              <a:t>) cm</a:t>
            </a:r>
            <a:r>
              <a:rPr lang="en-GB" sz="1800"/>
              <a:t>.</a:t>
            </a:r>
            <a:endParaRPr sz="1800"/>
          </a:p>
        </p:txBody>
      </p:sp>
      <p:sp>
        <p:nvSpPr>
          <p:cNvPr id="1193" name="Google Shape;1193;p79"/>
          <p:cNvSpPr/>
          <p:nvPr/>
        </p:nvSpPr>
        <p:spPr>
          <a:xfrm flipH="1" rot="-5400000">
            <a:off x="3945810" y="1881865"/>
            <a:ext cx="767100" cy="767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194" name="Google Shape;1194;p79"/>
          <p:cNvCxnSpPr/>
          <p:nvPr/>
        </p:nvCxnSpPr>
        <p:spPr>
          <a:xfrm flipH="1" rot="-5400000">
            <a:off x="3849935" y="1945040"/>
            <a:ext cx="792600" cy="805500"/>
          </a:xfrm>
          <a:prstGeom prst="straightConnector1">
            <a:avLst/>
          </a:prstGeom>
          <a:noFill/>
          <a:ln cap="flat" cmpd="sng" w="28575">
            <a:solidFill>
              <a:schemeClr val="dk1"/>
            </a:solidFill>
            <a:prstDash val="solid"/>
            <a:round/>
            <a:headEnd len="med" w="med" type="triangle"/>
            <a:tailEnd len="med" w="med" type="triangle"/>
          </a:ln>
        </p:spPr>
      </p:cxnSp>
      <p:sp>
        <p:nvSpPr>
          <p:cNvPr id="1195" name="Google Shape;1195;p79"/>
          <p:cNvSpPr txBox="1"/>
          <p:nvPr/>
        </p:nvSpPr>
        <p:spPr>
          <a:xfrm flipH="1">
            <a:off x="3643996" y="2358552"/>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96" name="Google Shape;1196;p79"/>
          <p:cNvCxnSpPr/>
          <p:nvPr/>
        </p:nvCxnSpPr>
        <p:spPr>
          <a:xfrm>
            <a:off x="2367675" y="1691050"/>
            <a:ext cx="0" cy="658800"/>
          </a:xfrm>
          <a:prstGeom prst="straightConnector1">
            <a:avLst/>
          </a:prstGeom>
          <a:noFill/>
          <a:ln cap="flat" cmpd="sng" w="28575">
            <a:solidFill>
              <a:schemeClr val="dk1"/>
            </a:solidFill>
            <a:prstDash val="solid"/>
            <a:round/>
            <a:headEnd len="med" w="med" type="triangle"/>
            <a:tailEnd len="med" w="med" type="triangle"/>
          </a:ln>
        </p:spPr>
      </p:cxnSp>
      <p:sp>
        <p:nvSpPr>
          <p:cNvPr id="1197" name="Google Shape;1197;p79"/>
          <p:cNvSpPr txBox="1"/>
          <p:nvPr/>
        </p:nvSpPr>
        <p:spPr>
          <a:xfrm>
            <a:off x="2426232" y="186207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10</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198" name="Google Shape;1198;p79"/>
          <p:cNvCxnSpPr/>
          <p:nvPr/>
        </p:nvCxnSpPr>
        <p:spPr>
          <a:xfrm rot="5400000">
            <a:off x="4431005" y="2258665"/>
            <a:ext cx="779100" cy="0"/>
          </a:xfrm>
          <a:prstGeom prst="straightConnector1">
            <a:avLst/>
          </a:prstGeom>
          <a:noFill/>
          <a:ln cap="flat" cmpd="sng" w="28575">
            <a:solidFill>
              <a:schemeClr val="dk1"/>
            </a:solidFill>
            <a:prstDash val="solid"/>
            <a:round/>
            <a:headEnd len="med" w="med" type="triangle"/>
            <a:tailEnd len="med" w="med" type="triangle"/>
          </a:ln>
        </p:spPr>
      </p:cxnSp>
      <p:sp>
        <p:nvSpPr>
          <p:cNvPr id="1199" name="Google Shape;1199;p79"/>
          <p:cNvSpPr txBox="1"/>
          <p:nvPr/>
        </p:nvSpPr>
        <p:spPr>
          <a:xfrm flipH="1">
            <a:off x="4877852" y="2068999"/>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200" name="Google Shape;1200;p79"/>
          <p:cNvSpPr/>
          <p:nvPr/>
        </p:nvSpPr>
        <p:spPr>
          <a:xfrm flipH="1" rot="-5400000">
            <a:off x="4621110" y="1881865"/>
            <a:ext cx="91800" cy="918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1" name="Google Shape;1201;p79"/>
          <p:cNvSpPr txBox="1"/>
          <p:nvPr/>
        </p:nvSpPr>
        <p:spPr>
          <a:xfrm>
            <a:off x="1043562" y="140371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135°</a:t>
            </a:r>
            <a:endParaRPr sz="1800">
              <a:solidFill>
                <a:srgbClr val="000000"/>
              </a:solidFill>
              <a:latin typeface="Lexend"/>
              <a:ea typeface="Lexend"/>
              <a:cs typeface="Lexend"/>
              <a:sym typeface="Lexend"/>
            </a:endParaRPr>
          </a:p>
        </p:txBody>
      </p:sp>
      <p:sp>
        <p:nvSpPr>
          <p:cNvPr id="1202" name="Google Shape;1202;p79"/>
          <p:cNvSpPr/>
          <p:nvPr/>
        </p:nvSpPr>
        <p:spPr>
          <a:xfrm flipH="1" rot="-5400000">
            <a:off x="3709560" y="1626865"/>
            <a:ext cx="499500" cy="499500"/>
          </a:xfrm>
          <a:prstGeom prst="arc">
            <a:avLst>
              <a:gd fmla="val 2486961" name="adj1"/>
              <a:gd fmla="val 5255485"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03" name="Google Shape;1203;p79"/>
          <p:cNvSpPr txBox="1"/>
          <p:nvPr/>
        </p:nvSpPr>
        <p:spPr>
          <a:xfrm flipH="1">
            <a:off x="3507333" y="1611052"/>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45°</a:t>
            </a:r>
            <a:endParaRPr sz="1800">
              <a:solidFill>
                <a:srgbClr val="000000"/>
              </a:solidFill>
              <a:latin typeface="Lexend"/>
              <a:ea typeface="Lexend"/>
              <a:cs typeface="Lexend"/>
              <a:sym typeface="Lexend"/>
            </a:endParaRPr>
          </a:p>
        </p:txBody>
      </p:sp>
      <p:cxnSp>
        <p:nvCxnSpPr>
          <p:cNvPr id="1204" name="Google Shape;1204;p79"/>
          <p:cNvCxnSpPr/>
          <p:nvPr/>
        </p:nvCxnSpPr>
        <p:spPr>
          <a:xfrm flipH="1" rot="-5400000">
            <a:off x="3929507" y="1770767"/>
            <a:ext cx="131700" cy="234600"/>
          </a:xfrm>
          <a:prstGeom prst="straightConnector1">
            <a:avLst/>
          </a:prstGeom>
          <a:noFill/>
          <a:ln cap="flat" cmpd="sng" w="38100">
            <a:solidFill>
              <a:schemeClr val="dk1"/>
            </a:solidFill>
            <a:prstDash val="solid"/>
            <a:round/>
            <a:headEnd len="med" w="med" type="none"/>
            <a:tailEnd len="med" w="med" type="none"/>
          </a:ln>
        </p:spPr>
      </p:cxnSp>
      <p:sp>
        <p:nvSpPr>
          <p:cNvPr id="1205" name="Google Shape;1205;p79"/>
          <p:cNvSpPr/>
          <p:nvPr/>
        </p:nvSpPr>
        <p:spPr>
          <a:xfrm>
            <a:off x="951904" y="1087182"/>
            <a:ext cx="335700" cy="335700"/>
          </a:xfrm>
          <a:prstGeom prst="arc">
            <a:avLst>
              <a:gd fmla="val 21598456" name="adj1"/>
              <a:gd fmla="val 8065996" name="adj2"/>
            </a:avLst>
          </a:prstGeom>
          <a:solidFill>
            <a:schemeClr val="lt1"/>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06" name="Google Shape;1206;p79"/>
          <p:cNvCxnSpPr/>
          <p:nvPr/>
        </p:nvCxnSpPr>
        <p:spPr>
          <a:xfrm>
            <a:off x="2365120" y="1232607"/>
            <a:ext cx="0" cy="490800"/>
          </a:xfrm>
          <a:prstGeom prst="straightConnector1">
            <a:avLst/>
          </a:prstGeom>
          <a:noFill/>
          <a:ln cap="flat" cmpd="sng" w="28575">
            <a:solidFill>
              <a:schemeClr val="dk1"/>
            </a:solidFill>
            <a:prstDash val="solid"/>
            <a:round/>
            <a:headEnd len="med" w="med" type="triangle"/>
            <a:tailEnd len="med" w="med" type="triangle"/>
          </a:ln>
        </p:spPr>
      </p:cxnSp>
      <p:sp>
        <p:nvSpPr>
          <p:cNvPr id="1207" name="Google Shape;1207;p79"/>
          <p:cNvSpPr txBox="1"/>
          <p:nvPr/>
        </p:nvSpPr>
        <p:spPr>
          <a:xfrm>
            <a:off x="2444924" y="1269939"/>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208" name="Google Shape;1208;p79"/>
          <p:cNvSpPr txBox="1"/>
          <p:nvPr/>
        </p:nvSpPr>
        <p:spPr>
          <a:xfrm>
            <a:off x="5528449" y="1862075"/>
            <a:ext cx="30894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a:t>
            </a:r>
            <a:r>
              <a:rPr lang="en-GB" sz="2000">
                <a:latin typeface="Times New Roman"/>
                <a:ea typeface="Times New Roman"/>
                <a:cs typeface="Times New Roman"/>
                <a:sym typeface="Times New Roman"/>
              </a:rPr>
              <a:t>= 10 × sin(45°) = 7.07…  </a:t>
            </a:r>
            <a:endParaRPr sz="2000">
              <a:solidFill>
                <a:srgbClr val="000000"/>
              </a:solidFill>
              <a:latin typeface="Times New Roman"/>
              <a:ea typeface="Times New Roman"/>
              <a:cs typeface="Times New Roman"/>
              <a:sym typeface="Times New Roman"/>
            </a:endParaRPr>
          </a:p>
        </p:txBody>
      </p:sp>
      <p:sp>
        <p:nvSpPr>
          <p:cNvPr id="1209" name="Google Shape;1209;p79"/>
          <p:cNvSpPr txBox="1"/>
          <p:nvPr>
            <p:ph idx="1" type="body"/>
          </p:nvPr>
        </p:nvSpPr>
        <p:spPr>
          <a:xfrm>
            <a:off x="3372000" y="29691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a:t>
            </a:r>
            <a:r>
              <a:rPr lang="en-GB" sz="1800"/>
              <a:t>o the</a:t>
            </a:r>
            <a:r>
              <a:rPr lang="en-GB" sz="1800"/>
              <a:t> length of the square is </a:t>
            </a:r>
            <a:r>
              <a:rPr lang="en-GB" sz="2000">
                <a:latin typeface="Times New Roman"/>
                <a:ea typeface="Times New Roman"/>
                <a:cs typeface="Times New Roman"/>
                <a:sym typeface="Times New Roman"/>
              </a:rPr>
              <a:t>24.14…</a:t>
            </a:r>
            <a:r>
              <a:rPr lang="en-GB" sz="2000">
                <a:latin typeface="Times New Roman"/>
                <a:ea typeface="Times New Roman"/>
                <a:cs typeface="Times New Roman"/>
                <a:sym typeface="Times New Roman"/>
              </a:rPr>
              <a:t> cm</a:t>
            </a:r>
            <a:r>
              <a:rPr lang="en-GB" sz="1800"/>
              <a:t>.</a:t>
            </a:r>
            <a:endParaRPr sz="1800"/>
          </a:p>
        </p:txBody>
      </p:sp>
      <p:sp>
        <p:nvSpPr>
          <p:cNvPr id="1210" name="Google Shape;1210;p79"/>
          <p:cNvSpPr txBox="1"/>
          <p:nvPr>
            <p:ph idx="1" type="body"/>
          </p:nvPr>
        </p:nvSpPr>
        <p:spPr>
          <a:xfrm>
            <a:off x="3372000" y="3273900"/>
            <a:ext cx="5448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r>
              <a:rPr lang="en-GB" sz="1800"/>
              <a:t>nd </a:t>
            </a:r>
            <a:r>
              <a:rPr lang="en-GB" sz="1800"/>
              <a:t>the area of the square is </a:t>
            </a:r>
            <a:r>
              <a:rPr lang="en-GB" sz="2000">
                <a:latin typeface="Times New Roman"/>
                <a:ea typeface="Times New Roman"/>
                <a:cs typeface="Times New Roman"/>
                <a:sym typeface="Times New Roman"/>
              </a:rPr>
              <a:t>582.84…</a:t>
            </a:r>
            <a:r>
              <a:rPr lang="en-GB" sz="2000">
                <a:latin typeface="Times New Roman"/>
                <a:ea typeface="Times New Roman"/>
                <a:cs typeface="Times New Roman"/>
                <a:sym typeface="Times New Roman"/>
              </a:rPr>
              <a:t> cm</a:t>
            </a:r>
            <a:r>
              <a:rPr baseline="30000" lang="en-GB" sz="2000">
                <a:latin typeface="Times New Roman"/>
                <a:ea typeface="Times New Roman"/>
                <a:cs typeface="Times New Roman"/>
                <a:sym typeface="Times New Roman"/>
              </a:rPr>
              <a:t>2</a:t>
            </a:r>
            <a:r>
              <a:rPr lang="en-GB" sz="1800"/>
              <a:t>.</a:t>
            </a:r>
            <a:endParaRPr sz="1800"/>
          </a:p>
        </p:txBody>
      </p:sp>
      <p:sp>
        <p:nvSpPr>
          <p:cNvPr id="1211" name="Google Shape;1211;p79"/>
          <p:cNvSpPr txBox="1"/>
          <p:nvPr>
            <p:ph idx="1" type="body"/>
          </p:nvPr>
        </p:nvSpPr>
        <p:spPr>
          <a:xfrm>
            <a:off x="324000" y="3731100"/>
            <a:ext cx="8496000" cy="64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area of the octagon is the area of the square minus the area of the four congruent triangles.</a:t>
            </a:r>
            <a:endParaRPr sz="1800"/>
          </a:p>
        </p:txBody>
      </p:sp>
      <p:sp>
        <p:nvSpPr>
          <p:cNvPr id="1212" name="Google Shape;1212;p79"/>
          <p:cNvSpPr txBox="1"/>
          <p:nvPr/>
        </p:nvSpPr>
        <p:spPr>
          <a:xfrm>
            <a:off x="1312375" y="4448100"/>
            <a:ext cx="70632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 = 582.84… - 4 </a:t>
            </a:r>
            <a:r>
              <a:rPr lang="en-GB" sz="2000">
                <a:solidFill>
                  <a:schemeClr val="dk1"/>
                </a:solidFill>
                <a:latin typeface="Times New Roman"/>
                <a:ea typeface="Times New Roman"/>
                <a:cs typeface="Times New Roman"/>
                <a:sym typeface="Times New Roman"/>
              </a:rPr>
              <a:t>× (0.5 × 7.07… × 7.07…) = 482.84 cm</a:t>
            </a:r>
            <a:r>
              <a:rPr baseline="30000" lang="en-GB" sz="2000">
                <a:solidFill>
                  <a:schemeClr val="dk1"/>
                </a:solidFill>
                <a:latin typeface="Times New Roman"/>
                <a:ea typeface="Times New Roman"/>
                <a:cs typeface="Times New Roman"/>
                <a:sym typeface="Times New Roman"/>
              </a:rPr>
              <a:t>2</a:t>
            </a:r>
            <a:r>
              <a:rPr lang="en-GB" sz="2000">
                <a:solidFill>
                  <a:schemeClr val="dk1"/>
                </a:solidFill>
                <a:latin typeface="Times New Roman"/>
                <a:ea typeface="Times New Roman"/>
                <a:cs typeface="Times New Roman"/>
                <a:sym typeface="Times New Roman"/>
              </a:rPr>
              <a:t> (2 d.p.)</a:t>
            </a:r>
            <a:endParaRPr sz="2000">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8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regular decagon has been surrounded by a rectangle.</a:t>
            </a:r>
            <a:endParaRPr sz="1800"/>
          </a:p>
        </p:txBody>
      </p:sp>
      <p:sp>
        <p:nvSpPr>
          <p:cNvPr id="1218" name="Google Shape;1218;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pic>
        <p:nvPicPr>
          <p:cNvPr id="1219" name="Google Shape;1219;p80"/>
          <p:cNvPicPr preferRelativeResize="0"/>
          <p:nvPr/>
        </p:nvPicPr>
        <p:blipFill rotWithShape="1">
          <a:blip r:embed="rId3">
            <a:alphaModFix/>
          </a:blip>
          <a:srcRect b="18332" l="10555" r="47558" t="10392"/>
          <a:stretch/>
        </p:blipFill>
        <p:spPr>
          <a:xfrm>
            <a:off x="554050" y="1445525"/>
            <a:ext cx="3071273" cy="2931975"/>
          </a:xfrm>
          <a:prstGeom prst="rect">
            <a:avLst/>
          </a:prstGeom>
          <a:noFill/>
          <a:ln>
            <a:noFill/>
          </a:ln>
        </p:spPr>
      </p:pic>
      <p:sp>
        <p:nvSpPr>
          <p:cNvPr id="1220" name="Google Shape;1220;p80"/>
          <p:cNvSpPr txBox="1"/>
          <p:nvPr/>
        </p:nvSpPr>
        <p:spPr>
          <a:xfrm>
            <a:off x="1103937" y="222203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144°</a:t>
            </a:r>
            <a:endParaRPr sz="1800">
              <a:solidFill>
                <a:srgbClr val="000000"/>
              </a:solidFill>
              <a:latin typeface="Lexend"/>
              <a:ea typeface="Lexend"/>
              <a:cs typeface="Lexend"/>
              <a:sym typeface="Lexend"/>
            </a:endParaRPr>
          </a:p>
        </p:txBody>
      </p:sp>
      <p:sp>
        <p:nvSpPr>
          <p:cNvPr id="1221" name="Google Shape;1221;p80"/>
          <p:cNvSpPr txBox="1"/>
          <p:nvPr/>
        </p:nvSpPr>
        <p:spPr>
          <a:xfrm>
            <a:off x="760037" y="273088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18°</a:t>
            </a:r>
            <a:endParaRPr sz="1800">
              <a:solidFill>
                <a:srgbClr val="000000"/>
              </a:solidFill>
              <a:latin typeface="Lexend"/>
              <a:ea typeface="Lexend"/>
              <a:cs typeface="Lexend"/>
              <a:sym typeface="Lexend"/>
            </a:endParaRPr>
          </a:p>
        </p:txBody>
      </p:sp>
      <p:sp>
        <p:nvSpPr>
          <p:cNvPr id="1222" name="Google Shape;1222;p80"/>
          <p:cNvSpPr txBox="1"/>
          <p:nvPr/>
        </p:nvSpPr>
        <p:spPr>
          <a:xfrm>
            <a:off x="967512" y="158461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36</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223" name="Google Shape;1223;p80"/>
          <p:cNvCxnSpPr/>
          <p:nvPr/>
        </p:nvCxnSpPr>
        <p:spPr>
          <a:xfrm>
            <a:off x="1656100" y="1405975"/>
            <a:ext cx="885300" cy="0"/>
          </a:xfrm>
          <a:prstGeom prst="straightConnector1">
            <a:avLst/>
          </a:prstGeom>
          <a:noFill/>
          <a:ln cap="flat" cmpd="sng" w="28575">
            <a:solidFill>
              <a:schemeClr val="dk1"/>
            </a:solidFill>
            <a:prstDash val="solid"/>
            <a:round/>
            <a:headEnd len="med" w="med" type="triangle"/>
            <a:tailEnd len="med" w="med" type="triangle"/>
          </a:ln>
        </p:spPr>
      </p:cxnSp>
      <p:sp>
        <p:nvSpPr>
          <p:cNvPr id="1224" name="Google Shape;1224;p80"/>
          <p:cNvSpPr txBox="1"/>
          <p:nvPr/>
        </p:nvSpPr>
        <p:spPr>
          <a:xfrm>
            <a:off x="1840504" y="1093427"/>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 cm</a:t>
            </a:r>
            <a:endParaRPr sz="1800">
              <a:solidFill>
                <a:srgbClr val="000000"/>
              </a:solidFill>
              <a:latin typeface="Lexend"/>
              <a:ea typeface="Lexend"/>
              <a:cs typeface="Lexend"/>
              <a:sym typeface="Lexend"/>
            </a:endParaRPr>
          </a:p>
        </p:txBody>
      </p:sp>
      <p:cxnSp>
        <p:nvCxnSpPr>
          <p:cNvPr id="1225" name="Google Shape;1225;p80"/>
          <p:cNvCxnSpPr/>
          <p:nvPr/>
        </p:nvCxnSpPr>
        <p:spPr>
          <a:xfrm>
            <a:off x="3277496" y="1551650"/>
            <a:ext cx="0" cy="518400"/>
          </a:xfrm>
          <a:prstGeom prst="straightConnector1">
            <a:avLst/>
          </a:prstGeom>
          <a:noFill/>
          <a:ln cap="flat" cmpd="sng" w="28575">
            <a:solidFill>
              <a:schemeClr val="dk1"/>
            </a:solidFill>
            <a:prstDash val="solid"/>
            <a:round/>
            <a:headEnd len="med" w="med" type="triangle"/>
            <a:tailEnd len="med" w="med" type="triangle"/>
          </a:ln>
        </p:spPr>
      </p:cxnSp>
      <p:cxnSp>
        <p:nvCxnSpPr>
          <p:cNvPr id="1226" name="Google Shape;1226;p80"/>
          <p:cNvCxnSpPr/>
          <p:nvPr/>
        </p:nvCxnSpPr>
        <p:spPr>
          <a:xfrm>
            <a:off x="652896" y="2069775"/>
            <a:ext cx="272100" cy="0"/>
          </a:xfrm>
          <a:prstGeom prst="straightConnector1">
            <a:avLst/>
          </a:prstGeom>
          <a:noFill/>
          <a:ln cap="flat" cmpd="sng" w="19050">
            <a:solidFill>
              <a:schemeClr val="dk1"/>
            </a:solidFill>
            <a:prstDash val="solid"/>
            <a:round/>
            <a:headEnd len="med" w="med" type="triangle"/>
            <a:tailEnd len="med" w="med" type="triangle"/>
          </a:ln>
        </p:spPr>
      </p:cxnSp>
      <p:cxnSp>
        <p:nvCxnSpPr>
          <p:cNvPr id="1227" name="Google Shape;1227;p80"/>
          <p:cNvCxnSpPr/>
          <p:nvPr/>
        </p:nvCxnSpPr>
        <p:spPr>
          <a:xfrm>
            <a:off x="2557796" y="4377500"/>
            <a:ext cx="708300" cy="0"/>
          </a:xfrm>
          <a:prstGeom prst="straightConnector1">
            <a:avLst/>
          </a:prstGeom>
          <a:noFill/>
          <a:ln cap="flat" cmpd="sng" w="28575">
            <a:solidFill>
              <a:schemeClr val="dk1"/>
            </a:solidFill>
            <a:prstDash val="solid"/>
            <a:round/>
            <a:headEnd len="med" w="med" type="triangle"/>
            <a:tailEnd len="med" w="med" type="triangle"/>
          </a:ln>
        </p:spPr>
      </p:cxnSp>
      <p:grpSp>
        <p:nvGrpSpPr>
          <p:cNvPr id="1228" name="Google Shape;1228;p80"/>
          <p:cNvGrpSpPr/>
          <p:nvPr/>
        </p:nvGrpSpPr>
        <p:grpSpPr>
          <a:xfrm>
            <a:off x="682009" y="1798506"/>
            <a:ext cx="213878" cy="213878"/>
            <a:chOff x="1020916" y="1442088"/>
            <a:chExt cx="457200" cy="457200"/>
          </a:xfrm>
        </p:grpSpPr>
        <p:pic>
          <p:nvPicPr>
            <p:cNvPr id="1229" name="Google Shape;1229;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0" name="Google Shape;1230;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31" name="Google Shape;1231;p80"/>
          <p:cNvGrpSpPr/>
          <p:nvPr/>
        </p:nvGrpSpPr>
        <p:grpSpPr>
          <a:xfrm>
            <a:off x="3363252" y="1663535"/>
            <a:ext cx="213878" cy="213878"/>
            <a:chOff x="1020916" y="1442088"/>
            <a:chExt cx="457200" cy="457200"/>
          </a:xfrm>
        </p:grpSpPr>
        <p:pic>
          <p:nvPicPr>
            <p:cNvPr id="1232" name="Google Shape;1232;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3" name="Google Shape;1233;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34" name="Google Shape;1234;p80"/>
          <p:cNvGrpSpPr/>
          <p:nvPr/>
        </p:nvGrpSpPr>
        <p:grpSpPr>
          <a:xfrm>
            <a:off x="2806052" y="4420150"/>
            <a:ext cx="213878" cy="213878"/>
            <a:chOff x="1020916" y="1442088"/>
            <a:chExt cx="457200" cy="457200"/>
          </a:xfrm>
        </p:grpSpPr>
        <p:pic>
          <p:nvPicPr>
            <p:cNvPr id="1235" name="Google Shape;1235;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6" name="Google Shape;1236;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37" name="Google Shape;1237;p80"/>
          <p:cNvSpPr txBox="1"/>
          <p:nvPr>
            <p:ph idx="1" type="body"/>
          </p:nvPr>
        </p:nvSpPr>
        <p:spPr>
          <a:xfrm>
            <a:off x="4320000" y="1253575"/>
            <a:ext cx="45000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Match the calculation to the correct length on the </a:t>
            </a:r>
            <a:r>
              <a:rPr lang="en-GB" sz="1800"/>
              <a:t>diagram</a:t>
            </a:r>
            <a:r>
              <a:rPr lang="en-GB" sz="1800"/>
              <a:t>.</a:t>
            </a:r>
            <a:endParaRPr sz="1800"/>
          </a:p>
        </p:txBody>
      </p:sp>
      <p:grpSp>
        <p:nvGrpSpPr>
          <p:cNvPr id="1238" name="Google Shape;1238;p80"/>
          <p:cNvGrpSpPr/>
          <p:nvPr/>
        </p:nvGrpSpPr>
        <p:grpSpPr>
          <a:xfrm>
            <a:off x="4717059" y="2064856"/>
            <a:ext cx="213878" cy="213878"/>
            <a:chOff x="1020916" y="1442088"/>
            <a:chExt cx="457200" cy="457200"/>
          </a:xfrm>
        </p:grpSpPr>
        <p:pic>
          <p:nvPicPr>
            <p:cNvPr id="1239" name="Google Shape;1239;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0" name="Google Shape;1240;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41" name="Google Shape;1241;p80"/>
          <p:cNvGrpSpPr/>
          <p:nvPr/>
        </p:nvGrpSpPr>
        <p:grpSpPr>
          <a:xfrm>
            <a:off x="4717057" y="3673060"/>
            <a:ext cx="213878" cy="213878"/>
            <a:chOff x="1020916" y="1442088"/>
            <a:chExt cx="457200" cy="457200"/>
          </a:xfrm>
        </p:grpSpPr>
        <p:pic>
          <p:nvPicPr>
            <p:cNvPr id="1242" name="Google Shape;1242;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3" name="Google Shape;1243;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44" name="Google Shape;1244;p80"/>
          <p:cNvGrpSpPr/>
          <p:nvPr/>
        </p:nvGrpSpPr>
        <p:grpSpPr>
          <a:xfrm>
            <a:off x="4717052" y="2868950"/>
            <a:ext cx="213878" cy="213878"/>
            <a:chOff x="1020916" y="1442088"/>
            <a:chExt cx="457200" cy="457200"/>
          </a:xfrm>
        </p:grpSpPr>
        <p:pic>
          <p:nvPicPr>
            <p:cNvPr id="1245" name="Google Shape;1245;p8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46" name="Google Shape;1246;p8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247" name="Google Shape;1247;p80"/>
          <p:cNvSpPr txBox="1"/>
          <p:nvPr/>
        </p:nvSpPr>
        <p:spPr>
          <a:xfrm>
            <a:off x="5082775" y="1999650"/>
            <a:ext cx="13173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8</a:t>
            </a:r>
            <a:r>
              <a:rPr lang="en-GB" sz="2000">
                <a:latin typeface="Times New Roman"/>
                <a:ea typeface="Times New Roman"/>
                <a:cs typeface="Times New Roman"/>
                <a:sym typeface="Times New Roman"/>
              </a:rPr>
              <a:t> × sin(18°) </a:t>
            </a:r>
            <a:endParaRPr sz="2000">
              <a:solidFill>
                <a:srgbClr val="000000"/>
              </a:solidFill>
              <a:latin typeface="Times New Roman"/>
              <a:ea typeface="Times New Roman"/>
              <a:cs typeface="Times New Roman"/>
              <a:sym typeface="Times New Roman"/>
            </a:endParaRPr>
          </a:p>
        </p:txBody>
      </p:sp>
      <p:cxnSp>
        <p:nvCxnSpPr>
          <p:cNvPr id="1248" name="Google Shape;1248;p80"/>
          <p:cNvCxnSpPr/>
          <p:nvPr/>
        </p:nvCxnSpPr>
        <p:spPr>
          <a:xfrm>
            <a:off x="711825" y="2667025"/>
            <a:ext cx="114000" cy="26700"/>
          </a:xfrm>
          <a:prstGeom prst="straightConnector1">
            <a:avLst/>
          </a:prstGeom>
          <a:noFill/>
          <a:ln cap="flat" cmpd="sng" w="38100">
            <a:solidFill>
              <a:schemeClr val="dk1"/>
            </a:solidFill>
            <a:prstDash val="solid"/>
            <a:round/>
            <a:headEnd len="med" w="med" type="none"/>
            <a:tailEnd len="med" w="med" type="none"/>
          </a:ln>
        </p:spPr>
      </p:cxnSp>
      <p:sp>
        <p:nvSpPr>
          <p:cNvPr id="1249" name="Google Shape;1249;p80"/>
          <p:cNvSpPr txBox="1"/>
          <p:nvPr/>
        </p:nvSpPr>
        <p:spPr>
          <a:xfrm>
            <a:off x="5082775" y="3619638"/>
            <a:ext cx="13173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8 × cos(54°) </a:t>
            </a:r>
            <a:endParaRPr sz="2000">
              <a:solidFill>
                <a:srgbClr val="000000"/>
              </a:solidFill>
              <a:latin typeface="Times New Roman"/>
              <a:ea typeface="Times New Roman"/>
              <a:cs typeface="Times New Roman"/>
              <a:sym typeface="Times New Roman"/>
            </a:endParaRPr>
          </a:p>
        </p:txBody>
      </p:sp>
      <p:sp>
        <p:nvSpPr>
          <p:cNvPr id="1250" name="Google Shape;1250;p80"/>
          <p:cNvSpPr txBox="1"/>
          <p:nvPr/>
        </p:nvSpPr>
        <p:spPr>
          <a:xfrm>
            <a:off x="5082775" y="2829325"/>
            <a:ext cx="13173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8 × cos(36°) </a:t>
            </a:r>
            <a:endParaRPr sz="2000">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8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256" name="Google Shape;1256;p8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area of each triangle, to 1 decimal place.</a:t>
            </a:r>
            <a:endParaRPr sz="1800"/>
          </a:p>
        </p:txBody>
      </p:sp>
      <p:sp>
        <p:nvSpPr>
          <p:cNvPr id="1257" name="Google Shape;1257;p81"/>
          <p:cNvSpPr txBox="1"/>
          <p:nvPr>
            <p:ph idx="1" type="body"/>
          </p:nvPr>
        </p:nvSpPr>
        <p:spPr>
          <a:xfrm>
            <a:off x="3240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258" name="Google Shape;1258;p81"/>
          <p:cNvSpPr/>
          <p:nvPr/>
        </p:nvSpPr>
        <p:spPr>
          <a:xfrm>
            <a:off x="7165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59" name="Google Shape;1259;p81"/>
          <p:cNvCxnSpPr/>
          <p:nvPr/>
        </p:nvCxnSpPr>
        <p:spPr>
          <a:xfrm>
            <a:off x="9781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260" name="Google Shape;1260;p81"/>
          <p:cNvCxnSpPr/>
          <p:nvPr/>
        </p:nvCxnSpPr>
        <p:spPr>
          <a:xfrm flipH="1">
            <a:off x="15866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261" name="Google Shape;1261;p81"/>
          <p:cNvSpPr/>
          <p:nvPr/>
        </p:nvSpPr>
        <p:spPr>
          <a:xfrm>
            <a:off x="369893" y="3325870"/>
            <a:ext cx="731100" cy="731100"/>
          </a:xfrm>
          <a:prstGeom prst="arc">
            <a:avLst>
              <a:gd fmla="val 16967817"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62" name="Google Shape;1262;p81"/>
          <p:cNvCxnSpPr/>
          <p:nvPr/>
        </p:nvCxnSpPr>
        <p:spPr>
          <a:xfrm>
            <a:off x="710825" y="3780000"/>
            <a:ext cx="1299300" cy="0"/>
          </a:xfrm>
          <a:prstGeom prst="straightConnector1">
            <a:avLst/>
          </a:prstGeom>
          <a:noFill/>
          <a:ln cap="flat" cmpd="sng" w="28575">
            <a:solidFill>
              <a:schemeClr val="dk1"/>
            </a:solidFill>
            <a:prstDash val="solid"/>
            <a:round/>
            <a:headEnd len="med" w="med" type="triangle"/>
            <a:tailEnd len="med" w="med" type="triangle"/>
          </a:ln>
        </p:spPr>
      </p:cxnSp>
      <p:sp>
        <p:nvSpPr>
          <p:cNvPr id="1263" name="Google Shape;1263;p81"/>
          <p:cNvSpPr txBox="1"/>
          <p:nvPr>
            <p:ph idx="1" type="body"/>
          </p:nvPr>
        </p:nvSpPr>
        <p:spPr>
          <a:xfrm>
            <a:off x="1097738" y="37961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264" name="Google Shape;1264;p81"/>
          <p:cNvSpPr txBox="1"/>
          <p:nvPr/>
        </p:nvSpPr>
        <p:spPr>
          <a:xfrm>
            <a:off x="1039662" y="3269636"/>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82</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265" name="Google Shape;1265;p81"/>
          <p:cNvSpPr txBox="1"/>
          <p:nvPr>
            <p:ph idx="1" type="body"/>
          </p:nvPr>
        </p:nvSpPr>
        <p:spPr>
          <a:xfrm>
            <a:off x="23052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
        <p:nvSpPr>
          <p:cNvPr id="1266" name="Google Shape;1266;p81"/>
          <p:cNvSpPr/>
          <p:nvPr/>
        </p:nvSpPr>
        <p:spPr>
          <a:xfrm>
            <a:off x="26977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67" name="Google Shape;1267;p81"/>
          <p:cNvCxnSpPr/>
          <p:nvPr/>
        </p:nvCxnSpPr>
        <p:spPr>
          <a:xfrm>
            <a:off x="29593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268" name="Google Shape;1268;p81"/>
          <p:cNvCxnSpPr/>
          <p:nvPr/>
        </p:nvCxnSpPr>
        <p:spPr>
          <a:xfrm flipH="1">
            <a:off x="35678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269" name="Google Shape;1269;p81"/>
          <p:cNvSpPr/>
          <p:nvPr/>
        </p:nvSpPr>
        <p:spPr>
          <a:xfrm>
            <a:off x="2826187" y="853459"/>
            <a:ext cx="1046400" cy="1046400"/>
          </a:xfrm>
          <a:prstGeom prst="arc">
            <a:avLst>
              <a:gd fmla="val 4525778" name="adj1"/>
              <a:gd fmla="val 634393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70" name="Google Shape;1270;p81"/>
          <p:cNvCxnSpPr/>
          <p:nvPr/>
        </p:nvCxnSpPr>
        <p:spPr>
          <a:xfrm>
            <a:off x="2692025" y="3780000"/>
            <a:ext cx="1299300" cy="0"/>
          </a:xfrm>
          <a:prstGeom prst="straightConnector1">
            <a:avLst/>
          </a:prstGeom>
          <a:noFill/>
          <a:ln cap="flat" cmpd="sng" w="28575">
            <a:solidFill>
              <a:schemeClr val="dk1"/>
            </a:solidFill>
            <a:prstDash val="solid"/>
            <a:round/>
            <a:headEnd len="med" w="med" type="triangle"/>
            <a:tailEnd len="med" w="med" type="triangle"/>
          </a:ln>
        </p:spPr>
      </p:cxnSp>
      <p:sp>
        <p:nvSpPr>
          <p:cNvPr id="1271" name="Google Shape;1271;p81"/>
          <p:cNvSpPr txBox="1"/>
          <p:nvPr>
            <p:ph idx="1" type="body"/>
          </p:nvPr>
        </p:nvSpPr>
        <p:spPr>
          <a:xfrm>
            <a:off x="3078938" y="37961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272" name="Google Shape;1272;p81"/>
          <p:cNvSpPr txBox="1"/>
          <p:nvPr/>
        </p:nvSpPr>
        <p:spPr>
          <a:xfrm>
            <a:off x="3171520" y="1994708"/>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30</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273" name="Google Shape;1273;p81"/>
          <p:cNvSpPr txBox="1"/>
          <p:nvPr>
            <p:ph idx="1" type="body"/>
          </p:nvPr>
        </p:nvSpPr>
        <p:spPr>
          <a:xfrm>
            <a:off x="42864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sp>
        <p:nvSpPr>
          <p:cNvPr id="1274" name="Google Shape;1274;p81"/>
          <p:cNvSpPr txBox="1"/>
          <p:nvPr>
            <p:ph idx="1" type="body"/>
          </p:nvPr>
        </p:nvSpPr>
        <p:spPr>
          <a:xfrm>
            <a:off x="65724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r>
              <a:rPr lang="en-GB" sz="1800"/>
              <a:t>)</a:t>
            </a:r>
            <a:endParaRPr sz="1800"/>
          </a:p>
        </p:txBody>
      </p:sp>
      <p:sp>
        <p:nvSpPr>
          <p:cNvPr id="1275" name="Google Shape;1275;p81"/>
          <p:cNvSpPr/>
          <p:nvPr/>
        </p:nvSpPr>
        <p:spPr>
          <a:xfrm>
            <a:off x="4768425" y="1210850"/>
            <a:ext cx="1321772" cy="2415378"/>
          </a:xfrm>
          <a:custGeom>
            <a:rect b="b" l="l" r="r" t="t"/>
            <a:pathLst>
              <a:path extrusionOk="0" h="86697" w="42960">
                <a:moveTo>
                  <a:pt x="389" y="0"/>
                </a:moveTo>
                <a:lnTo>
                  <a:pt x="0" y="50541"/>
                </a:lnTo>
                <a:lnTo>
                  <a:pt x="42960" y="86697"/>
                </a:lnTo>
                <a:close/>
              </a:path>
            </a:pathLst>
          </a:custGeom>
          <a:noFill/>
          <a:ln cap="flat" cmpd="sng" w="28575">
            <a:solidFill>
              <a:schemeClr val="dk1"/>
            </a:solidFill>
            <a:prstDash val="solid"/>
            <a:round/>
            <a:headEnd len="med" w="med" type="none"/>
            <a:tailEnd len="med" w="med" type="none"/>
          </a:ln>
        </p:spPr>
      </p:sp>
      <p:cxnSp>
        <p:nvCxnSpPr>
          <p:cNvPr id="1276" name="Google Shape;1276;p81"/>
          <p:cNvCxnSpPr/>
          <p:nvPr/>
        </p:nvCxnSpPr>
        <p:spPr>
          <a:xfrm>
            <a:off x="4923142" y="1137899"/>
            <a:ext cx="1288200" cy="2412300"/>
          </a:xfrm>
          <a:prstGeom prst="straightConnector1">
            <a:avLst/>
          </a:prstGeom>
          <a:noFill/>
          <a:ln cap="flat" cmpd="sng" w="28575">
            <a:solidFill>
              <a:schemeClr val="dk1"/>
            </a:solidFill>
            <a:prstDash val="solid"/>
            <a:round/>
            <a:headEnd len="med" w="med" type="triangle"/>
            <a:tailEnd len="med" w="med" type="triangle"/>
          </a:ln>
        </p:spPr>
      </p:cxnSp>
      <p:cxnSp>
        <p:nvCxnSpPr>
          <p:cNvPr id="1277" name="Google Shape;1277;p81"/>
          <p:cNvCxnSpPr/>
          <p:nvPr/>
        </p:nvCxnSpPr>
        <p:spPr>
          <a:xfrm>
            <a:off x="4740750" y="2767488"/>
            <a:ext cx="1260000" cy="968700"/>
          </a:xfrm>
          <a:prstGeom prst="straightConnector1">
            <a:avLst/>
          </a:prstGeom>
          <a:noFill/>
          <a:ln cap="flat" cmpd="sng" w="28575">
            <a:solidFill>
              <a:schemeClr val="dk1"/>
            </a:solidFill>
            <a:prstDash val="solid"/>
            <a:round/>
            <a:headEnd len="med" w="med" type="triangle"/>
            <a:tailEnd len="med" w="med" type="triangle"/>
          </a:ln>
        </p:spPr>
      </p:cxnSp>
      <p:sp>
        <p:nvSpPr>
          <p:cNvPr id="1278" name="Google Shape;1278;p81"/>
          <p:cNvSpPr txBox="1"/>
          <p:nvPr>
            <p:ph idx="1" type="body"/>
          </p:nvPr>
        </p:nvSpPr>
        <p:spPr>
          <a:xfrm>
            <a:off x="5582938" y="2062227"/>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279" name="Google Shape;1279;p81"/>
          <p:cNvSpPr/>
          <p:nvPr/>
        </p:nvSpPr>
        <p:spPr>
          <a:xfrm>
            <a:off x="5525997" y="3062466"/>
            <a:ext cx="1046400" cy="1046400"/>
          </a:xfrm>
          <a:prstGeom prst="arc">
            <a:avLst>
              <a:gd fmla="val 12988357" name="adj1"/>
              <a:gd fmla="val 1449967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0" name="Google Shape;1280;p81"/>
          <p:cNvSpPr txBox="1"/>
          <p:nvPr/>
        </p:nvSpPr>
        <p:spPr>
          <a:xfrm>
            <a:off x="5315294" y="282866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24</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281" name="Google Shape;1281;p81"/>
          <p:cNvSpPr txBox="1"/>
          <p:nvPr>
            <p:ph idx="1" type="body"/>
          </p:nvPr>
        </p:nvSpPr>
        <p:spPr>
          <a:xfrm>
            <a:off x="5022638" y="33043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r>
              <a:rPr lang="en-GB" sz="1800"/>
              <a:t> cm</a:t>
            </a:r>
            <a:endParaRPr sz="1800"/>
          </a:p>
        </p:txBody>
      </p:sp>
      <p:sp>
        <p:nvSpPr>
          <p:cNvPr id="1282" name="Google Shape;1282;p81"/>
          <p:cNvSpPr/>
          <p:nvPr/>
        </p:nvSpPr>
        <p:spPr>
          <a:xfrm>
            <a:off x="68887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3" name="Google Shape;1283;p81"/>
          <p:cNvCxnSpPr/>
          <p:nvPr/>
        </p:nvCxnSpPr>
        <p:spPr>
          <a:xfrm>
            <a:off x="71503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284" name="Google Shape;1284;p81"/>
          <p:cNvCxnSpPr/>
          <p:nvPr/>
        </p:nvCxnSpPr>
        <p:spPr>
          <a:xfrm flipH="1">
            <a:off x="77588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285" name="Google Shape;1285;p81"/>
          <p:cNvSpPr/>
          <p:nvPr/>
        </p:nvSpPr>
        <p:spPr>
          <a:xfrm>
            <a:off x="7017187" y="853459"/>
            <a:ext cx="1046400" cy="1046400"/>
          </a:xfrm>
          <a:prstGeom prst="arc">
            <a:avLst>
              <a:gd fmla="val 4525778" name="adj1"/>
              <a:gd fmla="val 634393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86" name="Google Shape;1286;p81"/>
          <p:cNvCxnSpPr/>
          <p:nvPr/>
        </p:nvCxnSpPr>
        <p:spPr>
          <a:xfrm>
            <a:off x="7689750" y="1325850"/>
            <a:ext cx="658500" cy="2322000"/>
          </a:xfrm>
          <a:prstGeom prst="straightConnector1">
            <a:avLst/>
          </a:prstGeom>
          <a:noFill/>
          <a:ln cap="flat" cmpd="sng" w="28575">
            <a:solidFill>
              <a:schemeClr val="dk1"/>
            </a:solidFill>
            <a:prstDash val="solid"/>
            <a:round/>
            <a:headEnd len="med" w="med" type="triangle"/>
            <a:tailEnd len="med" w="med" type="triangle"/>
          </a:ln>
        </p:spPr>
      </p:cxnSp>
      <p:sp>
        <p:nvSpPr>
          <p:cNvPr id="1287" name="Google Shape;1287;p81"/>
          <p:cNvSpPr txBox="1"/>
          <p:nvPr>
            <p:ph idx="1" type="body"/>
          </p:nvPr>
        </p:nvSpPr>
        <p:spPr>
          <a:xfrm>
            <a:off x="8100963" y="21600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288" name="Google Shape;1288;p81"/>
          <p:cNvSpPr txBox="1"/>
          <p:nvPr/>
        </p:nvSpPr>
        <p:spPr>
          <a:xfrm>
            <a:off x="7362520" y="1994708"/>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30°</a:t>
            </a:r>
            <a:endParaRPr sz="1800">
              <a:solidFill>
                <a:srgbClr val="000000"/>
              </a:solidFill>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8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294" name="Google Shape;1294;p82"/>
          <p:cNvSpPr txBox="1"/>
          <p:nvPr>
            <p:ph idx="1" type="body"/>
          </p:nvPr>
        </p:nvSpPr>
        <p:spPr>
          <a:xfrm>
            <a:off x="324000" y="759300"/>
            <a:ext cx="4578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Calculate the area of this rhombus</a:t>
            </a:r>
            <a:r>
              <a:rPr lang="en-GB" sz="1800"/>
              <a:t>, to 1 decimal place</a:t>
            </a:r>
            <a:r>
              <a:rPr lang="en-GB" sz="1800"/>
              <a:t>.</a:t>
            </a:r>
            <a:endParaRPr sz="1800"/>
          </a:p>
        </p:txBody>
      </p:sp>
      <p:sp>
        <p:nvSpPr>
          <p:cNvPr id="1295" name="Google Shape;1295;p82"/>
          <p:cNvSpPr/>
          <p:nvPr/>
        </p:nvSpPr>
        <p:spPr>
          <a:xfrm>
            <a:off x="5447925" y="897600"/>
            <a:ext cx="1803000" cy="1262400"/>
          </a:xfrm>
          <a:prstGeom prst="parallelogram">
            <a:avLst>
              <a:gd fmla="val 3497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296" name="Google Shape;1296;p82"/>
          <p:cNvCxnSpPr/>
          <p:nvPr/>
        </p:nvCxnSpPr>
        <p:spPr>
          <a:xfrm flipH="1" rot="10800000">
            <a:off x="6939935" y="897600"/>
            <a:ext cx="479400" cy="1266000"/>
          </a:xfrm>
          <a:prstGeom prst="straightConnector1">
            <a:avLst/>
          </a:prstGeom>
          <a:noFill/>
          <a:ln cap="flat" cmpd="sng" w="28575">
            <a:solidFill>
              <a:schemeClr val="dk1"/>
            </a:solidFill>
            <a:prstDash val="solid"/>
            <a:round/>
            <a:headEnd len="med" w="med" type="triangle"/>
            <a:tailEnd len="med" w="med" type="triangle"/>
          </a:ln>
        </p:spPr>
      </p:cxnSp>
      <p:sp>
        <p:nvSpPr>
          <p:cNvPr id="1297" name="Google Shape;1297;p82"/>
          <p:cNvSpPr txBox="1"/>
          <p:nvPr/>
        </p:nvSpPr>
        <p:spPr>
          <a:xfrm>
            <a:off x="7250925" y="14168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298" name="Google Shape;1298;p82"/>
          <p:cNvSpPr/>
          <p:nvPr/>
        </p:nvSpPr>
        <p:spPr>
          <a:xfrm>
            <a:off x="5144633" y="1853250"/>
            <a:ext cx="613500" cy="613500"/>
          </a:xfrm>
          <a:prstGeom prst="arc">
            <a:avLst>
              <a:gd fmla="val 1730025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99" name="Google Shape;1299;p82"/>
          <p:cNvSpPr txBox="1"/>
          <p:nvPr/>
        </p:nvSpPr>
        <p:spPr>
          <a:xfrm>
            <a:off x="5720246" y="170890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73</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300" name="Google Shape;1300;p82"/>
          <p:cNvSpPr txBox="1"/>
          <p:nvPr>
            <p:ph idx="1" type="body"/>
          </p:nvPr>
        </p:nvSpPr>
        <p:spPr>
          <a:xfrm>
            <a:off x="324000" y="3045300"/>
            <a:ext cx="4820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 Calculate the area of this parallelogram</a:t>
            </a:r>
            <a:r>
              <a:rPr lang="en-GB" sz="1800"/>
              <a:t>, to 1 decimal place</a:t>
            </a:r>
            <a:r>
              <a:rPr lang="en-GB" sz="1800"/>
              <a:t>, given that its perimeter is 54 cm.</a:t>
            </a:r>
            <a:endParaRPr sz="1800"/>
          </a:p>
        </p:txBody>
      </p:sp>
      <p:sp>
        <p:nvSpPr>
          <p:cNvPr id="1301" name="Google Shape;1301;p82"/>
          <p:cNvSpPr/>
          <p:nvPr/>
        </p:nvSpPr>
        <p:spPr>
          <a:xfrm>
            <a:off x="5447925" y="3122875"/>
            <a:ext cx="2463600" cy="1018200"/>
          </a:xfrm>
          <a:prstGeom prst="parallelogram">
            <a:avLst>
              <a:gd fmla="val 52988"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02" name="Google Shape;1302;p82"/>
          <p:cNvCxnSpPr/>
          <p:nvPr/>
        </p:nvCxnSpPr>
        <p:spPr>
          <a:xfrm flipH="1" rot="10800000">
            <a:off x="7519450" y="3107850"/>
            <a:ext cx="546300" cy="1039200"/>
          </a:xfrm>
          <a:prstGeom prst="straightConnector1">
            <a:avLst/>
          </a:prstGeom>
          <a:noFill/>
          <a:ln cap="flat" cmpd="sng" w="28575">
            <a:solidFill>
              <a:schemeClr val="dk1"/>
            </a:solidFill>
            <a:prstDash val="solid"/>
            <a:round/>
            <a:headEnd len="med" w="med" type="triangle"/>
            <a:tailEnd len="med" w="med" type="triangle"/>
          </a:ln>
        </p:spPr>
      </p:cxnSp>
      <p:sp>
        <p:nvSpPr>
          <p:cNvPr id="1303" name="Google Shape;1303;p82"/>
          <p:cNvSpPr txBox="1"/>
          <p:nvPr/>
        </p:nvSpPr>
        <p:spPr>
          <a:xfrm>
            <a:off x="7868737" y="3550438"/>
            <a:ext cx="10200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11</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304" name="Google Shape;1304;p82"/>
          <p:cNvSpPr/>
          <p:nvPr/>
        </p:nvSpPr>
        <p:spPr>
          <a:xfrm>
            <a:off x="5144633" y="3834450"/>
            <a:ext cx="613500" cy="613500"/>
          </a:xfrm>
          <a:prstGeom prst="arc">
            <a:avLst>
              <a:gd fmla="val 1792598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05" name="Google Shape;1305;p82"/>
          <p:cNvSpPr txBox="1"/>
          <p:nvPr/>
        </p:nvSpPr>
        <p:spPr>
          <a:xfrm>
            <a:off x="5796446" y="376630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66</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8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311" name="Google Shape;1311;p83"/>
          <p:cNvSpPr txBox="1"/>
          <p:nvPr>
            <p:ph idx="1" type="body"/>
          </p:nvPr>
        </p:nvSpPr>
        <p:spPr>
          <a:xfrm>
            <a:off x="324000" y="759300"/>
            <a:ext cx="55044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r>
              <a:rPr lang="en-GB" sz="1800"/>
              <a:t>) Calculate the area of this regular hexagon</a:t>
            </a:r>
            <a:r>
              <a:rPr lang="en-GB" sz="1800"/>
              <a:t>, to 1 decimal place</a:t>
            </a:r>
            <a:r>
              <a:rPr lang="en-GB" sz="1800"/>
              <a:t>.</a:t>
            </a:r>
            <a:endParaRPr sz="1800"/>
          </a:p>
        </p:txBody>
      </p:sp>
      <p:cxnSp>
        <p:nvCxnSpPr>
          <p:cNvPr id="1312" name="Google Shape;1312;p83"/>
          <p:cNvCxnSpPr/>
          <p:nvPr/>
        </p:nvCxnSpPr>
        <p:spPr>
          <a:xfrm rot="10800000">
            <a:off x="7438125" y="915800"/>
            <a:ext cx="453000" cy="799500"/>
          </a:xfrm>
          <a:prstGeom prst="straightConnector1">
            <a:avLst/>
          </a:prstGeom>
          <a:noFill/>
          <a:ln cap="flat" cmpd="sng" w="28575">
            <a:solidFill>
              <a:schemeClr val="dk1"/>
            </a:solidFill>
            <a:prstDash val="solid"/>
            <a:round/>
            <a:headEnd len="med" w="med" type="triangle"/>
            <a:tailEnd len="med" w="med" type="triangle"/>
          </a:ln>
        </p:spPr>
      </p:cxnSp>
      <p:sp>
        <p:nvSpPr>
          <p:cNvPr id="1313" name="Google Shape;1313;p83"/>
          <p:cNvSpPr txBox="1"/>
          <p:nvPr/>
        </p:nvSpPr>
        <p:spPr>
          <a:xfrm>
            <a:off x="7780800" y="10366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pic>
        <p:nvPicPr>
          <p:cNvPr id="1314" name="Google Shape;1314;p83"/>
          <p:cNvPicPr preferRelativeResize="0"/>
          <p:nvPr/>
        </p:nvPicPr>
        <p:blipFill>
          <a:blip r:embed="rId3">
            <a:alphaModFix/>
          </a:blip>
          <a:stretch>
            <a:fillRect/>
          </a:stretch>
        </p:blipFill>
        <p:spPr>
          <a:xfrm>
            <a:off x="5687250" y="741775"/>
            <a:ext cx="2335375" cy="21325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sp>
        <p:nvSpPr>
          <p:cNvPr id="1319" name="Google Shape;1319;p84"/>
          <p:cNvSpPr/>
          <p:nvPr/>
        </p:nvSpPr>
        <p:spPr>
          <a:xfrm>
            <a:off x="1356262" y="3539025"/>
            <a:ext cx="147600" cy="1476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0" name="Google Shape;1320;p84"/>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area of each triangle, to 1 decimal place.</a:t>
            </a:r>
            <a:endParaRPr sz="1800"/>
          </a:p>
        </p:txBody>
      </p:sp>
      <p:cxnSp>
        <p:nvCxnSpPr>
          <p:cNvPr id="1321" name="Google Shape;1321;p84"/>
          <p:cNvCxnSpPr>
            <a:stCxn id="1322" idx="0"/>
            <a:endCxn id="1322" idx="3"/>
          </p:cNvCxnSpPr>
          <p:nvPr/>
        </p:nvCxnSpPr>
        <p:spPr>
          <a:xfrm>
            <a:off x="1360475" y="1372425"/>
            <a:ext cx="0" cy="2314200"/>
          </a:xfrm>
          <a:prstGeom prst="straightConnector1">
            <a:avLst/>
          </a:prstGeom>
          <a:noFill/>
          <a:ln cap="flat" cmpd="sng" w="38100">
            <a:solidFill>
              <a:schemeClr val="dk2"/>
            </a:solidFill>
            <a:prstDash val="lgDash"/>
            <a:round/>
            <a:headEnd len="med" w="med" type="none"/>
            <a:tailEnd len="med" w="med" type="none"/>
          </a:ln>
        </p:spPr>
      </p:cxnSp>
      <p:sp>
        <p:nvSpPr>
          <p:cNvPr id="1323" name="Google Shape;1323;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324" name="Google Shape;1324;p84"/>
          <p:cNvSpPr txBox="1"/>
          <p:nvPr>
            <p:ph idx="1" type="body"/>
          </p:nvPr>
        </p:nvSpPr>
        <p:spPr>
          <a:xfrm>
            <a:off x="3240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cxnSp>
        <p:nvCxnSpPr>
          <p:cNvPr id="1325" name="Google Shape;1325;p84"/>
          <p:cNvCxnSpPr/>
          <p:nvPr/>
        </p:nvCxnSpPr>
        <p:spPr>
          <a:xfrm>
            <a:off x="9781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326" name="Google Shape;1326;p84"/>
          <p:cNvCxnSpPr/>
          <p:nvPr/>
        </p:nvCxnSpPr>
        <p:spPr>
          <a:xfrm flipH="1">
            <a:off x="15866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327" name="Google Shape;1327;p84"/>
          <p:cNvSpPr/>
          <p:nvPr/>
        </p:nvSpPr>
        <p:spPr>
          <a:xfrm>
            <a:off x="369893" y="3325870"/>
            <a:ext cx="731100" cy="731100"/>
          </a:xfrm>
          <a:prstGeom prst="arc">
            <a:avLst>
              <a:gd fmla="val 16967817"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28" name="Google Shape;1328;p84"/>
          <p:cNvCxnSpPr/>
          <p:nvPr/>
        </p:nvCxnSpPr>
        <p:spPr>
          <a:xfrm>
            <a:off x="710825" y="3780000"/>
            <a:ext cx="1299300" cy="0"/>
          </a:xfrm>
          <a:prstGeom prst="straightConnector1">
            <a:avLst/>
          </a:prstGeom>
          <a:noFill/>
          <a:ln cap="flat" cmpd="sng" w="28575">
            <a:solidFill>
              <a:schemeClr val="dk1"/>
            </a:solidFill>
            <a:prstDash val="solid"/>
            <a:round/>
            <a:headEnd len="med" w="med" type="triangle"/>
            <a:tailEnd len="med" w="med" type="triangle"/>
          </a:ln>
        </p:spPr>
      </p:cxnSp>
      <p:sp>
        <p:nvSpPr>
          <p:cNvPr id="1329" name="Google Shape;1329;p84"/>
          <p:cNvSpPr txBox="1"/>
          <p:nvPr>
            <p:ph idx="1" type="body"/>
          </p:nvPr>
        </p:nvSpPr>
        <p:spPr>
          <a:xfrm>
            <a:off x="1097738" y="37961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330" name="Google Shape;1330;p84"/>
          <p:cNvSpPr txBox="1"/>
          <p:nvPr/>
        </p:nvSpPr>
        <p:spPr>
          <a:xfrm>
            <a:off x="900726" y="313070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82°</a:t>
            </a:r>
            <a:endParaRPr sz="1800">
              <a:solidFill>
                <a:srgbClr val="000000"/>
              </a:solidFill>
              <a:latin typeface="Lexend"/>
              <a:ea typeface="Lexend"/>
              <a:cs typeface="Lexend"/>
              <a:sym typeface="Lexend"/>
            </a:endParaRPr>
          </a:p>
        </p:txBody>
      </p:sp>
      <p:cxnSp>
        <p:nvCxnSpPr>
          <p:cNvPr id="1331" name="Google Shape;1331;p84"/>
          <p:cNvCxnSpPr/>
          <p:nvPr/>
        </p:nvCxnSpPr>
        <p:spPr>
          <a:xfrm rot="10800000">
            <a:off x="2038600" y="1372450"/>
            <a:ext cx="0" cy="2280600"/>
          </a:xfrm>
          <a:prstGeom prst="straightConnector1">
            <a:avLst/>
          </a:prstGeom>
          <a:noFill/>
          <a:ln cap="flat" cmpd="sng" w="28575">
            <a:solidFill>
              <a:schemeClr val="dk1"/>
            </a:solidFill>
            <a:prstDash val="solid"/>
            <a:round/>
            <a:headEnd len="med" w="med" type="triangle"/>
            <a:tailEnd len="med" w="med" type="triangle"/>
          </a:ln>
        </p:spPr>
      </p:cxnSp>
      <p:sp>
        <p:nvSpPr>
          <p:cNvPr id="1332" name="Google Shape;1332;p84"/>
          <p:cNvSpPr txBox="1"/>
          <p:nvPr/>
        </p:nvSpPr>
        <p:spPr>
          <a:xfrm>
            <a:off x="2097487" y="2299365"/>
            <a:ext cx="14112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333" name="Google Shape;1333;p84"/>
          <p:cNvSpPr txBox="1"/>
          <p:nvPr/>
        </p:nvSpPr>
        <p:spPr>
          <a:xfrm>
            <a:off x="3850061" y="14611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3 × tan(82°) = 21.346… </a:t>
            </a:r>
            <a:endParaRPr sz="1800">
              <a:solidFill>
                <a:srgbClr val="000000"/>
              </a:solidFill>
              <a:latin typeface="Times New Roman"/>
              <a:ea typeface="Times New Roman"/>
              <a:cs typeface="Times New Roman"/>
              <a:sym typeface="Times New Roman"/>
            </a:endParaRPr>
          </a:p>
        </p:txBody>
      </p:sp>
      <p:sp>
        <p:nvSpPr>
          <p:cNvPr id="1334" name="Google Shape;1334;p84"/>
          <p:cNvSpPr txBox="1"/>
          <p:nvPr/>
        </p:nvSpPr>
        <p:spPr>
          <a:xfrm>
            <a:off x="3823215" y="19293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 6 × </a:t>
            </a:r>
            <a:r>
              <a:rPr lang="en-GB" sz="1800">
                <a:latin typeface="Times New Roman"/>
                <a:ea typeface="Times New Roman"/>
                <a:cs typeface="Times New Roman"/>
                <a:sym typeface="Times New Roman"/>
              </a:rPr>
              <a:t>21.346… = 64.0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1335" name="Google Shape;1335;p84" title="one half"/>
          <p:cNvPicPr preferRelativeResize="0"/>
          <p:nvPr/>
        </p:nvPicPr>
        <p:blipFill>
          <a:blip r:embed="rId3">
            <a:alphaModFix/>
          </a:blip>
          <a:stretch>
            <a:fillRect/>
          </a:stretch>
        </p:blipFill>
        <p:spPr>
          <a:xfrm>
            <a:off x="4600325" y="1860797"/>
            <a:ext cx="141600" cy="464269"/>
          </a:xfrm>
          <a:prstGeom prst="rect">
            <a:avLst/>
          </a:prstGeom>
          <a:noFill/>
          <a:ln>
            <a:noFill/>
          </a:ln>
        </p:spPr>
      </p:pic>
      <p:sp>
        <p:nvSpPr>
          <p:cNvPr id="1322" name="Google Shape;1322;p84"/>
          <p:cNvSpPr/>
          <p:nvPr/>
        </p:nvSpPr>
        <p:spPr>
          <a:xfrm>
            <a:off x="7165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341" name="Google Shape;1341;p85"/>
          <p:cNvSpPr txBox="1"/>
          <p:nvPr>
            <p:ph idx="1" type="body"/>
          </p:nvPr>
        </p:nvSpPr>
        <p:spPr>
          <a:xfrm>
            <a:off x="324000" y="759300"/>
            <a:ext cx="8237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area of each triangle</a:t>
            </a:r>
            <a:r>
              <a:rPr lang="en-GB" sz="1800"/>
              <a:t>, to 1 decimal place</a:t>
            </a:r>
            <a:r>
              <a:rPr lang="en-GB" sz="1800"/>
              <a:t>.</a:t>
            </a:r>
            <a:endParaRPr sz="1800"/>
          </a:p>
        </p:txBody>
      </p:sp>
      <p:sp>
        <p:nvSpPr>
          <p:cNvPr id="1342" name="Google Shape;1342;p85"/>
          <p:cNvSpPr txBox="1"/>
          <p:nvPr>
            <p:ph idx="1" type="body"/>
          </p:nvPr>
        </p:nvSpPr>
        <p:spPr>
          <a:xfrm>
            <a:off x="3240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cxnSp>
        <p:nvCxnSpPr>
          <p:cNvPr id="1343" name="Google Shape;1343;p85"/>
          <p:cNvCxnSpPr/>
          <p:nvPr/>
        </p:nvCxnSpPr>
        <p:spPr>
          <a:xfrm>
            <a:off x="9781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344" name="Google Shape;1344;p85"/>
          <p:cNvCxnSpPr/>
          <p:nvPr/>
        </p:nvCxnSpPr>
        <p:spPr>
          <a:xfrm flipH="1">
            <a:off x="15866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345" name="Google Shape;1345;p85"/>
          <p:cNvSpPr/>
          <p:nvPr/>
        </p:nvSpPr>
        <p:spPr>
          <a:xfrm>
            <a:off x="844987" y="853459"/>
            <a:ext cx="1046400" cy="1046400"/>
          </a:xfrm>
          <a:prstGeom prst="arc">
            <a:avLst>
              <a:gd fmla="val 4525778" name="adj1"/>
              <a:gd fmla="val 634393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46" name="Google Shape;1346;p85"/>
          <p:cNvCxnSpPr/>
          <p:nvPr/>
        </p:nvCxnSpPr>
        <p:spPr>
          <a:xfrm>
            <a:off x="710825" y="3780000"/>
            <a:ext cx="1299300" cy="0"/>
          </a:xfrm>
          <a:prstGeom prst="straightConnector1">
            <a:avLst/>
          </a:prstGeom>
          <a:noFill/>
          <a:ln cap="flat" cmpd="sng" w="28575">
            <a:solidFill>
              <a:schemeClr val="dk1"/>
            </a:solidFill>
            <a:prstDash val="solid"/>
            <a:round/>
            <a:headEnd len="med" w="med" type="triangle"/>
            <a:tailEnd len="med" w="med" type="triangle"/>
          </a:ln>
        </p:spPr>
      </p:cxnSp>
      <p:sp>
        <p:nvSpPr>
          <p:cNvPr id="1347" name="Google Shape;1347;p85"/>
          <p:cNvSpPr txBox="1"/>
          <p:nvPr>
            <p:ph idx="1" type="body"/>
          </p:nvPr>
        </p:nvSpPr>
        <p:spPr>
          <a:xfrm>
            <a:off x="1097738" y="37961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 cm</a:t>
            </a:r>
            <a:endParaRPr sz="1800"/>
          </a:p>
        </p:txBody>
      </p:sp>
      <p:sp>
        <p:nvSpPr>
          <p:cNvPr id="1348" name="Google Shape;1348;p85"/>
          <p:cNvSpPr txBox="1"/>
          <p:nvPr/>
        </p:nvSpPr>
        <p:spPr>
          <a:xfrm>
            <a:off x="1580048" y="1482300"/>
            <a:ext cx="3876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15</a:t>
            </a:r>
            <a:r>
              <a:rPr lang="en-GB" sz="1800">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349" name="Google Shape;1349;p85"/>
          <p:cNvSpPr txBox="1"/>
          <p:nvPr/>
        </p:nvSpPr>
        <p:spPr>
          <a:xfrm>
            <a:off x="3850061" y="14611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3 ÷ tan(15°) = 11.196… </a:t>
            </a:r>
            <a:endParaRPr sz="1800">
              <a:solidFill>
                <a:srgbClr val="000000"/>
              </a:solidFill>
              <a:latin typeface="Times New Roman"/>
              <a:ea typeface="Times New Roman"/>
              <a:cs typeface="Times New Roman"/>
              <a:sym typeface="Times New Roman"/>
            </a:endParaRPr>
          </a:p>
        </p:txBody>
      </p:sp>
      <p:sp>
        <p:nvSpPr>
          <p:cNvPr id="1350" name="Google Shape;1350;p85"/>
          <p:cNvSpPr txBox="1"/>
          <p:nvPr/>
        </p:nvSpPr>
        <p:spPr>
          <a:xfrm>
            <a:off x="3823215" y="19293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 6 × </a:t>
            </a:r>
            <a:r>
              <a:rPr lang="en-GB" sz="1800">
                <a:latin typeface="Times New Roman"/>
                <a:ea typeface="Times New Roman"/>
                <a:cs typeface="Times New Roman"/>
                <a:sym typeface="Times New Roman"/>
              </a:rPr>
              <a:t>11.196</a:t>
            </a:r>
            <a:r>
              <a:rPr lang="en-GB" sz="1800">
                <a:latin typeface="Times New Roman"/>
                <a:ea typeface="Times New Roman"/>
                <a:cs typeface="Times New Roman"/>
                <a:sym typeface="Times New Roman"/>
              </a:rPr>
              <a:t>… = 33.6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1351" name="Google Shape;1351;p85" title="one half"/>
          <p:cNvPicPr preferRelativeResize="0"/>
          <p:nvPr/>
        </p:nvPicPr>
        <p:blipFill>
          <a:blip r:embed="rId3">
            <a:alphaModFix/>
          </a:blip>
          <a:stretch>
            <a:fillRect/>
          </a:stretch>
        </p:blipFill>
        <p:spPr>
          <a:xfrm>
            <a:off x="4600325" y="1860797"/>
            <a:ext cx="141600" cy="464269"/>
          </a:xfrm>
          <a:prstGeom prst="rect">
            <a:avLst/>
          </a:prstGeom>
          <a:noFill/>
          <a:ln>
            <a:noFill/>
          </a:ln>
        </p:spPr>
      </p:pic>
      <p:sp>
        <p:nvSpPr>
          <p:cNvPr id="1352" name="Google Shape;1352;p85"/>
          <p:cNvSpPr/>
          <p:nvPr/>
        </p:nvSpPr>
        <p:spPr>
          <a:xfrm>
            <a:off x="1356262" y="3539025"/>
            <a:ext cx="147600" cy="147600"/>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53" name="Google Shape;1353;p85"/>
          <p:cNvCxnSpPr/>
          <p:nvPr/>
        </p:nvCxnSpPr>
        <p:spPr>
          <a:xfrm>
            <a:off x="1360475" y="1372425"/>
            <a:ext cx="0" cy="2314200"/>
          </a:xfrm>
          <a:prstGeom prst="straightConnector1">
            <a:avLst/>
          </a:prstGeom>
          <a:noFill/>
          <a:ln cap="flat" cmpd="sng" w="38100">
            <a:solidFill>
              <a:schemeClr val="dk2"/>
            </a:solidFill>
            <a:prstDash val="lgDash"/>
            <a:round/>
            <a:headEnd len="med" w="med" type="none"/>
            <a:tailEnd len="med" w="med" type="none"/>
          </a:ln>
        </p:spPr>
      </p:cxnSp>
      <p:cxnSp>
        <p:nvCxnSpPr>
          <p:cNvPr id="1354" name="Google Shape;1354;p85"/>
          <p:cNvCxnSpPr/>
          <p:nvPr/>
        </p:nvCxnSpPr>
        <p:spPr>
          <a:xfrm rot="10800000">
            <a:off x="2038600" y="1372450"/>
            <a:ext cx="0" cy="2280600"/>
          </a:xfrm>
          <a:prstGeom prst="straightConnector1">
            <a:avLst/>
          </a:prstGeom>
          <a:noFill/>
          <a:ln cap="flat" cmpd="sng" w="28575">
            <a:solidFill>
              <a:schemeClr val="dk1"/>
            </a:solidFill>
            <a:prstDash val="solid"/>
            <a:round/>
            <a:headEnd len="med" w="med" type="triangle"/>
            <a:tailEnd len="med" w="med" type="triangle"/>
          </a:ln>
        </p:spPr>
      </p:cxnSp>
      <p:sp>
        <p:nvSpPr>
          <p:cNvPr id="1355" name="Google Shape;1355;p85"/>
          <p:cNvSpPr txBox="1"/>
          <p:nvPr/>
        </p:nvSpPr>
        <p:spPr>
          <a:xfrm>
            <a:off x="2097487" y="2299365"/>
            <a:ext cx="14112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356" name="Google Shape;1356;p85"/>
          <p:cNvCxnSpPr/>
          <p:nvPr/>
        </p:nvCxnSpPr>
        <p:spPr>
          <a:xfrm flipH="1" rot="10800000">
            <a:off x="1428075" y="1727875"/>
            <a:ext cx="134100" cy="53700"/>
          </a:xfrm>
          <a:prstGeom prst="straightConnector1">
            <a:avLst/>
          </a:prstGeom>
          <a:noFill/>
          <a:ln cap="flat" cmpd="sng" w="38100">
            <a:solidFill>
              <a:schemeClr val="dk1"/>
            </a:solidFill>
            <a:prstDash val="solid"/>
            <a:round/>
            <a:headEnd len="med" w="med" type="none"/>
            <a:tailEnd len="med" w="med" type="none"/>
          </a:ln>
        </p:spPr>
      </p:cxnSp>
      <p:sp>
        <p:nvSpPr>
          <p:cNvPr id="1357" name="Google Shape;1357;p85"/>
          <p:cNvSpPr/>
          <p:nvPr/>
        </p:nvSpPr>
        <p:spPr>
          <a:xfrm>
            <a:off x="7165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1" name="Shape 1361"/>
        <p:cNvGrpSpPr/>
        <p:nvPr/>
      </p:nvGrpSpPr>
      <p:grpSpPr>
        <a:xfrm>
          <a:off x="0" y="0"/>
          <a:ext cx="0" cy="0"/>
          <a:chOff x="0" y="0"/>
          <a:chExt cx="0" cy="0"/>
        </a:xfrm>
      </p:grpSpPr>
      <p:sp>
        <p:nvSpPr>
          <p:cNvPr id="1362" name="Google Shape;1362;p8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363" name="Google Shape;1363;p86"/>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area of each triangle</a:t>
            </a:r>
            <a:r>
              <a:rPr lang="en-GB" sz="1800"/>
              <a:t>, to 1 decimal place</a:t>
            </a:r>
            <a:r>
              <a:rPr lang="en-GB" sz="1800"/>
              <a:t>.</a:t>
            </a:r>
            <a:endParaRPr sz="1800"/>
          </a:p>
        </p:txBody>
      </p:sp>
      <p:sp>
        <p:nvSpPr>
          <p:cNvPr id="1364" name="Google Shape;1364;p86"/>
          <p:cNvSpPr txBox="1"/>
          <p:nvPr>
            <p:ph idx="1" type="body"/>
          </p:nvPr>
        </p:nvSpPr>
        <p:spPr>
          <a:xfrm>
            <a:off x="3240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cxnSp>
        <p:nvCxnSpPr>
          <p:cNvPr id="1365" name="Google Shape;1365;p86"/>
          <p:cNvCxnSpPr/>
          <p:nvPr/>
        </p:nvCxnSpPr>
        <p:spPr>
          <a:xfrm>
            <a:off x="960742" y="1137899"/>
            <a:ext cx="1288200" cy="2412300"/>
          </a:xfrm>
          <a:prstGeom prst="straightConnector1">
            <a:avLst/>
          </a:prstGeom>
          <a:noFill/>
          <a:ln cap="flat" cmpd="sng" w="28575">
            <a:solidFill>
              <a:schemeClr val="dk1"/>
            </a:solidFill>
            <a:prstDash val="solid"/>
            <a:round/>
            <a:headEnd len="med" w="med" type="triangle"/>
            <a:tailEnd len="med" w="med" type="triangle"/>
          </a:ln>
        </p:spPr>
      </p:cxnSp>
      <p:cxnSp>
        <p:nvCxnSpPr>
          <p:cNvPr id="1366" name="Google Shape;1366;p86"/>
          <p:cNvCxnSpPr/>
          <p:nvPr/>
        </p:nvCxnSpPr>
        <p:spPr>
          <a:xfrm>
            <a:off x="778350" y="2767488"/>
            <a:ext cx="1260000" cy="968700"/>
          </a:xfrm>
          <a:prstGeom prst="straightConnector1">
            <a:avLst/>
          </a:prstGeom>
          <a:noFill/>
          <a:ln cap="flat" cmpd="sng" w="28575">
            <a:solidFill>
              <a:schemeClr val="dk1"/>
            </a:solidFill>
            <a:prstDash val="solid"/>
            <a:round/>
            <a:headEnd len="med" w="med" type="triangle"/>
            <a:tailEnd len="med" w="med" type="triangle"/>
          </a:ln>
        </p:spPr>
      </p:cxnSp>
      <p:sp>
        <p:nvSpPr>
          <p:cNvPr id="1367" name="Google Shape;1367;p86"/>
          <p:cNvSpPr txBox="1"/>
          <p:nvPr>
            <p:ph idx="1" type="body"/>
          </p:nvPr>
        </p:nvSpPr>
        <p:spPr>
          <a:xfrm>
            <a:off x="1620538" y="2062227"/>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368" name="Google Shape;1368;p86"/>
          <p:cNvSpPr/>
          <p:nvPr/>
        </p:nvSpPr>
        <p:spPr>
          <a:xfrm>
            <a:off x="1563597" y="3062466"/>
            <a:ext cx="1046400" cy="1046400"/>
          </a:xfrm>
          <a:prstGeom prst="arc">
            <a:avLst>
              <a:gd fmla="val 12988357" name="adj1"/>
              <a:gd fmla="val 1449967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69" name="Google Shape;1369;p86"/>
          <p:cNvSpPr txBox="1"/>
          <p:nvPr/>
        </p:nvSpPr>
        <p:spPr>
          <a:xfrm>
            <a:off x="1352894" y="2828661"/>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24°</a:t>
            </a:r>
            <a:endParaRPr sz="1800">
              <a:solidFill>
                <a:srgbClr val="000000"/>
              </a:solidFill>
              <a:latin typeface="Lexend"/>
              <a:ea typeface="Lexend"/>
              <a:cs typeface="Lexend"/>
              <a:sym typeface="Lexend"/>
            </a:endParaRPr>
          </a:p>
        </p:txBody>
      </p:sp>
      <p:sp>
        <p:nvSpPr>
          <p:cNvPr id="1370" name="Google Shape;1370;p86"/>
          <p:cNvSpPr txBox="1"/>
          <p:nvPr>
            <p:ph idx="1" type="body"/>
          </p:nvPr>
        </p:nvSpPr>
        <p:spPr>
          <a:xfrm>
            <a:off x="1060238" y="33043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 cm</a:t>
            </a:r>
            <a:endParaRPr sz="1800"/>
          </a:p>
        </p:txBody>
      </p:sp>
      <p:cxnSp>
        <p:nvCxnSpPr>
          <p:cNvPr id="1371" name="Google Shape;1371;p86"/>
          <p:cNvCxnSpPr/>
          <p:nvPr/>
        </p:nvCxnSpPr>
        <p:spPr>
          <a:xfrm flipH="1" rot="10800000">
            <a:off x="804250" y="2298050"/>
            <a:ext cx="623700" cy="315300"/>
          </a:xfrm>
          <a:prstGeom prst="straightConnector1">
            <a:avLst/>
          </a:prstGeom>
          <a:noFill/>
          <a:ln cap="flat" cmpd="sng" w="28575">
            <a:solidFill>
              <a:schemeClr val="dk2"/>
            </a:solidFill>
            <a:prstDash val="dash"/>
            <a:round/>
            <a:headEnd len="med" w="med" type="none"/>
            <a:tailEnd len="med" w="med" type="none"/>
          </a:ln>
        </p:spPr>
      </p:cxnSp>
      <p:sp>
        <p:nvSpPr>
          <p:cNvPr id="1372" name="Google Shape;1372;p86"/>
          <p:cNvSpPr/>
          <p:nvPr/>
        </p:nvSpPr>
        <p:spPr>
          <a:xfrm rot="-1646979">
            <a:off x="1303488" y="2332846"/>
            <a:ext cx="147732" cy="147732"/>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3" name="Google Shape;1373;p86"/>
          <p:cNvCxnSpPr/>
          <p:nvPr/>
        </p:nvCxnSpPr>
        <p:spPr>
          <a:xfrm flipH="1" rot="10800000">
            <a:off x="748775" y="2239450"/>
            <a:ext cx="620700" cy="313800"/>
          </a:xfrm>
          <a:prstGeom prst="straightConnector1">
            <a:avLst/>
          </a:prstGeom>
          <a:noFill/>
          <a:ln cap="flat" cmpd="sng" w="28575">
            <a:solidFill>
              <a:schemeClr val="dk1"/>
            </a:solidFill>
            <a:prstDash val="solid"/>
            <a:round/>
            <a:headEnd len="med" w="med" type="triangle"/>
            <a:tailEnd len="med" w="med" type="triangle"/>
          </a:ln>
        </p:spPr>
      </p:cxnSp>
      <p:sp>
        <p:nvSpPr>
          <p:cNvPr id="1374" name="Google Shape;1374;p86"/>
          <p:cNvSpPr txBox="1"/>
          <p:nvPr/>
        </p:nvSpPr>
        <p:spPr>
          <a:xfrm>
            <a:off x="3850061" y="14611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7 × sin(24°) = 2.847… </a:t>
            </a:r>
            <a:endParaRPr sz="1800">
              <a:solidFill>
                <a:srgbClr val="000000"/>
              </a:solidFill>
              <a:latin typeface="Times New Roman"/>
              <a:ea typeface="Times New Roman"/>
              <a:cs typeface="Times New Roman"/>
              <a:sym typeface="Times New Roman"/>
            </a:endParaRPr>
          </a:p>
        </p:txBody>
      </p:sp>
      <p:sp>
        <p:nvSpPr>
          <p:cNvPr id="1375" name="Google Shape;1375;p86"/>
          <p:cNvSpPr txBox="1"/>
          <p:nvPr/>
        </p:nvSpPr>
        <p:spPr>
          <a:xfrm>
            <a:off x="3823215" y="19293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 12 × </a:t>
            </a:r>
            <a:r>
              <a:rPr lang="en-GB" sz="1800">
                <a:latin typeface="Times New Roman"/>
                <a:ea typeface="Times New Roman"/>
                <a:cs typeface="Times New Roman"/>
                <a:sym typeface="Times New Roman"/>
              </a:rPr>
              <a:t>2.847</a:t>
            </a:r>
            <a:r>
              <a:rPr lang="en-GB" sz="1800">
                <a:latin typeface="Times New Roman"/>
                <a:ea typeface="Times New Roman"/>
                <a:cs typeface="Times New Roman"/>
                <a:sym typeface="Times New Roman"/>
              </a:rPr>
              <a:t>… = 17.1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1376" name="Google Shape;1376;p86" title="one half"/>
          <p:cNvPicPr preferRelativeResize="0"/>
          <p:nvPr/>
        </p:nvPicPr>
        <p:blipFill>
          <a:blip r:embed="rId3">
            <a:alphaModFix/>
          </a:blip>
          <a:stretch>
            <a:fillRect/>
          </a:stretch>
        </p:blipFill>
        <p:spPr>
          <a:xfrm>
            <a:off x="4600325" y="1860797"/>
            <a:ext cx="141600" cy="464269"/>
          </a:xfrm>
          <a:prstGeom prst="rect">
            <a:avLst/>
          </a:prstGeom>
          <a:noFill/>
          <a:ln>
            <a:noFill/>
          </a:ln>
        </p:spPr>
      </p:pic>
      <p:sp>
        <p:nvSpPr>
          <p:cNvPr id="1377" name="Google Shape;1377;p86"/>
          <p:cNvSpPr/>
          <p:nvPr/>
        </p:nvSpPr>
        <p:spPr>
          <a:xfrm>
            <a:off x="806025" y="1210850"/>
            <a:ext cx="1321772" cy="2415378"/>
          </a:xfrm>
          <a:custGeom>
            <a:rect b="b" l="l" r="r" t="t"/>
            <a:pathLst>
              <a:path extrusionOk="0" h="86697" w="42960">
                <a:moveTo>
                  <a:pt x="389" y="0"/>
                </a:moveTo>
                <a:lnTo>
                  <a:pt x="0" y="50541"/>
                </a:lnTo>
                <a:lnTo>
                  <a:pt x="42960" y="86697"/>
                </a:lnTo>
                <a:close/>
              </a:path>
            </a:pathLst>
          </a:custGeom>
          <a:noFill/>
          <a:ln cap="flat" cmpd="sng" w="28575">
            <a:solidFill>
              <a:schemeClr val="dk1"/>
            </a:solidFill>
            <a:prstDash val="solid"/>
            <a:round/>
            <a:headEnd len="med" w="med" type="none"/>
            <a:tailEnd len="med" w="med" type="none"/>
          </a:ln>
        </p:spPr>
      </p:sp>
      <p:sp>
        <p:nvSpPr>
          <p:cNvPr id="1378" name="Google Shape;1378;p86"/>
          <p:cNvSpPr txBox="1"/>
          <p:nvPr/>
        </p:nvSpPr>
        <p:spPr>
          <a:xfrm>
            <a:off x="497275" y="2070775"/>
            <a:ext cx="620700" cy="282300"/>
          </a:xfrm>
          <a:prstGeom prst="rect">
            <a:avLst/>
          </a:prstGeom>
          <a:solidFill>
            <a:srgbClr val="F3EEFB"/>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384" name="Google Shape;1384;p8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area of each triangle</a:t>
            </a:r>
            <a:r>
              <a:rPr lang="en-GB" sz="1800"/>
              <a:t>, to 1 decimal place</a:t>
            </a:r>
            <a:r>
              <a:rPr lang="en-GB" sz="1800"/>
              <a:t>.</a:t>
            </a:r>
            <a:endParaRPr sz="1800"/>
          </a:p>
        </p:txBody>
      </p:sp>
      <p:sp>
        <p:nvSpPr>
          <p:cNvPr id="1385" name="Google Shape;1385;p87"/>
          <p:cNvSpPr txBox="1"/>
          <p:nvPr>
            <p:ph idx="1" type="body"/>
          </p:nvPr>
        </p:nvSpPr>
        <p:spPr>
          <a:xfrm>
            <a:off x="324000" y="11379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cxnSp>
        <p:nvCxnSpPr>
          <p:cNvPr id="1386" name="Google Shape;1386;p87"/>
          <p:cNvCxnSpPr/>
          <p:nvPr/>
        </p:nvCxnSpPr>
        <p:spPr>
          <a:xfrm>
            <a:off x="901900" y="2472500"/>
            <a:ext cx="147600" cy="47100"/>
          </a:xfrm>
          <a:prstGeom prst="straightConnector1">
            <a:avLst/>
          </a:prstGeom>
          <a:noFill/>
          <a:ln cap="flat" cmpd="sng" w="28575">
            <a:solidFill>
              <a:schemeClr val="dk1"/>
            </a:solidFill>
            <a:prstDash val="solid"/>
            <a:round/>
            <a:headEnd len="med" w="med" type="none"/>
            <a:tailEnd len="med" w="med" type="none"/>
          </a:ln>
        </p:spPr>
      </p:cxnSp>
      <p:cxnSp>
        <p:nvCxnSpPr>
          <p:cNvPr id="1387" name="Google Shape;1387;p87"/>
          <p:cNvCxnSpPr/>
          <p:nvPr/>
        </p:nvCxnSpPr>
        <p:spPr>
          <a:xfrm flipH="1">
            <a:off x="1510425" y="2472500"/>
            <a:ext cx="147600" cy="47100"/>
          </a:xfrm>
          <a:prstGeom prst="straightConnector1">
            <a:avLst/>
          </a:prstGeom>
          <a:noFill/>
          <a:ln cap="flat" cmpd="sng" w="28575">
            <a:solidFill>
              <a:schemeClr val="dk1"/>
            </a:solidFill>
            <a:prstDash val="solid"/>
            <a:round/>
            <a:headEnd len="med" w="med" type="none"/>
            <a:tailEnd len="med" w="med" type="none"/>
          </a:ln>
        </p:spPr>
      </p:cxnSp>
      <p:sp>
        <p:nvSpPr>
          <p:cNvPr id="1388" name="Google Shape;1388;p87"/>
          <p:cNvSpPr/>
          <p:nvPr/>
        </p:nvSpPr>
        <p:spPr>
          <a:xfrm>
            <a:off x="768787" y="853459"/>
            <a:ext cx="1046400" cy="1046400"/>
          </a:xfrm>
          <a:prstGeom prst="arc">
            <a:avLst>
              <a:gd fmla="val 4525778" name="adj1"/>
              <a:gd fmla="val 6343938"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89" name="Google Shape;1389;p87"/>
          <p:cNvCxnSpPr/>
          <p:nvPr/>
        </p:nvCxnSpPr>
        <p:spPr>
          <a:xfrm>
            <a:off x="1441350" y="1325850"/>
            <a:ext cx="658500" cy="2322000"/>
          </a:xfrm>
          <a:prstGeom prst="straightConnector1">
            <a:avLst/>
          </a:prstGeom>
          <a:noFill/>
          <a:ln cap="flat" cmpd="sng" w="28575">
            <a:solidFill>
              <a:schemeClr val="dk1"/>
            </a:solidFill>
            <a:prstDash val="solid"/>
            <a:round/>
            <a:headEnd len="med" w="med" type="triangle"/>
            <a:tailEnd len="med" w="med" type="triangle"/>
          </a:ln>
        </p:spPr>
      </p:cxnSp>
      <p:sp>
        <p:nvSpPr>
          <p:cNvPr id="1390" name="Google Shape;1390;p87"/>
          <p:cNvSpPr txBox="1"/>
          <p:nvPr>
            <p:ph idx="1" type="body"/>
          </p:nvPr>
        </p:nvSpPr>
        <p:spPr>
          <a:xfrm>
            <a:off x="1852563" y="2160002"/>
            <a:ext cx="685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12 cm</a:t>
            </a:r>
            <a:endParaRPr sz="1800"/>
          </a:p>
        </p:txBody>
      </p:sp>
      <p:sp>
        <p:nvSpPr>
          <p:cNvPr id="1391" name="Google Shape;1391;p87"/>
          <p:cNvSpPr txBox="1"/>
          <p:nvPr/>
        </p:nvSpPr>
        <p:spPr>
          <a:xfrm>
            <a:off x="1114120" y="1994708"/>
            <a:ext cx="7173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30°</a:t>
            </a:r>
            <a:endParaRPr sz="1800">
              <a:solidFill>
                <a:srgbClr val="000000"/>
              </a:solidFill>
              <a:latin typeface="Lexend"/>
              <a:ea typeface="Lexend"/>
              <a:cs typeface="Lexend"/>
              <a:sym typeface="Lexend"/>
            </a:endParaRPr>
          </a:p>
        </p:txBody>
      </p:sp>
      <p:cxnSp>
        <p:nvCxnSpPr>
          <p:cNvPr id="1392" name="Google Shape;1392;p87"/>
          <p:cNvCxnSpPr>
            <a:stCxn id="1393" idx="4"/>
          </p:cNvCxnSpPr>
          <p:nvPr/>
        </p:nvCxnSpPr>
        <p:spPr>
          <a:xfrm rot="10800000">
            <a:off x="718625" y="3404925"/>
            <a:ext cx="1209600" cy="281700"/>
          </a:xfrm>
          <a:prstGeom prst="straightConnector1">
            <a:avLst/>
          </a:prstGeom>
          <a:noFill/>
          <a:ln cap="flat" cmpd="sng" w="28575">
            <a:solidFill>
              <a:schemeClr val="dk2"/>
            </a:solidFill>
            <a:prstDash val="lgDash"/>
            <a:round/>
            <a:headEnd len="med" w="med" type="none"/>
            <a:tailEnd len="med" w="med" type="none"/>
          </a:ln>
        </p:spPr>
      </p:cxnSp>
      <p:sp>
        <p:nvSpPr>
          <p:cNvPr id="1394" name="Google Shape;1394;p87"/>
          <p:cNvSpPr/>
          <p:nvPr/>
        </p:nvSpPr>
        <p:spPr>
          <a:xfrm rot="-4545965">
            <a:off x="738378" y="3274646"/>
            <a:ext cx="147632" cy="147632"/>
          </a:xfrm>
          <a:prstGeom prst="rect">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95" name="Google Shape;1395;p87"/>
          <p:cNvCxnSpPr/>
          <p:nvPr/>
        </p:nvCxnSpPr>
        <p:spPr>
          <a:xfrm rot="10800000">
            <a:off x="678800" y="3500800"/>
            <a:ext cx="1230600" cy="287700"/>
          </a:xfrm>
          <a:prstGeom prst="straightConnector1">
            <a:avLst/>
          </a:prstGeom>
          <a:noFill/>
          <a:ln cap="flat" cmpd="sng" w="28575">
            <a:solidFill>
              <a:schemeClr val="dk1"/>
            </a:solidFill>
            <a:prstDash val="solid"/>
            <a:round/>
            <a:headEnd len="med" w="med" type="triangle"/>
            <a:tailEnd len="med" w="med" type="triangle"/>
          </a:ln>
        </p:spPr>
      </p:cxnSp>
      <p:sp>
        <p:nvSpPr>
          <p:cNvPr id="1396" name="Google Shape;1396;p87"/>
          <p:cNvSpPr txBox="1"/>
          <p:nvPr/>
        </p:nvSpPr>
        <p:spPr>
          <a:xfrm>
            <a:off x="820650" y="3712000"/>
            <a:ext cx="620700" cy="282300"/>
          </a:xfrm>
          <a:prstGeom prst="rect">
            <a:avLst/>
          </a:prstGeom>
          <a:solidFill>
            <a:srgbClr val="F3EEFB"/>
          </a:solid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397" name="Google Shape;1397;p87"/>
          <p:cNvSpPr txBox="1"/>
          <p:nvPr/>
        </p:nvSpPr>
        <p:spPr>
          <a:xfrm>
            <a:off x="3850061" y="14611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12 × sin(30°) = 6</a:t>
            </a:r>
            <a:endParaRPr sz="1800">
              <a:solidFill>
                <a:srgbClr val="000000"/>
              </a:solidFill>
              <a:latin typeface="Times New Roman"/>
              <a:ea typeface="Times New Roman"/>
              <a:cs typeface="Times New Roman"/>
              <a:sym typeface="Times New Roman"/>
            </a:endParaRPr>
          </a:p>
        </p:txBody>
      </p:sp>
      <p:sp>
        <p:nvSpPr>
          <p:cNvPr id="1398" name="Google Shape;1398;p87"/>
          <p:cNvSpPr txBox="1"/>
          <p:nvPr/>
        </p:nvSpPr>
        <p:spPr>
          <a:xfrm>
            <a:off x="3823215" y="19293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 12 × </a:t>
            </a:r>
            <a:r>
              <a:rPr lang="en-GB" sz="1800">
                <a:latin typeface="Times New Roman"/>
                <a:ea typeface="Times New Roman"/>
                <a:cs typeface="Times New Roman"/>
                <a:sym typeface="Times New Roman"/>
              </a:rPr>
              <a:t>6 </a:t>
            </a:r>
            <a:r>
              <a:rPr lang="en-GB" sz="1800">
                <a:latin typeface="Times New Roman"/>
                <a:ea typeface="Times New Roman"/>
                <a:cs typeface="Times New Roman"/>
                <a:sym typeface="Times New Roman"/>
              </a:rPr>
              <a:t>= 36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1399" name="Google Shape;1399;p87" title="one half"/>
          <p:cNvPicPr preferRelativeResize="0"/>
          <p:nvPr/>
        </p:nvPicPr>
        <p:blipFill>
          <a:blip r:embed="rId3">
            <a:alphaModFix/>
          </a:blip>
          <a:stretch>
            <a:fillRect/>
          </a:stretch>
        </p:blipFill>
        <p:spPr>
          <a:xfrm>
            <a:off x="4600325" y="1860797"/>
            <a:ext cx="141600" cy="464269"/>
          </a:xfrm>
          <a:prstGeom prst="rect">
            <a:avLst/>
          </a:prstGeom>
          <a:noFill/>
          <a:ln>
            <a:noFill/>
          </a:ln>
        </p:spPr>
      </p:pic>
      <p:sp>
        <p:nvSpPr>
          <p:cNvPr id="1393" name="Google Shape;1393;p87"/>
          <p:cNvSpPr/>
          <p:nvPr/>
        </p:nvSpPr>
        <p:spPr>
          <a:xfrm>
            <a:off x="640325" y="1372425"/>
            <a:ext cx="1287900" cy="2314200"/>
          </a:xfrm>
          <a:prstGeom prst="triangle">
            <a:avLst>
              <a:gd fmla="val 50000"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405" name="Google Shape;1405;p88"/>
          <p:cNvSpPr txBox="1"/>
          <p:nvPr>
            <p:ph idx="1" type="body"/>
          </p:nvPr>
        </p:nvSpPr>
        <p:spPr>
          <a:xfrm>
            <a:off x="324000" y="759300"/>
            <a:ext cx="5283000" cy="657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Calculate the area of this rhombus</a:t>
            </a:r>
            <a:r>
              <a:rPr lang="en-GB" sz="1800"/>
              <a:t>, to 1 decimal place</a:t>
            </a:r>
            <a:r>
              <a:rPr lang="en-GB" sz="1800"/>
              <a:t>.</a:t>
            </a:r>
            <a:endParaRPr sz="1800"/>
          </a:p>
        </p:txBody>
      </p:sp>
      <p:sp>
        <p:nvSpPr>
          <p:cNvPr id="1406" name="Google Shape;1406;p88"/>
          <p:cNvSpPr/>
          <p:nvPr/>
        </p:nvSpPr>
        <p:spPr>
          <a:xfrm>
            <a:off x="5447925" y="897600"/>
            <a:ext cx="1803000" cy="1262400"/>
          </a:xfrm>
          <a:prstGeom prst="parallelogram">
            <a:avLst>
              <a:gd fmla="val 34977"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07" name="Google Shape;1407;p88"/>
          <p:cNvCxnSpPr/>
          <p:nvPr/>
        </p:nvCxnSpPr>
        <p:spPr>
          <a:xfrm flipH="1" rot="10800000">
            <a:off x="6939935" y="897600"/>
            <a:ext cx="479400" cy="1266000"/>
          </a:xfrm>
          <a:prstGeom prst="straightConnector1">
            <a:avLst/>
          </a:prstGeom>
          <a:noFill/>
          <a:ln cap="flat" cmpd="sng" w="28575">
            <a:solidFill>
              <a:schemeClr val="dk1"/>
            </a:solidFill>
            <a:prstDash val="solid"/>
            <a:round/>
            <a:headEnd len="med" w="med" type="triangle"/>
            <a:tailEnd len="med" w="med" type="triangle"/>
          </a:ln>
        </p:spPr>
      </p:cxnSp>
      <p:sp>
        <p:nvSpPr>
          <p:cNvPr id="1408" name="Google Shape;1408;p88"/>
          <p:cNvSpPr txBox="1"/>
          <p:nvPr/>
        </p:nvSpPr>
        <p:spPr>
          <a:xfrm>
            <a:off x="7250925" y="14168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09" name="Google Shape;1409;p88"/>
          <p:cNvSpPr/>
          <p:nvPr/>
        </p:nvSpPr>
        <p:spPr>
          <a:xfrm>
            <a:off x="5144633" y="1853250"/>
            <a:ext cx="613500" cy="613500"/>
          </a:xfrm>
          <a:prstGeom prst="arc">
            <a:avLst>
              <a:gd fmla="val 1730025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0" name="Google Shape;1410;p88"/>
          <p:cNvSpPr txBox="1"/>
          <p:nvPr/>
        </p:nvSpPr>
        <p:spPr>
          <a:xfrm>
            <a:off x="5720246" y="170890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73</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411" name="Google Shape;1411;p88"/>
          <p:cNvCxnSpPr>
            <a:stCxn id="1406" idx="0"/>
            <a:endCxn id="1406" idx="4"/>
          </p:cNvCxnSpPr>
          <p:nvPr/>
        </p:nvCxnSpPr>
        <p:spPr>
          <a:xfrm>
            <a:off x="6349425" y="897600"/>
            <a:ext cx="0" cy="1262400"/>
          </a:xfrm>
          <a:prstGeom prst="straightConnector1">
            <a:avLst/>
          </a:prstGeom>
          <a:noFill/>
          <a:ln cap="flat" cmpd="sng" w="28575">
            <a:solidFill>
              <a:schemeClr val="dk2"/>
            </a:solidFill>
            <a:prstDash val="solid"/>
            <a:round/>
            <a:headEnd len="med" w="med" type="triangle"/>
            <a:tailEnd len="med" w="med" type="triangle"/>
          </a:ln>
        </p:spPr>
      </p:cxnSp>
      <p:sp>
        <p:nvSpPr>
          <p:cNvPr id="1412" name="Google Shape;1412;p88"/>
          <p:cNvSpPr txBox="1"/>
          <p:nvPr/>
        </p:nvSpPr>
        <p:spPr>
          <a:xfrm>
            <a:off x="6389672" y="1327763"/>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latin typeface="Lexend"/>
                <a:ea typeface="Lexend"/>
                <a:cs typeface="Lexend"/>
                <a:sym typeface="Lexend"/>
              </a:rPr>
              <a:t>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sp>
        <p:nvSpPr>
          <p:cNvPr id="1413" name="Google Shape;1413;p88"/>
          <p:cNvSpPr/>
          <p:nvPr/>
        </p:nvSpPr>
        <p:spPr>
          <a:xfrm flipH="1">
            <a:off x="1257075" y="1657800"/>
            <a:ext cx="447300" cy="12660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4" name="Google Shape;1414;p88"/>
          <p:cNvSpPr/>
          <p:nvPr/>
        </p:nvSpPr>
        <p:spPr>
          <a:xfrm>
            <a:off x="1043243" y="2719527"/>
            <a:ext cx="408900" cy="408900"/>
          </a:xfrm>
          <a:prstGeom prst="arc">
            <a:avLst>
              <a:gd fmla="val 17300254"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15" name="Google Shape;1415;p88"/>
          <p:cNvSpPr txBox="1"/>
          <p:nvPr/>
        </p:nvSpPr>
        <p:spPr>
          <a:xfrm>
            <a:off x="1285858" y="2989881"/>
            <a:ext cx="5199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73</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416" name="Google Shape;1416;p88"/>
          <p:cNvCxnSpPr/>
          <p:nvPr/>
        </p:nvCxnSpPr>
        <p:spPr>
          <a:xfrm flipH="1" rot="10800000">
            <a:off x="1153000" y="1659500"/>
            <a:ext cx="445800" cy="1262400"/>
          </a:xfrm>
          <a:prstGeom prst="straightConnector1">
            <a:avLst/>
          </a:prstGeom>
          <a:noFill/>
          <a:ln cap="flat" cmpd="sng" w="28575">
            <a:solidFill>
              <a:schemeClr val="dk1"/>
            </a:solidFill>
            <a:prstDash val="solid"/>
            <a:round/>
            <a:headEnd len="med" w="med" type="triangle"/>
            <a:tailEnd len="med" w="med" type="triangle"/>
          </a:ln>
        </p:spPr>
      </p:cxnSp>
      <p:sp>
        <p:nvSpPr>
          <p:cNvPr id="1417" name="Google Shape;1417;p88"/>
          <p:cNvSpPr txBox="1"/>
          <p:nvPr/>
        </p:nvSpPr>
        <p:spPr>
          <a:xfrm>
            <a:off x="744679" y="2178838"/>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7</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418" name="Google Shape;1418;p88"/>
          <p:cNvCxnSpPr/>
          <p:nvPr/>
        </p:nvCxnSpPr>
        <p:spPr>
          <a:xfrm>
            <a:off x="1824379" y="1659600"/>
            <a:ext cx="0" cy="1262400"/>
          </a:xfrm>
          <a:prstGeom prst="straightConnector1">
            <a:avLst/>
          </a:prstGeom>
          <a:noFill/>
          <a:ln cap="flat" cmpd="sng" w="28575">
            <a:solidFill>
              <a:schemeClr val="dk1"/>
            </a:solidFill>
            <a:prstDash val="solid"/>
            <a:round/>
            <a:headEnd len="med" w="med" type="triangle"/>
            <a:tailEnd len="med" w="med" type="triangle"/>
          </a:ln>
        </p:spPr>
      </p:cxnSp>
      <p:sp>
        <p:nvSpPr>
          <p:cNvPr id="1419" name="Google Shape;1419;p88"/>
          <p:cNvSpPr txBox="1"/>
          <p:nvPr/>
        </p:nvSpPr>
        <p:spPr>
          <a:xfrm>
            <a:off x="1864626" y="2089763"/>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latin typeface="Lexend"/>
                <a:ea typeface="Lexend"/>
                <a:cs typeface="Lexend"/>
                <a:sym typeface="Lexend"/>
              </a:rPr>
              <a:t>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cxnSp>
        <p:nvCxnSpPr>
          <p:cNvPr id="1420" name="Google Shape;1420;p88"/>
          <p:cNvCxnSpPr/>
          <p:nvPr/>
        </p:nvCxnSpPr>
        <p:spPr>
          <a:xfrm rot="10800000">
            <a:off x="1339000" y="2846725"/>
            <a:ext cx="73800" cy="154500"/>
          </a:xfrm>
          <a:prstGeom prst="straightConnector1">
            <a:avLst/>
          </a:prstGeom>
          <a:noFill/>
          <a:ln cap="flat" cmpd="sng" w="38100">
            <a:solidFill>
              <a:schemeClr val="dk1"/>
            </a:solidFill>
            <a:prstDash val="solid"/>
            <a:round/>
            <a:headEnd len="med" w="med" type="none"/>
            <a:tailEnd len="med" w="med" type="none"/>
          </a:ln>
        </p:spPr>
      </p:cxnSp>
      <p:sp>
        <p:nvSpPr>
          <p:cNvPr id="1421" name="Google Shape;1421;p88"/>
          <p:cNvSpPr txBox="1"/>
          <p:nvPr/>
        </p:nvSpPr>
        <p:spPr>
          <a:xfrm>
            <a:off x="3011861" y="25279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7 × sin(73°) = 6.694…</a:t>
            </a:r>
            <a:endParaRPr sz="1800">
              <a:solidFill>
                <a:srgbClr val="000000"/>
              </a:solidFill>
              <a:latin typeface="Times New Roman"/>
              <a:ea typeface="Times New Roman"/>
              <a:cs typeface="Times New Roman"/>
              <a:sym typeface="Times New Roman"/>
            </a:endParaRPr>
          </a:p>
        </p:txBody>
      </p:sp>
      <p:sp>
        <p:nvSpPr>
          <p:cNvPr id="1422" name="Google Shape;1422;p88"/>
          <p:cNvSpPr txBox="1"/>
          <p:nvPr/>
        </p:nvSpPr>
        <p:spPr>
          <a:xfrm>
            <a:off x="2985015" y="29961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7</a:t>
            </a:r>
            <a:r>
              <a:rPr lang="en-GB" sz="1800">
                <a:solidFill>
                  <a:schemeClr val="dk1"/>
                </a:solidFill>
                <a:latin typeface="Times New Roman"/>
                <a:ea typeface="Times New Roman"/>
                <a:cs typeface="Times New Roman"/>
                <a:sym typeface="Times New Roman"/>
              </a:rPr>
              <a:t> × </a:t>
            </a:r>
            <a:r>
              <a:rPr lang="en-GB" sz="1800">
                <a:latin typeface="Times New Roman"/>
                <a:ea typeface="Times New Roman"/>
                <a:cs typeface="Times New Roman"/>
                <a:sym typeface="Times New Roman"/>
              </a:rPr>
              <a:t>6.694… = 46.9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428" name="Google Shape;1428;p89"/>
          <p:cNvSpPr txBox="1"/>
          <p:nvPr>
            <p:ph idx="1" type="body"/>
          </p:nvPr>
        </p:nvSpPr>
        <p:spPr>
          <a:xfrm>
            <a:off x="324000" y="835500"/>
            <a:ext cx="4820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 Calculate the area of this parallelogram</a:t>
            </a:r>
            <a:r>
              <a:rPr lang="en-GB" sz="1800"/>
              <a:t>, to 1 decimal place</a:t>
            </a:r>
            <a:r>
              <a:rPr lang="en-GB" sz="1800"/>
              <a:t>, given that its perimeter is 54 cm.</a:t>
            </a:r>
            <a:endParaRPr sz="1800"/>
          </a:p>
        </p:txBody>
      </p:sp>
      <p:sp>
        <p:nvSpPr>
          <p:cNvPr id="1429" name="Google Shape;1429;p89"/>
          <p:cNvSpPr/>
          <p:nvPr/>
        </p:nvSpPr>
        <p:spPr>
          <a:xfrm>
            <a:off x="5447925" y="913075"/>
            <a:ext cx="2463600" cy="1018200"/>
          </a:xfrm>
          <a:prstGeom prst="parallelogram">
            <a:avLst>
              <a:gd fmla="val 52988" name="adj"/>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30" name="Google Shape;1430;p89"/>
          <p:cNvCxnSpPr/>
          <p:nvPr/>
        </p:nvCxnSpPr>
        <p:spPr>
          <a:xfrm flipH="1" rot="10800000">
            <a:off x="7519450" y="898050"/>
            <a:ext cx="546300" cy="1039200"/>
          </a:xfrm>
          <a:prstGeom prst="straightConnector1">
            <a:avLst/>
          </a:prstGeom>
          <a:noFill/>
          <a:ln cap="flat" cmpd="sng" w="28575">
            <a:solidFill>
              <a:schemeClr val="dk1"/>
            </a:solidFill>
            <a:prstDash val="solid"/>
            <a:round/>
            <a:headEnd len="med" w="med" type="triangle"/>
            <a:tailEnd len="med" w="med" type="triangle"/>
          </a:ln>
        </p:spPr>
      </p:cxnSp>
      <p:sp>
        <p:nvSpPr>
          <p:cNvPr id="1431" name="Google Shape;1431;p89"/>
          <p:cNvSpPr txBox="1"/>
          <p:nvPr/>
        </p:nvSpPr>
        <p:spPr>
          <a:xfrm>
            <a:off x="7868737" y="1340638"/>
            <a:ext cx="10200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11</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32" name="Google Shape;1432;p89"/>
          <p:cNvSpPr/>
          <p:nvPr/>
        </p:nvSpPr>
        <p:spPr>
          <a:xfrm>
            <a:off x="5144633" y="1624650"/>
            <a:ext cx="613500" cy="613500"/>
          </a:xfrm>
          <a:prstGeom prst="arc">
            <a:avLst>
              <a:gd fmla="val 17925988" name="adj1"/>
              <a:gd fmla="val 0"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3" name="Google Shape;1433;p89"/>
          <p:cNvSpPr txBox="1"/>
          <p:nvPr/>
        </p:nvSpPr>
        <p:spPr>
          <a:xfrm>
            <a:off x="5796446" y="155650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66</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1434" name="Google Shape;1434;p89"/>
          <p:cNvSpPr txBox="1"/>
          <p:nvPr/>
        </p:nvSpPr>
        <p:spPr>
          <a:xfrm>
            <a:off x="873890" y="234105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Perimeter</a:t>
            </a:r>
            <a:r>
              <a:rPr lang="en-GB" sz="1800">
                <a:latin typeface="Lexend"/>
                <a:ea typeface="Lexend"/>
                <a:cs typeface="Lexend"/>
                <a:sym typeface="Lexend"/>
              </a:rPr>
              <a:t>:</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2</a:t>
            </a:r>
            <a:r>
              <a:rPr i="1" lang="en-GB" sz="1800">
                <a:solidFill>
                  <a:schemeClr val="dk1"/>
                </a:solidFill>
                <a:latin typeface="Times New Roman"/>
                <a:ea typeface="Times New Roman"/>
                <a:cs typeface="Times New Roman"/>
                <a:sym typeface="Times New Roman"/>
              </a:rPr>
              <a:t>b</a:t>
            </a:r>
            <a:r>
              <a:rPr lang="en-GB" sz="1800">
                <a:solidFill>
                  <a:schemeClr val="dk1"/>
                </a:solidFill>
                <a:latin typeface="Times New Roman"/>
                <a:ea typeface="Times New Roman"/>
                <a:cs typeface="Times New Roman"/>
                <a:sym typeface="Times New Roman"/>
              </a:rPr>
              <a:t> + 22 = 54</a:t>
            </a:r>
            <a:endParaRPr baseline="30000" sz="1800">
              <a:solidFill>
                <a:srgbClr val="000000"/>
              </a:solidFill>
              <a:latin typeface="Times New Roman"/>
              <a:ea typeface="Times New Roman"/>
              <a:cs typeface="Times New Roman"/>
              <a:sym typeface="Times New Roman"/>
            </a:endParaRPr>
          </a:p>
        </p:txBody>
      </p:sp>
      <p:cxnSp>
        <p:nvCxnSpPr>
          <p:cNvPr id="1435" name="Google Shape;1435;p89"/>
          <p:cNvCxnSpPr/>
          <p:nvPr/>
        </p:nvCxnSpPr>
        <p:spPr>
          <a:xfrm>
            <a:off x="5447925" y="2056102"/>
            <a:ext cx="1903200" cy="0"/>
          </a:xfrm>
          <a:prstGeom prst="straightConnector1">
            <a:avLst/>
          </a:prstGeom>
          <a:noFill/>
          <a:ln cap="flat" cmpd="sng" w="28575">
            <a:solidFill>
              <a:schemeClr val="dk1"/>
            </a:solidFill>
            <a:prstDash val="solid"/>
            <a:round/>
            <a:headEnd len="med" w="med" type="triangle"/>
            <a:tailEnd len="med" w="med" type="triangle"/>
          </a:ln>
        </p:spPr>
      </p:cxnSp>
      <p:sp>
        <p:nvSpPr>
          <p:cNvPr id="1436" name="Google Shape;1436;p89"/>
          <p:cNvSpPr txBox="1"/>
          <p:nvPr/>
        </p:nvSpPr>
        <p:spPr>
          <a:xfrm>
            <a:off x="6161072" y="2040394"/>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b</a:t>
            </a:r>
            <a:r>
              <a:rPr lang="en-GB" sz="1800">
                <a:latin typeface="Lexend"/>
                <a:ea typeface="Lexend"/>
                <a:cs typeface="Lexend"/>
                <a:sym typeface="Lexend"/>
              </a:rPr>
              <a:t>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sp>
        <p:nvSpPr>
          <p:cNvPr id="1437" name="Google Shape;1437;p89"/>
          <p:cNvSpPr txBox="1"/>
          <p:nvPr/>
        </p:nvSpPr>
        <p:spPr>
          <a:xfrm>
            <a:off x="2519706" y="2706708"/>
            <a:ext cx="837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Times New Roman"/>
                <a:ea typeface="Times New Roman"/>
                <a:cs typeface="Times New Roman"/>
                <a:sym typeface="Times New Roman"/>
              </a:rPr>
              <a:t>2</a:t>
            </a:r>
            <a:r>
              <a:rPr i="1" lang="en-GB" sz="1800">
                <a:solidFill>
                  <a:schemeClr val="dk1"/>
                </a:solidFill>
                <a:latin typeface="Times New Roman"/>
                <a:ea typeface="Times New Roman"/>
                <a:cs typeface="Times New Roman"/>
                <a:sym typeface="Times New Roman"/>
              </a:rPr>
              <a:t>b</a:t>
            </a:r>
            <a:r>
              <a:rPr lang="en-GB" sz="1800">
                <a:solidFill>
                  <a:schemeClr val="dk1"/>
                </a:solidFill>
                <a:latin typeface="Times New Roman"/>
                <a:ea typeface="Times New Roman"/>
                <a:cs typeface="Times New Roman"/>
                <a:sym typeface="Times New Roman"/>
              </a:rPr>
              <a:t> = 32</a:t>
            </a:r>
            <a:endParaRPr baseline="30000" sz="1800">
              <a:solidFill>
                <a:srgbClr val="000000"/>
              </a:solidFill>
              <a:latin typeface="Times New Roman"/>
              <a:ea typeface="Times New Roman"/>
              <a:cs typeface="Times New Roman"/>
              <a:sym typeface="Times New Roman"/>
            </a:endParaRPr>
          </a:p>
        </p:txBody>
      </p:sp>
      <p:sp>
        <p:nvSpPr>
          <p:cNvPr id="1438" name="Google Shape;1438;p89"/>
          <p:cNvSpPr txBox="1"/>
          <p:nvPr/>
        </p:nvSpPr>
        <p:spPr>
          <a:xfrm>
            <a:off x="2638567" y="3074292"/>
            <a:ext cx="837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solidFill>
                  <a:schemeClr val="dk1"/>
                </a:solidFill>
                <a:latin typeface="Times New Roman"/>
                <a:ea typeface="Times New Roman"/>
                <a:cs typeface="Times New Roman"/>
                <a:sym typeface="Times New Roman"/>
              </a:rPr>
              <a:t>b</a:t>
            </a:r>
            <a:r>
              <a:rPr lang="en-GB" sz="1800">
                <a:solidFill>
                  <a:schemeClr val="dk1"/>
                </a:solidFill>
                <a:latin typeface="Times New Roman"/>
                <a:ea typeface="Times New Roman"/>
                <a:cs typeface="Times New Roman"/>
                <a:sym typeface="Times New Roman"/>
              </a:rPr>
              <a:t> = 16</a:t>
            </a:r>
            <a:endParaRPr baseline="30000" sz="1800">
              <a:solidFill>
                <a:srgbClr val="000000"/>
              </a:solidFill>
              <a:latin typeface="Times New Roman"/>
              <a:ea typeface="Times New Roman"/>
              <a:cs typeface="Times New Roman"/>
              <a:sym typeface="Times New Roman"/>
            </a:endParaRPr>
          </a:p>
        </p:txBody>
      </p:sp>
      <p:cxnSp>
        <p:nvCxnSpPr>
          <p:cNvPr id="1439" name="Google Shape;1439;p89"/>
          <p:cNvCxnSpPr/>
          <p:nvPr/>
        </p:nvCxnSpPr>
        <p:spPr>
          <a:xfrm rot="10800000">
            <a:off x="7371100" y="916275"/>
            <a:ext cx="0" cy="1026300"/>
          </a:xfrm>
          <a:prstGeom prst="straightConnector1">
            <a:avLst/>
          </a:prstGeom>
          <a:noFill/>
          <a:ln cap="flat" cmpd="sng" w="28575">
            <a:solidFill>
              <a:schemeClr val="dk2"/>
            </a:solidFill>
            <a:prstDash val="lgDash"/>
            <a:round/>
            <a:headEnd len="med" w="med" type="triangle"/>
            <a:tailEnd len="med" w="med" type="triangle"/>
          </a:ln>
        </p:spPr>
      </p:cxnSp>
      <p:sp>
        <p:nvSpPr>
          <p:cNvPr id="1440" name="Google Shape;1440;p89"/>
          <p:cNvSpPr txBox="1"/>
          <p:nvPr/>
        </p:nvSpPr>
        <p:spPr>
          <a:xfrm>
            <a:off x="6770672" y="1202194"/>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latin typeface="Lexend"/>
                <a:ea typeface="Lexend"/>
                <a:cs typeface="Lexend"/>
                <a:sym typeface="Lexend"/>
              </a:rPr>
              <a:t> </a:t>
            </a:r>
            <a:r>
              <a:rPr lang="en-GB" sz="1800">
                <a:solidFill>
                  <a:srgbClr val="000000"/>
                </a:solidFill>
                <a:latin typeface="Lexend"/>
                <a:ea typeface="Lexend"/>
                <a:cs typeface="Lexend"/>
                <a:sym typeface="Lexend"/>
              </a:rPr>
              <a:t>cm</a:t>
            </a:r>
            <a:endParaRPr sz="1800">
              <a:solidFill>
                <a:srgbClr val="000000"/>
              </a:solidFill>
              <a:latin typeface="Lexend"/>
              <a:ea typeface="Lexend"/>
              <a:cs typeface="Lexend"/>
              <a:sym typeface="Lexend"/>
            </a:endParaRPr>
          </a:p>
        </p:txBody>
      </p:sp>
      <p:sp>
        <p:nvSpPr>
          <p:cNvPr id="1441" name="Google Shape;1441;p89"/>
          <p:cNvSpPr txBox="1"/>
          <p:nvPr/>
        </p:nvSpPr>
        <p:spPr>
          <a:xfrm>
            <a:off x="4307261" y="25279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h</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11 × sin(66°) = 10.049…</a:t>
            </a:r>
            <a:endParaRPr sz="1800">
              <a:solidFill>
                <a:srgbClr val="000000"/>
              </a:solidFill>
              <a:latin typeface="Times New Roman"/>
              <a:ea typeface="Times New Roman"/>
              <a:cs typeface="Times New Roman"/>
              <a:sym typeface="Times New Roman"/>
            </a:endParaRPr>
          </a:p>
        </p:txBody>
      </p:sp>
      <p:sp>
        <p:nvSpPr>
          <p:cNvPr id="1442" name="Google Shape;1442;p89"/>
          <p:cNvSpPr txBox="1"/>
          <p:nvPr/>
        </p:nvSpPr>
        <p:spPr>
          <a:xfrm>
            <a:off x="4280415" y="2996100"/>
            <a:ext cx="40266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Area</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a:t>
            </a:r>
            <a:r>
              <a:rPr lang="en-GB" sz="1800">
                <a:solidFill>
                  <a:schemeClr val="dk1"/>
                </a:solidFill>
                <a:latin typeface="Times New Roman"/>
                <a:ea typeface="Times New Roman"/>
                <a:cs typeface="Times New Roman"/>
                <a:sym typeface="Times New Roman"/>
              </a:rPr>
              <a:t>16</a:t>
            </a:r>
            <a:r>
              <a:rPr lang="en-GB" sz="1800">
                <a:solidFill>
                  <a:schemeClr val="dk1"/>
                </a:solidFill>
                <a:latin typeface="Times New Roman"/>
                <a:ea typeface="Times New Roman"/>
                <a:cs typeface="Times New Roman"/>
                <a:sym typeface="Times New Roman"/>
              </a:rPr>
              <a:t> × </a:t>
            </a:r>
            <a:r>
              <a:rPr lang="en-GB" sz="1800">
                <a:latin typeface="Times New Roman"/>
                <a:ea typeface="Times New Roman"/>
                <a:cs typeface="Times New Roman"/>
                <a:sym typeface="Times New Roman"/>
              </a:rPr>
              <a:t>10.049</a:t>
            </a:r>
            <a:r>
              <a:rPr lang="en-GB" sz="1800">
                <a:latin typeface="Times New Roman"/>
                <a:ea typeface="Times New Roman"/>
                <a:cs typeface="Times New Roman"/>
                <a:sym typeface="Times New Roman"/>
              </a:rPr>
              <a:t>… = 160.8 cm</a:t>
            </a:r>
            <a:r>
              <a:rPr baseline="30000" lang="en-GB" sz="1800">
                <a:latin typeface="Times New Roman"/>
                <a:ea typeface="Times New Roman"/>
                <a:cs typeface="Times New Roman"/>
                <a:sym typeface="Times New Roman"/>
              </a:rPr>
              <a:t>2</a:t>
            </a:r>
            <a:endParaRPr baseline="30000" sz="1800">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448" name="Google Shape;1448;p90"/>
          <p:cNvSpPr txBox="1"/>
          <p:nvPr>
            <p:ph idx="1" type="body"/>
          </p:nvPr>
        </p:nvSpPr>
        <p:spPr>
          <a:xfrm>
            <a:off x="324000" y="759300"/>
            <a:ext cx="6658200" cy="445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 Calculate the area of this regular hexagon</a:t>
            </a:r>
            <a:r>
              <a:rPr lang="en-GB" sz="1800"/>
              <a:t>, to 1 decimal place</a:t>
            </a:r>
            <a:r>
              <a:rPr lang="en-GB" sz="1800"/>
              <a:t>.</a:t>
            </a:r>
            <a:endParaRPr sz="1800"/>
          </a:p>
        </p:txBody>
      </p:sp>
      <p:cxnSp>
        <p:nvCxnSpPr>
          <p:cNvPr id="1449" name="Google Shape;1449;p90"/>
          <p:cNvCxnSpPr/>
          <p:nvPr/>
        </p:nvCxnSpPr>
        <p:spPr>
          <a:xfrm rot="10800000">
            <a:off x="7846529" y="774093"/>
            <a:ext cx="282600" cy="498900"/>
          </a:xfrm>
          <a:prstGeom prst="straightConnector1">
            <a:avLst/>
          </a:prstGeom>
          <a:noFill/>
          <a:ln cap="flat" cmpd="sng" w="28575">
            <a:solidFill>
              <a:schemeClr val="dk1"/>
            </a:solidFill>
            <a:prstDash val="solid"/>
            <a:round/>
            <a:headEnd len="med" w="med" type="triangle"/>
            <a:tailEnd len="med" w="med" type="triangle"/>
          </a:ln>
        </p:spPr>
      </p:cxnSp>
      <p:sp>
        <p:nvSpPr>
          <p:cNvPr id="1450" name="Google Shape;1450;p90"/>
          <p:cNvSpPr txBox="1"/>
          <p:nvPr/>
        </p:nvSpPr>
        <p:spPr>
          <a:xfrm>
            <a:off x="8060303" y="849550"/>
            <a:ext cx="6993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pic>
        <p:nvPicPr>
          <p:cNvPr id="1451" name="Google Shape;1451;p90"/>
          <p:cNvPicPr preferRelativeResize="0"/>
          <p:nvPr/>
        </p:nvPicPr>
        <p:blipFill>
          <a:blip r:embed="rId3">
            <a:alphaModFix/>
          </a:blip>
          <a:stretch>
            <a:fillRect/>
          </a:stretch>
        </p:blipFill>
        <p:spPr>
          <a:xfrm>
            <a:off x="6754050" y="665575"/>
            <a:ext cx="1457127" cy="1330562"/>
          </a:xfrm>
          <a:prstGeom prst="rect">
            <a:avLst/>
          </a:prstGeom>
          <a:noFill/>
          <a:ln>
            <a:noFill/>
          </a:ln>
        </p:spPr>
      </p:pic>
      <p:sp>
        <p:nvSpPr>
          <p:cNvPr id="1452" name="Google Shape;1452;p90"/>
          <p:cNvSpPr txBox="1"/>
          <p:nvPr>
            <p:ph idx="1" type="body"/>
          </p:nvPr>
        </p:nvSpPr>
        <p:spPr>
          <a:xfrm>
            <a:off x="324000" y="1521300"/>
            <a:ext cx="2130300" cy="445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 </a:t>
            </a:r>
            <a:r>
              <a:rPr lang="en-GB" sz="2000">
                <a:latin typeface="Kalam"/>
                <a:ea typeface="Kalam"/>
                <a:cs typeface="Kalam"/>
                <a:sym typeface="Kalam"/>
              </a:rPr>
              <a:t>possible</a:t>
            </a:r>
            <a:r>
              <a:rPr lang="en-GB" sz="2000">
                <a:latin typeface="Kalam"/>
                <a:ea typeface="Kalam"/>
                <a:cs typeface="Kalam"/>
                <a:sym typeface="Kalam"/>
              </a:rPr>
              <a:t> method:</a:t>
            </a:r>
            <a:endParaRPr sz="2000">
              <a:latin typeface="Kalam"/>
              <a:ea typeface="Kalam"/>
              <a:cs typeface="Kalam"/>
              <a:sym typeface="Kalam"/>
            </a:endParaRPr>
          </a:p>
        </p:txBody>
      </p:sp>
      <p:pic>
        <p:nvPicPr>
          <p:cNvPr id="1453" name="Google Shape;1453;p90"/>
          <p:cNvPicPr preferRelativeResize="0"/>
          <p:nvPr/>
        </p:nvPicPr>
        <p:blipFill>
          <a:blip r:embed="rId3">
            <a:alphaModFix/>
          </a:blip>
          <a:stretch>
            <a:fillRect/>
          </a:stretch>
        </p:blipFill>
        <p:spPr>
          <a:xfrm>
            <a:off x="1010600" y="1966800"/>
            <a:ext cx="2335375" cy="2132526"/>
          </a:xfrm>
          <a:prstGeom prst="rect">
            <a:avLst/>
          </a:prstGeom>
          <a:noFill/>
          <a:ln>
            <a:noFill/>
          </a:ln>
        </p:spPr>
      </p:pic>
      <p:sp>
        <p:nvSpPr>
          <p:cNvPr id="1454" name="Google Shape;1454;p90"/>
          <p:cNvSpPr txBox="1"/>
          <p:nvPr/>
        </p:nvSpPr>
        <p:spPr>
          <a:xfrm>
            <a:off x="2294138" y="2505660"/>
            <a:ext cx="746400" cy="321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55" name="Google Shape;1455;p90"/>
          <p:cNvSpPr/>
          <p:nvPr/>
        </p:nvSpPr>
        <p:spPr>
          <a:xfrm>
            <a:off x="1160250" y="2190750"/>
            <a:ext cx="1955400" cy="16836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6" name="Google Shape;1456;p90"/>
          <p:cNvSpPr/>
          <p:nvPr/>
        </p:nvSpPr>
        <p:spPr>
          <a:xfrm>
            <a:off x="1166950" y="3042650"/>
            <a:ext cx="483000" cy="831600"/>
          </a:xfrm>
          <a:prstGeom prst="rtTriangl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7" name="Google Shape;1457;p90"/>
          <p:cNvSpPr/>
          <p:nvPr/>
        </p:nvSpPr>
        <p:spPr>
          <a:xfrm flipH="1" rot="10800000">
            <a:off x="1166950" y="2190750"/>
            <a:ext cx="483000" cy="831600"/>
          </a:xfrm>
          <a:prstGeom prst="rtTriangl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8" name="Google Shape;1458;p90"/>
          <p:cNvSpPr/>
          <p:nvPr/>
        </p:nvSpPr>
        <p:spPr>
          <a:xfrm flipH="1">
            <a:off x="2632650" y="3042700"/>
            <a:ext cx="483000" cy="831600"/>
          </a:xfrm>
          <a:prstGeom prst="rtTriangl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9" name="Google Shape;1459;p90"/>
          <p:cNvSpPr/>
          <p:nvPr/>
        </p:nvSpPr>
        <p:spPr>
          <a:xfrm rot="10800000">
            <a:off x="2632650" y="2190800"/>
            <a:ext cx="483000" cy="831600"/>
          </a:xfrm>
          <a:prstGeom prst="rtTriangl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60" name="Google Shape;1460;p90"/>
          <p:cNvCxnSpPr/>
          <p:nvPr/>
        </p:nvCxnSpPr>
        <p:spPr>
          <a:xfrm rot="10800000">
            <a:off x="2727140" y="2132585"/>
            <a:ext cx="453000" cy="799500"/>
          </a:xfrm>
          <a:prstGeom prst="straightConnector1">
            <a:avLst/>
          </a:prstGeom>
          <a:noFill/>
          <a:ln cap="flat" cmpd="sng" w="28575">
            <a:solidFill>
              <a:schemeClr val="accent3"/>
            </a:solidFill>
            <a:prstDash val="solid"/>
            <a:round/>
            <a:headEnd len="med" w="med" type="triangle"/>
            <a:tailEnd len="med" w="med" type="triangle"/>
          </a:ln>
        </p:spPr>
      </p:cxnSp>
      <p:sp>
        <p:nvSpPr>
          <p:cNvPr id="1461" name="Google Shape;1461;p90"/>
          <p:cNvSpPr/>
          <p:nvPr/>
        </p:nvSpPr>
        <p:spPr>
          <a:xfrm>
            <a:off x="4185950" y="1405425"/>
            <a:ext cx="483000" cy="831600"/>
          </a:xfrm>
          <a:prstGeom prst="rtTriangle">
            <a:avLst/>
          </a:prstGeom>
          <a:solidFill>
            <a:schemeClr val="dk2"/>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62" name="Google Shape;1462;p90"/>
          <p:cNvCxnSpPr/>
          <p:nvPr/>
        </p:nvCxnSpPr>
        <p:spPr>
          <a:xfrm>
            <a:off x="4187875" y="2332960"/>
            <a:ext cx="489600" cy="0"/>
          </a:xfrm>
          <a:prstGeom prst="straightConnector1">
            <a:avLst/>
          </a:prstGeom>
          <a:noFill/>
          <a:ln cap="flat" cmpd="sng" w="19050">
            <a:solidFill>
              <a:schemeClr val="dk1"/>
            </a:solidFill>
            <a:prstDash val="solid"/>
            <a:round/>
            <a:headEnd len="med" w="med" type="triangle"/>
            <a:tailEnd len="med" w="med" type="triangle"/>
          </a:ln>
        </p:spPr>
      </p:cxnSp>
      <p:cxnSp>
        <p:nvCxnSpPr>
          <p:cNvPr id="1463" name="Google Shape;1463;p90"/>
          <p:cNvCxnSpPr/>
          <p:nvPr/>
        </p:nvCxnSpPr>
        <p:spPr>
          <a:xfrm>
            <a:off x="4081990" y="1405425"/>
            <a:ext cx="0" cy="840300"/>
          </a:xfrm>
          <a:prstGeom prst="straightConnector1">
            <a:avLst/>
          </a:prstGeom>
          <a:noFill/>
          <a:ln cap="flat" cmpd="sng" w="19050">
            <a:solidFill>
              <a:schemeClr val="dk1"/>
            </a:solidFill>
            <a:prstDash val="solid"/>
            <a:round/>
            <a:headEnd len="med" w="med" type="triangle"/>
            <a:tailEnd len="med" w="med" type="triangle"/>
          </a:ln>
        </p:spPr>
      </p:cxnSp>
      <p:cxnSp>
        <p:nvCxnSpPr>
          <p:cNvPr id="1464" name="Google Shape;1464;p90"/>
          <p:cNvCxnSpPr/>
          <p:nvPr/>
        </p:nvCxnSpPr>
        <p:spPr>
          <a:xfrm>
            <a:off x="4267925" y="1349881"/>
            <a:ext cx="503400" cy="849000"/>
          </a:xfrm>
          <a:prstGeom prst="straightConnector1">
            <a:avLst/>
          </a:prstGeom>
          <a:noFill/>
          <a:ln cap="flat" cmpd="sng" w="19050">
            <a:solidFill>
              <a:schemeClr val="dk1"/>
            </a:solidFill>
            <a:prstDash val="solid"/>
            <a:round/>
            <a:headEnd len="med" w="med" type="triangle"/>
            <a:tailEnd len="med" w="med" type="triangle"/>
          </a:ln>
        </p:spPr>
      </p:cxnSp>
      <p:sp>
        <p:nvSpPr>
          <p:cNvPr id="1465" name="Google Shape;1465;p90"/>
          <p:cNvSpPr txBox="1"/>
          <p:nvPr/>
        </p:nvSpPr>
        <p:spPr>
          <a:xfrm>
            <a:off x="4559328" y="1550875"/>
            <a:ext cx="6993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66" name="Google Shape;1466;p90"/>
          <p:cNvSpPr txBox="1"/>
          <p:nvPr/>
        </p:nvSpPr>
        <p:spPr>
          <a:xfrm>
            <a:off x="4230348" y="2308136"/>
            <a:ext cx="6993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9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67" name="Google Shape;1467;p90"/>
          <p:cNvSpPr txBox="1"/>
          <p:nvPr/>
        </p:nvSpPr>
        <p:spPr>
          <a:xfrm>
            <a:off x="3544548" y="1698536"/>
            <a:ext cx="6993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900">
                <a:latin typeface="Times New Roman"/>
                <a:ea typeface="Times New Roman"/>
                <a:cs typeface="Times New Roman"/>
                <a:sym typeface="Times New Roman"/>
              </a:rPr>
              <a:t>y</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68" name="Google Shape;1468;p90"/>
          <p:cNvSpPr/>
          <p:nvPr/>
        </p:nvSpPr>
        <p:spPr>
          <a:xfrm>
            <a:off x="4436812" y="2004305"/>
            <a:ext cx="453000" cy="453000"/>
          </a:xfrm>
          <a:prstGeom prst="pie">
            <a:avLst>
              <a:gd fmla="val 10728558" name="adj1"/>
              <a:gd fmla="val 14376473"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9" name="Google Shape;1469;p90"/>
          <p:cNvSpPr txBox="1"/>
          <p:nvPr/>
        </p:nvSpPr>
        <p:spPr>
          <a:xfrm>
            <a:off x="4813596" y="2237003"/>
            <a:ext cx="5199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60</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470" name="Google Shape;1470;p90"/>
          <p:cNvCxnSpPr/>
          <p:nvPr/>
        </p:nvCxnSpPr>
        <p:spPr>
          <a:xfrm rot="10800000">
            <a:off x="4543050" y="2153625"/>
            <a:ext cx="227700" cy="145800"/>
          </a:xfrm>
          <a:prstGeom prst="straightConnector1">
            <a:avLst/>
          </a:prstGeom>
          <a:noFill/>
          <a:ln cap="flat" cmpd="sng" w="38100">
            <a:solidFill>
              <a:schemeClr val="dk1"/>
            </a:solidFill>
            <a:prstDash val="solid"/>
            <a:round/>
            <a:headEnd len="med" w="med" type="none"/>
            <a:tailEnd len="med" w="med" type="none"/>
          </a:ln>
        </p:spPr>
      </p:cxnSp>
      <p:sp>
        <p:nvSpPr>
          <p:cNvPr id="1471" name="Google Shape;1471;p90"/>
          <p:cNvSpPr/>
          <p:nvPr/>
        </p:nvSpPr>
        <p:spPr>
          <a:xfrm>
            <a:off x="4190067" y="2089127"/>
            <a:ext cx="145800" cy="145800"/>
          </a:xfrm>
          <a:prstGeom prst="rect">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2" name="Google Shape;1472;p90"/>
          <p:cNvSpPr/>
          <p:nvPr/>
        </p:nvSpPr>
        <p:spPr>
          <a:xfrm>
            <a:off x="1420737" y="3639622"/>
            <a:ext cx="453000" cy="453000"/>
          </a:xfrm>
          <a:prstGeom prst="pie">
            <a:avLst>
              <a:gd fmla="val 14346414" name="adj1"/>
              <a:gd fmla="val 559" name="adj2"/>
            </a:avLst>
          </a:prstGeom>
          <a:solidFill>
            <a:schemeClr val="lt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73" name="Google Shape;1473;p90"/>
          <p:cNvSpPr txBox="1"/>
          <p:nvPr/>
        </p:nvSpPr>
        <p:spPr>
          <a:xfrm>
            <a:off x="1804246" y="3425728"/>
            <a:ext cx="5199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12</a:t>
            </a:r>
            <a:r>
              <a:rPr lang="en-GB" sz="1800">
                <a:latin typeface="Lexend"/>
                <a:ea typeface="Lexend"/>
                <a:cs typeface="Lexend"/>
                <a:sym typeface="Lexend"/>
              </a:rPr>
              <a:t>0</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474" name="Google Shape;1474;p90"/>
          <p:cNvCxnSpPr/>
          <p:nvPr/>
        </p:nvCxnSpPr>
        <p:spPr>
          <a:xfrm rot="10800000">
            <a:off x="1160225" y="3983493"/>
            <a:ext cx="1967400" cy="0"/>
          </a:xfrm>
          <a:prstGeom prst="straightConnector1">
            <a:avLst/>
          </a:prstGeom>
          <a:noFill/>
          <a:ln cap="flat" cmpd="sng" w="28575">
            <a:solidFill>
              <a:schemeClr val="dk1"/>
            </a:solidFill>
            <a:prstDash val="solid"/>
            <a:round/>
            <a:headEnd len="med" w="med" type="triangle"/>
            <a:tailEnd len="med" w="med" type="triangle"/>
          </a:ln>
        </p:spPr>
      </p:cxnSp>
      <p:sp>
        <p:nvSpPr>
          <p:cNvPr id="1475" name="Google Shape;1475;p90"/>
          <p:cNvSpPr txBox="1"/>
          <p:nvPr/>
        </p:nvSpPr>
        <p:spPr>
          <a:xfrm>
            <a:off x="1574683" y="3971203"/>
            <a:ext cx="12600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(5 + 2</a:t>
            </a:r>
            <a:r>
              <a:rPr i="1" lang="en-GB" sz="2000">
                <a:latin typeface="Times New Roman"/>
                <a:ea typeface="Times New Roman"/>
                <a:cs typeface="Times New Roman"/>
                <a:sym typeface="Times New Roman"/>
              </a:rPr>
              <a:t>x</a:t>
            </a:r>
            <a:r>
              <a:rPr lang="en-GB" sz="2000">
                <a:latin typeface="Times New Roman"/>
                <a:ea typeface="Times New Roman"/>
                <a:cs typeface="Times New Roman"/>
                <a:sym typeface="Times New Roman"/>
              </a:rPr>
              <a:t>)</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cxnSp>
        <p:nvCxnSpPr>
          <p:cNvPr id="1476" name="Google Shape;1476;p90"/>
          <p:cNvCxnSpPr/>
          <p:nvPr/>
        </p:nvCxnSpPr>
        <p:spPr>
          <a:xfrm rot="10800000">
            <a:off x="1023922" y="2190800"/>
            <a:ext cx="0" cy="1682400"/>
          </a:xfrm>
          <a:prstGeom prst="straightConnector1">
            <a:avLst/>
          </a:prstGeom>
          <a:noFill/>
          <a:ln cap="flat" cmpd="sng" w="28575">
            <a:solidFill>
              <a:schemeClr val="dk1"/>
            </a:solidFill>
            <a:prstDash val="solid"/>
            <a:round/>
            <a:headEnd len="med" w="med" type="triangle"/>
            <a:tailEnd len="med" w="med" type="triangle"/>
          </a:ln>
        </p:spPr>
      </p:cxnSp>
      <p:sp>
        <p:nvSpPr>
          <p:cNvPr id="1477" name="Google Shape;1477;p90"/>
          <p:cNvSpPr txBox="1"/>
          <p:nvPr/>
        </p:nvSpPr>
        <p:spPr>
          <a:xfrm>
            <a:off x="344148" y="2841536"/>
            <a:ext cx="699300" cy="20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Times New Roman"/>
                <a:ea typeface="Times New Roman"/>
                <a:cs typeface="Times New Roman"/>
                <a:sym typeface="Times New Roman"/>
              </a:rPr>
              <a:t>2</a:t>
            </a:r>
            <a:r>
              <a:rPr i="1" lang="en-GB" sz="2000">
                <a:latin typeface="Times New Roman"/>
                <a:ea typeface="Times New Roman"/>
                <a:cs typeface="Times New Roman"/>
                <a:sym typeface="Times New Roman"/>
              </a:rPr>
              <a:t>y</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1478" name="Google Shape;1478;p90"/>
          <p:cNvSpPr txBox="1"/>
          <p:nvPr/>
        </p:nvSpPr>
        <p:spPr>
          <a:xfrm>
            <a:off x="5450261" y="19183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x</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5 × cos(60°) = 2.5</a:t>
            </a:r>
            <a:endParaRPr sz="1800">
              <a:solidFill>
                <a:srgbClr val="000000"/>
              </a:solidFill>
              <a:latin typeface="Times New Roman"/>
              <a:ea typeface="Times New Roman"/>
              <a:cs typeface="Times New Roman"/>
              <a:sym typeface="Times New Roman"/>
            </a:endParaRPr>
          </a:p>
        </p:txBody>
      </p:sp>
      <p:sp>
        <p:nvSpPr>
          <p:cNvPr id="1479" name="Google Shape;1479;p90"/>
          <p:cNvSpPr txBox="1"/>
          <p:nvPr/>
        </p:nvSpPr>
        <p:spPr>
          <a:xfrm>
            <a:off x="5450261" y="2299375"/>
            <a:ext cx="30405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2000">
                <a:latin typeface="Times New Roman"/>
                <a:ea typeface="Times New Roman"/>
                <a:cs typeface="Times New Roman"/>
                <a:sym typeface="Times New Roman"/>
              </a:rPr>
              <a:t>y</a:t>
            </a:r>
            <a:r>
              <a:rPr lang="en-GB" sz="1800">
                <a:solidFill>
                  <a:srgbClr val="000000"/>
                </a:solidFill>
                <a:latin typeface="Lexend"/>
                <a:ea typeface="Lexend"/>
                <a:cs typeface="Lexend"/>
                <a:sym typeface="Lexend"/>
              </a:rPr>
              <a:t> </a:t>
            </a:r>
            <a:r>
              <a:rPr lang="en-GB" sz="1800">
                <a:latin typeface="Times New Roman"/>
                <a:ea typeface="Times New Roman"/>
                <a:cs typeface="Times New Roman"/>
                <a:sym typeface="Times New Roman"/>
              </a:rPr>
              <a:t>= 5 × sin(60°) = 4.33…</a:t>
            </a:r>
            <a:endParaRPr sz="1800">
              <a:solidFill>
                <a:srgbClr val="000000"/>
              </a:solidFill>
              <a:latin typeface="Times New Roman"/>
              <a:ea typeface="Times New Roman"/>
              <a:cs typeface="Times New Roman"/>
              <a:sym typeface="Times New Roman"/>
            </a:endParaRPr>
          </a:p>
        </p:txBody>
      </p:sp>
      <p:sp>
        <p:nvSpPr>
          <p:cNvPr id="1480" name="Google Shape;1480;p90"/>
          <p:cNvSpPr txBox="1"/>
          <p:nvPr/>
        </p:nvSpPr>
        <p:spPr>
          <a:xfrm>
            <a:off x="3926250" y="2756575"/>
            <a:ext cx="49290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Area of rectangle</a:t>
            </a:r>
            <a:r>
              <a:rPr lang="en-GB" sz="2000">
                <a:latin typeface="Times New Roman"/>
                <a:ea typeface="Times New Roman"/>
                <a:cs typeface="Times New Roman"/>
                <a:sym typeface="Times New Roman"/>
              </a:rPr>
              <a:t> </a:t>
            </a:r>
            <a:br>
              <a:rPr lang="en-GB" sz="2000">
                <a:latin typeface="Times New Roman"/>
                <a:ea typeface="Times New Roman"/>
                <a:cs typeface="Times New Roman"/>
                <a:sym typeface="Times New Roman"/>
              </a:rPr>
            </a:br>
            <a:r>
              <a:rPr lang="en-GB" sz="2000">
                <a:latin typeface="Times New Roman"/>
                <a:ea typeface="Times New Roman"/>
                <a:cs typeface="Times New Roman"/>
                <a:sym typeface="Times New Roman"/>
              </a:rPr>
              <a:t>= (2 </a:t>
            </a:r>
            <a:r>
              <a:rPr lang="en-GB" sz="2000">
                <a:solidFill>
                  <a:schemeClr val="dk1"/>
                </a:solidFill>
                <a:latin typeface="Times New Roman"/>
                <a:ea typeface="Times New Roman"/>
                <a:cs typeface="Times New Roman"/>
                <a:sym typeface="Times New Roman"/>
              </a:rPr>
              <a:t>× 4.33…) × (5 + 2 × 2.5) = 86.602… cm</a:t>
            </a:r>
            <a:r>
              <a:rPr baseline="30000" lang="en-GB" sz="2000">
                <a:solidFill>
                  <a:schemeClr val="dk1"/>
                </a:solidFill>
                <a:latin typeface="Times New Roman"/>
                <a:ea typeface="Times New Roman"/>
                <a:cs typeface="Times New Roman"/>
                <a:sym typeface="Times New Roman"/>
              </a:rPr>
              <a:t>2</a:t>
            </a:r>
            <a:endParaRPr baseline="30000" sz="2000">
              <a:solidFill>
                <a:srgbClr val="000000"/>
              </a:solidFill>
              <a:latin typeface="Times New Roman"/>
              <a:ea typeface="Times New Roman"/>
              <a:cs typeface="Times New Roman"/>
              <a:sym typeface="Times New Roman"/>
            </a:endParaRPr>
          </a:p>
        </p:txBody>
      </p:sp>
      <p:sp>
        <p:nvSpPr>
          <p:cNvPr id="1481" name="Google Shape;1481;p90"/>
          <p:cNvSpPr txBox="1"/>
          <p:nvPr/>
        </p:nvSpPr>
        <p:spPr>
          <a:xfrm>
            <a:off x="3926244" y="3442375"/>
            <a:ext cx="46398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Area of 4 congruent triangles </a:t>
            </a:r>
            <a:br>
              <a:rPr lang="en-GB" sz="2000">
                <a:latin typeface="Times New Roman"/>
                <a:ea typeface="Times New Roman"/>
                <a:cs typeface="Times New Roman"/>
                <a:sym typeface="Times New Roman"/>
              </a:rPr>
            </a:br>
            <a:r>
              <a:rPr lang="en-GB" sz="2000">
                <a:latin typeface="Times New Roman"/>
                <a:ea typeface="Times New Roman"/>
                <a:cs typeface="Times New Roman"/>
                <a:sym typeface="Times New Roman"/>
              </a:rPr>
              <a:t>= 4 </a:t>
            </a:r>
            <a:r>
              <a:rPr lang="en-GB" sz="2000">
                <a:solidFill>
                  <a:schemeClr val="dk1"/>
                </a:solidFill>
                <a:latin typeface="Times New Roman"/>
                <a:ea typeface="Times New Roman"/>
                <a:cs typeface="Times New Roman"/>
                <a:sym typeface="Times New Roman"/>
              </a:rPr>
              <a:t>×    × 2.5 × 4.33…= 21.650… cm</a:t>
            </a:r>
            <a:r>
              <a:rPr baseline="30000" lang="en-GB" sz="2000">
                <a:solidFill>
                  <a:schemeClr val="dk1"/>
                </a:solidFill>
                <a:latin typeface="Times New Roman"/>
                <a:ea typeface="Times New Roman"/>
                <a:cs typeface="Times New Roman"/>
                <a:sym typeface="Times New Roman"/>
              </a:rPr>
              <a:t>2</a:t>
            </a:r>
            <a:endParaRPr baseline="30000" sz="2000">
              <a:solidFill>
                <a:srgbClr val="000000"/>
              </a:solidFill>
              <a:latin typeface="Times New Roman"/>
              <a:ea typeface="Times New Roman"/>
              <a:cs typeface="Times New Roman"/>
              <a:sym typeface="Times New Roman"/>
            </a:endParaRPr>
          </a:p>
        </p:txBody>
      </p:sp>
      <p:pic>
        <p:nvPicPr>
          <p:cNvPr descr="&lt;math xmlns=&quot;http://www.w3.org/1998/Math/MathML&quot; display=&quot;block&quot; data-is-equatio=&quot;1&quot; data-latex=&quot;\frac{1}{2}&quot;&gt;&lt;mfrac&gt;&lt;mn&gt;1&lt;/mn&gt;&lt;mn&gt;2&lt;/mn&gt;&lt;/mfrac&gt;&lt;/math&gt;" id="1482" name="Google Shape;1482;p90" title="one half"/>
          <p:cNvPicPr preferRelativeResize="0"/>
          <p:nvPr/>
        </p:nvPicPr>
        <p:blipFill>
          <a:blip r:embed="rId4">
            <a:alphaModFix/>
          </a:blip>
          <a:stretch>
            <a:fillRect/>
          </a:stretch>
        </p:blipFill>
        <p:spPr>
          <a:xfrm>
            <a:off x="4522522" y="3700332"/>
            <a:ext cx="141600" cy="464269"/>
          </a:xfrm>
          <a:prstGeom prst="rect">
            <a:avLst/>
          </a:prstGeom>
          <a:noFill/>
          <a:ln>
            <a:noFill/>
          </a:ln>
        </p:spPr>
      </p:pic>
      <p:sp>
        <p:nvSpPr>
          <p:cNvPr id="1483" name="Google Shape;1483;p90"/>
          <p:cNvSpPr txBox="1"/>
          <p:nvPr/>
        </p:nvSpPr>
        <p:spPr>
          <a:xfrm>
            <a:off x="3926244" y="4171071"/>
            <a:ext cx="4639800" cy="23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Area of hexagon </a:t>
            </a:r>
            <a:br>
              <a:rPr lang="en-GB" sz="2000">
                <a:latin typeface="Times New Roman"/>
                <a:ea typeface="Times New Roman"/>
                <a:cs typeface="Times New Roman"/>
                <a:sym typeface="Times New Roman"/>
              </a:rPr>
            </a:br>
            <a:r>
              <a:rPr lang="en-GB" sz="2000">
                <a:latin typeface="Times New Roman"/>
                <a:ea typeface="Times New Roman"/>
                <a:cs typeface="Times New Roman"/>
                <a:sym typeface="Times New Roman"/>
              </a:rPr>
              <a:t>= 86.602… - </a:t>
            </a:r>
            <a:r>
              <a:rPr lang="en-GB" sz="2000">
                <a:solidFill>
                  <a:schemeClr val="dk1"/>
                </a:solidFill>
                <a:latin typeface="Times New Roman"/>
                <a:ea typeface="Times New Roman"/>
                <a:cs typeface="Times New Roman"/>
                <a:sym typeface="Times New Roman"/>
              </a:rPr>
              <a:t>21.650 = 65.0 cm</a:t>
            </a:r>
            <a:r>
              <a:rPr baseline="30000" lang="en-GB" sz="2000">
                <a:solidFill>
                  <a:schemeClr val="dk1"/>
                </a:solidFill>
                <a:latin typeface="Times New Roman"/>
                <a:ea typeface="Times New Roman"/>
                <a:cs typeface="Times New Roman"/>
                <a:sym typeface="Times New Roman"/>
              </a:rPr>
              <a:t>2</a:t>
            </a:r>
            <a:endParaRPr baseline="30000" sz="2000">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7" name="Shape 1487"/>
        <p:cNvGrpSpPr/>
        <p:nvPr/>
      </p:nvGrpSpPr>
      <p:grpSpPr>
        <a:xfrm>
          <a:off x="0" y="0"/>
          <a:ext cx="0" cy="0"/>
          <a:chOff x="0" y="0"/>
          <a:chExt cx="0" cy="0"/>
        </a:xfrm>
      </p:grpSpPr>
      <p:sp>
        <p:nvSpPr>
          <p:cNvPr id="1488" name="Google Shape;1488;p91"/>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areas</a:t>
            </a:r>
            <a:endParaRPr/>
          </a:p>
        </p:txBody>
      </p:sp>
      <p:sp>
        <p:nvSpPr>
          <p:cNvPr id="1489" name="Google Shape;1489;p91"/>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490" name="Google Shape;1490;p91"/>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Problem solving with trigonometry</a:t>
            </a:r>
            <a:endParaRPr/>
          </a:p>
        </p:txBody>
      </p:sp>
      <p:pic>
        <p:nvPicPr>
          <p:cNvPr id="1491" name="Google Shape;1491;p91"/>
          <p:cNvPicPr preferRelativeResize="0"/>
          <p:nvPr/>
        </p:nvPicPr>
        <p:blipFill>
          <a:blip r:embed="rId3">
            <a:alphaModFix/>
          </a:blip>
          <a:stretch>
            <a:fillRect/>
          </a:stretch>
        </p:blipFill>
        <p:spPr>
          <a:xfrm>
            <a:off x="418385" y="2988365"/>
            <a:ext cx="450575" cy="446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92"/>
          <p:cNvSpPr txBox="1"/>
          <p:nvPr>
            <p:ph idx="1" type="body"/>
          </p:nvPr>
        </p:nvSpPr>
        <p:spPr>
          <a:xfrm>
            <a:off x="324000" y="759300"/>
            <a:ext cx="85356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Without the use of a protractor, how can the size of the angle be established?</a:t>
            </a:r>
            <a:endParaRPr sz="1800"/>
          </a:p>
        </p:txBody>
      </p:sp>
      <p:sp>
        <p:nvSpPr>
          <p:cNvPr id="1497" name="Google Shape;1497;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498" name="Google Shape;1498;p92"/>
          <p:cNvPicPr preferRelativeResize="0"/>
          <p:nvPr/>
        </p:nvPicPr>
        <p:blipFill>
          <a:blip r:embed="rId3">
            <a:alphaModFix/>
          </a:blip>
          <a:stretch>
            <a:fillRect/>
          </a:stretch>
        </p:blipFill>
        <p:spPr>
          <a:xfrm>
            <a:off x="490202" y="1649575"/>
            <a:ext cx="2473720" cy="2715175"/>
          </a:xfrm>
          <a:prstGeom prst="rect">
            <a:avLst/>
          </a:prstGeom>
          <a:noFill/>
          <a:ln cap="flat" cmpd="sng" w="9525">
            <a:solidFill>
              <a:schemeClr val="dk1"/>
            </a:solidFill>
            <a:prstDash val="solid"/>
            <a:round/>
            <a:headEnd len="sm" w="sm" type="none"/>
            <a:tailEnd len="sm" w="sm" type="none"/>
          </a:ln>
        </p:spPr>
      </p:pic>
      <p:pic>
        <p:nvPicPr>
          <p:cNvPr id="1499" name="Google Shape;1499;p92"/>
          <p:cNvPicPr preferRelativeResize="0"/>
          <p:nvPr/>
        </p:nvPicPr>
        <p:blipFill>
          <a:blip r:embed="rId4">
            <a:alphaModFix/>
          </a:blip>
          <a:stretch>
            <a:fillRect/>
          </a:stretch>
        </p:blipFill>
        <p:spPr>
          <a:xfrm flipH="1">
            <a:off x="7460383" y="2550137"/>
            <a:ext cx="727174" cy="909325"/>
          </a:xfrm>
          <a:prstGeom prst="rect">
            <a:avLst/>
          </a:prstGeom>
          <a:noFill/>
          <a:ln>
            <a:noFill/>
          </a:ln>
        </p:spPr>
      </p:pic>
      <p:sp>
        <p:nvSpPr>
          <p:cNvPr id="1500" name="Google Shape;1500;p92"/>
          <p:cNvSpPr txBox="1"/>
          <p:nvPr/>
        </p:nvSpPr>
        <p:spPr>
          <a:xfrm>
            <a:off x="7381313" y="35014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pic>
        <p:nvPicPr>
          <p:cNvPr id="1501" name="Google Shape;1501;p92"/>
          <p:cNvPicPr preferRelativeResize="0"/>
          <p:nvPr/>
        </p:nvPicPr>
        <p:blipFill rotWithShape="1">
          <a:blip r:embed="rId5">
            <a:alphaModFix/>
          </a:blip>
          <a:srcRect b="43690" l="0" r="57905" t="0"/>
          <a:stretch/>
        </p:blipFill>
        <p:spPr>
          <a:xfrm>
            <a:off x="5230575" y="1180950"/>
            <a:ext cx="2662052" cy="1590876"/>
          </a:xfrm>
          <a:prstGeom prst="rect">
            <a:avLst/>
          </a:prstGeom>
          <a:noFill/>
          <a:ln>
            <a:noFill/>
          </a:ln>
        </p:spPr>
      </p:pic>
      <p:sp>
        <p:nvSpPr>
          <p:cNvPr id="1502" name="Google Shape;1502;p92"/>
          <p:cNvSpPr txBox="1"/>
          <p:nvPr>
            <p:ph idx="1" type="body"/>
          </p:nvPr>
        </p:nvSpPr>
        <p:spPr>
          <a:xfrm>
            <a:off x="5281857" y="1225193"/>
            <a:ext cx="2510700" cy="1331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we know two edges of a right-angled triangle then we can calculate it.</a:t>
            </a:r>
            <a:endParaRPr sz="1800"/>
          </a:p>
        </p:txBody>
      </p:sp>
      <p:sp>
        <p:nvSpPr>
          <p:cNvPr id="1503" name="Google Shape;1503;p92"/>
          <p:cNvSpPr txBox="1"/>
          <p:nvPr>
            <p:ph idx="1" type="body"/>
          </p:nvPr>
        </p:nvSpPr>
        <p:spPr>
          <a:xfrm>
            <a:off x="3376850" y="2901600"/>
            <a:ext cx="32898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you see a right-angled triangle?</a:t>
            </a:r>
            <a:endParaRPr sz="1800"/>
          </a:p>
        </p:txBody>
      </p:sp>
      <p:sp>
        <p:nvSpPr>
          <p:cNvPr id="1504" name="Google Shape;1504;p92"/>
          <p:cNvSpPr txBox="1"/>
          <p:nvPr>
            <p:ph idx="1" type="body"/>
          </p:nvPr>
        </p:nvSpPr>
        <p:spPr>
          <a:xfrm>
            <a:off x="3376850" y="3757300"/>
            <a:ext cx="37044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one is the most accurate?</a:t>
            </a:r>
            <a:endParaRPr sz="1800"/>
          </a:p>
        </p:txBody>
      </p:sp>
      <p:grpSp>
        <p:nvGrpSpPr>
          <p:cNvPr id="1505" name="Google Shape;1505;p92"/>
          <p:cNvGrpSpPr/>
          <p:nvPr/>
        </p:nvGrpSpPr>
        <p:grpSpPr>
          <a:xfrm>
            <a:off x="987550" y="2211092"/>
            <a:ext cx="1248000" cy="1662600"/>
            <a:chOff x="987550" y="2217800"/>
            <a:chExt cx="1248000" cy="1662600"/>
          </a:xfrm>
        </p:grpSpPr>
        <p:sp>
          <p:nvSpPr>
            <p:cNvPr id="1506" name="Google Shape;1506;p92"/>
            <p:cNvSpPr/>
            <p:nvPr/>
          </p:nvSpPr>
          <p:spPr>
            <a:xfrm flipH="1">
              <a:off x="987550" y="2217800"/>
              <a:ext cx="1248000" cy="1662600"/>
            </a:xfrm>
            <a:prstGeom prst="rtTriangl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7" name="Google Shape;1507;p92"/>
            <p:cNvSpPr/>
            <p:nvPr/>
          </p:nvSpPr>
          <p:spPr>
            <a:xfrm>
              <a:off x="2085750" y="3730600"/>
              <a:ext cx="149700" cy="1497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08" name="Google Shape;1508;p92"/>
          <p:cNvGrpSpPr/>
          <p:nvPr/>
        </p:nvGrpSpPr>
        <p:grpSpPr>
          <a:xfrm>
            <a:off x="987610" y="2565108"/>
            <a:ext cx="982426" cy="1308799"/>
            <a:chOff x="987550" y="2217800"/>
            <a:chExt cx="1248000" cy="1662600"/>
          </a:xfrm>
        </p:grpSpPr>
        <p:sp>
          <p:nvSpPr>
            <p:cNvPr id="1509" name="Google Shape;1509;p92"/>
            <p:cNvSpPr/>
            <p:nvPr/>
          </p:nvSpPr>
          <p:spPr>
            <a:xfrm flipH="1">
              <a:off x="987550" y="2217800"/>
              <a:ext cx="1248000" cy="1662600"/>
            </a:xfrm>
            <a:prstGeom prst="rtTriangl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0" name="Google Shape;1510;p92"/>
            <p:cNvSpPr/>
            <p:nvPr/>
          </p:nvSpPr>
          <p:spPr>
            <a:xfrm>
              <a:off x="2040476" y="3685326"/>
              <a:ext cx="195000" cy="1950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11" name="Google Shape;1511;p92"/>
          <p:cNvGrpSpPr/>
          <p:nvPr/>
        </p:nvGrpSpPr>
        <p:grpSpPr>
          <a:xfrm>
            <a:off x="987651" y="2894996"/>
            <a:ext cx="734947" cy="979105"/>
            <a:chOff x="987550" y="2217800"/>
            <a:chExt cx="1248000" cy="1662600"/>
          </a:xfrm>
        </p:grpSpPr>
        <p:sp>
          <p:nvSpPr>
            <p:cNvPr id="1512" name="Google Shape;1512;p92"/>
            <p:cNvSpPr/>
            <p:nvPr/>
          </p:nvSpPr>
          <p:spPr>
            <a:xfrm flipH="1">
              <a:off x="987550" y="2217800"/>
              <a:ext cx="1248000" cy="1662600"/>
            </a:xfrm>
            <a:prstGeom prst="rtTriangl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3" name="Google Shape;1513;p92"/>
            <p:cNvSpPr/>
            <p:nvPr/>
          </p:nvSpPr>
          <p:spPr>
            <a:xfrm>
              <a:off x="1985851" y="3630674"/>
              <a:ext cx="249600" cy="249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514" name="Google Shape;1514;p92"/>
          <p:cNvGrpSpPr/>
          <p:nvPr/>
        </p:nvGrpSpPr>
        <p:grpSpPr>
          <a:xfrm>
            <a:off x="987696" y="3215378"/>
            <a:ext cx="494458" cy="658556"/>
            <a:chOff x="987550" y="2217800"/>
            <a:chExt cx="1248000" cy="1662600"/>
          </a:xfrm>
        </p:grpSpPr>
        <p:sp>
          <p:nvSpPr>
            <p:cNvPr id="1515" name="Google Shape;1515;p92"/>
            <p:cNvSpPr/>
            <p:nvPr/>
          </p:nvSpPr>
          <p:spPr>
            <a:xfrm flipH="1">
              <a:off x="987550" y="2217800"/>
              <a:ext cx="1248000" cy="1662600"/>
            </a:xfrm>
            <a:prstGeom prst="rtTriangl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16" name="Google Shape;1516;p92"/>
            <p:cNvSpPr/>
            <p:nvPr/>
          </p:nvSpPr>
          <p:spPr>
            <a:xfrm>
              <a:off x="1890126" y="3535012"/>
              <a:ext cx="345300" cy="3453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17" name="Google Shape;1517;p92"/>
          <p:cNvSpPr txBox="1"/>
          <p:nvPr/>
        </p:nvSpPr>
        <p:spPr>
          <a:xfrm>
            <a:off x="1249809" y="34605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pic>
        <p:nvPicPr>
          <p:cNvPr id="1522" name="Google Shape;1522;p93"/>
          <p:cNvPicPr preferRelativeResize="0"/>
          <p:nvPr/>
        </p:nvPicPr>
        <p:blipFill>
          <a:blip r:embed="rId3">
            <a:alphaModFix/>
          </a:blip>
          <a:stretch>
            <a:fillRect/>
          </a:stretch>
        </p:blipFill>
        <p:spPr>
          <a:xfrm>
            <a:off x="4363446" y="3219146"/>
            <a:ext cx="1076507" cy="613500"/>
          </a:xfrm>
          <a:prstGeom prst="rect">
            <a:avLst/>
          </a:prstGeom>
          <a:noFill/>
          <a:ln>
            <a:noFill/>
          </a:ln>
        </p:spPr>
      </p:pic>
      <p:sp>
        <p:nvSpPr>
          <p:cNvPr id="1523" name="Google Shape;1523;p93"/>
          <p:cNvSpPr txBox="1"/>
          <p:nvPr>
            <p:ph idx="1" type="body"/>
          </p:nvPr>
        </p:nvSpPr>
        <p:spPr>
          <a:xfrm>
            <a:off x="324000" y="759300"/>
            <a:ext cx="85356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one, as its base edge is an integer and the vertical edge is an integer. There is no estimation of length, which increases error margins.</a:t>
            </a:r>
            <a:endParaRPr sz="1800"/>
          </a:p>
        </p:txBody>
      </p:sp>
      <p:sp>
        <p:nvSpPr>
          <p:cNvPr id="1524" name="Google Shape;1524;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525" name="Google Shape;1525;p93"/>
          <p:cNvPicPr preferRelativeResize="0"/>
          <p:nvPr/>
        </p:nvPicPr>
        <p:blipFill>
          <a:blip r:embed="rId4">
            <a:alphaModFix/>
          </a:blip>
          <a:stretch>
            <a:fillRect/>
          </a:stretch>
        </p:blipFill>
        <p:spPr>
          <a:xfrm>
            <a:off x="490202" y="1649575"/>
            <a:ext cx="2473720" cy="2715175"/>
          </a:xfrm>
          <a:prstGeom prst="rect">
            <a:avLst/>
          </a:prstGeom>
          <a:noFill/>
          <a:ln cap="flat" cmpd="sng" w="9525">
            <a:solidFill>
              <a:schemeClr val="dk1"/>
            </a:solidFill>
            <a:prstDash val="solid"/>
            <a:round/>
            <a:headEnd len="sm" w="sm" type="none"/>
            <a:tailEnd len="sm" w="sm" type="none"/>
          </a:ln>
        </p:spPr>
      </p:pic>
      <p:pic>
        <p:nvPicPr>
          <p:cNvPr id="1526" name="Google Shape;1526;p93"/>
          <p:cNvPicPr preferRelativeResize="0"/>
          <p:nvPr/>
        </p:nvPicPr>
        <p:blipFill>
          <a:blip r:embed="rId5">
            <a:alphaModFix/>
          </a:blip>
          <a:stretch>
            <a:fillRect/>
          </a:stretch>
        </p:blipFill>
        <p:spPr>
          <a:xfrm flipH="1">
            <a:off x="7460383" y="2550137"/>
            <a:ext cx="727174" cy="909325"/>
          </a:xfrm>
          <a:prstGeom prst="rect">
            <a:avLst/>
          </a:prstGeom>
          <a:noFill/>
          <a:ln>
            <a:noFill/>
          </a:ln>
        </p:spPr>
      </p:pic>
      <p:sp>
        <p:nvSpPr>
          <p:cNvPr id="1527" name="Google Shape;1527;p93"/>
          <p:cNvSpPr txBox="1"/>
          <p:nvPr/>
        </p:nvSpPr>
        <p:spPr>
          <a:xfrm>
            <a:off x="7381313" y="35014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pic>
        <p:nvPicPr>
          <p:cNvPr id="1528" name="Google Shape;1528;p93"/>
          <p:cNvPicPr preferRelativeResize="0"/>
          <p:nvPr/>
        </p:nvPicPr>
        <p:blipFill rotWithShape="1">
          <a:blip r:embed="rId6">
            <a:alphaModFix/>
          </a:blip>
          <a:srcRect b="43690" l="0" r="57905" t="0"/>
          <a:stretch/>
        </p:blipFill>
        <p:spPr>
          <a:xfrm>
            <a:off x="5547377" y="1370275"/>
            <a:ext cx="2345247" cy="1401550"/>
          </a:xfrm>
          <a:prstGeom prst="rect">
            <a:avLst/>
          </a:prstGeom>
          <a:noFill/>
          <a:ln>
            <a:noFill/>
          </a:ln>
        </p:spPr>
      </p:pic>
      <p:sp>
        <p:nvSpPr>
          <p:cNvPr id="1529" name="Google Shape;1529;p93"/>
          <p:cNvSpPr txBox="1"/>
          <p:nvPr>
            <p:ph idx="1" type="body"/>
          </p:nvPr>
        </p:nvSpPr>
        <p:spPr>
          <a:xfrm>
            <a:off x="5688050" y="1462200"/>
            <a:ext cx="2104500" cy="109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These two edges are part of the </a:t>
            </a:r>
            <a:r>
              <a:rPr lang="en-GB" sz="1800">
                <a:solidFill>
                  <a:schemeClr val="accent5"/>
                </a:solidFill>
              </a:rPr>
              <a:t>tangent</a:t>
            </a:r>
            <a:r>
              <a:rPr lang="en-GB" sz="1800"/>
              <a:t> function. </a:t>
            </a:r>
            <a:endParaRPr sz="1800"/>
          </a:p>
        </p:txBody>
      </p:sp>
      <p:grpSp>
        <p:nvGrpSpPr>
          <p:cNvPr id="1530" name="Google Shape;1530;p93"/>
          <p:cNvGrpSpPr/>
          <p:nvPr/>
        </p:nvGrpSpPr>
        <p:grpSpPr>
          <a:xfrm>
            <a:off x="987651" y="2891643"/>
            <a:ext cx="734947" cy="979105"/>
            <a:chOff x="987550" y="2217800"/>
            <a:chExt cx="1248000" cy="1662600"/>
          </a:xfrm>
        </p:grpSpPr>
        <p:sp>
          <p:nvSpPr>
            <p:cNvPr id="1531" name="Google Shape;1531;p93"/>
            <p:cNvSpPr/>
            <p:nvPr/>
          </p:nvSpPr>
          <p:spPr>
            <a:xfrm flipH="1">
              <a:off x="987550" y="2217800"/>
              <a:ext cx="1248000" cy="1662600"/>
            </a:xfrm>
            <a:prstGeom prst="rtTriangle">
              <a:avLst/>
            </a:prstGeom>
            <a:no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2" name="Google Shape;1532;p93"/>
            <p:cNvSpPr/>
            <p:nvPr/>
          </p:nvSpPr>
          <p:spPr>
            <a:xfrm>
              <a:off x="1985851" y="3630674"/>
              <a:ext cx="249600" cy="2496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cxnSp>
        <p:nvCxnSpPr>
          <p:cNvPr id="1533" name="Google Shape;1533;p93"/>
          <p:cNvCxnSpPr/>
          <p:nvPr/>
        </p:nvCxnSpPr>
        <p:spPr>
          <a:xfrm>
            <a:off x="986050" y="3965175"/>
            <a:ext cx="727800" cy="0"/>
          </a:xfrm>
          <a:prstGeom prst="straightConnector1">
            <a:avLst/>
          </a:prstGeom>
          <a:noFill/>
          <a:ln cap="flat" cmpd="sng" w="28575">
            <a:solidFill>
              <a:schemeClr val="dk1"/>
            </a:solidFill>
            <a:prstDash val="solid"/>
            <a:round/>
            <a:headEnd len="med" w="med" type="triangle"/>
            <a:tailEnd len="med" w="med" type="triangle"/>
          </a:ln>
        </p:spPr>
      </p:cxnSp>
      <p:cxnSp>
        <p:nvCxnSpPr>
          <p:cNvPr id="1534" name="Google Shape;1534;p93"/>
          <p:cNvCxnSpPr/>
          <p:nvPr/>
        </p:nvCxnSpPr>
        <p:spPr>
          <a:xfrm>
            <a:off x="1822619" y="2891650"/>
            <a:ext cx="0" cy="966300"/>
          </a:xfrm>
          <a:prstGeom prst="straightConnector1">
            <a:avLst/>
          </a:prstGeom>
          <a:noFill/>
          <a:ln cap="flat" cmpd="sng" w="28575">
            <a:solidFill>
              <a:schemeClr val="dk1"/>
            </a:solidFill>
            <a:prstDash val="solid"/>
            <a:round/>
            <a:headEnd len="med" w="med" type="triangle"/>
            <a:tailEnd len="med" w="med" type="triangle"/>
          </a:ln>
        </p:spPr>
      </p:cxnSp>
      <p:sp>
        <p:nvSpPr>
          <p:cNvPr id="1535" name="Google Shape;1535;p93"/>
          <p:cNvSpPr txBox="1"/>
          <p:nvPr/>
        </p:nvSpPr>
        <p:spPr>
          <a:xfrm>
            <a:off x="1896305" y="3267850"/>
            <a:ext cx="1962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a:t>
            </a:r>
            <a:endParaRPr sz="1800">
              <a:solidFill>
                <a:srgbClr val="000000"/>
              </a:solidFill>
              <a:latin typeface="Lexend"/>
              <a:ea typeface="Lexend"/>
              <a:cs typeface="Lexend"/>
              <a:sym typeface="Lexend"/>
            </a:endParaRPr>
          </a:p>
        </p:txBody>
      </p:sp>
      <p:sp>
        <p:nvSpPr>
          <p:cNvPr id="1536" name="Google Shape;1536;p93"/>
          <p:cNvSpPr txBox="1"/>
          <p:nvPr/>
        </p:nvSpPr>
        <p:spPr>
          <a:xfrm>
            <a:off x="1287380" y="3993750"/>
            <a:ext cx="1962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3</a:t>
            </a:r>
            <a:endParaRPr sz="1800">
              <a:solidFill>
                <a:srgbClr val="000000"/>
              </a:solidFill>
              <a:latin typeface="Lexend"/>
              <a:ea typeface="Lexend"/>
              <a:cs typeface="Lexend"/>
              <a:sym typeface="Lexend"/>
            </a:endParaRPr>
          </a:p>
        </p:txBody>
      </p:sp>
      <p:sp>
        <p:nvSpPr>
          <p:cNvPr id="1537" name="Google Shape;1537;p93"/>
          <p:cNvSpPr txBox="1"/>
          <p:nvPr/>
        </p:nvSpPr>
        <p:spPr>
          <a:xfrm>
            <a:off x="3369600" y="27718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tan(𝜃°) = </a:t>
            </a:r>
            <a:endParaRPr sz="2000">
              <a:solidFill>
                <a:schemeClr val="dk1"/>
              </a:solidFill>
              <a:latin typeface="Times New Roman"/>
              <a:ea typeface="Times New Roman"/>
              <a:cs typeface="Times New Roman"/>
              <a:sym typeface="Times New Roman"/>
            </a:endParaRPr>
          </a:p>
        </p:txBody>
      </p:sp>
      <p:sp>
        <p:nvSpPr>
          <p:cNvPr id="1538" name="Google Shape;1538;p93"/>
          <p:cNvSpPr txBox="1"/>
          <p:nvPr/>
        </p:nvSpPr>
        <p:spPr>
          <a:xfrm>
            <a:off x="1249809" y="34605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539" name="Google Shape;1539;p93"/>
          <p:cNvSpPr txBox="1"/>
          <p:nvPr/>
        </p:nvSpPr>
        <p:spPr>
          <a:xfrm>
            <a:off x="4458488" y="26298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4</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1540" name="Google Shape;1540;p93"/>
          <p:cNvSpPr txBox="1"/>
          <p:nvPr/>
        </p:nvSpPr>
        <p:spPr>
          <a:xfrm>
            <a:off x="4485318" y="29240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 </a:t>
            </a:r>
            <a:endParaRPr sz="2000">
              <a:solidFill>
                <a:schemeClr val="dk1"/>
              </a:solidFill>
              <a:latin typeface="Times New Roman"/>
              <a:ea typeface="Times New Roman"/>
              <a:cs typeface="Times New Roman"/>
              <a:sym typeface="Times New Roman"/>
            </a:endParaRPr>
          </a:p>
        </p:txBody>
      </p:sp>
      <p:cxnSp>
        <p:nvCxnSpPr>
          <p:cNvPr id="1541" name="Google Shape;1541;p93"/>
          <p:cNvCxnSpPr/>
          <p:nvPr/>
        </p:nvCxnSpPr>
        <p:spPr>
          <a:xfrm>
            <a:off x="4391400" y="2936573"/>
            <a:ext cx="294300" cy="0"/>
          </a:xfrm>
          <a:prstGeom prst="straightConnector1">
            <a:avLst/>
          </a:prstGeom>
          <a:noFill/>
          <a:ln cap="flat" cmpd="sng" w="19050">
            <a:solidFill>
              <a:schemeClr val="dk1"/>
            </a:solidFill>
            <a:prstDash val="solid"/>
            <a:round/>
            <a:headEnd len="med" w="med" type="none"/>
            <a:tailEnd len="med" w="med" type="none"/>
          </a:ln>
        </p:spPr>
      </p:cxnSp>
      <p:sp>
        <p:nvSpPr>
          <p:cNvPr descr="&lt;math xmlns=&quot;http://www.w3.org/1998/Math/MathML&quot; display=&quot;block&quot; data-is-equatio=&quot;1&quot; data-latex=&quot;\tan^{-1}\left(\frac{4}{3}\right)&quot;&gt;&lt;msup&gt;&lt;mi&gt;tan&lt;/mi&gt;&lt;mrow data-mjx-texclass=&quot;ORD&quot;&gt;&lt;mo&gt;−&lt;/mo&gt;&lt;mn&gt;1&lt;/mn&gt;&lt;/mrow&gt;&lt;/msup&gt;&lt;mo data-mjx-texclass=&quot;NONE&quot;&gt;⁡&lt;/mo&gt;&lt;mrow data-mjx-texclass=&quot;INNER&quot;&gt;&lt;mo data-mjx-texclass=&quot;OPEN&quot;&gt;(&lt;/mo&gt;&lt;mfrac&gt;&lt;mn&gt;4&lt;/mn&gt;&lt;mn&gt;3&lt;/mn&gt;&lt;/mfrac&gt;&lt;mo data-mjx-texclass=&quot;CLOSE&quot;&gt;)&lt;/mo&gt;&lt;/mrow&gt;&lt;/math&gt;" id="1542" name="Google Shape;1542;p93" title="the inverse tangent of four thirds"/>
          <p:cNvSpPr txBox="1"/>
          <p:nvPr/>
        </p:nvSpPr>
        <p:spPr>
          <a:xfrm>
            <a:off x="3844120" y="3348525"/>
            <a:ext cx="519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a:t>
            </a:r>
            <a:endParaRPr sz="2000">
              <a:solidFill>
                <a:schemeClr val="dk1"/>
              </a:solidFill>
              <a:latin typeface="Times New Roman"/>
              <a:ea typeface="Times New Roman"/>
              <a:cs typeface="Times New Roman"/>
              <a:sym typeface="Times New Roman"/>
            </a:endParaRPr>
          </a:p>
        </p:txBody>
      </p:sp>
      <p:sp>
        <p:nvSpPr>
          <p:cNvPr id="1543" name="Google Shape;1543;p93"/>
          <p:cNvSpPr txBox="1"/>
          <p:nvPr/>
        </p:nvSpPr>
        <p:spPr>
          <a:xfrm>
            <a:off x="3844118" y="38819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53.1° (1 d.p.)</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94"/>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right-angled </a:t>
            </a:r>
            <a:r>
              <a:rPr lang="en-GB"/>
              <a:t>triangle would be the most accurate to use to calculate the angle 𝜃°?</a:t>
            </a:r>
            <a:endParaRPr/>
          </a:p>
          <a:p>
            <a:pPr indent="0" lvl="0" marL="0" rtl="0" algn="l">
              <a:spcBef>
                <a:spcPts val="1000"/>
              </a:spcBef>
              <a:spcAft>
                <a:spcPts val="0"/>
              </a:spcAft>
              <a:buClr>
                <a:schemeClr val="dk1"/>
              </a:buClr>
              <a:buSzPts val="1100"/>
              <a:buFont typeface="Arial"/>
              <a:buNone/>
            </a:pPr>
            <a:r>
              <a:t/>
            </a:r>
            <a:endParaRPr/>
          </a:p>
          <a:p>
            <a:pPr indent="0" lvl="0" marL="0" rtl="0" algn="l">
              <a:spcBef>
                <a:spcPts val="1000"/>
              </a:spcBef>
              <a:spcAft>
                <a:spcPts val="1000"/>
              </a:spcAft>
              <a:buNone/>
            </a:pPr>
            <a:r>
              <a:rPr lang="en-GB"/>
              <a:t> </a:t>
            </a:r>
            <a:endParaRPr/>
          </a:p>
        </p:txBody>
      </p:sp>
      <p:sp>
        <p:nvSpPr>
          <p:cNvPr id="1549" name="Google Shape;1549;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550" name="Google Shape;1550;p94"/>
          <p:cNvPicPr preferRelativeResize="0"/>
          <p:nvPr/>
        </p:nvPicPr>
        <p:blipFill>
          <a:blip r:embed="rId3">
            <a:alphaModFix/>
          </a:blip>
          <a:stretch>
            <a:fillRect/>
          </a:stretch>
        </p:blipFill>
        <p:spPr>
          <a:xfrm>
            <a:off x="344637" y="1969825"/>
            <a:ext cx="2680324" cy="1942256"/>
          </a:xfrm>
          <a:prstGeom prst="rect">
            <a:avLst/>
          </a:prstGeom>
          <a:noFill/>
          <a:ln cap="flat" cmpd="sng" w="9525">
            <a:solidFill>
              <a:schemeClr val="dk1"/>
            </a:solidFill>
            <a:prstDash val="solid"/>
            <a:round/>
            <a:headEnd len="sm" w="sm" type="none"/>
            <a:tailEnd len="sm" w="sm" type="none"/>
          </a:ln>
        </p:spPr>
      </p:pic>
      <p:pic>
        <p:nvPicPr>
          <p:cNvPr id="1551" name="Google Shape;1551;p94"/>
          <p:cNvPicPr preferRelativeResize="0"/>
          <p:nvPr/>
        </p:nvPicPr>
        <p:blipFill>
          <a:blip r:embed="rId3">
            <a:alphaModFix/>
          </a:blip>
          <a:stretch>
            <a:fillRect/>
          </a:stretch>
        </p:blipFill>
        <p:spPr>
          <a:xfrm>
            <a:off x="3231838" y="1969825"/>
            <a:ext cx="2680324" cy="1942256"/>
          </a:xfrm>
          <a:prstGeom prst="rect">
            <a:avLst/>
          </a:prstGeom>
          <a:noFill/>
          <a:ln cap="flat" cmpd="sng" w="9525">
            <a:solidFill>
              <a:schemeClr val="dk1"/>
            </a:solidFill>
            <a:prstDash val="solid"/>
            <a:round/>
            <a:headEnd len="sm" w="sm" type="none"/>
            <a:tailEnd len="sm" w="sm" type="none"/>
          </a:ln>
        </p:spPr>
      </p:pic>
      <p:pic>
        <p:nvPicPr>
          <p:cNvPr id="1552" name="Google Shape;1552;p94"/>
          <p:cNvPicPr preferRelativeResize="0"/>
          <p:nvPr/>
        </p:nvPicPr>
        <p:blipFill>
          <a:blip r:embed="rId3">
            <a:alphaModFix/>
          </a:blip>
          <a:stretch>
            <a:fillRect/>
          </a:stretch>
        </p:blipFill>
        <p:spPr>
          <a:xfrm>
            <a:off x="6119038" y="1969825"/>
            <a:ext cx="2680324" cy="1942256"/>
          </a:xfrm>
          <a:prstGeom prst="rect">
            <a:avLst/>
          </a:prstGeom>
          <a:noFill/>
          <a:ln cap="flat" cmpd="sng" w="9525">
            <a:solidFill>
              <a:schemeClr val="dk1"/>
            </a:solidFill>
            <a:prstDash val="solid"/>
            <a:round/>
            <a:headEnd len="sm" w="sm" type="none"/>
            <a:tailEnd len="sm" w="sm" type="none"/>
          </a:ln>
        </p:spPr>
      </p:pic>
      <p:grpSp>
        <p:nvGrpSpPr>
          <p:cNvPr id="1553" name="Google Shape;1553;p94"/>
          <p:cNvGrpSpPr/>
          <p:nvPr/>
        </p:nvGrpSpPr>
        <p:grpSpPr>
          <a:xfrm>
            <a:off x="1456191" y="4001475"/>
            <a:ext cx="457200" cy="457200"/>
            <a:chOff x="1020916" y="1442088"/>
            <a:chExt cx="457200" cy="457200"/>
          </a:xfrm>
        </p:grpSpPr>
        <p:pic>
          <p:nvPicPr>
            <p:cNvPr id="1554" name="Google Shape;1554;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55" name="Google Shape;1555;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56" name="Google Shape;1556;p94"/>
          <p:cNvGrpSpPr/>
          <p:nvPr/>
        </p:nvGrpSpPr>
        <p:grpSpPr>
          <a:xfrm>
            <a:off x="4343391" y="4001475"/>
            <a:ext cx="457200" cy="457200"/>
            <a:chOff x="1020916" y="1442088"/>
            <a:chExt cx="457200" cy="457200"/>
          </a:xfrm>
        </p:grpSpPr>
        <p:pic>
          <p:nvPicPr>
            <p:cNvPr id="1557" name="Google Shape;1557;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58" name="Google Shape;1558;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59" name="Google Shape;1559;p94"/>
          <p:cNvGrpSpPr/>
          <p:nvPr/>
        </p:nvGrpSpPr>
        <p:grpSpPr>
          <a:xfrm>
            <a:off x="7230591" y="4001475"/>
            <a:ext cx="457200" cy="457200"/>
            <a:chOff x="1020916" y="1442088"/>
            <a:chExt cx="457200" cy="457200"/>
          </a:xfrm>
        </p:grpSpPr>
        <p:pic>
          <p:nvPicPr>
            <p:cNvPr id="1560" name="Google Shape;1560;p9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61" name="Google Shape;1561;p9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1562" name="Google Shape;1562;p94"/>
          <p:cNvSpPr/>
          <p:nvPr/>
        </p:nvSpPr>
        <p:spPr>
          <a:xfrm flipH="1">
            <a:off x="842050" y="2615203"/>
            <a:ext cx="1212000" cy="813000"/>
          </a:xfrm>
          <a:prstGeom prst="rtTriangle">
            <a:avLst/>
          </a:prstGeom>
          <a:noFill/>
          <a:ln cap="flat" cmpd="sng" w="2857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3" name="Google Shape;1563;p94"/>
          <p:cNvSpPr/>
          <p:nvPr/>
        </p:nvSpPr>
        <p:spPr>
          <a:xfrm flipH="1">
            <a:off x="3737575" y="2783501"/>
            <a:ext cx="961200" cy="644700"/>
          </a:xfrm>
          <a:prstGeom prst="rtTriangle">
            <a:avLst/>
          </a:prstGeom>
          <a:noFill/>
          <a:ln cap="flat" cmpd="sng" w="2857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4" name="Google Shape;1564;p94"/>
          <p:cNvSpPr/>
          <p:nvPr/>
        </p:nvSpPr>
        <p:spPr>
          <a:xfrm flipH="1">
            <a:off x="6608600" y="2940725"/>
            <a:ext cx="726900" cy="487500"/>
          </a:xfrm>
          <a:prstGeom prst="rtTriangle">
            <a:avLst/>
          </a:prstGeom>
          <a:noFill/>
          <a:ln cap="flat" cmpd="sng" w="28575">
            <a:solidFill>
              <a:schemeClr val="accent5"/>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5" name="Google Shape;1565;p94"/>
          <p:cNvSpPr/>
          <p:nvPr/>
        </p:nvSpPr>
        <p:spPr>
          <a:xfrm>
            <a:off x="1896250" y="3270425"/>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6" name="Google Shape;1566;p94"/>
          <p:cNvSpPr/>
          <p:nvPr/>
        </p:nvSpPr>
        <p:spPr>
          <a:xfrm>
            <a:off x="4540975" y="3270425"/>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7" name="Google Shape;1567;p94"/>
          <p:cNvSpPr/>
          <p:nvPr/>
        </p:nvSpPr>
        <p:spPr>
          <a:xfrm>
            <a:off x="7177700" y="3270425"/>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568" name="Google Shape;1568;p94"/>
          <p:cNvPicPr preferRelativeResize="0"/>
          <p:nvPr/>
        </p:nvPicPr>
        <p:blipFill>
          <a:blip r:embed="rId5">
            <a:alphaModFix/>
          </a:blip>
          <a:stretch>
            <a:fillRect/>
          </a:stretch>
        </p:blipFill>
        <p:spPr>
          <a:xfrm>
            <a:off x="7927633" y="4020525"/>
            <a:ext cx="396000" cy="419100"/>
          </a:xfrm>
          <a:prstGeom prst="rect">
            <a:avLst/>
          </a:prstGeom>
          <a:noFill/>
          <a:ln>
            <a:noFill/>
          </a:ln>
        </p:spPr>
      </p:pic>
      <p:sp>
        <p:nvSpPr>
          <p:cNvPr id="1569" name="Google Shape;1569;p94"/>
          <p:cNvSpPr txBox="1"/>
          <p:nvPr/>
        </p:nvSpPr>
        <p:spPr>
          <a:xfrm>
            <a:off x="1173609" y="31557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570" name="Google Shape;1570;p94"/>
          <p:cNvSpPr txBox="1"/>
          <p:nvPr/>
        </p:nvSpPr>
        <p:spPr>
          <a:xfrm>
            <a:off x="4069209" y="31557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571" name="Google Shape;1571;p94"/>
          <p:cNvSpPr txBox="1"/>
          <p:nvPr/>
        </p:nvSpPr>
        <p:spPr>
          <a:xfrm>
            <a:off x="6964809" y="3135535"/>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5" name="Shape 1575"/>
        <p:cNvGrpSpPr/>
        <p:nvPr/>
      </p:nvGrpSpPr>
      <p:grpSpPr>
        <a:xfrm>
          <a:off x="0" y="0"/>
          <a:ext cx="0" cy="0"/>
          <a:chOff x="0" y="0"/>
          <a:chExt cx="0" cy="0"/>
        </a:xfrm>
      </p:grpSpPr>
      <p:sp>
        <p:nvSpPr>
          <p:cNvPr id="1576" name="Google Shape;1576;p95"/>
          <p:cNvSpPr txBox="1"/>
          <p:nvPr>
            <p:ph idx="1" type="body"/>
          </p:nvPr>
        </p:nvSpPr>
        <p:spPr>
          <a:xfrm>
            <a:off x="324000" y="759300"/>
            <a:ext cx="85356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a similar method be used for this obtuse angle?</a:t>
            </a:r>
            <a:endParaRPr sz="1800"/>
          </a:p>
        </p:txBody>
      </p:sp>
      <p:sp>
        <p:nvSpPr>
          <p:cNvPr id="1577" name="Google Shape;1577;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578" name="Google Shape;1578;p95"/>
          <p:cNvPicPr preferRelativeResize="0"/>
          <p:nvPr/>
        </p:nvPicPr>
        <p:blipFill>
          <a:blip r:embed="rId3">
            <a:alphaModFix/>
          </a:blip>
          <a:stretch>
            <a:fillRect/>
          </a:stretch>
        </p:blipFill>
        <p:spPr>
          <a:xfrm flipH="1">
            <a:off x="7460383" y="2550137"/>
            <a:ext cx="727174" cy="909325"/>
          </a:xfrm>
          <a:prstGeom prst="rect">
            <a:avLst/>
          </a:prstGeom>
          <a:noFill/>
          <a:ln>
            <a:noFill/>
          </a:ln>
        </p:spPr>
      </p:pic>
      <p:sp>
        <p:nvSpPr>
          <p:cNvPr id="1579" name="Google Shape;1579;p95"/>
          <p:cNvSpPr txBox="1"/>
          <p:nvPr/>
        </p:nvSpPr>
        <p:spPr>
          <a:xfrm>
            <a:off x="7381313" y="3501450"/>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p:txBody>
      </p:sp>
      <p:pic>
        <p:nvPicPr>
          <p:cNvPr id="1580" name="Google Shape;1580;p95"/>
          <p:cNvPicPr preferRelativeResize="0"/>
          <p:nvPr/>
        </p:nvPicPr>
        <p:blipFill rotWithShape="1">
          <a:blip r:embed="rId4">
            <a:alphaModFix/>
          </a:blip>
          <a:srcRect b="43690" l="0" r="57905" t="0"/>
          <a:stretch/>
        </p:blipFill>
        <p:spPr>
          <a:xfrm>
            <a:off x="5131975" y="1370275"/>
            <a:ext cx="2760648" cy="1259525"/>
          </a:xfrm>
          <a:prstGeom prst="rect">
            <a:avLst/>
          </a:prstGeom>
          <a:noFill/>
          <a:ln>
            <a:noFill/>
          </a:ln>
        </p:spPr>
      </p:pic>
      <p:sp>
        <p:nvSpPr>
          <p:cNvPr id="1581" name="Google Shape;1581;p95"/>
          <p:cNvSpPr txBox="1"/>
          <p:nvPr>
            <p:ph idx="1" type="body"/>
          </p:nvPr>
        </p:nvSpPr>
        <p:spPr>
          <a:xfrm>
            <a:off x="5238414" y="1398872"/>
            <a:ext cx="2390100" cy="109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 think you can create a right-angled triangle.</a:t>
            </a:r>
            <a:r>
              <a:rPr lang="en-GB" sz="1800"/>
              <a:t> </a:t>
            </a:r>
            <a:endParaRPr sz="1800"/>
          </a:p>
        </p:txBody>
      </p:sp>
      <p:pic>
        <p:nvPicPr>
          <p:cNvPr id="1582" name="Google Shape;1582;p95"/>
          <p:cNvPicPr preferRelativeResize="0"/>
          <p:nvPr/>
        </p:nvPicPr>
        <p:blipFill>
          <a:blip r:embed="rId5">
            <a:alphaModFix/>
          </a:blip>
          <a:stretch>
            <a:fillRect/>
          </a:stretch>
        </p:blipFill>
        <p:spPr>
          <a:xfrm>
            <a:off x="561700" y="1462200"/>
            <a:ext cx="3282425" cy="2339250"/>
          </a:xfrm>
          <a:prstGeom prst="rect">
            <a:avLst/>
          </a:prstGeom>
          <a:noFill/>
          <a:ln cap="flat" cmpd="sng" w="9525">
            <a:solidFill>
              <a:schemeClr val="dk1"/>
            </a:solidFill>
            <a:prstDash val="solid"/>
            <a:round/>
            <a:headEnd len="sm" w="sm" type="none"/>
            <a:tailEnd len="sm" w="sm" type="none"/>
          </a:ln>
        </p:spPr>
      </p:pic>
      <p:sp>
        <p:nvSpPr>
          <p:cNvPr id="1583" name="Google Shape;1583;p95"/>
          <p:cNvSpPr txBox="1"/>
          <p:nvPr>
            <p:ph idx="1" type="body"/>
          </p:nvPr>
        </p:nvSpPr>
        <p:spPr>
          <a:xfrm>
            <a:off x="4062650" y="2901600"/>
            <a:ext cx="32898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Do you agree with Jun?</a:t>
            </a:r>
            <a:endParaRPr sz="1800"/>
          </a:p>
        </p:txBody>
      </p:sp>
      <p:sp>
        <p:nvSpPr>
          <p:cNvPr id="1584" name="Google Shape;1584;p95"/>
          <p:cNvSpPr txBox="1"/>
          <p:nvPr>
            <p:ph idx="1" type="body"/>
          </p:nvPr>
        </p:nvSpPr>
        <p:spPr>
          <a:xfrm>
            <a:off x="4062650" y="3435000"/>
            <a:ext cx="32898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There is more than one place that a useful right-angled triangle can be drawn.</a:t>
            </a:r>
            <a:endParaRPr sz="2000">
              <a:latin typeface="Kalam"/>
              <a:ea typeface="Kalam"/>
              <a:cs typeface="Kalam"/>
              <a:sym typeface="Kalam"/>
            </a:endParaRPr>
          </a:p>
        </p:txBody>
      </p:sp>
      <p:cxnSp>
        <p:nvCxnSpPr>
          <p:cNvPr id="1585" name="Google Shape;1585;p95"/>
          <p:cNvCxnSpPr/>
          <p:nvPr/>
        </p:nvCxnSpPr>
        <p:spPr>
          <a:xfrm rot="10800000">
            <a:off x="1505275" y="2398050"/>
            <a:ext cx="0" cy="939600"/>
          </a:xfrm>
          <a:prstGeom prst="straightConnector1">
            <a:avLst/>
          </a:prstGeom>
          <a:noFill/>
          <a:ln cap="flat" cmpd="sng" w="28575">
            <a:solidFill>
              <a:schemeClr val="accent5"/>
            </a:solidFill>
            <a:prstDash val="dash"/>
            <a:round/>
            <a:headEnd len="med" w="med" type="none"/>
            <a:tailEnd len="med" w="med" type="none"/>
          </a:ln>
        </p:spPr>
      </p:cxnSp>
      <p:cxnSp>
        <p:nvCxnSpPr>
          <p:cNvPr id="1586" name="Google Shape;1586;p95"/>
          <p:cNvCxnSpPr/>
          <p:nvPr/>
        </p:nvCxnSpPr>
        <p:spPr>
          <a:xfrm rot="10800000">
            <a:off x="1975075" y="2867850"/>
            <a:ext cx="0" cy="939600"/>
          </a:xfrm>
          <a:prstGeom prst="straightConnector1">
            <a:avLst/>
          </a:prstGeom>
          <a:noFill/>
          <a:ln cap="flat" cmpd="sng" w="28575">
            <a:solidFill>
              <a:schemeClr val="accent5"/>
            </a:solidFill>
            <a:prstDash val="dash"/>
            <a:round/>
            <a:headEnd len="med" w="med" type="none"/>
            <a:tailEnd len="med" w="med" type="none"/>
          </a:ln>
        </p:spPr>
      </p:cxnSp>
      <p:sp>
        <p:nvSpPr>
          <p:cNvPr id="1587" name="Google Shape;1587;p95"/>
          <p:cNvSpPr/>
          <p:nvPr/>
        </p:nvSpPr>
        <p:spPr>
          <a:xfrm>
            <a:off x="1505275" y="3179850"/>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8" name="Google Shape;1588;p95"/>
          <p:cNvSpPr/>
          <p:nvPr/>
        </p:nvSpPr>
        <p:spPr>
          <a:xfrm>
            <a:off x="2213675" y="3117108"/>
            <a:ext cx="431700" cy="431700"/>
          </a:xfrm>
          <a:prstGeom prst="pie">
            <a:avLst>
              <a:gd fmla="val 10751100" name="adj1"/>
              <a:gd fmla="val 1344967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89" name="Google Shape;1589;p95"/>
          <p:cNvSpPr txBox="1"/>
          <p:nvPr/>
        </p:nvSpPr>
        <p:spPr>
          <a:xfrm>
            <a:off x="2697609" y="28509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3" name="Shape 1593"/>
        <p:cNvGrpSpPr/>
        <p:nvPr/>
      </p:nvGrpSpPr>
      <p:grpSpPr>
        <a:xfrm>
          <a:off x="0" y="0"/>
          <a:ext cx="0" cy="0"/>
          <a:chOff x="0" y="0"/>
          <a:chExt cx="0" cy="0"/>
        </a:xfrm>
      </p:grpSpPr>
      <p:sp>
        <p:nvSpPr>
          <p:cNvPr id="1594" name="Google Shape;1594;p96"/>
          <p:cNvSpPr txBox="1"/>
          <p:nvPr>
            <p:ph idx="1" type="body"/>
          </p:nvPr>
        </p:nvSpPr>
        <p:spPr>
          <a:xfrm>
            <a:off x="324000" y="759300"/>
            <a:ext cx="85356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Can a similar method be used for this obtuse angle?</a:t>
            </a:r>
            <a:endParaRPr sz="1800"/>
          </a:p>
        </p:txBody>
      </p:sp>
      <p:sp>
        <p:nvSpPr>
          <p:cNvPr id="1595" name="Google Shape;1595;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596" name="Google Shape;1596;p96"/>
          <p:cNvPicPr preferRelativeResize="0"/>
          <p:nvPr/>
        </p:nvPicPr>
        <p:blipFill>
          <a:blip r:embed="rId3">
            <a:alphaModFix/>
          </a:blip>
          <a:stretch>
            <a:fillRect/>
          </a:stretch>
        </p:blipFill>
        <p:spPr>
          <a:xfrm>
            <a:off x="561700" y="1462200"/>
            <a:ext cx="3282425" cy="2339250"/>
          </a:xfrm>
          <a:prstGeom prst="rect">
            <a:avLst/>
          </a:prstGeom>
          <a:noFill/>
          <a:ln cap="flat" cmpd="sng" w="9525">
            <a:solidFill>
              <a:schemeClr val="dk1"/>
            </a:solidFill>
            <a:prstDash val="solid"/>
            <a:round/>
            <a:headEnd len="sm" w="sm" type="none"/>
            <a:tailEnd len="sm" w="sm" type="none"/>
          </a:ln>
        </p:spPr>
      </p:pic>
      <p:sp>
        <p:nvSpPr>
          <p:cNvPr id="1597" name="Google Shape;1597;p96"/>
          <p:cNvSpPr txBox="1"/>
          <p:nvPr>
            <p:ph idx="1" type="body"/>
          </p:nvPr>
        </p:nvSpPr>
        <p:spPr>
          <a:xfrm>
            <a:off x="4320000" y="1358200"/>
            <a:ext cx="45000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This triangle means we can calculate the angle </a:t>
            </a:r>
            <a:r>
              <a:rPr lang="en-GB" sz="1800"/>
              <a:t>𝛼 and then subtract it from 180°.</a:t>
            </a:r>
            <a:r>
              <a:rPr lang="en-GB" sz="1800"/>
              <a:t>  </a:t>
            </a:r>
            <a:endParaRPr sz="1800"/>
          </a:p>
        </p:txBody>
      </p:sp>
      <p:cxnSp>
        <p:nvCxnSpPr>
          <p:cNvPr id="1598" name="Google Shape;1598;p96"/>
          <p:cNvCxnSpPr/>
          <p:nvPr/>
        </p:nvCxnSpPr>
        <p:spPr>
          <a:xfrm rot="10800000">
            <a:off x="1505275" y="2398050"/>
            <a:ext cx="0" cy="939600"/>
          </a:xfrm>
          <a:prstGeom prst="straightConnector1">
            <a:avLst/>
          </a:prstGeom>
          <a:noFill/>
          <a:ln cap="flat" cmpd="sng" w="28575">
            <a:solidFill>
              <a:schemeClr val="accent5"/>
            </a:solidFill>
            <a:prstDash val="dash"/>
            <a:round/>
            <a:headEnd len="med" w="med" type="none"/>
            <a:tailEnd len="med" w="med" type="none"/>
          </a:ln>
        </p:spPr>
      </p:cxnSp>
      <p:cxnSp>
        <p:nvCxnSpPr>
          <p:cNvPr id="1599" name="Google Shape;1599;p96"/>
          <p:cNvCxnSpPr/>
          <p:nvPr/>
        </p:nvCxnSpPr>
        <p:spPr>
          <a:xfrm rot="10800000">
            <a:off x="1975075" y="2867850"/>
            <a:ext cx="0" cy="939600"/>
          </a:xfrm>
          <a:prstGeom prst="straightConnector1">
            <a:avLst/>
          </a:prstGeom>
          <a:noFill/>
          <a:ln cap="flat" cmpd="sng" w="28575">
            <a:solidFill>
              <a:schemeClr val="accent5"/>
            </a:solidFill>
            <a:prstDash val="dash"/>
            <a:round/>
            <a:headEnd len="med" w="med" type="none"/>
            <a:tailEnd len="med" w="med" type="none"/>
          </a:ln>
        </p:spPr>
      </p:cxnSp>
      <p:sp>
        <p:nvSpPr>
          <p:cNvPr id="1600" name="Google Shape;1600;p96"/>
          <p:cNvSpPr/>
          <p:nvPr/>
        </p:nvSpPr>
        <p:spPr>
          <a:xfrm>
            <a:off x="1505275" y="3179850"/>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1" name="Google Shape;1601;p96"/>
          <p:cNvSpPr/>
          <p:nvPr/>
        </p:nvSpPr>
        <p:spPr>
          <a:xfrm>
            <a:off x="2213675" y="3117108"/>
            <a:ext cx="431700" cy="431700"/>
          </a:xfrm>
          <a:prstGeom prst="pie">
            <a:avLst>
              <a:gd fmla="val 10751100" name="adj1"/>
              <a:gd fmla="val 1344967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02" name="Google Shape;1602;p96"/>
          <p:cNvSpPr txBox="1"/>
          <p:nvPr/>
        </p:nvSpPr>
        <p:spPr>
          <a:xfrm>
            <a:off x="2697609" y="28509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603" name="Google Shape;1603;p96"/>
          <p:cNvSpPr txBox="1"/>
          <p:nvPr/>
        </p:nvSpPr>
        <p:spPr>
          <a:xfrm>
            <a:off x="1941584" y="3057879"/>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𝛼</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7" name="Shape 1607"/>
        <p:cNvGrpSpPr/>
        <p:nvPr/>
      </p:nvGrpSpPr>
      <p:grpSpPr>
        <a:xfrm>
          <a:off x="0" y="0"/>
          <a:ext cx="0" cy="0"/>
          <a:chOff x="0" y="0"/>
          <a:chExt cx="0" cy="0"/>
        </a:xfrm>
      </p:grpSpPr>
      <p:sp>
        <p:nvSpPr>
          <p:cNvPr id="1608" name="Google Shape;1608;p9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Calculate</a:t>
            </a:r>
            <a:r>
              <a:rPr lang="en-GB" sz="1800"/>
              <a:t> the angle </a:t>
            </a:r>
            <a:r>
              <a:rPr lang="en-GB" sz="1800"/>
              <a:t>𝜃.</a:t>
            </a:r>
            <a:r>
              <a:rPr lang="en-GB" sz="1800"/>
              <a:t> </a:t>
            </a:r>
            <a:endParaRPr sz="1800"/>
          </a:p>
        </p:txBody>
      </p:sp>
      <p:sp>
        <p:nvSpPr>
          <p:cNvPr id="1609" name="Google Shape;1609;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pic>
        <p:nvPicPr>
          <p:cNvPr id="1610" name="Google Shape;1610;p97"/>
          <p:cNvPicPr preferRelativeResize="0"/>
          <p:nvPr/>
        </p:nvPicPr>
        <p:blipFill>
          <a:blip r:embed="rId3">
            <a:alphaModFix/>
          </a:blip>
          <a:stretch>
            <a:fillRect/>
          </a:stretch>
        </p:blipFill>
        <p:spPr>
          <a:xfrm>
            <a:off x="561700" y="1462200"/>
            <a:ext cx="3282425" cy="2339250"/>
          </a:xfrm>
          <a:prstGeom prst="rect">
            <a:avLst/>
          </a:prstGeom>
          <a:noFill/>
          <a:ln cap="flat" cmpd="sng" w="9525">
            <a:solidFill>
              <a:schemeClr val="dk1"/>
            </a:solidFill>
            <a:prstDash val="solid"/>
            <a:round/>
            <a:headEnd len="sm" w="sm" type="none"/>
            <a:tailEnd len="sm" w="sm" type="none"/>
          </a:ln>
        </p:spPr>
      </p:pic>
      <p:cxnSp>
        <p:nvCxnSpPr>
          <p:cNvPr id="1611" name="Google Shape;1611;p97"/>
          <p:cNvCxnSpPr/>
          <p:nvPr/>
        </p:nvCxnSpPr>
        <p:spPr>
          <a:xfrm rot="10800000">
            <a:off x="1505275" y="2398050"/>
            <a:ext cx="0" cy="939600"/>
          </a:xfrm>
          <a:prstGeom prst="straightConnector1">
            <a:avLst/>
          </a:prstGeom>
          <a:noFill/>
          <a:ln cap="flat" cmpd="sng" w="28575">
            <a:solidFill>
              <a:schemeClr val="accent5"/>
            </a:solidFill>
            <a:prstDash val="dash"/>
            <a:round/>
            <a:headEnd len="med" w="med" type="none"/>
            <a:tailEnd len="med" w="med" type="none"/>
          </a:ln>
        </p:spPr>
      </p:cxnSp>
      <p:cxnSp>
        <p:nvCxnSpPr>
          <p:cNvPr id="1612" name="Google Shape;1612;p97"/>
          <p:cNvCxnSpPr/>
          <p:nvPr/>
        </p:nvCxnSpPr>
        <p:spPr>
          <a:xfrm rot="10800000">
            <a:off x="1975075" y="2867850"/>
            <a:ext cx="0" cy="939600"/>
          </a:xfrm>
          <a:prstGeom prst="straightConnector1">
            <a:avLst/>
          </a:prstGeom>
          <a:noFill/>
          <a:ln cap="flat" cmpd="sng" w="28575">
            <a:solidFill>
              <a:schemeClr val="accent5"/>
            </a:solidFill>
            <a:prstDash val="dash"/>
            <a:round/>
            <a:headEnd len="med" w="med" type="none"/>
            <a:tailEnd len="med" w="med" type="none"/>
          </a:ln>
        </p:spPr>
      </p:cxnSp>
      <p:sp>
        <p:nvSpPr>
          <p:cNvPr id="1613" name="Google Shape;1613;p97"/>
          <p:cNvSpPr/>
          <p:nvPr/>
        </p:nvSpPr>
        <p:spPr>
          <a:xfrm>
            <a:off x="1505275" y="3179850"/>
            <a:ext cx="157800" cy="157800"/>
          </a:xfrm>
          <a:prstGeom prst="rect">
            <a:avLst/>
          </a:prstGeom>
          <a:no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4" name="Google Shape;1614;p97"/>
          <p:cNvSpPr/>
          <p:nvPr/>
        </p:nvSpPr>
        <p:spPr>
          <a:xfrm>
            <a:off x="2213675" y="3117108"/>
            <a:ext cx="431700" cy="431700"/>
          </a:xfrm>
          <a:prstGeom prst="pie">
            <a:avLst>
              <a:gd fmla="val 10751100" name="adj1"/>
              <a:gd fmla="val 13449676" name="adj2"/>
            </a:avLst>
          </a:prstGeom>
          <a:solidFill>
            <a:schemeClr val="lt1"/>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5" name="Google Shape;1615;p97"/>
          <p:cNvSpPr txBox="1"/>
          <p:nvPr/>
        </p:nvSpPr>
        <p:spPr>
          <a:xfrm>
            <a:off x="2697609" y="285093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616" name="Google Shape;1616;p97"/>
          <p:cNvSpPr txBox="1"/>
          <p:nvPr/>
        </p:nvSpPr>
        <p:spPr>
          <a:xfrm>
            <a:off x="1941584" y="3057879"/>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𝛼</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cxnSp>
        <p:nvCxnSpPr>
          <p:cNvPr id="1617" name="Google Shape;1617;p97"/>
          <p:cNvCxnSpPr/>
          <p:nvPr/>
        </p:nvCxnSpPr>
        <p:spPr>
          <a:xfrm rot="10800000">
            <a:off x="1400250" y="2398050"/>
            <a:ext cx="0" cy="939600"/>
          </a:xfrm>
          <a:prstGeom prst="straightConnector1">
            <a:avLst/>
          </a:prstGeom>
          <a:noFill/>
          <a:ln cap="flat" cmpd="sng" w="28575">
            <a:solidFill>
              <a:schemeClr val="dk1"/>
            </a:solidFill>
            <a:prstDash val="solid"/>
            <a:round/>
            <a:headEnd len="med" w="med" type="triangle"/>
            <a:tailEnd len="med" w="med" type="triangle"/>
          </a:ln>
        </p:spPr>
      </p:cxnSp>
      <p:cxnSp>
        <p:nvCxnSpPr>
          <p:cNvPr id="1618" name="Google Shape;1618;p97"/>
          <p:cNvCxnSpPr/>
          <p:nvPr/>
        </p:nvCxnSpPr>
        <p:spPr>
          <a:xfrm rot="10800000">
            <a:off x="1975075" y="2955900"/>
            <a:ext cx="0" cy="939600"/>
          </a:xfrm>
          <a:prstGeom prst="straightConnector1">
            <a:avLst/>
          </a:prstGeom>
          <a:noFill/>
          <a:ln cap="flat" cmpd="sng" w="28575">
            <a:solidFill>
              <a:schemeClr val="dk1"/>
            </a:solidFill>
            <a:prstDash val="solid"/>
            <a:round/>
            <a:headEnd len="med" w="med" type="triangle"/>
            <a:tailEnd len="med" w="med" type="triangle"/>
          </a:ln>
        </p:spPr>
      </p:cxnSp>
      <p:sp>
        <p:nvSpPr>
          <p:cNvPr id="1619" name="Google Shape;1619;p97"/>
          <p:cNvSpPr txBox="1"/>
          <p:nvPr/>
        </p:nvSpPr>
        <p:spPr>
          <a:xfrm>
            <a:off x="1896305" y="3444964"/>
            <a:ext cx="1962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a:t>
            </a:r>
            <a:endParaRPr sz="1800">
              <a:solidFill>
                <a:srgbClr val="000000"/>
              </a:solidFill>
              <a:latin typeface="Lexend"/>
              <a:ea typeface="Lexend"/>
              <a:cs typeface="Lexend"/>
              <a:sym typeface="Lexend"/>
            </a:endParaRPr>
          </a:p>
        </p:txBody>
      </p:sp>
      <p:sp>
        <p:nvSpPr>
          <p:cNvPr id="1620" name="Google Shape;1620;p97"/>
          <p:cNvSpPr txBox="1"/>
          <p:nvPr/>
        </p:nvSpPr>
        <p:spPr>
          <a:xfrm>
            <a:off x="1172920" y="2783877"/>
            <a:ext cx="1962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4</a:t>
            </a:r>
            <a:endParaRPr sz="1800">
              <a:solidFill>
                <a:srgbClr val="000000"/>
              </a:solidFill>
              <a:latin typeface="Lexend"/>
              <a:ea typeface="Lexend"/>
              <a:cs typeface="Lexend"/>
              <a:sym typeface="Lexend"/>
            </a:endParaRPr>
          </a:p>
        </p:txBody>
      </p:sp>
      <p:sp>
        <p:nvSpPr>
          <p:cNvPr id="1621" name="Google Shape;1621;p97"/>
          <p:cNvSpPr txBox="1"/>
          <p:nvPr/>
        </p:nvSpPr>
        <p:spPr>
          <a:xfrm>
            <a:off x="4512600" y="17050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tan(</a:t>
            </a:r>
            <a:r>
              <a:rPr lang="en-GB" sz="2000">
                <a:solidFill>
                  <a:schemeClr val="dk1"/>
                </a:solidFill>
                <a:latin typeface="Times New Roman"/>
                <a:ea typeface="Times New Roman"/>
                <a:cs typeface="Times New Roman"/>
                <a:sym typeface="Times New Roman"/>
              </a:rPr>
              <a:t>𝛼</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1622" name="Google Shape;1622;p97"/>
          <p:cNvSpPr txBox="1"/>
          <p:nvPr/>
        </p:nvSpPr>
        <p:spPr>
          <a:xfrm>
            <a:off x="5601488" y="15630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4 </a:t>
            </a:r>
            <a:endParaRPr sz="2000">
              <a:solidFill>
                <a:schemeClr val="dk1"/>
              </a:solidFill>
              <a:latin typeface="Times New Roman"/>
              <a:ea typeface="Times New Roman"/>
              <a:cs typeface="Times New Roman"/>
              <a:sym typeface="Times New Roman"/>
            </a:endParaRPr>
          </a:p>
        </p:txBody>
      </p:sp>
      <p:sp>
        <p:nvSpPr>
          <p:cNvPr id="1623" name="Google Shape;1623;p97"/>
          <p:cNvSpPr txBox="1"/>
          <p:nvPr/>
        </p:nvSpPr>
        <p:spPr>
          <a:xfrm>
            <a:off x="5602575" y="18572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4</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cxnSp>
        <p:nvCxnSpPr>
          <p:cNvPr id="1624" name="Google Shape;1624;p97"/>
          <p:cNvCxnSpPr/>
          <p:nvPr/>
        </p:nvCxnSpPr>
        <p:spPr>
          <a:xfrm>
            <a:off x="5534400" y="1869773"/>
            <a:ext cx="294300" cy="0"/>
          </a:xfrm>
          <a:prstGeom prst="straightConnector1">
            <a:avLst/>
          </a:prstGeom>
          <a:noFill/>
          <a:ln cap="flat" cmpd="sng" w="19050">
            <a:solidFill>
              <a:schemeClr val="dk1"/>
            </a:solidFill>
            <a:prstDash val="solid"/>
            <a:round/>
            <a:headEnd len="med" w="med" type="none"/>
            <a:tailEnd len="med" w="med" type="none"/>
          </a:ln>
        </p:spPr>
      </p:cxnSp>
      <p:sp>
        <p:nvSpPr>
          <p:cNvPr id="1625" name="Google Shape;1625;p97"/>
          <p:cNvSpPr txBox="1"/>
          <p:nvPr/>
        </p:nvSpPr>
        <p:spPr>
          <a:xfrm>
            <a:off x="4987118" y="22817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𝛼</a:t>
            </a:r>
            <a:r>
              <a:rPr lang="en-GB" sz="2000">
                <a:solidFill>
                  <a:schemeClr val="dk1"/>
                </a:solidFill>
                <a:latin typeface="Times New Roman"/>
                <a:ea typeface="Times New Roman"/>
                <a:cs typeface="Times New Roman"/>
                <a:sym typeface="Times New Roman"/>
              </a:rPr>
              <a:t>° = tan</a:t>
            </a:r>
            <a:r>
              <a:rPr baseline="30000"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 (1)</a:t>
            </a:r>
            <a:endParaRPr sz="2000">
              <a:solidFill>
                <a:schemeClr val="dk1"/>
              </a:solidFill>
              <a:latin typeface="Times New Roman"/>
              <a:ea typeface="Times New Roman"/>
              <a:cs typeface="Times New Roman"/>
              <a:sym typeface="Times New Roman"/>
            </a:endParaRPr>
          </a:p>
        </p:txBody>
      </p:sp>
      <p:sp>
        <p:nvSpPr>
          <p:cNvPr id="1626" name="Google Shape;1626;p97"/>
          <p:cNvSpPr txBox="1"/>
          <p:nvPr/>
        </p:nvSpPr>
        <p:spPr>
          <a:xfrm>
            <a:off x="4987118" y="28151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𝛼</a:t>
            </a:r>
            <a:r>
              <a:rPr lang="en-GB" sz="2000">
                <a:solidFill>
                  <a:schemeClr val="dk1"/>
                </a:solidFill>
                <a:latin typeface="Times New Roman"/>
                <a:ea typeface="Times New Roman"/>
                <a:cs typeface="Times New Roman"/>
                <a:sym typeface="Times New Roman"/>
              </a:rPr>
              <a:t>° = 45° </a:t>
            </a:r>
            <a:endParaRPr sz="2000">
              <a:solidFill>
                <a:schemeClr val="dk1"/>
              </a:solidFill>
              <a:latin typeface="Times New Roman"/>
              <a:ea typeface="Times New Roman"/>
              <a:cs typeface="Times New Roman"/>
              <a:sym typeface="Times New Roman"/>
            </a:endParaRPr>
          </a:p>
        </p:txBody>
      </p:sp>
      <p:sp>
        <p:nvSpPr>
          <p:cNvPr id="1627" name="Google Shape;1627;p97"/>
          <p:cNvSpPr txBox="1"/>
          <p:nvPr/>
        </p:nvSpPr>
        <p:spPr>
          <a:xfrm>
            <a:off x="4987126" y="3348525"/>
            <a:ext cx="23085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𝜃</a:t>
            </a:r>
            <a:r>
              <a:rPr lang="en-GB" sz="2000">
                <a:solidFill>
                  <a:schemeClr val="dk1"/>
                </a:solidFill>
                <a:latin typeface="Times New Roman"/>
                <a:ea typeface="Times New Roman"/>
                <a:cs typeface="Times New Roman"/>
                <a:sym typeface="Times New Roman"/>
              </a:rPr>
              <a:t>° = 180 - 45 = 135° </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1" name="Shape 1631"/>
        <p:cNvGrpSpPr/>
        <p:nvPr/>
      </p:nvGrpSpPr>
      <p:grpSpPr>
        <a:xfrm>
          <a:off x="0" y="0"/>
          <a:ext cx="0" cy="0"/>
          <a:chOff x="0" y="0"/>
          <a:chExt cx="0" cy="0"/>
        </a:xfrm>
      </p:grpSpPr>
      <p:sp>
        <p:nvSpPr>
          <p:cNvPr id="1632" name="Google Shape;1632;p98"/>
          <p:cNvSpPr txBox="1"/>
          <p:nvPr>
            <p:ph idx="1" type="body"/>
          </p:nvPr>
        </p:nvSpPr>
        <p:spPr>
          <a:xfrm>
            <a:off x="324000" y="759300"/>
            <a:ext cx="85356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yacht leaves a port and travels 60 km due East and then 40 km due South.</a:t>
            </a:r>
            <a:endParaRPr sz="1800"/>
          </a:p>
        </p:txBody>
      </p:sp>
      <p:sp>
        <p:nvSpPr>
          <p:cNvPr id="1633" name="Google Shape;1633;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634" name="Google Shape;1634;p98"/>
          <p:cNvSpPr/>
          <p:nvPr/>
        </p:nvSpPr>
        <p:spPr>
          <a:xfrm>
            <a:off x="537900" y="1788313"/>
            <a:ext cx="54000" cy="54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5" name="Google Shape;1635;p98"/>
          <p:cNvSpPr txBox="1"/>
          <p:nvPr>
            <p:ph idx="1" type="body"/>
          </p:nvPr>
        </p:nvSpPr>
        <p:spPr>
          <a:xfrm>
            <a:off x="361200" y="1421825"/>
            <a:ext cx="5598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port</a:t>
            </a:r>
            <a:endParaRPr sz="1800"/>
          </a:p>
        </p:txBody>
      </p:sp>
      <p:cxnSp>
        <p:nvCxnSpPr>
          <p:cNvPr id="1636" name="Google Shape;1636;p98"/>
          <p:cNvCxnSpPr/>
          <p:nvPr/>
        </p:nvCxnSpPr>
        <p:spPr>
          <a:xfrm>
            <a:off x="671512" y="1820940"/>
            <a:ext cx="2734500" cy="0"/>
          </a:xfrm>
          <a:prstGeom prst="straightConnector1">
            <a:avLst/>
          </a:prstGeom>
          <a:noFill/>
          <a:ln cap="flat" cmpd="sng" w="38100">
            <a:solidFill>
              <a:schemeClr val="accent5"/>
            </a:solidFill>
            <a:prstDash val="solid"/>
            <a:round/>
            <a:headEnd len="med" w="med" type="none"/>
            <a:tailEnd len="med" w="med" type="triangle"/>
          </a:ln>
        </p:spPr>
      </p:cxnSp>
      <p:cxnSp>
        <p:nvCxnSpPr>
          <p:cNvPr id="1637" name="Google Shape;1637;p98"/>
          <p:cNvCxnSpPr/>
          <p:nvPr/>
        </p:nvCxnSpPr>
        <p:spPr>
          <a:xfrm>
            <a:off x="3473200" y="1800025"/>
            <a:ext cx="0" cy="1602300"/>
          </a:xfrm>
          <a:prstGeom prst="straightConnector1">
            <a:avLst/>
          </a:prstGeom>
          <a:noFill/>
          <a:ln cap="flat" cmpd="sng" w="38100">
            <a:solidFill>
              <a:schemeClr val="accent5"/>
            </a:solidFill>
            <a:prstDash val="solid"/>
            <a:round/>
            <a:headEnd len="med" w="med" type="none"/>
            <a:tailEnd len="med" w="med" type="triangle"/>
          </a:ln>
        </p:spPr>
      </p:cxnSp>
      <p:grpSp>
        <p:nvGrpSpPr>
          <p:cNvPr id="1638" name="Google Shape;1638;p98"/>
          <p:cNvGrpSpPr/>
          <p:nvPr/>
        </p:nvGrpSpPr>
        <p:grpSpPr>
          <a:xfrm>
            <a:off x="630509" y="1243125"/>
            <a:ext cx="671252" cy="627979"/>
            <a:chOff x="630509" y="1776525"/>
            <a:chExt cx="671252" cy="627979"/>
          </a:xfrm>
        </p:grpSpPr>
        <p:pic>
          <p:nvPicPr>
            <p:cNvPr id="1639" name="Google Shape;1639;p98"/>
            <p:cNvPicPr preferRelativeResize="0"/>
            <p:nvPr/>
          </p:nvPicPr>
          <p:blipFill rotWithShape="1">
            <a:blip r:embed="rId3">
              <a:alphaModFix/>
            </a:blip>
            <a:srcRect b="4698" l="15968" r="17828" t="0"/>
            <a:stretch/>
          </p:blipFill>
          <p:spPr>
            <a:xfrm>
              <a:off x="630509" y="1776525"/>
              <a:ext cx="671252" cy="627979"/>
            </a:xfrm>
            <a:prstGeom prst="rect">
              <a:avLst/>
            </a:prstGeom>
            <a:noFill/>
            <a:ln>
              <a:noFill/>
            </a:ln>
          </p:spPr>
        </p:pic>
        <p:sp>
          <p:nvSpPr>
            <p:cNvPr id="1640" name="Google Shape;1640;p98"/>
            <p:cNvSpPr/>
            <p:nvPr/>
          </p:nvSpPr>
          <p:spPr>
            <a:xfrm>
              <a:off x="813944" y="2024700"/>
              <a:ext cx="201600" cy="27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grpSp>
      <p:sp>
        <p:nvSpPr>
          <p:cNvPr id="1641" name="Google Shape;1641;p98"/>
          <p:cNvSpPr/>
          <p:nvPr/>
        </p:nvSpPr>
        <p:spPr>
          <a:xfrm>
            <a:off x="3203925" y="1243125"/>
            <a:ext cx="559800" cy="64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42" name="Google Shape;1642;p98"/>
          <p:cNvGrpSpPr/>
          <p:nvPr/>
        </p:nvGrpSpPr>
        <p:grpSpPr>
          <a:xfrm>
            <a:off x="3145109" y="1243125"/>
            <a:ext cx="671252" cy="627979"/>
            <a:chOff x="630509" y="1776525"/>
            <a:chExt cx="671252" cy="627979"/>
          </a:xfrm>
        </p:grpSpPr>
        <p:pic>
          <p:nvPicPr>
            <p:cNvPr id="1643" name="Google Shape;1643;p98"/>
            <p:cNvPicPr preferRelativeResize="0"/>
            <p:nvPr/>
          </p:nvPicPr>
          <p:blipFill rotWithShape="1">
            <a:blip r:embed="rId3">
              <a:alphaModFix/>
            </a:blip>
            <a:srcRect b="4698" l="15968" r="17828" t="0"/>
            <a:stretch/>
          </p:blipFill>
          <p:spPr>
            <a:xfrm>
              <a:off x="630509" y="1776525"/>
              <a:ext cx="671252" cy="627979"/>
            </a:xfrm>
            <a:prstGeom prst="rect">
              <a:avLst/>
            </a:prstGeom>
            <a:noFill/>
            <a:ln>
              <a:noFill/>
            </a:ln>
          </p:spPr>
        </p:pic>
        <p:sp>
          <p:nvSpPr>
            <p:cNvPr id="1644" name="Google Shape;1644;p98"/>
            <p:cNvSpPr/>
            <p:nvPr/>
          </p:nvSpPr>
          <p:spPr>
            <a:xfrm>
              <a:off x="813944" y="2024700"/>
              <a:ext cx="201600" cy="27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grpSp>
      <p:sp>
        <p:nvSpPr>
          <p:cNvPr id="1645" name="Google Shape;1645;p98"/>
          <p:cNvSpPr/>
          <p:nvPr/>
        </p:nvSpPr>
        <p:spPr>
          <a:xfrm>
            <a:off x="3203925" y="2932990"/>
            <a:ext cx="559800" cy="64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646" name="Google Shape;1646;p98"/>
          <p:cNvGrpSpPr/>
          <p:nvPr/>
        </p:nvGrpSpPr>
        <p:grpSpPr>
          <a:xfrm>
            <a:off x="3145109" y="2919525"/>
            <a:ext cx="671252" cy="627979"/>
            <a:chOff x="630509" y="1776525"/>
            <a:chExt cx="671252" cy="627979"/>
          </a:xfrm>
        </p:grpSpPr>
        <p:pic>
          <p:nvPicPr>
            <p:cNvPr id="1647" name="Google Shape;1647;p98"/>
            <p:cNvPicPr preferRelativeResize="0"/>
            <p:nvPr/>
          </p:nvPicPr>
          <p:blipFill rotWithShape="1">
            <a:blip r:embed="rId3">
              <a:alphaModFix/>
            </a:blip>
            <a:srcRect b="4698" l="15968" r="17828" t="0"/>
            <a:stretch/>
          </p:blipFill>
          <p:spPr>
            <a:xfrm>
              <a:off x="630509" y="1776525"/>
              <a:ext cx="671252" cy="627979"/>
            </a:xfrm>
            <a:prstGeom prst="rect">
              <a:avLst/>
            </a:prstGeom>
            <a:noFill/>
            <a:ln>
              <a:noFill/>
            </a:ln>
          </p:spPr>
        </p:pic>
        <p:sp>
          <p:nvSpPr>
            <p:cNvPr id="1648" name="Google Shape;1648;p98"/>
            <p:cNvSpPr/>
            <p:nvPr/>
          </p:nvSpPr>
          <p:spPr>
            <a:xfrm>
              <a:off x="813944" y="2024700"/>
              <a:ext cx="201600" cy="27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1</a:t>
              </a:r>
              <a:endParaRPr sz="1800">
                <a:latin typeface="Lexend"/>
                <a:ea typeface="Lexend"/>
                <a:cs typeface="Lexend"/>
                <a:sym typeface="Lexend"/>
              </a:endParaRPr>
            </a:p>
          </p:txBody>
        </p:sp>
      </p:grpSp>
      <p:grpSp>
        <p:nvGrpSpPr>
          <p:cNvPr id="1649" name="Google Shape;1649;p98"/>
          <p:cNvGrpSpPr/>
          <p:nvPr/>
        </p:nvGrpSpPr>
        <p:grpSpPr>
          <a:xfrm>
            <a:off x="630509" y="1243125"/>
            <a:ext cx="671252" cy="627979"/>
            <a:chOff x="630509" y="1776525"/>
            <a:chExt cx="671252" cy="627979"/>
          </a:xfrm>
        </p:grpSpPr>
        <p:pic>
          <p:nvPicPr>
            <p:cNvPr id="1650" name="Google Shape;1650;p98"/>
            <p:cNvPicPr preferRelativeResize="0"/>
            <p:nvPr/>
          </p:nvPicPr>
          <p:blipFill rotWithShape="1">
            <a:blip r:embed="rId3">
              <a:alphaModFix/>
            </a:blip>
            <a:srcRect b="4698" l="15968" r="17828" t="0"/>
            <a:stretch/>
          </p:blipFill>
          <p:spPr>
            <a:xfrm>
              <a:off x="630509" y="1776525"/>
              <a:ext cx="671252" cy="627979"/>
            </a:xfrm>
            <a:prstGeom prst="rect">
              <a:avLst/>
            </a:prstGeom>
            <a:noFill/>
            <a:ln>
              <a:noFill/>
            </a:ln>
          </p:spPr>
        </p:pic>
        <p:sp>
          <p:nvSpPr>
            <p:cNvPr id="1651" name="Google Shape;1651;p98"/>
            <p:cNvSpPr/>
            <p:nvPr/>
          </p:nvSpPr>
          <p:spPr>
            <a:xfrm>
              <a:off x="813944" y="2024700"/>
              <a:ext cx="201600" cy="270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GB" sz="1800">
                  <a:latin typeface="Lexend"/>
                  <a:ea typeface="Lexend"/>
                  <a:cs typeface="Lexend"/>
                  <a:sym typeface="Lexend"/>
                </a:rPr>
                <a:t>2</a:t>
              </a:r>
              <a:endParaRPr sz="1800">
                <a:latin typeface="Lexend"/>
                <a:ea typeface="Lexend"/>
                <a:cs typeface="Lexend"/>
                <a:sym typeface="Lexend"/>
              </a:endParaRPr>
            </a:p>
          </p:txBody>
        </p:sp>
      </p:grpSp>
      <p:cxnSp>
        <p:nvCxnSpPr>
          <p:cNvPr id="1652" name="Google Shape;1652;p98"/>
          <p:cNvCxnSpPr>
            <a:endCxn id="1648" idx="1"/>
          </p:cNvCxnSpPr>
          <p:nvPr/>
        </p:nvCxnSpPr>
        <p:spPr>
          <a:xfrm>
            <a:off x="618644" y="1874100"/>
            <a:ext cx="2709900" cy="1428900"/>
          </a:xfrm>
          <a:prstGeom prst="straightConnector1">
            <a:avLst/>
          </a:prstGeom>
          <a:noFill/>
          <a:ln cap="flat" cmpd="sng" w="38100">
            <a:solidFill>
              <a:schemeClr val="dk2"/>
            </a:solidFill>
            <a:prstDash val="dash"/>
            <a:round/>
            <a:headEnd len="med" w="med" type="none"/>
            <a:tailEnd len="med" w="med" type="none"/>
          </a:ln>
        </p:spPr>
      </p:cxnSp>
      <p:sp>
        <p:nvSpPr>
          <p:cNvPr id="1653" name="Google Shape;1653;p98"/>
          <p:cNvSpPr/>
          <p:nvPr/>
        </p:nvSpPr>
        <p:spPr>
          <a:xfrm>
            <a:off x="-304200" y="960850"/>
            <a:ext cx="1729200" cy="1729200"/>
          </a:xfrm>
          <a:prstGeom prst="arc">
            <a:avLst>
              <a:gd fmla="val 21581032" name="adj1"/>
              <a:gd fmla="val 1543119" name="adj2"/>
            </a:avLst>
          </a:prstGeom>
          <a:noFill/>
          <a:ln cap="flat" cmpd="sng" w="38100">
            <a:solidFill>
              <a:schemeClr val="dk1"/>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4" name="Google Shape;1654;p98"/>
          <p:cNvSpPr txBox="1"/>
          <p:nvPr>
            <p:ph idx="1" type="body"/>
          </p:nvPr>
        </p:nvSpPr>
        <p:spPr>
          <a:xfrm>
            <a:off x="1809000" y="1498025"/>
            <a:ext cx="671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60 km</a:t>
            </a:r>
            <a:endParaRPr sz="1800"/>
          </a:p>
        </p:txBody>
      </p:sp>
      <p:sp>
        <p:nvSpPr>
          <p:cNvPr id="1655" name="Google Shape;1655;p98"/>
          <p:cNvSpPr txBox="1"/>
          <p:nvPr>
            <p:ph idx="1" type="body"/>
          </p:nvPr>
        </p:nvSpPr>
        <p:spPr>
          <a:xfrm>
            <a:off x="3561600" y="2336225"/>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r>
              <a:rPr lang="en-GB" sz="1800"/>
              <a:t>0 km</a:t>
            </a:r>
            <a:endParaRPr sz="1800"/>
          </a:p>
        </p:txBody>
      </p:sp>
      <p:sp>
        <p:nvSpPr>
          <p:cNvPr id="1656" name="Google Shape;1656;p98"/>
          <p:cNvSpPr txBox="1"/>
          <p:nvPr>
            <p:ph idx="1" type="body"/>
          </p:nvPr>
        </p:nvSpPr>
        <p:spPr>
          <a:xfrm>
            <a:off x="4512600" y="1396800"/>
            <a:ext cx="4209900" cy="702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another yacht was to leave the port, facing East and travel directly towards the first yacht, what angle should it turn through?</a:t>
            </a:r>
            <a:endParaRPr sz="1800"/>
          </a:p>
        </p:txBody>
      </p:sp>
      <p:sp>
        <p:nvSpPr>
          <p:cNvPr id="1657" name="Google Shape;1657;p98"/>
          <p:cNvSpPr txBox="1"/>
          <p:nvPr/>
        </p:nvSpPr>
        <p:spPr>
          <a:xfrm>
            <a:off x="4512600" y="30004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tan(𝜃°) = </a:t>
            </a:r>
            <a:endParaRPr sz="2000">
              <a:solidFill>
                <a:schemeClr val="dk1"/>
              </a:solidFill>
              <a:latin typeface="Times New Roman"/>
              <a:ea typeface="Times New Roman"/>
              <a:cs typeface="Times New Roman"/>
              <a:sym typeface="Times New Roman"/>
            </a:endParaRPr>
          </a:p>
        </p:txBody>
      </p:sp>
      <p:sp>
        <p:nvSpPr>
          <p:cNvPr id="1658" name="Google Shape;1658;p98"/>
          <p:cNvSpPr txBox="1"/>
          <p:nvPr/>
        </p:nvSpPr>
        <p:spPr>
          <a:xfrm>
            <a:off x="5525288" y="28584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40</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sp>
        <p:nvSpPr>
          <p:cNvPr id="1659" name="Google Shape;1659;p98"/>
          <p:cNvSpPr txBox="1"/>
          <p:nvPr/>
        </p:nvSpPr>
        <p:spPr>
          <a:xfrm>
            <a:off x="5526375" y="31526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60</a:t>
            </a:r>
            <a:r>
              <a:rPr lang="en-GB" sz="2000">
                <a:solidFill>
                  <a:schemeClr val="dk1"/>
                </a:solidFill>
                <a:latin typeface="Times New Roman"/>
                <a:ea typeface="Times New Roman"/>
                <a:cs typeface="Times New Roman"/>
                <a:sym typeface="Times New Roman"/>
              </a:rPr>
              <a:t> </a:t>
            </a:r>
            <a:endParaRPr sz="2000">
              <a:solidFill>
                <a:schemeClr val="dk1"/>
              </a:solidFill>
              <a:latin typeface="Times New Roman"/>
              <a:ea typeface="Times New Roman"/>
              <a:cs typeface="Times New Roman"/>
              <a:sym typeface="Times New Roman"/>
            </a:endParaRPr>
          </a:p>
        </p:txBody>
      </p:sp>
      <p:cxnSp>
        <p:nvCxnSpPr>
          <p:cNvPr id="1660" name="Google Shape;1660;p98"/>
          <p:cNvCxnSpPr/>
          <p:nvPr/>
        </p:nvCxnSpPr>
        <p:spPr>
          <a:xfrm>
            <a:off x="5534400" y="3165173"/>
            <a:ext cx="294300" cy="0"/>
          </a:xfrm>
          <a:prstGeom prst="straightConnector1">
            <a:avLst/>
          </a:prstGeom>
          <a:noFill/>
          <a:ln cap="flat" cmpd="sng" w="19050">
            <a:solidFill>
              <a:schemeClr val="dk1"/>
            </a:solidFill>
            <a:prstDash val="solid"/>
            <a:round/>
            <a:headEnd len="med" w="med" type="none"/>
            <a:tailEnd len="med" w="med" type="none"/>
          </a:ln>
        </p:spPr>
      </p:cxnSp>
      <p:sp>
        <p:nvSpPr>
          <p:cNvPr id="1661" name="Google Shape;1661;p98"/>
          <p:cNvSpPr txBox="1"/>
          <p:nvPr/>
        </p:nvSpPr>
        <p:spPr>
          <a:xfrm>
            <a:off x="4987118" y="35771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a:t>
            </a:r>
            <a:r>
              <a:rPr lang="en-GB" sz="2000">
                <a:solidFill>
                  <a:schemeClr val="dk1"/>
                </a:solidFill>
                <a:latin typeface="Times New Roman"/>
                <a:ea typeface="Times New Roman"/>
                <a:cs typeface="Times New Roman"/>
                <a:sym typeface="Times New Roman"/>
              </a:rPr>
              <a:t>° = tan</a:t>
            </a:r>
            <a:r>
              <a:rPr baseline="30000"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 (0.66…)</a:t>
            </a:r>
            <a:endParaRPr sz="2000">
              <a:solidFill>
                <a:schemeClr val="dk1"/>
              </a:solidFill>
              <a:latin typeface="Times New Roman"/>
              <a:ea typeface="Times New Roman"/>
              <a:cs typeface="Times New Roman"/>
              <a:sym typeface="Times New Roman"/>
            </a:endParaRPr>
          </a:p>
        </p:txBody>
      </p:sp>
      <p:sp>
        <p:nvSpPr>
          <p:cNvPr id="1662" name="Google Shape;1662;p98"/>
          <p:cNvSpPr txBox="1"/>
          <p:nvPr/>
        </p:nvSpPr>
        <p:spPr>
          <a:xfrm>
            <a:off x="4987118" y="41105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a:t>
            </a:r>
            <a:r>
              <a:rPr lang="en-GB" sz="2000">
                <a:solidFill>
                  <a:schemeClr val="dk1"/>
                </a:solidFill>
                <a:latin typeface="Times New Roman"/>
                <a:ea typeface="Times New Roman"/>
                <a:cs typeface="Times New Roman"/>
                <a:sym typeface="Times New Roman"/>
              </a:rPr>
              <a:t>° = 33.7° (1 d.p.) </a:t>
            </a:r>
            <a:endParaRPr sz="2000">
              <a:solidFill>
                <a:schemeClr val="dk1"/>
              </a:solidFill>
              <a:latin typeface="Times New Roman"/>
              <a:ea typeface="Times New Roman"/>
              <a:cs typeface="Times New Roman"/>
              <a:sym typeface="Times New Roman"/>
            </a:endParaRPr>
          </a:p>
        </p:txBody>
      </p:sp>
      <p:sp>
        <p:nvSpPr>
          <p:cNvPr id="1663" name="Google Shape;1663;p98"/>
          <p:cNvSpPr txBox="1"/>
          <p:nvPr/>
        </p:nvSpPr>
        <p:spPr>
          <a:xfrm>
            <a:off x="1527850" y="19275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3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6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64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sp>
        <p:nvSpPr>
          <p:cNvPr id="1668" name="Google Shape;1668;p9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 yacht is given the instruction to sail 30 km due East and then 50 km due South. If the yacht is </a:t>
            </a:r>
            <a:r>
              <a:rPr lang="en-GB" sz="1800"/>
              <a:t>already</a:t>
            </a:r>
            <a:r>
              <a:rPr lang="en-GB" sz="1800"/>
              <a:t> facing East, what angle could it turn to be facing directly towards its final position?</a:t>
            </a:r>
            <a:endParaRPr sz="1800"/>
          </a:p>
        </p:txBody>
      </p:sp>
      <p:sp>
        <p:nvSpPr>
          <p:cNvPr id="1669" name="Google Shape;1669;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670" name="Google Shape;1670;p99"/>
          <p:cNvSpPr/>
          <p:nvPr/>
        </p:nvSpPr>
        <p:spPr>
          <a:xfrm>
            <a:off x="537900" y="2245513"/>
            <a:ext cx="54000" cy="540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1" name="Google Shape;1671;p99"/>
          <p:cNvSpPr txBox="1"/>
          <p:nvPr>
            <p:ph idx="1" type="body"/>
          </p:nvPr>
        </p:nvSpPr>
        <p:spPr>
          <a:xfrm>
            <a:off x="361200" y="1879025"/>
            <a:ext cx="5598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port</a:t>
            </a:r>
            <a:endParaRPr sz="1800"/>
          </a:p>
        </p:txBody>
      </p:sp>
      <p:cxnSp>
        <p:nvCxnSpPr>
          <p:cNvPr id="1672" name="Google Shape;1672;p99"/>
          <p:cNvCxnSpPr/>
          <p:nvPr/>
        </p:nvCxnSpPr>
        <p:spPr>
          <a:xfrm>
            <a:off x="671512" y="2278140"/>
            <a:ext cx="2094900" cy="0"/>
          </a:xfrm>
          <a:prstGeom prst="straightConnector1">
            <a:avLst/>
          </a:prstGeom>
          <a:noFill/>
          <a:ln cap="flat" cmpd="sng" w="38100">
            <a:solidFill>
              <a:schemeClr val="accent5"/>
            </a:solidFill>
            <a:prstDash val="solid"/>
            <a:round/>
            <a:headEnd len="med" w="med" type="none"/>
            <a:tailEnd len="med" w="med" type="triangle"/>
          </a:ln>
        </p:spPr>
      </p:cxnSp>
      <p:cxnSp>
        <p:nvCxnSpPr>
          <p:cNvPr id="1673" name="Google Shape;1673;p99"/>
          <p:cNvCxnSpPr/>
          <p:nvPr/>
        </p:nvCxnSpPr>
        <p:spPr>
          <a:xfrm>
            <a:off x="2787400" y="2257225"/>
            <a:ext cx="0" cy="2203500"/>
          </a:xfrm>
          <a:prstGeom prst="straightConnector1">
            <a:avLst/>
          </a:prstGeom>
          <a:noFill/>
          <a:ln cap="flat" cmpd="sng" w="38100">
            <a:solidFill>
              <a:schemeClr val="accent5"/>
            </a:solidFill>
            <a:prstDash val="solid"/>
            <a:round/>
            <a:headEnd len="med" w="med" type="none"/>
            <a:tailEnd len="med" w="med" type="triangle"/>
          </a:ln>
        </p:spPr>
      </p:cxnSp>
      <p:pic>
        <p:nvPicPr>
          <p:cNvPr id="1674" name="Google Shape;1674;p99"/>
          <p:cNvPicPr preferRelativeResize="0"/>
          <p:nvPr/>
        </p:nvPicPr>
        <p:blipFill rotWithShape="1">
          <a:blip r:embed="rId3">
            <a:alphaModFix/>
          </a:blip>
          <a:srcRect b="4698" l="15968" r="17828" t="0"/>
          <a:stretch/>
        </p:blipFill>
        <p:spPr>
          <a:xfrm>
            <a:off x="630509" y="1700325"/>
            <a:ext cx="671252" cy="627979"/>
          </a:xfrm>
          <a:prstGeom prst="rect">
            <a:avLst/>
          </a:prstGeom>
          <a:noFill/>
          <a:ln>
            <a:noFill/>
          </a:ln>
        </p:spPr>
      </p:pic>
      <p:cxnSp>
        <p:nvCxnSpPr>
          <p:cNvPr id="1675" name="Google Shape;1675;p99"/>
          <p:cNvCxnSpPr/>
          <p:nvPr/>
        </p:nvCxnSpPr>
        <p:spPr>
          <a:xfrm>
            <a:off x="618644" y="2331300"/>
            <a:ext cx="2167800" cy="2136300"/>
          </a:xfrm>
          <a:prstGeom prst="straightConnector1">
            <a:avLst/>
          </a:prstGeom>
          <a:noFill/>
          <a:ln cap="flat" cmpd="sng" w="38100">
            <a:solidFill>
              <a:schemeClr val="dk2"/>
            </a:solidFill>
            <a:prstDash val="dash"/>
            <a:round/>
            <a:headEnd len="med" w="med" type="none"/>
            <a:tailEnd len="med" w="med" type="none"/>
          </a:ln>
        </p:spPr>
      </p:cxnSp>
      <p:sp>
        <p:nvSpPr>
          <p:cNvPr id="1676" name="Google Shape;1676;p99"/>
          <p:cNvSpPr/>
          <p:nvPr/>
        </p:nvSpPr>
        <p:spPr>
          <a:xfrm>
            <a:off x="-304200" y="1418050"/>
            <a:ext cx="1729200" cy="1729200"/>
          </a:xfrm>
          <a:prstGeom prst="arc">
            <a:avLst>
              <a:gd fmla="val 21581032" name="adj1"/>
              <a:gd fmla="val 2593416" name="adj2"/>
            </a:avLst>
          </a:prstGeom>
          <a:noFill/>
          <a:ln cap="flat" cmpd="sng" w="38100">
            <a:solidFill>
              <a:schemeClr val="dk1"/>
            </a:solidFill>
            <a:prstDash val="solid"/>
            <a:round/>
            <a:headEnd len="sm" w="sm" type="none"/>
            <a:tailEnd len="sm" w="sm" type="triangl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77" name="Google Shape;1677;p99"/>
          <p:cNvSpPr txBox="1"/>
          <p:nvPr>
            <p:ph idx="1" type="body"/>
          </p:nvPr>
        </p:nvSpPr>
        <p:spPr>
          <a:xfrm>
            <a:off x="1504200" y="1955225"/>
            <a:ext cx="671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r>
              <a:rPr lang="en-GB" sz="1800"/>
              <a:t>0 km</a:t>
            </a:r>
            <a:endParaRPr sz="1800"/>
          </a:p>
        </p:txBody>
      </p:sp>
      <p:sp>
        <p:nvSpPr>
          <p:cNvPr id="1678" name="Google Shape;1678;p99"/>
          <p:cNvSpPr txBox="1"/>
          <p:nvPr>
            <p:ph idx="1" type="body"/>
          </p:nvPr>
        </p:nvSpPr>
        <p:spPr>
          <a:xfrm>
            <a:off x="2875800" y="2793425"/>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r>
              <a:rPr lang="en-GB" sz="1800"/>
              <a:t>0 km</a:t>
            </a:r>
            <a:endParaRPr sz="1800"/>
          </a:p>
        </p:txBody>
      </p:sp>
      <p:sp>
        <p:nvSpPr>
          <p:cNvPr id="1679" name="Google Shape;1679;p99"/>
          <p:cNvSpPr txBox="1"/>
          <p:nvPr/>
        </p:nvSpPr>
        <p:spPr>
          <a:xfrm>
            <a:off x="5350800" y="20098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tan(𝜃°) = </a:t>
            </a:r>
            <a:endParaRPr sz="2000">
              <a:solidFill>
                <a:schemeClr val="dk1"/>
              </a:solidFill>
              <a:latin typeface="Times New Roman"/>
              <a:ea typeface="Times New Roman"/>
              <a:cs typeface="Times New Roman"/>
              <a:sym typeface="Times New Roman"/>
            </a:endParaRPr>
          </a:p>
        </p:txBody>
      </p:sp>
      <p:sp>
        <p:nvSpPr>
          <p:cNvPr id="1680" name="Google Shape;1680;p99"/>
          <p:cNvSpPr txBox="1"/>
          <p:nvPr/>
        </p:nvSpPr>
        <p:spPr>
          <a:xfrm>
            <a:off x="6363488" y="18678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5</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sp>
        <p:nvSpPr>
          <p:cNvPr id="1681" name="Google Shape;1681;p99"/>
          <p:cNvSpPr txBox="1"/>
          <p:nvPr/>
        </p:nvSpPr>
        <p:spPr>
          <a:xfrm>
            <a:off x="6364575" y="21620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cxnSp>
        <p:nvCxnSpPr>
          <p:cNvPr id="1682" name="Google Shape;1682;p99"/>
          <p:cNvCxnSpPr/>
          <p:nvPr/>
        </p:nvCxnSpPr>
        <p:spPr>
          <a:xfrm>
            <a:off x="6372600" y="2174573"/>
            <a:ext cx="294300" cy="0"/>
          </a:xfrm>
          <a:prstGeom prst="straightConnector1">
            <a:avLst/>
          </a:prstGeom>
          <a:noFill/>
          <a:ln cap="flat" cmpd="sng" w="19050">
            <a:solidFill>
              <a:schemeClr val="dk1"/>
            </a:solidFill>
            <a:prstDash val="solid"/>
            <a:round/>
            <a:headEnd len="med" w="med" type="none"/>
            <a:tailEnd len="med" w="med" type="none"/>
          </a:ln>
        </p:spPr>
      </p:cxnSp>
      <p:sp>
        <p:nvSpPr>
          <p:cNvPr id="1683" name="Google Shape;1683;p99"/>
          <p:cNvSpPr txBox="1"/>
          <p:nvPr/>
        </p:nvSpPr>
        <p:spPr>
          <a:xfrm>
            <a:off x="5825318" y="25865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tan</a:t>
            </a:r>
            <a:r>
              <a:rPr baseline="30000"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 (1.66…)</a:t>
            </a:r>
            <a:endParaRPr sz="2000">
              <a:solidFill>
                <a:schemeClr val="dk1"/>
              </a:solidFill>
              <a:latin typeface="Times New Roman"/>
              <a:ea typeface="Times New Roman"/>
              <a:cs typeface="Times New Roman"/>
              <a:sym typeface="Times New Roman"/>
            </a:endParaRPr>
          </a:p>
        </p:txBody>
      </p:sp>
      <p:sp>
        <p:nvSpPr>
          <p:cNvPr id="1684" name="Google Shape;1684;p99"/>
          <p:cNvSpPr txBox="1"/>
          <p:nvPr/>
        </p:nvSpPr>
        <p:spPr>
          <a:xfrm>
            <a:off x="5825318" y="31199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59.0° (1 d.p.) </a:t>
            </a:r>
            <a:endParaRPr sz="2000">
              <a:solidFill>
                <a:schemeClr val="dk1"/>
              </a:solidFill>
              <a:latin typeface="Times New Roman"/>
              <a:ea typeface="Times New Roman"/>
              <a:cs typeface="Times New Roman"/>
              <a:sym typeface="Times New Roman"/>
            </a:endParaRPr>
          </a:p>
        </p:txBody>
      </p:sp>
      <p:sp>
        <p:nvSpPr>
          <p:cNvPr id="1685" name="Google Shape;1685;p99"/>
          <p:cNvSpPr txBox="1"/>
          <p:nvPr/>
        </p:nvSpPr>
        <p:spPr>
          <a:xfrm>
            <a:off x="1527850" y="23847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9" name="Shape 1689"/>
        <p:cNvGrpSpPr/>
        <p:nvPr/>
      </p:nvGrpSpPr>
      <p:grpSpPr>
        <a:xfrm>
          <a:off x="0" y="0"/>
          <a:ext cx="0" cy="0"/>
          <a:chOff x="0" y="0"/>
          <a:chExt cx="0" cy="0"/>
        </a:xfrm>
      </p:grpSpPr>
      <p:sp>
        <p:nvSpPr>
          <p:cNvPr id="1690" name="Google Shape;1690;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691" name="Google Shape;1691;p100"/>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marked angles on each diagram.</a:t>
            </a:r>
            <a:endParaRPr sz="1800"/>
          </a:p>
        </p:txBody>
      </p:sp>
      <p:pic>
        <p:nvPicPr>
          <p:cNvPr id="1692" name="Google Shape;1692;p100"/>
          <p:cNvPicPr preferRelativeResize="0"/>
          <p:nvPr/>
        </p:nvPicPr>
        <p:blipFill>
          <a:blip r:embed="rId3">
            <a:alphaModFix/>
          </a:blip>
          <a:stretch>
            <a:fillRect/>
          </a:stretch>
        </p:blipFill>
        <p:spPr>
          <a:xfrm>
            <a:off x="3426379" y="1290300"/>
            <a:ext cx="2402100" cy="2028050"/>
          </a:xfrm>
          <a:prstGeom prst="rect">
            <a:avLst/>
          </a:prstGeom>
          <a:noFill/>
          <a:ln cap="flat" cmpd="sng" w="9525">
            <a:solidFill>
              <a:schemeClr val="dk1"/>
            </a:solidFill>
            <a:prstDash val="solid"/>
            <a:round/>
            <a:headEnd len="sm" w="sm" type="none"/>
            <a:tailEnd len="sm" w="sm" type="none"/>
          </a:ln>
        </p:spPr>
      </p:pic>
      <p:pic>
        <p:nvPicPr>
          <p:cNvPr id="1693" name="Google Shape;1693;p100"/>
          <p:cNvPicPr preferRelativeResize="0"/>
          <p:nvPr/>
        </p:nvPicPr>
        <p:blipFill>
          <a:blip r:embed="rId4">
            <a:alphaModFix/>
          </a:blip>
          <a:stretch>
            <a:fillRect/>
          </a:stretch>
        </p:blipFill>
        <p:spPr>
          <a:xfrm>
            <a:off x="643125" y="1290300"/>
            <a:ext cx="2181500" cy="1383575"/>
          </a:xfrm>
          <a:prstGeom prst="rect">
            <a:avLst/>
          </a:prstGeom>
          <a:noFill/>
          <a:ln cap="flat" cmpd="sng" w="9525">
            <a:solidFill>
              <a:schemeClr val="dk1"/>
            </a:solidFill>
            <a:prstDash val="solid"/>
            <a:round/>
            <a:headEnd len="sm" w="sm" type="none"/>
            <a:tailEnd len="sm" w="sm" type="none"/>
          </a:ln>
        </p:spPr>
      </p:pic>
      <p:pic>
        <p:nvPicPr>
          <p:cNvPr id="1694" name="Google Shape;1694;p100"/>
          <p:cNvPicPr preferRelativeResize="0"/>
          <p:nvPr/>
        </p:nvPicPr>
        <p:blipFill>
          <a:blip r:embed="rId5">
            <a:alphaModFix/>
          </a:blip>
          <a:stretch>
            <a:fillRect/>
          </a:stretch>
        </p:blipFill>
        <p:spPr>
          <a:xfrm>
            <a:off x="6409875" y="1290300"/>
            <a:ext cx="2267651" cy="2468950"/>
          </a:xfrm>
          <a:prstGeom prst="rect">
            <a:avLst/>
          </a:prstGeom>
          <a:noFill/>
          <a:ln cap="flat" cmpd="sng" w="9525">
            <a:solidFill>
              <a:schemeClr val="dk1"/>
            </a:solidFill>
            <a:prstDash val="solid"/>
            <a:round/>
            <a:headEnd len="sm" w="sm" type="none"/>
            <a:tailEnd len="sm" w="sm" type="none"/>
          </a:ln>
        </p:spPr>
      </p:pic>
      <p:sp>
        <p:nvSpPr>
          <p:cNvPr id="1695" name="Google Shape;1695;p100"/>
          <p:cNvSpPr txBox="1"/>
          <p:nvPr>
            <p:ph idx="1" type="body"/>
          </p:nvPr>
        </p:nvSpPr>
        <p:spPr>
          <a:xfrm>
            <a:off x="324000"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696" name="Google Shape;1696;p100"/>
          <p:cNvSpPr txBox="1"/>
          <p:nvPr>
            <p:ph idx="1" type="body"/>
          </p:nvPr>
        </p:nvSpPr>
        <p:spPr>
          <a:xfrm>
            <a:off x="3076642"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r>
              <a:rPr lang="en-GB" sz="1800"/>
              <a:t>)</a:t>
            </a:r>
            <a:endParaRPr sz="1800"/>
          </a:p>
        </p:txBody>
      </p:sp>
      <p:sp>
        <p:nvSpPr>
          <p:cNvPr id="1697" name="Google Shape;1697;p100"/>
          <p:cNvSpPr txBox="1"/>
          <p:nvPr>
            <p:ph idx="1" type="body"/>
          </p:nvPr>
        </p:nvSpPr>
        <p:spPr>
          <a:xfrm>
            <a:off x="6056413"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r>
              <a:rPr lang="en-GB" sz="1800"/>
              <a:t>)</a:t>
            </a:r>
            <a:endParaRPr sz="1800"/>
          </a:p>
        </p:txBody>
      </p:sp>
      <p:sp>
        <p:nvSpPr>
          <p:cNvPr id="1698" name="Google Shape;1698;p100"/>
          <p:cNvSpPr txBox="1"/>
          <p:nvPr/>
        </p:nvSpPr>
        <p:spPr>
          <a:xfrm>
            <a:off x="1294809" y="214398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699" name="Google Shape;1699;p100"/>
          <p:cNvSpPr txBox="1"/>
          <p:nvPr/>
        </p:nvSpPr>
        <p:spPr>
          <a:xfrm>
            <a:off x="4824009" y="246468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700" name="Google Shape;1700;p100"/>
          <p:cNvSpPr txBox="1"/>
          <p:nvPr/>
        </p:nvSpPr>
        <p:spPr>
          <a:xfrm>
            <a:off x="7897534" y="3284457"/>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4" name="Shape 1704"/>
        <p:cNvGrpSpPr/>
        <p:nvPr/>
      </p:nvGrpSpPr>
      <p:grpSpPr>
        <a:xfrm>
          <a:off x="0" y="0"/>
          <a:ext cx="0" cy="0"/>
          <a:chOff x="0" y="0"/>
          <a:chExt cx="0" cy="0"/>
        </a:xfrm>
      </p:grpSpPr>
      <p:sp>
        <p:nvSpPr>
          <p:cNvPr id="1705" name="Google Shape;1705;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706" name="Google Shape;1706;p101"/>
          <p:cNvSpPr txBox="1"/>
          <p:nvPr>
            <p:ph idx="1" type="body"/>
          </p:nvPr>
        </p:nvSpPr>
        <p:spPr>
          <a:xfrm>
            <a:off x="324000" y="7593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a:t>
            </a:r>
            <a:r>
              <a:rPr lang="en-GB" sz="1800"/>
              <a:t>) </a:t>
            </a:r>
            <a:r>
              <a:rPr lang="en-GB" sz="1800"/>
              <a:t>A yacht is given the instruction to sail 20 km due East and then 60 km due North. If the yacht is already facing East, what angle should it turn to be facing directly towards its final position?</a:t>
            </a:r>
            <a:endParaRPr sz="1800"/>
          </a:p>
          <a:p>
            <a:pPr indent="0" lvl="0" marL="0" rtl="0" algn="l">
              <a:spcBef>
                <a:spcPts val="1000"/>
              </a:spcBef>
              <a:spcAft>
                <a:spcPts val="1000"/>
              </a:spcAft>
              <a:buNone/>
            </a:pPr>
            <a:r>
              <a:t/>
            </a:r>
            <a:endParaRPr sz="1800"/>
          </a:p>
        </p:txBody>
      </p:sp>
      <p:sp>
        <p:nvSpPr>
          <p:cNvPr id="1707" name="Google Shape;1707;p101"/>
          <p:cNvSpPr txBox="1"/>
          <p:nvPr>
            <p:ph idx="1" type="body"/>
          </p:nvPr>
        </p:nvSpPr>
        <p:spPr>
          <a:xfrm>
            <a:off x="324000" y="26643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A helicopter travels 30 km due North and then rotates 𝜃°, before travelling 50 km in that direction. The helicopter finishes directly due West of the starting point. What angle of turn did they make?</a:t>
            </a:r>
            <a:endParaRPr sz="1800"/>
          </a:p>
          <a:p>
            <a:pPr indent="0" lvl="0" marL="0" rtl="0" algn="l">
              <a:spcBef>
                <a:spcPts val="1000"/>
              </a:spcBef>
              <a:spcAft>
                <a:spcPts val="1000"/>
              </a:spcAft>
              <a:buNone/>
            </a:pPr>
            <a:r>
              <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1" name="Shape 1711"/>
        <p:cNvGrpSpPr/>
        <p:nvPr/>
      </p:nvGrpSpPr>
      <p:grpSpPr>
        <a:xfrm>
          <a:off x="0" y="0"/>
          <a:ext cx="0" cy="0"/>
          <a:chOff x="0" y="0"/>
          <a:chExt cx="0" cy="0"/>
        </a:xfrm>
      </p:grpSpPr>
      <p:sp>
        <p:nvSpPr>
          <p:cNvPr id="1712" name="Google Shape;1712;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713" name="Google Shape;1713;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Calculate the marked angles on each diagram.</a:t>
            </a:r>
            <a:endParaRPr sz="1800"/>
          </a:p>
        </p:txBody>
      </p:sp>
      <p:pic>
        <p:nvPicPr>
          <p:cNvPr id="1714" name="Google Shape;1714;p102"/>
          <p:cNvPicPr preferRelativeResize="0"/>
          <p:nvPr/>
        </p:nvPicPr>
        <p:blipFill>
          <a:blip r:embed="rId3">
            <a:alphaModFix/>
          </a:blip>
          <a:stretch>
            <a:fillRect/>
          </a:stretch>
        </p:blipFill>
        <p:spPr>
          <a:xfrm>
            <a:off x="3426379" y="1290300"/>
            <a:ext cx="2402100" cy="2028050"/>
          </a:xfrm>
          <a:prstGeom prst="rect">
            <a:avLst/>
          </a:prstGeom>
          <a:noFill/>
          <a:ln cap="flat" cmpd="sng" w="9525">
            <a:solidFill>
              <a:schemeClr val="dk1"/>
            </a:solidFill>
            <a:prstDash val="solid"/>
            <a:round/>
            <a:headEnd len="sm" w="sm" type="none"/>
            <a:tailEnd len="sm" w="sm" type="none"/>
          </a:ln>
        </p:spPr>
      </p:pic>
      <p:pic>
        <p:nvPicPr>
          <p:cNvPr id="1715" name="Google Shape;1715;p102"/>
          <p:cNvPicPr preferRelativeResize="0"/>
          <p:nvPr/>
        </p:nvPicPr>
        <p:blipFill>
          <a:blip r:embed="rId4">
            <a:alphaModFix/>
          </a:blip>
          <a:stretch>
            <a:fillRect/>
          </a:stretch>
        </p:blipFill>
        <p:spPr>
          <a:xfrm>
            <a:off x="643125" y="1290300"/>
            <a:ext cx="2181500" cy="1383575"/>
          </a:xfrm>
          <a:prstGeom prst="rect">
            <a:avLst/>
          </a:prstGeom>
          <a:noFill/>
          <a:ln cap="flat" cmpd="sng" w="9525">
            <a:solidFill>
              <a:schemeClr val="dk1"/>
            </a:solidFill>
            <a:prstDash val="solid"/>
            <a:round/>
            <a:headEnd len="sm" w="sm" type="none"/>
            <a:tailEnd len="sm" w="sm" type="none"/>
          </a:ln>
        </p:spPr>
      </p:pic>
      <p:pic>
        <p:nvPicPr>
          <p:cNvPr id="1716" name="Google Shape;1716;p102"/>
          <p:cNvPicPr preferRelativeResize="0"/>
          <p:nvPr/>
        </p:nvPicPr>
        <p:blipFill>
          <a:blip r:embed="rId5">
            <a:alphaModFix/>
          </a:blip>
          <a:stretch>
            <a:fillRect/>
          </a:stretch>
        </p:blipFill>
        <p:spPr>
          <a:xfrm>
            <a:off x="6409875" y="1290300"/>
            <a:ext cx="2267651" cy="2468950"/>
          </a:xfrm>
          <a:prstGeom prst="rect">
            <a:avLst/>
          </a:prstGeom>
          <a:noFill/>
          <a:ln cap="flat" cmpd="sng" w="9525">
            <a:solidFill>
              <a:schemeClr val="dk1"/>
            </a:solidFill>
            <a:prstDash val="solid"/>
            <a:round/>
            <a:headEnd len="sm" w="sm" type="none"/>
            <a:tailEnd len="sm" w="sm" type="none"/>
          </a:ln>
        </p:spPr>
      </p:pic>
      <p:sp>
        <p:nvSpPr>
          <p:cNvPr id="1717" name="Google Shape;1717;p102"/>
          <p:cNvSpPr txBox="1"/>
          <p:nvPr>
            <p:ph idx="1" type="body"/>
          </p:nvPr>
        </p:nvSpPr>
        <p:spPr>
          <a:xfrm>
            <a:off x="324000"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718" name="Google Shape;1718;p102"/>
          <p:cNvSpPr txBox="1"/>
          <p:nvPr>
            <p:ph idx="1" type="body"/>
          </p:nvPr>
        </p:nvSpPr>
        <p:spPr>
          <a:xfrm>
            <a:off x="3076642"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1719" name="Google Shape;1719;p102"/>
          <p:cNvSpPr txBox="1"/>
          <p:nvPr>
            <p:ph idx="1" type="body"/>
          </p:nvPr>
        </p:nvSpPr>
        <p:spPr>
          <a:xfrm>
            <a:off x="6056413" y="1290300"/>
            <a:ext cx="2823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1720" name="Google Shape;1720;p102"/>
          <p:cNvSpPr txBox="1"/>
          <p:nvPr/>
        </p:nvSpPr>
        <p:spPr>
          <a:xfrm>
            <a:off x="1294809" y="214398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721" name="Google Shape;1721;p102"/>
          <p:cNvSpPr txBox="1"/>
          <p:nvPr/>
        </p:nvSpPr>
        <p:spPr>
          <a:xfrm>
            <a:off x="4824009" y="2464682"/>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722" name="Google Shape;1722;p102"/>
          <p:cNvSpPr txBox="1"/>
          <p:nvPr/>
        </p:nvSpPr>
        <p:spPr>
          <a:xfrm>
            <a:off x="7897534" y="3284457"/>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rgbClr val="000000"/>
                </a:solidFill>
                <a:latin typeface="Lexend"/>
                <a:ea typeface="Lexend"/>
                <a:cs typeface="Lexend"/>
                <a:sym typeface="Lexend"/>
              </a:rPr>
              <a:t>𝜃°</a:t>
            </a:r>
            <a:endParaRPr sz="1800">
              <a:solidFill>
                <a:srgbClr val="000000"/>
              </a:solidFill>
              <a:latin typeface="Lexend"/>
              <a:ea typeface="Lexend"/>
              <a:cs typeface="Lexend"/>
              <a:sym typeface="Lexend"/>
            </a:endParaRPr>
          </a:p>
        </p:txBody>
      </p:sp>
      <p:sp>
        <p:nvSpPr>
          <p:cNvPr id="1723" name="Google Shape;1723;p102"/>
          <p:cNvSpPr txBox="1"/>
          <p:nvPr/>
        </p:nvSpPr>
        <p:spPr>
          <a:xfrm>
            <a:off x="643126" y="2811500"/>
            <a:ext cx="2181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𝜃° = 59.0° (1 d.p.)</a:t>
            </a:r>
            <a:endParaRPr sz="2000">
              <a:solidFill>
                <a:schemeClr val="dk1"/>
              </a:solidFill>
              <a:latin typeface="Kalam"/>
              <a:ea typeface="Kalam"/>
              <a:cs typeface="Kalam"/>
              <a:sym typeface="Kalam"/>
            </a:endParaRPr>
          </a:p>
        </p:txBody>
      </p:sp>
      <p:sp>
        <p:nvSpPr>
          <p:cNvPr id="1724" name="Google Shape;1724;p102"/>
          <p:cNvSpPr txBox="1"/>
          <p:nvPr/>
        </p:nvSpPr>
        <p:spPr>
          <a:xfrm>
            <a:off x="3426376" y="3424725"/>
            <a:ext cx="23571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𝜃° = 126.9° (1 d.p.)</a:t>
            </a:r>
            <a:endParaRPr sz="2000">
              <a:solidFill>
                <a:schemeClr val="dk1"/>
              </a:solidFill>
              <a:latin typeface="Kalam"/>
              <a:ea typeface="Kalam"/>
              <a:cs typeface="Kalam"/>
              <a:sym typeface="Kalam"/>
            </a:endParaRPr>
          </a:p>
        </p:txBody>
      </p:sp>
      <p:sp>
        <p:nvSpPr>
          <p:cNvPr id="1725" name="Google Shape;1725;p102"/>
          <p:cNvSpPr txBox="1"/>
          <p:nvPr/>
        </p:nvSpPr>
        <p:spPr>
          <a:xfrm>
            <a:off x="6421125" y="3881925"/>
            <a:ext cx="22563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𝜃° = 243.4° (1 d.p.)</a:t>
            </a:r>
            <a:endParaRPr sz="2000">
              <a:solidFill>
                <a:schemeClr val="dk1"/>
              </a:solidFill>
              <a:latin typeface="Kalam"/>
              <a:ea typeface="Kalam"/>
              <a:cs typeface="Kalam"/>
              <a:sym typeface="Kalam"/>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731" name="Google Shape;1731;p103"/>
          <p:cNvSpPr txBox="1"/>
          <p:nvPr>
            <p:ph idx="1" type="body"/>
          </p:nvPr>
        </p:nvSpPr>
        <p:spPr>
          <a:xfrm>
            <a:off x="324000" y="759300"/>
            <a:ext cx="8237700" cy="957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2) A yacht is given the instruction to sail 20 km due East and then 60 km due North. If the yacht is already facing East, what angle should it turn to be facing directly towards its final position?</a:t>
            </a:r>
            <a:endParaRPr sz="1800"/>
          </a:p>
          <a:p>
            <a:pPr indent="0" lvl="0" marL="0" rtl="0" algn="l">
              <a:spcBef>
                <a:spcPts val="1000"/>
              </a:spcBef>
              <a:spcAft>
                <a:spcPts val="1000"/>
              </a:spcAft>
              <a:buNone/>
            </a:pPr>
            <a:r>
              <a:t/>
            </a:r>
            <a:endParaRPr sz="1800"/>
          </a:p>
        </p:txBody>
      </p:sp>
      <p:sp>
        <p:nvSpPr>
          <p:cNvPr id="1732" name="Google Shape;1732;p103"/>
          <p:cNvSpPr/>
          <p:nvPr/>
        </p:nvSpPr>
        <p:spPr>
          <a:xfrm flipH="1">
            <a:off x="945900" y="2028150"/>
            <a:ext cx="1119000" cy="13656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33" name="Google Shape;1733;p103"/>
          <p:cNvCxnSpPr/>
          <p:nvPr/>
        </p:nvCxnSpPr>
        <p:spPr>
          <a:xfrm>
            <a:off x="2204800" y="2028164"/>
            <a:ext cx="0" cy="1372200"/>
          </a:xfrm>
          <a:prstGeom prst="straightConnector1">
            <a:avLst/>
          </a:prstGeom>
          <a:noFill/>
          <a:ln cap="flat" cmpd="sng" w="28575">
            <a:solidFill>
              <a:schemeClr val="dk1"/>
            </a:solidFill>
            <a:prstDash val="solid"/>
            <a:round/>
            <a:headEnd len="med" w="med" type="triangle"/>
            <a:tailEnd len="med" w="med" type="triangle"/>
          </a:ln>
        </p:spPr>
      </p:cxnSp>
      <p:cxnSp>
        <p:nvCxnSpPr>
          <p:cNvPr id="1734" name="Google Shape;1734;p103"/>
          <p:cNvCxnSpPr/>
          <p:nvPr/>
        </p:nvCxnSpPr>
        <p:spPr>
          <a:xfrm>
            <a:off x="945900" y="3519389"/>
            <a:ext cx="1119000" cy="0"/>
          </a:xfrm>
          <a:prstGeom prst="straightConnector1">
            <a:avLst/>
          </a:prstGeom>
          <a:noFill/>
          <a:ln cap="flat" cmpd="sng" w="28575">
            <a:solidFill>
              <a:schemeClr val="dk1"/>
            </a:solidFill>
            <a:prstDash val="solid"/>
            <a:round/>
            <a:headEnd len="med" w="med" type="triangle"/>
            <a:tailEnd len="med" w="med" type="triangle"/>
          </a:ln>
        </p:spPr>
      </p:cxnSp>
      <p:sp>
        <p:nvSpPr>
          <p:cNvPr id="1735" name="Google Shape;1735;p103"/>
          <p:cNvSpPr txBox="1"/>
          <p:nvPr>
            <p:ph idx="4294967295" type="body"/>
          </p:nvPr>
        </p:nvSpPr>
        <p:spPr>
          <a:xfrm>
            <a:off x="1170350" y="3572750"/>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2</a:t>
            </a:r>
            <a:r>
              <a:rPr lang="en-GB" sz="1800">
                <a:latin typeface="Kalam"/>
                <a:ea typeface="Kalam"/>
                <a:cs typeface="Kalam"/>
                <a:sym typeface="Kalam"/>
              </a:rPr>
              <a:t>0 km</a:t>
            </a:r>
            <a:endParaRPr sz="1800">
              <a:latin typeface="Kalam"/>
              <a:ea typeface="Kalam"/>
              <a:cs typeface="Kalam"/>
              <a:sym typeface="Kalam"/>
            </a:endParaRPr>
          </a:p>
        </p:txBody>
      </p:sp>
      <p:sp>
        <p:nvSpPr>
          <p:cNvPr id="1736" name="Google Shape;1736;p103"/>
          <p:cNvSpPr txBox="1"/>
          <p:nvPr>
            <p:ph idx="4294967295" type="body"/>
          </p:nvPr>
        </p:nvSpPr>
        <p:spPr>
          <a:xfrm>
            <a:off x="2275250" y="2578975"/>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6</a:t>
            </a:r>
            <a:r>
              <a:rPr lang="en-GB" sz="1800">
                <a:latin typeface="Kalam"/>
                <a:ea typeface="Kalam"/>
                <a:cs typeface="Kalam"/>
                <a:sym typeface="Kalam"/>
              </a:rPr>
              <a:t>0 km</a:t>
            </a:r>
            <a:endParaRPr sz="1800">
              <a:latin typeface="Kalam"/>
              <a:ea typeface="Kalam"/>
              <a:cs typeface="Kalam"/>
              <a:sym typeface="Kalam"/>
            </a:endParaRPr>
          </a:p>
        </p:txBody>
      </p:sp>
      <p:sp>
        <p:nvSpPr>
          <p:cNvPr id="1737" name="Google Shape;1737;p103"/>
          <p:cNvSpPr/>
          <p:nvPr/>
        </p:nvSpPr>
        <p:spPr>
          <a:xfrm>
            <a:off x="463350" y="2920700"/>
            <a:ext cx="957300" cy="957300"/>
          </a:xfrm>
          <a:prstGeom prst="arc">
            <a:avLst>
              <a:gd fmla="val 18571774" name="adj1"/>
              <a:gd fmla="val 0" name="adj2"/>
            </a:avLst>
          </a:prstGeom>
          <a:noFill/>
          <a:ln cap="flat" cmpd="sng" w="28575">
            <a:solidFill>
              <a:schemeClr val="dk1"/>
            </a:solidFill>
            <a:prstDash val="solid"/>
            <a:round/>
            <a:headEnd len="sm" w="sm" type="triangl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38" name="Google Shape;1738;p103"/>
          <p:cNvSpPr txBox="1"/>
          <p:nvPr/>
        </p:nvSpPr>
        <p:spPr>
          <a:xfrm>
            <a:off x="1420659" y="2920707"/>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𝜃°</a:t>
            </a:r>
            <a:endParaRPr sz="2000">
              <a:solidFill>
                <a:srgbClr val="000000"/>
              </a:solidFill>
              <a:latin typeface="Kalam"/>
              <a:ea typeface="Kalam"/>
              <a:cs typeface="Kalam"/>
              <a:sym typeface="Kalam"/>
            </a:endParaRPr>
          </a:p>
        </p:txBody>
      </p:sp>
      <p:sp>
        <p:nvSpPr>
          <p:cNvPr id="1739" name="Google Shape;1739;p103"/>
          <p:cNvSpPr txBox="1"/>
          <p:nvPr/>
        </p:nvSpPr>
        <p:spPr>
          <a:xfrm>
            <a:off x="4360200" y="24670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tan(𝜃°) = </a:t>
            </a:r>
            <a:endParaRPr sz="2000">
              <a:solidFill>
                <a:schemeClr val="dk1"/>
              </a:solidFill>
              <a:latin typeface="Times New Roman"/>
              <a:ea typeface="Times New Roman"/>
              <a:cs typeface="Times New Roman"/>
              <a:sym typeface="Times New Roman"/>
            </a:endParaRPr>
          </a:p>
        </p:txBody>
      </p:sp>
      <p:sp>
        <p:nvSpPr>
          <p:cNvPr id="1740" name="Google Shape;1740;p103"/>
          <p:cNvSpPr txBox="1"/>
          <p:nvPr/>
        </p:nvSpPr>
        <p:spPr>
          <a:xfrm>
            <a:off x="5386209" y="23250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6</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sp>
        <p:nvSpPr>
          <p:cNvPr id="1741" name="Google Shape;1741;p103"/>
          <p:cNvSpPr txBox="1"/>
          <p:nvPr/>
        </p:nvSpPr>
        <p:spPr>
          <a:xfrm>
            <a:off x="5400619" y="26192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2</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cxnSp>
        <p:nvCxnSpPr>
          <p:cNvPr id="1742" name="Google Shape;1742;p103"/>
          <p:cNvCxnSpPr/>
          <p:nvPr/>
        </p:nvCxnSpPr>
        <p:spPr>
          <a:xfrm>
            <a:off x="5382000" y="2631773"/>
            <a:ext cx="294300" cy="0"/>
          </a:xfrm>
          <a:prstGeom prst="straightConnector1">
            <a:avLst/>
          </a:prstGeom>
          <a:noFill/>
          <a:ln cap="flat" cmpd="sng" w="19050">
            <a:solidFill>
              <a:schemeClr val="dk1"/>
            </a:solidFill>
            <a:prstDash val="solid"/>
            <a:round/>
            <a:headEnd len="med" w="med" type="none"/>
            <a:tailEnd len="med" w="med" type="none"/>
          </a:ln>
        </p:spPr>
      </p:cxnSp>
      <p:sp>
        <p:nvSpPr>
          <p:cNvPr id="1743" name="Google Shape;1743;p103"/>
          <p:cNvSpPr txBox="1"/>
          <p:nvPr/>
        </p:nvSpPr>
        <p:spPr>
          <a:xfrm>
            <a:off x="4834718" y="30437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tan</a:t>
            </a:r>
            <a:r>
              <a:rPr baseline="30000"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(3)</a:t>
            </a:r>
            <a:endParaRPr sz="2000">
              <a:solidFill>
                <a:schemeClr val="dk1"/>
              </a:solidFill>
              <a:latin typeface="Times New Roman"/>
              <a:ea typeface="Times New Roman"/>
              <a:cs typeface="Times New Roman"/>
              <a:sym typeface="Times New Roman"/>
            </a:endParaRPr>
          </a:p>
        </p:txBody>
      </p:sp>
      <p:sp>
        <p:nvSpPr>
          <p:cNvPr id="1744" name="Google Shape;1744;p103"/>
          <p:cNvSpPr txBox="1"/>
          <p:nvPr/>
        </p:nvSpPr>
        <p:spPr>
          <a:xfrm>
            <a:off x="4834718" y="35771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𝜃° = 71.6° (1 d.p.) </a:t>
            </a:r>
            <a:endParaRPr sz="2000">
              <a:solidFill>
                <a:schemeClr val="dk1"/>
              </a:solidFill>
              <a:latin typeface="Times New Roman"/>
              <a:ea typeface="Times New Roman"/>
              <a:cs typeface="Times New Roman"/>
              <a:sym typeface="Times New Roman"/>
            </a:endParaRPr>
          </a:p>
        </p:txBody>
      </p:sp>
      <p:sp>
        <p:nvSpPr>
          <p:cNvPr id="1745" name="Google Shape;1745;p103"/>
          <p:cNvSpPr/>
          <p:nvPr/>
        </p:nvSpPr>
        <p:spPr>
          <a:xfrm>
            <a:off x="1853700" y="3189175"/>
            <a:ext cx="211200" cy="2112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9" name="Shape 1749"/>
        <p:cNvGrpSpPr/>
        <p:nvPr/>
      </p:nvGrpSpPr>
      <p:grpSpPr>
        <a:xfrm>
          <a:off x="0" y="0"/>
          <a:ext cx="0" cy="0"/>
          <a:chOff x="0" y="0"/>
          <a:chExt cx="0" cy="0"/>
        </a:xfrm>
      </p:grpSpPr>
      <p:sp>
        <p:nvSpPr>
          <p:cNvPr id="1750" name="Google Shape;1750;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Calculating angles</a:t>
            </a:r>
            <a:endParaRPr/>
          </a:p>
        </p:txBody>
      </p:sp>
      <p:sp>
        <p:nvSpPr>
          <p:cNvPr id="1751" name="Google Shape;1751;p104"/>
          <p:cNvSpPr txBox="1"/>
          <p:nvPr>
            <p:ph idx="1" type="body"/>
          </p:nvPr>
        </p:nvSpPr>
        <p:spPr>
          <a:xfrm>
            <a:off x="324000" y="835500"/>
            <a:ext cx="8237700" cy="3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A helicopter travels 30 km due North and then rotates 𝜃°, before travelling 50 km in that direction. The helicopter finishes directly due West of the starting point. What angle of turn did they make?</a:t>
            </a:r>
            <a:endParaRPr sz="1800"/>
          </a:p>
          <a:p>
            <a:pPr indent="0" lvl="0" marL="0" rtl="0" algn="l">
              <a:spcBef>
                <a:spcPts val="1000"/>
              </a:spcBef>
              <a:spcAft>
                <a:spcPts val="1000"/>
              </a:spcAft>
              <a:buNone/>
            </a:pPr>
            <a:r>
              <a:t/>
            </a:r>
            <a:endParaRPr sz="1800"/>
          </a:p>
        </p:txBody>
      </p:sp>
      <p:sp>
        <p:nvSpPr>
          <p:cNvPr id="1752" name="Google Shape;1752;p104"/>
          <p:cNvSpPr/>
          <p:nvPr/>
        </p:nvSpPr>
        <p:spPr>
          <a:xfrm flipH="1">
            <a:off x="1784100" y="2485350"/>
            <a:ext cx="1119000" cy="1365600"/>
          </a:xfrm>
          <a:prstGeom prst="rtTriangle">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53" name="Google Shape;1753;p104"/>
          <p:cNvCxnSpPr/>
          <p:nvPr/>
        </p:nvCxnSpPr>
        <p:spPr>
          <a:xfrm>
            <a:off x="3043000" y="2485364"/>
            <a:ext cx="0" cy="1372200"/>
          </a:xfrm>
          <a:prstGeom prst="straightConnector1">
            <a:avLst/>
          </a:prstGeom>
          <a:noFill/>
          <a:ln cap="flat" cmpd="sng" w="28575">
            <a:solidFill>
              <a:schemeClr val="dk1"/>
            </a:solidFill>
            <a:prstDash val="solid"/>
            <a:round/>
            <a:headEnd len="med" w="med" type="triangle"/>
            <a:tailEnd len="med" w="med" type="triangle"/>
          </a:ln>
        </p:spPr>
      </p:cxnSp>
      <p:cxnSp>
        <p:nvCxnSpPr>
          <p:cNvPr id="1754" name="Google Shape;1754;p104"/>
          <p:cNvCxnSpPr/>
          <p:nvPr/>
        </p:nvCxnSpPr>
        <p:spPr>
          <a:xfrm flipH="1" rot="10800000">
            <a:off x="1664817" y="2412853"/>
            <a:ext cx="1131300" cy="1383900"/>
          </a:xfrm>
          <a:prstGeom prst="straightConnector1">
            <a:avLst/>
          </a:prstGeom>
          <a:noFill/>
          <a:ln cap="flat" cmpd="sng" w="28575">
            <a:solidFill>
              <a:schemeClr val="dk1"/>
            </a:solidFill>
            <a:prstDash val="solid"/>
            <a:round/>
            <a:headEnd len="med" w="med" type="triangle"/>
            <a:tailEnd len="med" w="med" type="triangle"/>
          </a:ln>
        </p:spPr>
      </p:cxnSp>
      <p:sp>
        <p:nvSpPr>
          <p:cNvPr id="1755" name="Google Shape;1755;p104"/>
          <p:cNvSpPr txBox="1"/>
          <p:nvPr>
            <p:ph idx="4294967295" type="body"/>
          </p:nvPr>
        </p:nvSpPr>
        <p:spPr>
          <a:xfrm>
            <a:off x="1628875" y="2758350"/>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5</a:t>
            </a:r>
            <a:r>
              <a:rPr lang="en-GB" sz="1800">
                <a:latin typeface="Kalam"/>
                <a:ea typeface="Kalam"/>
                <a:cs typeface="Kalam"/>
                <a:sym typeface="Kalam"/>
              </a:rPr>
              <a:t>0 km</a:t>
            </a:r>
            <a:endParaRPr sz="1800">
              <a:latin typeface="Kalam"/>
              <a:ea typeface="Kalam"/>
              <a:cs typeface="Kalam"/>
              <a:sym typeface="Kalam"/>
            </a:endParaRPr>
          </a:p>
        </p:txBody>
      </p:sp>
      <p:sp>
        <p:nvSpPr>
          <p:cNvPr id="1756" name="Google Shape;1756;p104"/>
          <p:cNvSpPr txBox="1"/>
          <p:nvPr>
            <p:ph idx="4294967295" type="body"/>
          </p:nvPr>
        </p:nvSpPr>
        <p:spPr>
          <a:xfrm>
            <a:off x="3113450" y="3036175"/>
            <a:ext cx="758400" cy="27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latin typeface="Kalam"/>
                <a:ea typeface="Kalam"/>
                <a:cs typeface="Kalam"/>
                <a:sym typeface="Kalam"/>
              </a:rPr>
              <a:t>3</a:t>
            </a:r>
            <a:r>
              <a:rPr lang="en-GB" sz="1800">
                <a:latin typeface="Kalam"/>
                <a:ea typeface="Kalam"/>
                <a:cs typeface="Kalam"/>
                <a:sym typeface="Kalam"/>
              </a:rPr>
              <a:t>0 km</a:t>
            </a:r>
            <a:endParaRPr sz="1800">
              <a:latin typeface="Kalam"/>
              <a:ea typeface="Kalam"/>
              <a:cs typeface="Kalam"/>
              <a:sym typeface="Kalam"/>
            </a:endParaRPr>
          </a:p>
        </p:txBody>
      </p:sp>
      <p:sp>
        <p:nvSpPr>
          <p:cNvPr id="1757" name="Google Shape;1757;p104"/>
          <p:cNvSpPr/>
          <p:nvPr/>
        </p:nvSpPr>
        <p:spPr>
          <a:xfrm>
            <a:off x="2424567" y="1981255"/>
            <a:ext cx="957300" cy="957300"/>
          </a:xfrm>
          <a:prstGeom prst="arc">
            <a:avLst>
              <a:gd fmla="val 7788402" name="adj1"/>
              <a:gd fmla="val 16238422" name="adj2"/>
            </a:avLst>
          </a:prstGeom>
          <a:noFill/>
          <a:ln cap="flat" cmpd="sng" w="28575">
            <a:solidFill>
              <a:schemeClr val="dk1"/>
            </a:solidFill>
            <a:prstDash val="solid"/>
            <a:round/>
            <a:headEnd len="sm" w="sm" type="triangl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8" name="Google Shape;1758;p104"/>
          <p:cNvSpPr txBox="1"/>
          <p:nvPr/>
        </p:nvSpPr>
        <p:spPr>
          <a:xfrm>
            <a:off x="2212249" y="2046283"/>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Kalam"/>
                <a:ea typeface="Kalam"/>
                <a:cs typeface="Kalam"/>
                <a:sym typeface="Kalam"/>
              </a:rPr>
              <a:t>𝜃°</a:t>
            </a:r>
            <a:endParaRPr sz="2000">
              <a:solidFill>
                <a:srgbClr val="000000"/>
              </a:solidFill>
              <a:latin typeface="Kalam"/>
              <a:ea typeface="Kalam"/>
              <a:cs typeface="Kalam"/>
              <a:sym typeface="Kalam"/>
            </a:endParaRPr>
          </a:p>
        </p:txBody>
      </p:sp>
      <p:sp>
        <p:nvSpPr>
          <p:cNvPr id="1759" name="Google Shape;1759;p104"/>
          <p:cNvSpPr/>
          <p:nvPr/>
        </p:nvSpPr>
        <p:spPr>
          <a:xfrm>
            <a:off x="2691900" y="3646375"/>
            <a:ext cx="211200" cy="211200"/>
          </a:xfrm>
          <a:prstGeom prst="rect">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760" name="Google Shape;1760;p104"/>
          <p:cNvCxnSpPr/>
          <p:nvPr/>
        </p:nvCxnSpPr>
        <p:spPr>
          <a:xfrm rot="10800000">
            <a:off x="2903100" y="1822350"/>
            <a:ext cx="0" cy="663000"/>
          </a:xfrm>
          <a:prstGeom prst="straightConnector1">
            <a:avLst/>
          </a:prstGeom>
          <a:noFill/>
          <a:ln cap="flat" cmpd="sng" w="28575">
            <a:solidFill>
              <a:schemeClr val="dk1"/>
            </a:solidFill>
            <a:prstDash val="dot"/>
            <a:round/>
            <a:headEnd len="med" w="med" type="none"/>
            <a:tailEnd len="med" w="med" type="none"/>
          </a:ln>
        </p:spPr>
      </p:cxnSp>
      <p:sp>
        <p:nvSpPr>
          <p:cNvPr id="1761" name="Google Shape;1761;p104"/>
          <p:cNvSpPr/>
          <p:nvPr/>
        </p:nvSpPr>
        <p:spPr>
          <a:xfrm>
            <a:off x="2424567" y="1981255"/>
            <a:ext cx="957300" cy="957300"/>
          </a:xfrm>
          <a:prstGeom prst="arc">
            <a:avLst>
              <a:gd fmla="val 5451168" name="adj1"/>
              <a:gd fmla="val 7662851" name="adj2"/>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2" name="Google Shape;1762;p104"/>
          <p:cNvSpPr txBox="1"/>
          <p:nvPr/>
        </p:nvSpPr>
        <p:spPr>
          <a:xfrm>
            <a:off x="2593249" y="2927379"/>
            <a:ext cx="7800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latin typeface="Kalam"/>
                <a:ea typeface="Kalam"/>
                <a:cs typeface="Kalam"/>
                <a:sym typeface="Kalam"/>
              </a:rPr>
              <a:t>⍺</a:t>
            </a:r>
            <a:r>
              <a:rPr lang="en-GB" sz="2000">
                <a:solidFill>
                  <a:srgbClr val="000000"/>
                </a:solidFill>
                <a:latin typeface="Kalam"/>
                <a:ea typeface="Kalam"/>
                <a:cs typeface="Kalam"/>
                <a:sym typeface="Kalam"/>
              </a:rPr>
              <a:t>°</a:t>
            </a:r>
            <a:endParaRPr sz="2000">
              <a:solidFill>
                <a:srgbClr val="000000"/>
              </a:solidFill>
              <a:latin typeface="Kalam"/>
              <a:ea typeface="Kalam"/>
              <a:cs typeface="Kalam"/>
              <a:sym typeface="Kalam"/>
            </a:endParaRPr>
          </a:p>
        </p:txBody>
      </p:sp>
      <p:sp>
        <p:nvSpPr>
          <p:cNvPr id="1763" name="Google Shape;1763;p104"/>
          <p:cNvSpPr txBox="1"/>
          <p:nvPr/>
        </p:nvSpPr>
        <p:spPr>
          <a:xfrm>
            <a:off x="4360200" y="2467025"/>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cos</a:t>
            </a:r>
            <a:r>
              <a:rPr lang="en-GB"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1764" name="Google Shape;1764;p104"/>
          <p:cNvSpPr txBox="1"/>
          <p:nvPr/>
        </p:nvSpPr>
        <p:spPr>
          <a:xfrm>
            <a:off x="5386209" y="2325000"/>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3</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sp>
        <p:nvSpPr>
          <p:cNvPr id="1765" name="Google Shape;1765;p104"/>
          <p:cNvSpPr txBox="1"/>
          <p:nvPr/>
        </p:nvSpPr>
        <p:spPr>
          <a:xfrm>
            <a:off x="5400619" y="2619296"/>
            <a:ext cx="1021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5</a:t>
            </a:r>
            <a:r>
              <a:rPr lang="en-GB" sz="2000">
                <a:solidFill>
                  <a:schemeClr val="dk1"/>
                </a:solidFill>
                <a:latin typeface="Times New Roman"/>
                <a:ea typeface="Times New Roman"/>
                <a:cs typeface="Times New Roman"/>
                <a:sym typeface="Times New Roman"/>
              </a:rPr>
              <a:t>0 </a:t>
            </a:r>
            <a:endParaRPr sz="2000">
              <a:solidFill>
                <a:schemeClr val="dk1"/>
              </a:solidFill>
              <a:latin typeface="Times New Roman"/>
              <a:ea typeface="Times New Roman"/>
              <a:cs typeface="Times New Roman"/>
              <a:sym typeface="Times New Roman"/>
            </a:endParaRPr>
          </a:p>
        </p:txBody>
      </p:sp>
      <p:cxnSp>
        <p:nvCxnSpPr>
          <p:cNvPr id="1766" name="Google Shape;1766;p104"/>
          <p:cNvCxnSpPr/>
          <p:nvPr/>
        </p:nvCxnSpPr>
        <p:spPr>
          <a:xfrm>
            <a:off x="5382000" y="2631773"/>
            <a:ext cx="294300" cy="0"/>
          </a:xfrm>
          <a:prstGeom prst="straightConnector1">
            <a:avLst/>
          </a:prstGeom>
          <a:noFill/>
          <a:ln cap="flat" cmpd="sng" w="19050">
            <a:solidFill>
              <a:schemeClr val="dk1"/>
            </a:solidFill>
            <a:prstDash val="solid"/>
            <a:round/>
            <a:headEnd len="med" w="med" type="none"/>
            <a:tailEnd len="med" w="med" type="none"/>
          </a:ln>
        </p:spPr>
      </p:cxnSp>
      <p:sp>
        <p:nvSpPr>
          <p:cNvPr id="1767" name="Google Shape;1767;p104"/>
          <p:cNvSpPr txBox="1"/>
          <p:nvPr/>
        </p:nvSpPr>
        <p:spPr>
          <a:xfrm>
            <a:off x="4834718" y="30437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 = cos</a:t>
            </a:r>
            <a:r>
              <a:rPr baseline="30000" lang="en-GB" sz="2000">
                <a:solidFill>
                  <a:schemeClr val="dk1"/>
                </a:solidFill>
                <a:latin typeface="Times New Roman"/>
                <a:ea typeface="Times New Roman"/>
                <a:cs typeface="Times New Roman"/>
                <a:sym typeface="Times New Roman"/>
              </a:rPr>
              <a:t>-1</a:t>
            </a:r>
            <a:r>
              <a:rPr lang="en-GB" sz="2000">
                <a:solidFill>
                  <a:schemeClr val="dk1"/>
                </a:solidFill>
                <a:latin typeface="Times New Roman"/>
                <a:ea typeface="Times New Roman"/>
                <a:cs typeface="Times New Roman"/>
                <a:sym typeface="Times New Roman"/>
              </a:rPr>
              <a:t>(0.6)</a:t>
            </a:r>
            <a:endParaRPr sz="2000">
              <a:solidFill>
                <a:schemeClr val="dk1"/>
              </a:solidFill>
              <a:latin typeface="Times New Roman"/>
              <a:ea typeface="Times New Roman"/>
              <a:cs typeface="Times New Roman"/>
              <a:sym typeface="Times New Roman"/>
            </a:endParaRPr>
          </a:p>
        </p:txBody>
      </p:sp>
      <p:sp>
        <p:nvSpPr>
          <p:cNvPr id="1768" name="Google Shape;1768;p104"/>
          <p:cNvSpPr txBox="1"/>
          <p:nvPr/>
        </p:nvSpPr>
        <p:spPr>
          <a:xfrm>
            <a:off x="4834718" y="3577120"/>
            <a:ext cx="20154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Times New Roman"/>
                <a:ea typeface="Times New Roman"/>
                <a:cs typeface="Times New Roman"/>
                <a:sym typeface="Times New Roman"/>
              </a:rPr>
              <a:t>⍺</a:t>
            </a:r>
            <a:r>
              <a:rPr lang="en-GB" sz="2000">
                <a:solidFill>
                  <a:schemeClr val="dk1"/>
                </a:solidFill>
                <a:latin typeface="Times New Roman"/>
                <a:ea typeface="Times New Roman"/>
                <a:cs typeface="Times New Roman"/>
                <a:sym typeface="Times New Roman"/>
              </a:rPr>
              <a:t>° = 53.13…° </a:t>
            </a:r>
            <a:endParaRPr sz="2000">
              <a:solidFill>
                <a:schemeClr val="dk1"/>
              </a:solidFill>
              <a:latin typeface="Times New Roman"/>
              <a:ea typeface="Times New Roman"/>
              <a:cs typeface="Times New Roman"/>
              <a:sym typeface="Times New Roman"/>
            </a:endParaRPr>
          </a:p>
        </p:txBody>
      </p:sp>
      <p:sp>
        <p:nvSpPr>
          <p:cNvPr id="1769" name="Google Shape;1769;p104"/>
          <p:cNvSpPr txBox="1"/>
          <p:nvPr/>
        </p:nvSpPr>
        <p:spPr>
          <a:xfrm>
            <a:off x="4829179" y="4072569"/>
            <a:ext cx="4246800" cy="32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rgbClr val="000000"/>
                </a:solidFill>
                <a:latin typeface="Times New Roman"/>
                <a:ea typeface="Times New Roman"/>
                <a:cs typeface="Times New Roman"/>
                <a:sym typeface="Times New Roman"/>
              </a:rPr>
              <a:t>𝜃° = 180 - </a:t>
            </a:r>
            <a:r>
              <a:rPr lang="en-GB" sz="2000">
                <a:solidFill>
                  <a:schemeClr val="dk1"/>
                </a:solidFill>
                <a:latin typeface="Times New Roman"/>
                <a:ea typeface="Times New Roman"/>
                <a:cs typeface="Times New Roman"/>
                <a:sym typeface="Times New Roman"/>
              </a:rPr>
              <a:t>⍺ = 180 - 53.13… = 126.9°</a:t>
            </a:r>
            <a:r>
              <a:rPr lang="en-GB" sz="2000">
                <a:solidFill>
                  <a:srgbClr val="000000"/>
                </a:solidFill>
                <a:latin typeface="Times New Roman"/>
                <a:ea typeface="Times New Roman"/>
                <a:cs typeface="Times New Roman"/>
                <a:sym typeface="Times New Roman"/>
              </a:rPr>
              <a:t> </a:t>
            </a:r>
            <a:endParaRPr sz="2000">
              <a:solidFill>
                <a:srgbClr val="000000"/>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3" name="Shape 1773"/>
        <p:cNvGrpSpPr/>
        <p:nvPr/>
      </p:nvGrpSpPr>
      <p:grpSpPr>
        <a:xfrm>
          <a:off x="0" y="0"/>
          <a:ext cx="0" cy="0"/>
          <a:chOff x="0" y="0"/>
          <a:chExt cx="0" cy="0"/>
        </a:xfrm>
      </p:grpSpPr>
      <p:sp>
        <p:nvSpPr>
          <p:cNvPr id="1774" name="Google Shape;1774;p105"/>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 can be applied in many different problems in mathematics. </a:t>
            </a:r>
            <a:endParaRPr/>
          </a:p>
          <a:p>
            <a:pPr indent="0" lvl="0" marL="0" rtl="0" algn="l">
              <a:spcBef>
                <a:spcPts val="1000"/>
              </a:spcBef>
              <a:spcAft>
                <a:spcPts val="1000"/>
              </a:spcAft>
              <a:buNone/>
            </a:pPr>
            <a:r>
              <a:rPr lang="en-GB"/>
              <a:t>When faced with a problem, always begin by considering the information you have been given and what can be found from it first. </a:t>
            </a:r>
            <a:endParaRPr/>
          </a:p>
        </p:txBody>
      </p:sp>
      <p:sp>
        <p:nvSpPr>
          <p:cNvPr id="1775" name="Google Shape;1775;p105"/>
          <p:cNvSpPr txBox="1"/>
          <p:nvPr>
            <p:ph type="title"/>
          </p:nvPr>
        </p:nvSpPr>
        <p:spPr>
          <a:xfrm>
            <a:off x="1684800" y="43825"/>
            <a:ext cx="57414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Problem solving with trigonometry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9" name="Shape 1779"/>
        <p:cNvGrpSpPr/>
        <p:nvPr/>
      </p:nvGrpSpPr>
      <p:grpSpPr>
        <a:xfrm>
          <a:off x="0" y="0"/>
          <a:ext cx="0" cy="0"/>
          <a:chOff x="0" y="0"/>
          <a:chExt cx="0" cy="0"/>
        </a:xfrm>
      </p:grpSpPr>
      <p:sp>
        <p:nvSpPr>
          <p:cNvPr id="1780" name="Google Shape;1780;p106"/>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781" name="Google Shape;1781;p1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