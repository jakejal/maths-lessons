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Lst>
  <p:sldSz cx="7560000" cy="10692000"/>
  <p:notesSz cx="6858000" cy="9144000"/>
  <p:embeddedFontLst>
    <p:embeddedFont>
      <p:font typeface="Lexend" panose="00000000000000000000"/>
      <p:regular r:id="rId8"/>
    </p:embeddedFont>
    <p:embeddedFont>
      <p:font typeface="Kalam" panose="02000000000000000000"/>
      <p:regular r:id="rId9"/>
    </p:embeddedFont>
    <p:embeddedFont>
      <p:font typeface="Lexend Medium" panose="00000000000000000000"/>
      <p:regular r:id="rId10"/>
    </p:embeddedFont>
    <p:embeddedFont>
      <p:font typeface="Lexend Light" panose="00000000000000000000"/>
      <p:regular r:id="rId11"/>
    </p:embeddedFont>
  </p:embeddedFontLst>
  <p:custDataLst>
    <p:tags r:id="rId7"/>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3.fntdata" /><Relationship Id="rId11" Type="http://schemas.openxmlformats.org/officeDocument/2006/relationships/font" Target="fonts/font4.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tags" Target="tags/tag1.xml" /><Relationship Id="rId8" Type="http://schemas.openxmlformats.org/officeDocument/2006/relationships/font" Target="fonts/font1.fntdata" /><Relationship Id="rId9" Type="http://schemas.openxmlformats.org/officeDocument/2006/relationships/font" Target="fonts/font2.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54" name="Shape 254"/>
        <p:cNvGrpSpPr/>
        <p:nvPr/>
      </p:nvGrpSpPr>
      <p:grpSpPr>
        <a:xfrm>
          <a:off x="0" y="0"/>
          <a:ext cx="0" cy="0"/>
        </a:xfrm>
      </p:grpSpPr>
      <p:sp>
        <p:nvSpPr>
          <p:cNvPr id="255" name="Google Shape;255;g2be18e6204f_0_11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56" name="Google Shape;256;g2be18e6204f_0_1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312" name="Shape 312"/>
        <p:cNvGrpSpPr/>
        <p:nvPr/>
      </p:nvGrpSpPr>
      <p:grpSpPr>
        <a:xfrm>
          <a:off x="0" y="0"/>
          <a:ext cx="0" cy="0"/>
        </a:xfrm>
      </p:grpSpPr>
      <p:sp>
        <p:nvSpPr>
          <p:cNvPr id="313" name="Google Shape;313;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314" name="Google Shape;314;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7.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8.png" /><Relationship Id="rId4" Type="http://schemas.openxmlformats.org/officeDocument/2006/relationships/image" Target="../media/image7.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3.xml"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11.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20"/>
          <p:cNvSpPr/>
          <p:nvPr/>
        </p:nvSpPr>
        <p:spPr>
          <a:xfrm>
            <a:off x="404575" y="3161274"/>
            <a:ext cx="699900" cy="699900"/>
          </a:xfrm>
          <a:prstGeom prst="arc">
            <a:avLst>
              <a:gd name="adj1" fmla="val 16967817"/>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200">
              <a:latin typeface="Lexend"/>
              <a:ea typeface="Lexend"/>
              <a:cs typeface="Lexend"/>
              <a:sym typeface="Lexend"/>
            </a:endParaRPr>
          </a:p>
        </p:txBody>
      </p:sp>
      <p:sp>
        <p:nvSpPr>
          <p:cNvPr id="172" name="Google Shape;172;p20"/>
          <p:cNvSpPr txBox="1"/>
          <p:nvPr/>
        </p:nvSpPr>
        <p:spPr>
          <a:xfrm>
            <a:off x="803275" y="3326500"/>
            <a:ext cx="267900" cy="183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82°</a:t>
            </a:r>
            <a:endParaRPr sz="1200">
              <a:solidFill>
                <a:srgbClr val="000000"/>
              </a:solidFill>
              <a:latin typeface="Lexend"/>
              <a:ea typeface="Lexend"/>
              <a:cs typeface="Lexend"/>
              <a:sym typeface="Lexend"/>
            </a:endParaRPr>
          </a:p>
        </p:txBody>
      </p:sp>
      <p:sp>
        <p:nvSpPr>
          <p:cNvPr id="173" name="Google Shape;173;p20"/>
          <p:cNvSpPr/>
          <p:nvPr/>
        </p:nvSpPr>
        <p:spPr>
          <a:xfrm>
            <a:off x="5750909" y="4775233"/>
            <a:ext cx="928800" cy="1602900"/>
          </a:xfrm>
          <a:prstGeom prst="triangle">
            <a:avLst>
              <a:gd name="adj" fmla="val 5000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74" name="Google Shape;174;p20"/>
          <p:cNvCxnSpPr/>
          <p:nvPr/>
        </p:nvCxnSpPr>
        <p:spPr>
          <a:xfrm rot="10800000" flipH="1">
            <a:off x="2386170" y="5485565"/>
            <a:ext cx="402000" cy="203100"/>
          </a:xfrm>
          <a:prstGeom prst="straightConnector1">
            <a:avLst/>
          </a:prstGeom>
          <a:noFill/>
          <a:ln w="28575" cap="flat" cmpd="sng">
            <a:solidFill>
              <a:srgbClr val="808080"/>
            </a:solidFill>
            <a:prstDash val="dash"/>
            <a:round/>
            <a:headEnd type="none" w="med" len="med"/>
            <a:tailEnd type="none" w="med" len="med"/>
          </a:ln>
        </p:spPr>
      </p:cxnSp>
      <p:sp>
        <p:nvSpPr>
          <p:cNvPr id="175" name="Google Shape;175;p20"/>
          <p:cNvSpPr/>
          <p:nvPr/>
        </p:nvSpPr>
        <p:spPr>
          <a:xfrm rot="-1642319">
            <a:off x="2707959" y="5507927"/>
            <a:ext cx="95266" cy="95266"/>
          </a:xfrm>
          <a:prstGeom prst="rect">
            <a:avLst/>
          </a:prstGeom>
          <a:noFill/>
          <a:ln w="2857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76" name="Google Shape;176;p20"/>
          <p:cNvSpPr/>
          <p:nvPr/>
        </p:nvSpPr>
        <p:spPr>
          <a:xfrm>
            <a:off x="2387314" y="4784602"/>
            <a:ext cx="852004" cy="1556861"/>
          </a:xfrm>
          <a:custGeom>
            <a:rect l="l" t="t" r="r" b="b"/>
            <a:pathLst>
              <a:path w="42960" h="86697" extrusionOk="0">
                <a:moveTo>
                  <a:pt x="389" y="0"/>
                </a:moveTo>
                <a:lnTo>
                  <a:pt x="0" y="50541"/>
                </a:lnTo>
                <a:lnTo>
                  <a:pt x="42960" y="86697"/>
                </a:lnTo>
                <a:close/>
              </a:path>
            </a:pathLst>
          </a:custGeom>
          <a:noFill/>
          <a:ln w="28575" cap="flat" cmpd="sng">
            <a:solidFill>
              <a:srgbClr val="000000"/>
            </a:solidFill>
            <a:prstDash val="solid"/>
            <a:round/>
            <a:headEnd type="none" w="med" len="med"/>
            <a:tailEnd type="none" w="med" len="med"/>
          </a:ln>
        </p:spPr>
        <p:txBody>
          <a:bodyPr/>
          <a:lstStyle/>
          <a:p/>
        </p:txBody>
      </p:sp>
      <p:sp>
        <p:nvSpPr>
          <p:cNvPr id="177" name="Google Shape;177;p20"/>
          <p:cNvSpPr txBox="1"/>
          <p:nvPr/>
        </p:nvSpPr>
        <p:spPr>
          <a:xfrm>
            <a:off x="474750" y="1317004"/>
            <a:ext cx="6624000" cy="1941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b="1">
                <a:solidFill>
                  <a:srgbClr val="000000"/>
                </a:solidFill>
                <a:latin typeface="Lexend"/>
                <a:ea typeface="Lexend"/>
                <a:cs typeface="Lexend"/>
                <a:sym typeface="Lexend"/>
              </a:rPr>
              <a:t>Task A: </a:t>
            </a:r>
            <a:r>
              <a:rPr lang="en-GB" b="1">
                <a:latin typeface="Lexend"/>
                <a:ea typeface="Lexend"/>
                <a:cs typeface="Lexend"/>
                <a:sym typeface="Lexend"/>
              </a:rPr>
              <a:t>Calculating areas</a:t>
            </a:r>
            <a:endParaRPr b="1">
              <a:latin typeface="Lexend"/>
              <a:ea typeface="Lexend"/>
              <a:cs typeface="Lexend"/>
              <a:sym typeface="Lexend"/>
            </a:endParaRPr>
          </a:p>
        </p:txBody>
      </p:sp>
      <p:sp>
        <p:nvSpPr>
          <p:cNvPr id="178" name="Google Shape;178;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9" name="Google Shape;179;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Problem solving with trigonometry</a:t>
            </a:r>
            <a:endParaRPr/>
          </a:p>
        </p:txBody>
      </p:sp>
      <p:sp>
        <p:nvSpPr>
          <p:cNvPr id="180" name="Google Shape;180;p20"/>
          <p:cNvSpPr txBox="1"/>
          <p:nvPr/>
        </p:nvSpPr>
        <p:spPr>
          <a:xfrm>
            <a:off x="468000" y="1539719"/>
            <a:ext cx="6624000" cy="307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Calculate the area of each triangle, to 1 decimal place.</a:t>
            </a:r>
            <a:endParaRPr sz="1200">
              <a:solidFill>
                <a:srgbClr val="000000"/>
              </a:solidFill>
              <a:latin typeface="Lexend"/>
              <a:ea typeface="Lexend"/>
              <a:cs typeface="Lexend"/>
              <a:sym typeface="Lexend"/>
            </a:endParaRPr>
          </a:p>
        </p:txBody>
      </p:sp>
      <p:sp>
        <p:nvSpPr>
          <p:cNvPr id="181" name="Google Shape;181;p20"/>
          <p:cNvSpPr txBox="1"/>
          <p:nvPr/>
        </p:nvSpPr>
        <p:spPr>
          <a:xfrm>
            <a:off x="4139988" y="1753683"/>
            <a:ext cx="195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cxnSp>
        <p:nvCxnSpPr>
          <p:cNvPr id="182" name="Google Shape;182;p20"/>
          <p:cNvCxnSpPr/>
          <p:nvPr/>
        </p:nvCxnSpPr>
        <p:spPr>
          <a:xfrm>
            <a:off x="4592220" y="2676408"/>
            <a:ext cx="102300" cy="32400"/>
          </a:xfrm>
          <a:prstGeom prst="straightConnector1">
            <a:avLst/>
          </a:prstGeom>
          <a:noFill/>
          <a:ln w="28575" cap="flat" cmpd="sng">
            <a:solidFill>
              <a:srgbClr val="000000"/>
            </a:solidFill>
            <a:prstDash val="solid"/>
            <a:round/>
            <a:headEnd type="none" w="med" len="med"/>
            <a:tailEnd type="none" w="med" len="med"/>
          </a:ln>
        </p:spPr>
      </p:cxnSp>
      <p:cxnSp>
        <p:nvCxnSpPr>
          <p:cNvPr id="183" name="Google Shape;183;p20"/>
          <p:cNvCxnSpPr/>
          <p:nvPr/>
        </p:nvCxnSpPr>
        <p:spPr>
          <a:xfrm flipH="1">
            <a:off x="5012689" y="2676408"/>
            <a:ext cx="102300" cy="32400"/>
          </a:xfrm>
          <a:prstGeom prst="straightConnector1">
            <a:avLst/>
          </a:prstGeom>
          <a:noFill/>
          <a:ln w="28575" cap="flat" cmpd="sng">
            <a:solidFill>
              <a:srgbClr val="000000"/>
            </a:solidFill>
            <a:prstDash val="solid"/>
            <a:round/>
            <a:headEnd type="none" w="med" len="med"/>
            <a:tailEnd type="none" w="med" len="med"/>
          </a:ln>
        </p:spPr>
      </p:cxnSp>
      <p:sp>
        <p:nvSpPr>
          <p:cNvPr id="184" name="Google Shape;184;p20"/>
          <p:cNvSpPr/>
          <p:nvPr/>
        </p:nvSpPr>
        <p:spPr>
          <a:xfrm>
            <a:off x="4500188" y="1557025"/>
            <a:ext cx="723300" cy="723300"/>
          </a:xfrm>
          <a:prstGeom prst="arc">
            <a:avLst>
              <a:gd name="adj1" fmla="val 4525778"/>
              <a:gd name="adj2" fmla="val 6343938"/>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85" name="Google Shape;185;p20"/>
          <p:cNvCxnSpPr/>
          <p:nvPr/>
        </p:nvCxnSpPr>
        <p:spPr>
          <a:xfrm>
            <a:off x="4407431" y="3645914"/>
            <a:ext cx="898500" cy="0"/>
          </a:xfrm>
          <a:prstGeom prst="straightConnector1">
            <a:avLst/>
          </a:prstGeom>
          <a:noFill/>
          <a:ln w="28575" cap="flat" cmpd="sng">
            <a:solidFill>
              <a:srgbClr val="000000"/>
            </a:solidFill>
            <a:prstDash val="solid"/>
            <a:round/>
            <a:headEnd type="triangle" w="med" len="med"/>
            <a:tailEnd type="triangle" w="med" len="med"/>
          </a:ln>
        </p:spPr>
      </p:cxnSp>
      <p:sp>
        <p:nvSpPr>
          <p:cNvPr id="186" name="Google Shape;186;p20"/>
          <p:cNvSpPr txBox="1"/>
          <p:nvPr/>
        </p:nvSpPr>
        <p:spPr>
          <a:xfrm>
            <a:off x="4674935" y="3657046"/>
            <a:ext cx="474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sp>
        <p:nvSpPr>
          <p:cNvPr id="187" name="Google Shape;187;p20"/>
          <p:cNvSpPr txBox="1"/>
          <p:nvPr/>
        </p:nvSpPr>
        <p:spPr>
          <a:xfrm>
            <a:off x="5008394" y="1991797"/>
            <a:ext cx="267900" cy="147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15°</a:t>
            </a:r>
            <a:endParaRPr sz="1200">
              <a:solidFill>
                <a:srgbClr val="000000"/>
              </a:solidFill>
              <a:latin typeface="Lexend"/>
              <a:ea typeface="Lexend"/>
              <a:cs typeface="Lexend"/>
              <a:sym typeface="Lexend"/>
            </a:endParaRPr>
          </a:p>
        </p:txBody>
      </p:sp>
      <p:sp>
        <p:nvSpPr>
          <p:cNvPr id="188" name="Google Shape;188;p20"/>
          <p:cNvSpPr txBox="1"/>
          <p:nvPr/>
        </p:nvSpPr>
        <p:spPr>
          <a:xfrm>
            <a:off x="4171112" y="3958225"/>
            <a:ext cx="28671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3 ÷ tan(15°) = 11.196… </a:t>
            </a:r>
            <a:endParaRPr sz="1200">
              <a:solidFill>
                <a:srgbClr val="000000"/>
              </a:solidFill>
              <a:latin typeface="Times New Roman"/>
              <a:ea typeface="Times New Roman"/>
              <a:cs typeface="Times New Roman"/>
              <a:sym typeface="Times New Roman"/>
            </a:endParaRPr>
          </a:p>
        </p:txBody>
      </p:sp>
      <p:sp>
        <p:nvSpPr>
          <p:cNvPr id="189" name="Google Shape;189;p20"/>
          <p:cNvSpPr txBox="1"/>
          <p:nvPr/>
        </p:nvSpPr>
        <p:spPr>
          <a:xfrm>
            <a:off x="4145803" y="4281875"/>
            <a:ext cx="28671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Times New Roman"/>
                <a:ea typeface="Times New Roman"/>
                <a:cs typeface="Times New Roman"/>
                <a:sym typeface="Times New Roman"/>
              </a:rPr>
              <a:t>Area</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a:t>
            </a:r>
            <a:r>
              <a:rPr lang="en-GB" sz="1200">
                <a:solidFill>
                  <a:srgbClr val="000000"/>
                </a:solidFill>
                <a:latin typeface="Times New Roman"/>
                <a:ea typeface="Times New Roman"/>
                <a:cs typeface="Times New Roman"/>
                <a:sym typeface="Times New Roman"/>
              </a:rPr>
              <a:t>× 6 × </a:t>
            </a:r>
            <a:r>
              <a:rPr lang="en-GB" sz="1200">
                <a:latin typeface="Times New Roman"/>
                <a:ea typeface="Times New Roman"/>
                <a:cs typeface="Times New Roman"/>
                <a:sym typeface="Times New Roman"/>
              </a:rPr>
              <a:t>11.196… = 33.6 cm</a:t>
            </a:r>
            <a:r>
              <a:rPr lang="en-GB" sz="1200" baseline="30000">
                <a:latin typeface="Times New Roman"/>
                <a:ea typeface="Times New Roman"/>
                <a:cs typeface="Times New Roman"/>
                <a:sym typeface="Times New Roman"/>
              </a:rPr>
              <a:t>2</a:t>
            </a:r>
            <a:endParaRPr sz="1200" baseline="30000">
              <a:solidFill>
                <a:srgbClr val="000000"/>
              </a:solidFill>
              <a:latin typeface="Times New Roman"/>
              <a:ea typeface="Times New Roman"/>
              <a:cs typeface="Times New Roman"/>
              <a:sym typeface="Times New Roman"/>
            </a:endParaRPr>
          </a:p>
        </p:txBody>
      </p:sp>
      <p:pic>
        <p:nvPicPr>
          <p:cNvPr id="190" name="Google Shape;190;p20" descr="&lt;math xmlns=&quot;http://www.w3.org/1998/Math/MathML&quot; display=&quot;block&quot; data-is-equatio=&quot;1&quot; data-latex=&quot;\frac{1}{2}&quot;&gt;&lt;mfrac&gt;&lt;mn&gt;1&lt;/mn&gt;&lt;mn&gt;2&lt;/mn&gt;&lt;/mfrac&gt;&lt;/math&gt;" title="one half"/>
          <p:cNvPicPr preferRelativeResize="0"/>
          <p:nvPr/>
        </p:nvPicPr>
        <p:blipFill>
          <a:blip r:embed="rId3">
            <a:alphaModFix/>
          </a:blip>
          <a:stretch>
            <a:fillRect/>
          </a:stretch>
        </p:blipFill>
        <p:spPr>
          <a:xfrm>
            <a:off x="4630941" y="4207367"/>
            <a:ext cx="97899" cy="320990"/>
          </a:xfrm>
          <a:prstGeom prst="rect">
            <a:avLst/>
          </a:prstGeom>
          <a:noFill/>
          <a:ln>
            <a:noFill/>
          </a:ln>
        </p:spPr>
      </p:pic>
      <p:sp>
        <p:nvSpPr>
          <p:cNvPr id="191" name="Google Shape;191;p20"/>
          <p:cNvSpPr/>
          <p:nvPr/>
        </p:nvSpPr>
        <p:spPr>
          <a:xfrm>
            <a:off x="4853673" y="3413789"/>
            <a:ext cx="102300" cy="102300"/>
          </a:xfrm>
          <a:prstGeom prst="rect">
            <a:avLst/>
          </a:prstGeom>
          <a:noFill/>
          <a:ln w="2857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92" name="Google Shape;192;p20"/>
          <p:cNvCxnSpPr/>
          <p:nvPr/>
        </p:nvCxnSpPr>
        <p:spPr>
          <a:xfrm flipH="1">
            <a:off x="4856586" y="1915831"/>
            <a:ext cx="0" cy="1599900"/>
          </a:xfrm>
          <a:prstGeom prst="straightConnector1">
            <a:avLst/>
          </a:prstGeom>
          <a:noFill/>
          <a:ln w="38100" cap="flat" cmpd="sng">
            <a:solidFill>
              <a:srgbClr val="808080"/>
            </a:solidFill>
            <a:prstDash val="lgDash"/>
            <a:round/>
            <a:headEnd type="none" w="med" len="med"/>
            <a:tailEnd type="none" w="med" len="med"/>
          </a:ln>
        </p:spPr>
      </p:cxnSp>
      <p:cxnSp>
        <p:nvCxnSpPr>
          <p:cNvPr id="193" name="Google Shape;193;p20"/>
          <p:cNvCxnSpPr/>
          <p:nvPr/>
        </p:nvCxnSpPr>
        <p:spPr>
          <a:xfrm rot="10800000" flipH="1">
            <a:off x="5390946" y="1916124"/>
            <a:ext cx="0" cy="1576500"/>
          </a:xfrm>
          <a:prstGeom prst="straightConnector1">
            <a:avLst/>
          </a:prstGeom>
          <a:noFill/>
          <a:ln w="28575" cap="flat" cmpd="sng">
            <a:solidFill>
              <a:srgbClr val="000000"/>
            </a:solidFill>
            <a:prstDash val="solid"/>
            <a:round/>
            <a:headEnd type="triangle" w="med" len="med"/>
            <a:tailEnd type="triangle" w="med" len="med"/>
          </a:ln>
        </p:spPr>
      </p:cxnSp>
      <p:sp>
        <p:nvSpPr>
          <p:cNvPr id="194" name="Google Shape;194;p20"/>
          <p:cNvSpPr txBox="1"/>
          <p:nvPr/>
        </p:nvSpPr>
        <p:spPr>
          <a:xfrm>
            <a:off x="5431659" y="2556704"/>
            <a:ext cx="9759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cxnSp>
        <p:nvCxnSpPr>
          <p:cNvPr id="195" name="Google Shape;195;p20"/>
          <p:cNvCxnSpPr/>
          <p:nvPr/>
        </p:nvCxnSpPr>
        <p:spPr>
          <a:xfrm rot="10800000" flipH="1">
            <a:off x="4903323" y="2161512"/>
            <a:ext cx="92700" cy="37200"/>
          </a:xfrm>
          <a:prstGeom prst="straightConnector1">
            <a:avLst/>
          </a:prstGeom>
          <a:noFill/>
          <a:ln w="38100" cap="flat" cmpd="sng">
            <a:solidFill>
              <a:srgbClr val="000000"/>
            </a:solidFill>
            <a:prstDash val="solid"/>
            <a:round/>
            <a:headEnd type="none" w="med" len="med"/>
            <a:tailEnd type="none" w="med" len="med"/>
          </a:ln>
        </p:spPr>
      </p:cxnSp>
      <p:sp>
        <p:nvSpPr>
          <p:cNvPr id="196" name="Google Shape;196;p20"/>
          <p:cNvSpPr/>
          <p:nvPr/>
        </p:nvSpPr>
        <p:spPr>
          <a:xfrm>
            <a:off x="4411372" y="1915831"/>
            <a:ext cx="890700" cy="1599900"/>
          </a:xfrm>
          <a:prstGeom prst="triangle">
            <a:avLst>
              <a:gd name="adj" fmla="val 5000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7" name="Google Shape;197;p20"/>
          <p:cNvSpPr txBox="1"/>
          <p:nvPr/>
        </p:nvSpPr>
        <p:spPr>
          <a:xfrm>
            <a:off x="469895" y="1753683"/>
            <a:ext cx="195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cxnSp>
        <p:nvCxnSpPr>
          <p:cNvPr id="198" name="Google Shape;198;p20"/>
          <p:cNvCxnSpPr/>
          <p:nvPr/>
        </p:nvCxnSpPr>
        <p:spPr>
          <a:xfrm>
            <a:off x="922127" y="2676408"/>
            <a:ext cx="102300" cy="32400"/>
          </a:xfrm>
          <a:prstGeom prst="straightConnector1">
            <a:avLst/>
          </a:prstGeom>
          <a:noFill/>
          <a:ln w="28575" cap="flat" cmpd="sng">
            <a:solidFill>
              <a:srgbClr val="000000"/>
            </a:solidFill>
            <a:prstDash val="solid"/>
            <a:round/>
            <a:headEnd type="none" w="med" len="med"/>
            <a:tailEnd type="none" w="med" len="med"/>
          </a:ln>
        </p:spPr>
      </p:cxnSp>
      <p:cxnSp>
        <p:nvCxnSpPr>
          <p:cNvPr id="199" name="Google Shape;199;p20"/>
          <p:cNvCxnSpPr/>
          <p:nvPr/>
        </p:nvCxnSpPr>
        <p:spPr>
          <a:xfrm flipH="1">
            <a:off x="1342597" y="2676408"/>
            <a:ext cx="102300" cy="32400"/>
          </a:xfrm>
          <a:prstGeom prst="straightConnector1">
            <a:avLst/>
          </a:prstGeom>
          <a:noFill/>
          <a:ln w="28575" cap="flat" cmpd="sng">
            <a:solidFill>
              <a:srgbClr val="000000"/>
            </a:solidFill>
            <a:prstDash val="solid"/>
            <a:round/>
            <a:headEnd type="none" w="med" len="med"/>
            <a:tailEnd type="none" w="med" len="med"/>
          </a:ln>
        </p:spPr>
      </p:cxnSp>
      <p:cxnSp>
        <p:nvCxnSpPr>
          <p:cNvPr id="200" name="Google Shape;200;p20"/>
          <p:cNvCxnSpPr/>
          <p:nvPr/>
        </p:nvCxnSpPr>
        <p:spPr>
          <a:xfrm>
            <a:off x="737338" y="3645914"/>
            <a:ext cx="898500" cy="0"/>
          </a:xfrm>
          <a:prstGeom prst="straightConnector1">
            <a:avLst/>
          </a:prstGeom>
          <a:noFill/>
          <a:ln w="28575" cap="flat" cmpd="sng">
            <a:solidFill>
              <a:srgbClr val="000000"/>
            </a:solidFill>
            <a:prstDash val="solid"/>
            <a:round/>
            <a:headEnd type="triangle" w="med" len="med"/>
            <a:tailEnd type="triangle" w="med" len="med"/>
          </a:ln>
        </p:spPr>
      </p:cxnSp>
      <p:sp>
        <p:nvSpPr>
          <p:cNvPr id="201" name="Google Shape;201;p20"/>
          <p:cNvSpPr txBox="1"/>
          <p:nvPr/>
        </p:nvSpPr>
        <p:spPr>
          <a:xfrm>
            <a:off x="1004843" y="3657046"/>
            <a:ext cx="474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sp>
        <p:nvSpPr>
          <p:cNvPr id="202" name="Google Shape;202;p20"/>
          <p:cNvSpPr/>
          <p:nvPr/>
        </p:nvSpPr>
        <p:spPr>
          <a:xfrm>
            <a:off x="1183580" y="3413789"/>
            <a:ext cx="102300" cy="102300"/>
          </a:xfrm>
          <a:prstGeom prst="rect">
            <a:avLst/>
          </a:prstGeom>
          <a:noFill/>
          <a:ln w="2857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03" name="Google Shape;203;p20"/>
          <p:cNvCxnSpPr/>
          <p:nvPr/>
        </p:nvCxnSpPr>
        <p:spPr>
          <a:xfrm flipH="1">
            <a:off x="1186493" y="1915831"/>
            <a:ext cx="0" cy="1599900"/>
          </a:xfrm>
          <a:prstGeom prst="straightConnector1">
            <a:avLst/>
          </a:prstGeom>
          <a:noFill/>
          <a:ln w="38100" cap="flat" cmpd="sng">
            <a:solidFill>
              <a:srgbClr val="808080"/>
            </a:solidFill>
            <a:prstDash val="lgDash"/>
            <a:round/>
            <a:headEnd type="none" w="med" len="med"/>
            <a:tailEnd type="none" w="med" len="med"/>
          </a:ln>
        </p:spPr>
      </p:cxnSp>
      <p:cxnSp>
        <p:nvCxnSpPr>
          <p:cNvPr id="204" name="Google Shape;204;p20"/>
          <p:cNvCxnSpPr/>
          <p:nvPr/>
        </p:nvCxnSpPr>
        <p:spPr>
          <a:xfrm rot="10800000" flipH="1">
            <a:off x="1720853" y="1916124"/>
            <a:ext cx="0" cy="1576500"/>
          </a:xfrm>
          <a:prstGeom prst="straightConnector1">
            <a:avLst/>
          </a:prstGeom>
          <a:noFill/>
          <a:ln w="28575" cap="flat" cmpd="sng">
            <a:solidFill>
              <a:srgbClr val="000000"/>
            </a:solidFill>
            <a:prstDash val="solid"/>
            <a:round/>
            <a:headEnd type="triangle" w="med" len="med"/>
            <a:tailEnd type="triangle" w="med" len="med"/>
          </a:ln>
        </p:spPr>
      </p:cxnSp>
      <p:sp>
        <p:nvSpPr>
          <p:cNvPr id="205" name="Google Shape;205;p20"/>
          <p:cNvSpPr txBox="1"/>
          <p:nvPr/>
        </p:nvSpPr>
        <p:spPr>
          <a:xfrm>
            <a:off x="1761566" y="2556704"/>
            <a:ext cx="9759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06" name="Google Shape;206;p20"/>
          <p:cNvSpPr txBox="1"/>
          <p:nvPr/>
        </p:nvSpPr>
        <p:spPr>
          <a:xfrm>
            <a:off x="488444" y="3958230"/>
            <a:ext cx="25143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solidFill>
                  <a:schemeClr val="dk1"/>
                </a:solidFill>
                <a:latin typeface="Times New Roman"/>
                <a:ea typeface="Times New Roman"/>
                <a:cs typeface="Times New Roman"/>
                <a:sym typeface="Times New Roman"/>
              </a:rPr>
              <a:t>h</a:t>
            </a:r>
            <a:r>
              <a:rPr lang="en-GB" sz="1200">
                <a:solidFill>
                  <a:schemeClr val="dk1"/>
                </a:solidFill>
                <a:latin typeface="Lexend"/>
                <a:ea typeface="Lexend"/>
                <a:cs typeface="Lexend"/>
                <a:sym typeface="Lexend"/>
              </a:rPr>
              <a:t> </a:t>
            </a:r>
            <a:r>
              <a:rPr lang="en-GB" sz="1200">
                <a:solidFill>
                  <a:schemeClr val="dk1"/>
                </a:solidFill>
                <a:latin typeface="Times New Roman"/>
                <a:ea typeface="Times New Roman"/>
                <a:cs typeface="Times New Roman"/>
                <a:sym typeface="Times New Roman"/>
              </a:rPr>
              <a:t>= 3 × tan(82°) = 21.346… </a:t>
            </a:r>
            <a:endParaRPr sz="1200" i="1">
              <a:latin typeface="Times New Roman"/>
              <a:ea typeface="Times New Roman"/>
              <a:cs typeface="Times New Roman"/>
              <a:sym typeface="Times New Roman"/>
            </a:endParaRPr>
          </a:p>
        </p:txBody>
      </p:sp>
      <p:sp>
        <p:nvSpPr>
          <p:cNvPr id="207" name="Google Shape;207;p20"/>
          <p:cNvSpPr txBox="1"/>
          <p:nvPr/>
        </p:nvSpPr>
        <p:spPr>
          <a:xfrm>
            <a:off x="469896" y="4281887"/>
            <a:ext cx="25143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chemeClr val="dk1"/>
                </a:solidFill>
                <a:latin typeface="Times New Roman"/>
                <a:ea typeface="Times New Roman"/>
                <a:cs typeface="Times New Roman"/>
                <a:sym typeface="Times New Roman"/>
              </a:rPr>
              <a:t>Area</a:t>
            </a:r>
            <a:r>
              <a:rPr lang="en-GB" sz="1200">
                <a:solidFill>
                  <a:schemeClr val="dk1"/>
                </a:solidFill>
                <a:latin typeface="Lexend"/>
                <a:ea typeface="Lexend"/>
                <a:cs typeface="Lexend"/>
                <a:sym typeface="Lexend"/>
              </a:rPr>
              <a:t> </a:t>
            </a:r>
            <a:r>
              <a:rPr lang="en-GB" sz="1200">
                <a:solidFill>
                  <a:schemeClr val="dk1"/>
                </a:solidFill>
                <a:latin typeface="Times New Roman"/>
                <a:ea typeface="Times New Roman"/>
                <a:cs typeface="Times New Roman"/>
                <a:sym typeface="Times New Roman"/>
              </a:rPr>
              <a:t>=     × 6 × 21.346… = 64.0 cm</a:t>
            </a:r>
            <a:r>
              <a:rPr lang="en-GB" sz="1200" baseline="30000">
                <a:solidFill>
                  <a:schemeClr val="dk1"/>
                </a:solidFill>
                <a:latin typeface="Times New Roman"/>
                <a:ea typeface="Times New Roman"/>
                <a:cs typeface="Times New Roman"/>
                <a:sym typeface="Times New Roman"/>
              </a:rPr>
              <a:t>2</a:t>
            </a:r>
            <a:endParaRPr sz="1200" baseline="30000">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200">
              <a:latin typeface="Times New Roman"/>
              <a:ea typeface="Times New Roman"/>
              <a:cs typeface="Times New Roman"/>
              <a:sym typeface="Times New Roman"/>
            </a:endParaRPr>
          </a:p>
        </p:txBody>
      </p:sp>
      <p:pic>
        <p:nvPicPr>
          <p:cNvPr id="208" name="Google Shape;208;p20" descr="&lt;math xmlns=&quot;http://www.w3.org/1998/Math/MathML&quot; display=&quot;block&quot; data-is-equatio=&quot;1&quot; data-latex=&quot;\frac{1}{2}&quot;&gt;&lt;mfrac&gt;&lt;mn&gt;1&lt;/mn&gt;&lt;mn&gt;2&lt;/mn&gt;&lt;/mfrac&gt;&lt;/math&gt;" title="one half"/>
          <p:cNvPicPr preferRelativeResize="0"/>
          <p:nvPr/>
        </p:nvPicPr>
        <p:blipFill>
          <a:blip r:embed="rId3">
            <a:alphaModFix/>
          </a:blip>
          <a:stretch>
            <a:fillRect/>
          </a:stretch>
        </p:blipFill>
        <p:spPr>
          <a:xfrm>
            <a:off x="955044" y="4207367"/>
            <a:ext cx="97899" cy="320990"/>
          </a:xfrm>
          <a:prstGeom prst="rect">
            <a:avLst/>
          </a:prstGeom>
          <a:noFill/>
          <a:ln>
            <a:noFill/>
          </a:ln>
        </p:spPr>
      </p:pic>
      <p:sp>
        <p:nvSpPr>
          <p:cNvPr id="209" name="Google Shape;209;p20"/>
          <p:cNvSpPr txBox="1"/>
          <p:nvPr/>
        </p:nvSpPr>
        <p:spPr>
          <a:xfrm>
            <a:off x="2076600" y="4737578"/>
            <a:ext cx="1821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cxnSp>
        <p:nvCxnSpPr>
          <p:cNvPr id="210" name="Google Shape;210;p20"/>
          <p:cNvCxnSpPr/>
          <p:nvPr/>
        </p:nvCxnSpPr>
        <p:spPr>
          <a:xfrm>
            <a:off x="2487045" y="4737578"/>
            <a:ext cx="830400" cy="1554900"/>
          </a:xfrm>
          <a:prstGeom prst="straightConnector1">
            <a:avLst/>
          </a:prstGeom>
          <a:noFill/>
          <a:ln w="28575" cap="flat" cmpd="sng">
            <a:solidFill>
              <a:srgbClr val="000000"/>
            </a:solidFill>
            <a:prstDash val="solid"/>
            <a:round/>
            <a:headEnd type="triangle" w="med" len="med"/>
            <a:tailEnd type="triangle" w="med" len="med"/>
          </a:ln>
        </p:spPr>
      </p:cxnSp>
      <p:cxnSp>
        <p:nvCxnSpPr>
          <p:cNvPr id="211" name="Google Shape;211;p20"/>
          <p:cNvCxnSpPr/>
          <p:nvPr/>
        </p:nvCxnSpPr>
        <p:spPr>
          <a:xfrm>
            <a:off x="2369475" y="5788024"/>
            <a:ext cx="812400" cy="624300"/>
          </a:xfrm>
          <a:prstGeom prst="straightConnector1">
            <a:avLst/>
          </a:prstGeom>
          <a:noFill/>
          <a:ln w="28575" cap="flat" cmpd="sng">
            <a:solidFill>
              <a:srgbClr val="000000"/>
            </a:solidFill>
            <a:prstDash val="solid"/>
            <a:round/>
            <a:headEnd type="triangle" w="med" len="med"/>
            <a:tailEnd type="triangle" w="med" len="med"/>
          </a:ln>
        </p:spPr>
      </p:cxnSp>
      <p:sp>
        <p:nvSpPr>
          <p:cNvPr id="212" name="Google Shape;212;p20"/>
          <p:cNvSpPr txBox="1"/>
          <p:nvPr/>
        </p:nvSpPr>
        <p:spPr>
          <a:xfrm>
            <a:off x="2912351" y="5333407"/>
            <a:ext cx="4419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12 cm</a:t>
            </a:r>
            <a:endParaRPr sz="1200">
              <a:solidFill>
                <a:srgbClr val="000000"/>
              </a:solidFill>
              <a:latin typeface="Lexend"/>
              <a:ea typeface="Lexend"/>
              <a:cs typeface="Lexend"/>
              <a:sym typeface="Lexend"/>
            </a:endParaRPr>
          </a:p>
        </p:txBody>
      </p:sp>
      <p:sp>
        <p:nvSpPr>
          <p:cNvPr id="213" name="Google Shape;213;p20"/>
          <p:cNvSpPr/>
          <p:nvPr/>
        </p:nvSpPr>
        <p:spPr>
          <a:xfrm>
            <a:off x="2875646" y="5978169"/>
            <a:ext cx="674400" cy="674400"/>
          </a:xfrm>
          <a:prstGeom prst="arc">
            <a:avLst>
              <a:gd name="adj1" fmla="val 12988357"/>
              <a:gd name="adj2" fmla="val 1449967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4" name="Google Shape;214;p20"/>
          <p:cNvSpPr txBox="1"/>
          <p:nvPr/>
        </p:nvSpPr>
        <p:spPr>
          <a:xfrm>
            <a:off x="2739827" y="5827457"/>
            <a:ext cx="462300" cy="138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24°</a:t>
            </a:r>
            <a:endParaRPr sz="1200">
              <a:solidFill>
                <a:srgbClr val="000000"/>
              </a:solidFill>
              <a:latin typeface="Lexend"/>
              <a:ea typeface="Lexend"/>
              <a:cs typeface="Lexend"/>
              <a:sym typeface="Lexend"/>
            </a:endParaRPr>
          </a:p>
        </p:txBody>
      </p:sp>
      <p:sp>
        <p:nvSpPr>
          <p:cNvPr id="215" name="Google Shape;215;p20"/>
          <p:cNvSpPr txBox="1"/>
          <p:nvPr/>
        </p:nvSpPr>
        <p:spPr>
          <a:xfrm>
            <a:off x="2551181" y="6134059"/>
            <a:ext cx="4419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7 cm</a:t>
            </a:r>
            <a:endParaRPr sz="1200">
              <a:solidFill>
                <a:srgbClr val="000000"/>
              </a:solidFill>
              <a:latin typeface="Lexend"/>
              <a:ea typeface="Lexend"/>
              <a:cs typeface="Lexend"/>
              <a:sym typeface="Lexend"/>
            </a:endParaRPr>
          </a:p>
        </p:txBody>
      </p:sp>
      <p:cxnSp>
        <p:nvCxnSpPr>
          <p:cNvPr id="216" name="Google Shape;216;p20"/>
          <p:cNvCxnSpPr/>
          <p:nvPr/>
        </p:nvCxnSpPr>
        <p:spPr>
          <a:xfrm rot="10800000" flipH="1">
            <a:off x="2350411" y="5447724"/>
            <a:ext cx="400200" cy="202200"/>
          </a:xfrm>
          <a:prstGeom prst="straightConnector1">
            <a:avLst/>
          </a:prstGeom>
          <a:noFill/>
          <a:ln w="28575" cap="flat" cmpd="sng">
            <a:solidFill>
              <a:srgbClr val="000000"/>
            </a:solidFill>
            <a:prstDash val="solid"/>
            <a:round/>
            <a:headEnd type="triangle" w="med" len="med"/>
            <a:tailEnd type="triangle" w="med" len="med"/>
          </a:ln>
        </p:spPr>
      </p:cxnSp>
      <p:sp>
        <p:nvSpPr>
          <p:cNvPr id="217" name="Google Shape;217;p20"/>
          <p:cNvSpPr txBox="1"/>
          <p:nvPr/>
        </p:nvSpPr>
        <p:spPr>
          <a:xfrm>
            <a:off x="2188293" y="5240679"/>
            <a:ext cx="400200" cy="182100"/>
          </a:xfrm>
          <a:prstGeom prst="rect">
            <a:avLst/>
          </a:prstGeom>
          <a:solidFill>
            <a:schemeClr val="lt1"/>
          </a:solidFill>
          <a:ln>
            <a:noFill/>
          </a:ln>
        </p:spPr>
        <p:txBody>
          <a:bodyPr spcFirstLastPara="1" wrap="square" lIns="0" tIns="0" rIns="0" bIns="0" anchor="ctr" anchorCtr="0">
            <a:noAutofit/>
          </a:bodyPr>
          <a:lstStyle/>
          <a:p>
            <a:pPr marL="0" lvl="0" indent="0" algn="ctr" rtl="0">
              <a:lnSpc>
                <a:spcPct val="100000"/>
              </a:lnSpc>
              <a:spcBef>
                <a:spcPct val="0"/>
              </a:spcBef>
              <a:spcAft>
                <a:spcPct val="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18" name="Google Shape;218;p20"/>
          <p:cNvSpPr txBox="1"/>
          <p:nvPr/>
        </p:nvSpPr>
        <p:spPr>
          <a:xfrm>
            <a:off x="5827554" y="4612802"/>
            <a:ext cx="203700" cy="222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a:t>
            </a:r>
            <a:endParaRPr sz="1200">
              <a:solidFill>
                <a:srgbClr val="000000"/>
              </a:solidFill>
              <a:latin typeface="Lexend"/>
              <a:ea typeface="Lexend"/>
              <a:cs typeface="Lexend"/>
              <a:sym typeface="Lexend"/>
            </a:endParaRPr>
          </a:p>
        </p:txBody>
      </p:sp>
      <p:cxnSp>
        <p:nvCxnSpPr>
          <p:cNvPr id="219" name="Google Shape;219;p20"/>
          <p:cNvCxnSpPr/>
          <p:nvPr/>
        </p:nvCxnSpPr>
        <p:spPr>
          <a:xfrm>
            <a:off x="5939575" y="5537141"/>
            <a:ext cx="106500" cy="32700"/>
          </a:xfrm>
          <a:prstGeom prst="straightConnector1">
            <a:avLst/>
          </a:prstGeom>
          <a:noFill/>
          <a:ln w="28575" cap="flat" cmpd="sng">
            <a:solidFill>
              <a:srgbClr val="000000"/>
            </a:solidFill>
            <a:prstDash val="solid"/>
            <a:round/>
            <a:headEnd type="none" w="med" len="med"/>
            <a:tailEnd type="none" w="med" len="med"/>
          </a:ln>
        </p:spPr>
      </p:cxnSp>
      <p:cxnSp>
        <p:nvCxnSpPr>
          <p:cNvPr id="220" name="Google Shape;220;p20"/>
          <p:cNvCxnSpPr/>
          <p:nvPr/>
        </p:nvCxnSpPr>
        <p:spPr>
          <a:xfrm flipH="1">
            <a:off x="6378444" y="5537141"/>
            <a:ext cx="106500" cy="32700"/>
          </a:xfrm>
          <a:prstGeom prst="straightConnector1">
            <a:avLst/>
          </a:prstGeom>
          <a:noFill/>
          <a:ln w="28575" cap="flat" cmpd="sng">
            <a:solidFill>
              <a:srgbClr val="000000"/>
            </a:solidFill>
            <a:prstDash val="solid"/>
            <a:round/>
            <a:headEnd type="none" w="med" len="med"/>
            <a:tailEnd type="none" w="med" len="med"/>
          </a:ln>
        </p:spPr>
      </p:cxnSp>
      <p:sp>
        <p:nvSpPr>
          <p:cNvPr id="221" name="Google Shape;221;p20"/>
          <p:cNvSpPr/>
          <p:nvPr/>
        </p:nvSpPr>
        <p:spPr>
          <a:xfrm>
            <a:off x="5843565" y="4415799"/>
            <a:ext cx="754800" cy="724800"/>
          </a:xfrm>
          <a:prstGeom prst="arc">
            <a:avLst>
              <a:gd name="adj1" fmla="val 4525778"/>
              <a:gd name="adj2" fmla="val 6343938"/>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22" name="Google Shape;222;p20"/>
          <p:cNvCxnSpPr/>
          <p:nvPr/>
        </p:nvCxnSpPr>
        <p:spPr>
          <a:xfrm>
            <a:off x="6328814" y="4742975"/>
            <a:ext cx="474900" cy="1608600"/>
          </a:xfrm>
          <a:prstGeom prst="straightConnector1">
            <a:avLst/>
          </a:prstGeom>
          <a:noFill/>
          <a:ln w="28575" cap="flat" cmpd="sng">
            <a:solidFill>
              <a:srgbClr val="000000"/>
            </a:solidFill>
            <a:prstDash val="solid"/>
            <a:round/>
            <a:headEnd type="triangle" w="med" len="med"/>
            <a:tailEnd type="triangle" w="med" len="med"/>
          </a:ln>
        </p:spPr>
      </p:cxnSp>
      <p:sp>
        <p:nvSpPr>
          <p:cNvPr id="223" name="Google Shape;223;p20"/>
          <p:cNvSpPr txBox="1"/>
          <p:nvPr/>
        </p:nvSpPr>
        <p:spPr>
          <a:xfrm>
            <a:off x="6625259" y="5320706"/>
            <a:ext cx="494400" cy="222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12 cm</a:t>
            </a:r>
            <a:endParaRPr sz="1200">
              <a:solidFill>
                <a:srgbClr val="000000"/>
              </a:solidFill>
              <a:latin typeface="Lexend"/>
              <a:ea typeface="Lexend"/>
              <a:cs typeface="Lexend"/>
              <a:sym typeface="Lexend"/>
            </a:endParaRPr>
          </a:p>
        </p:txBody>
      </p:sp>
      <p:sp>
        <p:nvSpPr>
          <p:cNvPr id="224" name="Google Shape;224;p20"/>
          <p:cNvSpPr txBox="1"/>
          <p:nvPr/>
        </p:nvSpPr>
        <p:spPr>
          <a:xfrm>
            <a:off x="6092643" y="5206224"/>
            <a:ext cx="517500" cy="14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30°</a:t>
            </a:r>
            <a:endParaRPr sz="1200">
              <a:solidFill>
                <a:srgbClr val="000000"/>
              </a:solidFill>
              <a:latin typeface="Lexend"/>
              <a:ea typeface="Lexend"/>
              <a:cs typeface="Lexend"/>
              <a:sym typeface="Lexend"/>
            </a:endParaRPr>
          </a:p>
        </p:txBody>
      </p:sp>
      <p:cxnSp>
        <p:nvCxnSpPr>
          <p:cNvPr id="225" name="Google Shape;225;p20"/>
          <p:cNvCxnSpPr>
            <a:stCxn id="173" idx="4"/>
          </p:cNvCxnSpPr>
          <p:nvPr/>
        </p:nvCxnSpPr>
        <p:spPr>
          <a:xfrm rot="10800000">
            <a:off x="5807009" y="6182833"/>
            <a:ext cx="872700" cy="195300"/>
          </a:xfrm>
          <a:prstGeom prst="straightConnector1">
            <a:avLst/>
          </a:prstGeom>
          <a:noFill/>
          <a:ln w="28575" cap="flat" cmpd="sng">
            <a:solidFill>
              <a:srgbClr val="808080"/>
            </a:solidFill>
            <a:prstDash val="lgDash"/>
            <a:round/>
            <a:headEnd type="none" w="med" len="med"/>
            <a:tailEnd type="none" w="med" len="med"/>
          </a:ln>
        </p:spPr>
      </p:cxnSp>
      <p:sp>
        <p:nvSpPr>
          <p:cNvPr id="226" name="Google Shape;226;p20"/>
          <p:cNvSpPr/>
          <p:nvPr/>
        </p:nvSpPr>
        <p:spPr>
          <a:xfrm rot="-4494397">
            <a:off x="5823857" y="6090799"/>
            <a:ext cx="102537" cy="106232"/>
          </a:xfrm>
          <a:prstGeom prst="rect">
            <a:avLst/>
          </a:prstGeom>
          <a:noFill/>
          <a:ln w="2857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27" name="Google Shape;227;p20"/>
          <p:cNvCxnSpPr/>
          <p:nvPr/>
        </p:nvCxnSpPr>
        <p:spPr>
          <a:xfrm rot="10800000">
            <a:off x="5778853" y="6249399"/>
            <a:ext cx="887400" cy="199200"/>
          </a:xfrm>
          <a:prstGeom prst="straightConnector1">
            <a:avLst/>
          </a:prstGeom>
          <a:noFill/>
          <a:ln w="28575" cap="flat" cmpd="sng">
            <a:solidFill>
              <a:srgbClr val="000000"/>
            </a:solidFill>
            <a:prstDash val="solid"/>
            <a:round/>
            <a:headEnd type="triangle" w="med" len="med"/>
            <a:tailEnd type="triangle" w="med" len="med"/>
          </a:ln>
        </p:spPr>
      </p:cxnSp>
      <p:sp>
        <p:nvSpPr>
          <p:cNvPr id="228" name="Google Shape;228;p20"/>
          <p:cNvSpPr txBox="1"/>
          <p:nvPr/>
        </p:nvSpPr>
        <p:spPr>
          <a:xfrm>
            <a:off x="5880972" y="6395615"/>
            <a:ext cx="447600" cy="195600"/>
          </a:xfrm>
          <a:prstGeom prst="rect">
            <a:avLst/>
          </a:prstGeom>
          <a:solidFill>
            <a:schemeClr val="lt1"/>
          </a:solid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29" name="Google Shape;229;p20"/>
          <p:cNvSpPr txBox="1"/>
          <p:nvPr/>
        </p:nvSpPr>
        <p:spPr>
          <a:xfrm>
            <a:off x="4171112" y="6674787"/>
            <a:ext cx="28671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1200" i="1">
                <a:solidFill>
                  <a:schemeClr val="dk1"/>
                </a:solidFill>
                <a:latin typeface="Times New Roman"/>
                <a:ea typeface="Times New Roman"/>
                <a:cs typeface="Times New Roman"/>
                <a:sym typeface="Times New Roman"/>
              </a:rPr>
              <a:t>h</a:t>
            </a:r>
            <a:r>
              <a:rPr lang="en-GB" sz="1200">
                <a:solidFill>
                  <a:schemeClr val="dk1"/>
                </a:solidFill>
                <a:latin typeface="Lexend"/>
                <a:ea typeface="Lexend"/>
                <a:cs typeface="Lexend"/>
                <a:sym typeface="Lexend"/>
              </a:rPr>
              <a:t> </a:t>
            </a:r>
            <a:r>
              <a:rPr lang="en-GB" sz="1200">
                <a:solidFill>
                  <a:schemeClr val="dk1"/>
                </a:solidFill>
                <a:latin typeface="Times New Roman"/>
                <a:ea typeface="Times New Roman"/>
                <a:cs typeface="Times New Roman"/>
                <a:sym typeface="Times New Roman"/>
              </a:rPr>
              <a:t>= 12 × sin(30°) = 6</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200" i="1">
              <a:latin typeface="Times New Roman"/>
              <a:ea typeface="Times New Roman"/>
              <a:cs typeface="Times New Roman"/>
              <a:sym typeface="Times New Roman"/>
            </a:endParaRPr>
          </a:p>
        </p:txBody>
      </p:sp>
      <p:sp>
        <p:nvSpPr>
          <p:cNvPr id="230" name="Google Shape;230;p20"/>
          <p:cNvSpPr txBox="1"/>
          <p:nvPr/>
        </p:nvSpPr>
        <p:spPr>
          <a:xfrm>
            <a:off x="4145803" y="6998437"/>
            <a:ext cx="28671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Area</a:t>
            </a:r>
            <a:r>
              <a:rPr lang="en-GB" sz="1200">
                <a:solidFill>
                  <a:schemeClr val="dk1"/>
                </a:solidFill>
                <a:latin typeface="Lexend"/>
                <a:ea typeface="Lexend"/>
                <a:cs typeface="Lexend"/>
                <a:sym typeface="Lexend"/>
              </a:rPr>
              <a:t> </a:t>
            </a:r>
            <a:r>
              <a:rPr lang="en-GB" sz="1200">
                <a:solidFill>
                  <a:schemeClr val="dk1"/>
                </a:solidFill>
                <a:latin typeface="Times New Roman"/>
                <a:ea typeface="Times New Roman"/>
                <a:cs typeface="Times New Roman"/>
                <a:sym typeface="Times New Roman"/>
              </a:rPr>
              <a:t>=     × 12 × 6 = 36 cm</a:t>
            </a:r>
            <a:r>
              <a:rPr lang="en-GB" sz="1200" baseline="30000">
                <a:solidFill>
                  <a:schemeClr val="dk1"/>
                </a:solidFill>
                <a:latin typeface="Times New Roman"/>
                <a:ea typeface="Times New Roman"/>
                <a:cs typeface="Times New Roman"/>
                <a:sym typeface="Times New Roman"/>
              </a:rPr>
              <a:t>2</a:t>
            </a:r>
            <a:endParaRPr sz="1200" baseline="30000">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200">
              <a:latin typeface="Times New Roman"/>
              <a:ea typeface="Times New Roman"/>
              <a:cs typeface="Times New Roman"/>
              <a:sym typeface="Times New Roman"/>
            </a:endParaRPr>
          </a:p>
        </p:txBody>
      </p:sp>
      <p:pic>
        <p:nvPicPr>
          <p:cNvPr id="231" name="Google Shape;231;p20" descr="&lt;math xmlns=&quot;http://www.w3.org/1998/Math/MathML&quot; display=&quot;block&quot; data-is-equatio=&quot;1&quot; data-latex=&quot;\frac{1}{2}&quot;&gt;&lt;mfrac&gt;&lt;mn&gt;1&lt;/mn&gt;&lt;mn&gt;2&lt;/mn&gt;&lt;/mfrac&gt;&lt;/math&gt;" title="one half"/>
          <p:cNvPicPr preferRelativeResize="0"/>
          <p:nvPr/>
        </p:nvPicPr>
        <p:blipFill>
          <a:blip r:embed="rId3">
            <a:alphaModFix/>
          </a:blip>
          <a:stretch>
            <a:fillRect/>
          </a:stretch>
        </p:blipFill>
        <p:spPr>
          <a:xfrm>
            <a:off x="4630941" y="6923929"/>
            <a:ext cx="97899" cy="320990"/>
          </a:xfrm>
          <a:prstGeom prst="rect">
            <a:avLst/>
          </a:prstGeom>
          <a:noFill/>
          <a:ln>
            <a:noFill/>
          </a:ln>
        </p:spPr>
      </p:pic>
      <p:sp>
        <p:nvSpPr>
          <p:cNvPr id="232" name="Google Shape;232;p20"/>
          <p:cNvSpPr txBox="1"/>
          <p:nvPr/>
        </p:nvSpPr>
        <p:spPr>
          <a:xfrm>
            <a:off x="488444" y="6674792"/>
            <a:ext cx="25143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i="1">
                <a:solidFill>
                  <a:schemeClr val="dk1"/>
                </a:solidFill>
                <a:latin typeface="Times New Roman"/>
                <a:ea typeface="Times New Roman"/>
                <a:cs typeface="Times New Roman"/>
                <a:sym typeface="Times New Roman"/>
              </a:rPr>
              <a:t>h</a:t>
            </a:r>
            <a:r>
              <a:rPr lang="en-GB" sz="1200">
                <a:solidFill>
                  <a:schemeClr val="dk1"/>
                </a:solidFill>
                <a:latin typeface="Lexend"/>
                <a:ea typeface="Lexend"/>
                <a:cs typeface="Lexend"/>
                <a:sym typeface="Lexend"/>
              </a:rPr>
              <a:t> </a:t>
            </a:r>
            <a:r>
              <a:rPr lang="en-GB" sz="1200">
                <a:solidFill>
                  <a:schemeClr val="dk1"/>
                </a:solidFill>
                <a:latin typeface="Times New Roman"/>
                <a:ea typeface="Times New Roman"/>
                <a:cs typeface="Times New Roman"/>
                <a:sym typeface="Times New Roman"/>
              </a:rPr>
              <a:t>= 7 × sin(24°) = 2.847… </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200" i="1">
              <a:solidFill>
                <a:schemeClr val="dk1"/>
              </a:solidFill>
              <a:latin typeface="Times New Roman"/>
              <a:ea typeface="Times New Roman"/>
              <a:cs typeface="Times New Roman"/>
              <a:sym typeface="Times New Roman"/>
            </a:endParaRPr>
          </a:p>
        </p:txBody>
      </p:sp>
      <p:sp>
        <p:nvSpPr>
          <p:cNvPr id="233" name="Google Shape;233;p20"/>
          <p:cNvSpPr txBox="1"/>
          <p:nvPr/>
        </p:nvSpPr>
        <p:spPr>
          <a:xfrm>
            <a:off x="469896" y="6998449"/>
            <a:ext cx="25143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Area</a:t>
            </a:r>
            <a:r>
              <a:rPr lang="en-GB" sz="1200">
                <a:solidFill>
                  <a:schemeClr val="dk1"/>
                </a:solidFill>
                <a:latin typeface="Lexend"/>
                <a:ea typeface="Lexend"/>
                <a:cs typeface="Lexend"/>
                <a:sym typeface="Lexend"/>
              </a:rPr>
              <a:t> </a:t>
            </a:r>
            <a:r>
              <a:rPr lang="en-GB" sz="1200">
                <a:solidFill>
                  <a:schemeClr val="dk1"/>
                </a:solidFill>
                <a:latin typeface="Times New Roman"/>
                <a:ea typeface="Times New Roman"/>
                <a:cs typeface="Times New Roman"/>
                <a:sym typeface="Times New Roman"/>
              </a:rPr>
              <a:t>=     × 12 × 2.847… = 17.1 cm</a:t>
            </a:r>
            <a:r>
              <a:rPr lang="en-GB" sz="1200" baseline="30000">
                <a:solidFill>
                  <a:schemeClr val="dk1"/>
                </a:solidFill>
                <a:latin typeface="Times New Roman"/>
                <a:ea typeface="Times New Roman"/>
                <a:cs typeface="Times New Roman"/>
                <a:sym typeface="Times New Roman"/>
              </a:rPr>
              <a:t>2</a:t>
            </a:r>
            <a:endParaRPr sz="1200" baseline="30000">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200">
              <a:solidFill>
                <a:schemeClr val="dk1"/>
              </a:solidFill>
              <a:latin typeface="Times New Roman"/>
              <a:ea typeface="Times New Roman"/>
              <a:cs typeface="Times New Roman"/>
              <a:sym typeface="Times New Roman"/>
            </a:endParaRPr>
          </a:p>
        </p:txBody>
      </p:sp>
      <p:pic>
        <p:nvPicPr>
          <p:cNvPr id="234" name="Google Shape;234;p20" descr="&lt;math xmlns=&quot;http://www.w3.org/1998/Math/MathML&quot; display=&quot;block&quot; data-is-equatio=&quot;1&quot; data-latex=&quot;\frac{1}{2}&quot;&gt;&lt;mfrac&gt;&lt;mn&gt;1&lt;/mn&gt;&lt;mn&gt;2&lt;/mn&gt;&lt;/mfrac&gt;&lt;/math&gt;" title="one half"/>
          <p:cNvPicPr preferRelativeResize="0"/>
          <p:nvPr/>
        </p:nvPicPr>
        <p:blipFill>
          <a:blip r:embed="rId3">
            <a:alphaModFix/>
          </a:blip>
          <a:stretch>
            <a:fillRect/>
          </a:stretch>
        </p:blipFill>
        <p:spPr>
          <a:xfrm>
            <a:off x="955044" y="6923929"/>
            <a:ext cx="97899" cy="320990"/>
          </a:xfrm>
          <a:prstGeom prst="rect">
            <a:avLst/>
          </a:prstGeom>
          <a:noFill/>
          <a:ln>
            <a:noFill/>
          </a:ln>
        </p:spPr>
      </p:pic>
      <p:sp>
        <p:nvSpPr>
          <p:cNvPr id="235" name="Google Shape;235;p20"/>
          <p:cNvSpPr txBox="1"/>
          <p:nvPr/>
        </p:nvSpPr>
        <p:spPr>
          <a:xfrm>
            <a:off x="468000" y="7859100"/>
            <a:ext cx="4560600" cy="567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Calculate the area of this rhombus, to 1 decimal place.</a:t>
            </a:r>
            <a:endParaRPr sz="1200">
              <a:solidFill>
                <a:srgbClr val="000000"/>
              </a:solidFill>
              <a:latin typeface="Lexend"/>
              <a:ea typeface="Lexend"/>
              <a:cs typeface="Lexend"/>
              <a:sym typeface="Lexend"/>
            </a:endParaRPr>
          </a:p>
        </p:txBody>
      </p:sp>
      <p:sp>
        <p:nvSpPr>
          <p:cNvPr id="236" name="Google Shape;236;p20"/>
          <p:cNvSpPr/>
          <p:nvPr/>
        </p:nvSpPr>
        <p:spPr>
          <a:xfrm>
            <a:off x="4891230" y="7978487"/>
            <a:ext cx="1556400" cy="1089900"/>
          </a:xfrm>
          <a:prstGeom prst="parallelogram">
            <a:avLst>
              <a:gd name="adj" fmla="val 3497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37" name="Google Shape;237;p20"/>
          <p:cNvCxnSpPr/>
          <p:nvPr/>
        </p:nvCxnSpPr>
        <p:spPr>
          <a:xfrm rot="10800000" flipH="1">
            <a:off x="6179208" y="7978462"/>
            <a:ext cx="413700" cy="1092900"/>
          </a:xfrm>
          <a:prstGeom prst="straightConnector1">
            <a:avLst/>
          </a:prstGeom>
          <a:noFill/>
          <a:ln w="28575" cap="flat" cmpd="sng">
            <a:solidFill>
              <a:srgbClr val="000000"/>
            </a:solidFill>
            <a:prstDash val="solid"/>
            <a:round/>
            <a:headEnd type="triangle" w="med" len="med"/>
            <a:tailEnd type="triangle" w="med" len="med"/>
          </a:ln>
        </p:spPr>
      </p:cxnSp>
      <p:sp>
        <p:nvSpPr>
          <p:cNvPr id="238" name="Google Shape;238;p20"/>
          <p:cNvSpPr txBox="1"/>
          <p:nvPr/>
        </p:nvSpPr>
        <p:spPr>
          <a:xfrm>
            <a:off x="6447670" y="8426720"/>
            <a:ext cx="644400" cy="277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7</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39" name="Google Shape;239;p20"/>
          <p:cNvSpPr/>
          <p:nvPr/>
        </p:nvSpPr>
        <p:spPr>
          <a:xfrm>
            <a:off x="4629412" y="8803452"/>
            <a:ext cx="529500" cy="529500"/>
          </a:xfrm>
          <a:prstGeom prst="arc">
            <a:avLst>
              <a:gd name="adj1" fmla="val 17300254"/>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0" name="Google Shape;240;p20"/>
          <p:cNvSpPr txBox="1"/>
          <p:nvPr/>
        </p:nvSpPr>
        <p:spPr>
          <a:xfrm>
            <a:off x="5126311" y="8678843"/>
            <a:ext cx="673200" cy="276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73</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cxnSp>
        <p:nvCxnSpPr>
          <p:cNvPr id="241" name="Google Shape;241;p20"/>
          <p:cNvCxnSpPr>
            <a:stCxn id="236" idx="0"/>
            <a:endCxn id="236" idx="4"/>
          </p:cNvCxnSpPr>
          <p:nvPr/>
        </p:nvCxnSpPr>
        <p:spPr>
          <a:xfrm flipH="1">
            <a:off x="5669430" y="7978487"/>
            <a:ext cx="0" cy="1089900"/>
          </a:xfrm>
          <a:prstGeom prst="straightConnector1">
            <a:avLst/>
          </a:prstGeom>
          <a:noFill/>
          <a:ln w="28575" cap="flat" cmpd="sng">
            <a:solidFill>
              <a:srgbClr val="808080"/>
            </a:solidFill>
            <a:prstDash val="solid"/>
            <a:round/>
            <a:headEnd type="triangle" w="med" len="med"/>
            <a:tailEnd type="triangle" w="med" len="med"/>
          </a:ln>
        </p:spPr>
      </p:cxnSp>
      <p:sp>
        <p:nvSpPr>
          <p:cNvPr id="242" name="Google Shape;242;p20"/>
          <p:cNvSpPr txBox="1"/>
          <p:nvPr/>
        </p:nvSpPr>
        <p:spPr>
          <a:xfrm>
            <a:off x="5704193" y="8349826"/>
            <a:ext cx="644400" cy="277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latin typeface="Lexend"/>
                <a:ea typeface="Lexend"/>
                <a:cs typeface="Lexend"/>
                <a:sym typeface="Lexend"/>
              </a:rPr>
              <a:t> </a:t>
            </a:r>
            <a:r>
              <a:rPr lang="en-GB" sz="1200">
                <a:solidFill>
                  <a:srgbClr val="000000"/>
                </a:solidFill>
                <a:latin typeface="Lexend"/>
                <a:ea typeface="Lexend"/>
                <a:cs typeface="Lexend"/>
                <a:sym typeface="Lexend"/>
              </a:rPr>
              <a:t>cm</a:t>
            </a:r>
            <a:endParaRPr sz="1200">
              <a:solidFill>
                <a:srgbClr val="000000"/>
              </a:solidFill>
              <a:latin typeface="Lexend"/>
              <a:ea typeface="Lexend"/>
              <a:cs typeface="Lexend"/>
              <a:sym typeface="Lexend"/>
            </a:endParaRPr>
          </a:p>
        </p:txBody>
      </p:sp>
      <p:sp>
        <p:nvSpPr>
          <p:cNvPr id="243" name="Google Shape;243;p20"/>
          <p:cNvSpPr/>
          <p:nvPr/>
        </p:nvSpPr>
        <p:spPr>
          <a:xfrm flipH="1">
            <a:off x="1273509" y="8634730"/>
            <a:ext cx="386100" cy="1092900"/>
          </a:xfrm>
          <a:prstGeom prst="rtTriangle">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4" name="Google Shape;244;p20"/>
          <p:cNvSpPr/>
          <p:nvPr/>
        </p:nvSpPr>
        <p:spPr>
          <a:xfrm>
            <a:off x="1088887" y="9551266"/>
            <a:ext cx="353100" cy="353100"/>
          </a:xfrm>
          <a:prstGeom prst="arc">
            <a:avLst>
              <a:gd name="adj1" fmla="val 17300254"/>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45" name="Google Shape;245;p20"/>
          <p:cNvSpPr txBox="1"/>
          <p:nvPr/>
        </p:nvSpPr>
        <p:spPr>
          <a:xfrm>
            <a:off x="1298324" y="9784649"/>
            <a:ext cx="448800" cy="184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73</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cxnSp>
        <p:nvCxnSpPr>
          <p:cNvPr id="246" name="Google Shape;246;p20"/>
          <p:cNvCxnSpPr/>
          <p:nvPr/>
        </p:nvCxnSpPr>
        <p:spPr>
          <a:xfrm rot="10800000" flipH="1">
            <a:off x="1183634" y="8636065"/>
            <a:ext cx="384900" cy="1089900"/>
          </a:xfrm>
          <a:prstGeom prst="straightConnector1">
            <a:avLst/>
          </a:prstGeom>
          <a:noFill/>
          <a:ln w="28575" cap="flat" cmpd="sng">
            <a:solidFill>
              <a:srgbClr val="000000"/>
            </a:solidFill>
            <a:prstDash val="solid"/>
            <a:round/>
            <a:headEnd type="triangle" w="med" len="med"/>
            <a:tailEnd type="triangle" w="med" len="med"/>
          </a:ln>
        </p:spPr>
      </p:cxnSp>
      <p:sp>
        <p:nvSpPr>
          <p:cNvPr id="247" name="Google Shape;247;p20"/>
          <p:cNvSpPr txBox="1"/>
          <p:nvPr/>
        </p:nvSpPr>
        <p:spPr>
          <a:xfrm>
            <a:off x="831152" y="9084516"/>
            <a:ext cx="644400" cy="277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7</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cxnSp>
        <p:nvCxnSpPr>
          <p:cNvPr id="248" name="Google Shape;248;p20"/>
          <p:cNvCxnSpPr/>
          <p:nvPr/>
        </p:nvCxnSpPr>
        <p:spPr>
          <a:xfrm flipH="1">
            <a:off x="1763203" y="8636284"/>
            <a:ext cx="0" cy="1089900"/>
          </a:xfrm>
          <a:prstGeom prst="straightConnector1">
            <a:avLst/>
          </a:prstGeom>
          <a:noFill/>
          <a:ln w="28575" cap="flat" cmpd="sng">
            <a:solidFill>
              <a:srgbClr val="000000"/>
            </a:solidFill>
            <a:prstDash val="solid"/>
            <a:round/>
            <a:headEnd type="triangle" w="med" len="med"/>
            <a:tailEnd type="triangle" w="med" len="med"/>
          </a:ln>
        </p:spPr>
      </p:cxnSp>
      <p:sp>
        <p:nvSpPr>
          <p:cNvPr id="249" name="Google Shape;249;p20"/>
          <p:cNvSpPr txBox="1"/>
          <p:nvPr/>
        </p:nvSpPr>
        <p:spPr>
          <a:xfrm>
            <a:off x="1797946" y="9007622"/>
            <a:ext cx="644400" cy="277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latin typeface="Lexend"/>
                <a:ea typeface="Lexend"/>
                <a:cs typeface="Lexend"/>
                <a:sym typeface="Lexend"/>
              </a:rPr>
              <a:t> </a:t>
            </a:r>
            <a:r>
              <a:rPr lang="en-GB" sz="1200">
                <a:solidFill>
                  <a:srgbClr val="000000"/>
                </a:solidFill>
                <a:latin typeface="Lexend"/>
                <a:ea typeface="Lexend"/>
                <a:cs typeface="Lexend"/>
                <a:sym typeface="Lexend"/>
              </a:rPr>
              <a:t>cm</a:t>
            </a:r>
            <a:endParaRPr sz="1200">
              <a:solidFill>
                <a:srgbClr val="000000"/>
              </a:solidFill>
              <a:latin typeface="Lexend"/>
              <a:ea typeface="Lexend"/>
              <a:cs typeface="Lexend"/>
              <a:sym typeface="Lexend"/>
            </a:endParaRPr>
          </a:p>
        </p:txBody>
      </p:sp>
      <p:cxnSp>
        <p:nvCxnSpPr>
          <p:cNvPr id="250" name="Google Shape;250;p20"/>
          <p:cNvCxnSpPr/>
          <p:nvPr/>
        </p:nvCxnSpPr>
        <p:spPr>
          <a:xfrm rot="10800000">
            <a:off x="1344307" y="9660942"/>
            <a:ext cx="63600" cy="133500"/>
          </a:xfrm>
          <a:prstGeom prst="straightConnector1">
            <a:avLst/>
          </a:prstGeom>
          <a:noFill/>
          <a:ln w="38100" cap="flat" cmpd="sng">
            <a:solidFill>
              <a:srgbClr val="000000"/>
            </a:solidFill>
            <a:prstDash val="solid"/>
            <a:round/>
            <a:headEnd type="none" w="med" len="med"/>
            <a:tailEnd type="none" w="med" len="med"/>
          </a:ln>
        </p:spPr>
      </p:cxnSp>
      <p:sp>
        <p:nvSpPr>
          <p:cNvPr id="251" name="Google Shape;251;p20"/>
          <p:cNvSpPr txBox="1"/>
          <p:nvPr/>
        </p:nvSpPr>
        <p:spPr>
          <a:xfrm>
            <a:off x="2788297" y="9385909"/>
            <a:ext cx="2624700" cy="199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7 × sin(73°) = 6.694…</a:t>
            </a:r>
            <a:endParaRPr sz="1200">
              <a:solidFill>
                <a:srgbClr val="000000"/>
              </a:solidFill>
              <a:latin typeface="Times New Roman"/>
              <a:ea typeface="Times New Roman"/>
              <a:cs typeface="Times New Roman"/>
              <a:sym typeface="Times New Roman"/>
            </a:endParaRPr>
          </a:p>
        </p:txBody>
      </p:sp>
      <p:sp>
        <p:nvSpPr>
          <p:cNvPr id="252" name="Google Shape;252;p20"/>
          <p:cNvSpPr txBox="1"/>
          <p:nvPr/>
        </p:nvSpPr>
        <p:spPr>
          <a:xfrm>
            <a:off x="2765122" y="9790018"/>
            <a:ext cx="3476100" cy="199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Times New Roman"/>
                <a:ea typeface="Times New Roman"/>
                <a:cs typeface="Times New Roman"/>
                <a:sym typeface="Times New Roman"/>
              </a:rPr>
              <a:t>Area</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a:t>
            </a:r>
            <a:r>
              <a:rPr lang="en-GB" sz="1200">
                <a:solidFill>
                  <a:srgbClr val="000000"/>
                </a:solidFill>
                <a:latin typeface="Times New Roman"/>
                <a:ea typeface="Times New Roman"/>
                <a:cs typeface="Times New Roman"/>
                <a:sym typeface="Times New Roman"/>
              </a:rPr>
              <a:t>7 × </a:t>
            </a:r>
            <a:r>
              <a:rPr lang="en-GB" sz="1200">
                <a:latin typeface="Times New Roman"/>
                <a:ea typeface="Times New Roman"/>
                <a:cs typeface="Times New Roman"/>
                <a:sym typeface="Times New Roman"/>
              </a:rPr>
              <a:t>6.694… = 46.9 cm</a:t>
            </a:r>
            <a:r>
              <a:rPr lang="en-GB" sz="1200" baseline="30000">
                <a:latin typeface="Times New Roman"/>
                <a:ea typeface="Times New Roman"/>
                <a:cs typeface="Times New Roman"/>
                <a:sym typeface="Times New Roman"/>
              </a:rPr>
              <a:t>2</a:t>
            </a:r>
            <a:endParaRPr sz="1200" baseline="30000">
              <a:solidFill>
                <a:srgbClr val="000000"/>
              </a:solidFill>
              <a:latin typeface="Times New Roman"/>
              <a:ea typeface="Times New Roman"/>
              <a:cs typeface="Times New Roman"/>
              <a:sym typeface="Times New Roman"/>
            </a:endParaRPr>
          </a:p>
        </p:txBody>
      </p:sp>
      <p:sp>
        <p:nvSpPr>
          <p:cNvPr id="253" name="Google Shape;253;p20"/>
          <p:cNvSpPr/>
          <p:nvPr/>
        </p:nvSpPr>
        <p:spPr>
          <a:xfrm>
            <a:off x="741279" y="1915831"/>
            <a:ext cx="890700" cy="1599900"/>
          </a:xfrm>
          <a:prstGeom prst="triangle">
            <a:avLst>
              <a:gd name="adj" fmla="val 5000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57" name="Shape 257"/>
        <p:cNvGrpSpPr/>
        <p:nvPr/>
      </p:nvGrpSpPr>
      <p:grpSpPr>
        <a:xfrm>
          <a:off x="0" y="0"/>
          <a:ext cx="0" cy="0"/>
        </a:xfrm>
      </p:grpSpPr>
      <p:pic>
        <p:nvPicPr>
          <p:cNvPr id="258" name="Google Shape;258;p21"/>
          <p:cNvPicPr preferRelativeResize="0"/>
          <p:nvPr/>
        </p:nvPicPr>
        <p:blipFill>
          <a:blip r:embed="rId3">
            <a:alphaModFix/>
          </a:blip>
          <a:stretch>
            <a:fillRect/>
          </a:stretch>
        </p:blipFill>
        <p:spPr>
          <a:xfrm>
            <a:off x="995563" y="7001443"/>
            <a:ext cx="1814926" cy="1657286"/>
          </a:xfrm>
          <a:prstGeom prst="rect">
            <a:avLst/>
          </a:prstGeom>
          <a:noFill/>
          <a:ln w="9525" cap="flat" cmpd="sng">
            <a:solidFill>
              <a:schemeClr val="lt1"/>
            </a:solidFill>
            <a:prstDash val="solid"/>
            <a:round/>
            <a:headEnd type="none" w="sm" len="sm"/>
            <a:tailEnd type="none" w="sm" len="sm"/>
          </a:ln>
        </p:spPr>
      </p:pic>
      <p:sp>
        <p:nvSpPr>
          <p:cNvPr id="259" name="Google Shape;259;p21"/>
          <p:cNvSpPr/>
          <p:nvPr/>
        </p:nvSpPr>
        <p:spPr>
          <a:xfrm>
            <a:off x="1111863" y="7175485"/>
            <a:ext cx="1519500" cy="13083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60" name="Google Shape;260;p21"/>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Problem solving with trigonometry</a:t>
            </a:r>
            <a:endParaRPr/>
          </a:p>
        </p:txBody>
      </p:sp>
      <p:cxnSp>
        <p:nvCxnSpPr>
          <p:cNvPr id="261" name="Google Shape;261;p21"/>
          <p:cNvCxnSpPr/>
          <p:nvPr/>
        </p:nvCxnSpPr>
        <p:spPr>
          <a:xfrm>
            <a:off x="474757" y="9971988"/>
            <a:ext cx="6610500" cy="0"/>
          </a:xfrm>
          <a:prstGeom prst="straightConnector1">
            <a:avLst/>
          </a:prstGeom>
          <a:noFill/>
          <a:ln w="38100" cap="flat" cmpd="sng">
            <a:solidFill>
              <a:srgbClr val="000000"/>
            </a:solidFill>
            <a:prstDash val="solid"/>
            <a:round/>
            <a:headEnd type="none" w="med" len="med"/>
            <a:tailEnd type="none" w="med" len="med"/>
          </a:ln>
        </p:spPr>
      </p:cxnSp>
      <p:sp>
        <p:nvSpPr>
          <p:cNvPr id="262" name="Google Shape;262;p21"/>
          <p:cNvSpPr txBox="1"/>
          <p:nvPr/>
        </p:nvSpPr>
        <p:spPr>
          <a:xfrm>
            <a:off x="476847" y="864000"/>
            <a:ext cx="3723300" cy="247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3) Calculate the area of this parallelogram, to 1 decimal place, given that its perimeter is 54 cm.</a:t>
            </a:r>
            <a:endParaRPr sz="1200">
              <a:solidFill>
                <a:srgbClr val="000000"/>
              </a:solidFill>
              <a:latin typeface="Lexend"/>
              <a:ea typeface="Lexend"/>
              <a:cs typeface="Lexend"/>
              <a:sym typeface="Lexend"/>
            </a:endParaRPr>
          </a:p>
        </p:txBody>
      </p:sp>
      <p:sp>
        <p:nvSpPr>
          <p:cNvPr id="263" name="Google Shape;263;p21"/>
          <p:cNvSpPr/>
          <p:nvPr/>
        </p:nvSpPr>
        <p:spPr>
          <a:xfrm>
            <a:off x="4434416" y="751180"/>
            <a:ext cx="1902900" cy="786300"/>
          </a:xfrm>
          <a:prstGeom prst="parallelogram">
            <a:avLst>
              <a:gd name="adj" fmla="val 52988"/>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64" name="Google Shape;264;p21"/>
          <p:cNvCxnSpPr/>
          <p:nvPr/>
        </p:nvCxnSpPr>
        <p:spPr>
          <a:xfrm rot="10800000" flipH="1">
            <a:off x="6034401" y="739426"/>
            <a:ext cx="421800" cy="802800"/>
          </a:xfrm>
          <a:prstGeom prst="straightConnector1">
            <a:avLst/>
          </a:prstGeom>
          <a:noFill/>
          <a:ln w="28575" cap="flat" cmpd="sng">
            <a:solidFill>
              <a:srgbClr val="000000"/>
            </a:solidFill>
            <a:prstDash val="solid"/>
            <a:round/>
            <a:headEnd type="triangle" w="med" len="med"/>
            <a:tailEnd type="triangle" w="med" len="med"/>
          </a:ln>
        </p:spPr>
      </p:cxnSp>
      <p:sp>
        <p:nvSpPr>
          <p:cNvPr id="265" name="Google Shape;265;p21"/>
          <p:cNvSpPr txBox="1"/>
          <p:nvPr/>
        </p:nvSpPr>
        <p:spPr>
          <a:xfrm>
            <a:off x="6304179" y="1081418"/>
            <a:ext cx="787800" cy="248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11</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66" name="Google Shape;266;p21"/>
          <p:cNvSpPr/>
          <p:nvPr/>
        </p:nvSpPr>
        <p:spPr>
          <a:xfrm>
            <a:off x="4200162" y="1300782"/>
            <a:ext cx="473700" cy="474000"/>
          </a:xfrm>
          <a:prstGeom prst="arc">
            <a:avLst>
              <a:gd name="adj1" fmla="val 17925988"/>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67" name="Google Shape;267;p21"/>
          <p:cNvSpPr txBox="1"/>
          <p:nvPr/>
        </p:nvSpPr>
        <p:spPr>
          <a:xfrm>
            <a:off x="4703603" y="1248146"/>
            <a:ext cx="602400" cy="247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66</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sp>
        <p:nvSpPr>
          <p:cNvPr id="268" name="Google Shape;268;p21"/>
          <p:cNvSpPr txBox="1"/>
          <p:nvPr/>
        </p:nvSpPr>
        <p:spPr>
          <a:xfrm>
            <a:off x="901566" y="1854110"/>
            <a:ext cx="3110100" cy="17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Times New Roman"/>
                <a:ea typeface="Times New Roman"/>
                <a:cs typeface="Times New Roman"/>
                <a:sym typeface="Times New Roman"/>
              </a:rPr>
              <a:t>Perimeter</a:t>
            </a:r>
            <a:r>
              <a:rPr lang="en-GB" sz="1200">
                <a:latin typeface="Lexend"/>
                <a:ea typeface="Lexend"/>
                <a:cs typeface="Lexend"/>
                <a:sym typeface="Lexend"/>
              </a:rPr>
              <a:t>:</a:t>
            </a:r>
            <a:r>
              <a:rPr lang="en-GB" sz="1200">
                <a:latin typeface="Times New Roman"/>
                <a:ea typeface="Times New Roman"/>
                <a:cs typeface="Times New Roman"/>
                <a:sym typeface="Times New Roman"/>
              </a:rPr>
              <a:t>  </a:t>
            </a:r>
            <a:r>
              <a:rPr lang="en-GB" sz="1200">
                <a:solidFill>
                  <a:srgbClr val="000000"/>
                </a:solidFill>
                <a:latin typeface="Times New Roman"/>
                <a:ea typeface="Times New Roman"/>
                <a:cs typeface="Times New Roman"/>
                <a:sym typeface="Times New Roman"/>
              </a:rPr>
              <a:t>2</a:t>
            </a:r>
            <a:r>
              <a:rPr lang="en-GB" sz="1200" i="1">
                <a:solidFill>
                  <a:srgbClr val="000000"/>
                </a:solidFill>
                <a:latin typeface="Times New Roman"/>
                <a:ea typeface="Times New Roman"/>
                <a:cs typeface="Times New Roman"/>
                <a:sym typeface="Times New Roman"/>
              </a:rPr>
              <a:t>b</a:t>
            </a:r>
            <a:r>
              <a:rPr lang="en-GB" sz="1200">
                <a:solidFill>
                  <a:srgbClr val="000000"/>
                </a:solidFill>
                <a:latin typeface="Times New Roman"/>
                <a:ea typeface="Times New Roman"/>
                <a:cs typeface="Times New Roman"/>
                <a:sym typeface="Times New Roman"/>
              </a:rPr>
              <a:t> + 22 = 54</a:t>
            </a:r>
            <a:endParaRPr sz="1200" baseline="30000">
              <a:solidFill>
                <a:srgbClr val="000000"/>
              </a:solidFill>
              <a:latin typeface="Times New Roman"/>
              <a:ea typeface="Times New Roman"/>
              <a:cs typeface="Times New Roman"/>
              <a:sym typeface="Times New Roman"/>
            </a:endParaRPr>
          </a:p>
        </p:txBody>
      </p:sp>
      <p:cxnSp>
        <p:nvCxnSpPr>
          <p:cNvPr id="269" name="Google Shape;269;p21"/>
          <p:cNvCxnSpPr/>
          <p:nvPr/>
        </p:nvCxnSpPr>
        <p:spPr>
          <a:xfrm>
            <a:off x="4434416" y="1634024"/>
            <a:ext cx="1470000" cy="0"/>
          </a:xfrm>
          <a:prstGeom prst="straightConnector1">
            <a:avLst/>
          </a:prstGeom>
          <a:noFill/>
          <a:ln w="28575" cap="flat" cmpd="sng">
            <a:solidFill>
              <a:srgbClr val="000000"/>
            </a:solidFill>
            <a:prstDash val="solid"/>
            <a:round/>
            <a:headEnd type="triangle" w="med" len="med"/>
            <a:tailEnd type="triangle" w="med" len="med"/>
          </a:ln>
        </p:spPr>
      </p:cxnSp>
      <p:sp>
        <p:nvSpPr>
          <p:cNvPr id="270" name="Google Shape;270;p21"/>
          <p:cNvSpPr txBox="1"/>
          <p:nvPr/>
        </p:nvSpPr>
        <p:spPr>
          <a:xfrm>
            <a:off x="4985229" y="1621892"/>
            <a:ext cx="576600" cy="248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b</a:t>
            </a:r>
            <a:r>
              <a:rPr lang="en-GB" sz="1200">
                <a:latin typeface="Lexend"/>
                <a:ea typeface="Lexend"/>
                <a:cs typeface="Lexend"/>
                <a:sym typeface="Lexend"/>
              </a:rPr>
              <a:t> </a:t>
            </a:r>
            <a:r>
              <a:rPr lang="en-GB" sz="1200">
                <a:solidFill>
                  <a:srgbClr val="000000"/>
                </a:solidFill>
                <a:latin typeface="Lexend"/>
                <a:ea typeface="Lexend"/>
                <a:cs typeface="Lexend"/>
                <a:sym typeface="Lexend"/>
              </a:rPr>
              <a:t>cm</a:t>
            </a:r>
            <a:endParaRPr sz="1200">
              <a:solidFill>
                <a:srgbClr val="000000"/>
              </a:solidFill>
              <a:latin typeface="Lexend"/>
              <a:ea typeface="Lexend"/>
              <a:cs typeface="Lexend"/>
              <a:sym typeface="Lexend"/>
            </a:endParaRPr>
          </a:p>
        </p:txBody>
      </p:sp>
      <p:sp>
        <p:nvSpPr>
          <p:cNvPr id="271" name="Google Shape;271;p21"/>
          <p:cNvSpPr txBox="1"/>
          <p:nvPr/>
        </p:nvSpPr>
        <p:spPr>
          <a:xfrm>
            <a:off x="1930480" y="2136535"/>
            <a:ext cx="646800" cy="17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Times New Roman"/>
                <a:ea typeface="Times New Roman"/>
                <a:cs typeface="Times New Roman"/>
                <a:sym typeface="Times New Roman"/>
              </a:rPr>
              <a:t>2</a:t>
            </a:r>
            <a:r>
              <a:rPr lang="en-GB" sz="1200" i="1">
                <a:solidFill>
                  <a:srgbClr val="000000"/>
                </a:solidFill>
                <a:latin typeface="Times New Roman"/>
                <a:ea typeface="Times New Roman"/>
                <a:cs typeface="Times New Roman"/>
                <a:sym typeface="Times New Roman"/>
              </a:rPr>
              <a:t>b</a:t>
            </a:r>
            <a:r>
              <a:rPr lang="en-GB" sz="1200">
                <a:solidFill>
                  <a:srgbClr val="000000"/>
                </a:solidFill>
                <a:latin typeface="Times New Roman"/>
                <a:ea typeface="Times New Roman"/>
                <a:cs typeface="Times New Roman"/>
                <a:sym typeface="Times New Roman"/>
              </a:rPr>
              <a:t> = 32</a:t>
            </a:r>
            <a:endParaRPr sz="1200" baseline="30000">
              <a:solidFill>
                <a:srgbClr val="000000"/>
              </a:solidFill>
              <a:latin typeface="Times New Roman"/>
              <a:ea typeface="Times New Roman"/>
              <a:cs typeface="Times New Roman"/>
              <a:sym typeface="Times New Roman"/>
            </a:endParaRPr>
          </a:p>
        </p:txBody>
      </p:sp>
      <p:sp>
        <p:nvSpPr>
          <p:cNvPr id="272" name="Google Shape;272;p21"/>
          <p:cNvSpPr txBox="1"/>
          <p:nvPr/>
        </p:nvSpPr>
        <p:spPr>
          <a:xfrm>
            <a:off x="2022285" y="2420448"/>
            <a:ext cx="646800" cy="17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solidFill>
                  <a:srgbClr val="000000"/>
                </a:solidFill>
                <a:latin typeface="Times New Roman"/>
                <a:ea typeface="Times New Roman"/>
                <a:cs typeface="Times New Roman"/>
                <a:sym typeface="Times New Roman"/>
              </a:rPr>
              <a:t>b</a:t>
            </a:r>
            <a:r>
              <a:rPr lang="en-GB" sz="1200">
                <a:solidFill>
                  <a:srgbClr val="000000"/>
                </a:solidFill>
                <a:latin typeface="Times New Roman"/>
                <a:ea typeface="Times New Roman"/>
                <a:cs typeface="Times New Roman"/>
                <a:sym typeface="Times New Roman"/>
              </a:rPr>
              <a:t> = 16</a:t>
            </a:r>
            <a:endParaRPr sz="1200" baseline="30000">
              <a:solidFill>
                <a:srgbClr val="000000"/>
              </a:solidFill>
              <a:latin typeface="Times New Roman"/>
              <a:ea typeface="Times New Roman"/>
              <a:cs typeface="Times New Roman"/>
              <a:sym typeface="Times New Roman"/>
            </a:endParaRPr>
          </a:p>
        </p:txBody>
      </p:sp>
      <p:cxnSp>
        <p:nvCxnSpPr>
          <p:cNvPr id="273" name="Google Shape;273;p21"/>
          <p:cNvCxnSpPr/>
          <p:nvPr/>
        </p:nvCxnSpPr>
        <p:spPr>
          <a:xfrm rot="10800000" flipH="1">
            <a:off x="5919819" y="753739"/>
            <a:ext cx="0" cy="792600"/>
          </a:xfrm>
          <a:prstGeom prst="straightConnector1">
            <a:avLst/>
          </a:prstGeom>
          <a:noFill/>
          <a:ln w="28575" cap="flat" cmpd="sng">
            <a:solidFill>
              <a:srgbClr val="808080"/>
            </a:solidFill>
            <a:prstDash val="lgDash"/>
            <a:round/>
            <a:headEnd type="triangle" w="med" len="med"/>
            <a:tailEnd type="triangle" w="med" len="med"/>
          </a:ln>
        </p:spPr>
      </p:cxnSp>
      <p:sp>
        <p:nvSpPr>
          <p:cNvPr id="274" name="Google Shape;274;p21"/>
          <p:cNvSpPr txBox="1"/>
          <p:nvPr/>
        </p:nvSpPr>
        <p:spPr>
          <a:xfrm>
            <a:off x="5456066" y="974488"/>
            <a:ext cx="576600" cy="248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latin typeface="Lexend"/>
                <a:ea typeface="Lexend"/>
                <a:cs typeface="Lexend"/>
                <a:sym typeface="Lexend"/>
              </a:rPr>
              <a:t> </a:t>
            </a:r>
            <a:r>
              <a:rPr lang="en-GB" sz="1200">
                <a:solidFill>
                  <a:srgbClr val="000000"/>
                </a:solidFill>
                <a:latin typeface="Lexend"/>
                <a:ea typeface="Lexend"/>
                <a:cs typeface="Lexend"/>
                <a:sym typeface="Lexend"/>
              </a:rPr>
              <a:t>cm</a:t>
            </a:r>
            <a:endParaRPr sz="1200">
              <a:solidFill>
                <a:srgbClr val="000000"/>
              </a:solidFill>
              <a:latin typeface="Lexend"/>
              <a:ea typeface="Lexend"/>
              <a:cs typeface="Lexend"/>
              <a:sym typeface="Lexend"/>
            </a:endParaRPr>
          </a:p>
        </p:txBody>
      </p:sp>
      <p:sp>
        <p:nvSpPr>
          <p:cNvPr id="275" name="Google Shape;275;p21"/>
          <p:cNvSpPr txBox="1"/>
          <p:nvPr/>
        </p:nvSpPr>
        <p:spPr>
          <a:xfrm>
            <a:off x="3553401" y="1998487"/>
            <a:ext cx="2348400" cy="17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11 × sin(66°) = 10.049…</a:t>
            </a:r>
            <a:endParaRPr sz="1200">
              <a:solidFill>
                <a:srgbClr val="000000"/>
              </a:solidFill>
              <a:latin typeface="Times New Roman"/>
              <a:ea typeface="Times New Roman"/>
              <a:cs typeface="Times New Roman"/>
              <a:sym typeface="Times New Roman"/>
            </a:endParaRPr>
          </a:p>
        </p:txBody>
      </p:sp>
      <p:sp>
        <p:nvSpPr>
          <p:cNvPr id="276" name="Google Shape;276;p21"/>
          <p:cNvSpPr txBox="1"/>
          <p:nvPr/>
        </p:nvSpPr>
        <p:spPr>
          <a:xfrm>
            <a:off x="3532666" y="2360054"/>
            <a:ext cx="3110100" cy="17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Times New Roman"/>
                <a:ea typeface="Times New Roman"/>
                <a:cs typeface="Times New Roman"/>
                <a:sym typeface="Times New Roman"/>
              </a:rPr>
              <a:t>Area</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a:t>
            </a:r>
            <a:r>
              <a:rPr lang="en-GB" sz="1200">
                <a:solidFill>
                  <a:srgbClr val="000000"/>
                </a:solidFill>
                <a:latin typeface="Times New Roman"/>
                <a:ea typeface="Times New Roman"/>
                <a:cs typeface="Times New Roman"/>
                <a:sym typeface="Times New Roman"/>
              </a:rPr>
              <a:t>16 × </a:t>
            </a:r>
            <a:r>
              <a:rPr lang="en-GB" sz="1200">
                <a:latin typeface="Times New Roman"/>
                <a:ea typeface="Times New Roman"/>
                <a:cs typeface="Times New Roman"/>
                <a:sym typeface="Times New Roman"/>
              </a:rPr>
              <a:t>10.049… = 160.8 cm</a:t>
            </a:r>
            <a:r>
              <a:rPr lang="en-GB" sz="1200" baseline="30000">
                <a:latin typeface="Times New Roman"/>
                <a:ea typeface="Times New Roman"/>
                <a:cs typeface="Times New Roman"/>
                <a:sym typeface="Times New Roman"/>
              </a:rPr>
              <a:t>2</a:t>
            </a:r>
            <a:endParaRPr sz="1200" baseline="30000">
              <a:solidFill>
                <a:srgbClr val="000000"/>
              </a:solidFill>
              <a:latin typeface="Times New Roman"/>
              <a:ea typeface="Times New Roman"/>
              <a:cs typeface="Times New Roman"/>
              <a:sym typeface="Times New Roman"/>
            </a:endParaRPr>
          </a:p>
        </p:txBody>
      </p:sp>
      <p:sp>
        <p:nvSpPr>
          <p:cNvPr id="277" name="Google Shape;277;p21"/>
          <p:cNvSpPr txBox="1"/>
          <p:nvPr/>
        </p:nvSpPr>
        <p:spPr>
          <a:xfrm>
            <a:off x="461975" y="4158050"/>
            <a:ext cx="3196200" cy="346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4) Calculate the area of this regular hexagon, to 1 decimal place.</a:t>
            </a:r>
            <a:endParaRPr sz="1200">
              <a:solidFill>
                <a:srgbClr val="000000"/>
              </a:solidFill>
              <a:latin typeface="Lexend"/>
              <a:ea typeface="Lexend"/>
              <a:cs typeface="Lexend"/>
              <a:sym typeface="Lexend"/>
            </a:endParaRPr>
          </a:p>
        </p:txBody>
      </p:sp>
      <p:cxnSp>
        <p:nvCxnSpPr>
          <p:cNvPr id="278" name="Google Shape;278;p21"/>
          <p:cNvCxnSpPr/>
          <p:nvPr/>
        </p:nvCxnSpPr>
        <p:spPr>
          <a:xfrm rot="10800000">
            <a:off x="4889982" y="4197037"/>
            <a:ext cx="412200" cy="727800"/>
          </a:xfrm>
          <a:prstGeom prst="straightConnector1">
            <a:avLst/>
          </a:prstGeom>
          <a:noFill/>
          <a:ln w="28575" cap="flat" cmpd="sng">
            <a:solidFill>
              <a:srgbClr val="000000"/>
            </a:solidFill>
            <a:prstDash val="solid"/>
            <a:round/>
            <a:headEnd type="triangle" w="med" len="med"/>
            <a:tailEnd type="triangle" w="med" len="med"/>
          </a:ln>
        </p:spPr>
      </p:cxnSp>
      <p:sp>
        <p:nvSpPr>
          <p:cNvPr id="279" name="Google Shape;279;p21"/>
          <p:cNvSpPr txBox="1"/>
          <p:nvPr/>
        </p:nvSpPr>
        <p:spPr>
          <a:xfrm>
            <a:off x="5201783" y="4307146"/>
            <a:ext cx="1020300" cy="292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5</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pic>
        <p:nvPicPr>
          <p:cNvPr id="280" name="Google Shape;280;p21"/>
          <p:cNvPicPr preferRelativeResize="0"/>
          <p:nvPr/>
        </p:nvPicPr>
        <p:blipFill>
          <a:blip r:embed="rId3">
            <a:alphaModFix/>
          </a:blip>
          <a:stretch>
            <a:fillRect/>
          </a:stretch>
        </p:blipFill>
        <p:spPr>
          <a:xfrm>
            <a:off x="3296310" y="4038775"/>
            <a:ext cx="2125556" cy="1940936"/>
          </a:xfrm>
          <a:prstGeom prst="rect">
            <a:avLst/>
          </a:prstGeom>
          <a:noFill/>
          <a:ln>
            <a:noFill/>
          </a:ln>
        </p:spPr>
      </p:pic>
      <p:sp>
        <p:nvSpPr>
          <p:cNvPr id="281" name="Google Shape;281;p21"/>
          <p:cNvSpPr txBox="1"/>
          <p:nvPr/>
        </p:nvSpPr>
        <p:spPr>
          <a:xfrm>
            <a:off x="461975" y="6655224"/>
            <a:ext cx="1655700" cy="346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 possible method:</a:t>
            </a:r>
            <a:endParaRPr sz="1200">
              <a:solidFill>
                <a:srgbClr val="000000"/>
              </a:solidFill>
              <a:latin typeface="Kalam"/>
              <a:ea typeface="Kalam"/>
              <a:cs typeface="Kalam"/>
              <a:sym typeface="Kalam"/>
            </a:endParaRPr>
          </a:p>
        </p:txBody>
      </p:sp>
      <p:sp>
        <p:nvSpPr>
          <p:cNvPr id="282" name="Google Shape;282;p21"/>
          <p:cNvSpPr txBox="1"/>
          <p:nvPr/>
        </p:nvSpPr>
        <p:spPr>
          <a:xfrm>
            <a:off x="1993060" y="7420216"/>
            <a:ext cx="580200" cy="249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5</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83" name="Google Shape;283;p21"/>
          <p:cNvSpPr/>
          <p:nvPr/>
        </p:nvSpPr>
        <p:spPr>
          <a:xfrm>
            <a:off x="1117070" y="7837536"/>
            <a:ext cx="375300" cy="646200"/>
          </a:xfrm>
          <a:prstGeom prst="rtTriangle">
            <a:avLst/>
          </a:prstGeom>
          <a:solidFill>
            <a:srgbClr val="CCCCC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84" name="Google Shape;284;p21"/>
          <p:cNvSpPr/>
          <p:nvPr/>
        </p:nvSpPr>
        <p:spPr>
          <a:xfrm rot="10800000" flipH="1">
            <a:off x="1117070" y="7175560"/>
            <a:ext cx="375300" cy="646200"/>
          </a:xfrm>
          <a:prstGeom prst="rtTriangle">
            <a:avLst/>
          </a:prstGeom>
          <a:solidFill>
            <a:srgbClr val="CCCCC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85" name="Google Shape;285;p21"/>
          <p:cNvSpPr/>
          <p:nvPr/>
        </p:nvSpPr>
        <p:spPr>
          <a:xfrm flipH="1">
            <a:off x="2256194" y="7837575"/>
            <a:ext cx="375300" cy="646200"/>
          </a:xfrm>
          <a:prstGeom prst="rtTriangle">
            <a:avLst/>
          </a:prstGeom>
          <a:solidFill>
            <a:srgbClr val="CCCCC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86" name="Google Shape;286;p21"/>
          <p:cNvSpPr/>
          <p:nvPr/>
        </p:nvSpPr>
        <p:spPr>
          <a:xfrm rot="10800000">
            <a:off x="2256194" y="7175599"/>
            <a:ext cx="375300" cy="646200"/>
          </a:xfrm>
          <a:prstGeom prst="rtTriangle">
            <a:avLst/>
          </a:prstGeom>
          <a:solidFill>
            <a:srgbClr val="CCCCC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87" name="Google Shape;287;p21"/>
          <p:cNvCxnSpPr/>
          <p:nvPr/>
        </p:nvCxnSpPr>
        <p:spPr>
          <a:xfrm rot="10800000">
            <a:off x="2329712" y="7130311"/>
            <a:ext cx="351900" cy="621300"/>
          </a:xfrm>
          <a:prstGeom prst="straightConnector1">
            <a:avLst/>
          </a:prstGeom>
          <a:noFill/>
          <a:ln w="28575" cap="flat" cmpd="sng">
            <a:solidFill>
              <a:schemeClr val="dk1"/>
            </a:solidFill>
            <a:prstDash val="solid"/>
            <a:round/>
            <a:headEnd type="triangle" w="med" len="med"/>
            <a:tailEnd type="triangle" w="med" len="med"/>
          </a:ln>
        </p:spPr>
      </p:cxnSp>
      <p:sp>
        <p:nvSpPr>
          <p:cNvPr id="288" name="Google Shape;288;p21"/>
          <p:cNvSpPr/>
          <p:nvPr/>
        </p:nvSpPr>
        <p:spPr>
          <a:xfrm>
            <a:off x="3463273" y="6565172"/>
            <a:ext cx="375300" cy="646200"/>
          </a:xfrm>
          <a:prstGeom prst="rtTriangle">
            <a:avLst/>
          </a:prstGeom>
          <a:solidFill>
            <a:srgbClr val="80808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89" name="Google Shape;289;p21"/>
          <p:cNvCxnSpPr/>
          <p:nvPr/>
        </p:nvCxnSpPr>
        <p:spPr>
          <a:xfrm>
            <a:off x="3464769" y="7286002"/>
            <a:ext cx="380400" cy="0"/>
          </a:xfrm>
          <a:prstGeom prst="straightConnector1">
            <a:avLst/>
          </a:prstGeom>
          <a:noFill/>
          <a:ln w="19050" cap="flat" cmpd="sng">
            <a:solidFill>
              <a:srgbClr val="000000"/>
            </a:solidFill>
            <a:prstDash val="solid"/>
            <a:round/>
            <a:headEnd type="triangle" w="med" len="med"/>
            <a:tailEnd type="triangle" w="med" len="med"/>
          </a:ln>
        </p:spPr>
      </p:cxnSp>
      <p:cxnSp>
        <p:nvCxnSpPr>
          <p:cNvPr id="290" name="Google Shape;290;p21"/>
          <p:cNvCxnSpPr/>
          <p:nvPr/>
        </p:nvCxnSpPr>
        <p:spPr>
          <a:xfrm flipH="1">
            <a:off x="3382481" y="6565172"/>
            <a:ext cx="0" cy="653100"/>
          </a:xfrm>
          <a:prstGeom prst="straightConnector1">
            <a:avLst/>
          </a:prstGeom>
          <a:noFill/>
          <a:ln w="19050" cap="flat" cmpd="sng">
            <a:solidFill>
              <a:srgbClr val="000000"/>
            </a:solidFill>
            <a:prstDash val="solid"/>
            <a:round/>
            <a:headEnd type="triangle" w="med" len="med"/>
            <a:tailEnd type="triangle" w="med" len="med"/>
          </a:ln>
        </p:spPr>
      </p:cxnSp>
      <p:cxnSp>
        <p:nvCxnSpPr>
          <p:cNvPr id="291" name="Google Shape;291;p21"/>
          <p:cNvCxnSpPr/>
          <p:nvPr/>
        </p:nvCxnSpPr>
        <p:spPr>
          <a:xfrm>
            <a:off x="3526980" y="6522006"/>
            <a:ext cx="391200" cy="659700"/>
          </a:xfrm>
          <a:prstGeom prst="straightConnector1">
            <a:avLst/>
          </a:prstGeom>
          <a:noFill/>
          <a:ln w="19050" cap="flat" cmpd="sng">
            <a:solidFill>
              <a:srgbClr val="000000"/>
            </a:solidFill>
            <a:prstDash val="solid"/>
            <a:round/>
            <a:headEnd type="triangle" w="med" len="med"/>
            <a:tailEnd type="triangle" w="med" len="med"/>
          </a:ln>
        </p:spPr>
      </p:cxnSp>
      <p:sp>
        <p:nvSpPr>
          <p:cNvPr id="292" name="Google Shape;292;p21"/>
          <p:cNvSpPr txBox="1"/>
          <p:nvPr/>
        </p:nvSpPr>
        <p:spPr>
          <a:xfrm>
            <a:off x="3753442" y="6678208"/>
            <a:ext cx="543600" cy="156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5</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93" name="Google Shape;293;p21"/>
          <p:cNvSpPr txBox="1"/>
          <p:nvPr/>
        </p:nvSpPr>
        <p:spPr>
          <a:xfrm>
            <a:off x="3497777" y="7266710"/>
            <a:ext cx="543600" cy="156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x</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94" name="Google Shape;294;p21"/>
          <p:cNvSpPr txBox="1"/>
          <p:nvPr/>
        </p:nvSpPr>
        <p:spPr>
          <a:xfrm>
            <a:off x="2964810" y="6792962"/>
            <a:ext cx="543600" cy="156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y</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95" name="Google Shape;295;p21"/>
          <p:cNvSpPr/>
          <p:nvPr/>
        </p:nvSpPr>
        <p:spPr>
          <a:xfrm>
            <a:off x="3658230" y="7030589"/>
            <a:ext cx="351900" cy="351900"/>
          </a:xfrm>
          <a:prstGeom prst="pie">
            <a:avLst>
              <a:gd name="adj1" fmla="val 10728558"/>
              <a:gd name="adj2" fmla="val 14376473"/>
            </a:avLst>
          </a:prstGeom>
          <a:solidFill>
            <a:srgbClr val="F0F0F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96" name="Google Shape;296;p21"/>
          <p:cNvSpPr txBox="1"/>
          <p:nvPr/>
        </p:nvSpPr>
        <p:spPr>
          <a:xfrm>
            <a:off x="3951045" y="7211430"/>
            <a:ext cx="404100" cy="166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60</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cxnSp>
        <p:nvCxnSpPr>
          <p:cNvPr id="297" name="Google Shape;297;p21"/>
          <p:cNvCxnSpPr/>
          <p:nvPr/>
        </p:nvCxnSpPr>
        <p:spPr>
          <a:xfrm rot="10800000">
            <a:off x="3740748" y="7146541"/>
            <a:ext cx="177000" cy="113400"/>
          </a:xfrm>
          <a:prstGeom prst="straightConnector1">
            <a:avLst/>
          </a:prstGeom>
          <a:noFill/>
          <a:ln w="38100" cap="flat" cmpd="sng">
            <a:solidFill>
              <a:srgbClr val="000000"/>
            </a:solidFill>
            <a:prstDash val="solid"/>
            <a:round/>
            <a:headEnd type="none" w="med" len="med"/>
            <a:tailEnd type="none" w="med" len="med"/>
          </a:ln>
        </p:spPr>
      </p:cxnSp>
      <p:sp>
        <p:nvSpPr>
          <p:cNvPr id="298" name="Google Shape;298;p21"/>
          <p:cNvSpPr/>
          <p:nvPr/>
        </p:nvSpPr>
        <p:spPr>
          <a:xfrm>
            <a:off x="3466473" y="7096509"/>
            <a:ext cx="113400" cy="113400"/>
          </a:xfrm>
          <a:prstGeom prst="rect">
            <a:avLst/>
          </a:prstGeom>
          <a:solidFill>
            <a:srgbClr val="F0F0F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99" name="Google Shape;299;p21"/>
          <p:cNvSpPr/>
          <p:nvPr/>
        </p:nvSpPr>
        <p:spPr>
          <a:xfrm>
            <a:off x="1314300" y="8301471"/>
            <a:ext cx="351900" cy="351900"/>
          </a:xfrm>
          <a:prstGeom prst="pie">
            <a:avLst>
              <a:gd name="adj1" fmla="val 14346414"/>
              <a:gd name="adj2" fmla="val 559"/>
            </a:avLst>
          </a:prstGeom>
          <a:solidFill>
            <a:srgbClr val="F0F0F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300" name="Google Shape;300;p21"/>
          <p:cNvSpPr txBox="1"/>
          <p:nvPr/>
        </p:nvSpPr>
        <p:spPr>
          <a:xfrm>
            <a:off x="1612342" y="8135244"/>
            <a:ext cx="404100" cy="166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120</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cxnSp>
        <p:nvCxnSpPr>
          <p:cNvPr id="301" name="Google Shape;301;p21"/>
          <p:cNvCxnSpPr/>
          <p:nvPr/>
        </p:nvCxnSpPr>
        <p:spPr>
          <a:xfrm rot="10800000">
            <a:off x="1111700" y="8568709"/>
            <a:ext cx="1529100" cy="0"/>
          </a:xfrm>
          <a:prstGeom prst="straightConnector1">
            <a:avLst/>
          </a:prstGeom>
          <a:noFill/>
          <a:ln w="28575" cap="flat" cmpd="sng">
            <a:solidFill>
              <a:srgbClr val="000000"/>
            </a:solidFill>
            <a:prstDash val="solid"/>
            <a:round/>
            <a:headEnd type="triangle" w="med" len="med"/>
            <a:tailEnd type="triangle" w="med" len="med"/>
          </a:ln>
        </p:spPr>
      </p:cxnSp>
      <p:sp>
        <p:nvSpPr>
          <p:cNvPr id="302" name="Google Shape;302;p21"/>
          <p:cNvSpPr txBox="1"/>
          <p:nvPr/>
        </p:nvSpPr>
        <p:spPr>
          <a:xfrm>
            <a:off x="1433938" y="8559158"/>
            <a:ext cx="979200" cy="156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Times New Roman"/>
                <a:ea typeface="Times New Roman"/>
                <a:cs typeface="Times New Roman"/>
                <a:sym typeface="Times New Roman"/>
              </a:rPr>
              <a:t>(5 + 2</a:t>
            </a:r>
            <a:r>
              <a:rPr lang="en-GB" sz="1200" i="1">
                <a:latin typeface="Times New Roman"/>
                <a:ea typeface="Times New Roman"/>
                <a:cs typeface="Times New Roman"/>
                <a:sym typeface="Times New Roman"/>
              </a:rPr>
              <a:t>x</a:t>
            </a:r>
            <a:r>
              <a:rPr lang="en-GB" sz="1200">
                <a:latin typeface="Times New Roman"/>
                <a:ea typeface="Times New Roman"/>
                <a:cs typeface="Times New Roman"/>
                <a:sym typeface="Times New Roman"/>
              </a:rPr>
              <a:t>)</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cxnSp>
        <p:nvCxnSpPr>
          <p:cNvPr id="303" name="Google Shape;303;p21"/>
          <p:cNvCxnSpPr/>
          <p:nvPr/>
        </p:nvCxnSpPr>
        <p:spPr>
          <a:xfrm rot="10800000" flipH="1">
            <a:off x="1005916" y="7175595"/>
            <a:ext cx="0" cy="1307400"/>
          </a:xfrm>
          <a:prstGeom prst="straightConnector1">
            <a:avLst/>
          </a:prstGeom>
          <a:noFill/>
          <a:ln w="28575" cap="flat" cmpd="sng">
            <a:solidFill>
              <a:srgbClr val="000000"/>
            </a:solidFill>
            <a:prstDash val="solid"/>
            <a:round/>
            <a:headEnd type="triangle" w="med" len="med"/>
            <a:tailEnd type="triangle" w="med" len="med"/>
          </a:ln>
        </p:spPr>
      </p:cxnSp>
      <p:sp>
        <p:nvSpPr>
          <p:cNvPr id="304" name="Google Shape;304;p21"/>
          <p:cNvSpPr txBox="1"/>
          <p:nvPr/>
        </p:nvSpPr>
        <p:spPr>
          <a:xfrm>
            <a:off x="477633" y="7681240"/>
            <a:ext cx="543600" cy="156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Times New Roman"/>
                <a:ea typeface="Times New Roman"/>
                <a:cs typeface="Times New Roman"/>
                <a:sym typeface="Times New Roman"/>
              </a:rPr>
              <a:t>2</a:t>
            </a:r>
            <a:r>
              <a:rPr lang="en-GB" sz="1200" i="1">
                <a:latin typeface="Times New Roman"/>
                <a:ea typeface="Times New Roman"/>
                <a:cs typeface="Times New Roman"/>
                <a:sym typeface="Times New Roman"/>
              </a:rPr>
              <a:t>y</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305" name="Google Shape;305;p21"/>
          <p:cNvSpPr txBox="1"/>
          <p:nvPr/>
        </p:nvSpPr>
        <p:spPr>
          <a:xfrm>
            <a:off x="4445827" y="6963809"/>
            <a:ext cx="2362800" cy="17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x</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5 × cos(60°) = 2.5</a:t>
            </a:r>
            <a:endParaRPr sz="1200">
              <a:solidFill>
                <a:srgbClr val="000000"/>
              </a:solidFill>
              <a:latin typeface="Times New Roman"/>
              <a:ea typeface="Times New Roman"/>
              <a:cs typeface="Times New Roman"/>
              <a:sym typeface="Times New Roman"/>
            </a:endParaRPr>
          </a:p>
        </p:txBody>
      </p:sp>
      <p:sp>
        <p:nvSpPr>
          <p:cNvPr id="306" name="Google Shape;306;p21"/>
          <p:cNvSpPr txBox="1"/>
          <p:nvPr/>
        </p:nvSpPr>
        <p:spPr>
          <a:xfrm>
            <a:off x="4445827" y="7259902"/>
            <a:ext cx="2362800" cy="17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y</a:t>
            </a:r>
            <a:r>
              <a:rPr lang="en-GB" sz="1200">
                <a:solidFill>
                  <a:srgbClr val="000000"/>
                </a:solidFill>
                <a:latin typeface="Lexend"/>
                <a:ea typeface="Lexend"/>
                <a:cs typeface="Lexend"/>
                <a:sym typeface="Lexend"/>
              </a:rPr>
              <a:t> </a:t>
            </a:r>
            <a:r>
              <a:rPr lang="en-GB" sz="1200">
                <a:latin typeface="Times New Roman"/>
                <a:ea typeface="Times New Roman"/>
                <a:cs typeface="Times New Roman"/>
                <a:sym typeface="Times New Roman"/>
              </a:rPr>
              <a:t>= 5 × sin(60°) = 4.33…</a:t>
            </a:r>
            <a:endParaRPr sz="1200">
              <a:solidFill>
                <a:srgbClr val="000000"/>
              </a:solidFill>
              <a:latin typeface="Times New Roman"/>
              <a:ea typeface="Times New Roman"/>
              <a:cs typeface="Times New Roman"/>
              <a:sym typeface="Times New Roman"/>
            </a:endParaRPr>
          </a:p>
        </p:txBody>
      </p:sp>
      <p:sp>
        <p:nvSpPr>
          <p:cNvPr id="307" name="Google Shape;307;p21"/>
          <p:cNvSpPr txBox="1"/>
          <p:nvPr/>
        </p:nvSpPr>
        <p:spPr>
          <a:xfrm>
            <a:off x="3261449" y="7615214"/>
            <a:ext cx="3830700" cy="17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Area of rectangle</a:t>
            </a:r>
            <a:r>
              <a:rPr lang="en-GB" sz="1200">
                <a:latin typeface="Times New Roman"/>
                <a:ea typeface="Times New Roman"/>
                <a:cs typeface="Times New Roman"/>
                <a:sym typeface="Times New Roman"/>
              </a:rPr>
              <a:t> </a:t>
            </a:r>
            <a:br>
              <a:rPr lang="en-GB" sz="1200">
                <a:latin typeface="Times New Roman"/>
                <a:ea typeface="Times New Roman"/>
                <a:cs typeface="Times New Roman"/>
                <a:sym typeface="Times New Roman"/>
              </a:rPr>
            </a:br>
            <a:r>
              <a:rPr lang="en-GB" sz="1200">
                <a:latin typeface="Times New Roman"/>
                <a:ea typeface="Times New Roman"/>
                <a:cs typeface="Times New Roman"/>
                <a:sym typeface="Times New Roman"/>
              </a:rPr>
              <a:t>= (2 </a:t>
            </a:r>
            <a:r>
              <a:rPr lang="en-GB" sz="1200">
                <a:solidFill>
                  <a:srgbClr val="000000"/>
                </a:solidFill>
                <a:latin typeface="Times New Roman"/>
                <a:ea typeface="Times New Roman"/>
                <a:cs typeface="Times New Roman"/>
                <a:sym typeface="Times New Roman"/>
              </a:rPr>
              <a:t>× 4.33…) × (5 + 2 × 2.5) = 86.602… cm</a:t>
            </a:r>
            <a:r>
              <a:rPr lang="en-GB" sz="1200" baseline="30000">
                <a:solidFill>
                  <a:srgbClr val="000000"/>
                </a:solidFill>
                <a:latin typeface="Times New Roman"/>
                <a:ea typeface="Times New Roman"/>
                <a:cs typeface="Times New Roman"/>
                <a:sym typeface="Times New Roman"/>
              </a:rPr>
              <a:t>2</a:t>
            </a:r>
            <a:endParaRPr sz="1200" baseline="30000">
              <a:solidFill>
                <a:srgbClr val="000000"/>
              </a:solidFill>
              <a:latin typeface="Times New Roman"/>
              <a:ea typeface="Times New Roman"/>
              <a:cs typeface="Times New Roman"/>
              <a:sym typeface="Times New Roman"/>
            </a:endParaRPr>
          </a:p>
        </p:txBody>
      </p:sp>
      <p:sp>
        <p:nvSpPr>
          <p:cNvPr id="308" name="Google Shape;308;p21"/>
          <p:cNvSpPr txBox="1"/>
          <p:nvPr/>
        </p:nvSpPr>
        <p:spPr>
          <a:xfrm>
            <a:off x="3261444" y="8148181"/>
            <a:ext cx="3605700" cy="17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Area of 4 congruent triangles </a:t>
            </a:r>
            <a:br>
              <a:rPr lang="en-GB" sz="1200">
                <a:latin typeface="Times New Roman"/>
                <a:ea typeface="Times New Roman"/>
                <a:cs typeface="Times New Roman"/>
                <a:sym typeface="Times New Roman"/>
              </a:rPr>
            </a:br>
            <a:r>
              <a:rPr lang="en-GB" sz="1200">
                <a:latin typeface="Times New Roman"/>
                <a:ea typeface="Times New Roman"/>
                <a:cs typeface="Times New Roman"/>
                <a:sym typeface="Times New Roman"/>
              </a:rPr>
              <a:t>= 4 </a:t>
            </a:r>
            <a:r>
              <a:rPr lang="en-GB" sz="1200">
                <a:solidFill>
                  <a:srgbClr val="000000"/>
                </a:solidFill>
                <a:latin typeface="Times New Roman"/>
                <a:ea typeface="Times New Roman"/>
                <a:cs typeface="Times New Roman"/>
                <a:sym typeface="Times New Roman"/>
              </a:rPr>
              <a:t>×    × 2.5 × 4.33…= 21.650… cm</a:t>
            </a:r>
            <a:r>
              <a:rPr lang="en-GB" sz="1200" baseline="30000">
                <a:solidFill>
                  <a:srgbClr val="000000"/>
                </a:solidFill>
                <a:latin typeface="Times New Roman"/>
                <a:ea typeface="Times New Roman"/>
                <a:cs typeface="Times New Roman"/>
                <a:sym typeface="Times New Roman"/>
              </a:rPr>
              <a:t>2</a:t>
            </a:r>
            <a:endParaRPr sz="1200" baseline="30000">
              <a:solidFill>
                <a:srgbClr val="000000"/>
              </a:solidFill>
              <a:latin typeface="Times New Roman"/>
              <a:ea typeface="Times New Roman"/>
              <a:cs typeface="Times New Roman"/>
              <a:sym typeface="Times New Roman"/>
            </a:endParaRPr>
          </a:p>
        </p:txBody>
      </p:sp>
      <p:pic>
        <p:nvPicPr>
          <p:cNvPr id="309" name="Google Shape;309;p21" descr="&lt;math xmlns=&quot;http://www.w3.org/1998/Math/MathML&quot; display=&quot;block&quot; data-is-equatio=&quot;1&quot; data-latex=&quot;\frac{1}{2}&quot;&gt;&lt;mfrac&gt;&lt;mn&gt;1&lt;/mn&gt;&lt;mn&gt;2&lt;/mn&gt;&lt;/mfrac&gt;&lt;/math&gt;" title="one half"/>
          <p:cNvPicPr preferRelativeResize="0"/>
          <p:nvPr/>
        </p:nvPicPr>
        <p:blipFill>
          <a:blip r:embed="rId4">
            <a:alphaModFix/>
          </a:blip>
          <a:stretch>
            <a:fillRect/>
          </a:stretch>
        </p:blipFill>
        <p:spPr>
          <a:xfrm>
            <a:off x="3724838" y="8348651"/>
            <a:ext cx="110044" cy="360805"/>
          </a:xfrm>
          <a:prstGeom prst="rect">
            <a:avLst/>
          </a:prstGeom>
          <a:noFill/>
          <a:ln>
            <a:noFill/>
          </a:ln>
        </p:spPr>
      </p:pic>
      <p:sp>
        <p:nvSpPr>
          <p:cNvPr id="310" name="Google Shape;310;p21"/>
          <p:cNvSpPr txBox="1"/>
          <p:nvPr/>
        </p:nvSpPr>
        <p:spPr>
          <a:xfrm>
            <a:off x="3261444" y="8714484"/>
            <a:ext cx="3605700" cy="17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Area of hexagon </a:t>
            </a:r>
            <a:br>
              <a:rPr lang="en-GB" sz="1200">
                <a:latin typeface="Times New Roman"/>
                <a:ea typeface="Times New Roman"/>
                <a:cs typeface="Times New Roman"/>
                <a:sym typeface="Times New Roman"/>
              </a:rPr>
            </a:br>
            <a:r>
              <a:rPr lang="en-GB" sz="1200">
                <a:latin typeface="Times New Roman"/>
                <a:ea typeface="Times New Roman"/>
                <a:cs typeface="Times New Roman"/>
                <a:sym typeface="Times New Roman"/>
              </a:rPr>
              <a:t>= 86.602… - </a:t>
            </a:r>
            <a:r>
              <a:rPr lang="en-GB" sz="1200">
                <a:solidFill>
                  <a:srgbClr val="000000"/>
                </a:solidFill>
                <a:latin typeface="Times New Roman"/>
                <a:ea typeface="Times New Roman"/>
                <a:cs typeface="Times New Roman"/>
                <a:sym typeface="Times New Roman"/>
              </a:rPr>
              <a:t>21.650 = 65.0 cm</a:t>
            </a:r>
            <a:r>
              <a:rPr lang="en-GB" sz="1200" baseline="30000">
                <a:solidFill>
                  <a:srgbClr val="000000"/>
                </a:solidFill>
                <a:latin typeface="Times New Roman"/>
                <a:ea typeface="Times New Roman"/>
                <a:cs typeface="Times New Roman"/>
                <a:sym typeface="Times New Roman"/>
              </a:rPr>
              <a:t>2</a:t>
            </a:r>
            <a:endParaRPr sz="1200" baseline="30000">
              <a:solidFill>
                <a:srgbClr val="000000"/>
              </a:solidFill>
              <a:latin typeface="Times New Roman"/>
              <a:ea typeface="Times New Roman"/>
              <a:cs typeface="Times New Roman"/>
              <a:sym typeface="Times New Roman"/>
            </a:endParaRPr>
          </a:p>
        </p:txBody>
      </p:sp>
      <p:sp>
        <p:nvSpPr>
          <p:cNvPr id="311" name="Google Shape;311;p21"/>
          <p:cNvSpPr txBox="1"/>
          <p:nvPr/>
        </p:nvSpPr>
        <p:spPr>
          <a:xfrm>
            <a:off x="6352325" y="9972000"/>
            <a:ext cx="483300" cy="277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sz="1200">
                <a:solidFill>
                  <a:srgbClr val="000000"/>
                </a:solidFill>
                <a:latin typeface="Lexend Medium"/>
                <a:ea typeface="Lexend Medium"/>
                <a:cs typeface="Lexend Medium"/>
                <a:sym typeface="Lexend Medium"/>
              </a:rPr>
              <a:t>2</a:t>
            </a:fld>
            <a:endParaRPr sz="1200">
              <a:solidFill>
                <a:srgbClr val="000000"/>
              </a:solidFill>
              <a:latin typeface="Lexend Medium"/>
              <a:ea typeface="Lexend Medium"/>
              <a:cs typeface="Lexend Medium"/>
              <a:sym typeface="Lexend Medium"/>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315" name="Shape 315"/>
        <p:cNvGrpSpPr/>
        <p:nvPr/>
      </p:nvGrpSpPr>
      <p:grpSpPr>
        <a:xfrm>
          <a:off x="0" y="0"/>
          <a:ext cx="0" cy="0"/>
        </a:xfrm>
      </p:grpSpPr>
      <p:sp>
        <p:nvSpPr>
          <p:cNvPr id="316" name="Google Shape;316;p22"/>
          <p:cNvSpPr txBox="1"/>
          <p:nvPr/>
        </p:nvSpPr>
        <p:spPr>
          <a:xfrm>
            <a:off x="512875" y="981825"/>
            <a:ext cx="6443700" cy="369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Calculate the marked angles on each diagram.</a:t>
            </a:r>
            <a:endParaRPr sz="1200">
              <a:solidFill>
                <a:srgbClr val="000000"/>
              </a:solidFill>
              <a:latin typeface="Lexend"/>
              <a:ea typeface="Lexend"/>
              <a:cs typeface="Lexend"/>
              <a:sym typeface="Lexend"/>
            </a:endParaRPr>
          </a:p>
        </p:txBody>
      </p:sp>
      <p:sp>
        <p:nvSpPr>
          <p:cNvPr id="317" name="Google Shape;317;p22"/>
          <p:cNvSpPr txBox="1"/>
          <p:nvPr/>
        </p:nvSpPr>
        <p:spPr>
          <a:xfrm>
            <a:off x="474750" y="720004"/>
            <a:ext cx="6624000" cy="1941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b="1">
                <a:solidFill>
                  <a:srgbClr val="000000"/>
                </a:solidFill>
                <a:latin typeface="Lexend"/>
                <a:ea typeface="Lexend"/>
                <a:cs typeface="Lexend"/>
                <a:sym typeface="Lexend"/>
              </a:rPr>
              <a:t>Task </a:t>
            </a:r>
            <a:r>
              <a:rPr lang="en-GB" b="1">
                <a:latin typeface="Lexend"/>
                <a:ea typeface="Lexend"/>
                <a:cs typeface="Lexend"/>
                <a:sym typeface="Lexend"/>
              </a:rPr>
              <a:t>B</a:t>
            </a:r>
            <a:r>
              <a:rPr lang="en-GB" b="1">
                <a:solidFill>
                  <a:srgbClr val="000000"/>
                </a:solidFill>
                <a:latin typeface="Lexend"/>
                <a:ea typeface="Lexend"/>
                <a:cs typeface="Lexend"/>
                <a:sym typeface="Lexend"/>
              </a:rPr>
              <a:t>: </a:t>
            </a:r>
            <a:r>
              <a:rPr lang="en-GB" b="1">
                <a:latin typeface="Lexend"/>
                <a:ea typeface="Lexend"/>
                <a:cs typeface="Lexend"/>
                <a:sym typeface="Lexend"/>
              </a:rPr>
              <a:t>Calculating angles</a:t>
            </a:r>
            <a:endParaRPr b="1">
              <a:latin typeface="Lexend"/>
              <a:ea typeface="Lexend"/>
              <a:cs typeface="Lexend"/>
              <a:sym typeface="Lexend"/>
            </a:endParaRPr>
          </a:p>
        </p:txBody>
      </p:sp>
      <p:sp>
        <p:nvSpPr>
          <p:cNvPr id="318" name="Google Shape;318;p2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3</a:t>
            </a:fld>
            <a:endParaRPr/>
          </a:p>
        </p:txBody>
      </p:sp>
      <p:sp>
        <p:nvSpPr>
          <p:cNvPr id="319" name="Google Shape;319;p22"/>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Problem solving with trigonometry</a:t>
            </a:r>
            <a:endParaRPr/>
          </a:p>
        </p:txBody>
      </p:sp>
      <p:sp>
        <p:nvSpPr>
          <p:cNvPr id="320" name="Google Shape;320;p22"/>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v2.3</a:t>
            </a:r>
            <a:endParaRPr sz="1000">
              <a:solidFill>
                <a:schemeClr val="lt1"/>
              </a:solidFill>
              <a:latin typeface="Lexend"/>
              <a:ea typeface="Lexend"/>
              <a:cs typeface="Lexend"/>
              <a:sym typeface="Lexend"/>
            </a:endParaRPr>
          </a:p>
        </p:txBody>
      </p:sp>
      <p:sp>
        <p:nvSpPr>
          <p:cNvPr id="321" name="Google Shape;321;p22"/>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Clr>
                <a:schemeClr val="dk1"/>
              </a:buClr>
              <a:buSzPts val="1100"/>
              <a:buFont typeface="Arial"/>
              <a:buNone/>
            </a:pPr>
            <a:r>
              <a:rPr lang="en-GB">
                <a:latin typeface="Lexend"/>
                <a:ea typeface="Lexend"/>
                <a:cs typeface="Lexend"/>
                <a:sym typeface="Lexend"/>
              </a:rPr>
              <a:t>Mathematics in Education and Industry</a:t>
            </a:r>
            <a:endParaRPr/>
          </a:p>
        </p:txBody>
      </p:sp>
      <p:pic>
        <p:nvPicPr>
          <p:cNvPr id="322" name="Google Shape;322;p22"/>
          <p:cNvPicPr preferRelativeResize="0"/>
          <p:nvPr/>
        </p:nvPicPr>
        <p:blipFill>
          <a:blip r:embed="rId3">
            <a:alphaModFix/>
          </a:blip>
          <a:stretch>
            <a:fillRect/>
          </a:stretch>
        </p:blipFill>
        <p:spPr>
          <a:xfrm>
            <a:off x="2939602" y="1244783"/>
            <a:ext cx="1878958" cy="1586380"/>
          </a:xfrm>
          <a:prstGeom prst="rect">
            <a:avLst/>
          </a:prstGeom>
          <a:noFill/>
          <a:ln w="9525" cap="flat" cmpd="sng">
            <a:solidFill>
              <a:srgbClr val="000000"/>
            </a:solidFill>
            <a:prstDash val="solid"/>
            <a:round/>
            <a:headEnd type="none" w="sm" len="sm"/>
            <a:tailEnd type="none" w="sm" len="sm"/>
          </a:ln>
        </p:spPr>
      </p:pic>
      <p:pic>
        <p:nvPicPr>
          <p:cNvPr id="323" name="Google Shape;323;p22"/>
          <p:cNvPicPr preferRelativeResize="0"/>
          <p:nvPr/>
        </p:nvPicPr>
        <p:blipFill>
          <a:blip r:embed="rId4">
            <a:alphaModFix/>
          </a:blip>
          <a:stretch>
            <a:fillRect/>
          </a:stretch>
        </p:blipFill>
        <p:spPr>
          <a:xfrm>
            <a:off x="762499" y="1244783"/>
            <a:ext cx="1706400" cy="1082259"/>
          </a:xfrm>
          <a:prstGeom prst="rect">
            <a:avLst/>
          </a:prstGeom>
          <a:noFill/>
          <a:ln w="9525" cap="flat" cmpd="sng">
            <a:solidFill>
              <a:srgbClr val="000000"/>
            </a:solidFill>
            <a:prstDash val="solid"/>
            <a:round/>
            <a:headEnd type="none" w="sm" len="sm"/>
            <a:tailEnd type="none" w="sm" len="sm"/>
          </a:ln>
        </p:spPr>
      </p:pic>
      <p:pic>
        <p:nvPicPr>
          <p:cNvPr id="324" name="Google Shape;324;p22"/>
          <p:cNvPicPr preferRelativeResize="0"/>
          <p:nvPr/>
        </p:nvPicPr>
        <p:blipFill>
          <a:blip r:embed="rId5">
            <a:alphaModFix/>
          </a:blip>
          <a:stretch>
            <a:fillRect/>
          </a:stretch>
        </p:blipFill>
        <p:spPr>
          <a:xfrm>
            <a:off x="5273336" y="1244783"/>
            <a:ext cx="1773790" cy="1931261"/>
          </a:xfrm>
          <a:prstGeom prst="rect">
            <a:avLst/>
          </a:prstGeom>
          <a:noFill/>
          <a:ln w="9525" cap="flat" cmpd="sng">
            <a:solidFill>
              <a:srgbClr val="000000"/>
            </a:solidFill>
            <a:prstDash val="solid"/>
            <a:round/>
            <a:headEnd type="none" w="sm" len="sm"/>
            <a:tailEnd type="none" w="sm" len="sm"/>
          </a:ln>
        </p:spPr>
      </p:pic>
      <p:sp>
        <p:nvSpPr>
          <p:cNvPr id="325" name="Google Shape;325;p22"/>
          <p:cNvSpPr txBox="1"/>
          <p:nvPr/>
        </p:nvSpPr>
        <p:spPr>
          <a:xfrm>
            <a:off x="512875" y="1244783"/>
            <a:ext cx="2208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p:txBody>
      </p:sp>
      <p:sp>
        <p:nvSpPr>
          <p:cNvPr id="326" name="Google Shape;326;p22"/>
          <p:cNvSpPr txBox="1"/>
          <p:nvPr/>
        </p:nvSpPr>
        <p:spPr>
          <a:xfrm>
            <a:off x="2666032" y="1244783"/>
            <a:ext cx="2208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sp>
        <p:nvSpPr>
          <p:cNvPr id="327" name="Google Shape;327;p22"/>
          <p:cNvSpPr txBox="1"/>
          <p:nvPr/>
        </p:nvSpPr>
        <p:spPr>
          <a:xfrm>
            <a:off x="4996853" y="1244783"/>
            <a:ext cx="2208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sp>
        <p:nvSpPr>
          <p:cNvPr id="328" name="Google Shape;328;p22"/>
          <p:cNvSpPr txBox="1"/>
          <p:nvPr/>
        </p:nvSpPr>
        <p:spPr>
          <a:xfrm>
            <a:off x="1272256" y="1912550"/>
            <a:ext cx="6102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𝜃°</a:t>
            </a:r>
            <a:endParaRPr sz="1200">
              <a:solidFill>
                <a:srgbClr val="000000"/>
              </a:solidFill>
              <a:latin typeface="Lexend"/>
              <a:ea typeface="Lexend"/>
              <a:cs typeface="Lexend"/>
              <a:sym typeface="Lexend"/>
            </a:endParaRPr>
          </a:p>
        </p:txBody>
      </p:sp>
      <p:sp>
        <p:nvSpPr>
          <p:cNvPr id="329" name="Google Shape;329;p22"/>
          <p:cNvSpPr txBox="1"/>
          <p:nvPr/>
        </p:nvSpPr>
        <p:spPr>
          <a:xfrm>
            <a:off x="4032849" y="2163407"/>
            <a:ext cx="6102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𝜃°</a:t>
            </a:r>
            <a:endParaRPr sz="1200">
              <a:solidFill>
                <a:srgbClr val="000000"/>
              </a:solidFill>
              <a:latin typeface="Lexend"/>
              <a:ea typeface="Lexend"/>
              <a:cs typeface="Lexend"/>
              <a:sym typeface="Lexend"/>
            </a:endParaRPr>
          </a:p>
        </p:txBody>
      </p:sp>
      <p:sp>
        <p:nvSpPr>
          <p:cNvPr id="330" name="Google Shape;330;p22"/>
          <p:cNvSpPr txBox="1"/>
          <p:nvPr/>
        </p:nvSpPr>
        <p:spPr>
          <a:xfrm>
            <a:off x="6437006" y="2804651"/>
            <a:ext cx="6102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𝜃°</a:t>
            </a:r>
            <a:endParaRPr sz="1200">
              <a:solidFill>
                <a:srgbClr val="000000"/>
              </a:solidFill>
              <a:latin typeface="Lexend"/>
              <a:ea typeface="Lexend"/>
              <a:cs typeface="Lexend"/>
              <a:sym typeface="Lexend"/>
            </a:endParaRPr>
          </a:p>
        </p:txBody>
      </p:sp>
      <p:sp>
        <p:nvSpPr>
          <p:cNvPr id="331" name="Google Shape;331;p22"/>
          <p:cNvSpPr txBox="1"/>
          <p:nvPr/>
        </p:nvSpPr>
        <p:spPr>
          <a:xfrm>
            <a:off x="762500" y="2434695"/>
            <a:ext cx="17064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𝜃° = 59.0° (1 d.p.)</a:t>
            </a:r>
            <a:endParaRPr sz="1200">
              <a:solidFill>
                <a:srgbClr val="000000"/>
              </a:solidFill>
              <a:latin typeface="Kalam"/>
              <a:ea typeface="Kalam"/>
              <a:cs typeface="Kalam"/>
              <a:sym typeface="Kalam"/>
            </a:endParaRPr>
          </a:p>
        </p:txBody>
      </p:sp>
      <p:sp>
        <p:nvSpPr>
          <p:cNvPr id="332" name="Google Shape;332;p22"/>
          <p:cNvSpPr txBox="1"/>
          <p:nvPr/>
        </p:nvSpPr>
        <p:spPr>
          <a:xfrm>
            <a:off x="2939600" y="2914372"/>
            <a:ext cx="18438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𝜃° = 126.9° (1 d.p.)</a:t>
            </a:r>
            <a:endParaRPr sz="1200">
              <a:solidFill>
                <a:srgbClr val="000000"/>
              </a:solidFill>
              <a:latin typeface="Kalam"/>
              <a:ea typeface="Kalam"/>
              <a:cs typeface="Kalam"/>
              <a:sym typeface="Kalam"/>
            </a:endParaRPr>
          </a:p>
        </p:txBody>
      </p:sp>
      <p:sp>
        <p:nvSpPr>
          <p:cNvPr id="333" name="Google Shape;333;p22"/>
          <p:cNvSpPr txBox="1"/>
          <p:nvPr/>
        </p:nvSpPr>
        <p:spPr>
          <a:xfrm>
            <a:off x="5282136" y="3272003"/>
            <a:ext cx="17649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Kalam"/>
                <a:ea typeface="Kalam"/>
                <a:cs typeface="Kalam"/>
                <a:sym typeface="Kalam"/>
              </a:rPr>
              <a:t>𝜃° = 243.4° (1 d.p.)</a:t>
            </a:r>
            <a:endParaRPr sz="1200">
              <a:solidFill>
                <a:srgbClr val="000000"/>
              </a:solidFill>
              <a:latin typeface="Kalam"/>
              <a:ea typeface="Kalam"/>
              <a:cs typeface="Kalam"/>
              <a:sym typeface="Kalam"/>
            </a:endParaRPr>
          </a:p>
        </p:txBody>
      </p:sp>
      <p:sp>
        <p:nvSpPr>
          <p:cNvPr id="334" name="Google Shape;334;p22"/>
          <p:cNvSpPr txBox="1"/>
          <p:nvPr/>
        </p:nvSpPr>
        <p:spPr>
          <a:xfrm>
            <a:off x="476400" y="3959700"/>
            <a:ext cx="6624000" cy="71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2) A yacht is given the instruction to sail 20 km due East and then 60 km due North. If the yacht is already facing East, what angle should it turn to be facing directly towards its final position?</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335" name="Google Shape;335;p22"/>
          <p:cNvSpPr/>
          <p:nvPr/>
        </p:nvSpPr>
        <p:spPr>
          <a:xfrm flipH="1">
            <a:off x="1705885" y="4532310"/>
            <a:ext cx="840900" cy="1026300"/>
          </a:xfrm>
          <a:prstGeom prst="rtTriangl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336" name="Google Shape;336;p22"/>
          <p:cNvCxnSpPr/>
          <p:nvPr/>
        </p:nvCxnSpPr>
        <p:spPr>
          <a:xfrm flipH="1">
            <a:off x="2651928" y="4532321"/>
            <a:ext cx="0" cy="1031400"/>
          </a:xfrm>
          <a:prstGeom prst="straightConnector1">
            <a:avLst/>
          </a:prstGeom>
          <a:noFill/>
          <a:ln w="28575" cap="flat" cmpd="sng">
            <a:solidFill>
              <a:srgbClr val="000000"/>
            </a:solidFill>
            <a:prstDash val="solid"/>
            <a:round/>
            <a:headEnd type="triangle" w="med" len="med"/>
            <a:tailEnd type="triangle" w="med" len="med"/>
          </a:ln>
        </p:spPr>
      </p:cxnSp>
      <p:cxnSp>
        <p:nvCxnSpPr>
          <p:cNvPr id="337" name="Google Shape;337;p22"/>
          <p:cNvCxnSpPr/>
          <p:nvPr/>
        </p:nvCxnSpPr>
        <p:spPr>
          <a:xfrm>
            <a:off x="1705793" y="5653059"/>
            <a:ext cx="840900" cy="0"/>
          </a:xfrm>
          <a:prstGeom prst="straightConnector1">
            <a:avLst/>
          </a:prstGeom>
          <a:noFill/>
          <a:ln w="28575" cap="flat" cmpd="sng">
            <a:solidFill>
              <a:srgbClr val="000000"/>
            </a:solidFill>
            <a:prstDash val="solid"/>
            <a:round/>
            <a:headEnd type="triangle" w="med" len="med"/>
            <a:tailEnd type="triangle" w="med" len="med"/>
          </a:ln>
        </p:spPr>
      </p:cxnSp>
      <p:sp>
        <p:nvSpPr>
          <p:cNvPr id="338" name="Google Shape;338;p22"/>
          <p:cNvSpPr txBox="1"/>
          <p:nvPr/>
        </p:nvSpPr>
        <p:spPr>
          <a:xfrm>
            <a:off x="1874480" y="5693162"/>
            <a:ext cx="570000" cy="203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20 km</a:t>
            </a:r>
            <a:endParaRPr sz="1200">
              <a:solidFill>
                <a:srgbClr val="000000"/>
              </a:solidFill>
              <a:latin typeface="Kalam"/>
              <a:ea typeface="Kalam"/>
              <a:cs typeface="Kalam"/>
              <a:sym typeface="Kalam"/>
            </a:endParaRPr>
          </a:p>
        </p:txBody>
      </p:sp>
      <p:sp>
        <p:nvSpPr>
          <p:cNvPr id="339" name="Google Shape;339;p22"/>
          <p:cNvSpPr txBox="1"/>
          <p:nvPr/>
        </p:nvSpPr>
        <p:spPr>
          <a:xfrm>
            <a:off x="2704875" y="4946286"/>
            <a:ext cx="570000" cy="203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60 km</a:t>
            </a:r>
            <a:endParaRPr sz="1200">
              <a:solidFill>
                <a:srgbClr val="000000"/>
              </a:solidFill>
              <a:latin typeface="Kalam"/>
              <a:ea typeface="Kalam"/>
              <a:cs typeface="Kalam"/>
              <a:sym typeface="Kalam"/>
            </a:endParaRPr>
          </a:p>
        </p:txBody>
      </p:sp>
      <p:sp>
        <p:nvSpPr>
          <p:cNvPr id="340" name="Google Shape;340;p22"/>
          <p:cNvSpPr/>
          <p:nvPr/>
        </p:nvSpPr>
        <p:spPr>
          <a:xfrm>
            <a:off x="1343129" y="5203111"/>
            <a:ext cx="719400" cy="719400"/>
          </a:xfrm>
          <a:prstGeom prst="arc">
            <a:avLst>
              <a:gd name="adj1" fmla="val 18571774"/>
              <a:gd name="adj2" fmla="val 0"/>
            </a:avLst>
          </a:prstGeom>
          <a:noFill/>
          <a:ln w="28575" cap="flat" cmpd="sng">
            <a:solidFill>
              <a:srgbClr val="000000"/>
            </a:solidFill>
            <a:prstDash val="solid"/>
            <a:round/>
            <a:headEnd type="triangl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341" name="Google Shape;341;p22"/>
          <p:cNvSpPr txBox="1"/>
          <p:nvPr/>
        </p:nvSpPr>
        <p:spPr>
          <a:xfrm>
            <a:off x="2062602" y="5203116"/>
            <a:ext cx="586200" cy="24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𝜃°</a:t>
            </a:r>
            <a:endParaRPr sz="1200">
              <a:solidFill>
                <a:srgbClr val="000000"/>
              </a:solidFill>
              <a:latin typeface="Kalam"/>
              <a:ea typeface="Kalam"/>
              <a:cs typeface="Kalam"/>
              <a:sym typeface="Kalam"/>
            </a:endParaRPr>
          </a:p>
        </p:txBody>
      </p:sp>
      <p:sp>
        <p:nvSpPr>
          <p:cNvPr id="342" name="Google Shape;342;p22"/>
          <p:cNvSpPr txBox="1"/>
          <p:nvPr/>
        </p:nvSpPr>
        <p:spPr>
          <a:xfrm>
            <a:off x="4271834" y="4862149"/>
            <a:ext cx="7680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tan(𝜃°) = </a:t>
            </a:r>
            <a:endParaRPr sz="1200">
              <a:solidFill>
                <a:srgbClr val="000000"/>
              </a:solidFill>
              <a:latin typeface="Times New Roman"/>
              <a:ea typeface="Times New Roman"/>
              <a:cs typeface="Times New Roman"/>
              <a:sym typeface="Times New Roman"/>
            </a:endParaRPr>
          </a:p>
        </p:txBody>
      </p:sp>
      <p:sp>
        <p:nvSpPr>
          <p:cNvPr id="343" name="Google Shape;343;p22"/>
          <p:cNvSpPr txBox="1"/>
          <p:nvPr/>
        </p:nvSpPr>
        <p:spPr>
          <a:xfrm>
            <a:off x="5042938" y="4755410"/>
            <a:ext cx="7680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60 </a:t>
            </a:r>
            <a:endParaRPr sz="1200">
              <a:solidFill>
                <a:srgbClr val="000000"/>
              </a:solidFill>
              <a:latin typeface="Times New Roman"/>
              <a:ea typeface="Times New Roman"/>
              <a:cs typeface="Times New Roman"/>
              <a:sym typeface="Times New Roman"/>
            </a:endParaRPr>
          </a:p>
        </p:txBody>
      </p:sp>
      <p:sp>
        <p:nvSpPr>
          <p:cNvPr id="344" name="Google Shape;344;p22"/>
          <p:cNvSpPr txBox="1"/>
          <p:nvPr/>
        </p:nvSpPr>
        <p:spPr>
          <a:xfrm>
            <a:off x="5053768" y="4976589"/>
            <a:ext cx="7680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20 </a:t>
            </a:r>
            <a:endParaRPr sz="1200">
              <a:solidFill>
                <a:srgbClr val="000000"/>
              </a:solidFill>
              <a:latin typeface="Times New Roman"/>
              <a:ea typeface="Times New Roman"/>
              <a:cs typeface="Times New Roman"/>
              <a:sym typeface="Times New Roman"/>
            </a:endParaRPr>
          </a:p>
        </p:txBody>
      </p:sp>
      <p:cxnSp>
        <p:nvCxnSpPr>
          <p:cNvPr id="345" name="Google Shape;345;p22"/>
          <p:cNvCxnSpPr/>
          <p:nvPr/>
        </p:nvCxnSpPr>
        <p:spPr>
          <a:xfrm>
            <a:off x="5013823" y="4964991"/>
            <a:ext cx="221100" cy="0"/>
          </a:xfrm>
          <a:prstGeom prst="straightConnector1">
            <a:avLst/>
          </a:prstGeom>
          <a:noFill/>
          <a:ln w="19050" cap="flat" cmpd="sng">
            <a:solidFill>
              <a:srgbClr val="000000"/>
            </a:solidFill>
            <a:prstDash val="solid"/>
            <a:round/>
            <a:headEnd type="none" w="med" len="med"/>
            <a:tailEnd type="none" w="med" len="med"/>
          </a:ln>
        </p:spPr>
      </p:cxnSp>
      <p:sp>
        <p:nvSpPr>
          <p:cNvPr id="346" name="Google Shape;346;p22"/>
          <p:cNvSpPr txBox="1"/>
          <p:nvPr/>
        </p:nvSpPr>
        <p:spPr>
          <a:xfrm>
            <a:off x="4628461" y="5295567"/>
            <a:ext cx="15147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𝜃° = tan</a:t>
            </a:r>
            <a:r>
              <a:rPr lang="en-GB" sz="1200" baseline="30000">
                <a:solidFill>
                  <a:srgbClr val="000000"/>
                </a:solidFill>
                <a:latin typeface="Times New Roman"/>
                <a:ea typeface="Times New Roman"/>
                <a:cs typeface="Times New Roman"/>
                <a:sym typeface="Times New Roman"/>
              </a:rPr>
              <a:t>-1</a:t>
            </a:r>
            <a:r>
              <a:rPr lang="en-GB" sz="1200">
                <a:solidFill>
                  <a:srgbClr val="000000"/>
                </a:solidFill>
                <a:latin typeface="Times New Roman"/>
                <a:ea typeface="Times New Roman"/>
                <a:cs typeface="Times New Roman"/>
                <a:sym typeface="Times New Roman"/>
              </a:rPr>
              <a:t>(3)</a:t>
            </a:r>
            <a:endParaRPr sz="1200">
              <a:solidFill>
                <a:srgbClr val="000000"/>
              </a:solidFill>
              <a:latin typeface="Times New Roman"/>
              <a:ea typeface="Times New Roman"/>
              <a:cs typeface="Times New Roman"/>
              <a:sym typeface="Times New Roman"/>
            </a:endParaRPr>
          </a:p>
        </p:txBody>
      </p:sp>
      <p:sp>
        <p:nvSpPr>
          <p:cNvPr id="347" name="Google Shape;347;p22"/>
          <p:cNvSpPr txBox="1"/>
          <p:nvPr/>
        </p:nvSpPr>
        <p:spPr>
          <a:xfrm>
            <a:off x="4628461" y="5696447"/>
            <a:ext cx="15147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𝜃° = 71.6° (1 d.p.) </a:t>
            </a:r>
            <a:endParaRPr sz="1200">
              <a:solidFill>
                <a:srgbClr val="000000"/>
              </a:solidFill>
              <a:latin typeface="Times New Roman"/>
              <a:ea typeface="Times New Roman"/>
              <a:cs typeface="Times New Roman"/>
              <a:sym typeface="Times New Roman"/>
            </a:endParaRPr>
          </a:p>
        </p:txBody>
      </p:sp>
      <p:sp>
        <p:nvSpPr>
          <p:cNvPr id="348" name="Google Shape;348;p22"/>
          <p:cNvSpPr/>
          <p:nvPr/>
        </p:nvSpPr>
        <p:spPr>
          <a:xfrm>
            <a:off x="2388057" y="5404885"/>
            <a:ext cx="158700" cy="1587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349" name="Google Shape;349;p22"/>
          <p:cNvSpPr txBox="1"/>
          <p:nvPr/>
        </p:nvSpPr>
        <p:spPr>
          <a:xfrm>
            <a:off x="467824" y="6245700"/>
            <a:ext cx="62349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A helicopter travels 30 km due North and then rotates 𝜃°, before travelling 50 km in that direction. The helicopter finishes directly due West of the starting point. What angle of turn did they make?</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350" name="Google Shape;350;p22"/>
          <p:cNvSpPr/>
          <p:nvPr/>
        </p:nvSpPr>
        <p:spPr>
          <a:xfrm flipH="1">
            <a:off x="1572934" y="7799204"/>
            <a:ext cx="846900" cy="1033500"/>
          </a:xfrm>
          <a:prstGeom prst="rtTriangle">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351" name="Google Shape;351;p22"/>
          <p:cNvCxnSpPr/>
          <p:nvPr/>
        </p:nvCxnSpPr>
        <p:spPr>
          <a:xfrm flipH="1">
            <a:off x="2525719" y="7799214"/>
            <a:ext cx="0" cy="1038600"/>
          </a:xfrm>
          <a:prstGeom prst="straightConnector1">
            <a:avLst/>
          </a:prstGeom>
          <a:noFill/>
          <a:ln w="28575" cap="flat" cmpd="sng">
            <a:solidFill>
              <a:srgbClr val="000000"/>
            </a:solidFill>
            <a:prstDash val="solid"/>
            <a:round/>
            <a:headEnd type="triangle" w="med" len="med"/>
            <a:tailEnd type="triangle" w="med" len="med"/>
          </a:ln>
        </p:spPr>
      </p:cxnSp>
      <p:cxnSp>
        <p:nvCxnSpPr>
          <p:cNvPr id="352" name="Google Shape;352;p22"/>
          <p:cNvCxnSpPr/>
          <p:nvPr/>
        </p:nvCxnSpPr>
        <p:spPr>
          <a:xfrm rot="10800000" flipH="1">
            <a:off x="1482631" y="7744451"/>
            <a:ext cx="856200" cy="1047300"/>
          </a:xfrm>
          <a:prstGeom prst="straightConnector1">
            <a:avLst/>
          </a:prstGeom>
          <a:noFill/>
          <a:ln w="28575" cap="flat" cmpd="sng">
            <a:solidFill>
              <a:srgbClr val="000000"/>
            </a:solidFill>
            <a:prstDash val="solid"/>
            <a:round/>
            <a:headEnd type="triangle" w="med" len="med"/>
            <a:tailEnd type="triangle" w="med" len="med"/>
          </a:ln>
        </p:spPr>
      </p:cxnSp>
      <p:sp>
        <p:nvSpPr>
          <p:cNvPr id="353" name="Google Shape;353;p22"/>
          <p:cNvSpPr txBox="1"/>
          <p:nvPr/>
        </p:nvSpPr>
        <p:spPr>
          <a:xfrm>
            <a:off x="1455428" y="8005826"/>
            <a:ext cx="573900" cy="2049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50 km</a:t>
            </a:r>
            <a:endParaRPr sz="1200">
              <a:solidFill>
                <a:srgbClr val="000000"/>
              </a:solidFill>
              <a:latin typeface="Kalam"/>
              <a:ea typeface="Kalam"/>
              <a:cs typeface="Kalam"/>
              <a:sym typeface="Kalam"/>
            </a:endParaRPr>
          </a:p>
        </p:txBody>
      </p:sp>
      <p:sp>
        <p:nvSpPr>
          <p:cNvPr id="354" name="Google Shape;354;p22"/>
          <p:cNvSpPr txBox="1"/>
          <p:nvPr/>
        </p:nvSpPr>
        <p:spPr>
          <a:xfrm>
            <a:off x="2579039" y="8216101"/>
            <a:ext cx="573900" cy="2049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30 km</a:t>
            </a:r>
            <a:endParaRPr sz="1200">
              <a:solidFill>
                <a:srgbClr val="000000"/>
              </a:solidFill>
              <a:latin typeface="Kalam"/>
              <a:ea typeface="Kalam"/>
              <a:cs typeface="Kalam"/>
              <a:sym typeface="Kalam"/>
            </a:endParaRPr>
          </a:p>
        </p:txBody>
      </p:sp>
      <p:sp>
        <p:nvSpPr>
          <p:cNvPr id="355" name="Google Shape;355;p22"/>
          <p:cNvSpPr/>
          <p:nvPr/>
        </p:nvSpPr>
        <p:spPr>
          <a:xfrm>
            <a:off x="2057653" y="7417675"/>
            <a:ext cx="724500" cy="724500"/>
          </a:xfrm>
          <a:prstGeom prst="arc">
            <a:avLst>
              <a:gd name="adj1" fmla="val 7788402"/>
              <a:gd name="adj2" fmla="val 16238422"/>
            </a:avLst>
          </a:prstGeom>
          <a:noFill/>
          <a:ln w="28575" cap="flat" cmpd="sng">
            <a:solidFill>
              <a:srgbClr val="000000"/>
            </a:solidFill>
            <a:prstDash val="solid"/>
            <a:round/>
            <a:headEnd type="triangl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356" name="Google Shape;356;p22"/>
          <p:cNvSpPr txBox="1"/>
          <p:nvPr/>
        </p:nvSpPr>
        <p:spPr>
          <a:xfrm>
            <a:off x="1896959" y="7466892"/>
            <a:ext cx="5904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𝜃°</a:t>
            </a:r>
            <a:endParaRPr sz="1200">
              <a:solidFill>
                <a:srgbClr val="000000"/>
              </a:solidFill>
              <a:latin typeface="Kalam"/>
              <a:ea typeface="Kalam"/>
              <a:cs typeface="Kalam"/>
              <a:sym typeface="Kalam"/>
            </a:endParaRPr>
          </a:p>
        </p:txBody>
      </p:sp>
      <p:sp>
        <p:nvSpPr>
          <p:cNvPr id="357" name="Google Shape;357;p22"/>
          <p:cNvSpPr/>
          <p:nvPr/>
        </p:nvSpPr>
        <p:spPr>
          <a:xfrm>
            <a:off x="2259986" y="8677936"/>
            <a:ext cx="159900" cy="1599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358" name="Google Shape;358;p22"/>
          <p:cNvCxnSpPr/>
          <p:nvPr/>
        </p:nvCxnSpPr>
        <p:spPr>
          <a:xfrm rot="10800000" flipH="1">
            <a:off x="2419834" y="7297304"/>
            <a:ext cx="0" cy="501900"/>
          </a:xfrm>
          <a:prstGeom prst="straightConnector1">
            <a:avLst/>
          </a:prstGeom>
          <a:noFill/>
          <a:ln w="28575" cap="flat" cmpd="sng">
            <a:solidFill>
              <a:srgbClr val="000000"/>
            </a:solidFill>
            <a:prstDash val="dot"/>
            <a:round/>
            <a:headEnd type="none" w="med" len="med"/>
            <a:tailEnd type="none" w="med" len="med"/>
          </a:ln>
        </p:spPr>
      </p:cxnSp>
      <p:sp>
        <p:nvSpPr>
          <p:cNvPr id="359" name="Google Shape;359;p22"/>
          <p:cNvSpPr/>
          <p:nvPr/>
        </p:nvSpPr>
        <p:spPr>
          <a:xfrm>
            <a:off x="2057653" y="7417675"/>
            <a:ext cx="724500" cy="724500"/>
          </a:xfrm>
          <a:prstGeom prst="arc">
            <a:avLst>
              <a:gd name="adj1" fmla="val 5451168"/>
              <a:gd name="adj2" fmla="val 7662851"/>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360" name="Google Shape;360;p22"/>
          <p:cNvSpPr txBox="1"/>
          <p:nvPr/>
        </p:nvSpPr>
        <p:spPr>
          <a:xfrm>
            <a:off x="2185322" y="8133757"/>
            <a:ext cx="5904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361" name="Google Shape;361;p22"/>
          <p:cNvSpPr txBox="1"/>
          <p:nvPr/>
        </p:nvSpPr>
        <p:spPr>
          <a:xfrm>
            <a:off x="3522651" y="7404334"/>
            <a:ext cx="7734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cos(⍺°) = </a:t>
            </a:r>
            <a:endParaRPr sz="1200">
              <a:solidFill>
                <a:srgbClr val="000000"/>
              </a:solidFill>
              <a:latin typeface="Times New Roman"/>
              <a:ea typeface="Times New Roman"/>
              <a:cs typeface="Times New Roman"/>
              <a:sym typeface="Times New Roman"/>
            </a:endParaRPr>
          </a:p>
        </p:txBody>
      </p:sp>
      <p:sp>
        <p:nvSpPr>
          <p:cNvPr id="362" name="Google Shape;362;p22"/>
          <p:cNvSpPr txBox="1"/>
          <p:nvPr/>
        </p:nvSpPr>
        <p:spPr>
          <a:xfrm>
            <a:off x="4299194" y="7296841"/>
            <a:ext cx="7734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30 </a:t>
            </a:r>
            <a:endParaRPr sz="1200">
              <a:solidFill>
                <a:srgbClr val="000000"/>
              </a:solidFill>
              <a:latin typeface="Times New Roman"/>
              <a:ea typeface="Times New Roman"/>
              <a:cs typeface="Times New Roman"/>
              <a:sym typeface="Times New Roman"/>
            </a:endParaRPr>
          </a:p>
        </p:txBody>
      </p:sp>
      <p:sp>
        <p:nvSpPr>
          <p:cNvPr id="363" name="Google Shape;363;p22"/>
          <p:cNvSpPr txBox="1"/>
          <p:nvPr/>
        </p:nvSpPr>
        <p:spPr>
          <a:xfrm>
            <a:off x="4310100" y="7519582"/>
            <a:ext cx="7734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50 </a:t>
            </a:r>
            <a:endParaRPr sz="1200">
              <a:solidFill>
                <a:srgbClr val="000000"/>
              </a:solidFill>
              <a:latin typeface="Times New Roman"/>
              <a:ea typeface="Times New Roman"/>
              <a:cs typeface="Times New Roman"/>
              <a:sym typeface="Times New Roman"/>
            </a:endParaRPr>
          </a:p>
        </p:txBody>
      </p:sp>
      <p:cxnSp>
        <p:nvCxnSpPr>
          <p:cNvPr id="364" name="Google Shape;364;p22"/>
          <p:cNvCxnSpPr/>
          <p:nvPr/>
        </p:nvCxnSpPr>
        <p:spPr>
          <a:xfrm>
            <a:off x="4296008" y="7529025"/>
            <a:ext cx="222600" cy="0"/>
          </a:xfrm>
          <a:prstGeom prst="straightConnector1">
            <a:avLst/>
          </a:prstGeom>
          <a:noFill/>
          <a:ln w="19050" cap="flat" cmpd="sng">
            <a:solidFill>
              <a:srgbClr val="000000"/>
            </a:solidFill>
            <a:prstDash val="solid"/>
            <a:round/>
            <a:headEnd type="none" w="med" len="med"/>
            <a:tailEnd type="none" w="med" len="med"/>
          </a:ln>
        </p:spPr>
      </p:cxnSp>
      <p:sp>
        <p:nvSpPr>
          <p:cNvPr id="365" name="Google Shape;365;p22"/>
          <p:cNvSpPr txBox="1"/>
          <p:nvPr/>
        </p:nvSpPr>
        <p:spPr>
          <a:xfrm>
            <a:off x="3881794" y="7840811"/>
            <a:ext cx="15255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 = cos</a:t>
            </a:r>
            <a:r>
              <a:rPr lang="en-GB" sz="1200" baseline="30000">
                <a:solidFill>
                  <a:srgbClr val="000000"/>
                </a:solidFill>
                <a:latin typeface="Times New Roman"/>
                <a:ea typeface="Times New Roman"/>
                <a:cs typeface="Times New Roman"/>
                <a:sym typeface="Times New Roman"/>
              </a:rPr>
              <a:t>-1</a:t>
            </a:r>
            <a:r>
              <a:rPr lang="en-GB" sz="1200">
                <a:solidFill>
                  <a:srgbClr val="000000"/>
                </a:solidFill>
                <a:latin typeface="Times New Roman"/>
                <a:ea typeface="Times New Roman"/>
                <a:cs typeface="Times New Roman"/>
                <a:sym typeface="Times New Roman"/>
              </a:rPr>
              <a:t>(0.6)</a:t>
            </a:r>
            <a:endParaRPr sz="1200">
              <a:solidFill>
                <a:srgbClr val="000000"/>
              </a:solidFill>
              <a:latin typeface="Times New Roman"/>
              <a:ea typeface="Times New Roman"/>
              <a:cs typeface="Times New Roman"/>
              <a:sym typeface="Times New Roman"/>
            </a:endParaRPr>
          </a:p>
        </p:txBody>
      </p:sp>
      <p:sp>
        <p:nvSpPr>
          <p:cNvPr id="366" name="Google Shape;366;p22"/>
          <p:cNvSpPr txBox="1"/>
          <p:nvPr/>
        </p:nvSpPr>
        <p:spPr>
          <a:xfrm>
            <a:off x="3881794" y="8244520"/>
            <a:ext cx="1525500" cy="184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200">
                <a:solidFill>
                  <a:srgbClr val="000000"/>
                </a:solidFill>
                <a:latin typeface="Times New Roman"/>
                <a:ea typeface="Times New Roman"/>
                <a:cs typeface="Times New Roman"/>
                <a:sym typeface="Times New Roman"/>
              </a:rPr>
              <a:t>⍺° = 53.13…° </a:t>
            </a:r>
            <a:endParaRPr sz="1200">
              <a:solidFill>
                <a:srgbClr val="000000"/>
              </a:solidFill>
              <a:latin typeface="Times New Roman"/>
              <a:ea typeface="Times New Roman"/>
              <a:cs typeface="Times New Roman"/>
              <a:sym typeface="Times New Roman"/>
            </a:endParaRPr>
          </a:p>
        </p:txBody>
      </p:sp>
      <p:sp>
        <p:nvSpPr>
          <p:cNvPr id="367" name="Google Shape;367;p22"/>
          <p:cNvSpPr txBox="1"/>
          <p:nvPr/>
        </p:nvSpPr>
        <p:spPr>
          <a:xfrm>
            <a:off x="3877602" y="8619505"/>
            <a:ext cx="32142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Times New Roman"/>
                <a:ea typeface="Times New Roman"/>
                <a:cs typeface="Times New Roman"/>
                <a:sym typeface="Times New Roman"/>
              </a:rPr>
              <a:t>𝜃° = 180 - ⍺ = 180 - 53.13… = 126.9° </a:t>
            </a:r>
            <a:endParaRPr sz="1200">
              <a:solidFill>
                <a:srgbClr val="000000"/>
              </a:solidFill>
              <a:latin typeface="Times New Roman"/>
              <a:ea typeface="Times New Roman"/>
              <a:cs typeface="Times New Roman"/>
              <a:sym typeface="Times New Roman"/>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2.14"/>
  <p:tag name="AS_TITLE" val="Aspose.Slides for .NET Standard 2.0"/>
  <p:tag name="AS_VERSION" val="24.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101</Paragraphs>
  <Slides>3</Slides>
  <Notes>3</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3</vt:i4>
      </vt:variant>
    </vt:vector>
  </HeadingPairs>
  <TitlesOfParts>
    <vt:vector baseType="lpstr" size="11">
      <vt:lpstr>Arial</vt:lpstr>
      <vt:lpstr>Lexend</vt:lpstr>
      <vt:lpstr>Kalam</vt:lpstr>
      <vt:lpstr>Lexend Medium</vt:lpstr>
      <vt:lpstr>Lexend Light</vt:lpstr>
      <vt:lpstr>Calibri</vt:lpstr>
      <vt:lpstr>Times New Roman</vt:lpstr>
      <vt:lpstr>simple-light-2</vt:lpstr>
      <vt:lpstr>Problem solving with trigonometry</vt:lpstr>
      <vt:lpstr>PowerPoint Presentation</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2024-03-05T14:41:02.886</cp:lastPrinted>
  <dcterms:created xsi:type="dcterms:W3CDTF">2024-03-05T14:41:02Z</dcterms:created>
  <dcterms:modified xsi:type="dcterms:W3CDTF">2024-03-05T14:43:56Z</dcterms:modified>
</cp:coreProperties>
</file>