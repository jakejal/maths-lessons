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ba8da5988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2ba8da5988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2ba8da59884_1_15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2ba8da59884_1_15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ba8da59884_1_1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ba8da59884_1_1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2ba8da59884_1_2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5" name="Google Shape;785;g2ba8da59884_1_2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2bb0fee6dbd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2bb0fee6dbd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2bb0fee6dbd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bb0fee6dbd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2bb0fee6dbd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2bb0fee6dbd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bb0fee6dbd_1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2bb0fee6dbd_1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bb0fee6dbd_1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bb0fee6dbd_1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bb0fee6dbd_1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bb0fee6dbd_1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bb878a409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0" name="Google Shape;940;g2bb878a409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2ba8da59884_1_2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2ba8da59884_1_2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bb0fee6dbd_1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bb0fee6dbd_1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bb0fee6dbd_1_1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bb0fee6dbd_1_1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2bb0fee6dbd_1_1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2bb0fee6dbd_1_1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2bb0fee6dbd_1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2bb0fee6dbd_1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bb0fee6dbd_1_16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bb0fee6dbd_1_16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bb0fee6dbd_1_1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bb0fee6dbd_1_1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2bb878a4090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8" name="Google Shape;1268;g2bb878a4090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bb0fee6dbd_1_10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bb0fee6dbd_1_10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2bb0fee6dbd_1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bb0fee6dbd_1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g2bb0fee6dbd_1_1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4" name="Google Shape;1344;g2bb0fee6dbd_1_1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bb0fee6dbd_1_1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2bb0fee6dbd_1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g2bb0fee6dbd_1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6" name="Google Shape;1406;g2bb0fee6dbd_1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3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2bb878a4090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2bb878a4090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g2bb878a4090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4" name="Google Shape;1474;g2bb878a4090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g2bb878a4090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2" name="Google Shape;1522;g2bb878a4090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9" name="Google Shape;1569;g2bb878a4090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0" name="Google Shape;1570;g2bb878a4090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3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g2bb878a4090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" name="Google Shape;1625;g2bb878a4090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g2ba8da59884_1_2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6" name="Google Shape;1676;g2ba8da59884_1_2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3" name="Shape 1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Google Shape;1684;g2bb878a4090_0_10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5" name="Google Shape;1685;g2bb878a4090_0_10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2bb0fee6dbd_1_2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4" name="Google Shape;1734;g2bb0fee6dbd_1_2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2bb0fee6dbd_1_2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2bb0fee6dbd_1_2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g2bb0fee6dbd_1_2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5" name="Google Shape;1825;g2bb0fee6dbd_1_2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g2bb0fee6dbd_1_2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2" name="Google Shape;1852;g2bb0fee6dbd_1_2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2bb0fee6dbd_1_2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g2bb0fee6dbd_1_2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2bb0fee6dbd_1_2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2bb0fee6dbd_1_2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2" name="Shape 1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" name="Google Shape;1963;g2bb0fee6dbd_1_2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4" name="Google Shape;1964;g2bb0fee6dbd_1_2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g2bb878a4090_0_5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4" name="Google Shape;1994;g2bb878a4090_0_5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g2bb878a4090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3" name="Google Shape;2043;g2bb878a4090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4" name="Shape 2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5" name="Google Shape;209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6" name="Google Shape;209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0" name="Shape 2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1" name="Google Shape;210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2" name="Google Shape;210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4.png"/><Relationship Id="rId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19.png"/><Relationship Id="rId4" Type="http://schemas.openxmlformats.org/officeDocument/2006/relationships/image" Target="../media/image6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63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63.png"/><Relationship Id="rId4" Type="http://schemas.openxmlformats.org/officeDocument/2006/relationships/image" Target="../media/image30.png"/><Relationship Id="rId11" Type="http://schemas.openxmlformats.org/officeDocument/2006/relationships/image" Target="../media/image25.png"/><Relationship Id="rId10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21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" name="Google Shape;99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0" name="Google Shape;100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1" name="Google Shape;101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4" name="Google Shape;104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6" name="Google Shape;106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2" name="Google Shape;6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5" name="Google Shape;655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1" name="Google Shape;6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3" name="Google Shape;663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9" name="Google Shape;66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1" name="Google Shape;671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7" name="Google Shape;67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9" name="Google Shape;679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7" name="Google Shape;687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1" name="Google Shape;70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9" name="Google Shape;70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1" name="Google Shape;711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4" name="Google Shape;744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7" name="Google Shape;747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1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8.png"/><Relationship Id="rId4" Type="http://schemas.openxmlformats.org/officeDocument/2006/relationships/hyperlink" Target="https://www.geogebra.org/m/ppd5afr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8.png"/><Relationship Id="rId4" Type="http://schemas.openxmlformats.org/officeDocument/2006/relationships/hyperlink" Target="https://www.geogebra.org/m/ppd5afr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hyperlink" Target="https://www.geogebra.org/m/ppd5afr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5" Type="http://schemas.openxmlformats.org/officeDocument/2006/relationships/image" Target="../media/image57.png"/><Relationship Id="rId6" Type="http://schemas.openxmlformats.org/officeDocument/2006/relationships/image" Target="../media/image6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60.png"/><Relationship Id="rId6" Type="http://schemas.openxmlformats.org/officeDocument/2006/relationships/image" Target="../media/image5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2.png"/><Relationship Id="rId4" Type="http://schemas.openxmlformats.org/officeDocument/2006/relationships/hyperlink" Target="https://www.geogebra.org/m/ppd5afr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6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Trigonometry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recognise the right-angled triangle within a unit circle and use proportion to scale to similar triangles.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6"/>
          <p:cNvSpPr txBox="1"/>
          <p:nvPr>
            <p:ph idx="2" type="subTitle"/>
          </p:nvPr>
        </p:nvSpPr>
        <p:spPr>
          <a:xfrm>
            <a:off x="324000" y="2246641"/>
            <a:ext cx="8496000" cy="8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hypotenuse is the side of a right-angle triangle which is opposite the right angle.</a:t>
            </a:r>
            <a:endParaRPr/>
          </a:p>
        </p:txBody>
      </p:sp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125050"/>
            <a:ext cx="8496000" cy="73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radius is any line segment that joins the centre of a circle to any part on its circumference.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idx="1" type="subTitle"/>
          </p:nvPr>
        </p:nvSpPr>
        <p:spPr>
          <a:xfrm>
            <a:off x="324000" y="3343000"/>
            <a:ext cx="8474400" cy="72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highlight>
                  <a:schemeClr val="lt1"/>
                </a:highlight>
              </a:rPr>
              <a:t>The </a:t>
            </a:r>
            <a:r>
              <a:rPr b="1" lang="en-GB" sz="2000">
                <a:highlight>
                  <a:schemeClr val="lt1"/>
                </a:highlight>
              </a:rPr>
              <a:t>trigonometric ratios</a:t>
            </a:r>
            <a:r>
              <a:rPr lang="en-GB" sz="2000">
                <a:highlight>
                  <a:schemeClr val="lt1"/>
                </a:highlight>
              </a:rPr>
              <a:t> are ratios between each pair of lengths in a right-angled triangle:</a:t>
            </a:r>
            <a:endParaRPr sz="20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highlight>
                  <a:schemeClr val="lt1"/>
                </a:highlight>
              </a:rPr>
              <a:t>sin(</a:t>
            </a:r>
            <a:r>
              <a:rPr i="1" lang="en-GB" sz="2000">
                <a:highlight>
                  <a:schemeClr val="lt1"/>
                </a:highlight>
              </a:rPr>
              <a:t>θ</a:t>
            </a:r>
            <a:r>
              <a:rPr lang="en-GB" sz="2000">
                <a:highlight>
                  <a:schemeClr val="lt1"/>
                </a:highlight>
              </a:rPr>
              <a:t>°) =  </a:t>
            </a:r>
            <a:r>
              <a:rPr b="1" lang="en-GB" sz="2000">
                <a:highlight>
                  <a:schemeClr val="lt1"/>
                </a:highlight>
              </a:rPr>
              <a:t>opposite</a:t>
            </a:r>
            <a:r>
              <a:rPr lang="en-GB" sz="2000">
                <a:highlight>
                  <a:schemeClr val="lt1"/>
                </a:highlight>
              </a:rPr>
              <a:t>         cos(</a:t>
            </a:r>
            <a:r>
              <a:rPr i="1" lang="en-GB" sz="2000">
                <a:highlight>
                  <a:schemeClr val="lt1"/>
                </a:highlight>
              </a:rPr>
              <a:t>θ</a:t>
            </a:r>
            <a:r>
              <a:rPr lang="en-GB" sz="2000">
                <a:highlight>
                  <a:schemeClr val="lt1"/>
                </a:highlight>
              </a:rPr>
              <a:t>°) =   </a:t>
            </a:r>
            <a:r>
              <a:rPr b="1" lang="en-GB" sz="2000">
                <a:highlight>
                  <a:schemeClr val="lt1"/>
                </a:highlight>
              </a:rPr>
              <a:t>adjacent</a:t>
            </a:r>
            <a:r>
              <a:rPr lang="en-GB" sz="2000">
                <a:highlight>
                  <a:schemeClr val="lt1"/>
                </a:highlight>
              </a:rPr>
              <a:t>        tan(</a:t>
            </a:r>
            <a:r>
              <a:rPr i="1" lang="en-GB" sz="2000">
                <a:highlight>
                  <a:schemeClr val="lt1"/>
                </a:highlight>
              </a:rPr>
              <a:t>θ</a:t>
            </a:r>
            <a:r>
              <a:rPr lang="en-GB" sz="2000">
                <a:highlight>
                  <a:schemeClr val="lt1"/>
                </a:highlight>
              </a:rPr>
              <a:t>°) = </a:t>
            </a:r>
            <a:r>
              <a:rPr b="1" lang="en-GB" sz="2000">
                <a:highlight>
                  <a:schemeClr val="lt1"/>
                </a:highlight>
              </a:rPr>
              <a:t>opposite</a:t>
            </a:r>
            <a:endParaRPr b="1" sz="20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highlight>
                  <a:schemeClr val="lt1"/>
                </a:highlight>
              </a:rPr>
              <a:t>               hypotenuse                       hypotenuse                     </a:t>
            </a:r>
            <a:r>
              <a:rPr b="1" lang="en-GB" sz="2000">
                <a:highlight>
                  <a:schemeClr val="lt1"/>
                </a:highlight>
              </a:rPr>
              <a:t>adjacent</a:t>
            </a:r>
            <a:endParaRPr b="1" sz="20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pic>
        <p:nvPicPr>
          <p:cNvPr descr="eusoddo " id="776" name="Google Shape;776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4875" y="2234037"/>
            <a:ext cx="2717575" cy="10891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7" name="Google Shape;777;p67"/>
          <p:cNvCxnSpPr/>
          <p:nvPr/>
        </p:nvCxnSpPr>
        <p:spPr>
          <a:xfrm>
            <a:off x="1383623" y="4396245"/>
            <a:ext cx="136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67"/>
          <p:cNvCxnSpPr/>
          <p:nvPr/>
        </p:nvCxnSpPr>
        <p:spPr>
          <a:xfrm>
            <a:off x="4474173" y="4396245"/>
            <a:ext cx="1364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9" name="Google Shape;779;p67"/>
          <p:cNvCxnSpPr/>
          <p:nvPr/>
        </p:nvCxnSpPr>
        <p:spPr>
          <a:xfrm>
            <a:off x="7382998" y="4396252"/>
            <a:ext cx="10812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djacent " id="780" name="Google Shape;78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4339" y="810000"/>
            <a:ext cx="2645660" cy="1312195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7"/>
          <p:cNvSpPr txBox="1"/>
          <p:nvPr>
            <p:ph idx="2" type="subTitle"/>
          </p:nvPr>
        </p:nvSpPr>
        <p:spPr>
          <a:xfrm>
            <a:off x="324000" y="2138250"/>
            <a:ext cx="6443100" cy="8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highlight>
                  <a:srgbClr val="FFFFFF"/>
                </a:highlight>
              </a:rPr>
              <a:t>The </a:t>
            </a:r>
            <a:r>
              <a:rPr b="1" lang="en-GB" sz="2000">
                <a:highlight>
                  <a:srgbClr val="FFFFFF"/>
                </a:highlight>
              </a:rPr>
              <a:t>opposite</a:t>
            </a:r>
            <a:r>
              <a:rPr lang="en-GB" sz="2000">
                <a:highlight>
                  <a:srgbClr val="FFFFFF"/>
                </a:highlight>
              </a:rPr>
              <a:t> side of a right-angled triangle is the side which is opposite the marked angle. </a:t>
            </a:r>
            <a:endParaRPr sz="2000"/>
          </a:p>
        </p:txBody>
      </p:sp>
      <p:sp>
        <p:nvSpPr>
          <p:cNvPr id="782" name="Google Shape;782;p67"/>
          <p:cNvSpPr txBox="1"/>
          <p:nvPr>
            <p:ph idx="1" type="subTitle"/>
          </p:nvPr>
        </p:nvSpPr>
        <p:spPr>
          <a:xfrm>
            <a:off x="324000" y="733375"/>
            <a:ext cx="6106200" cy="102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highlight>
                  <a:srgbClr val="FFFFFF"/>
                </a:highlight>
              </a:rPr>
              <a:t>The </a:t>
            </a:r>
            <a:r>
              <a:rPr b="1" lang="en-GB" sz="2000">
                <a:highlight>
                  <a:srgbClr val="FFFFFF"/>
                </a:highlight>
              </a:rPr>
              <a:t>adjacent</a:t>
            </a:r>
            <a:r>
              <a:rPr lang="en-GB" sz="2000">
                <a:highlight>
                  <a:srgbClr val="FFFFFF"/>
                </a:highlight>
              </a:rPr>
              <a:t> side of a right-angled triangle is the side which is next to both the right angle and the marked angle.</a:t>
            </a:r>
            <a:r>
              <a:rPr lang="en-GB" sz="2000">
                <a:highlight>
                  <a:srgbClr val="FFFFFF"/>
                </a:highlight>
              </a:rPr>
              <a:t> 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sides of a right-angle triangle</a:t>
            </a:r>
            <a:endParaRPr/>
          </a:p>
        </p:txBody>
      </p:sp>
      <p:sp>
        <p:nvSpPr>
          <p:cNvPr id="788" name="Google Shape;788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the unit circle</a:t>
            </a:r>
            <a:endParaRPr/>
          </a:p>
        </p:txBody>
      </p:sp>
      <p:sp>
        <p:nvSpPr>
          <p:cNvPr id="789" name="Google Shape;789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tangent from the unit circle</a:t>
            </a:r>
            <a:endParaRPr/>
          </a:p>
        </p:txBody>
      </p:sp>
      <p:sp>
        <p:nvSpPr>
          <p:cNvPr id="790" name="Google Shape;790;p68"/>
          <p:cNvSpPr txBox="1"/>
          <p:nvPr>
            <p:ph idx="4" type="title"/>
          </p:nvPr>
        </p:nvSpPr>
        <p:spPr>
          <a:xfrm>
            <a:off x="324000" y="657600"/>
            <a:ext cx="69153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  <p:pic>
        <p:nvPicPr>
          <p:cNvPr id="791" name="Google Shape;79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12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9"/>
          <p:cNvSpPr/>
          <p:nvPr/>
        </p:nvSpPr>
        <p:spPr>
          <a:xfrm>
            <a:off x="2618865" y="3836759"/>
            <a:ext cx="183300" cy="18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/>
          <p:nvPr/>
        </p:nvSpPr>
        <p:spPr>
          <a:xfrm>
            <a:off x="2618865" y="3836759"/>
            <a:ext cx="183300" cy="183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/>
          <p:nvPr/>
        </p:nvSpPr>
        <p:spPr>
          <a:xfrm flipH="1">
            <a:off x="956565" y="2511597"/>
            <a:ext cx="1845300" cy="15129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 txBox="1"/>
          <p:nvPr>
            <p:ph idx="1" type="body"/>
          </p:nvPr>
        </p:nvSpPr>
        <p:spPr>
          <a:xfrm>
            <a:off x="324000" y="759300"/>
            <a:ext cx="8496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the right angle below, one of the acute angles has been marked. </a:t>
            </a:r>
            <a:endParaRPr sz="1800"/>
          </a:p>
        </p:txBody>
      </p:sp>
      <p:sp>
        <p:nvSpPr>
          <p:cNvPr id="800" name="Google Shape;800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sides of a right-angled triangle</a:t>
            </a:r>
            <a:endParaRPr/>
          </a:p>
        </p:txBody>
      </p:sp>
      <p:sp>
        <p:nvSpPr>
          <p:cNvPr id="801" name="Google Shape;801;p69"/>
          <p:cNvSpPr txBox="1"/>
          <p:nvPr>
            <p:ph idx="1" type="body"/>
          </p:nvPr>
        </p:nvSpPr>
        <p:spPr>
          <a:xfrm>
            <a:off x="517098" y="2535413"/>
            <a:ext cx="18690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802" name="Google Shape;802;p69"/>
          <p:cNvCxnSpPr/>
          <p:nvPr/>
        </p:nvCxnSpPr>
        <p:spPr>
          <a:xfrm>
            <a:off x="1552898" y="2841663"/>
            <a:ext cx="305100" cy="400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3" name="Google Shape;803;p69"/>
          <p:cNvSpPr/>
          <p:nvPr/>
        </p:nvSpPr>
        <p:spPr>
          <a:xfrm>
            <a:off x="683479" y="3675208"/>
            <a:ext cx="643500" cy="643500"/>
          </a:xfrm>
          <a:prstGeom prst="arc">
            <a:avLst>
              <a:gd fmla="val 19184243" name="adj1"/>
              <a:gd fmla="val 279288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4" name="Google Shape;804;p69"/>
          <p:cNvCxnSpPr/>
          <p:nvPr/>
        </p:nvCxnSpPr>
        <p:spPr>
          <a:xfrm>
            <a:off x="2801865" y="2511597"/>
            <a:ext cx="0" cy="1512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69"/>
          <p:cNvCxnSpPr/>
          <p:nvPr/>
        </p:nvCxnSpPr>
        <p:spPr>
          <a:xfrm flipH="1" rot="10800000">
            <a:off x="1460300" y="3363225"/>
            <a:ext cx="1281300" cy="5256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6" name="Google Shape;806;p69"/>
          <p:cNvCxnSpPr>
            <a:stCxn id="798" idx="2"/>
            <a:endCxn id="798" idx="4"/>
          </p:cNvCxnSpPr>
          <p:nvPr/>
        </p:nvCxnSpPr>
        <p:spPr>
          <a:xfrm rot="10800000">
            <a:off x="956565" y="4024497"/>
            <a:ext cx="18453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7" name="Google Shape;807;p69"/>
          <p:cNvSpPr/>
          <p:nvPr/>
        </p:nvSpPr>
        <p:spPr>
          <a:xfrm>
            <a:off x="683479" y="3675208"/>
            <a:ext cx="643500" cy="643500"/>
          </a:xfrm>
          <a:prstGeom prst="arc">
            <a:avLst>
              <a:gd fmla="val 19375322" name="adj1"/>
              <a:gd fmla="val 80352" name="adj2"/>
            </a:avLst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69"/>
          <p:cNvSpPr txBox="1"/>
          <p:nvPr>
            <p:ph idx="1" type="body"/>
          </p:nvPr>
        </p:nvSpPr>
        <p:spPr>
          <a:xfrm>
            <a:off x="324000" y="1155419"/>
            <a:ext cx="8496000" cy="40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hypotenuse</a:t>
            </a:r>
            <a:r>
              <a:rPr lang="en-GB" sz="1800"/>
              <a:t> is always the </a:t>
            </a:r>
            <a:r>
              <a:rPr lang="en-GB" sz="1800">
                <a:solidFill>
                  <a:schemeClr val="accent4"/>
                </a:solidFill>
              </a:rPr>
              <a:t>longest side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09" name="Google Shape;809;p69"/>
          <p:cNvSpPr txBox="1"/>
          <p:nvPr>
            <p:ph idx="1" type="body"/>
          </p:nvPr>
        </p:nvSpPr>
        <p:spPr>
          <a:xfrm>
            <a:off x="324000" y="1597500"/>
            <a:ext cx="8496000" cy="72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refer to the other two sides of the triangle based on their position in relation to the </a:t>
            </a:r>
            <a:r>
              <a:rPr lang="en-GB" sz="1800">
                <a:solidFill>
                  <a:schemeClr val="accent4"/>
                </a:solidFill>
              </a:rPr>
              <a:t>marked angle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10" name="Google Shape;810;p69"/>
          <p:cNvSpPr txBox="1"/>
          <p:nvPr>
            <p:ph idx="1" type="body"/>
          </p:nvPr>
        </p:nvSpPr>
        <p:spPr>
          <a:xfrm>
            <a:off x="4388200" y="2359200"/>
            <a:ext cx="47196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side which is </a:t>
            </a:r>
            <a:r>
              <a:rPr b="1" lang="en-GB" sz="1800"/>
              <a:t>opposite</a:t>
            </a:r>
            <a:r>
              <a:rPr lang="en-GB" sz="1800"/>
              <a:t> the acute interior angle that is marked in the triangle is called the ‘</a:t>
            </a:r>
            <a:r>
              <a:rPr b="1" lang="en-GB" sz="1800"/>
              <a:t>opposite</a:t>
            </a:r>
            <a:r>
              <a:rPr lang="en-GB" sz="1800"/>
              <a:t>’.</a:t>
            </a:r>
            <a:endParaRPr sz="1800"/>
          </a:p>
        </p:txBody>
      </p:sp>
      <p:sp>
        <p:nvSpPr>
          <p:cNvPr id="811" name="Google Shape;811;p69"/>
          <p:cNvSpPr txBox="1"/>
          <p:nvPr>
            <p:ph idx="1" type="body"/>
          </p:nvPr>
        </p:nvSpPr>
        <p:spPr>
          <a:xfrm>
            <a:off x="4370425" y="3578400"/>
            <a:ext cx="4345500" cy="101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side which is next to both the right angle and the other marked interior angle is called the ‘</a:t>
            </a:r>
            <a:r>
              <a:rPr b="1" lang="en-GB" sz="1800"/>
              <a:t>adjacent</a:t>
            </a:r>
            <a:r>
              <a:rPr lang="en-GB" sz="1800"/>
              <a:t>’.</a:t>
            </a:r>
            <a:endParaRPr sz="1800"/>
          </a:p>
        </p:txBody>
      </p:sp>
      <p:cxnSp>
        <p:nvCxnSpPr>
          <p:cNvPr id="812" name="Google Shape;812;p69"/>
          <p:cNvCxnSpPr>
            <a:endCxn id="813" idx="0"/>
          </p:cNvCxnSpPr>
          <p:nvPr/>
        </p:nvCxnSpPr>
        <p:spPr>
          <a:xfrm flipH="1">
            <a:off x="1920849" y="4062856"/>
            <a:ext cx="61500" cy="26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69"/>
          <p:cNvSpPr txBox="1"/>
          <p:nvPr>
            <p:ph idx="1" type="body"/>
          </p:nvPr>
        </p:nvSpPr>
        <p:spPr>
          <a:xfrm>
            <a:off x="1380399" y="4329256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814" name="Google Shape;814;p69"/>
          <p:cNvCxnSpPr/>
          <p:nvPr/>
        </p:nvCxnSpPr>
        <p:spPr>
          <a:xfrm flipH="1">
            <a:off x="2851958" y="3134856"/>
            <a:ext cx="260700" cy="21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69"/>
          <p:cNvSpPr txBox="1"/>
          <p:nvPr>
            <p:ph idx="1" type="body"/>
          </p:nvPr>
        </p:nvSpPr>
        <p:spPr>
          <a:xfrm>
            <a:off x="3112658" y="2840631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cxnSp>
        <p:nvCxnSpPr>
          <p:cNvPr id="816" name="Google Shape;816;p69"/>
          <p:cNvCxnSpPr>
            <a:stCxn id="798" idx="0"/>
          </p:cNvCxnSpPr>
          <p:nvPr/>
        </p:nvCxnSpPr>
        <p:spPr>
          <a:xfrm flipH="1">
            <a:off x="956565" y="2511597"/>
            <a:ext cx="1845300" cy="1512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70"/>
          <p:cNvSpPr/>
          <p:nvPr/>
        </p:nvSpPr>
        <p:spPr>
          <a:xfrm>
            <a:off x="2618865" y="3836759"/>
            <a:ext cx="183300" cy="18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 flipH="1">
            <a:off x="956575" y="2881449"/>
            <a:ext cx="1845300" cy="11430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324000" y="759300"/>
            <a:ext cx="8496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hypotenuse is always the longest side.</a:t>
            </a:r>
            <a:endParaRPr sz="1800"/>
          </a:p>
        </p:txBody>
      </p:sp>
      <p:sp>
        <p:nvSpPr>
          <p:cNvPr id="824" name="Google Shape;82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sides of a right-angled triangle</a:t>
            </a:r>
            <a:endParaRPr/>
          </a:p>
        </p:txBody>
      </p:sp>
      <p:sp>
        <p:nvSpPr>
          <p:cNvPr id="825" name="Google Shape;825;p70"/>
          <p:cNvSpPr txBox="1"/>
          <p:nvPr>
            <p:ph idx="1" type="body"/>
          </p:nvPr>
        </p:nvSpPr>
        <p:spPr>
          <a:xfrm>
            <a:off x="500048" y="2660638"/>
            <a:ext cx="18690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826" name="Google Shape;826;p70"/>
          <p:cNvCxnSpPr/>
          <p:nvPr/>
        </p:nvCxnSpPr>
        <p:spPr>
          <a:xfrm>
            <a:off x="1552898" y="2994063"/>
            <a:ext cx="305100" cy="400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7" name="Google Shape;827;p70"/>
          <p:cNvSpPr/>
          <p:nvPr/>
        </p:nvSpPr>
        <p:spPr>
          <a:xfrm>
            <a:off x="683479" y="3675208"/>
            <a:ext cx="643500" cy="643500"/>
          </a:xfrm>
          <a:prstGeom prst="arc">
            <a:avLst>
              <a:gd fmla="val 19729071" name="adj1"/>
              <a:gd fmla="val 25417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0"/>
          <p:cNvSpPr txBox="1"/>
          <p:nvPr>
            <p:ph idx="1" type="body"/>
          </p:nvPr>
        </p:nvSpPr>
        <p:spPr>
          <a:xfrm>
            <a:off x="324000" y="1155423"/>
            <a:ext cx="8496000" cy="96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lengths</a:t>
            </a:r>
            <a:r>
              <a:rPr lang="en-GB" sz="1800"/>
              <a:t> of the other two sides </a:t>
            </a:r>
            <a:r>
              <a:rPr lang="en-GB" sz="1800">
                <a:solidFill>
                  <a:schemeClr val="accent4"/>
                </a:solidFill>
              </a:rPr>
              <a:t>do not affect</a:t>
            </a:r>
            <a:r>
              <a:rPr lang="en-GB" sz="1800"/>
              <a:t> which way around the </a:t>
            </a:r>
            <a:r>
              <a:rPr b="1" lang="en-GB" sz="1800"/>
              <a:t>opposite</a:t>
            </a:r>
            <a:r>
              <a:rPr lang="en-GB" sz="1800"/>
              <a:t> and </a:t>
            </a:r>
            <a:r>
              <a:rPr b="1" lang="en-GB" sz="1800"/>
              <a:t>adjacent</a:t>
            </a:r>
            <a:r>
              <a:rPr lang="en-GB" sz="1800"/>
              <a:t> are labelled. These labels only depend on the position of the acute angle that has been marked.</a:t>
            </a:r>
            <a:endParaRPr sz="1800"/>
          </a:p>
        </p:txBody>
      </p:sp>
      <p:cxnSp>
        <p:nvCxnSpPr>
          <p:cNvPr id="829" name="Google Shape;829;p70"/>
          <p:cNvCxnSpPr>
            <a:endCxn id="830" idx="0"/>
          </p:cNvCxnSpPr>
          <p:nvPr/>
        </p:nvCxnSpPr>
        <p:spPr>
          <a:xfrm flipH="1">
            <a:off x="1920849" y="4062856"/>
            <a:ext cx="61500" cy="26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0" name="Google Shape;830;p70"/>
          <p:cNvSpPr txBox="1"/>
          <p:nvPr>
            <p:ph idx="1" type="body"/>
          </p:nvPr>
        </p:nvSpPr>
        <p:spPr>
          <a:xfrm>
            <a:off x="1380399" y="4329256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831" name="Google Shape;831;p70"/>
          <p:cNvCxnSpPr/>
          <p:nvPr/>
        </p:nvCxnSpPr>
        <p:spPr>
          <a:xfrm flipH="1">
            <a:off x="2851958" y="3363456"/>
            <a:ext cx="260700" cy="21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2" name="Google Shape;832;p70"/>
          <p:cNvSpPr txBox="1"/>
          <p:nvPr>
            <p:ph idx="1" type="body"/>
          </p:nvPr>
        </p:nvSpPr>
        <p:spPr>
          <a:xfrm>
            <a:off x="3162733" y="3062956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sp>
        <p:nvSpPr>
          <p:cNvPr id="833" name="Google Shape;833;p70"/>
          <p:cNvSpPr/>
          <p:nvPr/>
        </p:nvSpPr>
        <p:spPr>
          <a:xfrm>
            <a:off x="6428865" y="3836759"/>
            <a:ext cx="183300" cy="18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/>
          <p:nvPr/>
        </p:nvSpPr>
        <p:spPr>
          <a:xfrm flipH="1">
            <a:off x="5362975" y="2042525"/>
            <a:ext cx="1248900" cy="19821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0"/>
          <p:cNvSpPr txBox="1"/>
          <p:nvPr>
            <p:ph idx="1" type="body"/>
          </p:nvPr>
        </p:nvSpPr>
        <p:spPr>
          <a:xfrm>
            <a:off x="4429238" y="2535416"/>
            <a:ext cx="18690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836" name="Google Shape;836;p70"/>
          <p:cNvCxnSpPr/>
          <p:nvPr/>
        </p:nvCxnSpPr>
        <p:spPr>
          <a:xfrm>
            <a:off x="5596538" y="2867466"/>
            <a:ext cx="252000" cy="312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70"/>
          <p:cNvSpPr/>
          <p:nvPr/>
        </p:nvSpPr>
        <p:spPr>
          <a:xfrm>
            <a:off x="5041998" y="3675208"/>
            <a:ext cx="643500" cy="643500"/>
          </a:xfrm>
          <a:prstGeom prst="arc">
            <a:avLst>
              <a:gd fmla="val 18331724" name="adj1"/>
              <a:gd fmla="val 25417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38" name="Google Shape;838;p70"/>
          <p:cNvCxnSpPr>
            <a:endCxn id="839" idx="0"/>
          </p:cNvCxnSpPr>
          <p:nvPr/>
        </p:nvCxnSpPr>
        <p:spPr>
          <a:xfrm flipH="1">
            <a:off x="6035649" y="4062856"/>
            <a:ext cx="61500" cy="26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9" name="Google Shape;839;p70"/>
          <p:cNvSpPr txBox="1"/>
          <p:nvPr>
            <p:ph idx="1" type="body"/>
          </p:nvPr>
        </p:nvSpPr>
        <p:spPr>
          <a:xfrm>
            <a:off x="5495199" y="4329256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840" name="Google Shape;840;p70"/>
          <p:cNvCxnSpPr/>
          <p:nvPr/>
        </p:nvCxnSpPr>
        <p:spPr>
          <a:xfrm flipH="1">
            <a:off x="6661958" y="3134856"/>
            <a:ext cx="260700" cy="21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1" name="Google Shape;841;p70"/>
          <p:cNvSpPr txBox="1"/>
          <p:nvPr>
            <p:ph idx="1" type="body"/>
          </p:nvPr>
        </p:nvSpPr>
        <p:spPr>
          <a:xfrm>
            <a:off x="6972733" y="2832431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1"/>
          <p:cNvSpPr/>
          <p:nvPr/>
        </p:nvSpPr>
        <p:spPr>
          <a:xfrm>
            <a:off x="2618865" y="3836759"/>
            <a:ext cx="183300" cy="183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1"/>
          <p:cNvSpPr/>
          <p:nvPr/>
        </p:nvSpPr>
        <p:spPr>
          <a:xfrm flipH="1">
            <a:off x="956575" y="2881449"/>
            <a:ext cx="1845300" cy="11430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1"/>
          <p:cNvSpPr txBox="1"/>
          <p:nvPr>
            <p:ph idx="1" type="body"/>
          </p:nvPr>
        </p:nvSpPr>
        <p:spPr>
          <a:xfrm>
            <a:off x="324000" y="759300"/>
            <a:ext cx="8496000" cy="14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</a:t>
            </a:r>
            <a:r>
              <a:rPr lang="en-GB" sz="1800">
                <a:solidFill>
                  <a:schemeClr val="accent4"/>
                </a:solidFill>
              </a:rPr>
              <a:t>orientation</a:t>
            </a:r>
            <a:r>
              <a:rPr lang="en-GB" sz="1800"/>
              <a:t> of the triangle </a:t>
            </a:r>
            <a:r>
              <a:rPr lang="en-GB" sz="1800">
                <a:solidFill>
                  <a:schemeClr val="accent4"/>
                </a:solidFill>
              </a:rPr>
              <a:t>does not </a:t>
            </a:r>
            <a:r>
              <a:rPr lang="en-GB" sz="1800">
                <a:solidFill>
                  <a:schemeClr val="accent4"/>
                </a:solidFill>
              </a:rPr>
              <a:t>affect</a:t>
            </a:r>
            <a:r>
              <a:rPr lang="en-GB" sz="1800"/>
              <a:t> which way around the </a:t>
            </a:r>
            <a:r>
              <a:rPr b="1" lang="en-GB" sz="1800"/>
              <a:t>opposite</a:t>
            </a:r>
            <a:r>
              <a:rPr lang="en-GB" sz="1800"/>
              <a:t> and </a:t>
            </a:r>
            <a:r>
              <a:rPr b="1" lang="en-GB" sz="1800"/>
              <a:t>adjacent</a:t>
            </a:r>
            <a:r>
              <a:rPr lang="en-GB" sz="1800"/>
              <a:t> are labelled.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These labels only depend on the position of the acute angle that has been marked.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49" name="Google Shape;84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sides of a right-angled triangle</a:t>
            </a:r>
            <a:endParaRPr/>
          </a:p>
        </p:txBody>
      </p:sp>
      <p:sp>
        <p:nvSpPr>
          <p:cNvPr id="850" name="Google Shape;850;p71"/>
          <p:cNvSpPr txBox="1"/>
          <p:nvPr>
            <p:ph idx="1" type="body"/>
          </p:nvPr>
        </p:nvSpPr>
        <p:spPr>
          <a:xfrm>
            <a:off x="465998" y="2591763"/>
            <a:ext cx="18690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851" name="Google Shape;851;p71"/>
          <p:cNvCxnSpPr/>
          <p:nvPr/>
        </p:nvCxnSpPr>
        <p:spPr>
          <a:xfrm>
            <a:off x="1552898" y="2994063"/>
            <a:ext cx="305100" cy="400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2" name="Google Shape;852;p71"/>
          <p:cNvSpPr/>
          <p:nvPr/>
        </p:nvSpPr>
        <p:spPr>
          <a:xfrm>
            <a:off x="683479" y="3675208"/>
            <a:ext cx="643500" cy="643500"/>
          </a:xfrm>
          <a:prstGeom prst="arc">
            <a:avLst>
              <a:gd fmla="val 19729071" name="adj1"/>
              <a:gd fmla="val 25417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53" name="Google Shape;853;p71"/>
          <p:cNvCxnSpPr>
            <a:endCxn id="854" idx="0"/>
          </p:cNvCxnSpPr>
          <p:nvPr/>
        </p:nvCxnSpPr>
        <p:spPr>
          <a:xfrm flipH="1">
            <a:off x="1920849" y="4062856"/>
            <a:ext cx="61500" cy="266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71"/>
          <p:cNvSpPr txBox="1"/>
          <p:nvPr>
            <p:ph idx="1" type="body"/>
          </p:nvPr>
        </p:nvSpPr>
        <p:spPr>
          <a:xfrm>
            <a:off x="1380399" y="4329256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855" name="Google Shape;855;p71"/>
          <p:cNvCxnSpPr/>
          <p:nvPr/>
        </p:nvCxnSpPr>
        <p:spPr>
          <a:xfrm flipH="1">
            <a:off x="2851958" y="3363456"/>
            <a:ext cx="260700" cy="210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6" name="Google Shape;856;p71"/>
          <p:cNvSpPr txBox="1"/>
          <p:nvPr>
            <p:ph idx="1" type="body"/>
          </p:nvPr>
        </p:nvSpPr>
        <p:spPr>
          <a:xfrm>
            <a:off x="3175858" y="3038856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sp>
        <p:nvSpPr>
          <p:cNvPr id="857" name="Google Shape;857;p71"/>
          <p:cNvSpPr/>
          <p:nvPr/>
        </p:nvSpPr>
        <p:spPr>
          <a:xfrm rot="2265095">
            <a:off x="6381460" y="4040705"/>
            <a:ext cx="183262" cy="18326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/>
          <p:nvPr/>
        </p:nvSpPr>
        <p:spPr>
          <a:xfrm flipH="1" rot="2261715">
            <a:off x="5183625" y="2676369"/>
            <a:ext cx="1845251" cy="1142936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 txBox="1"/>
          <p:nvPr>
            <p:ph idx="1" type="body"/>
          </p:nvPr>
        </p:nvSpPr>
        <p:spPr>
          <a:xfrm rot="-552">
            <a:off x="5407985" y="2305955"/>
            <a:ext cx="18690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860" name="Google Shape;860;p71"/>
          <p:cNvCxnSpPr/>
          <p:nvPr/>
        </p:nvCxnSpPr>
        <p:spPr>
          <a:xfrm rot="2261533">
            <a:off x="5974225" y="2736723"/>
            <a:ext cx="305191" cy="40036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71"/>
          <p:cNvSpPr/>
          <p:nvPr/>
        </p:nvSpPr>
        <p:spPr>
          <a:xfrm rot="2261251">
            <a:off x="4760266" y="2822159"/>
            <a:ext cx="643326" cy="643326"/>
          </a:xfrm>
          <a:prstGeom prst="arc">
            <a:avLst>
              <a:gd fmla="val 19729071" name="adj1"/>
              <a:gd fmla="val 254179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62" name="Google Shape;862;p71"/>
          <p:cNvCxnSpPr>
            <a:endCxn id="863" idx="0"/>
          </p:cNvCxnSpPr>
          <p:nvPr/>
        </p:nvCxnSpPr>
        <p:spPr>
          <a:xfrm flipH="1">
            <a:off x="5488341" y="3757767"/>
            <a:ext cx="211500" cy="173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3" name="Google Shape;863;p71"/>
          <p:cNvSpPr txBox="1"/>
          <p:nvPr>
            <p:ph idx="1" type="body"/>
          </p:nvPr>
        </p:nvSpPr>
        <p:spPr>
          <a:xfrm>
            <a:off x="4947891" y="3931167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864" name="Google Shape;864;p71"/>
          <p:cNvCxnSpPr/>
          <p:nvPr/>
        </p:nvCxnSpPr>
        <p:spPr>
          <a:xfrm flipH="1" rot="2259663">
            <a:off x="6838807" y="3829489"/>
            <a:ext cx="260725" cy="21086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5" name="Google Shape;865;p71"/>
          <p:cNvSpPr txBox="1"/>
          <p:nvPr>
            <p:ph idx="1" type="body"/>
          </p:nvPr>
        </p:nvSpPr>
        <p:spPr>
          <a:xfrm>
            <a:off x="7234397" y="3733773"/>
            <a:ext cx="1080900" cy="40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2"/>
          <p:cNvSpPr txBox="1"/>
          <p:nvPr>
            <p:ph idx="1" type="subTitle"/>
          </p:nvPr>
        </p:nvSpPr>
        <p:spPr>
          <a:xfrm>
            <a:off x="980575" y="3115202"/>
            <a:ext cx="7452600" cy="8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side which is labelled </a:t>
            </a:r>
            <a:r>
              <a:rPr b="1" lang="en-GB"/>
              <a:t>opposite</a:t>
            </a:r>
            <a:r>
              <a:rPr lang="en-GB"/>
              <a:t> is always </a:t>
            </a:r>
            <a:r>
              <a:rPr lang="en-GB"/>
              <a:t>opposite </a:t>
            </a:r>
            <a:r>
              <a:rPr lang="en-GB"/>
              <a:t>the </a:t>
            </a:r>
            <a:r>
              <a:rPr lang="en-GB">
                <a:solidFill>
                  <a:schemeClr val="accent4"/>
                </a:solidFill>
              </a:rPr>
              <a:t>acute angle</a:t>
            </a:r>
            <a:r>
              <a:rPr lang="en-GB"/>
              <a:t> that is marked.</a:t>
            </a:r>
            <a:endParaRPr/>
          </a:p>
        </p:txBody>
      </p:sp>
      <p:sp>
        <p:nvSpPr>
          <p:cNvPr id="871" name="Google Shape;871;p72"/>
          <p:cNvSpPr txBox="1"/>
          <p:nvPr>
            <p:ph idx="2" type="subTitle"/>
          </p:nvPr>
        </p:nvSpPr>
        <p:spPr>
          <a:xfrm>
            <a:off x="324000" y="1080000"/>
            <a:ext cx="84960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b="1" lang="en-GB"/>
              <a:t>opposite</a:t>
            </a:r>
            <a:r>
              <a:rPr lang="en-GB"/>
              <a:t> is always the shortest side of a right-angled triangle.</a:t>
            </a:r>
            <a:endParaRPr/>
          </a:p>
        </p:txBody>
      </p:sp>
      <p:sp>
        <p:nvSpPr>
          <p:cNvPr id="872" name="Google Shape;872;p7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side which is labelled </a:t>
            </a:r>
            <a:r>
              <a:rPr b="1" lang="en-GB"/>
              <a:t>opposite</a:t>
            </a:r>
            <a:r>
              <a:rPr lang="en-GB"/>
              <a:t> is always opposite the </a:t>
            </a:r>
            <a:r>
              <a:rPr lang="en-GB">
                <a:solidFill>
                  <a:schemeClr val="accent4"/>
                </a:solidFill>
              </a:rPr>
              <a:t>right angle</a:t>
            </a:r>
            <a:r>
              <a:rPr lang="en-GB"/>
              <a:t>.</a:t>
            </a:r>
            <a:endParaRPr/>
          </a:p>
        </p:txBody>
      </p:sp>
      <p:sp>
        <p:nvSpPr>
          <p:cNvPr id="873" name="Google Shape;873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Labelling sides of a right-angled triangle</a:t>
            </a:r>
            <a:endParaRPr/>
          </a:p>
        </p:txBody>
      </p:sp>
      <p:pic>
        <p:nvPicPr>
          <p:cNvPr id="874" name="Google Shape;87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7283" y="18496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5" name="Google Shape;87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7358" y="31152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73"/>
          <p:cNvSpPr txBox="1"/>
          <p:nvPr>
            <p:ph idx="1" type="body"/>
          </p:nvPr>
        </p:nvSpPr>
        <p:spPr>
          <a:xfrm>
            <a:off x="324000" y="759300"/>
            <a:ext cx="82377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side is the </a:t>
            </a:r>
            <a:r>
              <a:rPr b="1" lang="en-GB"/>
              <a:t>opposite</a:t>
            </a:r>
            <a:r>
              <a:rPr lang="en-GB"/>
              <a:t> in this triangle?</a:t>
            </a:r>
            <a:endParaRPr/>
          </a:p>
        </p:txBody>
      </p:sp>
      <p:sp>
        <p:nvSpPr>
          <p:cNvPr id="881" name="Google Shape;881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Labelling sides of a right-angled triangle</a:t>
            </a:r>
            <a:endParaRPr/>
          </a:p>
        </p:txBody>
      </p:sp>
      <p:cxnSp>
        <p:nvCxnSpPr>
          <p:cNvPr id="882" name="Google Shape;882;p73"/>
          <p:cNvCxnSpPr/>
          <p:nvPr/>
        </p:nvCxnSpPr>
        <p:spPr>
          <a:xfrm>
            <a:off x="5522873" y="3331688"/>
            <a:ext cx="264900" cy="245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73"/>
          <p:cNvCxnSpPr/>
          <p:nvPr/>
        </p:nvCxnSpPr>
        <p:spPr>
          <a:xfrm flipH="1">
            <a:off x="3788224" y="3372106"/>
            <a:ext cx="266700" cy="21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4" name="Google Shape;884;p73"/>
          <p:cNvCxnSpPr/>
          <p:nvPr/>
        </p:nvCxnSpPr>
        <p:spPr>
          <a:xfrm>
            <a:off x="4480650" y="2232200"/>
            <a:ext cx="0" cy="285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85" name="Google Shape;885;p73"/>
          <p:cNvGrpSpPr/>
          <p:nvPr/>
        </p:nvGrpSpPr>
        <p:grpSpPr>
          <a:xfrm rot="1832216">
            <a:off x="3052267" y="1572815"/>
            <a:ext cx="3054370" cy="1887951"/>
            <a:chOff x="4094527" y="2126674"/>
            <a:chExt cx="2493824" cy="1541469"/>
          </a:xfrm>
        </p:grpSpPr>
        <p:sp>
          <p:nvSpPr>
            <p:cNvPr id="886" name="Google Shape;886;p73"/>
            <p:cNvSpPr/>
            <p:nvPr/>
          </p:nvSpPr>
          <p:spPr>
            <a:xfrm rot="-5400825">
              <a:off x="4564177" y="1944450"/>
              <a:ext cx="1249500" cy="2188500"/>
            </a:xfrm>
            <a:prstGeom prst="rtTriangle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7" name="Google Shape;887;p73"/>
            <p:cNvSpPr/>
            <p:nvPr/>
          </p:nvSpPr>
          <p:spPr>
            <a:xfrm>
              <a:off x="6102252" y="3484843"/>
              <a:ext cx="183300" cy="1833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8" name="Google Shape;888;p73"/>
            <p:cNvSpPr/>
            <p:nvPr/>
          </p:nvSpPr>
          <p:spPr>
            <a:xfrm>
              <a:off x="5944851" y="2126674"/>
              <a:ext cx="643500" cy="643500"/>
            </a:xfrm>
            <a:prstGeom prst="arc">
              <a:avLst>
                <a:gd fmla="val 5230472" name="adj1"/>
                <a:gd fmla="val 9184364" name="adj2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9" name="Google Shape;889;p73"/>
          <p:cNvSpPr txBox="1"/>
          <p:nvPr>
            <p:ph idx="1" type="body"/>
          </p:nvPr>
        </p:nvSpPr>
        <p:spPr>
          <a:xfrm>
            <a:off x="4364676" y="1915784"/>
            <a:ext cx="319200" cy="4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890" name="Google Shape;890;p73"/>
          <p:cNvSpPr txBox="1"/>
          <p:nvPr>
            <p:ph idx="1" type="body"/>
          </p:nvPr>
        </p:nvSpPr>
        <p:spPr>
          <a:xfrm>
            <a:off x="5819747" y="3439784"/>
            <a:ext cx="319200" cy="4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891" name="Google Shape;891;p73"/>
          <p:cNvSpPr txBox="1"/>
          <p:nvPr>
            <p:ph idx="1" type="body"/>
          </p:nvPr>
        </p:nvSpPr>
        <p:spPr>
          <a:xfrm>
            <a:off x="3533747" y="3439784"/>
            <a:ext cx="319200" cy="44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892" name="Google Shape;892;p73"/>
          <p:cNvSpPr txBox="1"/>
          <p:nvPr>
            <p:ph idx="1" type="body"/>
          </p:nvPr>
        </p:nvSpPr>
        <p:spPr>
          <a:xfrm>
            <a:off x="6623750" y="790650"/>
            <a:ext cx="4290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C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3" name="Google Shape;893;p73"/>
          <p:cNvSpPr txBox="1"/>
          <p:nvPr>
            <p:ph idx="1" type="body"/>
          </p:nvPr>
        </p:nvSpPr>
        <p:spPr>
          <a:xfrm>
            <a:off x="2708250" y="3741558"/>
            <a:ext cx="12903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4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24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4"/>
          <p:cNvSpPr txBox="1"/>
          <p:nvPr>
            <p:ph idx="1" type="body"/>
          </p:nvPr>
        </p:nvSpPr>
        <p:spPr>
          <a:xfrm>
            <a:off x="324000" y="692200"/>
            <a:ext cx="84960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Label the sides of each triangle with the words ‘</a:t>
            </a:r>
            <a:r>
              <a:rPr b="1" lang="en-GB" sz="1800"/>
              <a:t>opposite</a:t>
            </a:r>
            <a:r>
              <a:rPr lang="en-GB" sz="1800"/>
              <a:t>’, ‘</a:t>
            </a:r>
            <a:r>
              <a:rPr b="1" lang="en-GB" sz="1800"/>
              <a:t>adjacent</a:t>
            </a:r>
            <a:r>
              <a:rPr lang="en-GB" sz="1800"/>
              <a:t>’ and</a:t>
            </a:r>
            <a:br>
              <a:rPr lang="en-GB" sz="1800"/>
            </a:br>
            <a:r>
              <a:rPr lang="en-GB" sz="1800"/>
              <a:t>   ‘</a:t>
            </a:r>
            <a:r>
              <a:rPr b="1" lang="en-GB" sz="1800"/>
              <a:t>hypotenuse</a:t>
            </a:r>
            <a:r>
              <a:rPr lang="en-GB" sz="1800"/>
              <a:t>’. In parts (g) and (h), also mark the appropriate angle with </a:t>
            </a:r>
            <a:r>
              <a:rPr i="1" lang="en-GB" sz="1900"/>
              <a:t>θ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899" name="Google Shape;899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sides of a right-angled triangle</a:t>
            </a:r>
            <a:endParaRPr/>
          </a:p>
        </p:txBody>
      </p:sp>
      <p:sp>
        <p:nvSpPr>
          <p:cNvPr id="900" name="Google Shape;900;p74"/>
          <p:cNvSpPr/>
          <p:nvPr/>
        </p:nvSpPr>
        <p:spPr>
          <a:xfrm>
            <a:off x="745350" y="1798097"/>
            <a:ext cx="1511100" cy="8127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4"/>
          <p:cNvSpPr/>
          <p:nvPr/>
        </p:nvSpPr>
        <p:spPr>
          <a:xfrm>
            <a:off x="745350" y="2482863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4"/>
          <p:cNvSpPr/>
          <p:nvPr/>
        </p:nvSpPr>
        <p:spPr>
          <a:xfrm>
            <a:off x="1904635" y="2278209"/>
            <a:ext cx="665100" cy="664800"/>
          </a:xfrm>
          <a:prstGeom prst="arc">
            <a:avLst>
              <a:gd fmla="val 10969089" name="adj1"/>
              <a:gd fmla="val 1258515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4"/>
          <p:cNvSpPr txBox="1"/>
          <p:nvPr>
            <p:ph idx="1" type="body"/>
          </p:nvPr>
        </p:nvSpPr>
        <p:spPr>
          <a:xfrm>
            <a:off x="1761049" y="2392645"/>
            <a:ext cx="1278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04" name="Google Shape;904;p74"/>
          <p:cNvSpPr/>
          <p:nvPr/>
        </p:nvSpPr>
        <p:spPr>
          <a:xfrm>
            <a:off x="2954269" y="1798097"/>
            <a:ext cx="1511100" cy="8127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74"/>
          <p:cNvSpPr/>
          <p:nvPr/>
        </p:nvSpPr>
        <p:spPr>
          <a:xfrm>
            <a:off x="2954269" y="2482863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6" name="Google Shape;906;p74"/>
          <p:cNvSpPr/>
          <p:nvPr/>
        </p:nvSpPr>
        <p:spPr>
          <a:xfrm>
            <a:off x="2775364" y="1680975"/>
            <a:ext cx="345900" cy="345600"/>
          </a:xfrm>
          <a:prstGeom prst="arc">
            <a:avLst>
              <a:gd fmla="val 981428" name="adj1"/>
              <a:gd fmla="val 5155964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4"/>
          <p:cNvSpPr txBox="1"/>
          <p:nvPr>
            <p:ph idx="1" type="body"/>
          </p:nvPr>
        </p:nvSpPr>
        <p:spPr>
          <a:xfrm>
            <a:off x="3042519" y="1935445"/>
            <a:ext cx="1278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08" name="Google Shape;908;p74"/>
          <p:cNvSpPr/>
          <p:nvPr/>
        </p:nvSpPr>
        <p:spPr>
          <a:xfrm rot="10800000">
            <a:off x="4986392" y="1796363"/>
            <a:ext cx="1026600" cy="10542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4"/>
          <p:cNvSpPr/>
          <p:nvPr/>
        </p:nvSpPr>
        <p:spPr>
          <a:xfrm rot="10800000">
            <a:off x="5885199" y="1796324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4"/>
          <p:cNvSpPr/>
          <p:nvPr/>
        </p:nvSpPr>
        <p:spPr>
          <a:xfrm rot="10800000">
            <a:off x="4733869" y="1543347"/>
            <a:ext cx="506400" cy="506100"/>
          </a:xfrm>
          <a:prstGeom prst="arc">
            <a:avLst>
              <a:gd fmla="val 10969089" name="adj1"/>
              <a:gd fmla="val 1341849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4"/>
          <p:cNvSpPr txBox="1"/>
          <p:nvPr>
            <p:ph idx="1" type="body"/>
          </p:nvPr>
        </p:nvSpPr>
        <p:spPr>
          <a:xfrm>
            <a:off x="5248220" y="1803864"/>
            <a:ext cx="1275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12" name="Google Shape;912;p74"/>
          <p:cNvSpPr/>
          <p:nvPr/>
        </p:nvSpPr>
        <p:spPr>
          <a:xfrm rot="9518150">
            <a:off x="411081" y="3760251"/>
            <a:ext cx="1511140" cy="581448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4"/>
          <p:cNvSpPr/>
          <p:nvPr/>
        </p:nvSpPr>
        <p:spPr>
          <a:xfrm rot="9517435">
            <a:off x="1664573" y="3524222"/>
            <a:ext cx="127576" cy="1275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4"/>
          <p:cNvSpPr/>
          <p:nvPr/>
        </p:nvSpPr>
        <p:spPr>
          <a:xfrm rot="9517825">
            <a:off x="42362" y="3716174"/>
            <a:ext cx="665235" cy="664956"/>
          </a:xfrm>
          <a:prstGeom prst="arc">
            <a:avLst>
              <a:gd fmla="val 10795596" name="adj1"/>
              <a:gd fmla="val 1216471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4"/>
          <p:cNvSpPr txBox="1"/>
          <p:nvPr>
            <p:ph idx="1" type="body"/>
          </p:nvPr>
        </p:nvSpPr>
        <p:spPr>
          <a:xfrm>
            <a:off x="794672" y="3833122"/>
            <a:ext cx="1278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16" name="Google Shape;916;p74"/>
          <p:cNvSpPr/>
          <p:nvPr/>
        </p:nvSpPr>
        <p:spPr>
          <a:xfrm rot="-3663220">
            <a:off x="4820320" y="3361923"/>
            <a:ext cx="1511188" cy="812793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4"/>
          <p:cNvSpPr/>
          <p:nvPr/>
        </p:nvSpPr>
        <p:spPr>
          <a:xfrm rot="-3665344">
            <a:off x="5476736" y="4475291"/>
            <a:ext cx="127831" cy="12783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4"/>
          <p:cNvSpPr/>
          <p:nvPr/>
        </p:nvSpPr>
        <p:spPr>
          <a:xfrm rot="-1670821">
            <a:off x="7165795" y="3210167"/>
            <a:ext cx="1511200" cy="812706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4"/>
          <p:cNvSpPr/>
          <p:nvPr/>
        </p:nvSpPr>
        <p:spPr>
          <a:xfrm rot="-1669644">
            <a:off x="7405724" y="4178437"/>
            <a:ext cx="127889" cy="12788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0" name="Google Shape;920;p74"/>
          <p:cNvSpPr/>
          <p:nvPr/>
        </p:nvSpPr>
        <p:spPr>
          <a:xfrm rot="10800000">
            <a:off x="6967592" y="1796363"/>
            <a:ext cx="1026600" cy="10542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1" name="Google Shape;921;p74"/>
          <p:cNvSpPr/>
          <p:nvPr/>
        </p:nvSpPr>
        <p:spPr>
          <a:xfrm rot="10800000">
            <a:off x="7866399" y="1796324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2" name="Google Shape;922;p74"/>
          <p:cNvSpPr txBox="1"/>
          <p:nvPr>
            <p:ph idx="1" type="body"/>
          </p:nvPr>
        </p:nvSpPr>
        <p:spPr>
          <a:xfrm>
            <a:off x="7802050" y="2380853"/>
            <a:ext cx="1275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23" name="Google Shape;923;p74"/>
          <p:cNvSpPr/>
          <p:nvPr/>
        </p:nvSpPr>
        <p:spPr>
          <a:xfrm>
            <a:off x="7723105" y="2610147"/>
            <a:ext cx="506400" cy="506100"/>
          </a:xfrm>
          <a:prstGeom prst="arc">
            <a:avLst>
              <a:gd fmla="val 13765214" name="adj1"/>
              <a:gd fmla="val 164073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4"/>
          <p:cNvSpPr/>
          <p:nvPr/>
        </p:nvSpPr>
        <p:spPr>
          <a:xfrm rot="2382498">
            <a:off x="3002566" y="3698095"/>
            <a:ext cx="1244367" cy="694511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4"/>
          <p:cNvSpPr/>
          <p:nvPr/>
        </p:nvSpPr>
        <p:spPr>
          <a:xfrm rot="2380070">
            <a:off x="2950534" y="3842648"/>
            <a:ext cx="127832" cy="12783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4"/>
          <p:cNvSpPr/>
          <p:nvPr/>
        </p:nvSpPr>
        <p:spPr>
          <a:xfrm rot="2383372">
            <a:off x="3173305" y="3224671"/>
            <a:ext cx="345969" cy="345546"/>
          </a:xfrm>
          <a:prstGeom prst="arc">
            <a:avLst>
              <a:gd fmla="val 981428" name="adj1"/>
              <a:gd fmla="val 5155964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7" name="Google Shape;927;p74"/>
          <p:cNvSpPr txBox="1"/>
          <p:nvPr>
            <p:ph idx="1" type="body"/>
          </p:nvPr>
        </p:nvSpPr>
        <p:spPr>
          <a:xfrm>
            <a:off x="3258071" y="3550868"/>
            <a:ext cx="1278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28" name="Google Shape;928;p74"/>
          <p:cNvSpPr txBox="1"/>
          <p:nvPr>
            <p:ph idx="1" type="body"/>
          </p:nvPr>
        </p:nvSpPr>
        <p:spPr>
          <a:xfrm>
            <a:off x="324000" y="1423353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929" name="Google Shape;929;p74"/>
          <p:cNvSpPr txBox="1"/>
          <p:nvPr>
            <p:ph idx="1" type="body"/>
          </p:nvPr>
        </p:nvSpPr>
        <p:spPr>
          <a:xfrm>
            <a:off x="2463602" y="1423353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30" name="Google Shape;930;p74"/>
          <p:cNvSpPr txBox="1"/>
          <p:nvPr>
            <p:ph idx="1" type="body"/>
          </p:nvPr>
        </p:nvSpPr>
        <p:spPr>
          <a:xfrm>
            <a:off x="4603204" y="1423353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931" name="Google Shape;931;p74"/>
          <p:cNvSpPr txBox="1"/>
          <p:nvPr>
            <p:ph idx="1" type="body"/>
          </p:nvPr>
        </p:nvSpPr>
        <p:spPr>
          <a:xfrm>
            <a:off x="6742806" y="1423353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32" name="Google Shape;932;p74"/>
          <p:cNvSpPr txBox="1"/>
          <p:nvPr>
            <p:ph idx="1" type="body"/>
          </p:nvPr>
        </p:nvSpPr>
        <p:spPr>
          <a:xfrm>
            <a:off x="324000" y="31563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33" name="Google Shape;933;p74"/>
          <p:cNvSpPr txBox="1"/>
          <p:nvPr>
            <p:ph idx="1" type="body"/>
          </p:nvPr>
        </p:nvSpPr>
        <p:spPr>
          <a:xfrm>
            <a:off x="2463602" y="31563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34" name="Google Shape;934;p74"/>
          <p:cNvSpPr txBox="1"/>
          <p:nvPr>
            <p:ph idx="1" type="body"/>
          </p:nvPr>
        </p:nvSpPr>
        <p:spPr>
          <a:xfrm>
            <a:off x="4603204" y="31563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35" name="Google Shape;935;p74"/>
          <p:cNvSpPr txBox="1"/>
          <p:nvPr>
            <p:ph idx="1" type="body"/>
          </p:nvPr>
        </p:nvSpPr>
        <p:spPr>
          <a:xfrm>
            <a:off x="6742806" y="31563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936" name="Google Shape;936;p74"/>
          <p:cNvSpPr txBox="1"/>
          <p:nvPr>
            <p:ph idx="1" type="body"/>
          </p:nvPr>
        </p:nvSpPr>
        <p:spPr>
          <a:xfrm rot="1906452">
            <a:off x="4704184" y="4411038"/>
            <a:ext cx="945738" cy="250743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opposite</a:t>
            </a:r>
            <a:endParaRPr b="1" sz="1600"/>
          </a:p>
        </p:txBody>
      </p:sp>
      <p:sp>
        <p:nvSpPr>
          <p:cNvPr id="937" name="Google Shape;937;p74"/>
          <p:cNvSpPr txBox="1"/>
          <p:nvPr>
            <p:ph idx="1" type="body"/>
          </p:nvPr>
        </p:nvSpPr>
        <p:spPr>
          <a:xfrm rot="3686772">
            <a:off x="6702055" y="3925334"/>
            <a:ext cx="920115" cy="250631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adjacent</a:t>
            </a:r>
            <a:endParaRPr b="1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75"/>
          <p:cNvSpPr txBox="1"/>
          <p:nvPr>
            <p:ph idx="1" type="body"/>
          </p:nvPr>
        </p:nvSpPr>
        <p:spPr>
          <a:xfrm>
            <a:off x="324000" y="759300"/>
            <a:ext cx="8496000" cy="62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Label the sides of each triangle with the words ‘</a:t>
            </a:r>
            <a:r>
              <a:rPr b="1" lang="en-GB" sz="1800"/>
              <a:t>opposite</a:t>
            </a:r>
            <a:r>
              <a:rPr lang="en-GB" sz="1800"/>
              <a:t>’, ‘</a:t>
            </a:r>
            <a:r>
              <a:rPr b="1" lang="en-GB" sz="1800"/>
              <a:t>adjacent</a:t>
            </a:r>
            <a:r>
              <a:rPr lang="en-GB" sz="1800"/>
              <a:t>’ and</a:t>
            </a:r>
            <a:br>
              <a:rPr lang="en-GB" sz="1800"/>
            </a:br>
            <a:r>
              <a:rPr lang="en-GB" sz="1800"/>
              <a:t>   ‘</a:t>
            </a:r>
            <a:r>
              <a:rPr b="1" lang="en-GB" sz="1800"/>
              <a:t>hypotenuse</a:t>
            </a:r>
            <a:r>
              <a:rPr lang="en-GB" sz="1800"/>
              <a:t>’. In parts (g) and (h), also mark the appropriate angle with </a:t>
            </a:r>
            <a:r>
              <a:rPr i="1" lang="en-GB" sz="1900"/>
              <a:t>θ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943" name="Google Shape;943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sides of a right-angled triangle</a:t>
            </a:r>
            <a:endParaRPr/>
          </a:p>
        </p:txBody>
      </p:sp>
      <p:sp>
        <p:nvSpPr>
          <p:cNvPr id="944" name="Google Shape;944;p75"/>
          <p:cNvSpPr/>
          <p:nvPr/>
        </p:nvSpPr>
        <p:spPr>
          <a:xfrm>
            <a:off x="745350" y="1798097"/>
            <a:ext cx="1511100" cy="8127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5"/>
          <p:cNvSpPr/>
          <p:nvPr/>
        </p:nvSpPr>
        <p:spPr>
          <a:xfrm>
            <a:off x="745350" y="2482863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5"/>
          <p:cNvSpPr/>
          <p:nvPr/>
        </p:nvSpPr>
        <p:spPr>
          <a:xfrm>
            <a:off x="1904635" y="2278209"/>
            <a:ext cx="665100" cy="664800"/>
          </a:xfrm>
          <a:prstGeom prst="arc">
            <a:avLst>
              <a:gd fmla="val 10969089" name="adj1"/>
              <a:gd fmla="val 1258515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5"/>
          <p:cNvSpPr txBox="1"/>
          <p:nvPr>
            <p:ph idx="1" type="body"/>
          </p:nvPr>
        </p:nvSpPr>
        <p:spPr>
          <a:xfrm>
            <a:off x="1761049" y="2392645"/>
            <a:ext cx="1278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48" name="Google Shape;948;p75"/>
          <p:cNvSpPr/>
          <p:nvPr/>
        </p:nvSpPr>
        <p:spPr>
          <a:xfrm>
            <a:off x="2954269" y="1798097"/>
            <a:ext cx="1511100" cy="8127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5"/>
          <p:cNvSpPr/>
          <p:nvPr/>
        </p:nvSpPr>
        <p:spPr>
          <a:xfrm>
            <a:off x="2954269" y="2482863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5"/>
          <p:cNvSpPr/>
          <p:nvPr/>
        </p:nvSpPr>
        <p:spPr>
          <a:xfrm>
            <a:off x="2775364" y="1680975"/>
            <a:ext cx="345900" cy="345600"/>
          </a:xfrm>
          <a:prstGeom prst="arc">
            <a:avLst>
              <a:gd fmla="val 981428" name="adj1"/>
              <a:gd fmla="val 5155964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1" name="Google Shape;951;p75"/>
          <p:cNvSpPr txBox="1"/>
          <p:nvPr>
            <p:ph idx="1" type="body"/>
          </p:nvPr>
        </p:nvSpPr>
        <p:spPr>
          <a:xfrm>
            <a:off x="3042519" y="1935445"/>
            <a:ext cx="1278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52" name="Google Shape;952;p75"/>
          <p:cNvSpPr/>
          <p:nvPr/>
        </p:nvSpPr>
        <p:spPr>
          <a:xfrm rot="10800000">
            <a:off x="4986392" y="1796363"/>
            <a:ext cx="1026600" cy="10542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5"/>
          <p:cNvSpPr/>
          <p:nvPr/>
        </p:nvSpPr>
        <p:spPr>
          <a:xfrm rot="10800000">
            <a:off x="5885199" y="1796324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5"/>
          <p:cNvSpPr/>
          <p:nvPr/>
        </p:nvSpPr>
        <p:spPr>
          <a:xfrm rot="10800000">
            <a:off x="4733869" y="1543347"/>
            <a:ext cx="506400" cy="506100"/>
          </a:xfrm>
          <a:prstGeom prst="arc">
            <a:avLst>
              <a:gd fmla="val 10969089" name="adj1"/>
              <a:gd fmla="val 1341849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5"/>
          <p:cNvSpPr txBox="1"/>
          <p:nvPr>
            <p:ph idx="1" type="body"/>
          </p:nvPr>
        </p:nvSpPr>
        <p:spPr>
          <a:xfrm>
            <a:off x="5248220" y="1803864"/>
            <a:ext cx="1275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56" name="Google Shape;956;p75"/>
          <p:cNvSpPr/>
          <p:nvPr/>
        </p:nvSpPr>
        <p:spPr>
          <a:xfrm rot="9518150">
            <a:off x="411081" y="3760251"/>
            <a:ext cx="1511140" cy="581448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5"/>
          <p:cNvSpPr/>
          <p:nvPr/>
        </p:nvSpPr>
        <p:spPr>
          <a:xfrm rot="9517435">
            <a:off x="1664573" y="3524222"/>
            <a:ext cx="127576" cy="1275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5"/>
          <p:cNvSpPr/>
          <p:nvPr/>
        </p:nvSpPr>
        <p:spPr>
          <a:xfrm rot="9517825">
            <a:off x="42362" y="3716174"/>
            <a:ext cx="665235" cy="664956"/>
          </a:xfrm>
          <a:prstGeom prst="arc">
            <a:avLst>
              <a:gd fmla="val 10795596" name="adj1"/>
              <a:gd fmla="val 1216471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5"/>
          <p:cNvSpPr txBox="1"/>
          <p:nvPr>
            <p:ph idx="1" type="body"/>
          </p:nvPr>
        </p:nvSpPr>
        <p:spPr>
          <a:xfrm>
            <a:off x="794672" y="3833122"/>
            <a:ext cx="1278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60" name="Google Shape;960;p75"/>
          <p:cNvSpPr/>
          <p:nvPr/>
        </p:nvSpPr>
        <p:spPr>
          <a:xfrm rot="-3663220">
            <a:off x="4820320" y="3361923"/>
            <a:ext cx="1511188" cy="812793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5"/>
          <p:cNvSpPr/>
          <p:nvPr/>
        </p:nvSpPr>
        <p:spPr>
          <a:xfrm rot="-3665344">
            <a:off x="5476736" y="4475291"/>
            <a:ext cx="127831" cy="12783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5"/>
          <p:cNvSpPr/>
          <p:nvPr/>
        </p:nvSpPr>
        <p:spPr>
          <a:xfrm rot="-1670821">
            <a:off x="7165795" y="3210167"/>
            <a:ext cx="1511200" cy="812706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5"/>
          <p:cNvSpPr/>
          <p:nvPr/>
        </p:nvSpPr>
        <p:spPr>
          <a:xfrm rot="-1669644">
            <a:off x="7405724" y="4178437"/>
            <a:ext cx="127889" cy="12788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5"/>
          <p:cNvSpPr/>
          <p:nvPr/>
        </p:nvSpPr>
        <p:spPr>
          <a:xfrm rot="10800000">
            <a:off x="6967592" y="1796363"/>
            <a:ext cx="1026600" cy="1054200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5"/>
          <p:cNvSpPr/>
          <p:nvPr/>
        </p:nvSpPr>
        <p:spPr>
          <a:xfrm rot="10800000">
            <a:off x="7866399" y="1796324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5"/>
          <p:cNvSpPr txBox="1"/>
          <p:nvPr>
            <p:ph idx="1" type="body"/>
          </p:nvPr>
        </p:nvSpPr>
        <p:spPr>
          <a:xfrm>
            <a:off x="7802050" y="2380853"/>
            <a:ext cx="1275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67" name="Google Shape;967;p75"/>
          <p:cNvSpPr/>
          <p:nvPr/>
        </p:nvSpPr>
        <p:spPr>
          <a:xfrm>
            <a:off x="7723105" y="2610147"/>
            <a:ext cx="506400" cy="506100"/>
          </a:xfrm>
          <a:prstGeom prst="arc">
            <a:avLst>
              <a:gd fmla="val 13765214" name="adj1"/>
              <a:gd fmla="val 1640730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5"/>
          <p:cNvSpPr/>
          <p:nvPr/>
        </p:nvSpPr>
        <p:spPr>
          <a:xfrm rot="2382498">
            <a:off x="3002566" y="3698095"/>
            <a:ext cx="1244367" cy="694511"/>
          </a:xfrm>
          <a:prstGeom prst="rtTriangle">
            <a:avLst/>
          </a:prstGeom>
          <a:solidFill>
            <a:srgbClr val="F3EEFB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5"/>
          <p:cNvSpPr/>
          <p:nvPr/>
        </p:nvSpPr>
        <p:spPr>
          <a:xfrm rot="2380070">
            <a:off x="2950534" y="3842648"/>
            <a:ext cx="127832" cy="12783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5"/>
          <p:cNvSpPr/>
          <p:nvPr/>
        </p:nvSpPr>
        <p:spPr>
          <a:xfrm rot="2383372">
            <a:off x="3173305" y="3224671"/>
            <a:ext cx="345969" cy="345546"/>
          </a:xfrm>
          <a:prstGeom prst="arc">
            <a:avLst>
              <a:gd fmla="val 981428" name="adj1"/>
              <a:gd fmla="val 5155964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5"/>
          <p:cNvSpPr txBox="1"/>
          <p:nvPr>
            <p:ph idx="1" type="body"/>
          </p:nvPr>
        </p:nvSpPr>
        <p:spPr>
          <a:xfrm>
            <a:off x="3258071" y="3550868"/>
            <a:ext cx="1278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/>
              <a:t>θ</a:t>
            </a:r>
            <a:endParaRPr sz="1600"/>
          </a:p>
        </p:txBody>
      </p:sp>
      <p:sp>
        <p:nvSpPr>
          <p:cNvPr id="972" name="Google Shape;972;p75"/>
          <p:cNvSpPr txBox="1"/>
          <p:nvPr>
            <p:ph idx="1" type="body"/>
          </p:nvPr>
        </p:nvSpPr>
        <p:spPr>
          <a:xfrm>
            <a:off x="324000" y="1423353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973" name="Google Shape;973;p75"/>
          <p:cNvSpPr txBox="1"/>
          <p:nvPr>
            <p:ph idx="1" type="body"/>
          </p:nvPr>
        </p:nvSpPr>
        <p:spPr>
          <a:xfrm>
            <a:off x="2463602" y="1423353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974" name="Google Shape;974;p75"/>
          <p:cNvSpPr txBox="1"/>
          <p:nvPr>
            <p:ph idx="1" type="body"/>
          </p:nvPr>
        </p:nvSpPr>
        <p:spPr>
          <a:xfrm>
            <a:off x="4603204" y="1423353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975" name="Google Shape;975;p75"/>
          <p:cNvSpPr txBox="1"/>
          <p:nvPr>
            <p:ph idx="1" type="body"/>
          </p:nvPr>
        </p:nvSpPr>
        <p:spPr>
          <a:xfrm>
            <a:off x="6742806" y="1423353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sp>
        <p:nvSpPr>
          <p:cNvPr id="976" name="Google Shape;976;p75"/>
          <p:cNvSpPr txBox="1"/>
          <p:nvPr>
            <p:ph idx="1" type="body"/>
          </p:nvPr>
        </p:nvSpPr>
        <p:spPr>
          <a:xfrm>
            <a:off x="324000" y="31563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e)</a:t>
            </a:r>
            <a:endParaRPr sz="1800"/>
          </a:p>
        </p:txBody>
      </p:sp>
      <p:sp>
        <p:nvSpPr>
          <p:cNvPr id="977" name="Google Shape;977;p75"/>
          <p:cNvSpPr txBox="1"/>
          <p:nvPr>
            <p:ph idx="1" type="body"/>
          </p:nvPr>
        </p:nvSpPr>
        <p:spPr>
          <a:xfrm>
            <a:off x="2463602" y="31563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f)</a:t>
            </a:r>
            <a:endParaRPr sz="1800"/>
          </a:p>
        </p:txBody>
      </p:sp>
      <p:sp>
        <p:nvSpPr>
          <p:cNvPr id="978" name="Google Shape;978;p75"/>
          <p:cNvSpPr txBox="1"/>
          <p:nvPr>
            <p:ph idx="1" type="body"/>
          </p:nvPr>
        </p:nvSpPr>
        <p:spPr>
          <a:xfrm>
            <a:off x="4603204" y="31563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g)</a:t>
            </a:r>
            <a:endParaRPr sz="1800"/>
          </a:p>
        </p:txBody>
      </p:sp>
      <p:sp>
        <p:nvSpPr>
          <p:cNvPr id="979" name="Google Shape;979;p75"/>
          <p:cNvSpPr txBox="1"/>
          <p:nvPr>
            <p:ph idx="1" type="body"/>
          </p:nvPr>
        </p:nvSpPr>
        <p:spPr>
          <a:xfrm>
            <a:off x="6742806" y="31563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h)</a:t>
            </a:r>
            <a:endParaRPr sz="1800"/>
          </a:p>
        </p:txBody>
      </p:sp>
      <p:sp>
        <p:nvSpPr>
          <p:cNvPr id="980" name="Google Shape;980;p75"/>
          <p:cNvSpPr txBox="1"/>
          <p:nvPr>
            <p:ph idx="1" type="body"/>
          </p:nvPr>
        </p:nvSpPr>
        <p:spPr>
          <a:xfrm rot="1759178">
            <a:off x="1035192" y="1960652"/>
            <a:ext cx="1228350" cy="250654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75"/>
          <p:cNvSpPr txBox="1"/>
          <p:nvPr>
            <p:ph idx="1" type="body"/>
          </p:nvPr>
        </p:nvSpPr>
        <p:spPr>
          <a:xfrm rot="2700000">
            <a:off x="4790516" y="2263167"/>
            <a:ext cx="1228669" cy="2507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75"/>
          <p:cNvSpPr txBox="1"/>
          <p:nvPr>
            <p:ph idx="1" type="body"/>
          </p:nvPr>
        </p:nvSpPr>
        <p:spPr>
          <a:xfrm rot="1693781">
            <a:off x="3246659" y="1956945"/>
            <a:ext cx="1228522" cy="250853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75"/>
          <p:cNvSpPr txBox="1"/>
          <p:nvPr>
            <p:ph idx="1" type="body"/>
          </p:nvPr>
        </p:nvSpPr>
        <p:spPr>
          <a:xfrm>
            <a:off x="7251550" y="3323734"/>
            <a:ext cx="12285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75"/>
          <p:cNvSpPr txBox="1"/>
          <p:nvPr>
            <p:ph idx="1" type="body"/>
          </p:nvPr>
        </p:nvSpPr>
        <p:spPr>
          <a:xfrm rot="4187960">
            <a:off x="3202139" y="3883378"/>
            <a:ext cx="1228464" cy="250671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75"/>
          <p:cNvSpPr txBox="1"/>
          <p:nvPr>
            <p:ph idx="1" type="body"/>
          </p:nvPr>
        </p:nvSpPr>
        <p:spPr>
          <a:xfrm>
            <a:off x="634025" y="4028099"/>
            <a:ext cx="12285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75"/>
          <p:cNvSpPr txBox="1"/>
          <p:nvPr>
            <p:ph idx="1" type="body"/>
          </p:nvPr>
        </p:nvSpPr>
        <p:spPr>
          <a:xfrm rot="2700000">
            <a:off x="6752144" y="2263167"/>
            <a:ext cx="1228669" cy="25074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75"/>
          <p:cNvSpPr txBox="1"/>
          <p:nvPr>
            <p:ph idx="1" type="body"/>
          </p:nvPr>
        </p:nvSpPr>
        <p:spPr>
          <a:xfrm rot="-1932691">
            <a:off x="4806359" y="3547870"/>
            <a:ext cx="1228598" cy="250776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75"/>
          <p:cNvSpPr txBox="1"/>
          <p:nvPr>
            <p:ph idx="1" type="body"/>
          </p:nvPr>
        </p:nvSpPr>
        <p:spPr>
          <a:xfrm rot="-5403590">
            <a:off x="92855" y="2065577"/>
            <a:ext cx="861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9" name="Google Shape;989;p75"/>
          <p:cNvSpPr txBox="1"/>
          <p:nvPr>
            <p:ph idx="1" type="body"/>
          </p:nvPr>
        </p:nvSpPr>
        <p:spPr>
          <a:xfrm rot="-3590">
            <a:off x="3238182" y="2574607"/>
            <a:ext cx="861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75"/>
          <p:cNvSpPr txBox="1"/>
          <p:nvPr>
            <p:ph idx="1" type="body"/>
          </p:nvPr>
        </p:nvSpPr>
        <p:spPr>
          <a:xfrm rot="-3590">
            <a:off x="7064818" y="1516207"/>
            <a:ext cx="861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1" name="Google Shape;991;p75"/>
          <p:cNvSpPr txBox="1"/>
          <p:nvPr>
            <p:ph idx="1" type="body"/>
          </p:nvPr>
        </p:nvSpPr>
        <p:spPr>
          <a:xfrm rot="5396410">
            <a:off x="5778601" y="2165736"/>
            <a:ext cx="861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2" name="Google Shape;992;p75"/>
          <p:cNvSpPr txBox="1"/>
          <p:nvPr>
            <p:ph idx="1" type="body"/>
          </p:nvPr>
        </p:nvSpPr>
        <p:spPr>
          <a:xfrm rot="-1669358">
            <a:off x="7674205" y="3990962"/>
            <a:ext cx="861943" cy="250679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3" name="Google Shape;993;p75"/>
          <p:cNvSpPr txBox="1"/>
          <p:nvPr>
            <p:ph idx="1" type="body"/>
          </p:nvPr>
        </p:nvSpPr>
        <p:spPr>
          <a:xfrm rot="2333791">
            <a:off x="2852106" y="4253144"/>
            <a:ext cx="861899" cy="25085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4" name="Google Shape;994;p75"/>
          <p:cNvSpPr txBox="1"/>
          <p:nvPr>
            <p:ph idx="1" type="body"/>
          </p:nvPr>
        </p:nvSpPr>
        <p:spPr>
          <a:xfrm rot="4239040">
            <a:off x="1639773" y="3603795"/>
            <a:ext cx="861989" cy="250764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5" name="Google Shape;995;p75"/>
          <p:cNvSpPr txBox="1"/>
          <p:nvPr>
            <p:ph idx="1" type="body"/>
          </p:nvPr>
        </p:nvSpPr>
        <p:spPr>
          <a:xfrm rot="1906452">
            <a:off x="4704184" y="4411038"/>
            <a:ext cx="945738" cy="250743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opposite</a:t>
            </a:r>
            <a:endParaRPr b="1" sz="1600"/>
          </a:p>
        </p:txBody>
      </p:sp>
      <p:sp>
        <p:nvSpPr>
          <p:cNvPr id="996" name="Google Shape;996;p75"/>
          <p:cNvSpPr txBox="1"/>
          <p:nvPr>
            <p:ph idx="1" type="body"/>
          </p:nvPr>
        </p:nvSpPr>
        <p:spPr>
          <a:xfrm rot="3686772">
            <a:off x="6702055" y="3925334"/>
            <a:ext cx="920115" cy="250631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adjacent</a:t>
            </a:r>
            <a:endParaRPr b="1" sz="1600"/>
          </a:p>
        </p:txBody>
      </p:sp>
      <p:sp>
        <p:nvSpPr>
          <p:cNvPr id="997" name="Google Shape;997;p75"/>
          <p:cNvSpPr txBox="1"/>
          <p:nvPr>
            <p:ph idx="1" type="body"/>
          </p:nvPr>
        </p:nvSpPr>
        <p:spPr>
          <a:xfrm rot="-3659664">
            <a:off x="5548304" y="3986248"/>
            <a:ext cx="919993" cy="25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75"/>
          <p:cNvSpPr txBox="1"/>
          <p:nvPr>
            <p:ph idx="1" type="body"/>
          </p:nvPr>
        </p:nvSpPr>
        <p:spPr>
          <a:xfrm rot="-1251467">
            <a:off x="594898" y="3476088"/>
            <a:ext cx="920097" cy="25067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9" name="Google Shape;999;p75"/>
          <p:cNvSpPr txBox="1"/>
          <p:nvPr>
            <p:ph idx="1" type="body"/>
          </p:nvPr>
        </p:nvSpPr>
        <p:spPr>
          <a:xfrm rot="5396637">
            <a:off x="7724691" y="2205580"/>
            <a:ext cx="9201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0" name="Google Shape;1000;p75"/>
          <p:cNvSpPr txBox="1"/>
          <p:nvPr>
            <p:ph idx="1" type="body"/>
          </p:nvPr>
        </p:nvSpPr>
        <p:spPr>
          <a:xfrm rot="-3363">
            <a:off x="5066407" y="1498129"/>
            <a:ext cx="9201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75"/>
          <p:cNvSpPr txBox="1"/>
          <p:nvPr>
            <p:ph idx="1" type="body"/>
          </p:nvPr>
        </p:nvSpPr>
        <p:spPr>
          <a:xfrm rot="-3363">
            <a:off x="935523" y="2596879"/>
            <a:ext cx="9201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2" name="Google Shape;1002;p75"/>
          <p:cNvSpPr txBox="1"/>
          <p:nvPr>
            <p:ph idx="1" type="body"/>
          </p:nvPr>
        </p:nvSpPr>
        <p:spPr>
          <a:xfrm rot="-2891098">
            <a:off x="2551756" y="3405997"/>
            <a:ext cx="920165" cy="250483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3" name="Google Shape;1003;p75"/>
          <p:cNvSpPr/>
          <p:nvPr/>
        </p:nvSpPr>
        <p:spPr>
          <a:xfrm>
            <a:off x="6870388" y="3427988"/>
            <a:ext cx="383100" cy="382800"/>
          </a:xfrm>
          <a:prstGeom prst="arc">
            <a:avLst>
              <a:gd fmla="val 102978" name="adj1"/>
              <a:gd fmla="val 3387883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5"/>
          <p:cNvSpPr txBox="1"/>
          <p:nvPr>
            <p:ph idx="1" type="body"/>
          </p:nvPr>
        </p:nvSpPr>
        <p:spPr>
          <a:xfrm>
            <a:off x="7237175" y="3648403"/>
            <a:ext cx="1275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latin typeface="Kalam"/>
                <a:ea typeface="Kalam"/>
                <a:cs typeface="Kalam"/>
                <a:sym typeface="Kalam"/>
              </a:rPr>
              <a:t>θ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5" name="Google Shape;1005;p75"/>
          <p:cNvSpPr/>
          <p:nvPr/>
        </p:nvSpPr>
        <p:spPr>
          <a:xfrm>
            <a:off x="5946315" y="2985145"/>
            <a:ext cx="659400" cy="658800"/>
          </a:xfrm>
          <a:prstGeom prst="arc">
            <a:avLst>
              <a:gd fmla="val 7118110" name="adj1"/>
              <a:gd fmla="val 8690147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5"/>
          <p:cNvSpPr txBox="1"/>
          <p:nvPr>
            <p:ph idx="1" type="body"/>
          </p:nvPr>
        </p:nvSpPr>
        <p:spPr>
          <a:xfrm>
            <a:off x="5920166" y="3510079"/>
            <a:ext cx="127500" cy="20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600">
                <a:latin typeface="Kalam"/>
                <a:ea typeface="Kalam"/>
                <a:cs typeface="Kalam"/>
                <a:sym typeface="Kalam"/>
              </a:rPr>
              <a:t>θ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7" name="Google Shape;1007;p75"/>
          <p:cNvSpPr txBox="1"/>
          <p:nvPr>
            <p:ph idx="1" type="body"/>
          </p:nvPr>
        </p:nvSpPr>
        <p:spPr>
          <a:xfrm rot="-5403244">
            <a:off x="2279317" y="2019675"/>
            <a:ext cx="9537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sides of a right-angle triangle</a:t>
            </a:r>
            <a:endParaRPr/>
          </a:p>
        </p:txBody>
      </p:sp>
      <p:sp>
        <p:nvSpPr>
          <p:cNvPr id="1013" name="Google Shape;1013;p7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the unit circle</a:t>
            </a:r>
            <a:endParaRPr/>
          </a:p>
        </p:txBody>
      </p:sp>
      <p:sp>
        <p:nvSpPr>
          <p:cNvPr id="1014" name="Google Shape;1014;p7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sp>
        <p:nvSpPr>
          <p:cNvPr id="1015" name="Google Shape;1015;p76"/>
          <p:cNvSpPr txBox="1"/>
          <p:nvPr>
            <p:ph idx="4" type="title"/>
          </p:nvPr>
        </p:nvSpPr>
        <p:spPr>
          <a:xfrm>
            <a:off x="324000" y="657600"/>
            <a:ext cx="62682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  <p:pic>
        <p:nvPicPr>
          <p:cNvPr id="1016" name="Google Shape;101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00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1" name="Google Shape;1021;p77"/>
          <p:cNvGrpSpPr/>
          <p:nvPr/>
        </p:nvGrpSpPr>
        <p:grpSpPr>
          <a:xfrm flipH="1">
            <a:off x="4824010" y="1773425"/>
            <a:ext cx="3982466" cy="1122804"/>
            <a:chOff x="402775" y="77554"/>
            <a:chExt cx="3996052" cy="848680"/>
          </a:xfrm>
        </p:grpSpPr>
        <p:grpSp>
          <p:nvGrpSpPr>
            <p:cNvPr id="1022" name="Google Shape;1022;p77"/>
            <p:cNvGrpSpPr/>
            <p:nvPr/>
          </p:nvGrpSpPr>
          <p:grpSpPr>
            <a:xfrm>
              <a:off x="402775" y="77554"/>
              <a:ext cx="3996052" cy="848680"/>
              <a:chOff x="402775" y="77554"/>
              <a:chExt cx="3996052" cy="848680"/>
            </a:xfrm>
          </p:grpSpPr>
          <p:pic>
            <p:nvPicPr>
              <p:cNvPr id="1023" name="Google Shape;1023;p77"/>
              <p:cNvPicPr preferRelativeResize="0"/>
              <p:nvPr/>
            </p:nvPicPr>
            <p:blipFill rotWithShape="1">
              <a:blip r:embed="rId3">
                <a:alphaModFix/>
              </a:blip>
              <a:srcRect b="30536" l="0" r="0" t="0"/>
              <a:stretch/>
            </p:blipFill>
            <p:spPr>
              <a:xfrm>
                <a:off x="402775" y="77554"/>
                <a:ext cx="3996052" cy="64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24" name="Google Shape;1024;p7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76845"/>
              <a:stretch/>
            </p:blipFill>
            <p:spPr>
              <a:xfrm>
                <a:off x="402775" y="712084"/>
                <a:ext cx="3996052" cy="214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5" name="Google Shape;1025;p77"/>
              <p:cNvSpPr/>
              <p:nvPr/>
            </p:nvSpPr>
            <p:spPr>
              <a:xfrm>
                <a:off x="476672" y="709050"/>
                <a:ext cx="468552" cy="7675"/>
              </a:xfrm>
              <a:custGeom>
                <a:rect b="b" l="l" r="r" t="t"/>
                <a:pathLst>
                  <a:path extrusionOk="0" h="307" w="2656">
                    <a:moveTo>
                      <a:pt x="0" y="307"/>
                    </a:moveTo>
                    <a:cubicBezTo>
                      <a:pt x="443" y="256"/>
                      <a:pt x="2213" y="51"/>
                      <a:pt x="2656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1026" name="Google Shape;1026;p77"/>
            <p:cNvSpPr/>
            <p:nvPr/>
          </p:nvSpPr>
          <p:spPr>
            <a:xfrm>
              <a:off x="1107425" y="709050"/>
              <a:ext cx="66400" cy="7675"/>
            </a:xfrm>
            <a:custGeom>
              <a:rect b="b" l="l" r="r" t="t"/>
              <a:pathLst>
                <a:path extrusionOk="0" h="307" w="2656">
                  <a:moveTo>
                    <a:pt x="0" y="307"/>
                  </a:moveTo>
                  <a:cubicBezTo>
                    <a:pt x="443" y="256"/>
                    <a:pt x="2213" y="51"/>
                    <a:pt x="2656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grpSp>
        <p:nvGrpSpPr>
          <p:cNvPr id="1027" name="Google Shape;1027;p77"/>
          <p:cNvGrpSpPr/>
          <p:nvPr/>
        </p:nvGrpSpPr>
        <p:grpSpPr>
          <a:xfrm flipH="1">
            <a:off x="4848579" y="1194427"/>
            <a:ext cx="3613231" cy="682509"/>
            <a:chOff x="402775" y="77554"/>
            <a:chExt cx="3996052" cy="848680"/>
          </a:xfrm>
        </p:grpSpPr>
        <p:grpSp>
          <p:nvGrpSpPr>
            <p:cNvPr id="1028" name="Google Shape;1028;p77"/>
            <p:cNvGrpSpPr/>
            <p:nvPr/>
          </p:nvGrpSpPr>
          <p:grpSpPr>
            <a:xfrm>
              <a:off x="402775" y="77554"/>
              <a:ext cx="3996052" cy="848680"/>
              <a:chOff x="402775" y="77554"/>
              <a:chExt cx="3996052" cy="848680"/>
            </a:xfrm>
          </p:grpSpPr>
          <p:pic>
            <p:nvPicPr>
              <p:cNvPr id="1029" name="Google Shape;1029;p77"/>
              <p:cNvPicPr preferRelativeResize="0"/>
              <p:nvPr/>
            </p:nvPicPr>
            <p:blipFill rotWithShape="1">
              <a:blip r:embed="rId3">
                <a:alphaModFix/>
              </a:blip>
              <a:srcRect b="30536" l="0" r="0" t="0"/>
              <a:stretch/>
            </p:blipFill>
            <p:spPr>
              <a:xfrm>
                <a:off x="402775" y="77554"/>
                <a:ext cx="3996052" cy="64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30" name="Google Shape;1030;p7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76845"/>
              <a:stretch/>
            </p:blipFill>
            <p:spPr>
              <a:xfrm>
                <a:off x="402775" y="712084"/>
                <a:ext cx="3996052" cy="214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1" name="Google Shape;1031;p77"/>
              <p:cNvSpPr/>
              <p:nvPr/>
            </p:nvSpPr>
            <p:spPr>
              <a:xfrm>
                <a:off x="476672" y="709050"/>
                <a:ext cx="468552" cy="7675"/>
              </a:xfrm>
              <a:custGeom>
                <a:rect b="b" l="l" r="r" t="t"/>
                <a:pathLst>
                  <a:path extrusionOk="0" h="307" w="2656">
                    <a:moveTo>
                      <a:pt x="0" y="307"/>
                    </a:moveTo>
                    <a:cubicBezTo>
                      <a:pt x="443" y="256"/>
                      <a:pt x="2213" y="51"/>
                      <a:pt x="2656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1032" name="Google Shape;1032;p77"/>
            <p:cNvSpPr/>
            <p:nvPr/>
          </p:nvSpPr>
          <p:spPr>
            <a:xfrm>
              <a:off x="1107425" y="709050"/>
              <a:ext cx="66400" cy="7675"/>
            </a:xfrm>
            <a:custGeom>
              <a:rect b="b" l="l" r="r" t="t"/>
              <a:pathLst>
                <a:path extrusionOk="0" h="307" w="2656">
                  <a:moveTo>
                    <a:pt x="0" y="307"/>
                  </a:moveTo>
                  <a:cubicBezTo>
                    <a:pt x="443" y="256"/>
                    <a:pt x="2213" y="51"/>
                    <a:pt x="2656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033" name="Google Shape;1033;p77"/>
          <p:cNvSpPr txBox="1"/>
          <p:nvPr>
            <p:ph idx="1" type="body"/>
          </p:nvPr>
        </p:nvSpPr>
        <p:spPr>
          <a:xfrm>
            <a:off x="400200" y="759300"/>
            <a:ext cx="8496000" cy="5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diagram shows a right-angled triangle inside the unit circle.</a:t>
            </a:r>
            <a:endParaRPr sz="2000"/>
          </a:p>
        </p:txBody>
      </p:sp>
      <p:sp>
        <p:nvSpPr>
          <p:cNvPr id="1034" name="Google Shape;103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035" name="Google Shape;1035;p77"/>
          <p:cNvSpPr txBox="1"/>
          <p:nvPr>
            <p:ph idx="1" type="body"/>
          </p:nvPr>
        </p:nvSpPr>
        <p:spPr>
          <a:xfrm>
            <a:off x="4986024" y="1294200"/>
            <a:ext cx="39474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have drawn a similar </a:t>
            </a:r>
            <a:r>
              <a:rPr lang="en-GB" sz="1800"/>
              <a:t>triangle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36" name="Google Shape;1036;p77"/>
          <p:cNvSpPr txBox="1"/>
          <p:nvPr>
            <p:ph idx="1" type="body"/>
          </p:nvPr>
        </p:nvSpPr>
        <p:spPr>
          <a:xfrm>
            <a:off x="4548600" y="4570800"/>
            <a:ext cx="4343100" cy="35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does Jacob know it’s similar?</a:t>
            </a:r>
            <a:endParaRPr sz="1800"/>
          </a:p>
        </p:txBody>
      </p:sp>
      <p:sp>
        <p:nvSpPr>
          <p:cNvPr id="1037" name="Google Shape;1037;p77"/>
          <p:cNvSpPr/>
          <p:nvPr/>
        </p:nvSpPr>
        <p:spPr>
          <a:xfrm flipH="1">
            <a:off x="4840180" y="2687713"/>
            <a:ext cx="2196300" cy="1569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7"/>
          <p:cNvSpPr/>
          <p:nvPr/>
        </p:nvSpPr>
        <p:spPr>
          <a:xfrm>
            <a:off x="6884053" y="4096627"/>
            <a:ext cx="157200" cy="15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7"/>
          <p:cNvSpPr/>
          <p:nvPr/>
        </p:nvSpPr>
        <p:spPr>
          <a:xfrm>
            <a:off x="4536725" y="3911418"/>
            <a:ext cx="682500" cy="6825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7"/>
          <p:cNvSpPr txBox="1"/>
          <p:nvPr/>
        </p:nvSpPr>
        <p:spPr>
          <a:xfrm>
            <a:off x="5181084" y="3894132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1" name="Google Shape;104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3831" y="2931912"/>
            <a:ext cx="554058" cy="68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77"/>
          <p:cNvSpPr txBox="1"/>
          <p:nvPr>
            <p:ph idx="1" type="body"/>
          </p:nvPr>
        </p:nvSpPr>
        <p:spPr>
          <a:xfrm>
            <a:off x="8097638" y="3690546"/>
            <a:ext cx="682500" cy="26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Jacob</a:t>
            </a:r>
            <a:endParaRPr sz="1600"/>
          </a:p>
        </p:txBody>
      </p:sp>
      <p:sp>
        <p:nvSpPr>
          <p:cNvPr id="1043" name="Google Shape;1043;p77"/>
          <p:cNvSpPr txBox="1"/>
          <p:nvPr/>
        </p:nvSpPr>
        <p:spPr>
          <a:xfrm>
            <a:off x="5288118" y="3005528"/>
            <a:ext cx="77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4" name="Google Shape;1044;p77"/>
          <p:cNvCxnSpPr/>
          <p:nvPr/>
        </p:nvCxnSpPr>
        <p:spPr>
          <a:xfrm flipH="1" rot="10800000">
            <a:off x="4797775" y="2641975"/>
            <a:ext cx="2126700" cy="1532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045" name="Google Shape;1045;p77"/>
          <p:cNvSpPr/>
          <p:nvPr/>
        </p:nvSpPr>
        <p:spPr>
          <a:xfrm>
            <a:off x="752878" y="1831421"/>
            <a:ext cx="2867100" cy="2866500"/>
          </a:xfrm>
          <a:prstGeom prst="ellipse">
            <a:avLst/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7"/>
          <p:cNvSpPr/>
          <p:nvPr/>
        </p:nvSpPr>
        <p:spPr>
          <a:xfrm>
            <a:off x="2179624" y="2406708"/>
            <a:ext cx="1145600" cy="856816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047" name="Google Shape;1047;p77"/>
          <p:cNvCxnSpPr/>
          <p:nvPr/>
        </p:nvCxnSpPr>
        <p:spPr>
          <a:xfrm rot="10800000">
            <a:off x="2180603" y="1557287"/>
            <a:ext cx="0" cy="3140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8" name="Google Shape;1048;p77"/>
          <p:cNvCxnSpPr/>
          <p:nvPr/>
        </p:nvCxnSpPr>
        <p:spPr>
          <a:xfrm>
            <a:off x="747114" y="3259463"/>
            <a:ext cx="317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9" name="Google Shape;1049;p77"/>
          <p:cNvSpPr txBox="1"/>
          <p:nvPr/>
        </p:nvSpPr>
        <p:spPr>
          <a:xfrm>
            <a:off x="3476918" y="3154253"/>
            <a:ext cx="2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7"/>
          <p:cNvSpPr txBox="1"/>
          <p:nvPr/>
        </p:nvSpPr>
        <p:spPr>
          <a:xfrm>
            <a:off x="387950" y="3049125"/>
            <a:ext cx="43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7"/>
          <p:cNvSpPr txBox="1"/>
          <p:nvPr/>
        </p:nvSpPr>
        <p:spPr>
          <a:xfrm>
            <a:off x="1806202" y="4482450"/>
            <a:ext cx="48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7"/>
          <p:cNvSpPr txBox="1"/>
          <p:nvPr/>
        </p:nvSpPr>
        <p:spPr>
          <a:xfrm>
            <a:off x="1977634" y="1637051"/>
            <a:ext cx="22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77"/>
          <p:cNvSpPr txBox="1"/>
          <p:nvPr/>
        </p:nvSpPr>
        <p:spPr>
          <a:xfrm>
            <a:off x="1987090" y="3230261"/>
            <a:ext cx="27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4" name="Google Shape;1054;p77"/>
          <p:cNvSpPr/>
          <p:nvPr/>
        </p:nvSpPr>
        <p:spPr>
          <a:xfrm>
            <a:off x="1860260" y="2944430"/>
            <a:ext cx="639600" cy="6396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7"/>
          <p:cNvSpPr txBox="1"/>
          <p:nvPr/>
        </p:nvSpPr>
        <p:spPr>
          <a:xfrm>
            <a:off x="2458962" y="2942013"/>
            <a:ext cx="54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37°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6" name="Google Shape;1056;p77"/>
          <p:cNvCxnSpPr>
            <a:endCxn id="1057" idx="3"/>
          </p:cNvCxnSpPr>
          <p:nvPr/>
        </p:nvCxnSpPr>
        <p:spPr>
          <a:xfrm flipH="1" rot="10800000">
            <a:off x="2180830" y="2443329"/>
            <a:ext cx="1109100" cy="818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8" name="Google Shape;1058;p77"/>
          <p:cNvSpPr/>
          <p:nvPr/>
        </p:nvSpPr>
        <p:spPr>
          <a:xfrm>
            <a:off x="3248097" y="3171713"/>
            <a:ext cx="84000" cy="84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59" name="Google Shape;1059;p77"/>
          <p:cNvCxnSpPr>
            <a:endCxn id="1057" idx="4"/>
          </p:cNvCxnSpPr>
          <p:nvPr/>
        </p:nvCxnSpPr>
        <p:spPr>
          <a:xfrm rot="10800000">
            <a:off x="3323871" y="2457388"/>
            <a:ext cx="3300" cy="7980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7" name="Google Shape;1057;p77"/>
          <p:cNvSpPr/>
          <p:nvPr/>
        </p:nvSpPr>
        <p:spPr>
          <a:xfrm>
            <a:off x="3275871" y="2361388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7"/>
          <p:cNvSpPr txBox="1"/>
          <p:nvPr/>
        </p:nvSpPr>
        <p:spPr>
          <a:xfrm>
            <a:off x="2018327" y="1384738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7"/>
          <p:cNvSpPr txBox="1"/>
          <p:nvPr/>
        </p:nvSpPr>
        <p:spPr>
          <a:xfrm>
            <a:off x="3919578" y="3158211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7"/>
          <p:cNvSpPr txBox="1"/>
          <p:nvPr/>
        </p:nvSpPr>
        <p:spPr>
          <a:xfrm>
            <a:off x="3274588" y="2062973"/>
            <a:ext cx="108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(0.8, 0.6)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63" name="Google Shape;1063;p77"/>
          <p:cNvCxnSpPr/>
          <p:nvPr/>
        </p:nvCxnSpPr>
        <p:spPr>
          <a:xfrm rot="10800000">
            <a:off x="2199025" y="3255725"/>
            <a:ext cx="1150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64" name="Google Shape;1064;p77"/>
          <p:cNvSpPr/>
          <p:nvPr/>
        </p:nvSpPr>
        <p:spPr>
          <a:xfrm>
            <a:off x="2133355" y="3212415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7"/>
          <p:cNvSpPr txBox="1"/>
          <p:nvPr/>
        </p:nvSpPr>
        <p:spPr>
          <a:xfrm>
            <a:off x="4836264" y="1810931"/>
            <a:ext cx="39474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They’re similar because they have the same angles.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78"/>
          <p:cNvSpPr/>
          <p:nvPr/>
        </p:nvSpPr>
        <p:spPr>
          <a:xfrm>
            <a:off x="600478" y="1912056"/>
            <a:ext cx="2867100" cy="2866500"/>
          </a:xfrm>
          <a:prstGeom prst="ellipse">
            <a:avLst/>
          </a:prstGeom>
          <a:noFill/>
          <a:ln cap="flat" cmpd="sng" w="28575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8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any right-angled triangle, a similar triangle can be made inside the unit circle.</a:t>
            </a:r>
            <a:endParaRPr sz="2000"/>
          </a:p>
        </p:txBody>
      </p:sp>
      <p:sp>
        <p:nvSpPr>
          <p:cNvPr id="1072" name="Google Shape;1072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073" name="Google Shape;1073;p78"/>
          <p:cNvSpPr/>
          <p:nvPr/>
        </p:nvSpPr>
        <p:spPr>
          <a:xfrm flipH="1">
            <a:off x="5221180" y="1757589"/>
            <a:ext cx="2196300" cy="1569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8"/>
          <p:cNvSpPr/>
          <p:nvPr/>
        </p:nvSpPr>
        <p:spPr>
          <a:xfrm>
            <a:off x="7265053" y="3166503"/>
            <a:ext cx="157200" cy="15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8"/>
          <p:cNvSpPr/>
          <p:nvPr/>
        </p:nvSpPr>
        <p:spPr>
          <a:xfrm>
            <a:off x="4917725" y="2981294"/>
            <a:ext cx="682500" cy="6825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8"/>
          <p:cNvSpPr txBox="1"/>
          <p:nvPr/>
        </p:nvSpPr>
        <p:spPr>
          <a:xfrm>
            <a:off x="5562084" y="2964008"/>
            <a:ext cx="5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8"/>
          <p:cNvSpPr/>
          <p:nvPr/>
        </p:nvSpPr>
        <p:spPr>
          <a:xfrm>
            <a:off x="2027224" y="2487343"/>
            <a:ext cx="1145600" cy="856816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078" name="Google Shape;1078;p78"/>
          <p:cNvCxnSpPr/>
          <p:nvPr/>
        </p:nvCxnSpPr>
        <p:spPr>
          <a:xfrm rot="10800000">
            <a:off x="2028203" y="1637922"/>
            <a:ext cx="0" cy="3140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9" name="Google Shape;1079;p78"/>
          <p:cNvCxnSpPr/>
          <p:nvPr/>
        </p:nvCxnSpPr>
        <p:spPr>
          <a:xfrm>
            <a:off x="594714" y="3340098"/>
            <a:ext cx="317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0" name="Google Shape;1080;p78"/>
          <p:cNvSpPr txBox="1"/>
          <p:nvPr/>
        </p:nvSpPr>
        <p:spPr>
          <a:xfrm>
            <a:off x="3324518" y="3234888"/>
            <a:ext cx="2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8"/>
          <p:cNvSpPr txBox="1"/>
          <p:nvPr/>
        </p:nvSpPr>
        <p:spPr>
          <a:xfrm>
            <a:off x="1825234" y="1717686"/>
            <a:ext cx="22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78"/>
          <p:cNvSpPr txBox="1"/>
          <p:nvPr/>
        </p:nvSpPr>
        <p:spPr>
          <a:xfrm>
            <a:off x="1834690" y="3310896"/>
            <a:ext cx="27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3" name="Google Shape;1083;p78"/>
          <p:cNvSpPr/>
          <p:nvPr/>
        </p:nvSpPr>
        <p:spPr>
          <a:xfrm>
            <a:off x="1707860" y="3025065"/>
            <a:ext cx="639600" cy="6396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78"/>
          <p:cNvSpPr txBox="1"/>
          <p:nvPr/>
        </p:nvSpPr>
        <p:spPr>
          <a:xfrm>
            <a:off x="2306562" y="2977291"/>
            <a:ext cx="5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5" name="Google Shape;1085;p78"/>
          <p:cNvCxnSpPr>
            <a:endCxn id="1086" idx="3"/>
          </p:cNvCxnSpPr>
          <p:nvPr/>
        </p:nvCxnSpPr>
        <p:spPr>
          <a:xfrm flipH="1" rot="10800000">
            <a:off x="2028430" y="2523964"/>
            <a:ext cx="1109100" cy="818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7" name="Google Shape;1087;p78"/>
          <p:cNvSpPr/>
          <p:nvPr/>
        </p:nvSpPr>
        <p:spPr>
          <a:xfrm>
            <a:off x="3095697" y="3252348"/>
            <a:ext cx="84000" cy="84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8" name="Google Shape;1088;p78"/>
          <p:cNvCxnSpPr>
            <a:endCxn id="1086" idx="4"/>
          </p:cNvCxnSpPr>
          <p:nvPr/>
        </p:nvCxnSpPr>
        <p:spPr>
          <a:xfrm rot="10800000">
            <a:off x="3171471" y="2538023"/>
            <a:ext cx="3300" cy="7980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86" name="Google Shape;1086;p78"/>
          <p:cNvSpPr/>
          <p:nvPr/>
        </p:nvSpPr>
        <p:spPr>
          <a:xfrm>
            <a:off x="3123471" y="2442023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78"/>
          <p:cNvSpPr txBox="1"/>
          <p:nvPr/>
        </p:nvSpPr>
        <p:spPr>
          <a:xfrm>
            <a:off x="1865927" y="1465373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78"/>
          <p:cNvSpPr txBox="1"/>
          <p:nvPr/>
        </p:nvSpPr>
        <p:spPr>
          <a:xfrm>
            <a:off x="3767178" y="3238846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91" name="Google Shape;1091;p78"/>
          <p:cNvCxnSpPr/>
          <p:nvPr/>
        </p:nvCxnSpPr>
        <p:spPr>
          <a:xfrm rot="10800000">
            <a:off x="2046625" y="3336360"/>
            <a:ext cx="1150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2" name="Google Shape;1092;p78"/>
          <p:cNvSpPr/>
          <p:nvPr/>
        </p:nvSpPr>
        <p:spPr>
          <a:xfrm>
            <a:off x="1980955" y="3293050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78"/>
          <p:cNvSpPr txBox="1"/>
          <p:nvPr>
            <p:ph idx="1" type="body"/>
          </p:nvPr>
        </p:nvSpPr>
        <p:spPr>
          <a:xfrm>
            <a:off x="4320550" y="3700138"/>
            <a:ext cx="4212900" cy="10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</a:t>
            </a:r>
            <a:r>
              <a:rPr lang="en-GB" sz="1900">
                <a:solidFill>
                  <a:schemeClr val="accent5"/>
                </a:solidFill>
              </a:rPr>
              <a:t>first quadrant</a:t>
            </a:r>
            <a:r>
              <a:rPr lang="en-GB" sz="1900"/>
              <a:t> is the only part of the unit circle where </a:t>
            </a:r>
            <a:r>
              <a:rPr i="1" lang="en-GB" sz="19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700"/>
              <a:t>°</a:t>
            </a:r>
            <a:r>
              <a:rPr lang="en-GB" sz="1900"/>
              <a:t> is equal to the </a:t>
            </a:r>
            <a:r>
              <a:rPr lang="en-GB" sz="1900">
                <a:solidFill>
                  <a:schemeClr val="accent5"/>
                </a:solidFill>
              </a:rPr>
              <a:t>interior angle</a:t>
            </a:r>
            <a:r>
              <a:rPr lang="en-GB" sz="1900"/>
              <a:t> of the triangle.</a:t>
            </a:r>
            <a:endParaRPr sz="1900"/>
          </a:p>
        </p:txBody>
      </p:sp>
      <p:sp>
        <p:nvSpPr>
          <p:cNvPr id="1094" name="Google Shape;1094;p78"/>
          <p:cNvSpPr txBox="1"/>
          <p:nvPr/>
        </p:nvSpPr>
        <p:spPr>
          <a:xfrm>
            <a:off x="277725" y="3120800"/>
            <a:ext cx="43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78"/>
          <p:cNvSpPr txBox="1"/>
          <p:nvPr/>
        </p:nvSpPr>
        <p:spPr>
          <a:xfrm>
            <a:off x="1695477" y="4463300"/>
            <a:ext cx="48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202124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79"/>
          <p:cNvSpPr/>
          <p:nvPr/>
        </p:nvSpPr>
        <p:spPr>
          <a:xfrm>
            <a:off x="573975" y="1903835"/>
            <a:ext cx="2893500" cy="2893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1" name="Google Shape;1101;p79"/>
          <p:cNvCxnSpPr/>
          <p:nvPr/>
        </p:nvCxnSpPr>
        <p:spPr>
          <a:xfrm rot="10800000">
            <a:off x="2026466" y="2488081"/>
            <a:ext cx="1150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02" name="Google Shape;1102;p79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5"/>
                </a:solidFill>
              </a:rPr>
              <a:t>sine</a:t>
            </a:r>
            <a:r>
              <a:rPr lang="en-GB" sz="2000"/>
              <a:t> of the angle, sin(</a:t>
            </a:r>
            <a:r>
              <a:rPr i="1" lang="en-GB" sz="2000"/>
              <a:t>θ</a:t>
            </a:r>
            <a:r>
              <a:rPr lang="en-GB" sz="2000"/>
              <a:t>), is the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accent5"/>
                </a:solidFill>
              </a:rPr>
              <a:t>-coordinate</a:t>
            </a:r>
            <a:r>
              <a:rPr lang="en-GB" sz="2000"/>
              <a:t> of the point where the radius has been rotated through that angle.</a:t>
            </a:r>
            <a:endParaRPr sz="2000"/>
          </a:p>
        </p:txBody>
      </p:sp>
      <p:sp>
        <p:nvSpPr>
          <p:cNvPr id="1103" name="Google Shape;110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104" name="Google Shape;1104;p79"/>
          <p:cNvSpPr/>
          <p:nvPr/>
        </p:nvSpPr>
        <p:spPr>
          <a:xfrm flipH="1">
            <a:off x="5221180" y="1757589"/>
            <a:ext cx="2196300" cy="1569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79"/>
          <p:cNvSpPr/>
          <p:nvPr/>
        </p:nvSpPr>
        <p:spPr>
          <a:xfrm>
            <a:off x="7265053" y="3166503"/>
            <a:ext cx="157200" cy="15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79"/>
          <p:cNvSpPr/>
          <p:nvPr/>
        </p:nvSpPr>
        <p:spPr>
          <a:xfrm>
            <a:off x="4917725" y="2981294"/>
            <a:ext cx="682500" cy="6825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7" name="Google Shape;1107;p79"/>
          <p:cNvSpPr txBox="1"/>
          <p:nvPr/>
        </p:nvSpPr>
        <p:spPr>
          <a:xfrm>
            <a:off x="5562084" y="2964008"/>
            <a:ext cx="5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9"/>
          <p:cNvSpPr/>
          <p:nvPr/>
        </p:nvSpPr>
        <p:spPr>
          <a:xfrm>
            <a:off x="2027224" y="2487343"/>
            <a:ext cx="1145600" cy="856816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109" name="Google Shape;1109;p79"/>
          <p:cNvCxnSpPr>
            <a:stCxn id="1110" idx="4"/>
          </p:cNvCxnSpPr>
          <p:nvPr/>
        </p:nvCxnSpPr>
        <p:spPr>
          <a:xfrm rot="10800000">
            <a:off x="2028055" y="1637950"/>
            <a:ext cx="9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1" name="Google Shape;1111;p79"/>
          <p:cNvCxnSpPr>
            <a:stCxn id="1110" idx="2"/>
          </p:cNvCxnSpPr>
          <p:nvPr/>
        </p:nvCxnSpPr>
        <p:spPr>
          <a:xfrm flipH="1" rot="10800000">
            <a:off x="1980955" y="3340150"/>
            <a:ext cx="17922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2" name="Google Shape;1112;p79"/>
          <p:cNvSpPr txBox="1"/>
          <p:nvPr/>
        </p:nvSpPr>
        <p:spPr>
          <a:xfrm>
            <a:off x="3324518" y="3234888"/>
            <a:ext cx="2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3" name="Google Shape;1113;p79"/>
          <p:cNvSpPr txBox="1"/>
          <p:nvPr/>
        </p:nvSpPr>
        <p:spPr>
          <a:xfrm>
            <a:off x="1825234" y="1717686"/>
            <a:ext cx="22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79"/>
          <p:cNvSpPr txBox="1"/>
          <p:nvPr/>
        </p:nvSpPr>
        <p:spPr>
          <a:xfrm>
            <a:off x="1834690" y="3310896"/>
            <a:ext cx="27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5" name="Google Shape;1115;p79"/>
          <p:cNvSpPr/>
          <p:nvPr/>
        </p:nvSpPr>
        <p:spPr>
          <a:xfrm>
            <a:off x="1707860" y="3025065"/>
            <a:ext cx="639600" cy="6396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79"/>
          <p:cNvSpPr txBox="1"/>
          <p:nvPr/>
        </p:nvSpPr>
        <p:spPr>
          <a:xfrm>
            <a:off x="2306562" y="2977291"/>
            <a:ext cx="5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7" name="Google Shape;1117;p79"/>
          <p:cNvCxnSpPr>
            <a:endCxn id="1118" idx="3"/>
          </p:cNvCxnSpPr>
          <p:nvPr/>
        </p:nvCxnSpPr>
        <p:spPr>
          <a:xfrm flipH="1" rot="10800000">
            <a:off x="2028430" y="2523964"/>
            <a:ext cx="1109100" cy="818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9" name="Google Shape;1119;p79"/>
          <p:cNvSpPr/>
          <p:nvPr/>
        </p:nvSpPr>
        <p:spPr>
          <a:xfrm>
            <a:off x="3095697" y="3252348"/>
            <a:ext cx="84000" cy="84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0" name="Google Shape;1120;p79"/>
          <p:cNvCxnSpPr>
            <a:endCxn id="1118" idx="4"/>
          </p:cNvCxnSpPr>
          <p:nvPr/>
        </p:nvCxnSpPr>
        <p:spPr>
          <a:xfrm rot="10800000">
            <a:off x="3171471" y="2538023"/>
            <a:ext cx="3300" cy="7980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79"/>
          <p:cNvSpPr/>
          <p:nvPr/>
        </p:nvSpPr>
        <p:spPr>
          <a:xfrm>
            <a:off x="3123471" y="2442023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79"/>
          <p:cNvSpPr txBox="1"/>
          <p:nvPr/>
        </p:nvSpPr>
        <p:spPr>
          <a:xfrm>
            <a:off x="1865927" y="1465373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9"/>
          <p:cNvSpPr txBox="1"/>
          <p:nvPr/>
        </p:nvSpPr>
        <p:spPr>
          <a:xfrm>
            <a:off x="3767178" y="3238846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3" name="Google Shape;1123;p79"/>
          <p:cNvCxnSpPr/>
          <p:nvPr/>
        </p:nvCxnSpPr>
        <p:spPr>
          <a:xfrm flipH="1" rot="10800000">
            <a:off x="2019255" y="2424846"/>
            <a:ext cx="1094100" cy="80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24" name="Google Shape;1124;p79"/>
          <p:cNvSpPr txBox="1"/>
          <p:nvPr/>
        </p:nvSpPr>
        <p:spPr>
          <a:xfrm>
            <a:off x="2332672" y="2528822"/>
            <a:ext cx="27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5" name="Google Shape;1125;p79"/>
          <p:cNvCxnSpPr/>
          <p:nvPr/>
        </p:nvCxnSpPr>
        <p:spPr>
          <a:xfrm rot="10800000">
            <a:off x="2046625" y="3336360"/>
            <a:ext cx="1150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0" name="Google Shape;1110;p79"/>
          <p:cNvSpPr/>
          <p:nvPr/>
        </p:nvSpPr>
        <p:spPr>
          <a:xfrm>
            <a:off x="1980955" y="3293050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6" name="Google Shape;1126;p79"/>
          <p:cNvSpPr txBox="1"/>
          <p:nvPr/>
        </p:nvSpPr>
        <p:spPr>
          <a:xfrm>
            <a:off x="1255548" y="2317421"/>
            <a:ext cx="651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27" name="Google Shape;1127;p79"/>
          <p:cNvCxnSpPr/>
          <p:nvPr/>
        </p:nvCxnSpPr>
        <p:spPr>
          <a:xfrm>
            <a:off x="1854768" y="2489229"/>
            <a:ext cx="1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8" name="Google Shape;1128;p79"/>
          <p:cNvSpPr txBox="1"/>
          <p:nvPr>
            <p:ph idx="1" type="body"/>
          </p:nvPr>
        </p:nvSpPr>
        <p:spPr>
          <a:xfrm>
            <a:off x="324000" y="4112100"/>
            <a:ext cx="8150100" cy="68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the triangle inside the first quadrant of the unit circle, the length of the </a:t>
            </a:r>
            <a:r>
              <a:rPr b="1" lang="en-GB" sz="2000"/>
              <a:t>opposite</a:t>
            </a:r>
            <a:r>
              <a:rPr lang="en-GB" sz="2000"/>
              <a:t> is equal to </a:t>
            </a:r>
            <a:r>
              <a:rPr lang="en-GB" sz="2000">
                <a:solidFill>
                  <a:schemeClr val="accent5"/>
                </a:solidFill>
              </a:rPr>
              <a:t>sin(</a:t>
            </a:r>
            <a:r>
              <a:rPr i="1" lang="en-GB" sz="2000">
                <a:solidFill>
                  <a:schemeClr val="accent5"/>
                </a:solidFill>
              </a:rPr>
              <a:t>θ</a:t>
            </a:r>
            <a:r>
              <a:rPr lang="en-GB" sz="2000">
                <a:solidFill>
                  <a:schemeClr val="accent5"/>
                </a:solidFill>
              </a:rPr>
              <a:t>)</a:t>
            </a:r>
            <a:r>
              <a:rPr lang="en-GB" sz="2000"/>
              <a:t>.</a:t>
            </a:r>
            <a:endParaRPr sz="1800"/>
          </a:p>
        </p:txBody>
      </p:sp>
      <p:cxnSp>
        <p:nvCxnSpPr>
          <p:cNvPr id="1129" name="Google Shape;1129;p79"/>
          <p:cNvCxnSpPr/>
          <p:nvPr/>
        </p:nvCxnSpPr>
        <p:spPr>
          <a:xfrm rot="10800000">
            <a:off x="3361404" y="2536958"/>
            <a:ext cx="5100" cy="75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30" name="Google Shape;1130;p79"/>
          <p:cNvSpPr txBox="1"/>
          <p:nvPr/>
        </p:nvSpPr>
        <p:spPr>
          <a:xfrm>
            <a:off x="3425031" y="2719184"/>
            <a:ext cx="651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79"/>
          <p:cNvSpPr txBox="1"/>
          <p:nvPr>
            <p:ph idx="1" type="body"/>
          </p:nvPr>
        </p:nvSpPr>
        <p:spPr>
          <a:xfrm>
            <a:off x="4269460" y="2243552"/>
            <a:ext cx="11091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cxnSp>
        <p:nvCxnSpPr>
          <p:cNvPr id="1132" name="Google Shape;1132;p79"/>
          <p:cNvCxnSpPr/>
          <p:nvPr/>
        </p:nvCxnSpPr>
        <p:spPr>
          <a:xfrm flipH="1" rot="10800000">
            <a:off x="3978832" y="2521981"/>
            <a:ext cx="221700" cy="22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3" name="Google Shape;1133;p79"/>
          <p:cNvSpPr txBox="1"/>
          <p:nvPr>
            <p:ph idx="1" type="body"/>
          </p:nvPr>
        </p:nvSpPr>
        <p:spPr>
          <a:xfrm>
            <a:off x="401100" y="2783600"/>
            <a:ext cx="13575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1134" name="Google Shape;1134;p79"/>
          <p:cNvCxnSpPr/>
          <p:nvPr/>
        </p:nvCxnSpPr>
        <p:spPr>
          <a:xfrm flipH="1" rot="10800000">
            <a:off x="1758651" y="2807002"/>
            <a:ext cx="645300" cy="115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0"/>
          <p:cNvSpPr/>
          <p:nvPr/>
        </p:nvSpPr>
        <p:spPr>
          <a:xfrm>
            <a:off x="573975" y="1903835"/>
            <a:ext cx="2893500" cy="2893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0" name="Google Shape;1140;p80"/>
          <p:cNvCxnSpPr/>
          <p:nvPr/>
        </p:nvCxnSpPr>
        <p:spPr>
          <a:xfrm rot="10800000">
            <a:off x="2026466" y="2488081"/>
            <a:ext cx="11502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41" name="Google Shape;1141;p80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5"/>
                </a:solidFill>
              </a:rPr>
              <a:t>cosine</a:t>
            </a:r>
            <a:r>
              <a:rPr lang="en-GB" sz="2000"/>
              <a:t> of the angle, </a:t>
            </a:r>
            <a:r>
              <a:rPr lang="en-GB" sz="2000"/>
              <a:t>cos</a:t>
            </a:r>
            <a:r>
              <a:rPr lang="en-GB" sz="2000"/>
              <a:t>(</a:t>
            </a:r>
            <a:r>
              <a:rPr i="1" lang="en-GB" sz="2000"/>
              <a:t>θ</a:t>
            </a:r>
            <a:r>
              <a:rPr lang="en-GB" sz="2000"/>
              <a:t>)</a:t>
            </a:r>
            <a:r>
              <a:rPr lang="en-GB" sz="2000"/>
              <a:t>, is the </a:t>
            </a:r>
            <a:r>
              <a:rPr i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accent5"/>
                </a:solidFill>
              </a:rPr>
              <a:t>-coordinate</a:t>
            </a:r>
            <a:r>
              <a:rPr lang="en-GB" sz="2000"/>
              <a:t> of the point where the radius has been rotated through that angle.</a:t>
            </a:r>
            <a:endParaRPr sz="2000"/>
          </a:p>
        </p:txBody>
      </p:sp>
      <p:sp>
        <p:nvSpPr>
          <p:cNvPr id="1142" name="Google Shape;114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143" name="Google Shape;1143;p80"/>
          <p:cNvSpPr/>
          <p:nvPr/>
        </p:nvSpPr>
        <p:spPr>
          <a:xfrm flipH="1">
            <a:off x="5221180" y="1757589"/>
            <a:ext cx="2196300" cy="1569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4" name="Google Shape;1144;p80"/>
          <p:cNvSpPr/>
          <p:nvPr/>
        </p:nvSpPr>
        <p:spPr>
          <a:xfrm>
            <a:off x="7265053" y="3166503"/>
            <a:ext cx="157200" cy="15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5" name="Google Shape;1145;p80"/>
          <p:cNvSpPr/>
          <p:nvPr/>
        </p:nvSpPr>
        <p:spPr>
          <a:xfrm>
            <a:off x="4917725" y="2981294"/>
            <a:ext cx="682500" cy="6825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0"/>
          <p:cNvSpPr txBox="1"/>
          <p:nvPr/>
        </p:nvSpPr>
        <p:spPr>
          <a:xfrm>
            <a:off x="5562084" y="2964008"/>
            <a:ext cx="5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7" name="Google Shape;1147;p80"/>
          <p:cNvSpPr/>
          <p:nvPr/>
        </p:nvSpPr>
        <p:spPr>
          <a:xfrm>
            <a:off x="2027224" y="2487343"/>
            <a:ext cx="1145600" cy="856816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148" name="Google Shape;1148;p80"/>
          <p:cNvCxnSpPr>
            <a:stCxn id="1149" idx="4"/>
          </p:cNvCxnSpPr>
          <p:nvPr/>
        </p:nvCxnSpPr>
        <p:spPr>
          <a:xfrm rot="10800000">
            <a:off x="2028055" y="1637950"/>
            <a:ext cx="9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80"/>
          <p:cNvCxnSpPr>
            <a:stCxn id="1149" idx="2"/>
          </p:cNvCxnSpPr>
          <p:nvPr/>
        </p:nvCxnSpPr>
        <p:spPr>
          <a:xfrm flipH="1" rot="10800000">
            <a:off x="1980955" y="3340150"/>
            <a:ext cx="17922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1" name="Google Shape;1151;p80"/>
          <p:cNvSpPr txBox="1"/>
          <p:nvPr/>
        </p:nvSpPr>
        <p:spPr>
          <a:xfrm>
            <a:off x="3324518" y="3234888"/>
            <a:ext cx="2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2" name="Google Shape;1152;p80"/>
          <p:cNvSpPr txBox="1"/>
          <p:nvPr/>
        </p:nvSpPr>
        <p:spPr>
          <a:xfrm>
            <a:off x="1825234" y="1717686"/>
            <a:ext cx="22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80"/>
          <p:cNvSpPr txBox="1"/>
          <p:nvPr/>
        </p:nvSpPr>
        <p:spPr>
          <a:xfrm>
            <a:off x="1834690" y="3310896"/>
            <a:ext cx="27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4" name="Google Shape;1154;p80"/>
          <p:cNvSpPr/>
          <p:nvPr/>
        </p:nvSpPr>
        <p:spPr>
          <a:xfrm>
            <a:off x="1707860" y="3025065"/>
            <a:ext cx="639600" cy="6396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0"/>
          <p:cNvSpPr txBox="1"/>
          <p:nvPr/>
        </p:nvSpPr>
        <p:spPr>
          <a:xfrm>
            <a:off x="2306562" y="2977291"/>
            <a:ext cx="5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6" name="Google Shape;1156;p80"/>
          <p:cNvCxnSpPr>
            <a:endCxn id="1157" idx="3"/>
          </p:cNvCxnSpPr>
          <p:nvPr/>
        </p:nvCxnSpPr>
        <p:spPr>
          <a:xfrm flipH="1" rot="10800000">
            <a:off x="2028430" y="2523964"/>
            <a:ext cx="1109100" cy="818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8" name="Google Shape;1158;p80"/>
          <p:cNvSpPr/>
          <p:nvPr/>
        </p:nvSpPr>
        <p:spPr>
          <a:xfrm>
            <a:off x="3095697" y="3252348"/>
            <a:ext cx="84000" cy="84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9" name="Google Shape;1159;p80"/>
          <p:cNvCxnSpPr>
            <a:endCxn id="1157" idx="4"/>
          </p:cNvCxnSpPr>
          <p:nvPr/>
        </p:nvCxnSpPr>
        <p:spPr>
          <a:xfrm rot="10800000">
            <a:off x="3171471" y="2538023"/>
            <a:ext cx="3300" cy="7980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7" name="Google Shape;1157;p80"/>
          <p:cNvSpPr/>
          <p:nvPr/>
        </p:nvSpPr>
        <p:spPr>
          <a:xfrm>
            <a:off x="3123471" y="2442023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0"/>
          <p:cNvSpPr txBox="1"/>
          <p:nvPr/>
        </p:nvSpPr>
        <p:spPr>
          <a:xfrm>
            <a:off x="1865927" y="1465373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0"/>
          <p:cNvSpPr txBox="1"/>
          <p:nvPr/>
        </p:nvSpPr>
        <p:spPr>
          <a:xfrm>
            <a:off x="3767178" y="3238846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2" name="Google Shape;1162;p80"/>
          <p:cNvCxnSpPr/>
          <p:nvPr/>
        </p:nvCxnSpPr>
        <p:spPr>
          <a:xfrm flipH="1" rot="10800000">
            <a:off x="2019255" y="2424846"/>
            <a:ext cx="1094100" cy="80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63" name="Google Shape;1163;p80"/>
          <p:cNvSpPr txBox="1"/>
          <p:nvPr/>
        </p:nvSpPr>
        <p:spPr>
          <a:xfrm>
            <a:off x="2332672" y="2528822"/>
            <a:ext cx="27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4" name="Google Shape;1164;p80"/>
          <p:cNvCxnSpPr/>
          <p:nvPr/>
        </p:nvCxnSpPr>
        <p:spPr>
          <a:xfrm rot="10800000">
            <a:off x="2046625" y="3336360"/>
            <a:ext cx="1150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9" name="Google Shape;1149;p80"/>
          <p:cNvSpPr/>
          <p:nvPr/>
        </p:nvSpPr>
        <p:spPr>
          <a:xfrm>
            <a:off x="1980955" y="3293050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80"/>
          <p:cNvSpPr txBox="1"/>
          <p:nvPr/>
        </p:nvSpPr>
        <p:spPr>
          <a:xfrm>
            <a:off x="1255548" y="2317421"/>
            <a:ext cx="651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6" name="Google Shape;1166;p80"/>
          <p:cNvSpPr txBox="1"/>
          <p:nvPr/>
        </p:nvSpPr>
        <p:spPr>
          <a:xfrm>
            <a:off x="2970108" y="3517730"/>
            <a:ext cx="651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67" name="Google Shape;1167;p80"/>
          <p:cNvCxnSpPr/>
          <p:nvPr/>
        </p:nvCxnSpPr>
        <p:spPr>
          <a:xfrm>
            <a:off x="1854768" y="2489229"/>
            <a:ext cx="1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8" name="Google Shape;1168;p80"/>
          <p:cNvCxnSpPr/>
          <p:nvPr/>
        </p:nvCxnSpPr>
        <p:spPr>
          <a:xfrm rot="5400000">
            <a:off x="3079818" y="3450429"/>
            <a:ext cx="186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9" name="Google Shape;1169;p80"/>
          <p:cNvSpPr txBox="1"/>
          <p:nvPr>
            <p:ph idx="1" type="body"/>
          </p:nvPr>
        </p:nvSpPr>
        <p:spPr>
          <a:xfrm>
            <a:off x="324000" y="41121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For the triangle inside the unit circle, the length of the </a:t>
            </a:r>
            <a:r>
              <a:rPr b="1" lang="en-GB" sz="2000"/>
              <a:t>adjacent</a:t>
            </a:r>
            <a:r>
              <a:rPr lang="en-GB" sz="2000"/>
              <a:t> is equal to </a:t>
            </a:r>
            <a:r>
              <a:rPr lang="en-GB" sz="2000">
                <a:solidFill>
                  <a:schemeClr val="accent5"/>
                </a:solidFill>
              </a:rPr>
              <a:t>cos</a:t>
            </a:r>
            <a:r>
              <a:rPr lang="en-GB" sz="2000">
                <a:solidFill>
                  <a:schemeClr val="accent5"/>
                </a:solidFill>
              </a:rPr>
              <a:t>(</a:t>
            </a:r>
            <a:r>
              <a:rPr i="1" lang="en-GB" sz="2000">
                <a:solidFill>
                  <a:schemeClr val="accent5"/>
                </a:solidFill>
              </a:rPr>
              <a:t>θ</a:t>
            </a:r>
            <a:r>
              <a:rPr lang="en-GB" sz="2000">
                <a:solidFill>
                  <a:schemeClr val="accent5"/>
                </a:solidFill>
              </a:rPr>
              <a:t>)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170" name="Google Shape;1170;p80"/>
          <p:cNvSpPr txBox="1"/>
          <p:nvPr>
            <p:ph idx="1" type="body"/>
          </p:nvPr>
        </p:nvSpPr>
        <p:spPr>
          <a:xfrm>
            <a:off x="920576" y="3703375"/>
            <a:ext cx="12345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1171" name="Google Shape;1171;p80"/>
          <p:cNvCxnSpPr/>
          <p:nvPr/>
        </p:nvCxnSpPr>
        <p:spPr>
          <a:xfrm flipH="1" rot="10800000">
            <a:off x="1974947" y="3653833"/>
            <a:ext cx="338400" cy="171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2" name="Google Shape;1172;p80"/>
          <p:cNvCxnSpPr/>
          <p:nvPr/>
        </p:nvCxnSpPr>
        <p:spPr>
          <a:xfrm rot="10800000">
            <a:off x="2100714" y="3441319"/>
            <a:ext cx="103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3" name="Google Shape;1173;p80"/>
          <p:cNvSpPr txBox="1"/>
          <p:nvPr/>
        </p:nvSpPr>
        <p:spPr>
          <a:xfrm>
            <a:off x="2288798" y="3415755"/>
            <a:ext cx="651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0"/>
          <p:cNvSpPr txBox="1"/>
          <p:nvPr>
            <p:ph idx="1" type="body"/>
          </p:nvPr>
        </p:nvSpPr>
        <p:spPr>
          <a:xfrm>
            <a:off x="4269460" y="2325127"/>
            <a:ext cx="11091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cxnSp>
        <p:nvCxnSpPr>
          <p:cNvPr id="1175" name="Google Shape;1175;p80"/>
          <p:cNvCxnSpPr/>
          <p:nvPr/>
        </p:nvCxnSpPr>
        <p:spPr>
          <a:xfrm flipH="1" rot="10800000">
            <a:off x="3978832" y="2521981"/>
            <a:ext cx="221700" cy="221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76" name="Google Shape;1176;p80"/>
          <p:cNvSpPr txBox="1"/>
          <p:nvPr>
            <p:ph idx="1" type="body"/>
          </p:nvPr>
        </p:nvSpPr>
        <p:spPr>
          <a:xfrm>
            <a:off x="392600" y="2783600"/>
            <a:ext cx="13662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1177" name="Google Shape;1177;p80"/>
          <p:cNvCxnSpPr/>
          <p:nvPr/>
        </p:nvCxnSpPr>
        <p:spPr>
          <a:xfrm flipH="1" rot="10800000">
            <a:off x="1758651" y="2807002"/>
            <a:ext cx="645300" cy="115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8" name="Google Shape;1178;p80"/>
          <p:cNvCxnSpPr/>
          <p:nvPr/>
        </p:nvCxnSpPr>
        <p:spPr>
          <a:xfrm rot="10800000">
            <a:off x="3361404" y="2536958"/>
            <a:ext cx="5100" cy="75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79" name="Google Shape;1179;p80"/>
          <p:cNvSpPr txBox="1"/>
          <p:nvPr/>
        </p:nvSpPr>
        <p:spPr>
          <a:xfrm>
            <a:off x="3425031" y="2719184"/>
            <a:ext cx="651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1"/>
          <p:cNvSpPr txBox="1"/>
          <p:nvPr>
            <p:ph idx="1" type="body"/>
          </p:nvPr>
        </p:nvSpPr>
        <p:spPr>
          <a:xfrm>
            <a:off x="324000" y="759300"/>
            <a:ext cx="8496000" cy="11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If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one of the edge lengths of a triangle is known, the others can be calculated by using the same proportions (ratios) as the triangle from the unit circle.</a:t>
            </a:r>
            <a:endParaRPr sz="2000"/>
          </a:p>
        </p:txBody>
      </p:sp>
      <p:sp>
        <p:nvSpPr>
          <p:cNvPr id="1185" name="Google Shape;118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186" name="Google Shape;1186;p81"/>
          <p:cNvSpPr/>
          <p:nvPr/>
        </p:nvSpPr>
        <p:spPr>
          <a:xfrm flipH="1">
            <a:off x="5221180" y="2519589"/>
            <a:ext cx="2196300" cy="1569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7" name="Google Shape;1187;p81"/>
          <p:cNvSpPr/>
          <p:nvPr/>
        </p:nvSpPr>
        <p:spPr>
          <a:xfrm>
            <a:off x="7265053" y="3928503"/>
            <a:ext cx="157200" cy="15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81"/>
          <p:cNvSpPr/>
          <p:nvPr/>
        </p:nvSpPr>
        <p:spPr>
          <a:xfrm>
            <a:off x="4917725" y="3743294"/>
            <a:ext cx="682500" cy="6825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1"/>
          <p:cNvSpPr txBox="1"/>
          <p:nvPr/>
        </p:nvSpPr>
        <p:spPr>
          <a:xfrm>
            <a:off x="5562084" y="3726008"/>
            <a:ext cx="57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1"/>
          <p:cNvSpPr/>
          <p:nvPr/>
        </p:nvSpPr>
        <p:spPr>
          <a:xfrm>
            <a:off x="2027224" y="3249343"/>
            <a:ext cx="1145600" cy="856816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sp>
        <p:nvSpPr>
          <p:cNvPr id="1191" name="Google Shape;1191;p81"/>
          <p:cNvSpPr txBox="1"/>
          <p:nvPr/>
        </p:nvSpPr>
        <p:spPr>
          <a:xfrm>
            <a:off x="1834690" y="4072896"/>
            <a:ext cx="27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p81"/>
          <p:cNvSpPr/>
          <p:nvPr/>
        </p:nvSpPr>
        <p:spPr>
          <a:xfrm>
            <a:off x="1707860" y="3787065"/>
            <a:ext cx="639600" cy="6396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1"/>
          <p:cNvSpPr txBox="1"/>
          <p:nvPr/>
        </p:nvSpPr>
        <p:spPr>
          <a:xfrm>
            <a:off x="2306562" y="3739291"/>
            <a:ext cx="54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4" name="Google Shape;1194;p81"/>
          <p:cNvCxnSpPr>
            <a:endCxn id="1195" idx="3"/>
          </p:cNvCxnSpPr>
          <p:nvPr/>
        </p:nvCxnSpPr>
        <p:spPr>
          <a:xfrm flipH="1" rot="10800000">
            <a:off x="2028430" y="3285964"/>
            <a:ext cx="1109100" cy="818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6" name="Google Shape;1196;p81"/>
          <p:cNvSpPr/>
          <p:nvPr/>
        </p:nvSpPr>
        <p:spPr>
          <a:xfrm>
            <a:off x="3095697" y="4014348"/>
            <a:ext cx="84000" cy="84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7" name="Google Shape;1197;p81"/>
          <p:cNvCxnSpPr>
            <a:endCxn id="1195" idx="4"/>
          </p:cNvCxnSpPr>
          <p:nvPr/>
        </p:nvCxnSpPr>
        <p:spPr>
          <a:xfrm rot="10800000">
            <a:off x="3171471" y="3300023"/>
            <a:ext cx="3300" cy="7980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5" name="Google Shape;1195;p81"/>
          <p:cNvSpPr/>
          <p:nvPr/>
        </p:nvSpPr>
        <p:spPr>
          <a:xfrm>
            <a:off x="3123471" y="3204023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98" name="Google Shape;1198;p81"/>
          <p:cNvCxnSpPr/>
          <p:nvPr/>
        </p:nvCxnSpPr>
        <p:spPr>
          <a:xfrm flipH="1" rot="10800000">
            <a:off x="2019255" y="3186846"/>
            <a:ext cx="1094100" cy="80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99" name="Google Shape;1199;p81"/>
          <p:cNvSpPr txBox="1"/>
          <p:nvPr/>
        </p:nvSpPr>
        <p:spPr>
          <a:xfrm>
            <a:off x="2332672" y="3290822"/>
            <a:ext cx="27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0" name="Google Shape;1200;p81"/>
          <p:cNvCxnSpPr/>
          <p:nvPr/>
        </p:nvCxnSpPr>
        <p:spPr>
          <a:xfrm rot="10800000">
            <a:off x="2046625" y="4098360"/>
            <a:ext cx="1150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1" name="Google Shape;1201;p81"/>
          <p:cNvSpPr/>
          <p:nvPr/>
        </p:nvSpPr>
        <p:spPr>
          <a:xfrm>
            <a:off x="1980955" y="4055050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1"/>
          <p:cNvSpPr txBox="1"/>
          <p:nvPr>
            <p:ph idx="1" type="body"/>
          </p:nvPr>
        </p:nvSpPr>
        <p:spPr>
          <a:xfrm>
            <a:off x="848575" y="4465375"/>
            <a:ext cx="13065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1203" name="Google Shape;1203;p81"/>
          <p:cNvCxnSpPr/>
          <p:nvPr/>
        </p:nvCxnSpPr>
        <p:spPr>
          <a:xfrm flipH="1" rot="10800000">
            <a:off x="1974947" y="4415833"/>
            <a:ext cx="338400" cy="171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4" name="Google Shape;1204;p81"/>
          <p:cNvCxnSpPr/>
          <p:nvPr/>
        </p:nvCxnSpPr>
        <p:spPr>
          <a:xfrm rot="10800000">
            <a:off x="2100714" y="4203319"/>
            <a:ext cx="103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5" name="Google Shape;1205;p81"/>
          <p:cNvSpPr txBox="1"/>
          <p:nvPr/>
        </p:nvSpPr>
        <p:spPr>
          <a:xfrm>
            <a:off x="2316085" y="4177755"/>
            <a:ext cx="651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cos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1"/>
          <p:cNvSpPr txBox="1"/>
          <p:nvPr>
            <p:ph idx="1" type="body"/>
          </p:nvPr>
        </p:nvSpPr>
        <p:spPr>
          <a:xfrm>
            <a:off x="452200" y="3088400"/>
            <a:ext cx="13065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1207" name="Google Shape;1207;p81"/>
          <p:cNvCxnSpPr>
            <a:stCxn id="1206" idx="3"/>
          </p:cNvCxnSpPr>
          <p:nvPr/>
        </p:nvCxnSpPr>
        <p:spPr>
          <a:xfrm>
            <a:off x="1758700" y="3252500"/>
            <a:ext cx="623400" cy="18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8" name="Google Shape;1208;p81"/>
          <p:cNvCxnSpPr/>
          <p:nvPr/>
        </p:nvCxnSpPr>
        <p:spPr>
          <a:xfrm rot="10800000">
            <a:off x="3361404" y="3298958"/>
            <a:ext cx="5100" cy="75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09" name="Google Shape;1209;p81"/>
          <p:cNvSpPr txBox="1"/>
          <p:nvPr/>
        </p:nvSpPr>
        <p:spPr>
          <a:xfrm>
            <a:off x="3425031" y="3481184"/>
            <a:ext cx="651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1"/>
          <p:cNvSpPr txBox="1"/>
          <p:nvPr>
            <p:ph idx="1" type="body"/>
          </p:nvPr>
        </p:nvSpPr>
        <p:spPr>
          <a:xfrm>
            <a:off x="3462910" y="2815652"/>
            <a:ext cx="11091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cxnSp>
        <p:nvCxnSpPr>
          <p:cNvPr id="1211" name="Google Shape;1211;p81"/>
          <p:cNvCxnSpPr/>
          <p:nvPr/>
        </p:nvCxnSpPr>
        <p:spPr>
          <a:xfrm flipH="1" rot="10800000">
            <a:off x="3750232" y="3101281"/>
            <a:ext cx="171300" cy="40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82"/>
          <p:cNvSpPr txBox="1"/>
          <p:nvPr>
            <p:ph idx="1" type="body"/>
          </p:nvPr>
        </p:nvSpPr>
        <p:spPr>
          <a:xfrm>
            <a:off x="324000" y="759300"/>
            <a:ext cx="8496000" cy="11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and one of the edge lengths of a triangle is known, the others can be calculated by using the same proportions (ratios) as the triangle from the unit circle.</a:t>
            </a:r>
            <a:endParaRPr sz="2000"/>
          </a:p>
        </p:txBody>
      </p:sp>
      <p:sp>
        <p:nvSpPr>
          <p:cNvPr id="1217" name="Google Shape;121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218" name="Google Shape;1218;p82"/>
          <p:cNvSpPr/>
          <p:nvPr/>
        </p:nvSpPr>
        <p:spPr>
          <a:xfrm flipH="1">
            <a:off x="5221180" y="2519589"/>
            <a:ext cx="2196300" cy="1569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2"/>
          <p:cNvSpPr/>
          <p:nvPr/>
        </p:nvSpPr>
        <p:spPr>
          <a:xfrm>
            <a:off x="7265053" y="3928503"/>
            <a:ext cx="157200" cy="15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2"/>
          <p:cNvSpPr/>
          <p:nvPr/>
        </p:nvSpPr>
        <p:spPr>
          <a:xfrm>
            <a:off x="4917725" y="3743294"/>
            <a:ext cx="682500" cy="6825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2"/>
          <p:cNvSpPr txBox="1"/>
          <p:nvPr/>
        </p:nvSpPr>
        <p:spPr>
          <a:xfrm>
            <a:off x="5562084" y="3726008"/>
            <a:ext cx="576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2" name="Google Shape;1222;p82"/>
          <p:cNvSpPr/>
          <p:nvPr/>
        </p:nvSpPr>
        <p:spPr>
          <a:xfrm>
            <a:off x="2027224" y="3249343"/>
            <a:ext cx="1145600" cy="856816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sp>
        <p:nvSpPr>
          <p:cNvPr id="1223" name="Google Shape;1223;p82"/>
          <p:cNvSpPr txBox="1"/>
          <p:nvPr/>
        </p:nvSpPr>
        <p:spPr>
          <a:xfrm>
            <a:off x="1834690" y="4072896"/>
            <a:ext cx="27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4" name="Google Shape;1224;p82"/>
          <p:cNvSpPr/>
          <p:nvPr/>
        </p:nvSpPr>
        <p:spPr>
          <a:xfrm>
            <a:off x="1707860" y="3787065"/>
            <a:ext cx="639600" cy="6396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82"/>
          <p:cNvSpPr txBox="1"/>
          <p:nvPr/>
        </p:nvSpPr>
        <p:spPr>
          <a:xfrm>
            <a:off x="2306562" y="3739291"/>
            <a:ext cx="54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6" name="Google Shape;1226;p82"/>
          <p:cNvCxnSpPr>
            <a:endCxn id="1227" idx="3"/>
          </p:cNvCxnSpPr>
          <p:nvPr/>
        </p:nvCxnSpPr>
        <p:spPr>
          <a:xfrm flipH="1" rot="10800000">
            <a:off x="2028430" y="3285964"/>
            <a:ext cx="1109100" cy="8184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8" name="Google Shape;1228;p82"/>
          <p:cNvSpPr/>
          <p:nvPr/>
        </p:nvSpPr>
        <p:spPr>
          <a:xfrm>
            <a:off x="3095697" y="4014348"/>
            <a:ext cx="84000" cy="84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29" name="Google Shape;1229;p82"/>
          <p:cNvCxnSpPr>
            <a:endCxn id="1227" idx="4"/>
          </p:cNvCxnSpPr>
          <p:nvPr/>
        </p:nvCxnSpPr>
        <p:spPr>
          <a:xfrm rot="10800000">
            <a:off x="3171471" y="3300023"/>
            <a:ext cx="3300" cy="7980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27" name="Google Shape;1227;p82"/>
          <p:cNvSpPr/>
          <p:nvPr/>
        </p:nvSpPr>
        <p:spPr>
          <a:xfrm>
            <a:off x="3123471" y="3204023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0" name="Google Shape;1230;p82"/>
          <p:cNvCxnSpPr/>
          <p:nvPr/>
        </p:nvCxnSpPr>
        <p:spPr>
          <a:xfrm flipH="1" rot="10800000">
            <a:off x="2019255" y="3186846"/>
            <a:ext cx="1094100" cy="805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1" name="Google Shape;1231;p82"/>
          <p:cNvSpPr txBox="1"/>
          <p:nvPr/>
        </p:nvSpPr>
        <p:spPr>
          <a:xfrm>
            <a:off x="2332672" y="3290822"/>
            <a:ext cx="274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32" name="Google Shape;1232;p82"/>
          <p:cNvCxnSpPr/>
          <p:nvPr/>
        </p:nvCxnSpPr>
        <p:spPr>
          <a:xfrm rot="10800000">
            <a:off x="2046625" y="4098360"/>
            <a:ext cx="1150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3" name="Google Shape;1233;p82"/>
          <p:cNvSpPr/>
          <p:nvPr/>
        </p:nvSpPr>
        <p:spPr>
          <a:xfrm>
            <a:off x="1980955" y="4055050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2"/>
          <p:cNvSpPr txBox="1"/>
          <p:nvPr>
            <p:ph idx="1" type="body"/>
          </p:nvPr>
        </p:nvSpPr>
        <p:spPr>
          <a:xfrm>
            <a:off x="3502135" y="2849727"/>
            <a:ext cx="11091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cxnSp>
        <p:nvCxnSpPr>
          <p:cNvPr id="1235" name="Google Shape;1235;p82"/>
          <p:cNvCxnSpPr/>
          <p:nvPr/>
        </p:nvCxnSpPr>
        <p:spPr>
          <a:xfrm flipH="1" rot="10800000">
            <a:off x="3750232" y="3101281"/>
            <a:ext cx="171300" cy="404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6" name="Google Shape;1236;p82"/>
          <p:cNvSpPr txBox="1"/>
          <p:nvPr>
            <p:ph idx="1" type="body"/>
          </p:nvPr>
        </p:nvSpPr>
        <p:spPr>
          <a:xfrm>
            <a:off x="937519" y="4481944"/>
            <a:ext cx="11091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1237" name="Google Shape;1237;p82"/>
          <p:cNvCxnSpPr/>
          <p:nvPr/>
        </p:nvCxnSpPr>
        <p:spPr>
          <a:xfrm flipH="1" rot="10800000">
            <a:off x="1974947" y="4415833"/>
            <a:ext cx="338400" cy="171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82"/>
          <p:cNvCxnSpPr/>
          <p:nvPr/>
        </p:nvCxnSpPr>
        <p:spPr>
          <a:xfrm rot="10800000">
            <a:off x="2100714" y="4203319"/>
            <a:ext cx="103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39" name="Google Shape;1239;p82"/>
          <p:cNvSpPr txBox="1"/>
          <p:nvPr>
            <p:ph idx="1" type="body"/>
          </p:nvPr>
        </p:nvSpPr>
        <p:spPr>
          <a:xfrm>
            <a:off x="443700" y="3088400"/>
            <a:ext cx="13149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1240" name="Google Shape;1240;p82"/>
          <p:cNvCxnSpPr>
            <a:stCxn id="1239" idx="3"/>
          </p:cNvCxnSpPr>
          <p:nvPr/>
        </p:nvCxnSpPr>
        <p:spPr>
          <a:xfrm>
            <a:off x="1758600" y="3252500"/>
            <a:ext cx="623400" cy="189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1" name="Google Shape;1241;p82"/>
          <p:cNvCxnSpPr/>
          <p:nvPr/>
        </p:nvCxnSpPr>
        <p:spPr>
          <a:xfrm rot="10800000">
            <a:off x="3361404" y="3298958"/>
            <a:ext cx="5100" cy="759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2" name="Google Shape;1242;p82"/>
          <p:cNvSpPr txBox="1"/>
          <p:nvPr>
            <p:ph idx="1" type="body"/>
          </p:nvPr>
        </p:nvSpPr>
        <p:spPr>
          <a:xfrm>
            <a:off x="781200" y="1976217"/>
            <a:ext cx="23772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Jacob’s </a:t>
            </a:r>
            <a:r>
              <a:rPr lang="en-GB" sz="2000"/>
              <a:t>example</a:t>
            </a:r>
            <a:r>
              <a:rPr lang="en-GB" sz="2000"/>
              <a:t>:</a:t>
            </a:r>
            <a:endParaRPr sz="2000"/>
          </a:p>
        </p:txBody>
      </p:sp>
      <p:cxnSp>
        <p:nvCxnSpPr>
          <p:cNvPr id="1243" name="Google Shape;1243;p82"/>
          <p:cNvCxnSpPr/>
          <p:nvPr/>
        </p:nvCxnSpPr>
        <p:spPr>
          <a:xfrm flipH="1" rot="10800000">
            <a:off x="5143455" y="2440146"/>
            <a:ext cx="2084100" cy="155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4" name="Google Shape;1244;p82"/>
          <p:cNvSpPr txBox="1"/>
          <p:nvPr/>
        </p:nvSpPr>
        <p:spPr>
          <a:xfrm>
            <a:off x="5689800" y="2798275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45" name="Google Shape;1245;p82"/>
          <p:cNvCxnSpPr/>
          <p:nvPr/>
        </p:nvCxnSpPr>
        <p:spPr>
          <a:xfrm rot="10800000">
            <a:off x="7569853" y="2527503"/>
            <a:ext cx="4800" cy="1479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46" name="Google Shape;1246;p82"/>
          <p:cNvCxnSpPr/>
          <p:nvPr/>
        </p:nvCxnSpPr>
        <p:spPr>
          <a:xfrm flipH="1">
            <a:off x="5221180" y="4235589"/>
            <a:ext cx="2201100" cy="6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47" name="Google Shape;1247;p82"/>
          <p:cNvSpPr txBox="1"/>
          <p:nvPr/>
        </p:nvSpPr>
        <p:spPr>
          <a:xfrm>
            <a:off x="3389325" y="3462200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0.6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8" name="Google Shape;1248;p82"/>
          <p:cNvSpPr txBox="1"/>
          <p:nvPr/>
        </p:nvSpPr>
        <p:spPr>
          <a:xfrm>
            <a:off x="2358408" y="4148000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82"/>
          <p:cNvSpPr txBox="1"/>
          <p:nvPr>
            <p:ph idx="1" type="body"/>
          </p:nvPr>
        </p:nvSpPr>
        <p:spPr>
          <a:xfrm>
            <a:off x="4679227" y="2164900"/>
            <a:ext cx="13590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hypotenuse</a:t>
            </a:r>
            <a:endParaRPr sz="1800"/>
          </a:p>
        </p:txBody>
      </p:sp>
      <p:cxnSp>
        <p:nvCxnSpPr>
          <p:cNvPr id="1250" name="Google Shape;1250;p82"/>
          <p:cNvCxnSpPr/>
          <p:nvPr/>
        </p:nvCxnSpPr>
        <p:spPr>
          <a:xfrm>
            <a:off x="5544250" y="2471250"/>
            <a:ext cx="282300" cy="428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82"/>
          <p:cNvSpPr txBox="1"/>
          <p:nvPr>
            <p:ph idx="1" type="body"/>
          </p:nvPr>
        </p:nvSpPr>
        <p:spPr>
          <a:xfrm>
            <a:off x="7727035" y="2440152"/>
            <a:ext cx="11091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cxnSp>
        <p:nvCxnSpPr>
          <p:cNvPr id="1252" name="Google Shape;1252;p82"/>
          <p:cNvCxnSpPr/>
          <p:nvPr/>
        </p:nvCxnSpPr>
        <p:spPr>
          <a:xfrm flipH="1" rot="10800000">
            <a:off x="7800825" y="2796650"/>
            <a:ext cx="235500" cy="38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3" name="Google Shape;1253;p82"/>
          <p:cNvSpPr txBox="1"/>
          <p:nvPr>
            <p:ph idx="1" type="body"/>
          </p:nvPr>
        </p:nvSpPr>
        <p:spPr>
          <a:xfrm>
            <a:off x="4769676" y="4465375"/>
            <a:ext cx="12717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1254" name="Google Shape;1254;p82"/>
          <p:cNvCxnSpPr/>
          <p:nvPr/>
        </p:nvCxnSpPr>
        <p:spPr>
          <a:xfrm flipH="1" rot="10800000">
            <a:off x="5861147" y="4415833"/>
            <a:ext cx="338400" cy="171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82"/>
          <p:cNvCxnSpPr/>
          <p:nvPr/>
        </p:nvCxnSpPr>
        <p:spPr>
          <a:xfrm flipH="1" rot="-5400000">
            <a:off x="2921122" y="2911387"/>
            <a:ext cx="206700" cy="1109100"/>
          </a:xfrm>
          <a:prstGeom prst="curvedConnector3">
            <a:avLst>
              <a:gd fmla="val -115203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6" name="Google Shape;1256;p82"/>
          <p:cNvSpPr txBox="1"/>
          <p:nvPr/>
        </p:nvSpPr>
        <p:spPr>
          <a:xfrm>
            <a:off x="2740112" y="2776498"/>
            <a:ext cx="63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 0.6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57" name="Google Shape;1257;p82"/>
          <p:cNvCxnSpPr/>
          <p:nvPr/>
        </p:nvCxnSpPr>
        <p:spPr>
          <a:xfrm>
            <a:off x="2347791" y="3532780"/>
            <a:ext cx="63600" cy="851400"/>
          </a:xfrm>
          <a:prstGeom prst="curvedConnector3">
            <a:avLst>
              <a:gd fmla="val -684900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8" name="Google Shape;1258;p82"/>
          <p:cNvSpPr txBox="1"/>
          <p:nvPr/>
        </p:nvSpPr>
        <p:spPr>
          <a:xfrm>
            <a:off x="1307431" y="3797941"/>
            <a:ext cx="63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 0.8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2"/>
          <p:cNvSpPr txBox="1"/>
          <p:nvPr/>
        </p:nvSpPr>
        <p:spPr>
          <a:xfrm>
            <a:off x="6375243" y="2152048"/>
            <a:ext cx="63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 0.6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0" name="Google Shape;1260;p82"/>
          <p:cNvCxnSpPr/>
          <p:nvPr/>
        </p:nvCxnSpPr>
        <p:spPr>
          <a:xfrm flipH="1" rot="-5400000">
            <a:off x="6711649" y="2136816"/>
            <a:ext cx="360900" cy="1854000"/>
          </a:xfrm>
          <a:prstGeom prst="curvedConnector3">
            <a:avLst>
              <a:gd fmla="val -109276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82"/>
          <p:cNvCxnSpPr/>
          <p:nvPr/>
        </p:nvCxnSpPr>
        <p:spPr>
          <a:xfrm>
            <a:off x="5694921" y="3073899"/>
            <a:ext cx="557100" cy="1279500"/>
          </a:xfrm>
          <a:prstGeom prst="curvedConnector3">
            <a:avLst>
              <a:gd fmla="val -75654" name="adj1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62" name="Google Shape;1262;p82"/>
          <p:cNvSpPr txBox="1"/>
          <p:nvPr/>
        </p:nvSpPr>
        <p:spPr>
          <a:xfrm>
            <a:off x="4679215" y="3328068"/>
            <a:ext cx="639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× 0.8</a:t>
            </a:r>
            <a:endParaRPr sz="16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3" name="Google Shape;1263;p82"/>
          <p:cNvSpPr txBox="1"/>
          <p:nvPr/>
        </p:nvSpPr>
        <p:spPr>
          <a:xfrm>
            <a:off x="7594800" y="3103075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2"/>
          <p:cNvSpPr txBox="1"/>
          <p:nvPr/>
        </p:nvSpPr>
        <p:spPr>
          <a:xfrm>
            <a:off x="6198002" y="4195678"/>
            <a:ext cx="7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5" name="Google Shape;126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2516" y="1868051"/>
            <a:ext cx="392025" cy="48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83"/>
          <p:cNvSpPr txBox="1"/>
          <p:nvPr>
            <p:ph type="title"/>
          </p:nvPr>
        </p:nvSpPr>
        <p:spPr>
          <a:xfrm>
            <a:off x="324000" y="810000"/>
            <a:ext cx="32766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value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?</a:t>
            </a:r>
            <a:endParaRPr/>
          </a:p>
        </p:txBody>
      </p:sp>
      <p:sp>
        <p:nvSpPr>
          <p:cNvPr id="1271" name="Google Shape;1271;p8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272" name="Google Shape;1272;p83"/>
          <p:cNvSpPr txBox="1"/>
          <p:nvPr>
            <p:ph idx="1" type="subTitle"/>
          </p:nvPr>
        </p:nvSpPr>
        <p:spPr>
          <a:xfrm>
            <a:off x="1034425" y="1685375"/>
            <a:ext cx="965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0.5</a:t>
            </a:r>
            <a:endParaRPr/>
          </a:p>
        </p:txBody>
      </p:sp>
      <p:sp>
        <p:nvSpPr>
          <p:cNvPr id="1273" name="Google Shape;1273;p83"/>
          <p:cNvSpPr txBox="1"/>
          <p:nvPr>
            <p:ph idx="3" type="subTitle"/>
          </p:nvPr>
        </p:nvSpPr>
        <p:spPr>
          <a:xfrm>
            <a:off x="1034425" y="2489443"/>
            <a:ext cx="9654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0.87</a:t>
            </a:r>
            <a:endParaRPr/>
          </a:p>
        </p:txBody>
      </p:sp>
      <p:sp>
        <p:nvSpPr>
          <p:cNvPr id="1274" name="Google Shape;1274;p83"/>
          <p:cNvSpPr txBox="1"/>
          <p:nvPr>
            <p:ph idx="4" type="subTitle"/>
          </p:nvPr>
        </p:nvSpPr>
        <p:spPr>
          <a:xfrm>
            <a:off x="1034425" y="3309758"/>
            <a:ext cx="959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endParaRPr/>
          </a:p>
        </p:txBody>
      </p:sp>
      <p:sp>
        <p:nvSpPr>
          <p:cNvPr id="1275" name="Google Shape;1275;p83"/>
          <p:cNvSpPr txBox="1"/>
          <p:nvPr>
            <p:ph idx="5" type="subTitle"/>
          </p:nvPr>
        </p:nvSpPr>
        <p:spPr>
          <a:xfrm>
            <a:off x="1034425" y="4113827"/>
            <a:ext cx="9654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8.7</a:t>
            </a:r>
            <a:endParaRPr/>
          </a:p>
        </p:txBody>
      </p:sp>
      <p:sp>
        <p:nvSpPr>
          <p:cNvPr id="1276" name="Google Shape;1276;p83"/>
          <p:cNvSpPr/>
          <p:nvPr/>
        </p:nvSpPr>
        <p:spPr>
          <a:xfrm flipH="1">
            <a:off x="6378874" y="1175074"/>
            <a:ext cx="1631700" cy="28650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83"/>
          <p:cNvSpPr/>
          <p:nvPr/>
        </p:nvSpPr>
        <p:spPr>
          <a:xfrm>
            <a:off x="7890979" y="3910413"/>
            <a:ext cx="127800" cy="127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83"/>
          <p:cNvSpPr/>
          <p:nvPr/>
        </p:nvSpPr>
        <p:spPr>
          <a:xfrm>
            <a:off x="6163726" y="3807899"/>
            <a:ext cx="466200" cy="466200"/>
          </a:xfrm>
          <a:prstGeom prst="arc">
            <a:avLst>
              <a:gd fmla="val 17917161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9" name="Google Shape;1279;p83"/>
          <p:cNvSpPr txBox="1"/>
          <p:nvPr/>
        </p:nvSpPr>
        <p:spPr>
          <a:xfrm>
            <a:off x="6572721" y="3615201"/>
            <a:ext cx="61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0" name="Google Shape;1280;p83"/>
          <p:cNvCxnSpPr/>
          <p:nvPr/>
        </p:nvCxnSpPr>
        <p:spPr>
          <a:xfrm flipH="1" rot="10800000">
            <a:off x="6245407" y="1101466"/>
            <a:ext cx="1623900" cy="2871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1" name="Google Shape;1281;p83"/>
          <p:cNvSpPr txBox="1"/>
          <p:nvPr/>
        </p:nvSpPr>
        <p:spPr>
          <a:xfrm>
            <a:off x="6208811" y="2162114"/>
            <a:ext cx="10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2" name="Google Shape;1282;p83"/>
          <p:cNvCxnSpPr/>
          <p:nvPr/>
        </p:nvCxnSpPr>
        <p:spPr>
          <a:xfrm rot="10800000">
            <a:off x="8184047" y="1168775"/>
            <a:ext cx="0" cy="2847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283" name="Google Shape;1283;p83"/>
          <p:cNvSpPr txBox="1"/>
          <p:nvPr/>
        </p:nvSpPr>
        <p:spPr>
          <a:xfrm>
            <a:off x="8162964" y="2406961"/>
            <a:ext cx="907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83"/>
          <p:cNvSpPr/>
          <p:nvPr/>
        </p:nvSpPr>
        <p:spPr>
          <a:xfrm>
            <a:off x="1804574" y="2365623"/>
            <a:ext cx="3331500" cy="3331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85" name="Google Shape;1285;p83"/>
          <p:cNvCxnSpPr/>
          <p:nvPr/>
        </p:nvCxnSpPr>
        <p:spPr>
          <a:xfrm rot="10800000">
            <a:off x="3148947" y="2603686"/>
            <a:ext cx="11460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86" name="Google Shape;1286;p83"/>
          <p:cNvSpPr/>
          <p:nvPr/>
        </p:nvSpPr>
        <p:spPr>
          <a:xfrm>
            <a:off x="3477825" y="2587386"/>
            <a:ext cx="836433" cy="1436522"/>
          </a:xfrm>
          <a:custGeom>
            <a:rect b="b" l="l" r="r" t="t"/>
            <a:pathLst>
              <a:path extrusionOk="0" h="32910" w="57995">
                <a:moveTo>
                  <a:pt x="0" y="32910"/>
                </a:moveTo>
                <a:lnTo>
                  <a:pt x="57995" y="0"/>
                </a:lnTo>
                <a:lnTo>
                  <a:pt x="57834" y="32554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cxnSp>
        <p:nvCxnSpPr>
          <p:cNvPr id="1287" name="Google Shape;1287;p83"/>
          <p:cNvCxnSpPr>
            <a:stCxn id="1288" idx="4"/>
          </p:cNvCxnSpPr>
          <p:nvPr/>
        </p:nvCxnSpPr>
        <p:spPr>
          <a:xfrm rot="10800000">
            <a:off x="3478843" y="2059246"/>
            <a:ext cx="900" cy="2016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9" name="Google Shape;1289;p83"/>
          <p:cNvCxnSpPr>
            <a:stCxn id="1288" idx="2"/>
          </p:cNvCxnSpPr>
          <p:nvPr/>
        </p:nvCxnSpPr>
        <p:spPr>
          <a:xfrm flipH="1" rot="10800000">
            <a:off x="3424543" y="4019446"/>
            <a:ext cx="20634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90" name="Google Shape;1290;p83"/>
          <p:cNvSpPr txBox="1"/>
          <p:nvPr/>
        </p:nvSpPr>
        <p:spPr>
          <a:xfrm>
            <a:off x="4971494" y="3898179"/>
            <a:ext cx="28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83"/>
          <p:cNvSpPr txBox="1"/>
          <p:nvPr/>
        </p:nvSpPr>
        <p:spPr>
          <a:xfrm>
            <a:off x="3231706" y="2128723"/>
            <a:ext cx="254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83"/>
          <p:cNvSpPr txBox="1"/>
          <p:nvPr/>
        </p:nvSpPr>
        <p:spPr>
          <a:xfrm>
            <a:off x="3256137" y="3985693"/>
            <a:ext cx="3159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3" name="Google Shape;1293;p83"/>
          <p:cNvSpPr/>
          <p:nvPr/>
        </p:nvSpPr>
        <p:spPr>
          <a:xfrm>
            <a:off x="3232052" y="3778537"/>
            <a:ext cx="492600" cy="492600"/>
          </a:xfrm>
          <a:prstGeom prst="arc">
            <a:avLst>
              <a:gd fmla="val 18171098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4" name="Google Shape;1294;p83"/>
          <p:cNvCxnSpPr>
            <a:stCxn id="1288" idx="7"/>
            <a:endCxn id="1295" idx="3"/>
          </p:cNvCxnSpPr>
          <p:nvPr/>
        </p:nvCxnSpPr>
        <p:spPr>
          <a:xfrm flipH="1" rot="10800000">
            <a:off x="3518776" y="2643313"/>
            <a:ext cx="753600" cy="13380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6" name="Google Shape;1296;p83"/>
          <p:cNvSpPr/>
          <p:nvPr/>
        </p:nvSpPr>
        <p:spPr>
          <a:xfrm>
            <a:off x="4213311" y="3918281"/>
            <a:ext cx="96900" cy="9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7" name="Google Shape;1297;p83"/>
          <p:cNvCxnSpPr>
            <a:endCxn id="1295" idx="4"/>
          </p:cNvCxnSpPr>
          <p:nvPr/>
        </p:nvCxnSpPr>
        <p:spPr>
          <a:xfrm rot="10800000">
            <a:off x="4311288" y="2659510"/>
            <a:ext cx="0" cy="14853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5" name="Google Shape;1295;p83"/>
          <p:cNvSpPr/>
          <p:nvPr/>
        </p:nvSpPr>
        <p:spPr>
          <a:xfrm>
            <a:off x="4256088" y="2549110"/>
            <a:ext cx="110400" cy="110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83"/>
          <p:cNvSpPr txBox="1"/>
          <p:nvPr/>
        </p:nvSpPr>
        <p:spPr>
          <a:xfrm>
            <a:off x="5481164" y="3902736"/>
            <a:ext cx="2934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99" name="Google Shape;1299;p83"/>
          <p:cNvCxnSpPr/>
          <p:nvPr/>
        </p:nvCxnSpPr>
        <p:spPr>
          <a:xfrm rot="10800000">
            <a:off x="3499975" y="4015086"/>
            <a:ext cx="818100" cy="33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83"/>
          <p:cNvSpPr/>
          <p:nvPr/>
        </p:nvSpPr>
        <p:spPr>
          <a:xfrm>
            <a:off x="3424543" y="3965146"/>
            <a:ext cx="110400" cy="1104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83"/>
          <p:cNvSpPr txBox="1"/>
          <p:nvPr/>
        </p:nvSpPr>
        <p:spPr>
          <a:xfrm>
            <a:off x="2579572" y="2339257"/>
            <a:ext cx="727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0.87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83"/>
          <p:cNvSpPr txBox="1"/>
          <p:nvPr/>
        </p:nvSpPr>
        <p:spPr>
          <a:xfrm>
            <a:off x="3311418" y="1771347"/>
            <a:ext cx="2169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83"/>
          <p:cNvSpPr txBox="1"/>
          <p:nvPr/>
        </p:nvSpPr>
        <p:spPr>
          <a:xfrm>
            <a:off x="4040112" y="4019248"/>
            <a:ext cx="560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0.5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3" name="Google Shape;1303;p83"/>
          <p:cNvSpPr txBox="1"/>
          <p:nvPr/>
        </p:nvSpPr>
        <p:spPr>
          <a:xfrm>
            <a:off x="3601090" y="3560374"/>
            <a:ext cx="70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4" name="Google Shape;130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923" y="4052027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pic>
        <p:nvPicPr>
          <p:cNvPr id="1310" name="Google Shape;131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670" y="1172055"/>
            <a:ext cx="3594935" cy="3477354"/>
          </a:xfrm>
          <a:prstGeom prst="rect">
            <a:avLst/>
          </a:prstGeom>
          <a:noFill/>
          <a:ln>
            <a:noFill/>
          </a:ln>
        </p:spPr>
      </p:pic>
      <p:sp>
        <p:nvSpPr>
          <p:cNvPr id="1311" name="Google Shape;1311;p84"/>
          <p:cNvSpPr txBox="1"/>
          <p:nvPr/>
        </p:nvSpPr>
        <p:spPr>
          <a:xfrm>
            <a:off x="344960" y="779761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84"/>
          <p:cNvSpPr txBox="1"/>
          <p:nvPr/>
        </p:nvSpPr>
        <p:spPr>
          <a:xfrm>
            <a:off x="4211164" y="4500705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13" name="Google Shape;1313;p84"/>
          <p:cNvCxnSpPr/>
          <p:nvPr/>
        </p:nvCxnSpPr>
        <p:spPr>
          <a:xfrm rot="10800000">
            <a:off x="982236" y="954349"/>
            <a:ext cx="0" cy="355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4" name="Google Shape;1314;p84"/>
          <p:cNvCxnSpPr/>
          <p:nvPr/>
        </p:nvCxnSpPr>
        <p:spPr>
          <a:xfrm>
            <a:off x="976310" y="4496632"/>
            <a:ext cx="350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5" name="Google Shape;1315;p84"/>
          <p:cNvSpPr txBox="1"/>
          <p:nvPr>
            <p:ph idx="1" type="body"/>
          </p:nvPr>
        </p:nvSpPr>
        <p:spPr>
          <a:xfrm>
            <a:off x="4824000" y="759300"/>
            <a:ext cx="3996000" cy="94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diagram shows the sector of the unit circle that lies in the first quadrant.</a:t>
            </a:r>
            <a:endParaRPr sz="2000"/>
          </a:p>
        </p:txBody>
      </p:sp>
      <p:sp>
        <p:nvSpPr>
          <p:cNvPr id="1316" name="Google Shape;1316;p84"/>
          <p:cNvSpPr txBox="1"/>
          <p:nvPr/>
        </p:nvSpPr>
        <p:spPr>
          <a:xfrm>
            <a:off x="4824000" y="1930875"/>
            <a:ext cx="3802200" cy="13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points around the circumference show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angle of rotation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from the horizontal axis to the radius at each point.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84"/>
          <p:cNvSpPr txBox="1"/>
          <p:nvPr/>
        </p:nvSpPr>
        <p:spPr>
          <a:xfrm>
            <a:off x="4824000" y="3552850"/>
            <a:ext cx="3428700" cy="6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Link to an interactive version:</a:t>
            </a: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unit circle in first quadrant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85"/>
          <p:cNvSpPr/>
          <p:nvPr/>
        </p:nvSpPr>
        <p:spPr>
          <a:xfrm flipH="1">
            <a:off x="5434156" y="1412756"/>
            <a:ext cx="2059500" cy="1182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324" name="Google Shape;1324;p85"/>
          <p:cNvSpPr txBox="1"/>
          <p:nvPr>
            <p:ph idx="1" type="body"/>
          </p:nvPr>
        </p:nvSpPr>
        <p:spPr>
          <a:xfrm>
            <a:off x="4824000" y="759300"/>
            <a:ext cx="399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 1: </a:t>
            </a:r>
            <a:r>
              <a:rPr lang="en-GB" sz="1800"/>
              <a:t>Find the </a:t>
            </a:r>
            <a:r>
              <a:rPr lang="en-GB" sz="1800"/>
              <a:t>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2000"/>
          </a:p>
        </p:txBody>
      </p:sp>
      <p:pic>
        <p:nvPicPr>
          <p:cNvPr id="1325" name="Google Shape;1325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670" y="1172055"/>
            <a:ext cx="3594935" cy="3477354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85"/>
          <p:cNvSpPr txBox="1"/>
          <p:nvPr/>
        </p:nvSpPr>
        <p:spPr>
          <a:xfrm>
            <a:off x="344960" y="779761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85"/>
          <p:cNvSpPr txBox="1"/>
          <p:nvPr/>
        </p:nvSpPr>
        <p:spPr>
          <a:xfrm>
            <a:off x="4211164" y="4500705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28" name="Google Shape;1328;p85"/>
          <p:cNvCxnSpPr/>
          <p:nvPr/>
        </p:nvCxnSpPr>
        <p:spPr>
          <a:xfrm rot="10800000">
            <a:off x="982236" y="954349"/>
            <a:ext cx="0" cy="355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9" name="Google Shape;1329;p85"/>
          <p:cNvCxnSpPr/>
          <p:nvPr/>
        </p:nvCxnSpPr>
        <p:spPr>
          <a:xfrm>
            <a:off x="976310" y="4496632"/>
            <a:ext cx="350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0" name="Google Shape;1330;p85"/>
          <p:cNvSpPr txBox="1"/>
          <p:nvPr/>
        </p:nvSpPr>
        <p:spPr>
          <a:xfrm>
            <a:off x="4824000" y="3150075"/>
            <a:ext cx="38022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the angles to create a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similar triangle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inside the unit circle.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85"/>
          <p:cNvSpPr/>
          <p:nvPr/>
        </p:nvSpPr>
        <p:spPr>
          <a:xfrm>
            <a:off x="7363830" y="2458499"/>
            <a:ext cx="133500" cy="13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85"/>
          <p:cNvSpPr/>
          <p:nvPr/>
        </p:nvSpPr>
        <p:spPr>
          <a:xfrm>
            <a:off x="5146325" y="2235018"/>
            <a:ext cx="682500" cy="6825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85"/>
          <p:cNvSpPr txBox="1"/>
          <p:nvPr/>
        </p:nvSpPr>
        <p:spPr>
          <a:xfrm>
            <a:off x="5757296" y="2267633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4" name="Google Shape;1334;p85"/>
          <p:cNvSpPr txBox="1"/>
          <p:nvPr/>
        </p:nvSpPr>
        <p:spPr>
          <a:xfrm>
            <a:off x="5856068" y="152549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5" name="Google Shape;1335;p85"/>
          <p:cNvCxnSpPr/>
          <p:nvPr/>
        </p:nvCxnSpPr>
        <p:spPr>
          <a:xfrm flipH="1" rot="10800000">
            <a:off x="5402327" y="1344949"/>
            <a:ext cx="2028600" cy="116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36" name="Google Shape;1336;p85"/>
          <p:cNvCxnSpPr/>
          <p:nvPr/>
        </p:nvCxnSpPr>
        <p:spPr>
          <a:xfrm rot="10800000">
            <a:off x="7628446" y="1413459"/>
            <a:ext cx="0" cy="118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37" name="Google Shape;1337;p85"/>
          <p:cNvSpPr txBox="1"/>
          <p:nvPr/>
        </p:nvSpPr>
        <p:spPr>
          <a:xfrm>
            <a:off x="7582104" y="1807900"/>
            <a:ext cx="9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8" name="Google Shape;1338;p85"/>
          <p:cNvSpPr/>
          <p:nvPr/>
        </p:nvSpPr>
        <p:spPr>
          <a:xfrm flipH="1">
            <a:off x="976248" y="2936459"/>
            <a:ext cx="2709000" cy="1555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85"/>
          <p:cNvSpPr/>
          <p:nvPr/>
        </p:nvSpPr>
        <p:spPr>
          <a:xfrm>
            <a:off x="726725" y="4140018"/>
            <a:ext cx="682500" cy="6825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85"/>
          <p:cNvSpPr txBox="1"/>
          <p:nvPr/>
        </p:nvSpPr>
        <p:spPr>
          <a:xfrm>
            <a:off x="1342735" y="4132315"/>
            <a:ext cx="6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1" name="Google Shape;1341;p85"/>
          <p:cNvSpPr/>
          <p:nvPr/>
        </p:nvSpPr>
        <p:spPr>
          <a:xfrm>
            <a:off x="3553830" y="4358459"/>
            <a:ext cx="133500" cy="13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6"/>
          <p:cNvSpPr/>
          <p:nvPr/>
        </p:nvSpPr>
        <p:spPr>
          <a:xfrm flipH="1">
            <a:off x="5434156" y="1412756"/>
            <a:ext cx="2059500" cy="1182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7" name="Google Shape;134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348" name="Google Shape;1348;p86"/>
          <p:cNvSpPr txBox="1"/>
          <p:nvPr>
            <p:ph idx="1" type="body"/>
          </p:nvPr>
        </p:nvSpPr>
        <p:spPr>
          <a:xfrm>
            <a:off x="4824000" y="759300"/>
            <a:ext cx="399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 1: </a:t>
            </a:r>
            <a:r>
              <a:rPr lang="en-GB" sz="1800"/>
              <a:t>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2000"/>
          </a:p>
        </p:txBody>
      </p:sp>
      <p:pic>
        <p:nvPicPr>
          <p:cNvPr id="1349" name="Google Shape;134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670" y="1172055"/>
            <a:ext cx="3594935" cy="3477354"/>
          </a:xfrm>
          <a:prstGeom prst="rect">
            <a:avLst/>
          </a:prstGeom>
          <a:noFill/>
          <a:ln>
            <a:noFill/>
          </a:ln>
        </p:spPr>
      </p:pic>
      <p:sp>
        <p:nvSpPr>
          <p:cNvPr id="1350" name="Google Shape;1350;p86"/>
          <p:cNvSpPr txBox="1"/>
          <p:nvPr/>
        </p:nvSpPr>
        <p:spPr>
          <a:xfrm>
            <a:off x="344960" y="779761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86"/>
          <p:cNvSpPr txBox="1"/>
          <p:nvPr/>
        </p:nvSpPr>
        <p:spPr>
          <a:xfrm>
            <a:off x="4211164" y="4500705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2" name="Google Shape;1352;p86"/>
          <p:cNvCxnSpPr/>
          <p:nvPr/>
        </p:nvCxnSpPr>
        <p:spPr>
          <a:xfrm rot="10800000">
            <a:off x="982236" y="954349"/>
            <a:ext cx="0" cy="355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53" name="Google Shape;1353;p86"/>
          <p:cNvCxnSpPr/>
          <p:nvPr/>
        </p:nvCxnSpPr>
        <p:spPr>
          <a:xfrm>
            <a:off x="976310" y="4496632"/>
            <a:ext cx="350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4" name="Google Shape;1354;p86"/>
          <p:cNvSpPr txBox="1"/>
          <p:nvPr/>
        </p:nvSpPr>
        <p:spPr>
          <a:xfrm>
            <a:off x="4824000" y="3150075"/>
            <a:ext cx="3996000" cy="3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length is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hypotenuse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5" name="Google Shape;1355;p86"/>
          <p:cNvSpPr/>
          <p:nvPr/>
        </p:nvSpPr>
        <p:spPr>
          <a:xfrm>
            <a:off x="7363830" y="2458499"/>
            <a:ext cx="133500" cy="13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6"/>
          <p:cNvSpPr/>
          <p:nvPr/>
        </p:nvSpPr>
        <p:spPr>
          <a:xfrm>
            <a:off x="5146325" y="2235018"/>
            <a:ext cx="682500" cy="6825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6"/>
          <p:cNvSpPr txBox="1"/>
          <p:nvPr/>
        </p:nvSpPr>
        <p:spPr>
          <a:xfrm>
            <a:off x="5757296" y="2267633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6"/>
          <p:cNvSpPr txBox="1"/>
          <p:nvPr/>
        </p:nvSpPr>
        <p:spPr>
          <a:xfrm>
            <a:off x="5856068" y="152549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59" name="Google Shape;1359;p86"/>
          <p:cNvCxnSpPr/>
          <p:nvPr/>
        </p:nvCxnSpPr>
        <p:spPr>
          <a:xfrm flipH="1" rot="10800000">
            <a:off x="5402327" y="1344949"/>
            <a:ext cx="2028600" cy="116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60" name="Google Shape;1360;p86"/>
          <p:cNvCxnSpPr/>
          <p:nvPr/>
        </p:nvCxnSpPr>
        <p:spPr>
          <a:xfrm rot="10800000">
            <a:off x="7628446" y="1413459"/>
            <a:ext cx="0" cy="118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1" name="Google Shape;1361;p86"/>
          <p:cNvSpPr txBox="1"/>
          <p:nvPr/>
        </p:nvSpPr>
        <p:spPr>
          <a:xfrm>
            <a:off x="7582104" y="1807900"/>
            <a:ext cx="9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2" name="Google Shape;1362;p86"/>
          <p:cNvSpPr/>
          <p:nvPr/>
        </p:nvSpPr>
        <p:spPr>
          <a:xfrm flipH="1">
            <a:off x="976248" y="2936459"/>
            <a:ext cx="2709000" cy="15552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3" name="Google Shape;1363;p86"/>
          <p:cNvSpPr/>
          <p:nvPr/>
        </p:nvSpPr>
        <p:spPr>
          <a:xfrm>
            <a:off x="726725" y="4140018"/>
            <a:ext cx="682500" cy="6825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86"/>
          <p:cNvSpPr/>
          <p:nvPr/>
        </p:nvSpPr>
        <p:spPr>
          <a:xfrm>
            <a:off x="3553830" y="4358459"/>
            <a:ext cx="133500" cy="13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65" name="Google Shape;1365;p86"/>
          <p:cNvCxnSpPr>
            <a:stCxn id="1362" idx="4"/>
          </p:cNvCxnSpPr>
          <p:nvPr/>
        </p:nvCxnSpPr>
        <p:spPr>
          <a:xfrm flipH="1" rot="10800000">
            <a:off x="976248" y="2933759"/>
            <a:ext cx="2718300" cy="15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66" name="Google Shape;1366;p86"/>
          <p:cNvSpPr txBox="1"/>
          <p:nvPr/>
        </p:nvSpPr>
        <p:spPr>
          <a:xfrm>
            <a:off x="2231000" y="3399450"/>
            <a:ext cx="199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7" name="Google Shape;1367;p86"/>
          <p:cNvSpPr txBox="1"/>
          <p:nvPr/>
        </p:nvSpPr>
        <p:spPr>
          <a:xfrm>
            <a:off x="4824000" y="1294175"/>
            <a:ext cx="1394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68" name="Google Shape;1368;p86"/>
          <p:cNvCxnSpPr/>
          <p:nvPr/>
        </p:nvCxnSpPr>
        <p:spPr>
          <a:xfrm rot="10800000">
            <a:off x="5652000" y="1560313"/>
            <a:ext cx="244800" cy="16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9" name="Google Shape;1369;p86"/>
          <p:cNvSpPr txBox="1"/>
          <p:nvPr/>
        </p:nvSpPr>
        <p:spPr>
          <a:xfrm>
            <a:off x="4824000" y="3607275"/>
            <a:ext cx="3996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hypotenuse for the triangle in the unit circle is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1 unit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86"/>
          <p:cNvSpPr txBox="1"/>
          <p:nvPr/>
        </p:nvSpPr>
        <p:spPr>
          <a:xfrm>
            <a:off x="1342735" y="4132315"/>
            <a:ext cx="6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7"/>
          <p:cNvSpPr/>
          <p:nvPr/>
        </p:nvSpPr>
        <p:spPr>
          <a:xfrm flipH="1">
            <a:off x="5434156" y="1412756"/>
            <a:ext cx="2059500" cy="1182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6" name="Google Shape;137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377" name="Google Shape;1377;p87"/>
          <p:cNvSpPr txBox="1"/>
          <p:nvPr>
            <p:ph idx="1" type="body"/>
          </p:nvPr>
        </p:nvSpPr>
        <p:spPr>
          <a:xfrm>
            <a:off x="4824000" y="759300"/>
            <a:ext cx="399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 1: </a:t>
            </a:r>
            <a:r>
              <a:rPr lang="en-GB" sz="1800"/>
              <a:t>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2000"/>
          </a:p>
        </p:txBody>
      </p:sp>
      <p:pic>
        <p:nvPicPr>
          <p:cNvPr id="1378" name="Google Shape;137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670" y="1172055"/>
            <a:ext cx="3594935" cy="3477354"/>
          </a:xfrm>
          <a:prstGeom prst="rect">
            <a:avLst/>
          </a:prstGeom>
          <a:noFill/>
          <a:ln>
            <a:noFill/>
          </a:ln>
        </p:spPr>
      </p:pic>
      <p:sp>
        <p:nvSpPr>
          <p:cNvPr id="1379" name="Google Shape;1379;p87"/>
          <p:cNvSpPr txBox="1"/>
          <p:nvPr/>
        </p:nvSpPr>
        <p:spPr>
          <a:xfrm>
            <a:off x="344960" y="779761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0" name="Google Shape;1380;p87"/>
          <p:cNvSpPr txBox="1"/>
          <p:nvPr/>
        </p:nvSpPr>
        <p:spPr>
          <a:xfrm>
            <a:off x="4211164" y="4500705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1" name="Google Shape;1381;p87"/>
          <p:cNvCxnSpPr/>
          <p:nvPr/>
        </p:nvCxnSpPr>
        <p:spPr>
          <a:xfrm rot="10800000">
            <a:off x="982236" y="954349"/>
            <a:ext cx="0" cy="355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2" name="Google Shape;1382;p87"/>
          <p:cNvCxnSpPr/>
          <p:nvPr/>
        </p:nvCxnSpPr>
        <p:spPr>
          <a:xfrm>
            <a:off x="976310" y="4496632"/>
            <a:ext cx="350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83" name="Google Shape;1383;p87"/>
          <p:cNvSpPr txBox="1"/>
          <p:nvPr/>
        </p:nvSpPr>
        <p:spPr>
          <a:xfrm>
            <a:off x="4824000" y="3150075"/>
            <a:ext cx="39960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side labelled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is 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opposite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4" name="Google Shape;1384;p87"/>
          <p:cNvSpPr/>
          <p:nvPr/>
        </p:nvSpPr>
        <p:spPr>
          <a:xfrm>
            <a:off x="7363830" y="2458499"/>
            <a:ext cx="133500" cy="13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87"/>
          <p:cNvSpPr/>
          <p:nvPr/>
        </p:nvSpPr>
        <p:spPr>
          <a:xfrm>
            <a:off x="5146325" y="2235018"/>
            <a:ext cx="682500" cy="6825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6" name="Google Shape;1386;p87"/>
          <p:cNvSpPr txBox="1"/>
          <p:nvPr/>
        </p:nvSpPr>
        <p:spPr>
          <a:xfrm>
            <a:off x="5757296" y="2267633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7" name="Google Shape;1387;p87"/>
          <p:cNvSpPr txBox="1"/>
          <p:nvPr/>
        </p:nvSpPr>
        <p:spPr>
          <a:xfrm>
            <a:off x="5856068" y="152549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88" name="Google Shape;1388;p87"/>
          <p:cNvCxnSpPr/>
          <p:nvPr/>
        </p:nvCxnSpPr>
        <p:spPr>
          <a:xfrm flipH="1" rot="10800000">
            <a:off x="5402327" y="1344949"/>
            <a:ext cx="2028600" cy="116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89" name="Google Shape;1389;p87"/>
          <p:cNvCxnSpPr/>
          <p:nvPr/>
        </p:nvCxnSpPr>
        <p:spPr>
          <a:xfrm rot="10800000">
            <a:off x="7628446" y="1413459"/>
            <a:ext cx="0" cy="118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0" name="Google Shape;1390;p87"/>
          <p:cNvSpPr txBox="1"/>
          <p:nvPr/>
        </p:nvSpPr>
        <p:spPr>
          <a:xfrm>
            <a:off x="7582104" y="1807900"/>
            <a:ext cx="9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1" name="Google Shape;1391;p87"/>
          <p:cNvSpPr/>
          <p:nvPr/>
        </p:nvSpPr>
        <p:spPr>
          <a:xfrm flipH="1">
            <a:off x="976250" y="2935100"/>
            <a:ext cx="2709000" cy="1557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87"/>
          <p:cNvSpPr/>
          <p:nvPr/>
        </p:nvSpPr>
        <p:spPr>
          <a:xfrm>
            <a:off x="726725" y="4140018"/>
            <a:ext cx="682500" cy="6825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3" name="Google Shape;1393;p87"/>
          <p:cNvSpPr/>
          <p:nvPr/>
        </p:nvSpPr>
        <p:spPr>
          <a:xfrm>
            <a:off x="3553830" y="4358459"/>
            <a:ext cx="133500" cy="13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94" name="Google Shape;1394;p87"/>
          <p:cNvCxnSpPr>
            <a:stCxn id="1391" idx="4"/>
          </p:cNvCxnSpPr>
          <p:nvPr/>
        </p:nvCxnSpPr>
        <p:spPr>
          <a:xfrm flipH="1" rot="10800000">
            <a:off x="976250" y="2934800"/>
            <a:ext cx="2718300" cy="15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395" name="Google Shape;1395;p87"/>
          <p:cNvSpPr txBox="1"/>
          <p:nvPr/>
        </p:nvSpPr>
        <p:spPr>
          <a:xfrm>
            <a:off x="2231000" y="3399450"/>
            <a:ext cx="199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6" name="Google Shape;1396;p87"/>
          <p:cNvSpPr txBox="1"/>
          <p:nvPr/>
        </p:nvSpPr>
        <p:spPr>
          <a:xfrm>
            <a:off x="7937000" y="2357550"/>
            <a:ext cx="1030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97" name="Google Shape;1397;p87"/>
          <p:cNvCxnSpPr/>
          <p:nvPr/>
        </p:nvCxnSpPr>
        <p:spPr>
          <a:xfrm rot="10800000">
            <a:off x="7825975" y="2222850"/>
            <a:ext cx="100800" cy="19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8" name="Google Shape;1398;p87"/>
          <p:cNvCxnSpPr>
            <a:stCxn id="1391" idx="0"/>
          </p:cNvCxnSpPr>
          <p:nvPr/>
        </p:nvCxnSpPr>
        <p:spPr>
          <a:xfrm rot="10800000">
            <a:off x="987650" y="2935100"/>
            <a:ext cx="2697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99" name="Google Shape;1399;p87"/>
          <p:cNvSpPr txBox="1"/>
          <p:nvPr/>
        </p:nvSpPr>
        <p:spPr>
          <a:xfrm>
            <a:off x="3322223" y="3684460"/>
            <a:ext cx="366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00" name="Google Shape;1400;p87"/>
          <p:cNvCxnSpPr/>
          <p:nvPr/>
        </p:nvCxnSpPr>
        <p:spPr>
          <a:xfrm rot="10800000">
            <a:off x="3685250" y="2935200"/>
            <a:ext cx="0" cy="1552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01" name="Google Shape;1401;p87"/>
          <p:cNvSpPr txBox="1"/>
          <p:nvPr/>
        </p:nvSpPr>
        <p:spPr>
          <a:xfrm>
            <a:off x="4824000" y="1294175"/>
            <a:ext cx="1394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02" name="Google Shape;1402;p87"/>
          <p:cNvCxnSpPr/>
          <p:nvPr/>
        </p:nvCxnSpPr>
        <p:spPr>
          <a:xfrm rot="10800000">
            <a:off x="5652000" y="1560313"/>
            <a:ext cx="244800" cy="16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03" name="Google Shape;1403;p87"/>
          <p:cNvSpPr txBox="1"/>
          <p:nvPr/>
        </p:nvSpPr>
        <p:spPr>
          <a:xfrm>
            <a:off x="1342735" y="4132315"/>
            <a:ext cx="6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88"/>
          <p:cNvSpPr/>
          <p:nvPr/>
        </p:nvSpPr>
        <p:spPr>
          <a:xfrm flipH="1">
            <a:off x="5434156" y="1412756"/>
            <a:ext cx="2059500" cy="11823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9" name="Google Shape;140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410" name="Google Shape;1410;p88"/>
          <p:cNvSpPr txBox="1"/>
          <p:nvPr>
            <p:ph idx="1" type="body"/>
          </p:nvPr>
        </p:nvSpPr>
        <p:spPr>
          <a:xfrm>
            <a:off x="4824000" y="759300"/>
            <a:ext cx="399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 1: </a:t>
            </a:r>
            <a:r>
              <a:rPr lang="en-GB" sz="1800"/>
              <a:t>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2000"/>
          </a:p>
        </p:txBody>
      </p:sp>
      <p:pic>
        <p:nvPicPr>
          <p:cNvPr id="1411" name="Google Shape;141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670" y="1172055"/>
            <a:ext cx="3594935" cy="3477354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88"/>
          <p:cNvSpPr txBox="1"/>
          <p:nvPr/>
        </p:nvSpPr>
        <p:spPr>
          <a:xfrm>
            <a:off x="344960" y="779761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3" name="Google Shape;1413;p88"/>
          <p:cNvSpPr txBox="1"/>
          <p:nvPr/>
        </p:nvSpPr>
        <p:spPr>
          <a:xfrm>
            <a:off x="4211164" y="4500705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14" name="Google Shape;1414;p88"/>
          <p:cNvCxnSpPr/>
          <p:nvPr/>
        </p:nvCxnSpPr>
        <p:spPr>
          <a:xfrm rot="10800000">
            <a:off x="982236" y="954349"/>
            <a:ext cx="0" cy="355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5" name="Google Shape;1415;p88"/>
          <p:cNvCxnSpPr/>
          <p:nvPr/>
        </p:nvCxnSpPr>
        <p:spPr>
          <a:xfrm>
            <a:off x="976310" y="4496632"/>
            <a:ext cx="350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6" name="Google Shape;1416;p88"/>
          <p:cNvSpPr txBox="1"/>
          <p:nvPr/>
        </p:nvSpPr>
        <p:spPr>
          <a:xfrm>
            <a:off x="4824000" y="3150075"/>
            <a:ext cx="39960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Use the same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proportions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to 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88"/>
          <p:cNvSpPr/>
          <p:nvPr/>
        </p:nvSpPr>
        <p:spPr>
          <a:xfrm>
            <a:off x="7363830" y="2458499"/>
            <a:ext cx="133500" cy="13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88"/>
          <p:cNvSpPr/>
          <p:nvPr/>
        </p:nvSpPr>
        <p:spPr>
          <a:xfrm>
            <a:off x="5146325" y="2235018"/>
            <a:ext cx="682500" cy="6825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88"/>
          <p:cNvSpPr txBox="1"/>
          <p:nvPr/>
        </p:nvSpPr>
        <p:spPr>
          <a:xfrm>
            <a:off x="5757296" y="2267633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88"/>
          <p:cNvSpPr txBox="1"/>
          <p:nvPr/>
        </p:nvSpPr>
        <p:spPr>
          <a:xfrm>
            <a:off x="5856068" y="152549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1" name="Google Shape;1421;p88"/>
          <p:cNvCxnSpPr/>
          <p:nvPr/>
        </p:nvCxnSpPr>
        <p:spPr>
          <a:xfrm flipH="1" rot="10800000">
            <a:off x="5402327" y="1344949"/>
            <a:ext cx="2028600" cy="1162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22" name="Google Shape;1422;p88"/>
          <p:cNvCxnSpPr/>
          <p:nvPr/>
        </p:nvCxnSpPr>
        <p:spPr>
          <a:xfrm rot="10800000">
            <a:off x="7628446" y="1413459"/>
            <a:ext cx="0" cy="1181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3" name="Google Shape;1423;p88"/>
          <p:cNvSpPr txBox="1"/>
          <p:nvPr/>
        </p:nvSpPr>
        <p:spPr>
          <a:xfrm>
            <a:off x="7582104" y="1807900"/>
            <a:ext cx="9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4" name="Google Shape;1424;p88"/>
          <p:cNvSpPr/>
          <p:nvPr/>
        </p:nvSpPr>
        <p:spPr>
          <a:xfrm>
            <a:off x="726725" y="4140018"/>
            <a:ext cx="682500" cy="682500"/>
          </a:xfrm>
          <a:prstGeom prst="arc">
            <a:avLst>
              <a:gd fmla="val 19600073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5" name="Google Shape;1425;p88"/>
          <p:cNvSpPr/>
          <p:nvPr/>
        </p:nvSpPr>
        <p:spPr>
          <a:xfrm>
            <a:off x="3553830" y="4358459"/>
            <a:ext cx="133500" cy="133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26" name="Google Shape;1426;p88"/>
          <p:cNvCxnSpPr>
            <a:stCxn id="1427" idx="4"/>
          </p:cNvCxnSpPr>
          <p:nvPr/>
        </p:nvCxnSpPr>
        <p:spPr>
          <a:xfrm flipH="1" rot="10800000">
            <a:off x="976250" y="2934800"/>
            <a:ext cx="2718300" cy="1557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28" name="Google Shape;1428;p88"/>
          <p:cNvSpPr txBox="1"/>
          <p:nvPr/>
        </p:nvSpPr>
        <p:spPr>
          <a:xfrm>
            <a:off x="2231000" y="3399450"/>
            <a:ext cx="1995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29" name="Google Shape;1429;p88"/>
          <p:cNvCxnSpPr>
            <a:stCxn id="1427" idx="0"/>
          </p:cNvCxnSpPr>
          <p:nvPr/>
        </p:nvCxnSpPr>
        <p:spPr>
          <a:xfrm rot="10800000">
            <a:off x="987650" y="2935100"/>
            <a:ext cx="2697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430" name="Google Shape;1430;p88"/>
          <p:cNvCxnSpPr>
            <a:endCxn id="1427" idx="0"/>
          </p:cNvCxnSpPr>
          <p:nvPr/>
        </p:nvCxnSpPr>
        <p:spPr>
          <a:xfrm rot="10800000">
            <a:off x="3685250" y="2935200"/>
            <a:ext cx="0" cy="15525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31" name="Google Shape;1431;p88"/>
          <p:cNvSpPr txBox="1"/>
          <p:nvPr/>
        </p:nvSpPr>
        <p:spPr>
          <a:xfrm>
            <a:off x="3322223" y="3684460"/>
            <a:ext cx="3660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0.5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32" name="Google Shape;1432;p88"/>
          <p:cNvCxnSpPr>
            <a:stCxn id="1428" idx="3"/>
            <a:endCxn id="1431" idx="1"/>
          </p:cNvCxnSpPr>
          <p:nvPr/>
        </p:nvCxnSpPr>
        <p:spPr>
          <a:xfrm>
            <a:off x="2430500" y="3546450"/>
            <a:ext cx="891600" cy="285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3" name="Google Shape;1433;p88"/>
          <p:cNvCxnSpPr>
            <a:endCxn id="1423" idx="1"/>
          </p:cNvCxnSpPr>
          <p:nvPr/>
        </p:nvCxnSpPr>
        <p:spPr>
          <a:xfrm>
            <a:off x="6518904" y="1844800"/>
            <a:ext cx="1063200" cy="209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4" name="Google Shape;1434;p88"/>
          <p:cNvSpPr txBox="1"/>
          <p:nvPr/>
        </p:nvSpPr>
        <p:spPr>
          <a:xfrm>
            <a:off x="6801882" y="1602121"/>
            <a:ext cx="74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0.5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5" name="Google Shape;1435;p88"/>
          <p:cNvSpPr txBox="1"/>
          <p:nvPr/>
        </p:nvSpPr>
        <p:spPr>
          <a:xfrm>
            <a:off x="2697757" y="3343846"/>
            <a:ext cx="749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0.5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6" name="Google Shape;1436;p88"/>
          <p:cNvSpPr txBox="1"/>
          <p:nvPr/>
        </p:nvSpPr>
        <p:spPr>
          <a:xfrm>
            <a:off x="5959100" y="3835675"/>
            <a:ext cx="1771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× 0.5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7" name="Google Shape;1437;p88"/>
          <p:cNvSpPr txBox="1"/>
          <p:nvPr/>
        </p:nvSpPr>
        <p:spPr>
          <a:xfrm>
            <a:off x="6086302" y="4292875"/>
            <a:ext cx="91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8" name="Google Shape;1438;p88"/>
          <p:cNvSpPr txBox="1"/>
          <p:nvPr/>
        </p:nvSpPr>
        <p:spPr>
          <a:xfrm>
            <a:off x="7937000" y="2357550"/>
            <a:ext cx="1030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39" name="Google Shape;1439;p88"/>
          <p:cNvCxnSpPr/>
          <p:nvPr/>
        </p:nvCxnSpPr>
        <p:spPr>
          <a:xfrm rot="10800000">
            <a:off x="7825975" y="2222850"/>
            <a:ext cx="100800" cy="196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0" name="Google Shape;1440;p88"/>
          <p:cNvSpPr txBox="1"/>
          <p:nvPr/>
        </p:nvSpPr>
        <p:spPr>
          <a:xfrm>
            <a:off x="4824000" y="1294175"/>
            <a:ext cx="1394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hypotenuse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41" name="Google Shape;1441;p88"/>
          <p:cNvCxnSpPr/>
          <p:nvPr/>
        </p:nvCxnSpPr>
        <p:spPr>
          <a:xfrm rot="10800000">
            <a:off x="5652000" y="1560313"/>
            <a:ext cx="244800" cy="16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2" name="Google Shape;1442;p88"/>
          <p:cNvSpPr txBox="1"/>
          <p:nvPr/>
        </p:nvSpPr>
        <p:spPr>
          <a:xfrm>
            <a:off x="1342735" y="4132315"/>
            <a:ext cx="6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30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89"/>
          <p:cNvSpPr txBox="1"/>
          <p:nvPr>
            <p:ph idx="1" type="body"/>
          </p:nvPr>
        </p:nvSpPr>
        <p:spPr>
          <a:xfrm>
            <a:off x="4824000" y="759300"/>
            <a:ext cx="3737700" cy="56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value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?</a:t>
            </a:r>
            <a:endParaRPr/>
          </a:p>
        </p:txBody>
      </p:sp>
      <p:sp>
        <p:nvSpPr>
          <p:cNvPr id="1448" name="Google Shape;1448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sine and cosine from a unit circle</a:t>
            </a:r>
            <a:endParaRPr/>
          </a:p>
        </p:txBody>
      </p:sp>
      <p:sp>
        <p:nvSpPr>
          <p:cNvPr id="1449" name="Google Shape;1449;p89"/>
          <p:cNvSpPr/>
          <p:nvPr/>
        </p:nvSpPr>
        <p:spPr>
          <a:xfrm flipH="1" rot="-5400000">
            <a:off x="5951785" y="1639991"/>
            <a:ext cx="1159200" cy="20352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9"/>
          <p:cNvSpPr/>
          <p:nvPr/>
        </p:nvSpPr>
        <p:spPr>
          <a:xfrm rot="-5400000">
            <a:off x="7401093" y="2071915"/>
            <a:ext cx="146700" cy="146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9"/>
          <p:cNvSpPr/>
          <p:nvPr/>
        </p:nvSpPr>
        <p:spPr>
          <a:xfrm rot="-5400000">
            <a:off x="7324741" y="2999266"/>
            <a:ext cx="390600" cy="390600"/>
          </a:xfrm>
          <a:prstGeom prst="arc">
            <a:avLst>
              <a:gd fmla="val 17917161" name="adj1"/>
              <a:gd fmla="val 293423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9"/>
          <p:cNvSpPr txBox="1"/>
          <p:nvPr/>
        </p:nvSpPr>
        <p:spPr>
          <a:xfrm>
            <a:off x="6971843" y="2576367"/>
            <a:ext cx="68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3" name="Google Shape;1453;p89"/>
          <p:cNvCxnSpPr/>
          <p:nvPr/>
        </p:nvCxnSpPr>
        <p:spPr>
          <a:xfrm flipH="1" rot="5400000">
            <a:off x="5904890" y="1735236"/>
            <a:ext cx="1153500" cy="2039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4" name="Google Shape;1454;p89"/>
          <p:cNvSpPr txBox="1"/>
          <p:nvPr/>
        </p:nvSpPr>
        <p:spPr>
          <a:xfrm>
            <a:off x="5878162" y="2650374"/>
            <a:ext cx="1000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5" name="Google Shape;1455;p89"/>
          <p:cNvCxnSpPr/>
          <p:nvPr/>
        </p:nvCxnSpPr>
        <p:spPr>
          <a:xfrm rot="5400000">
            <a:off x="7088703" y="2647415"/>
            <a:ext cx="1156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56" name="Google Shape;1456;p89"/>
          <p:cNvSpPr txBox="1"/>
          <p:nvPr/>
        </p:nvSpPr>
        <p:spPr>
          <a:xfrm>
            <a:off x="6208909" y="1443607"/>
            <a:ext cx="903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cm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7" name="Google Shape;145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291" y="1019655"/>
            <a:ext cx="3594935" cy="3477354"/>
          </a:xfrm>
          <a:prstGeom prst="rect">
            <a:avLst/>
          </a:prstGeom>
          <a:noFill/>
          <a:ln>
            <a:noFill/>
          </a:ln>
        </p:spPr>
      </p:pic>
      <p:sp>
        <p:nvSpPr>
          <p:cNvPr id="1458" name="Google Shape;1458;p89"/>
          <p:cNvSpPr txBox="1"/>
          <p:nvPr/>
        </p:nvSpPr>
        <p:spPr>
          <a:xfrm>
            <a:off x="448181" y="779761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89"/>
          <p:cNvSpPr txBox="1"/>
          <p:nvPr/>
        </p:nvSpPr>
        <p:spPr>
          <a:xfrm>
            <a:off x="4466786" y="4348305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0" name="Google Shape;1460;p89"/>
          <p:cNvCxnSpPr/>
          <p:nvPr/>
        </p:nvCxnSpPr>
        <p:spPr>
          <a:xfrm rot="10800000">
            <a:off x="1237857" y="801949"/>
            <a:ext cx="0" cy="35574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61" name="Google Shape;1461;p89"/>
          <p:cNvCxnSpPr/>
          <p:nvPr/>
        </p:nvCxnSpPr>
        <p:spPr>
          <a:xfrm>
            <a:off x="1231932" y="4344232"/>
            <a:ext cx="35085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2" name="Google Shape;1462;p89"/>
          <p:cNvSpPr/>
          <p:nvPr/>
        </p:nvSpPr>
        <p:spPr>
          <a:xfrm>
            <a:off x="892636" y="3987618"/>
            <a:ext cx="682500" cy="682500"/>
          </a:xfrm>
          <a:prstGeom prst="arc">
            <a:avLst>
              <a:gd fmla="val 18183178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3" name="Google Shape;1463;p89"/>
          <p:cNvSpPr/>
          <p:nvPr/>
        </p:nvSpPr>
        <p:spPr>
          <a:xfrm>
            <a:off x="2642249" y="4168323"/>
            <a:ext cx="171300" cy="1713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4" name="Google Shape;1464;p89"/>
          <p:cNvCxnSpPr/>
          <p:nvPr/>
        </p:nvCxnSpPr>
        <p:spPr>
          <a:xfrm flipH="1" rot="10800000">
            <a:off x="1231871" y="1637900"/>
            <a:ext cx="1570500" cy="2702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5" name="Google Shape;1465;p89"/>
          <p:cNvSpPr txBox="1"/>
          <p:nvPr/>
        </p:nvSpPr>
        <p:spPr>
          <a:xfrm>
            <a:off x="1530792" y="3946148"/>
            <a:ext cx="68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6" name="Google Shape;1466;p89"/>
          <p:cNvCxnSpPr/>
          <p:nvPr/>
        </p:nvCxnSpPr>
        <p:spPr>
          <a:xfrm rot="10800000">
            <a:off x="2814696" y="1626550"/>
            <a:ext cx="0" cy="2980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7" name="Google Shape;1467;p89"/>
          <p:cNvSpPr txBox="1"/>
          <p:nvPr/>
        </p:nvSpPr>
        <p:spPr>
          <a:xfrm>
            <a:off x="2538685" y="4472793"/>
            <a:ext cx="682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0.5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68" name="Google Shape;1468;p89"/>
          <p:cNvCxnSpPr/>
          <p:nvPr/>
        </p:nvCxnSpPr>
        <p:spPr>
          <a:xfrm>
            <a:off x="812646" y="1626550"/>
            <a:ext cx="2002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469" name="Google Shape;1469;p89"/>
          <p:cNvSpPr txBox="1"/>
          <p:nvPr/>
        </p:nvSpPr>
        <p:spPr>
          <a:xfrm>
            <a:off x="223618" y="1373811"/>
            <a:ext cx="72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0.87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89"/>
          <p:cNvSpPr txBox="1"/>
          <p:nvPr/>
        </p:nvSpPr>
        <p:spPr>
          <a:xfrm>
            <a:off x="5991475" y="3690425"/>
            <a:ext cx="18009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= 8 × 0.87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  = 6.96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71" name="Google Shape;1471;p89"/>
          <p:cNvCxnSpPr/>
          <p:nvPr/>
        </p:nvCxnSpPr>
        <p:spPr>
          <a:xfrm rot="10800000">
            <a:off x="5512585" y="1932448"/>
            <a:ext cx="20364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90"/>
          <p:cNvSpPr txBox="1"/>
          <p:nvPr>
            <p:ph idx="1" type="body"/>
          </p:nvPr>
        </p:nvSpPr>
        <p:spPr>
          <a:xfrm>
            <a:off x="1044500" y="657475"/>
            <a:ext cx="7779600" cy="65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this sector of the unit circle to find the missing lengths on each</a:t>
            </a:r>
            <a:r>
              <a:rPr lang="en-GB" sz="1800"/>
              <a:t>                triangle.</a:t>
            </a:r>
            <a:endParaRPr sz="1800"/>
          </a:p>
        </p:txBody>
      </p:sp>
      <p:sp>
        <p:nvSpPr>
          <p:cNvPr id="1477" name="Google Shape;1477;p9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the unit circle</a:t>
            </a:r>
            <a:endParaRPr/>
          </a:p>
        </p:txBody>
      </p:sp>
      <p:pic>
        <p:nvPicPr>
          <p:cNvPr id="1478" name="Google Shape;147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71" y="1329319"/>
            <a:ext cx="3538580" cy="342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479" name="Google Shape;1479;p90"/>
          <p:cNvSpPr txBox="1"/>
          <p:nvPr/>
        </p:nvSpPr>
        <p:spPr>
          <a:xfrm>
            <a:off x="331408" y="1043602"/>
            <a:ext cx="713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90"/>
          <p:cNvSpPr txBox="1"/>
          <p:nvPr/>
        </p:nvSpPr>
        <p:spPr>
          <a:xfrm>
            <a:off x="4147424" y="4553793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81" name="Google Shape;1481;p90"/>
          <p:cNvCxnSpPr/>
          <p:nvPr/>
        </p:nvCxnSpPr>
        <p:spPr>
          <a:xfrm rot="10800000">
            <a:off x="888465" y="1110599"/>
            <a:ext cx="0" cy="350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2" name="Google Shape;1482;p90"/>
          <p:cNvCxnSpPr/>
          <p:nvPr/>
        </p:nvCxnSpPr>
        <p:spPr>
          <a:xfrm>
            <a:off x="882633" y="4597319"/>
            <a:ext cx="3453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3" name="Google Shape;1483;p90"/>
          <p:cNvSpPr/>
          <p:nvPr/>
        </p:nvSpPr>
        <p:spPr>
          <a:xfrm rot="10800000">
            <a:off x="4841736" y="3098990"/>
            <a:ext cx="1002000" cy="10290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0"/>
          <p:cNvSpPr/>
          <p:nvPr/>
        </p:nvSpPr>
        <p:spPr>
          <a:xfrm rot="10800000">
            <a:off x="5718944" y="3099025"/>
            <a:ext cx="124800" cy="12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90"/>
          <p:cNvSpPr/>
          <p:nvPr/>
        </p:nvSpPr>
        <p:spPr>
          <a:xfrm rot="10800000">
            <a:off x="4595493" y="2852334"/>
            <a:ext cx="494100" cy="493800"/>
          </a:xfrm>
          <a:prstGeom prst="arc">
            <a:avLst>
              <a:gd fmla="val 10969089" name="adj1"/>
              <a:gd fmla="val 1341849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90"/>
          <p:cNvSpPr/>
          <p:nvPr/>
        </p:nvSpPr>
        <p:spPr>
          <a:xfrm flipH="1">
            <a:off x="4655171" y="1416601"/>
            <a:ext cx="1357500" cy="786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90"/>
          <p:cNvSpPr/>
          <p:nvPr/>
        </p:nvSpPr>
        <p:spPr>
          <a:xfrm flipH="1">
            <a:off x="5897763" y="2086442"/>
            <a:ext cx="114900" cy="11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8" name="Google Shape;1488;p90"/>
          <p:cNvSpPr/>
          <p:nvPr/>
        </p:nvSpPr>
        <p:spPr>
          <a:xfrm flipH="1">
            <a:off x="4374135" y="1881361"/>
            <a:ext cx="597300" cy="643500"/>
          </a:xfrm>
          <a:prstGeom prst="arc">
            <a:avLst>
              <a:gd fmla="val 10969089" name="adj1"/>
              <a:gd fmla="val 1258515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90"/>
          <p:cNvSpPr txBox="1"/>
          <p:nvPr>
            <p:ph idx="1" type="body"/>
          </p:nvPr>
        </p:nvSpPr>
        <p:spPr>
          <a:xfrm>
            <a:off x="4591104" y="1098894"/>
            <a:ext cx="243900" cy="2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490" name="Google Shape;1490;p90"/>
          <p:cNvSpPr txBox="1"/>
          <p:nvPr>
            <p:ph idx="1" type="body"/>
          </p:nvPr>
        </p:nvSpPr>
        <p:spPr>
          <a:xfrm>
            <a:off x="6840599" y="1098894"/>
            <a:ext cx="243900" cy="2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491" name="Google Shape;1491;p90"/>
          <p:cNvSpPr txBox="1"/>
          <p:nvPr>
            <p:ph idx="1" type="body"/>
          </p:nvPr>
        </p:nvSpPr>
        <p:spPr>
          <a:xfrm>
            <a:off x="4591104" y="2770598"/>
            <a:ext cx="243900" cy="2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492" name="Google Shape;1492;p90"/>
          <p:cNvSpPr txBox="1"/>
          <p:nvPr>
            <p:ph idx="1" type="body"/>
          </p:nvPr>
        </p:nvSpPr>
        <p:spPr>
          <a:xfrm>
            <a:off x="6840599" y="2770598"/>
            <a:ext cx="243900" cy="2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1493" name="Google Shape;1493;p90"/>
          <p:cNvCxnSpPr/>
          <p:nvPr/>
        </p:nvCxnSpPr>
        <p:spPr>
          <a:xfrm flipH="1" rot="10800000">
            <a:off x="4623400" y="1343195"/>
            <a:ext cx="1330800" cy="77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4" name="Google Shape;1494;p90"/>
          <p:cNvCxnSpPr/>
          <p:nvPr/>
        </p:nvCxnSpPr>
        <p:spPr>
          <a:xfrm rot="10800000">
            <a:off x="6094711" y="1419698"/>
            <a:ext cx="0" cy="78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5" name="Google Shape;1495;p90"/>
          <p:cNvCxnSpPr/>
          <p:nvPr/>
        </p:nvCxnSpPr>
        <p:spPr>
          <a:xfrm rot="10800000">
            <a:off x="4655060" y="2293270"/>
            <a:ext cx="136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6" name="Google Shape;1496;p90"/>
          <p:cNvCxnSpPr/>
          <p:nvPr/>
        </p:nvCxnSpPr>
        <p:spPr>
          <a:xfrm rot="10800000">
            <a:off x="4828232" y="3020666"/>
            <a:ext cx="102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7" name="Google Shape;1497;p90"/>
          <p:cNvCxnSpPr/>
          <p:nvPr/>
        </p:nvCxnSpPr>
        <p:spPr>
          <a:xfrm rot="10800000">
            <a:off x="5937411" y="3103649"/>
            <a:ext cx="0" cy="103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498" name="Google Shape;1498;p90"/>
          <p:cNvCxnSpPr/>
          <p:nvPr/>
        </p:nvCxnSpPr>
        <p:spPr>
          <a:xfrm rot="10800000">
            <a:off x="4755714" y="3167573"/>
            <a:ext cx="1009500" cy="103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499" name="Google Shape;1499;p90"/>
          <p:cNvSpPr txBox="1"/>
          <p:nvPr>
            <p:ph idx="1" type="body"/>
          </p:nvPr>
        </p:nvSpPr>
        <p:spPr>
          <a:xfrm>
            <a:off x="4980651" y="1412600"/>
            <a:ext cx="560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1500" name="Google Shape;1500;p90"/>
          <p:cNvSpPr txBox="1"/>
          <p:nvPr>
            <p:ph idx="1" type="body"/>
          </p:nvPr>
        </p:nvSpPr>
        <p:spPr>
          <a:xfrm>
            <a:off x="5005471" y="1980051"/>
            <a:ext cx="560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30°</a:t>
            </a:r>
            <a:endParaRPr sz="1600"/>
          </a:p>
        </p:txBody>
      </p:sp>
      <p:sp>
        <p:nvSpPr>
          <p:cNvPr id="1501" name="Google Shape;1501;p90"/>
          <p:cNvSpPr txBox="1"/>
          <p:nvPr>
            <p:ph idx="1" type="body"/>
          </p:nvPr>
        </p:nvSpPr>
        <p:spPr>
          <a:xfrm>
            <a:off x="5076890" y="3122586"/>
            <a:ext cx="608700" cy="2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45°</a:t>
            </a:r>
            <a:endParaRPr sz="1600"/>
          </a:p>
        </p:txBody>
      </p:sp>
      <p:sp>
        <p:nvSpPr>
          <p:cNvPr id="1502" name="Google Shape;1502;p90"/>
          <p:cNvSpPr/>
          <p:nvPr/>
        </p:nvSpPr>
        <p:spPr>
          <a:xfrm flipH="1" rot="5400000">
            <a:off x="7370039" y="1412999"/>
            <a:ext cx="1357500" cy="786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3" name="Google Shape;1503;p90"/>
          <p:cNvSpPr/>
          <p:nvPr/>
        </p:nvSpPr>
        <p:spPr>
          <a:xfrm flipH="1" rot="5400000">
            <a:off x="7655249" y="2368040"/>
            <a:ext cx="114900" cy="11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4" name="Google Shape;1504;p90"/>
          <p:cNvSpPr/>
          <p:nvPr/>
        </p:nvSpPr>
        <p:spPr>
          <a:xfrm flipH="1">
            <a:off x="8207699" y="2280810"/>
            <a:ext cx="375300" cy="404400"/>
          </a:xfrm>
          <a:prstGeom prst="arc">
            <a:avLst>
              <a:gd fmla="val 17405128" name="adj1"/>
              <a:gd fmla="val 64059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5" name="Google Shape;1505;p90"/>
          <p:cNvCxnSpPr/>
          <p:nvPr/>
        </p:nvCxnSpPr>
        <p:spPr>
          <a:xfrm flipH="1" rot="-5400000">
            <a:off x="7461146" y="1372225"/>
            <a:ext cx="1330800" cy="77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06" name="Google Shape;1506;p90"/>
          <p:cNvCxnSpPr/>
          <p:nvPr/>
        </p:nvCxnSpPr>
        <p:spPr>
          <a:xfrm rot="-5400000">
            <a:off x="6885171" y="1807687"/>
            <a:ext cx="136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07" name="Google Shape;1507;p90"/>
          <p:cNvSpPr txBox="1"/>
          <p:nvPr>
            <p:ph idx="1" type="body"/>
          </p:nvPr>
        </p:nvSpPr>
        <p:spPr>
          <a:xfrm>
            <a:off x="8180822" y="1613680"/>
            <a:ext cx="6435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1508" name="Google Shape;1508;p90"/>
          <p:cNvSpPr txBox="1"/>
          <p:nvPr>
            <p:ph idx="1" type="body"/>
          </p:nvPr>
        </p:nvSpPr>
        <p:spPr>
          <a:xfrm>
            <a:off x="7949117" y="2216372"/>
            <a:ext cx="560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509" name="Google Shape;1509;p90"/>
          <p:cNvSpPr txBox="1"/>
          <p:nvPr>
            <p:ph idx="1" type="body"/>
          </p:nvPr>
        </p:nvSpPr>
        <p:spPr>
          <a:xfrm>
            <a:off x="4909476" y="3665775"/>
            <a:ext cx="494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1510" name="Google Shape;1510;p90"/>
          <p:cNvSpPr/>
          <p:nvPr/>
        </p:nvSpPr>
        <p:spPr>
          <a:xfrm rot="-2087762">
            <a:off x="7019245" y="3098443"/>
            <a:ext cx="1724329" cy="45221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90"/>
          <p:cNvSpPr/>
          <p:nvPr/>
        </p:nvSpPr>
        <p:spPr>
          <a:xfrm rot="-2154353">
            <a:off x="7254743" y="3851076"/>
            <a:ext cx="124818" cy="1248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90"/>
          <p:cNvSpPr/>
          <p:nvPr/>
        </p:nvSpPr>
        <p:spPr>
          <a:xfrm>
            <a:off x="8155250" y="2492427"/>
            <a:ext cx="1038000" cy="1037100"/>
          </a:xfrm>
          <a:prstGeom prst="arc">
            <a:avLst>
              <a:gd fmla="val 8523719" name="adj1"/>
              <a:gd fmla="val 940398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90"/>
          <p:cNvSpPr txBox="1"/>
          <p:nvPr>
            <p:ph idx="1" type="body"/>
          </p:nvPr>
        </p:nvSpPr>
        <p:spPr>
          <a:xfrm>
            <a:off x="7848136" y="3284765"/>
            <a:ext cx="375300" cy="2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15°</a:t>
            </a:r>
            <a:endParaRPr sz="1600"/>
          </a:p>
        </p:txBody>
      </p:sp>
      <p:cxnSp>
        <p:nvCxnSpPr>
          <p:cNvPr id="1514" name="Google Shape;1514;p90"/>
          <p:cNvCxnSpPr/>
          <p:nvPr/>
        </p:nvCxnSpPr>
        <p:spPr>
          <a:xfrm flipH="1" rot="10800000">
            <a:off x="7000130" y="2925929"/>
            <a:ext cx="1696200" cy="6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5" name="Google Shape;1515;p90"/>
          <p:cNvCxnSpPr/>
          <p:nvPr/>
        </p:nvCxnSpPr>
        <p:spPr>
          <a:xfrm flipH="1" rot="10800000">
            <a:off x="7377336" y="3092443"/>
            <a:ext cx="1424100" cy="99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16" name="Google Shape;1516;p90"/>
          <p:cNvCxnSpPr/>
          <p:nvPr/>
        </p:nvCxnSpPr>
        <p:spPr>
          <a:xfrm>
            <a:off x="6956314" y="3693454"/>
            <a:ext cx="258000" cy="38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17" name="Google Shape;1517;p90"/>
          <p:cNvSpPr txBox="1"/>
          <p:nvPr>
            <p:ph idx="1" type="body"/>
          </p:nvPr>
        </p:nvSpPr>
        <p:spPr>
          <a:xfrm>
            <a:off x="7331924" y="3004403"/>
            <a:ext cx="6435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m</a:t>
            </a:r>
            <a:endParaRPr sz="1600"/>
          </a:p>
        </p:txBody>
      </p:sp>
      <p:sp>
        <p:nvSpPr>
          <p:cNvPr id="1518" name="Google Shape;1518;p90"/>
          <p:cNvSpPr txBox="1"/>
          <p:nvPr/>
        </p:nvSpPr>
        <p:spPr>
          <a:xfrm>
            <a:off x="5076900" y="4244975"/>
            <a:ext cx="32868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Link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an interactive version:</a:t>
            </a: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unit circle in first quadrant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19" name="Google Shape;1519;p90"/>
          <p:cNvCxnSpPr/>
          <p:nvPr/>
        </p:nvCxnSpPr>
        <p:spPr>
          <a:xfrm>
            <a:off x="7660750" y="2599075"/>
            <a:ext cx="776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p91"/>
          <p:cNvSpPr/>
          <p:nvPr/>
        </p:nvSpPr>
        <p:spPr>
          <a:xfrm flipH="1" rot="-17697">
            <a:off x="4793079" y="1302375"/>
            <a:ext cx="932412" cy="10782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91"/>
          <p:cNvSpPr txBox="1"/>
          <p:nvPr>
            <p:ph idx="1" type="body"/>
          </p:nvPr>
        </p:nvSpPr>
        <p:spPr>
          <a:xfrm>
            <a:off x="324000" y="692400"/>
            <a:ext cx="8496000" cy="41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</a:t>
            </a:r>
            <a:r>
              <a:rPr lang="en-GB" sz="1800"/>
              <a:t>Use this </a:t>
            </a:r>
            <a:r>
              <a:rPr lang="en-GB" sz="1800"/>
              <a:t>sector</a:t>
            </a:r>
            <a:r>
              <a:rPr lang="en-GB" sz="1800"/>
              <a:t> of the unit circle to find the value of each unknown.</a:t>
            </a:r>
            <a:endParaRPr sz="1800"/>
          </a:p>
        </p:txBody>
      </p:sp>
      <p:sp>
        <p:nvSpPr>
          <p:cNvPr id="1526" name="Google Shape;1526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sine and cosine from the unit circle</a:t>
            </a:r>
            <a:endParaRPr/>
          </a:p>
        </p:txBody>
      </p:sp>
      <p:pic>
        <p:nvPicPr>
          <p:cNvPr id="1527" name="Google Shape;152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71" y="1329319"/>
            <a:ext cx="3538580" cy="342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28" name="Google Shape;1528;p91"/>
          <p:cNvSpPr txBox="1"/>
          <p:nvPr/>
        </p:nvSpPr>
        <p:spPr>
          <a:xfrm>
            <a:off x="331408" y="1043602"/>
            <a:ext cx="713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91"/>
          <p:cNvSpPr txBox="1"/>
          <p:nvPr/>
        </p:nvSpPr>
        <p:spPr>
          <a:xfrm>
            <a:off x="4147424" y="4553793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30" name="Google Shape;1530;p91"/>
          <p:cNvCxnSpPr/>
          <p:nvPr/>
        </p:nvCxnSpPr>
        <p:spPr>
          <a:xfrm rot="10800000">
            <a:off x="888465" y="1110599"/>
            <a:ext cx="0" cy="350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1" name="Google Shape;1531;p91"/>
          <p:cNvCxnSpPr/>
          <p:nvPr/>
        </p:nvCxnSpPr>
        <p:spPr>
          <a:xfrm>
            <a:off x="882633" y="4597319"/>
            <a:ext cx="3453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2" name="Google Shape;1532;p91"/>
          <p:cNvSpPr/>
          <p:nvPr/>
        </p:nvSpPr>
        <p:spPr>
          <a:xfrm flipH="1">
            <a:off x="6938535" y="3173720"/>
            <a:ext cx="1327800" cy="7695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91"/>
          <p:cNvSpPr/>
          <p:nvPr/>
        </p:nvSpPr>
        <p:spPr>
          <a:xfrm flipH="1">
            <a:off x="8154126" y="3829009"/>
            <a:ext cx="112200" cy="116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4" name="Google Shape;1534;p91"/>
          <p:cNvSpPr/>
          <p:nvPr/>
        </p:nvSpPr>
        <p:spPr>
          <a:xfrm flipH="1">
            <a:off x="6689208" y="3628384"/>
            <a:ext cx="584400" cy="629700"/>
          </a:xfrm>
          <a:prstGeom prst="arc">
            <a:avLst>
              <a:gd fmla="val 10969089" name="adj1"/>
              <a:gd fmla="val 127503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91"/>
          <p:cNvSpPr/>
          <p:nvPr/>
        </p:nvSpPr>
        <p:spPr>
          <a:xfrm rot="9518150">
            <a:off x="4652944" y="3538757"/>
            <a:ext cx="1511140" cy="581448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6" name="Google Shape;1536;p91"/>
          <p:cNvSpPr/>
          <p:nvPr/>
        </p:nvSpPr>
        <p:spPr>
          <a:xfrm rot="9517435">
            <a:off x="5906436" y="3302727"/>
            <a:ext cx="127576" cy="1275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7" name="Google Shape;1537;p91"/>
          <p:cNvSpPr/>
          <p:nvPr/>
        </p:nvSpPr>
        <p:spPr>
          <a:xfrm rot="9517825">
            <a:off x="4284225" y="3494679"/>
            <a:ext cx="665235" cy="664956"/>
          </a:xfrm>
          <a:prstGeom prst="arc">
            <a:avLst>
              <a:gd fmla="val 10795596" name="adj1"/>
              <a:gd fmla="val 1216471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8" name="Google Shape;1538;p91"/>
          <p:cNvSpPr/>
          <p:nvPr/>
        </p:nvSpPr>
        <p:spPr>
          <a:xfrm flipH="1" rot="-8725">
            <a:off x="5600385" y="2260941"/>
            <a:ext cx="118200" cy="11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9" name="Google Shape;1539;p91"/>
          <p:cNvSpPr/>
          <p:nvPr/>
        </p:nvSpPr>
        <p:spPr>
          <a:xfrm flipH="1" rot="-19349">
            <a:off x="4678485" y="2222248"/>
            <a:ext cx="319805" cy="319505"/>
          </a:xfrm>
          <a:prstGeom prst="arc">
            <a:avLst>
              <a:gd fmla="val 10637741" name="adj1"/>
              <a:gd fmla="val 140680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0" name="Google Shape;1540;p91"/>
          <p:cNvSpPr txBox="1"/>
          <p:nvPr>
            <p:ph idx="1" type="body"/>
          </p:nvPr>
        </p:nvSpPr>
        <p:spPr>
          <a:xfrm>
            <a:off x="4573878" y="10989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41" name="Google Shape;1541;p91"/>
          <p:cNvSpPr txBox="1"/>
          <p:nvPr>
            <p:ph idx="1" type="body"/>
          </p:nvPr>
        </p:nvSpPr>
        <p:spPr>
          <a:xfrm>
            <a:off x="6826515" y="10989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42" name="Google Shape;1542;p91"/>
          <p:cNvSpPr txBox="1"/>
          <p:nvPr>
            <p:ph idx="1" type="body"/>
          </p:nvPr>
        </p:nvSpPr>
        <p:spPr>
          <a:xfrm>
            <a:off x="4573878" y="29277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</a:t>
            </a:r>
            <a:r>
              <a:rPr lang="en-GB" sz="1800"/>
              <a:t>)</a:t>
            </a:r>
            <a:endParaRPr sz="1800"/>
          </a:p>
        </p:txBody>
      </p:sp>
      <p:sp>
        <p:nvSpPr>
          <p:cNvPr id="1543" name="Google Shape;1543;p91"/>
          <p:cNvSpPr txBox="1"/>
          <p:nvPr>
            <p:ph idx="1" type="body"/>
          </p:nvPr>
        </p:nvSpPr>
        <p:spPr>
          <a:xfrm>
            <a:off x="6826515" y="29277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</a:t>
            </a:r>
            <a:r>
              <a:rPr lang="en-GB" sz="1800"/>
              <a:t>)</a:t>
            </a:r>
            <a:endParaRPr sz="1800"/>
          </a:p>
        </p:txBody>
      </p:sp>
      <p:cxnSp>
        <p:nvCxnSpPr>
          <p:cNvPr id="1544" name="Google Shape;1544;p91"/>
          <p:cNvCxnSpPr/>
          <p:nvPr/>
        </p:nvCxnSpPr>
        <p:spPr>
          <a:xfrm flipH="1" rot="10800000">
            <a:off x="6907230" y="3101810"/>
            <a:ext cx="1301700" cy="76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5" name="Google Shape;1545;p91"/>
          <p:cNvCxnSpPr/>
          <p:nvPr/>
        </p:nvCxnSpPr>
        <p:spPr>
          <a:xfrm rot="10800000">
            <a:off x="8346593" y="3176481"/>
            <a:ext cx="0" cy="76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6" name="Google Shape;1546;p91"/>
          <p:cNvCxnSpPr/>
          <p:nvPr/>
        </p:nvCxnSpPr>
        <p:spPr>
          <a:xfrm rot="10800000">
            <a:off x="5807823" y="1300150"/>
            <a:ext cx="0" cy="108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7" name="Google Shape;1547;p91"/>
          <p:cNvCxnSpPr/>
          <p:nvPr/>
        </p:nvCxnSpPr>
        <p:spPr>
          <a:xfrm flipH="1" rot="10800000">
            <a:off x="4715848" y="1233193"/>
            <a:ext cx="927300" cy="108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8" name="Google Shape;1548;p91"/>
          <p:cNvSpPr txBox="1"/>
          <p:nvPr>
            <p:ph idx="1" type="body"/>
          </p:nvPr>
        </p:nvSpPr>
        <p:spPr>
          <a:xfrm>
            <a:off x="7196575" y="3231052"/>
            <a:ext cx="6297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m</a:t>
            </a:r>
            <a:endParaRPr sz="1600"/>
          </a:p>
        </p:txBody>
      </p:sp>
      <p:sp>
        <p:nvSpPr>
          <p:cNvPr id="1549" name="Google Shape;1549;p91"/>
          <p:cNvSpPr txBox="1"/>
          <p:nvPr>
            <p:ph idx="1" type="body"/>
          </p:nvPr>
        </p:nvSpPr>
        <p:spPr>
          <a:xfrm>
            <a:off x="7298245" y="3699070"/>
            <a:ext cx="5478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600"/>
              <a:t>°</a:t>
            </a:r>
            <a:endParaRPr sz="1600"/>
          </a:p>
        </p:txBody>
      </p:sp>
      <p:sp>
        <p:nvSpPr>
          <p:cNvPr id="1550" name="Google Shape;1550;p91"/>
          <p:cNvSpPr txBox="1"/>
          <p:nvPr>
            <p:ph idx="1" type="body"/>
          </p:nvPr>
        </p:nvSpPr>
        <p:spPr>
          <a:xfrm flipH="1">
            <a:off x="5007661" y="2156438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50°</a:t>
            </a:r>
            <a:endParaRPr sz="1600"/>
          </a:p>
        </p:txBody>
      </p:sp>
      <p:sp>
        <p:nvSpPr>
          <p:cNvPr id="1551" name="Google Shape;1551;p91"/>
          <p:cNvSpPr txBox="1"/>
          <p:nvPr>
            <p:ph idx="1" type="body"/>
          </p:nvPr>
        </p:nvSpPr>
        <p:spPr>
          <a:xfrm>
            <a:off x="8364711" y="3444689"/>
            <a:ext cx="5478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552" name="Google Shape;1552;p91"/>
          <p:cNvSpPr/>
          <p:nvPr/>
        </p:nvSpPr>
        <p:spPr>
          <a:xfrm flipH="1" rot="-17378">
            <a:off x="7034885" y="1231798"/>
            <a:ext cx="1008913" cy="11667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91"/>
          <p:cNvSpPr/>
          <p:nvPr/>
        </p:nvSpPr>
        <p:spPr>
          <a:xfrm flipH="1" rot="-8070">
            <a:off x="7908572" y="2269073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4" name="Google Shape;1554;p91"/>
          <p:cNvCxnSpPr/>
          <p:nvPr/>
        </p:nvCxnSpPr>
        <p:spPr>
          <a:xfrm>
            <a:off x="7022914" y="2489179"/>
            <a:ext cx="101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5" name="Google Shape;1555;p91"/>
          <p:cNvCxnSpPr/>
          <p:nvPr/>
        </p:nvCxnSpPr>
        <p:spPr>
          <a:xfrm flipH="1" rot="10800000">
            <a:off x="6951344" y="1157073"/>
            <a:ext cx="1003500" cy="117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56" name="Google Shape;1556;p91"/>
          <p:cNvSpPr txBox="1"/>
          <p:nvPr>
            <p:ph idx="1" type="body"/>
          </p:nvPr>
        </p:nvSpPr>
        <p:spPr>
          <a:xfrm flipH="1">
            <a:off x="7267011" y="2156006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50°</a:t>
            </a:r>
            <a:endParaRPr sz="1600"/>
          </a:p>
        </p:txBody>
      </p:sp>
      <p:sp>
        <p:nvSpPr>
          <p:cNvPr id="1557" name="Google Shape;1557;p91"/>
          <p:cNvSpPr/>
          <p:nvPr/>
        </p:nvSpPr>
        <p:spPr>
          <a:xfrm flipH="1" rot="-17889">
            <a:off x="6910990" y="2227144"/>
            <a:ext cx="345905" cy="345605"/>
          </a:xfrm>
          <a:prstGeom prst="arc">
            <a:avLst>
              <a:gd fmla="val 10637741" name="adj1"/>
              <a:gd fmla="val 140680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8" name="Google Shape;1558;p91"/>
          <p:cNvCxnSpPr/>
          <p:nvPr/>
        </p:nvCxnSpPr>
        <p:spPr>
          <a:xfrm flipH="1" rot="10800000">
            <a:off x="4572823" y="3173598"/>
            <a:ext cx="1370700" cy="5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9" name="Google Shape;1559;p91"/>
          <p:cNvCxnSpPr/>
          <p:nvPr/>
        </p:nvCxnSpPr>
        <p:spPr>
          <a:xfrm>
            <a:off x="4584923" y="3931491"/>
            <a:ext cx="164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0" name="Google Shape;1560;p91"/>
          <p:cNvSpPr txBox="1"/>
          <p:nvPr>
            <p:ph idx="1" type="body"/>
          </p:nvPr>
        </p:nvSpPr>
        <p:spPr>
          <a:xfrm flipH="1">
            <a:off x="5825746" y="1780621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sp>
        <p:nvSpPr>
          <p:cNvPr id="1561" name="Google Shape;1561;p91"/>
          <p:cNvSpPr txBox="1"/>
          <p:nvPr>
            <p:ph idx="1" type="body"/>
          </p:nvPr>
        </p:nvSpPr>
        <p:spPr>
          <a:xfrm flipH="1">
            <a:off x="7354671" y="2466201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562" name="Google Shape;1562;p91"/>
          <p:cNvSpPr txBox="1"/>
          <p:nvPr>
            <p:ph idx="1" type="body"/>
          </p:nvPr>
        </p:nvSpPr>
        <p:spPr>
          <a:xfrm flipH="1">
            <a:off x="5207528" y="3923029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 m</a:t>
            </a:r>
            <a:endParaRPr sz="1600"/>
          </a:p>
        </p:txBody>
      </p:sp>
      <p:sp>
        <p:nvSpPr>
          <p:cNvPr id="1563" name="Google Shape;1563;p91"/>
          <p:cNvSpPr txBox="1"/>
          <p:nvPr>
            <p:ph idx="1" type="body"/>
          </p:nvPr>
        </p:nvSpPr>
        <p:spPr>
          <a:xfrm flipH="1">
            <a:off x="4802497" y="1542329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564" name="Google Shape;1564;p91"/>
          <p:cNvSpPr txBox="1"/>
          <p:nvPr>
            <p:ph idx="1" type="body"/>
          </p:nvPr>
        </p:nvSpPr>
        <p:spPr>
          <a:xfrm flipH="1">
            <a:off x="7107664" y="1491493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565" name="Google Shape;1565;p91"/>
          <p:cNvSpPr txBox="1"/>
          <p:nvPr>
            <p:ph idx="1" type="body"/>
          </p:nvPr>
        </p:nvSpPr>
        <p:spPr>
          <a:xfrm flipH="1">
            <a:off x="4965036" y="3167893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566" name="Google Shape;1566;p91"/>
          <p:cNvSpPr txBox="1"/>
          <p:nvPr>
            <p:ph idx="1" type="body"/>
          </p:nvPr>
        </p:nvSpPr>
        <p:spPr>
          <a:xfrm flipH="1">
            <a:off x="5070747" y="3604627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0°</a:t>
            </a:r>
            <a:endParaRPr sz="1600"/>
          </a:p>
        </p:txBody>
      </p:sp>
      <p:sp>
        <p:nvSpPr>
          <p:cNvPr id="1567" name="Google Shape;1567;p91"/>
          <p:cNvSpPr txBox="1"/>
          <p:nvPr/>
        </p:nvSpPr>
        <p:spPr>
          <a:xfrm>
            <a:off x="4999175" y="4258075"/>
            <a:ext cx="33402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Link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an interactive version:</a:t>
            </a: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unit circle in first quadrant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p92"/>
          <p:cNvSpPr txBox="1"/>
          <p:nvPr>
            <p:ph idx="1" type="body"/>
          </p:nvPr>
        </p:nvSpPr>
        <p:spPr>
          <a:xfrm>
            <a:off x="1044500" y="675690"/>
            <a:ext cx="7779600" cy="64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this sector of the unit circle to find the missing lengths on each triangle.</a:t>
            </a:r>
            <a:endParaRPr sz="1800"/>
          </a:p>
        </p:txBody>
      </p:sp>
      <p:sp>
        <p:nvSpPr>
          <p:cNvPr id="1573" name="Google Shape;1573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the unit circle</a:t>
            </a:r>
            <a:endParaRPr/>
          </a:p>
        </p:txBody>
      </p:sp>
      <p:pic>
        <p:nvPicPr>
          <p:cNvPr id="1574" name="Google Shape;157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71" y="1329319"/>
            <a:ext cx="3538580" cy="342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92"/>
          <p:cNvSpPr txBox="1"/>
          <p:nvPr/>
        </p:nvSpPr>
        <p:spPr>
          <a:xfrm>
            <a:off x="331408" y="1043602"/>
            <a:ext cx="713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92"/>
          <p:cNvSpPr txBox="1"/>
          <p:nvPr/>
        </p:nvSpPr>
        <p:spPr>
          <a:xfrm>
            <a:off x="4147424" y="4553793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77" name="Google Shape;1577;p92"/>
          <p:cNvCxnSpPr/>
          <p:nvPr/>
        </p:nvCxnSpPr>
        <p:spPr>
          <a:xfrm rot="10800000">
            <a:off x="888465" y="1110599"/>
            <a:ext cx="0" cy="350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8" name="Google Shape;1578;p92"/>
          <p:cNvCxnSpPr/>
          <p:nvPr/>
        </p:nvCxnSpPr>
        <p:spPr>
          <a:xfrm>
            <a:off x="882633" y="4597319"/>
            <a:ext cx="3453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9" name="Google Shape;1579;p92"/>
          <p:cNvSpPr/>
          <p:nvPr/>
        </p:nvSpPr>
        <p:spPr>
          <a:xfrm rot="10800000">
            <a:off x="4841736" y="3327590"/>
            <a:ext cx="1002000" cy="10290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0" name="Google Shape;1580;p92"/>
          <p:cNvSpPr/>
          <p:nvPr/>
        </p:nvSpPr>
        <p:spPr>
          <a:xfrm rot="10800000">
            <a:off x="5718944" y="3327625"/>
            <a:ext cx="124800" cy="124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1" name="Google Shape;1581;p92"/>
          <p:cNvSpPr/>
          <p:nvPr/>
        </p:nvSpPr>
        <p:spPr>
          <a:xfrm rot="10800000">
            <a:off x="4595493" y="3080934"/>
            <a:ext cx="494100" cy="493800"/>
          </a:xfrm>
          <a:prstGeom prst="arc">
            <a:avLst>
              <a:gd fmla="val 10969089" name="adj1"/>
              <a:gd fmla="val 13418498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2" name="Google Shape;1582;p92"/>
          <p:cNvSpPr/>
          <p:nvPr/>
        </p:nvSpPr>
        <p:spPr>
          <a:xfrm flipH="1">
            <a:off x="4655171" y="1416601"/>
            <a:ext cx="1357500" cy="786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3" name="Google Shape;1583;p92"/>
          <p:cNvSpPr/>
          <p:nvPr/>
        </p:nvSpPr>
        <p:spPr>
          <a:xfrm flipH="1">
            <a:off x="5897763" y="2086442"/>
            <a:ext cx="114900" cy="11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4" name="Google Shape;1584;p92"/>
          <p:cNvSpPr/>
          <p:nvPr/>
        </p:nvSpPr>
        <p:spPr>
          <a:xfrm flipH="1">
            <a:off x="4374135" y="1881361"/>
            <a:ext cx="597300" cy="643500"/>
          </a:xfrm>
          <a:prstGeom prst="arc">
            <a:avLst>
              <a:gd fmla="val 10969089" name="adj1"/>
              <a:gd fmla="val 1258515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85" name="Google Shape;1585;p92"/>
          <p:cNvSpPr txBox="1"/>
          <p:nvPr>
            <p:ph idx="1" type="body"/>
          </p:nvPr>
        </p:nvSpPr>
        <p:spPr>
          <a:xfrm>
            <a:off x="4591104" y="1098894"/>
            <a:ext cx="243900" cy="2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586" name="Google Shape;1586;p92"/>
          <p:cNvSpPr txBox="1"/>
          <p:nvPr>
            <p:ph idx="1" type="body"/>
          </p:nvPr>
        </p:nvSpPr>
        <p:spPr>
          <a:xfrm>
            <a:off x="6840599" y="1098894"/>
            <a:ext cx="243900" cy="2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587" name="Google Shape;1587;p92"/>
          <p:cNvSpPr txBox="1"/>
          <p:nvPr>
            <p:ph idx="1" type="body"/>
          </p:nvPr>
        </p:nvSpPr>
        <p:spPr>
          <a:xfrm>
            <a:off x="4591104" y="2999198"/>
            <a:ext cx="243900" cy="2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588" name="Google Shape;1588;p92"/>
          <p:cNvSpPr txBox="1"/>
          <p:nvPr>
            <p:ph idx="1" type="body"/>
          </p:nvPr>
        </p:nvSpPr>
        <p:spPr>
          <a:xfrm>
            <a:off x="6840599" y="2999198"/>
            <a:ext cx="243900" cy="2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1589" name="Google Shape;1589;p92"/>
          <p:cNvCxnSpPr/>
          <p:nvPr/>
        </p:nvCxnSpPr>
        <p:spPr>
          <a:xfrm flipH="1" rot="10800000">
            <a:off x="4623400" y="1343195"/>
            <a:ext cx="1330800" cy="77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0" name="Google Shape;1590;p92"/>
          <p:cNvCxnSpPr/>
          <p:nvPr/>
        </p:nvCxnSpPr>
        <p:spPr>
          <a:xfrm rot="10800000">
            <a:off x="6094711" y="1419698"/>
            <a:ext cx="0" cy="785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1" name="Google Shape;1591;p92"/>
          <p:cNvCxnSpPr/>
          <p:nvPr/>
        </p:nvCxnSpPr>
        <p:spPr>
          <a:xfrm rot="10800000">
            <a:off x="4655060" y="2293270"/>
            <a:ext cx="136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2" name="Google Shape;1592;p92"/>
          <p:cNvCxnSpPr/>
          <p:nvPr/>
        </p:nvCxnSpPr>
        <p:spPr>
          <a:xfrm rot="10800000">
            <a:off x="4828232" y="3249266"/>
            <a:ext cx="1022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3" name="Google Shape;1593;p92"/>
          <p:cNvCxnSpPr/>
          <p:nvPr/>
        </p:nvCxnSpPr>
        <p:spPr>
          <a:xfrm rot="10800000">
            <a:off x="5937411" y="3332249"/>
            <a:ext cx="0" cy="103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94" name="Google Shape;1594;p92"/>
          <p:cNvCxnSpPr/>
          <p:nvPr/>
        </p:nvCxnSpPr>
        <p:spPr>
          <a:xfrm rot="10800000">
            <a:off x="4755714" y="3396173"/>
            <a:ext cx="1009500" cy="103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95" name="Google Shape;1595;p92"/>
          <p:cNvSpPr txBox="1"/>
          <p:nvPr>
            <p:ph idx="1" type="body"/>
          </p:nvPr>
        </p:nvSpPr>
        <p:spPr>
          <a:xfrm>
            <a:off x="4980651" y="1412600"/>
            <a:ext cx="560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1596" name="Google Shape;1596;p92"/>
          <p:cNvSpPr txBox="1"/>
          <p:nvPr>
            <p:ph idx="1" type="body"/>
          </p:nvPr>
        </p:nvSpPr>
        <p:spPr>
          <a:xfrm>
            <a:off x="5005471" y="1980051"/>
            <a:ext cx="560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30°</a:t>
            </a:r>
            <a:endParaRPr sz="1600"/>
          </a:p>
        </p:txBody>
      </p:sp>
      <p:sp>
        <p:nvSpPr>
          <p:cNvPr id="1597" name="Google Shape;1597;p92"/>
          <p:cNvSpPr txBox="1"/>
          <p:nvPr>
            <p:ph idx="1" type="body"/>
          </p:nvPr>
        </p:nvSpPr>
        <p:spPr>
          <a:xfrm>
            <a:off x="5076890" y="3351186"/>
            <a:ext cx="608700" cy="2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45°</a:t>
            </a:r>
            <a:endParaRPr sz="1600"/>
          </a:p>
        </p:txBody>
      </p:sp>
      <p:sp>
        <p:nvSpPr>
          <p:cNvPr id="1598" name="Google Shape;1598;p92"/>
          <p:cNvSpPr/>
          <p:nvPr/>
        </p:nvSpPr>
        <p:spPr>
          <a:xfrm flipH="1" rot="5400000">
            <a:off x="7370039" y="1412999"/>
            <a:ext cx="1357500" cy="7866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9" name="Google Shape;1599;p92"/>
          <p:cNvSpPr/>
          <p:nvPr/>
        </p:nvSpPr>
        <p:spPr>
          <a:xfrm flipH="1" rot="5400000">
            <a:off x="7655249" y="2368040"/>
            <a:ext cx="114900" cy="119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0" name="Google Shape;1600;p92"/>
          <p:cNvSpPr/>
          <p:nvPr/>
        </p:nvSpPr>
        <p:spPr>
          <a:xfrm flipH="1">
            <a:off x="8207699" y="2280810"/>
            <a:ext cx="375300" cy="404400"/>
          </a:xfrm>
          <a:prstGeom prst="arc">
            <a:avLst>
              <a:gd fmla="val 17405128" name="adj1"/>
              <a:gd fmla="val 64059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1" name="Google Shape;1601;p92"/>
          <p:cNvCxnSpPr/>
          <p:nvPr/>
        </p:nvCxnSpPr>
        <p:spPr>
          <a:xfrm flipH="1" rot="-5400000">
            <a:off x="7461146" y="1372225"/>
            <a:ext cx="1330800" cy="777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02" name="Google Shape;1602;p92"/>
          <p:cNvCxnSpPr/>
          <p:nvPr/>
        </p:nvCxnSpPr>
        <p:spPr>
          <a:xfrm rot="-5400000">
            <a:off x="6885171" y="1807687"/>
            <a:ext cx="1360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3" name="Google Shape;1603;p92"/>
          <p:cNvSpPr txBox="1"/>
          <p:nvPr>
            <p:ph idx="1" type="body"/>
          </p:nvPr>
        </p:nvSpPr>
        <p:spPr>
          <a:xfrm>
            <a:off x="8180822" y="1613680"/>
            <a:ext cx="6435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1604" name="Google Shape;1604;p92"/>
          <p:cNvSpPr txBox="1"/>
          <p:nvPr>
            <p:ph idx="1" type="body"/>
          </p:nvPr>
        </p:nvSpPr>
        <p:spPr>
          <a:xfrm>
            <a:off x="7949117" y="2216372"/>
            <a:ext cx="560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60°</a:t>
            </a:r>
            <a:endParaRPr sz="1600"/>
          </a:p>
        </p:txBody>
      </p:sp>
      <p:sp>
        <p:nvSpPr>
          <p:cNvPr id="1605" name="Google Shape;1605;p92"/>
          <p:cNvSpPr txBox="1"/>
          <p:nvPr>
            <p:ph idx="1" type="body"/>
          </p:nvPr>
        </p:nvSpPr>
        <p:spPr>
          <a:xfrm>
            <a:off x="4909476" y="3894375"/>
            <a:ext cx="494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8 m</a:t>
            </a:r>
            <a:endParaRPr sz="1600"/>
          </a:p>
        </p:txBody>
      </p:sp>
      <p:sp>
        <p:nvSpPr>
          <p:cNvPr id="1606" name="Google Shape;1606;p92"/>
          <p:cNvSpPr/>
          <p:nvPr/>
        </p:nvSpPr>
        <p:spPr>
          <a:xfrm rot="-2087762">
            <a:off x="7019245" y="3327043"/>
            <a:ext cx="1724329" cy="45221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7" name="Google Shape;1607;p92"/>
          <p:cNvSpPr/>
          <p:nvPr/>
        </p:nvSpPr>
        <p:spPr>
          <a:xfrm rot="-2154353">
            <a:off x="7254743" y="4079676"/>
            <a:ext cx="124818" cy="12481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8" name="Google Shape;1608;p92"/>
          <p:cNvSpPr/>
          <p:nvPr/>
        </p:nvSpPr>
        <p:spPr>
          <a:xfrm>
            <a:off x="8155250" y="2721027"/>
            <a:ext cx="1038000" cy="1037100"/>
          </a:xfrm>
          <a:prstGeom prst="arc">
            <a:avLst>
              <a:gd fmla="val 8523719" name="adj1"/>
              <a:gd fmla="val 940398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9" name="Google Shape;1609;p92"/>
          <p:cNvSpPr txBox="1"/>
          <p:nvPr>
            <p:ph idx="1" type="body"/>
          </p:nvPr>
        </p:nvSpPr>
        <p:spPr>
          <a:xfrm>
            <a:off x="7848136" y="3513365"/>
            <a:ext cx="375300" cy="27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15°</a:t>
            </a:r>
            <a:endParaRPr sz="1600"/>
          </a:p>
        </p:txBody>
      </p:sp>
      <p:cxnSp>
        <p:nvCxnSpPr>
          <p:cNvPr id="1610" name="Google Shape;1610;p92"/>
          <p:cNvCxnSpPr/>
          <p:nvPr/>
        </p:nvCxnSpPr>
        <p:spPr>
          <a:xfrm flipH="1" rot="10800000">
            <a:off x="7000130" y="3154529"/>
            <a:ext cx="1696200" cy="602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1" name="Google Shape;1611;p92"/>
          <p:cNvCxnSpPr/>
          <p:nvPr/>
        </p:nvCxnSpPr>
        <p:spPr>
          <a:xfrm flipH="1" rot="10800000">
            <a:off x="7377336" y="3321043"/>
            <a:ext cx="1424100" cy="997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12" name="Google Shape;1612;p92"/>
          <p:cNvCxnSpPr/>
          <p:nvPr/>
        </p:nvCxnSpPr>
        <p:spPr>
          <a:xfrm>
            <a:off x="6956314" y="3922054"/>
            <a:ext cx="258000" cy="38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13" name="Google Shape;1613;p92"/>
          <p:cNvSpPr txBox="1"/>
          <p:nvPr>
            <p:ph idx="1" type="body"/>
          </p:nvPr>
        </p:nvSpPr>
        <p:spPr>
          <a:xfrm>
            <a:off x="7331924" y="3233003"/>
            <a:ext cx="6435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12 m</a:t>
            </a:r>
            <a:endParaRPr sz="1600"/>
          </a:p>
        </p:txBody>
      </p:sp>
      <p:sp>
        <p:nvSpPr>
          <p:cNvPr id="1614" name="Google Shape;1614;p92"/>
          <p:cNvSpPr txBox="1"/>
          <p:nvPr>
            <p:ph idx="1" type="body"/>
          </p:nvPr>
        </p:nvSpPr>
        <p:spPr>
          <a:xfrm>
            <a:off x="6116904" y="1717405"/>
            <a:ext cx="6435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5" name="Google Shape;1615;p92"/>
          <p:cNvSpPr txBox="1"/>
          <p:nvPr>
            <p:ph idx="1" type="body"/>
          </p:nvPr>
        </p:nvSpPr>
        <p:spPr>
          <a:xfrm>
            <a:off x="5064116" y="2284921"/>
            <a:ext cx="7779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8.7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6" name="Google Shape;1616;p92"/>
          <p:cNvSpPr txBox="1"/>
          <p:nvPr>
            <p:ph idx="1" type="body"/>
          </p:nvPr>
        </p:nvSpPr>
        <p:spPr>
          <a:xfrm>
            <a:off x="6971000" y="1673434"/>
            <a:ext cx="6831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8.7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7" name="Google Shape;1617;p92"/>
          <p:cNvSpPr txBox="1"/>
          <p:nvPr>
            <p:ph idx="1" type="body"/>
          </p:nvPr>
        </p:nvSpPr>
        <p:spPr>
          <a:xfrm>
            <a:off x="7820325" y="2555605"/>
            <a:ext cx="6435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8" name="Google Shape;1618;p92"/>
          <p:cNvSpPr txBox="1"/>
          <p:nvPr>
            <p:ph idx="1" type="body"/>
          </p:nvPr>
        </p:nvSpPr>
        <p:spPr>
          <a:xfrm>
            <a:off x="5097893" y="2990987"/>
            <a:ext cx="7779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5.7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19" name="Google Shape;1619;p92"/>
          <p:cNvSpPr txBox="1"/>
          <p:nvPr>
            <p:ph idx="1" type="body"/>
          </p:nvPr>
        </p:nvSpPr>
        <p:spPr>
          <a:xfrm>
            <a:off x="5936093" y="3615989"/>
            <a:ext cx="7779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5.7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0" name="Google Shape;1620;p92"/>
          <p:cNvSpPr txBox="1"/>
          <p:nvPr>
            <p:ph idx="1" type="body"/>
          </p:nvPr>
        </p:nvSpPr>
        <p:spPr>
          <a:xfrm>
            <a:off x="6476248" y="4025902"/>
            <a:ext cx="7779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3.1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21" name="Google Shape;1621;p92"/>
          <p:cNvSpPr txBox="1"/>
          <p:nvPr>
            <p:ph idx="1" type="body"/>
          </p:nvPr>
        </p:nvSpPr>
        <p:spPr>
          <a:xfrm>
            <a:off x="7878467" y="3918408"/>
            <a:ext cx="7779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11.6 m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622" name="Google Shape;1622;p92"/>
          <p:cNvCxnSpPr/>
          <p:nvPr/>
        </p:nvCxnSpPr>
        <p:spPr>
          <a:xfrm rot="10800000">
            <a:off x="7669100" y="2560750"/>
            <a:ext cx="783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93"/>
          <p:cNvSpPr txBox="1"/>
          <p:nvPr>
            <p:ph idx="1" type="body"/>
          </p:nvPr>
        </p:nvSpPr>
        <p:spPr>
          <a:xfrm>
            <a:off x="324000" y="665700"/>
            <a:ext cx="8496000" cy="4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Use this sector of the unit circle to find the value of each unknown.</a:t>
            </a:r>
            <a:endParaRPr sz="1800"/>
          </a:p>
        </p:txBody>
      </p:sp>
      <p:sp>
        <p:nvSpPr>
          <p:cNvPr id="1628" name="Google Shape;1628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the unit circle</a:t>
            </a:r>
            <a:endParaRPr/>
          </a:p>
        </p:txBody>
      </p:sp>
      <p:pic>
        <p:nvPicPr>
          <p:cNvPr id="1629" name="Google Shape;162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671" y="1329319"/>
            <a:ext cx="3538580" cy="342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93"/>
          <p:cNvSpPr txBox="1"/>
          <p:nvPr/>
        </p:nvSpPr>
        <p:spPr>
          <a:xfrm>
            <a:off x="331408" y="1043602"/>
            <a:ext cx="7131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93"/>
          <p:cNvSpPr txBox="1"/>
          <p:nvPr/>
        </p:nvSpPr>
        <p:spPr>
          <a:xfrm>
            <a:off x="4147424" y="4553793"/>
            <a:ext cx="7245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2" name="Google Shape;1632;p93"/>
          <p:cNvCxnSpPr/>
          <p:nvPr/>
        </p:nvCxnSpPr>
        <p:spPr>
          <a:xfrm rot="10800000">
            <a:off x="888465" y="1110599"/>
            <a:ext cx="0" cy="3501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3" name="Google Shape;1633;p93"/>
          <p:cNvCxnSpPr/>
          <p:nvPr/>
        </p:nvCxnSpPr>
        <p:spPr>
          <a:xfrm>
            <a:off x="882633" y="4597319"/>
            <a:ext cx="34536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4" name="Google Shape;1634;p93"/>
          <p:cNvSpPr/>
          <p:nvPr/>
        </p:nvSpPr>
        <p:spPr>
          <a:xfrm flipH="1">
            <a:off x="6938535" y="3326120"/>
            <a:ext cx="1327800" cy="769500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93"/>
          <p:cNvSpPr/>
          <p:nvPr/>
        </p:nvSpPr>
        <p:spPr>
          <a:xfrm flipH="1">
            <a:off x="8154126" y="3981409"/>
            <a:ext cx="112200" cy="116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6" name="Google Shape;1636;p93"/>
          <p:cNvSpPr/>
          <p:nvPr/>
        </p:nvSpPr>
        <p:spPr>
          <a:xfrm flipH="1">
            <a:off x="6689208" y="3780784"/>
            <a:ext cx="584400" cy="629700"/>
          </a:xfrm>
          <a:prstGeom prst="arc">
            <a:avLst>
              <a:gd fmla="val 10969089" name="adj1"/>
              <a:gd fmla="val 1275033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7" name="Google Shape;1637;p93"/>
          <p:cNvSpPr/>
          <p:nvPr/>
        </p:nvSpPr>
        <p:spPr>
          <a:xfrm rot="9518150">
            <a:off x="4652944" y="3691157"/>
            <a:ext cx="1511140" cy="581448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8" name="Google Shape;1638;p93"/>
          <p:cNvSpPr/>
          <p:nvPr/>
        </p:nvSpPr>
        <p:spPr>
          <a:xfrm rot="9517435">
            <a:off x="5906436" y="3455127"/>
            <a:ext cx="127576" cy="1275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9" name="Google Shape;1639;p93"/>
          <p:cNvSpPr/>
          <p:nvPr/>
        </p:nvSpPr>
        <p:spPr>
          <a:xfrm rot="9517825">
            <a:off x="4284225" y="3647079"/>
            <a:ext cx="665235" cy="664956"/>
          </a:xfrm>
          <a:prstGeom prst="arc">
            <a:avLst>
              <a:gd fmla="val 10795596" name="adj1"/>
              <a:gd fmla="val 12164716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93"/>
          <p:cNvSpPr txBox="1"/>
          <p:nvPr>
            <p:ph idx="1" type="body"/>
          </p:nvPr>
        </p:nvSpPr>
        <p:spPr>
          <a:xfrm>
            <a:off x="4573878" y="10989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1641" name="Google Shape;1641;p93"/>
          <p:cNvSpPr txBox="1"/>
          <p:nvPr>
            <p:ph idx="1" type="body"/>
          </p:nvPr>
        </p:nvSpPr>
        <p:spPr>
          <a:xfrm>
            <a:off x="6826515" y="10989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1642" name="Google Shape;1642;p93"/>
          <p:cNvSpPr txBox="1"/>
          <p:nvPr>
            <p:ph idx="1" type="body"/>
          </p:nvPr>
        </p:nvSpPr>
        <p:spPr>
          <a:xfrm>
            <a:off x="4573878" y="30801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1643" name="Google Shape;1643;p93"/>
          <p:cNvSpPr txBox="1"/>
          <p:nvPr>
            <p:ph idx="1" type="body"/>
          </p:nvPr>
        </p:nvSpPr>
        <p:spPr>
          <a:xfrm>
            <a:off x="6826515" y="30801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1644" name="Google Shape;1644;p93"/>
          <p:cNvCxnSpPr/>
          <p:nvPr/>
        </p:nvCxnSpPr>
        <p:spPr>
          <a:xfrm flipH="1" rot="10800000">
            <a:off x="6907230" y="3254210"/>
            <a:ext cx="1301700" cy="761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45" name="Google Shape;1645;p93"/>
          <p:cNvCxnSpPr/>
          <p:nvPr/>
        </p:nvCxnSpPr>
        <p:spPr>
          <a:xfrm rot="10800000">
            <a:off x="8346593" y="3328881"/>
            <a:ext cx="0" cy="76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46" name="Google Shape;1646;p93"/>
          <p:cNvSpPr txBox="1"/>
          <p:nvPr>
            <p:ph idx="1" type="body"/>
          </p:nvPr>
        </p:nvSpPr>
        <p:spPr>
          <a:xfrm>
            <a:off x="7196575" y="3383452"/>
            <a:ext cx="6297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m</a:t>
            </a:r>
            <a:endParaRPr sz="1600"/>
          </a:p>
        </p:txBody>
      </p:sp>
      <p:sp>
        <p:nvSpPr>
          <p:cNvPr id="1647" name="Google Shape;1647;p93"/>
          <p:cNvSpPr txBox="1"/>
          <p:nvPr>
            <p:ph idx="1" type="body"/>
          </p:nvPr>
        </p:nvSpPr>
        <p:spPr>
          <a:xfrm>
            <a:off x="7298245" y="3851470"/>
            <a:ext cx="5478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600"/>
              <a:t>°</a:t>
            </a:r>
            <a:endParaRPr sz="1600"/>
          </a:p>
        </p:txBody>
      </p:sp>
      <p:sp>
        <p:nvSpPr>
          <p:cNvPr id="1648" name="Google Shape;1648;p93"/>
          <p:cNvSpPr txBox="1"/>
          <p:nvPr>
            <p:ph idx="1" type="body"/>
          </p:nvPr>
        </p:nvSpPr>
        <p:spPr>
          <a:xfrm>
            <a:off x="8364711" y="3597089"/>
            <a:ext cx="547800" cy="26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1649" name="Google Shape;1649;p93"/>
          <p:cNvSpPr/>
          <p:nvPr/>
        </p:nvSpPr>
        <p:spPr>
          <a:xfrm flipH="1" rot="-17378">
            <a:off x="7034885" y="1231798"/>
            <a:ext cx="1008913" cy="11667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0" name="Google Shape;1650;p93"/>
          <p:cNvSpPr/>
          <p:nvPr/>
        </p:nvSpPr>
        <p:spPr>
          <a:xfrm flipH="1" rot="-8070">
            <a:off x="7908572" y="2269073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1" name="Google Shape;1651;p93"/>
          <p:cNvCxnSpPr/>
          <p:nvPr/>
        </p:nvCxnSpPr>
        <p:spPr>
          <a:xfrm>
            <a:off x="7022914" y="2489179"/>
            <a:ext cx="101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2" name="Google Shape;1652;p93"/>
          <p:cNvCxnSpPr/>
          <p:nvPr/>
        </p:nvCxnSpPr>
        <p:spPr>
          <a:xfrm flipH="1" rot="10800000">
            <a:off x="6951344" y="1157073"/>
            <a:ext cx="1003500" cy="1171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3" name="Google Shape;1653;p93"/>
          <p:cNvSpPr txBox="1"/>
          <p:nvPr>
            <p:ph idx="1" type="body"/>
          </p:nvPr>
        </p:nvSpPr>
        <p:spPr>
          <a:xfrm flipH="1">
            <a:off x="7267011" y="2156006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50°</a:t>
            </a:r>
            <a:endParaRPr sz="1600"/>
          </a:p>
        </p:txBody>
      </p:sp>
      <p:sp>
        <p:nvSpPr>
          <p:cNvPr id="1654" name="Google Shape;1654;p93"/>
          <p:cNvSpPr/>
          <p:nvPr/>
        </p:nvSpPr>
        <p:spPr>
          <a:xfrm flipH="1" rot="-17889">
            <a:off x="6910990" y="2227144"/>
            <a:ext cx="345905" cy="345605"/>
          </a:xfrm>
          <a:prstGeom prst="arc">
            <a:avLst>
              <a:gd fmla="val 10637741" name="adj1"/>
              <a:gd fmla="val 140680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5" name="Google Shape;1655;p93"/>
          <p:cNvCxnSpPr/>
          <p:nvPr/>
        </p:nvCxnSpPr>
        <p:spPr>
          <a:xfrm flipH="1" rot="10800000">
            <a:off x="4572823" y="3325998"/>
            <a:ext cx="1370700" cy="588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6" name="Google Shape;1656;p93"/>
          <p:cNvCxnSpPr/>
          <p:nvPr/>
        </p:nvCxnSpPr>
        <p:spPr>
          <a:xfrm>
            <a:off x="4584923" y="4083891"/>
            <a:ext cx="1649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57" name="Google Shape;1657;p93"/>
          <p:cNvSpPr txBox="1"/>
          <p:nvPr>
            <p:ph idx="1" type="body"/>
          </p:nvPr>
        </p:nvSpPr>
        <p:spPr>
          <a:xfrm flipH="1">
            <a:off x="7354671" y="2466201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sp>
        <p:nvSpPr>
          <p:cNvPr id="1658" name="Google Shape;1658;p93"/>
          <p:cNvSpPr txBox="1"/>
          <p:nvPr>
            <p:ph idx="1" type="body"/>
          </p:nvPr>
        </p:nvSpPr>
        <p:spPr>
          <a:xfrm flipH="1">
            <a:off x="5207528" y="4075429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15 m</a:t>
            </a:r>
            <a:endParaRPr sz="1600"/>
          </a:p>
        </p:txBody>
      </p:sp>
      <p:sp>
        <p:nvSpPr>
          <p:cNvPr id="1659" name="Google Shape;1659;p93"/>
          <p:cNvSpPr txBox="1"/>
          <p:nvPr>
            <p:ph idx="1" type="body"/>
          </p:nvPr>
        </p:nvSpPr>
        <p:spPr>
          <a:xfrm flipH="1">
            <a:off x="7107664" y="1491493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660" name="Google Shape;1660;p93"/>
          <p:cNvSpPr txBox="1"/>
          <p:nvPr>
            <p:ph idx="1" type="body"/>
          </p:nvPr>
        </p:nvSpPr>
        <p:spPr>
          <a:xfrm flipH="1">
            <a:off x="4965036" y="3320293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661" name="Google Shape;1661;p93"/>
          <p:cNvSpPr txBox="1"/>
          <p:nvPr>
            <p:ph idx="1" type="body"/>
          </p:nvPr>
        </p:nvSpPr>
        <p:spPr>
          <a:xfrm flipH="1">
            <a:off x="5070747" y="3757027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20°</a:t>
            </a:r>
            <a:endParaRPr sz="1600"/>
          </a:p>
        </p:txBody>
      </p:sp>
      <p:sp>
        <p:nvSpPr>
          <p:cNvPr id="1662" name="Google Shape;1662;p93"/>
          <p:cNvSpPr txBox="1"/>
          <p:nvPr>
            <p:ph idx="1" type="body"/>
          </p:nvPr>
        </p:nvSpPr>
        <p:spPr>
          <a:xfrm flipH="1">
            <a:off x="5525544" y="2641966"/>
            <a:ext cx="772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7.8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3" name="Google Shape;1663;p93"/>
          <p:cNvSpPr txBox="1"/>
          <p:nvPr>
            <p:ph idx="1" type="body"/>
          </p:nvPr>
        </p:nvSpPr>
        <p:spPr>
          <a:xfrm flipH="1">
            <a:off x="7900019" y="2641966"/>
            <a:ext cx="772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9.3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4" name="Google Shape;1664;p93"/>
          <p:cNvSpPr/>
          <p:nvPr/>
        </p:nvSpPr>
        <p:spPr>
          <a:xfrm flipH="1" rot="-17697">
            <a:off x="4793079" y="1302375"/>
            <a:ext cx="932412" cy="10782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93"/>
          <p:cNvSpPr/>
          <p:nvPr/>
        </p:nvSpPr>
        <p:spPr>
          <a:xfrm flipH="1" rot="-8725">
            <a:off x="5600385" y="2260941"/>
            <a:ext cx="118200" cy="11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93"/>
          <p:cNvSpPr/>
          <p:nvPr/>
        </p:nvSpPr>
        <p:spPr>
          <a:xfrm flipH="1" rot="-18785">
            <a:off x="4576429" y="2115372"/>
            <a:ext cx="439207" cy="438607"/>
          </a:xfrm>
          <a:prstGeom prst="arc">
            <a:avLst>
              <a:gd fmla="val 10030360" name="adj1"/>
              <a:gd fmla="val 13223382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67" name="Google Shape;1667;p93"/>
          <p:cNvCxnSpPr/>
          <p:nvPr/>
        </p:nvCxnSpPr>
        <p:spPr>
          <a:xfrm rot="10800000">
            <a:off x="5807823" y="1300150"/>
            <a:ext cx="0" cy="1080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68" name="Google Shape;1668;p93"/>
          <p:cNvCxnSpPr/>
          <p:nvPr/>
        </p:nvCxnSpPr>
        <p:spPr>
          <a:xfrm flipH="1" rot="10800000">
            <a:off x="4715848" y="1233193"/>
            <a:ext cx="927300" cy="1083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69" name="Google Shape;1669;p93"/>
          <p:cNvSpPr txBox="1"/>
          <p:nvPr>
            <p:ph idx="1" type="body"/>
          </p:nvPr>
        </p:nvSpPr>
        <p:spPr>
          <a:xfrm flipH="1">
            <a:off x="5060415" y="2116872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50°</a:t>
            </a:r>
            <a:endParaRPr sz="1600"/>
          </a:p>
        </p:txBody>
      </p:sp>
      <p:sp>
        <p:nvSpPr>
          <p:cNvPr id="1670" name="Google Shape;1670;p93"/>
          <p:cNvSpPr txBox="1"/>
          <p:nvPr>
            <p:ph idx="1" type="body"/>
          </p:nvPr>
        </p:nvSpPr>
        <p:spPr>
          <a:xfrm flipH="1">
            <a:off x="5825746" y="1780621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 m</a:t>
            </a:r>
            <a:endParaRPr sz="1600"/>
          </a:p>
        </p:txBody>
      </p:sp>
      <p:sp>
        <p:nvSpPr>
          <p:cNvPr id="1671" name="Google Shape;1671;p93"/>
          <p:cNvSpPr txBox="1"/>
          <p:nvPr>
            <p:ph idx="1" type="body"/>
          </p:nvPr>
        </p:nvSpPr>
        <p:spPr>
          <a:xfrm flipH="1">
            <a:off x="4802497" y="1542329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1672" name="Google Shape;1672;p93"/>
          <p:cNvSpPr txBox="1"/>
          <p:nvPr>
            <p:ph idx="1" type="body"/>
          </p:nvPr>
        </p:nvSpPr>
        <p:spPr>
          <a:xfrm flipH="1">
            <a:off x="5525544" y="4360275"/>
            <a:ext cx="772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14.1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3" name="Google Shape;1673;p93"/>
          <p:cNvSpPr txBox="1"/>
          <p:nvPr>
            <p:ph idx="1" type="body"/>
          </p:nvPr>
        </p:nvSpPr>
        <p:spPr>
          <a:xfrm flipH="1">
            <a:off x="7659144" y="4360275"/>
            <a:ext cx="772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30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94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Labelling sides of a right-angle triangle</a:t>
            </a:r>
            <a:endParaRPr/>
          </a:p>
        </p:txBody>
      </p:sp>
      <p:sp>
        <p:nvSpPr>
          <p:cNvPr id="1679" name="Google Shape;1679;p94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sine and cosine from the unit circle</a:t>
            </a:r>
            <a:endParaRPr/>
          </a:p>
        </p:txBody>
      </p:sp>
      <p:sp>
        <p:nvSpPr>
          <p:cNvPr id="1680" name="Google Shape;1680;p94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sp>
        <p:nvSpPr>
          <p:cNvPr id="1681" name="Google Shape;1681;p94"/>
          <p:cNvSpPr txBox="1"/>
          <p:nvPr>
            <p:ph idx="4" type="title"/>
          </p:nvPr>
        </p:nvSpPr>
        <p:spPr>
          <a:xfrm>
            <a:off x="324000" y="657600"/>
            <a:ext cx="62085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  <p:pic>
        <p:nvPicPr>
          <p:cNvPr id="1682" name="Google Shape;1682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000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95"/>
          <p:cNvSpPr/>
          <p:nvPr/>
        </p:nvSpPr>
        <p:spPr>
          <a:xfrm flipH="1">
            <a:off x="714115" y="2366206"/>
            <a:ext cx="2058000" cy="1581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sp>
        <p:nvSpPr>
          <p:cNvPr id="1689" name="Google Shape;1689;p95"/>
          <p:cNvSpPr/>
          <p:nvPr/>
        </p:nvSpPr>
        <p:spPr>
          <a:xfrm>
            <a:off x="2627930" y="3794820"/>
            <a:ext cx="148800" cy="14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0" name="Google Shape;1690;p95"/>
          <p:cNvGrpSpPr/>
          <p:nvPr/>
        </p:nvGrpSpPr>
        <p:grpSpPr>
          <a:xfrm flipH="1">
            <a:off x="4608078" y="1378765"/>
            <a:ext cx="4051598" cy="1004753"/>
            <a:chOff x="402775" y="77554"/>
            <a:chExt cx="3996052" cy="848680"/>
          </a:xfrm>
        </p:grpSpPr>
        <p:grpSp>
          <p:nvGrpSpPr>
            <p:cNvPr id="1691" name="Google Shape;1691;p95"/>
            <p:cNvGrpSpPr/>
            <p:nvPr/>
          </p:nvGrpSpPr>
          <p:grpSpPr>
            <a:xfrm>
              <a:off x="402775" y="77554"/>
              <a:ext cx="3996052" cy="848680"/>
              <a:chOff x="402775" y="77554"/>
              <a:chExt cx="3996052" cy="848680"/>
            </a:xfrm>
          </p:grpSpPr>
          <p:pic>
            <p:nvPicPr>
              <p:cNvPr id="1692" name="Google Shape;1692;p95"/>
              <p:cNvPicPr preferRelativeResize="0"/>
              <p:nvPr/>
            </p:nvPicPr>
            <p:blipFill rotWithShape="1">
              <a:blip r:embed="rId3">
                <a:alphaModFix/>
              </a:blip>
              <a:srcRect b="30536" l="0" r="0" t="0"/>
              <a:stretch/>
            </p:blipFill>
            <p:spPr>
              <a:xfrm>
                <a:off x="402775" y="77554"/>
                <a:ext cx="3996052" cy="64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93" name="Google Shape;1693;p9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76845"/>
              <a:stretch/>
            </p:blipFill>
            <p:spPr>
              <a:xfrm>
                <a:off x="402775" y="712084"/>
                <a:ext cx="3996052" cy="214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4" name="Google Shape;1694;p95"/>
              <p:cNvSpPr/>
              <p:nvPr/>
            </p:nvSpPr>
            <p:spPr>
              <a:xfrm>
                <a:off x="476672" y="709050"/>
                <a:ext cx="468552" cy="7675"/>
              </a:xfrm>
              <a:custGeom>
                <a:rect b="b" l="l" r="r" t="t"/>
                <a:pathLst>
                  <a:path extrusionOk="0" h="307" w="2656">
                    <a:moveTo>
                      <a:pt x="0" y="307"/>
                    </a:moveTo>
                    <a:cubicBezTo>
                      <a:pt x="443" y="256"/>
                      <a:pt x="2213" y="51"/>
                      <a:pt x="2656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1695" name="Google Shape;1695;p95"/>
            <p:cNvSpPr/>
            <p:nvPr/>
          </p:nvSpPr>
          <p:spPr>
            <a:xfrm>
              <a:off x="1107425" y="709050"/>
              <a:ext cx="66400" cy="7675"/>
            </a:xfrm>
            <a:custGeom>
              <a:rect b="b" l="l" r="r" t="t"/>
              <a:pathLst>
                <a:path extrusionOk="0" h="307" w="2656">
                  <a:moveTo>
                    <a:pt x="0" y="307"/>
                  </a:moveTo>
                  <a:cubicBezTo>
                    <a:pt x="443" y="256"/>
                    <a:pt x="2213" y="51"/>
                    <a:pt x="2656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696" name="Google Shape;1696;p95"/>
          <p:cNvSpPr/>
          <p:nvPr/>
        </p:nvSpPr>
        <p:spPr>
          <a:xfrm>
            <a:off x="407597" y="3619633"/>
            <a:ext cx="645600" cy="6456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95"/>
          <p:cNvSpPr txBox="1"/>
          <p:nvPr/>
        </p:nvSpPr>
        <p:spPr>
          <a:xfrm>
            <a:off x="1017095" y="3603282"/>
            <a:ext cx="54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95"/>
          <p:cNvSpPr txBox="1"/>
          <p:nvPr/>
        </p:nvSpPr>
        <p:spPr>
          <a:xfrm>
            <a:off x="1355203" y="3988068"/>
            <a:ext cx="73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99" name="Google Shape;1699;p95"/>
          <p:cNvCxnSpPr/>
          <p:nvPr/>
        </p:nvCxnSpPr>
        <p:spPr>
          <a:xfrm>
            <a:off x="694634" y="4063456"/>
            <a:ext cx="2100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00" name="Google Shape;1700;p95"/>
          <p:cNvCxnSpPr/>
          <p:nvPr/>
        </p:nvCxnSpPr>
        <p:spPr>
          <a:xfrm>
            <a:off x="2938678" y="2457681"/>
            <a:ext cx="0" cy="148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01" name="Google Shape;1701;p95"/>
          <p:cNvSpPr txBox="1"/>
          <p:nvPr/>
        </p:nvSpPr>
        <p:spPr>
          <a:xfrm>
            <a:off x="2940907" y="3006499"/>
            <a:ext cx="73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2" name="Google Shape;1702;p95"/>
          <p:cNvSpPr txBox="1"/>
          <p:nvPr>
            <p:ph idx="1" type="body"/>
          </p:nvPr>
        </p:nvSpPr>
        <p:spPr>
          <a:xfrm>
            <a:off x="509850" y="4542306"/>
            <a:ext cx="9477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adjacent</a:t>
            </a:r>
            <a:endParaRPr b="1" sz="1600"/>
          </a:p>
        </p:txBody>
      </p:sp>
      <p:cxnSp>
        <p:nvCxnSpPr>
          <p:cNvPr id="1703" name="Google Shape;1703;p95"/>
          <p:cNvCxnSpPr/>
          <p:nvPr/>
        </p:nvCxnSpPr>
        <p:spPr>
          <a:xfrm flipH="1" rot="10800000">
            <a:off x="1344850" y="4352681"/>
            <a:ext cx="210900" cy="17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4" name="Google Shape;1704;p95"/>
          <p:cNvSpPr txBox="1"/>
          <p:nvPr>
            <p:ph idx="1" type="body"/>
          </p:nvPr>
        </p:nvSpPr>
        <p:spPr>
          <a:xfrm>
            <a:off x="3257330" y="2467109"/>
            <a:ext cx="10491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/>
              <a:t>opposite</a:t>
            </a:r>
            <a:endParaRPr b="1" sz="1600"/>
          </a:p>
        </p:txBody>
      </p:sp>
      <p:cxnSp>
        <p:nvCxnSpPr>
          <p:cNvPr id="1705" name="Google Shape;1705;p95"/>
          <p:cNvCxnSpPr/>
          <p:nvPr/>
        </p:nvCxnSpPr>
        <p:spPr>
          <a:xfrm flipH="1" rot="10800000">
            <a:off x="3339604" y="2781272"/>
            <a:ext cx="162000" cy="38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06" name="Google Shape;1706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4000" y="2594965"/>
            <a:ext cx="500664" cy="6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48768" y="2494215"/>
            <a:ext cx="771233" cy="7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0150" y="1271727"/>
            <a:ext cx="3560223" cy="119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9" name="Google Shape;1709;p95"/>
          <p:cNvSpPr txBox="1"/>
          <p:nvPr>
            <p:ph idx="1" type="body"/>
          </p:nvPr>
        </p:nvSpPr>
        <p:spPr>
          <a:xfrm>
            <a:off x="543215" y="1327839"/>
            <a:ext cx="3390300" cy="86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use the unit circle to create a triangle where the </a:t>
            </a:r>
            <a:r>
              <a:rPr b="1" lang="en-GB" sz="1800"/>
              <a:t>adjacent</a:t>
            </a:r>
            <a:r>
              <a:rPr lang="en-GB" sz="1800"/>
              <a:t> has length </a:t>
            </a:r>
            <a:r>
              <a:rPr lang="en-GB" sz="1800">
                <a:solidFill>
                  <a:schemeClr val="accent2"/>
                </a:solidFill>
              </a:rPr>
              <a:t>1 unit</a:t>
            </a:r>
            <a:r>
              <a:rPr lang="en-GB" sz="1800"/>
              <a:t>.</a:t>
            </a:r>
            <a:endParaRPr sz="1800"/>
          </a:p>
        </p:txBody>
      </p:sp>
      <p:grpSp>
        <p:nvGrpSpPr>
          <p:cNvPr id="1710" name="Google Shape;1710;p95"/>
          <p:cNvGrpSpPr/>
          <p:nvPr/>
        </p:nvGrpSpPr>
        <p:grpSpPr>
          <a:xfrm>
            <a:off x="3652213" y="2159679"/>
            <a:ext cx="3434692" cy="3331962"/>
            <a:chOff x="3652213" y="2159679"/>
            <a:chExt cx="3434692" cy="3331962"/>
          </a:xfrm>
        </p:grpSpPr>
        <p:sp>
          <p:nvSpPr>
            <p:cNvPr id="1711" name="Google Shape;1711;p95"/>
            <p:cNvSpPr/>
            <p:nvPr/>
          </p:nvSpPr>
          <p:spPr>
            <a:xfrm>
              <a:off x="5099347" y="2881481"/>
              <a:ext cx="1446365" cy="1144860"/>
            </a:xfrm>
            <a:custGeom>
              <a:rect b="b" l="l" r="r" t="t"/>
              <a:pathLst>
                <a:path extrusionOk="0" h="36577" w="48905">
                  <a:moveTo>
                    <a:pt x="0" y="36577"/>
                  </a:moveTo>
                  <a:lnTo>
                    <a:pt x="48905" y="0"/>
                  </a:lnTo>
                  <a:lnTo>
                    <a:pt x="48905" y="36320"/>
                  </a:lnTo>
                  <a:close/>
                </a:path>
              </a:pathLst>
            </a:custGeom>
            <a:solidFill>
              <a:srgbClr val="F3EEFB"/>
            </a:solidFill>
            <a:ln>
              <a:noFill/>
            </a:ln>
          </p:spPr>
        </p:sp>
        <p:sp>
          <p:nvSpPr>
            <p:cNvPr id="1712" name="Google Shape;1712;p95"/>
            <p:cNvSpPr/>
            <p:nvPr/>
          </p:nvSpPr>
          <p:spPr>
            <a:xfrm>
              <a:off x="3652213" y="2598141"/>
              <a:ext cx="2893500" cy="28935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13" name="Google Shape;1713;p95"/>
            <p:cNvCxnSpPr>
              <a:stCxn id="1714" idx="4"/>
            </p:cNvCxnSpPr>
            <p:nvPr/>
          </p:nvCxnSpPr>
          <p:spPr>
            <a:xfrm rot="10800000">
              <a:off x="5106293" y="2332256"/>
              <a:ext cx="900" cy="1751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715" name="Google Shape;1715;p95"/>
            <p:cNvCxnSpPr/>
            <p:nvPr/>
          </p:nvCxnSpPr>
          <p:spPr>
            <a:xfrm flipH="1" rot="10800000">
              <a:off x="5059193" y="4034456"/>
              <a:ext cx="1792200" cy="9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6" name="Google Shape;1716;p95"/>
            <p:cNvSpPr txBox="1"/>
            <p:nvPr/>
          </p:nvSpPr>
          <p:spPr>
            <a:xfrm>
              <a:off x="6402756" y="3929194"/>
              <a:ext cx="249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7" name="Google Shape;1717;p95"/>
            <p:cNvSpPr txBox="1"/>
            <p:nvPr/>
          </p:nvSpPr>
          <p:spPr>
            <a:xfrm>
              <a:off x="4903472" y="2411992"/>
              <a:ext cx="221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8" name="Google Shape;1718;p95"/>
            <p:cNvSpPr txBox="1"/>
            <p:nvPr/>
          </p:nvSpPr>
          <p:spPr>
            <a:xfrm>
              <a:off x="4912928" y="4005202"/>
              <a:ext cx="274500" cy="32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endParaRPr i="1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9" name="Google Shape;1719;p95"/>
            <p:cNvSpPr/>
            <p:nvPr/>
          </p:nvSpPr>
          <p:spPr>
            <a:xfrm>
              <a:off x="4776009" y="3695046"/>
              <a:ext cx="627300" cy="663600"/>
            </a:xfrm>
            <a:prstGeom prst="arc">
              <a:avLst>
                <a:gd fmla="val 19541477" name="adj1"/>
                <a:gd fmla="val 0" name="adj2"/>
              </a:avLst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0" name="Google Shape;1720;p95"/>
            <p:cNvCxnSpPr/>
            <p:nvPr/>
          </p:nvCxnSpPr>
          <p:spPr>
            <a:xfrm flipH="1" rot="10800000">
              <a:off x="5100675" y="2894772"/>
              <a:ext cx="1444800" cy="1128600"/>
            </a:xfrm>
            <a:prstGeom prst="straightConnector1">
              <a:avLst/>
            </a:prstGeom>
            <a:noFill/>
            <a:ln cap="flat" cmpd="sng" w="38100">
              <a:solidFill>
                <a:srgbClr val="845AD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1" name="Google Shape;1721;p95"/>
            <p:cNvSpPr/>
            <p:nvPr/>
          </p:nvSpPr>
          <p:spPr>
            <a:xfrm>
              <a:off x="6438737" y="3930981"/>
              <a:ext cx="96000" cy="87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2" name="Google Shape;1722;p95"/>
            <p:cNvSpPr txBox="1"/>
            <p:nvPr/>
          </p:nvSpPr>
          <p:spPr>
            <a:xfrm>
              <a:off x="4944165" y="2159679"/>
              <a:ext cx="255000" cy="3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3" name="Google Shape;1723;p95"/>
            <p:cNvSpPr txBox="1"/>
            <p:nvPr/>
          </p:nvSpPr>
          <p:spPr>
            <a:xfrm>
              <a:off x="6831905" y="3856952"/>
              <a:ext cx="255000" cy="37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i="1" lang="en-GB" sz="18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20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4" name="Google Shape;1724;p95"/>
            <p:cNvCxnSpPr/>
            <p:nvPr/>
          </p:nvCxnSpPr>
          <p:spPr>
            <a:xfrm rot="10800000">
              <a:off x="5113606" y="4028664"/>
              <a:ext cx="14490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4" name="Google Shape;1714;p95"/>
            <p:cNvSpPr/>
            <p:nvPr/>
          </p:nvSpPr>
          <p:spPr>
            <a:xfrm>
              <a:off x="5059193" y="3987356"/>
              <a:ext cx="96000" cy="960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5" name="Google Shape;1725;p95"/>
            <p:cNvSpPr txBox="1"/>
            <p:nvPr/>
          </p:nvSpPr>
          <p:spPr>
            <a:xfrm>
              <a:off x="5352691" y="3653027"/>
              <a:ext cx="565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40</a:t>
              </a:r>
              <a:r>
                <a:rPr lang="en-GB" sz="16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°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6" name="Google Shape;1726;p95"/>
            <p:cNvSpPr txBox="1"/>
            <p:nvPr/>
          </p:nvSpPr>
          <p:spPr>
            <a:xfrm>
              <a:off x="5735299" y="4036892"/>
              <a:ext cx="7326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7" name="Google Shape;1727;p95"/>
            <p:cNvCxnSpPr/>
            <p:nvPr/>
          </p:nvCxnSpPr>
          <p:spPr>
            <a:xfrm rot="10800000">
              <a:off x="6544125" y="2881965"/>
              <a:ext cx="0" cy="116430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28" name="Google Shape;1728;p95"/>
            <p:cNvSpPr/>
            <p:nvPr/>
          </p:nvSpPr>
          <p:spPr>
            <a:xfrm>
              <a:off x="6496967" y="2843081"/>
              <a:ext cx="94200" cy="99900"/>
            </a:xfrm>
            <a:prstGeom prst="ellipse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29" name="Google Shape;1729;p95"/>
            <p:cNvCxnSpPr/>
            <p:nvPr/>
          </p:nvCxnSpPr>
          <p:spPr>
            <a:xfrm rot="10800000">
              <a:off x="5124825" y="4140089"/>
              <a:ext cx="13509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730" name="Google Shape;1730;p95"/>
          <p:cNvSpPr txBox="1"/>
          <p:nvPr>
            <p:ph idx="1" type="body"/>
          </p:nvPr>
        </p:nvSpPr>
        <p:spPr>
          <a:xfrm>
            <a:off x="4695189" y="1449257"/>
            <a:ext cx="39171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b="1" lang="en-GB" sz="1800"/>
              <a:t>opposite</a:t>
            </a:r>
            <a:r>
              <a:rPr lang="en-GB" sz="1800"/>
              <a:t> in this new triangle is now a </a:t>
            </a:r>
            <a:r>
              <a:rPr lang="en-GB" sz="1800">
                <a:solidFill>
                  <a:schemeClr val="accent2"/>
                </a:solidFill>
              </a:rPr>
              <a:t>tangent</a:t>
            </a:r>
            <a:r>
              <a:rPr lang="en-GB" sz="1800"/>
              <a:t> to the unit circle.</a:t>
            </a:r>
            <a:endParaRPr sz="1800"/>
          </a:p>
        </p:txBody>
      </p:sp>
      <p:sp>
        <p:nvSpPr>
          <p:cNvPr id="1731" name="Google Shape;1731;p95"/>
          <p:cNvSpPr txBox="1"/>
          <p:nvPr/>
        </p:nvSpPr>
        <p:spPr>
          <a:xfrm>
            <a:off x="226351" y="710692"/>
            <a:ext cx="840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 and Izzy are finding the value of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the triangle.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96"/>
          <p:cNvSpPr/>
          <p:nvPr/>
        </p:nvSpPr>
        <p:spPr>
          <a:xfrm>
            <a:off x="5099347" y="2582717"/>
            <a:ext cx="1446365" cy="1144860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sp>
        <p:nvSpPr>
          <p:cNvPr id="1737" name="Google Shape;1737;p96"/>
          <p:cNvSpPr/>
          <p:nvPr/>
        </p:nvSpPr>
        <p:spPr>
          <a:xfrm>
            <a:off x="3652213" y="2299377"/>
            <a:ext cx="2893500" cy="2893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38" name="Google Shape;1738;p96"/>
          <p:cNvCxnSpPr/>
          <p:nvPr/>
        </p:nvCxnSpPr>
        <p:spPr>
          <a:xfrm rot="10800000">
            <a:off x="4961072" y="2595247"/>
            <a:ext cx="1506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39" name="Google Shape;1739;p96"/>
          <p:cNvSpPr/>
          <p:nvPr/>
        </p:nvSpPr>
        <p:spPr>
          <a:xfrm flipH="1">
            <a:off x="714115" y="2067442"/>
            <a:ext cx="2058000" cy="1581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0" name="Google Shape;1740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sp>
        <p:nvSpPr>
          <p:cNvPr id="1741" name="Google Shape;1741;p96"/>
          <p:cNvSpPr/>
          <p:nvPr/>
        </p:nvSpPr>
        <p:spPr>
          <a:xfrm>
            <a:off x="2627930" y="3496056"/>
            <a:ext cx="148800" cy="148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2" name="Google Shape;1742;p96"/>
          <p:cNvSpPr/>
          <p:nvPr/>
        </p:nvSpPr>
        <p:spPr>
          <a:xfrm>
            <a:off x="407597" y="3320868"/>
            <a:ext cx="645600" cy="6456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3" name="Google Shape;1743;p96"/>
          <p:cNvSpPr txBox="1"/>
          <p:nvPr/>
        </p:nvSpPr>
        <p:spPr>
          <a:xfrm>
            <a:off x="1017095" y="3304518"/>
            <a:ext cx="54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4" name="Google Shape;1744;p96"/>
          <p:cNvSpPr txBox="1"/>
          <p:nvPr/>
        </p:nvSpPr>
        <p:spPr>
          <a:xfrm>
            <a:off x="1355203" y="3689304"/>
            <a:ext cx="73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5" name="Google Shape;1745;p96"/>
          <p:cNvCxnSpPr/>
          <p:nvPr/>
        </p:nvCxnSpPr>
        <p:spPr>
          <a:xfrm>
            <a:off x="694634" y="3764692"/>
            <a:ext cx="21000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46" name="Google Shape;1746;p96"/>
          <p:cNvCxnSpPr>
            <a:stCxn id="1747" idx="4"/>
          </p:cNvCxnSpPr>
          <p:nvPr/>
        </p:nvCxnSpPr>
        <p:spPr>
          <a:xfrm rot="10800000">
            <a:off x="5106293" y="2033492"/>
            <a:ext cx="900" cy="1751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8" name="Google Shape;1748;p96"/>
          <p:cNvCxnSpPr/>
          <p:nvPr/>
        </p:nvCxnSpPr>
        <p:spPr>
          <a:xfrm flipH="1" rot="10800000">
            <a:off x="5059193" y="3735692"/>
            <a:ext cx="17922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9" name="Google Shape;1749;p96"/>
          <p:cNvSpPr txBox="1"/>
          <p:nvPr/>
        </p:nvSpPr>
        <p:spPr>
          <a:xfrm>
            <a:off x="6402756" y="3630430"/>
            <a:ext cx="2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96"/>
          <p:cNvSpPr txBox="1"/>
          <p:nvPr/>
        </p:nvSpPr>
        <p:spPr>
          <a:xfrm>
            <a:off x="4903472" y="2113228"/>
            <a:ext cx="22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96"/>
          <p:cNvSpPr txBox="1"/>
          <p:nvPr/>
        </p:nvSpPr>
        <p:spPr>
          <a:xfrm>
            <a:off x="4912928" y="3706438"/>
            <a:ext cx="27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2" name="Google Shape;1752;p96"/>
          <p:cNvSpPr/>
          <p:nvPr/>
        </p:nvSpPr>
        <p:spPr>
          <a:xfrm>
            <a:off x="4776009" y="3396282"/>
            <a:ext cx="627300" cy="6636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3" name="Google Shape;1753;p96"/>
          <p:cNvCxnSpPr/>
          <p:nvPr/>
        </p:nvCxnSpPr>
        <p:spPr>
          <a:xfrm flipH="1" rot="10800000">
            <a:off x="5100675" y="2596008"/>
            <a:ext cx="1444800" cy="1128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4" name="Google Shape;1754;p96"/>
          <p:cNvSpPr/>
          <p:nvPr/>
        </p:nvSpPr>
        <p:spPr>
          <a:xfrm>
            <a:off x="6438737" y="3632217"/>
            <a:ext cx="96000" cy="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5" name="Google Shape;1755;p96"/>
          <p:cNvSpPr txBox="1"/>
          <p:nvPr/>
        </p:nvSpPr>
        <p:spPr>
          <a:xfrm>
            <a:off x="4944165" y="1860915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6" name="Google Shape;1756;p96"/>
          <p:cNvCxnSpPr/>
          <p:nvPr/>
        </p:nvCxnSpPr>
        <p:spPr>
          <a:xfrm rot="10800000">
            <a:off x="5113606" y="3729900"/>
            <a:ext cx="1449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7" name="Google Shape;1747;p96"/>
          <p:cNvSpPr/>
          <p:nvPr/>
        </p:nvSpPr>
        <p:spPr>
          <a:xfrm>
            <a:off x="5059193" y="3688592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7" name="Google Shape;1757;p96"/>
          <p:cNvCxnSpPr/>
          <p:nvPr/>
        </p:nvCxnSpPr>
        <p:spPr>
          <a:xfrm>
            <a:off x="2938678" y="2158916"/>
            <a:ext cx="0" cy="1489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58" name="Google Shape;1758;p96"/>
          <p:cNvSpPr txBox="1"/>
          <p:nvPr/>
        </p:nvSpPr>
        <p:spPr>
          <a:xfrm>
            <a:off x="5352691" y="3354263"/>
            <a:ext cx="565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96"/>
          <p:cNvSpPr txBox="1"/>
          <p:nvPr/>
        </p:nvSpPr>
        <p:spPr>
          <a:xfrm>
            <a:off x="2940907" y="2707735"/>
            <a:ext cx="73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0" name="Google Shape;1760;p96"/>
          <p:cNvSpPr txBox="1"/>
          <p:nvPr>
            <p:ph idx="1" type="body"/>
          </p:nvPr>
        </p:nvSpPr>
        <p:spPr>
          <a:xfrm>
            <a:off x="509850" y="4243550"/>
            <a:ext cx="11076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cxnSp>
        <p:nvCxnSpPr>
          <p:cNvPr id="1761" name="Google Shape;1761;p96"/>
          <p:cNvCxnSpPr/>
          <p:nvPr/>
        </p:nvCxnSpPr>
        <p:spPr>
          <a:xfrm flipH="1" rot="10800000">
            <a:off x="1344850" y="4053917"/>
            <a:ext cx="210900" cy="174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2" name="Google Shape;1762;p96"/>
          <p:cNvSpPr txBox="1"/>
          <p:nvPr>
            <p:ph idx="1" type="body"/>
          </p:nvPr>
        </p:nvSpPr>
        <p:spPr>
          <a:xfrm>
            <a:off x="3257325" y="2168350"/>
            <a:ext cx="1107600" cy="3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cxnSp>
        <p:nvCxnSpPr>
          <p:cNvPr id="1763" name="Google Shape;1763;p96"/>
          <p:cNvCxnSpPr/>
          <p:nvPr/>
        </p:nvCxnSpPr>
        <p:spPr>
          <a:xfrm flipH="1" rot="10800000">
            <a:off x="3339604" y="2482508"/>
            <a:ext cx="162000" cy="382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4" name="Google Shape;1764;p96"/>
          <p:cNvSpPr txBox="1"/>
          <p:nvPr/>
        </p:nvSpPr>
        <p:spPr>
          <a:xfrm>
            <a:off x="5735300" y="3738125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96"/>
          <p:cNvSpPr txBox="1"/>
          <p:nvPr/>
        </p:nvSpPr>
        <p:spPr>
          <a:xfrm>
            <a:off x="4431159" y="2380441"/>
            <a:ext cx="73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0.84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6" name="Google Shape;1766;p96"/>
          <p:cNvCxnSpPr/>
          <p:nvPr/>
        </p:nvCxnSpPr>
        <p:spPr>
          <a:xfrm rot="10800000">
            <a:off x="6544125" y="2583201"/>
            <a:ext cx="0" cy="11643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7" name="Google Shape;1767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4000" y="2296200"/>
            <a:ext cx="500664" cy="64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8" name="Google Shape;1768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48768" y="2195451"/>
            <a:ext cx="771233" cy="74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9" name="Google Shape;1769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450" y="720000"/>
            <a:ext cx="3485573" cy="1515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0" name="Google Shape;1770;p96"/>
          <p:cNvSpPr txBox="1"/>
          <p:nvPr>
            <p:ph idx="1" type="body"/>
          </p:nvPr>
        </p:nvSpPr>
        <p:spPr>
          <a:xfrm>
            <a:off x="407413" y="868275"/>
            <a:ext cx="3161400" cy="9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use this to find the </a:t>
            </a:r>
            <a:r>
              <a:rPr lang="en-GB" sz="1800"/>
              <a:t>length</a:t>
            </a:r>
            <a:r>
              <a:rPr lang="en-GB" sz="1800"/>
              <a:t> of the </a:t>
            </a:r>
            <a:r>
              <a:rPr b="1" lang="en-GB" sz="1800"/>
              <a:t>opposite</a:t>
            </a:r>
            <a:r>
              <a:rPr lang="en-GB" sz="1800"/>
              <a:t> for the triangle in the unit circle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771" name="Google Shape;1771;p96"/>
          <p:cNvSpPr/>
          <p:nvPr/>
        </p:nvSpPr>
        <p:spPr>
          <a:xfrm>
            <a:off x="6496967" y="2544317"/>
            <a:ext cx="94200" cy="99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72" name="Google Shape;1772;p96"/>
          <p:cNvCxnSpPr/>
          <p:nvPr/>
        </p:nvCxnSpPr>
        <p:spPr>
          <a:xfrm rot="10800000">
            <a:off x="5124825" y="3841325"/>
            <a:ext cx="1350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73" name="Google Shape;1773;p96"/>
          <p:cNvCxnSpPr/>
          <p:nvPr/>
        </p:nvCxnSpPr>
        <p:spPr>
          <a:xfrm>
            <a:off x="6674275" y="2583000"/>
            <a:ext cx="0" cy="111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774" name="Google Shape;1774;p96"/>
          <p:cNvSpPr txBox="1"/>
          <p:nvPr/>
        </p:nvSpPr>
        <p:spPr>
          <a:xfrm>
            <a:off x="6635919" y="2913841"/>
            <a:ext cx="732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0.84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5" name="Google Shape;1775;p96"/>
          <p:cNvGrpSpPr/>
          <p:nvPr/>
        </p:nvGrpSpPr>
        <p:grpSpPr>
          <a:xfrm flipH="1">
            <a:off x="4485609" y="1032774"/>
            <a:ext cx="4073976" cy="1128575"/>
            <a:chOff x="402775" y="77554"/>
            <a:chExt cx="3996052" cy="848680"/>
          </a:xfrm>
        </p:grpSpPr>
        <p:grpSp>
          <p:nvGrpSpPr>
            <p:cNvPr id="1776" name="Google Shape;1776;p96"/>
            <p:cNvGrpSpPr/>
            <p:nvPr/>
          </p:nvGrpSpPr>
          <p:grpSpPr>
            <a:xfrm>
              <a:off x="402775" y="77554"/>
              <a:ext cx="3996052" cy="848680"/>
              <a:chOff x="402775" y="77554"/>
              <a:chExt cx="3996052" cy="848680"/>
            </a:xfrm>
          </p:grpSpPr>
          <p:pic>
            <p:nvPicPr>
              <p:cNvPr id="1777" name="Google Shape;1777;p96"/>
              <p:cNvPicPr preferRelativeResize="0"/>
              <p:nvPr/>
            </p:nvPicPr>
            <p:blipFill rotWithShape="1">
              <a:blip r:embed="rId6">
                <a:alphaModFix/>
              </a:blip>
              <a:srcRect b="30536" l="0" r="0" t="0"/>
              <a:stretch/>
            </p:blipFill>
            <p:spPr>
              <a:xfrm>
                <a:off x="402775" y="77554"/>
                <a:ext cx="3996052" cy="6424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78" name="Google Shape;1778;p96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76845"/>
              <a:stretch/>
            </p:blipFill>
            <p:spPr>
              <a:xfrm>
                <a:off x="402775" y="712084"/>
                <a:ext cx="3996052" cy="2141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79" name="Google Shape;1779;p96"/>
              <p:cNvSpPr/>
              <p:nvPr/>
            </p:nvSpPr>
            <p:spPr>
              <a:xfrm>
                <a:off x="476672" y="709050"/>
                <a:ext cx="468552" cy="7675"/>
              </a:xfrm>
              <a:custGeom>
                <a:rect b="b" l="l" r="r" t="t"/>
                <a:pathLst>
                  <a:path extrusionOk="0" h="307" w="2656">
                    <a:moveTo>
                      <a:pt x="0" y="307"/>
                    </a:moveTo>
                    <a:cubicBezTo>
                      <a:pt x="443" y="256"/>
                      <a:pt x="2213" y="51"/>
                      <a:pt x="2656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sp>
          <p:nvSpPr>
            <p:cNvPr id="1780" name="Google Shape;1780;p96"/>
            <p:cNvSpPr/>
            <p:nvPr/>
          </p:nvSpPr>
          <p:spPr>
            <a:xfrm>
              <a:off x="1107425" y="709050"/>
              <a:ext cx="66400" cy="7675"/>
            </a:xfrm>
            <a:custGeom>
              <a:rect b="b" l="l" r="r" t="t"/>
              <a:pathLst>
                <a:path extrusionOk="0" h="307" w="2656">
                  <a:moveTo>
                    <a:pt x="0" y="307"/>
                  </a:moveTo>
                  <a:cubicBezTo>
                    <a:pt x="443" y="256"/>
                    <a:pt x="2213" y="51"/>
                    <a:pt x="2656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781" name="Google Shape;1781;p96"/>
          <p:cNvSpPr txBox="1"/>
          <p:nvPr>
            <p:ph idx="1" type="body"/>
          </p:nvPr>
        </p:nvSpPr>
        <p:spPr>
          <a:xfrm>
            <a:off x="4647925" y="1133638"/>
            <a:ext cx="3792300" cy="64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then use the</a:t>
            </a:r>
            <a:r>
              <a:rPr lang="en-GB" sz="1800"/>
              <a:t>se </a:t>
            </a:r>
            <a:r>
              <a:rPr lang="en-GB" sz="1800"/>
              <a:t>proportions to 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782" name="Google Shape;1782;p96"/>
          <p:cNvSpPr txBox="1"/>
          <p:nvPr/>
        </p:nvSpPr>
        <p:spPr>
          <a:xfrm>
            <a:off x="6791192" y="3801700"/>
            <a:ext cx="771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0.84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3" name="Google Shape;1783;p96"/>
          <p:cNvCxnSpPr>
            <a:stCxn id="1744" idx="3"/>
          </p:cNvCxnSpPr>
          <p:nvPr/>
        </p:nvCxnSpPr>
        <p:spPr>
          <a:xfrm flipH="1" rot="10800000">
            <a:off x="2087803" y="3200454"/>
            <a:ext cx="1219500" cy="719700"/>
          </a:xfrm>
          <a:prstGeom prst="curvedConnector3">
            <a:avLst>
              <a:gd fmla="val 93710" name="adj1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4" name="Google Shape;1784;p96"/>
          <p:cNvSpPr txBox="1"/>
          <p:nvPr/>
        </p:nvSpPr>
        <p:spPr>
          <a:xfrm>
            <a:off x="2773351" y="3659375"/>
            <a:ext cx="82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0.84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5" name="Google Shape;1785;p96"/>
          <p:cNvCxnSpPr>
            <a:stCxn id="1764" idx="2"/>
            <a:endCxn id="1774" idx="2"/>
          </p:cNvCxnSpPr>
          <p:nvPr/>
        </p:nvCxnSpPr>
        <p:spPr>
          <a:xfrm rot="-5400000">
            <a:off x="6036350" y="3203225"/>
            <a:ext cx="824400" cy="1107600"/>
          </a:xfrm>
          <a:prstGeom prst="curvedConnector3">
            <a:avLst>
              <a:gd fmla="val -28885" name="adj1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6" name="Google Shape;1786;p96"/>
          <p:cNvSpPr txBox="1"/>
          <p:nvPr/>
        </p:nvSpPr>
        <p:spPr>
          <a:xfrm>
            <a:off x="6831905" y="3558188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1" name="Google Shape;1791;p97"/>
          <p:cNvCxnSpPr/>
          <p:nvPr/>
        </p:nvCxnSpPr>
        <p:spPr>
          <a:xfrm rot="10800000">
            <a:off x="1755632" y="2498888"/>
            <a:ext cx="15069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92" name="Google Shape;1792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sp>
        <p:nvSpPr>
          <p:cNvPr id="1793" name="Google Shape;1793;p97"/>
          <p:cNvSpPr txBox="1"/>
          <p:nvPr/>
        </p:nvSpPr>
        <p:spPr>
          <a:xfrm>
            <a:off x="324000" y="749550"/>
            <a:ext cx="8379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tangent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an angle (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≤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≤ 90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the length of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opposite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side, which lies on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tangent to the unit circle at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(1, 0)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4" name="Google Shape;1794;p97"/>
          <p:cNvSpPr txBox="1"/>
          <p:nvPr/>
        </p:nvSpPr>
        <p:spPr>
          <a:xfrm>
            <a:off x="357975" y="4199225"/>
            <a:ext cx="8053500" cy="14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tangent</a:t>
            </a: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 be used to find either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opposite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adjacent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a right-angle triangle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when the other length and an angle is known.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5" name="Google Shape;1795;p97"/>
          <p:cNvSpPr/>
          <p:nvPr/>
        </p:nvSpPr>
        <p:spPr>
          <a:xfrm flipH="1">
            <a:off x="5102096" y="2439873"/>
            <a:ext cx="1524900" cy="11718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6" name="Google Shape;1796;p97"/>
          <p:cNvSpPr/>
          <p:nvPr/>
        </p:nvSpPr>
        <p:spPr>
          <a:xfrm>
            <a:off x="6520158" y="3498450"/>
            <a:ext cx="110400" cy="110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7" name="Google Shape;1797;p97"/>
          <p:cNvSpPr/>
          <p:nvPr/>
        </p:nvSpPr>
        <p:spPr>
          <a:xfrm>
            <a:off x="4874925" y="3368639"/>
            <a:ext cx="478500" cy="478500"/>
          </a:xfrm>
          <a:prstGeom prst="arc">
            <a:avLst>
              <a:gd fmla="val 19381584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8" name="Google Shape;1798;p97"/>
          <p:cNvSpPr txBox="1"/>
          <p:nvPr/>
        </p:nvSpPr>
        <p:spPr>
          <a:xfrm>
            <a:off x="5311429" y="3245044"/>
            <a:ext cx="58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99" name="Google Shape;1799;p97"/>
          <p:cNvCxnSpPr/>
          <p:nvPr/>
        </p:nvCxnSpPr>
        <p:spPr>
          <a:xfrm>
            <a:off x="5087616" y="3737821"/>
            <a:ext cx="15561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00" name="Google Shape;1800;p97"/>
          <p:cNvCxnSpPr/>
          <p:nvPr/>
        </p:nvCxnSpPr>
        <p:spPr>
          <a:xfrm>
            <a:off x="6750418" y="2507654"/>
            <a:ext cx="0" cy="1103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01" name="Google Shape;1801;p97"/>
          <p:cNvSpPr txBox="1"/>
          <p:nvPr>
            <p:ph idx="1" type="body"/>
          </p:nvPr>
        </p:nvSpPr>
        <p:spPr>
          <a:xfrm>
            <a:off x="5305300" y="3753950"/>
            <a:ext cx="11241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sp>
        <p:nvSpPr>
          <p:cNvPr id="1802" name="Google Shape;1802;p97"/>
          <p:cNvSpPr txBox="1"/>
          <p:nvPr>
            <p:ph idx="1" type="body"/>
          </p:nvPr>
        </p:nvSpPr>
        <p:spPr>
          <a:xfrm>
            <a:off x="6813350" y="2931525"/>
            <a:ext cx="1124100" cy="3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sp>
        <p:nvSpPr>
          <p:cNvPr id="1803" name="Google Shape;1803;p97"/>
          <p:cNvSpPr/>
          <p:nvPr/>
        </p:nvSpPr>
        <p:spPr>
          <a:xfrm>
            <a:off x="1822747" y="2480713"/>
            <a:ext cx="1446365" cy="1144860"/>
          </a:xfrm>
          <a:custGeom>
            <a:rect b="b" l="l" r="r" t="t"/>
            <a:pathLst>
              <a:path extrusionOk="0" h="36577" w="48905">
                <a:moveTo>
                  <a:pt x="0" y="36577"/>
                </a:moveTo>
                <a:lnTo>
                  <a:pt x="48905" y="0"/>
                </a:lnTo>
                <a:lnTo>
                  <a:pt x="48905" y="36320"/>
                </a:lnTo>
                <a:close/>
              </a:path>
            </a:pathLst>
          </a:custGeom>
          <a:solidFill>
            <a:srgbClr val="F3EEFB"/>
          </a:solidFill>
          <a:ln>
            <a:noFill/>
          </a:ln>
        </p:spPr>
      </p:sp>
      <p:sp>
        <p:nvSpPr>
          <p:cNvPr id="1804" name="Google Shape;1804;p97"/>
          <p:cNvSpPr/>
          <p:nvPr/>
        </p:nvSpPr>
        <p:spPr>
          <a:xfrm>
            <a:off x="375613" y="2197374"/>
            <a:ext cx="2893500" cy="2893500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5" name="Google Shape;1805;p97"/>
          <p:cNvCxnSpPr/>
          <p:nvPr/>
        </p:nvCxnSpPr>
        <p:spPr>
          <a:xfrm rot="10800000">
            <a:off x="1830600" y="1498296"/>
            <a:ext cx="0" cy="2184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6" name="Google Shape;1806;p97"/>
          <p:cNvCxnSpPr/>
          <p:nvPr/>
        </p:nvCxnSpPr>
        <p:spPr>
          <a:xfrm flipH="1" rot="10800000">
            <a:off x="1782593" y="3633689"/>
            <a:ext cx="1792200" cy="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07" name="Google Shape;1807;p97"/>
          <p:cNvSpPr txBox="1"/>
          <p:nvPr/>
        </p:nvSpPr>
        <p:spPr>
          <a:xfrm>
            <a:off x="3126156" y="3528427"/>
            <a:ext cx="249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8" name="Google Shape;1808;p97"/>
          <p:cNvSpPr txBox="1"/>
          <p:nvPr/>
        </p:nvSpPr>
        <p:spPr>
          <a:xfrm>
            <a:off x="1626872" y="2011225"/>
            <a:ext cx="22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9" name="Google Shape;1809;p97"/>
          <p:cNvSpPr txBox="1"/>
          <p:nvPr/>
        </p:nvSpPr>
        <p:spPr>
          <a:xfrm>
            <a:off x="1636328" y="3604434"/>
            <a:ext cx="274500" cy="3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0" name="Google Shape;1810;p97"/>
          <p:cNvSpPr/>
          <p:nvPr/>
        </p:nvSpPr>
        <p:spPr>
          <a:xfrm>
            <a:off x="1499409" y="3294279"/>
            <a:ext cx="627300" cy="663600"/>
          </a:xfrm>
          <a:prstGeom prst="arc">
            <a:avLst>
              <a:gd fmla="val 1954147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1" name="Google Shape;1811;p97"/>
          <p:cNvCxnSpPr/>
          <p:nvPr/>
        </p:nvCxnSpPr>
        <p:spPr>
          <a:xfrm flipH="1" rot="10800000">
            <a:off x="1824075" y="2494005"/>
            <a:ext cx="1444800" cy="1128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2" name="Google Shape;1812;p97"/>
          <p:cNvSpPr/>
          <p:nvPr/>
        </p:nvSpPr>
        <p:spPr>
          <a:xfrm>
            <a:off x="3162137" y="3530214"/>
            <a:ext cx="96000" cy="87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3" name="Google Shape;1813;p97"/>
          <p:cNvSpPr txBox="1"/>
          <p:nvPr/>
        </p:nvSpPr>
        <p:spPr>
          <a:xfrm>
            <a:off x="1591365" y="1377912"/>
            <a:ext cx="2550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4" name="Google Shape;1814;p97"/>
          <p:cNvCxnSpPr/>
          <p:nvPr/>
        </p:nvCxnSpPr>
        <p:spPr>
          <a:xfrm rot="10800000">
            <a:off x="1837006" y="3627897"/>
            <a:ext cx="14490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5" name="Google Shape;1815;p97"/>
          <p:cNvSpPr/>
          <p:nvPr/>
        </p:nvSpPr>
        <p:spPr>
          <a:xfrm>
            <a:off x="1782593" y="3586589"/>
            <a:ext cx="96000" cy="960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6" name="Google Shape;1816;p97"/>
          <p:cNvSpPr txBox="1"/>
          <p:nvPr/>
        </p:nvSpPr>
        <p:spPr>
          <a:xfrm>
            <a:off x="2076091" y="3252260"/>
            <a:ext cx="56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7" name="Google Shape;1817;p97"/>
          <p:cNvSpPr txBox="1"/>
          <p:nvPr/>
        </p:nvSpPr>
        <p:spPr>
          <a:xfrm>
            <a:off x="2458700" y="3636122"/>
            <a:ext cx="318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8" name="Google Shape;1818;p97"/>
          <p:cNvCxnSpPr/>
          <p:nvPr/>
        </p:nvCxnSpPr>
        <p:spPr>
          <a:xfrm rot="10800000">
            <a:off x="3267525" y="1544372"/>
            <a:ext cx="0" cy="2104200"/>
          </a:xfrm>
          <a:prstGeom prst="straightConnector1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9" name="Google Shape;1819;p97"/>
          <p:cNvSpPr/>
          <p:nvPr/>
        </p:nvSpPr>
        <p:spPr>
          <a:xfrm>
            <a:off x="3220367" y="2442314"/>
            <a:ext cx="94200" cy="99900"/>
          </a:xfrm>
          <a:prstGeom prst="ellipse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0" name="Google Shape;1820;p97"/>
          <p:cNvCxnSpPr/>
          <p:nvPr/>
        </p:nvCxnSpPr>
        <p:spPr>
          <a:xfrm rot="10800000">
            <a:off x="1848225" y="3739322"/>
            <a:ext cx="1350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21" name="Google Shape;1821;p97"/>
          <p:cNvCxnSpPr/>
          <p:nvPr/>
        </p:nvCxnSpPr>
        <p:spPr>
          <a:xfrm>
            <a:off x="3397675" y="2480997"/>
            <a:ext cx="0" cy="111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22" name="Google Shape;1822;p97"/>
          <p:cNvSpPr txBox="1"/>
          <p:nvPr/>
        </p:nvSpPr>
        <p:spPr>
          <a:xfrm>
            <a:off x="3359325" y="2821926"/>
            <a:ext cx="121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7" name="Google Shape;1827;p98"/>
          <p:cNvGrpSpPr/>
          <p:nvPr/>
        </p:nvGrpSpPr>
        <p:grpSpPr>
          <a:xfrm>
            <a:off x="490500" y="824491"/>
            <a:ext cx="3316657" cy="3697110"/>
            <a:chOff x="490500" y="824491"/>
            <a:chExt cx="3316657" cy="3697110"/>
          </a:xfrm>
        </p:grpSpPr>
        <p:pic>
          <p:nvPicPr>
            <p:cNvPr id="1828" name="Google Shape;1828;p98"/>
            <p:cNvPicPr preferRelativeResize="0"/>
            <p:nvPr/>
          </p:nvPicPr>
          <p:blipFill rotWithShape="1">
            <a:blip r:embed="rId3">
              <a:alphaModFix/>
            </a:blip>
            <a:srcRect b="0" l="0" r="6855" t="10897"/>
            <a:stretch/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29" name="Google Shape;1829;p98"/>
            <p:cNvCxnSpPr/>
            <p:nvPr/>
          </p:nvCxnSpPr>
          <p:spPr>
            <a:xfrm rot="10800000">
              <a:off x="702289" y="824491"/>
              <a:ext cx="0" cy="3561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30" name="Google Shape;1830;p98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31" name="Google Shape;1831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cxnSp>
        <p:nvCxnSpPr>
          <p:cNvPr id="1832" name="Google Shape;1832;p98"/>
          <p:cNvCxnSpPr/>
          <p:nvPr/>
        </p:nvCxnSpPr>
        <p:spPr>
          <a:xfrm>
            <a:off x="3258750" y="927650"/>
            <a:ext cx="0" cy="3577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3" name="Google Shape;1833;p98"/>
          <p:cNvSpPr txBox="1"/>
          <p:nvPr>
            <p:ph idx="1" type="body"/>
          </p:nvPr>
        </p:nvSpPr>
        <p:spPr>
          <a:xfrm>
            <a:off x="4824000" y="759300"/>
            <a:ext cx="399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 1: 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834" name="Google Shape;1834;p98"/>
          <p:cNvSpPr txBox="1"/>
          <p:nvPr/>
        </p:nvSpPr>
        <p:spPr>
          <a:xfrm flipH="1">
            <a:off x="6530908" y="159161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98"/>
          <p:cNvSpPr txBox="1"/>
          <p:nvPr/>
        </p:nvSpPr>
        <p:spPr>
          <a:xfrm flipH="1">
            <a:off x="5574654" y="2341554"/>
            <a:ext cx="9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98"/>
          <p:cNvSpPr txBox="1"/>
          <p:nvPr/>
        </p:nvSpPr>
        <p:spPr>
          <a:xfrm>
            <a:off x="4826567" y="1824606"/>
            <a:ext cx="1030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37" name="Google Shape;1837;p98"/>
          <p:cNvCxnSpPr/>
          <p:nvPr/>
        </p:nvCxnSpPr>
        <p:spPr>
          <a:xfrm rot="10800000">
            <a:off x="5556117" y="2119981"/>
            <a:ext cx="354300" cy="36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8" name="Google Shape;1838;p98"/>
          <p:cNvSpPr txBox="1"/>
          <p:nvPr/>
        </p:nvSpPr>
        <p:spPr>
          <a:xfrm>
            <a:off x="7349400" y="1215000"/>
            <a:ext cx="1394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39" name="Google Shape;1839;p98"/>
          <p:cNvCxnSpPr/>
          <p:nvPr/>
        </p:nvCxnSpPr>
        <p:spPr>
          <a:xfrm flipH="1" rot="10800000">
            <a:off x="7085084" y="1489725"/>
            <a:ext cx="300000" cy="23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0" name="Google Shape;1840;p98"/>
          <p:cNvCxnSpPr/>
          <p:nvPr/>
        </p:nvCxnSpPr>
        <p:spPr>
          <a:xfrm>
            <a:off x="6211256" y="2119359"/>
            <a:ext cx="0" cy="117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1" name="Google Shape;1841;p98"/>
          <p:cNvSpPr/>
          <p:nvPr/>
        </p:nvSpPr>
        <p:spPr>
          <a:xfrm flipH="1" rot="10800000">
            <a:off x="6329515" y="2151298"/>
            <a:ext cx="1369200" cy="11439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2" name="Google Shape;1842;p98"/>
          <p:cNvSpPr/>
          <p:nvPr/>
        </p:nvSpPr>
        <p:spPr>
          <a:xfrm rot="10800000">
            <a:off x="6329440" y="2140159"/>
            <a:ext cx="154800" cy="15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3" name="Google Shape;1843;p98"/>
          <p:cNvSpPr/>
          <p:nvPr/>
        </p:nvSpPr>
        <p:spPr>
          <a:xfrm rot="10800000">
            <a:off x="7317384" y="1746660"/>
            <a:ext cx="794700" cy="794700"/>
          </a:xfrm>
          <a:prstGeom prst="arc">
            <a:avLst>
              <a:gd fmla="val 1919206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98"/>
          <p:cNvSpPr txBox="1"/>
          <p:nvPr/>
        </p:nvSpPr>
        <p:spPr>
          <a:xfrm flipH="1">
            <a:off x="6827380" y="2087544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5" name="Google Shape;1845;p98"/>
          <p:cNvCxnSpPr/>
          <p:nvPr/>
        </p:nvCxnSpPr>
        <p:spPr>
          <a:xfrm>
            <a:off x="6329431" y="2017353"/>
            <a:ext cx="135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46" name="Google Shape;1846;p98"/>
          <p:cNvSpPr txBox="1"/>
          <p:nvPr/>
        </p:nvSpPr>
        <p:spPr>
          <a:xfrm>
            <a:off x="4824000" y="3485113"/>
            <a:ext cx="39960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Label the sides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7" name="Google Shape;1847;p98"/>
          <p:cNvSpPr txBox="1"/>
          <p:nvPr/>
        </p:nvSpPr>
        <p:spPr>
          <a:xfrm>
            <a:off x="4824000" y="3912075"/>
            <a:ext cx="3587400" cy="9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We’re using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opposite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adjacent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so draw a tangent at </a:t>
            </a: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8" name="Google Shape;1848;p98"/>
          <p:cNvSpPr txBox="1"/>
          <p:nvPr/>
        </p:nvSpPr>
        <p:spPr>
          <a:xfrm>
            <a:off x="416580" y="7048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9" name="Google Shape;1849;p98"/>
          <p:cNvSpPr txBox="1"/>
          <p:nvPr/>
        </p:nvSpPr>
        <p:spPr>
          <a:xfrm>
            <a:off x="3699936" y="43624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4" name="Google Shape;1854;p99"/>
          <p:cNvGrpSpPr/>
          <p:nvPr/>
        </p:nvGrpSpPr>
        <p:grpSpPr>
          <a:xfrm>
            <a:off x="490500" y="748291"/>
            <a:ext cx="3316657" cy="3697110"/>
            <a:chOff x="490500" y="824491"/>
            <a:chExt cx="3316657" cy="3697110"/>
          </a:xfrm>
        </p:grpSpPr>
        <p:pic>
          <p:nvPicPr>
            <p:cNvPr id="1855" name="Google Shape;1855;p99"/>
            <p:cNvPicPr preferRelativeResize="0"/>
            <p:nvPr/>
          </p:nvPicPr>
          <p:blipFill rotWithShape="1">
            <a:blip r:embed="rId3">
              <a:alphaModFix/>
            </a:blip>
            <a:srcRect b="0" l="0" r="6855" t="10897"/>
            <a:stretch/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56" name="Google Shape;1856;p99"/>
            <p:cNvCxnSpPr/>
            <p:nvPr/>
          </p:nvCxnSpPr>
          <p:spPr>
            <a:xfrm rot="10800000">
              <a:off x="702289" y="824491"/>
              <a:ext cx="0" cy="3561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57" name="Google Shape;1857;p99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58" name="Google Shape;1858;p99"/>
          <p:cNvSpPr txBox="1"/>
          <p:nvPr/>
        </p:nvSpPr>
        <p:spPr>
          <a:xfrm>
            <a:off x="416580" y="6286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9" name="Google Shape;1859;p99"/>
          <p:cNvSpPr txBox="1"/>
          <p:nvPr/>
        </p:nvSpPr>
        <p:spPr>
          <a:xfrm>
            <a:off x="3699936" y="42862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0" name="Google Shape;186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cxnSp>
        <p:nvCxnSpPr>
          <p:cNvPr id="1861" name="Google Shape;1861;p99"/>
          <p:cNvCxnSpPr/>
          <p:nvPr/>
        </p:nvCxnSpPr>
        <p:spPr>
          <a:xfrm>
            <a:off x="3258750" y="851450"/>
            <a:ext cx="0" cy="3577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2" name="Google Shape;1862;p99"/>
          <p:cNvSpPr/>
          <p:nvPr/>
        </p:nvSpPr>
        <p:spPr>
          <a:xfrm flipH="1">
            <a:off x="721200" y="2159999"/>
            <a:ext cx="2532000" cy="2115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99"/>
          <p:cNvSpPr/>
          <p:nvPr/>
        </p:nvSpPr>
        <p:spPr>
          <a:xfrm>
            <a:off x="3075791" y="4087649"/>
            <a:ext cx="183300" cy="183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99"/>
          <p:cNvSpPr/>
          <p:nvPr/>
        </p:nvSpPr>
        <p:spPr>
          <a:xfrm>
            <a:off x="343856" y="3872098"/>
            <a:ext cx="794700" cy="794700"/>
          </a:xfrm>
          <a:prstGeom prst="arc">
            <a:avLst>
              <a:gd fmla="val 1919206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99"/>
          <p:cNvSpPr txBox="1"/>
          <p:nvPr/>
        </p:nvSpPr>
        <p:spPr>
          <a:xfrm>
            <a:off x="1119679" y="3875311"/>
            <a:ext cx="9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66" name="Google Shape;1866;p99"/>
          <p:cNvCxnSpPr/>
          <p:nvPr/>
        </p:nvCxnSpPr>
        <p:spPr>
          <a:xfrm>
            <a:off x="697032" y="4485124"/>
            <a:ext cx="2583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867" name="Google Shape;1867;p99"/>
          <p:cNvCxnSpPr/>
          <p:nvPr/>
        </p:nvCxnSpPr>
        <p:spPr>
          <a:xfrm>
            <a:off x="3458150" y="2169175"/>
            <a:ext cx="0" cy="2105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68" name="Google Shape;1868;p99"/>
          <p:cNvSpPr txBox="1"/>
          <p:nvPr>
            <p:ph idx="1" type="body"/>
          </p:nvPr>
        </p:nvSpPr>
        <p:spPr>
          <a:xfrm>
            <a:off x="1647300" y="4524850"/>
            <a:ext cx="12399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adjacent</a:t>
            </a:r>
            <a:endParaRPr b="1" sz="1800"/>
          </a:p>
        </p:txBody>
      </p:sp>
      <p:sp>
        <p:nvSpPr>
          <p:cNvPr id="1869" name="Google Shape;1869;p99"/>
          <p:cNvSpPr txBox="1"/>
          <p:nvPr>
            <p:ph idx="1" type="body"/>
          </p:nvPr>
        </p:nvSpPr>
        <p:spPr>
          <a:xfrm>
            <a:off x="3523639" y="3103231"/>
            <a:ext cx="16929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/>
              <a:t>opposite</a:t>
            </a:r>
            <a:endParaRPr b="1" sz="1800"/>
          </a:p>
        </p:txBody>
      </p:sp>
      <p:sp>
        <p:nvSpPr>
          <p:cNvPr id="1870" name="Google Shape;1870;p99"/>
          <p:cNvSpPr txBox="1"/>
          <p:nvPr>
            <p:ph idx="1" type="body"/>
          </p:nvPr>
        </p:nvSpPr>
        <p:spPr>
          <a:xfrm>
            <a:off x="4824000" y="759300"/>
            <a:ext cx="399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 1: 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871" name="Google Shape;1871;p99"/>
          <p:cNvSpPr txBox="1"/>
          <p:nvPr/>
        </p:nvSpPr>
        <p:spPr>
          <a:xfrm flipH="1">
            <a:off x="6530908" y="159161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99"/>
          <p:cNvSpPr txBox="1"/>
          <p:nvPr/>
        </p:nvSpPr>
        <p:spPr>
          <a:xfrm flipH="1">
            <a:off x="5574654" y="2341554"/>
            <a:ext cx="9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3" name="Google Shape;1873;p99"/>
          <p:cNvSpPr txBox="1"/>
          <p:nvPr/>
        </p:nvSpPr>
        <p:spPr>
          <a:xfrm>
            <a:off x="4826567" y="1824606"/>
            <a:ext cx="1030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74" name="Google Shape;1874;p99"/>
          <p:cNvCxnSpPr/>
          <p:nvPr/>
        </p:nvCxnSpPr>
        <p:spPr>
          <a:xfrm rot="10800000">
            <a:off x="5556117" y="2119981"/>
            <a:ext cx="354300" cy="36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5" name="Google Shape;1875;p99"/>
          <p:cNvSpPr txBox="1"/>
          <p:nvPr/>
        </p:nvSpPr>
        <p:spPr>
          <a:xfrm>
            <a:off x="7349400" y="1215000"/>
            <a:ext cx="1394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76" name="Google Shape;1876;p99"/>
          <p:cNvCxnSpPr/>
          <p:nvPr/>
        </p:nvCxnSpPr>
        <p:spPr>
          <a:xfrm flipH="1" rot="10800000">
            <a:off x="7085084" y="1489725"/>
            <a:ext cx="300000" cy="23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99"/>
          <p:cNvCxnSpPr/>
          <p:nvPr/>
        </p:nvCxnSpPr>
        <p:spPr>
          <a:xfrm>
            <a:off x="6211256" y="2119359"/>
            <a:ext cx="0" cy="117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78" name="Google Shape;1878;p99"/>
          <p:cNvSpPr/>
          <p:nvPr/>
        </p:nvSpPr>
        <p:spPr>
          <a:xfrm flipH="1" rot="10800000">
            <a:off x="6329515" y="2151298"/>
            <a:ext cx="1369200" cy="11439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9" name="Google Shape;1879;p99"/>
          <p:cNvSpPr/>
          <p:nvPr/>
        </p:nvSpPr>
        <p:spPr>
          <a:xfrm rot="10800000">
            <a:off x="6329440" y="2140159"/>
            <a:ext cx="154800" cy="15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0" name="Google Shape;1880;p99"/>
          <p:cNvSpPr/>
          <p:nvPr/>
        </p:nvSpPr>
        <p:spPr>
          <a:xfrm rot="10800000">
            <a:off x="7317384" y="1746660"/>
            <a:ext cx="794700" cy="794700"/>
          </a:xfrm>
          <a:prstGeom prst="arc">
            <a:avLst>
              <a:gd fmla="val 1919206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1" name="Google Shape;1881;p99"/>
          <p:cNvSpPr txBox="1"/>
          <p:nvPr/>
        </p:nvSpPr>
        <p:spPr>
          <a:xfrm flipH="1">
            <a:off x="6827380" y="2087544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82" name="Google Shape;1882;p99"/>
          <p:cNvCxnSpPr/>
          <p:nvPr/>
        </p:nvCxnSpPr>
        <p:spPr>
          <a:xfrm>
            <a:off x="6329431" y="2017353"/>
            <a:ext cx="135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883" name="Google Shape;1883;p99"/>
          <p:cNvSpPr txBox="1"/>
          <p:nvPr/>
        </p:nvSpPr>
        <p:spPr>
          <a:xfrm>
            <a:off x="4824000" y="3485125"/>
            <a:ext cx="36882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the tangent to create a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 triangle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4" name="Google Shape;1884;p99"/>
          <p:cNvSpPr txBox="1"/>
          <p:nvPr/>
        </p:nvSpPr>
        <p:spPr>
          <a:xfrm>
            <a:off x="4824000" y="4216875"/>
            <a:ext cx="3587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which edges correspond between the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triangles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9" name="Google Shape;1889;p100"/>
          <p:cNvGrpSpPr/>
          <p:nvPr/>
        </p:nvGrpSpPr>
        <p:grpSpPr>
          <a:xfrm>
            <a:off x="490500" y="824491"/>
            <a:ext cx="3316657" cy="3697110"/>
            <a:chOff x="490500" y="824491"/>
            <a:chExt cx="3316657" cy="3697110"/>
          </a:xfrm>
        </p:grpSpPr>
        <p:pic>
          <p:nvPicPr>
            <p:cNvPr id="1890" name="Google Shape;1890;p100"/>
            <p:cNvPicPr preferRelativeResize="0"/>
            <p:nvPr/>
          </p:nvPicPr>
          <p:blipFill rotWithShape="1">
            <a:blip r:embed="rId3">
              <a:alphaModFix/>
            </a:blip>
            <a:srcRect b="0" l="0" r="6855" t="10897"/>
            <a:stretch/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891" name="Google Shape;1891;p100"/>
            <p:cNvCxnSpPr/>
            <p:nvPr/>
          </p:nvCxnSpPr>
          <p:spPr>
            <a:xfrm rot="10800000">
              <a:off x="702289" y="824491"/>
              <a:ext cx="0" cy="3561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92" name="Google Shape;1892;p100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93" name="Google Shape;1893;p100"/>
          <p:cNvSpPr txBox="1"/>
          <p:nvPr/>
        </p:nvSpPr>
        <p:spPr>
          <a:xfrm>
            <a:off x="416580" y="7048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4" name="Google Shape;1894;p100"/>
          <p:cNvSpPr txBox="1"/>
          <p:nvPr/>
        </p:nvSpPr>
        <p:spPr>
          <a:xfrm>
            <a:off x="3699936" y="43624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5" name="Google Shape;1895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cxnSp>
        <p:nvCxnSpPr>
          <p:cNvPr id="1896" name="Google Shape;1896;p100"/>
          <p:cNvCxnSpPr/>
          <p:nvPr/>
        </p:nvCxnSpPr>
        <p:spPr>
          <a:xfrm>
            <a:off x="3258750" y="927650"/>
            <a:ext cx="0" cy="3577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7" name="Google Shape;1897;p100"/>
          <p:cNvSpPr/>
          <p:nvPr/>
        </p:nvSpPr>
        <p:spPr>
          <a:xfrm flipH="1">
            <a:off x="721200" y="2236199"/>
            <a:ext cx="2532000" cy="2115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8" name="Google Shape;1898;p100"/>
          <p:cNvSpPr/>
          <p:nvPr/>
        </p:nvSpPr>
        <p:spPr>
          <a:xfrm>
            <a:off x="3075791" y="4163849"/>
            <a:ext cx="183300" cy="183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9" name="Google Shape;1899;p100"/>
          <p:cNvSpPr/>
          <p:nvPr/>
        </p:nvSpPr>
        <p:spPr>
          <a:xfrm>
            <a:off x="343856" y="3948298"/>
            <a:ext cx="794700" cy="794700"/>
          </a:xfrm>
          <a:prstGeom prst="arc">
            <a:avLst>
              <a:gd fmla="val 1919206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0" name="Google Shape;1900;p100"/>
          <p:cNvSpPr txBox="1"/>
          <p:nvPr/>
        </p:nvSpPr>
        <p:spPr>
          <a:xfrm>
            <a:off x="1119679" y="3951511"/>
            <a:ext cx="9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01" name="Google Shape;1901;p100"/>
          <p:cNvCxnSpPr/>
          <p:nvPr/>
        </p:nvCxnSpPr>
        <p:spPr>
          <a:xfrm>
            <a:off x="697032" y="4561324"/>
            <a:ext cx="2583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02" name="Google Shape;1902;p100"/>
          <p:cNvCxnSpPr/>
          <p:nvPr/>
        </p:nvCxnSpPr>
        <p:spPr>
          <a:xfrm>
            <a:off x="3458150" y="2245375"/>
            <a:ext cx="0" cy="2105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03" name="Google Shape;1903;p100"/>
          <p:cNvSpPr txBox="1"/>
          <p:nvPr>
            <p:ph idx="1" type="body"/>
          </p:nvPr>
        </p:nvSpPr>
        <p:spPr>
          <a:xfrm>
            <a:off x="2066181" y="4578025"/>
            <a:ext cx="2418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904" name="Google Shape;1904;p100"/>
          <p:cNvSpPr txBox="1"/>
          <p:nvPr>
            <p:ph idx="1" type="body"/>
          </p:nvPr>
        </p:nvSpPr>
        <p:spPr>
          <a:xfrm>
            <a:off x="3531816" y="3359756"/>
            <a:ext cx="5466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0.84</a:t>
            </a:r>
            <a:endParaRPr sz="1600"/>
          </a:p>
        </p:txBody>
      </p:sp>
      <p:sp>
        <p:nvSpPr>
          <p:cNvPr id="1905" name="Google Shape;1905;p100"/>
          <p:cNvSpPr txBox="1"/>
          <p:nvPr>
            <p:ph idx="1" type="body"/>
          </p:nvPr>
        </p:nvSpPr>
        <p:spPr>
          <a:xfrm>
            <a:off x="4824000" y="759300"/>
            <a:ext cx="399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 1: 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906" name="Google Shape;1906;p100"/>
          <p:cNvSpPr txBox="1"/>
          <p:nvPr/>
        </p:nvSpPr>
        <p:spPr>
          <a:xfrm flipH="1">
            <a:off x="6530908" y="159161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7" name="Google Shape;1907;p100"/>
          <p:cNvSpPr txBox="1"/>
          <p:nvPr/>
        </p:nvSpPr>
        <p:spPr>
          <a:xfrm flipH="1">
            <a:off x="5574654" y="2341554"/>
            <a:ext cx="9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8" name="Google Shape;1908;p100"/>
          <p:cNvSpPr txBox="1"/>
          <p:nvPr/>
        </p:nvSpPr>
        <p:spPr>
          <a:xfrm>
            <a:off x="4826567" y="1824606"/>
            <a:ext cx="1030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09" name="Google Shape;1909;p100"/>
          <p:cNvCxnSpPr/>
          <p:nvPr/>
        </p:nvCxnSpPr>
        <p:spPr>
          <a:xfrm rot="10800000">
            <a:off x="5556117" y="2119981"/>
            <a:ext cx="354300" cy="36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0" name="Google Shape;1910;p100"/>
          <p:cNvSpPr txBox="1"/>
          <p:nvPr/>
        </p:nvSpPr>
        <p:spPr>
          <a:xfrm>
            <a:off x="7349400" y="1215000"/>
            <a:ext cx="1394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11" name="Google Shape;1911;p100"/>
          <p:cNvCxnSpPr/>
          <p:nvPr/>
        </p:nvCxnSpPr>
        <p:spPr>
          <a:xfrm flipH="1" rot="10800000">
            <a:off x="7085084" y="1489725"/>
            <a:ext cx="300000" cy="23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2" name="Google Shape;1912;p100"/>
          <p:cNvCxnSpPr/>
          <p:nvPr/>
        </p:nvCxnSpPr>
        <p:spPr>
          <a:xfrm>
            <a:off x="6211256" y="2119359"/>
            <a:ext cx="0" cy="117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13" name="Google Shape;1913;p100"/>
          <p:cNvSpPr/>
          <p:nvPr/>
        </p:nvSpPr>
        <p:spPr>
          <a:xfrm flipH="1" rot="10800000">
            <a:off x="6329515" y="2151298"/>
            <a:ext cx="1369200" cy="11439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4" name="Google Shape;1914;p100"/>
          <p:cNvSpPr/>
          <p:nvPr/>
        </p:nvSpPr>
        <p:spPr>
          <a:xfrm rot="10800000">
            <a:off x="6329440" y="2140159"/>
            <a:ext cx="154800" cy="15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5" name="Google Shape;1915;p100"/>
          <p:cNvSpPr/>
          <p:nvPr/>
        </p:nvSpPr>
        <p:spPr>
          <a:xfrm rot="10800000">
            <a:off x="7317384" y="1746660"/>
            <a:ext cx="794700" cy="794700"/>
          </a:xfrm>
          <a:prstGeom prst="arc">
            <a:avLst>
              <a:gd fmla="val 1919206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6" name="Google Shape;1916;p100"/>
          <p:cNvSpPr txBox="1"/>
          <p:nvPr/>
        </p:nvSpPr>
        <p:spPr>
          <a:xfrm flipH="1">
            <a:off x="6827380" y="2087544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17" name="Google Shape;1917;p100"/>
          <p:cNvCxnSpPr/>
          <p:nvPr/>
        </p:nvCxnSpPr>
        <p:spPr>
          <a:xfrm>
            <a:off x="6329431" y="2017353"/>
            <a:ext cx="135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18" name="Google Shape;1918;p100"/>
          <p:cNvCxnSpPr/>
          <p:nvPr/>
        </p:nvCxnSpPr>
        <p:spPr>
          <a:xfrm>
            <a:off x="656484" y="2227322"/>
            <a:ext cx="25971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19" name="Google Shape;1919;p100"/>
          <p:cNvSpPr txBox="1"/>
          <p:nvPr/>
        </p:nvSpPr>
        <p:spPr>
          <a:xfrm>
            <a:off x="4824000" y="3485125"/>
            <a:ext cx="36882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adjacent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the unit circle has a length of </a:t>
            </a:r>
            <a:r>
              <a:rPr lang="en-GB" sz="18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1 unit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0" name="Google Shape;1920;p100"/>
          <p:cNvSpPr txBox="1"/>
          <p:nvPr/>
        </p:nvSpPr>
        <p:spPr>
          <a:xfrm>
            <a:off x="4824000" y="4216875"/>
            <a:ext cx="3587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length of the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opposite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this triangle is equal to 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tan(</a:t>
            </a:r>
            <a:r>
              <a:rPr i="1"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 sz="2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4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5" name="Google Shape;1925;p101"/>
          <p:cNvGrpSpPr/>
          <p:nvPr/>
        </p:nvGrpSpPr>
        <p:grpSpPr>
          <a:xfrm>
            <a:off x="490500" y="824491"/>
            <a:ext cx="3316657" cy="3697110"/>
            <a:chOff x="490500" y="824491"/>
            <a:chExt cx="3316657" cy="3697110"/>
          </a:xfrm>
        </p:grpSpPr>
        <p:pic>
          <p:nvPicPr>
            <p:cNvPr id="1926" name="Google Shape;1926;p101"/>
            <p:cNvPicPr preferRelativeResize="0"/>
            <p:nvPr/>
          </p:nvPicPr>
          <p:blipFill rotWithShape="1">
            <a:blip r:embed="rId3">
              <a:alphaModFix/>
            </a:blip>
            <a:srcRect b="0" l="0" r="6855" t="10897"/>
            <a:stretch/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27" name="Google Shape;1927;p101"/>
            <p:cNvCxnSpPr/>
            <p:nvPr/>
          </p:nvCxnSpPr>
          <p:spPr>
            <a:xfrm rot="10800000">
              <a:off x="702289" y="824491"/>
              <a:ext cx="0" cy="3561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28" name="Google Shape;1928;p101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29" name="Google Shape;1929;p101"/>
          <p:cNvSpPr txBox="1"/>
          <p:nvPr/>
        </p:nvSpPr>
        <p:spPr>
          <a:xfrm>
            <a:off x="416580" y="7048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0" name="Google Shape;1930;p101"/>
          <p:cNvSpPr txBox="1"/>
          <p:nvPr/>
        </p:nvSpPr>
        <p:spPr>
          <a:xfrm>
            <a:off x="3699936" y="43624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1" name="Google Shape;1931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cxnSp>
        <p:nvCxnSpPr>
          <p:cNvPr id="1932" name="Google Shape;1932;p101"/>
          <p:cNvCxnSpPr/>
          <p:nvPr/>
        </p:nvCxnSpPr>
        <p:spPr>
          <a:xfrm>
            <a:off x="3258750" y="927650"/>
            <a:ext cx="0" cy="3577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3" name="Google Shape;1933;p101"/>
          <p:cNvSpPr/>
          <p:nvPr/>
        </p:nvSpPr>
        <p:spPr>
          <a:xfrm flipH="1">
            <a:off x="721200" y="2236199"/>
            <a:ext cx="2532000" cy="21156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4" name="Google Shape;1934;p101"/>
          <p:cNvSpPr/>
          <p:nvPr/>
        </p:nvSpPr>
        <p:spPr>
          <a:xfrm>
            <a:off x="3075791" y="4163849"/>
            <a:ext cx="183300" cy="183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01"/>
          <p:cNvSpPr/>
          <p:nvPr/>
        </p:nvSpPr>
        <p:spPr>
          <a:xfrm>
            <a:off x="343856" y="3948298"/>
            <a:ext cx="794700" cy="794700"/>
          </a:xfrm>
          <a:prstGeom prst="arc">
            <a:avLst>
              <a:gd fmla="val 1919206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6" name="Google Shape;1936;p101"/>
          <p:cNvSpPr txBox="1"/>
          <p:nvPr/>
        </p:nvSpPr>
        <p:spPr>
          <a:xfrm>
            <a:off x="1119679" y="3951511"/>
            <a:ext cx="9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7" name="Google Shape;1937;p101"/>
          <p:cNvCxnSpPr/>
          <p:nvPr/>
        </p:nvCxnSpPr>
        <p:spPr>
          <a:xfrm>
            <a:off x="697032" y="4561324"/>
            <a:ext cx="2583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38" name="Google Shape;1938;p101"/>
          <p:cNvCxnSpPr/>
          <p:nvPr/>
        </p:nvCxnSpPr>
        <p:spPr>
          <a:xfrm>
            <a:off x="3458150" y="2245375"/>
            <a:ext cx="0" cy="21054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39" name="Google Shape;1939;p101"/>
          <p:cNvSpPr txBox="1"/>
          <p:nvPr>
            <p:ph idx="1" type="body"/>
          </p:nvPr>
        </p:nvSpPr>
        <p:spPr>
          <a:xfrm>
            <a:off x="2066181" y="4578025"/>
            <a:ext cx="2418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940" name="Google Shape;1940;p101"/>
          <p:cNvSpPr txBox="1"/>
          <p:nvPr>
            <p:ph idx="1" type="body"/>
          </p:nvPr>
        </p:nvSpPr>
        <p:spPr>
          <a:xfrm>
            <a:off x="3531816" y="3359756"/>
            <a:ext cx="5466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0.84</a:t>
            </a:r>
            <a:endParaRPr sz="1600"/>
          </a:p>
        </p:txBody>
      </p:sp>
      <p:sp>
        <p:nvSpPr>
          <p:cNvPr id="1941" name="Google Shape;1941;p101"/>
          <p:cNvSpPr txBox="1"/>
          <p:nvPr>
            <p:ph idx="1" type="body"/>
          </p:nvPr>
        </p:nvSpPr>
        <p:spPr>
          <a:xfrm>
            <a:off x="4824000" y="759300"/>
            <a:ext cx="3996000" cy="29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 1: Find the value of </a:t>
            </a: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.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942" name="Google Shape;1942;p101"/>
          <p:cNvSpPr txBox="1"/>
          <p:nvPr/>
        </p:nvSpPr>
        <p:spPr>
          <a:xfrm flipH="1">
            <a:off x="6530908" y="1591610"/>
            <a:ext cx="856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3" name="Google Shape;1943;p101"/>
          <p:cNvSpPr txBox="1"/>
          <p:nvPr/>
        </p:nvSpPr>
        <p:spPr>
          <a:xfrm flipH="1">
            <a:off x="5574654" y="2341554"/>
            <a:ext cx="93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101"/>
          <p:cNvSpPr txBox="1"/>
          <p:nvPr/>
        </p:nvSpPr>
        <p:spPr>
          <a:xfrm>
            <a:off x="4826567" y="1824606"/>
            <a:ext cx="10308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opposite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45" name="Google Shape;1945;p101"/>
          <p:cNvCxnSpPr/>
          <p:nvPr/>
        </p:nvCxnSpPr>
        <p:spPr>
          <a:xfrm rot="10800000">
            <a:off x="5556117" y="2119981"/>
            <a:ext cx="354300" cy="3699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6" name="Google Shape;1946;p101"/>
          <p:cNvSpPr txBox="1"/>
          <p:nvPr/>
        </p:nvSpPr>
        <p:spPr>
          <a:xfrm>
            <a:off x="7349400" y="1215000"/>
            <a:ext cx="13944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adjacent</a:t>
            </a:r>
            <a:endParaRPr b="1"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947" name="Google Shape;1947;p101"/>
          <p:cNvCxnSpPr/>
          <p:nvPr/>
        </p:nvCxnSpPr>
        <p:spPr>
          <a:xfrm flipH="1" rot="10800000">
            <a:off x="7085084" y="1489725"/>
            <a:ext cx="300000" cy="23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8" name="Google Shape;1948;p101"/>
          <p:cNvCxnSpPr/>
          <p:nvPr/>
        </p:nvCxnSpPr>
        <p:spPr>
          <a:xfrm>
            <a:off x="6211256" y="2119359"/>
            <a:ext cx="0" cy="1175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49" name="Google Shape;1949;p101"/>
          <p:cNvSpPr/>
          <p:nvPr/>
        </p:nvSpPr>
        <p:spPr>
          <a:xfrm flipH="1" rot="10800000">
            <a:off x="6329515" y="2151298"/>
            <a:ext cx="1369200" cy="11439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0" name="Google Shape;1950;p101"/>
          <p:cNvSpPr/>
          <p:nvPr/>
        </p:nvSpPr>
        <p:spPr>
          <a:xfrm rot="10800000">
            <a:off x="6329440" y="2140159"/>
            <a:ext cx="154800" cy="154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1" name="Google Shape;1951;p101"/>
          <p:cNvSpPr/>
          <p:nvPr/>
        </p:nvSpPr>
        <p:spPr>
          <a:xfrm rot="10800000">
            <a:off x="7317384" y="1746660"/>
            <a:ext cx="794700" cy="794700"/>
          </a:xfrm>
          <a:prstGeom prst="arc">
            <a:avLst>
              <a:gd fmla="val 19192067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2" name="Google Shape;1952;p101"/>
          <p:cNvSpPr txBox="1"/>
          <p:nvPr/>
        </p:nvSpPr>
        <p:spPr>
          <a:xfrm flipH="1">
            <a:off x="6827380" y="2087544"/>
            <a:ext cx="606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40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3" name="Google Shape;1953;p101"/>
          <p:cNvCxnSpPr/>
          <p:nvPr/>
        </p:nvCxnSpPr>
        <p:spPr>
          <a:xfrm>
            <a:off x="6329431" y="2017353"/>
            <a:ext cx="13566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954" name="Google Shape;1954;p101"/>
          <p:cNvCxnSpPr/>
          <p:nvPr/>
        </p:nvCxnSpPr>
        <p:spPr>
          <a:xfrm>
            <a:off x="656484" y="2227322"/>
            <a:ext cx="25971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55" name="Google Shape;1955;p101"/>
          <p:cNvSpPr txBox="1"/>
          <p:nvPr/>
        </p:nvSpPr>
        <p:spPr>
          <a:xfrm>
            <a:off x="4824000" y="3485125"/>
            <a:ext cx="36882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the same proportions to calculate the value of </a:t>
            </a: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6" name="Google Shape;1956;p101"/>
          <p:cNvSpPr txBox="1"/>
          <p:nvPr/>
        </p:nvSpPr>
        <p:spPr>
          <a:xfrm>
            <a:off x="5959100" y="4013273"/>
            <a:ext cx="16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 × 0.84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7" name="Google Shape;1957;p101"/>
          <p:cNvSpPr txBox="1"/>
          <p:nvPr/>
        </p:nvSpPr>
        <p:spPr>
          <a:xfrm>
            <a:off x="6086300" y="4470473"/>
            <a:ext cx="113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5.04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58" name="Google Shape;1958;p101"/>
          <p:cNvCxnSpPr/>
          <p:nvPr/>
        </p:nvCxnSpPr>
        <p:spPr>
          <a:xfrm flipH="1" rot="10800000">
            <a:off x="2316403" y="3585954"/>
            <a:ext cx="1494900" cy="1096200"/>
          </a:xfrm>
          <a:prstGeom prst="curvedConnector3">
            <a:avLst>
              <a:gd fmla="val 98316" name="adj1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59" name="Google Shape;1959;p101"/>
          <p:cNvSpPr txBox="1"/>
          <p:nvPr/>
        </p:nvSpPr>
        <p:spPr>
          <a:xfrm>
            <a:off x="3758911" y="3959135"/>
            <a:ext cx="82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0.84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60" name="Google Shape;1960;p101"/>
          <p:cNvCxnSpPr>
            <a:stCxn id="1942" idx="3"/>
            <a:endCxn id="1943" idx="0"/>
          </p:cNvCxnSpPr>
          <p:nvPr/>
        </p:nvCxnSpPr>
        <p:spPr>
          <a:xfrm flipH="1">
            <a:off x="6044608" y="1822460"/>
            <a:ext cx="486300" cy="519000"/>
          </a:xfrm>
          <a:prstGeom prst="curvedConnector2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1" name="Google Shape;1961;p101"/>
          <p:cNvSpPr txBox="1"/>
          <p:nvPr/>
        </p:nvSpPr>
        <p:spPr>
          <a:xfrm>
            <a:off x="5740111" y="1520735"/>
            <a:ext cx="82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accent2"/>
                </a:solidFill>
                <a:latin typeface="Lexend"/>
                <a:ea typeface="Lexend"/>
                <a:cs typeface="Lexend"/>
                <a:sym typeface="Lexend"/>
              </a:rPr>
              <a:t>× 0.84</a:t>
            </a:r>
            <a:endParaRPr sz="1600">
              <a:solidFill>
                <a:schemeClr val="accent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p102"/>
          <p:cNvSpPr txBox="1"/>
          <p:nvPr>
            <p:ph idx="1" type="body"/>
          </p:nvPr>
        </p:nvSpPr>
        <p:spPr>
          <a:xfrm>
            <a:off x="4572000" y="759300"/>
            <a:ext cx="3989700" cy="52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value of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?</a:t>
            </a:r>
            <a:endParaRPr/>
          </a:p>
        </p:txBody>
      </p:sp>
      <p:sp>
        <p:nvSpPr>
          <p:cNvPr id="1967" name="Google Shape;1967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tangent from the unit circle</a:t>
            </a:r>
            <a:endParaRPr/>
          </a:p>
        </p:txBody>
      </p:sp>
      <p:grpSp>
        <p:nvGrpSpPr>
          <p:cNvPr id="1968" name="Google Shape;1968;p102"/>
          <p:cNvGrpSpPr/>
          <p:nvPr/>
        </p:nvGrpSpPr>
        <p:grpSpPr>
          <a:xfrm>
            <a:off x="871500" y="824491"/>
            <a:ext cx="3316657" cy="3697110"/>
            <a:chOff x="490500" y="824491"/>
            <a:chExt cx="3316657" cy="3697110"/>
          </a:xfrm>
        </p:grpSpPr>
        <p:pic>
          <p:nvPicPr>
            <p:cNvPr id="1969" name="Google Shape;1969;p102"/>
            <p:cNvPicPr preferRelativeResize="0"/>
            <p:nvPr/>
          </p:nvPicPr>
          <p:blipFill rotWithShape="1">
            <a:blip r:embed="rId3">
              <a:alphaModFix/>
            </a:blip>
            <a:srcRect b="0" l="0" r="6855" t="10897"/>
            <a:stretch/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70" name="Google Shape;1970;p102"/>
            <p:cNvCxnSpPr/>
            <p:nvPr/>
          </p:nvCxnSpPr>
          <p:spPr>
            <a:xfrm rot="10800000">
              <a:off x="702289" y="824491"/>
              <a:ext cx="0" cy="3561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71" name="Google Shape;1971;p102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972" name="Google Shape;1972;p102"/>
          <p:cNvSpPr txBox="1"/>
          <p:nvPr/>
        </p:nvSpPr>
        <p:spPr>
          <a:xfrm>
            <a:off x="797580" y="7048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3" name="Google Shape;1973;p102"/>
          <p:cNvSpPr txBox="1"/>
          <p:nvPr/>
        </p:nvSpPr>
        <p:spPr>
          <a:xfrm>
            <a:off x="4080936" y="4362423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974" name="Google Shape;1974;p102"/>
          <p:cNvCxnSpPr/>
          <p:nvPr/>
        </p:nvCxnSpPr>
        <p:spPr>
          <a:xfrm>
            <a:off x="3639750" y="927650"/>
            <a:ext cx="0" cy="3577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5" name="Google Shape;1975;p102"/>
          <p:cNvSpPr/>
          <p:nvPr/>
        </p:nvSpPr>
        <p:spPr>
          <a:xfrm flipH="1">
            <a:off x="1102200" y="2894875"/>
            <a:ext cx="2532000" cy="14568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6" name="Google Shape;1976;p102"/>
          <p:cNvSpPr/>
          <p:nvPr/>
        </p:nvSpPr>
        <p:spPr>
          <a:xfrm>
            <a:off x="3456791" y="4163849"/>
            <a:ext cx="183300" cy="1833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7" name="Google Shape;1977;p102"/>
          <p:cNvSpPr/>
          <p:nvPr/>
        </p:nvSpPr>
        <p:spPr>
          <a:xfrm>
            <a:off x="724856" y="3948298"/>
            <a:ext cx="794700" cy="794700"/>
          </a:xfrm>
          <a:prstGeom prst="arc">
            <a:avLst>
              <a:gd fmla="val 19854895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8" name="Google Shape;1978;p102"/>
          <p:cNvSpPr txBox="1"/>
          <p:nvPr/>
        </p:nvSpPr>
        <p:spPr>
          <a:xfrm>
            <a:off x="1500679" y="3951511"/>
            <a:ext cx="97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79" name="Google Shape;1979;p102"/>
          <p:cNvCxnSpPr/>
          <p:nvPr/>
        </p:nvCxnSpPr>
        <p:spPr>
          <a:xfrm>
            <a:off x="1078032" y="4561324"/>
            <a:ext cx="2583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0" name="Google Shape;1980;p102"/>
          <p:cNvSpPr txBox="1"/>
          <p:nvPr>
            <p:ph idx="1" type="body"/>
          </p:nvPr>
        </p:nvSpPr>
        <p:spPr>
          <a:xfrm>
            <a:off x="2447181" y="4578025"/>
            <a:ext cx="2418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1981" name="Google Shape;1981;p102"/>
          <p:cNvSpPr txBox="1"/>
          <p:nvPr>
            <p:ph idx="1" type="body"/>
          </p:nvPr>
        </p:nvSpPr>
        <p:spPr>
          <a:xfrm>
            <a:off x="371948" y="2770422"/>
            <a:ext cx="5466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0.57</a:t>
            </a:r>
            <a:endParaRPr sz="1600"/>
          </a:p>
        </p:txBody>
      </p:sp>
      <p:cxnSp>
        <p:nvCxnSpPr>
          <p:cNvPr id="1982" name="Google Shape;1982;p102"/>
          <p:cNvCxnSpPr/>
          <p:nvPr/>
        </p:nvCxnSpPr>
        <p:spPr>
          <a:xfrm>
            <a:off x="785675" y="2906375"/>
            <a:ext cx="28488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983" name="Google Shape;1983;p102"/>
          <p:cNvSpPr/>
          <p:nvPr/>
        </p:nvSpPr>
        <p:spPr>
          <a:xfrm flipH="1">
            <a:off x="5341419" y="1599475"/>
            <a:ext cx="2182800" cy="1255800"/>
          </a:xfrm>
          <a:prstGeom prst="rtTriangl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4" name="Google Shape;1984;p102"/>
          <p:cNvSpPr/>
          <p:nvPr/>
        </p:nvSpPr>
        <p:spPr>
          <a:xfrm>
            <a:off x="7371278" y="2693435"/>
            <a:ext cx="158100" cy="15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5" name="Google Shape;1985;p102"/>
          <p:cNvSpPr/>
          <p:nvPr/>
        </p:nvSpPr>
        <p:spPr>
          <a:xfrm>
            <a:off x="5016126" y="2507613"/>
            <a:ext cx="685200" cy="685200"/>
          </a:xfrm>
          <a:prstGeom prst="arc">
            <a:avLst>
              <a:gd fmla="val 19854895" name="adj1"/>
              <a:gd fmla="val 0" name="adj2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102"/>
          <p:cNvSpPr txBox="1"/>
          <p:nvPr/>
        </p:nvSpPr>
        <p:spPr>
          <a:xfrm>
            <a:off x="5684949" y="2490116"/>
            <a:ext cx="84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°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87" name="Google Shape;1987;p102"/>
          <p:cNvCxnSpPr/>
          <p:nvPr/>
        </p:nvCxnSpPr>
        <p:spPr>
          <a:xfrm>
            <a:off x="5320592" y="3036091"/>
            <a:ext cx="2227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88" name="Google Shape;1988;p102"/>
          <p:cNvSpPr txBox="1"/>
          <p:nvPr>
            <p:ph idx="1" type="body"/>
          </p:nvPr>
        </p:nvSpPr>
        <p:spPr>
          <a:xfrm>
            <a:off x="6196075" y="3036989"/>
            <a:ext cx="744900" cy="3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10 cm</a:t>
            </a:r>
            <a:endParaRPr sz="2000"/>
          </a:p>
        </p:txBody>
      </p:sp>
      <p:cxnSp>
        <p:nvCxnSpPr>
          <p:cNvPr id="1989" name="Google Shape;1989;p102"/>
          <p:cNvCxnSpPr/>
          <p:nvPr/>
        </p:nvCxnSpPr>
        <p:spPr>
          <a:xfrm>
            <a:off x="7700500" y="1569195"/>
            <a:ext cx="0" cy="1307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990" name="Google Shape;1990;p102"/>
          <p:cNvSpPr txBox="1"/>
          <p:nvPr>
            <p:ph idx="1" type="body"/>
          </p:nvPr>
        </p:nvSpPr>
        <p:spPr>
          <a:xfrm>
            <a:off x="7771950" y="2102389"/>
            <a:ext cx="744900" cy="32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cm</a:t>
            </a:r>
            <a:endParaRPr sz="2000"/>
          </a:p>
        </p:txBody>
      </p:sp>
      <p:sp>
        <p:nvSpPr>
          <p:cNvPr id="1991" name="Google Shape;1991;p102"/>
          <p:cNvSpPr txBox="1"/>
          <p:nvPr/>
        </p:nvSpPr>
        <p:spPr>
          <a:xfrm>
            <a:off x="5839075" y="3690425"/>
            <a:ext cx="18009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= 10 × 0.57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  = 5.7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5" name="Shape 1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" name="Google Shape;1996;p103"/>
          <p:cNvSpPr txBox="1"/>
          <p:nvPr>
            <p:ph idx="1" type="body"/>
          </p:nvPr>
        </p:nvSpPr>
        <p:spPr>
          <a:xfrm>
            <a:off x="324000" y="759300"/>
            <a:ext cx="8496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</a:t>
            </a:r>
            <a:r>
              <a:rPr lang="en-GB" sz="1800"/>
              <a:t> Use this sector of the unit circle to find the value of each unknown.</a:t>
            </a:r>
            <a:endParaRPr sz="1800"/>
          </a:p>
        </p:txBody>
      </p:sp>
      <p:sp>
        <p:nvSpPr>
          <p:cNvPr id="1997" name="Google Shape;1997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grpSp>
        <p:nvGrpSpPr>
          <p:cNvPr id="1998" name="Google Shape;1998;p103"/>
          <p:cNvGrpSpPr/>
          <p:nvPr/>
        </p:nvGrpSpPr>
        <p:grpSpPr>
          <a:xfrm>
            <a:off x="490500" y="1100378"/>
            <a:ext cx="3316657" cy="3697110"/>
            <a:chOff x="490500" y="824491"/>
            <a:chExt cx="3316657" cy="3697110"/>
          </a:xfrm>
        </p:grpSpPr>
        <p:pic>
          <p:nvPicPr>
            <p:cNvPr id="1999" name="Google Shape;1999;p103"/>
            <p:cNvPicPr preferRelativeResize="0"/>
            <p:nvPr/>
          </p:nvPicPr>
          <p:blipFill rotWithShape="1">
            <a:blip r:embed="rId3">
              <a:alphaModFix/>
            </a:blip>
            <a:srcRect b="0" l="0" r="6855" t="10897"/>
            <a:stretch/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00" name="Google Shape;2000;p103"/>
            <p:cNvCxnSpPr/>
            <p:nvPr/>
          </p:nvCxnSpPr>
          <p:spPr>
            <a:xfrm rot="10800000">
              <a:off x="702289" y="824491"/>
              <a:ext cx="0" cy="3561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01" name="Google Shape;2001;p103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02" name="Google Shape;2002;p103"/>
          <p:cNvSpPr txBox="1"/>
          <p:nvPr/>
        </p:nvSpPr>
        <p:spPr>
          <a:xfrm>
            <a:off x="333625" y="1023134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3" name="Google Shape;2003;p103"/>
          <p:cNvSpPr txBox="1"/>
          <p:nvPr/>
        </p:nvSpPr>
        <p:spPr>
          <a:xfrm>
            <a:off x="3776136" y="4562111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4" name="Google Shape;2004;p103"/>
          <p:cNvSpPr/>
          <p:nvPr/>
        </p:nvSpPr>
        <p:spPr>
          <a:xfrm flipH="1" rot="-17697">
            <a:off x="7155279" y="1149975"/>
            <a:ext cx="932412" cy="10782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5" name="Google Shape;2005;p103"/>
          <p:cNvSpPr/>
          <p:nvPr/>
        </p:nvSpPr>
        <p:spPr>
          <a:xfrm flipH="1" rot="-8725">
            <a:off x="7962585" y="2108541"/>
            <a:ext cx="118200" cy="11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6" name="Google Shape;2006;p103"/>
          <p:cNvSpPr/>
          <p:nvPr/>
        </p:nvSpPr>
        <p:spPr>
          <a:xfrm flipH="1" rot="-19349">
            <a:off x="7040685" y="2069848"/>
            <a:ext cx="319805" cy="319505"/>
          </a:xfrm>
          <a:prstGeom prst="arc">
            <a:avLst>
              <a:gd fmla="val 10637741" name="adj1"/>
              <a:gd fmla="val 140680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7" name="Google Shape;2007;p103"/>
          <p:cNvSpPr txBox="1"/>
          <p:nvPr>
            <p:ph idx="1" type="body"/>
          </p:nvPr>
        </p:nvSpPr>
        <p:spPr>
          <a:xfrm>
            <a:off x="4345278" y="10989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2008" name="Google Shape;2008;p103"/>
          <p:cNvSpPr txBox="1"/>
          <p:nvPr>
            <p:ph idx="1" type="body"/>
          </p:nvPr>
        </p:nvSpPr>
        <p:spPr>
          <a:xfrm>
            <a:off x="6978915" y="10989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2009" name="Google Shape;2009;p103"/>
          <p:cNvSpPr txBox="1"/>
          <p:nvPr>
            <p:ph idx="1" type="body"/>
          </p:nvPr>
        </p:nvSpPr>
        <p:spPr>
          <a:xfrm>
            <a:off x="4345278" y="29277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2010" name="Google Shape;2010;p103"/>
          <p:cNvSpPr txBox="1"/>
          <p:nvPr>
            <p:ph idx="1" type="body"/>
          </p:nvPr>
        </p:nvSpPr>
        <p:spPr>
          <a:xfrm>
            <a:off x="6978915" y="29277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2011" name="Google Shape;2011;p103"/>
          <p:cNvCxnSpPr/>
          <p:nvPr/>
        </p:nvCxnSpPr>
        <p:spPr>
          <a:xfrm rot="10800000">
            <a:off x="7157725" y="2347825"/>
            <a:ext cx="94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12" name="Google Shape;2012;p103"/>
          <p:cNvCxnSpPr/>
          <p:nvPr/>
        </p:nvCxnSpPr>
        <p:spPr>
          <a:xfrm rot="10800000">
            <a:off x="8179475" y="1145425"/>
            <a:ext cx="0" cy="109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3" name="Google Shape;2013;p103"/>
          <p:cNvSpPr txBox="1"/>
          <p:nvPr>
            <p:ph idx="1" type="body"/>
          </p:nvPr>
        </p:nvSpPr>
        <p:spPr>
          <a:xfrm flipH="1">
            <a:off x="7369861" y="1990495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50°</a:t>
            </a:r>
            <a:endParaRPr sz="1600"/>
          </a:p>
        </p:txBody>
      </p:sp>
      <p:sp>
        <p:nvSpPr>
          <p:cNvPr id="2014" name="Google Shape;2014;p103"/>
          <p:cNvSpPr/>
          <p:nvPr/>
        </p:nvSpPr>
        <p:spPr>
          <a:xfrm flipH="1" rot="-17378">
            <a:off x="4609996" y="1231798"/>
            <a:ext cx="1008913" cy="11667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5" name="Google Shape;2015;p103"/>
          <p:cNvSpPr/>
          <p:nvPr/>
        </p:nvSpPr>
        <p:spPr>
          <a:xfrm flipH="1" rot="-8070">
            <a:off x="5483682" y="2269073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16" name="Google Shape;2016;p103"/>
          <p:cNvCxnSpPr/>
          <p:nvPr/>
        </p:nvCxnSpPr>
        <p:spPr>
          <a:xfrm>
            <a:off x="4598025" y="2489179"/>
            <a:ext cx="101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17" name="Google Shape;2017;p103"/>
          <p:cNvSpPr txBox="1"/>
          <p:nvPr>
            <p:ph idx="1" type="body"/>
          </p:nvPr>
        </p:nvSpPr>
        <p:spPr>
          <a:xfrm flipH="1">
            <a:off x="4842121" y="2156006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50°</a:t>
            </a:r>
            <a:endParaRPr sz="1600"/>
          </a:p>
        </p:txBody>
      </p:sp>
      <p:sp>
        <p:nvSpPr>
          <p:cNvPr id="2018" name="Google Shape;2018;p103"/>
          <p:cNvSpPr/>
          <p:nvPr/>
        </p:nvSpPr>
        <p:spPr>
          <a:xfrm flipH="1" rot="-17889">
            <a:off x="4472590" y="2227144"/>
            <a:ext cx="345905" cy="345605"/>
          </a:xfrm>
          <a:prstGeom prst="arc">
            <a:avLst>
              <a:gd fmla="val 10637741" name="adj1"/>
              <a:gd fmla="val 140680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9" name="Google Shape;2019;p103"/>
          <p:cNvSpPr txBox="1"/>
          <p:nvPr/>
        </p:nvSpPr>
        <p:spPr>
          <a:xfrm>
            <a:off x="4290600" y="4267025"/>
            <a:ext cx="3286800" cy="5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Link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an interactive version:</a:t>
            </a:r>
            <a:b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unit circle in first quadrant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🖇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0" name="Google Shape;2020;p103"/>
          <p:cNvCxnSpPr/>
          <p:nvPr/>
        </p:nvCxnSpPr>
        <p:spPr>
          <a:xfrm rot="10800000">
            <a:off x="5745557" y="1216825"/>
            <a:ext cx="0" cy="117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21" name="Google Shape;2021;p103"/>
          <p:cNvSpPr/>
          <p:nvPr/>
        </p:nvSpPr>
        <p:spPr>
          <a:xfrm rot="7213603">
            <a:off x="7212248" y="3467535"/>
            <a:ext cx="1331882" cy="736164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2" name="Google Shape;2022;p103"/>
          <p:cNvSpPr/>
          <p:nvPr/>
        </p:nvSpPr>
        <p:spPr>
          <a:xfrm rot="7210779">
            <a:off x="7854187" y="3106846"/>
            <a:ext cx="112788" cy="11580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3" name="Google Shape;2023;p103"/>
          <p:cNvSpPr/>
          <p:nvPr/>
        </p:nvSpPr>
        <p:spPr>
          <a:xfrm rot="-1471793">
            <a:off x="4759120" y="2866998"/>
            <a:ext cx="1473380" cy="65553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03"/>
          <p:cNvSpPr/>
          <p:nvPr/>
        </p:nvSpPr>
        <p:spPr>
          <a:xfrm rot="-1475534">
            <a:off x="4930121" y="3653498"/>
            <a:ext cx="124712" cy="12471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103"/>
          <p:cNvSpPr/>
          <p:nvPr/>
        </p:nvSpPr>
        <p:spPr>
          <a:xfrm rot="198685">
            <a:off x="6004914" y="2889883"/>
            <a:ext cx="586880" cy="586264"/>
          </a:xfrm>
          <a:prstGeom prst="arc">
            <a:avLst>
              <a:gd fmla="val 9041640" name="adj1"/>
              <a:gd fmla="val 1065085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6" name="Google Shape;2026;p103"/>
          <p:cNvSpPr/>
          <p:nvPr/>
        </p:nvSpPr>
        <p:spPr>
          <a:xfrm rot="10800000">
            <a:off x="6934379" y="3943670"/>
            <a:ext cx="604500" cy="573300"/>
          </a:xfrm>
          <a:prstGeom prst="arc">
            <a:avLst>
              <a:gd fmla="val 7118110" name="adj1"/>
              <a:gd fmla="val 869014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27" name="Google Shape;2027;p103"/>
          <p:cNvCxnSpPr/>
          <p:nvPr/>
        </p:nvCxnSpPr>
        <p:spPr>
          <a:xfrm rot="201593">
            <a:off x="4558131" y="3250622"/>
            <a:ext cx="307128" cy="59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8" name="Google Shape;2028;p103"/>
          <p:cNvCxnSpPr/>
          <p:nvPr/>
        </p:nvCxnSpPr>
        <p:spPr>
          <a:xfrm flipH="1" rot="199302">
            <a:off x="5014795" y="3235131"/>
            <a:ext cx="1330636" cy="68724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29" name="Google Shape;2029;p103"/>
          <p:cNvCxnSpPr/>
          <p:nvPr/>
        </p:nvCxnSpPr>
        <p:spPr>
          <a:xfrm rot="10800000">
            <a:off x="7938999" y="3013785"/>
            <a:ext cx="651600" cy="35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30" name="Google Shape;2030;p103"/>
          <p:cNvCxnSpPr/>
          <p:nvPr/>
        </p:nvCxnSpPr>
        <p:spPr>
          <a:xfrm flipH="1" rot="10800000">
            <a:off x="7137767" y="3010957"/>
            <a:ext cx="675900" cy="115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31" name="Google Shape;2031;p103"/>
          <p:cNvSpPr txBox="1"/>
          <p:nvPr>
            <p:ph idx="1" type="body"/>
          </p:nvPr>
        </p:nvSpPr>
        <p:spPr>
          <a:xfrm flipH="1" rot="1954">
            <a:off x="5572387" y="3611676"/>
            <a:ext cx="5277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32" name="Google Shape;2032;p103"/>
          <p:cNvSpPr txBox="1"/>
          <p:nvPr>
            <p:ph idx="1" type="body"/>
          </p:nvPr>
        </p:nvSpPr>
        <p:spPr>
          <a:xfrm flipH="1">
            <a:off x="8179475" y="2923125"/>
            <a:ext cx="5277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33" name="Google Shape;2033;p103"/>
          <p:cNvSpPr txBox="1"/>
          <p:nvPr>
            <p:ph idx="1" type="body"/>
          </p:nvPr>
        </p:nvSpPr>
        <p:spPr>
          <a:xfrm flipH="1" rot="1790">
            <a:off x="5578145" y="3195008"/>
            <a:ext cx="5760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r>
              <a:rPr lang="en-GB" sz="1600"/>
              <a:t>0°</a:t>
            </a:r>
            <a:endParaRPr sz="1600"/>
          </a:p>
        </p:txBody>
      </p:sp>
      <p:sp>
        <p:nvSpPr>
          <p:cNvPr id="2034" name="Google Shape;2034;p103"/>
          <p:cNvSpPr txBox="1"/>
          <p:nvPr>
            <p:ph idx="1" type="body"/>
          </p:nvPr>
        </p:nvSpPr>
        <p:spPr>
          <a:xfrm flipH="1" rot="1790">
            <a:off x="7491741" y="3735016"/>
            <a:ext cx="5760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r>
              <a:rPr lang="en-GB" sz="1600"/>
              <a:t>0°</a:t>
            </a:r>
            <a:endParaRPr sz="1600"/>
          </a:p>
        </p:txBody>
      </p:sp>
      <p:sp>
        <p:nvSpPr>
          <p:cNvPr id="2035" name="Google Shape;2035;p103"/>
          <p:cNvSpPr txBox="1"/>
          <p:nvPr>
            <p:ph idx="1" type="body"/>
          </p:nvPr>
        </p:nvSpPr>
        <p:spPr>
          <a:xfrm flipH="1">
            <a:off x="4335526" y="3429856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36" name="Google Shape;2036;p103"/>
          <p:cNvSpPr txBox="1"/>
          <p:nvPr>
            <p:ph idx="1" type="body"/>
          </p:nvPr>
        </p:nvSpPr>
        <p:spPr>
          <a:xfrm flipH="1">
            <a:off x="7114394" y="3306369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37" name="Google Shape;2037;p103"/>
          <p:cNvSpPr txBox="1"/>
          <p:nvPr>
            <p:ph idx="1" type="body"/>
          </p:nvPr>
        </p:nvSpPr>
        <p:spPr>
          <a:xfrm flipH="1">
            <a:off x="8219410" y="1642182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2038" name="Google Shape;2038;p103"/>
          <p:cNvSpPr txBox="1"/>
          <p:nvPr>
            <p:ph idx="1" type="body"/>
          </p:nvPr>
        </p:nvSpPr>
        <p:spPr>
          <a:xfrm flipH="1">
            <a:off x="7464345" y="2337426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39" name="Google Shape;2039;p103"/>
          <p:cNvSpPr txBox="1"/>
          <p:nvPr>
            <p:ph idx="1" type="body"/>
          </p:nvPr>
        </p:nvSpPr>
        <p:spPr>
          <a:xfrm flipH="1">
            <a:off x="5823566" y="1706550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40" name="Google Shape;2040;p103"/>
          <p:cNvSpPr txBox="1"/>
          <p:nvPr>
            <p:ph idx="1" type="body"/>
          </p:nvPr>
        </p:nvSpPr>
        <p:spPr>
          <a:xfrm flipH="1">
            <a:off x="4945839" y="2478328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4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p104"/>
          <p:cNvSpPr txBox="1"/>
          <p:nvPr>
            <p:ph idx="1" type="body"/>
          </p:nvPr>
        </p:nvSpPr>
        <p:spPr>
          <a:xfrm>
            <a:off x="324000" y="759300"/>
            <a:ext cx="8237700" cy="4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Use this sector of the unit circle to find the value of each unknown.</a:t>
            </a:r>
            <a:endParaRPr sz="1800"/>
          </a:p>
        </p:txBody>
      </p:sp>
      <p:sp>
        <p:nvSpPr>
          <p:cNvPr id="2046" name="Google Shape;2046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tangent from the unit circle</a:t>
            </a:r>
            <a:endParaRPr/>
          </a:p>
        </p:txBody>
      </p:sp>
      <p:grpSp>
        <p:nvGrpSpPr>
          <p:cNvPr id="2047" name="Google Shape;2047;p104"/>
          <p:cNvGrpSpPr/>
          <p:nvPr/>
        </p:nvGrpSpPr>
        <p:grpSpPr>
          <a:xfrm>
            <a:off x="490500" y="1100378"/>
            <a:ext cx="3316657" cy="3697110"/>
            <a:chOff x="490500" y="824491"/>
            <a:chExt cx="3316657" cy="3697110"/>
          </a:xfrm>
        </p:grpSpPr>
        <p:pic>
          <p:nvPicPr>
            <p:cNvPr id="2048" name="Google Shape;2048;p104"/>
            <p:cNvPicPr preferRelativeResize="0"/>
            <p:nvPr/>
          </p:nvPicPr>
          <p:blipFill rotWithShape="1">
            <a:blip r:embed="rId3">
              <a:alphaModFix/>
            </a:blip>
            <a:srcRect b="0" l="0" r="6855" t="10897"/>
            <a:stretch/>
          </p:blipFill>
          <p:spPr>
            <a:xfrm>
              <a:off x="490500" y="942750"/>
              <a:ext cx="3127524" cy="35788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49" name="Google Shape;2049;p104"/>
            <p:cNvCxnSpPr/>
            <p:nvPr/>
          </p:nvCxnSpPr>
          <p:spPr>
            <a:xfrm rot="10800000">
              <a:off x="702289" y="824491"/>
              <a:ext cx="0" cy="356100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050" name="Google Shape;2050;p104"/>
            <p:cNvCxnSpPr/>
            <p:nvPr/>
          </p:nvCxnSpPr>
          <p:spPr>
            <a:xfrm>
              <a:off x="696457" y="4370611"/>
              <a:ext cx="31107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2051" name="Google Shape;2051;p104"/>
          <p:cNvCxnSpPr/>
          <p:nvPr/>
        </p:nvCxnSpPr>
        <p:spPr>
          <a:xfrm>
            <a:off x="3258750" y="1203537"/>
            <a:ext cx="0" cy="35778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2" name="Google Shape;2052;p104"/>
          <p:cNvSpPr txBox="1"/>
          <p:nvPr/>
        </p:nvSpPr>
        <p:spPr>
          <a:xfrm>
            <a:off x="333625" y="1023134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3" name="Google Shape;2053;p104"/>
          <p:cNvSpPr txBox="1"/>
          <p:nvPr/>
        </p:nvSpPr>
        <p:spPr>
          <a:xfrm>
            <a:off x="3776136" y="4562111"/>
            <a:ext cx="2076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4" name="Google Shape;2054;p104"/>
          <p:cNvSpPr/>
          <p:nvPr/>
        </p:nvSpPr>
        <p:spPr>
          <a:xfrm flipH="1" rot="-17697">
            <a:off x="7155279" y="1149975"/>
            <a:ext cx="932412" cy="10782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5" name="Google Shape;2055;p104"/>
          <p:cNvSpPr/>
          <p:nvPr/>
        </p:nvSpPr>
        <p:spPr>
          <a:xfrm flipH="1" rot="-8725">
            <a:off x="7962585" y="2108541"/>
            <a:ext cx="118200" cy="11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104"/>
          <p:cNvSpPr/>
          <p:nvPr/>
        </p:nvSpPr>
        <p:spPr>
          <a:xfrm flipH="1" rot="-19349">
            <a:off x="7040685" y="2069848"/>
            <a:ext cx="319805" cy="319505"/>
          </a:xfrm>
          <a:prstGeom prst="arc">
            <a:avLst>
              <a:gd fmla="val 10637741" name="adj1"/>
              <a:gd fmla="val 140680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104"/>
          <p:cNvSpPr txBox="1"/>
          <p:nvPr>
            <p:ph idx="1" type="body"/>
          </p:nvPr>
        </p:nvSpPr>
        <p:spPr>
          <a:xfrm>
            <a:off x="4345278" y="10989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</a:t>
            </a:r>
            <a:endParaRPr sz="1800"/>
          </a:p>
        </p:txBody>
      </p:sp>
      <p:sp>
        <p:nvSpPr>
          <p:cNvPr id="2058" name="Google Shape;2058;p104"/>
          <p:cNvSpPr txBox="1"/>
          <p:nvPr>
            <p:ph idx="1" type="body"/>
          </p:nvPr>
        </p:nvSpPr>
        <p:spPr>
          <a:xfrm>
            <a:off x="6978915" y="10989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b)</a:t>
            </a:r>
            <a:endParaRPr sz="1800"/>
          </a:p>
        </p:txBody>
      </p:sp>
      <p:sp>
        <p:nvSpPr>
          <p:cNvPr id="2059" name="Google Shape;2059;p104"/>
          <p:cNvSpPr txBox="1"/>
          <p:nvPr>
            <p:ph idx="1" type="body"/>
          </p:nvPr>
        </p:nvSpPr>
        <p:spPr>
          <a:xfrm>
            <a:off x="4345278" y="3232582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endParaRPr sz="1800"/>
          </a:p>
        </p:txBody>
      </p:sp>
      <p:sp>
        <p:nvSpPr>
          <p:cNvPr id="2060" name="Google Shape;2060;p104"/>
          <p:cNvSpPr txBox="1"/>
          <p:nvPr>
            <p:ph idx="1" type="body"/>
          </p:nvPr>
        </p:nvSpPr>
        <p:spPr>
          <a:xfrm>
            <a:off x="6995565" y="3242407"/>
            <a:ext cx="249900" cy="25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d)</a:t>
            </a:r>
            <a:endParaRPr sz="1800"/>
          </a:p>
        </p:txBody>
      </p:sp>
      <p:cxnSp>
        <p:nvCxnSpPr>
          <p:cNvPr id="2061" name="Google Shape;2061;p104"/>
          <p:cNvCxnSpPr/>
          <p:nvPr/>
        </p:nvCxnSpPr>
        <p:spPr>
          <a:xfrm rot="10800000">
            <a:off x="7157725" y="2347825"/>
            <a:ext cx="945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62" name="Google Shape;2062;p104"/>
          <p:cNvCxnSpPr/>
          <p:nvPr/>
        </p:nvCxnSpPr>
        <p:spPr>
          <a:xfrm rot="10800000">
            <a:off x="8179475" y="1145425"/>
            <a:ext cx="0" cy="1097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3" name="Google Shape;2063;p104"/>
          <p:cNvSpPr txBox="1"/>
          <p:nvPr>
            <p:ph idx="1" type="body"/>
          </p:nvPr>
        </p:nvSpPr>
        <p:spPr>
          <a:xfrm flipH="1">
            <a:off x="7369861" y="1990495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50°</a:t>
            </a:r>
            <a:endParaRPr sz="1600"/>
          </a:p>
        </p:txBody>
      </p:sp>
      <p:sp>
        <p:nvSpPr>
          <p:cNvPr id="2064" name="Google Shape;2064;p104"/>
          <p:cNvSpPr/>
          <p:nvPr/>
        </p:nvSpPr>
        <p:spPr>
          <a:xfrm flipH="1" rot="-17378">
            <a:off x="4609996" y="1231798"/>
            <a:ext cx="1008913" cy="1166712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04"/>
          <p:cNvSpPr/>
          <p:nvPr/>
        </p:nvSpPr>
        <p:spPr>
          <a:xfrm flipH="1" rot="-8070">
            <a:off x="5483682" y="2269073"/>
            <a:ext cx="127800" cy="127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66" name="Google Shape;2066;p104"/>
          <p:cNvCxnSpPr/>
          <p:nvPr/>
        </p:nvCxnSpPr>
        <p:spPr>
          <a:xfrm>
            <a:off x="4598025" y="2489179"/>
            <a:ext cx="1018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67" name="Google Shape;2067;p104"/>
          <p:cNvSpPr txBox="1"/>
          <p:nvPr>
            <p:ph idx="1" type="body"/>
          </p:nvPr>
        </p:nvSpPr>
        <p:spPr>
          <a:xfrm flipH="1">
            <a:off x="4842121" y="2156006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50°</a:t>
            </a:r>
            <a:endParaRPr sz="1600"/>
          </a:p>
        </p:txBody>
      </p:sp>
      <p:sp>
        <p:nvSpPr>
          <p:cNvPr id="2068" name="Google Shape;2068;p104"/>
          <p:cNvSpPr/>
          <p:nvPr/>
        </p:nvSpPr>
        <p:spPr>
          <a:xfrm flipH="1" rot="-17889">
            <a:off x="4472590" y="2227144"/>
            <a:ext cx="345905" cy="345605"/>
          </a:xfrm>
          <a:prstGeom prst="arc">
            <a:avLst>
              <a:gd fmla="val 10637741" name="adj1"/>
              <a:gd fmla="val 140680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9" name="Google Shape;2069;p104"/>
          <p:cNvSpPr txBox="1"/>
          <p:nvPr>
            <p:ph idx="1" type="body"/>
          </p:nvPr>
        </p:nvSpPr>
        <p:spPr>
          <a:xfrm flipH="1">
            <a:off x="8219410" y="1642182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2070" name="Google Shape;2070;p104"/>
          <p:cNvSpPr txBox="1"/>
          <p:nvPr>
            <p:ph idx="1" type="body"/>
          </p:nvPr>
        </p:nvSpPr>
        <p:spPr>
          <a:xfrm flipH="1">
            <a:off x="7464345" y="2337426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71" name="Google Shape;2071;p104"/>
          <p:cNvSpPr txBox="1"/>
          <p:nvPr>
            <p:ph idx="1" type="body"/>
          </p:nvPr>
        </p:nvSpPr>
        <p:spPr>
          <a:xfrm flipH="1">
            <a:off x="5823566" y="1706550"/>
            <a:ext cx="6237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600"/>
              <a:t> m</a:t>
            </a:r>
            <a:endParaRPr sz="1600"/>
          </a:p>
        </p:txBody>
      </p:sp>
      <p:cxnSp>
        <p:nvCxnSpPr>
          <p:cNvPr id="2072" name="Google Shape;2072;p104"/>
          <p:cNvCxnSpPr/>
          <p:nvPr/>
        </p:nvCxnSpPr>
        <p:spPr>
          <a:xfrm rot="10800000">
            <a:off x="5745557" y="1216825"/>
            <a:ext cx="0" cy="117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73" name="Google Shape;2073;p104"/>
          <p:cNvSpPr txBox="1"/>
          <p:nvPr>
            <p:ph idx="1" type="body"/>
          </p:nvPr>
        </p:nvSpPr>
        <p:spPr>
          <a:xfrm flipH="1">
            <a:off x="4945839" y="2478328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m</a:t>
            </a:r>
            <a:endParaRPr sz="1600"/>
          </a:p>
        </p:txBody>
      </p:sp>
      <p:sp>
        <p:nvSpPr>
          <p:cNvPr id="2074" name="Google Shape;2074;p104"/>
          <p:cNvSpPr/>
          <p:nvPr/>
        </p:nvSpPr>
        <p:spPr>
          <a:xfrm rot="7213603">
            <a:off x="7212248" y="3772335"/>
            <a:ext cx="1331882" cy="736164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5" name="Google Shape;2075;p104"/>
          <p:cNvSpPr/>
          <p:nvPr/>
        </p:nvSpPr>
        <p:spPr>
          <a:xfrm rot="7210779">
            <a:off x="7854187" y="3411646"/>
            <a:ext cx="112788" cy="11580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6" name="Google Shape;2076;p104"/>
          <p:cNvSpPr/>
          <p:nvPr/>
        </p:nvSpPr>
        <p:spPr>
          <a:xfrm rot="-1471793">
            <a:off x="4759120" y="3171798"/>
            <a:ext cx="1473380" cy="655539"/>
          </a:xfrm>
          <a:prstGeom prst="rtTriangle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7" name="Google Shape;2077;p104"/>
          <p:cNvSpPr/>
          <p:nvPr/>
        </p:nvSpPr>
        <p:spPr>
          <a:xfrm rot="-1475534">
            <a:off x="4930121" y="3958298"/>
            <a:ext cx="124712" cy="12471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8" name="Google Shape;2078;p104"/>
          <p:cNvSpPr/>
          <p:nvPr/>
        </p:nvSpPr>
        <p:spPr>
          <a:xfrm rot="198685">
            <a:off x="6004914" y="3194683"/>
            <a:ext cx="586880" cy="586264"/>
          </a:xfrm>
          <a:prstGeom prst="arc">
            <a:avLst>
              <a:gd fmla="val 9041640" name="adj1"/>
              <a:gd fmla="val 10650851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9" name="Google Shape;2079;p104"/>
          <p:cNvSpPr/>
          <p:nvPr/>
        </p:nvSpPr>
        <p:spPr>
          <a:xfrm rot="10800000">
            <a:off x="6934379" y="4248470"/>
            <a:ext cx="604500" cy="573300"/>
          </a:xfrm>
          <a:prstGeom prst="arc">
            <a:avLst>
              <a:gd fmla="val 7118110" name="adj1"/>
              <a:gd fmla="val 869014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0" name="Google Shape;2080;p104"/>
          <p:cNvCxnSpPr/>
          <p:nvPr/>
        </p:nvCxnSpPr>
        <p:spPr>
          <a:xfrm rot="201593">
            <a:off x="4558131" y="3555422"/>
            <a:ext cx="307128" cy="59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1" name="Google Shape;2081;p104"/>
          <p:cNvCxnSpPr/>
          <p:nvPr/>
        </p:nvCxnSpPr>
        <p:spPr>
          <a:xfrm flipH="1" rot="199302">
            <a:off x="5014795" y="3539931"/>
            <a:ext cx="1330636" cy="687242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2" name="Google Shape;2082;p104"/>
          <p:cNvCxnSpPr/>
          <p:nvPr/>
        </p:nvCxnSpPr>
        <p:spPr>
          <a:xfrm rot="10800000">
            <a:off x="7938999" y="3318585"/>
            <a:ext cx="651600" cy="350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3" name="Google Shape;2083;p104"/>
          <p:cNvCxnSpPr/>
          <p:nvPr/>
        </p:nvCxnSpPr>
        <p:spPr>
          <a:xfrm flipH="1" rot="10800000">
            <a:off x="7137767" y="3315757"/>
            <a:ext cx="675900" cy="1159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084" name="Google Shape;2084;p104"/>
          <p:cNvSpPr txBox="1"/>
          <p:nvPr>
            <p:ph idx="1" type="body"/>
          </p:nvPr>
        </p:nvSpPr>
        <p:spPr>
          <a:xfrm flipH="1" rot="1954">
            <a:off x="5572387" y="3916476"/>
            <a:ext cx="5277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9 m</a:t>
            </a:r>
            <a:endParaRPr sz="1600"/>
          </a:p>
        </p:txBody>
      </p:sp>
      <p:sp>
        <p:nvSpPr>
          <p:cNvPr id="2085" name="Google Shape;2085;p104"/>
          <p:cNvSpPr txBox="1"/>
          <p:nvPr>
            <p:ph idx="1" type="body"/>
          </p:nvPr>
        </p:nvSpPr>
        <p:spPr>
          <a:xfrm flipH="1">
            <a:off x="8179475" y="3227925"/>
            <a:ext cx="527700" cy="24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 m</a:t>
            </a:r>
            <a:endParaRPr sz="1600"/>
          </a:p>
        </p:txBody>
      </p:sp>
      <p:sp>
        <p:nvSpPr>
          <p:cNvPr id="2086" name="Google Shape;2086;p104"/>
          <p:cNvSpPr txBox="1"/>
          <p:nvPr>
            <p:ph idx="1" type="body"/>
          </p:nvPr>
        </p:nvSpPr>
        <p:spPr>
          <a:xfrm flipH="1" rot="1790">
            <a:off x="5578145" y="3499808"/>
            <a:ext cx="5760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20°</a:t>
            </a:r>
            <a:endParaRPr sz="1600"/>
          </a:p>
        </p:txBody>
      </p:sp>
      <p:sp>
        <p:nvSpPr>
          <p:cNvPr id="2087" name="Google Shape;2087;p104"/>
          <p:cNvSpPr txBox="1"/>
          <p:nvPr>
            <p:ph idx="1" type="body"/>
          </p:nvPr>
        </p:nvSpPr>
        <p:spPr>
          <a:xfrm flipH="1" rot="1790">
            <a:off x="7491741" y="4039816"/>
            <a:ext cx="5760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30°</a:t>
            </a:r>
            <a:endParaRPr sz="1600"/>
          </a:p>
        </p:txBody>
      </p:sp>
      <p:sp>
        <p:nvSpPr>
          <p:cNvPr id="2088" name="Google Shape;2088;p104"/>
          <p:cNvSpPr txBox="1"/>
          <p:nvPr>
            <p:ph idx="1" type="body"/>
          </p:nvPr>
        </p:nvSpPr>
        <p:spPr>
          <a:xfrm flipH="1">
            <a:off x="4335526" y="3734656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89" name="Google Shape;2089;p104"/>
          <p:cNvSpPr txBox="1"/>
          <p:nvPr>
            <p:ph idx="1" type="body"/>
          </p:nvPr>
        </p:nvSpPr>
        <p:spPr>
          <a:xfrm flipH="1">
            <a:off x="7114394" y="3611169"/>
            <a:ext cx="576300" cy="2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600"/>
              <a:t> m</a:t>
            </a:r>
            <a:endParaRPr sz="1600"/>
          </a:p>
        </p:txBody>
      </p:sp>
      <p:sp>
        <p:nvSpPr>
          <p:cNvPr id="2090" name="Google Shape;2090;p104"/>
          <p:cNvSpPr txBox="1"/>
          <p:nvPr>
            <p:ph idx="1" type="body"/>
          </p:nvPr>
        </p:nvSpPr>
        <p:spPr>
          <a:xfrm flipH="1">
            <a:off x="5525544" y="2718166"/>
            <a:ext cx="772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11.9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1" name="Google Shape;2091;p104"/>
          <p:cNvSpPr txBox="1"/>
          <p:nvPr>
            <p:ph idx="1" type="body"/>
          </p:nvPr>
        </p:nvSpPr>
        <p:spPr>
          <a:xfrm flipH="1">
            <a:off x="7900019" y="2718166"/>
            <a:ext cx="772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8.4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2" name="Google Shape;2092;p104"/>
          <p:cNvSpPr txBox="1"/>
          <p:nvPr>
            <p:ph idx="1" type="body"/>
          </p:nvPr>
        </p:nvSpPr>
        <p:spPr>
          <a:xfrm flipH="1">
            <a:off x="5525544" y="4512675"/>
            <a:ext cx="772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3.3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3" name="Google Shape;2093;p104"/>
          <p:cNvSpPr txBox="1"/>
          <p:nvPr>
            <p:ph idx="1" type="body"/>
          </p:nvPr>
        </p:nvSpPr>
        <p:spPr>
          <a:xfrm flipH="1">
            <a:off x="7582944" y="4512675"/>
            <a:ext cx="772800" cy="28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6.9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7" name="Shape 2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8" name="Google Shape;2098;p105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2000"/>
              <a:t>There are specific ratios within the two key right-angled triangles defined by the unit circle.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2000"/>
              <a:t>One of the key right-angled triangles has a hypotenuse of length 1 unit. The </a:t>
            </a:r>
            <a:r>
              <a:rPr b="1" lang="en-GB" sz="2000"/>
              <a:t>opposite</a:t>
            </a:r>
            <a:r>
              <a:rPr lang="en-GB" sz="2000"/>
              <a:t> and </a:t>
            </a:r>
            <a:r>
              <a:rPr b="1" lang="en-GB" sz="2000"/>
              <a:t>adjacent</a:t>
            </a:r>
            <a:r>
              <a:rPr lang="en-GB" sz="2000"/>
              <a:t> sides of this triangle have lengths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sin(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cos(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 respectively.</a:t>
            </a:r>
            <a:endParaRPr sz="6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GB" sz="2000"/>
              <a:t>The other key right-angled triangle has an </a:t>
            </a:r>
            <a:r>
              <a:rPr b="1" lang="en-GB" sz="2000"/>
              <a:t>adjacent</a:t>
            </a:r>
            <a:r>
              <a:rPr lang="en-GB" sz="2000"/>
              <a:t> side of length 1 unit. The </a:t>
            </a:r>
            <a:r>
              <a:rPr b="1" lang="en-GB" sz="2000"/>
              <a:t>opposite</a:t>
            </a:r>
            <a:r>
              <a:rPr lang="en-GB" sz="2000"/>
              <a:t> side of this triangle has length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tan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GB" sz="2000"/>
              <a:t>You can use similarity between any right-angled triangle and either key right-angled triangle to find missing lengths.</a:t>
            </a:r>
            <a:endParaRPr sz="2000"/>
          </a:p>
        </p:txBody>
      </p:sp>
      <p:sp>
        <p:nvSpPr>
          <p:cNvPr id="2099" name="Google Shape;2099;p105"/>
          <p:cNvSpPr txBox="1"/>
          <p:nvPr>
            <p:ph type="title"/>
          </p:nvPr>
        </p:nvSpPr>
        <p:spPr>
          <a:xfrm>
            <a:off x="1684800" y="43825"/>
            <a:ext cx="5741400" cy="687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Scaling the right-angled triangle from the unit circle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106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05" name="Google Shape;2105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