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4.2-->
<p:presentation xmlns:r="http://schemas.openxmlformats.org/officeDocument/2006/relationships" xmlns:a="http://schemas.openxmlformats.org/drawingml/2006/main" xmlns:p="http://schemas.openxmlformats.org/presentationml/2006/main" strictFirstAndLastChars="0" embedTrueTypeFonts="1" saveSubsetFonts="1" autoCompressPictures="0">
  <p:sldMasterIdLst>
    <p:sldMasterId id="2147483665" r:id="rId1"/>
    <p:sldMasterId id="2147483666" r:id="rId2"/>
  </p:sldMasterIdLst>
  <p:notesMasterIdLst>
    <p:notesMasterId r:id="rId3"/>
  </p:notesMasterIdLst>
  <p:sldIdLst>
    <p:sldId id="256" r:id="rId4"/>
    <p:sldId id="257" r:id="rId5"/>
  </p:sldIdLst>
  <p:sldSz cx="7560000" cy="10692000"/>
  <p:notesSz cx="6858000" cy="9144000"/>
  <p:embeddedFontLst>
    <p:embeddedFont>
      <p:font typeface="Lexend" panose="00000000000000000000"/>
      <p:regular r:id="rId7"/>
    </p:embeddedFont>
    <p:embeddedFont>
      <p:font typeface="Kalam" panose="02000000000000000000"/>
      <p:regular r:id="rId8"/>
    </p:embeddedFont>
  </p:embeddedFontLst>
  <p:custDataLst>
    <p:tags r:id="rId6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viewProps" Target="viewProps.xml" /><Relationship Id="rId11" Type="http://schemas.openxmlformats.org/officeDocument/2006/relationships/theme" Target="theme/theme1.xml" /><Relationship Id="rId12" Type="http://schemas.openxmlformats.org/officeDocument/2006/relationships/tableStyles" Target="tableStyles.xml" /><Relationship Id="rId2" Type="http://schemas.openxmlformats.org/officeDocument/2006/relationships/slideMaster" Target="slideMasters/slideMaster2.xml" /><Relationship Id="rId3" Type="http://schemas.openxmlformats.org/officeDocument/2006/relationships/notesMaster" Target="notesMasters/notesMaster1.xml" /><Relationship Id="rId4" Type="http://schemas.openxmlformats.org/officeDocument/2006/relationships/slide" Target="slides/slide1.xml" /><Relationship Id="rId5" Type="http://schemas.openxmlformats.org/officeDocument/2006/relationships/slide" Target="slides/slide2.xml" /><Relationship Id="rId6" Type="http://schemas.openxmlformats.org/officeDocument/2006/relationships/tags" Target="tags/tag1.xml" /><Relationship Id="rId7" Type="http://schemas.openxmlformats.org/officeDocument/2006/relationships/font" Target="fonts/font1.fntdata" /><Relationship Id="rId8" Type="http://schemas.openxmlformats.org/officeDocument/2006/relationships/font" Target="fonts/font2.fntdata" /><Relationship Id="rId9" Type="http://schemas.openxmlformats.org/officeDocument/2006/relationships/presProps" Target="presProps.xml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2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55" name="Shape 155"/>
        <p:cNvGrpSpPr/>
        <p:nvPr/>
      </p:nvGrpSpPr>
      <p:grpSpPr>
        <a:xfrm>
          <a:off x="0" y="0"/>
          <a:ext cx="0" cy="0"/>
        </a:xfrm>
      </p:grpSpPr>
      <p:sp>
        <p:nvSpPr>
          <p:cNvPr id="156" name="Google Shape;156;g27996905f60_0_125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27996905f60_0_12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47" name="Shape 247"/>
        <p:cNvGrpSpPr/>
        <p:nvPr/>
      </p:nvGrpSpPr>
      <p:grpSpPr>
        <a:xfrm>
          <a:off x="0" y="0"/>
          <a:ext cx="0" cy="0"/>
        </a:xfrm>
      </p:grpSpPr>
      <p:sp>
        <p:nvSpPr>
          <p:cNvPr id="248" name="Google Shape;248;g27996905f60_0_130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9" name="Google Shape;249;g27996905f60_0_13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3.png" /><Relationship Id="rId3" Type="http://schemas.openxmlformats.org/officeDocument/2006/relationships/image" Target="../media/image4.png" /><Relationship Id="rId4" Type="http://schemas.openxmlformats.org/officeDocument/2006/relationships/slideMaster" Target="../slideMasters/slideMaster2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2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2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hyperlink" Target="https://www.nationalarchives.gov.uk/doc/open-government-licence/version/3/" TargetMode="External" /><Relationship Id="rId3" Type="http://schemas.openxmlformats.org/officeDocument/2006/relationships/hyperlink" Target="https://www.thenational.academy/legal/terms-and-conditions" TargetMode="External" /><Relationship Id="rId4" Type="http://schemas.openxmlformats.org/officeDocument/2006/relationships/slideMaster" Target="../slideMasters/slideMaster2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2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2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hyperlink" Target="https://www.nationalarchives.gov.uk/doc/open-government-licence/version/3/" TargetMode="External" /><Relationship Id="rId3" Type="http://schemas.openxmlformats.org/officeDocument/2006/relationships/hyperlink" Target="https://www.thenational.academy/legal/terms-and-conditions" TargetMode="External" /><Relationship Id="rId4" Type="http://schemas.openxmlformats.org/officeDocument/2006/relationships/slideMaster" Target="../slideMasters/slideMaster2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COL 1">
  <p:cSld name="SECTION_HEADER_1_1_1_1_1_1_1_1_1">
    <p:spTree>
      <p:nvGrpSpPr>
        <p:cNvPr id="9" name="Shape 9"/>
        <p:cNvGrpSpPr/>
        <p:nvPr/>
      </p:nvGrpSpPr>
      <p:grpSpPr>
        <a:xfrm>
          <a:off x="0" y="0"/>
          <a: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type="subTitle" idx="1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" name="Google Shape;14;p2"/>
          <p:cNvGrpSpPr/>
          <p:nvPr/>
        </p:nvGrpSpPr>
        <p:grpSpPr>
          <a:xfrm>
            <a:off x="466900" y="962525"/>
            <a:ext cx="2953057" cy="162000"/>
            <a:chOff x="466900" y="962525"/>
            <a:chExt cx="2953057" cy="162000"/>
          </a:xfrm>
        </p:grpSpPr>
        <p:sp>
          <p:nvSpPr>
            <p:cNvPr id="15" name="Google Shape;15;p2"/>
            <p:cNvSpPr txBox="1"/>
            <p:nvPr/>
          </p:nvSpPr>
          <p:spPr>
            <a:xfrm>
              <a:off x="466900" y="962525"/>
              <a:ext cx="2953057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6" name="Google Shape;16;p2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COL 1 1">
  <p:cSld name="SECTION_HEADER_1_1_1_1_1_1_1_1_1_3">
    <p:spTree>
      <p:nvGrpSpPr>
        <p:cNvPr id="17" name="Shape 17"/>
        <p:cNvGrpSpPr/>
        <p:nvPr/>
      </p:nvGrpSpPr>
      <p:grpSpPr>
        <a:xfrm>
          <a:off x="0" y="0"/>
          <a: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type="subTitle" idx="1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subTitle" idx="2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type="subTitle" idx="3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type="subTitle" idx="4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type="subTitle" idx="5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type="subTitle" idx="6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type="subTitle" idx="7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type="subTitle" idx="8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7" name="Google Shape;27;p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3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" name="Google Shape;29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30" name="Google Shape;30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1" name="Google Shape;31;p3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32" name="Google Shape;32;p3"/>
          <p:cNvSpPr txBox="1"/>
          <p:nvPr>
            <p:ph type="subTitle" idx="9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1">
  <p:cSld name="SECTION_HEADER_1_1_1_1_1_1_1_1_1_1">
    <p:spTree>
      <p:nvGrpSpPr>
        <p:cNvPr id="33" name="Shape 33"/>
        <p:cNvGrpSpPr/>
        <p:nvPr/>
      </p:nvGrpSpPr>
      <p:grpSpPr>
        <a:xfrm>
          <a:off x="0" y="0"/>
          <a:ext cx="0" cy="0"/>
        </a:xfrm>
      </p:grpSpPr>
      <p:sp>
        <p:nvSpPr>
          <p:cNvPr id="34" name="Google Shape;34;p4"/>
          <p:cNvSpPr txBox="1"/>
          <p:nvPr>
            <p:ph type="subTitle" idx="1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type="subTitle" idx="2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type="subTitle" idx="3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7" name="Google Shape;37;p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4"/>
          <p:cNvSpPr txBox="1"/>
          <p:nvPr>
            <p:ph type="subTitle" idx="4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2">
  <p:cSld name="SECTION_HEADER_1_1_1_1_1_1_1_1_1_1_1">
    <p:spTree>
      <p:nvGrpSpPr>
        <p:cNvPr id="39" name="Shape 39"/>
        <p:cNvGrpSpPr/>
        <p:nvPr/>
      </p:nvGrpSpPr>
      <p:grpSpPr>
        <a:xfrm>
          <a:off x="0" y="0"/>
          <a:ext cx="0" cy="0"/>
        </a:xfrm>
      </p:grpSpPr>
      <p:sp>
        <p:nvSpPr>
          <p:cNvPr id="40" name="Google Shape;40;p5"/>
          <p:cNvSpPr txBox="1"/>
          <p:nvPr>
            <p:ph type="subTitle" idx="1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type="subTitle" idx="2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type="subTitle" idx="3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type="subTitle" idx="4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4" name="Google Shape;44;p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5"/>
          <p:cNvSpPr txBox="1"/>
          <p:nvPr>
            <p:ph type="subTitle" idx="5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3">
  <p:cSld name="SECTION_HEADER_1_1_1_1_1_1_1_1_1_1_1_2">
    <p:spTree>
      <p:nvGrpSpPr>
        <p:cNvPr id="46" name="Shape 46"/>
        <p:cNvGrpSpPr/>
        <p:nvPr/>
      </p:nvGrpSpPr>
      <p:grpSpPr>
        <a:xfrm>
          <a:off x="0" y="0"/>
          <a:ext cx="0" cy="0"/>
        </a:xfrm>
      </p:grpSpPr>
      <p:sp>
        <p:nvSpPr>
          <p:cNvPr id="47" name="Google Shape;47;p6"/>
          <p:cNvSpPr txBox="1"/>
          <p:nvPr>
            <p:ph type="subTitle" idx="1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type="subTitle" idx="2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type="subTitle" idx="3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type="subTitle" idx="4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type="subTitle" idx="5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type="subTitle" idx="6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3" name="Google Shape;53;p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6"/>
          <p:cNvSpPr txBox="1"/>
          <p:nvPr>
            <p:ph type="subTitle" idx="7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4">
  <p:cSld name="SECTION_HEADER_1_1_1_1_1_1_1_1_1_1_1_2_1">
    <p:spTree>
      <p:nvGrpSpPr>
        <p:cNvPr id="55" name="Shape 55"/>
        <p:cNvGrpSpPr/>
        <p:nvPr/>
      </p:nvGrpSpPr>
      <p:grpSpPr>
        <a:xfrm>
          <a:off x="0" y="0"/>
          <a:ext cx="0" cy="0"/>
        </a:xfrm>
      </p:grpSpPr>
      <p:sp>
        <p:nvSpPr>
          <p:cNvPr id="56" name="Google Shape;56;p7"/>
          <p:cNvSpPr txBox="1"/>
          <p:nvPr>
            <p:ph type="subTitle" idx="1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7" name="Google Shape;57;p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7"/>
          <p:cNvSpPr txBox="1"/>
          <p:nvPr>
            <p:ph type="subTitle" idx="2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Elements to copy and paste">
  <p:cSld name="SECTION_HEADER_1_1_1_1_1_1_1_1_1_1_1_2_1_1">
    <p:spTree>
      <p:nvGrpSpPr>
        <p:cNvPr id="59" name="Shape 59"/>
        <p:cNvGrpSpPr/>
        <p:nvPr/>
      </p:nvGrpSpPr>
      <p:grpSpPr>
        <a:xfrm>
          <a:off x="0" y="0"/>
          <a:ext cx="0" cy="0"/>
        </a:xfrm>
      </p:grpSpPr>
      <p:sp>
        <p:nvSpPr>
          <p:cNvPr id="60" name="Google Shape;60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1" name="Google Shape;61;p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 Title page">
  <p:cSld name="SECTION_HEADER_1_1_1_1_1_1_1_1_1_1_1_2_1_1_1_1_1"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</a:xfrm>
      </p:grpSpPr>
      <p:pic>
        <p:nvPicPr>
          <p:cNvPr id="67" name="Google Shape;67;p1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9" name="Google Shape;69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0" name="Google Shape;70;p10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1" name="Google Shape;71;p10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2" name="Google Shape;72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</a:xfrm>
      </p:grpSpPr>
      <p:pic>
        <p:nvPicPr>
          <p:cNvPr id="76" name="Google Shape;76;p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8" name="Google Shape;78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9" name="Google Shape;79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1" name="Google Shape;81;p11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2" name="Google Shape;82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</a:xfrm>
      </p:grpSpPr>
      <p:pic>
        <p:nvPicPr>
          <p:cNvPr id="85" name="Google Shape;85;p1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7" name="Google Shape;87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" name="Google Shape;88;p12"/>
          <p:cNvSpPr txBox="1"/>
          <p:nvPr>
            <p:ph type="subTitle" idx="1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</a:xfrm>
      </p:grpSpPr>
      <p:pic>
        <p:nvPicPr>
          <p:cNvPr id="90" name="Google Shape;90;p1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3"/>
          <p:cNvSpPr txBox="1"/>
          <p:nvPr>
            <p:ph type="subTitle" idx="1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94" name="Google Shape;94;p13"/>
          <p:cNvSpPr txBox="1"/>
          <p:nvPr>
            <p:ph type="subTitle" idx="2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95" name="Google Shape;95;p13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3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 Single page worksheet">
  <p:cSld name="SECTION_HEADER_1_1_1_1_1_1_1_1_1_1_1_2_1_1_1_1_1_2">
    <p:bg>
      <p:bgPr>
        <a:solidFill>
          <a:schemeClr val="lt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</a:xfrm>
      </p:grpSpPr>
      <p:pic>
        <p:nvPicPr>
          <p:cNvPr id="98" name="Google Shape;98;p1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0" name="Google Shape;100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1" name="Google Shape;101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3" name="Google Shape;103;p14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04" name="Google Shape;10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" name="Google Shape;106;p14"/>
          <p:cNvSpPr txBox="1"/>
          <p:nvPr>
            <p:ph type="subTitle" idx="1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07" name="Google Shape;107;p14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</a:xfrm>
      </p:grpSpPr>
      <p:pic>
        <p:nvPicPr>
          <p:cNvPr id="110" name="Google Shape;110;p1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2" name="Google Shape;112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3" name="Google Shape;113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5" name="Google Shape;115;p15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16" name="Google Shape;11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" name="Google Shape;118;p15"/>
          <p:cNvSpPr txBox="1"/>
          <p:nvPr>
            <p:ph type="subTitle" idx="1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9" name="Google Shape;119;p15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</a:xfrm>
      </p:grpSpPr>
      <p:pic>
        <p:nvPicPr>
          <p:cNvPr id="122" name="Google Shape;122;p1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4" name="Google Shape;124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25" name="Google Shape;125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7" name="Google Shape;127;p16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28" name="Google Shape;12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1 Landscape middle page">
  <p:cSld name="SECTION_HEADER_1_1_1_1_1_1_1_1_1_1_1_2_1_1_1_1_1_1_1_1_1_1_1">
    <p:bg>
      <p:bgPr>
        <a:solidFill>
          <a:schemeClr val="lt1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</a:xfrm>
      </p:grpSpPr>
      <p:pic>
        <p:nvPicPr>
          <p:cNvPr id="131" name="Google Shape;131;p1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3" name="Google Shape;133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" name="Google Shape;134;p17"/>
          <p:cNvSpPr txBox="1"/>
          <p:nvPr>
            <p:ph type="subTitle" idx="1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2 Landscape last page">
  <p:cSld name="SECTION_HEADER_1_1_1_1_1_1_1_1_1_1_1_2_1_1_1_1_1_1_1_1_1_1_1_1">
    <p:bg>
      <p:bgPr>
        <a:solidFill>
          <a:schemeClr val="lt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</a:xfrm>
      </p:grpSpPr>
      <p:pic>
        <p:nvPicPr>
          <p:cNvPr id="136" name="Google Shape;136;p1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8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8" name="Google Shape;138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" name="Google Shape;139;p18"/>
          <p:cNvSpPr txBox="1"/>
          <p:nvPr>
            <p:ph type="subTitle" idx="1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40" name="Google Shape;140;p18"/>
          <p:cNvSpPr txBox="1"/>
          <p:nvPr>
            <p:ph type="subTitle" idx="2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1" name="Google Shape;141;p18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8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</a:xfrm>
      </p:grpSpPr>
      <p:pic>
        <p:nvPicPr>
          <p:cNvPr id="144" name="Google Shape;144;p19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9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47" name="Google Shape;147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9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9" name="Google Shape;149;p19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50" name="Google Shape;150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" name="Google Shape;152;p19"/>
          <p:cNvSpPr txBox="1"/>
          <p:nvPr>
            <p:ph type="subTitle" idx="1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3" name="Google Shape;153;p19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4" name="Google Shape;154;p19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theme" Target="../theme/theme1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10" Type="http://schemas.openxmlformats.org/officeDocument/2006/relationships/slideLayout" Target="../slideLayouts/slideLayout17.xml" /><Relationship Id="rId11" Type="http://schemas.openxmlformats.org/officeDocument/2006/relationships/theme" Target="../theme/theme2.xml" /><Relationship Id="rId2" Type="http://schemas.openxmlformats.org/officeDocument/2006/relationships/slideLayout" Target="../slideLayouts/slideLayout9.xml" /><Relationship Id="rId3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12.xml" /><Relationship Id="rId6" Type="http://schemas.openxmlformats.org/officeDocument/2006/relationships/slideLayout" Target="../slideLayouts/slideLayout13.xml" /><Relationship Id="rId7" Type="http://schemas.openxmlformats.org/officeDocument/2006/relationships/slideLayout" Target="../slideLayouts/slideLayout14.xml" /><Relationship Id="rId8" Type="http://schemas.openxmlformats.org/officeDocument/2006/relationships/slideLayout" Target="../slideLayouts/slideLayout15.xml" /><Relationship Id="rId9" Type="http://schemas.openxmlformats.org/officeDocument/2006/relationships/slideLayout" Target="../slideLayouts/slideLayout16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</a:xfrm>
      </p:grpSpPr>
      <p:sp>
        <p:nvSpPr>
          <p:cNvPr id="63" name="Google Shape;63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notesSlide" Target="../notesSlides/notesSlide1.xml" /><Relationship Id="rId3" Type="http://schemas.openxmlformats.org/officeDocument/2006/relationships/image" Target="../media/image5.png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 /><Relationship Id="rId2" Type="http://schemas.openxmlformats.org/officeDocument/2006/relationships/notesSlide" Target="../notesSlides/notesSlide2.xml" /><Relationship Id="rId3" Type="http://schemas.openxmlformats.org/officeDocument/2006/relationships/image" Target="../media/image5.png" /><Relationship Id="rId4" Type="http://schemas.openxmlformats.org/officeDocument/2006/relationships/image" Target="../media/image6.png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58" name="Shape 158"/>
        <p:cNvGrpSpPr/>
        <p:nvPr/>
      </p:nvGrpSpPr>
      <p:grpSpPr>
        <a:xfrm>
          <a:off x="0" y="0"/>
          <a:ext cx="0" cy="0"/>
        </a:xfrm>
      </p:grpSpPr>
      <p:sp>
        <p:nvSpPr>
          <p:cNvPr id="159" name="Google Shape;159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Scaling the right-angled triangle from the unit circle</a:t>
            </a:r>
            <a:endParaRPr/>
          </a:p>
        </p:txBody>
      </p:sp>
      <p:sp>
        <p:nvSpPr>
          <p:cNvPr id="160" name="Google Shape;160;p2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1</a:t>
            </a:fld>
            <a:endParaRPr/>
          </a:p>
        </p:txBody>
      </p:sp>
      <p:cxnSp>
        <p:nvCxnSpPr>
          <p:cNvPr id="161" name="Google Shape;161;p20"/>
          <p:cNvCxnSpPr/>
          <p:nvPr/>
        </p:nvCxnSpPr>
        <p:spPr>
          <a:xfrm>
            <a:off x="474757" y="5269438"/>
            <a:ext cx="661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2" name="Google Shape;162;p20"/>
          <p:cNvSpPr txBox="1"/>
          <p:nvPr/>
        </p:nvSpPr>
        <p:spPr>
          <a:xfrm>
            <a:off x="477400" y="1798375"/>
            <a:ext cx="6460800" cy="226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Label the sides of each triangle with the words ‘</a:t>
            </a: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opposite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’, ‘</a:t>
            </a: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adjacent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’ and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‘</a:t>
            </a: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hypotenuse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’. In parts (g) and (h), also mark the appropriate angle with </a:t>
            </a:r>
            <a:r>
              <a:rPr lang="en-GB" sz="1200" i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θ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20"/>
          <p:cNvSpPr txBox="1"/>
          <p:nvPr/>
        </p:nvSpPr>
        <p:spPr>
          <a:xfrm>
            <a:off x="468002" y="1335050"/>
            <a:ext cx="6300000" cy="28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A:  Labelling sides of a right-angled triangle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" name="Google Shape;164;p20"/>
          <p:cNvSpPr/>
          <p:nvPr/>
        </p:nvSpPr>
        <p:spPr>
          <a:xfrm>
            <a:off x="1078187" y="2577179"/>
            <a:ext cx="1132800" cy="609300"/>
          </a:xfrm>
          <a:prstGeom prst="rtTriangle">
            <a:avLst/>
          </a:prstGeom>
          <a:solidFill>
            <a:srgbClr val="F3EEFB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5" name="Google Shape;165;p20"/>
          <p:cNvSpPr/>
          <p:nvPr/>
        </p:nvSpPr>
        <p:spPr>
          <a:xfrm>
            <a:off x="1078187" y="3090556"/>
            <a:ext cx="95700" cy="957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6" name="Google Shape;166;p20"/>
          <p:cNvSpPr/>
          <p:nvPr/>
        </p:nvSpPr>
        <p:spPr>
          <a:xfrm>
            <a:off x="1947320" y="2937125"/>
            <a:ext cx="498600" cy="498300"/>
          </a:xfrm>
          <a:prstGeom prst="arc">
            <a:avLst>
              <a:gd name="adj1" fmla="val 10969089"/>
              <a:gd name="adj2" fmla="val 12585156"/>
            </a:avLst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" name="Google Shape;167;p20"/>
          <p:cNvSpPr txBox="1"/>
          <p:nvPr/>
        </p:nvSpPr>
        <p:spPr>
          <a:xfrm>
            <a:off x="1839671" y="3022919"/>
            <a:ext cx="95700" cy="15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θ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8" name="Google Shape;168;p20"/>
          <p:cNvSpPr/>
          <p:nvPr/>
        </p:nvSpPr>
        <p:spPr>
          <a:xfrm>
            <a:off x="2734245" y="2577179"/>
            <a:ext cx="1132800" cy="609300"/>
          </a:xfrm>
          <a:prstGeom prst="rtTriangle">
            <a:avLst/>
          </a:prstGeom>
          <a:solidFill>
            <a:srgbClr val="F3EEFB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9" name="Google Shape;169;p20"/>
          <p:cNvSpPr/>
          <p:nvPr/>
        </p:nvSpPr>
        <p:spPr>
          <a:xfrm>
            <a:off x="2734245" y="3090556"/>
            <a:ext cx="95700" cy="957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0" name="Google Shape;170;p20"/>
          <p:cNvSpPr/>
          <p:nvPr/>
        </p:nvSpPr>
        <p:spPr>
          <a:xfrm>
            <a:off x="2600118" y="2489371"/>
            <a:ext cx="259200" cy="259200"/>
          </a:xfrm>
          <a:prstGeom prst="arc">
            <a:avLst>
              <a:gd name="adj1" fmla="val 981428"/>
              <a:gd name="adj2" fmla="val 5155964"/>
            </a:avLst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1" name="Google Shape;171;p20"/>
          <p:cNvSpPr txBox="1"/>
          <p:nvPr/>
        </p:nvSpPr>
        <p:spPr>
          <a:xfrm>
            <a:off x="2800408" y="2680151"/>
            <a:ext cx="95700" cy="15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θ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2" name="Google Shape;172;p20"/>
          <p:cNvSpPr/>
          <p:nvPr/>
        </p:nvSpPr>
        <p:spPr>
          <a:xfrm rot="10800000">
            <a:off x="4257614" y="2576025"/>
            <a:ext cx="769800" cy="790200"/>
          </a:xfrm>
          <a:prstGeom prst="rtTriangle">
            <a:avLst/>
          </a:prstGeom>
          <a:solidFill>
            <a:srgbClr val="F3EEFB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3" name="Google Shape;173;p20"/>
          <p:cNvSpPr/>
          <p:nvPr/>
        </p:nvSpPr>
        <p:spPr>
          <a:xfrm rot="10800000">
            <a:off x="4931720" y="2575963"/>
            <a:ext cx="95700" cy="957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" name="Google Shape;174;p20"/>
          <p:cNvSpPr/>
          <p:nvPr/>
        </p:nvSpPr>
        <p:spPr>
          <a:xfrm rot="10800000">
            <a:off x="4068293" y="2386119"/>
            <a:ext cx="379800" cy="379500"/>
          </a:xfrm>
          <a:prstGeom prst="arc">
            <a:avLst>
              <a:gd name="adj1" fmla="val 10969089"/>
              <a:gd name="adj2" fmla="val 13418498"/>
            </a:avLst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" name="Google Shape;175;p20"/>
          <p:cNvSpPr txBox="1"/>
          <p:nvPr/>
        </p:nvSpPr>
        <p:spPr>
          <a:xfrm>
            <a:off x="4454053" y="2581502"/>
            <a:ext cx="95700" cy="15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θ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" name="Google Shape;176;p20"/>
          <p:cNvSpPr/>
          <p:nvPr/>
        </p:nvSpPr>
        <p:spPr>
          <a:xfrm rot="9517947">
            <a:off x="827585" y="4048354"/>
            <a:ext cx="1132978" cy="435822"/>
          </a:xfrm>
          <a:prstGeom prst="rtTriangle">
            <a:avLst/>
          </a:prstGeom>
          <a:solidFill>
            <a:srgbClr val="F3EEFB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7" name="Google Shape;177;p20"/>
          <p:cNvSpPr/>
          <p:nvPr/>
        </p:nvSpPr>
        <p:spPr>
          <a:xfrm rot="9519945">
            <a:off x="1767352" y="3871223"/>
            <a:ext cx="95655" cy="95655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8" name="Google Shape;178;p20"/>
          <p:cNvSpPr/>
          <p:nvPr/>
        </p:nvSpPr>
        <p:spPr>
          <a:xfrm rot="9517260">
            <a:off x="551147" y="4015324"/>
            <a:ext cx="498717" cy="498438"/>
          </a:xfrm>
          <a:prstGeom prst="arc">
            <a:avLst>
              <a:gd name="adj1" fmla="val 10795596"/>
              <a:gd name="adj2" fmla="val 12164716"/>
            </a:avLst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9" name="Google Shape;179;p20"/>
          <p:cNvSpPr txBox="1"/>
          <p:nvPr/>
        </p:nvSpPr>
        <p:spPr>
          <a:xfrm>
            <a:off x="1115165" y="4102861"/>
            <a:ext cx="95700" cy="15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θ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0" name="Google Shape;180;p20"/>
          <p:cNvSpPr/>
          <p:nvPr/>
        </p:nvSpPr>
        <p:spPr>
          <a:xfrm rot="-3663178">
            <a:off x="4133296" y="3749511"/>
            <a:ext cx="1133056" cy="609493"/>
          </a:xfrm>
          <a:prstGeom prst="rtTriangle">
            <a:avLst/>
          </a:prstGeom>
          <a:solidFill>
            <a:srgbClr val="F3EEFB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1" name="Google Shape;181;p20"/>
          <p:cNvSpPr/>
          <p:nvPr/>
        </p:nvSpPr>
        <p:spPr>
          <a:xfrm rot="-3671352">
            <a:off x="4625348" y="4584168"/>
            <a:ext cx="95867" cy="95867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" name="Google Shape;182;p20"/>
          <p:cNvSpPr/>
          <p:nvPr/>
        </p:nvSpPr>
        <p:spPr>
          <a:xfrm rot="-1670855">
            <a:off x="5891668" y="3635853"/>
            <a:ext cx="1132897" cy="609393"/>
          </a:xfrm>
          <a:prstGeom prst="rtTriangle">
            <a:avLst/>
          </a:prstGeom>
          <a:solidFill>
            <a:srgbClr val="F3EEFB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3" name="Google Shape;183;p20"/>
          <p:cNvSpPr/>
          <p:nvPr/>
        </p:nvSpPr>
        <p:spPr>
          <a:xfrm rot="-1666013">
            <a:off x="6071556" y="4361797"/>
            <a:ext cx="95948" cy="95948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4" name="Google Shape;184;p20"/>
          <p:cNvSpPr/>
          <p:nvPr/>
        </p:nvSpPr>
        <p:spPr>
          <a:xfrm rot="10800000">
            <a:off x="5742948" y="2576025"/>
            <a:ext cx="769800" cy="790200"/>
          </a:xfrm>
          <a:prstGeom prst="rtTriangle">
            <a:avLst/>
          </a:prstGeom>
          <a:solidFill>
            <a:srgbClr val="F3EEFB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" name="Google Shape;185;p20"/>
          <p:cNvSpPr/>
          <p:nvPr/>
        </p:nvSpPr>
        <p:spPr>
          <a:xfrm rot="10800000">
            <a:off x="6417054" y="2575963"/>
            <a:ext cx="95700" cy="957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6" name="Google Shape;186;p20"/>
          <p:cNvSpPr txBox="1"/>
          <p:nvPr/>
        </p:nvSpPr>
        <p:spPr>
          <a:xfrm>
            <a:off x="6368696" y="3014078"/>
            <a:ext cx="95700" cy="15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θ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7" name="Google Shape;187;p20"/>
          <p:cNvSpPr/>
          <p:nvPr/>
        </p:nvSpPr>
        <p:spPr>
          <a:xfrm>
            <a:off x="6309510" y="3185982"/>
            <a:ext cx="379800" cy="379500"/>
          </a:xfrm>
          <a:prstGeom prst="arc">
            <a:avLst>
              <a:gd name="adj1" fmla="val 13765214"/>
              <a:gd name="adj2" fmla="val 16407302"/>
            </a:avLst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8" name="Google Shape;188;p20"/>
          <p:cNvSpPr/>
          <p:nvPr/>
        </p:nvSpPr>
        <p:spPr>
          <a:xfrm rot="2382955">
            <a:off x="2770393" y="4001645"/>
            <a:ext cx="932891" cy="520663"/>
          </a:xfrm>
          <a:prstGeom prst="rtTriangle">
            <a:avLst/>
          </a:prstGeom>
          <a:solidFill>
            <a:srgbClr val="F3EEFB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9" name="Google Shape;189;p20"/>
          <p:cNvSpPr/>
          <p:nvPr/>
        </p:nvSpPr>
        <p:spPr>
          <a:xfrm rot="2380070">
            <a:off x="2731429" y="4110011"/>
            <a:ext cx="95874" cy="95874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0" name="Google Shape;190;p20"/>
          <p:cNvSpPr/>
          <p:nvPr/>
        </p:nvSpPr>
        <p:spPr>
          <a:xfrm rot="2384772">
            <a:off x="2898384" y="3646739"/>
            <a:ext cx="259467" cy="259044"/>
          </a:xfrm>
          <a:prstGeom prst="arc">
            <a:avLst>
              <a:gd name="adj1" fmla="val 981428"/>
              <a:gd name="adj2" fmla="val 5155964"/>
            </a:avLst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1" name="Google Shape;191;p20"/>
          <p:cNvSpPr txBox="1"/>
          <p:nvPr/>
        </p:nvSpPr>
        <p:spPr>
          <a:xfrm>
            <a:off x="2962011" y="3891253"/>
            <a:ext cx="95700" cy="15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θ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2" name="Google Shape;192;p20"/>
          <p:cNvSpPr txBox="1"/>
          <p:nvPr/>
        </p:nvSpPr>
        <p:spPr>
          <a:xfrm>
            <a:off x="762295" y="2296229"/>
            <a:ext cx="187500" cy="18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3" name="Google Shape;193;p20"/>
          <p:cNvSpPr txBox="1"/>
          <p:nvPr/>
        </p:nvSpPr>
        <p:spPr>
          <a:xfrm>
            <a:off x="2366386" y="2296229"/>
            <a:ext cx="187500" cy="18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4" name="Google Shape;194;p20"/>
          <p:cNvSpPr txBox="1"/>
          <p:nvPr/>
        </p:nvSpPr>
        <p:spPr>
          <a:xfrm>
            <a:off x="3970476" y="2296229"/>
            <a:ext cx="187500" cy="18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5" name="Google Shape;195;p20"/>
          <p:cNvSpPr txBox="1"/>
          <p:nvPr/>
        </p:nvSpPr>
        <p:spPr>
          <a:xfrm>
            <a:off x="5574566" y="2296229"/>
            <a:ext cx="187500" cy="18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6" name="Google Shape;196;p20"/>
          <p:cNvSpPr txBox="1"/>
          <p:nvPr/>
        </p:nvSpPr>
        <p:spPr>
          <a:xfrm>
            <a:off x="762295" y="3595501"/>
            <a:ext cx="187500" cy="18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7" name="Google Shape;197;p20"/>
          <p:cNvSpPr txBox="1"/>
          <p:nvPr/>
        </p:nvSpPr>
        <p:spPr>
          <a:xfrm>
            <a:off x="2366386" y="3595501"/>
            <a:ext cx="187500" cy="18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8" name="Google Shape;198;p20"/>
          <p:cNvSpPr txBox="1"/>
          <p:nvPr/>
        </p:nvSpPr>
        <p:spPr>
          <a:xfrm>
            <a:off x="3970476" y="3595501"/>
            <a:ext cx="187500" cy="18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g)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9" name="Google Shape;199;p20"/>
          <p:cNvSpPr txBox="1"/>
          <p:nvPr/>
        </p:nvSpPr>
        <p:spPr>
          <a:xfrm>
            <a:off x="5574566" y="3595501"/>
            <a:ext cx="187500" cy="18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h)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0" name="Google Shape;200;p20"/>
          <p:cNvSpPr/>
          <p:nvPr/>
        </p:nvSpPr>
        <p:spPr>
          <a:xfrm>
            <a:off x="5670216" y="3799128"/>
            <a:ext cx="287100" cy="287100"/>
          </a:xfrm>
          <a:prstGeom prst="arc">
            <a:avLst>
              <a:gd name="adj1" fmla="val 102978"/>
              <a:gd name="adj2" fmla="val 3387883"/>
            </a:avLst>
          </a:prstGeom>
          <a:noFill/>
          <a:ln w="28575" cap="flat" cmpd="sng">
            <a:solidFill>
              <a:srgbClr val="8080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1" name="Google Shape;201;p20"/>
          <p:cNvSpPr txBox="1"/>
          <p:nvPr/>
        </p:nvSpPr>
        <p:spPr>
          <a:xfrm>
            <a:off x="5945201" y="3964376"/>
            <a:ext cx="95700" cy="15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θ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2" name="Google Shape;202;p20"/>
          <p:cNvSpPr/>
          <p:nvPr/>
        </p:nvSpPr>
        <p:spPr>
          <a:xfrm>
            <a:off x="4977425" y="3467124"/>
            <a:ext cx="494400" cy="493800"/>
          </a:xfrm>
          <a:prstGeom prst="arc">
            <a:avLst>
              <a:gd name="adj1" fmla="val 7118110"/>
              <a:gd name="adj2" fmla="val 8690147"/>
            </a:avLst>
          </a:prstGeom>
          <a:noFill/>
          <a:ln w="28575" cap="flat" cmpd="sng">
            <a:solidFill>
              <a:srgbClr val="8080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3" name="Google Shape;203;p20"/>
          <p:cNvSpPr txBox="1"/>
          <p:nvPr/>
        </p:nvSpPr>
        <p:spPr>
          <a:xfrm>
            <a:off x="4957821" y="3860672"/>
            <a:ext cx="95700" cy="15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θ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4" name="Google Shape;204;p20"/>
          <p:cNvSpPr txBox="1"/>
          <p:nvPr/>
        </p:nvSpPr>
        <p:spPr>
          <a:xfrm>
            <a:off x="476400" y="5833826"/>
            <a:ext cx="6139800" cy="225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Use this sector of the unit circle to find the missing lengths on each triangle.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5" name="Google Shape;205;p20"/>
          <p:cNvSpPr txBox="1"/>
          <p:nvPr/>
        </p:nvSpPr>
        <p:spPr>
          <a:xfrm>
            <a:off x="468000" y="5297450"/>
            <a:ext cx="5978700" cy="28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B:  Using sine and cosine from the unit circle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06" name="Google Shape;206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9936" y="6504506"/>
            <a:ext cx="2850754" cy="2757507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20"/>
          <p:cNvSpPr txBox="1"/>
          <p:nvPr/>
        </p:nvSpPr>
        <p:spPr>
          <a:xfrm>
            <a:off x="481925" y="6274325"/>
            <a:ext cx="574500" cy="32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sin(</a:t>
            </a:r>
            <a:r>
              <a:rPr lang="en-GB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θ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8" name="Google Shape;208;p20"/>
          <p:cNvSpPr txBox="1"/>
          <p:nvPr/>
        </p:nvSpPr>
        <p:spPr>
          <a:xfrm>
            <a:off x="3556187" y="9102217"/>
            <a:ext cx="583800" cy="33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cos(</a:t>
            </a:r>
            <a:r>
              <a:rPr lang="en-GB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θ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09" name="Google Shape;209;p20"/>
          <p:cNvCxnSpPr/>
          <p:nvPr/>
        </p:nvCxnSpPr>
        <p:spPr>
          <a:xfrm rot="10800000" flipH="1">
            <a:off x="930702" y="6328371"/>
            <a:ext cx="0" cy="28209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10" name="Google Shape;210;p20"/>
          <p:cNvCxnSpPr/>
          <p:nvPr/>
        </p:nvCxnSpPr>
        <p:spPr>
          <a:xfrm>
            <a:off x="926004" y="9137283"/>
            <a:ext cx="2782200" cy="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11" name="Google Shape;211;p20"/>
          <p:cNvSpPr/>
          <p:nvPr/>
        </p:nvSpPr>
        <p:spPr>
          <a:xfrm rot="10800000">
            <a:off x="3843714" y="7824391"/>
            <a:ext cx="746700" cy="766800"/>
          </a:xfrm>
          <a:prstGeom prst="rtTriangle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2" name="Google Shape;212;p20"/>
          <p:cNvSpPr/>
          <p:nvPr/>
        </p:nvSpPr>
        <p:spPr>
          <a:xfrm rot="10800000">
            <a:off x="4497419" y="7824290"/>
            <a:ext cx="93000" cy="930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3" name="Google Shape;213;p20"/>
          <p:cNvSpPr/>
          <p:nvPr/>
        </p:nvSpPr>
        <p:spPr>
          <a:xfrm rot="10800000">
            <a:off x="3659930" y="7640351"/>
            <a:ext cx="368400" cy="368100"/>
          </a:xfrm>
          <a:prstGeom prst="arc">
            <a:avLst>
              <a:gd name="adj1" fmla="val 10969089"/>
              <a:gd name="adj2" fmla="val 13418498"/>
            </a:avLst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4" name="Google Shape;214;p20"/>
          <p:cNvSpPr/>
          <p:nvPr/>
        </p:nvSpPr>
        <p:spPr>
          <a:xfrm flipH="1">
            <a:off x="3704426" y="6399932"/>
            <a:ext cx="1011900" cy="586200"/>
          </a:xfrm>
          <a:prstGeom prst="rtTriangle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5" name="Google Shape;215;p20"/>
          <p:cNvSpPr/>
          <p:nvPr/>
        </p:nvSpPr>
        <p:spPr>
          <a:xfrm flipH="1">
            <a:off x="4630819" y="6899183"/>
            <a:ext cx="85500" cy="888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6" name="Google Shape;216;p20"/>
          <p:cNvSpPr/>
          <p:nvPr/>
        </p:nvSpPr>
        <p:spPr>
          <a:xfrm flipH="1">
            <a:off x="3495063" y="6746331"/>
            <a:ext cx="445200" cy="479700"/>
          </a:xfrm>
          <a:prstGeom prst="arc">
            <a:avLst>
              <a:gd name="adj1" fmla="val 10969089"/>
              <a:gd name="adj2" fmla="val 12585156"/>
            </a:avLst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7" name="Google Shape;217;p20"/>
          <p:cNvSpPr txBox="1"/>
          <p:nvPr/>
        </p:nvSpPr>
        <p:spPr>
          <a:xfrm>
            <a:off x="3656792" y="6163135"/>
            <a:ext cx="181800" cy="18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8" name="Google Shape;218;p20"/>
          <p:cNvSpPr txBox="1"/>
          <p:nvPr/>
        </p:nvSpPr>
        <p:spPr>
          <a:xfrm>
            <a:off x="5333404" y="6163135"/>
            <a:ext cx="181800" cy="18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9" name="Google Shape;219;p20"/>
          <p:cNvSpPr txBox="1"/>
          <p:nvPr/>
        </p:nvSpPr>
        <p:spPr>
          <a:xfrm>
            <a:off x="3656792" y="7579487"/>
            <a:ext cx="181800" cy="18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0" name="Google Shape;220;p20"/>
          <p:cNvSpPr txBox="1"/>
          <p:nvPr/>
        </p:nvSpPr>
        <p:spPr>
          <a:xfrm>
            <a:off x="5333404" y="7579487"/>
            <a:ext cx="181800" cy="18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21" name="Google Shape;221;p20"/>
          <p:cNvCxnSpPr/>
          <p:nvPr/>
        </p:nvCxnSpPr>
        <p:spPr>
          <a:xfrm rot="10800000" flipH="1">
            <a:off x="3680863" y="6345112"/>
            <a:ext cx="991800" cy="579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222" name="Google Shape;222;p20"/>
          <p:cNvCxnSpPr/>
          <p:nvPr/>
        </p:nvCxnSpPr>
        <p:spPr>
          <a:xfrm rot="10800000" flipH="1">
            <a:off x="4777472" y="6402245"/>
            <a:ext cx="0" cy="5856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223" name="Google Shape;223;p20"/>
          <p:cNvCxnSpPr/>
          <p:nvPr/>
        </p:nvCxnSpPr>
        <p:spPr>
          <a:xfrm rot="10800000">
            <a:off x="3704479" y="7053339"/>
            <a:ext cx="10140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224" name="Google Shape;224;p20"/>
          <p:cNvCxnSpPr/>
          <p:nvPr/>
        </p:nvCxnSpPr>
        <p:spPr>
          <a:xfrm rot="10800000">
            <a:off x="3833630" y="7765871"/>
            <a:ext cx="7617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225" name="Google Shape;225;p20"/>
          <p:cNvCxnSpPr/>
          <p:nvPr/>
        </p:nvCxnSpPr>
        <p:spPr>
          <a:xfrm rot="10800000" flipH="1">
            <a:off x="4660233" y="7827846"/>
            <a:ext cx="0" cy="7695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226" name="Google Shape;226;p20"/>
          <p:cNvCxnSpPr/>
          <p:nvPr/>
        </p:nvCxnSpPr>
        <p:spPr>
          <a:xfrm rot="10800000">
            <a:off x="3779489" y="7875245"/>
            <a:ext cx="752400" cy="7731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227" name="Google Shape;227;p20"/>
          <p:cNvSpPr txBox="1"/>
          <p:nvPr/>
        </p:nvSpPr>
        <p:spPr>
          <a:xfrm>
            <a:off x="3947132" y="6396950"/>
            <a:ext cx="417600" cy="20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10 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8" name="Google Shape;228;p20"/>
          <p:cNvSpPr txBox="1"/>
          <p:nvPr/>
        </p:nvSpPr>
        <p:spPr>
          <a:xfrm>
            <a:off x="3965631" y="6819887"/>
            <a:ext cx="417600" cy="20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30°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9" name="Google Shape;229;p20"/>
          <p:cNvSpPr txBox="1"/>
          <p:nvPr/>
        </p:nvSpPr>
        <p:spPr>
          <a:xfrm>
            <a:off x="4018862" y="7841834"/>
            <a:ext cx="453600" cy="2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45°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0" name="Google Shape;230;p20"/>
          <p:cNvSpPr/>
          <p:nvPr/>
        </p:nvSpPr>
        <p:spPr>
          <a:xfrm rot="5400000" flipH="1">
            <a:off x="5727989" y="6397227"/>
            <a:ext cx="1011900" cy="586200"/>
          </a:xfrm>
          <a:prstGeom prst="rtTriangle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1" name="Google Shape;231;p20"/>
          <p:cNvSpPr/>
          <p:nvPr/>
        </p:nvSpPr>
        <p:spPr>
          <a:xfrm rot="5400000" flipH="1">
            <a:off x="5940639" y="7109120"/>
            <a:ext cx="85500" cy="888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2" name="Google Shape;232;p20"/>
          <p:cNvSpPr/>
          <p:nvPr/>
        </p:nvSpPr>
        <p:spPr>
          <a:xfrm flipH="1">
            <a:off x="6352463" y="7044052"/>
            <a:ext cx="279600" cy="301500"/>
          </a:xfrm>
          <a:prstGeom prst="arc">
            <a:avLst>
              <a:gd name="adj1" fmla="val 17405128"/>
              <a:gd name="adj2" fmla="val 64059"/>
            </a:avLst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33" name="Google Shape;233;p20"/>
          <p:cNvCxnSpPr/>
          <p:nvPr/>
        </p:nvCxnSpPr>
        <p:spPr>
          <a:xfrm rot="-5400000" flipH="1">
            <a:off x="5796010" y="6366761"/>
            <a:ext cx="991800" cy="579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234" name="Google Shape;234;p20"/>
          <p:cNvCxnSpPr/>
          <p:nvPr/>
        </p:nvCxnSpPr>
        <p:spPr>
          <a:xfrm rot="10800000" flipH="1">
            <a:off x="6231927" y="6964624"/>
            <a:ext cx="0" cy="5856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235" name="Google Shape;235;p20"/>
          <p:cNvCxnSpPr/>
          <p:nvPr/>
        </p:nvCxnSpPr>
        <p:spPr>
          <a:xfrm rot="-5400000">
            <a:off x="5366634" y="6691430"/>
            <a:ext cx="10140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236" name="Google Shape;236;p20"/>
          <p:cNvSpPr txBox="1"/>
          <p:nvPr/>
        </p:nvSpPr>
        <p:spPr>
          <a:xfrm>
            <a:off x="6332309" y="6546820"/>
            <a:ext cx="479700" cy="20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10 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7" name="Google Shape;237;p20"/>
          <p:cNvSpPr txBox="1"/>
          <p:nvPr/>
        </p:nvSpPr>
        <p:spPr>
          <a:xfrm>
            <a:off x="6159613" y="6996024"/>
            <a:ext cx="417600" cy="20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60°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8" name="Google Shape;238;p20"/>
          <p:cNvSpPr txBox="1"/>
          <p:nvPr/>
        </p:nvSpPr>
        <p:spPr>
          <a:xfrm>
            <a:off x="3894083" y="8246689"/>
            <a:ext cx="368400" cy="20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8 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9" name="Google Shape;239;p20"/>
          <p:cNvSpPr/>
          <p:nvPr/>
        </p:nvSpPr>
        <p:spPr>
          <a:xfrm rot="-2087951">
            <a:off x="5466530" y="7823798"/>
            <a:ext cx="1285259" cy="337124"/>
          </a:xfrm>
          <a:prstGeom prst="rtTriangle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0" name="Google Shape;240;p20"/>
          <p:cNvSpPr/>
          <p:nvPr/>
        </p:nvSpPr>
        <p:spPr>
          <a:xfrm rot="-2156751">
            <a:off x="5642080" y="8384761"/>
            <a:ext cx="93012" cy="93012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1" name="Google Shape;241;p20"/>
          <p:cNvSpPr/>
          <p:nvPr/>
        </p:nvSpPr>
        <p:spPr>
          <a:xfrm>
            <a:off x="6313250" y="7372158"/>
            <a:ext cx="773700" cy="773100"/>
          </a:xfrm>
          <a:prstGeom prst="arc">
            <a:avLst>
              <a:gd name="adj1" fmla="val 8523719"/>
              <a:gd name="adj2" fmla="val 9403987"/>
            </a:avLst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2" name="Google Shape;242;p20"/>
          <p:cNvSpPr txBox="1"/>
          <p:nvPr/>
        </p:nvSpPr>
        <p:spPr>
          <a:xfrm>
            <a:off x="6084349" y="7962711"/>
            <a:ext cx="279600" cy="2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15°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43" name="Google Shape;243;p20"/>
          <p:cNvCxnSpPr/>
          <p:nvPr/>
        </p:nvCxnSpPr>
        <p:spPr>
          <a:xfrm rot="10800000" flipH="1">
            <a:off x="5452306" y="7695223"/>
            <a:ext cx="1264200" cy="4488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244" name="Google Shape;244;p20"/>
          <p:cNvCxnSpPr/>
          <p:nvPr/>
        </p:nvCxnSpPr>
        <p:spPr>
          <a:xfrm rot="10800000" flipH="1">
            <a:off x="5733449" y="7819434"/>
            <a:ext cx="1061400" cy="7434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245" name="Google Shape;245;p20"/>
          <p:cNvCxnSpPr/>
          <p:nvPr/>
        </p:nvCxnSpPr>
        <p:spPr>
          <a:xfrm>
            <a:off x="5419649" y="8267318"/>
            <a:ext cx="192300" cy="2877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246" name="Google Shape;246;p20"/>
          <p:cNvSpPr txBox="1"/>
          <p:nvPr/>
        </p:nvSpPr>
        <p:spPr>
          <a:xfrm>
            <a:off x="5699602" y="7753749"/>
            <a:ext cx="479700" cy="20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12 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50" name="Shape 250"/>
        <p:cNvGrpSpPr/>
        <p:nvPr/>
      </p:nvGrpSpPr>
      <p:grpSpPr>
        <a:xfrm>
          <a:off x="0" y="0"/>
          <a:ext cx="0" cy="0"/>
        </a:xfrm>
      </p:grpSpPr>
      <p:sp>
        <p:nvSpPr>
          <p:cNvPr id="251" name="Google Shape;251;p2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2</a:t>
            </a:fld>
            <a:endParaRPr/>
          </a:p>
        </p:txBody>
      </p:sp>
      <p:sp>
        <p:nvSpPr>
          <p:cNvPr id="252" name="Google Shape;252;p21"/>
          <p:cNvSpPr txBox="1"/>
          <p:nvPr>
            <p:ph type="subTitle" idx="1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Scaling the right-angled triangle from the unit circle</a:t>
            </a:r>
            <a:endParaRPr/>
          </a:p>
        </p:txBody>
      </p:sp>
      <p:sp>
        <p:nvSpPr>
          <p:cNvPr id="253" name="Google Shape;253;p21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v2.3</a:t>
            </a:r>
            <a:endParaRPr sz="1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4" name="Google Shape;254;p21"/>
          <p:cNvSpPr txBox="1"/>
          <p:nvPr>
            <p:ph type="subTitle" idx="2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Mathematics in Education and Industry</a:t>
            </a:r>
            <a:endParaRPr/>
          </a:p>
        </p:txBody>
      </p:sp>
      <p:sp>
        <p:nvSpPr>
          <p:cNvPr id="255" name="Google Shape;255;p21"/>
          <p:cNvSpPr txBox="1"/>
          <p:nvPr/>
        </p:nvSpPr>
        <p:spPr>
          <a:xfrm>
            <a:off x="476400" y="911700"/>
            <a:ext cx="6345300" cy="26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Use this sector of the unit circle to find the value of each unknown.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6" name="Google Shape;256;p21"/>
          <p:cNvSpPr/>
          <p:nvPr/>
        </p:nvSpPr>
        <p:spPr>
          <a:xfrm flipH="1">
            <a:off x="5571560" y="2888889"/>
            <a:ext cx="1022700" cy="592800"/>
          </a:xfrm>
          <a:prstGeom prst="rtTriangle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7" name="Google Shape;257;p21"/>
          <p:cNvSpPr/>
          <p:nvPr/>
        </p:nvSpPr>
        <p:spPr>
          <a:xfrm flipH="1">
            <a:off x="6507854" y="3393649"/>
            <a:ext cx="86400" cy="900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8" name="Google Shape;258;p21"/>
          <p:cNvSpPr/>
          <p:nvPr/>
        </p:nvSpPr>
        <p:spPr>
          <a:xfrm flipH="1">
            <a:off x="5379278" y="3239110"/>
            <a:ext cx="450300" cy="485100"/>
          </a:xfrm>
          <a:prstGeom prst="arc">
            <a:avLst>
              <a:gd name="adj1" fmla="val 10969089"/>
              <a:gd name="adj2" fmla="val 12750330"/>
            </a:avLst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9" name="Google Shape;259;p21"/>
          <p:cNvSpPr/>
          <p:nvPr/>
        </p:nvSpPr>
        <p:spPr>
          <a:xfrm rot="9518408">
            <a:off x="3811037" y="3170097"/>
            <a:ext cx="1163843" cy="447798"/>
          </a:xfrm>
          <a:prstGeom prst="rtTriangle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0" name="Google Shape;260;p21"/>
          <p:cNvSpPr/>
          <p:nvPr/>
        </p:nvSpPr>
        <p:spPr>
          <a:xfrm rot="9521164">
            <a:off x="4776557" y="2988233"/>
            <a:ext cx="98218" cy="98218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1" name="Google Shape;261;p21"/>
          <p:cNvSpPr/>
          <p:nvPr/>
        </p:nvSpPr>
        <p:spPr>
          <a:xfrm rot="9518822">
            <a:off x="3526877" y="3136045"/>
            <a:ext cx="512479" cy="512200"/>
          </a:xfrm>
          <a:prstGeom prst="arc">
            <a:avLst>
              <a:gd name="adj1" fmla="val 10795596"/>
              <a:gd name="adj2" fmla="val 12164716"/>
            </a:avLst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2" name="Google Shape;262;p21"/>
          <p:cNvSpPr txBox="1"/>
          <p:nvPr/>
        </p:nvSpPr>
        <p:spPr>
          <a:xfrm>
            <a:off x="3750017" y="1173352"/>
            <a:ext cx="192600" cy="19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3" name="Google Shape;263;p21"/>
          <p:cNvSpPr txBox="1"/>
          <p:nvPr/>
        </p:nvSpPr>
        <p:spPr>
          <a:xfrm>
            <a:off x="5485189" y="1173352"/>
            <a:ext cx="192600" cy="19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4" name="Google Shape;264;p21"/>
          <p:cNvSpPr txBox="1"/>
          <p:nvPr/>
        </p:nvSpPr>
        <p:spPr>
          <a:xfrm>
            <a:off x="3750017" y="2699445"/>
            <a:ext cx="192600" cy="19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5" name="Google Shape;265;p21"/>
          <p:cNvSpPr txBox="1"/>
          <p:nvPr/>
        </p:nvSpPr>
        <p:spPr>
          <a:xfrm>
            <a:off x="5485189" y="2699445"/>
            <a:ext cx="192600" cy="19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66" name="Google Shape;266;p21"/>
          <p:cNvCxnSpPr/>
          <p:nvPr/>
        </p:nvCxnSpPr>
        <p:spPr>
          <a:xfrm rot="10800000" flipH="1">
            <a:off x="5547363" y="2833563"/>
            <a:ext cx="1002600" cy="5862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267" name="Google Shape;267;p21"/>
          <p:cNvCxnSpPr/>
          <p:nvPr/>
        </p:nvCxnSpPr>
        <p:spPr>
          <a:xfrm rot="10800000" flipH="1">
            <a:off x="6656082" y="2891089"/>
            <a:ext cx="0" cy="5922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268" name="Google Shape;268;p21"/>
          <p:cNvSpPr txBox="1"/>
          <p:nvPr/>
        </p:nvSpPr>
        <p:spPr>
          <a:xfrm>
            <a:off x="5770241" y="2933050"/>
            <a:ext cx="485100" cy="20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20 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9" name="Google Shape;269;p21"/>
          <p:cNvSpPr txBox="1"/>
          <p:nvPr/>
        </p:nvSpPr>
        <p:spPr>
          <a:xfrm>
            <a:off x="5848555" y="3293559"/>
            <a:ext cx="422100" cy="20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°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0" name="Google Shape;270;p21"/>
          <p:cNvSpPr txBox="1"/>
          <p:nvPr/>
        </p:nvSpPr>
        <p:spPr>
          <a:xfrm>
            <a:off x="6670038" y="3097613"/>
            <a:ext cx="422100" cy="20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10 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1" name="Google Shape;271;p21"/>
          <p:cNvSpPr/>
          <p:nvPr/>
        </p:nvSpPr>
        <p:spPr>
          <a:xfrm rot="-17255" flipH="1">
            <a:off x="5645854" y="1275644"/>
            <a:ext cx="777010" cy="898810"/>
          </a:xfrm>
          <a:prstGeom prst="rtTriangle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2" name="Google Shape;272;p21"/>
          <p:cNvSpPr/>
          <p:nvPr/>
        </p:nvSpPr>
        <p:spPr>
          <a:xfrm rot="-10481" flipH="1">
            <a:off x="6318758" y="2074694"/>
            <a:ext cx="98400" cy="984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73" name="Google Shape;273;p21"/>
          <p:cNvCxnSpPr/>
          <p:nvPr/>
        </p:nvCxnSpPr>
        <p:spPr>
          <a:xfrm>
            <a:off x="5636472" y="2244204"/>
            <a:ext cx="7848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274" name="Google Shape;274;p21"/>
          <p:cNvCxnSpPr/>
          <p:nvPr/>
        </p:nvCxnSpPr>
        <p:spPr>
          <a:xfrm rot="10800000" flipH="1">
            <a:off x="5581343" y="1218022"/>
            <a:ext cx="773100" cy="9027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275" name="Google Shape;275;p21"/>
          <p:cNvSpPr txBox="1"/>
          <p:nvPr/>
        </p:nvSpPr>
        <p:spPr>
          <a:xfrm flipH="1">
            <a:off x="5824623" y="1987564"/>
            <a:ext cx="480300" cy="21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50°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6" name="Google Shape;276;p21"/>
          <p:cNvSpPr/>
          <p:nvPr/>
        </p:nvSpPr>
        <p:spPr>
          <a:xfrm rot="-19356" flipH="1">
            <a:off x="5550357" y="2042418"/>
            <a:ext cx="266404" cy="266104"/>
          </a:xfrm>
          <a:prstGeom prst="arc">
            <a:avLst>
              <a:gd name="adj1" fmla="val 10637741"/>
              <a:gd name="adj2" fmla="val 14068037"/>
            </a:avLst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77" name="Google Shape;277;p21"/>
          <p:cNvCxnSpPr/>
          <p:nvPr/>
        </p:nvCxnSpPr>
        <p:spPr>
          <a:xfrm rot="10800000" flipH="1">
            <a:off x="3749204" y="2888723"/>
            <a:ext cx="1055700" cy="4530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278" name="Google Shape;278;p21"/>
          <p:cNvCxnSpPr/>
          <p:nvPr/>
        </p:nvCxnSpPr>
        <p:spPr>
          <a:xfrm>
            <a:off x="3758525" y="3472590"/>
            <a:ext cx="12702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279" name="Google Shape;279;p21"/>
          <p:cNvSpPr txBox="1"/>
          <p:nvPr/>
        </p:nvSpPr>
        <p:spPr>
          <a:xfrm flipH="1">
            <a:off x="5892146" y="2226504"/>
            <a:ext cx="480300" cy="21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6 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0" name="Google Shape;280;p21"/>
          <p:cNvSpPr txBox="1"/>
          <p:nvPr/>
        </p:nvSpPr>
        <p:spPr>
          <a:xfrm flipH="1">
            <a:off x="4238234" y="3466072"/>
            <a:ext cx="480300" cy="21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15 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1" name="Google Shape;281;p21"/>
          <p:cNvSpPr txBox="1"/>
          <p:nvPr/>
        </p:nvSpPr>
        <p:spPr>
          <a:xfrm flipH="1">
            <a:off x="5701881" y="1475699"/>
            <a:ext cx="480300" cy="21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2" name="Google Shape;282;p21"/>
          <p:cNvSpPr txBox="1"/>
          <p:nvPr/>
        </p:nvSpPr>
        <p:spPr>
          <a:xfrm flipH="1">
            <a:off x="4051446" y="2884400"/>
            <a:ext cx="480300" cy="21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3" name="Google Shape;283;p21"/>
          <p:cNvSpPr txBox="1"/>
          <p:nvPr/>
        </p:nvSpPr>
        <p:spPr>
          <a:xfrm flipH="1">
            <a:off x="4132874" y="3220810"/>
            <a:ext cx="480300" cy="21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20°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4" name="Google Shape;284;p21"/>
          <p:cNvSpPr/>
          <p:nvPr/>
        </p:nvSpPr>
        <p:spPr>
          <a:xfrm rot="-17232" flipH="1">
            <a:off x="3918864" y="1329975"/>
            <a:ext cx="718209" cy="830409"/>
          </a:xfrm>
          <a:prstGeom prst="rtTriangle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5" name="Google Shape;285;p21"/>
          <p:cNvSpPr/>
          <p:nvPr/>
        </p:nvSpPr>
        <p:spPr>
          <a:xfrm rot="-11346" flipH="1">
            <a:off x="4540901" y="2068429"/>
            <a:ext cx="90900" cy="909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6" name="Google Shape;286;p21"/>
          <p:cNvSpPr/>
          <p:nvPr/>
        </p:nvSpPr>
        <p:spPr>
          <a:xfrm rot="-18286" flipH="1">
            <a:off x="3751866" y="1956240"/>
            <a:ext cx="338405" cy="337805"/>
          </a:xfrm>
          <a:prstGeom prst="arc">
            <a:avLst>
              <a:gd name="adj1" fmla="val 10030360"/>
              <a:gd name="adj2" fmla="val 13223382"/>
            </a:avLst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87" name="Google Shape;287;p21"/>
          <p:cNvCxnSpPr/>
          <p:nvPr/>
        </p:nvCxnSpPr>
        <p:spPr>
          <a:xfrm rot="10800000" flipH="1">
            <a:off x="4700506" y="1328251"/>
            <a:ext cx="0" cy="8322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288" name="Google Shape;288;p21"/>
          <p:cNvCxnSpPr/>
          <p:nvPr/>
        </p:nvCxnSpPr>
        <p:spPr>
          <a:xfrm rot="10800000" flipH="1">
            <a:off x="3859374" y="1276655"/>
            <a:ext cx="714300" cy="8343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289" name="Google Shape;289;p21"/>
          <p:cNvSpPr txBox="1"/>
          <p:nvPr/>
        </p:nvSpPr>
        <p:spPr>
          <a:xfrm flipH="1">
            <a:off x="4124704" y="1957421"/>
            <a:ext cx="444000" cy="2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50°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0" name="Google Shape;290;p21"/>
          <p:cNvSpPr txBox="1"/>
          <p:nvPr/>
        </p:nvSpPr>
        <p:spPr>
          <a:xfrm flipH="1">
            <a:off x="4714227" y="1698410"/>
            <a:ext cx="444000" cy="2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6 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1" name="Google Shape;291;p21"/>
          <p:cNvSpPr txBox="1"/>
          <p:nvPr/>
        </p:nvSpPr>
        <p:spPr>
          <a:xfrm flipH="1">
            <a:off x="3926034" y="1514857"/>
            <a:ext cx="444000" cy="2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92" name="Google Shape;292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9936" y="1475306"/>
            <a:ext cx="2850754" cy="2757507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p21"/>
          <p:cNvSpPr txBox="1"/>
          <p:nvPr/>
        </p:nvSpPr>
        <p:spPr>
          <a:xfrm>
            <a:off x="481925" y="1245125"/>
            <a:ext cx="574500" cy="32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sin(</a:t>
            </a:r>
            <a:r>
              <a:rPr lang="en-GB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θ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4" name="Google Shape;294;p21"/>
          <p:cNvSpPr txBox="1"/>
          <p:nvPr/>
        </p:nvSpPr>
        <p:spPr>
          <a:xfrm>
            <a:off x="3556187" y="4073017"/>
            <a:ext cx="583800" cy="33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cos(</a:t>
            </a:r>
            <a:r>
              <a:rPr lang="en-GB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θ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95" name="Google Shape;295;p21"/>
          <p:cNvCxnSpPr/>
          <p:nvPr/>
        </p:nvCxnSpPr>
        <p:spPr>
          <a:xfrm rot="10800000" flipH="1">
            <a:off x="930702" y="1299171"/>
            <a:ext cx="0" cy="28209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96" name="Google Shape;296;p21"/>
          <p:cNvCxnSpPr/>
          <p:nvPr/>
        </p:nvCxnSpPr>
        <p:spPr>
          <a:xfrm>
            <a:off x="926004" y="4108083"/>
            <a:ext cx="2782200" cy="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97" name="Google Shape;297;p21"/>
          <p:cNvCxnSpPr/>
          <p:nvPr/>
        </p:nvCxnSpPr>
        <p:spPr>
          <a:xfrm>
            <a:off x="474757" y="4856788"/>
            <a:ext cx="661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98" name="Google Shape;298;p21"/>
          <p:cNvSpPr txBox="1"/>
          <p:nvPr/>
        </p:nvSpPr>
        <p:spPr>
          <a:xfrm>
            <a:off x="476400" y="5477994"/>
            <a:ext cx="6427800" cy="35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Use this sector of the unit circle to find the value of each unknown.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9" name="Google Shape;299;p21"/>
          <p:cNvSpPr txBox="1"/>
          <p:nvPr/>
        </p:nvSpPr>
        <p:spPr>
          <a:xfrm>
            <a:off x="467998" y="4916450"/>
            <a:ext cx="6259200" cy="29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C:  Using tangent from the unit circle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300" name="Google Shape;300;p21"/>
          <p:cNvGrpSpPr/>
          <p:nvPr/>
        </p:nvGrpSpPr>
        <p:grpSpPr>
          <a:xfrm>
            <a:off x="624622" y="5753157"/>
            <a:ext cx="2975373" cy="3316677"/>
            <a:chOff x="490500" y="824491"/>
            <a:chExt cx="3316657" cy="3697110"/>
          </a:xfrm>
        </p:grpSpPr>
        <p:pic>
          <p:nvPicPr>
            <p:cNvPr id="301" name="Google Shape;301;p21"/>
            <p:cNvPicPr preferRelativeResize="0"/>
            <p:nvPr/>
          </p:nvPicPr>
          <p:blipFill>
            <a:blip r:embed="rId4">
              <a:alphaModFix/>
            </a:blip>
            <a:srcRect t="10897" r="6855"/>
            <a:stretch>
              <a:fillRect/>
            </a:stretch>
          </p:blipFill>
          <p:spPr>
            <a:xfrm>
              <a:off x="490500" y="942750"/>
              <a:ext cx="3127524" cy="3578850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302" name="Google Shape;302;p21"/>
            <p:cNvCxnSpPr/>
            <p:nvPr/>
          </p:nvCxnSpPr>
          <p:spPr>
            <a:xfrm rot="10800000" flipH="1">
              <a:off x="702289" y="824491"/>
              <a:ext cx="0" cy="356100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303" name="Google Shape;303;p21"/>
            <p:cNvCxnSpPr/>
            <p:nvPr/>
          </p:nvCxnSpPr>
          <p:spPr>
            <a:xfrm>
              <a:off x="696457" y="4370611"/>
              <a:ext cx="3110700" cy="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  <p:cxnSp>
        <p:nvCxnSpPr>
          <p:cNvPr id="304" name="Google Shape;304;p21"/>
          <p:cNvCxnSpPr/>
          <p:nvPr/>
        </p:nvCxnSpPr>
        <p:spPr>
          <a:xfrm flipH="1">
            <a:off x="3108108" y="5845720"/>
            <a:ext cx="0" cy="3209700"/>
          </a:xfrm>
          <a:prstGeom prst="straightConnector1">
            <a:avLst/>
          </a:prstGeom>
          <a:noFill/>
          <a:ln w="38100" cap="flat" cmpd="sng">
            <a:solidFill>
              <a:srgbClr val="575756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05" name="Google Shape;305;p21"/>
          <p:cNvSpPr txBox="1"/>
          <p:nvPr/>
        </p:nvSpPr>
        <p:spPr>
          <a:xfrm>
            <a:off x="483898" y="5683877"/>
            <a:ext cx="186300" cy="30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6" name="Google Shape;306;p21"/>
          <p:cNvSpPr txBox="1"/>
          <p:nvPr/>
        </p:nvSpPr>
        <p:spPr>
          <a:xfrm>
            <a:off x="3572269" y="9011166"/>
            <a:ext cx="186300" cy="30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7" name="Google Shape;307;p21"/>
          <p:cNvSpPr/>
          <p:nvPr/>
        </p:nvSpPr>
        <p:spPr>
          <a:xfrm rot="-17011" flipH="1">
            <a:off x="5806882" y="5782766"/>
            <a:ext cx="727509" cy="841209"/>
          </a:xfrm>
          <a:prstGeom prst="rtTriangle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8" name="Google Shape;308;p21"/>
          <p:cNvSpPr/>
          <p:nvPr/>
        </p:nvSpPr>
        <p:spPr>
          <a:xfrm rot="-11198" flipH="1">
            <a:off x="6436975" y="6530843"/>
            <a:ext cx="92100" cy="921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9" name="Google Shape;309;p21"/>
          <p:cNvSpPr/>
          <p:nvPr/>
        </p:nvSpPr>
        <p:spPr>
          <a:xfrm rot="-20659" flipH="1">
            <a:off x="5717437" y="6500665"/>
            <a:ext cx="249605" cy="249305"/>
          </a:xfrm>
          <a:prstGeom prst="arc">
            <a:avLst>
              <a:gd name="adj1" fmla="val 10637741"/>
              <a:gd name="adj2" fmla="val 14068037"/>
            </a:avLst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0" name="Google Shape;310;p21"/>
          <p:cNvSpPr txBox="1"/>
          <p:nvPr/>
        </p:nvSpPr>
        <p:spPr>
          <a:xfrm>
            <a:off x="3614215" y="5743049"/>
            <a:ext cx="195000" cy="19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1" name="Google Shape;311;p21"/>
          <p:cNvSpPr txBox="1"/>
          <p:nvPr/>
        </p:nvSpPr>
        <p:spPr>
          <a:xfrm>
            <a:off x="5669250" y="5743049"/>
            <a:ext cx="195000" cy="19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2" name="Google Shape;312;p21"/>
          <p:cNvSpPr txBox="1"/>
          <p:nvPr/>
        </p:nvSpPr>
        <p:spPr>
          <a:xfrm>
            <a:off x="3614215" y="7560301"/>
            <a:ext cx="195000" cy="19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3" name="Google Shape;313;p21"/>
          <p:cNvSpPr txBox="1"/>
          <p:nvPr/>
        </p:nvSpPr>
        <p:spPr>
          <a:xfrm>
            <a:off x="5669250" y="7560301"/>
            <a:ext cx="195000" cy="19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14" name="Google Shape;314;p21"/>
          <p:cNvCxnSpPr/>
          <p:nvPr/>
        </p:nvCxnSpPr>
        <p:spPr>
          <a:xfrm rot="10800000">
            <a:off x="5808762" y="6717524"/>
            <a:ext cx="7374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315" name="Google Shape;315;p21"/>
          <p:cNvCxnSpPr/>
          <p:nvPr/>
        </p:nvCxnSpPr>
        <p:spPr>
          <a:xfrm rot="10800000" flipH="1">
            <a:off x="6606050" y="5779158"/>
            <a:ext cx="0" cy="8562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316" name="Google Shape;316;p21"/>
          <p:cNvSpPr txBox="1"/>
          <p:nvPr/>
        </p:nvSpPr>
        <p:spPr>
          <a:xfrm flipH="1">
            <a:off x="5974295" y="6438699"/>
            <a:ext cx="449700" cy="20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50°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7" name="Google Shape;317;p21"/>
          <p:cNvSpPr/>
          <p:nvPr/>
        </p:nvSpPr>
        <p:spPr>
          <a:xfrm rot="-17031" flipH="1">
            <a:off x="3820816" y="5846646"/>
            <a:ext cx="787210" cy="910510"/>
          </a:xfrm>
          <a:prstGeom prst="rtTriangle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8" name="Google Shape;318;p21"/>
          <p:cNvSpPr/>
          <p:nvPr/>
        </p:nvSpPr>
        <p:spPr>
          <a:xfrm rot="-10355" flipH="1">
            <a:off x="4502671" y="6656107"/>
            <a:ext cx="99600" cy="996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19" name="Google Shape;319;p21"/>
          <p:cNvCxnSpPr/>
          <p:nvPr/>
        </p:nvCxnSpPr>
        <p:spPr>
          <a:xfrm>
            <a:off x="3811434" y="6827823"/>
            <a:ext cx="7950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320" name="Google Shape;320;p21"/>
          <p:cNvSpPr txBox="1"/>
          <p:nvPr/>
        </p:nvSpPr>
        <p:spPr>
          <a:xfrm flipH="1">
            <a:off x="4001978" y="6567847"/>
            <a:ext cx="486600" cy="2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50°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1" name="Google Shape;321;p21"/>
          <p:cNvSpPr/>
          <p:nvPr/>
        </p:nvSpPr>
        <p:spPr>
          <a:xfrm rot="-19098" flipH="1">
            <a:off x="3713511" y="6623403"/>
            <a:ext cx="270004" cy="269704"/>
          </a:xfrm>
          <a:prstGeom prst="arc">
            <a:avLst>
              <a:gd name="adj1" fmla="val 10637741"/>
              <a:gd name="adj2" fmla="val 14068037"/>
            </a:avLst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2" name="Google Shape;322;p21"/>
          <p:cNvSpPr txBox="1"/>
          <p:nvPr/>
        </p:nvSpPr>
        <p:spPr>
          <a:xfrm flipH="1">
            <a:off x="6637200" y="6166909"/>
            <a:ext cx="449700" cy="20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10 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3" name="Google Shape;323;p21"/>
          <p:cNvSpPr txBox="1"/>
          <p:nvPr/>
        </p:nvSpPr>
        <p:spPr>
          <a:xfrm flipH="1">
            <a:off x="6048021" y="6709409"/>
            <a:ext cx="449700" cy="20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4" name="Google Shape;324;p21"/>
          <p:cNvSpPr txBox="1"/>
          <p:nvPr/>
        </p:nvSpPr>
        <p:spPr>
          <a:xfrm flipH="1">
            <a:off x="4767802" y="6217136"/>
            <a:ext cx="486600" cy="2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25" name="Google Shape;325;p21"/>
          <p:cNvCxnSpPr/>
          <p:nvPr/>
        </p:nvCxnSpPr>
        <p:spPr>
          <a:xfrm rot="10800000" flipH="1">
            <a:off x="4706857" y="5835076"/>
            <a:ext cx="0" cy="9192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326" name="Google Shape;326;p21"/>
          <p:cNvSpPr txBox="1"/>
          <p:nvPr/>
        </p:nvSpPr>
        <p:spPr>
          <a:xfrm flipH="1">
            <a:off x="4082823" y="6819356"/>
            <a:ext cx="449700" cy="20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10 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7" name="Google Shape;327;p21"/>
          <p:cNvSpPr/>
          <p:nvPr/>
        </p:nvSpPr>
        <p:spPr>
          <a:xfrm rot="7213743">
            <a:off x="5851286" y="7981282"/>
            <a:ext cx="1039213" cy="574601"/>
          </a:xfrm>
          <a:prstGeom prst="rtTriangle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8" name="Google Shape;328;p21"/>
          <p:cNvSpPr/>
          <p:nvPr/>
        </p:nvSpPr>
        <p:spPr>
          <a:xfrm rot="7203581">
            <a:off x="6352262" y="7699996"/>
            <a:ext cx="88041" cy="90443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9" name="Google Shape;329;p21"/>
          <p:cNvSpPr/>
          <p:nvPr/>
        </p:nvSpPr>
        <p:spPr>
          <a:xfrm rot="-1471909">
            <a:off x="3937174" y="7512857"/>
            <a:ext cx="1149571" cy="511486"/>
          </a:xfrm>
          <a:prstGeom prst="rtTriangle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0" name="Google Shape;330;p21"/>
          <p:cNvSpPr/>
          <p:nvPr/>
        </p:nvSpPr>
        <p:spPr>
          <a:xfrm rot="-1475407">
            <a:off x="4070571" y="8126578"/>
            <a:ext cx="97327" cy="97327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1" name="Google Shape;331;p21"/>
          <p:cNvSpPr/>
          <p:nvPr/>
        </p:nvSpPr>
        <p:spPr>
          <a:xfrm rot="198285">
            <a:off x="4909294" y="7530706"/>
            <a:ext cx="457962" cy="457345"/>
          </a:xfrm>
          <a:prstGeom prst="arc">
            <a:avLst>
              <a:gd name="adj1" fmla="val 9041640"/>
              <a:gd name="adj2" fmla="val 10650851"/>
            </a:avLst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2" name="Google Shape;332;p21"/>
          <p:cNvSpPr/>
          <p:nvPr/>
        </p:nvSpPr>
        <p:spPr>
          <a:xfrm rot="10800000">
            <a:off x="5634591" y="8353049"/>
            <a:ext cx="471600" cy="447300"/>
          </a:xfrm>
          <a:prstGeom prst="arc">
            <a:avLst>
              <a:gd name="adj1" fmla="val 7118110"/>
              <a:gd name="adj2" fmla="val 8690147"/>
            </a:avLst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33" name="Google Shape;333;p21"/>
          <p:cNvCxnSpPr/>
          <p:nvPr/>
        </p:nvCxnSpPr>
        <p:spPr>
          <a:xfrm rot="202493">
            <a:off x="3780263" y="7812239"/>
            <a:ext cx="239515" cy="464885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334" name="Google Shape;334;p21"/>
          <p:cNvCxnSpPr/>
          <p:nvPr/>
        </p:nvCxnSpPr>
        <p:spPr>
          <a:xfrm rot="199771" flipH="1">
            <a:off x="4136691" y="7800058"/>
            <a:ext cx="1038253" cy="536391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335" name="Google Shape;335;p21"/>
          <p:cNvCxnSpPr/>
          <p:nvPr/>
        </p:nvCxnSpPr>
        <p:spPr>
          <a:xfrm rot="10800000">
            <a:off x="6418352" y="7627528"/>
            <a:ext cx="508500" cy="2733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336" name="Google Shape;336;p21"/>
          <p:cNvCxnSpPr/>
          <p:nvPr/>
        </p:nvCxnSpPr>
        <p:spPr>
          <a:xfrm rot="10800000" flipH="1">
            <a:off x="5793202" y="7625164"/>
            <a:ext cx="527400" cy="9048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337" name="Google Shape;337;p21"/>
          <p:cNvSpPr txBox="1"/>
          <p:nvPr/>
        </p:nvSpPr>
        <p:spPr>
          <a:xfrm rot="2504" flipH="1">
            <a:off x="4571598" y="8093913"/>
            <a:ext cx="411900" cy="20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9 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8" name="Google Shape;338;p21"/>
          <p:cNvSpPr txBox="1"/>
          <p:nvPr/>
        </p:nvSpPr>
        <p:spPr>
          <a:xfrm flipH="1">
            <a:off x="6605916" y="7556668"/>
            <a:ext cx="411900" cy="1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 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9" name="Google Shape;339;p21"/>
          <p:cNvSpPr txBox="1"/>
          <p:nvPr/>
        </p:nvSpPr>
        <p:spPr>
          <a:xfrm rot="2295" flipH="1">
            <a:off x="4576280" y="7768786"/>
            <a:ext cx="449400" cy="20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20°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0" name="Google Shape;340;p21"/>
          <p:cNvSpPr txBox="1"/>
          <p:nvPr/>
        </p:nvSpPr>
        <p:spPr>
          <a:xfrm rot="2295" flipH="1">
            <a:off x="6069464" y="8190155"/>
            <a:ext cx="449400" cy="20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30°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1" name="Google Shape;341;p21"/>
          <p:cNvSpPr txBox="1"/>
          <p:nvPr/>
        </p:nvSpPr>
        <p:spPr>
          <a:xfrm flipH="1">
            <a:off x="3606594" y="7952071"/>
            <a:ext cx="449700" cy="20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2" name="Google Shape;342;p21"/>
          <p:cNvSpPr txBox="1"/>
          <p:nvPr/>
        </p:nvSpPr>
        <p:spPr>
          <a:xfrm flipH="1">
            <a:off x="5774953" y="7855714"/>
            <a:ext cx="449700" cy="20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3.1.32"/>
  <p:tag name="AS_OS" val="Microsoft Windows NT 6.2.9200.0"/>
  <p:tag name="AS_RELEASE_DATE" val="2024.02.14"/>
  <p:tag name="AS_TITLE" val="Aspose.Slides for .NET Standard 2.0"/>
  <p:tag name="AS_VERSION" val="24.2"/>
</p:tagLst>
</file>

<file path=ppt/theme/theme1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79</Paragraphs>
  <Slides>2</Slides>
  <Notes>2</Notes>
  <TotalTime>0</TotalTime>
  <HiddenSlides>0</HiddenSlides>
  <MMClips>0</MMClips>
  <ScaleCrop>0</ScaleCrop>
  <HeadingPairs>
    <vt:vector baseType="variant" size="6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baseType="lpstr" size="8">
      <vt:lpstr>Arial</vt:lpstr>
      <vt:lpstr>Lexend</vt:lpstr>
      <vt:lpstr>Kalam</vt:lpstr>
      <vt:lpstr>Calibri</vt:lpstr>
      <vt:lpstr>Times New Roman</vt:lpstr>
      <vt:lpstr>simple-light-2</vt:lpstr>
      <vt:lpstr>Scaling the right-angled triangle from the unit circle</vt:lpstr>
      <vt:lpstr>PowerPoint Presentation</vt:lpstr>
    </vt:vector>
  </TitlesOfParts>
  <LinksUpToDate>0</LinksUpToDate>
  <SharedDoc>0</SharedDoc>
  <HyperlinksChanged>0</HyperlinksChanged>
  <Application>Aspose.Slides for .NET</Application>
  <AppVersion>24.0200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2024-03-05T15:01:34.372</cp:lastPrinted>
  <dcterms:created xsi:type="dcterms:W3CDTF">2024-03-05T15:01:34Z</dcterms:created>
  <dcterms:modified xsi:type="dcterms:W3CDTF">2024-03-05T14:59:08Z</dcterms:modified>
</cp:coreProperties>
</file>